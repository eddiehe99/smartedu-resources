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png" ContentType="image/pn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1F5F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00337" y="2525712"/>
            <a:ext cx="6791325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0849" y="2288539"/>
            <a:ext cx="11290300" cy="28136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01F5F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Relationship Id="rId3" Type="http://schemas.openxmlformats.org/officeDocument/2006/relationships/image" Target="../media/image9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189990">
              <a:lnSpc>
                <a:spcPct val="100000"/>
              </a:lnSpc>
              <a:spcBef>
                <a:spcPts val="105"/>
              </a:spcBef>
            </a:pPr>
            <a:r>
              <a:rPr dirty="0"/>
              <a:t>气体的等容和等压変</a:t>
            </a:r>
            <a:r>
              <a:rPr dirty="0" spc="5"/>
              <a:t>化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60202" y="3478212"/>
            <a:ext cx="3386454" cy="937260"/>
          </a:xfrm>
          <a:prstGeom prst="rect">
            <a:avLst/>
          </a:prstGeom>
        </p:spPr>
        <p:txBody>
          <a:bodyPr wrap="square" lIns="0" tIns="1028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dirty="0" sz="2400" b="1">
                <a:solidFill>
                  <a:srgbClr val="FFFFFF"/>
                </a:solidFill>
                <a:latin typeface="华文楷体"/>
                <a:cs typeface="华文楷体"/>
              </a:rPr>
              <a:t>主讲人：王朝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祥</a:t>
            </a:r>
            <a:endParaRPr sz="24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  <a:tabLst>
                <a:tab pos="624840" algn="l"/>
              </a:tabLst>
            </a:pP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学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	</a:t>
            </a:r>
            <a:r>
              <a:rPr dirty="0" sz="2400" b="1">
                <a:solidFill>
                  <a:srgbClr val="FFFFFF"/>
                </a:solidFill>
                <a:latin typeface="华文楷体"/>
                <a:cs typeface="华文楷体"/>
              </a:rPr>
              <a:t>科：物理（人教版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）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29232" y="3478212"/>
            <a:ext cx="3697604" cy="9372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5715">
              <a:lnSpc>
                <a:spcPct val="124700"/>
              </a:lnSpc>
              <a:spcBef>
                <a:spcPts val="95"/>
              </a:spcBef>
              <a:tabLst>
                <a:tab pos="624840" algn="l"/>
              </a:tabLst>
            </a:pP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学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	</a:t>
            </a:r>
            <a:r>
              <a:rPr dirty="0" sz="2400" spc="-565" b="1">
                <a:solidFill>
                  <a:srgbClr val="FFFFFF"/>
                </a:solidFill>
                <a:latin typeface="华文楷体"/>
                <a:cs typeface="华文楷体"/>
              </a:rPr>
              <a:t> </a:t>
            </a:r>
            <a:r>
              <a:rPr dirty="0" sz="2400" b="1">
                <a:solidFill>
                  <a:srgbClr val="FFFFFF"/>
                </a:solidFill>
                <a:latin typeface="华文楷体"/>
                <a:cs typeface="华文楷体"/>
              </a:rPr>
              <a:t>校：北京市第八十中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学 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年	</a:t>
            </a:r>
            <a:r>
              <a:rPr dirty="0" sz="2400" b="1">
                <a:solidFill>
                  <a:srgbClr val="FFFFFF"/>
                </a:solidFill>
                <a:latin typeface="华文楷体"/>
                <a:cs typeface="华文楷体"/>
              </a:rPr>
              <a:t>级：高二下学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期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1950" y="872985"/>
            <a:ext cx="11511280" cy="4915535"/>
          </a:xfrm>
          <a:prstGeom prst="rect">
            <a:avLst/>
          </a:prstGeom>
        </p:spPr>
        <p:txBody>
          <a:bodyPr wrap="square" lIns="0" tIns="227965" rIns="0" bIns="0" rtlCol="0" vert="horz">
            <a:spAutoFit/>
          </a:bodyPr>
          <a:lstStyle/>
          <a:p>
            <a:pPr marL="143510">
              <a:lnSpc>
                <a:spcPct val="100000"/>
              </a:lnSpc>
              <a:spcBef>
                <a:spcPts val="1795"/>
              </a:spcBef>
            </a:pPr>
            <a:r>
              <a:rPr dirty="0" sz="3600">
                <a:latin typeface="微软雅黑"/>
                <a:cs typeface="微软雅黑"/>
              </a:rPr>
              <a:t>一</a:t>
            </a:r>
            <a:r>
              <a:rPr dirty="0" sz="3600" spc="-5">
                <a:latin typeface="微软雅黑"/>
                <a:cs typeface="微软雅黑"/>
              </a:rPr>
              <a:t>.</a:t>
            </a:r>
            <a:r>
              <a:rPr dirty="0" sz="3600">
                <a:latin typeface="微软雅黑"/>
                <a:cs typeface="微软雅黑"/>
              </a:rPr>
              <a:t>气体的等容变化</a:t>
            </a:r>
            <a:endParaRPr sz="3600">
              <a:latin typeface="微软雅黑"/>
              <a:cs typeface="微软雅黑"/>
            </a:endParaRPr>
          </a:p>
          <a:p>
            <a:pPr marL="273685" marR="416559" indent="737870">
              <a:lnSpc>
                <a:spcPct val="100000"/>
              </a:lnSpc>
              <a:spcBef>
                <a:spcPts val="1515"/>
              </a:spcBef>
            </a:pPr>
            <a:r>
              <a:rPr dirty="0" sz="3200" spc="105">
                <a:latin typeface="微软雅黑"/>
                <a:cs typeface="微软雅黑"/>
              </a:rPr>
              <a:t>一</a:t>
            </a:r>
            <a:r>
              <a:rPr dirty="0" sz="3200" spc="110">
                <a:latin typeface="微软雅黑"/>
                <a:cs typeface="微软雅黑"/>
              </a:rPr>
              <a:t>定质量的某种气体，在体积不变时，压强随温度的</a:t>
            </a:r>
            <a:r>
              <a:rPr dirty="0" sz="3200">
                <a:latin typeface="微软雅黑"/>
                <a:cs typeface="微软雅黑"/>
              </a:rPr>
              <a:t>变 </a:t>
            </a:r>
            <a:r>
              <a:rPr dirty="0" sz="3200">
                <a:latin typeface="微软雅黑"/>
                <a:cs typeface="微软雅黑"/>
              </a:rPr>
              <a:t>化叫做等容变化</a:t>
            </a:r>
            <a:r>
              <a:rPr dirty="0" sz="3200" spc="5">
                <a:latin typeface="微软雅黑"/>
                <a:cs typeface="微软雅黑"/>
              </a:rPr>
              <a:t>。</a:t>
            </a:r>
            <a:endParaRPr sz="3200">
              <a:latin typeface="微软雅黑"/>
              <a:cs typeface="微软雅黑"/>
            </a:endParaRPr>
          </a:p>
          <a:p>
            <a:pPr marL="282575">
              <a:lnSpc>
                <a:spcPct val="100000"/>
              </a:lnSpc>
              <a:spcBef>
                <a:spcPts val="2710"/>
              </a:spcBef>
            </a:pPr>
            <a:r>
              <a:rPr dirty="0" sz="2800">
                <a:latin typeface="微软雅黑"/>
                <a:cs typeface="微软雅黑"/>
              </a:rPr>
              <a:t>思考</a:t>
            </a:r>
            <a:r>
              <a:rPr dirty="0" sz="2800" spc="-5">
                <a:latin typeface="微软雅黑"/>
                <a:cs typeface="微软雅黑"/>
              </a:rPr>
              <a:t>：</a:t>
            </a:r>
            <a:endParaRPr sz="2800">
              <a:latin typeface="微软雅黑"/>
              <a:cs typeface="微软雅黑"/>
            </a:endParaRPr>
          </a:p>
          <a:p>
            <a:pPr marL="12700" marR="224154" indent="210820">
              <a:lnSpc>
                <a:spcPct val="100000"/>
              </a:lnSpc>
              <a:spcBef>
                <a:spcPts val="1380"/>
              </a:spcBef>
              <a:buSzPct val="96428"/>
              <a:buAutoNum type="arabicPlain"/>
              <a:tabLst>
                <a:tab pos="1160145" algn="l"/>
              </a:tabLst>
            </a:pPr>
            <a:r>
              <a:rPr dirty="0" sz="2800" spc="45">
                <a:latin typeface="微软雅黑"/>
                <a:cs typeface="微软雅黑"/>
              </a:rPr>
              <a:t>炎热的夏天，打足了气的自行</a:t>
            </a:r>
            <a:r>
              <a:rPr dirty="0" sz="2800" spc="50">
                <a:latin typeface="微软雅黑"/>
                <a:cs typeface="微软雅黑"/>
              </a:rPr>
              <a:t>车胎在日光曝晒下有时会爆胎，</a:t>
            </a:r>
            <a:r>
              <a:rPr dirty="0" sz="2800" spc="-5">
                <a:latin typeface="微软雅黑"/>
                <a:cs typeface="微软雅黑"/>
              </a:rPr>
              <a:t>请 </a:t>
            </a:r>
            <a:r>
              <a:rPr dirty="0" sz="2800">
                <a:latin typeface="微软雅黑"/>
                <a:cs typeface="微软雅黑"/>
              </a:rPr>
              <a:t>结合生活经验定性解释</a:t>
            </a:r>
            <a:r>
              <a:rPr dirty="0" sz="2800" spc="-5">
                <a:latin typeface="微软雅黑"/>
                <a:cs typeface="微软雅黑"/>
              </a:rPr>
              <a:t>；</a:t>
            </a:r>
            <a:endParaRPr sz="2800">
              <a:latin typeface="微软雅黑"/>
              <a:cs typeface="微软雅黑"/>
            </a:endParaRPr>
          </a:p>
          <a:p>
            <a:pPr marL="542925">
              <a:lnSpc>
                <a:spcPct val="100000"/>
              </a:lnSpc>
              <a:spcBef>
                <a:spcPts val="1200"/>
              </a:spcBef>
            </a:pPr>
            <a:r>
              <a:rPr dirty="0" sz="2800" b="1">
                <a:solidFill>
                  <a:srgbClr val="001F5F"/>
                </a:solidFill>
                <a:latin typeface="微软雅黑"/>
                <a:cs typeface="微软雅黑"/>
              </a:rPr>
              <a:t>自行车胎内密封的气体发生等容变化，温度越高，压强越大</a:t>
            </a:r>
            <a:r>
              <a:rPr dirty="0" sz="2800" spc="-5" b="1">
                <a:solidFill>
                  <a:srgbClr val="001F5F"/>
                </a:solidFill>
                <a:latin typeface="微软雅黑"/>
                <a:cs typeface="微软雅黑"/>
              </a:rPr>
              <a:t>。</a:t>
            </a:r>
            <a:endParaRPr sz="2800">
              <a:latin typeface="微软雅黑"/>
              <a:cs typeface="微软雅黑"/>
            </a:endParaRPr>
          </a:p>
          <a:p>
            <a:pPr marL="1186815" indent="-919480">
              <a:lnSpc>
                <a:spcPct val="100000"/>
              </a:lnSpc>
              <a:spcBef>
                <a:spcPts val="1200"/>
              </a:spcBef>
              <a:buSzPct val="96428"/>
              <a:buAutoNum type="arabicPlain" startAt="2"/>
              <a:tabLst>
                <a:tab pos="1186815" algn="l"/>
              </a:tabLst>
            </a:pPr>
            <a:r>
              <a:rPr dirty="0" sz="2800">
                <a:latin typeface="微软雅黑"/>
                <a:cs typeface="微软雅黑"/>
              </a:rPr>
              <a:t>请你设计一个实验，定量研究等容变化中压强与温度之间的关系</a:t>
            </a:r>
            <a:r>
              <a:rPr dirty="0" sz="2800" spc="-5">
                <a:latin typeface="微软雅黑"/>
                <a:cs typeface="微软雅黑"/>
              </a:rPr>
              <a:t>。</a:t>
            </a:r>
            <a:endParaRPr sz="2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41348" y="1568196"/>
            <a:ext cx="9125712" cy="38039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091726" y="3177044"/>
            <a:ext cx="445770" cy="0"/>
          </a:xfrm>
          <a:custGeom>
            <a:avLst/>
            <a:gdLst/>
            <a:ahLst/>
            <a:cxnLst/>
            <a:rect l="l" t="t" r="r" b="b"/>
            <a:pathLst>
              <a:path w="445770" h="0">
                <a:moveTo>
                  <a:pt x="0" y="0"/>
                </a:moveTo>
                <a:lnTo>
                  <a:pt x="445604" y="0"/>
                </a:lnTo>
              </a:path>
            </a:pathLst>
          </a:custGeom>
          <a:ln w="3990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160350" y="3201746"/>
            <a:ext cx="445770" cy="0"/>
          </a:xfrm>
          <a:custGeom>
            <a:avLst/>
            <a:gdLst/>
            <a:ahLst/>
            <a:cxnLst/>
            <a:rect l="l" t="t" r="r" b="b"/>
            <a:pathLst>
              <a:path w="445770" h="0">
                <a:moveTo>
                  <a:pt x="0" y="0"/>
                </a:moveTo>
                <a:lnTo>
                  <a:pt x="445592" y="0"/>
                </a:lnTo>
              </a:path>
            </a:pathLst>
          </a:custGeom>
          <a:ln w="3990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377400" y="3201758"/>
            <a:ext cx="445770" cy="0"/>
          </a:xfrm>
          <a:custGeom>
            <a:avLst/>
            <a:gdLst/>
            <a:ahLst/>
            <a:cxnLst/>
            <a:rect l="l" t="t" r="r" b="b"/>
            <a:pathLst>
              <a:path w="445770" h="0">
                <a:moveTo>
                  <a:pt x="0" y="0"/>
                </a:moveTo>
                <a:lnTo>
                  <a:pt x="445592" y="0"/>
                </a:lnTo>
              </a:path>
            </a:pathLst>
          </a:custGeom>
          <a:ln w="3990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602468" y="1546860"/>
            <a:ext cx="632460" cy="3853179"/>
          </a:xfrm>
          <a:custGeom>
            <a:avLst/>
            <a:gdLst/>
            <a:ahLst/>
            <a:cxnLst/>
            <a:rect l="l" t="t" r="r" b="b"/>
            <a:pathLst>
              <a:path w="632459" h="3853179">
                <a:moveTo>
                  <a:pt x="0" y="0"/>
                </a:moveTo>
                <a:lnTo>
                  <a:pt x="632459" y="0"/>
                </a:lnTo>
                <a:lnTo>
                  <a:pt x="632459" y="3852672"/>
                </a:lnTo>
                <a:lnTo>
                  <a:pt x="0" y="385267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93077" y="0"/>
            <a:ext cx="3792854" cy="23742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71145">
              <a:lnSpc>
                <a:spcPct val="100000"/>
              </a:lnSpc>
              <a:spcBef>
                <a:spcPts val="95"/>
              </a:spcBef>
            </a:pPr>
            <a:r>
              <a:rPr dirty="0" sz="4000" b="1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 b="1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4020"/>
              </a:spcBef>
            </a:pPr>
            <a:r>
              <a:rPr dirty="0" sz="3600">
                <a:latin typeface="微软雅黑"/>
                <a:cs typeface="微软雅黑"/>
              </a:rPr>
              <a:t>一</a:t>
            </a:r>
            <a:r>
              <a:rPr dirty="0" sz="3600" spc="-5">
                <a:latin typeface="微软雅黑"/>
                <a:cs typeface="微软雅黑"/>
              </a:rPr>
              <a:t>.</a:t>
            </a:r>
            <a:r>
              <a:rPr dirty="0" sz="3600">
                <a:latin typeface="微软雅黑"/>
                <a:cs typeface="微软雅黑"/>
              </a:rPr>
              <a:t>气体的等容变化</a:t>
            </a:r>
            <a:endParaRPr sz="3600">
              <a:latin typeface="微软雅黑"/>
              <a:cs typeface="微软雅黑"/>
            </a:endParaRPr>
          </a:p>
          <a:p>
            <a:pPr marL="229870">
              <a:lnSpc>
                <a:spcPct val="100000"/>
              </a:lnSpc>
              <a:spcBef>
                <a:spcPts val="1515"/>
              </a:spcBef>
            </a:pPr>
            <a:r>
              <a:rPr dirty="0" sz="3200" spc="-5">
                <a:latin typeface="微软雅黑"/>
                <a:cs typeface="微软雅黑"/>
              </a:rPr>
              <a:t>1.</a:t>
            </a:r>
            <a:r>
              <a:rPr dirty="0" sz="3200">
                <a:latin typeface="微软雅黑"/>
                <a:cs typeface="微软雅黑"/>
              </a:rPr>
              <a:t>实验探</a:t>
            </a:r>
            <a:r>
              <a:rPr dirty="0" sz="3200" spc="5">
                <a:latin typeface="微软雅黑"/>
                <a:cs typeface="微软雅黑"/>
              </a:rPr>
              <a:t>究</a:t>
            </a:r>
            <a:endParaRPr sz="32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7889" y="3645205"/>
            <a:ext cx="2730500" cy="24555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001F5F"/>
                </a:solidFill>
                <a:latin typeface="微软雅黑"/>
                <a:cs typeface="微软雅黑"/>
              </a:rPr>
              <a:t>烧</a:t>
            </a:r>
            <a:r>
              <a:rPr dirty="0" sz="3200" spc="5">
                <a:solidFill>
                  <a:srgbClr val="001F5F"/>
                </a:solidFill>
                <a:latin typeface="微软雅黑"/>
                <a:cs typeface="微软雅黑"/>
              </a:rPr>
              <a:t>瓶</a:t>
            </a:r>
            <a:endParaRPr sz="3200">
              <a:latin typeface="微软雅黑"/>
              <a:cs typeface="微软雅黑"/>
            </a:endParaRPr>
          </a:p>
          <a:p>
            <a:pPr marL="542925">
              <a:lnSpc>
                <a:spcPct val="100000"/>
              </a:lnSpc>
              <a:spcBef>
                <a:spcPts val="3185"/>
              </a:spcBef>
            </a:pPr>
            <a:r>
              <a:rPr dirty="0" sz="3200">
                <a:solidFill>
                  <a:srgbClr val="001F5F"/>
                </a:solidFill>
                <a:latin typeface="微软雅黑"/>
                <a:cs typeface="微软雅黑"/>
              </a:rPr>
              <a:t>水银压强</a:t>
            </a:r>
            <a:r>
              <a:rPr dirty="0" sz="3200" spc="5">
                <a:solidFill>
                  <a:srgbClr val="001F5F"/>
                </a:solidFill>
                <a:latin typeface="微软雅黑"/>
                <a:cs typeface="微软雅黑"/>
              </a:rPr>
              <a:t>计</a:t>
            </a:r>
            <a:endParaRPr sz="3200">
              <a:latin typeface="微软雅黑"/>
              <a:cs typeface="微软雅黑"/>
            </a:endParaRPr>
          </a:p>
          <a:p>
            <a:pPr marL="1154430">
              <a:lnSpc>
                <a:spcPct val="100000"/>
              </a:lnSpc>
              <a:spcBef>
                <a:spcPts val="2795"/>
              </a:spcBef>
              <a:tabLst>
                <a:tab pos="1737995" algn="l"/>
              </a:tabLst>
            </a:pPr>
            <a:r>
              <a:rPr dirty="0" sz="4550" spc="-155" i="1">
                <a:latin typeface="Times New Roman"/>
                <a:cs typeface="Times New Roman"/>
              </a:rPr>
              <a:t>p</a:t>
            </a:r>
            <a:r>
              <a:rPr dirty="0" baseline="-24109" sz="3975" spc="-232">
                <a:latin typeface="Times New Roman"/>
                <a:cs typeface="Times New Roman"/>
              </a:rPr>
              <a:t>1	</a:t>
            </a:r>
            <a:r>
              <a:rPr dirty="0" sz="4550" spc="10">
                <a:latin typeface="Symbol"/>
                <a:cs typeface="Symbol"/>
              </a:rPr>
              <a:t></a:t>
            </a:r>
            <a:r>
              <a:rPr dirty="0" sz="4550" spc="425">
                <a:latin typeface="Times New Roman"/>
                <a:cs typeface="Times New Roman"/>
              </a:rPr>
              <a:t> </a:t>
            </a:r>
            <a:r>
              <a:rPr dirty="0" sz="4550" spc="-30" i="1">
                <a:latin typeface="Times New Roman"/>
                <a:cs typeface="Times New Roman"/>
              </a:rPr>
              <a:t>p</a:t>
            </a:r>
            <a:r>
              <a:rPr dirty="0" baseline="-24109" sz="3975" spc="-44">
                <a:latin typeface="Times New Roman"/>
                <a:cs typeface="Times New Roman"/>
              </a:rPr>
              <a:t>0</a:t>
            </a:r>
            <a:endParaRPr baseline="-24109" sz="3975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69880" y="5417274"/>
            <a:ext cx="3079115" cy="727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33730" algn="l"/>
                <a:tab pos="1719580" algn="l"/>
              </a:tabLst>
            </a:pPr>
            <a:r>
              <a:rPr dirty="0" sz="4350" spc="5" i="1">
                <a:latin typeface="Times New Roman"/>
                <a:cs typeface="Times New Roman"/>
              </a:rPr>
              <a:t>p</a:t>
            </a:r>
            <a:r>
              <a:rPr dirty="0" baseline="-25555" sz="3750" spc="7">
                <a:latin typeface="Times New Roman"/>
                <a:cs typeface="Times New Roman"/>
              </a:rPr>
              <a:t>2	</a:t>
            </a:r>
            <a:r>
              <a:rPr dirty="0" sz="4350" spc="15">
                <a:latin typeface="Symbol"/>
                <a:cs typeface="Symbol"/>
              </a:rPr>
              <a:t></a:t>
            </a:r>
            <a:r>
              <a:rPr dirty="0" sz="4350" spc="475">
                <a:latin typeface="Times New Roman"/>
                <a:cs typeface="Times New Roman"/>
              </a:rPr>
              <a:t> </a:t>
            </a:r>
            <a:r>
              <a:rPr dirty="0" sz="4350" spc="-10" i="1">
                <a:latin typeface="Times New Roman"/>
                <a:cs typeface="Times New Roman"/>
              </a:rPr>
              <a:t>p</a:t>
            </a:r>
            <a:r>
              <a:rPr dirty="0" baseline="-25555" sz="3750" spc="-15">
                <a:latin typeface="Times New Roman"/>
                <a:cs typeface="Times New Roman"/>
              </a:rPr>
              <a:t>0	</a:t>
            </a:r>
            <a:r>
              <a:rPr dirty="0" sz="4350" spc="15">
                <a:latin typeface="Symbol"/>
                <a:cs typeface="Symbol"/>
              </a:rPr>
              <a:t></a:t>
            </a:r>
            <a:r>
              <a:rPr dirty="0" sz="4350" spc="-535">
                <a:latin typeface="Times New Roman"/>
                <a:cs typeface="Times New Roman"/>
              </a:rPr>
              <a:t> </a:t>
            </a:r>
            <a:r>
              <a:rPr dirty="0" sz="4600" spc="-335" i="1">
                <a:latin typeface="Symbol"/>
                <a:cs typeface="Symbol"/>
              </a:rPr>
              <a:t></a:t>
            </a:r>
            <a:r>
              <a:rPr dirty="0" sz="4350" spc="-335" i="1">
                <a:latin typeface="Times New Roman"/>
                <a:cs typeface="Times New Roman"/>
              </a:rPr>
              <a:t>gh</a:t>
            </a:r>
            <a:endParaRPr sz="43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15694" y="5353456"/>
            <a:ext cx="3013710" cy="727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3410" algn="l"/>
              </a:tabLst>
            </a:pPr>
            <a:r>
              <a:rPr dirty="0" sz="4350" spc="-35" i="1">
                <a:latin typeface="Times New Roman"/>
                <a:cs typeface="Times New Roman"/>
              </a:rPr>
              <a:t>p</a:t>
            </a:r>
            <a:r>
              <a:rPr dirty="0" baseline="-25555" sz="3750" spc="-52">
                <a:latin typeface="Times New Roman"/>
                <a:cs typeface="Times New Roman"/>
              </a:rPr>
              <a:t>3	</a:t>
            </a:r>
            <a:r>
              <a:rPr dirty="0" sz="4350" spc="15">
                <a:latin typeface="Symbol"/>
                <a:cs typeface="Symbol"/>
              </a:rPr>
              <a:t></a:t>
            </a:r>
            <a:r>
              <a:rPr dirty="0" sz="4350" spc="15">
                <a:latin typeface="Times New Roman"/>
                <a:cs typeface="Times New Roman"/>
              </a:rPr>
              <a:t> </a:t>
            </a:r>
            <a:r>
              <a:rPr dirty="0" sz="4350" spc="-15" i="1">
                <a:latin typeface="Times New Roman"/>
                <a:cs typeface="Times New Roman"/>
              </a:rPr>
              <a:t>p</a:t>
            </a:r>
            <a:r>
              <a:rPr dirty="0" baseline="-25555" sz="3750" spc="-22">
                <a:latin typeface="Times New Roman"/>
                <a:cs typeface="Times New Roman"/>
              </a:rPr>
              <a:t>0</a:t>
            </a:r>
            <a:r>
              <a:rPr dirty="0" baseline="-25555" sz="3750" spc="517">
                <a:latin typeface="Times New Roman"/>
                <a:cs typeface="Times New Roman"/>
              </a:rPr>
              <a:t> </a:t>
            </a:r>
            <a:r>
              <a:rPr dirty="0" sz="4350" spc="-260">
                <a:latin typeface="Times New Roman"/>
                <a:cs typeface="Times New Roman"/>
              </a:rPr>
              <a:t>+</a:t>
            </a:r>
            <a:r>
              <a:rPr dirty="0" sz="4600" spc="-260" i="1">
                <a:latin typeface="Symbol"/>
                <a:cs typeface="Symbol"/>
              </a:rPr>
              <a:t></a:t>
            </a:r>
            <a:r>
              <a:rPr dirty="0" sz="4350" spc="-260" i="1">
                <a:latin typeface="Times New Roman"/>
                <a:cs typeface="Times New Roman"/>
              </a:rPr>
              <a:t>gh</a:t>
            </a:r>
            <a:r>
              <a:rPr dirty="0" baseline="3192" sz="6525" spc="-390">
                <a:latin typeface="Symbol"/>
                <a:cs typeface="Symbol"/>
              </a:rPr>
              <a:t></a:t>
            </a:r>
            <a:endParaRPr baseline="3192" sz="6525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8860" y="1601724"/>
            <a:ext cx="3939540" cy="40797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321552" y="1242060"/>
            <a:ext cx="5640324" cy="44180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247132" y="2766060"/>
            <a:ext cx="1414780" cy="739140"/>
          </a:xfrm>
          <a:custGeom>
            <a:avLst/>
            <a:gdLst/>
            <a:ahLst/>
            <a:cxnLst/>
            <a:rect l="l" t="t" r="r" b="b"/>
            <a:pathLst>
              <a:path w="1414779" h="739139">
                <a:moveTo>
                  <a:pt x="1043939" y="739139"/>
                </a:moveTo>
                <a:lnTo>
                  <a:pt x="1043939" y="554736"/>
                </a:lnTo>
                <a:lnTo>
                  <a:pt x="0" y="554736"/>
                </a:lnTo>
                <a:lnTo>
                  <a:pt x="0" y="184403"/>
                </a:lnTo>
                <a:lnTo>
                  <a:pt x="1043939" y="184403"/>
                </a:lnTo>
                <a:lnTo>
                  <a:pt x="1043939" y="0"/>
                </a:lnTo>
                <a:lnTo>
                  <a:pt x="1414271" y="368807"/>
                </a:lnTo>
                <a:lnTo>
                  <a:pt x="1043939" y="73913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240337" y="2750096"/>
            <a:ext cx="1430020" cy="770890"/>
          </a:xfrm>
          <a:custGeom>
            <a:avLst/>
            <a:gdLst/>
            <a:ahLst/>
            <a:cxnLst/>
            <a:rect l="l" t="t" r="r" b="b"/>
            <a:pathLst>
              <a:path w="1430020" h="770889">
                <a:moveTo>
                  <a:pt x="1044575" y="200266"/>
                </a:moveTo>
                <a:lnTo>
                  <a:pt x="1044575" y="0"/>
                </a:lnTo>
                <a:lnTo>
                  <a:pt x="1059903" y="15328"/>
                </a:lnTo>
                <a:lnTo>
                  <a:pt x="1057275" y="15328"/>
                </a:lnTo>
                <a:lnTo>
                  <a:pt x="1046429" y="19824"/>
                </a:lnTo>
                <a:lnTo>
                  <a:pt x="1057275" y="30670"/>
                </a:lnTo>
                <a:lnTo>
                  <a:pt x="1057275" y="193916"/>
                </a:lnTo>
                <a:lnTo>
                  <a:pt x="1050925" y="193916"/>
                </a:lnTo>
                <a:lnTo>
                  <a:pt x="1044575" y="200266"/>
                </a:lnTo>
                <a:close/>
              </a:path>
              <a:path w="1430020" h="770889">
                <a:moveTo>
                  <a:pt x="1057275" y="30670"/>
                </a:moveTo>
                <a:lnTo>
                  <a:pt x="1046429" y="19824"/>
                </a:lnTo>
                <a:lnTo>
                  <a:pt x="1057275" y="15328"/>
                </a:lnTo>
                <a:lnTo>
                  <a:pt x="1057275" y="30670"/>
                </a:lnTo>
                <a:close/>
              </a:path>
              <a:path w="1430020" h="770889">
                <a:moveTo>
                  <a:pt x="1411820" y="385216"/>
                </a:moveTo>
                <a:lnTo>
                  <a:pt x="1057275" y="30670"/>
                </a:lnTo>
                <a:lnTo>
                  <a:pt x="1057275" y="15328"/>
                </a:lnTo>
                <a:lnTo>
                  <a:pt x="1059903" y="15328"/>
                </a:lnTo>
                <a:lnTo>
                  <a:pt x="1425295" y="380720"/>
                </a:lnTo>
                <a:lnTo>
                  <a:pt x="1416316" y="380720"/>
                </a:lnTo>
                <a:lnTo>
                  <a:pt x="1411820" y="385216"/>
                </a:lnTo>
                <a:close/>
              </a:path>
              <a:path w="1430020" h="770889">
                <a:moveTo>
                  <a:pt x="1044575" y="576503"/>
                </a:moveTo>
                <a:lnTo>
                  <a:pt x="0" y="576503"/>
                </a:lnTo>
                <a:lnTo>
                  <a:pt x="0" y="193916"/>
                </a:lnTo>
                <a:lnTo>
                  <a:pt x="1044575" y="193916"/>
                </a:lnTo>
                <a:lnTo>
                  <a:pt x="1044575" y="200266"/>
                </a:lnTo>
                <a:lnTo>
                  <a:pt x="12700" y="200266"/>
                </a:lnTo>
                <a:lnTo>
                  <a:pt x="6350" y="206616"/>
                </a:lnTo>
                <a:lnTo>
                  <a:pt x="12700" y="206616"/>
                </a:lnTo>
                <a:lnTo>
                  <a:pt x="12700" y="563803"/>
                </a:lnTo>
                <a:lnTo>
                  <a:pt x="6350" y="563803"/>
                </a:lnTo>
                <a:lnTo>
                  <a:pt x="12700" y="570153"/>
                </a:lnTo>
                <a:lnTo>
                  <a:pt x="1044575" y="570153"/>
                </a:lnTo>
                <a:lnTo>
                  <a:pt x="1044575" y="576503"/>
                </a:lnTo>
                <a:close/>
              </a:path>
              <a:path w="1430020" h="770889">
                <a:moveTo>
                  <a:pt x="1057275" y="206616"/>
                </a:moveTo>
                <a:lnTo>
                  <a:pt x="12700" y="206616"/>
                </a:lnTo>
                <a:lnTo>
                  <a:pt x="12700" y="200266"/>
                </a:lnTo>
                <a:lnTo>
                  <a:pt x="1044575" y="200266"/>
                </a:lnTo>
                <a:lnTo>
                  <a:pt x="1050925" y="193916"/>
                </a:lnTo>
                <a:lnTo>
                  <a:pt x="1057275" y="193916"/>
                </a:lnTo>
                <a:lnTo>
                  <a:pt x="1057275" y="206616"/>
                </a:lnTo>
                <a:close/>
              </a:path>
              <a:path w="1430020" h="770889">
                <a:moveTo>
                  <a:pt x="12700" y="206616"/>
                </a:moveTo>
                <a:lnTo>
                  <a:pt x="6350" y="206616"/>
                </a:lnTo>
                <a:lnTo>
                  <a:pt x="12700" y="200266"/>
                </a:lnTo>
                <a:lnTo>
                  <a:pt x="12700" y="206616"/>
                </a:lnTo>
                <a:close/>
              </a:path>
              <a:path w="1430020" h="770889">
                <a:moveTo>
                  <a:pt x="1416316" y="389712"/>
                </a:moveTo>
                <a:lnTo>
                  <a:pt x="1411820" y="385216"/>
                </a:lnTo>
                <a:lnTo>
                  <a:pt x="1416316" y="380720"/>
                </a:lnTo>
                <a:lnTo>
                  <a:pt x="1416316" y="389712"/>
                </a:lnTo>
                <a:close/>
              </a:path>
              <a:path w="1430020" h="770889">
                <a:moveTo>
                  <a:pt x="1425295" y="389712"/>
                </a:moveTo>
                <a:lnTo>
                  <a:pt x="1416316" y="389712"/>
                </a:lnTo>
                <a:lnTo>
                  <a:pt x="1416316" y="380720"/>
                </a:lnTo>
                <a:lnTo>
                  <a:pt x="1425295" y="380720"/>
                </a:lnTo>
                <a:lnTo>
                  <a:pt x="1429791" y="385216"/>
                </a:lnTo>
                <a:lnTo>
                  <a:pt x="1425295" y="389712"/>
                </a:lnTo>
                <a:close/>
              </a:path>
              <a:path w="1430020" h="770889">
                <a:moveTo>
                  <a:pt x="1059903" y="755103"/>
                </a:moveTo>
                <a:lnTo>
                  <a:pt x="1057275" y="755103"/>
                </a:lnTo>
                <a:lnTo>
                  <a:pt x="1057275" y="739762"/>
                </a:lnTo>
                <a:lnTo>
                  <a:pt x="1411820" y="385216"/>
                </a:lnTo>
                <a:lnTo>
                  <a:pt x="1416316" y="389712"/>
                </a:lnTo>
                <a:lnTo>
                  <a:pt x="1425295" y="389712"/>
                </a:lnTo>
                <a:lnTo>
                  <a:pt x="1059903" y="755103"/>
                </a:lnTo>
                <a:close/>
              </a:path>
              <a:path w="1430020" h="770889">
                <a:moveTo>
                  <a:pt x="12700" y="570153"/>
                </a:moveTo>
                <a:lnTo>
                  <a:pt x="6350" y="563803"/>
                </a:lnTo>
                <a:lnTo>
                  <a:pt x="12700" y="563803"/>
                </a:lnTo>
                <a:lnTo>
                  <a:pt x="12700" y="570153"/>
                </a:lnTo>
                <a:close/>
              </a:path>
              <a:path w="1430020" h="770889">
                <a:moveTo>
                  <a:pt x="1057275" y="576503"/>
                </a:moveTo>
                <a:lnTo>
                  <a:pt x="1050925" y="576503"/>
                </a:lnTo>
                <a:lnTo>
                  <a:pt x="1044575" y="570153"/>
                </a:lnTo>
                <a:lnTo>
                  <a:pt x="12700" y="570153"/>
                </a:lnTo>
                <a:lnTo>
                  <a:pt x="12700" y="563803"/>
                </a:lnTo>
                <a:lnTo>
                  <a:pt x="1057275" y="563803"/>
                </a:lnTo>
                <a:lnTo>
                  <a:pt x="1057275" y="576503"/>
                </a:lnTo>
                <a:close/>
              </a:path>
              <a:path w="1430020" h="770889">
                <a:moveTo>
                  <a:pt x="1044575" y="770432"/>
                </a:moveTo>
                <a:lnTo>
                  <a:pt x="1044575" y="570153"/>
                </a:lnTo>
                <a:lnTo>
                  <a:pt x="1050925" y="576503"/>
                </a:lnTo>
                <a:lnTo>
                  <a:pt x="1057275" y="576503"/>
                </a:lnTo>
                <a:lnTo>
                  <a:pt x="1057275" y="739762"/>
                </a:lnTo>
                <a:lnTo>
                  <a:pt x="1046429" y="750608"/>
                </a:lnTo>
                <a:lnTo>
                  <a:pt x="1057275" y="755103"/>
                </a:lnTo>
                <a:lnTo>
                  <a:pt x="1059903" y="755103"/>
                </a:lnTo>
                <a:lnTo>
                  <a:pt x="1044575" y="770432"/>
                </a:lnTo>
                <a:close/>
              </a:path>
              <a:path w="1430020" h="770889">
                <a:moveTo>
                  <a:pt x="1057275" y="755103"/>
                </a:moveTo>
                <a:lnTo>
                  <a:pt x="1046429" y="750608"/>
                </a:lnTo>
                <a:lnTo>
                  <a:pt x="1057275" y="739762"/>
                </a:lnTo>
                <a:lnTo>
                  <a:pt x="1057275" y="755103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882140" y="5475998"/>
            <a:ext cx="1928495" cy="8623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500" spc="-5" i="1">
                <a:latin typeface="Times New Roman"/>
                <a:cs typeface="Times New Roman"/>
              </a:rPr>
              <a:t>p </a:t>
            </a:r>
            <a:r>
              <a:rPr dirty="0" sz="5500" spc="-5">
                <a:latin typeface="Symbol"/>
                <a:cs typeface="Symbol"/>
              </a:rPr>
              <a:t></a:t>
            </a:r>
            <a:r>
              <a:rPr dirty="0" sz="5500" spc="-365">
                <a:latin typeface="Times New Roman"/>
                <a:cs typeface="Times New Roman"/>
              </a:rPr>
              <a:t> </a:t>
            </a:r>
            <a:r>
              <a:rPr dirty="0" sz="5500" spc="5" i="1">
                <a:latin typeface="Times New Roman"/>
                <a:cs typeface="Times New Roman"/>
              </a:rPr>
              <a:t>CT</a:t>
            </a:r>
            <a:endParaRPr sz="55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80987" y="4615656"/>
            <a:ext cx="2526030" cy="0"/>
          </a:xfrm>
          <a:custGeom>
            <a:avLst/>
            <a:gdLst/>
            <a:ahLst/>
            <a:cxnLst/>
            <a:rect l="l" t="t" r="r" b="b"/>
            <a:pathLst>
              <a:path w="2526030" h="0">
                <a:moveTo>
                  <a:pt x="0" y="0"/>
                </a:moveTo>
                <a:lnTo>
                  <a:pt x="2525737" y="0"/>
                </a:lnTo>
              </a:path>
            </a:pathLst>
          </a:custGeom>
          <a:ln w="396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43178" y="3192703"/>
            <a:ext cx="2025650" cy="1425575"/>
          </a:xfrm>
          <a:custGeom>
            <a:avLst/>
            <a:gdLst/>
            <a:ahLst/>
            <a:cxnLst/>
            <a:rect l="l" t="t" r="r" b="b"/>
            <a:pathLst>
              <a:path w="2025650" h="1425575">
                <a:moveTo>
                  <a:pt x="1900085" y="118313"/>
                </a:moveTo>
                <a:lnTo>
                  <a:pt x="1878330" y="87033"/>
                </a:lnTo>
                <a:lnTo>
                  <a:pt x="2003425" y="0"/>
                </a:lnTo>
                <a:lnTo>
                  <a:pt x="2025192" y="31267"/>
                </a:lnTo>
                <a:lnTo>
                  <a:pt x="1900085" y="118313"/>
                </a:lnTo>
                <a:close/>
              </a:path>
              <a:path w="2025650" h="1425575">
                <a:moveTo>
                  <a:pt x="1681162" y="270624"/>
                </a:moveTo>
                <a:lnTo>
                  <a:pt x="1659394" y="239344"/>
                </a:lnTo>
                <a:lnTo>
                  <a:pt x="1784502" y="152311"/>
                </a:lnTo>
                <a:lnTo>
                  <a:pt x="1806257" y="183591"/>
                </a:lnTo>
                <a:lnTo>
                  <a:pt x="1681162" y="270624"/>
                </a:lnTo>
                <a:close/>
              </a:path>
              <a:path w="2025650" h="1425575">
                <a:moveTo>
                  <a:pt x="1462227" y="422935"/>
                </a:moveTo>
                <a:lnTo>
                  <a:pt x="1440472" y="391655"/>
                </a:lnTo>
                <a:lnTo>
                  <a:pt x="1565567" y="304622"/>
                </a:lnTo>
                <a:lnTo>
                  <a:pt x="1587334" y="335902"/>
                </a:lnTo>
                <a:lnTo>
                  <a:pt x="1462227" y="422935"/>
                </a:lnTo>
                <a:close/>
              </a:path>
              <a:path w="2025650" h="1425575">
                <a:moveTo>
                  <a:pt x="1243304" y="575246"/>
                </a:moveTo>
                <a:lnTo>
                  <a:pt x="1221536" y="543966"/>
                </a:lnTo>
                <a:lnTo>
                  <a:pt x="1346644" y="456933"/>
                </a:lnTo>
                <a:lnTo>
                  <a:pt x="1368399" y="488213"/>
                </a:lnTo>
                <a:lnTo>
                  <a:pt x="1243304" y="575246"/>
                </a:lnTo>
                <a:close/>
              </a:path>
              <a:path w="2025650" h="1425575">
                <a:moveTo>
                  <a:pt x="1024369" y="727557"/>
                </a:moveTo>
                <a:lnTo>
                  <a:pt x="1002614" y="696290"/>
                </a:lnTo>
                <a:lnTo>
                  <a:pt x="1127721" y="609244"/>
                </a:lnTo>
                <a:lnTo>
                  <a:pt x="1149477" y="640524"/>
                </a:lnTo>
                <a:lnTo>
                  <a:pt x="1024369" y="727557"/>
                </a:lnTo>
                <a:close/>
              </a:path>
              <a:path w="2025650" h="1425575">
                <a:moveTo>
                  <a:pt x="805446" y="879868"/>
                </a:moveTo>
                <a:lnTo>
                  <a:pt x="783691" y="848601"/>
                </a:lnTo>
                <a:lnTo>
                  <a:pt x="908786" y="761568"/>
                </a:lnTo>
                <a:lnTo>
                  <a:pt x="930541" y="792835"/>
                </a:lnTo>
                <a:lnTo>
                  <a:pt x="805446" y="879868"/>
                </a:lnTo>
                <a:close/>
              </a:path>
              <a:path w="2025650" h="1425575">
                <a:moveTo>
                  <a:pt x="586511" y="1032192"/>
                </a:moveTo>
                <a:lnTo>
                  <a:pt x="564756" y="1000912"/>
                </a:lnTo>
                <a:lnTo>
                  <a:pt x="689863" y="913879"/>
                </a:lnTo>
                <a:lnTo>
                  <a:pt x="711619" y="945146"/>
                </a:lnTo>
                <a:lnTo>
                  <a:pt x="586511" y="1032192"/>
                </a:lnTo>
                <a:close/>
              </a:path>
              <a:path w="2025650" h="1425575">
                <a:moveTo>
                  <a:pt x="367588" y="1184503"/>
                </a:moveTo>
                <a:lnTo>
                  <a:pt x="345833" y="1153223"/>
                </a:lnTo>
                <a:lnTo>
                  <a:pt x="470928" y="1066190"/>
                </a:lnTo>
                <a:lnTo>
                  <a:pt x="492696" y="1097457"/>
                </a:lnTo>
                <a:lnTo>
                  <a:pt x="367588" y="1184503"/>
                </a:lnTo>
                <a:close/>
              </a:path>
              <a:path w="2025650" h="1425575">
                <a:moveTo>
                  <a:pt x="148666" y="1336814"/>
                </a:moveTo>
                <a:lnTo>
                  <a:pt x="126898" y="1305534"/>
                </a:lnTo>
                <a:lnTo>
                  <a:pt x="252006" y="1218501"/>
                </a:lnTo>
                <a:lnTo>
                  <a:pt x="273761" y="1249781"/>
                </a:lnTo>
                <a:lnTo>
                  <a:pt x="148666" y="1336814"/>
                </a:lnTo>
                <a:close/>
              </a:path>
              <a:path w="2025650" h="1425575">
                <a:moveTo>
                  <a:pt x="21767" y="1425092"/>
                </a:moveTo>
                <a:lnTo>
                  <a:pt x="0" y="1393825"/>
                </a:lnTo>
                <a:lnTo>
                  <a:pt x="33070" y="1370812"/>
                </a:lnTo>
                <a:lnTo>
                  <a:pt x="54838" y="1402092"/>
                </a:lnTo>
                <a:lnTo>
                  <a:pt x="21767" y="142509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04951" y="4530725"/>
            <a:ext cx="164998" cy="1651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42252" y="4411838"/>
            <a:ext cx="4505325" cy="1970405"/>
          </a:xfrm>
          <a:prstGeom prst="rect">
            <a:avLst/>
          </a:prstGeom>
        </p:spPr>
        <p:txBody>
          <a:bodyPr wrap="square" lIns="0" tIns="2374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70"/>
              </a:spcBef>
            </a:pPr>
            <a:r>
              <a:rPr dirty="0" sz="3550" spc="5">
                <a:latin typeface="Symbol"/>
                <a:cs typeface="Symbol"/>
              </a:rPr>
              <a:t></a:t>
            </a:r>
            <a:r>
              <a:rPr dirty="0" sz="3550" spc="5">
                <a:latin typeface="Times New Roman"/>
                <a:cs typeface="Times New Roman"/>
              </a:rPr>
              <a:t>273.15</a:t>
            </a:r>
            <a:endParaRPr sz="3550">
              <a:latin typeface="Times New Roman"/>
              <a:cs typeface="Times New Roman"/>
            </a:endParaRPr>
          </a:p>
          <a:p>
            <a:pPr marL="1461135">
              <a:lnSpc>
                <a:spcPct val="100000"/>
              </a:lnSpc>
              <a:spcBef>
                <a:spcPts val="2685"/>
              </a:spcBef>
              <a:tabLst>
                <a:tab pos="3340100" algn="l"/>
              </a:tabLst>
            </a:pPr>
            <a:r>
              <a:rPr dirty="0" sz="5500" spc="-5" i="1">
                <a:latin typeface="Times New Roman"/>
                <a:cs typeface="Times New Roman"/>
              </a:rPr>
              <a:t>p</a:t>
            </a:r>
            <a:r>
              <a:rPr dirty="0" sz="5500" i="1">
                <a:latin typeface="Times New Roman"/>
                <a:cs typeface="Times New Roman"/>
              </a:rPr>
              <a:t> </a:t>
            </a:r>
            <a:r>
              <a:rPr dirty="0" sz="5500" spc="-5">
                <a:latin typeface="Symbol"/>
                <a:cs typeface="Symbol"/>
              </a:rPr>
              <a:t></a:t>
            </a:r>
            <a:r>
              <a:rPr dirty="0" sz="5500" spc="580">
                <a:latin typeface="Times New Roman"/>
                <a:cs typeface="Times New Roman"/>
              </a:rPr>
              <a:t> </a:t>
            </a:r>
            <a:r>
              <a:rPr dirty="0" sz="5500" i="1">
                <a:latin typeface="Times New Roman"/>
                <a:cs typeface="Times New Roman"/>
              </a:rPr>
              <a:t>p</a:t>
            </a:r>
            <a:r>
              <a:rPr dirty="0" baseline="-24691" sz="4725">
                <a:latin typeface="Times New Roman"/>
                <a:cs typeface="Times New Roman"/>
              </a:rPr>
              <a:t>z	</a:t>
            </a:r>
            <a:r>
              <a:rPr dirty="0" sz="5500" spc="-5">
                <a:latin typeface="Symbol"/>
                <a:cs typeface="Symbol"/>
              </a:rPr>
              <a:t></a:t>
            </a:r>
            <a:r>
              <a:rPr dirty="0" sz="5500" spc="-620">
                <a:latin typeface="Times New Roman"/>
                <a:cs typeface="Times New Roman"/>
              </a:rPr>
              <a:t> </a:t>
            </a:r>
            <a:r>
              <a:rPr dirty="0" sz="5500" spc="5" i="1">
                <a:latin typeface="Times New Roman"/>
                <a:cs typeface="Times New Roman"/>
              </a:rPr>
              <a:t>Ct</a:t>
            </a:r>
            <a:endParaRPr sz="55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4454" y="872985"/>
            <a:ext cx="3801745" cy="2431415"/>
          </a:xfrm>
          <a:prstGeom prst="rect">
            <a:avLst/>
          </a:prstGeom>
        </p:spPr>
        <p:txBody>
          <a:bodyPr wrap="square" lIns="0" tIns="227965" rIns="0" bIns="0" rtlCol="0" vert="horz">
            <a:spAutoFit/>
          </a:bodyPr>
          <a:lstStyle/>
          <a:p>
            <a:pPr marL="20955">
              <a:lnSpc>
                <a:spcPct val="100000"/>
              </a:lnSpc>
              <a:spcBef>
                <a:spcPts val="1795"/>
              </a:spcBef>
            </a:pPr>
            <a:r>
              <a:rPr dirty="0" sz="3600">
                <a:latin typeface="微软雅黑"/>
                <a:cs typeface="微软雅黑"/>
              </a:rPr>
              <a:t>一</a:t>
            </a:r>
            <a:r>
              <a:rPr dirty="0" sz="3600" spc="-5">
                <a:latin typeface="微软雅黑"/>
                <a:cs typeface="微软雅黑"/>
              </a:rPr>
              <a:t>.</a:t>
            </a:r>
            <a:r>
              <a:rPr dirty="0" sz="3600">
                <a:latin typeface="微软雅黑"/>
                <a:cs typeface="微软雅黑"/>
              </a:rPr>
              <a:t>气体的等容变化</a:t>
            </a:r>
            <a:endParaRPr sz="3600">
              <a:latin typeface="微软雅黑"/>
              <a:cs typeface="微软雅黑"/>
            </a:endParaRPr>
          </a:p>
          <a:p>
            <a:pPr marL="238760">
              <a:lnSpc>
                <a:spcPct val="100000"/>
              </a:lnSpc>
              <a:spcBef>
                <a:spcPts val="1515"/>
              </a:spcBef>
            </a:pPr>
            <a:r>
              <a:rPr dirty="0" sz="3200" spc="-5">
                <a:latin typeface="微软雅黑"/>
                <a:cs typeface="微软雅黑"/>
              </a:rPr>
              <a:t>1.</a:t>
            </a:r>
            <a:r>
              <a:rPr dirty="0" sz="3200">
                <a:latin typeface="微软雅黑"/>
                <a:cs typeface="微软雅黑"/>
              </a:rPr>
              <a:t>实验探</a:t>
            </a:r>
            <a:r>
              <a:rPr dirty="0" sz="3200" spc="5">
                <a:latin typeface="微软雅黑"/>
                <a:cs typeface="微软雅黑"/>
              </a:rPr>
              <a:t>究</a:t>
            </a:r>
            <a:endParaRPr sz="32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3250"/>
              </a:spcBef>
            </a:pPr>
            <a:r>
              <a:rPr dirty="0" sz="3600" b="1">
                <a:solidFill>
                  <a:srgbClr val="FF0000"/>
                </a:solidFill>
                <a:latin typeface="微软雅黑"/>
                <a:cs typeface="微软雅黑"/>
              </a:rPr>
              <a:t>外推</a:t>
            </a:r>
            <a:endParaRPr sz="36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3077" y="872985"/>
            <a:ext cx="10968355" cy="2036445"/>
          </a:xfrm>
          <a:prstGeom prst="rect">
            <a:avLst/>
          </a:prstGeom>
        </p:spPr>
        <p:txBody>
          <a:bodyPr wrap="square" lIns="0" tIns="2279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95"/>
              </a:spcBef>
            </a:pPr>
            <a:r>
              <a:rPr dirty="0" sz="3600">
                <a:latin typeface="微软雅黑"/>
                <a:cs typeface="微软雅黑"/>
              </a:rPr>
              <a:t>一</a:t>
            </a:r>
            <a:r>
              <a:rPr dirty="0" sz="3600" spc="-5">
                <a:latin typeface="微软雅黑"/>
                <a:cs typeface="微软雅黑"/>
              </a:rPr>
              <a:t>.</a:t>
            </a:r>
            <a:r>
              <a:rPr dirty="0" sz="3600">
                <a:latin typeface="微软雅黑"/>
                <a:cs typeface="微软雅黑"/>
              </a:rPr>
              <a:t>气体的等容变化</a:t>
            </a:r>
            <a:endParaRPr sz="3600">
              <a:latin typeface="微软雅黑"/>
              <a:cs typeface="微软雅黑"/>
            </a:endParaRPr>
          </a:p>
          <a:p>
            <a:pPr marL="229870">
              <a:lnSpc>
                <a:spcPct val="100000"/>
              </a:lnSpc>
              <a:spcBef>
                <a:spcPts val="1515"/>
              </a:spcBef>
            </a:pPr>
            <a:r>
              <a:rPr dirty="0" sz="3200" spc="-5">
                <a:latin typeface="微软雅黑"/>
                <a:cs typeface="微软雅黑"/>
              </a:rPr>
              <a:t>2.</a:t>
            </a:r>
            <a:r>
              <a:rPr dirty="0" sz="3200">
                <a:latin typeface="微软雅黑"/>
                <a:cs typeface="微软雅黑"/>
              </a:rPr>
              <a:t>查理定</a:t>
            </a:r>
            <a:r>
              <a:rPr dirty="0" sz="3200" spc="5">
                <a:latin typeface="微软雅黑"/>
                <a:cs typeface="微软雅黑"/>
              </a:rPr>
              <a:t>律</a:t>
            </a:r>
            <a:endParaRPr sz="3200">
              <a:latin typeface="微软雅黑"/>
              <a:cs typeface="微软雅黑"/>
            </a:endParaRPr>
          </a:p>
          <a:p>
            <a:pPr marL="982344">
              <a:lnSpc>
                <a:spcPct val="100000"/>
              </a:lnSpc>
              <a:spcBef>
                <a:spcPts val="620"/>
              </a:spcBef>
            </a:pPr>
            <a:r>
              <a:rPr dirty="0" sz="3200" spc="120">
                <a:latin typeface="微软雅黑"/>
                <a:cs typeface="微软雅黑"/>
              </a:rPr>
              <a:t>一定质量的某种</a:t>
            </a:r>
            <a:r>
              <a:rPr dirty="0" sz="3200" spc="125">
                <a:latin typeface="微软雅黑"/>
                <a:cs typeface="微软雅黑"/>
              </a:rPr>
              <a:t>气体，在体积不变的情况下，压</a:t>
            </a:r>
            <a:r>
              <a:rPr dirty="0" sz="3200" spc="5">
                <a:latin typeface="微软雅黑"/>
                <a:cs typeface="微软雅黑"/>
              </a:rPr>
              <a:t>强</a:t>
            </a:r>
            <a:r>
              <a:rPr dirty="0" sz="3200" spc="-434">
                <a:latin typeface="微软雅黑"/>
                <a:cs typeface="微软雅黑"/>
              </a:rPr>
              <a:t> </a:t>
            </a:r>
            <a:r>
              <a:rPr dirty="0" sz="3200" spc="120" i="1">
                <a:latin typeface="Times New Roman"/>
                <a:cs typeface="Times New Roman"/>
              </a:rPr>
              <a:t>p</a:t>
            </a:r>
            <a:r>
              <a:rPr dirty="0" sz="3200" spc="5">
                <a:latin typeface="微软雅黑"/>
                <a:cs typeface="微软雅黑"/>
              </a:rPr>
              <a:t>与</a:t>
            </a:r>
            <a:endParaRPr sz="32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71451" y="3912654"/>
            <a:ext cx="426084" cy="0"/>
          </a:xfrm>
          <a:custGeom>
            <a:avLst/>
            <a:gdLst/>
            <a:ahLst/>
            <a:cxnLst/>
            <a:rect l="l" t="t" r="r" b="b"/>
            <a:pathLst>
              <a:path w="426085" h="0">
                <a:moveTo>
                  <a:pt x="0" y="0"/>
                </a:moveTo>
                <a:lnTo>
                  <a:pt x="425602" y="0"/>
                </a:lnTo>
              </a:path>
            </a:pathLst>
          </a:custGeom>
          <a:ln w="28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767628" y="3919753"/>
            <a:ext cx="340360" cy="7048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50" i="1">
                <a:latin typeface="Times New Roman"/>
                <a:cs typeface="Times New Roman"/>
              </a:rPr>
              <a:t>T</a:t>
            </a:r>
            <a:endParaRPr sz="44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40379" y="3486543"/>
            <a:ext cx="4462780" cy="7048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835785" algn="l"/>
                <a:tab pos="2637155" algn="l"/>
              </a:tabLst>
            </a:pPr>
            <a:r>
              <a:rPr dirty="0" baseline="1248" sz="6675" i="1">
                <a:latin typeface="Times New Roman"/>
                <a:cs typeface="Times New Roman"/>
              </a:rPr>
              <a:t>p</a:t>
            </a:r>
            <a:r>
              <a:rPr dirty="0" baseline="1248" sz="6675" spc="7" i="1">
                <a:latin typeface="Times New Roman"/>
                <a:cs typeface="Times New Roman"/>
              </a:rPr>
              <a:t> </a:t>
            </a:r>
            <a:r>
              <a:rPr dirty="0" baseline="1248" sz="6675">
                <a:latin typeface="Symbol"/>
                <a:cs typeface="Symbol"/>
              </a:rPr>
              <a:t></a:t>
            </a:r>
            <a:r>
              <a:rPr dirty="0" baseline="1248" sz="6675" spc="-337">
                <a:latin typeface="Times New Roman"/>
                <a:cs typeface="Times New Roman"/>
              </a:rPr>
              <a:t> </a:t>
            </a:r>
            <a:r>
              <a:rPr dirty="0" baseline="1248" sz="6675" spc="15" i="1">
                <a:latin typeface="Times New Roman"/>
                <a:cs typeface="Times New Roman"/>
              </a:rPr>
              <a:t>CT	</a:t>
            </a:r>
            <a:r>
              <a:rPr dirty="0" sz="3200" spc="5">
                <a:latin typeface="微软雅黑"/>
                <a:cs typeface="微软雅黑"/>
              </a:rPr>
              <a:t>或	</a:t>
            </a:r>
            <a:r>
              <a:rPr dirty="0" baseline="36204" sz="6675" i="1">
                <a:latin typeface="Times New Roman"/>
                <a:cs typeface="Times New Roman"/>
              </a:rPr>
              <a:t>p </a:t>
            </a:r>
            <a:r>
              <a:rPr dirty="0" sz="4450">
                <a:latin typeface="Symbol"/>
                <a:cs typeface="Symbol"/>
              </a:rPr>
              <a:t></a:t>
            </a:r>
            <a:r>
              <a:rPr dirty="0" sz="4450">
                <a:latin typeface="Times New Roman"/>
                <a:cs typeface="Times New Roman"/>
              </a:rPr>
              <a:t> </a:t>
            </a:r>
            <a:r>
              <a:rPr dirty="0" sz="4450" i="1">
                <a:latin typeface="Times New Roman"/>
                <a:cs typeface="Times New Roman"/>
              </a:rPr>
              <a:t>C</a:t>
            </a:r>
            <a:r>
              <a:rPr dirty="0" sz="4450" spc="-5" i="1">
                <a:latin typeface="Times New Roman"/>
                <a:cs typeface="Times New Roman"/>
              </a:rPr>
              <a:t> </a:t>
            </a:r>
            <a:r>
              <a:rPr dirty="0" sz="3200" spc="5">
                <a:latin typeface="微软雅黑"/>
                <a:cs typeface="微软雅黑"/>
              </a:rPr>
              <a:t>或</a:t>
            </a:r>
            <a:endParaRPr sz="32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3252" y="2724543"/>
            <a:ext cx="7690484" cy="7048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393940" algn="l"/>
              </a:tabLst>
            </a:pPr>
            <a:r>
              <a:rPr dirty="0" sz="3200">
                <a:latin typeface="微软雅黑"/>
                <a:cs typeface="微软雅黑"/>
              </a:rPr>
              <a:t>热力学温度</a:t>
            </a:r>
            <a:r>
              <a:rPr dirty="0" sz="3200" i="1">
                <a:latin typeface="Times New Roman"/>
                <a:cs typeface="Times New Roman"/>
              </a:rPr>
              <a:t>T</a:t>
            </a:r>
            <a:r>
              <a:rPr dirty="0" sz="3200" spc="-65" i="1">
                <a:latin typeface="Times New Roman"/>
                <a:cs typeface="Times New Roman"/>
              </a:rPr>
              <a:t> </a:t>
            </a:r>
            <a:r>
              <a:rPr dirty="0" sz="3200">
                <a:latin typeface="微软雅黑"/>
                <a:cs typeface="微软雅黑"/>
              </a:rPr>
              <a:t>成正比，</a:t>
            </a:r>
            <a:r>
              <a:rPr dirty="0" sz="3200" spc="5">
                <a:latin typeface="微软雅黑"/>
                <a:cs typeface="微软雅黑"/>
              </a:rPr>
              <a:t>即</a:t>
            </a:r>
            <a:r>
              <a:rPr dirty="0" sz="3200" spc="-10">
                <a:latin typeface="微软雅黑"/>
                <a:cs typeface="微软雅黑"/>
              </a:rPr>
              <a:t> </a:t>
            </a:r>
            <a:r>
              <a:rPr dirty="0" sz="3200" i="1">
                <a:latin typeface="Times New Roman"/>
                <a:cs typeface="Times New Roman"/>
              </a:rPr>
              <a:t>p</a:t>
            </a:r>
            <a:r>
              <a:rPr dirty="0" sz="3200" spc="-229" i="1">
                <a:latin typeface="Times New Roman"/>
                <a:cs typeface="Times New Roman"/>
              </a:rPr>
              <a:t> </a:t>
            </a:r>
            <a:r>
              <a:rPr dirty="0" sz="3350" spc="-225" i="1">
                <a:latin typeface="Symbol"/>
                <a:cs typeface="Symbol"/>
              </a:rPr>
              <a:t></a:t>
            </a:r>
            <a:r>
              <a:rPr dirty="0" sz="3200" i="1">
                <a:latin typeface="Times New Roman"/>
                <a:cs typeface="Times New Roman"/>
              </a:rPr>
              <a:t>T</a:t>
            </a:r>
            <a:r>
              <a:rPr dirty="0" sz="3200" spc="-5" i="1">
                <a:latin typeface="Times New Roman"/>
                <a:cs typeface="Times New Roman"/>
              </a:rPr>
              <a:t> </a:t>
            </a:r>
            <a:r>
              <a:rPr dirty="0" sz="3200">
                <a:latin typeface="微软雅黑"/>
                <a:cs typeface="微软雅黑"/>
              </a:rPr>
              <a:t>。可写</a:t>
            </a:r>
            <a:r>
              <a:rPr dirty="0" sz="3200" spc="5">
                <a:latin typeface="微软雅黑"/>
                <a:cs typeface="微软雅黑"/>
              </a:rPr>
              <a:t>成</a:t>
            </a:r>
            <a:r>
              <a:rPr dirty="0" sz="3200">
                <a:latin typeface="微软雅黑"/>
                <a:cs typeface="微软雅黑"/>
              </a:rPr>
              <a:t>	</a:t>
            </a:r>
            <a:r>
              <a:rPr dirty="0" baseline="-27465" sz="6675" i="1">
                <a:latin typeface="Times New Roman"/>
                <a:cs typeface="Times New Roman"/>
              </a:rPr>
              <a:t>p</a:t>
            </a:r>
            <a:endParaRPr baseline="-27465" sz="6675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77655" y="3005264"/>
            <a:ext cx="308610" cy="7048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50" i="1">
                <a:latin typeface="Times New Roman"/>
                <a:cs typeface="Times New Roman"/>
              </a:rPr>
              <a:t>p</a:t>
            </a:r>
            <a:endParaRPr sz="44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51787" y="3807066"/>
            <a:ext cx="1644014" cy="7048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83640" algn="l"/>
              </a:tabLst>
            </a:pPr>
            <a:r>
              <a:rPr dirty="0" sz="4450" spc="-525" i="1">
                <a:latin typeface="Times New Roman"/>
                <a:cs typeface="Times New Roman"/>
              </a:rPr>
              <a:t>T</a:t>
            </a:r>
            <a:r>
              <a:rPr dirty="0" baseline="-25054" sz="3825" spc="15">
                <a:latin typeface="Times New Roman"/>
                <a:cs typeface="Times New Roman"/>
              </a:rPr>
              <a:t>1</a:t>
            </a:r>
            <a:r>
              <a:rPr dirty="0" baseline="-25054" sz="3825">
                <a:latin typeface="Times New Roman"/>
                <a:cs typeface="Times New Roman"/>
              </a:rPr>
              <a:t>	</a:t>
            </a:r>
            <a:r>
              <a:rPr dirty="0" sz="4450" spc="-245" i="1">
                <a:latin typeface="Times New Roman"/>
                <a:cs typeface="Times New Roman"/>
              </a:rPr>
              <a:t>T</a:t>
            </a:r>
            <a:r>
              <a:rPr dirty="0" baseline="-25054" sz="3825" spc="15">
                <a:latin typeface="Times New Roman"/>
                <a:cs typeface="Times New Roman"/>
              </a:rPr>
              <a:t>2</a:t>
            </a:r>
            <a:endParaRPr baseline="-25054" sz="3825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98600" y="3151454"/>
            <a:ext cx="1750695" cy="7048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65760" algn="l"/>
                <a:tab pos="736600" algn="l"/>
                <a:tab pos="1573530" algn="l"/>
              </a:tabLst>
            </a:pPr>
            <a:r>
              <a:rPr dirty="0" u="heavy" sz="255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55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heavy" sz="255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sz="2550" spc="10">
                <a:latin typeface="Times New Roman"/>
                <a:cs typeface="Times New Roman"/>
              </a:rPr>
              <a:t>	</a:t>
            </a:r>
            <a:r>
              <a:rPr dirty="0" baseline="-20599" sz="6675">
                <a:latin typeface="Symbol"/>
                <a:cs typeface="Symbol"/>
              </a:rPr>
              <a:t></a:t>
            </a:r>
            <a:r>
              <a:rPr dirty="0" baseline="-20599" sz="6675">
                <a:latin typeface="Times New Roman"/>
                <a:cs typeface="Times New Roman"/>
              </a:rPr>
              <a:t> </a:t>
            </a:r>
            <a:r>
              <a:rPr dirty="0" u="heavy" sz="255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55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heavy" sz="255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3252" y="4487227"/>
            <a:ext cx="1125664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微软雅黑"/>
                <a:cs typeface="微软雅黑"/>
              </a:rPr>
              <a:t>（</a:t>
            </a:r>
            <a:r>
              <a:rPr dirty="0" sz="2800" spc="-5">
                <a:latin typeface="微软雅黑"/>
                <a:cs typeface="微软雅黑"/>
              </a:rPr>
              <a:t>1</a:t>
            </a:r>
            <a:r>
              <a:rPr dirty="0" sz="2800">
                <a:latin typeface="微软雅黑"/>
                <a:cs typeface="微软雅黑"/>
              </a:rPr>
              <a:t>）适用条件：</a:t>
            </a:r>
            <a:r>
              <a:rPr dirty="0" sz="2800" b="1">
                <a:solidFill>
                  <a:srgbClr val="001F5F"/>
                </a:solidFill>
                <a:latin typeface="微软雅黑"/>
                <a:cs typeface="微软雅黑"/>
              </a:rPr>
              <a:t>压强不太大、温度不太低</a:t>
            </a:r>
            <a:r>
              <a:rPr dirty="0" sz="2800">
                <a:latin typeface="微软雅黑"/>
                <a:cs typeface="微软雅黑"/>
              </a:rPr>
              <a:t>，气体质量一定、体积一定</a:t>
            </a:r>
            <a:r>
              <a:rPr dirty="0" sz="2800" spc="-5">
                <a:latin typeface="微软雅黑"/>
                <a:cs typeface="微软雅黑"/>
              </a:rPr>
              <a:t>；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3252" y="5741987"/>
            <a:ext cx="4157979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微软雅黑"/>
                <a:cs typeface="微软雅黑"/>
              </a:rPr>
              <a:t>其中，</a:t>
            </a:r>
            <a:r>
              <a:rPr dirty="0" sz="3600" i="1">
                <a:latin typeface="Times New Roman"/>
                <a:cs typeface="Times New Roman"/>
              </a:rPr>
              <a:t>p</a:t>
            </a:r>
            <a:r>
              <a:rPr dirty="0" baseline="-16548" sz="3525" spc="-7">
                <a:latin typeface="Times New Roman"/>
                <a:cs typeface="Times New Roman"/>
              </a:rPr>
              <a:t>z</a:t>
            </a:r>
            <a:r>
              <a:rPr dirty="0" sz="2800">
                <a:latin typeface="微软雅黑"/>
                <a:cs typeface="微软雅黑"/>
              </a:rPr>
              <a:t>为</a:t>
            </a:r>
            <a:r>
              <a:rPr dirty="0" sz="2800" spc="-5">
                <a:latin typeface="微软雅黑"/>
                <a:cs typeface="微软雅黑"/>
              </a:rPr>
              <a:t>0</a:t>
            </a:r>
            <a:r>
              <a:rPr dirty="0" sz="2800" spc="-10">
                <a:latin typeface="Times New Roman"/>
                <a:cs typeface="Times New Roman"/>
              </a:rPr>
              <a:t>℃</a:t>
            </a:r>
            <a:r>
              <a:rPr dirty="0" sz="2800">
                <a:latin typeface="微软雅黑"/>
                <a:cs typeface="微软雅黑"/>
              </a:rPr>
              <a:t>时的压强</a:t>
            </a:r>
            <a:r>
              <a:rPr dirty="0" sz="2800" spc="-5">
                <a:latin typeface="微软雅黑"/>
                <a:cs typeface="微软雅黑"/>
              </a:rPr>
              <a:t>；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677996" y="5422862"/>
            <a:ext cx="1332230" cy="0"/>
          </a:xfrm>
          <a:custGeom>
            <a:avLst/>
            <a:gdLst/>
            <a:ahLst/>
            <a:cxnLst/>
            <a:rect l="l" t="t" r="r" b="b"/>
            <a:pathLst>
              <a:path w="1332229" h="0">
                <a:moveTo>
                  <a:pt x="0" y="0"/>
                </a:moveTo>
                <a:lnTo>
                  <a:pt x="1332115" y="0"/>
                </a:lnTo>
              </a:path>
            </a:pathLst>
          </a:custGeom>
          <a:ln w="2331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9058122" y="5377319"/>
            <a:ext cx="147320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>
                <a:latin typeface="Times New Roman"/>
                <a:cs typeface="Times New Roman"/>
              </a:rPr>
              <a:t>z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694735" y="5424525"/>
            <a:ext cx="1326515" cy="5930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700" spc="10">
                <a:latin typeface="Times New Roman"/>
                <a:cs typeface="Times New Roman"/>
              </a:rPr>
              <a:t>273.15</a:t>
            </a:r>
            <a:endParaRPr sz="37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160851" y="4757851"/>
            <a:ext cx="381635" cy="5930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700" spc="-10" i="1">
                <a:latin typeface="Times New Roman"/>
                <a:cs typeface="Times New Roman"/>
              </a:rPr>
              <a:t>p</a:t>
            </a:r>
            <a:r>
              <a:rPr dirty="0" baseline="-24547" sz="3225">
                <a:latin typeface="Times New Roman"/>
                <a:cs typeface="Times New Roman"/>
              </a:rPr>
              <a:t>z</a:t>
            </a:r>
            <a:endParaRPr baseline="-24547" sz="3225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3252" y="5123522"/>
            <a:ext cx="8466455" cy="5930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800" spc="-5">
                <a:latin typeface="微软雅黑"/>
                <a:cs typeface="微软雅黑"/>
              </a:rPr>
              <a:t>（2）</a:t>
            </a:r>
            <a:r>
              <a:rPr dirty="0" sz="2800">
                <a:latin typeface="微软雅黑"/>
                <a:cs typeface="微软雅黑"/>
              </a:rPr>
              <a:t>由</a:t>
            </a:r>
            <a:r>
              <a:rPr dirty="0" sz="3600" spc="-5" i="1">
                <a:latin typeface="Times New Roman"/>
                <a:cs typeface="Times New Roman"/>
              </a:rPr>
              <a:t>p</a:t>
            </a:r>
            <a:r>
              <a:rPr dirty="0" sz="3600" spc="-5">
                <a:latin typeface="微软雅黑"/>
                <a:cs typeface="微软雅黑"/>
              </a:rPr>
              <a:t>-</a:t>
            </a:r>
            <a:r>
              <a:rPr dirty="0" sz="3600" spc="-5" i="1">
                <a:latin typeface="Times New Roman"/>
                <a:cs typeface="Times New Roman"/>
              </a:rPr>
              <a:t>t</a:t>
            </a:r>
            <a:r>
              <a:rPr dirty="0" sz="2800">
                <a:latin typeface="微软雅黑"/>
                <a:cs typeface="微软雅黑"/>
              </a:rPr>
              <a:t>图可知，压</a:t>
            </a:r>
            <a:r>
              <a:rPr dirty="0" sz="2800" spc="325">
                <a:latin typeface="微软雅黑"/>
                <a:cs typeface="微软雅黑"/>
              </a:rPr>
              <a:t>强</a:t>
            </a:r>
            <a:r>
              <a:rPr dirty="0" sz="3600" i="1">
                <a:latin typeface="Times New Roman"/>
                <a:cs typeface="Times New Roman"/>
              </a:rPr>
              <a:t>p</a:t>
            </a:r>
            <a:r>
              <a:rPr dirty="0" sz="2800">
                <a:latin typeface="微软雅黑"/>
                <a:cs typeface="微软雅黑"/>
              </a:rPr>
              <a:t>与摄氏温度</a:t>
            </a:r>
            <a:r>
              <a:rPr dirty="0" sz="3600" i="1">
                <a:latin typeface="Times New Roman"/>
                <a:cs typeface="Times New Roman"/>
              </a:rPr>
              <a:t>t</a:t>
            </a:r>
            <a:r>
              <a:rPr dirty="0" sz="3600" spc="-25" i="1">
                <a:latin typeface="Times New Roman"/>
                <a:cs typeface="Times New Roman"/>
              </a:rPr>
              <a:t> </a:t>
            </a:r>
            <a:r>
              <a:rPr dirty="0" sz="2800">
                <a:latin typeface="微软雅黑"/>
                <a:cs typeface="微软雅黑"/>
              </a:rPr>
              <a:t>的关</a:t>
            </a:r>
            <a:r>
              <a:rPr dirty="0" sz="2800" spc="-5">
                <a:latin typeface="微软雅黑"/>
                <a:cs typeface="微软雅黑"/>
              </a:rPr>
              <a:t>系</a:t>
            </a:r>
            <a:r>
              <a:rPr dirty="0" sz="2800" spc="-30">
                <a:latin typeface="微软雅黑"/>
                <a:cs typeface="微软雅黑"/>
              </a:rPr>
              <a:t> </a:t>
            </a:r>
            <a:r>
              <a:rPr dirty="0" baseline="8258" sz="5550" spc="15" i="1">
                <a:latin typeface="Times New Roman"/>
                <a:cs typeface="Times New Roman"/>
              </a:rPr>
              <a:t>p</a:t>
            </a:r>
            <a:r>
              <a:rPr dirty="0" baseline="8258" sz="5550" spc="-37" i="1">
                <a:latin typeface="Times New Roman"/>
                <a:cs typeface="Times New Roman"/>
              </a:rPr>
              <a:t> </a:t>
            </a:r>
            <a:r>
              <a:rPr dirty="0" baseline="8258" sz="5550" spc="15">
                <a:latin typeface="Symbol"/>
                <a:cs typeface="Symbol"/>
              </a:rPr>
              <a:t></a:t>
            </a:r>
            <a:r>
              <a:rPr dirty="0" baseline="8258" sz="5550" spc="585">
                <a:latin typeface="Times New Roman"/>
                <a:cs typeface="Times New Roman"/>
              </a:rPr>
              <a:t> </a:t>
            </a:r>
            <a:r>
              <a:rPr dirty="0" baseline="8258" sz="5550" spc="15" i="1">
                <a:latin typeface="Times New Roman"/>
                <a:cs typeface="Times New Roman"/>
              </a:rPr>
              <a:t>p</a:t>
            </a:r>
            <a:endParaRPr baseline="8258" sz="55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315970" y="5056200"/>
            <a:ext cx="1917700" cy="5930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772920" indent="-1760220">
              <a:lnSpc>
                <a:spcPct val="100000"/>
              </a:lnSpc>
              <a:spcBef>
                <a:spcPts val="125"/>
              </a:spcBef>
              <a:buFont typeface="Symbol"/>
              <a:buChar char=""/>
              <a:tabLst>
                <a:tab pos="1772920" algn="l"/>
                <a:tab pos="1773555" algn="l"/>
              </a:tabLst>
            </a:pPr>
            <a:r>
              <a:rPr dirty="0" sz="3700" spc="5" i="1">
                <a:latin typeface="Times New Roman"/>
                <a:cs typeface="Times New Roman"/>
              </a:rPr>
              <a:t>t</a:t>
            </a:r>
            <a:endParaRPr sz="3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3077" y="872985"/>
            <a:ext cx="3792854" cy="1470025"/>
          </a:xfrm>
          <a:prstGeom prst="rect">
            <a:avLst/>
          </a:prstGeom>
        </p:spPr>
        <p:txBody>
          <a:bodyPr wrap="square" lIns="0" tIns="2279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95"/>
              </a:spcBef>
            </a:pPr>
            <a:r>
              <a:rPr dirty="0" sz="3600">
                <a:latin typeface="微软雅黑"/>
                <a:cs typeface="微软雅黑"/>
              </a:rPr>
              <a:t>一</a:t>
            </a:r>
            <a:r>
              <a:rPr dirty="0" sz="3600" spc="-5">
                <a:latin typeface="微软雅黑"/>
                <a:cs typeface="微软雅黑"/>
              </a:rPr>
              <a:t>.</a:t>
            </a:r>
            <a:r>
              <a:rPr dirty="0" sz="3600">
                <a:latin typeface="微软雅黑"/>
                <a:cs typeface="微软雅黑"/>
              </a:rPr>
              <a:t>气体的等容变化</a:t>
            </a:r>
            <a:endParaRPr sz="3600">
              <a:latin typeface="微软雅黑"/>
              <a:cs typeface="微软雅黑"/>
            </a:endParaRPr>
          </a:p>
          <a:p>
            <a:pPr marL="229870">
              <a:lnSpc>
                <a:spcPct val="100000"/>
              </a:lnSpc>
              <a:spcBef>
                <a:spcPts val="1515"/>
              </a:spcBef>
            </a:pPr>
            <a:r>
              <a:rPr dirty="0" sz="3200" spc="-5">
                <a:latin typeface="微软雅黑"/>
                <a:cs typeface="微软雅黑"/>
              </a:rPr>
              <a:t>3.</a:t>
            </a:r>
            <a:r>
              <a:rPr dirty="0" sz="3200">
                <a:latin typeface="微软雅黑"/>
                <a:cs typeface="微软雅黑"/>
              </a:rPr>
              <a:t>等容线</a:t>
            </a:r>
            <a:r>
              <a:rPr dirty="0" sz="3200" spc="-5">
                <a:latin typeface="微软雅黑"/>
                <a:cs typeface="微软雅黑"/>
              </a:rPr>
              <a:t>(</a:t>
            </a:r>
            <a:r>
              <a:rPr dirty="0" sz="3200" spc="-5" i="1">
                <a:latin typeface="Times New Roman"/>
                <a:cs typeface="Times New Roman"/>
              </a:rPr>
              <a:t>p</a:t>
            </a:r>
            <a:r>
              <a:rPr dirty="0" sz="3200" spc="-5">
                <a:latin typeface="微软雅黑"/>
                <a:cs typeface="微软雅黑"/>
              </a:rPr>
              <a:t>-</a:t>
            </a:r>
            <a:r>
              <a:rPr dirty="0" sz="3200" spc="-5" i="1">
                <a:latin typeface="Times New Roman"/>
                <a:cs typeface="Times New Roman"/>
              </a:rPr>
              <a:t>T</a:t>
            </a:r>
            <a:r>
              <a:rPr dirty="0" sz="3200">
                <a:latin typeface="微软雅黑"/>
                <a:cs typeface="微软雅黑"/>
              </a:rPr>
              <a:t>图)</a:t>
            </a:r>
            <a:endParaRPr sz="32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5301615" marR="29845" indent="424180">
              <a:lnSpc>
                <a:spcPct val="100000"/>
              </a:lnSpc>
              <a:spcBef>
                <a:spcPts val="95"/>
              </a:spcBef>
            </a:pPr>
            <a:r>
              <a:rPr dirty="0"/>
              <a:t>一定质量的气体，其</a:t>
            </a:r>
            <a:r>
              <a:rPr dirty="0" spc="-5" i="1">
                <a:latin typeface="Times New Roman"/>
                <a:cs typeface="Times New Roman"/>
              </a:rPr>
              <a:t>p</a:t>
            </a:r>
            <a:r>
              <a:rPr dirty="0" spc="-10"/>
              <a:t>-</a:t>
            </a:r>
            <a:r>
              <a:rPr dirty="0" spc="-5" i="1">
                <a:latin typeface="Times New Roman"/>
                <a:cs typeface="Times New Roman"/>
              </a:rPr>
              <a:t>T</a:t>
            </a:r>
            <a:r>
              <a:rPr dirty="0"/>
              <a:t>图为过原</a:t>
            </a:r>
            <a:r>
              <a:rPr dirty="0" spc="-5"/>
              <a:t>点 </a:t>
            </a:r>
            <a:r>
              <a:rPr dirty="0"/>
              <a:t>的直线</a:t>
            </a:r>
            <a:r>
              <a:rPr dirty="0" spc="-5"/>
              <a:t>，</a:t>
            </a:r>
            <a:r>
              <a:rPr dirty="0" spc="-5" i="1">
                <a:latin typeface="Times New Roman"/>
                <a:cs typeface="Times New Roman"/>
              </a:rPr>
              <a:t>p </a:t>
            </a:r>
            <a:r>
              <a:rPr dirty="0" spc="-5">
                <a:latin typeface="Symbol"/>
                <a:cs typeface="Symbol"/>
              </a:rPr>
              <a:t></a:t>
            </a:r>
            <a:r>
              <a:rPr dirty="0" spc="110">
                <a:latin typeface="Times New Roman"/>
                <a:cs typeface="Times New Roman"/>
              </a:rPr>
              <a:t> </a:t>
            </a:r>
            <a:r>
              <a:rPr dirty="0" spc="-5" i="1">
                <a:latin typeface="Times New Roman"/>
                <a:cs typeface="Times New Roman"/>
              </a:rPr>
              <a:t>T</a:t>
            </a:r>
            <a:r>
              <a:rPr dirty="0" spc="130" i="1">
                <a:latin typeface="Times New Roman"/>
                <a:cs typeface="Times New Roman"/>
              </a:rPr>
              <a:t> </a:t>
            </a:r>
            <a:r>
              <a:rPr dirty="0" spc="-5"/>
              <a:t>。</a:t>
            </a:r>
          </a:p>
          <a:p>
            <a:pPr marL="5725795">
              <a:lnSpc>
                <a:spcPct val="100000"/>
              </a:lnSpc>
              <a:spcBef>
                <a:spcPts val="600"/>
              </a:spcBef>
            </a:pPr>
            <a:r>
              <a:rPr dirty="0"/>
              <a:t>点</a:t>
            </a:r>
            <a:r>
              <a:rPr dirty="0" spc="-10"/>
              <a:t>--------</a:t>
            </a:r>
            <a:r>
              <a:rPr dirty="0"/>
              <a:t>状</a:t>
            </a:r>
            <a:r>
              <a:rPr dirty="0" spc="-5"/>
              <a:t>态</a:t>
            </a:r>
          </a:p>
          <a:p>
            <a:pPr marL="5725795">
              <a:lnSpc>
                <a:spcPct val="100000"/>
              </a:lnSpc>
              <a:spcBef>
                <a:spcPts val="600"/>
              </a:spcBef>
            </a:pPr>
            <a:r>
              <a:rPr dirty="0"/>
              <a:t>线</a:t>
            </a:r>
            <a:r>
              <a:rPr dirty="0" spc="-10"/>
              <a:t>--------</a:t>
            </a:r>
            <a:r>
              <a:rPr dirty="0"/>
              <a:t>变化过</a:t>
            </a:r>
            <a:r>
              <a:rPr dirty="0" spc="-5"/>
              <a:t>程</a:t>
            </a:r>
          </a:p>
          <a:p>
            <a:pPr marL="5301615" marR="5080" indent="424180">
              <a:lnSpc>
                <a:spcPct val="100000"/>
              </a:lnSpc>
              <a:spcBef>
                <a:spcPts val="600"/>
              </a:spcBef>
            </a:pPr>
            <a:r>
              <a:rPr dirty="0"/>
              <a:t>斜率</a:t>
            </a:r>
            <a:r>
              <a:rPr dirty="0" spc="-10"/>
              <a:t>------</a:t>
            </a:r>
            <a:r>
              <a:rPr dirty="0"/>
              <a:t>与气体的种类、质量、</a:t>
            </a:r>
            <a:r>
              <a:rPr dirty="0" spc="-5"/>
              <a:t>体 </a:t>
            </a:r>
            <a:r>
              <a:rPr dirty="0"/>
              <a:t>积有</a:t>
            </a:r>
            <a:r>
              <a:rPr dirty="0" spc="-5"/>
              <a:t>关</a:t>
            </a:r>
          </a:p>
        </p:txBody>
      </p:sp>
      <p:sp>
        <p:nvSpPr>
          <p:cNvPr id="5" name="object 5"/>
          <p:cNvSpPr/>
          <p:nvPr/>
        </p:nvSpPr>
        <p:spPr>
          <a:xfrm>
            <a:off x="408431" y="2471927"/>
            <a:ext cx="5283708" cy="3581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851943" y="3047987"/>
            <a:ext cx="0" cy="2265680"/>
          </a:xfrm>
          <a:custGeom>
            <a:avLst/>
            <a:gdLst/>
            <a:ahLst/>
            <a:cxnLst/>
            <a:rect l="l" t="t" r="r" b="b"/>
            <a:pathLst>
              <a:path w="0" h="2265679">
                <a:moveTo>
                  <a:pt x="0" y="0"/>
                </a:moveTo>
                <a:lnTo>
                  <a:pt x="0" y="2265387"/>
                </a:lnTo>
              </a:path>
            </a:pathLst>
          </a:custGeom>
          <a:ln w="26987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182738" y="4146587"/>
            <a:ext cx="1073150" cy="1200150"/>
          </a:xfrm>
          <a:custGeom>
            <a:avLst/>
            <a:gdLst/>
            <a:ahLst/>
            <a:cxnLst/>
            <a:rect l="l" t="t" r="r" b="b"/>
            <a:pathLst>
              <a:path w="1073150" h="1200150">
                <a:moveTo>
                  <a:pt x="28473" y="1200073"/>
                </a:moveTo>
                <a:lnTo>
                  <a:pt x="0" y="1174750"/>
                </a:lnTo>
                <a:lnTo>
                  <a:pt x="75945" y="1089342"/>
                </a:lnTo>
                <a:lnTo>
                  <a:pt x="104419" y="1114653"/>
                </a:lnTo>
                <a:lnTo>
                  <a:pt x="28473" y="1200073"/>
                </a:lnTo>
                <a:close/>
              </a:path>
              <a:path w="1073150" h="1200150">
                <a:moveTo>
                  <a:pt x="129743" y="1086180"/>
                </a:moveTo>
                <a:lnTo>
                  <a:pt x="101269" y="1060869"/>
                </a:lnTo>
                <a:lnTo>
                  <a:pt x="177215" y="975448"/>
                </a:lnTo>
                <a:lnTo>
                  <a:pt x="205689" y="1000760"/>
                </a:lnTo>
                <a:lnTo>
                  <a:pt x="129743" y="1086180"/>
                </a:lnTo>
                <a:close/>
              </a:path>
              <a:path w="1073150" h="1200150">
                <a:moveTo>
                  <a:pt x="231012" y="972299"/>
                </a:moveTo>
                <a:lnTo>
                  <a:pt x="202539" y="946975"/>
                </a:lnTo>
                <a:lnTo>
                  <a:pt x="278485" y="861555"/>
                </a:lnTo>
                <a:lnTo>
                  <a:pt x="306959" y="886879"/>
                </a:lnTo>
                <a:lnTo>
                  <a:pt x="231012" y="972299"/>
                </a:lnTo>
                <a:close/>
              </a:path>
              <a:path w="1073150" h="1200150">
                <a:moveTo>
                  <a:pt x="332282" y="858405"/>
                </a:moveTo>
                <a:lnTo>
                  <a:pt x="303809" y="833094"/>
                </a:lnTo>
                <a:lnTo>
                  <a:pt x="379755" y="747674"/>
                </a:lnTo>
                <a:lnTo>
                  <a:pt x="408228" y="772985"/>
                </a:lnTo>
                <a:lnTo>
                  <a:pt x="332282" y="858405"/>
                </a:lnTo>
                <a:close/>
              </a:path>
              <a:path w="1073150" h="1200150">
                <a:moveTo>
                  <a:pt x="433539" y="744512"/>
                </a:moveTo>
                <a:lnTo>
                  <a:pt x="405079" y="719201"/>
                </a:lnTo>
                <a:lnTo>
                  <a:pt x="481025" y="633780"/>
                </a:lnTo>
                <a:lnTo>
                  <a:pt x="509498" y="659104"/>
                </a:lnTo>
                <a:lnTo>
                  <a:pt x="433539" y="744512"/>
                </a:lnTo>
                <a:close/>
              </a:path>
              <a:path w="1073150" h="1200150">
                <a:moveTo>
                  <a:pt x="534809" y="630631"/>
                </a:moveTo>
                <a:lnTo>
                  <a:pt x="506336" y="605307"/>
                </a:lnTo>
                <a:lnTo>
                  <a:pt x="582295" y="519899"/>
                </a:lnTo>
                <a:lnTo>
                  <a:pt x="610768" y="545211"/>
                </a:lnTo>
                <a:lnTo>
                  <a:pt x="534809" y="630631"/>
                </a:lnTo>
                <a:close/>
              </a:path>
              <a:path w="1073150" h="1200150">
                <a:moveTo>
                  <a:pt x="636079" y="516737"/>
                </a:moveTo>
                <a:lnTo>
                  <a:pt x="607606" y="491426"/>
                </a:lnTo>
                <a:lnTo>
                  <a:pt x="683564" y="406006"/>
                </a:lnTo>
                <a:lnTo>
                  <a:pt x="712038" y="431330"/>
                </a:lnTo>
                <a:lnTo>
                  <a:pt x="636079" y="516737"/>
                </a:lnTo>
                <a:close/>
              </a:path>
              <a:path w="1073150" h="1200150">
                <a:moveTo>
                  <a:pt x="737349" y="402856"/>
                </a:moveTo>
                <a:lnTo>
                  <a:pt x="708875" y="377532"/>
                </a:lnTo>
                <a:lnTo>
                  <a:pt x="784834" y="292125"/>
                </a:lnTo>
                <a:lnTo>
                  <a:pt x="813295" y="317436"/>
                </a:lnTo>
                <a:lnTo>
                  <a:pt x="737349" y="402856"/>
                </a:lnTo>
                <a:close/>
              </a:path>
              <a:path w="1073150" h="1200150">
                <a:moveTo>
                  <a:pt x="838619" y="288963"/>
                </a:moveTo>
                <a:lnTo>
                  <a:pt x="810145" y="263651"/>
                </a:lnTo>
                <a:lnTo>
                  <a:pt x="886091" y="178231"/>
                </a:lnTo>
                <a:lnTo>
                  <a:pt x="914565" y="203542"/>
                </a:lnTo>
                <a:lnTo>
                  <a:pt x="838619" y="288963"/>
                </a:lnTo>
                <a:close/>
              </a:path>
              <a:path w="1073150" h="1200150">
                <a:moveTo>
                  <a:pt x="939888" y="175082"/>
                </a:moveTo>
                <a:lnTo>
                  <a:pt x="911415" y="149758"/>
                </a:lnTo>
                <a:lnTo>
                  <a:pt x="987361" y="64338"/>
                </a:lnTo>
                <a:lnTo>
                  <a:pt x="1015834" y="89662"/>
                </a:lnTo>
                <a:lnTo>
                  <a:pt x="939888" y="175082"/>
                </a:lnTo>
                <a:close/>
              </a:path>
              <a:path w="1073150" h="1200150">
                <a:moveTo>
                  <a:pt x="1041158" y="61188"/>
                </a:moveTo>
                <a:lnTo>
                  <a:pt x="1012685" y="35877"/>
                </a:lnTo>
                <a:lnTo>
                  <a:pt x="1044574" y="0"/>
                </a:lnTo>
                <a:lnTo>
                  <a:pt x="1073048" y="25323"/>
                </a:lnTo>
                <a:lnTo>
                  <a:pt x="1041158" y="61188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141588" y="3057563"/>
            <a:ext cx="1073150" cy="1200150"/>
          </a:xfrm>
          <a:custGeom>
            <a:avLst/>
            <a:gdLst/>
            <a:ahLst/>
            <a:cxnLst/>
            <a:rect l="l" t="t" r="r" b="b"/>
            <a:pathLst>
              <a:path w="1073150" h="1200150">
                <a:moveTo>
                  <a:pt x="28473" y="1200073"/>
                </a:moveTo>
                <a:lnTo>
                  <a:pt x="0" y="1174750"/>
                </a:lnTo>
                <a:lnTo>
                  <a:pt x="1044575" y="0"/>
                </a:lnTo>
                <a:lnTo>
                  <a:pt x="1073048" y="25323"/>
                </a:lnTo>
                <a:lnTo>
                  <a:pt x="28473" y="1200073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897386" y="3621620"/>
            <a:ext cx="156845" cy="34036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050" spc="5">
                <a:latin typeface="Times New Roman"/>
                <a:cs typeface="Times New Roman"/>
              </a:rPr>
              <a:t>1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42142" y="3313176"/>
            <a:ext cx="302895" cy="5702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550" spc="10" i="1">
                <a:latin typeface="Times New Roman"/>
                <a:cs typeface="Times New Roman"/>
              </a:rPr>
              <a:t>V</a:t>
            </a:r>
            <a:endParaRPr sz="35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29000" y="2617342"/>
            <a:ext cx="555625" cy="5702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550" spc="10" i="1">
                <a:latin typeface="Times New Roman"/>
                <a:cs typeface="Times New Roman"/>
              </a:rPr>
              <a:t>V</a:t>
            </a:r>
            <a:r>
              <a:rPr dirty="0" sz="3550" spc="-20" i="1">
                <a:latin typeface="Times New Roman"/>
                <a:cs typeface="Times New Roman"/>
              </a:rPr>
              <a:t> </a:t>
            </a:r>
            <a:r>
              <a:rPr dirty="0" baseline="-24390" sz="3075" spc="7">
                <a:latin typeface="Times New Roman"/>
                <a:cs typeface="Times New Roman"/>
              </a:rPr>
              <a:t>2</a:t>
            </a:r>
            <a:endParaRPr baseline="-24390" sz="3075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76855" y="5482209"/>
            <a:ext cx="278130" cy="5702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550" spc="10" i="1">
                <a:latin typeface="Times New Roman"/>
                <a:cs typeface="Times New Roman"/>
              </a:rPr>
              <a:t>T</a:t>
            </a:r>
            <a:endParaRPr sz="35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219022" y="4530725"/>
            <a:ext cx="175260" cy="40005"/>
          </a:xfrm>
          <a:custGeom>
            <a:avLst/>
            <a:gdLst/>
            <a:ahLst/>
            <a:cxnLst/>
            <a:rect l="l" t="t" r="r" b="b"/>
            <a:pathLst>
              <a:path w="175259" h="40004">
                <a:moveTo>
                  <a:pt x="174625" y="39687"/>
                </a:moveTo>
                <a:lnTo>
                  <a:pt x="0" y="38100"/>
                </a:lnTo>
                <a:lnTo>
                  <a:pt x="355" y="0"/>
                </a:lnTo>
                <a:lnTo>
                  <a:pt x="174980" y="1587"/>
                </a:lnTo>
                <a:lnTo>
                  <a:pt x="174625" y="3968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219022" y="3443287"/>
            <a:ext cx="175260" cy="40005"/>
          </a:xfrm>
          <a:custGeom>
            <a:avLst/>
            <a:gdLst/>
            <a:ahLst/>
            <a:cxnLst/>
            <a:rect l="l" t="t" r="r" b="b"/>
            <a:pathLst>
              <a:path w="175259" h="40004">
                <a:moveTo>
                  <a:pt x="174625" y="39687"/>
                </a:moveTo>
                <a:lnTo>
                  <a:pt x="0" y="38100"/>
                </a:lnTo>
                <a:lnTo>
                  <a:pt x="355" y="0"/>
                </a:lnTo>
                <a:lnTo>
                  <a:pt x="174980" y="1587"/>
                </a:lnTo>
                <a:lnTo>
                  <a:pt x="174625" y="3968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528878" y="3140265"/>
            <a:ext cx="469265" cy="5702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550" spc="285" i="1">
                <a:latin typeface="Times New Roman"/>
                <a:cs typeface="Times New Roman"/>
              </a:rPr>
              <a:t>P</a:t>
            </a:r>
            <a:r>
              <a:rPr dirty="0" baseline="-24390" sz="3075" spc="7">
                <a:latin typeface="Times New Roman"/>
                <a:cs typeface="Times New Roman"/>
              </a:rPr>
              <a:t>2</a:t>
            </a:r>
            <a:endParaRPr baseline="-24390" sz="3075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77392" y="4207065"/>
            <a:ext cx="426084" cy="5702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550" spc="-55" i="1">
                <a:latin typeface="Times New Roman"/>
                <a:cs typeface="Times New Roman"/>
              </a:rPr>
              <a:t>P</a:t>
            </a:r>
            <a:r>
              <a:rPr dirty="0" baseline="-24390" sz="3075" spc="7">
                <a:latin typeface="Times New Roman"/>
                <a:cs typeface="Times New Roman"/>
              </a:rPr>
              <a:t>1</a:t>
            </a:r>
            <a:endParaRPr baseline="-24390" sz="3075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857764" y="4234472"/>
            <a:ext cx="1546860" cy="7105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37540" algn="l"/>
              </a:tabLst>
            </a:pPr>
            <a:r>
              <a:rPr dirty="0" sz="4500" spc="-210" i="1">
                <a:solidFill>
                  <a:srgbClr val="FF0000"/>
                </a:solidFill>
                <a:latin typeface="Times New Roman"/>
                <a:cs typeface="Times New Roman"/>
              </a:rPr>
              <a:t>V</a:t>
            </a:r>
            <a:r>
              <a:rPr dirty="0" baseline="-24572" sz="3900" spc="-315">
                <a:solidFill>
                  <a:srgbClr val="FF0000"/>
                </a:solidFill>
                <a:latin typeface="Times New Roman"/>
                <a:cs typeface="Times New Roman"/>
              </a:rPr>
              <a:t>1	</a:t>
            </a:r>
            <a:r>
              <a:rPr dirty="0" sz="4500" spc="15">
                <a:solidFill>
                  <a:srgbClr val="FF0000"/>
                </a:solidFill>
                <a:latin typeface="Symbol"/>
                <a:cs typeface="Symbol"/>
              </a:rPr>
              <a:t></a:t>
            </a:r>
            <a:r>
              <a:rPr dirty="0" sz="4500" spc="-56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4500" spc="-70" i="1">
                <a:solidFill>
                  <a:srgbClr val="FF0000"/>
                </a:solidFill>
                <a:latin typeface="Times New Roman"/>
                <a:cs typeface="Times New Roman"/>
              </a:rPr>
              <a:t>V</a:t>
            </a:r>
            <a:r>
              <a:rPr dirty="0" baseline="-24572" sz="3900" spc="-104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endParaRPr baseline="-24572" sz="3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3077" y="872985"/>
            <a:ext cx="11171555" cy="4004945"/>
          </a:xfrm>
          <a:prstGeom prst="rect">
            <a:avLst/>
          </a:prstGeom>
        </p:spPr>
        <p:txBody>
          <a:bodyPr wrap="square" lIns="0" tIns="2279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95"/>
              </a:spcBef>
            </a:pPr>
            <a:r>
              <a:rPr dirty="0" sz="3600">
                <a:latin typeface="微软雅黑"/>
                <a:cs typeface="微软雅黑"/>
              </a:rPr>
              <a:t>二</a:t>
            </a:r>
            <a:r>
              <a:rPr dirty="0" sz="3600" spc="-5">
                <a:latin typeface="微软雅黑"/>
                <a:cs typeface="微软雅黑"/>
              </a:rPr>
              <a:t>.</a:t>
            </a:r>
            <a:r>
              <a:rPr dirty="0" sz="3600">
                <a:latin typeface="微软雅黑"/>
                <a:cs typeface="微软雅黑"/>
              </a:rPr>
              <a:t>气体的等压变化</a:t>
            </a:r>
            <a:endParaRPr sz="3600">
              <a:latin typeface="微软雅黑"/>
              <a:cs typeface="微软雅黑"/>
            </a:endParaRPr>
          </a:p>
          <a:p>
            <a:pPr marL="142875" marR="208915" indent="737870">
              <a:lnSpc>
                <a:spcPct val="100000"/>
              </a:lnSpc>
              <a:spcBef>
                <a:spcPts val="1515"/>
              </a:spcBef>
            </a:pPr>
            <a:r>
              <a:rPr dirty="0" sz="3200" spc="105">
                <a:latin typeface="微软雅黑"/>
                <a:cs typeface="微软雅黑"/>
              </a:rPr>
              <a:t>一</a:t>
            </a:r>
            <a:r>
              <a:rPr dirty="0" sz="3200" spc="110">
                <a:latin typeface="微软雅黑"/>
                <a:cs typeface="微软雅黑"/>
              </a:rPr>
              <a:t>定质量的某种气体，在压强不变时，体积随温度的</a:t>
            </a:r>
            <a:r>
              <a:rPr dirty="0" sz="3200">
                <a:latin typeface="微软雅黑"/>
                <a:cs typeface="微软雅黑"/>
              </a:rPr>
              <a:t>变 </a:t>
            </a:r>
            <a:r>
              <a:rPr dirty="0" sz="3200">
                <a:latin typeface="微软雅黑"/>
                <a:cs typeface="微软雅黑"/>
              </a:rPr>
              <a:t>化叫做等压变化</a:t>
            </a:r>
            <a:r>
              <a:rPr dirty="0" sz="3200" spc="5">
                <a:latin typeface="微软雅黑"/>
                <a:cs typeface="微软雅黑"/>
              </a:rPr>
              <a:t>。</a:t>
            </a:r>
            <a:endParaRPr sz="3200">
              <a:latin typeface="微软雅黑"/>
              <a:cs typeface="微软雅黑"/>
            </a:endParaRPr>
          </a:p>
          <a:p>
            <a:pPr marL="77470">
              <a:lnSpc>
                <a:spcPct val="100000"/>
              </a:lnSpc>
              <a:spcBef>
                <a:spcPts val="2955"/>
              </a:spcBef>
            </a:pPr>
            <a:r>
              <a:rPr dirty="0" sz="3200" spc="-5">
                <a:latin typeface="微软雅黑"/>
                <a:cs typeface="微软雅黑"/>
              </a:rPr>
              <a:t>1.</a:t>
            </a:r>
            <a:r>
              <a:rPr dirty="0" sz="3200">
                <a:latin typeface="微软雅黑"/>
                <a:cs typeface="微软雅黑"/>
              </a:rPr>
              <a:t>探究实验设</a:t>
            </a:r>
            <a:r>
              <a:rPr dirty="0" sz="3200" spc="5">
                <a:latin typeface="微软雅黑"/>
                <a:cs typeface="微软雅黑"/>
              </a:rPr>
              <a:t>计</a:t>
            </a:r>
            <a:endParaRPr sz="3200">
              <a:latin typeface="微软雅黑"/>
              <a:cs typeface="微软雅黑"/>
            </a:endParaRPr>
          </a:p>
          <a:p>
            <a:pPr marL="683260">
              <a:lnSpc>
                <a:spcPct val="100000"/>
              </a:lnSpc>
              <a:spcBef>
                <a:spcPts val="1225"/>
              </a:spcBef>
            </a:pPr>
            <a:r>
              <a:rPr dirty="0" sz="2800">
                <a:latin typeface="微软雅黑"/>
                <a:cs typeface="微软雅黑"/>
              </a:rPr>
              <a:t>思考</a:t>
            </a:r>
            <a:r>
              <a:rPr dirty="0" sz="2800" spc="-5">
                <a:latin typeface="微软雅黑"/>
                <a:cs typeface="微软雅黑"/>
              </a:rPr>
              <a:t>：</a:t>
            </a:r>
            <a:endParaRPr sz="2800">
              <a:latin typeface="微软雅黑"/>
              <a:cs typeface="微软雅黑"/>
            </a:endParaRPr>
          </a:p>
          <a:p>
            <a:pPr marL="847090">
              <a:lnSpc>
                <a:spcPct val="100000"/>
              </a:lnSpc>
              <a:spcBef>
                <a:spcPts val="1380"/>
              </a:spcBef>
            </a:pPr>
            <a:r>
              <a:rPr dirty="0" sz="2800">
                <a:latin typeface="微软雅黑"/>
                <a:cs typeface="微软雅黑"/>
              </a:rPr>
              <a:t>请你设计一个实验，定量研究等压变化中体积与温度之间的关系</a:t>
            </a:r>
            <a:r>
              <a:rPr dirty="0" sz="2800" spc="-5">
                <a:latin typeface="微软雅黑"/>
                <a:cs typeface="微软雅黑"/>
              </a:rPr>
              <a:t>。</a:t>
            </a:r>
            <a:endParaRPr sz="2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1840" y="0"/>
            <a:ext cx="2058670" cy="634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b="1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 b="1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77439" y="2263139"/>
            <a:ext cx="3037332" cy="32278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93077" y="921130"/>
            <a:ext cx="3792854" cy="1379220"/>
          </a:xfrm>
          <a:prstGeom prst="rect">
            <a:avLst/>
          </a:prstGeom>
        </p:spPr>
        <p:txBody>
          <a:bodyPr wrap="square" lIns="0" tIns="1797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15"/>
              </a:spcBef>
            </a:pPr>
            <a:r>
              <a:rPr dirty="0" sz="3600">
                <a:latin typeface="微软雅黑"/>
                <a:cs typeface="微软雅黑"/>
              </a:rPr>
              <a:t>二</a:t>
            </a:r>
            <a:r>
              <a:rPr dirty="0" sz="3600" spc="-5">
                <a:latin typeface="微软雅黑"/>
                <a:cs typeface="微软雅黑"/>
              </a:rPr>
              <a:t>.</a:t>
            </a:r>
            <a:r>
              <a:rPr dirty="0" sz="3600">
                <a:latin typeface="微软雅黑"/>
                <a:cs typeface="微软雅黑"/>
              </a:rPr>
              <a:t>气体的等压变化</a:t>
            </a:r>
            <a:endParaRPr sz="3600">
              <a:latin typeface="微软雅黑"/>
              <a:cs typeface="微软雅黑"/>
            </a:endParaRPr>
          </a:p>
          <a:p>
            <a:pPr marL="55244">
              <a:lnSpc>
                <a:spcPct val="100000"/>
              </a:lnSpc>
              <a:spcBef>
                <a:spcPts val="1180"/>
              </a:spcBef>
            </a:pPr>
            <a:r>
              <a:rPr dirty="0" sz="3200" spc="-5">
                <a:latin typeface="微软雅黑"/>
                <a:cs typeface="微软雅黑"/>
              </a:rPr>
              <a:t>1.</a:t>
            </a:r>
            <a:r>
              <a:rPr dirty="0" sz="3200">
                <a:latin typeface="微软雅黑"/>
                <a:cs typeface="微软雅黑"/>
              </a:rPr>
              <a:t>探究实验设</a:t>
            </a:r>
            <a:r>
              <a:rPr dirty="0" sz="3200" spc="5">
                <a:latin typeface="微软雅黑"/>
                <a:cs typeface="微软雅黑"/>
              </a:rPr>
              <a:t>计</a:t>
            </a:r>
            <a:endParaRPr sz="32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359908" y="1569719"/>
            <a:ext cx="4491228" cy="40462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367866" y="2245271"/>
            <a:ext cx="463550" cy="2078989"/>
          </a:xfrm>
          <a:custGeom>
            <a:avLst/>
            <a:gdLst/>
            <a:ahLst/>
            <a:cxnLst/>
            <a:rect l="l" t="t" r="r" b="b"/>
            <a:pathLst>
              <a:path w="463550" h="2078989">
                <a:moveTo>
                  <a:pt x="438150" y="2078532"/>
                </a:moveTo>
                <a:lnTo>
                  <a:pt x="0" y="5257"/>
                </a:lnTo>
                <a:lnTo>
                  <a:pt x="24841" y="0"/>
                </a:lnTo>
                <a:lnTo>
                  <a:pt x="462991" y="2073275"/>
                </a:lnTo>
                <a:lnTo>
                  <a:pt x="438150" y="20785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432533" y="3232619"/>
            <a:ext cx="784860" cy="243840"/>
          </a:xfrm>
          <a:custGeom>
            <a:avLst/>
            <a:gdLst/>
            <a:ahLst/>
            <a:cxnLst/>
            <a:rect l="l" t="t" r="r" b="b"/>
            <a:pathLst>
              <a:path w="784859" h="243839">
                <a:moveTo>
                  <a:pt x="777875" y="243535"/>
                </a:moveTo>
                <a:lnTo>
                  <a:pt x="0" y="24460"/>
                </a:lnTo>
                <a:lnTo>
                  <a:pt x="6883" y="0"/>
                </a:lnTo>
                <a:lnTo>
                  <a:pt x="784758" y="219074"/>
                </a:lnTo>
                <a:lnTo>
                  <a:pt x="777875" y="243535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553822" y="1393824"/>
            <a:ext cx="1651635" cy="10020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15900" marR="5080" indent="-2032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001F5F"/>
                </a:solidFill>
                <a:latin typeface="微软雅黑"/>
                <a:cs typeface="微软雅黑"/>
              </a:rPr>
              <a:t>带刻度</a:t>
            </a:r>
            <a:r>
              <a:rPr dirty="0" sz="3200">
                <a:solidFill>
                  <a:srgbClr val="001F5F"/>
                </a:solidFill>
                <a:latin typeface="微软雅黑"/>
                <a:cs typeface="微软雅黑"/>
              </a:rPr>
              <a:t>的 </a:t>
            </a:r>
            <a:r>
              <a:rPr dirty="0" sz="3200">
                <a:solidFill>
                  <a:srgbClr val="001F5F"/>
                </a:solidFill>
                <a:latin typeface="微软雅黑"/>
                <a:cs typeface="微软雅黑"/>
              </a:rPr>
              <a:t>注射</a:t>
            </a:r>
            <a:r>
              <a:rPr dirty="0" sz="3200" spc="5">
                <a:solidFill>
                  <a:srgbClr val="001F5F"/>
                </a:solidFill>
                <a:latin typeface="微软雅黑"/>
                <a:cs typeface="微软雅黑"/>
              </a:rPr>
              <a:t>器</a:t>
            </a:r>
            <a:endParaRPr sz="32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268396" y="3227323"/>
            <a:ext cx="1245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001F5F"/>
                </a:solidFill>
                <a:latin typeface="微软雅黑"/>
                <a:cs typeface="微软雅黑"/>
              </a:rPr>
              <a:t>温度</a:t>
            </a:r>
            <a:r>
              <a:rPr dirty="0" sz="3200" spc="5">
                <a:solidFill>
                  <a:srgbClr val="001F5F"/>
                </a:solidFill>
                <a:latin typeface="微软雅黑"/>
                <a:cs typeface="微软雅黑"/>
              </a:rPr>
              <a:t>计</a:t>
            </a:r>
            <a:endParaRPr sz="32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42858" y="4411268"/>
            <a:ext cx="224790" cy="5029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100" spc="15">
                <a:latin typeface="Times New Roman"/>
                <a:cs typeface="Times New Roman"/>
              </a:rPr>
              <a:t>0</a:t>
            </a:r>
            <a:endParaRPr sz="3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8451" y="3944149"/>
            <a:ext cx="1508125" cy="8509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5400" spc="5" i="1">
                <a:latin typeface="Times New Roman"/>
                <a:cs typeface="Times New Roman"/>
              </a:rPr>
              <a:t>p </a:t>
            </a:r>
            <a:r>
              <a:rPr dirty="0" sz="5400" spc="5">
                <a:latin typeface="Symbol"/>
                <a:cs typeface="Symbol"/>
              </a:rPr>
              <a:t></a:t>
            </a:r>
            <a:r>
              <a:rPr dirty="0" sz="5400" spc="490">
                <a:latin typeface="Times New Roman"/>
                <a:cs typeface="Times New Roman"/>
              </a:rPr>
              <a:t> </a:t>
            </a:r>
            <a:r>
              <a:rPr dirty="0" sz="5400" spc="5" i="1">
                <a:latin typeface="Times New Roman"/>
                <a:cs typeface="Times New Roman"/>
              </a:rPr>
              <a:t>p</a:t>
            </a:r>
            <a:endParaRPr sz="5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149141" y="4293539"/>
            <a:ext cx="194945" cy="4318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650" spc="5">
                <a:latin typeface="Times New Roman"/>
                <a:cs typeface="Times New Roman"/>
              </a:rPr>
              <a:t>0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893416" y="3895636"/>
            <a:ext cx="1287780" cy="727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600" i="1">
                <a:latin typeface="Times New Roman"/>
                <a:cs typeface="Times New Roman"/>
              </a:rPr>
              <a:t>p </a:t>
            </a:r>
            <a:r>
              <a:rPr dirty="0" sz="4600">
                <a:latin typeface="Symbol"/>
                <a:cs typeface="Symbol"/>
              </a:rPr>
              <a:t></a:t>
            </a:r>
            <a:r>
              <a:rPr dirty="0" sz="4600" spc="409">
                <a:latin typeface="Times New Roman"/>
                <a:cs typeface="Times New Roman"/>
              </a:rPr>
              <a:t> </a:t>
            </a:r>
            <a:r>
              <a:rPr dirty="0" sz="4600" i="1">
                <a:latin typeface="Times New Roman"/>
                <a:cs typeface="Times New Roman"/>
              </a:rPr>
              <a:t>p</a:t>
            </a:r>
            <a:endParaRPr sz="4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475315" y="3401974"/>
            <a:ext cx="1214120" cy="1678939"/>
          </a:xfrm>
          <a:prstGeom prst="rect">
            <a:avLst/>
          </a:prstGeom>
        </p:spPr>
        <p:txBody>
          <a:bodyPr wrap="square" lIns="0" tIns="137795" rIns="0" bIns="0" rtlCol="0" vert="horz">
            <a:spAutoFit/>
          </a:bodyPr>
          <a:lstStyle/>
          <a:p>
            <a:pPr marL="487680" indent="-474980">
              <a:lnSpc>
                <a:spcPct val="100000"/>
              </a:lnSpc>
              <a:spcBef>
                <a:spcPts val="1085"/>
              </a:spcBef>
              <a:buFont typeface="Symbol"/>
              <a:buChar char=""/>
              <a:tabLst>
                <a:tab pos="488315" algn="l"/>
              </a:tabLst>
            </a:pPr>
            <a:r>
              <a:rPr dirty="0" u="heavy" sz="4600" spc="-15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</a:t>
            </a:r>
            <a:r>
              <a:rPr dirty="0" u="heavy" sz="460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g</a:t>
            </a:r>
            <a:endParaRPr sz="4600">
              <a:latin typeface="Times New Roman"/>
              <a:cs typeface="Times New Roman"/>
            </a:endParaRPr>
          </a:p>
          <a:p>
            <a:pPr marL="697865">
              <a:lnSpc>
                <a:spcPct val="100000"/>
              </a:lnSpc>
              <a:spcBef>
                <a:spcPts val="990"/>
              </a:spcBef>
            </a:pPr>
            <a:r>
              <a:rPr dirty="0" sz="4600" i="1">
                <a:latin typeface="Times New Roman"/>
                <a:cs typeface="Times New Roman"/>
              </a:rPr>
              <a:t>S</a:t>
            </a:r>
            <a:endParaRPr sz="4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06144" y="5711825"/>
            <a:ext cx="883158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latin typeface="微软雅黑"/>
                <a:cs typeface="微软雅黑"/>
              </a:rPr>
              <a:t>实验方案评价：能否控制</a:t>
            </a:r>
            <a:r>
              <a:rPr dirty="0" sz="3200" spc="-5" i="1">
                <a:latin typeface="Times New Roman"/>
                <a:cs typeface="Times New Roman"/>
              </a:rPr>
              <a:t>p</a:t>
            </a:r>
            <a:r>
              <a:rPr dirty="0" sz="3200">
                <a:latin typeface="微软雅黑"/>
                <a:cs typeface="微软雅黑"/>
              </a:rPr>
              <a:t>不变？如何测量</a:t>
            </a:r>
            <a:r>
              <a:rPr dirty="0" sz="3200" spc="-5" i="1">
                <a:latin typeface="Times New Roman"/>
                <a:cs typeface="Times New Roman"/>
              </a:rPr>
              <a:t>V</a:t>
            </a:r>
            <a:r>
              <a:rPr dirty="0" sz="3200">
                <a:latin typeface="微软雅黑"/>
                <a:cs typeface="微软雅黑"/>
              </a:rPr>
              <a:t>和</a:t>
            </a:r>
            <a:r>
              <a:rPr dirty="0" sz="3200" spc="-5" i="1">
                <a:latin typeface="Times New Roman"/>
                <a:cs typeface="Times New Roman"/>
              </a:rPr>
              <a:t>T</a:t>
            </a:r>
            <a:r>
              <a:rPr dirty="0" sz="3200" spc="5">
                <a:latin typeface="微软雅黑"/>
                <a:cs typeface="微软雅黑"/>
              </a:rPr>
              <a:t>？</a:t>
            </a:r>
            <a:endParaRPr sz="32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3077" y="896166"/>
            <a:ext cx="11033125" cy="2515235"/>
          </a:xfrm>
          <a:prstGeom prst="rect">
            <a:avLst/>
          </a:prstGeom>
        </p:spPr>
        <p:txBody>
          <a:bodyPr wrap="square" lIns="0" tIns="2044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10"/>
              </a:spcBef>
            </a:pPr>
            <a:r>
              <a:rPr dirty="0" sz="3600">
                <a:latin typeface="微软雅黑"/>
                <a:cs typeface="微软雅黑"/>
              </a:rPr>
              <a:t>二</a:t>
            </a:r>
            <a:r>
              <a:rPr dirty="0" sz="3600" spc="-5">
                <a:latin typeface="微软雅黑"/>
                <a:cs typeface="微软雅黑"/>
              </a:rPr>
              <a:t>.</a:t>
            </a:r>
            <a:r>
              <a:rPr dirty="0" sz="3600">
                <a:latin typeface="微软雅黑"/>
                <a:cs typeface="微软雅黑"/>
              </a:rPr>
              <a:t>气体的等压变化</a:t>
            </a:r>
            <a:endParaRPr sz="3600">
              <a:latin typeface="微软雅黑"/>
              <a:cs typeface="微软雅黑"/>
            </a:endParaRPr>
          </a:p>
          <a:p>
            <a:pPr marL="229870">
              <a:lnSpc>
                <a:spcPct val="100000"/>
              </a:lnSpc>
              <a:spcBef>
                <a:spcPts val="1355"/>
              </a:spcBef>
            </a:pPr>
            <a:r>
              <a:rPr dirty="0" sz="3200" spc="-5">
                <a:latin typeface="微软雅黑"/>
                <a:cs typeface="微软雅黑"/>
              </a:rPr>
              <a:t>2.</a:t>
            </a:r>
            <a:r>
              <a:rPr dirty="0" sz="3200">
                <a:latin typeface="微软雅黑"/>
                <a:cs typeface="微软雅黑"/>
              </a:rPr>
              <a:t>盖</a:t>
            </a:r>
            <a:r>
              <a:rPr dirty="0" sz="3200" spc="-5">
                <a:latin typeface="微软雅黑"/>
                <a:cs typeface="微软雅黑"/>
              </a:rPr>
              <a:t>—</a:t>
            </a:r>
            <a:r>
              <a:rPr dirty="0" sz="3200">
                <a:latin typeface="微软雅黑"/>
                <a:cs typeface="微软雅黑"/>
              </a:rPr>
              <a:t>吕萨克定</a:t>
            </a:r>
            <a:r>
              <a:rPr dirty="0" sz="3200" spc="5">
                <a:latin typeface="微软雅黑"/>
                <a:cs typeface="微软雅黑"/>
              </a:rPr>
              <a:t>律</a:t>
            </a:r>
            <a:endParaRPr sz="3200">
              <a:latin typeface="微软雅黑"/>
              <a:cs typeface="微软雅黑"/>
            </a:endParaRPr>
          </a:p>
          <a:p>
            <a:pPr marL="250825" marR="5080" indent="848360">
              <a:lnSpc>
                <a:spcPct val="100000"/>
              </a:lnSpc>
              <a:spcBef>
                <a:spcPts val="894"/>
              </a:spcBef>
            </a:pPr>
            <a:r>
              <a:rPr dirty="0" sz="2800" spc="105" b="1">
                <a:solidFill>
                  <a:srgbClr val="001F5F"/>
                </a:solidFill>
                <a:latin typeface="微软雅黑"/>
                <a:cs typeface="微软雅黑"/>
              </a:rPr>
              <a:t>一定质量</a:t>
            </a:r>
            <a:r>
              <a:rPr dirty="0" sz="3200" spc="105">
                <a:latin typeface="微软雅黑"/>
                <a:cs typeface="微软雅黑"/>
              </a:rPr>
              <a:t>的某种气体，在</a:t>
            </a:r>
            <a:r>
              <a:rPr dirty="0" sz="2800" spc="105" b="1">
                <a:solidFill>
                  <a:srgbClr val="001F5F"/>
                </a:solidFill>
                <a:latin typeface="微软雅黑"/>
                <a:cs typeface="微软雅黑"/>
              </a:rPr>
              <a:t>压强不变</a:t>
            </a:r>
            <a:r>
              <a:rPr dirty="0" sz="3200" spc="105">
                <a:latin typeface="微软雅黑"/>
                <a:cs typeface="微软雅黑"/>
              </a:rPr>
              <a:t>的</a:t>
            </a:r>
            <a:r>
              <a:rPr dirty="0" sz="3200" spc="110">
                <a:latin typeface="微软雅黑"/>
                <a:cs typeface="微软雅黑"/>
              </a:rPr>
              <a:t>情况下，体积</a:t>
            </a:r>
            <a:r>
              <a:rPr dirty="0" sz="3200" spc="105" i="1">
                <a:latin typeface="Times New Roman"/>
                <a:cs typeface="Times New Roman"/>
              </a:rPr>
              <a:t>V</a:t>
            </a:r>
            <a:r>
              <a:rPr dirty="0" sz="3200" spc="110">
                <a:latin typeface="微软雅黑"/>
                <a:cs typeface="微软雅黑"/>
              </a:rPr>
              <a:t>与</a:t>
            </a:r>
            <a:r>
              <a:rPr dirty="0" sz="3200">
                <a:latin typeface="微软雅黑"/>
                <a:cs typeface="微软雅黑"/>
              </a:rPr>
              <a:t>热 </a:t>
            </a:r>
            <a:r>
              <a:rPr dirty="0" sz="3200">
                <a:latin typeface="微软雅黑"/>
                <a:cs typeface="微软雅黑"/>
              </a:rPr>
              <a:t>力学温度</a:t>
            </a:r>
            <a:r>
              <a:rPr dirty="0" sz="3200" spc="-5" i="1">
                <a:latin typeface="Times New Roman"/>
                <a:cs typeface="Times New Roman"/>
              </a:rPr>
              <a:t>T</a:t>
            </a:r>
            <a:r>
              <a:rPr dirty="0" sz="3200">
                <a:latin typeface="微软雅黑"/>
                <a:cs typeface="微软雅黑"/>
              </a:rPr>
              <a:t>成正比，即</a:t>
            </a:r>
            <a:r>
              <a:rPr dirty="0" sz="3200" i="1">
                <a:latin typeface="Times New Roman"/>
                <a:cs typeface="Times New Roman"/>
              </a:rPr>
              <a:t>V</a:t>
            </a:r>
            <a:r>
              <a:rPr dirty="0" sz="3200" spc="-10" i="1">
                <a:latin typeface="Times New Roman"/>
                <a:cs typeface="Times New Roman"/>
              </a:rPr>
              <a:t> </a:t>
            </a:r>
            <a:r>
              <a:rPr dirty="0" sz="3200">
                <a:latin typeface="Symbol"/>
                <a:cs typeface="Symbol"/>
              </a:rPr>
              <a:t></a:t>
            </a:r>
            <a:r>
              <a:rPr dirty="0" sz="3200" spc="114">
                <a:latin typeface="Times New Roman"/>
                <a:cs typeface="Times New Roman"/>
              </a:rPr>
              <a:t> </a:t>
            </a:r>
            <a:r>
              <a:rPr dirty="0" sz="3200" i="1">
                <a:latin typeface="Times New Roman"/>
                <a:cs typeface="Times New Roman"/>
              </a:rPr>
              <a:t>T</a:t>
            </a:r>
            <a:r>
              <a:rPr dirty="0" sz="3200" spc="-10" i="1">
                <a:latin typeface="Times New Roman"/>
                <a:cs typeface="Times New Roman"/>
              </a:rPr>
              <a:t> </a:t>
            </a:r>
            <a:r>
              <a:rPr dirty="0" sz="3200">
                <a:latin typeface="微软雅黑"/>
                <a:cs typeface="微软雅黑"/>
              </a:rPr>
              <a:t>。可写</a:t>
            </a:r>
            <a:r>
              <a:rPr dirty="0" sz="3200" spc="5">
                <a:latin typeface="微软雅黑"/>
                <a:cs typeface="微软雅黑"/>
              </a:rPr>
              <a:t>作</a:t>
            </a:r>
            <a:endParaRPr sz="32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746322" y="4062234"/>
            <a:ext cx="393700" cy="0"/>
          </a:xfrm>
          <a:custGeom>
            <a:avLst/>
            <a:gdLst/>
            <a:ahLst/>
            <a:cxnLst/>
            <a:rect l="l" t="t" r="r" b="b"/>
            <a:pathLst>
              <a:path w="393700" h="0">
                <a:moveTo>
                  <a:pt x="0" y="0"/>
                </a:moveTo>
                <a:lnTo>
                  <a:pt x="393623" y="0"/>
                </a:lnTo>
              </a:path>
            </a:pathLst>
          </a:custGeom>
          <a:ln w="254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599887" y="4064152"/>
            <a:ext cx="448945" cy="0"/>
          </a:xfrm>
          <a:custGeom>
            <a:avLst/>
            <a:gdLst/>
            <a:ahLst/>
            <a:cxnLst/>
            <a:rect l="l" t="t" r="r" b="b"/>
            <a:pathLst>
              <a:path w="448945" h="0">
                <a:moveTo>
                  <a:pt x="0" y="0"/>
                </a:moveTo>
                <a:lnTo>
                  <a:pt x="448805" y="0"/>
                </a:lnTo>
              </a:path>
            </a:pathLst>
          </a:custGeom>
          <a:ln w="254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595288" y="4064152"/>
            <a:ext cx="504190" cy="0"/>
          </a:xfrm>
          <a:custGeom>
            <a:avLst/>
            <a:gdLst/>
            <a:ahLst/>
            <a:cxnLst/>
            <a:rect l="l" t="t" r="r" b="b"/>
            <a:pathLst>
              <a:path w="504190" h="0">
                <a:moveTo>
                  <a:pt x="0" y="0"/>
                </a:moveTo>
                <a:lnTo>
                  <a:pt x="503732" y="0"/>
                </a:lnTo>
              </a:path>
            </a:pathLst>
          </a:custGeom>
          <a:ln w="254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554468" y="2927604"/>
            <a:ext cx="4131564" cy="38008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840739" y="3708196"/>
            <a:ext cx="6289040" cy="23545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697230">
              <a:lnSpc>
                <a:spcPts val="3829"/>
              </a:lnSpc>
              <a:spcBef>
                <a:spcPts val="130"/>
              </a:spcBef>
              <a:tabLst>
                <a:tab pos="1203325" algn="l"/>
                <a:tab pos="2889250" algn="l"/>
                <a:tab pos="3435350" algn="l"/>
                <a:tab pos="5344160" algn="l"/>
              </a:tabLst>
            </a:pPr>
            <a:r>
              <a:rPr dirty="0" sz="4000" spc="15" i="1">
                <a:latin typeface="Times New Roman"/>
                <a:cs typeface="Times New Roman"/>
              </a:rPr>
              <a:t>V	</a:t>
            </a:r>
            <a:r>
              <a:rPr dirty="0" sz="4000" spc="15">
                <a:latin typeface="Symbol"/>
                <a:cs typeface="Symbol"/>
              </a:rPr>
              <a:t></a:t>
            </a:r>
            <a:r>
              <a:rPr dirty="0" sz="4000" spc="-210">
                <a:latin typeface="Times New Roman"/>
                <a:cs typeface="Times New Roman"/>
              </a:rPr>
              <a:t> </a:t>
            </a:r>
            <a:r>
              <a:rPr dirty="0" sz="4000" spc="125" i="1">
                <a:latin typeface="Times New Roman"/>
                <a:cs typeface="Times New Roman"/>
              </a:rPr>
              <a:t>CT</a:t>
            </a:r>
            <a:r>
              <a:rPr dirty="0" baseline="8680" sz="4800" spc="7">
                <a:latin typeface="微软雅黑"/>
                <a:cs typeface="微软雅黑"/>
              </a:rPr>
              <a:t>或	</a:t>
            </a:r>
            <a:r>
              <a:rPr dirty="0" baseline="39583" sz="6000" spc="22" i="1">
                <a:latin typeface="Times New Roman"/>
                <a:cs typeface="Times New Roman"/>
              </a:rPr>
              <a:t>V	</a:t>
            </a:r>
            <a:r>
              <a:rPr dirty="0" baseline="4166" sz="6000" spc="22">
                <a:latin typeface="Symbol"/>
                <a:cs typeface="Symbol"/>
              </a:rPr>
              <a:t></a:t>
            </a:r>
            <a:r>
              <a:rPr dirty="0" baseline="4166" sz="6000" spc="-270">
                <a:latin typeface="Times New Roman"/>
                <a:cs typeface="Times New Roman"/>
              </a:rPr>
              <a:t> </a:t>
            </a:r>
            <a:r>
              <a:rPr dirty="0" baseline="4166" sz="6000" spc="112" i="1">
                <a:latin typeface="Times New Roman"/>
                <a:cs typeface="Times New Roman"/>
              </a:rPr>
              <a:t>C</a:t>
            </a:r>
            <a:r>
              <a:rPr dirty="0" baseline="8680" sz="4800" spc="7">
                <a:latin typeface="微软雅黑"/>
                <a:cs typeface="微软雅黑"/>
              </a:rPr>
              <a:t>或</a:t>
            </a:r>
            <a:r>
              <a:rPr dirty="0" baseline="8680" sz="4800" spc="532">
                <a:latin typeface="微软雅黑"/>
                <a:cs typeface="微软雅黑"/>
              </a:rPr>
              <a:t> </a:t>
            </a:r>
            <a:r>
              <a:rPr dirty="0" baseline="39583" sz="6000" spc="-254" i="1">
                <a:latin typeface="Times New Roman"/>
                <a:cs typeface="Times New Roman"/>
              </a:rPr>
              <a:t>V</a:t>
            </a:r>
            <a:r>
              <a:rPr dirty="0" baseline="43478" sz="3450" spc="-254">
                <a:latin typeface="Times New Roman"/>
                <a:cs typeface="Times New Roman"/>
              </a:rPr>
              <a:t>1	</a:t>
            </a:r>
            <a:r>
              <a:rPr dirty="0" baseline="4166" sz="6000" spc="22">
                <a:latin typeface="Symbol"/>
                <a:cs typeface="Symbol"/>
              </a:rPr>
              <a:t></a:t>
            </a:r>
            <a:r>
              <a:rPr dirty="0" baseline="4166" sz="6000" spc="-367">
                <a:latin typeface="Times New Roman"/>
                <a:cs typeface="Times New Roman"/>
              </a:rPr>
              <a:t> </a:t>
            </a:r>
            <a:r>
              <a:rPr dirty="0" baseline="39583" sz="6000" spc="-67" i="1">
                <a:latin typeface="Times New Roman"/>
                <a:cs typeface="Times New Roman"/>
              </a:rPr>
              <a:t>V</a:t>
            </a:r>
            <a:r>
              <a:rPr dirty="0" baseline="43478" sz="3450" spc="-67">
                <a:latin typeface="Times New Roman"/>
                <a:cs typeface="Times New Roman"/>
              </a:rPr>
              <a:t>2</a:t>
            </a:r>
            <a:endParaRPr baseline="43478" sz="3450">
              <a:latin typeface="Times New Roman"/>
              <a:cs typeface="Times New Roman"/>
            </a:endParaRPr>
          </a:p>
          <a:p>
            <a:pPr marL="2917190">
              <a:lnSpc>
                <a:spcPts val="3829"/>
              </a:lnSpc>
              <a:tabLst>
                <a:tab pos="4770755" algn="l"/>
                <a:tab pos="5761355" algn="l"/>
              </a:tabLst>
            </a:pPr>
            <a:r>
              <a:rPr dirty="0" sz="4000" spc="15" i="1">
                <a:latin typeface="Times New Roman"/>
                <a:cs typeface="Times New Roman"/>
              </a:rPr>
              <a:t>T	</a:t>
            </a:r>
            <a:r>
              <a:rPr dirty="0" sz="4000" spc="-225" i="1">
                <a:latin typeface="Times New Roman"/>
                <a:cs typeface="Times New Roman"/>
              </a:rPr>
              <a:t>T</a:t>
            </a:r>
            <a:r>
              <a:rPr dirty="0" baseline="-25362" sz="3450" spc="-337">
                <a:latin typeface="Times New Roman"/>
                <a:cs typeface="Times New Roman"/>
              </a:rPr>
              <a:t>1	</a:t>
            </a:r>
            <a:r>
              <a:rPr dirty="0" sz="4000" spc="-95" i="1">
                <a:latin typeface="Times New Roman"/>
                <a:cs typeface="Times New Roman"/>
              </a:rPr>
              <a:t>T</a:t>
            </a:r>
            <a:r>
              <a:rPr dirty="0" baseline="-25362" sz="3450" spc="-142">
                <a:latin typeface="Times New Roman"/>
                <a:cs typeface="Times New Roman"/>
              </a:rPr>
              <a:t>2</a:t>
            </a:r>
            <a:endParaRPr baseline="-25362" sz="3450">
              <a:latin typeface="Times New Roman"/>
              <a:cs typeface="Times New Roman"/>
            </a:endParaRPr>
          </a:p>
          <a:p>
            <a:pPr marL="942975" indent="-930275">
              <a:lnSpc>
                <a:spcPct val="100000"/>
              </a:lnSpc>
              <a:spcBef>
                <a:spcPts val="2735"/>
              </a:spcBef>
              <a:buSzPct val="96428"/>
              <a:buAutoNum type="arabicPlain"/>
              <a:tabLst>
                <a:tab pos="942975" algn="l"/>
              </a:tabLst>
            </a:pPr>
            <a:r>
              <a:rPr dirty="0" sz="2800" b="1">
                <a:solidFill>
                  <a:srgbClr val="001F5F"/>
                </a:solidFill>
                <a:latin typeface="微软雅黑"/>
                <a:cs typeface="微软雅黑"/>
              </a:rPr>
              <a:t>适用条</a:t>
            </a:r>
            <a:r>
              <a:rPr dirty="0" sz="2800" spc="-5" b="1">
                <a:solidFill>
                  <a:srgbClr val="001F5F"/>
                </a:solidFill>
                <a:latin typeface="微软雅黑"/>
                <a:cs typeface="微软雅黑"/>
              </a:rPr>
              <a:t>件</a:t>
            </a:r>
            <a:endParaRPr sz="2800">
              <a:latin typeface="微软雅黑"/>
              <a:cs typeface="微软雅黑"/>
            </a:endParaRPr>
          </a:p>
          <a:p>
            <a:pPr marL="942975" indent="-930275">
              <a:lnSpc>
                <a:spcPct val="100000"/>
              </a:lnSpc>
              <a:spcBef>
                <a:spcPts val="1200"/>
              </a:spcBef>
              <a:buSzPct val="96428"/>
              <a:buAutoNum type="arabicPlain"/>
              <a:tabLst>
                <a:tab pos="942975" algn="l"/>
              </a:tabLst>
            </a:pPr>
            <a:r>
              <a:rPr dirty="0" sz="2800" b="1">
                <a:solidFill>
                  <a:srgbClr val="001F5F"/>
                </a:solidFill>
                <a:latin typeface="微软雅黑"/>
                <a:cs typeface="微软雅黑"/>
              </a:rPr>
              <a:t>等压线的物理意义：点、线、斜</a:t>
            </a:r>
            <a:r>
              <a:rPr dirty="0" sz="2800" spc="-5" b="1">
                <a:solidFill>
                  <a:srgbClr val="001F5F"/>
                </a:solidFill>
                <a:latin typeface="微软雅黑"/>
                <a:cs typeface="微软雅黑"/>
              </a:rPr>
              <a:t>率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147519" y="4563376"/>
            <a:ext cx="818515" cy="1564005"/>
          </a:xfrm>
          <a:custGeom>
            <a:avLst/>
            <a:gdLst/>
            <a:ahLst/>
            <a:cxnLst/>
            <a:rect l="l" t="t" r="r" b="b"/>
            <a:pathLst>
              <a:path w="818515" h="1564004">
                <a:moveTo>
                  <a:pt x="33985" y="1563458"/>
                </a:moveTo>
                <a:lnTo>
                  <a:pt x="0" y="1546225"/>
                </a:lnTo>
                <a:lnTo>
                  <a:pt x="51701" y="1444294"/>
                </a:lnTo>
                <a:lnTo>
                  <a:pt x="85686" y="1461528"/>
                </a:lnTo>
                <a:lnTo>
                  <a:pt x="33985" y="1563458"/>
                </a:lnTo>
                <a:close/>
              </a:path>
              <a:path w="818515" h="1564004">
                <a:moveTo>
                  <a:pt x="102920" y="1427543"/>
                </a:moveTo>
                <a:lnTo>
                  <a:pt x="68935" y="1410309"/>
                </a:lnTo>
                <a:lnTo>
                  <a:pt x="120637" y="1308379"/>
                </a:lnTo>
                <a:lnTo>
                  <a:pt x="154622" y="1325613"/>
                </a:lnTo>
                <a:lnTo>
                  <a:pt x="102920" y="1427543"/>
                </a:lnTo>
                <a:close/>
              </a:path>
              <a:path w="818515" h="1564004">
                <a:moveTo>
                  <a:pt x="171856" y="1291628"/>
                </a:moveTo>
                <a:lnTo>
                  <a:pt x="137871" y="1274394"/>
                </a:lnTo>
                <a:lnTo>
                  <a:pt x="189572" y="1172451"/>
                </a:lnTo>
                <a:lnTo>
                  <a:pt x="223558" y="1189685"/>
                </a:lnTo>
                <a:lnTo>
                  <a:pt x="171856" y="1291628"/>
                </a:lnTo>
                <a:close/>
              </a:path>
              <a:path w="818515" h="1564004">
                <a:moveTo>
                  <a:pt x="240791" y="1155712"/>
                </a:moveTo>
                <a:lnTo>
                  <a:pt x="206806" y="1138478"/>
                </a:lnTo>
                <a:lnTo>
                  <a:pt x="258508" y="1036535"/>
                </a:lnTo>
                <a:lnTo>
                  <a:pt x="292493" y="1053769"/>
                </a:lnTo>
                <a:lnTo>
                  <a:pt x="240791" y="1155712"/>
                </a:lnTo>
                <a:close/>
              </a:path>
              <a:path w="818515" h="1564004">
                <a:moveTo>
                  <a:pt x="309727" y="1019797"/>
                </a:moveTo>
                <a:lnTo>
                  <a:pt x="275742" y="1002563"/>
                </a:lnTo>
                <a:lnTo>
                  <a:pt x="327444" y="900620"/>
                </a:lnTo>
                <a:lnTo>
                  <a:pt x="361429" y="917854"/>
                </a:lnTo>
                <a:lnTo>
                  <a:pt x="309727" y="1019797"/>
                </a:lnTo>
                <a:close/>
              </a:path>
              <a:path w="818515" h="1564004">
                <a:moveTo>
                  <a:pt x="378663" y="883881"/>
                </a:moveTo>
                <a:lnTo>
                  <a:pt x="344677" y="866647"/>
                </a:lnTo>
                <a:lnTo>
                  <a:pt x="396379" y="764705"/>
                </a:lnTo>
                <a:lnTo>
                  <a:pt x="430364" y="781938"/>
                </a:lnTo>
                <a:lnTo>
                  <a:pt x="378663" y="883881"/>
                </a:lnTo>
                <a:close/>
              </a:path>
              <a:path w="818515" h="1564004">
                <a:moveTo>
                  <a:pt x="447598" y="747953"/>
                </a:moveTo>
                <a:lnTo>
                  <a:pt x="413613" y="730719"/>
                </a:lnTo>
                <a:lnTo>
                  <a:pt x="465315" y="628789"/>
                </a:lnTo>
                <a:lnTo>
                  <a:pt x="499300" y="646023"/>
                </a:lnTo>
                <a:lnTo>
                  <a:pt x="447598" y="747953"/>
                </a:lnTo>
                <a:close/>
              </a:path>
              <a:path w="818515" h="1564004">
                <a:moveTo>
                  <a:pt x="516534" y="612038"/>
                </a:moveTo>
                <a:lnTo>
                  <a:pt x="482549" y="594804"/>
                </a:lnTo>
                <a:lnTo>
                  <a:pt x="534250" y="492874"/>
                </a:lnTo>
                <a:lnTo>
                  <a:pt x="568236" y="510108"/>
                </a:lnTo>
                <a:lnTo>
                  <a:pt x="516534" y="612038"/>
                </a:lnTo>
                <a:close/>
              </a:path>
              <a:path w="818515" h="1564004">
                <a:moveTo>
                  <a:pt x="585469" y="476122"/>
                </a:moveTo>
                <a:lnTo>
                  <a:pt x="551484" y="458889"/>
                </a:lnTo>
                <a:lnTo>
                  <a:pt x="603186" y="356946"/>
                </a:lnTo>
                <a:lnTo>
                  <a:pt x="637171" y="374180"/>
                </a:lnTo>
                <a:lnTo>
                  <a:pt x="585469" y="476122"/>
                </a:lnTo>
                <a:close/>
              </a:path>
              <a:path w="818515" h="1564004">
                <a:moveTo>
                  <a:pt x="654405" y="340207"/>
                </a:moveTo>
                <a:lnTo>
                  <a:pt x="620420" y="322973"/>
                </a:lnTo>
                <a:lnTo>
                  <a:pt x="672122" y="221030"/>
                </a:lnTo>
                <a:lnTo>
                  <a:pt x="706107" y="238264"/>
                </a:lnTo>
                <a:lnTo>
                  <a:pt x="654405" y="340207"/>
                </a:lnTo>
                <a:close/>
              </a:path>
              <a:path w="818515" h="1564004">
                <a:moveTo>
                  <a:pt x="723341" y="204292"/>
                </a:moveTo>
                <a:lnTo>
                  <a:pt x="689355" y="187058"/>
                </a:lnTo>
                <a:lnTo>
                  <a:pt x="741057" y="85115"/>
                </a:lnTo>
                <a:lnTo>
                  <a:pt x="775042" y="102349"/>
                </a:lnTo>
                <a:lnTo>
                  <a:pt x="723341" y="204292"/>
                </a:lnTo>
                <a:close/>
              </a:path>
              <a:path w="818515" h="1564004">
                <a:moveTo>
                  <a:pt x="792276" y="68364"/>
                </a:moveTo>
                <a:lnTo>
                  <a:pt x="758291" y="51130"/>
                </a:lnTo>
                <a:lnTo>
                  <a:pt x="784225" y="0"/>
                </a:lnTo>
                <a:lnTo>
                  <a:pt x="818210" y="17233"/>
                </a:lnTo>
                <a:lnTo>
                  <a:pt x="792276" y="68364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626944" y="3604539"/>
            <a:ext cx="818515" cy="1564005"/>
          </a:xfrm>
          <a:custGeom>
            <a:avLst/>
            <a:gdLst/>
            <a:ahLst/>
            <a:cxnLst/>
            <a:rect l="l" t="t" r="r" b="b"/>
            <a:pathLst>
              <a:path w="818515" h="1564004">
                <a:moveTo>
                  <a:pt x="33985" y="1563446"/>
                </a:moveTo>
                <a:lnTo>
                  <a:pt x="0" y="1546225"/>
                </a:lnTo>
                <a:lnTo>
                  <a:pt x="784225" y="0"/>
                </a:lnTo>
                <a:lnTo>
                  <a:pt x="818210" y="17233"/>
                </a:lnTo>
                <a:lnTo>
                  <a:pt x="33985" y="1563446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0625048" y="3951833"/>
            <a:ext cx="450850" cy="5816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650" spc="-5" i="1">
                <a:latin typeface="Times New Roman"/>
                <a:cs typeface="Times New Roman"/>
              </a:rPr>
              <a:t>p</a:t>
            </a:r>
            <a:r>
              <a:rPr dirty="0" sz="3650" spc="-520" i="1">
                <a:latin typeface="Times New Roman"/>
                <a:cs typeface="Times New Roman"/>
              </a:rPr>
              <a:t> </a:t>
            </a:r>
            <a:r>
              <a:rPr dirty="0" baseline="-25132" sz="3150">
                <a:latin typeface="Times New Roman"/>
                <a:cs typeface="Times New Roman"/>
              </a:rPr>
              <a:t>1</a:t>
            </a:r>
            <a:endParaRPr baseline="-25132" sz="31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908247" y="3461003"/>
            <a:ext cx="159385" cy="3473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>
                <a:latin typeface="Times New Roman"/>
                <a:cs typeface="Times New Roman"/>
              </a:rPr>
              <a:t>2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575215" y="3146158"/>
            <a:ext cx="257175" cy="5816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650" spc="-5" i="1">
                <a:latin typeface="Times New Roman"/>
                <a:cs typeface="Times New Roman"/>
              </a:rPr>
              <a:t>p</a:t>
            </a:r>
            <a:endParaRPr sz="36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651301" y="5552109"/>
            <a:ext cx="159385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0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886693" y="5552109"/>
            <a:ext cx="159385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0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389186" y="5236933"/>
            <a:ext cx="1502410" cy="5816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0400" algn="l"/>
                <a:tab pos="1205865" algn="l"/>
              </a:tabLst>
            </a:pPr>
            <a:r>
              <a:rPr dirty="0" sz="3650" spc="-5" i="1">
                <a:solidFill>
                  <a:srgbClr val="FF0000"/>
                </a:solidFill>
                <a:latin typeface="Times New Roman"/>
                <a:cs typeface="Times New Roman"/>
              </a:rPr>
              <a:t>P</a:t>
            </a:r>
            <a:r>
              <a:rPr dirty="0" sz="3650" spc="-5" i="1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dirty="0" sz="3650" spc="-5">
                <a:solidFill>
                  <a:srgbClr val="FF0000"/>
                </a:solidFill>
                <a:latin typeface="Symbol"/>
                <a:cs typeface="Symbol"/>
              </a:rPr>
              <a:t></a:t>
            </a:r>
            <a:r>
              <a:rPr dirty="0" sz="3650" spc="-5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dirty="0" sz="3650" spc="-5" i="1">
                <a:solidFill>
                  <a:srgbClr val="FF0000"/>
                </a:solidFill>
                <a:latin typeface="Times New Roman"/>
                <a:cs typeface="Times New Roman"/>
              </a:rPr>
              <a:t>P</a:t>
            </a:r>
            <a:endParaRPr sz="3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153943" y="4337735"/>
            <a:ext cx="466725" cy="0"/>
          </a:xfrm>
          <a:custGeom>
            <a:avLst/>
            <a:gdLst/>
            <a:ahLst/>
            <a:cxnLst/>
            <a:rect l="l" t="t" r="r" b="b"/>
            <a:pathLst>
              <a:path w="466725" h="0">
                <a:moveTo>
                  <a:pt x="0" y="0"/>
                </a:moveTo>
                <a:lnTo>
                  <a:pt x="466267" y="0"/>
                </a:lnTo>
              </a:path>
            </a:pathLst>
          </a:custGeom>
          <a:ln w="228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110507" y="4337735"/>
            <a:ext cx="515620" cy="0"/>
          </a:xfrm>
          <a:custGeom>
            <a:avLst/>
            <a:gdLst/>
            <a:ahLst/>
            <a:cxnLst/>
            <a:rect l="l" t="t" r="r" b="b"/>
            <a:pathLst>
              <a:path w="515620" h="0">
                <a:moveTo>
                  <a:pt x="0" y="0"/>
                </a:moveTo>
                <a:lnTo>
                  <a:pt x="515518" y="0"/>
                </a:lnTo>
              </a:path>
            </a:pathLst>
          </a:custGeom>
          <a:ln w="228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23252" y="990155"/>
            <a:ext cx="10836910" cy="3930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421640">
              <a:lnSpc>
                <a:spcPct val="150000"/>
              </a:lnSpc>
              <a:spcBef>
                <a:spcPts val="100"/>
              </a:spcBef>
            </a:pPr>
            <a:r>
              <a:rPr dirty="0" sz="2800" spc="50">
                <a:latin typeface="微软雅黑"/>
                <a:cs typeface="微软雅黑"/>
              </a:rPr>
              <a:t>例题</a:t>
            </a:r>
            <a:r>
              <a:rPr dirty="0" sz="2800" spc="-5">
                <a:latin typeface="Times New Roman"/>
                <a:cs typeface="Times New Roman"/>
              </a:rPr>
              <a:t>.</a:t>
            </a:r>
            <a:r>
              <a:rPr dirty="0" sz="2800" spc="35">
                <a:latin typeface="Times New Roman"/>
                <a:cs typeface="Times New Roman"/>
              </a:rPr>
              <a:t> </a:t>
            </a:r>
            <a:r>
              <a:rPr dirty="0" sz="2800" spc="50">
                <a:latin typeface="微软雅黑"/>
                <a:cs typeface="微软雅黑"/>
              </a:rPr>
              <a:t>一定质量的氢</a:t>
            </a:r>
            <a:r>
              <a:rPr dirty="0" sz="2800" spc="55">
                <a:latin typeface="微软雅黑"/>
                <a:cs typeface="微软雅黑"/>
              </a:rPr>
              <a:t>气在</a:t>
            </a:r>
            <a:r>
              <a:rPr dirty="0" sz="2800" spc="50">
                <a:latin typeface="Times New Roman"/>
                <a:cs typeface="Times New Roman"/>
              </a:rPr>
              <a:t>0℃</a:t>
            </a:r>
            <a:r>
              <a:rPr dirty="0" sz="2800" spc="55">
                <a:latin typeface="微软雅黑"/>
                <a:cs typeface="微软雅黑"/>
              </a:rPr>
              <a:t>时的压强为</a:t>
            </a:r>
            <a:r>
              <a:rPr dirty="0" sz="2800" spc="50">
                <a:latin typeface="Times New Roman"/>
                <a:cs typeface="Times New Roman"/>
              </a:rPr>
              <a:t>9</a:t>
            </a:r>
            <a:r>
              <a:rPr dirty="0" sz="2800" spc="50">
                <a:latin typeface="微软雅黑"/>
                <a:cs typeface="微软雅黑"/>
              </a:rPr>
              <a:t>×</a:t>
            </a:r>
            <a:r>
              <a:rPr dirty="0" sz="2800" spc="50">
                <a:latin typeface="Times New Roman"/>
                <a:cs typeface="Times New Roman"/>
              </a:rPr>
              <a:t>10</a:t>
            </a:r>
            <a:r>
              <a:rPr dirty="0" baseline="21604" sz="2700" spc="75">
                <a:latin typeface="Times New Roman"/>
                <a:cs typeface="Times New Roman"/>
              </a:rPr>
              <a:t>4</a:t>
            </a:r>
            <a:r>
              <a:rPr dirty="0" sz="2800" spc="50">
                <a:latin typeface="Times New Roman"/>
                <a:cs typeface="Times New Roman"/>
              </a:rPr>
              <a:t>Pa</a:t>
            </a:r>
            <a:r>
              <a:rPr dirty="0" sz="2800" spc="50">
                <a:latin typeface="微软雅黑"/>
                <a:cs typeface="微软雅黑"/>
              </a:rPr>
              <a:t>，</a:t>
            </a:r>
            <a:r>
              <a:rPr dirty="0" sz="2800" spc="55">
                <a:latin typeface="微软雅黑"/>
                <a:cs typeface="微软雅黑"/>
              </a:rPr>
              <a:t>保持氢气的体</a:t>
            </a:r>
            <a:r>
              <a:rPr dirty="0" sz="2800" spc="-5">
                <a:latin typeface="微软雅黑"/>
                <a:cs typeface="微软雅黑"/>
              </a:rPr>
              <a:t>积 </a:t>
            </a:r>
            <a:r>
              <a:rPr dirty="0" sz="2800">
                <a:latin typeface="微软雅黑"/>
                <a:cs typeface="微软雅黑"/>
              </a:rPr>
              <a:t>不变，它在</a:t>
            </a:r>
            <a:r>
              <a:rPr dirty="0" sz="2800" spc="-5">
                <a:latin typeface="Times New Roman"/>
                <a:cs typeface="Times New Roman"/>
              </a:rPr>
              <a:t>30℃</a:t>
            </a:r>
            <a:r>
              <a:rPr dirty="0" sz="2800">
                <a:latin typeface="微软雅黑"/>
                <a:cs typeface="微软雅黑"/>
              </a:rPr>
              <a:t>时的压强多大</a:t>
            </a:r>
            <a:r>
              <a:rPr dirty="0" sz="2800" spc="-5">
                <a:latin typeface="微软雅黑"/>
                <a:cs typeface="微软雅黑"/>
              </a:rPr>
              <a:t>？</a:t>
            </a:r>
            <a:endParaRPr sz="2800">
              <a:latin typeface="微软雅黑"/>
              <a:cs typeface="微软雅黑"/>
            </a:endParaRPr>
          </a:p>
          <a:p>
            <a:pPr marL="55244" marR="283845" indent="533400">
              <a:lnSpc>
                <a:spcPct val="100000"/>
              </a:lnSpc>
              <a:spcBef>
                <a:spcPts val="825"/>
              </a:spcBef>
            </a:pPr>
            <a:r>
              <a:rPr dirty="0" sz="2800">
                <a:latin typeface="微软雅黑"/>
                <a:cs typeface="微软雅黑"/>
              </a:rPr>
              <a:t>分析：一定质量气体的等容变化，应用查理定律时，应该将摄</a:t>
            </a:r>
            <a:r>
              <a:rPr dirty="0" sz="2800" spc="-5">
                <a:latin typeface="微软雅黑"/>
                <a:cs typeface="微软雅黑"/>
              </a:rPr>
              <a:t>氏 </a:t>
            </a:r>
            <a:r>
              <a:rPr dirty="0" sz="2800">
                <a:latin typeface="微软雅黑"/>
                <a:cs typeface="微软雅黑"/>
              </a:rPr>
              <a:t>温度转换为热力学温度</a:t>
            </a:r>
            <a:r>
              <a:rPr dirty="0" sz="2800" spc="-5">
                <a:latin typeface="微软雅黑"/>
                <a:cs typeface="微软雅黑"/>
              </a:rPr>
              <a:t>。</a:t>
            </a:r>
            <a:endParaRPr sz="2800">
              <a:latin typeface="微软雅黑"/>
              <a:cs typeface="微软雅黑"/>
            </a:endParaRPr>
          </a:p>
          <a:p>
            <a:pPr marL="2419350">
              <a:lnSpc>
                <a:spcPts val="3890"/>
              </a:lnSpc>
              <a:tabLst>
                <a:tab pos="2870200" algn="l"/>
                <a:tab pos="5135880" algn="l"/>
              </a:tabLst>
            </a:pPr>
            <a:r>
              <a:rPr dirty="0" sz="3500" spc="-204" i="1">
                <a:latin typeface="Times New Roman"/>
                <a:cs typeface="Times New Roman"/>
              </a:rPr>
              <a:t>T</a:t>
            </a:r>
            <a:r>
              <a:rPr dirty="0" baseline="-25000" sz="3000" spc="-307">
                <a:latin typeface="Times New Roman"/>
                <a:cs typeface="Times New Roman"/>
              </a:rPr>
              <a:t>1	</a:t>
            </a:r>
            <a:r>
              <a:rPr dirty="0" sz="3500" spc="-5">
                <a:latin typeface="Symbol"/>
                <a:cs typeface="Symbol"/>
              </a:rPr>
              <a:t></a:t>
            </a:r>
            <a:r>
              <a:rPr dirty="0" sz="3500" spc="-50">
                <a:latin typeface="Times New Roman"/>
                <a:cs typeface="Times New Roman"/>
              </a:rPr>
              <a:t> </a:t>
            </a:r>
            <a:r>
              <a:rPr dirty="0" sz="3500" spc="-45">
                <a:latin typeface="Times New Roman"/>
                <a:cs typeface="Times New Roman"/>
              </a:rPr>
              <a:t>273K</a:t>
            </a:r>
            <a:r>
              <a:rPr dirty="0" sz="3500" spc="-45">
                <a:latin typeface="宋体"/>
                <a:cs typeface="宋体"/>
              </a:rPr>
              <a:t>，</a:t>
            </a:r>
            <a:r>
              <a:rPr dirty="0" sz="3500" spc="-45" i="1">
                <a:latin typeface="Times New Roman"/>
                <a:cs typeface="Times New Roman"/>
              </a:rPr>
              <a:t>T</a:t>
            </a:r>
            <a:r>
              <a:rPr dirty="0" baseline="-25000" sz="3000" spc="-67">
                <a:latin typeface="Times New Roman"/>
                <a:cs typeface="Times New Roman"/>
              </a:rPr>
              <a:t>2	</a:t>
            </a:r>
            <a:r>
              <a:rPr dirty="0" sz="3500" spc="-5">
                <a:latin typeface="Symbol"/>
                <a:cs typeface="Symbol"/>
              </a:rPr>
              <a:t></a:t>
            </a:r>
            <a:r>
              <a:rPr dirty="0" sz="3500" spc="-170">
                <a:latin typeface="Times New Roman"/>
                <a:cs typeface="Times New Roman"/>
              </a:rPr>
              <a:t> </a:t>
            </a:r>
            <a:r>
              <a:rPr dirty="0" sz="3500" spc="-20">
                <a:latin typeface="Times New Roman"/>
                <a:cs typeface="Times New Roman"/>
              </a:rPr>
              <a:t>303K</a:t>
            </a:r>
            <a:endParaRPr sz="3500">
              <a:latin typeface="Times New Roman"/>
              <a:cs typeface="Times New Roman"/>
            </a:endParaRPr>
          </a:p>
          <a:p>
            <a:pPr marL="2616835">
              <a:lnSpc>
                <a:spcPts val="3170"/>
              </a:lnSpc>
              <a:tabLst>
                <a:tab pos="3576954" algn="l"/>
              </a:tabLst>
            </a:pPr>
            <a:r>
              <a:rPr dirty="0" sz="3650" spc="-5" i="1">
                <a:latin typeface="Times New Roman"/>
                <a:cs typeface="Times New Roman"/>
              </a:rPr>
              <a:t>p	p</a:t>
            </a:r>
            <a:endParaRPr sz="3650">
              <a:latin typeface="Times New Roman"/>
              <a:cs typeface="Times New Roman"/>
            </a:endParaRPr>
          </a:p>
          <a:p>
            <a:pPr marL="654050">
              <a:lnSpc>
                <a:spcPts val="2565"/>
              </a:lnSpc>
              <a:tabLst>
                <a:tab pos="2817495" algn="l"/>
                <a:tab pos="3119120" algn="l"/>
                <a:tab pos="3806825" algn="l"/>
              </a:tabLst>
            </a:pPr>
            <a:r>
              <a:rPr dirty="0" sz="2800">
                <a:latin typeface="微软雅黑"/>
                <a:cs typeface="微软雅黑"/>
              </a:rPr>
              <a:t>由查理定</a:t>
            </a:r>
            <a:r>
              <a:rPr dirty="0" sz="2800" spc="-5">
                <a:latin typeface="微软雅黑"/>
                <a:cs typeface="微软雅黑"/>
              </a:rPr>
              <a:t>律	</a:t>
            </a:r>
            <a:r>
              <a:rPr dirty="0" baseline="42328" sz="3150">
                <a:latin typeface="Times New Roman"/>
                <a:cs typeface="Times New Roman"/>
              </a:rPr>
              <a:t>1	</a:t>
            </a:r>
            <a:r>
              <a:rPr dirty="0" baseline="3805" sz="5475" spc="-7">
                <a:latin typeface="Symbol"/>
                <a:cs typeface="Symbol"/>
              </a:rPr>
              <a:t></a:t>
            </a:r>
            <a:r>
              <a:rPr dirty="0" baseline="3805" sz="5475" spc="-7">
                <a:latin typeface="Times New Roman"/>
                <a:cs typeface="Times New Roman"/>
              </a:rPr>
              <a:t>	</a:t>
            </a:r>
            <a:r>
              <a:rPr dirty="0" baseline="42328" sz="3150">
                <a:latin typeface="Times New Roman"/>
                <a:cs typeface="Times New Roman"/>
              </a:rPr>
              <a:t>2</a:t>
            </a:r>
            <a:r>
              <a:rPr dirty="0" baseline="42328" sz="3150" spc="277">
                <a:latin typeface="Times New Roman"/>
                <a:cs typeface="Times New Roman"/>
              </a:rPr>
              <a:t> </a:t>
            </a:r>
            <a:r>
              <a:rPr dirty="0" sz="2800">
                <a:latin typeface="微软雅黑"/>
                <a:cs typeface="微软雅黑"/>
              </a:rPr>
              <a:t>得</a:t>
            </a:r>
            <a:r>
              <a:rPr dirty="0" sz="2800" spc="-5">
                <a:latin typeface="微软雅黑"/>
                <a:cs typeface="微软雅黑"/>
              </a:rPr>
              <a:t>：</a:t>
            </a:r>
            <a:endParaRPr sz="2800">
              <a:latin typeface="微软雅黑"/>
              <a:cs typeface="微软雅黑"/>
            </a:endParaRPr>
          </a:p>
          <a:p>
            <a:pPr marL="2573655">
              <a:lnSpc>
                <a:spcPts val="3485"/>
              </a:lnSpc>
              <a:tabLst>
                <a:tab pos="3532504" algn="l"/>
              </a:tabLst>
            </a:pPr>
            <a:r>
              <a:rPr dirty="0" sz="3650" spc="-220" i="1">
                <a:latin typeface="Times New Roman"/>
                <a:cs typeface="Times New Roman"/>
              </a:rPr>
              <a:t>T</a:t>
            </a:r>
            <a:r>
              <a:rPr dirty="0" baseline="-25132" sz="3150" spc="-330">
                <a:latin typeface="Times New Roman"/>
                <a:cs typeface="Times New Roman"/>
              </a:rPr>
              <a:t>1	</a:t>
            </a:r>
            <a:r>
              <a:rPr dirty="0" sz="3650" spc="-110" i="1">
                <a:latin typeface="Times New Roman"/>
                <a:cs typeface="Times New Roman"/>
              </a:rPr>
              <a:t>T</a:t>
            </a:r>
            <a:r>
              <a:rPr dirty="0" baseline="-25132" sz="3150" spc="-165">
                <a:latin typeface="Times New Roman"/>
                <a:cs typeface="Times New Roman"/>
              </a:rPr>
              <a:t>2</a:t>
            </a:r>
            <a:endParaRPr baseline="-25132" sz="31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246069" y="5536628"/>
            <a:ext cx="432434" cy="0"/>
          </a:xfrm>
          <a:custGeom>
            <a:avLst/>
            <a:gdLst/>
            <a:ahLst/>
            <a:cxnLst/>
            <a:rect l="l" t="t" r="r" b="b"/>
            <a:pathLst>
              <a:path w="432435" h="0">
                <a:moveTo>
                  <a:pt x="0" y="0"/>
                </a:moveTo>
                <a:lnTo>
                  <a:pt x="432003" y="0"/>
                </a:lnTo>
              </a:path>
            </a:pathLst>
          </a:custGeom>
          <a:ln w="2292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653102" y="5536628"/>
            <a:ext cx="724535" cy="0"/>
          </a:xfrm>
          <a:custGeom>
            <a:avLst/>
            <a:gdLst/>
            <a:ahLst/>
            <a:cxnLst/>
            <a:rect l="l" t="t" r="r" b="b"/>
            <a:pathLst>
              <a:path w="724535" h="0">
                <a:moveTo>
                  <a:pt x="0" y="0"/>
                </a:moveTo>
                <a:lnTo>
                  <a:pt x="724026" y="0"/>
                </a:lnTo>
              </a:path>
            </a:pathLst>
          </a:custGeom>
          <a:ln w="2292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576918" y="5492419"/>
            <a:ext cx="1586865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439545" algn="l"/>
              </a:tabLst>
            </a:pPr>
            <a:r>
              <a:rPr dirty="0" sz="2100">
                <a:latin typeface="Times New Roman"/>
                <a:cs typeface="Times New Roman"/>
              </a:rPr>
              <a:t>2</a:t>
            </a:r>
            <a:r>
              <a:rPr dirty="0" sz="2100">
                <a:latin typeface="Times New Roman"/>
                <a:cs typeface="Times New Roman"/>
              </a:rPr>
              <a:t>	</a:t>
            </a:r>
            <a:r>
              <a:rPr dirty="0" sz="2100">
                <a:latin typeface="Times New Roman"/>
                <a:cs typeface="Times New Roman"/>
              </a:rPr>
              <a:t>1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61435" y="5854153"/>
            <a:ext cx="159385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00">
                <a:latin typeface="Times New Roman"/>
                <a:cs typeface="Times New Roman"/>
              </a:rPr>
              <a:t>1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58705" y="5539333"/>
            <a:ext cx="2131060" cy="5816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423035" algn="l"/>
              </a:tabLst>
            </a:pPr>
            <a:r>
              <a:rPr dirty="0" sz="3650" spc="-5" i="1">
                <a:latin typeface="Times New Roman"/>
                <a:cs typeface="Times New Roman"/>
              </a:rPr>
              <a:t>T</a:t>
            </a:r>
            <a:r>
              <a:rPr dirty="0" sz="3650" spc="-5" i="1">
                <a:latin typeface="Times New Roman"/>
                <a:cs typeface="Times New Roman"/>
              </a:rPr>
              <a:t>	</a:t>
            </a:r>
            <a:r>
              <a:rPr dirty="0" sz="3650" spc="-5">
                <a:latin typeface="Times New Roman"/>
                <a:cs typeface="Times New Roman"/>
              </a:rPr>
              <a:t>273</a:t>
            </a:r>
            <a:endParaRPr sz="36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46426" y="5177586"/>
            <a:ext cx="7539990" cy="5816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30225" algn="l"/>
                <a:tab pos="1468755" algn="l"/>
                <a:tab pos="1936750" algn="l"/>
              </a:tabLst>
            </a:pPr>
            <a:r>
              <a:rPr dirty="0" sz="3650" spc="-5" i="1">
                <a:latin typeface="Times New Roman"/>
                <a:cs typeface="Times New Roman"/>
              </a:rPr>
              <a:t>p	</a:t>
            </a:r>
            <a:r>
              <a:rPr dirty="0" sz="3650" spc="-5">
                <a:latin typeface="Symbol"/>
                <a:cs typeface="Symbol"/>
              </a:rPr>
              <a:t></a:t>
            </a:r>
            <a:r>
              <a:rPr dirty="0" sz="3650" spc="-10">
                <a:latin typeface="Times New Roman"/>
                <a:cs typeface="Times New Roman"/>
              </a:rPr>
              <a:t> </a:t>
            </a:r>
            <a:r>
              <a:rPr dirty="0" baseline="35007" sz="5475" spc="-157" i="1">
                <a:latin typeface="Times New Roman"/>
                <a:cs typeface="Times New Roman"/>
              </a:rPr>
              <a:t>T</a:t>
            </a:r>
            <a:r>
              <a:rPr dirty="0" baseline="35714" sz="3150" spc="-157">
                <a:latin typeface="Times New Roman"/>
                <a:cs typeface="Times New Roman"/>
              </a:rPr>
              <a:t>2	</a:t>
            </a:r>
            <a:r>
              <a:rPr dirty="0" sz="3650" spc="-5" i="1">
                <a:latin typeface="Times New Roman"/>
                <a:cs typeface="Times New Roman"/>
              </a:rPr>
              <a:t>p	</a:t>
            </a:r>
            <a:r>
              <a:rPr dirty="0" sz="3650" spc="-5">
                <a:latin typeface="Symbol"/>
                <a:cs typeface="Symbol"/>
              </a:rPr>
              <a:t></a:t>
            </a:r>
            <a:r>
              <a:rPr dirty="0" sz="3650" spc="165">
                <a:latin typeface="Times New Roman"/>
                <a:cs typeface="Times New Roman"/>
              </a:rPr>
              <a:t> </a:t>
            </a:r>
            <a:r>
              <a:rPr dirty="0" baseline="35007" sz="5475" spc="-7">
                <a:latin typeface="Times New Roman"/>
                <a:cs typeface="Times New Roman"/>
              </a:rPr>
              <a:t>303</a:t>
            </a:r>
            <a:r>
              <a:rPr dirty="0" baseline="35007" sz="5475" spc="-525">
                <a:latin typeface="Times New Roman"/>
                <a:cs typeface="Times New Roman"/>
              </a:rPr>
              <a:t> </a:t>
            </a:r>
            <a:r>
              <a:rPr dirty="0" sz="3650" spc="-5">
                <a:latin typeface="Symbol"/>
                <a:cs typeface="Symbol"/>
              </a:rPr>
              <a:t></a:t>
            </a:r>
            <a:r>
              <a:rPr dirty="0" sz="3650" spc="-520">
                <a:latin typeface="Times New Roman"/>
                <a:cs typeface="Times New Roman"/>
              </a:rPr>
              <a:t> </a:t>
            </a:r>
            <a:r>
              <a:rPr dirty="0" sz="3650" spc="-5">
                <a:latin typeface="Times New Roman"/>
                <a:cs typeface="Times New Roman"/>
              </a:rPr>
              <a:t>9</a:t>
            </a:r>
            <a:r>
              <a:rPr dirty="0" sz="3650" spc="-575">
                <a:latin typeface="Times New Roman"/>
                <a:cs typeface="Times New Roman"/>
              </a:rPr>
              <a:t> </a:t>
            </a:r>
            <a:r>
              <a:rPr dirty="0" sz="3650" spc="45">
                <a:latin typeface="Symbol"/>
                <a:cs typeface="Symbol"/>
              </a:rPr>
              <a:t></a:t>
            </a:r>
            <a:r>
              <a:rPr dirty="0" sz="3650" spc="45">
                <a:latin typeface="Times New Roman"/>
                <a:cs typeface="Times New Roman"/>
              </a:rPr>
              <a:t>10</a:t>
            </a:r>
            <a:r>
              <a:rPr dirty="0" baseline="43650" sz="3150" spc="67">
                <a:latin typeface="Times New Roman"/>
                <a:cs typeface="Times New Roman"/>
              </a:rPr>
              <a:t>4</a:t>
            </a:r>
            <a:r>
              <a:rPr dirty="0" baseline="43650" sz="3150" spc="-97">
                <a:latin typeface="Times New Roman"/>
                <a:cs typeface="Times New Roman"/>
              </a:rPr>
              <a:t> </a:t>
            </a:r>
            <a:r>
              <a:rPr dirty="0" sz="3650" spc="5">
                <a:latin typeface="Times New Roman"/>
                <a:cs typeface="Times New Roman"/>
              </a:rPr>
              <a:t>Pa</a:t>
            </a:r>
            <a:r>
              <a:rPr dirty="0" sz="3650" spc="80">
                <a:latin typeface="Times New Roman"/>
                <a:cs typeface="Times New Roman"/>
              </a:rPr>
              <a:t> </a:t>
            </a:r>
            <a:r>
              <a:rPr dirty="0" sz="3650" spc="-5">
                <a:latin typeface="Symbol"/>
                <a:cs typeface="Symbol"/>
              </a:rPr>
              <a:t></a:t>
            </a:r>
            <a:r>
              <a:rPr dirty="0" sz="3650" spc="-459">
                <a:latin typeface="Times New Roman"/>
                <a:cs typeface="Times New Roman"/>
              </a:rPr>
              <a:t> </a:t>
            </a:r>
            <a:r>
              <a:rPr dirty="0" sz="3650" spc="-5">
                <a:latin typeface="Times New Roman"/>
                <a:cs typeface="Times New Roman"/>
              </a:rPr>
              <a:t>1.0</a:t>
            </a:r>
            <a:r>
              <a:rPr dirty="0" sz="3650" spc="-575">
                <a:latin typeface="Times New Roman"/>
                <a:cs typeface="Times New Roman"/>
              </a:rPr>
              <a:t> </a:t>
            </a:r>
            <a:r>
              <a:rPr dirty="0" sz="3650" spc="30">
                <a:latin typeface="Symbol"/>
                <a:cs typeface="Symbol"/>
              </a:rPr>
              <a:t></a:t>
            </a:r>
            <a:r>
              <a:rPr dirty="0" sz="3650" spc="30">
                <a:latin typeface="Times New Roman"/>
                <a:cs typeface="Times New Roman"/>
              </a:rPr>
              <a:t>10</a:t>
            </a:r>
            <a:r>
              <a:rPr dirty="0" baseline="43650" sz="3150" spc="44">
                <a:latin typeface="Times New Roman"/>
                <a:cs typeface="Times New Roman"/>
              </a:rPr>
              <a:t>5</a:t>
            </a:r>
            <a:r>
              <a:rPr dirty="0" baseline="43650" sz="3150" spc="-142">
                <a:latin typeface="Times New Roman"/>
                <a:cs typeface="Times New Roman"/>
              </a:rPr>
              <a:t> </a:t>
            </a:r>
            <a:r>
              <a:rPr dirty="0" sz="3650" spc="5">
                <a:latin typeface="Times New Roman"/>
                <a:cs typeface="Times New Roman"/>
              </a:rPr>
              <a:t>Pa</a:t>
            </a:r>
            <a:endParaRPr sz="3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3077" y="4441190"/>
            <a:ext cx="13970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latin typeface="微软雅黑"/>
                <a:cs typeface="微软雅黑"/>
              </a:rPr>
              <a:t>定律。</a:t>
            </a:r>
            <a:endParaRPr sz="36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623714" y="3058845"/>
            <a:ext cx="573405" cy="0"/>
          </a:xfrm>
          <a:custGeom>
            <a:avLst/>
            <a:gdLst/>
            <a:ahLst/>
            <a:cxnLst/>
            <a:rect l="l" t="t" r="r" b="b"/>
            <a:pathLst>
              <a:path w="573404" h="0">
                <a:moveTo>
                  <a:pt x="0" y="0"/>
                </a:moveTo>
                <a:lnTo>
                  <a:pt x="573328" y="0"/>
                </a:lnTo>
              </a:path>
            </a:pathLst>
          </a:custGeom>
          <a:ln w="280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799937" y="3058845"/>
            <a:ext cx="634365" cy="0"/>
          </a:xfrm>
          <a:custGeom>
            <a:avLst/>
            <a:gdLst/>
            <a:ahLst/>
            <a:cxnLst/>
            <a:rect l="l" t="t" r="r" b="b"/>
            <a:pathLst>
              <a:path w="634364" h="0">
                <a:moveTo>
                  <a:pt x="0" y="0"/>
                </a:moveTo>
                <a:lnTo>
                  <a:pt x="633907" y="0"/>
                </a:lnTo>
              </a:path>
            </a:pathLst>
          </a:custGeom>
          <a:ln w="280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93077" y="0"/>
            <a:ext cx="10869930" cy="44983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71145">
              <a:lnSpc>
                <a:spcPct val="100000"/>
              </a:lnSpc>
              <a:spcBef>
                <a:spcPts val="95"/>
              </a:spcBef>
            </a:pPr>
            <a:r>
              <a:rPr dirty="0" sz="4000" b="1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 b="1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4020"/>
              </a:spcBef>
            </a:pPr>
            <a:r>
              <a:rPr dirty="0" sz="3600">
                <a:latin typeface="微软雅黑"/>
                <a:cs typeface="微软雅黑"/>
              </a:rPr>
              <a:t>总结：</a:t>
            </a:r>
            <a:endParaRPr sz="3600">
              <a:latin typeface="微软雅黑"/>
              <a:cs typeface="微软雅黑"/>
            </a:endParaRPr>
          </a:p>
          <a:p>
            <a:pPr marL="737235" indent="-343535">
              <a:lnSpc>
                <a:spcPts val="4035"/>
              </a:lnSpc>
              <a:spcBef>
                <a:spcPts val="1200"/>
              </a:spcBef>
              <a:buChar char="*"/>
              <a:tabLst>
                <a:tab pos="737235" algn="l"/>
              </a:tabLst>
            </a:pPr>
            <a:r>
              <a:rPr dirty="0" sz="3600">
                <a:latin typeface="微软雅黑"/>
                <a:cs typeface="微软雅黑"/>
              </a:rPr>
              <a:t>一定质量的气体发生等容变化时，遵守查理定律；</a:t>
            </a:r>
            <a:endParaRPr sz="3600">
              <a:latin typeface="微软雅黑"/>
              <a:cs typeface="微软雅黑"/>
            </a:endParaRPr>
          </a:p>
          <a:p>
            <a:pPr algn="ctr" marR="769620">
              <a:lnSpc>
                <a:spcPts val="5055"/>
              </a:lnSpc>
              <a:tabLst>
                <a:tab pos="617220" algn="l"/>
                <a:tab pos="1172210" algn="l"/>
              </a:tabLst>
            </a:pPr>
            <a:r>
              <a:rPr dirty="0" sz="4450" spc="-140" i="1">
                <a:latin typeface="Times New Roman"/>
                <a:cs typeface="Times New Roman"/>
              </a:rPr>
              <a:t>p</a:t>
            </a:r>
            <a:r>
              <a:rPr dirty="0" baseline="-25054" sz="3825" spc="-209">
                <a:latin typeface="Times New Roman"/>
                <a:cs typeface="Times New Roman"/>
              </a:rPr>
              <a:t>1	</a:t>
            </a:r>
            <a:r>
              <a:rPr dirty="0" baseline="-35580" sz="6675">
                <a:latin typeface="Symbol"/>
                <a:cs typeface="Symbol"/>
              </a:rPr>
              <a:t></a:t>
            </a:r>
            <a:r>
              <a:rPr dirty="0" baseline="-35580" sz="6675">
                <a:latin typeface="Times New Roman"/>
                <a:cs typeface="Times New Roman"/>
              </a:rPr>
              <a:t>	</a:t>
            </a:r>
            <a:r>
              <a:rPr dirty="0" sz="4450" i="1">
                <a:latin typeface="Times New Roman"/>
                <a:cs typeface="Times New Roman"/>
              </a:rPr>
              <a:t>p</a:t>
            </a:r>
            <a:r>
              <a:rPr dirty="0" baseline="-25054" sz="3825">
                <a:latin typeface="Times New Roman"/>
                <a:cs typeface="Times New Roman"/>
              </a:rPr>
              <a:t>2</a:t>
            </a:r>
            <a:endParaRPr baseline="-25054" sz="3825">
              <a:latin typeface="Times New Roman"/>
              <a:cs typeface="Times New Roman"/>
            </a:endParaRPr>
          </a:p>
          <a:p>
            <a:pPr algn="ctr" marR="876300">
              <a:lnSpc>
                <a:spcPct val="100000"/>
              </a:lnSpc>
              <a:spcBef>
                <a:spcPts val="975"/>
              </a:spcBef>
              <a:tabLst>
                <a:tab pos="1170940" algn="l"/>
              </a:tabLst>
            </a:pPr>
            <a:r>
              <a:rPr dirty="0" sz="4450" spc="-254" i="1">
                <a:latin typeface="Times New Roman"/>
                <a:cs typeface="Times New Roman"/>
              </a:rPr>
              <a:t>T</a:t>
            </a:r>
            <a:r>
              <a:rPr dirty="0" baseline="-25054" sz="3825" spc="-382">
                <a:latin typeface="Times New Roman"/>
                <a:cs typeface="Times New Roman"/>
              </a:rPr>
              <a:t>1	</a:t>
            </a:r>
            <a:r>
              <a:rPr dirty="0" sz="4450" spc="-114" i="1">
                <a:latin typeface="Times New Roman"/>
                <a:cs typeface="Times New Roman"/>
              </a:rPr>
              <a:t>T</a:t>
            </a:r>
            <a:r>
              <a:rPr dirty="0" baseline="-25054" sz="3825" spc="-172">
                <a:latin typeface="Times New Roman"/>
                <a:cs typeface="Times New Roman"/>
              </a:rPr>
              <a:t>2</a:t>
            </a:r>
            <a:endParaRPr baseline="-25054" sz="3825">
              <a:latin typeface="Times New Roman"/>
              <a:cs typeface="Times New Roman"/>
            </a:endParaRPr>
          </a:p>
          <a:p>
            <a:pPr marL="762000" indent="-343535">
              <a:lnSpc>
                <a:spcPct val="100000"/>
              </a:lnSpc>
              <a:spcBef>
                <a:spcPts val="1160"/>
              </a:spcBef>
              <a:buChar char="*"/>
              <a:tabLst>
                <a:tab pos="762000" algn="l"/>
              </a:tabLst>
            </a:pPr>
            <a:r>
              <a:rPr dirty="0" sz="3600">
                <a:latin typeface="微软雅黑"/>
                <a:cs typeface="微软雅黑"/>
              </a:rPr>
              <a:t>一定质量的气体发生等压变化时，遵守盖—吕萨克</a:t>
            </a:r>
            <a:endParaRPr sz="3600">
              <a:latin typeface="微软雅黑"/>
              <a:cs typeface="微软雅黑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879987" y="5217820"/>
            <a:ext cx="448945" cy="0"/>
          </a:xfrm>
          <a:custGeom>
            <a:avLst/>
            <a:gdLst/>
            <a:ahLst/>
            <a:cxnLst/>
            <a:rect l="l" t="t" r="r" b="b"/>
            <a:pathLst>
              <a:path w="448945" h="0">
                <a:moveTo>
                  <a:pt x="0" y="0"/>
                </a:moveTo>
                <a:lnTo>
                  <a:pt x="448805" y="0"/>
                </a:lnTo>
              </a:path>
            </a:pathLst>
          </a:custGeom>
          <a:ln w="254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875388" y="5217820"/>
            <a:ext cx="504190" cy="0"/>
          </a:xfrm>
          <a:custGeom>
            <a:avLst/>
            <a:gdLst/>
            <a:ahLst/>
            <a:cxnLst/>
            <a:rect l="l" t="t" r="r" b="b"/>
            <a:pathLst>
              <a:path w="504189" h="0">
                <a:moveTo>
                  <a:pt x="0" y="0"/>
                </a:moveTo>
                <a:lnTo>
                  <a:pt x="503732" y="0"/>
                </a:lnTo>
              </a:path>
            </a:pathLst>
          </a:custGeom>
          <a:ln w="254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851209" y="4385055"/>
            <a:ext cx="1461770" cy="14795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40640" marR="5080" indent="-28575">
              <a:lnSpc>
                <a:spcPct val="119300"/>
              </a:lnSpc>
              <a:spcBef>
                <a:spcPts val="90"/>
              </a:spcBef>
              <a:tabLst>
                <a:tab pos="614045" algn="l"/>
                <a:tab pos="1031240" algn="l"/>
              </a:tabLst>
            </a:pPr>
            <a:r>
              <a:rPr dirty="0" sz="4000" spc="-170" i="1">
                <a:latin typeface="Times New Roman"/>
                <a:cs typeface="Times New Roman"/>
              </a:rPr>
              <a:t>V</a:t>
            </a:r>
            <a:r>
              <a:rPr dirty="0" baseline="-25362" sz="3450" spc="-254">
                <a:latin typeface="Times New Roman"/>
                <a:cs typeface="Times New Roman"/>
              </a:rPr>
              <a:t>1	</a:t>
            </a:r>
            <a:r>
              <a:rPr dirty="0" baseline="-35416" sz="6000" spc="22">
                <a:latin typeface="Symbol"/>
                <a:cs typeface="Symbol"/>
              </a:rPr>
              <a:t></a:t>
            </a:r>
            <a:r>
              <a:rPr dirty="0" baseline="-35416" sz="6000" spc="-375">
                <a:latin typeface="Times New Roman"/>
                <a:cs typeface="Times New Roman"/>
              </a:rPr>
              <a:t> </a:t>
            </a:r>
            <a:r>
              <a:rPr dirty="0" sz="4000" spc="-45" i="1">
                <a:latin typeface="Times New Roman"/>
                <a:cs typeface="Times New Roman"/>
              </a:rPr>
              <a:t>V</a:t>
            </a:r>
            <a:r>
              <a:rPr dirty="0" baseline="-25362" sz="3450" spc="-67">
                <a:latin typeface="Times New Roman"/>
                <a:cs typeface="Times New Roman"/>
              </a:rPr>
              <a:t>2  </a:t>
            </a:r>
            <a:r>
              <a:rPr dirty="0" sz="4000" spc="-459" i="1">
                <a:latin typeface="Times New Roman"/>
                <a:cs typeface="Times New Roman"/>
              </a:rPr>
              <a:t>T</a:t>
            </a:r>
            <a:r>
              <a:rPr dirty="0" baseline="-25362" sz="3450" spc="22">
                <a:latin typeface="Times New Roman"/>
                <a:cs typeface="Times New Roman"/>
              </a:rPr>
              <a:t>1</a:t>
            </a:r>
            <a:r>
              <a:rPr dirty="0" baseline="-25362" sz="3450">
                <a:latin typeface="Times New Roman"/>
                <a:cs typeface="Times New Roman"/>
              </a:rPr>
              <a:t>		</a:t>
            </a:r>
            <a:r>
              <a:rPr dirty="0" sz="4000" spc="-204" i="1">
                <a:latin typeface="Times New Roman"/>
                <a:cs typeface="Times New Roman"/>
              </a:rPr>
              <a:t>T</a:t>
            </a:r>
            <a:r>
              <a:rPr dirty="0" baseline="-25362" sz="3450" spc="22">
                <a:latin typeface="Times New Roman"/>
                <a:cs typeface="Times New Roman"/>
              </a:rPr>
              <a:t>2</a:t>
            </a:r>
            <a:endParaRPr baseline="-25362" sz="3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2025-04-20T14:09:39Z</dcterms:created>
  <dcterms:modified xsi:type="dcterms:W3CDTF">2025-04-20T14:09:39Z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2023-10-17T00:00:00Z</vt:filetime>
  </property>
  <property fmtid="{D5CDD505-2E9C-101B-9397-08002B2CF9AE}" pid="3" name="Creator">
    <vt:lpwstr>WPS 演示</vt:lpwstr>
  </property>
  <property fmtid="{D5CDD505-2E9C-101B-9397-08002B2CF9AE}" pid="4" name="LastSaved">
    <vt:filetime>2025-04-20T00:00:00Z</vt:filetime>
  </property>
</Properties>
</file>