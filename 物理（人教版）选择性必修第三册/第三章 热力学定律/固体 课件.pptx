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6194" y="2767330"/>
            <a:ext cx="9579610" cy="975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675" y="1016635"/>
            <a:ext cx="1390649" cy="331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010" y="2158365"/>
            <a:ext cx="10253979" cy="3414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png"/><Relationship Id="rId6" Type="http://schemas.openxmlformats.org/officeDocument/2006/relationships/image" Target="../media/image25.jpg"/><Relationship Id="rId7" Type="http://schemas.openxmlformats.org/officeDocument/2006/relationships/image" Target="../media/image2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image" Target="../media/image66.png"/><Relationship Id="rId24" Type="http://schemas.openxmlformats.org/officeDocument/2006/relationships/image" Target="../media/image67.png"/><Relationship Id="rId25" Type="http://schemas.openxmlformats.org/officeDocument/2006/relationships/image" Target="../media/image68.png"/><Relationship Id="rId26" Type="http://schemas.openxmlformats.org/officeDocument/2006/relationships/image" Target="../media/image69.png"/><Relationship Id="rId27" Type="http://schemas.openxmlformats.org/officeDocument/2006/relationships/image" Target="../media/image70.png"/><Relationship Id="rId28" Type="http://schemas.openxmlformats.org/officeDocument/2006/relationships/image" Target="../media/image71.png"/><Relationship Id="rId29" Type="http://schemas.openxmlformats.org/officeDocument/2006/relationships/image" Target="../media/image72.png"/><Relationship Id="rId30" Type="http://schemas.openxmlformats.org/officeDocument/2006/relationships/image" Target="../media/image73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Relationship Id="rId3" Type="http://schemas.openxmlformats.org/officeDocument/2006/relationships/image" Target="../media/image79.png"/><Relationship Id="rId4" Type="http://schemas.openxmlformats.org/officeDocument/2006/relationships/image" Target="../media/image80.jpg"/><Relationship Id="rId5" Type="http://schemas.openxmlformats.org/officeDocument/2006/relationships/image" Target="../media/image81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Relationship Id="rId4" Type="http://schemas.openxmlformats.org/officeDocument/2006/relationships/image" Target="../media/image8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73382" y="2001062"/>
            <a:ext cx="1244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固体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4469" y="3642867"/>
            <a:ext cx="252158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  <a:tab pos="2153285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高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主讲人：邹仕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姗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8350" y="3642867"/>
            <a:ext cx="5013325" cy="1046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760"/>
              </a:spcBef>
              <a:tabLst>
                <a:tab pos="73025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校：遵义市汇川区周林学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校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3842" y="1827295"/>
            <a:ext cx="5595620" cy="0"/>
          </a:xfrm>
          <a:custGeom>
            <a:avLst/>
            <a:gdLst/>
            <a:ahLst/>
            <a:cxnLst/>
            <a:rect l="l" t="t" r="r" b="b"/>
            <a:pathLst>
              <a:path w="5595620" h="0">
                <a:moveTo>
                  <a:pt x="0" y="0"/>
                </a:moveTo>
                <a:lnTo>
                  <a:pt x="5594997" y="0"/>
                </a:lnTo>
              </a:path>
            </a:pathLst>
          </a:custGeom>
          <a:ln w="38087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1727" y="1426463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71372" y="164592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96565" y="1251585"/>
            <a:ext cx="251777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latin typeface="微软雅黑 Light"/>
                <a:cs typeface="微软雅黑 Light"/>
              </a:rPr>
              <a:t>食盐晶体的制</a:t>
            </a:r>
            <a:r>
              <a:rPr dirty="0" sz="2800" spc="-5" b="0">
                <a:latin typeface="微软雅黑 Light"/>
                <a:cs typeface="微软雅黑 Light"/>
              </a:rPr>
              <a:t>作</a:t>
            </a:r>
            <a:endParaRPr sz="2800">
              <a:latin typeface="微软雅黑 Light"/>
              <a:cs typeface="微软雅黑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4419" y="1101852"/>
            <a:ext cx="1444752" cy="4882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9483" y="2081783"/>
            <a:ext cx="2307336" cy="2148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6611" y="5580888"/>
            <a:ext cx="1420495" cy="403860"/>
          </a:xfrm>
          <a:prstGeom prst="rect">
            <a:avLst/>
          </a:prstGeom>
          <a:solidFill>
            <a:srgbClr val="4A5244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食盐晶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体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9483" y="4219955"/>
            <a:ext cx="2307590" cy="508000"/>
          </a:xfrm>
          <a:prstGeom prst="rect">
            <a:avLst/>
          </a:prstGeom>
          <a:solidFill>
            <a:srgbClr val="063E3C">
              <a:alpha val="32899"/>
            </a:srgbClr>
          </a:solidFill>
        </p:spPr>
        <p:txBody>
          <a:bodyPr wrap="square" lIns="0" tIns="83185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655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放大镜下的食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盐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47132" y="4219955"/>
            <a:ext cx="2482850" cy="508000"/>
          </a:xfrm>
          <a:prstGeom prst="rect"/>
          <a:solidFill>
            <a:srgbClr val="063E3C">
              <a:alpha val="32899"/>
            </a:srgbClr>
          </a:solidFill>
        </p:spPr>
        <p:txBody>
          <a:bodyPr wrap="square" lIns="0" tIns="83820" rIns="0" bIns="0" rtlCol="0" vert="horz">
            <a:spAutoFit/>
          </a:bodyPr>
          <a:lstStyle/>
          <a:p>
            <a:pPr marL="351155">
              <a:lnSpc>
                <a:spcPct val="100000"/>
              </a:lnSpc>
              <a:spcBef>
                <a:spcPts val="660"/>
              </a:spcBef>
            </a:pPr>
            <a:r>
              <a:rPr dirty="0">
                <a:solidFill>
                  <a:srgbClr val="FFFFFF"/>
                </a:solidFill>
              </a:rPr>
              <a:t>显微镜下的食</a:t>
            </a:r>
            <a:r>
              <a:rPr dirty="0" spc="5">
                <a:solidFill>
                  <a:srgbClr val="FFFFFF"/>
                </a:solidFill>
              </a:rPr>
              <a:t>盐</a:t>
            </a:r>
          </a:p>
        </p:txBody>
      </p:sp>
      <p:sp>
        <p:nvSpPr>
          <p:cNvPr id="7" name="object 7"/>
          <p:cNvSpPr/>
          <p:nvPr/>
        </p:nvSpPr>
        <p:spPr>
          <a:xfrm>
            <a:off x="5247132" y="2081783"/>
            <a:ext cx="2484119" cy="21366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0717" y="1619015"/>
            <a:ext cx="5595620" cy="0"/>
          </a:xfrm>
          <a:custGeom>
            <a:avLst/>
            <a:gdLst/>
            <a:ahLst/>
            <a:cxnLst/>
            <a:rect l="l" t="t" r="r" b="b"/>
            <a:pathLst>
              <a:path w="5595620" h="0">
                <a:moveTo>
                  <a:pt x="0" y="0"/>
                </a:moveTo>
                <a:lnTo>
                  <a:pt x="5594997" y="0"/>
                </a:lnTo>
              </a:path>
            </a:pathLst>
          </a:custGeom>
          <a:ln w="38087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7967" y="121767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90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67611" y="143713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83710" y="1043305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latin typeface="微软雅黑 Light"/>
                <a:cs typeface="微软雅黑 Light"/>
              </a:rPr>
              <a:t>晶</a:t>
            </a:r>
            <a:r>
              <a:rPr dirty="0" sz="2800" spc="-5" b="0">
                <a:latin typeface="微软雅黑 Light"/>
                <a:cs typeface="微软雅黑 Light"/>
              </a:rPr>
              <a:t>体</a:t>
            </a:r>
            <a:endParaRPr sz="2800">
              <a:latin typeface="微软雅黑 Light"/>
              <a:cs typeface="微软雅黑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5236" y="2247900"/>
            <a:ext cx="1606295" cy="1444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78230" y="3763645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石英晶体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9915" y="3763645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雪花晶体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94931" y="2231135"/>
            <a:ext cx="1432559" cy="1444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57979" y="3763645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明矾晶体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53255" y="2246376"/>
            <a:ext cx="1331976" cy="14295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21325" y="3763645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食盐晶体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62955" y="2247900"/>
            <a:ext cx="1264920" cy="14447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17064" y="2246376"/>
            <a:ext cx="1470660" cy="14447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82239" y="3763645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云母晶体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4230" y="4899659"/>
            <a:ext cx="6426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观察思考：</a:t>
            </a:r>
            <a:r>
              <a:rPr dirty="0" sz="2400" i="1">
                <a:latin typeface="华文楷体"/>
                <a:cs typeface="华文楷体"/>
              </a:rPr>
              <a:t>这些天然形成的晶体外形有何特点？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0717" y="1751730"/>
            <a:ext cx="5595620" cy="0"/>
          </a:xfrm>
          <a:custGeom>
            <a:avLst/>
            <a:gdLst/>
            <a:ahLst/>
            <a:cxnLst/>
            <a:rect l="l" t="t" r="r" b="b"/>
            <a:pathLst>
              <a:path w="5595620" h="0">
                <a:moveTo>
                  <a:pt x="0" y="0"/>
                </a:moveTo>
                <a:lnTo>
                  <a:pt x="5594997" y="0"/>
                </a:lnTo>
              </a:path>
            </a:pathLst>
          </a:custGeom>
          <a:ln w="38087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7967" y="135026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67611" y="1569719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83710" y="1176019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latin typeface="微软雅黑 Light"/>
                <a:cs typeface="微软雅黑 Light"/>
              </a:rPr>
              <a:t>晶</a:t>
            </a:r>
            <a:r>
              <a:rPr dirty="0" sz="2800" spc="-5" b="0">
                <a:latin typeface="微软雅黑 Light"/>
                <a:cs typeface="微软雅黑 Light"/>
              </a:rPr>
              <a:t>体</a:t>
            </a:r>
            <a:endParaRPr sz="2800">
              <a:latin typeface="微软雅黑 Light"/>
              <a:cs typeface="微软雅黑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45835" y="2811779"/>
            <a:ext cx="2215895" cy="1409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24230" y="4723129"/>
            <a:ext cx="6731000" cy="110998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观察并思考：</a:t>
            </a:r>
            <a:r>
              <a:rPr dirty="0" sz="2400" i="1">
                <a:latin typeface="华文楷体"/>
                <a:cs typeface="华文楷体"/>
              </a:rPr>
              <a:t>这些天然形成的晶体外形有何特点？</a:t>
            </a:r>
            <a:endParaRPr sz="2400">
              <a:latin typeface="华文楷体"/>
              <a:cs typeface="华文楷体"/>
            </a:endParaRPr>
          </a:p>
          <a:p>
            <a:pPr marL="2289175">
              <a:lnSpc>
                <a:spcPct val="100000"/>
              </a:lnSpc>
              <a:spcBef>
                <a:spcPts val="1390"/>
              </a:spcBef>
            </a:pPr>
            <a:r>
              <a:rPr dirty="0" sz="2400" b="1">
                <a:solidFill>
                  <a:srgbClr val="EC7C30"/>
                </a:solidFill>
                <a:latin typeface="华文楷体"/>
                <a:cs typeface="华文楷体"/>
              </a:rPr>
              <a:t>晶体具有天然规则的几何形</a:t>
            </a:r>
            <a:r>
              <a:rPr dirty="0" sz="2400" spc="-5" b="1">
                <a:solidFill>
                  <a:srgbClr val="EC7C30"/>
                </a:solidFill>
                <a:latin typeface="华文楷体"/>
                <a:cs typeface="华文楷体"/>
              </a:rPr>
              <a:t>状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9304" y="371538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玻璃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9054" y="371538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橡胶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0190" y="371538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塑料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3315" y="3715384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松香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30717" y="1619015"/>
            <a:ext cx="5595620" cy="0"/>
          </a:xfrm>
          <a:custGeom>
            <a:avLst/>
            <a:gdLst/>
            <a:ahLst/>
            <a:cxnLst/>
            <a:rect l="l" t="t" r="r" b="b"/>
            <a:pathLst>
              <a:path w="5595620" h="0">
                <a:moveTo>
                  <a:pt x="0" y="0"/>
                </a:moveTo>
                <a:lnTo>
                  <a:pt x="5594997" y="0"/>
                </a:lnTo>
              </a:path>
            </a:pathLst>
          </a:custGeom>
          <a:ln w="38087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67967" y="121767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90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67611" y="143713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705910" y="1043305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latin typeface="微软雅黑 Light"/>
                <a:cs typeface="微软雅黑 Light"/>
              </a:rPr>
              <a:t>非晶</a:t>
            </a:r>
            <a:r>
              <a:rPr dirty="0" sz="2800" spc="-5" b="0">
                <a:latin typeface="微软雅黑 Light"/>
                <a:cs typeface="微软雅黑 Light"/>
              </a:rPr>
              <a:t>体</a:t>
            </a:r>
            <a:endParaRPr sz="2800">
              <a:latin typeface="微软雅黑 Light"/>
              <a:cs typeface="微软雅黑 Ligh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08175" y="2183892"/>
            <a:ext cx="1616964" cy="1427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02864" y="2183892"/>
            <a:ext cx="1524000" cy="14432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08803" y="2319527"/>
            <a:ext cx="925068" cy="1168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34684" y="2287523"/>
            <a:ext cx="1193291" cy="12024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86000" y="4883784"/>
            <a:ext cx="4300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C7C30"/>
                </a:solidFill>
                <a:latin typeface="华文楷体"/>
                <a:cs typeface="华文楷体"/>
              </a:rPr>
              <a:t>非晶体没有天然规则的几何形</a:t>
            </a:r>
            <a:r>
              <a:rPr dirty="0" sz="2400" spc="-5" b="1">
                <a:solidFill>
                  <a:srgbClr val="EC7C30"/>
                </a:solidFill>
                <a:latin typeface="华文楷体"/>
                <a:cs typeface="华文楷体"/>
              </a:rPr>
              <a:t>状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5622" y="1995570"/>
            <a:ext cx="5595620" cy="0"/>
          </a:xfrm>
          <a:custGeom>
            <a:avLst/>
            <a:gdLst/>
            <a:ahLst/>
            <a:cxnLst/>
            <a:rect l="l" t="t" r="r" b="b"/>
            <a:pathLst>
              <a:path w="5595620" h="0">
                <a:moveTo>
                  <a:pt x="0" y="0"/>
                </a:moveTo>
                <a:lnTo>
                  <a:pt x="5594997" y="0"/>
                </a:lnTo>
              </a:path>
            </a:pathLst>
          </a:custGeom>
          <a:ln w="38087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43000" y="159410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42644" y="1813560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46145" y="1419860"/>
            <a:ext cx="21615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latin typeface="微软雅黑 Light"/>
                <a:cs typeface="微软雅黑 Light"/>
              </a:rPr>
              <a:t>晶体和非晶</a:t>
            </a:r>
            <a:r>
              <a:rPr dirty="0" sz="2800" spc="-5" b="0">
                <a:latin typeface="微软雅黑 Light"/>
                <a:cs typeface="微软雅黑 Light"/>
              </a:rPr>
              <a:t>体</a:t>
            </a:r>
            <a:endParaRPr sz="2800">
              <a:latin typeface="微软雅黑 Light"/>
              <a:cs typeface="微软雅黑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4730" y="2762250"/>
            <a:ext cx="6886575" cy="985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57200">
              <a:lnSpc>
                <a:spcPct val="131300"/>
              </a:lnSpc>
              <a:spcBef>
                <a:spcPts val="95"/>
              </a:spcBef>
            </a:pPr>
            <a:r>
              <a:rPr dirty="0" sz="2400" i="1">
                <a:latin typeface="华文楷体"/>
                <a:cs typeface="华文楷体"/>
              </a:rPr>
              <a:t>晶体具有</a:t>
            </a:r>
            <a:r>
              <a:rPr dirty="0" sz="2400" b="1">
                <a:solidFill>
                  <a:srgbClr val="EC7C30"/>
                </a:solidFill>
                <a:latin typeface="华文楷体"/>
                <a:cs typeface="华文楷体"/>
              </a:rPr>
              <a:t>确定的熔点</a:t>
            </a:r>
            <a:r>
              <a:rPr dirty="0" sz="2400" i="1">
                <a:latin typeface="华文楷体"/>
                <a:cs typeface="华文楷体"/>
              </a:rPr>
              <a:t>，非晶体没有确定的熔点， 这就是区别之</a:t>
            </a:r>
            <a:r>
              <a:rPr dirty="0" sz="2400" spc="600" i="1">
                <a:latin typeface="华文楷体"/>
                <a:cs typeface="华文楷体"/>
              </a:rPr>
              <a:t>一</a:t>
            </a:r>
            <a:r>
              <a:rPr dirty="0" sz="2400" i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7551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7652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3959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99949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190" y="1802257"/>
            <a:ext cx="7138034" cy="119824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457200">
              <a:lnSpc>
                <a:spcPct val="127400"/>
              </a:lnSpc>
              <a:spcBef>
                <a:spcPts val="160"/>
              </a:spcBef>
            </a:pPr>
            <a:r>
              <a:rPr dirty="0" sz="2000">
                <a:latin typeface="仿宋"/>
                <a:cs typeface="仿宋"/>
              </a:rPr>
              <a:t>把熔化了的石蜡薄薄地涂在薄玻璃片和单层云母片上，</a:t>
            </a:r>
            <a:r>
              <a:rPr dirty="0" sz="2000" spc="5">
                <a:latin typeface="仿宋"/>
                <a:cs typeface="仿宋"/>
              </a:rPr>
              <a:t>再 </a:t>
            </a:r>
            <a:r>
              <a:rPr dirty="0" sz="2000">
                <a:latin typeface="仿宋"/>
                <a:cs typeface="仿宋"/>
              </a:rPr>
              <a:t>将烙铁通电烧热，然后用铁头分别接触玻璃片和云母片的背面</a:t>
            </a:r>
            <a:r>
              <a:rPr dirty="0" sz="2000">
                <a:latin typeface="仿宋"/>
                <a:cs typeface="仿宋"/>
              </a:rPr>
              <a:t>。 </a:t>
            </a:r>
            <a:r>
              <a:rPr dirty="0" sz="2000">
                <a:latin typeface="仿宋"/>
                <a:cs typeface="仿宋"/>
              </a:rPr>
              <a:t>观察玻璃片和云母片石蜡熔化区域的形状</a:t>
            </a:r>
            <a:r>
              <a:rPr dirty="0" sz="2000" spc="5">
                <a:latin typeface="仿宋"/>
                <a:cs typeface="仿宋"/>
              </a:rPr>
              <a:t>。</a:t>
            </a:r>
            <a:endParaRPr sz="2000">
              <a:latin typeface="仿宋"/>
              <a:cs typeface="仿宋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4084" y="3334511"/>
            <a:ext cx="2066543" cy="2566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6450" y="5012054"/>
            <a:ext cx="18542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图</a:t>
            </a:r>
            <a:r>
              <a:rPr dirty="0" sz="180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涂有蜡层的玻璃片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1268" y="3445764"/>
            <a:ext cx="1464563" cy="1417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003550" y="5012690"/>
            <a:ext cx="18542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图</a:t>
            </a:r>
            <a:r>
              <a:rPr dirty="0" sz="180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涂有蜡层的云母片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40379" y="3422903"/>
            <a:ext cx="1783080" cy="14142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7551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7652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3959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99949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175" y="4419727"/>
            <a:ext cx="6551295" cy="119062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000" b="1">
                <a:solidFill>
                  <a:srgbClr val="5B9BD4"/>
                </a:solidFill>
                <a:latin typeface="微软雅黑"/>
                <a:cs typeface="微软雅黑"/>
              </a:rPr>
              <a:t>问题</a:t>
            </a:r>
            <a:r>
              <a:rPr dirty="0" sz="2000" spc="-5" b="1">
                <a:solidFill>
                  <a:srgbClr val="5B9BD4"/>
                </a:solidFill>
                <a:latin typeface="微软雅黑"/>
                <a:cs typeface="微软雅黑"/>
              </a:rPr>
              <a:t>：</a:t>
            </a:r>
            <a:r>
              <a:rPr dirty="0" sz="2000" spc="-5" i="1">
                <a:latin typeface="华文楷体"/>
                <a:cs typeface="华文楷体"/>
              </a:rPr>
              <a:t>1.</a:t>
            </a:r>
            <a:r>
              <a:rPr dirty="0" sz="2000" i="1">
                <a:latin typeface="华文楷体"/>
                <a:cs typeface="华文楷体"/>
              </a:rPr>
              <a:t>本实验中石蜡的作用是什么</a:t>
            </a:r>
            <a:r>
              <a:rPr dirty="0" sz="2000" spc="5" i="1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  <a:p>
            <a:pPr marL="949960" indent="-175260">
              <a:lnSpc>
                <a:spcPct val="100000"/>
              </a:lnSpc>
              <a:spcBef>
                <a:spcPts val="535"/>
              </a:spcBef>
              <a:buSzPct val="95000"/>
              <a:buAutoNum type="arabicPeriod" startAt="2"/>
              <a:tabLst>
                <a:tab pos="950594" algn="l"/>
              </a:tabLst>
            </a:pPr>
            <a:r>
              <a:rPr dirty="0" sz="2000" i="1">
                <a:latin typeface="华文楷体"/>
                <a:cs typeface="华文楷体"/>
              </a:rPr>
              <a:t>观察两组实验，石蜡熔化时的形状有什么不同</a:t>
            </a:r>
            <a:r>
              <a:rPr dirty="0" sz="2000" spc="5" i="1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  <a:p>
            <a:pPr marL="949960" indent="-175260">
              <a:lnSpc>
                <a:spcPct val="100000"/>
              </a:lnSpc>
              <a:spcBef>
                <a:spcPts val="905"/>
              </a:spcBef>
              <a:buSzPct val="95000"/>
              <a:buAutoNum type="arabicPeriod" startAt="2"/>
              <a:tabLst>
                <a:tab pos="950594" algn="l"/>
              </a:tabLst>
            </a:pPr>
            <a:r>
              <a:rPr dirty="0" sz="2000" i="1">
                <a:latin typeface="华文楷体"/>
                <a:cs typeface="华文楷体"/>
              </a:rPr>
              <a:t>两组实验，石蜡熔化形状不同，思考说明了什么</a:t>
            </a:r>
            <a:r>
              <a:rPr dirty="0" sz="2000" spc="5" i="1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1132" y="1868423"/>
            <a:ext cx="1888236" cy="2092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7551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7652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3959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28800" y="999490"/>
            <a:ext cx="5816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1764" y="1801494"/>
            <a:ext cx="5106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仿宋"/>
                <a:cs typeface="仿宋"/>
              </a:rPr>
              <a:t>实验一：观察非晶体玻璃片上石蜡的熔化形</a:t>
            </a:r>
            <a:r>
              <a:rPr dirty="0" sz="2000" spc="5">
                <a:latin typeface="仿宋"/>
                <a:cs typeface="仿宋"/>
              </a:rPr>
              <a:t>状</a:t>
            </a:r>
            <a:endParaRPr sz="2000">
              <a:latin typeface="仿宋"/>
              <a:cs typeface="仿宋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7551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7652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3959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28800" y="999490"/>
            <a:ext cx="5816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1764" y="1801494"/>
            <a:ext cx="485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仿宋"/>
                <a:cs typeface="仿宋"/>
              </a:rPr>
              <a:t>实验二：观察晶体云母片上石蜡的熔化形</a:t>
            </a:r>
            <a:r>
              <a:rPr dirty="0" sz="2000" spc="5">
                <a:latin typeface="仿宋"/>
                <a:cs typeface="仿宋"/>
              </a:rPr>
              <a:t>状</a:t>
            </a:r>
            <a:endParaRPr sz="2000">
              <a:latin typeface="仿宋"/>
              <a:cs typeface="仿宋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7551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7652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3959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99949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175" y="4419727"/>
            <a:ext cx="6551295" cy="119062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000" b="1">
                <a:solidFill>
                  <a:srgbClr val="5B9BD4"/>
                </a:solidFill>
                <a:latin typeface="微软雅黑"/>
                <a:cs typeface="微软雅黑"/>
              </a:rPr>
              <a:t>问题</a:t>
            </a:r>
            <a:r>
              <a:rPr dirty="0" sz="2000" spc="-5" b="1">
                <a:solidFill>
                  <a:srgbClr val="5B9BD4"/>
                </a:solidFill>
                <a:latin typeface="微软雅黑"/>
                <a:cs typeface="微软雅黑"/>
              </a:rPr>
              <a:t>：</a:t>
            </a:r>
            <a:r>
              <a:rPr dirty="0" sz="2000" spc="-5" i="1">
                <a:latin typeface="华文楷体"/>
                <a:cs typeface="华文楷体"/>
              </a:rPr>
              <a:t>1.</a:t>
            </a:r>
            <a:r>
              <a:rPr dirty="0" sz="2000" i="1">
                <a:latin typeface="华文楷体"/>
                <a:cs typeface="华文楷体"/>
              </a:rPr>
              <a:t>本实验中石蜡的作用是什么</a:t>
            </a:r>
            <a:r>
              <a:rPr dirty="0" sz="2000" spc="5" i="1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  <a:p>
            <a:pPr marL="949960" indent="-175260">
              <a:lnSpc>
                <a:spcPct val="100000"/>
              </a:lnSpc>
              <a:spcBef>
                <a:spcPts val="535"/>
              </a:spcBef>
              <a:buSzPct val="95000"/>
              <a:buAutoNum type="arabicPeriod" startAt="2"/>
              <a:tabLst>
                <a:tab pos="950594" algn="l"/>
              </a:tabLst>
            </a:pPr>
            <a:r>
              <a:rPr dirty="0" sz="2000" i="1">
                <a:latin typeface="华文楷体"/>
                <a:cs typeface="华文楷体"/>
              </a:rPr>
              <a:t>观察两组实验，石蜡熔化时的形状有什么不同</a:t>
            </a:r>
            <a:r>
              <a:rPr dirty="0" sz="2000" spc="5" i="1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  <a:p>
            <a:pPr marL="949960" indent="-175260">
              <a:lnSpc>
                <a:spcPct val="100000"/>
              </a:lnSpc>
              <a:spcBef>
                <a:spcPts val="905"/>
              </a:spcBef>
              <a:buSzPct val="95000"/>
              <a:buAutoNum type="arabicPeriod" startAt="2"/>
              <a:tabLst>
                <a:tab pos="950594" algn="l"/>
              </a:tabLst>
            </a:pPr>
            <a:r>
              <a:rPr dirty="0" sz="2000" i="1">
                <a:latin typeface="华文楷体"/>
                <a:cs typeface="华文楷体"/>
              </a:rPr>
              <a:t>两组实验，石蜡熔化形状不同，思考说明了什么</a:t>
            </a:r>
            <a:r>
              <a:rPr dirty="0" sz="2000" spc="5" i="1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1132" y="1868423"/>
            <a:ext cx="1888236" cy="2092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7551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7652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3959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99949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7414" y="2522854"/>
            <a:ext cx="6401435" cy="1921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问题</a:t>
            </a:r>
            <a:r>
              <a:rPr dirty="0" sz="2400" spc="-5" b="1">
                <a:solidFill>
                  <a:srgbClr val="5B9BD4"/>
                </a:solidFill>
                <a:latin typeface="微软雅黑"/>
                <a:cs typeface="微软雅黑"/>
              </a:rPr>
              <a:t>：</a:t>
            </a:r>
            <a:r>
              <a:rPr dirty="0" sz="2400" spc="-5" i="1">
                <a:latin typeface="华文楷体"/>
                <a:cs typeface="华文楷体"/>
              </a:rPr>
              <a:t>1.</a:t>
            </a:r>
            <a:r>
              <a:rPr dirty="0" sz="2400" i="1">
                <a:latin typeface="华文楷体"/>
                <a:cs typeface="华文楷体"/>
              </a:rPr>
              <a:t>本实验中石蜡的作用是什么？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imes New Roman"/>
              <a:cs typeface="Times New Roman"/>
            </a:endParaRPr>
          </a:p>
          <a:p>
            <a:pPr marL="445134" marR="5080" indent="457200">
              <a:lnSpc>
                <a:spcPct val="152600"/>
              </a:lnSpc>
              <a:tabLst>
                <a:tab pos="2429510" algn="l"/>
              </a:tabLst>
            </a:pPr>
            <a:r>
              <a:rPr dirty="0" sz="2400" i="1">
                <a:latin typeface="华文楷体"/>
                <a:cs typeface="华文楷体"/>
              </a:rPr>
              <a:t>让难以观测的导热现象，通过石蜡熔化的 </a:t>
            </a:r>
            <a:r>
              <a:rPr dirty="0" baseline="1157" sz="3600" i="1">
                <a:latin typeface="华文楷体"/>
                <a:cs typeface="华文楷体"/>
              </a:rPr>
              <a:t>形状显现出来	</a:t>
            </a:r>
            <a:r>
              <a:rPr dirty="0" sz="2400" b="1">
                <a:solidFill>
                  <a:srgbClr val="EC7C30"/>
                </a:solidFill>
                <a:latin typeface="华文楷体"/>
                <a:cs typeface="华文楷体"/>
              </a:rPr>
              <a:t>——间接研究方</a:t>
            </a:r>
            <a:r>
              <a:rPr dirty="0" sz="2400" spc="-5" b="1">
                <a:solidFill>
                  <a:srgbClr val="EC7C30"/>
                </a:solidFill>
                <a:latin typeface="华文楷体"/>
                <a:cs typeface="华文楷体"/>
              </a:rPr>
              <a:t>法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13560" y="1751076"/>
            <a:ext cx="2113788" cy="1911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13560" y="3924300"/>
            <a:ext cx="2122932" cy="167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92167" y="3944111"/>
            <a:ext cx="1972056" cy="16550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02864" y="4696967"/>
            <a:ext cx="1577340" cy="364490"/>
          </a:xfrm>
          <a:custGeom>
            <a:avLst/>
            <a:gdLst/>
            <a:ahLst/>
            <a:cxnLst/>
            <a:rect l="l" t="t" r="r" b="b"/>
            <a:pathLst>
              <a:path w="1577339" h="364489">
                <a:moveTo>
                  <a:pt x="1394460" y="364236"/>
                </a:moveTo>
                <a:lnTo>
                  <a:pt x="1394460" y="272796"/>
                </a:lnTo>
                <a:lnTo>
                  <a:pt x="0" y="272796"/>
                </a:lnTo>
                <a:lnTo>
                  <a:pt x="91440" y="181356"/>
                </a:lnTo>
                <a:lnTo>
                  <a:pt x="0" y="91440"/>
                </a:lnTo>
                <a:lnTo>
                  <a:pt x="1394460" y="91440"/>
                </a:lnTo>
                <a:lnTo>
                  <a:pt x="1394460" y="0"/>
                </a:lnTo>
                <a:lnTo>
                  <a:pt x="1577339" y="181356"/>
                </a:lnTo>
                <a:lnTo>
                  <a:pt x="1394460" y="36423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87916" y="4681130"/>
            <a:ext cx="1602105" cy="396240"/>
          </a:xfrm>
          <a:custGeom>
            <a:avLst/>
            <a:gdLst/>
            <a:ahLst/>
            <a:cxnLst/>
            <a:rect l="l" t="t" r="r" b="b"/>
            <a:pathLst>
              <a:path w="1602104" h="396239">
                <a:moveTo>
                  <a:pt x="1403756" y="106603"/>
                </a:moveTo>
                <a:lnTo>
                  <a:pt x="1403756" y="0"/>
                </a:lnTo>
                <a:lnTo>
                  <a:pt x="1419085" y="15328"/>
                </a:lnTo>
                <a:lnTo>
                  <a:pt x="1416456" y="15328"/>
                </a:lnTo>
                <a:lnTo>
                  <a:pt x="1405610" y="19824"/>
                </a:lnTo>
                <a:lnTo>
                  <a:pt x="1416456" y="30670"/>
                </a:lnTo>
                <a:lnTo>
                  <a:pt x="1416456" y="100253"/>
                </a:lnTo>
                <a:lnTo>
                  <a:pt x="1410106" y="100253"/>
                </a:lnTo>
                <a:lnTo>
                  <a:pt x="1403756" y="106603"/>
                </a:lnTo>
                <a:close/>
              </a:path>
              <a:path w="1602104" h="396239">
                <a:moveTo>
                  <a:pt x="1416456" y="30670"/>
                </a:moveTo>
                <a:lnTo>
                  <a:pt x="1405610" y="19824"/>
                </a:lnTo>
                <a:lnTo>
                  <a:pt x="1416456" y="15328"/>
                </a:lnTo>
                <a:lnTo>
                  <a:pt x="1416456" y="30670"/>
                </a:lnTo>
                <a:close/>
              </a:path>
              <a:path w="1602104" h="396239">
                <a:moveTo>
                  <a:pt x="1583677" y="197891"/>
                </a:moveTo>
                <a:lnTo>
                  <a:pt x="1416456" y="30670"/>
                </a:lnTo>
                <a:lnTo>
                  <a:pt x="1416456" y="15328"/>
                </a:lnTo>
                <a:lnTo>
                  <a:pt x="1419085" y="15328"/>
                </a:lnTo>
                <a:lnTo>
                  <a:pt x="1597152" y="193395"/>
                </a:lnTo>
                <a:lnTo>
                  <a:pt x="1588173" y="193395"/>
                </a:lnTo>
                <a:lnTo>
                  <a:pt x="1583677" y="197891"/>
                </a:lnTo>
                <a:close/>
              </a:path>
              <a:path w="1602104" h="396239">
                <a:moveTo>
                  <a:pt x="97625" y="197891"/>
                </a:moveTo>
                <a:lnTo>
                  <a:pt x="0" y="100253"/>
                </a:lnTo>
                <a:lnTo>
                  <a:pt x="1403756" y="100253"/>
                </a:lnTo>
                <a:lnTo>
                  <a:pt x="1403756" y="102120"/>
                </a:lnTo>
                <a:lnTo>
                  <a:pt x="19824" y="102120"/>
                </a:lnTo>
                <a:lnTo>
                  <a:pt x="15328" y="112953"/>
                </a:lnTo>
                <a:lnTo>
                  <a:pt x="30657" y="112953"/>
                </a:lnTo>
                <a:lnTo>
                  <a:pt x="111099" y="193395"/>
                </a:lnTo>
                <a:lnTo>
                  <a:pt x="102120" y="193395"/>
                </a:lnTo>
                <a:lnTo>
                  <a:pt x="97625" y="197891"/>
                </a:lnTo>
                <a:close/>
              </a:path>
              <a:path w="1602104" h="396239">
                <a:moveTo>
                  <a:pt x="1416456" y="106603"/>
                </a:moveTo>
                <a:lnTo>
                  <a:pt x="1403756" y="106603"/>
                </a:lnTo>
                <a:lnTo>
                  <a:pt x="1410106" y="100253"/>
                </a:lnTo>
                <a:lnTo>
                  <a:pt x="1416456" y="100253"/>
                </a:lnTo>
                <a:lnTo>
                  <a:pt x="1416456" y="106603"/>
                </a:lnTo>
                <a:close/>
              </a:path>
              <a:path w="1602104" h="396239">
                <a:moveTo>
                  <a:pt x="30657" y="112953"/>
                </a:moveTo>
                <a:lnTo>
                  <a:pt x="15328" y="112953"/>
                </a:lnTo>
                <a:lnTo>
                  <a:pt x="19824" y="102120"/>
                </a:lnTo>
                <a:lnTo>
                  <a:pt x="30657" y="112953"/>
                </a:lnTo>
                <a:close/>
              </a:path>
              <a:path w="1602104" h="396239">
                <a:moveTo>
                  <a:pt x="1416456" y="112953"/>
                </a:moveTo>
                <a:lnTo>
                  <a:pt x="30657" y="112953"/>
                </a:lnTo>
                <a:lnTo>
                  <a:pt x="19824" y="102120"/>
                </a:lnTo>
                <a:lnTo>
                  <a:pt x="1403756" y="102120"/>
                </a:lnTo>
                <a:lnTo>
                  <a:pt x="1403756" y="106603"/>
                </a:lnTo>
                <a:lnTo>
                  <a:pt x="1416456" y="106603"/>
                </a:lnTo>
                <a:lnTo>
                  <a:pt x="1416456" y="112953"/>
                </a:lnTo>
                <a:close/>
              </a:path>
              <a:path w="1602104" h="396239">
                <a:moveTo>
                  <a:pt x="102120" y="202387"/>
                </a:moveTo>
                <a:lnTo>
                  <a:pt x="97625" y="197891"/>
                </a:lnTo>
                <a:lnTo>
                  <a:pt x="102120" y="193395"/>
                </a:lnTo>
                <a:lnTo>
                  <a:pt x="102120" y="202387"/>
                </a:lnTo>
                <a:close/>
              </a:path>
              <a:path w="1602104" h="396239">
                <a:moveTo>
                  <a:pt x="111099" y="202387"/>
                </a:moveTo>
                <a:lnTo>
                  <a:pt x="102120" y="202387"/>
                </a:lnTo>
                <a:lnTo>
                  <a:pt x="102120" y="193395"/>
                </a:lnTo>
                <a:lnTo>
                  <a:pt x="111099" y="193395"/>
                </a:lnTo>
                <a:lnTo>
                  <a:pt x="115595" y="197891"/>
                </a:lnTo>
                <a:lnTo>
                  <a:pt x="111099" y="202387"/>
                </a:lnTo>
                <a:close/>
              </a:path>
              <a:path w="1602104" h="396239">
                <a:moveTo>
                  <a:pt x="1588173" y="202387"/>
                </a:moveTo>
                <a:lnTo>
                  <a:pt x="1583677" y="197891"/>
                </a:lnTo>
                <a:lnTo>
                  <a:pt x="1588173" y="193395"/>
                </a:lnTo>
                <a:lnTo>
                  <a:pt x="1588173" y="202387"/>
                </a:lnTo>
                <a:close/>
              </a:path>
              <a:path w="1602104" h="396239">
                <a:moveTo>
                  <a:pt x="1597152" y="202387"/>
                </a:moveTo>
                <a:lnTo>
                  <a:pt x="1588173" y="202387"/>
                </a:lnTo>
                <a:lnTo>
                  <a:pt x="1588173" y="193395"/>
                </a:lnTo>
                <a:lnTo>
                  <a:pt x="1597152" y="193395"/>
                </a:lnTo>
                <a:lnTo>
                  <a:pt x="1601647" y="197891"/>
                </a:lnTo>
                <a:lnTo>
                  <a:pt x="1597152" y="202387"/>
                </a:lnTo>
                <a:close/>
              </a:path>
              <a:path w="1602104" h="396239">
                <a:moveTo>
                  <a:pt x="1403756" y="295516"/>
                </a:moveTo>
                <a:lnTo>
                  <a:pt x="0" y="295516"/>
                </a:lnTo>
                <a:lnTo>
                  <a:pt x="97625" y="197891"/>
                </a:lnTo>
                <a:lnTo>
                  <a:pt x="102120" y="202387"/>
                </a:lnTo>
                <a:lnTo>
                  <a:pt x="111099" y="202387"/>
                </a:lnTo>
                <a:lnTo>
                  <a:pt x="30670" y="282816"/>
                </a:lnTo>
                <a:lnTo>
                  <a:pt x="15328" y="282816"/>
                </a:lnTo>
                <a:lnTo>
                  <a:pt x="19824" y="293662"/>
                </a:lnTo>
                <a:lnTo>
                  <a:pt x="1403756" y="293662"/>
                </a:lnTo>
                <a:lnTo>
                  <a:pt x="1403756" y="295516"/>
                </a:lnTo>
                <a:close/>
              </a:path>
              <a:path w="1602104" h="396239">
                <a:moveTo>
                  <a:pt x="1419085" y="380453"/>
                </a:moveTo>
                <a:lnTo>
                  <a:pt x="1416456" y="380453"/>
                </a:lnTo>
                <a:lnTo>
                  <a:pt x="1416456" y="365112"/>
                </a:lnTo>
                <a:lnTo>
                  <a:pt x="1583677" y="197891"/>
                </a:lnTo>
                <a:lnTo>
                  <a:pt x="1588173" y="202387"/>
                </a:lnTo>
                <a:lnTo>
                  <a:pt x="1597152" y="202387"/>
                </a:lnTo>
                <a:lnTo>
                  <a:pt x="1419085" y="380453"/>
                </a:lnTo>
                <a:close/>
              </a:path>
              <a:path w="1602104" h="396239">
                <a:moveTo>
                  <a:pt x="19824" y="293662"/>
                </a:moveTo>
                <a:lnTo>
                  <a:pt x="15328" y="282816"/>
                </a:lnTo>
                <a:lnTo>
                  <a:pt x="30670" y="282816"/>
                </a:lnTo>
                <a:lnTo>
                  <a:pt x="19824" y="293662"/>
                </a:lnTo>
                <a:close/>
              </a:path>
              <a:path w="1602104" h="396239">
                <a:moveTo>
                  <a:pt x="1403756" y="293662"/>
                </a:moveTo>
                <a:lnTo>
                  <a:pt x="19824" y="293662"/>
                </a:lnTo>
                <a:lnTo>
                  <a:pt x="30670" y="282816"/>
                </a:lnTo>
                <a:lnTo>
                  <a:pt x="1416456" y="282816"/>
                </a:lnTo>
                <a:lnTo>
                  <a:pt x="1416456" y="289166"/>
                </a:lnTo>
                <a:lnTo>
                  <a:pt x="1403756" y="289166"/>
                </a:lnTo>
                <a:lnTo>
                  <a:pt x="1403756" y="293662"/>
                </a:lnTo>
                <a:close/>
              </a:path>
              <a:path w="1602104" h="396239">
                <a:moveTo>
                  <a:pt x="1403756" y="395782"/>
                </a:moveTo>
                <a:lnTo>
                  <a:pt x="1403756" y="289166"/>
                </a:lnTo>
                <a:lnTo>
                  <a:pt x="1410106" y="295516"/>
                </a:lnTo>
                <a:lnTo>
                  <a:pt x="1416456" y="295516"/>
                </a:lnTo>
                <a:lnTo>
                  <a:pt x="1416456" y="365112"/>
                </a:lnTo>
                <a:lnTo>
                  <a:pt x="1405610" y="375958"/>
                </a:lnTo>
                <a:lnTo>
                  <a:pt x="1416456" y="380453"/>
                </a:lnTo>
                <a:lnTo>
                  <a:pt x="1419085" y="380453"/>
                </a:lnTo>
                <a:lnTo>
                  <a:pt x="1403756" y="395782"/>
                </a:lnTo>
                <a:close/>
              </a:path>
              <a:path w="1602104" h="396239">
                <a:moveTo>
                  <a:pt x="1416456" y="295516"/>
                </a:moveTo>
                <a:lnTo>
                  <a:pt x="1410106" y="295516"/>
                </a:lnTo>
                <a:lnTo>
                  <a:pt x="1403756" y="289166"/>
                </a:lnTo>
                <a:lnTo>
                  <a:pt x="1416456" y="289166"/>
                </a:lnTo>
                <a:lnTo>
                  <a:pt x="1416456" y="295516"/>
                </a:lnTo>
                <a:close/>
              </a:path>
              <a:path w="1602104" h="396239">
                <a:moveTo>
                  <a:pt x="1416456" y="380453"/>
                </a:moveTo>
                <a:lnTo>
                  <a:pt x="1405610" y="375958"/>
                </a:lnTo>
                <a:lnTo>
                  <a:pt x="1416456" y="365112"/>
                </a:lnTo>
                <a:lnTo>
                  <a:pt x="1416456" y="38045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3090" y="1089025"/>
            <a:ext cx="75501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问题：</a:t>
            </a:r>
            <a:r>
              <a:rPr dirty="0" sz="2400" spc="-5" i="1">
                <a:latin typeface="华文楷体"/>
                <a:cs typeface="华文楷体"/>
              </a:rPr>
              <a:t>2.</a:t>
            </a:r>
            <a:r>
              <a:rPr dirty="0" sz="2400" i="1">
                <a:latin typeface="华文楷体"/>
                <a:cs typeface="华文楷体"/>
              </a:rPr>
              <a:t>观察两组实验，石蜡熔化时的形状有什么不同？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52660" y="4240212"/>
            <a:ext cx="1213354" cy="10162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61388" y="3255264"/>
            <a:ext cx="1850389" cy="403860"/>
          </a:xfrm>
          <a:prstGeom prst="rect">
            <a:avLst/>
          </a:prstGeom>
          <a:solidFill>
            <a:srgbClr val="FF0000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非晶体玻璃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6167" y="5209032"/>
            <a:ext cx="1557655" cy="403860"/>
          </a:xfrm>
          <a:prstGeom prst="rect">
            <a:avLst/>
          </a:prstGeom>
          <a:solidFill>
            <a:srgbClr val="FFFF00">
              <a:alpha val="25898"/>
            </a:srgbClr>
          </a:solidFill>
        </p:spPr>
        <p:txBody>
          <a:bodyPr wrap="square" lIns="0" tIns="31750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250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晶体云母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75403" y="1798320"/>
            <a:ext cx="2005583" cy="18928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89732" y="2548127"/>
            <a:ext cx="1577340" cy="365760"/>
          </a:xfrm>
          <a:custGeom>
            <a:avLst/>
            <a:gdLst/>
            <a:ahLst/>
            <a:cxnLst/>
            <a:rect l="l" t="t" r="r" b="b"/>
            <a:pathLst>
              <a:path w="1577339" h="365760">
                <a:moveTo>
                  <a:pt x="1394459" y="365760"/>
                </a:moveTo>
                <a:lnTo>
                  <a:pt x="1394459" y="274320"/>
                </a:lnTo>
                <a:lnTo>
                  <a:pt x="0" y="274320"/>
                </a:lnTo>
                <a:lnTo>
                  <a:pt x="89916" y="182880"/>
                </a:lnTo>
                <a:lnTo>
                  <a:pt x="0" y="91440"/>
                </a:lnTo>
                <a:lnTo>
                  <a:pt x="1394459" y="91440"/>
                </a:lnTo>
                <a:lnTo>
                  <a:pt x="1394459" y="0"/>
                </a:lnTo>
                <a:lnTo>
                  <a:pt x="1577340" y="182880"/>
                </a:lnTo>
                <a:lnTo>
                  <a:pt x="1394459" y="36576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73641" y="2532926"/>
            <a:ext cx="1602105" cy="396240"/>
          </a:xfrm>
          <a:custGeom>
            <a:avLst/>
            <a:gdLst/>
            <a:ahLst/>
            <a:cxnLst/>
            <a:rect l="l" t="t" r="r" b="b"/>
            <a:pathLst>
              <a:path w="1602104" h="396239">
                <a:moveTo>
                  <a:pt x="1403756" y="106603"/>
                </a:moveTo>
                <a:lnTo>
                  <a:pt x="1403756" y="0"/>
                </a:lnTo>
                <a:lnTo>
                  <a:pt x="1419085" y="15328"/>
                </a:lnTo>
                <a:lnTo>
                  <a:pt x="1416456" y="15328"/>
                </a:lnTo>
                <a:lnTo>
                  <a:pt x="1405610" y="19824"/>
                </a:lnTo>
                <a:lnTo>
                  <a:pt x="1416456" y="30670"/>
                </a:lnTo>
                <a:lnTo>
                  <a:pt x="1416456" y="100253"/>
                </a:lnTo>
                <a:lnTo>
                  <a:pt x="1410106" y="100253"/>
                </a:lnTo>
                <a:lnTo>
                  <a:pt x="1403756" y="106603"/>
                </a:lnTo>
                <a:close/>
              </a:path>
              <a:path w="1602104" h="396239">
                <a:moveTo>
                  <a:pt x="1416456" y="30670"/>
                </a:moveTo>
                <a:lnTo>
                  <a:pt x="1405610" y="19824"/>
                </a:lnTo>
                <a:lnTo>
                  <a:pt x="1416456" y="15328"/>
                </a:lnTo>
                <a:lnTo>
                  <a:pt x="1416456" y="30670"/>
                </a:lnTo>
                <a:close/>
              </a:path>
              <a:path w="1602104" h="396239">
                <a:moveTo>
                  <a:pt x="1583677" y="197891"/>
                </a:moveTo>
                <a:lnTo>
                  <a:pt x="1416456" y="30670"/>
                </a:lnTo>
                <a:lnTo>
                  <a:pt x="1416456" y="15328"/>
                </a:lnTo>
                <a:lnTo>
                  <a:pt x="1419085" y="15328"/>
                </a:lnTo>
                <a:lnTo>
                  <a:pt x="1597152" y="193395"/>
                </a:lnTo>
                <a:lnTo>
                  <a:pt x="1588173" y="193395"/>
                </a:lnTo>
                <a:lnTo>
                  <a:pt x="1583677" y="197891"/>
                </a:lnTo>
                <a:close/>
              </a:path>
              <a:path w="1602104" h="396239">
                <a:moveTo>
                  <a:pt x="97625" y="197891"/>
                </a:moveTo>
                <a:lnTo>
                  <a:pt x="0" y="100253"/>
                </a:lnTo>
                <a:lnTo>
                  <a:pt x="1403756" y="100253"/>
                </a:lnTo>
                <a:lnTo>
                  <a:pt x="1403756" y="102120"/>
                </a:lnTo>
                <a:lnTo>
                  <a:pt x="19824" y="102120"/>
                </a:lnTo>
                <a:lnTo>
                  <a:pt x="15328" y="112953"/>
                </a:lnTo>
                <a:lnTo>
                  <a:pt x="30657" y="112953"/>
                </a:lnTo>
                <a:lnTo>
                  <a:pt x="111099" y="193395"/>
                </a:lnTo>
                <a:lnTo>
                  <a:pt x="102120" y="193395"/>
                </a:lnTo>
                <a:lnTo>
                  <a:pt x="97625" y="197891"/>
                </a:lnTo>
                <a:close/>
              </a:path>
              <a:path w="1602104" h="396239">
                <a:moveTo>
                  <a:pt x="1416456" y="106603"/>
                </a:moveTo>
                <a:lnTo>
                  <a:pt x="1403756" y="106603"/>
                </a:lnTo>
                <a:lnTo>
                  <a:pt x="1410106" y="100253"/>
                </a:lnTo>
                <a:lnTo>
                  <a:pt x="1416456" y="100253"/>
                </a:lnTo>
                <a:lnTo>
                  <a:pt x="1416456" y="106603"/>
                </a:lnTo>
                <a:close/>
              </a:path>
              <a:path w="1602104" h="396239">
                <a:moveTo>
                  <a:pt x="30657" y="112953"/>
                </a:moveTo>
                <a:lnTo>
                  <a:pt x="15328" y="112953"/>
                </a:lnTo>
                <a:lnTo>
                  <a:pt x="19824" y="102120"/>
                </a:lnTo>
                <a:lnTo>
                  <a:pt x="30657" y="112953"/>
                </a:lnTo>
                <a:close/>
              </a:path>
              <a:path w="1602104" h="396239">
                <a:moveTo>
                  <a:pt x="1416456" y="112953"/>
                </a:moveTo>
                <a:lnTo>
                  <a:pt x="30657" y="112953"/>
                </a:lnTo>
                <a:lnTo>
                  <a:pt x="19824" y="102120"/>
                </a:lnTo>
                <a:lnTo>
                  <a:pt x="1403756" y="102120"/>
                </a:lnTo>
                <a:lnTo>
                  <a:pt x="1403756" y="106603"/>
                </a:lnTo>
                <a:lnTo>
                  <a:pt x="1416456" y="106603"/>
                </a:lnTo>
                <a:lnTo>
                  <a:pt x="1416456" y="112953"/>
                </a:lnTo>
                <a:close/>
              </a:path>
              <a:path w="1602104" h="396239">
                <a:moveTo>
                  <a:pt x="102120" y="202387"/>
                </a:moveTo>
                <a:lnTo>
                  <a:pt x="97625" y="197891"/>
                </a:lnTo>
                <a:lnTo>
                  <a:pt x="102120" y="193395"/>
                </a:lnTo>
                <a:lnTo>
                  <a:pt x="102120" y="202387"/>
                </a:lnTo>
                <a:close/>
              </a:path>
              <a:path w="1602104" h="396239">
                <a:moveTo>
                  <a:pt x="111099" y="202387"/>
                </a:moveTo>
                <a:lnTo>
                  <a:pt x="102120" y="202387"/>
                </a:lnTo>
                <a:lnTo>
                  <a:pt x="102120" y="193395"/>
                </a:lnTo>
                <a:lnTo>
                  <a:pt x="111099" y="193395"/>
                </a:lnTo>
                <a:lnTo>
                  <a:pt x="115595" y="197891"/>
                </a:lnTo>
                <a:lnTo>
                  <a:pt x="111099" y="202387"/>
                </a:lnTo>
                <a:close/>
              </a:path>
              <a:path w="1602104" h="396239">
                <a:moveTo>
                  <a:pt x="1588173" y="202387"/>
                </a:moveTo>
                <a:lnTo>
                  <a:pt x="1583677" y="197891"/>
                </a:lnTo>
                <a:lnTo>
                  <a:pt x="1588173" y="193395"/>
                </a:lnTo>
                <a:lnTo>
                  <a:pt x="1588173" y="202387"/>
                </a:lnTo>
                <a:close/>
              </a:path>
              <a:path w="1602104" h="396239">
                <a:moveTo>
                  <a:pt x="1597152" y="202387"/>
                </a:moveTo>
                <a:lnTo>
                  <a:pt x="1588173" y="202387"/>
                </a:lnTo>
                <a:lnTo>
                  <a:pt x="1588173" y="193395"/>
                </a:lnTo>
                <a:lnTo>
                  <a:pt x="1597152" y="193395"/>
                </a:lnTo>
                <a:lnTo>
                  <a:pt x="1601647" y="197891"/>
                </a:lnTo>
                <a:lnTo>
                  <a:pt x="1597152" y="202387"/>
                </a:lnTo>
                <a:close/>
              </a:path>
              <a:path w="1602104" h="396239">
                <a:moveTo>
                  <a:pt x="1403756" y="295516"/>
                </a:moveTo>
                <a:lnTo>
                  <a:pt x="0" y="295516"/>
                </a:lnTo>
                <a:lnTo>
                  <a:pt x="97625" y="197891"/>
                </a:lnTo>
                <a:lnTo>
                  <a:pt x="102120" y="202387"/>
                </a:lnTo>
                <a:lnTo>
                  <a:pt x="111099" y="202387"/>
                </a:lnTo>
                <a:lnTo>
                  <a:pt x="30670" y="282816"/>
                </a:lnTo>
                <a:lnTo>
                  <a:pt x="15328" y="282816"/>
                </a:lnTo>
                <a:lnTo>
                  <a:pt x="19824" y="293662"/>
                </a:lnTo>
                <a:lnTo>
                  <a:pt x="1403756" y="293662"/>
                </a:lnTo>
                <a:lnTo>
                  <a:pt x="1403756" y="295516"/>
                </a:lnTo>
                <a:close/>
              </a:path>
              <a:path w="1602104" h="396239">
                <a:moveTo>
                  <a:pt x="1419085" y="380453"/>
                </a:moveTo>
                <a:lnTo>
                  <a:pt x="1416456" y="380453"/>
                </a:lnTo>
                <a:lnTo>
                  <a:pt x="1416456" y="365112"/>
                </a:lnTo>
                <a:lnTo>
                  <a:pt x="1583677" y="197891"/>
                </a:lnTo>
                <a:lnTo>
                  <a:pt x="1588173" y="202387"/>
                </a:lnTo>
                <a:lnTo>
                  <a:pt x="1597152" y="202387"/>
                </a:lnTo>
                <a:lnTo>
                  <a:pt x="1419085" y="380453"/>
                </a:lnTo>
                <a:close/>
              </a:path>
              <a:path w="1602104" h="396239">
                <a:moveTo>
                  <a:pt x="19824" y="293662"/>
                </a:moveTo>
                <a:lnTo>
                  <a:pt x="15328" y="282816"/>
                </a:lnTo>
                <a:lnTo>
                  <a:pt x="30670" y="282816"/>
                </a:lnTo>
                <a:lnTo>
                  <a:pt x="19824" y="293662"/>
                </a:lnTo>
                <a:close/>
              </a:path>
              <a:path w="1602104" h="396239">
                <a:moveTo>
                  <a:pt x="1403756" y="293662"/>
                </a:moveTo>
                <a:lnTo>
                  <a:pt x="19824" y="293662"/>
                </a:lnTo>
                <a:lnTo>
                  <a:pt x="30670" y="282816"/>
                </a:lnTo>
                <a:lnTo>
                  <a:pt x="1416456" y="282816"/>
                </a:lnTo>
                <a:lnTo>
                  <a:pt x="1416456" y="289166"/>
                </a:lnTo>
                <a:lnTo>
                  <a:pt x="1403756" y="289166"/>
                </a:lnTo>
                <a:lnTo>
                  <a:pt x="1403756" y="293662"/>
                </a:lnTo>
                <a:close/>
              </a:path>
              <a:path w="1602104" h="396239">
                <a:moveTo>
                  <a:pt x="1403756" y="395782"/>
                </a:moveTo>
                <a:lnTo>
                  <a:pt x="1403756" y="289166"/>
                </a:lnTo>
                <a:lnTo>
                  <a:pt x="1410106" y="295516"/>
                </a:lnTo>
                <a:lnTo>
                  <a:pt x="1416456" y="295516"/>
                </a:lnTo>
                <a:lnTo>
                  <a:pt x="1416456" y="365112"/>
                </a:lnTo>
                <a:lnTo>
                  <a:pt x="1405610" y="375958"/>
                </a:lnTo>
                <a:lnTo>
                  <a:pt x="1416456" y="380453"/>
                </a:lnTo>
                <a:lnTo>
                  <a:pt x="1419085" y="380453"/>
                </a:lnTo>
                <a:lnTo>
                  <a:pt x="1403756" y="395782"/>
                </a:lnTo>
                <a:close/>
              </a:path>
              <a:path w="1602104" h="396239">
                <a:moveTo>
                  <a:pt x="1416456" y="295516"/>
                </a:moveTo>
                <a:lnTo>
                  <a:pt x="1410106" y="295516"/>
                </a:lnTo>
                <a:lnTo>
                  <a:pt x="1403756" y="289166"/>
                </a:lnTo>
                <a:lnTo>
                  <a:pt x="1416456" y="289166"/>
                </a:lnTo>
                <a:lnTo>
                  <a:pt x="1416456" y="295516"/>
                </a:lnTo>
                <a:close/>
              </a:path>
              <a:path w="1602104" h="396239">
                <a:moveTo>
                  <a:pt x="1416456" y="380453"/>
                </a:moveTo>
                <a:lnTo>
                  <a:pt x="1405610" y="375958"/>
                </a:lnTo>
                <a:lnTo>
                  <a:pt x="1416456" y="365112"/>
                </a:lnTo>
                <a:lnTo>
                  <a:pt x="1416456" y="38045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26637" y="2211222"/>
            <a:ext cx="1132834" cy="11085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7991" y="1760220"/>
            <a:ext cx="2394204" cy="2008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46336" y="2134552"/>
            <a:ext cx="1462397" cy="1193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72411" y="1737360"/>
            <a:ext cx="2005584" cy="20253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30122" y="2154707"/>
            <a:ext cx="1132834" cy="11085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25567" y="3372611"/>
            <a:ext cx="1557655" cy="403860"/>
          </a:xfrm>
          <a:custGeom>
            <a:avLst/>
            <a:gdLst/>
            <a:ahLst/>
            <a:cxnLst/>
            <a:rect l="l" t="t" r="r" b="b"/>
            <a:pathLst>
              <a:path w="1557654" h="403860">
                <a:moveTo>
                  <a:pt x="0" y="0"/>
                </a:moveTo>
                <a:lnTo>
                  <a:pt x="1557527" y="0"/>
                </a:lnTo>
                <a:lnTo>
                  <a:pt x="1557527" y="403860"/>
                </a:lnTo>
                <a:lnTo>
                  <a:pt x="0" y="40386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25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3090" y="1089025"/>
            <a:ext cx="78549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问题：</a:t>
            </a:r>
            <a:r>
              <a:rPr dirty="0" sz="2400" spc="-5" i="1">
                <a:latin typeface="华文楷体"/>
                <a:cs typeface="华文楷体"/>
              </a:rPr>
              <a:t>3.</a:t>
            </a:r>
            <a:r>
              <a:rPr dirty="0" sz="2400" i="1">
                <a:latin typeface="华文楷体"/>
                <a:cs typeface="华文楷体"/>
              </a:rPr>
              <a:t>两组实验，石蜡熔化形状不同，思考说明了什么？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711" y="3372611"/>
            <a:ext cx="5477510" cy="1021715"/>
          </a:xfrm>
          <a:prstGeom prst="rect">
            <a:avLst/>
          </a:prstGeom>
          <a:solidFill>
            <a:srgbClr val="FF0000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254"/>
              </a:spcBef>
              <a:tabLst>
                <a:tab pos="3181985" algn="l"/>
              </a:tabLst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非晶体玻璃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	</a:t>
            </a: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晶体云母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Times New Roman"/>
              <a:cs typeface="Times New Roman"/>
            </a:endParaRPr>
          </a:p>
          <a:p>
            <a:pPr marL="891540">
              <a:lnSpc>
                <a:spcPct val="100000"/>
              </a:lnSpc>
              <a:spcBef>
                <a:spcPts val="5"/>
              </a:spcBef>
            </a:pPr>
            <a:r>
              <a:rPr dirty="0" sz="2000" i="1">
                <a:latin typeface="华文楷体"/>
                <a:cs typeface="华文楷体"/>
              </a:rPr>
              <a:t>非晶体玻璃在各个方向上的导热性能相</a:t>
            </a:r>
            <a:r>
              <a:rPr dirty="0" sz="2000" spc="5" i="1">
                <a:latin typeface="华文楷体"/>
                <a:cs typeface="华文楷体"/>
              </a:rPr>
              <a:t>同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6060" y="5159375"/>
            <a:ext cx="434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云母晶体在不同方向上的导热性能不</a:t>
            </a:r>
            <a:r>
              <a:rPr dirty="0" sz="2000" spc="5" i="1">
                <a:latin typeface="华文楷体"/>
                <a:cs typeface="华文楷体"/>
              </a:rPr>
              <a:t>同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97387" y="2644228"/>
            <a:ext cx="1995170" cy="142875"/>
          </a:xfrm>
          <a:custGeom>
            <a:avLst/>
            <a:gdLst/>
            <a:ahLst/>
            <a:cxnLst/>
            <a:rect l="l" t="t" r="r" b="b"/>
            <a:pathLst>
              <a:path w="1995170" h="142875">
                <a:moveTo>
                  <a:pt x="1947088" y="95313"/>
                </a:moveTo>
                <a:lnTo>
                  <a:pt x="1887372" y="95313"/>
                </a:lnTo>
                <a:lnTo>
                  <a:pt x="1887448" y="47688"/>
                </a:lnTo>
                <a:lnTo>
                  <a:pt x="1851736" y="47631"/>
                </a:lnTo>
                <a:lnTo>
                  <a:pt x="1851812" y="0"/>
                </a:lnTo>
                <a:lnTo>
                  <a:pt x="1994573" y="71666"/>
                </a:lnTo>
                <a:lnTo>
                  <a:pt x="1947088" y="95313"/>
                </a:lnTo>
                <a:close/>
              </a:path>
              <a:path w="1995170" h="142875">
                <a:moveTo>
                  <a:pt x="1851659" y="95256"/>
                </a:moveTo>
                <a:lnTo>
                  <a:pt x="0" y="92303"/>
                </a:lnTo>
                <a:lnTo>
                  <a:pt x="76" y="44678"/>
                </a:lnTo>
                <a:lnTo>
                  <a:pt x="1851736" y="47631"/>
                </a:lnTo>
                <a:lnTo>
                  <a:pt x="1851659" y="95256"/>
                </a:lnTo>
                <a:close/>
              </a:path>
              <a:path w="1995170" h="142875">
                <a:moveTo>
                  <a:pt x="1887372" y="95313"/>
                </a:moveTo>
                <a:lnTo>
                  <a:pt x="1851659" y="95256"/>
                </a:lnTo>
                <a:lnTo>
                  <a:pt x="1851736" y="47631"/>
                </a:lnTo>
                <a:lnTo>
                  <a:pt x="1887448" y="47688"/>
                </a:lnTo>
                <a:lnTo>
                  <a:pt x="1887372" y="95313"/>
                </a:lnTo>
                <a:close/>
              </a:path>
              <a:path w="1995170" h="142875">
                <a:moveTo>
                  <a:pt x="1851583" y="142875"/>
                </a:moveTo>
                <a:lnTo>
                  <a:pt x="1851659" y="95256"/>
                </a:lnTo>
                <a:lnTo>
                  <a:pt x="1947088" y="95313"/>
                </a:lnTo>
                <a:lnTo>
                  <a:pt x="1851583" y="142875"/>
                </a:lnTo>
                <a:close/>
              </a:path>
            </a:pathLst>
          </a:custGeom>
          <a:solidFill>
            <a:srgbClr val="FF000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28449" y="1925320"/>
            <a:ext cx="123825" cy="1503045"/>
          </a:xfrm>
          <a:custGeom>
            <a:avLst/>
            <a:gdLst/>
            <a:ahLst/>
            <a:cxnLst/>
            <a:rect l="l" t="t" r="r" b="b"/>
            <a:pathLst>
              <a:path w="123825" h="1503045">
                <a:moveTo>
                  <a:pt x="41274" y="123516"/>
                </a:moveTo>
                <a:lnTo>
                  <a:pt x="0" y="122923"/>
                </a:lnTo>
                <a:lnTo>
                  <a:pt x="63690" y="0"/>
                </a:lnTo>
                <a:lnTo>
                  <a:pt x="108314" y="92557"/>
                </a:lnTo>
                <a:lnTo>
                  <a:pt x="41719" y="92557"/>
                </a:lnTo>
                <a:lnTo>
                  <a:pt x="41274" y="123516"/>
                </a:lnTo>
                <a:close/>
              </a:path>
              <a:path w="123825" h="1503045">
                <a:moveTo>
                  <a:pt x="82549" y="124108"/>
                </a:moveTo>
                <a:lnTo>
                  <a:pt x="41274" y="123516"/>
                </a:lnTo>
                <a:lnTo>
                  <a:pt x="41719" y="92557"/>
                </a:lnTo>
                <a:lnTo>
                  <a:pt x="82994" y="93154"/>
                </a:lnTo>
                <a:lnTo>
                  <a:pt x="82549" y="124108"/>
                </a:lnTo>
                <a:close/>
              </a:path>
              <a:path w="123825" h="1503045">
                <a:moveTo>
                  <a:pt x="123812" y="124701"/>
                </a:moveTo>
                <a:lnTo>
                  <a:pt x="82549" y="124108"/>
                </a:lnTo>
                <a:lnTo>
                  <a:pt x="82994" y="93154"/>
                </a:lnTo>
                <a:lnTo>
                  <a:pt x="41719" y="92557"/>
                </a:lnTo>
                <a:lnTo>
                  <a:pt x="108314" y="92557"/>
                </a:lnTo>
                <a:lnTo>
                  <a:pt x="123812" y="124701"/>
                </a:lnTo>
                <a:close/>
              </a:path>
              <a:path w="123825" h="1503045">
                <a:moveTo>
                  <a:pt x="62737" y="1502702"/>
                </a:moveTo>
                <a:lnTo>
                  <a:pt x="21462" y="1502117"/>
                </a:lnTo>
                <a:lnTo>
                  <a:pt x="41274" y="123516"/>
                </a:lnTo>
                <a:lnTo>
                  <a:pt x="82549" y="124108"/>
                </a:lnTo>
                <a:lnTo>
                  <a:pt x="62737" y="1502702"/>
                </a:lnTo>
                <a:close/>
              </a:path>
            </a:pathLst>
          </a:custGeom>
          <a:solidFill>
            <a:srgbClr val="00AF5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87184" y="272669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53429" y="1659254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AF50"/>
                </a:solidFill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32868" y="2183650"/>
            <a:ext cx="102870" cy="1083945"/>
          </a:xfrm>
          <a:custGeom>
            <a:avLst/>
            <a:gdLst/>
            <a:ahLst/>
            <a:cxnLst/>
            <a:rect l="l" t="t" r="r" b="b"/>
            <a:pathLst>
              <a:path w="102870" h="1083945">
                <a:moveTo>
                  <a:pt x="51572" y="75818"/>
                </a:moveTo>
                <a:lnTo>
                  <a:pt x="26187" y="75107"/>
                </a:lnTo>
                <a:lnTo>
                  <a:pt x="66408" y="0"/>
                </a:lnTo>
                <a:lnTo>
                  <a:pt x="92829" y="56781"/>
                </a:lnTo>
                <a:lnTo>
                  <a:pt x="52108" y="56781"/>
                </a:lnTo>
                <a:lnTo>
                  <a:pt x="51572" y="75818"/>
                </a:lnTo>
                <a:close/>
              </a:path>
              <a:path w="102870" h="1083945">
                <a:moveTo>
                  <a:pt x="76960" y="76530"/>
                </a:moveTo>
                <a:lnTo>
                  <a:pt x="51572" y="75818"/>
                </a:lnTo>
                <a:lnTo>
                  <a:pt x="52108" y="56781"/>
                </a:lnTo>
                <a:lnTo>
                  <a:pt x="77495" y="57492"/>
                </a:lnTo>
                <a:lnTo>
                  <a:pt x="76960" y="76530"/>
                </a:lnTo>
                <a:close/>
              </a:path>
              <a:path w="102870" h="1083945">
                <a:moveTo>
                  <a:pt x="102349" y="77241"/>
                </a:moveTo>
                <a:lnTo>
                  <a:pt x="76960" y="76530"/>
                </a:lnTo>
                <a:lnTo>
                  <a:pt x="77495" y="57492"/>
                </a:lnTo>
                <a:lnTo>
                  <a:pt x="52108" y="56781"/>
                </a:lnTo>
                <a:lnTo>
                  <a:pt x="92829" y="56781"/>
                </a:lnTo>
                <a:lnTo>
                  <a:pt x="102349" y="77241"/>
                </a:lnTo>
                <a:close/>
              </a:path>
              <a:path w="102870" h="1083945">
                <a:moveTo>
                  <a:pt x="50776" y="1007948"/>
                </a:moveTo>
                <a:lnTo>
                  <a:pt x="25389" y="1007236"/>
                </a:lnTo>
                <a:lnTo>
                  <a:pt x="51572" y="75818"/>
                </a:lnTo>
                <a:lnTo>
                  <a:pt x="76960" y="76530"/>
                </a:lnTo>
                <a:lnTo>
                  <a:pt x="50776" y="1007948"/>
                </a:lnTo>
                <a:close/>
              </a:path>
              <a:path w="102870" h="1083945">
                <a:moveTo>
                  <a:pt x="35940" y="1083767"/>
                </a:moveTo>
                <a:lnTo>
                  <a:pt x="0" y="1006525"/>
                </a:lnTo>
                <a:lnTo>
                  <a:pt x="25389" y="1007236"/>
                </a:lnTo>
                <a:lnTo>
                  <a:pt x="24853" y="1026274"/>
                </a:lnTo>
                <a:lnTo>
                  <a:pt x="50241" y="1026998"/>
                </a:lnTo>
                <a:lnTo>
                  <a:pt x="66350" y="1026998"/>
                </a:lnTo>
                <a:lnTo>
                  <a:pt x="35940" y="1083767"/>
                </a:lnTo>
                <a:close/>
              </a:path>
              <a:path w="102870" h="1083945">
                <a:moveTo>
                  <a:pt x="50241" y="1026998"/>
                </a:moveTo>
                <a:lnTo>
                  <a:pt x="24853" y="1026274"/>
                </a:lnTo>
                <a:lnTo>
                  <a:pt x="25389" y="1007236"/>
                </a:lnTo>
                <a:lnTo>
                  <a:pt x="50776" y="1007948"/>
                </a:lnTo>
                <a:lnTo>
                  <a:pt x="50241" y="1026998"/>
                </a:lnTo>
                <a:close/>
              </a:path>
              <a:path w="102870" h="1083945">
                <a:moveTo>
                  <a:pt x="66350" y="1026998"/>
                </a:moveTo>
                <a:lnTo>
                  <a:pt x="50241" y="1026998"/>
                </a:lnTo>
                <a:lnTo>
                  <a:pt x="50776" y="1007948"/>
                </a:lnTo>
                <a:lnTo>
                  <a:pt x="76174" y="1008659"/>
                </a:lnTo>
                <a:lnTo>
                  <a:pt x="66350" y="1026998"/>
                </a:lnTo>
                <a:close/>
              </a:path>
            </a:pathLst>
          </a:custGeom>
          <a:solidFill>
            <a:srgbClr val="00AF5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91429" y="2317788"/>
            <a:ext cx="958850" cy="775970"/>
          </a:xfrm>
          <a:custGeom>
            <a:avLst/>
            <a:gdLst/>
            <a:ahLst/>
            <a:cxnLst/>
            <a:rect l="l" t="t" r="r" b="b"/>
            <a:pathLst>
              <a:path w="958850" h="775969">
                <a:moveTo>
                  <a:pt x="35255" y="77558"/>
                </a:moveTo>
                <a:lnTo>
                  <a:pt x="0" y="0"/>
                </a:lnTo>
                <a:lnTo>
                  <a:pt x="83197" y="18326"/>
                </a:lnTo>
                <a:lnTo>
                  <a:pt x="76917" y="26085"/>
                </a:lnTo>
                <a:lnTo>
                  <a:pt x="52412" y="26085"/>
                </a:lnTo>
                <a:lnTo>
                  <a:pt x="36436" y="45821"/>
                </a:lnTo>
                <a:lnTo>
                  <a:pt x="51243" y="57805"/>
                </a:lnTo>
                <a:lnTo>
                  <a:pt x="35255" y="77558"/>
                </a:lnTo>
                <a:close/>
              </a:path>
              <a:path w="958850" h="775969">
                <a:moveTo>
                  <a:pt x="51243" y="57805"/>
                </a:moveTo>
                <a:lnTo>
                  <a:pt x="36436" y="45821"/>
                </a:lnTo>
                <a:lnTo>
                  <a:pt x="52412" y="26085"/>
                </a:lnTo>
                <a:lnTo>
                  <a:pt x="67218" y="38068"/>
                </a:lnTo>
                <a:lnTo>
                  <a:pt x="51243" y="57805"/>
                </a:lnTo>
                <a:close/>
              </a:path>
              <a:path w="958850" h="775969">
                <a:moveTo>
                  <a:pt x="67218" y="38068"/>
                </a:moveTo>
                <a:lnTo>
                  <a:pt x="52412" y="26085"/>
                </a:lnTo>
                <a:lnTo>
                  <a:pt x="76917" y="26085"/>
                </a:lnTo>
                <a:lnTo>
                  <a:pt x="67218" y="38068"/>
                </a:lnTo>
                <a:close/>
              </a:path>
              <a:path w="958850" h="775969">
                <a:moveTo>
                  <a:pt x="891273" y="737645"/>
                </a:moveTo>
                <a:lnTo>
                  <a:pt x="51243" y="57805"/>
                </a:lnTo>
                <a:lnTo>
                  <a:pt x="67218" y="38068"/>
                </a:lnTo>
                <a:lnTo>
                  <a:pt x="907251" y="717899"/>
                </a:lnTo>
                <a:lnTo>
                  <a:pt x="891273" y="737645"/>
                </a:lnTo>
                <a:close/>
              </a:path>
              <a:path w="958850" h="775969">
                <a:moveTo>
                  <a:pt x="946636" y="749630"/>
                </a:moveTo>
                <a:lnTo>
                  <a:pt x="906081" y="749630"/>
                </a:lnTo>
                <a:lnTo>
                  <a:pt x="922058" y="729881"/>
                </a:lnTo>
                <a:lnTo>
                  <a:pt x="907251" y="717899"/>
                </a:lnTo>
                <a:lnTo>
                  <a:pt x="923226" y="698157"/>
                </a:lnTo>
                <a:lnTo>
                  <a:pt x="946636" y="749630"/>
                </a:lnTo>
                <a:close/>
              </a:path>
              <a:path w="958850" h="775969">
                <a:moveTo>
                  <a:pt x="906081" y="749630"/>
                </a:moveTo>
                <a:lnTo>
                  <a:pt x="891273" y="737645"/>
                </a:lnTo>
                <a:lnTo>
                  <a:pt x="907251" y="717899"/>
                </a:lnTo>
                <a:lnTo>
                  <a:pt x="922058" y="729881"/>
                </a:lnTo>
                <a:lnTo>
                  <a:pt x="906081" y="749630"/>
                </a:lnTo>
                <a:close/>
              </a:path>
              <a:path w="958850" h="775969">
                <a:moveTo>
                  <a:pt x="958494" y="775703"/>
                </a:moveTo>
                <a:lnTo>
                  <a:pt x="875296" y="757389"/>
                </a:lnTo>
                <a:lnTo>
                  <a:pt x="891273" y="737645"/>
                </a:lnTo>
                <a:lnTo>
                  <a:pt x="906081" y="749630"/>
                </a:lnTo>
                <a:lnTo>
                  <a:pt x="946636" y="749630"/>
                </a:lnTo>
                <a:lnTo>
                  <a:pt x="958494" y="775703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8805" y="2334285"/>
            <a:ext cx="984250" cy="742315"/>
          </a:xfrm>
          <a:custGeom>
            <a:avLst/>
            <a:gdLst/>
            <a:ahLst/>
            <a:cxnLst/>
            <a:rect l="l" t="t" r="r" b="b"/>
            <a:pathLst>
              <a:path w="984250" h="742314">
                <a:moveTo>
                  <a:pt x="915561" y="35721"/>
                </a:moveTo>
                <a:lnTo>
                  <a:pt x="900277" y="15443"/>
                </a:lnTo>
                <a:lnTo>
                  <a:pt x="984059" y="0"/>
                </a:lnTo>
                <a:lnTo>
                  <a:pt x="972001" y="24256"/>
                </a:lnTo>
                <a:lnTo>
                  <a:pt x="930770" y="24256"/>
                </a:lnTo>
                <a:lnTo>
                  <a:pt x="915561" y="35721"/>
                </a:lnTo>
                <a:close/>
              </a:path>
              <a:path w="984250" h="742314">
                <a:moveTo>
                  <a:pt x="930849" y="56005"/>
                </a:moveTo>
                <a:lnTo>
                  <a:pt x="915561" y="35721"/>
                </a:lnTo>
                <a:lnTo>
                  <a:pt x="930770" y="24256"/>
                </a:lnTo>
                <a:lnTo>
                  <a:pt x="946061" y="44538"/>
                </a:lnTo>
                <a:lnTo>
                  <a:pt x="930849" y="56005"/>
                </a:lnTo>
                <a:close/>
              </a:path>
              <a:path w="984250" h="742314">
                <a:moveTo>
                  <a:pt x="946137" y="76288"/>
                </a:moveTo>
                <a:lnTo>
                  <a:pt x="930849" y="56005"/>
                </a:lnTo>
                <a:lnTo>
                  <a:pt x="946061" y="44538"/>
                </a:lnTo>
                <a:lnTo>
                  <a:pt x="930770" y="24256"/>
                </a:lnTo>
                <a:lnTo>
                  <a:pt x="972001" y="24256"/>
                </a:lnTo>
                <a:lnTo>
                  <a:pt x="946137" y="76288"/>
                </a:lnTo>
                <a:close/>
              </a:path>
              <a:path w="984250" h="742314">
                <a:moveTo>
                  <a:pt x="68491" y="706018"/>
                </a:moveTo>
                <a:lnTo>
                  <a:pt x="53200" y="685736"/>
                </a:lnTo>
                <a:lnTo>
                  <a:pt x="915561" y="35721"/>
                </a:lnTo>
                <a:lnTo>
                  <a:pt x="930849" y="56005"/>
                </a:lnTo>
                <a:lnTo>
                  <a:pt x="68491" y="706018"/>
                </a:lnTo>
                <a:close/>
              </a:path>
              <a:path w="984250" h="742314">
                <a:moveTo>
                  <a:pt x="0" y="741743"/>
                </a:moveTo>
                <a:lnTo>
                  <a:pt x="37909" y="665454"/>
                </a:lnTo>
                <a:lnTo>
                  <a:pt x="53200" y="685736"/>
                </a:lnTo>
                <a:lnTo>
                  <a:pt x="37985" y="697204"/>
                </a:lnTo>
                <a:lnTo>
                  <a:pt x="53276" y="717486"/>
                </a:lnTo>
                <a:lnTo>
                  <a:pt x="77137" y="717486"/>
                </a:lnTo>
                <a:lnTo>
                  <a:pt x="83781" y="726300"/>
                </a:lnTo>
                <a:lnTo>
                  <a:pt x="0" y="741743"/>
                </a:lnTo>
                <a:close/>
              </a:path>
              <a:path w="984250" h="742314">
                <a:moveTo>
                  <a:pt x="53276" y="717486"/>
                </a:moveTo>
                <a:lnTo>
                  <a:pt x="37985" y="697204"/>
                </a:lnTo>
                <a:lnTo>
                  <a:pt x="53200" y="685736"/>
                </a:lnTo>
                <a:lnTo>
                  <a:pt x="68491" y="706018"/>
                </a:lnTo>
                <a:lnTo>
                  <a:pt x="53276" y="717486"/>
                </a:lnTo>
                <a:close/>
              </a:path>
              <a:path w="984250" h="742314">
                <a:moveTo>
                  <a:pt x="77137" y="717486"/>
                </a:moveTo>
                <a:lnTo>
                  <a:pt x="53276" y="717486"/>
                </a:lnTo>
                <a:lnTo>
                  <a:pt x="68491" y="706018"/>
                </a:lnTo>
                <a:lnTo>
                  <a:pt x="77137" y="717486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83695" y="2656357"/>
            <a:ext cx="1374775" cy="97790"/>
          </a:xfrm>
          <a:custGeom>
            <a:avLst/>
            <a:gdLst/>
            <a:ahLst/>
            <a:cxnLst/>
            <a:rect l="l" t="t" r="r" b="b"/>
            <a:pathLst>
              <a:path w="1374775" h="97789">
                <a:moveTo>
                  <a:pt x="75526" y="76187"/>
                </a:moveTo>
                <a:lnTo>
                  <a:pt x="0" y="36766"/>
                </a:lnTo>
                <a:lnTo>
                  <a:pt x="76860" y="0"/>
                </a:lnTo>
                <a:lnTo>
                  <a:pt x="76421" y="25069"/>
                </a:lnTo>
                <a:lnTo>
                  <a:pt x="57365" y="25069"/>
                </a:lnTo>
                <a:lnTo>
                  <a:pt x="56921" y="50457"/>
                </a:lnTo>
                <a:lnTo>
                  <a:pt x="75971" y="50790"/>
                </a:lnTo>
                <a:lnTo>
                  <a:pt x="75526" y="76187"/>
                </a:lnTo>
                <a:close/>
              </a:path>
              <a:path w="1374775" h="97789">
                <a:moveTo>
                  <a:pt x="1349819" y="72529"/>
                </a:moveTo>
                <a:lnTo>
                  <a:pt x="1316913" y="72529"/>
                </a:lnTo>
                <a:lnTo>
                  <a:pt x="1317358" y="47142"/>
                </a:lnTo>
                <a:lnTo>
                  <a:pt x="1298308" y="46808"/>
                </a:lnTo>
                <a:lnTo>
                  <a:pt x="1298752" y="21412"/>
                </a:lnTo>
                <a:lnTo>
                  <a:pt x="1374267" y="60832"/>
                </a:lnTo>
                <a:lnTo>
                  <a:pt x="1349819" y="72529"/>
                </a:lnTo>
                <a:close/>
              </a:path>
              <a:path w="1374775" h="97789">
                <a:moveTo>
                  <a:pt x="75971" y="50790"/>
                </a:moveTo>
                <a:lnTo>
                  <a:pt x="56921" y="50457"/>
                </a:lnTo>
                <a:lnTo>
                  <a:pt x="57365" y="25069"/>
                </a:lnTo>
                <a:lnTo>
                  <a:pt x="76415" y="25403"/>
                </a:lnTo>
                <a:lnTo>
                  <a:pt x="75971" y="50790"/>
                </a:lnTo>
                <a:close/>
              </a:path>
              <a:path w="1374775" h="97789">
                <a:moveTo>
                  <a:pt x="76415" y="25403"/>
                </a:moveTo>
                <a:lnTo>
                  <a:pt x="57365" y="25069"/>
                </a:lnTo>
                <a:lnTo>
                  <a:pt x="76421" y="25069"/>
                </a:lnTo>
                <a:lnTo>
                  <a:pt x="76415" y="25403"/>
                </a:lnTo>
                <a:close/>
              </a:path>
              <a:path w="1374775" h="97789">
                <a:moveTo>
                  <a:pt x="1297863" y="72195"/>
                </a:moveTo>
                <a:lnTo>
                  <a:pt x="75971" y="50790"/>
                </a:lnTo>
                <a:lnTo>
                  <a:pt x="76415" y="25403"/>
                </a:lnTo>
                <a:lnTo>
                  <a:pt x="1298308" y="46808"/>
                </a:lnTo>
                <a:lnTo>
                  <a:pt x="1297863" y="72195"/>
                </a:lnTo>
                <a:close/>
              </a:path>
              <a:path w="1374775" h="97789">
                <a:moveTo>
                  <a:pt x="1316913" y="72529"/>
                </a:moveTo>
                <a:lnTo>
                  <a:pt x="1297863" y="72195"/>
                </a:lnTo>
                <a:lnTo>
                  <a:pt x="1298308" y="46808"/>
                </a:lnTo>
                <a:lnTo>
                  <a:pt x="1317358" y="47142"/>
                </a:lnTo>
                <a:lnTo>
                  <a:pt x="1316913" y="72529"/>
                </a:lnTo>
                <a:close/>
              </a:path>
              <a:path w="1374775" h="97789">
                <a:moveTo>
                  <a:pt x="1297419" y="97599"/>
                </a:moveTo>
                <a:lnTo>
                  <a:pt x="1297863" y="72195"/>
                </a:lnTo>
                <a:lnTo>
                  <a:pt x="1316913" y="72529"/>
                </a:lnTo>
                <a:lnTo>
                  <a:pt x="1349819" y="72529"/>
                </a:lnTo>
                <a:lnTo>
                  <a:pt x="1297419" y="97599"/>
                </a:lnTo>
                <a:close/>
              </a:path>
            </a:pathLst>
          </a:custGeom>
          <a:solidFill>
            <a:srgbClr val="FF000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18241" y="2651434"/>
            <a:ext cx="117630" cy="1173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38627" y="2663228"/>
            <a:ext cx="108038" cy="1085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8567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8567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6" y="0"/>
                </a:lnTo>
                <a:lnTo>
                  <a:pt x="364236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40512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100965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" y="4063365"/>
            <a:ext cx="7068184" cy="1427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396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非晶体玻璃在各个方向上的导热性能相</a:t>
            </a:r>
            <a:r>
              <a:rPr dirty="0" sz="2000" spc="5" i="1">
                <a:latin typeface="华文楷体"/>
                <a:cs typeface="华文楷体"/>
              </a:rPr>
              <a:t>同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各向同性（</a:t>
            </a:r>
            <a:r>
              <a:rPr dirty="0" sz="2000" spc="-5" b="1">
                <a:solidFill>
                  <a:srgbClr val="5B9BD4"/>
                </a:solidFill>
                <a:latin typeface="Times New Roman"/>
                <a:cs typeface="Times New Roman"/>
              </a:rPr>
              <a:t>isot</a:t>
            </a:r>
            <a:r>
              <a:rPr dirty="0" sz="2000" spc="-40" b="1">
                <a:solidFill>
                  <a:srgbClr val="5B9BD4"/>
                </a:solidFill>
                <a:latin typeface="Times New Roman"/>
                <a:cs typeface="Times New Roman"/>
              </a:rPr>
              <a:t>r</a:t>
            </a:r>
            <a:r>
              <a:rPr dirty="0" sz="2000" spc="-5" b="1">
                <a:solidFill>
                  <a:srgbClr val="5B9BD4"/>
                </a:solidFill>
                <a:latin typeface="Times New Roman"/>
                <a:cs typeface="Times New Roman"/>
              </a:rPr>
              <a:t>o</a:t>
            </a:r>
            <a:r>
              <a:rPr dirty="0" sz="2000" spc="-10" b="1">
                <a:solidFill>
                  <a:srgbClr val="5B9BD4"/>
                </a:solidFill>
                <a:latin typeface="Times New Roman"/>
                <a:cs typeface="Times New Roman"/>
              </a:rPr>
              <a:t>p</a:t>
            </a:r>
            <a:r>
              <a:rPr dirty="0" sz="2000" spc="-5" b="1">
                <a:solidFill>
                  <a:srgbClr val="5B9BD4"/>
                </a:solidFill>
                <a:latin typeface="Times New Roman"/>
                <a:cs typeface="Times New Roman"/>
              </a:rPr>
              <a:t>y)</a:t>
            </a:r>
            <a:r>
              <a:rPr dirty="0" sz="1800" i="1">
                <a:latin typeface="华文楷体"/>
                <a:cs typeface="华文楷体"/>
              </a:rPr>
              <a:t>：</a:t>
            </a:r>
            <a:r>
              <a:rPr dirty="0" sz="2000" i="1">
                <a:latin typeface="华文楷体"/>
                <a:cs typeface="华文楷体"/>
              </a:rPr>
              <a:t>非晶体沿各个方向的物理性质都是一样</a:t>
            </a:r>
            <a:r>
              <a:rPr dirty="0" sz="2000" spc="5" i="1">
                <a:latin typeface="华文楷体"/>
                <a:cs typeface="华文楷体"/>
              </a:rPr>
              <a:t>的</a:t>
            </a:r>
            <a:endParaRPr sz="2000">
              <a:latin typeface="华文楷体"/>
              <a:cs typeface="华文楷体"/>
            </a:endParaRPr>
          </a:p>
          <a:p>
            <a:pPr marL="2473960">
              <a:lnSpc>
                <a:spcPct val="100000"/>
              </a:lnSpc>
              <a:spcBef>
                <a:spcPts val="1885"/>
              </a:spcBef>
            </a:pPr>
            <a:r>
              <a:rPr dirty="0" sz="2000" i="1">
                <a:latin typeface="华文楷体"/>
                <a:cs typeface="华文楷体"/>
              </a:rPr>
              <a:t>云母晶体在不同方向上的导热性能不</a:t>
            </a:r>
            <a:r>
              <a:rPr dirty="0" sz="2000" spc="5" i="1">
                <a:latin typeface="华文楷体"/>
                <a:cs typeface="华文楷体"/>
              </a:rPr>
              <a:t>同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7991" y="1760220"/>
            <a:ext cx="2394204" cy="2008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46336" y="2134552"/>
            <a:ext cx="1462397" cy="1193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72411" y="1737360"/>
            <a:ext cx="2005584" cy="20253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30122" y="2154707"/>
            <a:ext cx="1132834" cy="11085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86711" y="3372611"/>
            <a:ext cx="1777364" cy="403860"/>
          </a:xfrm>
          <a:prstGeom prst="rect">
            <a:avLst/>
          </a:prstGeom>
          <a:solidFill>
            <a:srgbClr val="FF0000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非晶体玻璃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567" y="3372611"/>
            <a:ext cx="1557655" cy="403860"/>
          </a:xfrm>
          <a:prstGeom prst="rect">
            <a:avLst/>
          </a:prstGeom>
          <a:solidFill>
            <a:srgbClr val="FFFF00">
              <a:alpha val="2589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晶体云母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2868" y="2183650"/>
            <a:ext cx="102870" cy="1083945"/>
          </a:xfrm>
          <a:custGeom>
            <a:avLst/>
            <a:gdLst/>
            <a:ahLst/>
            <a:cxnLst/>
            <a:rect l="l" t="t" r="r" b="b"/>
            <a:pathLst>
              <a:path w="102870" h="1083945">
                <a:moveTo>
                  <a:pt x="51572" y="75818"/>
                </a:moveTo>
                <a:lnTo>
                  <a:pt x="26187" y="75107"/>
                </a:lnTo>
                <a:lnTo>
                  <a:pt x="66408" y="0"/>
                </a:lnTo>
                <a:lnTo>
                  <a:pt x="92829" y="56781"/>
                </a:lnTo>
                <a:lnTo>
                  <a:pt x="52108" y="56781"/>
                </a:lnTo>
                <a:lnTo>
                  <a:pt x="51572" y="75818"/>
                </a:lnTo>
                <a:close/>
              </a:path>
              <a:path w="102870" h="1083945">
                <a:moveTo>
                  <a:pt x="76960" y="76530"/>
                </a:moveTo>
                <a:lnTo>
                  <a:pt x="51572" y="75818"/>
                </a:lnTo>
                <a:lnTo>
                  <a:pt x="52108" y="56781"/>
                </a:lnTo>
                <a:lnTo>
                  <a:pt x="77495" y="57492"/>
                </a:lnTo>
                <a:lnTo>
                  <a:pt x="76960" y="76530"/>
                </a:lnTo>
                <a:close/>
              </a:path>
              <a:path w="102870" h="1083945">
                <a:moveTo>
                  <a:pt x="102349" y="77241"/>
                </a:moveTo>
                <a:lnTo>
                  <a:pt x="76960" y="76530"/>
                </a:lnTo>
                <a:lnTo>
                  <a:pt x="77495" y="57492"/>
                </a:lnTo>
                <a:lnTo>
                  <a:pt x="52108" y="56781"/>
                </a:lnTo>
                <a:lnTo>
                  <a:pt x="92829" y="56781"/>
                </a:lnTo>
                <a:lnTo>
                  <a:pt x="102349" y="77241"/>
                </a:lnTo>
                <a:close/>
              </a:path>
              <a:path w="102870" h="1083945">
                <a:moveTo>
                  <a:pt x="50776" y="1007948"/>
                </a:moveTo>
                <a:lnTo>
                  <a:pt x="25389" y="1007236"/>
                </a:lnTo>
                <a:lnTo>
                  <a:pt x="51572" y="75818"/>
                </a:lnTo>
                <a:lnTo>
                  <a:pt x="76960" y="76530"/>
                </a:lnTo>
                <a:lnTo>
                  <a:pt x="50776" y="1007948"/>
                </a:lnTo>
                <a:close/>
              </a:path>
              <a:path w="102870" h="1083945">
                <a:moveTo>
                  <a:pt x="35940" y="1083767"/>
                </a:moveTo>
                <a:lnTo>
                  <a:pt x="0" y="1006525"/>
                </a:lnTo>
                <a:lnTo>
                  <a:pt x="25389" y="1007236"/>
                </a:lnTo>
                <a:lnTo>
                  <a:pt x="24853" y="1026274"/>
                </a:lnTo>
                <a:lnTo>
                  <a:pt x="50241" y="1026998"/>
                </a:lnTo>
                <a:lnTo>
                  <a:pt x="66350" y="1026998"/>
                </a:lnTo>
                <a:lnTo>
                  <a:pt x="35940" y="1083767"/>
                </a:lnTo>
                <a:close/>
              </a:path>
              <a:path w="102870" h="1083945">
                <a:moveTo>
                  <a:pt x="50241" y="1026998"/>
                </a:moveTo>
                <a:lnTo>
                  <a:pt x="24853" y="1026274"/>
                </a:lnTo>
                <a:lnTo>
                  <a:pt x="25389" y="1007236"/>
                </a:lnTo>
                <a:lnTo>
                  <a:pt x="50776" y="1007948"/>
                </a:lnTo>
                <a:lnTo>
                  <a:pt x="50241" y="1026998"/>
                </a:lnTo>
                <a:close/>
              </a:path>
              <a:path w="102870" h="1083945">
                <a:moveTo>
                  <a:pt x="66350" y="1026998"/>
                </a:moveTo>
                <a:lnTo>
                  <a:pt x="50241" y="1026998"/>
                </a:lnTo>
                <a:lnTo>
                  <a:pt x="50776" y="1007948"/>
                </a:lnTo>
                <a:lnTo>
                  <a:pt x="76174" y="1008659"/>
                </a:lnTo>
                <a:lnTo>
                  <a:pt x="66350" y="1026998"/>
                </a:lnTo>
                <a:close/>
              </a:path>
            </a:pathLst>
          </a:custGeom>
          <a:solidFill>
            <a:srgbClr val="00AF5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91429" y="2317788"/>
            <a:ext cx="958850" cy="775970"/>
          </a:xfrm>
          <a:custGeom>
            <a:avLst/>
            <a:gdLst/>
            <a:ahLst/>
            <a:cxnLst/>
            <a:rect l="l" t="t" r="r" b="b"/>
            <a:pathLst>
              <a:path w="958850" h="775969">
                <a:moveTo>
                  <a:pt x="35255" y="77558"/>
                </a:moveTo>
                <a:lnTo>
                  <a:pt x="0" y="0"/>
                </a:lnTo>
                <a:lnTo>
                  <a:pt x="83197" y="18326"/>
                </a:lnTo>
                <a:lnTo>
                  <a:pt x="76917" y="26085"/>
                </a:lnTo>
                <a:lnTo>
                  <a:pt x="52412" y="26085"/>
                </a:lnTo>
                <a:lnTo>
                  <a:pt x="36436" y="45821"/>
                </a:lnTo>
                <a:lnTo>
                  <a:pt x="51243" y="57805"/>
                </a:lnTo>
                <a:lnTo>
                  <a:pt x="35255" y="77558"/>
                </a:lnTo>
                <a:close/>
              </a:path>
              <a:path w="958850" h="775969">
                <a:moveTo>
                  <a:pt x="51243" y="57805"/>
                </a:moveTo>
                <a:lnTo>
                  <a:pt x="36436" y="45821"/>
                </a:lnTo>
                <a:lnTo>
                  <a:pt x="52412" y="26085"/>
                </a:lnTo>
                <a:lnTo>
                  <a:pt x="67218" y="38068"/>
                </a:lnTo>
                <a:lnTo>
                  <a:pt x="51243" y="57805"/>
                </a:lnTo>
                <a:close/>
              </a:path>
              <a:path w="958850" h="775969">
                <a:moveTo>
                  <a:pt x="67218" y="38068"/>
                </a:moveTo>
                <a:lnTo>
                  <a:pt x="52412" y="26085"/>
                </a:lnTo>
                <a:lnTo>
                  <a:pt x="76917" y="26085"/>
                </a:lnTo>
                <a:lnTo>
                  <a:pt x="67218" y="38068"/>
                </a:lnTo>
                <a:close/>
              </a:path>
              <a:path w="958850" h="775969">
                <a:moveTo>
                  <a:pt x="891273" y="737645"/>
                </a:moveTo>
                <a:lnTo>
                  <a:pt x="51243" y="57805"/>
                </a:lnTo>
                <a:lnTo>
                  <a:pt x="67218" y="38068"/>
                </a:lnTo>
                <a:lnTo>
                  <a:pt x="907251" y="717899"/>
                </a:lnTo>
                <a:lnTo>
                  <a:pt x="891273" y="737645"/>
                </a:lnTo>
                <a:close/>
              </a:path>
              <a:path w="958850" h="775969">
                <a:moveTo>
                  <a:pt x="946636" y="749630"/>
                </a:moveTo>
                <a:lnTo>
                  <a:pt x="906081" y="749630"/>
                </a:lnTo>
                <a:lnTo>
                  <a:pt x="922058" y="729881"/>
                </a:lnTo>
                <a:lnTo>
                  <a:pt x="907251" y="717899"/>
                </a:lnTo>
                <a:lnTo>
                  <a:pt x="923226" y="698157"/>
                </a:lnTo>
                <a:lnTo>
                  <a:pt x="946636" y="749630"/>
                </a:lnTo>
                <a:close/>
              </a:path>
              <a:path w="958850" h="775969">
                <a:moveTo>
                  <a:pt x="906081" y="749630"/>
                </a:moveTo>
                <a:lnTo>
                  <a:pt x="891273" y="737645"/>
                </a:lnTo>
                <a:lnTo>
                  <a:pt x="907251" y="717899"/>
                </a:lnTo>
                <a:lnTo>
                  <a:pt x="922058" y="729881"/>
                </a:lnTo>
                <a:lnTo>
                  <a:pt x="906081" y="749630"/>
                </a:lnTo>
                <a:close/>
              </a:path>
              <a:path w="958850" h="775969">
                <a:moveTo>
                  <a:pt x="958494" y="775703"/>
                </a:moveTo>
                <a:lnTo>
                  <a:pt x="875296" y="757389"/>
                </a:lnTo>
                <a:lnTo>
                  <a:pt x="891273" y="737645"/>
                </a:lnTo>
                <a:lnTo>
                  <a:pt x="906081" y="749630"/>
                </a:lnTo>
                <a:lnTo>
                  <a:pt x="946636" y="749630"/>
                </a:lnTo>
                <a:lnTo>
                  <a:pt x="958494" y="775703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8805" y="2334285"/>
            <a:ext cx="984250" cy="742315"/>
          </a:xfrm>
          <a:custGeom>
            <a:avLst/>
            <a:gdLst/>
            <a:ahLst/>
            <a:cxnLst/>
            <a:rect l="l" t="t" r="r" b="b"/>
            <a:pathLst>
              <a:path w="984250" h="742314">
                <a:moveTo>
                  <a:pt x="915561" y="35721"/>
                </a:moveTo>
                <a:lnTo>
                  <a:pt x="900277" y="15443"/>
                </a:lnTo>
                <a:lnTo>
                  <a:pt x="984059" y="0"/>
                </a:lnTo>
                <a:lnTo>
                  <a:pt x="972001" y="24256"/>
                </a:lnTo>
                <a:lnTo>
                  <a:pt x="930770" y="24256"/>
                </a:lnTo>
                <a:lnTo>
                  <a:pt x="915561" y="35721"/>
                </a:lnTo>
                <a:close/>
              </a:path>
              <a:path w="984250" h="742314">
                <a:moveTo>
                  <a:pt x="930849" y="56005"/>
                </a:moveTo>
                <a:lnTo>
                  <a:pt x="915561" y="35721"/>
                </a:lnTo>
                <a:lnTo>
                  <a:pt x="930770" y="24256"/>
                </a:lnTo>
                <a:lnTo>
                  <a:pt x="946061" y="44538"/>
                </a:lnTo>
                <a:lnTo>
                  <a:pt x="930849" y="56005"/>
                </a:lnTo>
                <a:close/>
              </a:path>
              <a:path w="984250" h="742314">
                <a:moveTo>
                  <a:pt x="946137" y="76288"/>
                </a:moveTo>
                <a:lnTo>
                  <a:pt x="930849" y="56005"/>
                </a:lnTo>
                <a:lnTo>
                  <a:pt x="946061" y="44538"/>
                </a:lnTo>
                <a:lnTo>
                  <a:pt x="930770" y="24256"/>
                </a:lnTo>
                <a:lnTo>
                  <a:pt x="972001" y="24256"/>
                </a:lnTo>
                <a:lnTo>
                  <a:pt x="946137" y="76288"/>
                </a:lnTo>
                <a:close/>
              </a:path>
              <a:path w="984250" h="742314">
                <a:moveTo>
                  <a:pt x="68491" y="706018"/>
                </a:moveTo>
                <a:lnTo>
                  <a:pt x="53200" y="685736"/>
                </a:lnTo>
                <a:lnTo>
                  <a:pt x="915561" y="35721"/>
                </a:lnTo>
                <a:lnTo>
                  <a:pt x="930849" y="56005"/>
                </a:lnTo>
                <a:lnTo>
                  <a:pt x="68491" y="706018"/>
                </a:lnTo>
                <a:close/>
              </a:path>
              <a:path w="984250" h="742314">
                <a:moveTo>
                  <a:pt x="0" y="741743"/>
                </a:moveTo>
                <a:lnTo>
                  <a:pt x="37909" y="665454"/>
                </a:lnTo>
                <a:lnTo>
                  <a:pt x="53200" y="685736"/>
                </a:lnTo>
                <a:lnTo>
                  <a:pt x="37985" y="697204"/>
                </a:lnTo>
                <a:lnTo>
                  <a:pt x="53276" y="717486"/>
                </a:lnTo>
                <a:lnTo>
                  <a:pt x="77137" y="717486"/>
                </a:lnTo>
                <a:lnTo>
                  <a:pt x="83781" y="726300"/>
                </a:lnTo>
                <a:lnTo>
                  <a:pt x="0" y="741743"/>
                </a:lnTo>
                <a:close/>
              </a:path>
              <a:path w="984250" h="742314">
                <a:moveTo>
                  <a:pt x="53276" y="717486"/>
                </a:moveTo>
                <a:lnTo>
                  <a:pt x="37985" y="697204"/>
                </a:lnTo>
                <a:lnTo>
                  <a:pt x="53200" y="685736"/>
                </a:lnTo>
                <a:lnTo>
                  <a:pt x="68491" y="706018"/>
                </a:lnTo>
                <a:lnTo>
                  <a:pt x="53276" y="717486"/>
                </a:lnTo>
                <a:close/>
              </a:path>
              <a:path w="984250" h="742314">
                <a:moveTo>
                  <a:pt x="77137" y="717486"/>
                </a:moveTo>
                <a:lnTo>
                  <a:pt x="53276" y="717486"/>
                </a:lnTo>
                <a:lnTo>
                  <a:pt x="68491" y="706018"/>
                </a:lnTo>
                <a:lnTo>
                  <a:pt x="77137" y="717486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3695" y="2656357"/>
            <a:ext cx="1374775" cy="97790"/>
          </a:xfrm>
          <a:custGeom>
            <a:avLst/>
            <a:gdLst/>
            <a:ahLst/>
            <a:cxnLst/>
            <a:rect l="l" t="t" r="r" b="b"/>
            <a:pathLst>
              <a:path w="1374775" h="97789">
                <a:moveTo>
                  <a:pt x="75526" y="76187"/>
                </a:moveTo>
                <a:lnTo>
                  <a:pt x="0" y="36766"/>
                </a:lnTo>
                <a:lnTo>
                  <a:pt x="76860" y="0"/>
                </a:lnTo>
                <a:lnTo>
                  <a:pt x="76421" y="25069"/>
                </a:lnTo>
                <a:lnTo>
                  <a:pt x="57365" y="25069"/>
                </a:lnTo>
                <a:lnTo>
                  <a:pt x="56921" y="50457"/>
                </a:lnTo>
                <a:lnTo>
                  <a:pt x="75971" y="50790"/>
                </a:lnTo>
                <a:lnTo>
                  <a:pt x="75526" y="76187"/>
                </a:lnTo>
                <a:close/>
              </a:path>
              <a:path w="1374775" h="97789">
                <a:moveTo>
                  <a:pt x="1349819" y="72529"/>
                </a:moveTo>
                <a:lnTo>
                  <a:pt x="1316913" y="72529"/>
                </a:lnTo>
                <a:lnTo>
                  <a:pt x="1317358" y="47142"/>
                </a:lnTo>
                <a:lnTo>
                  <a:pt x="1298308" y="46808"/>
                </a:lnTo>
                <a:lnTo>
                  <a:pt x="1298752" y="21412"/>
                </a:lnTo>
                <a:lnTo>
                  <a:pt x="1374267" y="60832"/>
                </a:lnTo>
                <a:lnTo>
                  <a:pt x="1349819" y="72529"/>
                </a:lnTo>
                <a:close/>
              </a:path>
              <a:path w="1374775" h="97789">
                <a:moveTo>
                  <a:pt x="75971" y="50790"/>
                </a:moveTo>
                <a:lnTo>
                  <a:pt x="56921" y="50457"/>
                </a:lnTo>
                <a:lnTo>
                  <a:pt x="57365" y="25069"/>
                </a:lnTo>
                <a:lnTo>
                  <a:pt x="76415" y="25403"/>
                </a:lnTo>
                <a:lnTo>
                  <a:pt x="75971" y="50790"/>
                </a:lnTo>
                <a:close/>
              </a:path>
              <a:path w="1374775" h="97789">
                <a:moveTo>
                  <a:pt x="76415" y="25403"/>
                </a:moveTo>
                <a:lnTo>
                  <a:pt x="57365" y="25069"/>
                </a:lnTo>
                <a:lnTo>
                  <a:pt x="76421" y="25069"/>
                </a:lnTo>
                <a:lnTo>
                  <a:pt x="76415" y="25403"/>
                </a:lnTo>
                <a:close/>
              </a:path>
              <a:path w="1374775" h="97789">
                <a:moveTo>
                  <a:pt x="1297863" y="72195"/>
                </a:moveTo>
                <a:lnTo>
                  <a:pt x="75971" y="50790"/>
                </a:lnTo>
                <a:lnTo>
                  <a:pt x="76415" y="25403"/>
                </a:lnTo>
                <a:lnTo>
                  <a:pt x="1298308" y="46808"/>
                </a:lnTo>
                <a:lnTo>
                  <a:pt x="1297863" y="72195"/>
                </a:lnTo>
                <a:close/>
              </a:path>
              <a:path w="1374775" h="97789">
                <a:moveTo>
                  <a:pt x="1316913" y="72529"/>
                </a:moveTo>
                <a:lnTo>
                  <a:pt x="1297863" y="72195"/>
                </a:lnTo>
                <a:lnTo>
                  <a:pt x="1298308" y="46808"/>
                </a:lnTo>
                <a:lnTo>
                  <a:pt x="1317358" y="47142"/>
                </a:lnTo>
                <a:lnTo>
                  <a:pt x="1316913" y="72529"/>
                </a:lnTo>
                <a:close/>
              </a:path>
              <a:path w="1374775" h="97789">
                <a:moveTo>
                  <a:pt x="1297419" y="97599"/>
                </a:moveTo>
                <a:lnTo>
                  <a:pt x="1297863" y="72195"/>
                </a:lnTo>
                <a:lnTo>
                  <a:pt x="1316913" y="72529"/>
                </a:lnTo>
                <a:lnTo>
                  <a:pt x="1349819" y="72529"/>
                </a:lnTo>
                <a:lnTo>
                  <a:pt x="1297419" y="97599"/>
                </a:lnTo>
                <a:close/>
              </a:path>
            </a:pathLst>
          </a:custGeom>
          <a:solidFill>
            <a:srgbClr val="FF000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20996" y="2653958"/>
            <a:ext cx="114876" cy="1148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8567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8567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6" y="0"/>
                </a:lnTo>
                <a:lnTo>
                  <a:pt x="364236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40512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100965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" y="4063365"/>
            <a:ext cx="7068184" cy="1427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396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EC7C30"/>
                </a:solidFill>
                <a:latin typeface="华文楷体"/>
                <a:cs typeface="华文楷体"/>
              </a:rPr>
              <a:t>非晶体具有各向同性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各向同性</a:t>
            </a:r>
            <a:r>
              <a:rPr dirty="0" sz="2000" spc="-10" b="1">
                <a:solidFill>
                  <a:srgbClr val="5B9BD4"/>
                </a:solidFill>
                <a:latin typeface="华文楷体"/>
                <a:cs typeface="华文楷体"/>
              </a:rPr>
              <a:t>（</a:t>
            </a:r>
            <a:r>
              <a:rPr dirty="0" sz="2000" spc="-10" b="1">
                <a:solidFill>
                  <a:srgbClr val="5B9BD4"/>
                </a:solidFill>
                <a:latin typeface="Times New Roman"/>
                <a:cs typeface="Times New Roman"/>
              </a:rPr>
              <a:t>isotropy)</a:t>
            </a:r>
            <a:r>
              <a:rPr dirty="0" sz="1800" spc="-10" i="1">
                <a:latin typeface="华文楷体"/>
                <a:cs typeface="华文楷体"/>
              </a:rPr>
              <a:t>：</a:t>
            </a:r>
            <a:r>
              <a:rPr dirty="0" sz="2000" i="1">
                <a:latin typeface="华文楷体"/>
                <a:cs typeface="华文楷体"/>
              </a:rPr>
              <a:t>非晶体沿各个方向的物理性质都是一样</a:t>
            </a:r>
            <a:r>
              <a:rPr dirty="0" sz="2000" spc="5" i="1">
                <a:latin typeface="华文楷体"/>
                <a:cs typeface="华文楷体"/>
              </a:rPr>
              <a:t>的</a:t>
            </a:r>
            <a:endParaRPr sz="2000">
              <a:latin typeface="华文楷体"/>
              <a:cs typeface="华文楷体"/>
            </a:endParaRPr>
          </a:p>
          <a:p>
            <a:pPr marL="2473960">
              <a:lnSpc>
                <a:spcPct val="100000"/>
              </a:lnSpc>
              <a:spcBef>
                <a:spcPts val="1885"/>
              </a:spcBef>
            </a:pPr>
            <a:r>
              <a:rPr dirty="0" sz="2000" i="1">
                <a:latin typeface="华文楷体"/>
                <a:cs typeface="华文楷体"/>
              </a:rPr>
              <a:t>云母晶体在不同方向上的导热性能不</a:t>
            </a:r>
            <a:r>
              <a:rPr dirty="0" sz="2000" spc="5" i="1">
                <a:latin typeface="华文楷体"/>
                <a:cs typeface="华文楷体"/>
              </a:rPr>
              <a:t>同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7991" y="1760220"/>
            <a:ext cx="2394204" cy="2008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46336" y="2134552"/>
            <a:ext cx="1462397" cy="1193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72411" y="1737360"/>
            <a:ext cx="2005584" cy="20253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30122" y="2154707"/>
            <a:ext cx="1132834" cy="11085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86711" y="3372611"/>
            <a:ext cx="1777364" cy="403860"/>
          </a:xfrm>
          <a:prstGeom prst="rect">
            <a:avLst/>
          </a:prstGeom>
          <a:solidFill>
            <a:srgbClr val="FF0000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非晶体玻璃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567" y="3372611"/>
            <a:ext cx="1557655" cy="403860"/>
          </a:xfrm>
          <a:prstGeom prst="rect">
            <a:avLst/>
          </a:prstGeom>
          <a:solidFill>
            <a:srgbClr val="FFFF00">
              <a:alpha val="2589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晶体云母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2868" y="2183650"/>
            <a:ext cx="102870" cy="1083945"/>
          </a:xfrm>
          <a:custGeom>
            <a:avLst/>
            <a:gdLst/>
            <a:ahLst/>
            <a:cxnLst/>
            <a:rect l="l" t="t" r="r" b="b"/>
            <a:pathLst>
              <a:path w="102870" h="1083945">
                <a:moveTo>
                  <a:pt x="51572" y="75818"/>
                </a:moveTo>
                <a:lnTo>
                  <a:pt x="26187" y="75107"/>
                </a:lnTo>
                <a:lnTo>
                  <a:pt x="66408" y="0"/>
                </a:lnTo>
                <a:lnTo>
                  <a:pt x="92829" y="56781"/>
                </a:lnTo>
                <a:lnTo>
                  <a:pt x="52108" y="56781"/>
                </a:lnTo>
                <a:lnTo>
                  <a:pt x="51572" y="75818"/>
                </a:lnTo>
                <a:close/>
              </a:path>
              <a:path w="102870" h="1083945">
                <a:moveTo>
                  <a:pt x="76960" y="76530"/>
                </a:moveTo>
                <a:lnTo>
                  <a:pt x="51572" y="75818"/>
                </a:lnTo>
                <a:lnTo>
                  <a:pt x="52108" y="56781"/>
                </a:lnTo>
                <a:lnTo>
                  <a:pt x="77495" y="57492"/>
                </a:lnTo>
                <a:lnTo>
                  <a:pt x="76960" y="76530"/>
                </a:lnTo>
                <a:close/>
              </a:path>
              <a:path w="102870" h="1083945">
                <a:moveTo>
                  <a:pt x="102349" y="77241"/>
                </a:moveTo>
                <a:lnTo>
                  <a:pt x="76960" y="76530"/>
                </a:lnTo>
                <a:lnTo>
                  <a:pt x="77495" y="57492"/>
                </a:lnTo>
                <a:lnTo>
                  <a:pt x="52108" y="56781"/>
                </a:lnTo>
                <a:lnTo>
                  <a:pt x="92829" y="56781"/>
                </a:lnTo>
                <a:lnTo>
                  <a:pt x="102349" y="77241"/>
                </a:lnTo>
                <a:close/>
              </a:path>
              <a:path w="102870" h="1083945">
                <a:moveTo>
                  <a:pt x="50776" y="1007948"/>
                </a:moveTo>
                <a:lnTo>
                  <a:pt x="25389" y="1007236"/>
                </a:lnTo>
                <a:lnTo>
                  <a:pt x="51572" y="75818"/>
                </a:lnTo>
                <a:lnTo>
                  <a:pt x="76960" y="76530"/>
                </a:lnTo>
                <a:lnTo>
                  <a:pt x="50776" y="1007948"/>
                </a:lnTo>
                <a:close/>
              </a:path>
              <a:path w="102870" h="1083945">
                <a:moveTo>
                  <a:pt x="35940" y="1083767"/>
                </a:moveTo>
                <a:lnTo>
                  <a:pt x="0" y="1006525"/>
                </a:lnTo>
                <a:lnTo>
                  <a:pt x="25389" y="1007236"/>
                </a:lnTo>
                <a:lnTo>
                  <a:pt x="24853" y="1026274"/>
                </a:lnTo>
                <a:lnTo>
                  <a:pt x="50241" y="1026998"/>
                </a:lnTo>
                <a:lnTo>
                  <a:pt x="66350" y="1026998"/>
                </a:lnTo>
                <a:lnTo>
                  <a:pt x="35940" y="1083767"/>
                </a:lnTo>
                <a:close/>
              </a:path>
              <a:path w="102870" h="1083945">
                <a:moveTo>
                  <a:pt x="50241" y="1026998"/>
                </a:moveTo>
                <a:lnTo>
                  <a:pt x="24853" y="1026274"/>
                </a:lnTo>
                <a:lnTo>
                  <a:pt x="25389" y="1007236"/>
                </a:lnTo>
                <a:lnTo>
                  <a:pt x="50776" y="1007948"/>
                </a:lnTo>
                <a:lnTo>
                  <a:pt x="50241" y="1026998"/>
                </a:lnTo>
                <a:close/>
              </a:path>
              <a:path w="102870" h="1083945">
                <a:moveTo>
                  <a:pt x="66350" y="1026998"/>
                </a:moveTo>
                <a:lnTo>
                  <a:pt x="50241" y="1026998"/>
                </a:lnTo>
                <a:lnTo>
                  <a:pt x="50776" y="1007948"/>
                </a:lnTo>
                <a:lnTo>
                  <a:pt x="76174" y="1008659"/>
                </a:lnTo>
                <a:lnTo>
                  <a:pt x="66350" y="1026998"/>
                </a:lnTo>
                <a:close/>
              </a:path>
            </a:pathLst>
          </a:custGeom>
          <a:solidFill>
            <a:srgbClr val="00AF5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91429" y="2317788"/>
            <a:ext cx="958850" cy="775970"/>
          </a:xfrm>
          <a:custGeom>
            <a:avLst/>
            <a:gdLst/>
            <a:ahLst/>
            <a:cxnLst/>
            <a:rect l="l" t="t" r="r" b="b"/>
            <a:pathLst>
              <a:path w="958850" h="775969">
                <a:moveTo>
                  <a:pt x="35255" y="77558"/>
                </a:moveTo>
                <a:lnTo>
                  <a:pt x="0" y="0"/>
                </a:lnTo>
                <a:lnTo>
                  <a:pt x="83197" y="18326"/>
                </a:lnTo>
                <a:lnTo>
                  <a:pt x="76917" y="26085"/>
                </a:lnTo>
                <a:lnTo>
                  <a:pt x="52412" y="26085"/>
                </a:lnTo>
                <a:lnTo>
                  <a:pt x="36436" y="45821"/>
                </a:lnTo>
                <a:lnTo>
                  <a:pt x="51243" y="57805"/>
                </a:lnTo>
                <a:lnTo>
                  <a:pt x="35255" y="77558"/>
                </a:lnTo>
                <a:close/>
              </a:path>
              <a:path w="958850" h="775969">
                <a:moveTo>
                  <a:pt x="51243" y="57805"/>
                </a:moveTo>
                <a:lnTo>
                  <a:pt x="36436" y="45821"/>
                </a:lnTo>
                <a:lnTo>
                  <a:pt x="52412" y="26085"/>
                </a:lnTo>
                <a:lnTo>
                  <a:pt x="67218" y="38068"/>
                </a:lnTo>
                <a:lnTo>
                  <a:pt x="51243" y="57805"/>
                </a:lnTo>
                <a:close/>
              </a:path>
              <a:path w="958850" h="775969">
                <a:moveTo>
                  <a:pt x="67218" y="38068"/>
                </a:moveTo>
                <a:lnTo>
                  <a:pt x="52412" y="26085"/>
                </a:lnTo>
                <a:lnTo>
                  <a:pt x="76917" y="26085"/>
                </a:lnTo>
                <a:lnTo>
                  <a:pt x="67218" y="38068"/>
                </a:lnTo>
                <a:close/>
              </a:path>
              <a:path w="958850" h="775969">
                <a:moveTo>
                  <a:pt x="891273" y="737645"/>
                </a:moveTo>
                <a:lnTo>
                  <a:pt x="51243" y="57805"/>
                </a:lnTo>
                <a:lnTo>
                  <a:pt x="67218" y="38068"/>
                </a:lnTo>
                <a:lnTo>
                  <a:pt x="907251" y="717899"/>
                </a:lnTo>
                <a:lnTo>
                  <a:pt x="891273" y="737645"/>
                </a:lnTo>
                <a:close/>
              </a:path>
              <a:path w="958850" h="775969">
                <a:moveTo>
                  <a:pt x="946636" y="749630"/>
                </a:moveTo>
                <a:lnTo>
                  <a:pt x="906081" y="749630"/>
                </a:lnTo>
                <a:lnTo>
                  <a:pt x="922058" y="729881"/>
                </a:lnTo>
                <a:lnTo>
                  <a:pt x="907251" y="717899"/>
                </a:lnTo>
                <a:lnTo>
                  <a:pt x="923226" y="698157"/>
                </a:lnTo>
                <a:lnTo>
                  <a:pt x="946636" y="749630"/>
                </a:lnTo>
                <a:close/>
              </a:path>
              <a:path w="958850" h="775969">
                <a:moveTo>
                  <a:pt x="906081" y="749630"/>
                </a:moveTo>
                <a:lnTo>
                  <a:pt x="891273" y="737645"/>
                </a:lnTo>
                <a:lnTo>
                  <a:pt x="907251" y="717899"/>
                </a:lnTo>
                <a:lnTo>
                  <a:pt x="922058" y="729881"/>
                </a:lnTo>
                <a:lnTo>
                  <a:pt x="906081" y="749630"/>
                </a:lnTo>
                <a:close/>
              </a:path>
              <a:path w="958850" h="775969">
                <a:moveTo>
                  <a:pt x="958494" y="775703"/>
                </a:moveTo>
                <a:lnTo>
                  <a:pt x="875296" y="757389"/>
                </a:lnTo>
                <a:lnTo>
                  <a:pt x="891273" y="737645"/>
                </a:lnTo>
                <a:lnTo>
                  <a:pt x="906081" y="749630"/>
                </a:lnTo>
                <a:lnTo>
                  <a:pt x="946636" y="749630"/>
                </a:lnTo>
                <a:lnTo>
                  <a:pt x="958494" y="775703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8805" y="2334285"/>
            <a:ext cx="984250" cy="742315"/>
          </a:xfrm>
          <a:custGeom>
            <a:avLst/>
            <a:gdLst/>
            <a:ahLst/>
            <a:cxnLst/>
            <a:rect l="l" t="t" r="r" b="b"/>
            <a:pathLst>
              <a:path w="984250" h="742314">
                <a:moveTo>
                  <a:pt x="915561" y="35721"/>
                </a:moveTo>
                <a:lnTo>
                  <a:pt x="900277" y="15443"/>
                </a:lnTo>
                <a:lnTo>
                  <a:pt x="984059" y="0"/>
                </a:lnTo>
                <a:lnTo>
                  <a:pt x="972001" y="24256"/>
                </a:lnTo>
                <a:lnTo>
                  <a:pt x="930770" y="24256"/>
                </a:lnTo>
                <a:lnTo>
                  <a:pt x="915561" y="35721"/>
                </a:lnTo>
                <a:close/>
              </a:path>
              <a:path w="984250" h="742314">
                <a:moveTo>
                  <a:pt x="930849" y="56005"/>
                </a:moveTo>
                <a:lnTo>
                  <a:pt x="915561" y="35721"/>
                </a:lnTo>
                <a:lnTo>
                  <a:pt x="930770" y="24256"/>
                </a:lnTo>
                <a:lnTo>
                  <a:pt x="946061" y="44538"/>
                </a:lnTo>
                <a:lnTo>
                  <a:pt x="930849" y="56005"/>
                </a:lnTo>
                <a:close/>
              </a:path>
              <a:path w="984250" h="742314">
                <a:moveTo>
                  <a:pt x="946137" y="76288"/>
                </a:moveTo>
                <a:lnTo>
                  <a:pt x="930849" y="56005"/>
                </a:lnTo>
                <a:lnTo>
                  <a:pt x="946061" y="44538"/>
                </a:lnTo>
                <a:lnTo>
                  <a:pt x="930770" y="24256"/>
                </a:lnTo>
                <a:lnTo>
                  <a:pt x="972001" y="24256"/>
                </a:lnTo>
                <a:lnTo>
                  <a:pt x="946137" y="76288"/>
                </a:lnTo>
                <a:close/>
              </a:path>
              <a:path w="984250" h="742314">
                <a:moveTo>
                  <a:pt x="68491" y="706018"/>
                </a:moveTo>
                <a:lnTo>
                  <a:pt x="53200" y="685736"/>
                </a:lnTo>
                <a:lnTo>
                  <a:pt x="915561" y="35721"/>
                </a:lnTo>
                <a:lnTo>
                  <a:pt x="930849" y="56005"/>
                </a:lnTo>
                <a:lnTo>
                  <a:pt x="68491" y="706018"/>
                </a:lnTo>
                <a:close/>
              </a:path>
              <a:path w="984250" h="742314">
                <a:moveTo>
                  <a:pt x="0" y="741743"/>
                </a:moveTo>
                <a:lnTo>
                  <a:pt x="37909" y="665454"/>
                </a:lnTo>
                <a:lnTo>
                  <a:pt x="53200" y="685736"/>
                </a:lnTo>
                <a:lnTo>
                  <a:pt x="37985" y="697204"/>
                </a:lnTo>
                <a:lnTo>
                  <a:pt x="53276" y="717486"/>
                </a:lnTo>
                <a:lnTo>
                  <a:pt x="77137" y="717486"/>
                </a:lnTo>
                <a:lnTo>
                  <a:pt x="83781" y="726300"/>
                </a:lnTo>
                <a:lnTo>
                  <a:pt x="0" y="741743"/>
                </a:lnTo>
                <a:close/>
              </a:path>
              <a:path w="984250" h="742314">
                <a:moveTo>
                  <a:pt x="53276" y="717486"/>
                </a:moveTo>
                <a:lnTo>
                  <a:pt x="37985" y="697204"/>
                </a:lnTo>
                <a:lnTo>
                  <a:pt x="53200" y="685736"/>
                </a:lnTo>
                <a:lnTo>
                  <a:pt x="68491" y="706018"/>
                </a:lnTo>
                <a:lnTo>
                  <a:pt x="53276" y="717486"/>
                </a:lnTo>
                <a:close/>
              </a:path>
              <a:path w="984250" h="742314">
                <a:moveTo>
                  <a:pt x="77137" y="717486"/>
                </a:moveTo>
                <a:lnTo>
                  <a:pt x="53276" y="717486"/>
                </a:lnTo>
                <a:lnTo>
                  <a:pt x="68491" y="706018"/>
                </a:lnTo>
                <a:lnTo>
                  <a:pt x="77137" y="717486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3695" y="2656357"/>
            <a:ext cx="1374775" cy="97790"/>
          </a:xfrm>
          <a:custGeom>
            <a:avLst/>
            <a:gdLst/>
            <a:ahLst/>
            <a:cxnLst/>
            <a:rect l="l" t="t" r="r" b="b"/>
            <a:pathLst>
              <a:path w="1374775" h="97789">
                <a:moveTo>
                  <a:pt x="75526" y="76187"/>
                </a:moveTo>
                <a:lnTo>
                  <a:pt x="0" y="36766"/>
                </a:lnTo>
                <a:lnTo>
                  <a:pt x="76860" y="0"/>
                </a:lnTo>
                <a:lnTo>
                  <a:pt x="76421" y="25069"/>
                </a:lnTo>
                <a:lnTo>
                  <a:pt x="57365" y="25069"/>
                </a:lnTo>
                <a:lnTo>
                  <a:pt x="56921" y="50457"/>
                </a:lnTo>
                <a:lnTo>
                  <a:pt x="75971" y="50790"/>
                </a:lnTo>
                <a:lnTo>
                  <a:pt x="75526" y="76187"/>
                </a:lnTo>
                <a:close/>
              </a:path>
              <a:path w="1374775" h="97789">
                <a:moveTo>
                  <a:pt x="1349819" y="72529"/>
                </a:moveTo>
                <a:lnTo>
                  <a:pt x="1316913" y="72529"/>
                </a:lnTo>
                <a:lnTo>
                  <a:pt x="1317358" y="47142"/>
                </a:lnTo>
                <a:lnTo>
                  <a:pt x="1298308" y="46808"/>
                </a:lnTo>
                <a:lnTo>
                  <a:pt x="1298752" y="21412"/>
                </a:lnTo>
                <a:lnTo>
                  <a:pt x="1374267" y="60832"/>
                </a:lnTo>
                <a:lnTo>
                  <a:pt x="1349819" y="72529"/>
                </a:lnTo>
                <a:close/>
              </a:path>
              <a:path w="1374775" h="97789">
                <a:moveTo>
                  <a:pt x="75971" y="50790"/>
                </a:moveTo>
                <a:lnTo>
                  <a:pt x="56921" y="50457"/>
                </a:lnTo>
                <a:lnTo>
                  <a:pt x="57365" y="25069"/>
                </a:lnTo>
                <a:lnTo>
                  <a:pt x="76415" y="25403"/>
                </a:lnTo>
                <a:lnTo>
                  <a:pt x="75971" y="50790"/>
                </a:lnTo>
                <a:close/>
              </a:path>
              <a:path w="1374775" h="97789">
                <a:moveTo>
                  <a:pt x="76415" y="25403"/>
                </a:moveTo>
                <a:lnTo>
                  <a:pt x="57365" y="25069"/>
                </a:lnTo>
                <a:lnTo>
                  <a:pt x="76421" y="25069"/>
                </a:lnTo>
                <a:lnTo>
                  <a:pt x="76415" y="25403"/>
                </a:lnTo>
                <a:close/>
              </a:path>
              <a:path w="1374775" h="97789">
                <a:moveTo>
                  <a:pt x="1297863" y="72195"/>
                </a:moveTo>
                <a:lnTo>
                  <a:pt x="75971" y="50790"/>
                </a:lnTo>
                <a:lnTo>
                  <a:pt x="76415" y="25403"/>
                </a:lnTo>
                <a:lnTo>
                  <a:pt x="1298308" y="46808"/>
                </a:lnTo>
                <a:lnTo>
                  <a:pt x="1297863" y="72195"/>
                </a:lnTo>
                <a:close/>
              </a:path>
              <a:path w="1374775" h="97789">
                <a:moveTo>
                  <a:pt x="1316913" y="72529"/>
                </a:moveTo>
                <a:lnTo>
                  <a:pt x="1297863" y="72195"/>
                </a:lnTo>
                <a:lnTo>
                  <a:pt x="1298308" y="46808"/>
                </a:lnTo>
                <a:lnTo>
                  <a:pt x="1317358" y="47142"/>
                </a:lnTo>
                <a:lnTo>
                  <a:pt x="1316913" y="72529"/>
                </a:lnTo>
                <a:close/>
              </a:path>
              <a:path w="1374775" h="97789">
                <a:moveTo>
                  <a:pt x="1297419" y="97599"/>
                </a:moveTo>
                <a:lnTo>
                  <a:pt x="1297863" y="72195"/>
                </a:lnTo>
                <a:lnTo>
                  <a:pt x="1316913" y="72529"/>
                </a:lnTo>
                <a:lnTo>
                  <a:pt x="1349819" y="72529"/>
                </a:lnTo>
                <a:lnTo>
                  <a:pt x="1297419" y="97599"/>
                </a:lnTo>
                <a:close/>
              </a:path>
            </a:pathLst>
          </a:custGeom>
          <a:solidFill>
            <a:srgbClr val="FF000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20996" y="2653958"/>
            <a:ext cx="114876" cy="1148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8567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8567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6" y="0"/>
                </a:lnTo>
                <a:lnTo>
                  <a:pt x="364236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40512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100965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" y="4063365"/>
            <a:ext cx="7620000" cy="19792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396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EC7C30"/>
                </a:solidFill>
                <a:latin typeface="华文楷体"/>
                <a:cs typeface="华文楷体"/>
              </a:rPr>
              <a:t>非晶体具有各向同性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各向同性</a:t>
            </a:r>
            <a:r>
              <a:rPr dirty="0" sz="2000" spc="-10" b="1">
                <a:solidFill>
                  <a:srgbClr val="5B9BD4"/>
                </a:solidFill>
                <a:latin typeface="华文楷体"/>
                <a:cs typeface="华文楷体"/>
              </a:rPr>
              <a:t>（</a:t>
            </a:r>
            <a:r>
              <a:rPr dirty="0" sz="2000" spc="-10" b="1">
                <a:solidFill>
                  <a:srgbClr val="5B9BD4"/>
                </a:solidFill>
                <a:latin typeface="Times New Roman"/>
                <a:cs typeface="Times New Roman"/>
              </a:rPr>
              <a:t>isotropy)</a:t>
            </a:r>
            <a:r>
              <a:rPr dirty="0" sz="1800" spc="-10" i="1">
                <a:latin typeface="华文楷体"/>
                <a:cs typeface="华文楷体"/>
              </a:rPr>
              <a:t>：</a:t>
            </a:r>
            <a:r>
              <a:rPr dirty="0" sz="2000" i="1">
                <a:latin typeface="华文楷体"/>
                <a:cs typeface="华文楷体"/>
              </a:rPr>
              <a:t>非晶体沿各个方向的物理性质都是一样</a:t>
            </a:r>
            <a:r>
              <a:rPr dirty="0" sz="2000" spc="5" i="1">
                <a:latin typeface="华文楷体"/>
                <a:cs typeface="华文楷体"/>
              </a:rPr>
              <a:t>的</a:t>
            </a:r>
            <a:endParaRPr sz="2000">
              <a:latin typeface="华文楷体"/>
              <a:cs typeface="华文楷体"/>
            </a:endParaRPr>
          </a:p>
          <a:p>
            <a:pPr marL="2473960">
              <a:lnSpc>
                <a:spcPct val="100000"/>
              </a:lnSpc>
              <a:spcBef>
                <a:spcPts val="1885"/>
              </a:spcBef>
            </a:pPr>
            <a:r>
              <a:rPr dirty="0" sz="2000" i="1">
                <a:latin typeface="华文楷体"/>
                <a:cs typeface="华文楷体"/>
              </a:rPr>
              <a:t>云母晶体在不同方向上的导热性能不</a:t>
            </a:r>
            <a:r>
              <a:rPr dirty="0" sz="2000" spc="5" i="1">
                <a:latin typeface="华文楷体"/>
                <a:cs typeface="华文楷体"/>
              </a:rPr>
              <a:t>同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各向异性</a:t>
            </a:r>
            <a:r>
              <a:rPr dirty="0" sz="2000" spc="-10" b="1">
                <a:solidFill>
                  <a:srgbClr val="5B9BD4"/>
                </a:solidFill>
                <a:latin typeface="华文楷体"/>
                <a:cs typeface="华文楷体"/>
              </a:rPr>
              <a:t>（</a:t>
            </a:r>
            <a:r>
              <a:rPr dirty="0" sz="2000" spc="-10" b="1">
                <a:solidFill>
                  <a:srgbClr val="5B9BD4"/>
                </a:solidFill>
                <a:latin typeface="Times New Roman"/>
                <a:cs typeface="Times New Roman"/>
              </a:rPr>
              <a:t>anisotropy)</a:t>
            </a:r>
            <a:r>
              <a:rPr dirty="0" sz="2000" spc="-10" b="1">
                <a:solidFill>
                  <a:srgbClr val="5B9BD4"/>
                </a:solidFill>
                <a:latin typeface="华文楷体"/>
                <a:cs typeface="华文楷体"/>
              </a:rPr>
              <a:t>：</a:t>
            </a:r>
            <a:r>
              <a:rPr dirty="0" sz="2000" i="1">
                <a:latin typeface="华文楷体"/>
                <a:cs typeface="华文楷体"/>
              </a:rPr>
              <a:t>一些晶体沿不同方向的</a:t>
            </a:r>
            <a:r>
              <a:rPr dirty="0" sz="2000" b="1">
                <a:solidFill>
                  <a:srgbClr val="EC7C30"/>
                </a:solidFill>
                <a:latin typeface="华文楷体"/>
                <a:cs typeface="华文楷体"/>
              </a:rPr>
              <a:t>某些物理性质</a:t>
            </a:r>
            <a:r>
              <a:rPr dirty="0" sz="2000" i="1">
                <a:latin typeface="华文楷体"/>
                <a:cs typeface="华文楷体"/>
              </a:rPr>
              <a:t>不一</a:t>
            </a:r>
            <a:r>
              <a:rPr dirty="0" sz="2000" spc="5" i="1">
                <a:latin typeface="华文楷体"/>
                <a:cs typeface="华文楷体"/>
              </a:rPr>
              <a:t>样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7991" y="1760220"/>
            <a:ext cx="2394204" cy="2008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46336" y="2134552"/>
            <a:ext cx="1462397" cy="1193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72411" y="1737360"/>
            <a:ext cx="2005584" cy="20253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30122" y="2154707"/>
            <a:ext cx="1132834" cy="11085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86711" y="3372611"/>
            <a:ext cx="1777364" cy="403860"/>
          </a:xfrm>
          <a:prstGeom prst="rect">
            <a:avLst/>
          </a:prstGeom>
          <a:solidFill>
            <a:srgbClr val="FF0000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非晶体玻璃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567" y="3372611"/>
            <a:ext cx="1557655" cy="403860"/>
          </a:xfrm>
          <a:prstGeom prst="rect">
            <a:avLst/>
          </a:prstGeom>
          <a:solidFill>
            <a:srgbClr val="FFFF00">
              <a:alpha val="2589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晶体云母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2868" y="2183650"/>
            <a:ext cx="102870" cy="1083945"/>
          </a:xfrm>
          <a:custGeom>
            <a:avLst/>
            <a:gdLst/>
            <a:ahLst/>
            <a:cxnLst/>
            <a:rect l="l" t="t" r="r" b="b"/>
            <a:pathLst>
              <a:path w="102870" h="1083945">
                <a:moveTo>
                  <a:pt x="51572" y="75818"/>
                </a:moveTo>
                <a:lnTo>
                  <a:pt x="26187" y="75107"/>
                </a:lnTo>
                <a:lnTo>
                  <a:pt x="66408" y="0"/>
                </a:lnTo>
                <a:lnTo>
                  <a:pt x="92829" y="56781"/>
                </a:lnTo>
                <a:lnTo>
                  <a:pt x="52108" y="56781"/>
                </a:lnTo>
                <a:lnTo>
                  <a:pt x="51572" y="75818"/>
                </a:lnTo>
                <a:close/>
              </a:path>
              <a:path w="102870" h="1083945">
                <a:moveTo>
                  <a:pt x="76960" y="76530"/>
                </a:moveTo>
                <a:lnTo>
                  <a:pt x="51572" y="75818"/>
                </a:lnTo>
                <a:lnTo>
                  <a:pt x="52108" y="56781"/>
                </a:lnTo>
                <a:lnTo>
                  <a:pt x="77495" y="57492"/>
                </a:lnTo>
                <a:lnTo>
                  <a:pt x="76960" y="76530"/>
                </a:lnTo>
                <a:close/>
              </a:path>
              <a:path w="102870" h="1083945">
                <a:moveTo>
                  <a:pt x="102349" y="77241"/>
                </a:moveTo>
                <a:lnTo>
                  <a:pt x="76960" y="76530"/>
                </a:lnTo>
                <a:lnTo>
                  <a:pt x="77495" y="57492"/>
                </a:lnTo>
                <a:lnTo>
                  <a:pt x="52108" y="56781"/>
                </a:lnTo>
                <a:lnTo>
                  <a:pt x="92829" y="56781"/>
                </a:lnTo>
                <a:lnTo>
                  <a:pt x="102349" y="77241"/>
                </a:lnTo>
                <a:close/>
              </a:path>
              <a:path w="102870" h="1083945">
                <a:moveTo>
                  <a:pt x="50776" y="1007948"/>
                </a:moveTo>
                <a:lnTo>
                  <a:pt x="25389" y="1007236"/>
                </a:lnTo>
                <a:lnTo>
                  <a:pt x="51572" y="75818"/>
                </a:lnTo>
                <a:lnTo>
                  <a:pt x="76960" y="76530"/>
                </a:lnTo>
                <a:lnTo>
                  <a:pt x="50776" y="1007948"/>
                </a:lnTo>
                <a:close/>
              </a:path>
              <a:path w="102870" h="1083945">
                <a:moveTo>
                  <a:pt x="35940" y="1083767"/>
                </a:moveTo>
                <a:lnTo>
                  <a:pt x="0" y="1006525"/>
                </a:lnTo>
                <a:lnTo>
                  <a:pt x="25389" y="1007236"/>
                </a:lnTo>
                <a:lnTo>
                  <a:pt x="24853" y="1026274"/>
                </a:lnTo>
                <a:lnTo>
                  <a:pt x="50241" y="1026998"/>
                </a:lnTo>
                <a:lnTo>
                  <a:pt x="66350" y="1026998"/>
                </a:lnTo>
                <a:lnTo>
                  <a:pt x="35940" y="1083767"/>
                </a:lnTo>
                <a:close/>
              </a:path>
              <a:path w="102870" h="1083945">
                <a:moveTo>
                  <a:pt x="50241" y="1026998"/>
                </a:moveTo>
                <a:lnTo>
                  <a:pt x="24853" y="1026274"/>
                </a:lnTo>
                <a:lnTo>
                  <a:pt x="25389" y="1007236"/>
                </a:lnTo>
                <a:lnTo>
                  <a:pt x="50776" y="1007948"/>
                </a:lnTo>
                <a:lnTo>
                  <a:pt x="50241" y="1026998"/>
                </a:lnTo>
                <a:close/>
              </a:path>
              <a:path w="102870" h="1083945">
                <a:moveTo>
                  <a:pt x="66350" y="1026998"/>
                </a:moveTo>
                <a:lnTo>
                  <a:pt x="50241" y="1026998"/>
                </a:lnTo>
                <a:lnTo>
                  <a:pt x="50776" y="1007948"/>
                </a:lnTo>
                <a:lnTo>
                  <a:pt x="76174" y="1008659"/>
                </a:lnTo>
                <a:lnTo>
                  <a:pt x="66350" y="1026998"/>
                </a:lnTo>
                <a:close/>
              </a:path>
            </a:pathLst>
          </a:custGeom>
          <a:solidFill>
            <a:srgbClr val="00AF5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91429" y="2317788"/>
            <a:ext cx="958850" cy="775970"/>
          </a:xfrm>
          <a:custGeom>
            <a:avLst/>
            <a:gdLst/>
            <a:ahLst/>
            <a:cxnLst/>
            <a:rect l="l" t="t" r="r" b="b"/>
            <a:pathLst>
              <a:path w="958850" h="775969">
                <a:moveTo>
                  <a:pt x="35255" y="77558"/>
                </a:moveTo>
                <a:lnTo>
                  <a:pt x="0" y="0"/>
                </a:lnTo>
                <a:lnTo>
                  <a:pt x="83197" y="18326"/>
                </a:lnTo>
                <a:lnTo>
                  <a:pt x="76917" y="26085"/>
                </a:lnTo>
                <a:lnTo>
                  <a:pt x="52412" y="26085"/>
                </a:lnTo>
                <a:lnTo>
                  <a:pt x="36436" y="45821"/>
                </a:lnTo>
                <a:lnTo>
                  <a:pt x="51243" y="57805"/>
                </a:lnTo>
                <a:lnTo>
                  <a:pt x="35255" y="77558"/>
                </a:lnTo>
                <a:close/>
              </a:path>
              <a:path w="958850" h="775969">
                <a:moveTo>
                  <a:pt x="51243" y="57805"/>
                </a:moveTo>
                <a:lnTo>
                  <a:pt x="36436" y="45821"/>
                </a:lnTo>
                <a:lnTo>
                  <a:pt x="52412" y="26085"/>
                </a:lnTo>
                <a:lnTo>
                  <a:pt x="67218" y="38068"/>
                </a:lnTo>
                <a:lnTo>
                  <a:pt x="51243" y="57805"/>
                </a:lnTo>
                <a:close/>
              </a:path>
              <a:path w="958850" h="775969">
                <a:moveTo>
                  <a:pt x="67218" y="38068"/>
                </a:moveTo>
                <a:lnTo>
                  <a:pt x="52412" y="26085"/>
                </a:lnTo>
                <a:lnTo>
                  <a:pt x="76917" y="26085"/>
                </a:lnTo>
                <a:lnTo>
                  <a:pt x="67218" y="38068"/>
                </a:lnTo>
                <a:close/>
              </a:path>
              <a:path w="958850" h="775969">
                <a:moveTo>
                  <a:pt x="891273" y="737645"/>
                </a:moveTo>
                <a:lnTo>
                  <a:pt x="51243" y="57805"/>
                </a:lnTo>
                <a:lnTo>
                  <a:pt x="67218" y="38068"/>
                </a:lnTo>
                <a:lnTo>
                  <a:pt x="907251" y="717899"/>
                </a:lnTo>
                <a:lnTo>
                  <a:pt x="891273" y="737645"/>
                </a:lnTo>
                <a:close/>
              </a:path>
              <a:path w="958850" h="775969">
                <a:moveTo>
                  <a:pt x="946636" y="749630"/>
                </a:moveTo>
                <a:lnTo>
                  <a:pt x="906081" y="749630"/>
                </a:lnTo>
                <a:lnTo>
                  <a:pt x="922058" y="729881"/>
                </a:lnTo>
                <a:lnTo>
                  <a:pt x="907251" y="717899"/>
                </a:lnTo>
                <a:lnTo>
                  <a:pt x="923226" y="698157"/>
                </a:lnTo>
                <a:lnTo>
                  <a:pt x="946636" y="749630"/>
                </a:lnTo>
                <a:close/>
              </a:path>
              <a:path w="958850" h="775969">
                <a:moveTo>
                  <a:pt x="906081" y="749630"/>
                </a:moveTo>
                <a:lnTo>
                  <a:pt x="891273" y="737645"/>
                </a:lnTo>
                <a:lnTo>
                  <a:pt x="907251" y="717899"/>
                </a:lnTo>
                <a:lnTo>
                  <a:pt x="922058" y="729881"/>
                </a:lnTo>
                <a:lnTo>
                  <a:pt x="906081" y="749630"/>
                </a:lnTo>
                <a:close/>
              </a:path>
              <a:path w="958850" h="775969">
                <a:moveTo>
                  <a:pt x="958494" y="775703"/>
                </a:moveTo>
                <a:lnTo>
                  <a:pt x="875296" y="757389"/>
                </a:lnTo>
                <a:lnTo>
                  <a:pt x="891273" y="737645"/>
                </a:lnTo>
                <a:lnTo>
                  <a:pt x="906081" y="749630"/>
                </a:lnTo>
                <a:lnTo>
                  <a:pt x="946636" y="749630"/>
                </a:lnTo>
                <a:lnTo>
                  <a:pt x="958494" y="775703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8805" y="2334285"/>
            <a:ext cx="984250" cy="742315"/>
          </a:xfrm>
          <a:custGeom>
            <a:avLst/>
            <a:gdLst/>
            <a:ahLst/>
            <a:cxnLst/>
            <a:rect l="l" t="t" r="r" b="b"/>
            <a:pathLst>
              <a:path w="984250" h="742314">
                <a:moveTo>
                  <a:pt x="915561" y="35721"/>
                </a:moveTo>
                <a:lnTo>
                  <a:pt x="900277" y="15443"/>
                </a:lnTo>
                <a:lnTo>
                  <a:pt x="984059" y="0"/>
                </a:lnTo>
                <a:lnTo>
                  <a:pt x="972001" y="24256"/>
                </a:lnTo>
                <a:lnTo>
                  <a:pt x="930770" y="24256"/>
                </a:lnTo>
                <a:lnTo>
                  <a:pt x="915561" y="35721"/>
                </a:lnTo>
                <a:close/>
              </a:path>
              <a:path w="984250" h="742314">
                <a:moveTo>
                  <a:pt x="930849" y="56005"/>
                </a:moveTo>
                <a:lnTo>
                  <a:pt x="915561" y="35721"/>
                </a:lnTo>
                <a:lnTo>
                  <a:pt x="930770" y="24256"/>
                </a:lnTo>
                <a:lnTo>
                  <a:pt x="946061" y="44538"/>
                </a:lnTo>
                <a:lnTo>
                  <a:pt x="930849" y="56005"/>
                </a:lnTo>
                <a:close/>
              </a:path>
              <a:path w="984250" h="742314">
                <a:moveTo>
                  <a:pt x="946137" y="76288"/>
                </a:moveTo>
                <a:lnTo>
                  <a:pt x="930849" y="56005"/>
                </a:lnTo>
                <a:lnTo>
                  <a:pt x="946061" y="44538"/>
                </a:lnTo>
                <a:lnTo>
                  <a:pt x="930770" y="24256"/>
                </a:lnTo>
                <a:lnTo>
                  <a:pt x="972001" y="24256"/>
                </a:lnTo>
                <a:lnTo>
                  <a:pt x="946137" y="76288"/>
                </a:lnTo>
                <a:close/>
              </a:path>
              <a:path w="984250" h="742314">
                <a:moveTo>
                  <a:pt x="68491" y="706018"/>
                </a:moveTo>
                <a:lnTo>
                  <a:pt x="53200" y="685736"/>
                </a:lnTo>
                <a:lnTo>
                  <a:pt x="915561" y="35721"/>
                </a:lnTo>
                <a:lnTo>
                  <a:pt x="930849" y="56005"/>
                </a:lnTo>
                <a:lnTo>
                  <a:pt x="68491" y="706018"/>
                </a:lnTo>
                <a:close/>
              </a:path>
              <a:path w="984250" h="742314">
                <a:moveTo>
                  <a:pt x="0" y="741743"/>
                </a:moveTo>
                <a:lnTo>
                  <a:pt x="37909" y="665454"/>
                </a:lnTo>
                <a:lnTo>
                  <a:pt x="53200" y="685736"/>
                </a:lnTo>
                <a:lnTo>
                  <a:pt x="37985" y="697204"/>
                </a:lnTo>
                <a:lnTo>
                  <a:pt x="53276" y="717486"/>
                </a:lnTo>
                <a:lnTo>
                  <a:pt x="77137" y="717486"/>
                </a:lnTo>
                <a:lnTo>
                  <a:pt x="83781" y="726300"/>
                </a:lnTo>
                <a:lnTo>
                  <a:pt x="0" y="741743"/>
                </a:lnTo>
                <a:close/>
              </a:path>
              <a:path w="984250" h="742314">
                <a:moveTo>
                  <a:pt x="53276" y="717486"/>
                </a:moveTo>
                <a:lnTo>
                  <a:pt x="37985" y="697204"/>
                </a:lnTo>
                <a:lnTo>
                  <a:pt x="53200" y="685736"/>
                </a:lnTo>
                <a:lnTo>
                  <a:pt x="68491" y="706018"/>
                </a:lnTo>
                <a:lnTo>
                  <a:pt x="53276" y="717486"/>
                </a:lnTo>
                <a:close/>
              </a:path>
              <a:path w="984250" h="742314">
                <a:moveTo>
                  <a:pt x="77137" y="717486"/>
                </a:moveTo>
                <a:lnTo>
                  <a:pt x="53276" y="717486"/>
                </a:lnTo>
                <a:lnTo>
                  <a:pt x="68491" y="706018"/>
                </a:lnTo>
                <a:lnTo>
                  <a:pt x="77137" y="717486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3695" y="2656357"/>
            <a:ext cx="1374775" cy="97790"/>
          </a:xfrm>
          <a:custGeom>
            <a:avLst/>
            <a:gdLst/>
            <a:ahLst/>
            <a:cxnLst/>
            <a:rect l="l" t="t" r="r" b="b"/>
            <a:pathLst>
              <a:path w="1374775" h="97789">
                <a:moveTo>
                  <a:pt x="75526" y="76187"/>
                </a:moveTo>
                <a:lnTo>
                  <a:pt x="0" y="36766"/>
                </a:lnTo>
                <a:lnTo>
                  <a:pt x="76860" y="0"/>
                </a:lnTo>
                <a:lnTo>
                  <a:pt x="76421" y="25069"/>
                </a:lnTo>
                <a:lnTo>
                  <a:pt x="57365" y="25069"/>
                </a:lnTo>
                <a:lnTo>
                  <a:pt x="56921" y="50457"/>
                </a:lnTo>
                <a:lnTo>
                  <a:pt x="75971" y="50790"/>
                </a:lnTo>
                <a:lnTo>
                  <a:pt x="75526" y="76187"/>
                </a:lnTo>
                <a:close/>
              </a:path>
              <a:path w="1374775" h="97789">
                <a:moveTo>
                  <a:pt x="1349819" y="72529"/>
                </a:moveTo>
                <a:lnTo>
                  <a:pt x="1316913" y="72529"/>
                </a:lnTo>
                <a:lnTo>
                  <a:pt x="1317358" y="47142"/>
                </a:lnTo>
                <a:lnTo>
                  <a:pt x="1298308" y="46808"/>
                </a:lnTo>
                <a:lnTo>
                  <a:pt x="1298752" y="21412"/>
                </a:lnTo>
                <a:lnTo>
                  <a:pt x="1374267" y="60832"/>
                </a:lnTo>
                <a:lnTo>
                  <a:pt x="1349819" y="72529"/>
                </a:lnTo>
                <a:close/>
              </a:path>
              <a:path w="1374775" h="97789">
                <a:moveTo>
                  <a:pt x="75971" y="50790"/>
                </a:moveTo>
                <a:lnTo>
                  <a:pt x="56921" y="50457"/>
                </a:lnTo>
                <a:lnTo>
                  <a:pt x="57365" y="25069"/>
                </a:lnTo>
                <a:lnTo>
                  <a:pt x="76415" y="25403"/>
                </a:lnTo>
                <a:lnTo>
                  <a:pt x="75971" y="50790"/>
                </a:lnTo>
                <a:close/>
              </a:path>
              <a:path w="1374775" h="97789">
                <a:moveTo>
                  <a:pt x="76415" y="25403"/>
                </a:moveTo>
                <a:lnTo>
                  <a:pt x="57365" y="25069"/>
                </a:lnTo>
                <a:lnTo>
                  <a:pt x="76421" y="25069"/>
                </a:lnTo>
                <a:lnTo>
                  <a:pt x="76415" y="25403"/>
                </a:lnTo>
                <a:close/>
              </a:path>
              <a:path w="1374775" h="97789">
                <a:moveTo>
                  <a:pt x="1297863" y="72195"/>
                </a:moveTo>
                <a:lnTo>
                  <a:pt x="75971" y="50790"/>
                </a:lnTo>
                <a:lnTo>
                  <a:pt x="76415" y="25403"/>
                </a:lnTo>
                <a:lnTo>
                  <a:pt x="1298308" y="46808"/>
                </a:lnTo>
                <a:lnTo>
                  <a:pt x="1297863" y="72195"/>
                </a:lnTo>
                <a:close/>
              </a:path>
              <a:path w="1374775" h="97789">
                <a:moveTo>
                  <a:pt x="1316913" y="72529"/>
                </a:moveTo>
                <a:lnTo>
                  <a:pt x="1297863" y="72195"/>
                </a:lnTo>
                <a:lnTo>
                  <a:pt x="1298308" y="46808"/>
                </a:lnTo>
                <a:lnTo>
                  <a:pt x="1317358" y="47142"/>
                </a:lnTo>
                <a:lnTo>
                  <a:pt x="1316913" y="72529"/>
                </a:lnTo>
                <a:close/>
              </a:path>
              <a:path w="1374775" h="97789">
                <a:moveTo>
                  <a:pt x="1297419" y="97599"/>
                </a:moveTo>
                <a:lnTo>
                  <a:pt x="1297863" y="72195"/>
                </a:lnTo>
                <a:lnTo>
                  <a:pt x="1316913" y="72529"/>
                </a:lnTo>
                <a:lnTo>
                  <a:pt x="1349819" y="72529"/>
                </a:lnTo>
                <a:lnTo>
                  <a:pt x="1297419" y="97599"/>
                </a:lnTo>
                <a:close/>
              </a:path>
            </a:pathLst>
          </a:custGeom>
          <a:solidFill>
            <a:srgbClr val="FF000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20996" y="2653958"/>
            <a:ext cx="114876" cy="1148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057" y="1585677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118567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6" y="0"/>
                </a:lnTo>
                <a:lnTo>
                  <a:pt x="364236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5444" y="140512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28800" y="1009650"/>
            <a:ext cx="5816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黑体"/>
                <a:cs typeface="黑体"/>
              </a:rPr>
              <a:t>实验：观察玻璃和云母片上石蜡熔化的形状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" y="4063365"/>
            <a:ext cx="7620000" cy="19792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396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EC7C30"/>
                </a:solidFill>
                <a:latin typeface="华文楷体"/>
                <a:cs typeface="华文楷体"/>
              </a:rPr>
              <a:t>非晶体具有各向同性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各向同性</a:t>
            </a:r>
            <a:r>
              <a:rPr dirty="0" sz="2000" spc="-10" b="1">
                <a:solidFill>
                  <a:srgbClr val="5B9BD4"/>
                </a:solidFill>
                <a:latin typeface="华文楷体"/>
                <a:cs typeface="华文楷体"/>
              </a:rPr>
              <a:t>（</a:t>
            </a:r>
            <a:r>
              <a:rPr dirty="0" sz="2000" spc="-10" b="1">
                <a:solidFill>
                  <a:srgbClr val="5B9BD4"/>
                </a:solidFill>
                <a:latin typeface="Times New Roman"/>
                <a:cs typeface="Times New Roman"/>
              </a:rPr>
              <a:t>isotropy)</a:t>
            </a:r>
            <a:r>
              <a:rPr dirty="0" sz="1800" spc="-10" i="1">
                <a:latin typeface="华文楷体"/>
                <a:cs typeface="华文楷体"/>
              </a:rPr>
              <a:t>：</a:t>
            </a:r>
            <a:r>
              <a:rPr dirty="0" sz="2000" i="1">
                <a:latin typeface="华文楷体"/>
                <a:cs typeface="华文楷体"/>
              </a:rPr>
              <a:t>非晶体沿各个方向的物理性质都是一样</a:t>
            </a:r>
            <a:r>
              <a:rPr dirty="0" sz="2000" spc="5" i="1">
                <a:latin typeface="华文楷体"/>
                <a:cs typeface="华文楷体"/>
              </a:rPr>
              <a:t>的</a:t>
            </a:r>
            <a:endParaRPr sz="2000">
              <a:latin typeface="华文楷体"/>
              <a:cs typeface="华文楷体"/>
            </a:endParaRPr>
          </a:p>
          <a:p>
            <a:pPr marL="2473960">
              <a:lnSpc>
                <a:spcPct val="100000"/>
              </a:lnSpc>
              <a:spcBef>
                <a:spcPts val="1885"/>
              </a:spcBef>
            </a:pPr>
            <a:r>
              <a:rPr dirty="0" sz="2000" i="1">
                <a:latin typeface="华文楷体"/>
                <a:cs typeface="华文楷体"/>
              </a:rPr>
              <a:t>云母晶体在导热性能上具有各向异</a:t>
            </a:r>
            <a:r>
              <a:rPr dirty="0" sz="2000" spc="5" i="1">
                <a:latin typeface="华文楷体"/>
                <a:cs typeface="华文楷体"/>
              </a:rPr>
              <a:t>性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各向异性</a:t>
            </a:r>
            <a:r>
              <a:rPr dirty="0" sz="2000" spc="-10" b="1">
                <a:solidFill>
                  <a:srgbClr val="5B9BD4"/>
                </a:solidFill>
                <a:latin typeface="华文楷体"/>
                <a:cs typeface="华文楷体"/>
              </a:rPr>
              <a:t>（</a:t>
            </a:r>
            <a:r>
              <a:rPr dirty="0" sz="2000" spc="-10" b="1">
                <a:solidFill>
                  <a:srgbClr val="5B9BD4"/>
                </a:solidFill>
                <a:latin typeface="Times New Roman"/>
                <a:cs typeface="Times New Roman"/>
              </a:rPr>
              <a:t>anisotropy)</a:t>
            </a:r>
            <a:r>
              <a:rPr dirty="0" sz="2000" spc="-10" b="1">
                <a:solidFill>
                  <a:srgbClr val="5B9BD4"/>
                </a:solidFill>
                <a:latin typeface="华文楷体"/>
                <a:cs typeface="华文楷体"/>
              </a:rPr>
              <a:t>：</a:t>
            </a:r>
            <a:r>
              <a:rPr dirty="0" sz="2000" i="1">
                <a:latin typeface="华文楷体"/>
                <a:cs typeface="华文楷体"/>
              </a:rPr>
              <a:t>一些晶体沿不同方向的</a:t>
            </a:r>
            <a:r>
              <a:rPr dirty="0" sz="2000" b="1">
                <a:solidFill>
                  <a:srgbClr val="EC7C30"/>
                </a:solidFill>
                <a:latin typeface="华文楷体"/>
                <a:cs typeface="华文楷体"/>
              </a:rPr>
              <a:t>某些物理性质</a:t>
            </a:r>
            <a:r>
              <a:rPr dirty="0" sz="2000" i="1">
                <a:latin typeface="华文楷体"/>
                <a:cs typeface="华文楷体"/>
              </a:rPr>
              <a:t>不一</a:t>
            </a:r>
            <a:r>
              <a:rPr dirty="0" sz="2000" spc="5" i="1">
                <a:latin typeface="华文楷体"/>
                <a:cs typeface="华文楷体"/>
              </a:rPr>
              <a:t>样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7991" y="1760220"/>
            <a:ext cx="2394204" cy="2008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46336" y="2134552"/>
            <a:ext cx="1462397" cy="1193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72411" y="1737360"/>
            <a:ext cx="2005584" cy="20253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30122" y="2154707"/>
            <a:ext cx="1132834" cy="11085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86711" y="3372611"/>
            <a:ext cx="1777364" cy="403860"/>
          </a:xfrm>
          <a:prstGeom prst="rect">
            <a:avLst/>
          </a:prstGeom>
          <a:solidFill>
            <a:srgbClr val="FF0000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非晶体玻璃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567" y="3372611"/>
            <a:ext cx="1557655" cy="403860"/>
          </a:xfrm>
          <a:prstGeom prst="rect">
            <a:avLst/>
          </a:prstGeom>
          <a:solidFill>
            <a:srgbClr val="FFFF00">
              <a:alpha val="2589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晶体云母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2868" y="2183650"/>
            <a:ext cx="102870" cy="1083945"/>
          </a:xfrm>
          <a:custGeom>
            <a:avLst/>
            <a:gdLst/>
            <a:ahLst/>
            <a:cxnLst/>
            <a:rect l="l" t="t" r="r" b="b"/>
            <a:pathLst>
              <a:path w="102870" h="1083945">
                <a:moveTo>
                  <a:pt x="51572" y="75818"/>
                </a:moveTo>
                <a:lnTo>
                  <a:pt x="26187" y="75107"/>
                </a:lnTo>
                <a:lnTo>
                  <a:pt x="66408" y="0"/>
                </a:lnTo>
                <a:lnTo>
                  <a:pt x="92829" y="56781"/>
                </a:lnTo>
                <a:lnTo>
                  <a:pt x="52108" y="56781"/>
                </a:lnTo>
                <a:lnTo>
                  <a:pt x="51572" y="75818"/>
                </a:lnTo>
                <a:close/>
              </a:path>
              <a:path w="102870" h="1083945">
                <a:moveTo>
                  <a:pt x="76960" y="76530"/>
                </a:moveTo>
                <a:lnTo>
                  <a:pt x="51572" y="75818"/>
                </a:lnTo>
                <a:lnTo>
                  <a:pt x="52108" y="56781"/>
                </a:lnTo>
                <a:lnTo>
                  <a:pt x="77495" y="57492"/>
                </a:lnTo>
                <a:lnTo>
                  <a:pt x="76960" y="76530"/>
                </a:lnTo>
                <a:close/>
              </a:path>
              <a:path w="102870" h="1083945">
                <a:moveTo>
                  <a:pt x="102349" y="77241"/>
                </a:moveTo>
                <a:lnTo>
                  <a:pt x="76960" y="76530"/>
                </a:lnTo>
                <a:lnTo>
                  <a:pt x="77495" y="57492"/>
                </a:lnTo>
                <a:lnTo>
                  <a:pt x="52108" y="56781"/>
                </a:lnTo>
                <a:lnTo>
                  <a:pt x="92829" y="56781"/>
                </a:lnTo>
                <a:lnTo>
                  <a:pt x="102349" y="77241"/>
                </a:lnTo>
                <a:close/>
              </a:path>
              <a:path w="102870" h="1083945">
                <a:moveTo>
                  <a:pt x="50776" y="1007948"/>
                </a:moveTo>
                <a:lnTo>
                  <a:pt x="25389" y="1007236"/>
                </a:lnTo>
                <a:lnTo>
                  <a:pt x="51572" y="75818"/>
                </a:lnTo>
                <a:lnTo>
                  <a:pt x="76960" y="76530"/>
                </a:lnTo>
                <a:lnTo>
                  <a:pt x="50776" y="1007948"/>
                </a:lnTo>
                <a:close/>
              </a:path>
              <a:path w="102870" h="1083945">
                <a:moveTo>
                  <a:pt x="35940" y="1083767"/>
                </a:moveTo>
                <a:lnTo>
                  <a:pt x="0" y="1006525"/>
                </a:lnTo>
                <a:lnTo>
                  <a:pt x="25389" y="1007236"/>
                </a:lnTo>
                <a:lnTo>
                  <a:pt x="24853" y="1026274"/>
                </a:lnTo>
                <a:lnTo>
                  <a:pt x="50241" y="1026998"/>
                </a:lnTo>
                <a:lnTo>
                  <a:pt x="66350" y="1026998"/>
                </a:lnTo>
                <a:lnTo>
                  <a:pt x="35940" y="1083767"/>
                </a:lnTo>
                <a:close/>
              </a:path>
              <a:path w="102870" h="1083945">
                <a:moveTo>
                  <a:pt x="50241" y="1026998"/>
                </a:moveTo>
                <a:lnTo>
                  <a:pt x="24853" y="1026274"/>
                </a:lnTo>
                <a:lnTo>
                  <a:pt x="25389" y="1007236"/>
                </a:lnTo>
                <a:lnTo>
                  <a:pt x="50776" y="1007948"/>
                </a:lnTo>
                <a:lnTo>
                  <a:pt x="50241" y="1026998"/>
                </a:lnTo>
                <a:close/>
              </a:path>
              <a:path w="102870" h="1083945">
                <a:moveTo>
                  <a:pt x="66350" y="1026998"/>
                </a:moveTo>
                <a:lnTo>
                  <a:pt x="50241" y="1026998"/>
                </a:lnTo>
                <a:lnTo>
                  <a:pt x="50776" y="1007948"/>
                </a:lnTo>
                <a:lnTo>
                  <a:pt x="76174" y="1008659"/>
                </a:lnTo>
                <a:lnTo>
                  <a:pt x="66350" y="1026998"/>
                </a:lnTo>
                <a:close/>
              </a:path>
            </a:pathLst>
          </a:custGeom>
          <a:solidFill>
            <a:srgbClr val="00AF5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91429" y="2317788"/>
            <a:ext cx="958850" cy="775970"/>
          </a:xfrm>
          <a:custGeom>
            <a:avLst/>
            <a:gdLst/>
            <a:ahLst/>
            <a:cxnLst/>
            <a:rect l="l" t="t" r="r" b="b"/>
            <a:pathLst>
              <a:path w="958850" h="775969">
                <a:moveTo>
                  <a:pt x="35255" y="77558"/>
                </a:moveTo>
                <a:lnTo>
                  <a:pt x="0" y="0"/>
                </a:lnTo>
                <a:lnTo>
                  <a:pt x="83197" y="18326"/>
                </a:lnTo>
                <a:lnTo>
                  <a:pt x="76917" y="26085"/>
                </a:lnTo>
                <a:lnTo>
                  <a:pt x="52412" y="26085"/>
                </a:lnTo>
                <a:lnTo>
                  <a:pt x="36436" y="45821"/>
                </a:lnTo>
                <a:lnTo>
                  <a:pt x="51243" y="57805"/>
                </a:lnTo>
                <a:lnTo>
                  <a:pt x="35255" y="77558"/>
                </a:lnTo>
                <a:close/>
              </a:path>
              <a:path w="958850" h="775969">
                <a:moveTo>
                  <a:pt x="51243" y="57805"/>
                </a:moveTo>
                <a:lnTo>
                  <a:pt x="36436" y="45821"/>
                </a:lnTo>
                <a:lnTo>
                  <a:pt x="52412" y="26085"/>
                </a:lnTo>
                <a:lnTo>
                  <a:pt x="67218" y="38068"/>
                </a:lnTo>
                <a:lnTo>
                  <a:pt x="51243" y="57805"/>
                </a:lnTo>
                <a:close/>
              </a:path>
              <a:path w="958850" h="775969">
                <a:moveTo>
                  <a:pt x="67218" y="38068"/>
                </a:moveTo>
                <a:lnTo>
                  <a:pt x="52412" y="26085"/>
                </a:lnTo>
                <a:lnTo>
                  <a:pt x="76917" y="26085"/>
                </a:lnTo>
                <a:lnTo>
                  <a:pt x="67218" y="38068"/>
                </a:lnTo>
                <a:close/>
              </a:path>
              <a:path w="958850" h="775969">
                <a:moveTo>
                  <a:pt x="891273" y="737645"/>
                </a:moveTo>
                <a:lnTo>
                  <a:pt x="51243" y="57805"/>
                </a:lnTo>
                <a:lnTo>
                  <a:pt x="67218" y="38068"/>
                </a:lnTo>
                <a:lnTo>
                  <a:pt x="907251" y="717899"/>
                </a:lnTo>
                <a:lnTo>
                  <a:pt x="891273" y="737645"/>
                </a:lnTo>
                <a:close/>
              </a:path>
              <a:path w="958850" h="775969">
                <a:moveTo>
                  <a:pt x="946636" y="749630"/>
                </a:moveTo>
                <a:lnTo>
                  <a:pt x="906081" y="749630"/>
                </a:lnTo>
                <a:lnTo>
                  <a:pt x="922058" y="729881"/>
                </a:lnTo>
                <a:lnTo>
                  <a:pt x="907251" y="717899"/>
                </a:lnTo>
                <a:lnTo>
                  <a:pt x="923226" y="698157"/>
                </a:lnTo>
                <a:lnTo>
                  <a:pt x="946636" y="749630"/>
                </a:lnTo>
                <a:close/>
              </a:path>
              <a:path w="958850" h="775969">
                <a:moveTo>
                  <a:pt x="906081" y="749630"/>
                </a:moveTo>
                <a:lnTo>
                  <a:pt x="891273" y="737645"/>
                </a:lnTo>
                <a:lnTo>
                  <a:pt x="907251" y="717899"/>
                </a:lnTo>
                <a:lnTo>
                  <a:pt x="922058" y="729881"/>
                </a:lnTo>
                <a:lnTo>
                  <a:pt x="906081" y="749630"/>
                </a:lnTo>
                <a:close/>
              </a:path>
              <a:path w="958850" h="775969">
                <a:moveTo>
                  <a:pt x="958494" y="775703"/>
                </a:moveTo>
                <a:lnTo>
                  <a:pt x="875296" y="757389"/>
                </a:lnTo>
                <a:lnTo>
                  <a:pt x="891273" y="737645"/>
                </a:lnTo>
                <a:lnTo>
                  <a:pt x="906081" y="749630"/>
                </a:lnTo>
                <a:lnTo>
                  <a:pt x="946636" y="749630"/>
                </a:lnTo>
                <a:lnTo>
                  <a:pt x="958494" y="775703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8805" y="2334285"/>
            <a:ext cx="984250" cy="742315"/>
          </a:xfrm>
          <a:custGeom>
            <a:avLst/>
            <a:gdLst/>
            <a:ahLst/>
            <a:cxnLst/>
            <a:rect l="l" t="t" r="r" b="b"/>
            <a:pathLst>
              <a:path w="984250" h="742314">
                <a:moveTo>
                  <a:pt x="915561" y="35721"/>
                </a:moveTo>
                <a:lnTo>
                  <a:pt x="900277" y="15443"/>
                </a:lnTo>
                <a:lnTo>
                  <a:pt x="984059" y="0"/>
                </a:lnTo>
                <a:lnTo>
                  <a:pt x="972001" y="24256"/>
                </a:lnTo>
                <a:lnTo>
                  <a:pt x="930770" y="24256"/>
                </a:lnTo>
                <a:lnTo>
                  <a:pt x="915561" y="35721"/>
                </a:lnTo>
                <a:close/>
              </a:path>
              <a:path w="984250" h="742314">
                <a:moveTo>
                  <a:pt x="930849" y="56005"/>
                </a:moveTo>
                <a:lnTo>
                  <a:pt x="915561" y="35721"/>
                </a:lnTo>
                <a:lnTo>
                  <a:pt x="930770" y="24256"/>
                </a:lnTo>
                <a:lnTo>
                  <a:pt x="946061" y="44538"/>
                </a:lnTo>
                <a:lnTo>
                  <a:pt x="930849" y="56005"/>
                </a:lnTo>
                <a:close/>
              </a:path>
              <a:path w="984250" h="742314">
                <a:moveTo>
                  <a:pt x="946137" y="76288"/>
                </a:moveTo>
                <a:lnTo>
                  <a:pt x="930849" y="56005"/>
                </a:lnTo>
                <a:lnTo>
                  <a:pt x="946061" y="44538"/>
                </a:lnTo>
                <a:lnTo>
                  <a:pt x="930770" y="24256"/>
                </a:lnTo>
                <a:lnTo>
                  <a:pt x="972001" y="24256"/>
                </a:lnTo>
                <a:lnTo>
                  <a:pt x="946137" y="76288"/>
                </a:lnTo>
                <a:close/>
              </a:path>
              <a:path w="984250" h="742314">
                <a:moveTo>
                  <a:pt x="68491" y="706018"/>
                </a:moveTo>
                <a:lnTo>
                  <a:pt x="53200" y="685736"/>
                </a:lnTo>
                <a:lnTo>
                  <a:pt x="915561" y="35721"/>
                </a:lnTo>
                <a:lnTo>
                  <a:pt x="930849" y="56005"/>
                </a:lnTo>
                <a:lnTo>
                  <a:pt x="68491" y="706018"/>
                </a:lnTo>
                <a:close/>
              </a:path>
              <a:path w="984250" h="742314">
                <a:moveTo>
                  <a:pt x="0" y="741743"/>
                </a:moveTo>
                <a:lnTo>
                  <a:pt x="37909" y="665454"/>
                </a:lnTo>
                <a:lnTo>
                  <a:pt x="53200" y="685736"/>
                </a:lnTo>
                <a:lnTo>
                  <a:pt x="37985" y="697204"/>
                </a:lnTo>
                <a:lnTo>
                  <a:pt x="53276" y="717486"/>
                </a:lnTo>
                <a:lnTo>
                  <a:pt x="77137" y="717486"/>
                </a:lnTo>
                <a:lnTo>
                  <a:pt x="83781" y="726300"/>
                </a:lnTo>
                <a:lnTo>
                  <a:pt x="0" y="741743"/>
                </a:lnTo>
                <a:close/>
              </a:path>
              <a:path w="984250" h="742314">
                <a:moveTo>
                  <a:pt x="53276" y="717486"/>
                </a:moveTo>
                <a:lnTo>
                  <a:pt x="37985" y="697204"/>
                </a:lnTo>
                <a:lnTo>
                  <a:pt x="53200" y="685736"/>
                </a:lnTo>
                <a:lnTo>
                  <a:pt x="68491" y="706018"/>
                </a:lnTo>
                <a:lnTo>
                  <a:pt x="53276" y="717486"/>
                </a:lnTo>
                <a:close/>
              </a:path>
              <a:path w="984250" h="742314">
                <a:moveTo>
                  <a:pt x="77137" y="717486"/>
                </a:moveTo>
                <a:lnTo>
                  <a:pt x="53276" y="717486"/>
                </a:lnTo>
                <a:lnTo>
                  <a:pt x="68491" y="706018"/>
                </a:lnTo>
                <a:lnTo>
                  <a:pt x="77137" y="717486"/>
                </a:lnTo>
                <a:close/>
              </a:path>
            </a:pathLst>
          </a:custGeom>
          <a:solidFill>
            <a:srgbClr val="33E11C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3695" y="2656357"/>
            <a:ext cx="1374775" cy="97790"/>
          </a:xfrm>
          <a:custGeom>
            <a:avLst/>
            <a:gdLst/>
            <a:ahLst/>
            <a:cxnLst/>
            <a:rect l="l" t="t" r="r" b="b"/>
            <a:pathLst>
              <a:path w="1374775" h="97789">
                <a:moveTo>
                  <a:pt x="75526" y="76187"/>
                </a:moveTo>
                <a:lnTo>
                  <a:pt x="0" y="36766"/>
                </a:lnTo>
                <a:lnTo>
                  <a:pt x="76860" y="0"/>
                </a:lnTo>
                <a:lnTo>
                  <a:pt x="76421" y="25069"/>
                </a:lnTo>
                <a:lnTo>
                  <a:pt x="57365" y="25069"/>
                </a:lnTo>
                <a:lnTo>
                  <a:pt x="56921" y="50457"/>
                </a:lnTo>
                <a:lnTo>
                  <a:pt x="75971" y="50790"/>
                </a:lnTo>
                <a:lnTo>
                  <a:pt x="75526" y="76187"/>
                </a:lnTo>
                <a:close/>
              </a:path>
              <a:path w="1374775" h="97789">
                <a:moveTo>
                  <a:pt x="1349819" y="72529"/>
                </a:moveTo>
                <a:lnTo>
                  <a:pt x="1316913" y="72529"/>
                </a:lnTo>
                <a:lnTo>
                  <a:pt x="1317358" y="47142"/>
                </a:lnTo>
                <a:lnTo>
                  <a:pt x="1298308" y="46808"/>
                </a:lnTo>
                <a:lnTo>
                  <a:pt x="1298752" y="21412"/>
                </a:lnTo>
                <a:lnTo>
                  <a:pt x="1374267" y="60832"/>
                </a:lnTo>
                <a:lnTo>
                  <a:pt x="1349819" y="72529"/>
                </a:lnTo>
                <a:close/>
              </a:path>
              <a:path w="1374775" h="97789">
                <a:moveTo>
                  <a:pt x="75971" y="50790"/>
                </a:moveTo>
                <a:lnTo>
                  <a:pt x="56921" y="50457"/>
                </a:lnTo>
                <a:lnTo>
                  <a:pt x="57365" y="25069"/>
                </a:lnTo>
                <a:lnTo>
                  <a:pt x="76415" y="25403"/>
                </a:lnTo>
                <a:lnTo>
                  <a:pt x="75971" y="50790"/>
                </a:lnTo>
                <a:close/>
              </a:path>
              <a:path w="1374775" h="97789">
                <a:moveTo>
                  <a:pt x="76415" y="25403"/>
                </a:moveTo>
                <a:lnTo>
                  <a:pt x="57365" y="25069"/>
                </a:lnTo>
                <a:lnTo>
                  <a:pt x="76421" y="25069"/>
                </a:lnTo>
                <a:lnTo>
                  <a:pt x="76415" y="25403"/>
                </a:lnTo>
                <a:close/>
              </a:path>
              <a:path w="1374775" h="97789">
                <a:moveTo>
                  <a:pt x="1297863" y="72195"/>
                </a:moveTo>
                <a:lnTo>
                  <a:pt x="75971" y="50790"/>
                </a:lnTo>
                <a:lnTo>
                  <a:pt x="76415" y="25403"/>
                </a:lnTo>
                <a:lnTo>
                  <a:pt x="1298308" y="46808"/>
                </a:lnTo>
                <a:lnTo>
                  <a:pt x="1297863" y="72195"/>
                </a:lnTo>
                <a:close/>
              </a:path>
              <a:path w="1374775" h="97789">
                <a:moveTo>
                  <a:pt x="1316913" y="72529"/>
                </a:moveTo>
                <a:lnTo>
                  <a:pt x="1297863" y="72195"/>
                </a:lnTo>
                <a:lnTo>
                  <a:pt x="1298308" y="46808"/>
                </a:lnTo>
                <a:lnTo>
                  <a:pt x="1317358" y="47142"/>
                </a:lnTo>
                <a:lnTo>
                  <a:pt x="1316913" y="72529"/>
                </a:lnTo>
                <a:close/>
              </a:path>
              <a:path w="1374775" h="97789">
                <a:moveTo>
                  <a:pt x="1297419" y="97599"/>
                </a:moveTo>
                <a:lnTo>
                  <a:pt x="1297863" y="72195"/>
                </a:lnTo>
                <a:lnTo>
                  <a:pt x="1316913" y="72529"/>
                </a:lnTo>
                <a:lnTo>
                  <a:pt x="1349819" y="72529"/>
                </a:lnTo>
                <a:lnTo>
                  <a:pt x="1297419" y="97599"/>
                </a:lnTo>
                <a:close/>
              </a:path>
            </a:pathLst>
          </a:custGeom>
          <a:solidFill>
            <a:srgbClr val="FF0000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20996" y="2653958"/>
            <a:ext cx="114876" cy="1148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905" y="872820"/>
            <a:ext cx="7696834" cy="1033144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ct val="142000"/>
              </a:lnSpc>
              <a:spcBef>
                <a:spcPts val="33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例题</a:t>
            </a:r>
            <a:r>
              <a:rPr dirty="0" sz="2400" b="1">
                <a:solidFill>
                  <a:srgbClr val="5B9BD4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：</a:t>
            </a:r>
            <a:r>
              <a:rPr dirty="0" b="0">
                <a:latin typeface="微软雅黑 Light"/>
                <a:cs typeface="微软雅黑 Light"/>
              </a:rPr>
              <a:t>如图所示，有两个透明的固体，固体一是玻璃片。通过观</a:t>
            </a:r>
            <a:r>
              <a:rPr dirty="0" b="0">
                <a:latin typeface="微软雅黑 Light"/>
                <a:cs typeface="微软雅黑 Light"/>
              </a:rPr>
              <a:t>察 </a:t>
            </a:r>
            <a:r>
              <a:rPr dirty="0" b="0">
                <a:latin typeface="微软雅黑 Light"/>
                <a:cs typeface="微软雅黑 Light"/>
              </a:rPr>
              <a:t>实验，判断它们是晶体还是非晶体，并说明你的理由</a:t>
            </a:r>
            <a:r>
              <a:rPr dirty="0" spc="5" b="0">
                <a:latin typeface="微软雅黑 Light"/>
                <a:cs typeface="微软雅黑 Light"/>
              </a:rPr>
              <a:t>。</a:t>
            </a:r>
            <a:endParaRPr sz="2400">
              <a:latin typeface="微软雅黑 Light"/>
              <a:cs typeface="微软雅黑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80203" y="2550922"/>
            <a:ext cx="2153411" cy="1830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67611" y="2551810"/>
            <a:ext cx="2167127" cy="1836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38629" y="4457700"/>
            <a:ext cx="16249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404040"/>
                </a:solidFill>
                <a:latin typeface="微软雅黑"/>
                <a:cs typeface="微软雅黑"/>
              </a:rPr>
              <a:t>固体</a:t>
            </a:r>
            <a:r>
              <a:rPr dirty="0" sz="2000" spc="5">
                <a:solidFill>
                  <a:srgbClr val="404040"/>
                </a:solidFill>
                <a:latin typeface="微软雅黑"/>
                <a:cs typeface="微软雅黑"/>
              </a:rPr>
              <a:t>一</a:t>
            </a:r>
            <a:r>
              <a:rPr dirty="0" sz="2000" spc="-95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dirty="0" sz="2000">
                <a:solidFill>
                  <a:srgbClr val="404040"/>
                </a:solidFill>
                <a:latin typeface="微软雅黑"/>
                <a:cs typeface="微软雅黑"/>
              </a:rPr>
              <a:t>玻璃</a:t>
            </a:r>
            <a:r>
              <a:rPr dirty="0" sz="2000" spc="5">
                <a:solidFill>
                  <a:srgbClr val="404040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2884" y="4457700"/>
            <a:ext cx="78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404040"/>
                </a:solidFill>
                <a:latin typeface="微软雅黑"/>
                <a:cs typeface="微软雅黑"/>
              </a:rPr>
              <a:t>固体</a:t>
            </a:r>
            <a:r>
              <a:rPr dirty="0" sz="2000" spc="5">
                <a:solidFill>
                  <a:srgbClr val="404040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905" y="872820"/>
            <a:ext cx="7696834" cy="1033144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ct val="142000"/>
              </a:lnSpc>
              <a:spcBef>
                <a:spcPts val="33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例题</a:t>
            </a:r>
            <a:r>
              <a:rPr dirty="0" sz="2400" b="1">
                <a:solidFill>
                  <a:srgbClr val="5B9BD4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：</a:t>
            </a:r>
            <a:r>
              <a:rPr dirty="0" b="0">
                <a:latin typeface="微软雅黑 Light"/>
                <a:cs typeface="微软雅黑 Light"/>
              </a:rPr>
              <a:t>如图所示，有两个透明的固体，固体一是玻璃片。通过观</a:t>
            </a:r>
            <a:r>
              <a:rPr dirty="0" b="0">
                <a:latin typeface="微软雅黑 Light"/>
                <a:cs typeface="微软雅黑 Light"/>
              </a:rPr>
              <a:t>察 </a:t>
            </a:r>
            <a:r>
              <a:rPr dirty="0" b="0">
                <a:latin typeface="微软雅黑 Light"/>
                <a:cs typeface="微软雅黑 Light"/>
              </a:rPr>
              <a:t>实验，判断它们是晶体还是非晶体，并说明你的理由</a:t>
            </a:r>
            <a:r>
              <a:rPr dirty="0" spc="5" b="0">
                <a:latin typeface="微软雅黑 Light"/>
                <a:cs typeface="微软雅黑 Light"/>
              </a:rPr>
              <a:t>。</a:t>
            </a:r>
            <a:endParaRPr sz="2400">
              <a:latin typeface="微软雅黑 Light"/>
              <a:cs typeface="微软雅黑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905" y="872820"/>
            <a:ext cx="7696834" cy="1033144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ct val="142000"/>
              </a:lnSpc>
              <a:spcBef>
                <a:spcPts val="330"/>
              </a:spcBef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例题</a:t>
            </a:r>
            <a:r>
              <a:rPr dirty="0" sz="2400" b="1">
                <a:solidFill>
                  <a:srgbClr val="5B9BD4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：</a:t>
            </a:r>
            <a:r>
              <a:rPr dirty="0" b="0">
                <a:latin typeface="微软雅黑 Light"/>
                <a:cs typeface="微软雅黑 Light"/>
              </a:rPr>
              <a:t>如图所示，有两个透明的固体，固体一是玻璃片。通过观</a:t>
            </a:r>
            <a:r>
              <a:rPr dirty="0" b="0">
                <a:latin typeface="微软雅黑 Light"/>
                <a:cs typeface="微软雅黑 Light"/>
              </a:rPr>
              <a:t>察 </a:t>
            </a:r>
            <a:r>
              <a:rPr dirty="0" b="0">
                <a:latin typeface="微软雅黑 Light"/>
                <a:cs typeface="微软雅黑 Light"/>
              </a:rPr>
              <a:t>实验，判断它们是晶体还是非晶体，并说明你的理由</a:t>
            </a:r>
            <a:r>
              <a:rPr dirty="0" spc="5" b="0">
                <a:latin typeface="微软雅黑 Light"/>
                <a:cs typeface="微软雅黑 Light"/>
              </a:rPr>
              <a:t>。</a:t>
            </a:r>
            <a:endParaRPr sz="2400">
              <a:latin typeface="微软雅黑 Light"/>
              <a:cs typeface="微软雅黑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7196" y="4258055"/>
            <a:ext cx="2314955" cy="1757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85672" y="2191511"/>
            <a:ext cx="2314955" cy="1783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41548" y="2884932"/>
            <a:ext cx="1094740" cy="341630"/>
          </a:xfrm>
          <a:custGeom>
            <a:avLst/>
            <a:gdLst/>
            <a:ahLst/>
            <a:cxnLst/>
            <a:rect l="l" t="t" r="r" b="b"/>
            <a:pathLst>
              <a:path w="1094739" h="341630">
                <a:moveTo>
                  <a:pt x="923543" y="341376"/>
                </a:moveTo>
                <a:lnTo>
                  <a:pt x="923543" y="256032"/>
                </a:lnTo>
                <a:lnTo>
                  <a:pt x="0" y="256032"/>
                </a:lnTo>
                <a:lnTo>
                  <a:pt x="85343" y="170688"/>
                </a:lnTo>
                <a:lnTo>
                  <a:pt x="0" y="85344"/>
                </a:lnTo>
                <a:lnTo>
                  <a:pt x="923543" y="85344"/>
                </a:lnTo>
                <a:lnTo>
                  <a:pt x="923543" y="0"/>
                </a:lnTo>
                <a:lnTo>
                  <a:pt x="1094231" y="170688"/>
                </a:lnTo>
                <a:lnTo>
                  <a:pt x="923543" y="34137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25711" y="2870111"/>
            <a:ext cx="1118870" cy="372110"/>
          </a:xfrm>
          <a:custGeom>
            <a:avLst/>
            <a:gdLst/>
            <a:ahLst/>
            <a:cxnLst/>
            <a:rect l="l" t="t" r="r" b="b"/>
            <a:pathLst>
              <a:path w="1118870" h="372110">
                <a:moveTo>
                  <a:pt x="932586" y="100571"/>
                </a:moveTo>
                <a:lnTo>
                  <a:pt x="932586" y="0"/>
                </a:lnTo>
                <a:lnTo>
                  <a:pt x="947915" y="15328"/>
                </a:lnTo>
                <a:lnTo>
                  <a:pt x="945286" y="15328"/>
                </a:lnTo>
                <a:lnTo>
                  <a:pt x="934440" y="19824"/>
                </a:lnTo>
                <a:lnTo>
                  <a:pt x="945286" y="30670"/>
                </a:lnTo>
                <a:lnTo>
                  <a:pt x="945286" y="94221"/>
                </a:lnTo>
                <a:lnTo>
                  <a:pt x="938936" y="94221"/>
                </a:lnTo>
                <a:lnTo>
                  <a:pt x="932586" y="100571"/>
                </a:lnTo>
                <a:close/>
              </a:path>
              <a:path w="1118870" h="372110">
                <a:moveTo>
                  <a:pt x="945286" y="30670"/>
                </a:moveTo>
                <a:lnTo>
                  <a:pt x="934440" y="19824"/>
                </a:lnTo>
                <a:lnTo>
                  <a:pt x="945286" y="15328"/>
                </a:lnTo>
                <a:lnTo>
                  <a:pt x="945286" y="30670"/>
                </a:lnTo>
                <a:close/>
              </a:path>
              <a:path w="1118870" h="372110">
                <a:moveTo>
                  <a:pt x="1100442" y="185826"/>
                </a:moveTo>
                <a:lnTo>
                  <a:pt x="945286" y="30670"/>
                </a:lnTo>
                <a:lnTo>
                  <a:pt x="945286" y="15328"/>
                </a:lnTo>
                <a:lnTo>
                  <a:pt x="947915" y="15328"/>
                </a:lnTo>
                <a:lnTo>
                  <a:pt x="1113916" y="181330"/>
                </a:lnTo>
                <a:lnTo>
                  <a:pt x="1104938" y="181330"/>
                </a:lnTo>
                <a:lnTo>
                  <a:pt x="1100442" y="185826"/>
                </a:lnTo>
                <a:close/>
              </a:path>
              <a:path w="1118870" h="372110">
                <a:moveTo>
                  <a:pt x="91592" y="185826"/>
                </a:moveTo>
                <a:lnTo>
                  <a:pt x="0" y="94221"/>
                </a:lnTo>
                <a:lnTo>
                  <a:pt x="932586" y="94221"/>
                </a:lnTo>
                <a:lnTo>
                  <a:pt x="932586" y="96088"/>
                </a:lnTo>
                <a:lnTo>
                  <a:pt x="19824" y="96088"/>
                </a:lnTo>
                <a:lnTo>
                  <a:pt x="15328" y="106921"/>
                </a:lnTo>
                <a:lnTo>
                  <a:pt x="30657" y="106921"/>
                </a:lnTo>
                <a:lnTo>
                  <a:pt x="105067" y="181330"/>
                </a:lnTo>
                <a:lnTo>
                  <a:pt x="96088" y="181330"/>
                </a:lnTo>
                <a:lnTo>
                  <a:pt x="91592" y="185826"/>
                </a:lnTo>
                <a:close/>
              </a:path>
              <a:path w="1118870" h="372110">
                <a:moveTo>
                  <a:pt x="945286" y="100571"/>
                </a:moveTo>
                <a:lnTo>
                  <a:pt x="932586" y="100571"/>
                </a:lnTo>
                <a:lnTo>
                  <a:pt x="938936" y="94221"/>
                </a:lnTo>
                <a:lnTo>
                  <a:pt x="945286" y="94221"/>
                </a:lnTo>
                <a:lnTo>
                  <a:pt x="945286" y="100571"/>
                </a:lnTo>
                <a:close/>
              </a:path>
              <a:path w="1118870" h="372110">
                <a:moveTo>
                  <a:pt x="30657" y="106921"/>
                </a:moveTo>
                <a:lnTo>
                  <a:pt x="15328" y="106921"/>
                </a:lnTo>
                <a:lnTo>
                  <a:pt x="19824" y="96088"/>
                </a:lnTo>
                <a:lnTo>
                  <a:pt x="30657" y="106921"/>
                </a:lnTo>
                <a:close/>
              </a:path>
              <a:path w="1118870" h="372110">
                <a:moveTo>
                  <a:pt x="945286" y="106921"/>
                </a:moveTo>
                <a:lnTo>
                  <a:pt x="30657" y="106921"/>
                </a:lnTo>
                <a:lnTo>
                  <a:pt x="19824" y="96088"/>
                </a:lnTo>
                <a:lnTo>
                  <a:pt x="932586" y="96088"/>
                </a:lnTo>
                <a:lnTo>
                  <a:pt x="932586" y="100571"/>
                </a:lnTo>
                <a:lnTo>
                  <a:pt x="945286" y="100571"/>
                </a:lnTo>
                <a:lnTo>
                  <a:pt x="945286" y="106921"/>
                </a:lnTo>
                <a:close/>
              </a:path>
              <a:path w="1118870" h="372110">
                <a:moveTo>
                  <a:pt x="96088" y="190322"/>
                </a:moveTo>
                <a:lnTo>
                  <a:pt x="91592" y="185826"/>
                </a:lnTo>
                <a:lnTo>
                  <a:pt x="96088" y="181330"/>
                </a:lnTo>
                <a:lnTo>
                  <a:pt x="96088" y="190322"/>
                </a:lnTo>
                <a:close/>
              </a:path>
              <a:path w="1118870" h="372110">
                <a:moveTo>
                  <a:pt x="105067" y="190322"/>
                </a:moveTo>
                <a:lnTo>
                  <a:pt x="96088" y="190322"/>
                </a:lnTo>
                <a:lnTo>
                  <a:pt x="96088" y="181330"/>
                </a:lnTo>
                <a:lnTo>
                  <a:pt x="105067" y="181330"/>
                </a:lnTo>
                <a:lnTo>
                  <a:pt x="109562" y="185826"/>
                </a:lnTo>
                <a:lnTo>
                  <a:pt x="105067" y="190322"/>
                </a:lnTo>
                <a:close/>
              </a:path>
              <a:path w="1118870" h="372110">
                <a:moveTo>
                  <a:pt x="1104938" y="190322"/>
                </a:moveTo>
                <a:lnTo>
                  <a:pt x="1100442" y="185826"/>
                </a:lnTo>
                <a:lnTo>
                  <a:pt x="1104938" y="181330"/>
                </a:lnTo>
                <a:lnTo>
                  <a:pt x="1104938" y="190322"/>
                </a:lnTo>
                <a:close/>
              </a:path>
              <a:path w="1118870" h="372110">
                <a:moveTo>
                  <a:pt x="1113916" y="190322"/>
                </a:moveTo>
                <a:lnTo>
                  <a:pt x="1104938" y="190322"/>
                </a:lnTo>
                <a:lnTo>
                  <a:pt x="1104938" y="181330"/>
                </a:lnTo>
                <a:lnTo>
                  <a:pt x="1113916" y="181330"/>
                </a:lnTo>
                <a:lnTo>
                  <a:pt x="1118412" y="185826"/>
                </a:lnTo>
                <a:lnTo>
                  <a:pt x="1113916" y="190322"/>
                </a:lnTo>
                <a:close/>
              </a:path>
              <a:path w="1118870" h="372110">
                <a:moveTo>
                  <a:pt x="932586" y="277418"/>
                </a:moveTo>
                <a:lnTo>
                  <a:pt x="0" y="277418"/>
                </a:lnTo>
                <a:lnTo>
                  <a:pt x="91592" y="185826"/>
                </a:lnTo>
                <a:lnTo>
                  <a:pt x="96088" y="190322"/>
                </a:lnTo>
                <a:lnTo>
                  <a:pt x="105067" y="190322"/>
                </a:lnTo>
                <a:lnTo>
                  <a:pt x="30670" y="264718"/>
                </a:lnTo>
                <a:lnTo>
                  <a:pt x="15328" y="264718"/>
                </a:lnTo>
                <a:lnTo>
                  <a:pt x="19824" y="275564"/>
                </a:lnTo>
                <a:lnTo>
                  <a:pt x="932586" y="275564"/>
                </a:lnTo>
                <a:lnTo>
                  <a:pt x="932586" y="277418"/>
                </a:lnTo>
                <a:close/>
              </a:path>
              <a:path w="1118870" h="372110">
                <a:moveTo>
                  <a:pt x="947915" y="356323"/>
                </a:moveTo>
                <a:lnTo>
                  <a:pt x="945286" y="356323"/>
                </a:lnTo>
                <a:lnTo>
                  <a:pt x="945286" y="340982"/>
                </a:lnTo>
                <a:lnTo>
                  <a:pt x="1100442" y="185826"/>
                </a:lnTo>
                <a:lnTo>
                  <a:pt x="1104938" y="190322"/>
                </a:lnTo>
                <a:lnTo>
                  <a:pt x="1113916" y="190322"/>
                </a:lnTo>
                <a:lnTo>
                  <a:pt x="947915" y="356323"/>
                </a:lnTo>
                <a:close/>
              </a:path>
              <a:path w="1118870" h="372110">
                <a:moveTo>
                  <a:pt x="19824" y="275564"/>
                </a:moveTo>
                <a:lnTo>
                  <a:pt x="15328" y="264718"/>
                </a:lnTo>
                <a:lnTo>
                  <a:pt x="30670" y="264718"/>
                </a:lnTo>
                <a:lnTo>
                  <a:pt x="19824" y="275564"/>
                </a:lnTo>
                <a:close/>
              </a:path>
              <a:path w="1118870" h="372110">
                <a:moveTo>
                  <a:pt x="932586" y="275564"/>
                </a:moveTo>
                <a:lnTo>
                  <a:pt x="19824" y="275564"/>
                </a:lnTo>
                <a:lnTo>
                  <a:pt x="30670" y="264718"/>
                </a:lnTo>
                <a:lnTo>
                  <a:pt x="945286" y="264718"/>
                </a:lnTo>
                <a:lnTo>
                  <a:pt x="945286" y="271068"/>
                </a:lnTo>
                <a:lnTo>
                  <a:pt x="932586" y="271068"/>
                </a:lnTo>
                <a:lnTo>
                  <a:pt x="932586" y="275564"/>
                </a:lnTo>
                <a:close/>
              </a:path>
              <a:path w="1118870" h="372110">
                <a:moveTo>
                  <a:pt x="932586" y="371652"/>
                </a:moveTo>
                <a:lnTo>
                  <a:pt x="932586" y="271068"/>
                </a:lnTo>
                <a:lnTo>
                  <a:pt x="938936" y="277418"/>
                </a:lnTo>
                <a:lnTo>
                  <a:pt x="945286" y="277418"/>
                </a:lnTo>
                <a:lnTo>
                  <a:pt x="945286" y="340982"/>
                </a:lnTo>
                <a:lnTo>
                  <a:pt x="934440" y="351828"/>
                </a:lnTo>
                <a:lnTo>
                  <a:pt x="945286" y="356323"/>
                </a:lnTo>
                <a:lnTo>
                  <a:pt x="947915" y="356323"/>
                </a:lnTo>
                <a:lnTo>
                  <a:pt x="932586" y="371652"/>
                </a:lnTo>
                <a:close/>
              </a:path>
              <a:path w="1118870" h="372110">
                <a:moveTo>
                  <a:pt x="945286" y="277418"/>
                </a:moveTo>
                <a:lnTo>
                  <a:pt x="938936" y="277418"/>
                </a:lnTo>
                <a:lnTo>
                  <a:pt x="932586" y="271068"/>
                </a:lnTo>
                <a:lnTo>
                  <a:pt x="945286" y="271068"/>
                </a:lnTo>
                <a:lnTo>
                  <a:pt x="945286" y="277418"/>
                </a:lnTo>
                <a:close/>
              </a:path>
              <a:path w="1118870" h="372110">
                <a:moveTo>
                  <a:pt x="945286" y="356323"/>
                </a:moveTo>
                <a:lnTo>
                  <a:pt x="934440" y="351828"/>
                </a:lnTo>
                <a:lnTo>
                  <a:pt x="945286" y="340982"/>
                </a:lnTo>
                <a:lnTo>
                  <a:pt x="945286" y="35632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41548" y="4966715"/>
            <a:ext cx="1094740" cy="341630"/>
          </a:xfrm>
          <a:custGeom>
            <a:avLst/>
            <a:gdLst/>
            <a:ahLst/>
            <a:cxnLst/>
            <a:rect l="l" t="t" r="r" b="b"/>
            <a:pathLst>
              <a:path w="1094739" h="341629">
                <a:moveTo>
                  <a:pt x="923543" y="341375"/>
                </a:moveTo>
                <a:lnTo>
                  <a:pt x="923543" y="256032"/>
                </a:lnTo>
                <a:lnTo>
                  <a:pt x="0" y="256032"/>
                </a:lnTo>
                <a:lnTo>
                  <a:pt x="85343" y="170687"/>
                </a:lnTo>
                <a:lnTo>
                  <a:pt x="0" y="85344"/>
                </a:lnTo>
                <a:lnTo>
                  <a:pt x="923543" y="85344"/>
                </a:lnTo>
                <a:lnTo>
                  <a:pt x="923543" y="0"/>
                </a:lnTo>
                <a:lnTo>
                  <a:pt x="1094231" y="170687"/>
                </a:lnTo>
                <a:lnTo>
                  <a:pt x="923543" y="3413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5711" y="4951641"/>
            <a:ext cx="1118870" cy="372110"/>
          </a:xfrm>
          <a:custGeom>
            <a:avLst/>
            <a:gdLst/>
            <a:ahLst/>
            <a:cxnLst/>
            <a:rect l="l" t="t" r="r" b="b"/>
            <a:pathLst>
              <a:path w="1118870" h="372110">
                <a:moveTo>
                  <a:pt x="932586" y="100571"/>
                </a:moveTo>
                <a:lnTo>
                  <a:pt x="932586" y="0"/>
                </a:lnTo>
                <a:lnTo>
                  <a:pt x="947915" y="15328"/>
                </a:lnTo>
                <a:lnTo>
                  <a:pt x="945286" y="15328"/>
                </a:lnTo>
                <a:lnTo>
                  <a:pt x="934440" y="19824"/>
                </a:lnTo>
                <a:lnTo>
                  <a:pt x="945286" y="30670"/>
                </a:lnTo>
                <a:lnTo>
                  <a:pt x="945286" y="94221"/>
                </a:lnTo>
                <a:lnTo>
                  <a:pt x="938936" y="94221"/>
                </a:lnTo>
                <a:lnTo>
                  <a:pt x="932586" y="100571"/>
                </a:lnTo>
                <a:close/>
              </a:path>
              <a:path w="1118870" h="372110">
                <a:moveTo>
                  <a:pt x="945286" y="30670"/>
                </a:moveTo>
                <a:lnTo>
                  <a:pt x="934440" y="19824"/>
                </a:lnTo>
                <a:lnTo>
                  <a:pt x="945286" y="15328"/>
                </a:lnTo>
                <a:lnTo>
                  <a:pt x="945286" y="30670"/>
                </a:lnTo>
                <a:close/>
              </a:path>
              <a:path w="1118870" h="372110">
                <a:moveTo>
                  <a:pt x="1100442" y="185826"/>
                </a:moveTo>
                <a:lnTo>
                  <a:pt x="945286" y="30670"/>
                </a:lnTo>
                <a:lnTo>
                  <a:pt x="945286" y="15328"/>
                </a:lnTo>
                <a:lnTo>
                  <a:pt x="947915" y="15328"/>
                </a:lnTo>
                <a:lnTo>
                  <a:pt x="1113917" y="181330"/>
                </a:lnTo>
                <a:lnTo>
                  <a:pt x="1104938" y="181330"/>
                </a:lnTo>
                <a:lnTo>
                  <a:pt x="1100442" y="185826"/>
                </a:lnTo>
                <a:close/>
              </a:path>
              <a:path w="1118870" h="372110">
                <a:moveTo>
                  <a:pt x="91592" y="185826"/>
                </a:moveTo>
                <a:lnTo>
                  <a:pt x="0" y="94221"/>
                </a:lnTo>
                <a:lnTo>
                  <a:pt x="932586" y="94221"/>
                </a:lnTo>
                <a:lnTo>
                  <a:pt x="932586" y="96088"/>
                </a:lnTo>
                <a:lnTo>
                  <a:pt x="19824" y="96088"/>
                </a:lnTo>
                <a:lnTo>
                  <a:pt x="15328" y="106921"/>
                </a:lnTo>
                <a:lnTo>
                  <a:pt x="30657" y="106921"/>
                </a:lnTo>
                <a:lnTo>
                  <a:pt x="105067" y="181330"/>
                </a:lnTo>
                <a:lnTo>
                  <a:pt x="96088" y="181330"/>
                </a:lnTo>
                <a:lnTo>
                  <a:pt x="91592" y="185826"/>
                </a:lnTo>
                <a:close/>
              </a:path>
              <a:path w="1118870" h="372110">
                <a:moveTo>
                  <a:pt x="945286" y="100571"/>
                </a:moveTo>
                <a:lnTo>
                  <a:pt x="932586" y="100571"/>
                </a:lnTo>
                <a:lnTo>
                  <a:pt x="938936" y="94221"/>
                </a:lnTo>
                <a:lnTo>
                  <a:pt x="945286" y="94221"/>
                </a:lnTo>
                <a:lnTo>
                  <a:pt x="945286" y="100571"/>
                </a:lnTo>
                <a:close/>
              </a:path>
              <a:path w="1118870" h="372110">
                <a:moveTo>
                  <a:pt x="30657" y="106921"/>
                </a:moveTo>
                <a:lnTo>
                  <a:pt x="15328" y="106921"/>
                </a:lnTo>
                <a:lnTo>
                  <a:pt x="19824" y="96088"/>
                </a:lnTo>
                <a:lnTo>
                  <a:pt x="30657" y="106921"/>
                </a:lnTo>
                <a:close/>
              </a:path>
              <a:path w="1118870" h="372110">
                <a:moveTo>
                  <a:pt x="945286" y="106921"/>
                </a:moveTo>
                <a:lnTo>
                  <a:pt x="30657" y="106921"/>
                </a:lnTo>
                <a:lnTo>
                  <a:pt x="19824" y="96088"/>
                </a:lnTo>
                <a:lnTo>
                  <a:pt x="932586" y="96088"/>
                </a:lnTo>
                <a:lnTo>
                  <a:pt x="932586" y="100571"/>
                </a:lnTo>
                <a:lnTo>
                  <a:pt x="945286" y="100571"/>
                </a:lnTo>
                <a:lnTo>
                  <a:pt x="945286" y="106921"/>
                </a:lnTo>
                <a:close/>
              </a:path>
              <a:path w="1118870" h="372110">
                <a:moveTo>
                  <a:pt x="96088" y="190322"/>
                </a:moveTo>
                <a:lnTo>
                  <a:pt x="91592" y="185826"/>
                </a:lnTo>
                <a:lnTo>
                  <a:pt x="96088" y="181330"/>
                </a:lnTo>
                <a:lnTo>
                  <a:pt x="96088" y="190322"/>
                </a:lnTo>
                <a:close/>
              </a:path>
              <a:path w="1118870" h="372110">
                <a:moveTo>
                  <a:pt x="105067" y="190322"/>
                </a:moveTo>
                <a:lnTo>
                  <a:pt x="96088" y="190322"/>
                </a:lnTo>
                <a:lnTo>
                  <a:pt x="96088" y="181330"/>
                </a:lnTo>
                <a:lnTo>
                  <a:pt x="105067" y="181330"/>
                </a:lnTo>
                <a:lnTo>
                  <a:pt x="109562" y="185826"/>
                </a:lnTo>
                <a:lnTo>
                  <a:pt x="105067" y="190322"/>
                </a:lnTo>
                <a:close/>
              </a:path>
              <a:path w="1118870" h="372110">
                <a:moveTo>
                  <a:pt x="1104938" y="190322"/>
                </a:moveTo>
                <a:lnTo>
                  <a:pt x="1100442" y="185826"/>
                </a:lnTo>
                <a:lnTo>
                  <a:pt x="1104938" y="181330"/>
                </a:lnTo>
                <a:lnTo>
                  <a:pt x="1104938" y="190322"/>
                </a:lnTo>
                <a:close/>
              </a:path>
              <a:path w="1118870" h="372110">
                <a:moveTo>
                  <a:pt x="1113916" y="190322"/>
                </a:moveTo>
                <a:lnTo>
                  <a:pt x="1104938" y="190322"/>
                </a:lnTo>
                <a:lnTo>
                  <a:pt x="1104938" y="181330"/>
                </a:lnTo>
                <a:lnTo>
                  <a:pt x="1113917" y="181330"/>
                </a:lnTo>
                <a:lnTo>
                  <a:pt x="1118412" y="185826"/>
                </a:lnTo>
                <a:lnTo>
                  <a:pt x="1113916" y="190322"/>
                </a:lnTo>
                <a:close/>
              </a:path>
              <a:path w="1118870" h="372110">
                <a:moveTo>
                  <a:pt x="932586" y="277431"/>
                </a:moveTo>
                <a:lnTo>
                  <a:pt x="0" y="277431"/>
                </a:lnTo>
                <a:lnTo>
                  <a:pt x="91592" y="185826"/>
                </a:lnTo>
                <a:lnTo>
                  <a:pt x="96088" y="190322"/>
                </a:lnTo>
                <a:lnTo>
                  <a:pt x="105067" y="190322"/>
                </a:lnTo>
                <a:lnTo>
                  <a:pt x="30657" y="264731"/>
                </a:lnTo>
                <a:lnTo>
                  <a:pt x="15328" y="264731"/>
                </a:lnTo>
                <a:lnTo>
                  <a:pt x="19824" y="275564"/>
                </a:lnTo>
                <a:lnTo>
                  <a:pt x="932586" y="275564"/>
                </a:lnTo>
                <a:lnTo>
                  <a:pt x="932586" y="277431"/>
                </a:lnTo>
                <a:close/>
              </a:path>
              <a:path w="1118870" h="372110">
                <a:moveTo>
                  <a:pt x="947915" y="356323"/>
                </a:moveTo>
                <a:lnTo>
                  <a:pt x="945286" y="356323"/>
                </a:lnTo>
                <a:lnTo>
                  <a:pt x="945286" y="340982"/>
                </a:lnTo>
                <a:lnTo>
                  <a:pt x="1100442" y="185826"/>
                </a:lnTo>
                <a:lnTo>
                  <a:pt x="1104938" y="190322"/>
                </a:lnTo>
                <a:lnTo>
                  <a:pt x="1113916" y="190322"/>
                </a:lnTo>
                <a:lnTo>
                  <a:pt x="947915" y="356323"/>
                </a:lnTo>
                <a:close/>
              </a:path>
              <a:path w="1118870" h="372110">
                <a:moveTo>
                  <a:pt x="19824" y="275564"/>
                </a:moveTo>
                <a:lnTo>
                  <a:pt x="15328" y="264731"/>
                </a:lnTo>
                <a:lnTo>
                  <a:pt x="30657" y="264731"/>
                </a:lnTo>
                <a:lnTo>
                  <a:pt x="19824" y="275564"/>
                </a:lnTo>
                <a:close/>
              </a:path>
              <a:path w="1118870" h="372110">
                <a:moveTo>
                  <a:pt x="932586" y="275564"/>
                </a:moveTo>
                <a:lnTo>
                  <a:pt x="19824" y="275564"/>
                </a:lnTo>
                <a:lnTo>
                  <a:pt x="30657" y="264731"/>
                </a:lnTo>
                <a:lnTo>
                  <a:pt x="945286" y="264731"/>
                </a:lnTo>
                <a:lnTo>
                  <a:pt x="945286" y="271081"/>
                </a:lnTo>
                <a:lnTo>
                  <a:pt x="932586" y="271081"/>
                </a:lnTo>
                <a:lnTo>
                  <a:pt x="932586" y="275564"/>
                </a:lnTo>
                <a:close/>
              </a:path>
              <a:path w="1118870" h="372110">
                <a:moveTo>
                  <a:pt x="932586" y="371652"/>
                </a:moveTo>
                <a:lnTo>
                  <a:pt x="932586" y="271081"/>
                </a:lnTo>
                <a:lnTo>
                  <a:pt x="938936" y="277431"/>
                </a:lnTo>
                <a:lnTo>
                  <a:pt x="945286" y="277431"/>
                </a:lnTo>
                <a:lnTo>
                  <a:pt x="945286" y="340982"/>
                </a:lnTo>
                <a:lnTo>
                  <a:pt x="934440" y="351828"/>
                </a:lnTo>
                <a:lnTo>
                  <a:pt x="945286" y="356323"/>
                </a:lnTo>
                <a:lnTo>
                  <a:pt x="947915" y="356323"/>
                </a:lnTo>
                <a:lnTo>
                  <a:pt x="932586" y="371652"/>
                </a:lnTo>
                <a:close/>
              </a:path>
              <a:path w="1118870" h="372110">
                <a:moveTo>
                  <a:pt x="945286" y="277431"/>
                </a:moveTo>
                <a:lnTo>
                  <a:pt x="938936" y="277431"/>
                </a:lnTo>
                <a:lnTo>
                  <a:pt x="932586" y="271081"/>
                </a:lnTo>
                <a:lnTo>
                  <a:pt x="945286" y="271081"/>
                </a:lnTo>
                <a:lnTo>
                  <a:pt x="945286" y="277431"/>
                </a:lnTo>
                <a:close/>
              </a:path>
              <a:path w="1118870" h="372110">
                <a:moveTo>
                  <a:pt x="945286" y="356323"/>
                </a:moveTo>
                <a:lnTo>
                  <a:pt x="934440" y="351828"/>
                </a:lnTo>
                <a:lnTo>
                  <a:pt x="945286" y="340982"/>
                </a:lnTo>
                <a:lnTo>
                  <a:pt x="945286" y="35632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30985" y="3589020"/>
            <a:ext cx="16249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404040"/>
                </a:solidFill>
                <a:latin typeface="微软雅黑"/>
                <a:cs typeface="微软雅黑"/>
              </a:rPr>
              <a:t>固体</a:t>
            </a:r>
            <a:r>
              <a:rPr dirty="0" sz="2000" spc="5">
                <a:solidFill>
                  <a:srgbClr val="404040"/>
                </a:solidFill>
                <a:latin typeface="微软雅黑"/>
                <a:cs typeface="微软雅黑"/>
              </a:rPr>
              <a:t>一</a:t>
            </a:r>
            <a:r>
              <a:rPr dirty="0" sz="2000" spc="-95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dirty="0" sz="2000">
                <a:solidFill>
                  <a:srgbClr val="404040"/>
                </a:solidFill>
                <a:latin typeface="微软雅黑"/>
                <a:cs typeface="微软雅黑"/>
              </a:rPr>
              <a:t>玻璃</a:t>
            </a:r>
            <a:r>
              <a:rPr dirty="0" sz="2000" spc="5">
                <a:solidFill>
                  <a:srgbClr val="404040"/>
                </a:solidFill>
                <a:latin typeface="微软雅黑"/>
                <a:cs typeface="微软雅黑"/>
              </a:rPr>
              <a:t>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6875" y="2886709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C7C30"/>
                </a:solidFill>
                <a:latin typeface="微软雅黑"/>
                <a:cs typeface="微软雅黑"/>
              </a:rPr>
              <a:t>非晶体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244" y="5581650"/>
            <a:ext cx="1826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404040"/>
                </a:solidFill>
                <a:latin typeface="微软雅黑"/>
                <a:cs typeface="微软雅黑"/>
              </a:rPr>
              <a:t>固体</a:t>
            </a:r>
            <a:r>
              <a:rPr dirty="0" sz="2000" spc="5">
                <a:solidFill>
                  <a:srgbClr val="404040"/>
                </a:solidFill>
                <a:latin typeface="微软雅黑"/>
                <a:cs typeface="微软雅黑"/>
              </a:rPr>
              <a:t>二</a:t>
            </a:r>
            <a:r>
              <a:rPr dirty="0" sz="2000" spc="295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dirty="0" sz="2400" b="1">
                <a:solidFill>
                  <a:srgbClr val="FFC000"/>
                </a:solidFill>
                <a:latin typeface="微软雅黑"/>
                <a:cs typeface="微软雅黑"/>
              </a:rPr>
              <a:t>方解石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46875" y="496697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C7C30"/>
                </a:solidFill>
                <a:latin typeface="微软雅黑"/>
                <a:cs typeface="微软雅黑"/>
              </a:rPr>
              <a:t>晶体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23185" y="2640964"/>
            <a:ext cx="434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方解石晶体在</a:t>
            </a:r>
            <a:r>
              <a:rPr dirty="0" sz="2000">
                <a:solidFill>
                  <a:srgbClr val="5B9BD4"/>
                </a:solidFill>
                <a:latin typeface="微软雅黑"/>
                <a:cs typeface="微软雅黑"/>
              </a:rPr>
              <a:t>光学性质</a:t>
            </a:r>
            <a:r>
              <a:rPr dirty="0" sz="2000">
                <a:latin typeface="微软雅黑"/>
                <a:cs typeface="微软雅黑"/>
              </a:rPr>
              <a:t>上具有各向异</a:t>
            </a:r>
            <a:r>
              <a:rPr dirty="0" sz="2000" spc="5">
                <a:latin typeface="微软雅黑"/>
                <a:cs typeface="微软雅黑"/>
              </a:rPr>
              <a:t>性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4719" y="2255520"/>
            <a:ext cx="1528572" cy="1092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4211" y="3467100"/>
            <a:ext cx="1528572" cy="1124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73760" y="3879850"/>
            <a:ext cx="6353810" cy="19011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6212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方铅矿石在</a:t>
            </a:r>
            <a:r>
              <a:rPr dirty="0" sz="2000">
                <a:solidFill>
                  <a:srgbClr val="5B9BD4"/>
                </a:solidFill>
                <a:latin typeface="微软雅黑"/>
                <a:cs typeface="微软雅黑"/>
              </a:rPr>
              <a:t>导电性能</a:t>
            </a:r>
            <a:r>
              <a:rPr dirty="0" sz="2000">
                <a:latin typeface="微软雅黑"/>
                <a:cs typeface="微软雅黑"/>
              </a:rPr>
              <a:t>上具有各向异</a:t>
            </a:r>
            <a:r>
              <a:rPr dirty="0" sz="2000" spc="5">
                <a:latin typeface="微软雅黑"/>
                <a:cs typeface="微软雅黑"/>
              </a:rPr>
              <a:t>性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EC7C30"/>
                </a:solidFill>
                <a:latin typeface="微软雅黑"/>
                <a:cs typeface="微软雅黑"/>
              </a:rPr>
              <a:t>注意：</a:t>
            </a:r>
            <a:endParaRPr sz="2400">
              <a:latin typeface="微软雅黑"/>
              <a:cs typeface="微软雅黑"/>
            </a:endParaRPr>
          </a:p>
          <a:p>
            <a:pPr marL="241300">
              <a:lnSpc>
                <a:spcPct val="100000"/>
              </a:lnSpc>
              <a:spcBef>
                <a:spcPts val="675"/>
              </a:spcBef>
            </a:pPr>
            <a:r>
              <a:rPr dirty="0" sz="2400" i="1">
                <a:latin typeface="华文楷体"/>
                <a:cs typeface="华文楷体"/>
              </a:rPr>
              <a:t>一些晶体只在</a:t>
            </a:r>
            <a:r>
              <a:rPr dirty="0" sz="2400" b="1">
                <a:solidFill>
                  <a:srgbClr val="EC7C30"/>
                </a:solidFill>
                <a:latin typeface="华文楷体"/>
                <a:cs typeface="华文楷体"/>
              </a:rPr>
              <a:t>某些物理性质</a:t>
            </a:r>
            <a:r>
              <a:rPr dirty="0" sz="2400" i="1">
                <a:latin typeface="华文楷体"/>
                <a:cs typeface="华文楷体"/>
              </a:rPr>
              <a:t>上表现出各向异性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23185" y="1401444"/>
            <a:ext cx="409003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云母晶体在</a:t>
            </a:r>
            <a:r>
              <a:rPr dirty="0">
                <a:solidFill>
                  <a:srgbClr val="5B9BD4"/>
                </a:solidFill>
              </a:rPr>
              <a:t>导热性能</a:t>
            </a:r>
            <a:r>
              <a:rPr dirty="0"/>
              <a:t>上具有各向异</a:t>
            </a:r>
            <a:r>
              <a:rPr dirty="0" spc="5"/>
              <a:t>性</a:t>
            </a:r>
          </a:p>
        </p:txBody>
      </p:sp>
      <p:sp>
        <p:nvSpPr>
          <p:cNvPr id="7" name="object 7"/>
          <p:cNvSpPr/>
          <p:nvPr/>
        </p:nvSpPr>
        <p:spPr>
          <a:xfrm>
            <a:off x="937260" y="970788"/>
            <a:ext cx="1513331" cy="12085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30430" y="1211351"/>
            <a:ext cx="1000969" cy="839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7467" y="2319102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10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4463" y="192023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4108" y="213969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69410" y="1740535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想一</a:t>
            </a:r>
            <a:r>
              <a:rPr dirty="0" sz="2800" spc="-5">
                <a:latin typeface="黑体"/>
                <a:cs typeface="黑体"/>
              </a:rPr>
              <a:t>想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6194" y="2767330"/>
            <a:ext cx="6578600" cy="975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57200">
              <a:lnSpc>
                <a:spcPct val="129900"/>
              </a:lnSpc>
              <a:spcBef>
                <a:spcPts val="95"/>
              </a:spcBef>
            </a:pPr>
            <a:r>
              <a:rPr dirty="0" sz="2400" i="1">
                <a:latin typeface="华文楷体"/>
                <a:cs typeface="华文楷体"/>
              </a:rPr>
              <a:t>为什么有些晶体不仅有天然规则的几何形状， 还会表现出各向异性呢？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3395" y="4320539"/>
            <a:ext cx="500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5B9BD4"/>
                </a:solidFill>
                <a:latin typeface="微软雅黑"/>
                <a:cs typeface="微软雅黑"/>
              </a:rPr>
              <a:t>从晶体的微观结构进行分析研</a:t>
            </a:r>
            <a:r>
              <a:rPr dirty="0" sz="2800" spc="-5" b="1">
                <a:solidFill>
                  <a:srgbClr val="5B9BD4"/>
                </a:solidFill>
                <a:latin typeface="微软雅黑"/>
                <a:cs typeface="微软雅黑"/>
              </a:rPr>
              <a:t>究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4211" y="1335024"/>
            <a:ext cx="3683508" cy="2604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02583" y="3230206"/>
            <a:ext cx="130568" cy="137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19845" y="3645966"/>
            <a:ext cx="96706" cy="1023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7080" y="3006255"/>
            <a:ext cx="6578600" cy="278511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010535">
              <a:lnSpc>
                <a:spcPct val="100000"/>
              </a:lnSpc>
              <a:spcBef>
                <a:spcPts val="960"/>
              </a:spcBef>
            </a:pPr>
            <a:r>
              <a:rPr dirty="0" sz="1800" spc="-5" i="1">
                <a:latin typeface="Times New Roman"/>
                <a:cs typeface="Times New Roman"/>
              </a:rPr>
              <a:t>Na</a:t>
            </a:r>
            <a:r>
              <a:rPr dirty="0" sz="1800">
                <a:latin typeface="宋体"/>
                <a:cs typeface="宋体"/>
              </a:rPr>
              <a:t>离子</a:t>
            </a:r>
            <a:endParaRPr sz="1800">
              <a:latin typeface="宋体"/>
              <a:cs typeface="宋体"/>
            </a:endParaRPr>
          </a:p>
          <a:p>
            <a:pPr marL="3021965">
              <a:lnSpc>
                <a:spcPct val="100000"/>
              </a:lnSpc>
              <a:spcBef>
                <a:spcPts val="865"/>
              </a:spcBef>
            </a:pPr>
            <a:r>
              <a:rPr dirty="0" sz="1800" spc="-5" i="1">
                <a:latin typeface="Times New Roman"/>
                <a:cs typeface="Times New Roman"/>
              </a:rPr>
              <a:t>Cl</a:t>
            </a:r>
            <a:r>
              <a:rPr dirty="0" sz="1800">
                <a:latin typeface="宋体"/>
                <a:cs typeface="宋体"/>
              </a:rPr>
              <a:t>离子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31300"/>
              </a:lnSpc>
            </a:pPr>
            <a:r>
              <a:rPr dirty="0" sz="2400" i="1">
                <a:latin typeface="华文楷体"/>
                <a:cs typeface="华文楷体"/>
              </a:rPr>
              <a:t>原子（或分子、离子）按照一定的规则排列， 具有空间上的周期性</a:t>
            </a:r>
            <a:r>
              <a:rPr dirty="0" sz="2400">
                <a:latin typeface="Times New Roman"/>
                <a:cs typeface="Times New Roman"/>
              </a:rPr>
              <a:t>——</a:t>
            </a:r>
            <a:r>
              <a:rPr dirty="0" sz="2400" b="1">
                <a:solidFill>
                  <a:srgbClr val="EC7C30"/>
                </a:solidFill>
                <a:latin typeface="华文楷体"/>
                <a:cs typeface="华文楷体"/>
              </a:rPr>
              <a:t>单晶体</a:t>
            </a:r>
            <a:r>
              <a:rPr dirty="0" sz="2400" spc="-5" b="1">
                <a:solidFill>
                  <a:srgbClr val="EC7C30"/>
                </a:solidFill>
                <a:latin typeface="华文楷体"/>
                <a:cs typeface="华文楷体"/>
              </a:rPr>
              <a:t>（</a:t>
            </a:r>
            <a:r>
              <a:rPr dirty="0" sz="2400" spc="-5" b="1">
                <a:solidFill>
                  <a:srgbClr val="EC7C30"/>
                </a:solidFill>
                <a:latin typeface="Times New Roman"/>
                <a:cs typeface="Times New Roman"/>
              </a:rPr>
              <a:t>moncrystal)</a:t>
            </a:r>
            <a:r>
              <a:rPr dirty="0" sz="2400" i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819"/>
              </a:spcBef>
            </a:pPr>
            <a:r>
              <a:rPr dirty="0" sz="2400" i="1">
                <a:latin typeface="华文楷体"/>
                <a:cs typeface="华文楷体"/>
              </a:rPr>
              <a:t>因此，单晶体有天然规则的几何形状。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1476" y="1592580"/>
            <a:ext cx="2307335" cy="21488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9107" y="1173492"/>
            <a:ext cx="92576" cy="93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05531" y="1157605"/>
            <a:ext cx="124811" cy="1250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04096" y="1173492"/>
            <a:ext cx="92576" cy="93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60520" y="1157605"/>
            <a:ext cx="124811" cy="1250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59086" y="1173492"/>
            <a:ext cx="92576" cy="933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15522" y="1157605"/>
            <a:ext cx="124798" cy="1250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70511" y="1157605"/>
            <a:ext cx="124798" cy="1250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49107" y="1598307"/>
            <a:ext cx="92576" cy="933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05531" y="1582419"/>
            <a:ext cx="124811" cy="1250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04096" y="1598307"/>
            <a:ext cx="92576" cy="933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60520" y="1582419"/>
            <a:ext cx="124811" cy="12509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59086" y="1598307"/>
            <a:ext cx="92576" cy="933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15522" y="1582419"/>
            <a:ext cx="124798" cy="1250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70511" y="1582419"/>
            <a:ext cx="124798" cy="12509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49107" y="2448572"/>
            <a:ext cx="92576" cy="933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05531" y="2432685"/>
            <a:ext cx="124811" cy="125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04096" y="2448572"/>
            <a:ext cx="92576" cy="933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60520" y="2432685"/>
            <a:ext cx="124811" cy="12509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59086" y="2448572"/>
            <a:ext cx="92576" cy="933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15522" y="2432685"/>
            <a:ext cx="124798" cy="12509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70511" y="2432685"/>
            <a:ext cx="124798" cy="12509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49107" y="2023122"/>
            <a:ext cx="92576" cy="9331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05531" y="2007235"/>
            <a:ext cx="124811" cy="12509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04096" y="2023122"/>
            <a:ext cx="92576" cy="933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60520" y="2007235"/>
            <a:ext cx="124811" cy="12509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59086" y="2023122"/>
            <a:ext cx="92576" cy="9331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715522" y="2007235"/>
            <a:ext cx="124798" cy="12509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570511" y="2007235"/>
            <a:ext cx="124798" cy="12509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49107" y="2873387"/>
            <a:ext cx="92576" cy="933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05531" y="2857500"/>
            <a:ext cx="124811" cy="1250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04096" y="2873387"/>
            <a:ext cx="92576" cy="933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60520" y="2857500"/>
            <a:ext cx="124811" cy="12509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159086" y="2873387"/>
            <a:ext cx="92576" cy="933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15522" y="2857500"/>
            <a:ext cx="124798" cy="1250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570511" y="2857500"/>
            <a:ext cx="124798" cy="1250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449107" y="3298202"/>
            <a:ext cx="92576" cy="9331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05531" y="3282315"/>
            <a:ext cx="124811" cy="12509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04096" y="3298202"/>
            <a:ext cx="92576" cy="933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60520" y="3282315"/>
            <a:ext cx="124811" cy="12509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159086" y="3298202"/>
            <a:ext cx="92576" cy="9331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715522" y="3282315"/>
            <a:ext cx="124798" cy="12509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70511" y="3282315"/>
            <a:ext cx="124798" cy="1250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2693670" y="1016635"/>
            <a:ext cx="2095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72764" y="1209039"/>
            <a:ext cx="2570480" cy="0"/>
          </a:xfrm>
          <a:custGeom>
            <a:avLst/>
            <a:gdLst/>
            <a:ahLst/>
            <a:cxnLst/>
            <a:rect l="l" t="t" r="r" b="b"/>
            <a:pathLst>
              <a:path w="2570479" h="0">
                <a:moveTo>
                  <a:pt x="0" y="0"/>
                </a:moveTo>
                <a:lnTo>
                  <a:pt x="2570480" y="0"/>
                </a:lnTo>
              </a:path>
            </a:pathLst>
          </a:custGeom>
          <a:ln w="3175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65564" y="1194892"/>
            <a:ext cx="2303780" cy="1194435"/>
          </a:xfrm>
          <a:custGeom>
            <a:avLst/>
            <a:gdLst/>
            <a:ahLst/>
            <a:cxnLst/>
            <a:rect l="l" t="t" r="r" b="b"/>
            <a:pathLst>
              <a:path w="2303779" h="1194435">
                <a:moveTo>
                  <a:pt x="2289174" y="1194155"/>
                </a:moveTo>
                <a:lnTo>
                  <a:pt x="0" y="28295"/>
                </a:lnTo>
                <a:lnTo>
                  <a:pt x="14401" y="0"/>
                </a:lnTo>
                <a:lnTo>
                  <a:pt x="2303576" y="1165859"/>
                </a:lnTo>
                <a:lnTo>
                  <a:pt x="2289174" y="1194155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061487" y="1191513"/>
            <a:ext cx="1849755" cy="1865630"/>
          </a:xfrm>
          <a:custGeom>
            <a:avLst/>
            <a:gdLst/>
            <a:ahLst/>
            <a:cxnLst/>
            <a:rect l="l" t="t" r="r" b="b"/>
            <a:pathLst>
              <a:path w="1849754" h="1865630">
                <a:moveTo>
                  <a:pt x="1826894" y="1865122"/>
                </a:moveTo>
                <a:lnTo>
                  <a:pt x="0" y="22352"/>
                </a:lnTo>
                <a:lnTo>
                  <a:pt x="22555" y="0"/>
                </a:lnTo>
                <a:lnTo>
                  <a:pt x="1849450" y="1842770"/>
                </a:lnTo>
                <a:lnTo>
                  <a:pt x="1826894" y="186512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79095">
              <a:lnSpc>
                <a:spcPct val="100000"/>
              </a:lnSpc>
              <a:spcBef>
                <a:spcPts val="105"/>
              </a:spcBef>
            </a:pPr>
            <a:r>
              <a:rPr dirty="0" spc="-484" b="1">
                <a:latin typeface="Times New Roman"/>
                <a:cs typeface="Times New Roman"/>
              </a:rPr>
              <a:t>B</a:t>
            </a:r>
            <a:r>
              <a:rPr dirty="0"/>
              <a:t>（</a:t>
            </a:r>
            <a:r>
              <a:rPr dirty="0" spc="-5">
                <a:latin typeface="Times New Roman"/>
                <a:cs typeface="Times New Roman"/>
              </a:rPr>
              <a:t>7</a:t>
            </a:r>
            <a:r>
              <a:rPr dirty="0"/>
              <a:t>个</a:t>
            </a:r>
            <a:r>
              <a:rPr dirty="0" spc="5"/>
              <a:t>）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843280" y="2149474"/>
            <a:ext cx="6578600" cy="3774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51375">
              <a:lnSpc>
                <a:spcPct val="100000"/>
              </a:lnSpc>
              <a:spcBef>
                <a:spcPts val="105"/>
              </a:spcBef>
            </a:pPr>
            <a:r>
              <a:rPr dirty="0" sz="2000" spc="-200" b="1">
                <a:latin typeface="Times New Roman"/>
                <a:cs typeface="Times New Roman"/>
              </a:rPr>
              <a:t>C</a:t>
            </a:r>
            <a:r>
              <a:rPr dirty="0" baseline="1388" sz="3000" spc="-300">
                <a:latin typeface="微软雅黑"/>
                <a:cs typeface="微软雅黑"/>
              </a:rPr>
              <a:t>（</a:t>
            </a:r>
            <a:r>
              <a:rPr dirty="0" baseline="1388" sz="3000" spc="-300">
                <a:latin typeface="Times New Roman"/>
                <a:cs typeface="Times New Roman"/>
              </a:rPr>
              <a:t>3</a:t>
            </a:r>
            <a:r>
              <a:rPr dirty="0" baseline="1388" sz="3000">
                <a:latin typeface="微软雅黑"/>
                <a:cs typeface="微软雅黑"/>
              </a:rPr>
              <a:t>个</a:t>
            </a:r>
            <a:r>
              <a:rPr dirty="0" baseline="1388" sz="3000" spc="7">
                <a:latin typeface="微软雅黑"/>
                <a:cs typeface="微软雅黑"/>
              </a:rPr>
              <a:t>）</a:t>
            </a:r>
            <a:endParaRPr baseline="1388" sz="3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50">
              <a:latin typeface="Times New Roman"/>
              <a:cs typeface="Times New Roman"/>
            </a:endParaRPr>
          </a:p>
          <a:p>
            <a:pPr marL="4147820">
              <a:lnSpc>
                <a:spcPct val="100000"/>
              </a:lnSpc>
            </a:pPr>
            <a:r>
              <a:rPr dirty="0" sz="2000" spc="-254" b="1">
                <a:latin typeface="Times New Roman"/>
                <a:cs typeface="Times New Roman"/>
              </a:rPr>
              <a:t>D</a:t>
            </a:r>
            <a:r>
              <a:rPr dirty="0" sz="2000" spc="-254">
                <a:latin typeface="微软雅黑"/>
                <a:cs typeface="微软雅黑"/>
              </a:rPr>
              <a:t>（</a:t>
            </a:r>
            <a:r>
              <a:rPr dirty="0" sz="2000" spc="-254">
                <a:latin typeface="Times New Roman"/>
                <a:cs typeface="Times New Roman"/>
              </a:rPr>
              <a:t>5</a:t>
            </a:r>
            <a:r>
              <a:rPr dirty="0" sz="2000">
                <a:latin typeface="微软雅黑"/>
                <a:cs typeface="微软雅黑"/>
              </a:rPr>
              <a:t>个</a:t>
            </a:r>
            <a:r>
              <a:rPr dirty="0" sz="2000" spc="5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1968500">
              <a:lnSpc>
                <a:spcPct val="100000"/>
              </a:lnSpc>
            </a:pPr>
            <a:r>
              <a:rPr dirty="0" sz="2000" spc="-5" i="1">
                <a:latin typeface="Times New Roman"/>
                <a:cs typeface="Times New Roman"/>
              </a:rPr>
              <a:t>NaCl</a:t>
            </a:r>
            <a:r>
              <a:rPr dirty="0" sz="2000">
                <a:latin typeface="微软雅黑"/>
                <a:cs typeface="微软雅黑"/>
              </a:rPr>
              <a:t>晶体微观结构的平面</a:t>
            </a:r>
            <a:r>
              <a:rPr dirty="0" sz="2000" spc="5">
                <a:latin typeface="微软雅黑"/>
                <a:cs typeface="微软雅黑"/>
              </a:rPr>
              <a:t>图</a:t>
            </a:r>
            <a:endParaRPr sz="2000">
              <a:latin typeface="微软雅黑"/>
              <a:cs typeface="微软雅黑"/>
            </a:endParaRPr>
          </a:p>
          <a:p>
            <a:pPr marL="12700" marR="5080" indent="457200">
              <a:lnSpc>
                <a:spcPct val="150000"/>
              </a:lnSpc>
              <a:spcBef>
                <a:spcPts val="1580"/>
              </a:spcBef>
            </a:pPr>
            <a:r>
              <a:rPr dirty="0" sz="2400" i="1">
                <a:latin typeface="华文楷体"/>
                <a:cs typeface="华文楷体"/>
              </a:rPr>
              <a:t>由于在</a:t>
            </a:r>
            <a:r>
              <a:rPr dirty="0" sz="2400" i="1">
                <a:solidFill>
                  <a:srgbClr val="FF0000"/>
                </a:solidFill>
                <a:latin typeface="华文楷体"/>
                <a:cs typeface="华文楷体"/>
              </a:rPr>
              <a:t>不同方向</a:t>
            </a:r>
            <a:r>
              <a:rPr dirty="0" sz="2400" i="1">
                <a:latin typeface="华文楷体"/>
                <a:cs typeface="华文楷体"/>
              </a:rPr>
              <a:t>上物质微粒的</a:t>
            </a:r>
            <a:r>
              <a:rPr dirty="0" sz="2400" i="1">
                <a:solidFill>
                  <a:srgbClr val="FF0000"/>
                </a:solidFill>
                <a:latin typeface="华文楷体"/>
                <a:cs typeface="华文楷体"/>
              </a:rPr>
              <a:t>排列情况不同</a:t>
            </a:r>
            <a:r>
              <a:rPr dirty="0" sz="2400" i="1">
                <a:latin typeface="华文楷体"/>
                <a:cs typeface="华文楷体"/>
              </a:rPr>
              <a:t>， 才引起晶体的不同方向上物理性质的不同，表现 出各向异性。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7467" y="1535512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10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4463" y="113538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4108" y="135636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69410" y="956944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想一</a:t>
            </a:r>
            <a:r>
              <a:rPr dirty="0" sz="2800" spc="-5">
                <a:latin typeface="黑体"/>
                <a:cs typeface="黑体"/>
              </a:rPr>
              <a:t>想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7623" y="2883407"/>
            <a:ext cx="2237231" cy="1429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2450" y="1729105"/>
            <a:ext cx="7340600" cy="9753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457200">
              <a:lnSpc>
                <a:spcPct val="129900"/>
              </a:lnSpc>
              <a:spcBef>
                <a:spcPts val="95"/>
              </a:spcBef>
            </a:pPr>
            <a:r>
              <a:rPr dirty="0" sz="2400">
                <a:latin typeface="仿宋"/>
                <a:cs typeface="仿宋"/>
              </a:rPr>
              <a:t>常见的金属没有天然的、规则的形状，但具有确定 的熔点。例如，在标准大气压下铁的熔点的是1535℃。</a:t>
            </a:r>
            <a:endParaRPr sz="2400">
              <a:latin typeface="仿宋"/>
              <a:cs typeface="仿宋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1925" y="4607559"/>
            <a:ext cx="4220845" cy="1051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96945" algn="l"/>
              </a:tabLst>
            </a:pPr>
            <a:r>
              <a:rPr dirty="0" baseline="2314" sz="3600" i="1">
                <a:latin typeface="华文楷体"/>
                <a:cs typeface="华文楷体"/>
              </a:rPr>
              <a:t>金属是晶体还是非晶体？	</a:t>
            </a:r>
            <a:r>
              <a:rPr dirty="0" sz="2800" b="1">
                <a:solidFill>
                  <a:srgbClr val="5B9BD4"/>
                </a:solidFill>
                <a:latin typeface="微软雅黑"/>
                <a:cs typeface="微软雅黑"/>
              </a:rPr>
              <a:t>晶</a:t>
            </a:r>
            <a:r>
              <a:rPr dirty="0" sz="2800" spc="-5" b="1">
                <a:solidFill>
                  <a:srgbClr val="5B9BD4"/>
                </a:solidFill>
                <a:latin typeface="微软雅黑"/>
                <a:cs typeface="微软雅黑"/>
              </a:rPr>
              <a:t>体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400" i="1">
                <a:latin typeface="华文楷体"/>
                <a:cs typeface="华文楷体"/>
              </a:rPr>
              <a:t>具有各向异性还是各向同性？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9360" y="1001267"/>
            <a:ext cx="2798064" cy="2080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99360" y="2996183"/>
            <a:ext cx="2799715" cy="631190"/>
          </a:xfrm>
          <a:prstGeom prst="rect"/>
          <a:solidFill>
            <a:srgbClr val="393B41">
              <a:alpha val="32899"/>
            </a:srgbClr>
          </a:solidFill>
        </p:spPr>
        <p:txBody>
          <a:bodyPr wrap="square" lIns="0" tIns="26670" rIns="0" bIns="0" rtlCol="0" vert="horz">
            <a:spAutoFit/>
          </a:bodyPr>
          <a:lstStyle/>
          <a:p>
            <a:pPr marL="941705" marR="116205" indent="-818515">
              <a:lnSpc>
                <a:spcPct val="100000"/>
              </a:lnSpc>
              <a:spcBef>
                <a:spcPts val="210"/>
              </a:spcBef>
            </a:pPr>
            <a:r>
              <a:rPr dirty="0" sz="1800"/>
              <a:t>显微镜下铝—锂—锰合金 的断裂面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748030" y="3780916"/>
            <a:ext cx="6884034" cy="20828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457200">
              <a:lnSpc>
                <a:spcPct val="130600"/>
              </a:lnSpc>
              <a:spcBef>
                <a:spcPts val="85"/>
              </a:spcBef>
            </a:pPr>
            <a:r>
              <a:rPr dirty="0" sz="2000" i="1">
                <a:latin typeface="华文楷体"/>
                <a:cs typeface="华文楷体"/>
              </a:rPr>
              <a:t>由于这些小的单晶体的取向杂乱无章，所以金属没有确</a:t>
            </a:r>
            <a:r>
              <a:rPr dirty="0" sz="2000" spc="5" i="1">
                <a:latin typeface="华文楷体"/>
                <a:cs typeface="华文楷体"/>
              </a:rPr>
              <a:t>定 </a:t>
            </a:r>
            <a:r>
              <a:rPr dirty="0" sz="2000" i="1">
                <a:latin typeface="华文楷体"/>
                <a:cs typeface="华文楷体"/>
              </a:rPr>
              <a:t>的几何形状，也不显示各向异性，仅保留了在一定压强下具</a:t>
            </a:r>
            <a:r>
              <a:rPr dirty="0" sz="2000" i="1">
                <a:latin typeface="华文楷体"/>
                <a:cs typeface="华文楷体"/>
              </a:rPr>
              <a:t>有 </a:t>
            </a:r>
            <a:r>
              <a:rPr dirty="0" sz="2000" i="1">
                <a:latin typeface="华文楷体"/>
                <a:cs typeface="华文楷体"/>
              </a:rPr>
              <a:t>确定熔点的特征</a:t>
            </a:r>
            <a:r>
              <a:rPr dirty="0" sz="2000">
                <a:latin typeface="Times New Roman"/>
                <a:cs typeface="Times New Roman"/>
              </a:rPr>
              <a:t>——</a:t>
            </a:r>
            <a:r>
              <a:rPr dirty="0" sz="2000" b="1">
                <a:solidFill>
                  <a:srgbClr val="EC7C30"/>
                </a:solidFill>
                <a:latin typeface="华文楷体"/>
                <a:cs typeface="华文楷体"/>
              </a:rPr>
              <a:t>多晶体</a:t>
            </a:r>
            <a:r>
              <a:rPr dirty="0" sz="2000" spc="-5" b="1">
                <a:solidFill>
                  <a:srgbClr val="EC7C30"/>
                </a:solidFill>
                <a:latin typeface="华文楷体"/>
                <a:cs typeface="华文楷体"/>
              </a:rPr>
              <a:t>（</a:t>
            </a:r>
            <a:r>
              <a:rPr dirty="0" sz="2000" spc="-5" b="1">
                <a:solidFill>
                  <a:srgbClr val="EC7C30"/>
                </a:solidFill>
                <a:latin typeface="Times New Roman"/>
                <a:cs typeface="Times New Roman"/>
              </a:rPr>
              <a:t>polycrystal</a:t>
            </a:r>
            <a:r>
              <a:rPr dirty="0" sz="2000" spc="-5" b="1">
                <a:solidFill>
                  <a:srgbClr val="EC7C30"/>
                </a:solidFill>
                <a:latin typeface="华文楷体"/>
                <a:cs typeface="华文楷体"/>
              </a:rPr>
              <a:t>）</a:t>
            </a:r>
            <a:endParaRPr sz="2000">
              <a:latin typeface="华文楷体"/>
              <a:cs typeface="华文楷体"/>
            </a:endParaRPr>
          </a:p>
          <a:p>
            <a:pPr algn="just" marL="12700" marR="49530" indent="457200">
              <a:lnSpc>
                <a:spcPct val="130000"/>
              </a:lnSpc>
              <a:spcBef>
                <a:spcPts val="570"/>
              </a:spcBef>
            </a:pPr>
            <a:r>
              <a:rPr dirty="0" sz="2000" i="1">
                <a:latin typeface="华文楷体"/>
                <a:cs typeface="华文楷体"/>
              </a:rPr>
              <a:t>常见的</a:t>
            </a: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金属材料大多是多晶体</a:t>
            </a:r>
            <a:r>
              <a:rPr dirty="0" sz="2000" i="1">
                <a:latin typeface="华文楷体"/>
                <a:cs typeface="华文楷体"/>
              </a:rPr>
              <a:t>，多晶体没有规则的几何</a:t>
            </a:r>
            <a:r>
              <a:rPr dirty="0" sz="2000" i="1">
                <a:latin typeface="华文楷体"/>
                <a:cs typeface="华文楷体"/>
              </a:rPr>
              <a:t>形 </a:t>
            </a:r>
            <a:r>
              <a:rPr dirty="0" sz="2000" i="1">
                <a:latin typeface="华文楷体"/>
                <a:cs typeface="华文楷体"/>
              </a:rPr>
              <a:t>状且</a:t>
            </a:r>
            <a:r>
              <a:rPr dirty="0" sz="2000" b="1">
                <a:solidFill>
                  <a:srgbClr val="5B9BD4"/>
                </a:solidFill>
                <a:latin typeface="华文楷体"/>
                <a:cs typeface="华文楷体"/>
              </a:rPr>
              <a:t>各向同性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5645" y="1848154"/>
            <a:ext cx="817847" cy="718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11780" y="1182052"/>
            <a:ext cx="1452175" cy="14681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3502" y="1751412"/>
            <a:ext cx="6188710" cy="0"/>
          </a:xfrm>
          <a:custGeom>
            <a:avLst/>
            <a:gdLst/>
            <a:ahLst/>
            <a:cxnLst/>
            <a:rect l="l" t="t" r="r" b="b"/>
            <a:pathLst>
              <a:path w="6188709" h="0">
                <a:moveTo>
                  <a:pt x="0" y="0"/>
                </a:moveTo>
                <a:lnTo>
                  <a:pt x="6188709" y="0"/>
                </a:lnTo>
              </a:path>
            </a:pathLst>
          </a:custGeom>
          <a:ln w="41262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0372" y="1351788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0016" y="157124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84245" y="1172844"/>
            <a:ext cx="2513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晶体的微观结</a:t>
            </a:r>
            <a:r>
              <a:rPr dirty="0" sz="2800" spc="-5">
                <a:latin typeface="黑体"/>
                <a:cs typeface="黑体"/>
              </a:rPr>
              <a:t>构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010" y="2158365"/>
            <a:ext cx="7112000" cy="3414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079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为什么晶体的形状和物理性质会与非晶体不同呢？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Times New Roman"/>
              <a:cs typeface="Times New Roman"/>
            </a:endParaRPr>
          </a:p>
          <a:p>
            <a:pPr marL="1334135">
              <a:lnSpc>
                <a:spcPct val="100000"/>
              </a:lnSpc>
            </a:pPr>
            <a:r>
              <a:rPr dirty="0" sz="2400" b="1">
                <a:solidFill>
                  <a:srgbClr val="5B9BD4"/>
                </a:solidFill>
                <a:latin typeface="微软雅黑"/>
                <a:cs typeface="微软雅黑"/>
              </a:rPr>
              <a:t>与固体的微观结构、空间排列有关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25000"/>
              </a:lnSpc>
            </a:pPr>
            <a:r>
              <a:rPr dirty="0" sz="2400">
                <a:latin typeface="仿宋"/>
                <a:cs typeface="仿宋"/>
              </a:rPr>
              <a:t>直到</a:t>
            </a:r>
            <a:r>
              <a:rPr dirty="0" sz="2400">
                <a:latin typeface="Times New Roman"/>
                <a:cs typeface="Times New Roman"/>
              </a:rPr>
              <a:t>20</a:t>
            </a:r>
            <a:r>
              <a:rPr dirty="0" sz="2400">
                <a:latin typeface="仿宋"/>
                <a:cs typeface="仿宋"/>
              </a:rPr>
              <a:t>世纪初，物理学家劳厄通过</a:t>
            </a:r>
            <a:r>
              <a:rPr dirty="0" sz="2400">
                <a:latin typeface="Times New Roman"/>
                <a:cs typeface="Times New Roman"/>
              </a:rPr>
              <a:t>X</a:t>
            </a:r>
            <a:r>
              <a:rPr dirty="0" sz="2400">
                <a:latin typeface="仿宋"/>
                <a:cs typeface="仿宋"/>
              </a:rPr>
              <a:t>射线在晶体 上衍射的实验</a:t>
            </a:r>
            <a:r>
              <a:rPr dirty="0" sz="2400" spc="-700">
                <a:latin typeface="仿宋"/>
                <a:cs typeface="仿宋"/>
              </a:rPr>
              <a:t> </a:t>
            </a:r>
            <a:r>
              <a:rPr dirty="0" sz="2400">
                <a:latin typeface="仿宋"/>
                <a:cs typeface="仿宋"/>
              </a:rPr>
              <a:t>，证实了晶体内部存在空间点阵结构。 并因此获得了</a:t>
            </a:r>
            <a:r>
              <a:rPr dirty="0" sz="2400">
                <a:latin typeface="Times New Roman"/>
                <a:cs typeface="Times New Roman"/>
              </a:rPr>
              <a:t>1914</a:t>
            </a:r>
            <a:r>
              <a:rPr dirty="0" sz="2400">
                <a:latin typeface="仿宋"/>
                <a:cs typeface="仿宋"/>
              </a:rPr>
              <a:t>年的诺贝尔物理学奖。</a:t>
            </a:r>
            <a:endParaRPr sz="2400">
              <a:latin typeface="仿宋"/>
              <a:cs typeface="仿宋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1451" y="3412235"/>
            <a:ext cx="2286000" cy="367665"/>
          </a:xfrm>
          <a:prstGeom prst="rect">
            <a:avLst/>
          </a:prstGeom>
          <a:solidFill>
            <a:srgbClr val="585858">
              <a:alpha val="45899"/>
            </a:srgbClr>
          </a:solidFill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图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3480" y="1057275"/>
            <a:ext cx="61214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同种物质，在不同条件下能够生成不同的晶体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1451" y="1723644"/>
            <a:ext cx="2284476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51304" y="4267200"/>
            <a:ext cx="1606295" cy="1600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70810" y="5900420"/>
            <a:ext cx="368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图</a:t>
            </a:r>
            <a:r>
              <a:rPr dirty="0" sz="180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567" y="2552700"/>
            <a:ext cx="949960" cy="326390"/>
          </a:xfrm>
          <a:custGeom>
            <a:avLst/>
            <a:gdLst/>
            <a:ahLst/>
            <a:cxnLst/>
            <a:rect l="l" t="t" r="r" b="b"/>
            <a:pathLst>
              <a:path w="949960" h="326389">
                <a:moveTo>
                  <a:pt x="786384" y="326136"/>
                </a:moveTo>
                <a:lnTo>
                  <a:pt x="786384" y="243839"/>
                </a:lnTo>
                <a:lnTo>
                  <a:pt x="0" y="243839"/>
                </a:lnTo>
                <a:lnTo>
                  <a:pt x="0" y="80772"/>
                </a:lnTo>
                <a:lnTo>
                  <a:pt x="786384" y="80772"/>
                </a:lnTo>
                <a:lnTo>
                  <a:pt x="786384" y="0"/>
                </a:lnTo>
                <a:lnTo>
                  <a:pt x="949452" y="163068"/>
                </a:lnTo>
                <a:lnTo>
                  <a:pt x="786384" y="32613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64835" y="1863851"/>
            <a:ext cx="1572767" cy="1266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64835" y="3118104"/>
            <a:ext cx="1571625" cy="368935"/>
          </a:xfrm>
          <a:prstGeom prst="rect">
            <a:avLst/>
          </a:prstGeom>
          <a:solidFill>
            <a:srgbClr val="A1948F">
              <a:alpha val="45899"/>
            </a:srgbClr>
          </a:solidFill>
        </p:spPr>
        <p:txBody>
          <a:bodyPr wrap="square" lIns="0" tIns="40640" rIns="0" bIns="0" rtlCol="0" vert="horz">
            <a:spAutoFit/>
          </a:bodyPr>
          <a:lstStyle/>
          <a:p>
            <a:pPr marL="442595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金刚石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63567" y="4985003"/>
            <a:ext cx="949960" cy="326390"/>
          </a:xfrm>
          <a:custGeom>
            <a:avLst/>
            <a:gdLst/>
            <a:ahLst/>
            <a:cxnLst/>
            <a:rect l="l" t="t" r="r" b="b"/>
            <a:pathLst>
              <a:path w="949960" h="326389">
                <a:moveTo>
                  <a:pt x="786384" y="326136"/>
                </a:moveTo>
                <a:lnTo>
                  <a:pt x="786384" y="245363"/>
                </a:lnTo>
                <a:lnTo>
                  <a:pt x="0" y="245363"/>
                </a:lnTo>
                <a:lnTo>
                  <a:pt x="0" y="82296"/>
                </a:lnTo>
                <a:lnTo>
                  <a:pt x="786384" y="82296"/>
                </a:lnTo>
                <a:lnTo>
                  <a:pt x="786384" y="0"/>
                </a:lnTo>
                <a:lnTo>
                  <a:pt x="949452" y="163068"/>
                </a:lnTo>
                <a:lnTo>
                  <a:pt x="786384" y="32613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50179" y="4447032"/>
            <a:ext cx="1539240" cy="12390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50179" y="5661659"/>
            <a:ext cx="1539240" cy="367665"/>
          </a:xfrm>
          <a:prstGeom prst="rect">
            <a:avLst/>
          </a:prstGeom>
          <a:solidFill>
            <a:srgbClr val="B9B8B9">
              <a:alpha val="45899"/>
            </a:srgbClr>
          </a:solidFill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石墨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8682" y="1662830"/>
            <a:ext cx="5595620" cy="0"/>
          </a:xfrm>
          <a:custGeom>
            <a:avLst/>
            <a:gdLst/>
            <a:ahLst/>
            <a:cxnLst/>
            <a:rect l="l" t="t" r="r" b="b"/>
            <a:pathLst>
              <a:path w="5595620" h="0">
                <a:moveTo>
                  <a:pt x="0" y="0"/>
                </a:moveTo>
                <a:lnTo>
                  <a:pt x="5594997" y="0"/>
                </a:lnTo>
              </a:path>
            </a:pathLst>
          </a:custGeom>
          <a:ln w="38087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96567" y="1261872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96211" y="1481327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86735" y="1087119"/>
            <a:ext cx="3586479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latin typeface="微软雅黑 Light"/>
                <a:cs typeface="微软雅黑 Light"/>
              </a:rPr>
              <a:t>解释：食盐晶体的制</a:t>
            </a:r>
            <a:r>
              <a:rPr dirty="0" sz="2800" spc="-5" b="0">
                <a:latin typeface="微软雅黑 Light"/>
                <a:cs typeface="微软雅黑 Light"/>
              </a:rPr>
              <a:t>作</a:t>
            </a:r>
            <a:endParaRPr sz="2800">
              <a:latin typeface="微软雅黑 Light"/>
              <a:cs typeface="微软雅黑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47232" y="2330195"/>
            <a:ext cx="1624584" cy="255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37788" y="2799588"/>
            <a:ext cx="4109085" cy="485140"/>
          </a:xfrm>
          <a:custGeom>
            <a:avLst/>
            <a:gdLst/>
            <a:ahLst/>
            <a:cxnLst/>
            <a:rect l="l" t="t" r="r" b="b"/>
            <a:pathLst>
              <a:path w="4109084" h="485139">
                <a:moveTo>
                  <a:pt x="0" y="0"/>
                </a:moveTo>
                <a:lnTo>
                  <a:pt x="4108704" y="0"/>
                </a:lnTo>
                <a:lnTo>
                  <a:pt x="4108704" y="484632"/>
                </a:lnTo>
                <a:lnTo>
                  <a:pt x="0" y="484632"/>
                </a:lnTo>
                <a:lnTo>
                  <a:pt x="0" y="0"/>
                </a:lnTo>
                <a:close/>
              </a:path>
            </a:pathLst>
          </a:custGeom>
          <a:solidFill>
            <a:srgbClr val="00AF50">
              <a:alpha val="2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8682" y="1662830"/>
            <a:ext cx="5595620" cy="0"/>
          </a:xfrm>
          <a:custGeom>
            <a:avLst/>
            <a:gdLst/>
            <a:ahLst/>
            <a:cxnLst/>
            <a:rect l="l" t="t" r="r" b="b"/>
            <a:pathLst>
              <a:path w="5595620" h="0">
                <a:moveTo>
                  <a:pt x="0" y="0"/>
                </a:moveTo>
                <a:lnTo>
                  <a:pt x="5594997" y="0"/>
                </a:lnTo>
              </a:path>
            </a:pathLst>
          </a:custGeom>
          <a:ln w="38087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96567" y="1261872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96211" y="1481327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55440" y="1087119"/>
            <a:ext cx="14490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 b="0">
                <a:latin typeface="微软雅黑 Light"/>
                <a:cs typeface="微软雅黑 Light"/>
              </a:rPr>
              <a:t>课堂小</a:t>
            </a:r>
            <a:r>
              <a:rPr dirty="0" sz="2800" spc="-5" b="0">
                <a:latin typeface="微软雅黑 Light"/>
                <a:cs typeface="微软雅黑 Light"/>
              </a:rPr>
              <a:t>结</a:t>
            </a:r>
            <a:endParaRPr sz="2800">
              <a:latin typeface="微软雅黑 Light"/>
              <a:cs typeface="微软雅黑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63930" y="2038350"/>
            <a:ext cx="6861175" cy="0"/>
          </a:xfrm>
          <a:custGeom>
            <a:avLst/>
            <a:gdLst/>
            <a:ahLst/>
            <a:cxnLst/>
            <a:rect l="l" t="t" r="r" b="b"/>
            <a:pathLst>
              <a:path w="6861175" h="0">
                <a:moveTo>
                  <a:pt x="0" y="0"/>
                </a:moveTo>
                <a:lnTo>
                  <a:pt x="6861175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63930" y="2653664"/>
            <a:ext cx="6861175" cy="0"/>
          </a:xfrm>
          <a:custGeom>
            <a:avLst/>
            <a:gdLst/>
            <a:ahLst/>
            <a:cxnLst/>
            <a:rect l="l" t="t" r="r" b="b"/>
            <a:pathLst>
              <a:path w="6861175" h="0">
                <a:moveTo>
                  <a:pt x="0" y="0"/>
                </a:moveTo>
                <a:lnTo>
                  <a:pt x="6861175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3930" y="2038350"/>
            <a:ext cx="0" cy="2896870"/>
          </a:xfrm>
          <a:custGeom>
            <a:avLst/>
            <a:gdLst/>
            <a:ahLst/>
            <a:cxnLst/>
            <a:rect l="l" t="t" r="r" b="b"/>
            <a:pathLst>
              <a:path w="0" h="2896870">
                <a:moveTo>
                  <a:pt x="0" y="0"/>
                </a:moveTo>
                <a:lnTo>
                  <a:pt x="0" y="289687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01900" y="2038350"/>
            <a:ext cx="0" cy="2896870"/>
          </a:xfrm>
          <a:custGeom>
            <a:avLst/>
            <a:gdLst/>
            <a:ahLst/>
            <a:cxnLst/>
            <a:rect l="l" t="t" r="r" b="b"/>
            <a:pathLst>
              <a:path w="0" h="2896870">
                <a:moveTo>
                  <a:pt x="0" y="0"/>
                </a:moveTo>
                <a:lnTo>
                  <a:pt x="0" y="289687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74084" y="2038350"/>
            <a:ext cx="0" cy="2896870"/>
          </a:xfrm>
          <a:custGeom>
            <a:avLst/>
            <a:gdLst/>
            <a:ahLst/>
            <a:cxnLst/>
            <a:rect l="l" t="t" r="r" b="b"/>
            <a:pathLst>
              <a:path w="0" h="2896870">
                <a:moveTo>
                  <a:pt x="0" y="0"/>
                </a:moveTo>
                <a:lnTo>
                  <a:pt x="0" y="289687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41134" y="2038350"/>
            <a:ext cx="0" cy="2896870"/>
          </a:xfrm>
          <a:custGeom>
            <a:avLst/>
            <a:gdLst/>
            <a:ahLst/>
            <a:cxnLst/>
            <a:rect l="l" t="t" r="r" b="b"/>
            <a:pathLst>
              <a:path w="0" h="2896870">
                <a:moveTo>
                  <a:pt x="0" y="0"/>
                </a:moveTo>
                <a:lnTo>
                  <a:pt x="0" y="289687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25105" y="2038350"/>
            <a:ext cx="0" cy="2896870"/>
          </a:xfrm>
          <a:custGeom>
            <a:avLst/>
            <a:gdLst/>
            <a:ahLst/>
            <a:cxnLst/>
            <a:rect l="l" t="t" r="r" b="b"/>
            <a:pathLst>
              <a:path w="0" h="2896870">
                <a:moveTo>
                  <a:pt x="0" y="0"/>
                </a:moveTo>
                <a:lnTo>
                  <a:pt x="0" y="289687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01900" y="4162425"/>
            <a:ext cx="972185" cy="0"/>
          </a:xfrm>
          <a:custGeom>
            <a:avLst/>
            <a:gdLst/>
            <a:ahLst/>
            <a:cxnLst/>
            <a:rect l="l" t="t" r="r" b="b"/>
            <a:pathLst>
              <a:path w="972185" h="0">
                <a:moveTo>
                  <a:pt x="0" y="0"/>
                </a:moveTo>
                <a:lnTo>
                  <a:pt x="972185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74084" y="3456304"/>
            <a:ext cx="4351020" cy="0"/>
          </a:xfrm>
          <a:custGeom>
            <a:avLst/>
            <a:gdLst/>
            <a:ahLst/>
            <a:cxnLst/>
            <a:rect l="l" t="t" r="r" b="b"/>
            <a:pathLst>
              <a:path w="4351020" h="0">
                <a:moveTo>
                  <a:pt x="0" y="0"/>
                </a:moveTo>
                <a:lnTo>
                  <a:pt x="435102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74084" y="4935220"/>
            <a:ext cx="4351020" cy="0"/>
          </a:xfrm>
          <a:custGeom>
            <a:avLst/>
            <a:gdLst/>
            <a:ahLst/>
            <a:cxnLst/>
            <a:rect l="l" t="t" r="r" b="b"/>
            <a:pathLst>
              <a:path w="4351020" h="0">
                <a:moveTo>
                  <a:pt x="0" y="0"/>
                </a:moveTo>
                <a:lnTo>
                  <a:pt x="435102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63930" y="4935220"/>
            <a:ext cx="2510155" cy="0"/>
          </a:xfrm>
          <a:custGeom>
            <a:avLst/>
            <a:gdLst/>
            <a:ahLst/>
            <a:cxnLst/>
            <a:rect l="l" t="t" r="r" b="b"/>
            <a:pathLst>
              <a:path w="2510154" h="0">
                <a:moveTo>
                  <a:pt x="0" y="0"/>
                </a:moveTo>
                <a:lnTo>
                  <a:pt x="2510155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63930" y="2038350"/>
            <a:ext cx="1537970" cy="615315"/>
          </a:xfrm>
          <a:prstGeom prst="rect">
            <a:avLst/>
          </a:prstGeom>
          <a:solidFill>
            <a:srgbClr val="5B9BD4">
              <a:alpha val="59999"/>
            </a:srgbClr>
          </a:solidFill>
          <a:ln w="7620">
            <a:solidFill>
              <a:srgbClr val="000000"/>
            </a:solidFill>
          </a:ln>
        </p:spPr>
        <p:txBody>
          <a:bodyPr wrap="square" lIns="0" tIns="13208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040"/>
              </a:spcBef>
            </a:pPr>
            <a:r>
              <a:rPr dirty="0" sz="2000" b="1">
                <a:solidFill>
                  <a:srgbClr val="FFFFFF"/>
                </a:solidFill>
                <a:latin typeface="微软雅黑"/>
                <a:cs typeface="微软雅黑"/>
              </a:rPr>
              <a:t>固体分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类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01900" y="2038350"/>
            <a:ext cx="972185" cy="615315"/>
          </a:xfrm>
          <a:prstGeom prst="rect">
            <a:avLst/>
          </a:prstGeom>
          <a:solidFill>
            <a:srgbClr val="5B9BD4">
              <a:alpha val="59999"/>
            </a:srgbClr>
          </a:solidFill>
          <a:ln w="7620">
            <a:solidFill>
              <a:srgbClr val="000000"/>
            </a:solidFill>
          </a:ln>
        </p:spPr>
        <p:txBody>
          <a:bodyPr wrap="square" lIns="0" tIns="13208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40"/>
              </a:spcBef>
            </a:pPr>
            <a:r>
              <a:rPr dirty="0" sz="2000" b="1">
                <a:solidFill>
                  <a:srgbClr val="FFFFFF"/>
                </a:solidFill>
                <a:latin typeface="微软雅黑"/>
                <a:cs typeface="微软雅黑"/>
              </a:rPr>
              <a:t>熔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74084" y="2038350"/>
            <a:ext cx="3067050" cy="615315"/>
          </a:xfrm>
          <a:prstGeom prst="rect">
            <a:avLst/>
          </a:prstGeom>
          <a:solidFill>
            <a:srgbClr val="5B9BD4">
              <a:alpha val="59999"/>
            </a:srgbClr>
          </a:solidFill>
          <a:ln w="7619">
            <a:solidFill>
              <a:srgbClr val="000000"/>
            </a:solidFill>
          </a:ln>
        </p:spPr>
        <p:txBody>
          <a:bodyPr wrap="square" lIns="0" tIns="13208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40"/>
              </a:spcBef>
            </a:pPr>
            <a:r>
              <a:rPr dirty="0" sz="200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形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1134" y="2038350"/>
            <a:ext cx="1283970" cy="615315"/>
          </a:xfrm>
          <a:prstGeom prst="rect">
            <a:avLst/>
          </a:prstGeom>
          <a:solidFill>
            <a:srgbClr val="5B9BD4">
              <a:alpha val="59999"/>
            </a:srgbClr>
          </a:solidFill>
          <a:ln w="7619">
            <a:solidFill>
              <a:srgbClr val="000000"/>
            </a:solidFill>
          </a:ln>
        </p:spPr>
        <p:txBody>
          <a:bodyPr wrap="square" lIns="0" tIns="132080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1040"/>
              </a:spcBef>
            </a:pPr>
            <a:r>
              <a:rPr dirty="0" sz="2000" b="1">
                <a:solidFill>
                  <a:srgbClr val="FFFFFF"/>
                </a:solidFill>
                <a:latin typeface="微软雅黑"/>
                <a:cs typeface="微软雅黑"/>
              </a:rPr>
              <a:t>物理性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质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3930" y="2653664"/>
            <a:ext cx="646430" cy="1508760"/>
          </a:xfrm>
          <a:prstGeom prst="rect">
            <a:avLst/>
          </a:prstGeom>
          <a:ln w="7619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3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dirty="0" sz="2000" i="1">
                <a:latin typeface="华文楷体"/>
                <a:cs typeface="华文楷体"/>
              </a:rPr>
              <a:t>晶</a:t>
            </a:r>
            <a:r>
              <a:rPr dirty="0" sz="2000" spc="5" i="1">
                <a:latin typeface="华文楷体"/>
                <a:cs typeface="华文楷体"/>
              </a:rPr>
              <a:t>体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10360" y="2653664"/>
            <a:ext cx="891540" cy="802640"/>
          </a:xfrm>
          <a:prstGeom prst="rect">
            <a:avLst/>
          </a:prstGeom>
          <a:ln w="7620">
            <a:solidFill>
              <a:srgbClr val="000000"/>
            </a:solidFill>
          </a:ln>
        </p:spPr>
        <p:txBody>
          <a:bodyPr wrap="square" lIns="0" tIns="20256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595"/>
              </a:spcBef>
            </a:pPr>
            <a:r>
              <a:rPr dirty="0" sz="2000" i="1">
                <a:latin typeface="华文楷体"/>
                <a:cs typeface="华文楷体"/>
              </a:rPr>
              <a:t>单晶</a:t>
            </a:r>
            <a:r>
              <a:rPr dirty="0" sz="2000" spc="5" i="1">
                <a:latin typeface="华文楷体"/>
                <a:cs typeface="华文楷体"/>
              </a:rPr>
              <a:t>体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01900" y="2653664"/>
            <a:ext cx="972185" cy="1508760"/>
          </a:xfrm>
          <a:prstGeom prst="rect">
            <a:avLst/>
          </a:prstGeom>
          <a:ln w="7620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38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dirty="0" sz="2000" i="1">
                <a:latin typeface="华文楷体"/>
                <a:cs typeface="华文楷体"/>
              </a:rPr>
              <a:t>确</a:t>
            </a:r>
            <a:r>
              <a:rPr dirty="0" sz="2000" spc="5" i="1">
                <a:latin typeface="华文楷体"/>
                <a:cs typeface="华文楷体"/>
              </a:rPr>
              <a:t>定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37788" y="2799588"/>
            <a:ext cx="2900045" cy="485140"/>
          </a:xfrm>
          <a:prstGeom prst="rect">
            <a:avLst/>
          </a:prstGeom>
          <a:solidFill>
            <a:srgbClr val="00AF50">
              <a:alpha val="21998"/>
            </a:srgbClr>
          </a:solidFill>
        </p:spPr>
        <p:txBody>
          <a:bodyPr wrap="square" lIns="0" tIns="5651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445"/>
              </a:spcBef>
            </a:pPr>
            <a:r>
              <a:rPr dirty="0" sz="2000" i="1">
                <a:latin typeface="华文楷体"/>
                <a:cs typeface="华文楷体"/>
              </a:rPr>
              <a:t>有天然规则的几何形</a:t>
            </a:r>
            <a:r>
              <a:rPr dirty="0" sz="2000" spc="5" i="1">
                <a:latin typeface="华文楷体"/>
                <a:cs typeface="华文楷体"/>
              </a:rPr>
              <a:t>状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44944" y="2799588"/>
            <a:ext cx="1202055" cy="485140"/>
          </a:xfrm>
          <a:prstGeom prst="rect">
            <a:avLst/>
          </a:prstGeom>
          <a:solidFill>
            <a:srgbClr val="00AF50">
              <a:alpha val="21998"/>
            </a:srgbClr>
          </a:solidFill>
        </p:spPr>
        <p:txBody>
          <a:bodyPr wrap="square" lIns="0" tIns="5651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445"/>
              </a:spcBef>
            </a:pPr>
            <a:r>
              <a:rPr dirty="0" sz="2000" i="1">
                <a:latin typeface="华文楷体"/>
                <a:cs typeface="华文楷体"/>
              </a:rPr>
              <a:t>各向异</a:t>
            </a:r>
            <a:r>
              <a:rPr dirty="0" sz="2000" spc="5" i="1">
                <a:latin typeface="华文楷体"/>
                <a:cs typeface="华文楷体"/>
              </a:rPr>
              <a:t>性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10360" y="3456304"/>
            <a:ext cx="891540" cy="706120"/>
          </a:xfrm>
          <a:prstGeom prst="rect">
            <a:avLst/>
          </a:prstGeom>
          <a:ln w="7620">
            <a:solidFill>
              <a:srgbClr val="000000"/>
            </a:solidFill>
          </a:ln>
        </p:spPr>
        <p:txBody>
          <a:bodyPr wrap="square" lIns="0" tIns="15430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215"/>
              </a:spcBef>
            </a:pPr>
            <a:r>
              <a:rPr dirty="0" sz="2000" i="1">
                <a:latin typeface="华文楷体"/>
                <a:cs typeface="华文楷体"/>
              </a:rPr>
              <a:t>多晶</a:t>
            </a:r>
            <a:r>
              <a:rPr dirty="0" sz="2000" spc="5" i="1">
                <a:latin typeface="华文楷体"/>
                <a:cs typeface="华文楷体"/>
              </a:rPr>
              <a:t>体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74084" y="3456304"/>
            <a:ext cx="3067050" cy="1478915"/>
          </a:xfrm>
          <a:prstGeom prst="rect">
            <a:avLst/>
          </a:prstGeom>
          <a:ln w="7619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7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</a:pPr>
            <a:r>
              <a:rPr dirty="0" sz="2000" i="1">
                <a:latin typeface="华文楷体"/>
                <a:cs typeface="华文楷体"/>
              </a:rPr>
              <a:t>没有天然规则的几何形</a:t>
            </a:r>
            <a:r>
              <a:rPr dirty="0" sz="2000" spc="5" i="1">
                <a:latin typeface="华文楷体"/>
                <a:cs typeface="华文楷体"/>
              </a:rPr>
              <a:t>状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41134" y="3456304"/>
            <a:ext cx="1283970" cy="1478915"/>
          </a:xfrm>
          <a:prstGeom prst="rect">
            <a:avLst/>
          </a:prstGeom>
          <a:ln w="7619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700">
              <a:latin typeface="Times New Roman"/>
              <a:cs typeface="Times New Roman"/>
            </a:endParaRPr>
          </a:p>
          <a:p>
            <a:pPr marL="133985">
              <a:lnSpc>
                <a:spcPct val="100000"/>
              </a:lnSpc>
            </a:pPr>
            <a:r>
              <a:rPr dirty="0" sz="2000" i="1">
                <a:latin typeface="华文楷体"/>
                <a:cs typeface="华文楷体"/>
              </a:rPr>
              <a:t>各向同</a:t>
            </a:r>
            <a:r>
              <a:rPr dirty="0" sz="2000" spc="5" i="1">
                <a:latin typeface="华文楷体"/>
                <a:cs typeface="华文楷体"/>
              </a:rPr>
              <a:t>性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63930" y="4162425"/>
            <a:ext cx="1537970" cy="772795"/>
          </a:xfrm>
          <a:prstGeom prst="rect">
            <a:avLst/>
          </a:prstGeom>
          <a:ln w="7620">
            <a:solidFill>
              <a:srgbClr val="000000"/>
            </a:solidFill>
          </a:ln>
        </p:spPr>
        <p:txBody>
          <a:bodyPr wrap="square" lIns="0" tIns="187325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1475"/>
              </a:spcBef>
            </a:pPr>
            <a:r>
              <a:rPr dirty="0" sz="2000" i="1">
                <a:latin typeface="华文楷体"/>
                <a:cs typeface="华文楷体"/>
              </a:rPr>
              <a:t>非晶</a:t>
            </a:r>
            <a:r>
              <a:rPr dirty="0" sz="2000" spc="5" i="1">
                <a:latin typeface="华文楷体"/>
                <a:cs typeface="华文楷体"/>
              </a:rPr>
              <a:t>体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01900" y="4162425"/>
            <a:ext cx="972185" cy="772795"/>
          </a:xfrm>
          <a:prstGeom prst="rect">
            <a:avLst/>
          </a:prstGeom>
          <a:ln w="7620">
            <a:solidFill>
              <a:srgbClr val="000000"/>
            </a:solidFill>
          </a:ln>
        </p:spPr>
        <p:txBody>
          <a:bodyPr wrap="square" lIns="0" tIns="187325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1475"/>
              </a:spcBef>
            </a:pPr>
            <a:r>
              <a:rPr dirty="0" sz="2000" i="1">
                <a:latin typeface="华文楷体"/>
                <a:cs typeface="华文楷体"/>
              </a:rPr>
              <a:t>不确</a:t>
            </a:r>
            <a:r>
              <a:rPr dirty="0" sz="2000" spc="5" i="1">
                <a:latin typeface="华文楷体"/>
                <a:cs typeface="华文楷体"/>
              </a:rPr>
              <a:t>定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82862" y="3114992"/>
            <a:ext cx="821055" cy="2267585"/>
          </a:xfrm>
          <a:custGeom>
            <a:avLst/>
            <a:gdLst/>
            <a:ahLst/>
            <a:cxnLst/>
            <a:rect l="l" t="t" r="r" b="b"/>
            <a:pathLst>
              <a:path w="821054" h="2267585">
                <a:moveTo>
                  <a:pt x="328930" y="1699577"/>
                </a:moveTo>
                <a:lnTo>
                  <a:pt x="0" y="1699577"/>
                </a:lnTo>
                <a:lnTo>
                  <a:pt x="0" y="0"/>
                </a:lnTo>
                <a:lnTo>
                  <a:pt x="821054" y="0"/>
                </a:lnTo>
                <a:lnTo>
                  <a:pt x="821054" y="17462"/>
                </a:lnTo>
                <a:lnTo>
                  <a:pt x="34925" y="17462"/>
                </a:lnTo>
                <a:lnTo>
                  <a:pt x="17462" y="34925"/>
                </a:lnTo>
                <a:lnTo>
                  <a:pt x="34925" y="34925"/>
                </a:lnTo>
                <a:lnTo>
                  <a:pt x="34925" y="1664652"/>
                </a:lnTo>
                <a:lnTo>
                  <a:pt x="17462" y="1664652"/>
                </a:lnTo>
                <a:lnTo>
                  <a:pt x="34925" y="1682115"/>
                </a:lnTo>
                <a:lnTo>
                  <a:pt x="328930" y="1682115"/>
                </a:lnTo>
                <a:lnTo>
                  <a:pt x="328930" y="1699577"/>
                </a:lnTo>
                <a:close/>
              </a:path>
              <a:path w="821054" h="2267585">
                <a:moveTo>
                  <a:pt x="34925" y="34925"/>
                </a:moveTo>
                <a:lnTo>
                  <a:pt x="17462" y="34925"/>
                </a:lnTo>
                <a:lnTo>
                  <a:pt x="34925" y="17462"/>
                </a:lnTo>
                <a:lnTo>
                  <a:pt x="34925" y="34925"/>
                </a:lnTo>
                <a:close/>
              </a:path>
              <a:path w="821054" h="2267585">
                <a:moveTo>
                  <a:pt x="786129" y="34925"/>
                </a:moveTo>
                <a:lnTo>
                  <a:pt x="34925" y="34925"/>
                </a:lnTo>
                <a:lnTo>
                  <a:pt x="34925" y="17462"/>
                </a:lnTo>
                <a:lnTo>
                  <a:pt x="786129" y="17462"/>
                </a:lnTo>
                <a:lnTo>
                  <a:pt x="786129" y="34925"/>
                </a:lnTo>
                <a:close/>
              </a:path>
              <a:path w="821054" h="2267585">
                <a:moveTo>
                  <a:pt x="786129" y="1682115"/>
                </a:moveTo>
                <a:lnTo>
                  <a:pt x="786129" y="17462"/>
                </a:lnTo>
                <a:lnTo>
                  <a:pt x="803592" y="34925"/>
                </a:lnTo>
                <a:lnTo>
                  <a:pt x="821054" y="34925"/>
                </a:lnTo>
                <a:lnTo>
                  <a:pt x="821054" y="1664652"/>
                </a:lnTo>
                <a:lnTo>
                  <a:pt x="803592" y="1664652"/>
                </a:lnTo>
                <a:lnTo>
                  <a:pt x="786129" y="1682115"/>
                </a:lnTo>
                <a:close/>
              </a:path>
              <a:path w="821054" h="2267585">
                <a:moveTo>
                  <a:pt x="821054" y="34925"/>
                </a:moveTo>
                <a:lnTo>
                  <a:pt x="803592" y="34925"/>
                </a:lnTo>
                <a:lnTo>
                  <a:pt x="786129" y="17462"/>
                </a:lnTo>
                <a:lnTo>
                  <a:pt x="821054" y="17462"/>
                </a:lnTo>
                <a:lnTo>
                  <a:pt x="821054" y="34925"/>
                </a:lnTo>
                <a:close/>
              </a:path>
              <a:path w="821054" h="2267585">
                <a:moveTo>
                  <a:pt x="34925" y="1682115"/>
                </a:moveTo>
                <a:lnTo>
                  <a:pt x="17462" y="1664652"/>
                </a:lnTo>
                <a:lnTo>
                  <a:pt x="34925" y="1664652"/>
                </a:lnTo>
                <a:lnTo>
                  <a:pt x="34925" y="1682115"/>
                </a:lnTo>
                <a:close/>
              </a:path>
              <a:path w="821054" h="2267585">
                <a:moveTo>
                  <a:pt x="363855" y="1699577"/>
                </a:moveTo>
                <a:lnTo>
                  <a:pt x="346392" y="1699577"/>
                </a:lnTo>
                <a:lnTo>
                  <a:pt x="328930" y="1682115"/>
                </a:lnTo>
                <a:lnTo>
                  <a:pt x="34925" y="1682115"/>
                </a:lnTo>
                <a:lnTo>
                  <a:pt x="34925" y="1664652"/>
                </a:lnTo>
                <a:lnTo>
                  <a:pt x="363855" y="1664652"/>
                </a:lnTo>
                <a:lnTo>
                  <a:pt x="363855" y="1699577"/>
                </a:lnTo>
                <a:close/>
              </a:path>
              <a:path w="821054" h="2267585">
                <a:moveTo>
                  <a:pt x="608423" y="1918970"/>
                </a:moveTo>
                <a:lnTo>
                  <a:pt x="457200" y="1918970"/>
                </a:lnTo>
                <a:lnTo>
                  <a:pt x="457200" y="1664652"/>
                </a:lnTo>
                <a:lnTo>
                  <a:pt x="786129" y="1664652"/>
                </a:lnTo>
                <a:lnTo>
                  <a:pt x="786129" y="1682115"/>
                </a:lnTo>
                <a:lnTo>
                  <a:pt x="492125" y="1682115"/>
                </a:lnTo>
                <a:lnTo>
                  <a:pt x="474662" y="1699577"/>
                </a:lnTo>
                <a:lnTo>
                  <a:pt x="492125" y="1699577"/>
                </a:lnTo>
                <a:lnTo>
                  <a:pt x="492125" y="1884045"/>
                </a:lnTo>
                <a:lnTo>
                  <a:pt x="474662" y="1884045"/>
                </a:lnTo>
                <a:lnTo>
                  <a:pt x="492125" y="1901507"/>
                </a:lnTo>
                <a:lnTo>
                  <a:pt x="620461" y="1901507"/>
                </a:lnTo>
                <a:lnTo>
                  <a:pt x="608423" y="1918970"/>
                </a:lnTo>
                <a:close/>
              </a:path>
              <a:path w="821054" h="2267585">
                <a:moveTo>
                  <a:pt x="821054" y="1699577"/>
                </a:moveTo>
                <a:lnTo>
                  <a:pt x="492125" y="1699577"/>
                </a:lnTo>
                <a:lnTo>
                  <a:pt x="492125" y="1682115"/>
                </a:lnTo>
                <a:lnTo>
                  <a:pt x="786129" y="1682115"/>
                </a:lnTo>
                <a:lnTo>
                  <a:pt x="803592" y="1664652"/>
                </a:lnTo>
                <a:lnTo>
                  <a:pt x="821054" y="1664652"/>
                </a:lnTo>
                <a:lnTo>
                  <a:pt x="821054" y="1699577"/>
                </a:lnTo>
                <a:close/>
              </a:path>
              <a:path w="821054" h="2267585">
                <a:moveTo>
                  <a:pt x="328930" y="1901507"/>
                </a:moveTo>
                <a:lnTo>
                  <a:pt x="328930" y="1682115"/>
                </a:lnTo>
                <a:lnTo>
                  <a:pt x="346392" y="1699577"/>
                </a:lnTo>
                <a:lnTo>
                  <a:pt x="363855" y="1699577"/>
                </a:lnTo>
                <a:lnTo>
                  <a:pt x="363855" y="1884045"/>
                </a:lnTo>
                <a:lnTo>
                  <a:pt x="346392" y="1884045"/>
                </a:lnTo>
                <a:lnTo>
                  <a:pt x="328930" y="1901507"/>
                </a:lnTo>
                <a:close/>
              </a:path>
              <a:path w="821054" h="2267585">
                <a:moveTo>
                  <a:pt x="492125" y="1699577"/>
                </a:moveTo>
                <a:lnTo>
                  <a:pt x="474662" y="1699577"/>
                </a:lnTo>
                <a:lnTo>
                  <a:pt x="492125" y="1682115"/>
                </a:lnTo>
                <a:lnTo>
                  <a:pt x="492125" y="1699577"/>
                </a:lnTo>
                <a:close/>
              </a:path>
              <a:path w="821054" h="2267585">
                <a:moveTo>
                  <a:pt x="410527" y="2267559"/>
                </a:moveTo>
                <a:lnTo>
                  <a:pt x="146138" y="1884045"/>
                </a:lnTo>
                <a:lnTo>
                  <a:pt x="328930" y="1884045"/>
                </a:lnTo>
                <a:lnTo>
                  <a:pt x="328930" y="1891601"/>
                </a:lnTo>
                <a:lnTo>
                  <a:pt x="193763" y="1891601"/>
                </a:lnTo>
                <a:lnTo>
                  <a:pt x="179387" y="1918970"/>
                </a:lnTo>
                <a:lnTo>
                  <a:pt x="212631" y="1918970"/>
                </a:lnTo>
                <a:lnTo>
                  <a:pt x="410527" y="2206027"/>
                </a:lnTo>
                <a:lnTo>
                  <a:pt x="396151" y="2226881"/>
                </a:lnTo>
                <a:lnTo>
                  <a:pt x="438570" y="2226881"/>
                </a:lnTo>
                <a:lnTo>
                  <a:pt x="410527" y="2267559"/>
                </a:lnTo>
                <a:close/>
              </a:path>
              <a:path w="821054" h="2267585">
                <a:moveTo>
                  <a:pt x="363855" y="1901507"/>
                </a:moveTo>
                <a:lnTo>
                  <a:pt x="328930" y="1901507"/>
                </a:lnTo>
                <a:lnTo>
                  <a:pt x="346392" y="1884045"/>
                </a:lnTo>
                <a:lnTo>
                  <a:pt x="363855" y="1884045"/>
                </a:lnTo>
                <a:lnTo>
                  <a:pt x="363855" y="1901507"/>
                </a:lnTo>
                <a:close/>
              </a:path>
              <a:path w="821054" h="2267585">
                <a:moveTo>
                  <a:pt x="492125" y="1901507"/>
                </a:moveTo>
                <a:lnTo>
                  <a:pt x="474662" y="1884045"/>
                </a:lnTo>
                <a:lnTo>
                  <a:pt x="492125" y="1884045"/>
                </a:lnTo>
                <a:lnTo>
                  <a:pt x="492125" y="1901507"/>
                </a:lnTo>
                <a:close/>
              </a:path>
              <a:path w="821054" h="2267585">
                <a:moveTo>
                  <a:pt x="620461" y="1901507"/>
                </a:moveTo>
                <a:lnTo>
                  <a:pt x="492125" y="1901507"/>
                </a:lnTo>
                <a:lnTo>
                  <a:pt x="492125" y="1884045"/>
                </a:lnTo>
                <a:lnTo>
                  <a:pt x="674916" y="1884045"/>
                </a:lnTo>
                <a:lnTo>
                  <a:pt x="669706" y="1891601"/>
                </a:lnTo>
                <a:lnTo>
                  <a:pt x="627291" y="1891601"/>
                </a:lnTo>
                <a:lnTo>
                  <a:pt x="620461" y="1901507"/>
                </a:lnTo>
                <a:close/>
              </a:path>
              <a:path w="821054" h="2267585">
                <a:moveTo>
                  <a:pt x="212631" y="1918970"/>
                </a:moveTo>
                <a:lnTo>
                  <a:pt x="179387" y="1918970"/>
                </a:lnTo>
                <a:lnTo>
                  <a:pt x="193763" y="1891601"/>
                </a:lnTo>
                <a:lnTo>
                  <a:pt x="212631" y="1918970"/>
                </a:lnTo>
                <a:close/>
              </a:path>
              <a:path w="821054" h="2267585">
                <a:moveTo>
                  <a:pt x="363855" y="1918970"/>
                </a:moveTo>
                <a:lnTo>
                  <a:pt x="212631" y="1918970"/>
                </a:lnTo>
                <a:lnTo>
                  <a:pt x="193763" y="1891601"/>
                </a:lnTo>
                <a:lnTo>
                  <a:pt x="328930" y="1891601"/>
                </a:lnTo>
                <a:lnTo>
                  <a:pt x="328930" y="1901507"/>
                </a:lnTo>
                <a:lnTo>
                  <a:pt x="363855" y="1901507"/>
                </a:lnTo>
                <a:lnTo>
                  <a:pt x="363855" y="1918970"/>
                </a:lnTo>
                <a:close/>
              </a:path>
              <a:path w="821054" h="2267585">
                <a:moveTo>
                  <a:pt x="438570" y="2226881"/>
                </a:moveTo>
                <a:lnTo>
                  <a:pt x="424903" y="2226881"/>
                </a:lnTo>
                <a:lnTo>
                  <a:pt x="410527" y="2206027"/>
                </a:lnTo>
                <a:lnTo>
                  <a:pt x="627291" y="1891601"/>
                </a:lnTo>
                <a:lnTo>
                  <a:pt x="641667" y="1918970"/>
                </a:lnTo>
                <a:lnTo>
                  <a:pt x="650839" y="1918970"/>
                </a:lnTo>
                <a:lnTo>
                  <a:pt x="438570" y="2226881"/>
                </a:lnTo>
                <a:close/>
              </a:path>
              <a:path w="821054" h="2267585">
                <a:moveTo>
                  <a:pt x="650839" y="1918970"/>
                </a:moveTo>
                <a:lnTo>
                  <a:pt x="641667" y="1918970"/>
                </a:lnTo>
                <a:lnTo>
                  <a:pt x="627291" y="1891601"/>
                </a:lnTo>
                <a:lnTo>
                  <a:pt x="669706" y="1891601"/>
                </a:lnTo>
                <a:lnTo>
                  <a:pt x="650839" y="1918970"/>
                </a:lnTo>
                <a:close/>
              </a:path>
              <a:path w="821054" h="2267585">
                <a:moveTo>
                  <a:pt x="424903" y="2226881"/>
                </a:moveTo>
                <a:lnTo>
                  <a:pt x="396151" y="2226881"/>
                </a:lnTo>
                <a:lnTo>
                  <a:pt x="410527" y="2206027"/>
                </a:lnTo>
                <a:lnTo>
                  <a:pt x="424903" y="2226881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754123" y="5361432"/>
            <a:ext cx="2333625" cy="399415"/>
          </a:xfrm>
          <a:prstGeom prst="rect">
            <a:avLst/>
          </a:prstGeom>
          <a:solidFill>
            <a:srgbClr val="EC7C30">
              <a:alpha val="72198"/>
            </a:srgbClr>
          </a:solidFill>
        </p:spPr>
        <p:txBody>
          <a:bodyPr wrap="square" lIns="0" tIns="38735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区分晶体和非晶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体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94632" y="2225039"/>
            <a:ext cx="2740152" cy="1725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42388" y="2225039"/>
            <a:ext cx="1706880" cy="1725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42388" y="3950208"/>
            <a:ext cx="1706880" cy="403860"/>
          </a:xfrm>
          <a:prstGeom prst="rect">
            <a:avLst/>
          </a:prstGeom>
          <a:solidFill>
            <a:srgbClr val="C23C60">
              <a:alpha val="32899"/>
            </a:srgbClr>
          </a:solidFill>
        </p:spPr>
        <p:txBody>
          <a:bodyPr wrap="square" lIns="0" tIns="33020" rIns="0" bIns="0" rtlCol="0" vert="horz">
            <a:spAutoFit/>
          </a:bodyPr>
          <a:lstStyle/>
          <a:p>
            <a:pPr marL="471805">
              <a:lnSpc>
                <a:spcPct val="100000"/>
              </a:lnSpc>
              <a:spcBef>
                <a:spcPts val="260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糖晶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体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8368" y="2225039"/>
            <a:ext cx="1440180" cy="1725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868" y="2161539"/>
            <a:ext cx="1567180" cy="1852295"/>
          </a:xfrm>
          <a:custGeom>
            <a:avLst/>
            <a:gdLst/>
            <a:ahLst/>
            <a:cxnLst/>
            <a:rect l="l" t="t" r="r" b="b"/>
            <a:pathLst>
              <a:path w="1567180" h="1852295">
                <a:moveTo>
                  <a:pt x="1535430" y="1852168"/>
                </a:moveTo>
                <a:lnTo>
                  <a:pt x="31750" y="1852168"/>
                </a:lnTo>
                <a:lnTo>
                  <a:pt x="27609" y="1851901"/>
                </a:lnTo>
                <a:lnTo>
                  <a:pt x="266" y="1824558"/>
                </a:lnTo>
                <a:lnTo>
                  <a:pt x="0" y="1820418"/>
                </a:lnTo>
                <a:lnTo>
                  <a:pt x="0" y="31750"/>
                </a:lnTo>
                <a:lnTo>
                  <a:pt x="23533" y="1079"/>
                </a:lnTo>
                <a:lnTo>
                  <a:pt x="31750" y="0"/>
                </a:lnTo>
                <a:lnTo>
                  <a:pt x="1535430" y="0"/>
                </a:lnTo>
                <a:lnTo>
                  <a:pt x="1566100" y="23533"/>
                </a:lnTo>
                <a:lnTo>
                  <a:pt x="1567180" y="31750"/>
                </a:lnTo>
                <a:lnTo>
                  <a:pt x="63500" y="31750"/>
                </a:lnTo>
                <a:lnTo>
                  <a:pt x="31750" y="63500"/>
                </a:lnTo>
                <a:lnTo>
                  <a:pt x="63500" y="63500"/>
                </a:lnTo>
                <a:lnTo>
                  <a:pt x="63500" y="1788668"/>
                </a:lnTo>
                <a:lnTo>
                  <a:pt x="31750" y="1788668"/>
                </a:lnTo>
                <a:lnTo>
                  <a:pt x="63500" y="1820418"/>
                </a:lnTo>
                <a:lnTo>
                  <a:pt x="1567180" y="1820418"/>
                </a:lnTo>
                <a:lnTo>
                  <a:pt x="1566913" y="1824558"/>
                </a:lnTo>
                <a:lnTo>
                  <a:pt x="1539570" y="1851901"/>
                </a:lnTo>
                <a:lnTo>
                  <a:pt x="1535430" y="1852168"/>
                </a:lnTo>
                <a:close/>
              </a:path>
              <a:path w="1567180" h="1852295">
                <a:moveTo>
                  <a:pt x="63500" y="63500"/>
                </a:moveTo>
                <a:lnTo>
                  <a:pt x="31750" y="63500"/>
                </a:lnTo>
                <a:lnTo>
                  <a:pt x="63500" y="31750"/>
                </a:lnTo>
                <a:lnTo>
                  <a:pt x="63500" y="63500"/>
                </a:lnTo>
                <a:close/>
              </a:path>
              <a:path w="1567180" h="1852295">
                <a:moveTo>
                  <a:pt x="1503680" y="63500"/>
                </a:moveTo>
                <a:lnTo>
                  <a:pt x="63500" y="63500"/>
                </a:lnTo>
                <a:lnTo>
                  <a:pt x="63500" y="31750"/>
                </a:lnTo>
                <a:lnTo>
                  <a:pt x="1503680" y="31750"/>
                </a:lnTo>
                <a:lnTo>
                  <a:pt x="1503680" y="63500"/>
                </a:lnTo>
                <a:close/>
              </a:path>
              <a:path w="1567180" h="1852295">
                <a:moveTo>
                  <a:pt x="1503680" y="1820418"/>
                </a:moveTo>
                <a:lnTo>
                  <a:pt x="1503680" y="31750"/>
                </a:lnTo>
                <a:lnTo>
                  <a:pt x="1535430" y="63500"/>
                </a:lnTo>
                <a:lnTo>
                  <a:pt x="1567180" y="63500"/>
                </a:lnTo>
                <a:lnTo>
                  <a:pt x="1567180" y="1788668"/>
                </a:lnTo>
                <a:lnTo>
                  <a:pt x="1535430" y="1788668"/>
                </a:lnTo>
                <a:lnTo>
                  <a:pt x="1503680" y="1820418"/>
                </a:lnTo>
                <a:close/>
              </a:path>
              <a:path w="1567180" h="1852295">
                <a:moveTo>
                  <a:pt x="1567180" y="63500"/>
                </a:moveTo>
                <a:lnTo>
                  <a:pt x="1535430" y="63500"/>
                </a:lnTo>
                <a:lnTo>
                  <a:pt x="1503680" y="31750"/>
                </a:lnTo>
                <a:lnTo>
                  <a:pt x="1567180" y="31750"/>
                </a:lnTo>
                <a:lnTo>
                  <a:pt x="1567180" y="63500"/>
                </a:lnTo>
                <a:close/>
              </a:path>
              <a:path w="1567180" h="1852295">
                <a:moveTo>
                  <a:pt x="63500" y="1820418"/>
                </a:moveTo>
                <a:lnTo>
                  <a:pt x="31750" y="1788668"/>
                </a:lnTo>
                <a:lnTo>
                  <a:pt x="63500" y="1788668"/>
                </a:lnTo>
                <a:lnTo>
                  <a:pt x="63500" y="1820418"/>
                </a:lnTo>
                <a:close/>
              </a:path>
              <a:path w="1567180" h="1852295">
                <a:moveTo>
                  <a:pt x="1503680" y="1820418"/>
                </a:moveTo>
                <a:lnTo>
                  <a:pt x="63500" y="1820418"/>
                </a:lnTo>
                <a:lnTo>
                  <a:pt x="63500" y="1788668"/>
                </a:lnTo>
                <a:lnTo>
                  <a:pt x="1503680" y="1788668"/>
                </a:lnTo>
                <a:lnTo>
                  <a:pt x="1503680" y="1820418"/>
                </a:lnTo>
                <a:close/>
              </a:path>
              <a:path w="1567180" h="1852295">
                <a:moveTo>
                  <a:pt x="1567180" y="1820418"/>
                </a:moveTo>
                <a:lnTo>
                  <a:pt x="1503680" y="1820418"/>
                </a:lnTo>
                <a:lnTo>
                  <a:pt x="1535430" y="1788668"/>
                </a:lnTo>
                <a:lnTo>
                  <a:pt x="1567180" y="1788668"/>
                </a:lnTo>
                <a:lnTo>
                  <a:pt x="1567180" y="1820418"/>
                </a:lnTo>
                <a:close/>
              </a:path>
            </a:pathLst>
          </a:custGeom>
          <a:solidFill>
            <a:srgbClr val="FFFFFF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8368" y="3948684"/>
            <a:ext cx="1438910" cy="403860"/>
          </a:xfrm>
          <a:prstGeom prst="rect">
            <a:avLst/>
          </a:prstGeom>
          <a:solidFill>
            <a:srgbClr val="06487A">
              <a:alpha val="32899"/>
            </a:srgbClr>
          </a:solidFill>
        </p:spPr>
        <p:txBody>
          <a:bodyPr wrap="square" lIns="0" tIns="33020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260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明矾晶</a:t>
            </a:r>
            <a:r>
              <a:rPr dirty="0" sz="2000" spc="5">
                <a:solidFill>
                  <a:srgbClr val="FFFFFF"/>
                </a:solidFill>
                <a:latin typeface="微软雅黑"/>
                <a:cs typeface="微软雅黑"/>
              </a:rPr>
              <a:t>体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94632" y="3950208"/>
            <a:ext cx="2743200" cy="403860"/>
          </a:xfrm>
          <a:prstGeom prst="rect"/>
          <a:solidFill>
            <a:srgbClr val="1F1B1A">
              <a:alpha val="3289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81965">
              <a:lnSpc>
                <a:spcPct val="100000"/>
              </a:lnSpc>
              <a:spcBef>
                <a:spcPts val="254"/>
              </a:spcBef>
            </a:pPr>
            <a:r>
              <a:rPr dirty="0">
                <a:solidFill>
                  <a:srgbClr val="FFFFFF"/>
                </a:solidFill>
              </a:rPr>
              <a:t>磷酸二氢铵晶</a:t>
            </a:r>
            <a:r>
              <a:rPr dirty="0" spc="5">
                <a:solidFill>
                  <a:srgbClr val="FFFFFF"/>
                </a:solidFill>
              </a:rPr>
              <a:t>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2025-04-20T14:14:08Z</dcterms:created>
  <dcterms:modified xsi:type="dcterms:W3CDTF">2025-04-20T14:14:08Z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