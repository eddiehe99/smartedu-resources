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659" y="2597467"/>
            <a:ext cx="10266680" cy="63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477" y="2418714"/>
            <a:ext cx="8355330" cy="3434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840355">
              <a:lnSpc>
                <a:spcPct val="100000"/>
              </a:lnSpc>
              <a:spcBef>
                <a:spcPts val="95"/>
              </a:spcBef>
              <a:tabLst>
                <a:tab pos="5681980" algn="l"/>
              </a:tabLst>
            </a:pPr>
            <a:r>
              <a:rPr dirty="0"/>
              <a:t>温度和温</a:t>
            </a:r>
            <a:r>
              <a:rPr dirty="0" spc="-5"/>
              <a:t>标</a:t>
            </a:r>
            <a:r>
              <a:rPr dirty="0"/>
              <a:t>	</a:t>
            </a:r>
            <a:r>
              <a:rPr dirty="0"/>
              <a:t>气体实验定律的应</a:t>
            </a:r>
            <a:r>
              <a:rPr dirty="0" spc="-5"/>
              <a:t>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主讲人：王朝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祥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697604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spc="-56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3715" y="1066165"/>
            <a:ext cx="10836910" cy="228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微软雅黑"/>
                <a:cs typeface="微软雅黑"/>
              </a:rPr>
              <a:t>一.</a:t>
            </a:r>
            <a:r>
              <a:rPr dirty="0" sz="3600" spc="-10">
                <a:latin typeface="微软雅黑"/>
                <a:cs typeface="微软雅黑"/>
              </a:rPr>
              <a:t> </a:t>
            </a:r>
            <a:r>
              <a:rPr dirty="0" sz="3600">
                <a:latin typeface="微软雅黑"/>
                <a:cs typeface="微软雅黑"/>
              </a:rPr>
              <a:t>状态参量与平衡态</a:t>
            </a:r>
            <a:endParaRPr sz="3600">
              <a:latin typeface="微软雅黑"/>
              <a:cs typeface="微软雅黑"/>
            </a:endParaRPr>
          </a:p>
          <a:p>
            <a:pPr marL="12700" marR="5080" indent="720090">
              <a:lnSpc>
                <a:spcPct val="102699"/>
              </a:lnSpc>
              <a:spcBef>
                <a:spcPts val="2000"/>
              </a:spcBef>
            </a:pPr>
            <a:r>
              <a:rPr dirty="0" sz="2800" spc="35">
                <a:latin typeface="微软雅黑"/>
                <a:cs typeface="微软雅黑"/>
              </a:rPr>
              <a:t>热学的</a:t>
            </a:r>
            <a:r>
              <a:rPr dirty="0" sz="2800" spc="40">
                <a:latin typeface="微软雅黑"/>
                <a:cs typeface="微软雅黑"/>
              </a:rPr>
              <a:t>研究对象，是在给定范围内由大量微观粒子组成的物体</a:t>
            </a:r>
            <a:r>
              <a:rPr dirty="0" sz="2800" spc="-5">
                <a:latin typeface="微软雅黑"/>
                <a:cs typeface="微软雅黑"/>
              </a:rPr>
              <a:t>或 </a:t>
            </a:r>
            <a:r>
              <a:rPr dirty="0" sz="2800">
                <a:latin typeface="微软雅黑"/>
                <a:cs typeface="微软雅黑"/>
              </a:rPr>
              <a:t>物体系，我们称之为</a:t>
            </a:r>
            <a:r>
              <a:rPr dirty="0" sz="2800" b="1">
                <a:latin typeface="微软雅黑"/>
                <a:cs typeface="微软雅黑"/>
              </a:rPr>
              <a:t>热力学系统</a:t>
            </a:r>
            <a:r>
              <a:rPr dirty="0" sz="2800">
                <a:latin typeface="微软雅黑"/>
                <a:cs typeface="微软雅黑"/>
              </a:rPr>
              <a:t>，简称</a:t>
            </a:r>
            <a:r>
              <a:rPr dirty="0" sz="2800" b="1">
                <a:latin typeface="微软雅黑"/>
                <a:cs typeface="微软雅黑"/>
              </a:rPr>
              <a:t>系统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749935">
              <a:lnSpc>
                <a:spcPct val="100000"/>
              </a:lnSpc>
              <a:spcBef>
                <a:spcPts val="1200"/>
              </a:spcBef>
            </a:pPr>
            <a:r>
              <a:rPr dirty="0" sz="2800">
                <a:latin typeface="微软雅黑"/>
                <a:cs typeface="微软雅黑"/>
              </a:rPr>
              <a:t>系统之外与系统发生相互作用的其他物体统称</a:t>
            </a:r>
            <a:r>
              <a:rPr dirty="0" sz="2800" b="1">
                <a:latin typeface="微软雅黑"/>
                <a:cs typeface="微软雅黑"/>
              </a:rPr>
              <a:t>外界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1072" y="3566159"/>
            <a:ext cx="5373624" cy="2182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25351" y="6291262"/>
            <a:ext cx="566648" cy="566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871472" y="1676400"/>
            <a:ext cx="2461260" cy="584200"/>
          </a:xfrm>
          <a:custGeom>
            <a:avLst/>
            <a:gdLst/>
            <a:ahLst/>
            <a:cxnLst/>
            <a:rect l="l" t="t" r="r" b="b"/>
            <a:pathLst>
              <a:path w="2461260" h="584200">
                <a:moveTo>
                  <a:pt x="0" y="0"/>
                </a:moveTo>
                <a:lnTo>
                  <a:pt x="2461260" y="0"/>
                </a:lnTo>
                <a:lnTo>
                  <a:pt x="2461260" y="583692"/>
                </a:lnTo>
                <a:lnTo>
                  <a:pt x="0" y="583692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58962" y="1663700"/>
            <a:ext cx="2486025" cy="609600"/>
          </a:xfrm>
          <a:custGeom>
            <a:avLst/>
            <a:gdLst/>
            <a:ahLst/>
            <a:cxnLst/>
            <a:rect l="l" t="t" r="r" b="b"/>
            <a:pathLst>
              <a:path w="2486025" h="609600">
                <a:moveTo>
                  <a:pt x="2473325" y="609600"/>
                </a:moveTo>
                <a:lnTo>
                  <a:pt x="12700" y="609600"/>
                </a:lnTo>
                <a:lnTo>
                  <a:pt x="10223" y="609358"/>
                </a:lnTo>
                <a:lnTo>
                  <a:pt x="0" y="596900"/>
                </a:lnTo>
                <a:lnTo>
                  <a:pt x="0" y="12700"/>
                </a:lnTo>
                <a:lnTo>
                  <a:pt x="12700" y="0"/>
                </a:lnTo>
                <a:lnTo>
                  <a:pt x="2473325" y="0"/>
                </a:lnTo>
                <a:lnTo>
                  <a:pt x="248602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584200"/>
                </a:lnTo>
                <a:lnTo>
                  <a:pt x="12700" y="584200"/>
                </a:lnTo>
                <a:lnTo>
                  <a:pt x="25400" y="596900"/>
                </a:lnTo>
                <a:lnTo>
                  <a:pt x="2486025" y="596900"/>
                </a:lnTo>
                <a:lnTo>
                  <a:pt x="2485783" y="599376"/>
                </a:lnTo>
                <a:lnTo>
                  <a:pt x="2475801" y="609358"/>
                </a:lnTo>
                <a:lnTo>
                  <a:pt x="2473325" y="609600"/>
                </a:lnTo>
                <a:close/>
              </a:path>
              <a:path w="2486025" h="6096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486025" h="609600">
                <a:moveTo>
                  <a:pt x="246062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460625" y="12700"/>
                </a:lnTo>
                <a:lnTo>
                  <a:pt x="2460625" y="25400"/>
                </a:lnTo>
                <a:close/>
              </a:path>
              <a:path w="2486025" h="609600">
                <a:moveTo>
                  <a:pt x="2460625" y="596900"/>
                </a:moveTo>
                <a:lnTo>
                  <a:pt x="2460625" y="12700"/>
                </a:lnTo>
                <a:lnTo>
                  <a:pt x="2473325" y="25400"/>
                </a:lnTo>
                <a:lnTo>
                  <a:pt x="2486025" y="25400"/>
                </a:lnTo>
                <a:lnTo>
                  <a:pt x="2486025" y="584200"/>
                </a:lnTo>
                <a:lnTo>
                  <a:pt x="2473325" y="584200"/>
                </a:lnTo>
                <a:lnTo>
                  <a:pt x="2460625" y="596900"/>
                </a:lnTo>
                <a:close/>
              </a:path>
              <a:path w="2486025" h="609600">
                <a:moveTo>
                  <a:pt x="2486025" y="25400"/>
                </a:moveTo>
                <a:lnTo>
                  <a:pt x="2473325" y="25400"/>
                </a:lnTo>
                <a:lnTo>
                  <a:pt x="2460625" y="12700"/>
                </a:lnTo>
                <a:lnTo>
                  <a:pt x="2486025" y="12700"/>
                </a:lnTo>
                <a:lnTo>
                  <a:pt x="2486025" y="25400"/>
                </a:lnTo>
                <a:close/>
              </a:path>
              <a:path w="2486025" h="609600">
                <a:moveTo>
                  <a:pt x="25400" y="596900"/>
                </a:moveTo>
                <a:lnTo>
                  <a:pt x="12700" y="584200"/>
                </a:lnTo>
                <a:lnTo>
                  <a:pt x="25400" y="584200"/>
                </a:lnTo>
                <a:lnTo>
                  <a:pt x="25400" y="596900"/>
                </a:lnTo>
                <a:close/>
              </a:path>
              <a:path w="2486025" h="609600">
                <a:moveTo>
                  <a:pt x="2460625" y="596900"/>
                </a:moveTo>
                <a:lnTo>
                  <a:pt x="25400" y="596900"/>
                </a:lnTo>
                <a:lnTo>
                  <a:pt x="25400" y="584200"/>
                </a:lnTo>
                <a:lnTo>
                  <a:pt x="2460625" y="584200"/>
                </a:lnTo>
                <a:lnTo>
                  <a:pt x="2460625" y="596900"/>
                </a:lnTo>
                <a:close/>
              </a:path>
              <a:path w="2486025" h="609600">
                <a:moveTo>
                  <a:pt x="2486025" y="596900"/>
                </a:moveTo>
                <a:lnTo>
                  <a:pt x="2460625" y="596900"/>
                </a:lnTo>
                <a:lnTo>
                  <a:pt x="2473325" y="584200"/>
                </a:lnTo>
                <a:lnTo>
                  <a:pt x="2486025" y="584200"/>
                </a:lnTo>
                <a:lnTo>
                  <a:pt x="2486025" y="596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72957" y="1698624"/>
            <a:ext cx="2058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热力学系</a:t>
            </a:r>
            <a:r>
              <a:rPr dirty="0" sz="3200" spc="5" b="1">
                <a:latin typeface="微软雅黑"/>
                <a:cs typeface="微软雅黑"/>
              </a:rPr>
              <a:t>统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53753" y="2260320"/>
            <a:ext cx="114300" cy="505459"/>
          </a:xfrm>
          <a:custGeom>
            <a:avLst/>
            <a:gdLst/>
            <a:ahLst/>
            <a:cxnLst/>
            <a:rect l="l" t="t" r="r" b="b"/>
            <a:pathLst>
              <a:path w="114300" h="505460">
                <a:moveTo>
                  <a:pt x="58228" y="454708"/>
                </a:moveTo>
                <a:lnTo>
                  <a:pt x="45053" y="433224"/>
                </a:lnTo>
                <a:lnTo>
                  <a:pt x="35521" y="558"/>
                </a:lnTo>
                <a:lnTo>
                  <a:pt x="60921" y="0"/>
                </a:lnTo>
                <a:lnTo>
                  <a:pt x="70442" y="432670"/>
                </a:lnTo>
                <a:lnTo>
                  <a:pt x="58228" y="454708"/>
                </a:lnTo>
                <a:close/>
              </a:path>
              <a:path w="114300" h="505460">
                <a:moveTo>
                  <a:pt x="73143" y="480187"/>
                </a:moveTo>
                <a:lnTo>
                  <a:pt x="46088" y="480187"/>
                </a:lnTo>
                <a:lnTo>
                  <a:pt x="71475" y="479628"/>
                </a:lnTo>
                <a:lnTo>
                  <a:pt x="70442" y="432670"/>
                </a:lnTo>
                <a:lnTo>
                  <a:pt x="90436" y="396595"/>
                </a:lnTo>
                <a:lnTo>
                  <a:pt x="101320" y="390055"/>
                </a:lnTo>
                <a:lnTo>
                  <a:pt x="103962" y="390283"/>
                </a:lnTo>
                <a:lnTo>
                  <a:pt x="114198" y="403847"/>
                </a:lnTo>
                <a:lnTo>
                  <a:pt x="113690" y="406463"/>
                </a:lnTo>
                <a:lnTo>
                  <a:pt x="112620" y="408952"/>
                </a:lnTo>
                <a:lnTo>
                  <a:pt x="73143" y="480187"/>
                </a:lnTo>
                <a:close/>
              </a:path>
              <a:path w="114300" h="505460">
                <a:moveTo>
                  <a:pt x="59334" y="505104"/>
                </a:moveTo>
                <a:lnTo>
                  <a:pt x="1841" y="411340"/>
                </a:lnTo>
                <a:lnTo>
                  <a:pt x="686" y="408901"/>
                </a:lnTo>
                <a:lnTo>
                  <a:pt x="100" y="406463"/>
                </a:lnTo>
                <a:lnTo>
                  <a:pt x="0" y="403707"/>
                </a:lnTo>
                <a:lnTo>
                  <a:pt x="482" y="401104"/>
                </a:lnTo>
                <a:lnTo>
                  <a:pt x="12331" y="392010"/>
                </a:lnTo>
                <a:lnTo>
                  <a:pt x="14973" y="392214"/>
                </a:lnTo>
                <a:lnTo>
                  <a:pt x="45053" y="433224"/>
                </a:lnTo>
                <a:lnTo>
                  <a:pt x="46088" y="480187"/>
                </a:lnTo>
                <a:lnTo>
                  <a:pt x="73143" y="480187"/>
                </a:lnTo>
                <a:lnTo>
                  <a:pt x="59334" y="505104"/>
                </a:lnTo>
                <a:close/>
              </a:path>
              <a:path w="114300" h="505460">
                <a:moveTo>
                  <a:pt x="71346" y="473748"/>
                </a:moveTo>
                <a:lnTo>
                  <a:pt x="47675" y="473748"/>
                </a:lnTo>
                <a:lnTo>
                  <a:pt x="69608" y="473265"/>
                </a:lnTo>
                <a:lnTo>
                  <a:pt x="58228" y="454708"/>
                </a:lnTo>
                <a:lnTo>
                  <a:pt x="70442" y="432670"/>
                </a:lnTo>
                <a:lnTo>
                  <a:pt x="71346" y="473748"/>
                </a:lnTo>
                <a:close/>
              </a:path>
              <a:path w="114300" h="505460">
                <a:moveTo>
                  <a:pt x="46088" y="480187"/>
                </a:moveTo>
                <a:lnTo>
                  <a:pt x="45053" y="433224"/>
                </a:lnTo>
                <a:lnTo>
                  <a:pt x="58228" y="454708"/>
                </a:lnTo>
                <a:lnTo>
                  <a:pt x="47675" y="473748"/>
                </a:lnTo>
                <a:lnTo>
                  <a:pt x="71346" y="473748"/>
                </a:lnTo>
                <a:lnTo>
                  <a:pt x="71475" y="479628"/>
                </a:lnTo>
                <a:lnTo>
                  <a:pt x="46088" y="480187"/>
                </a:lnTo>
                <a:close/>
              </a:path>
              <a:path w="114300" h="505460">
                <a:moveTo>
                  <a:pt x="47675" y="473748"/>
                </a:moveTo>
                <a:lnTo>
                  <a:pt x="58228" y="454708"/>
                </a:lnTo>
                <a:lnTo>
                  <a:pt x="69608" y="473265"/>
                </a:lnTo>
                <a:lnTo>
                  <a:pt x="47675" y="473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46732" y="2766060"/>
            <a:ext cx="2197735" cy="584200"/>
          </a:xfrm>
          <a:custGeom>
            <a:avLst/>
            <a:gdLst/>
            <a:ahLst/>
            <a:cxnLst/>
            <a:rect l="l" t="t" r="r" b="b"/>
            <a:pathLst>
              <a:path w="2197735" h="584200">
                <a:moveTo>
                  <a:pt x="0" y="0"/>
                </a:moveTo>
                <a:lnTo>
                  <a:pt x="2197608" y="0"/>
                </a:lnTo>
                <a:lnTo>
                  <a:pt x="2197608" y="583691"/>
                </a:lnTo>
                <a:lnTo>
                  <a:pt x="0" y="58369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33587" y="2752725"/>
            <a:ext cx="2224405" cy="609600"/>
          </a:xfrm>
          <a:custGeom>
            <a:avLst/>
            <a:gdLst/>
            <a:ahLst/>
            <a:cxnLst/>
            <a:rect l="l" t="t" r="r" b="b"/>
            <a:pathLst>
              <a:path w="2224404" h="609600">
                <a:moveTo>
                  <a:pt x="2211387" y="609600"/>
                </a:moveTo>
                <a:lnTo>
                  <a:pt x="12700" y="609600"/>
                </a:lnTo>
                <a:lnTo>
                  <a:pt x="10223" y="609358"/>
                </a:lnTo>
                <a:lnTo>
                  <a:pt x="0" y="596900"/>
                </a:lnTo>
                <a:lnTo>
                  <a:pt x="0" y="12700"/>
                </a:lnTo>
                <a:lnTo>
                  <a:pt x="12700" y="0"/>
                </a:lnTo>
                <a:lnTo>
                  <a:pt x="2211387" y="0"/>
                </a:lnTo>
                <a:lnTo>
                  <a:pt x="2224087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584200"/>
                </a:lnTo>
                <a:lnTo>
                  <a:pt x="12700" y="584200"/>
                </a:lnTo>
                <a:lnTo>
                  <a:pt x="25400" y="596900"/>
                </a:lnTo>
                <a:lnTo>
                  <a:pt x="2224087" y="596900"/>
                </a:lnTo>
                <a:lnTo>
                  <a:pt x="2223846" y="599376"/>
                </a:lnTo>
                <a:lnTo>
                  <a:pt x="2213864" y="609358"/>
                </a:lnTo>
                <a:lnTo>
                  <a:pt x="2211387" y="609600"/>
                </a:lnTo>
                <a:close/>
              </a:path>
              <a:path w="2224404" h="6096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224404" h="609600">
                <a:moveTo>
                  <a:pt x="2198687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198687" y="12700"/>
                </a:lnTo>
                <a:lnTo>
                  <a:pt x="2198687" y="25400"/>
                </a:lnTo>
                <a:close/>
              </a:path>
              <a:path w="2224404" h="609600">
                <a:moveTo>
                  <a:pt x="2198687" y="596900"/>
                </a:moveTo>
                <a:lnTo>
                  <a:pt x="2198687" y="12700"/>
                </a:lnTo>
                <a:lnTo>
                  <a:pt x="2211387" y="25400"/>
                </a:lnTo>
                <a:lnTo>
                  <a:pt x="2224087" y="25400"/>
                </a:lnTo>
                <a:lnTo>
                  <a:pt x="2224087" y="584200"/>
                </a:lnTo>
                <a:lnTo>
                  <a:pt x="2211387" y="584200"/>
                </a:lnTo>
                <a:lnTo>
                  <a:pt x="2198687" y="596900"/>
                </a:lnTo>
                <a:close/>
              </a:path>
              <a:path w="2224404" h="609600">
                <a:moveTo>
                  <a:pt x="2224087" y="25400"/>
                </a:moveTo>
                <a:lnTo>
                  <a:pt x="2211387" y="25400"/>
                </a:lnTo>
                <a:lnTo>
                  <a:pt x="2198687" y="12700"/>
                </a:lnTo>
                <a:lnTo>
                  <a:pt x="2224087" y="12700"/>
                </a:lnTo>
                <a:lnTo>
                  <a:pt x="2224087" y="25400"/>
                </a:lnTo>
                <a:close/>
              </a:path>
              <a:path w="2224404" h="609600">
                <a:moveTo>
                  <a:pt x="25400" y="596900"/>
                </a:moveTo>
                <a:lnTo>
                  <a:pt x="12700" y="584200"/>
                </a:lnTo>
                <a:lnTo>
                  <a:pt x="25400" y="584200"/>
                </a:lnTo>
                <a:lnTo>
                  <a:pt x="25400" y="596900"/>
                </a:lnTo>
                <a:close/>
              </a:path>
              <a:path w="2224404" h="609600">
                <a:moveTo>
                  <a:pt x="2198687" y="596900"/>
                </a:moveTo>
                <a:lnTo>
                  <a:pt x="25400" y="596900"/>
                </a:lnTo>
                <a:lnTo>
                  <a:pt x="25400" y="584200"/>
                </a:lnTo>
                <a:lnTo>
                  <a:pt x="2198687" y="584200"/>
                </a:lnTo>
                <a:lnTo>
                  <a:pt x="2198687" y="596900"/>
                </a:lnTo>
                <a:close/>
              </a:path>
              <a:path w="2224404" h="609600">
                <a:moveTo>
                  <a:pt x="2224087" y="596900"/>
                </a:moveTo>
                <a:lnTo>
                  <a:pt x="2198687" y="596900"/>
                </a:lnTo>
                <a:lnTo>
                  <a:pt x="2211387" y="584200"/>
                </a:lnTo>
                <a:lnTo>
                  <a:pt x="2224087" y="584200"/>
                </a:lnTo>
                <a:lnTo>
                  <a:pt x="2224087" y="596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19972" y="2787649"/>
            <a:ext cx="16516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内部状</a:t>
            </a:r>
            <a:r>
              <a:rPr dirty="0" sz="3200" spc="5" b="1">
                <a:latin typeface="微软雅黑"/>
                <a:cs typeface="微软雅黑"/>
              </a:rPr>
              <a:t>态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92468" y="1546860"/>
            <a:ext cx="1567180" cy="584200"/>
          </a:xfrm>
          <a:custGeom>
            <a:avLst/>
            <a:gdLst/>
            <a:ahLst/>
            <a:cxnLst/>
            <a:rect l="l" t="t" r="r" b="b"/>
            <a:pathLst>
              <a:path w="1567179" h="584200">
                <a:moveTo>
                  <a:pt x="0" y="0"/>
                </a:moveTo>
                <a:lnTo>
                  <a:pt x="1566672" y="0"/>
                </a:lnTo>
                <a:lnTo>
                  <a:pt x="1566672" y="583691"/>
                </a:lnTo>
                <a:lnTo>
                  <a:pt x="0" y="58369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80212" y="1533525"/>
            <a:ext cx="1592580" cy="609600"/>
          </a:xfrm>
          <a:custGeom>
            <a:avLst/>
            <a:gdLst/>
            <a:ahLst/>
            <a:cxnLst/>
            <a:rect l="l" t="t" r="r" b="b"/>
            <a:pathLst>
              <a:path w="1592579" h="609600">
                <a:moveTo>
                  <a:pt x="1579562" y="609600"/>
                </a:moveTo>
                <a:lnTo>
                  <a:pt x="12700" y="609600"/>
                </a:lnTo>
                <a:lnTo>
                  <a:pt x="10223" y="609358"/>
                </a:lnTo>
                <a:lnTo>
                  <a:pt x="0" y="596900"/>
                </a:lnTo>
                <a:lnTo>
                  <a:pt x="0" y="12700"/>
                </a:lnTo>
                <a:lnTo>
                  <a:pt x="12700" y="0"/>
                </a:lnTo>
                <a:lnTo>
                  <a:pt x="1579562" y="0"/>
                </a:lnTo>
                <a:lnTo>
                  <a:pt x="1592262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584200"/>
                </a:lnTo>
                <a:lnTo>
                  <a:pt x="12700" y="584200"/>
                </a:lnTo>
                <a:lnTo>
                  <a:pt x="25400" y="596900"/>
                </a:lnTo>
                <a:lnTo>
                  <a:pt x="1592262" y="596900"/>
                </a:lnTo>
                <a:lnTo>
                  <a:pt x="1592021" y="599376"/>
                </a:lnTo>
                <a:lnTo>
                  <a:pt x="1582039" y="609358"/>
                </a:lnTo>
                <a:lnTo>
                  <a:pt x="1579562" y="609600"/>
                </a:lnTo>
                <a:close/>
              </a:path>
              <a:path w="1592579" h="6096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592579" h="609600">
                <a:moveTo>
                  <a:pt x="1566862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66862" y="12700"/>
                </a:lnTo>
                <a:lnTo>
                  <a:pt x="1566862" y="25400"/>
                </a:lnTo>
                <a:close/>
              </a:path>
              <a:path w="1592579" h="609600">
                <a:moveTo>
                  <a:pt x="1566862" y="596900"/>
                </a:moveTo>
                <a:lnTo>
                  <a:pt x="1566862" y="12700"/>
                </a:lnTo>
                <a:lnTo>
                  <a:pt x="1579562" y="25400"/>
                </a:lnTo>
                <a:lnTo>
                  <a:pt x="1592262" y="25400"/>
                </a:lnTo>
                <a:lnTo>
                  <a:pt x="1592262" y="584200"/>
                </a:lnTo>
                <a:lnTo>
                  <a:pt x="1579562" y="584200"/>
                </a:lnTo>
                <a:lnTo>
                  <a:pt x="1566862" y="596900"/>
                </a:lnTo>
                <a:close/>
              </a:path>
              <a:path w="1592579" h="609600">
                <a:moveTo>
                  <a:pt x="1592262" y="25400"/>
                </a:moveTo>
                <a:lnTo>
                  <a:pt x="1579562" y="25400"/>
                </a:lnTo>
                <a:lnTo>
                  <a:pt x="1566862" y="12700"/>
                </a:lnTo>
                <a:lnTo>
                  <a:pt x="1592262" y="12700"/>
                </a:lnTo>
                <a:lnTo>
                  <a:pt x="1592262" y="25400"/>
                </a:lnTo>
                <a:close/>
              </a:path>
              <a:path w="1592579" h="609600">
                <a:moveTo>
                  <a:pt x="25400" y="596900"/>
                </a:moveTo>
                <a:lnTo>
                  <a:pt x="12700" y="584200"/>
                </a:lnTo>
                <a:lnTo>
                  <a:pt x="25400" y="584200"/>
                </a:lnTo>
                <a:lnTo>
                  <a:pt x="25400" y="596900"/>
                </a:lnTo>
                <a:close/>
              </a:path>
              <a:path w="1592579" h="609600">
                <a:moveTo>
                  <a:pt x="1566862" y="596900"/>
                </a:moveTo>
                <a:lnTo>
                  <a:pt x="25400" y="596900"/>
                </a:lnTo>
                <a:lnTo>
                  <a:pt x="25400" y="584200"/>
                </a:lnTo>
                <a:lnTo>
                  <a:pt x="1566862" y="584200"/>
                </a:lnTo>
                <a:lnTo>
                  <a:pt x="1566862" y="596900"/>
                </a:lnTo>
                <a:close/>
              </a:path>
              <a:path w="1592579" h="609600">
                <a:moveTo>
                  <a:pt x="1592262" y="596900"/>
                </a:moveTo>
                <a:lnTo>
                  <a:pt x="1566862" y="596900"/>
                </a:lnTo>
                <a:lnTo>
                  <a:pt x="1579562" y="584200"/>
                </a:lnTo>
                <a:lnTo>
                  <a:pt x="1592262" y="584200"/>
                </a:lnTo>
                <a:lnTo>
                  <a:pt x="1592262" y="596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21512" y="1568449"/>
            <a:ext cx="11099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体积</a:t>
            </a:r>
            <a:r>
              <a:rPr dirty="0" sz="3200" b="1" i="1"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9737" y="1829593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4" h="0">
                <a:moveTo>
                  <a:pt x="0" y="0"/>
                </a:moveTo>
                <a:lnTo>
                  <a:pt x="457276" y="0"/>
                </a:lnTo>
              </a:path>
            </a:pathLst>
          </a:custGeom>
          <a:ln w="269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839200" y="1524000"/>
            <a:ext cx="2220595" cy="58547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35560" rIns="0" bIns="0" rtlCol="0" vert="horz">
            <a:spAutoFit/>
          </a:bodyPr>
          <a:lstStyle/>
          <a:p>
            <a:pPr marL="296545">
              <a:lnSpc>
                <a:spcPct val="100000"/>
              </a:lnSpc>
              <a:spcBef>
                <a:spcPts val="280"/>
              </a:spcBef>
            </a:pPr>
            <a:r>
              <a:rPr dirty="0" sz="3200" b="1">
                <a:latin typeface="微软雅黑"/>
                <a:cs typeface="微软雅黑"/>
              </a:rPr>
              <a:t>几何参</a:t>
            </a:r>
            <a:r>
              <a:rPr dirty="0" sz="3200" spc="5" b="1">
                <a:latin typeface="微软雅黑"/>
                <a:cs typeface="微软雅黑"/>
              </a:rPr>
              <a:t>量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25995" y="2308860"/>
            <a:ext cx="1556385" cy="584200"/>
          </a:xfrm>
          <a:custGeom>
            <a:avLst/>
            <a:gdLst/>
            <a:ahLst/>
            <a:cxnLst/>
            <a:rect l="l" t="t" r="r" b="b"/>
            <a:pathLst>
              <a:path w="1556384" h="584200">
                <a:moveTo>
                  <a:pt x="0" y="0"/>
                </a:moveTo>
                <a:lnTo>
                  <a:pt x="1556003" y="0"/>
                </a:lnTo>
                <a:lnTo>
                  <a:pt x="1556003" y="583692"/>
                </a:lnTo>
                <a:lnTo>
                  <a:pt x="0" y="583692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13550" y="2295525"/>
            <a:ext cx="1581150" cy="609600"/>
          </a:xfrm>
          <a:custGeom>
            <a:avLst/>
            <a:gdLst/>
            <a:ahLst/>
            <a:cxnLst/>
            <a:rect l="l" t="t" r="r" b="b"/>
            <a:pathLst>
              <a:path w="1581150" h="609600">
                <a:moveTo>
                  <a:pt x="1568450" y="609600"/>
                </a:moveTo>
                <a:lnTo>
                  <a:pt x="12700" y="609600"/>
                </a:lnTo>
                <a:lnTo>
                  <a:pt x="10223" y="609358"/>
                </a:lnTo>
                <a:lnTo>
                  <a:pt x="0" y="596900"/>
                </a:lnTo>
                <a:lnTo>
                  <a:pt x="0" y="12700"/>
                </a:lnTo>
                <a:lnTo>
                  <a:pt x="12700" y="0"/>
                </a:lnTo>
                <a:lnTo>
                  <a:pt x="1568450" y="0"/>
                </a:lnTo>
                <a:lnTo>
                  <a:pt x="158115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584200"/>
                </a:lnTo>
                <a:lnTo>
                  <a:pt x="12700" y="584200"/>
                </a:lnTo>
                <a:lnTo>
                  <a:pt x="25400" y="596900"/>
                </a:lnTo>
                <a:lnTo>
                  <a:pt x="1581150" y="596900"/>
                </a:lnTo>
                <a:lnTo>
                  <a:pt x="1580908" y="599376"/>
                </a:lnTo>
                <a:lnTo>
                  <a:pt x="1570926" y="609358"/>
                </a:lnTo>
                <a:lnTo>
                  <a:pt x="1568450" y="609600"/>
                </a:lnTo>
                <a:close/>
              </a:path>
              <a:path w="1581150" h="6096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581150" h="609600">
                <a:moveTo>
                  <a:pt x="155575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55750" y="12700"/>
                </a:lnTo>
                <a:lnTo>
                  <a:pt x="1555750" y="25400"/>
                </a:lnTo>
                <a:close/>
              </a:path>
              <a:path w="1581150" h="609600">
                <a:moveTo>
                  <a:pt x="1555750" y="596900"/>
                </a:moveTo>
                <a:lnTo>
                  <a:pt x="1555750" y="12700"/>
                </a:lnTo>
                <a:lnTo>
                  <a:pt x="1568450" y="25400"/>
                </a:lnTo>
                <a:lnTo>
                  <a:pt x="1581150" y="25400"/>
                </a:lnTo>
                <a:lnTo>
                  <a:pt x="1581150" y="584200"/>
                </a:lnTo>
                <a:lnTo>
                  <a:pt x="1568450" y="584200"/>
                </a:lnTo>
                <a:lnTo>
                  <a:pt x="1555750" y="596900"/>
                </a:lnTo>
                <a:close/>
              </a:path>
              <a:path w="1581150" h="609600">
                <a:moveTo>
                  <a:pt x="1581150" y="25400"/>
                </a:moveTo>
                <a:lnTo>
                  <a:pt x="1568450" y="25400"/>
                </a:lnTo>
                <a:lnTo>
                  <a:pt x="1555750" y="12700"/>
                </a:lnTo>
                <a:lnTo>
                  <a:pt x="1581150" y="12700"/>
                </a:lnTo>
                <a:lnTo>
                  <a:pt x="1581150" y="25400"/>
                </a:lnTo>
                <a:close/>
              </a:path>
              <a:path w="1581150" h="609600">
                <a:moveTo>
                  <a:pt x="25400" y="596900"/>
                </a:moveTo>
                <a:lnTo>
                  <a:pt x="12700" y="584200"/>
                </a:lnTo>
                <a:lnTo>
                  <a:pt x="25400" y="584200"/>
                </a:lnTo>
                <a:lnTo>
                  <a:pt x="25400" y="596900"/>
                </a:lnTo>
                <a:close/>
              </a:path>
              <a:path w="1581150" h="609600">
                <a:moveTo>
                  <a:pt x="1555750" y="596900"/>
                </a:moveTo>
                <a:lnTo>
                  <a:pt x="25400" y="596900"/>
                </a:lnTo>
                <a:lnTo>
                  <a:pt x="25400" y="584200"/>
                </a:lnTo>
                <a:lnTo>
                  <a:pt x="1555750" y="584200"/>
                </a:lnTo>
                <a:lnTo>
                  <a:pt x="1555750" y="596900"/>
                </a:lnTo>
                <a:close/>
              </a:path>
              <a:path w="1581150" h="609600">
                <a:moveTo>
                  <a:pt x="1581150" y="596900"/>
                </a:moveTo>
                <a:lnTo>
                  <a:pt x="1555750" y="596900"/>
                </a:lnTo>
                <a:lnTo>
                  <a:pt x="1568450" y="584200"/>
                </a:lnTo>
                <a:lnTo>
                  <a:pt x="1581150" y="584200"/>
                </a:lnTo>
                <a:lnTo>
                  <a:pt x="1581150" y="596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083425" y="2330449"/>
            <a:ext cx="1042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压强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1962" y="2591593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4" h="0">
                <a:moveTo>
                  <a:pt x="0" y="0"/>
                </a:moveTo>
                <a:lnTo>
                  <a:pt x="457288" y="0"/>
                </a:lnTo>
              </a:path>
            </a:pathLst>
          </a:custGeom>
          <a:ln w="269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860535" y="2286000"/>
            <a:ext cx="2220595" cy="58547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35560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280"/>
              </a:spcBef>
            </a:pPr>
            <a:r>
              <a:rPr dirty="0" sz="3200" b="1">
                <a:latin typeface="微软雅黑"/>
                <a:cs typeface="微软雅黑"/>
              </a:rPr>
              <a:t>力学参</a:t>
            </a:r>
            <a:r>
              <a:rPr dirty="0" sz="3200" spc="5" b="1">
                <a:latin typeface="微软雅黑"/>
                <a:cs typeface="微软雅黑"/>
              </a:rPr>
              <a:t>量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35140" y="3092195"/>
            <a:ext cx="1568450" cy="585470"/>
          </a:xfrm>
          <a:custGeom>
            <a:avLst/>
            <a:gdLst/>
            <a:ahLst/>
            <a:cxnLst/>
            <a:rect l="l" t="t" r="r" b="b"/>
            <a:pathLst>
              <a:path w="1568450" h="585470">
                <a:moveTo>
                  <a:pt x="0" y="0"/>
                </a:moveTo>
                <a:lnTo>
                  <a:pt x="1568196" y="0"/>
                </a:lnTo>
                <a:lnTo>
                  <a:pt x="1568196" y="585215"/>
                </a:lnTo>
                <a:lnTo>
                  <a:pt x="0" y="585215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23075" y="3079750"/>
            <a:ext cx="1592580" cy="609600"/>
          </a:xfrm>
          <a:custGeom>
            <a:avLst/>
            <a:gdLst/>
            <a:ahLst/>
            <a:cxnLst/>
            <a:rect l="l" t="t" r="r" b="b"/>
            <a:pathLst>
              <a:path w="1592579" h="609600">
                <a:moveTo>
                  <a:pt x="1579562" y="609600"/>
                </a:moveTo>
                <a:lnTo>
                  <a:pt x="12700" y="609600"/>
                </a:lnTo>
                <a:lnTo>
                  <a:pt x="10223" y="609358"/>
                </a:lnTo>
                <a:lnTo>
                  <a:pt x="0" y="596900"/>
                </a:lnTo>
                <a:lnTo>
                  <a:pt x="0" y="12700"/>
                </a:lnTo>
                <a:lnTo>
                  <a:pt x="12700" y="0"/>
                </a:lnTo>
                <a:lnTo>
                  <a:pt x="1579562" y="0"/>
                </a:lnTo>
                <a:lnTo>
                  <a:pt x="1592262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584200"/>
                </a:lnTo>
                <a:lnTo>
                  <a:pt x="12700" y="584200"/>
                </a:lnTo>
                <a:lnTo>
                  <a:pt x="25400" y="596900"/>
                </a:lnTo>
                <a:lnTo>
                  <a:pt x="1592262" y="596900"/>
                </a:lnTo>
                <a:lnTo>
                  <a:pt x="1592021" y="599376"/>
                </a:lnTo>
                <a:lnTo>
                  <a:pt x="1582039" y="609358"/>
                </a:lnTo>
                <a:lnTo>
                  <a:pt x="1579562" y="609600"/>
                </a:lnTo>
                <a:close/>
              </a:path>
              <a:path w="1592579" h="60960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592579" h="609600">
                <a:moveTo>
                  <a:pt x="1566862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66862" y="12700"/>
                </a:lnTo>
                <a:lnTo>
                  <a:pt x="1566862" y="25400"/>
                </a:lnTo>
                <a:close/>
              </a:path>
              <a:path w="1592579" h="609600">
                <a:moveTo>
                  <a:pt x="1566862" y="596900"/>
                </a:moveTo>
                <a:lnTo>
                  <a:pt x="1566862" y="12700"/>
                </a:lnTo>
                <a:lnTo>
                  <a:pt x="1579562" y="25400"/>
                </a:lnTo>
                <a:lnTo>
                  <a:pt x="1592262" y="25400"/>
                </a:lnTo>
                <a:lnTo>
                  <a:pt x="1592262" y="584200"/>
                </a:lnTo>
                <a:lnTo>
                  <a:pt x="1579562" y="584200"/>
                </a:lnTo>
                <a:lnTo>
                  <a:pt x="1566862" y="596900"/>
                </a:lnTo>
                <a:close/>
              </a:path>
              <a:path w="1592579" h="609600">
                <a:moveTo>
                  <a:pt x="1592262" y="25400"/>
                </a:moveTo>
                <a:lnTo>
                  <a:pt x="1579562" y="25400"/>
                </a:lnTo>
                <a:lnTo>
                  <a:pt x="1566862" y="12700"/>
                </a:lnTo>
                <a:lnTo>
                  <a:pt x="1592262" y="12700"/>
                </a:lnTo>
                <a:lnTo>
                  <a:pt x="1592262" y="25400"/>
                </a:lnTo>
                <a:close/>
              </a:path>
              <a:path w="1592579" h="609600">
                <a:moveTo>
                  <a:pt x="25400" y="596900"/>
                </a:moveTo>
                <a:lnTo>
                  <a:pt x="12700" y="584200"/>
                </a:lnTo>
                <a:lnTo>
                  <a:pt x="25400" y="584200"/>
                </a:lnTo>
                <a:lnTo>
                  <a:pt x="25400" y="596900"/>
                </a:lnTo>
                <a:close/>
              </a:path>
              <a:path w="1592579" h="609600">
                <a:moveTo>
                  <a:pt x="1566862" y="596900"/>
                </a:moveTo>
                <a:lnTo>
                  <a:pt x="25400" y="596900"/>
                </a:lnTo>
                <a:lnTo>
                  <a:pt x="25400" y="584200"/>
                </a:lnTo>
                <a:lnTo>
                  <a:pt x="1566862" y="584200"/>
                </a:lnTo>
                <a:lnTo>
                  <a:pt x="1566862" y="596900"/>
                </a:lnTo>
                <a:close/>
              </a:path>
              <a:path w="1592579" h="609600">
                <a:moveTo>
                  <a:pt x="1592262" y="596900"/>
                </a:moveTo>
                <a:lnTo>
                  <a:pt x="1566862" y="596900"/>
                </a:lnTo>
                <a:lnTo>
                  <a:pt x="1579562" y="584200"/>
                </a:lnTo>
                <a:lnTo>
                  <a:pt x="1592262" y="584200"/>
                </a:lnTo>
                <a:lnTo>
                  <a:pt x="1592262" y="596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75805" y="3114674"/>
            <a:ext cx="10871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温度</a:t>
            </a:r>
            <a:r>
              <a:rPr dirty="0" sz="3200" b="1" i="1"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402599" y="3375818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4" h="0">
                <a:moveTo>
                  <a:pt x="0" y="0"/>
                </a:moveTo>
                <a:lnTo>
                  <a:pt x="457288" y="0"/>
                </a:lnTo>
              </a:path>
            </a:pathLst>
          </a:custGeom>
          <a:ln w="269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881871" y="3069335"/>
            <a:ext cx="2220595" cy="58547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36195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285"/>
              </a:spcBef>
            </a:pPr>
            <a:r>
              <a:rPr dirty="0" sz="3200" b="1">
                <a:latin typeface="微软雅黑"/>
                <a:cs typeface="微软雅黑"/>
              </a:rPr>
              <a:t>热学参</a:t>
            </a:r>
            <a:r>
              <a:rPr dirty="0" sz="3200" spc="5" b="1">
                <a:latin typeface="微软雅黑"/>
                <a:cs typeface="微软雅黑"/>
              </a:rPr>
              <a:t>量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35140" y="3811523"/>
            <a:ext cx="1568450" cy="492759"/>
          </a:xfrm>
          <a:custGeom>
            <a:avLst/>
            <a:gdLst/>
            <a:ahLst/>
            <a:cxnLst/>
            <a:rect l="l" t="t" r="r" b="b"/>
            <a:pathLst>
              <a:path w="1568450" h="492760">
                <a:moveTo>
                  <a:pt x="0" y="0"/>
                </a:moveTo>
                <a:lnTo>
                  <a:pt x="1568196" y="0"/>
                </a:lnTo>
                <a:lnTo>
                  <a:pt x="1568196" y="492251"/>
                </a:lnTo>
                <a:lnTo>
                  <a:pt x="0" y="49225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23075" y="3798887"/>
            <a:ext cx="1592580" cy="517525"/>
          </a:xfrm>
          <a:custGeom>
            <a:avLst/>
            <a:gdLst/>
            <a:ahLst/>
            <a:cxnLst/>
            <a:rect l="l" t="t" r="r" b="b"/>
            <a:pathLst>
              <a:path w="1592579" h="517525">
                <a:moveTo>
                  <a:pt x="1579562" y="517525"/>
                </a:moveTo>
                <a:lnTo>
                  <a:pt x="12700" y="517525"/>
                </a:lnTo>
                <a:lnTo>
                  <a:pt x="10223" y="517283"/>
                </a:lnTo>
                <a:lnTo>
                  <a:pt x="0" y="504825"/>
                </a:lnTo>
                <a:lnTo>
                  <a:pt x="0" y="12700"/>
                </a:lnTo>
                <a:lnTo>
                  <a:pt x="12700" y="0"/>
                </a:lnTo>
                <a:lnTo>
                  <a:pt x="1579562" y="0"/>
                </a:lnTo>
                <a:lnTo>
                  <a:pt x="1592262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492125"/>
                </a:lnTo>
                <a:lnTo>
                  <a:pt x="12700" y="492125"/>
                </a:lnTo>
                <a:lnTo>
                  <a:pt x="25400" y="504825"/>
                </a:lnTo>
                <a:lnTo>
                  <a:pt x="1592262" y="504825"/>
                </a:lnTo>
                <a:lnTo>
                  <a:pt x="1592021" y="507301"/>
                </a:lnTo>
                <a:lnTo>
                  <a:pt x="1582039" y="517283"/>
                </a:lnTo>
                <a:lnTo>
                  <a:pt x="1579562" y="517525"/>
                </a:lnTo>
                <a:close/>
              </a:path>
              <a:path w="1592579" h="51752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592579" h="517525">
                <a:moveTo>
                  <a:pt x="1566862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566862" y="12700"/>
                </a:lnTo>
                <a:lnTo>
                  <a:pt x="1566862" y="25400"/>
                </a:lnTo>
                <a:close/>
              </a:path>
              <a:path w="1592579" h="517525">
                <a:moveTo>
                  <a:pt x="1566862" y="504825"/>
                </a:moveTo>
                <a:lnTo>
                  <a:pt x="1566862" y="12700"/>
                </a:lnTo>
                <a:lnTo>
                  <a:pt x="1579562" y="25400"/>
                </a:lnTo>
                <a:lnTo>
                  <a:pt x="1592262" y="25400"/>
                </a:lnTo>
                <a:lnTo>
                  <a:pt x="1592262" y="492125"/>
                </a:lnTo>
                <a:lnTo>
                  <a:pt x="1579562" y="492125"/>
                </a:lnTo>
                <a:lnTo>
                  <a:pt x="1566862" y="504825"/>
                </a:lnTo>
                <a:close/>
              </a:path>
              <a:path w="1592579" h="517525">
                <a:moveTo>
                  <a:pt x="1592262" y="25400"/>
                </a:moveTo>
                <a:lnTo>
                  <a:pt x="1579562" y="25400"/>
                </a:lnTo>
                <a:lnTo>
                  <a:pt x="1566862" y="12700"/>
                </a:lnTo>
                <a:lnTo>
                  <a:pt x="1592262" y="12700"/>
                </a:lnTo>
                <a:lnTo>
                  <a:pt x="1592262" y="25400"/>
                </a:lnTo>
                <a:close/>
              </a:path>
              <a:path w="1592579" h="517525">
                <a:moveTo>
                  <a:pt x="25400" y="504825"/>
                </a:moveTo>
                <a:lnTo>
                  <a:pt x="12700" y="492125"/>
                </a:lnTo>
                <a:lnTo>
                  <a:pt x="25400" y="492125"/>
                </a:lnTo>
                <a:lnTo>
                  <a:pt x="25400" y="504825"/>
                </a:lnTo>
                <a:close/>
              </a:path>
              <a:path w="1592579" h="517525">
                <a:moveTo>
                  <a:pt x="1566862" y="504825"/>
                </a:moveTo>
                <a:lnTo>
                  <a:pt x="25400" y="504825"/>
                </a:lnTo>
                <a:lnTo>
                  <a:pt x="25400" y="492125"/>
                </a:lnTo>
                <a:lnTo>
                  <a:pt x="1566862" y="492125"/>
                </a:lnTo>
                <a:lnTo>
                  <a:pt x="1566862" y="504825"/>
                </a:lnTo>
                <a:close/>
              </a:path>
              <a:path w="1592579" h="517525">
                <a:moveTo>
                  <a:pt x="1592262" y="504825"/>
                </a:moveTo>
                <a:lnTo>
                  <a:pt x="1566862" y="504825"/>
                </a:lnTo>
                <a:lnTo>
                  <a:pt x="1579562" y="492125"/>
                </a:lnTo>
                <a:lnTo>
                  <a:pt x="1592262" y="492125"/>
                </a:lnTo>
                <a:lnTo>
                  <a:pt x="1592262" y="50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945630" y="3835717"/>
            <a:ext cx="13468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微软雅黑"/>
                <a:cs typeface="微软雅黑"/>
              </a:rPr>
              <a:t>物质的</a:t>
            </a:r>
            <a:r>
              <a:rPr dirty="0" sz="2600" spc="5" b="1">
                <a:latin typeface="微软雅黑"/>
                <a:cs typeface="微软雅黑"/>
              </a:rPr>
              <a:t>量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402599" y="4094956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4" h="0">
                <a:moveTo>
                  <a:pt x="0" y="0"/>
                </a:moveTo>
                <a:lnTo>
                  <a:pt x="457288" y="0"/>
                </a:lnTo>
              </a:path>
            </a:pathLst>
          </a:custGeom>
          <a:ln w="269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881871" y="3788664"/>
            <a:ext cx="2220595" cy="58547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35560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280"/>
              </a:spcBef>
            </a:pPr>
            <a:r>
              <a:rPr dirty="0" sz="3200" b="1">
                <a:latin typeface="微软雅黑"/>
                <a:cs typeface="微软雅黑"/>
              </a:rPr>
              <a:t>化学参</a:t>
            </a:r>
            <a:r>
              <a:rPr dirty="0" sz="3200" spc="5" b="1">
                <a:latin typeface="微软雅黑"/>
                <a:cs typeface="微软雅黑"/>
              </a:rPr>
              <a:t>量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592883" y="4159122"/>
            <a:ext cx="102235" cy="102235"/>
          </a:xfrm>
          <a:custGeom>
            <a:avLst/>
            <a:gdLst/>
            <a:ahLst/>
            <a:cxnLst/>
            <a:rect l="l" t="t" r="r" b="b"/>
            <a:pathLst>
              <a:path w="102234" h="102235">
                <a:moveTo>
                  <a:pt x="101600" y="101853"/>
                </a:moveTo>
                <a:lnTo>
                  <a:pt x="0" y="101600"/>
                </a:lnTo>
                <a:lnTo>
                  <a:pt x="253" y="0"/>
                </a:lnTo>
                <a:lnTo>
                  <a:pt x="101853" y="253"/>
                </a:lnTo>
                <a:lnTo>
                  <a:pt x="101600" y="1018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592375" y="4362322"/>
            <a:ext cx="102235" cy="102235"/>
          </a:xfrm>
          <a:custGeom>
            <a:avLst/>
            <a:gdLst/>
            <a:ahLst/>
            <a:cxnLst/>
            <a:rect l="l" t="t" r="r" b="b"/>
            <a:pathLst>
              <a:path w="102234" h="102235">
                <a:moveTo>
                  <a:pt x="101600" y="101853"/>
                </a:moveTo>
                <a:lnTo>
                  <a:pt x="0" y="101600"/>
                </a:lnTo>
                <a:lnTo>
                  <a:pt x="253" y="0"/>
                </a:lnTo>
                <a:lnTo>
                  <a:pt x="101853" y="253"/>
                </a:lnTo>
                <a:lnTo>
                  <a:pt x="101600" y="1018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591854" y="4565522"/>
            <a:ext cx="102235" cy="102235"/>
          </a:xfrm>
          <a:custGeom>
            <a:avLst/>
            <a:gdLst/>
            <a:ahLst/>
            <a:cxnLst/>
            <a:rect l="l" t="t" r="r" b="b"/>
            <a:pathLst>
              <a:path w="102234" h="102235">
                <a:moveTo>
                  <a:pt x="101600" y="101853"/>
                </a:moveTo>
                <a:lnTo>
                  <a:pt x="0" y="101600"/>
                </a:lnTo>
                <a:lnTo>
                  <a:pt x="266" y="0"/>
                </a:lnTo>
                <a:lnTo>
                  <a:pt x="101866" y="253"/>
                </a:lnTo>
                <a:lnTo>
                  <a:pt x="101600" y="1018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591550" y="477996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50" y="0"/>
                </a:lnTo>
              </a:path>
            </a:pathLst>
          </a:custGeom>
          <a:ln w="224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059487" y="1706562"/>
            <a:ext cx="734060" cy="2743200"/>
          </a:xfrm>
          <a:custGeom>
            <a:avLst/>
            <a:gdLst/>
            <a:ahLst/>
            <a:cxnLst/>
            <a:rect l="l" t="t" r="r" b="b"/>
            <a:pathLst>
              <a:path w="734059" h="2743200">
                <a:moveTo>
                  <a:pt x="733475" y="25400"/>
                </a:moveTo>
                <a:lnTo>
                  <a:pt x="459879" y="25400"/>
                </a:lnTo>
                <a:lnTo>
                  <a:pt x="468414" y="12700"/>
                </a:lnTo>
                <a:lnTo>
                  <a:pt x="519112" y="12700"/>
                </a:lnTo>
                <a:lnTo>
                  <a:pt x="530745" y="0"/>
                </a:lnTo>
                <a:lnTo>
                  <a:pt x="733374" y="0"/>
                </a:lnTo>
                <a:lnTo>
                  <a:pt x="733475" y="25400"/>
                </a:lnTo>
                <a:close/>
              </a:path>
              <a:path w="734059" h="2743200">
                <a:moveTo>
                  <a:pt x="522833" y="38100"/>
                </a:moveTo>
                <a:lnTo>
                  <a:pt x="425691" y="38100"/>
                </a:lnTo>
                <a:lnTo>
                  <a:pt x="431406" y="25400"/>
                </a:lnTo>
                <a:lnTo>
                  <a:pt x="534289" y="25400"/>
                </a:lnTo>
                <a:lnTo>
                  <a:pt x="522833" y="38100"/>
                </a:lnTo>
                <a:close/>
              </a:path>
              <a:path w="734059" h="2743200">
                <a:moveTo>
                  <a:pt x="459181" y="50800"/>
                </a:moveTo>
                <a:lnTo>
                  <a:pt x="408419" y="50800"/>
                </a:lnTo>
                <a:lnTo>
                  <a:pt x="411708" y="38100"/>
                </a:lnTo>
                <a:lnTo>
                  <a:pt x="466788" y="38100"/>
                </a:lnTo>
                <a:lnTo>
                  <a:pt x="459181" y="50800"/>
                </a:lnTo>
                <a:close/>
              </a:path>
              <a:path w="734059" h="2743200">
                <a:moveTo>
                  <a:pt x="430212" y="1320800"/>
                </a:moveTo>
                <a:lnTo>
                  <a:pt x="404812" y="1320800"/>
                </a:lnTo>
                <a:lnTo>
                  <a:pt x="404816" y="1319388"/>
                </a:lnTo>
                <a:lnTo>
                  <a:pt x="405143" y="1312727"/>
                </a:lnTo>
                <a:lnTo>
                  <a:pt x="405266" y="1311332"/>
                </a:lnTo>
                <a:lnTo>
                  <a:pt x="405777" y="1308100"/>
                </a:lnTo>
                <a:lnTo>
                  <a:pt x="404812" y="1308100"/>
                </a:lnTo>
                <a:lnTo>
                  <a:pt x="404812" y="63500"/>
                </a:lnTo>
                <a:lnTo>
                  <a:pt x="405028" y="50800"/>
                </a:lnTo>
                <a:lnTo>
                  <a:pt x="434898" y="50800"/>
                </a:lnTo>
                <a:lnTo>
                  <a:pt x="431368" y="63500"/>
                </a:lnTo>
                <a:lnTo>
                  <a:pt x="430212" y="63500"/>
                </a:lnTo>
                <a:lnTo>
                  <a:pt x="430212" y="1320800"/>
                </a:lnTo>
                <a:close/>
              </a:path>
              <a:path w="734059" h="2743200">
                <a:moveTo>
                  <a:pt x="404812" y="1309897"/>
                </a:moveTo>
                <a:lnTo>
                  <a:pt x="404812" y="1308100"/>
                </a:lnTo>
                <a:lnTo>
                  <a:pt x="404812" y="1309897"/>
                </a:lnTo>
                <a:close/>
              </a:path>
              <a:path w="734059" h="2743200">
                <a:moveTo>
                  <a:pt x="404845" y="1309746"/>
                </a:moveTo>
                <a:lnTo>
                  <a:pt x="404850" y="1308100"/>
                </a:lnTo>
                <a:lnTo>
                  <a:pt x="405028" y="1308100"/>
                </a:lnTo>
                <a:lnTo>
                  <a:pt x="405006" y="1309011"/>
                </a:lnTo>
                <a:lnTo>
                  <a:pt x="404845" y="1309746"/>
                </a:lnTo>
                <a:close/>
              </a:path>
              <a:path w="734059" h="2743200">
                <a:moveTo>
                  <a:pt x="405008" y="1309002"/>
                </a:moveTo>
                <a:lnTo>
                  <a:pt x="405028" y="1308100"/>
                </a:lnTo>
                <a:lnTo>
                  <a:pt x="405206" y="1308100"/>
                </a:lnTo>
                <a:lnTo>
                  <a:pt x="405008" y="1309002"/>
                </a:lnTo>
                <a:close/>
              </a:path>
              <a:path w="734059" h="2743200">
                <a:moveTo>
                  <a:pt x="404985" y="1310053"/>
                </a:moveTo>
                <a:lnTo>
                  <a:pt x="405008" y="1309002"/>
                </a:lnTo>
                <a:lnTo>
                  <a:pt x="405206" y="1308100"/>
                </a:lnTo>
                <a:lnTo>
                  <a:pt x="404985" y="1310053"/>
                </a:lnTo>
                <a:close/>
              </a:path>
              <a:path w="734059" h="2743200">
                <a:moveTo>
                  <a:pt x="404907" y="1313609"/>
                </a:moveTo>
                <a:lnTo>
                  <a:pt x="404984" y="1310097"/>
                </a:lnTo>
                <a:lnTo>
                  <a:pt x="405206" y="1308100"/>
                </a:lnTo>
                <a:lnTo>
                  <a:pt x="405025" y="1312862"/>
                </a:lnTo>
                <a:lnTo>
                  <a:pt x="404907" y="1313609"/>
                </a:lnTo>
                <a:close/>
              </a:path>
              <a:path w="734059" h="2743200">
                <a:moveTo>
                  <a:pt x="405046" y="1312727"/>
                </a:moveTo>
                <a:lnTo>
                  <a:pt x="405231" y="1308100"/>
                </a:lnTo>
                <a:lnTo>
                  <a:pt x="405384" y="1308100"/>
                </a:lnTo>
                <a:lnTo>
                  <a:pt x="405190" y="1311814"/>
                </a:lnTo>
                <a:lnTo>
                  <a:pt x="405046" y="1312727"/>
                </a:lnTo>
                <a:close/>
              </a:path>
              <a:path w="734059" h="2743200">
                <a:moveTo>
                  <a:pt x="404840" y="1311332"/>
                </a:moveTo>
                <a:lnTo>
                  <a:pt x="404845" y="1309746"/>
                </a:lnTo>
                <a:lnTo>
                  <a:pt x="405006" y="1309011"/>
                </a:lnTo>
                <a:lnTo>
                  <a:pt x="404980" y="1310097"/>
                </a:lnTo>
                <a:lnTo>
                  <a:pt x="404840" y="1311332"/>
                </a:lnTo>
                <a:close/>
              </a:path>
              <a:path w="734059" h="2743200">
                <a:moveTo>
                  <a:pt x="403771" y="1320800"/>
                </a:moveTo>
                <a:lnTo>
                  <a:pt x="402424" y="1320800"/>
                </a:lnTo>
                <a:lnTo>
                  <a:pt x="404812" y="1309897"/>
                </a:lnTo>
                <a:lnTo>
                  <a:pt x="404786" y="1311814"/>
                </a:lnTo>
                <a:lnTo>
                  <a:pt x="403771" y="1320800"/>
                </a:lnTo>
                <a:close/>
              </a:path>
              <a:path w="734059" h="2743200">
                <a:moveTo>
                  <a:pt x="404832" y="1314081"/>
                </a:moveTo>
                <a:lnTo>
                  <a:pt x="404840" y="1311332"/>
                </a:lnTo>
                <a:lnTo>
                  <a:pt x="404980" y="1310097"/>
                </a:lnTo>
                <a:lnTo>
                  <a:pt x="404894" y="1313691"/>
                </a:lnTo>
                <a:lnTo>
                  <a:pt x="404832" y="1314081"/>
                </a:lnTo>
                <a:close/>
              </a:path>
              <a:path w="734059" h="2743200">
                <a:moveTo>
                  <a:pt x="404817" y="1318985"/>
                </a:moveTo>
                <a:lnTo>
                  <a:pt x="404871" y="1317095"/>
                </a:lnTo>
                <a:lnTo>
                  <a:pt x="405046" y="1312727"/>
                </a:lnTo>
                <a:lnTo>
                  <a:pt x="405190" y="1311814"/>
                </a:lnTo>
                <a:lnTo>
                  <a:pt x="404817" y="1318985"/>
                </a:lnTo>
                <a:close/>
              </a:path>
              <a:path w="734059" h="2743200">
                <a:moveTo>
                  <a:pt x="404819" y="1318397"/>
                </a:moveTo>
                <a:lnTo>
                  <a:pt x="404905" y="1313691"/>
                </a:lnTo>
                <a:lnTo>
                  <a:pt x="405046" y="1312727"/>
                </a:lnTo>
                <a:lnTo>
                  <a:pt x="404819" y="1318397"/>
                </a:lnTo>
                <a:close/>
              </a:path>
              <a:path w="734059" h="2743200">
                <a:moveTo>
                  <a:pt x="404723" y="1320800"/>
                </a:moveTo>
                <a:lnTo>
                  <a:pt x="403771" y="1320800"/>
                </a:lnTo>
                <a:lnTo>
                  <a:pt x="404801" y="1314280"/>
                </a:lnTo>
                <a:lnTo>
                  <a:pt x="404723" y="1320800"/>
                </a:lnTo>
                <a:close/>
              </a:path>
              <a:path w="734059" h="2743200">
                <a:moveTo>
                  <a:pt x="404812" y="1320800"/>
                </a:moveTo>
                <a:lnTo>
                  <a:pt x="404812" y="1319090"/>
                </a:lnTo>
                <a:lnTo>
                  <a:pt x="404812" y="1320800"/>
                </a:lnTo>
                <a:close/>
              </a:path>
              <a:path w="734059" h="2743200">
                <a:moveTo>
                  <a:pt x="404749" y="1320800"/>
                </a:moveTo>
                <a:lnTo>
                  <a:pt x="404753" y="1320222"/>
                </a:lnTo>
                <a:lnTo>
                  <a:pt x="404749" y="1320800"/>
                </a:lnTo>
                <a:close/>
              </a:path>
              <a:path w="734059" h="2743200">
                <a:moveTo>
                  <a:pt x="426605" y="1333500"/>
                </a:moveTo>
                <a:lnTo>
                  <a:pt x="375450" y="1333500"/>
                </a:lnTo>
                <a:lnTo>
                  <a:pt x="382435" y="1320800"/>
                </a:lnTo>
                <a:lnTo>
                  <a:pt x="428180" y="1320800"/>
                </a:lnTo>
                <a:lnTo>
                  <a:pt x="426605" y="1333500"/>
                </a:lnTo>
                <a:close/>
              </a:path>
              <a:path w="734059" h="2743200">
                <a:moveTo>
                  <a:pt x="409333" y="1346200"/>
                </a:moveTo>
                <a:lnTo>
                  <a:pt x="312013" y="1346200"/>
                </a:lnTo>
                <a:lnTo>
                  <a:pt x="322986" y="1333500"/>
                </a:lnTo>
                <a:lnTo>
                  <a:pt x="414515" y="1333500"/>
                </a:lnTo>
                <a:lnTo>
                  <a:pt x="409333" y="1346200"/>
                </a:lnTo>
                <a:close/>
              </a:path>
              <a:path w="734059" h="2743200">
                <a:moveTo>
                  <a:pt x="375145" y="1358900"/>
                </a:moveTo>
                <a:lnTo>
                  <a:pt x="194830" y="1358900"/>
                </a:lnTo>
                <a:lnTo>
                  <a:pt x="209511" y="1346200"/>
                </a:lnTo>
                <a:lnTo>
                  <a:pt x="383120" y="1346200"/>
                </a:lnTo>
                <a:lnTo>
                  <a:pt x="375145" y="1358900"/>
                </a:lnTo>
                <a:close/>
              </a:path>
              <a:path w="734059" h="2743200">
                <a:moveTo>
                  <a:pt x="101650" y="1384300"/>
                </a:moveTo>
                <a:lnTo>
                  <a:pt x="0" y="1384300"/>
                </a:lnTo>
                <a:lnTo>
                  <a:pt x="0" y="1358900"/>
                </a:lnTo>
                <a:lnTo>
                  <a:pt x="101650" y="1358900"/>
                </a:lnTo>
                <a:lnTo>
                  <a:pt x="101650" y="1384300"/>
                </a:lnTo>
                <a:close/>
              </a:path>
              <a:path w="734059" h="2743200">
                <a:moveTo>
                  <a:pt x="196202" y="1384300"/>
                </a:moveTo>
                <a:lnTo>
                  <a:pt x="101650" y="1384300"/>
                </a:lnTo>
                <a:lnTo>
                  <a:pt x="101650" y="1358900"/>
                </a:lnTo>
                <a:lnTo>
                  <a:pt x="279653" y="1358900"/>
                </a:lnTo>
                <a:lnTo>
                  <a:pt x="292188" y="1371600"/>
                </a:lnTo>
                <a:lnTo>
                  <a:pt x="210997" y="1371600"/>
                </a:lnTo>
                <a:lnTo>
                  <a:pt x="196202" y="1384300"/>
                </a:lnTo>
                <a:close/>
              </a:path>
              <a:path w="734059" h="2743200">
                <a:moveTo>
                  <a:pt x="315912" y="1371600"/>
                </a:moveTo>
                <a:lnTo>
                  <a:pt x="292188" y="1371600"/>
                </a:lnTo>
                <a:lnTo>
                  <a:pt x="279653" y="1358900"/>
                </a:lnTo>
                <a:lnTo>
                  <a:pt x="327075" y="1358900"/>
                </a:lnTo>
                <a:lnTo>
                  <a:pt x="315912" y="1371600"/>
                </a:lnTo>
                <a:close/>
              </a:path>
              <a:path w="734059" h="2743200">
                <a:moveTo>
                  <a:pt x="366610" y="1384300"/>
                </a:moveTo>
                <a:lnTo>
                  <a:pt x="196202" y="1384300"/>
                </a:lnTo>
                <a:lnTo>
                  <a:pt x="210997" y="1371600"/>
                </a:lnTo>
                <a:lnTo>
                  <a:pt x="357517" y="1371600"/>
                </a:lnTo>
                <a:lnTo>
                  <a:pt x="366610" y="1384300"/>
                </a:lnTo>
                <a:close/>
              </a:path>
              <a:path w="734059" h="2743200">
                <a:moveTo>
                  <a:pt x="409333" y="1397000"/>
                </a:moveTo>
                <a:lnTo>
                  <a:pt x="289115" y="1397000"/>
                </a:lnTo>
                <a:lnTo>
                  <a:pt x="276733" y="1384300"/>
                </a:lnTo>
                <a:lnTo>
                  <a:pt x="403631" y="1384300"/>
                </a:lnTo>
                <a:lnTo>
                  <a:pt x="409333" y="1397000"/>
                </a:lnTo>
                <a:close/>
              </a:path>
              <a:path w="734059" h="2743200">
                <a:moveTo>
                  <a:pt x="423316" y="1409700"/>
                </a:moveTo>
                <a:lnTo>
                  <a:pt x="368579" y="1409700"/>
                </a:lnTo>
                <a:lnTo>
                  <a:pt x="360362" y="1397000"/>
                </a:lnTo>
                <a:lnTo>
                  <a:pt x="419176" y="1397000"/>
                </a:lnTo>
                <a:lnTo>
                  <a:pt x="423316" y="1409700"/>
                </a:lnTo>
                <a:close/>
              </a:path>
              <a:path w="734059" h="2743200">
                <a:moveTo>
                  <a:pt x="429996" y="1422400"/>
                </a:moveTo>
                <a:lnTo>
                  <a:pt x="401142" y="1422400"/>
                </a:lnTo>
                <a:lnTo>
                  <a:pt x="396887" y="1409700"/>
                </a:lnTo>
                <a:lnTo>
                  <a:pt x="429285" y="1409700"/>
                </a:lnTo>
                <a:lnTo>
                  <a:pt x="429996" y="1422400"/>
                </a:lnTo>
                <a:close/>
              </a:path>
              <a:path w="734059" h="2743200">
                <a:moveTo>
                  <a:pt x="430212" y="2679700"/>
                </a:moveTo>
                <a:lnTo>
                  <a:pt x="404812" y="2679700"/>
                </a:lnTo>
                <a:lnTo>
                  <a:pt x="404812" y="1422400"/>
                </a:lnTo>
                <a:lnTo>
                  <a:pt x="430212" y="1422400"/>
                </a:lnTo>
                <a:lnTo>
                  <a:pt x="430212" y="2679700"/>
                </a:lnTo>
                <a:close/>
              </a:path>
              <a:path w="734059" h="2743200">
                <a:moveTo>
                  <a:pt x="453059" y="2692400"/>
                </a:moveTo>
                <a:lnTo>
                  <a:pt x="408419" y="2692400"/>
                </a:lnTo>
                <a:lnTo>
                  <a:pt x="406844" y="2679700"/>
                </a:lnTo>
                <a:lnTo>
                  <a:pt x="446735" y="2679700"/>
                </a:lnTo>
                <a:lnTo>
                  <a:pt x="453059" y="2692400"/>
                </a:lnTo>
                <a:close/>
              </a:path>
              <a:path w="734059" h="2743200">
                <a:moveTo>
                  <a:pt x="501980" y="2705100"/>
                </a:moveTo>
                <a:lnTo>
                  <a:pt x="420509" y="2705100"/>
                </a:lnTo>
                <a:lnTo>
                  <a:pt x="415848" y="2692400"/>
                </a:lnTo>
                <a:lnTo>
                  <a:pt x="492048" y="2692400"/>
                </a:lnTo>
                <a:lnTo>
                  <a:pt x="501980" y="2705100"/>
                </a:lnTo>
                <a:close/>
              </a:path>
              <a:path w="734059" h="2743200">
                <a:moveTo>
                  <a:pt x="611416" y="2717800"/>
                </a:moveTo>
                <a:lnTo>
                  <a:pt x="451904" y="2717800"/>
                </a:lnTo>
                <a:lnTo>
                  <a:pt x="444500" y="2705100"/>
                </a:lnTo>
                <a:lnTo>
                  <a:pt x="597420" y="2705100"/>
                </a:lnTo>
                <a:lnTo>
                  <a:pt x="611416" y="2717800"/>
                </a:lnTo>
                <a:close/>
              </a:path>
              <a:path w="734059" h="2743200">
                <a:moveTo>
                  <a:pt x="733374" y="2743200"/>
                </a:moveTo>
                <a:lnTo>
                  <a:pt x="609561" y="2743200"/>
                </a:lnTo>
                <a:lnTo>
                  <a:pt x="595452" y="2730500"/>
                </a:lnTo>
                <a:lnTo>
                  <a:pt x="497293" y="2730500"/>
                </a:lnTo>
                <a:lnTo>
                  <a:pt x="487133" y="2717800"/>
                </a:lnTo>
                <a:lnTo>
                  <a:pt x="733475" y="2717800"/>
                </a:lnTo>
                <a:lnTo>
                  <a:pt x="733374" y="274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617662" y="1446212"/>
            <a:ext cx="6864350" cy="4378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164137" y="2657474"/>
            <a:ext cx="83883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状</a:t>
            </a:r>
            <a:r>
              <a:rPr dirty="0" sz="3200" b="1">
                <a:latin typeface="微软雅黑"/>
                <a:cs typeface="微软雅黑"/>
              </a:rPr>
              <a:t>态 </a:t>
            </a:r>
            <a:r>
              <a:rPr dirty="0" sz="3200" b="1">
                <a:latin typeface="微软雅黑"/>
                <a:cs typeface="微软雅黑"/>
              </a:rPr>
              <a:t>参</a:t>
            </a:r>
            <a:r>
              <a:rPr dirty="0" sz="3200" spc="5" b="1">
                <a:latin typeface="微软雅黑"/>
                <a:cs typeface="微软雅黑"/>
              </a:rPr>
              <a:t>量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61154" y="4243070"/>
            <a:ext cx="432434" cy="12452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3200" spc="-5" b="1">
                <a:latin typeface="微软雅黑"/>
                <a:cs typeface="微软雅黑"/>
              </a:rPr>
              <a:t>平衡</a:t>
            </a:r>
            <a:r>
              <a:rPr dirty="0" sz="3200" b="1">
                <a:latin typeface="微软雅黑"/>
                <a:cs typeface="微软雅黑"/>
              </a:rPr>
              <a:t>态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29859" y="4756150"/>
            <a:ext cx="838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特</a:t>
            </a:r>
            <a:r>
              <a:rPr dirty="0" sz="3200" spc="5" b="1">
                <a:latin typeface="微软雅黑"/>
                <a:cs typeface="微软雅黑"/>
              </a:rPr>
              <a:t>征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97382" y="4485335"/>
            <a:ext cx="838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微软雅黑"/>
                <a:cs typeface="微软雅黑"/>
              </a:rPr>
              <a:t>宏</a:t>
            </a:r>
            <a:r>
              <a:rPr dirty="0" sz="3200" spc="5" b="1">
                <a:latin typeface="微软雅黑"/>
                <a:cs typeface="微软雅黑"/>
              </a:rPr>
              <a:t>观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42400" y="4273956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无外界影响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87462" y="4062095"/>
            <a:ext cx="912494" cy="16516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algn="ctr">
              <a:lnSpc>
                <a:spcPct val="60000"/>
              </a:lnSpc>
            </a:pPr>
            <a:r>
              <a:rPr dirty="0" sz="3200" spc="-5" b="1">
                <a:latin typeface="微软雅黑"/>
                <a:cs typeface="微软雅黑"/>
              </a:rPr>
              <a:t>非平衡</a:t>
            </a:r>
            <a:r>
              <a:rPr dirty="0" sz="3200" b="1">
                <a:latin typeface="微软雅黑"/>
                <a:cs typeface="微软雅黑"/>
              </a:rPr>
              <a:t>态</a:t>
            </a:r>
            <a:endParaRPr sz="3200">
              <a:latin typeface="微软雅黑"/>
              <a:cs typeface="微软雅黑"/>
            </a:endParaRPr>
          </a:p>
          <a:p>
            <a:pPr algn="ctr" marL="33020">
              <a:lnSpc>
                <a:spcPct val="100000"/>
              </a:lnSpc>
              <a:spcBef>
                <a:spcPts val="114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不稳定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92865" y="4608639"/>
            <a:ext cx="330200" cy="330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稳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92865" y="5095049"/>
            <a:ext cx="330200" cy="330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8165" y="978852"/>
            <a:ext cx="43853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微软雅黑"/>
                <a:cs typeface="微软雅黑"/>
              </a:rPr>
              <a:t>一.</a:t>
            </a:r>
            <a:r>
              <a:rPr dirty="0" sz="3600" spc="-100">
                <a:latin typeface="微软雅黑"/>
                <a:cs typeface="微软雅黑"/>
              </a:rPr>
              <a:t> </a:t>
            </a:r>
            <a:r>
              <a:rPr dirty="0" sz="3600">
                <a:latin typeface="微软雅黑"/>
                <a:cs typeface="微软雅黑"/>
              </a:rPr>
              <a:t>状态参量与平衡态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475421" y="4704498"/>
            <a:ext cx="2463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压强、温度、浓度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97382" y="4968024"/>
            <a:ext cx="21596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20833" sz="4800" b="1">
                <a:latin typeface="微软雅黑"/>
                <a:cs typeface="微软雅黑"/>
              </a:rPr>
              <a:t>微</a:t>
            </a:r>
            <a:r>
              <a:rPr dirty="0" baseline="-20833" sz="4800" spc="7" b="1">
                <a:latin typeface="微软雅黑"/>
                <a:cs typeface="微软雅黑"/>
              </a:rPr>
              <a:t>观</a:t>
            </a:r>
            <a:r>
              <a:rPr dirty="0" baseline="-20833" sz="4800" spc="-367" b="1">
                <a:latin typeface="微软雅黑"/>
                <a:cs typeface="微软雅黑"/>
              </a:rPr>
              <a:t> 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处处相同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05827" y="5997257"/>
            <a:ext cx="93179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黑体"/>
                <a:cs typeface="黑体"/>
              </a:rPr>
              <a:t>热力学系统的平衡态是一种</a:t>
            </a:r>
            <a:r>
              <a:rPr dirty="0" sz="2800" b="1">
                <a:solidFill>
                  <a:srgbClr val="FF0000"/>
                </a:solidFill>
                <a:latin typeface="黑体"/>
                <a:cs typeface="黑体"/>
              </a:rPr>
              <a:t>动态的平衡</a:t>
            </a:r>
            <a:r>
              <a:rPr dirty="0" sz="2800" b="1">
                <a:latin typeface="黑体"/>
                <a:cs typeface="黑体"/>
              </a:rPr>
              <a:t>；是一种</a:t>
            </a:r>
            <a:r>
              <a:rPr dirty="0" sz="2800" b="1">
                <a:solidFill>
                  <a:srgbClr val="FF0000"/>
                </a:solidFill>
                <a:latin typeface="黑体"/>
                <a:cs typeface="黑体"/>
              </a:rPr>
              <a:t>理想情况</a:t>
            </a:r>
            <a:r>
              <a:rPr dirty="0" sz="2800" spc="-20" b="1">
                <a:latin typeface="黑体"/>
                <a:cs typeface="黑体"/>
              </a:rPr>
              <a:t>。</a:t>
            </a:r>
            <a:endParaRPr sz="2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3386328" y="3262884"/>
            <a:ext cx="3646931" cy="2420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18514" y="5756909"/>
            <a:ext cx="107061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说明：接触有</a:t>
            </a:r>
            <a:r>
              <a:rPr dirty="0" sz="2800" b="1">
                <a:latin typeface="黑体"/>
                <a:cs typeface="黑体"/>
              </a:rPr>
              <a:t>直接接触</a:t>
            </a:r>
            <a:r>
              <a:rPr dirty="0" sz="2800">
                <a:latin typeface="黑体"/>
                <a:cs typeface="黑体"/>
              </a:rPr>
              <a:t>和</a:t>
            </a:r>
            <a:r>
              <a:rPr dirty="0" sz="2800" b="1">
                <a:latin typeface="黑体"/>
                <a:cs typeface="黑体"/>
              </a:rPr>
              <a:t>热接触</a:t>
            </a:r>
            <a:r>
              <a:rPr dirty="0" sz="2800">
                <a:latin typeface="黑体"/>
                <a:cs typeface="黑体"/>
              </a:rPr>
              <a:t>（由导热壁连接实现的接触）两种</a:t>
            </a:r>
            <a:r>
              <a:rPr dirty="0" sz="2800" spc="-5">
                <a:latin typeface="黑体"/>
                <a:cs typeface="黑体"/>
              </a:rPr>
              <a:t>。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077" y="872985"/>
            <a:ext cx="10857865" cy="2336800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二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热平衡与温度</a:t>
            </a:r>
            <a:endParaRPr sz="36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1515"/>
              </a:spcBef>
            </a:pPr>
            <a:r>
              <a:rPr dirty="0" sz="3200" spc="-5">
                <a:latin typeface="微软雅黑"/>
                <a:cs typeface="微软雅黑"/>
              </a:rPr>
              <a:t>1.</a:t>
            </a:r>
            <a:r>
              <a:rPr dirty="0" sz="3200">
                <a:latin typeface="微软雅黑"/>
                <a:cs typeface="微软雅黑"/>
              </a:rPr>
              <a:t>热平</a:t>
            </a:r>
            <a:r>
              <a:rPr dirty="0" sz="3200" spc="5">
                <a:latin typeface="微软雅黑"/>
                <a:cs typeface="微软雅黑"/>
              </a:rPr>
              <a:t>衡</a:t>
            </a:r>
            <a:endParaRPr sz="3200">
              <a:latin typeface="微软雅黑"/>
              <a:cs typeface="微软雅黑"/>
            </a:endParaRPr>
          </a:p>
          <a:p>
            <a:pPr marL="33020" marR="5080" indent="632460">
              <a:lnSpc>
                <a:spcPct val="100000"/>
              </a:lnSpc>
              <a:spcBef>
                <a:spcPts val="105"/>
              </a:spcBef>
            </a:pPr>
            <a:r>
              <a:rPr dirty="0" sz="2800" spc="65">
                <a:latin typeface="微软雅黑"/>
                <a:cs typeface="微软雅黑"/>
              </a:rPr>
              <a:t>两个热力学系统相互</a:t>
            </a:r>
            <a:r>
              <a:rPr dirty="0" sz="2800" spc="65" b="1">
                <a:latin typeface="微软雅黑"/>
                <a:cs typeface="微软雅黑"/>
              </a:rPr>
              <a:t>接触</a:t>
            </a:r>
            <a:r>
              <a:rPr dirty="0" sz="2800" spc="65">
                <a:latin typeface="微软雅黑"/>
                <a:cs typeface="微软雅黑"/>
              </a:rPr>
              <a:t>而</a:t>
            </a:r>
            <a:r>
              <a:rPr dirty="0" sz="2800" spc="65" b="1">
                <a:latin typeface="微软雅黑"/>
                <a:cs typeface="微软雅黑"/>
              </a:rPr>
              <a:t>传热</a:t>
            </a:r>
            <a:r>
              <a:rPr dirty="0" sz="2800" spc="65">
                <a:latin typeface="微软雅黑"/>
                <a:cs typeface="微软雅黑"/>
              </a:rPr>
              <a:t>，经过一段时间后二者的状态</a:t>
            </a:r>
            <a:r>
              <a:rPr dirty="0" sz="2800" spc="-5">
                <a:latin typeface="微软雅黑"/>
                <a:cs typeface="微软雅黑"/>
              </a:rPr>
              <a:t>参 </a:t>
            </a:r>
            <a:r>
              <a:rPr dirty="0" sz="2800">
                <a:latin typeface="微软雅黑"/>
                <a:cs typeface="微软雅黑"/>
              </a:rPr>
              <a:t>量不再改变，这说明两个系统在传热方面达到平衡</a:t>
            </a:r>
            <a:r>
              <a:rPr dirty="0" sz="2800" spc="-5">
                <a:latin typeface="微软雅黑"/>
                <a:cs typeface="微软雅黑"/>
              </a:rPr>
              <a:t>——</a:t>
            </a:r>
            <a:r>
              <a:rPr dirty="0" sz="2800" b="1">
                <a:latin typeface="微软雅黑"/>
                <a:cs typeface="微软雅黑"/>
              </a:rPr>
              <a:t>热平衡状态</a:t>
            </a:r>
            <a:r>
              <a:rPr dirty="0" sz="2800" spc="-5" b="1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625351" y="6291262"/>
            <a:ext cx="566648" cy="566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872985"/>
            <a:ext cx="6878320" cy="147002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二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热平衡与温度</a:t>
            </a:r>
            <a:endParaRPr sz="36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1515"/>
              </a:spcBef>
            </a:pPr>
            <a:r>
              <a:rPr dirty="0" sz="3200" spc="-5">
                <a:latin typeface="微软雅黑"/>
                <a:cs typeface="微软雅黑"/>
              </a:rPr>
              <a:t>2.热平衡定律（又称</a:t>
            </a:r>
            <a:r>
              <a:rPr dirty="0" sz="3200">
                <a:latin typeface="黑体"/>
                <a:cs typeface="黑体"/>
              </a:rPr>
              <a:t>热力学第零定律</a:t>
            </a:r>
            <a:r>
              <a:rPr dirty="0" sz="3200">
                <a:latin typeface="黑体"/>
                <a:cs typeface="黑体"/>
              </a:rPr>
              <a:t>)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715" y="4514456"/>
            <a:ext cx="11076305" cy="139509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842135">
              <a:lnSpc>
                <a:spcPct val="100000"/>
              </a:lnSpc>
              <a:spcBef>
                <a:spcPts val="495"/>
              </a:spcBef>
              <a:tabLst>
                <a:tab pos="5367655" algn="l"/>
                <a:tab pos="8893175" algn="l"/>
              </a:tabLst>
            </a:pPr>
            <a:r>
              <a:rPr dirty="0" sz="2800" spc="-5">
                <a:latin typeface="宋体"/>
                <a:cs typeface="宋体"/>
              </a:rPr>
              <a:t>甲	乙	丙</a:t>
            </a:r>
            <a:endParaRPr sz="2800">
              <a:latin typeface="宋体"/>
              <a:cs typeface="宋体"/>
            </a:endParaRPr>
          </a:p>
          <a:p>
            <a:pPr marL="12700" marR="5080" indent="632460">
              <a:lnSpc>
                <a:spcPts val="3270"/>
              </a:lnSpc>
              <a:spcBef>
                <a:spcPts val="585"/>
              </a:spcBef>
            </a:pPr>
            <a:r>
              <a:rPr dirty="0" sz="2800" spc="30">
                <a:latin typeface="黑体"/>
                <a:cs typeface="黑体"/>
              </a:rPr>
              <a:t>如果两个系统分别与第三个系统处于热平衡，那么这两个系统彼</a:t>
            </a:r>
            <a:r>
              <a:rPr dirty="0" sz="2800" spc="-5">
                <a:latin typeface="黑体"/>
                <a:cs typeface="黑体"/>
              </a:rPr>
              <a:t>此 </a:t>
            </a:r>
            <a:r>
              <a:rPr dirty="0" sz="2800">
                <a:latin typeface="黑体"/>
                <a:cs typeface="黑体"/>
              </a:rPr>
              <a:t>之间也必定处于热平衡，这个结论称为</a:t>
            </a:r>
            <a:r>
              <a:rPr dirty="0" sz="2800" b="1">
                <a:latin typeface="黑体"/>
                <a:cs typeface="黑体"/>
              </a:rPr>
              <a:t>热平衡定律</a:t>
            </a:r>
            <a:r>
              <a:rPr dirty="0" sz="2800" spc="-5">
                <a:latin typeface="黑体"/>
                <a:cs typeface="黑体"/>
              </a:rPr>
              <a:t>。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4880" y="2638044"/>
            <a:ext cx="10245852" cy="2023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810115" y="3226003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绝热壁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7961" y="2973006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绝热壁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012" y="2951238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绝热壁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542032" y="3439667"/>
            <a:ext cx="6140196" cy="2567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52114" y="6077902"/>
            <a:ext cx="53486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1F5F"/>
                </a:solidFill>
                <a:latin typeface="微软雅黑"/>
                <a:cs typeface="微软雅黑"/>
              </a:rPr>
              <a:t>温度计的测温原理</a:t>
            </a:r>
            <a:r>
              <a:rPr dirty="0" sz="2800" spc="-5">
                <a:solidFill>
                  <a:srgbClr val="001F5F"/>
                </a:solidFill>
                <a:latin typeface="微软雅黑"/>
                <a:cs typeface="微软雅黑"/>
              </a:rPr>
              <a:t>（</a:t>
            </a:r>
            <a:r>
              <a:rPr dirty="0" sz="2800" spc="-5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001F5F"/>
                </a:solidFill>
                <a:latin typeface="Times New Roman"/>
                <a:cs typeface="Times New Roman"/>
              </a:rPr>
              <a:t>→</a:t>
            </a:r>
            <a:r>
              <a:rPr dirty="0" sz="2800" spc="-8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1F5F"/>
                </a:solidFill>
                <a:latin typeface="微软雅黑"/>
                <a:cs typeface="微软雅黑"/>
              </a:rPr>
              <a:t>温度计</a:t>
            </a:r>
            <a:r>
              <a:rPr dirty="0" sz="2800" spc="-5">
                <a:solidFill>
                  <a:srgbClr val="001F5F"/>
                </a:solidFill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165" y="909666"/>
            <a:ext cx="10902315" cy="250952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600">
                <a:latin typeface="微软雅黑"/>
                <a:cs typeface="微软雅黑"/>
              </a:rPr>
              <a:t>二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热平衡与温度</a:t>
            </a:r>
            <a:endParaRPr sz="3600">
              <a:latin typeface="微软雅黑"/>
              <a:cs typeface="微软雅黑"/>
            </a:endParaRPr>
          </a:p>
          <a:p>
            <a:pPr marL="165100">
              <a:lnSpc>
                <a:spcPct val="100000"/>
              </a:lnSpc>
              <a:spcBef>
                <a:spcPts val="489"/>
              </a:spcBef>
            </a:pPr>
            <a:r>
              <a:rPr dirty="0" sz="3200" spc="-5">
                <a:latin typeface="微软雅黑"/>
                <a:cs typeface="微软雅黑"/>
              </a:rPr>
              <a:t>3.</a:t>
            </a:r>
            <a:r>
              <a:rPr dirty="0" sz="3200">
                <a:latin typeface="微软雅黑"/>
                <a:cs typeface="微软雅黑"/>
              </a:rPr>
              <a:t>温</a:t>
            </a:r>
            <a:r>
              <a:rPr dirty="0" sz="3200" spc="5">
                <a:latin typeface="微软雅黑"/>
                <a:cs typeface="微软雅黑"/>
              </a:rPr>
              <a:t>度</a:t>
            </a:r>
            <a:endParaRPr sz="3200">
              <a:latin typeface="微软雅黑"/>
              <a:cs typeface="微软雅黑"/>
            </a:endParaRPr>
          </a:p>
          <a:p>
            <a:pPr algn="just" marL="77470" marR="5080" indent="711200">
              <a:lnSpc>
                <a:spcPct val="100000"/>
              </a:lnSpc>
              <a:spcBef>
                <a:spcPts val="280"/>
              </a:spcBef>
            </a:pPr>
            <a:r>
              <a:rPr dirty="0" sz="2800" spc="40">
                <a:latin typeface="微软雅黑"/>
                <a:cs typeface="微软雅黑"/>
              </a:rPr>
              <a:t>两个系统处于热平衡时，它们必定具</a:t>
            </a:r>
            <a:r>
              <a:rPr dirty="0" sz="2800" spc="45">
                <a:latin typeface="微软雅黑"/>
                <a:cs typeface="微软雅黑"/>
              </a:rPr>
              <a:t>有某个</a:t>
            </a:r>
            <a:r>
              <a:rPr dirty="0" sz="2800" spc="45" b="1">
                <a:latin typeface="微软雅黑"/>
                <a:cs typeface="微软雅黑"/>
              </a:rPr>
              <a:t>共同的热学性质</a:t>
            </a:r>
            <a:r>
              <a:rPr dirty="0" sz="2800" spc="45">
                <a:latin typeface="微软雅黑"/>
                <a:cs typeface="微软雅黑"/>
              </a:rPr>
              <a:t>，</a:t>
            </a:r>
            <a:r>
              <a:rPr dirty="0" sz="2800" spc="-5">
                <a:latin typeface="微软雅黑"/>
                <a:cs typeface="微软雅黑"/>
              </a:rPr>
              <a:t>我 </a:t>
            </a:r>
            <a:r>
              <a:rPr dirty="0" sz="2800" spc="35">
                <a:latin typeface="微软雅黑"/>
                <a:cs typeface="微软雅黑"/>
              </a:rPr>
              <a:t>们就把表征</a:t>
            </a:r>
            <a:r>
              <a:rPr dirty="0" sz="2800" spc="40">
                <a:latin typeface="微软雅黑"/>
                <a:cs typeface="微软雅黑"/>
              </a:rPr>
              <a:t>这一“共同热学性质”的物理量定义为温度。即：</a:t>
            </a:r>
            <a:r>
              <a:rPr dirty="0" sz="2800" spc="40" b="1">
                <a:latin typeface="微软雅黑"/>
                <a:cs typeface="微软雅黑"/>
              </a:rPr>
              <a:t>两个</a:t>
            </a:r>
            <a:r>
              <a:rPr dirty="0" sz="2800" spc="-5" b="1">
                <a:latin typeface="微软雅黑"/>
                <a:cs typeface="微软雅黑"/>
              </a:rPr>
              <a:t>处 </a:t>
            </a:r>
            <a:r>
              <a:rPr dirty="0" sz="2800" b="1">
                <a:latin typeface="微软雅黑"/>
                <a:cs typeface="微软雅黑"/>
              </a:rPr>
              <a:t>于热平衡状态的系统具有相同的温度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625351" y="6291262"/>
            <a:ext cx="566648" cy="566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872985"/>
            <a:ext cx="11012170" cy="3429000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三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温度计与温标</a:t>
            </a:r>
            <a:endParaRPr sz="3600">
              <a:latin typeface="微软雅黑"/>
              <a:cs typeface="微软雅黑"/>
            </a:endParaRPr>
          </a:p>
          <a:p>
            <a:pPr marL="229870" marR="5080" indent="632460">
              <a:lnSpc>
                <a:spcPct val="100000"/>
              </a:lnSpc>
              <a:spcBef>
                <a:spcPts val="1515"/>
              </a:spcBef>
            </a:pPr>
            <a:r>
              <a:rPr dirty="0" sz="2800">
                <a:latin typeface="微软雅黑"/>
                <a:cs typeface="微软雅黑"/>
              </a:rPr>
              <a:t>定量地描述温度的方</a:t>
            </a:r>
            <a:r>
              <a:rPr dirty="0" sz="2800" spc="5">
                <a:latin typeface="微软雅黑"/>
                <a:cs typeface="微软雅黑"/>
              </a:rPr>
              <a:t>法，叫做</a:t>
            </a:r>
            <a:r>
              <a:rPr dirty="0" sz="3200" spc="5" b="1">
                <a:solidFill>
                  <a:srgbClr val="001F5F"/>
                </a:solidFill>
                <a:latin typeface="微软雅黑"/>
                <a:cs typeface="微软雅黑"/>
              </a:rPr>
              <a:t>温标</a:t>
            </a:r>
            <a:r>
              <a:rPr dirty="0" sz="2800" spc="5">
                <a:latin typeface="微软雅黑"/>
                <a:cs typeface="微软雅黑"/>
              </a:rPr>
              <a:t>。常见的温标有经验温标（</a:t>
            </a:r>
            <a:r>
              <a:rPr dirty="0" sz="2800" spc="-5">
                <a:latin typeface="微软雅黑"/>
                <a:cs typeface="微软雅黑"/>
              </a:rPr>
              <a:t>依 </a:t>
            </a:r>
            <a:r>
              <a:rPr dirty="0" sz="2800">
                <a:latin typeface="微软雅黑"/>
                <a:cs typeface="微软雅黑"/>
              </a:rPr>
              <a:t>赖于测温物质，如</a:t>
            </a:r>
            <a:r>
              <a:rPr dirty="0" sz="3200" b="1">
                <a:solidFill>
                  <a:srgbClr val="001F5F"/>
                </a:solidFill>
                <a:latin typeface="微软雅黑"/>
                <a:cs typeface="微软雅黑"/>
              </a:rPr>
              <a:t>摄氏温标</a:t>
            </a:r>
            <a:r>
              <a:rPr dirty="0" sz="2800">
                <a:latin typeface="微软雅黑"/>
                <a:cs typeface="微软雅黑"/>
              </a:rPr>
              <a:t>）、</a:t>
            </a:r>
            <a:r>
              <a:rPr dirty="0" sz="3200" b="1">
                <a:solidFill>
                  <a:srgbClr val="001F5F"/>
                </a:solidFill>
                <a:latin typeface="微软雅黑"/>
                <a:cs typeface="微软雅黑"/>
              </a:rPr>
              <a:t>热力学温标</a:t>
            </a:r>
            <a:r>
              <a:rPr dirty="0" sz="2800">
                <a:latin typeface="微软雅黑"/>
                <a:cs typeface="微软雅黑"/>
              </a:rPr>
              <a:t>（与测温物质无关）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819785">
              <a:lnSpc>
                <a:spcPct val="100000"/>
              </a:lnSpc>
              <a:spcBef>
                <a:spcPts val="720"/>
              </a:spcBef>
            </a:pPr>
            <a:r>
              <a:rPr dirty="0" sz="2800">
                <a:latin typeface="微软雅黑"/>
                <a:cs typeface="微软雅黑"/>
              </a:rPr>
              <a:t>经验温标的三要素：</a:t>
            </a:r>
            <a:r>
              <a:rPr dirty="0" sz="3200" b="1">
                <a:solidFill>
                  <a:srgbClr val="001F5F"/>
                </a:solidFill>
                <a:latin typeface="微软雅黑"/>
                <a:cs typeface="微软雅黑"/>
              </a:rPr>
              <a:t>测温物质</a:t>
            </a:r>
            <a:r>
              <a:rPr dirty="0" sz="2800">
                <a:latin typeface="微软雅黑"/>
                <a:cs typeface="微软雅黑"/>
              </a:rPr>
              <a:t>、</a:t>
            </a:r>
            <a:r>
              <a:rPr dirty="0" sz="3200" b="1">
                <a:solidFill>
                  <a:srgbClr val="001F5F"/>
                </a:solidFill>
                <a:latin typeface="微软雅黑"/>
                <a:cs typeface="微软雅黑"/>
              </a:rPr>
              <a:t>测温属性</a:t>
            </a:r>
            <a:r>
              <a:rPr dirty="0" sz="2800">
                <a:latin typeface="微软雅黑"/>
                <a:cs typeface="微软雅黑"/>
              </a:rPr>
              <a:t>、</a:t>
            </a:r>
            <a:r>
              <a:rPr dirty="0" sz="3200" b="1">
                <a:solidFill>
                  <a:srgbClr val="001F5F"/>
                </a:solidFill>
                <a:latin typeface="微软雅黑"/>
                <a:cs typeface="微软雅黑"/>
              </a:rPr>
              <a:t>固定标准点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3185"/>
              </a:spcBef>
            </a:pPr>
            <a:r>
              <a:rPr dirty="0" sz="3200">
                <a:latin typeface="微软雅黑"/>
                <a:cs typeface="微软雅黑"/>
              </a:rPr>
              <a:t>阅读教材第</a:t>
            </a:r>
            <a:r>
              <a:rPr dirty="0" sz="3200" spc="-5">
                <a:latin typeface="微软雅黑"/>
                <a:cs typeface="微软雅黑"/>
              </a:rPr>
              <a:t>12</a:t>
            </a:r>
            <a:r>
              <a:rPr dirty="0" sz="3200">
                <a:latin typeface="微软雅黑"/>
                <a:cs typeface="微软雅黑"/>
              </a:rPr>
              <a:t>页：形形色色的温度</a:t>
            </a:r>
            <a:r>
              <a:rPr dirty="0" sz="3200" spc="5">
                <a:latin typeface="微软雅黑"/>
                <a:cs typeface="微软雅黑"/>
              </a:rPr>
              <a:t>计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7627" y="4352798"/>
            <a:ext cx="2513965" cy="155702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800">
                <a:latin typeface="微软雅黑"/>
                <a:cs typeface="微软雅黑"/>
              </a:rPr>
              <a:t>水银温度</a:t>
            </a:r>
            <a:r>
              <a:rPr dirty="0" sz="2800" spc="-5">
                <a:latin typeface="微软雅黑"/>
                <a:cs typeface="微软雅黑"/>
              </a:rPr>
              <a:t>计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ct val="119600"/>
              </a:lnSpc>
            </a:pPr>
            <a:r>
              <a:rPr dirty="0" sz="2800">
                <a:latin typeface="微软雅黑"/>
                <a:cs typeface="微软雅黑"/>
              </a:rPr>
              <a:t>压力表式温度</a:t>
            </a:r>
            <a:r>
              <a:rPr dirty="0" sz="2800" spc="-5">
                <a:latin typeface="微软雅黑"/>
                <a:cs typeface="微软雅黑"/>
              </a:rPr>
              <a:t>计 </a:t>
            </a:r>
            <a:r>
              <a:rPr dirty="0" sz="2800">
                <a:latin typeface="微软雅黑"/>
                <a:cs typeface="微软雅黑"/>
              </a:rPr>
              <a:t>热电偶温度</a:t>
            </a:r>
            <a:r>
              <a:rPr dirty="0" sz="2800" spc="-5">
                <a:latin typeface="微软雅黑"/>
                <a:cs typeface="微软雅黑"/>
              </a:rPr>
              <a:t>计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8467" y="4352798"/>
            <a:ext cx="3646804" cy="155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66850" indent="26670">
              <a:lnSpc>
                <a:spcPct val="119600"/>
              </a:lnSpc>
              <a:spcBef>
                <a:spcPts val="100"/>
              </a:spcBef>
            </a:pPr>
            <a:r>
              <a:rPr dirty="0" sz="2800">
                <a:latin typeface="微软雅黑"/>
                <a:cs typeface="微软雅黑"/>
              </a:rPr>
              <a:t>双金属温度</a:t>
            </a:r>
            <a:r>
              <a:rPr dirty="0" sz="2800" spc="-5">
                <a:latin typeface="微软雅黑"/>
                <a:cs typeface="微软雅黑"/>
              </a:rPr>
              <a:t>计 </a:t>
            </a:r>
            <a:r>
              <a:rPr dirty="0" sz="2800">
                <a:latin typeface="微软雅黑"/>
                <a:cs typeface="微软雅黑"/>
              </a:rPr>
              <a:t>铂电阻温度</a:t>
            </a:r>
            <a:r>
              <a:rPr dirty="0" sz="2800" spc="-5">
                <a:latin typeface="微软雅黑"/>
                <a:cs typeface="微软雅黑"/>
              </a:rPr>
              <a:t>计</a:t>
            </a:r>
            <a:endParaRPr sz="2800">
              <a:latin typeface="微软雅黑"/>
              <a:cs typeface="微软雅黑"/>
            </a:endParaRPr>
          </a:p>
          <a:p>
            <a:pPr marL="78740">
              <a:lnSpc>
                <a:spcPct val="100000"/>
              </a:lnSpc>
              <a:spcBef>
                <a:spcPts val="660"/>
              </a:spcBef>
            </a:pPr>
            <a:r>
              <a:rPr dirty="0" sz="2800">
                <a:latin typeface="微软雅黑"/>
                <a:cs typeface="微软雅黑"/>
              </a:rPr>
              <a:t>半导体热敏电阻温度</a:t>
            </a:r>
            <a:r>
              <a:rPr dirty="0" sz="2800" spc="-5">
                <a:latin typeface="微软雅黑"/>
                <a:cs typeface="微软雅黑"/>
              </a:rPr>
              <a:t>计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625351" y="6291262"/>
            <a:ext cx="566648" cy="5667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9934956" y="1127760"/>
            <a:ext cx="1639824" cy="5189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653674" y="1561306"/>
            <a:ext cx="500380" cy="0"/>
          </a:xfrm>
          <a:custGeom>
            <a:avLst/>
            <a:gdLst/>
            <a:ahLst/>
            <a:cxnLst/>
            <a:rect l="l" t="t" r="r" b="b"/>
            <a:pathLst>
              <a:path w="500379" h="0">
                <a:moveTo>
                  <a:pt x="0" y="0"/>
                </a:moveTo>
                <a:lnTo>
                  <a:pt x="500138" y="0"/>
                </a:lnTo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74312" y="3752056"/>
            <a:ext cx="502284" cy="0"/>
          </a:xfrm>
          <a:custGeom>
            <a:avLst/>
            <a:gdLst/>
            <a:ahLst/>
            <a:cxnLst/>
            <a:rect l="l" t="t" r="r" b="b"/>
            <a:pathLst>
              <a:path w="502284" h="0">
                <a:moveTo>
                  <a:pt x="0" y="0"/>
                </a:moveTo>
                <a:lnTo>
                  <a:pt x="501726" y="0"/>
                </a:lnTo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96537" y="5036343"/>
            <a:ext cx="502284" cy="0"/>
          </a:xfrm>
          <a:custGeom>
            <a:avLst/>
            <a:gdLst/>
            <a:ahLst/>
            <a:cxnLst/>
            <a:rect l="l" t="t" r="r" b="b"/>
            <a:pathLst>
              <a:path w="502284" h="0">
                <a:moveTo>
                  <a:pt x="0" y="0"/>
                </a:moveTo>
                <a:lnTo>
                  <a:pt x="501726" y="0"/>
                </a:lnTo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435308" y="1548574"/>
            <a:ext cx="43116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60">
                <a:latin typeface="Times New Roman"/>
                <a:cs typeface="Times New Roman"/>
              </a:rPr>
              <a:t>10</a:t>
            </a:r>
            <a:r>
              <a:rPr dirty="0" sz="1900" spc="15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45608" y="1259776"/>
            <a:ext cx="23812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 i="1">
                <a:latin typeface="Times New Roman"/>
                <a:cs typeface="Times New Roman"/>
              </a:rPr>
              <a:t>h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4170" y="3468903"/>
            <a:ext cx="23812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 i="1">
                <a:latin typeface="Times New Roman"/>
                <a:cs typeface="Times New Roman"/>
              </a:rPr>
              <a:t>h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82196" y="5006390"/>
            <a:ext cx="14859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5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66042" y="4717592"/>
            <a:ext cx="23812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 i="1">
                <a:latin typeface="Times New Roman"/>
                <a:cs typeface="Times New Roman"/>
              </a:rPr>
              <a:t>h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6290" y="4156075"/>
            <a:ext cx="878903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微软雅黑"/>
                <a:cs typeface="微软雅黑"/>
              </a:rPr>
              <a:t>固定标准点</a:t>
            </a:r>
            <a:r>
              <a:rPr dirty="0" sz="2800" spc="-5">
                <a:latin typeface="微软雅黑"/>
                <a:cs typeface="微软雅黑"/>
              </a:rPr>
              <a:t>:</a:t>
            </a:r>
            <a:r>
              <a:rPr dirty="0" sz="2800" spc="-85">
                <a:latin typeface="微软雅黑"/>
                <a:cs typeface="微软雅黑"/>
              </a:rPr>
              <a:t> </a:t>
            </a:r>
            <a:r>
              <a:rPr dirty="0" sz="2800" spc="-5">
                <a:latin typeface="微软雅黑"/>
                <a:cs typeface="微软雅黑"/>
              </a:rPr>
              <a:t>1</a:t>
            </a:r>
            <a:r>
              <a:rPr dirty="0" sz="2800">
                <a:latin typeface="微软雅黑"/>
                <a:cs typeface="微软雅黑"/>
              </a:rPr>
              <a:t>标准大气压下，冰水混合物的温度为</a:t>
            </a:r>
            <a:r>
              <a:rPr dirty="0" sz="2800" spc="-5">
                <a:latin typeface="Times New Roman"/>
                <a:cs typeface="Times New Roman"/>
              </a:rPr>
              <a:t>0℃</a:t>
            </a:r>
            <a:r>
              <a:rPr dirty="0" sz="2800" spc="-5">
                <a:latin typeface="微软雅黑"/>
                <a:cs typeface="微软雅黑"/>
              </a:rPr>
              <a:t>，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9090" y="4582795"/>
            <a:ext cx="34112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沸水的温度为</a:t>
            </a:r>
            <a:r>
              <a:rPr dirty="0" sz="2800" spc="-5">
                <a:latin typeface="Times New Roman"/>
                <a:cs typeface="Times New Roman"/>
              </a:rPr>
              <a:t>100℃</a:t>
            </a:r>
            <a:r>
              <a:rPr dirty="0" sz="2800" spc="-5"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2089" y="5009515"/>
            <a:ext cx="72510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0℃</a:t>
            </a:r>
            <a:r>
              <a:rPr dirty="0" sz="2800">
                <a:latin typeface="微软雅黑"/>
                <a:cs typeface="微软雅黑"/>
              </a:rPr>
              <a:t>到</a:t>
            </a:r>
            <a:r>
              <a:rPr dirty="0" sz="2800" spc="-5">
                <a:latin typeface="Times New Roman"/>
                <a:cs typeface="Times New Roman"/>
              </a:rPr>
              <a:t>100℃</a:t>
            </a:r>
            <a:r>
              <a:rPr dirty="0" sz="2800">
                <a:latin typeface="微软雅黑"/>
                <a:cs typeface="微软雅黑"/>
              </a:rPr>
              <a:t>之间的刻度</a:t>
            </a:r>
            <a:r>
              <a:rPr dirty="0" sz="2800" spc="-5">
                <a:latin typeface="Times New Roman"/>
                <a:cs typeface="Times New Roman"/>
              </a:rPr>
              <a:t>100</a:t>
            </a:r>
            <a:r>
              <a:rPr dirty="0" sz="2800">
                <a:latin typeface="微软雅黑"/>
                <a:cs typeface="微软雅黑"/>
              </a:rPr>
              <a:t>等分，每一份为</a:t>
            </a:r>
            <a:r>
              <a:rPr dirty="0" sz="2800" spc="-5">
                <a:latin typeface="Times New Roman"/>
                <a:cs typeface="Times New Roman"/>
              </a:rPr>
              <a:t>1℃.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077" y="971059"/>
            <a:ext cx="8790940" cy="223139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3600">
                <a:latin typeface="微软雅黑"/>
                <a:cs typeface="微软雅黑"/>
              </a:rPr>
              <a:t>三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温度计与温标</a:t>
            </a:r>
            <a:endParaRPr sz="36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830"/>
              </a:spcBef>
            </a:pPr>
            <a:r>
              <a:rPr dirty="0" sz="3200" spc="-5">
                <a:latin typeface="微软雅黑"/>
                <a:cs typeface="微软雅黑"/>
              </a:rPr>
              <a:t>1.</a:t>
            </a:r>
            <a:r>
              <a:rPr dirty="0" sz="3200">
                <a:latin typeface="微软雅黑"/>
                <a:cs typeface="微软雅黑"/>
              </a:rPr>
              <a:t>摄氏温标（以水银温度计为例</a:t>
            </a:r>
            <a:r>
              <a:rPr dirty="0" sz="3200" spc="5"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  <a:p>
            <a:pPr marL="315595">
              <a:lnSpc>
                <a:spcPts val="2985"/>
              </a:lnSpc>
              <a:spcBef>
                <a:spcPts val="280"/>
              </a:spcBef>
            </a:pPr>
            <a:r>
              <a:rPr dirty="0" sz="2800" b="1">
                <a:latin typeface="微软雅黑"/>
                <a:cs typeface="微软雅黑"/>
              </a:rPr>
              <a:t>测温物质</a:t>
            </a:r>
            <a:r>
              <a:rPr dirty="0" sz="2800">
                <a:latin typeface="微软雅黑"/>
                <a:cs typeface="微软雅黑"/>
              </a:rPr>
              <a:t>：水</a:t>
            </a:r>
            <a:r>
              <a:rPr dirty="0" sz="2800" spc="-5">
                <a:latin typeface="微软雅黑"/>
                <a:cs typeface="微软雅黑"/>
              </a:rPr>
              <a:t>银</a:t>
            </a:r>
            <a:endParaRPr sz="2800">
              <a:latin typeface="微软雅黑"/>
              <a:cs typeface="微软雅黑"/>
            </a:endParaRPr>
          </a:p>
          <a:p>
            <a:pPr marL="315595">
              <a:lnSpc>
                <a:spcPts val="4185"/>
              </a:lnSpc>
              <a:tabLst>
                <a:tab pos="3651885" algn="l"/>
              </a:tabLst>
            </a:pPr>
            <a:r>
              <a:rPr dirty="0" sz="2800" b="1">
                <a:latin typeface="微软雅黑"/>
                <a:cs typeface="微软雅黑"/>
              </a:rPr>
              <a:t>测温属性</a:t>
            </a:r>
            <a:r>
              <a:rPr dirty="0" sz="2800">
                <a:latin typeface="微软雅黑"/>
                <a:cs typeface="微软雅黑"/>
              </a:rPr>
              <a:t>：热膨</a:t>
            </a:r>
            <a:r>
              <a:rPr dirty="0" sz="2800" spc="260">
                <a:latin typeface="微软雅黑"/>
                <a:cs typeface="微软雅黑"/>
              </a:rPr>
              <a:t>胀</a:t>
            </a:r>
            <a:r>
              <a:rPr dirty="0" baseline="-5327" sz="5475" spc="-7" i="1">
                <a:latin typeface="Times New Roman"/>
                <a:cs typeface="Times New Roman"/>
              </a:rPr>
              <a:t>V	</a:t>
            </a:r>
            <a:r>
              <a:rPr dirty="0" baseline="-5327" sz="5475" spc="-7">
                <a:latin typeface="Symbol"/>
                <a:cs typeface="Symbol"/>
              </a:rPr>
              <a:t></a:t>
            </a:r>
            <a:r>
              <a:rPr dirty="0" baseline="-5327" sz="5475" spc="-644">
                <a:latin typeface="Times New Roman"/>
                <a:cs typeface="Times New Roman"/>
              </a:rPr>
              <a:t> </a:t>
            </a:r>
            <a:r>
              <a:rPr dirty="0" baseline="-5327" sz="5475" spc="-89" i="1">
                <a:latin typeface="Times New Roman"/>
                <a:cs typeface="Times New Roman"/>
              </a:rPr>
              <a:t>V</a:t>
            </a:r>
            <a:r>
              <a:rPr dirty="0" baseline="-34391" sz="3150" spc="-89">
                <a:latin typeface="Times New Roman"/>
                <a:cs typeface="Times New Roman"/>
              </a:rPr>
              <a:t>0</a:t>
            </a:r>
            <a:r>
              <a:rPr dirty="0" baseline="-34391" sz="3150" spc="-179">
                <a:latin typeface="Times New Roman"/>
                <a:cs typeface="Times New Roman"/>
              </a:rPr>
              <a:t> </a:t>
            </a:r>
            <a:r>
              <a:rPr dirty="0" baseline="-5327" sz="5475" spc="-30">
                <a:latin typeface="Times New Roman"/>
                <a:cs typeface="Times New Roman"/>
              </a:rPr>
              <a:t>(1</a:t>
            </a:r>
            <a:r>
              <a:rPr dirty="0" baseline="-5327" sz="5475" spc="-30">
                <a:latin typeface="Symbol"/>
                <a:cs typeface="Symbol"/>
              </a:rPr>
              <a:t></a:t>
            </a:r>
            <a:r>
              <a:rPr dirty="0" baseline="-5327" sz="5475" spc="-592">
                <a:latin typeface="Times New Roman"/>
                <a:cs typeface="Times New Roman"/>
              </a:rPr>
              <a:t> </a:t>
            </a:r>
            <a:r>
              <a:rPr dirty="0" baseline="-5116" sz="5700" spc="-367" i="1">
                <a:latin typeface="Symbol"/>
                <a:cs typeface="Symbol"/>
              </a:rPr>
              <a:t></a:t>
            </a:r>
            <a:r>
              <a:rPr dirty="0" baseline="-5327" sz="5475" spc="-367" i="1">
                <a:latin typeface="Times New Roman"/>
                <a:cs typeface="Times New Roman"/>
              </a:rPr>
              <a:t>t</a:t>
            </a:r>
            <a:r>
              <a:rPr dirty="0" baseline="-5327" sz="5475" spc="-367">
                <a:latin typeface="Times New Roman"/>
                <a:cs typeface="Times New Roman"/>
              </a:rPr>
              <a:t>)</a:t>
            </a:r>
            <a:r>
              <a:rPr dirty="0" baseline="-5327" sz="5475" spc="217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微软雅黑"/>
                <a:cs typeface="微软雅黑"/>
              </a:rPr>
              <a:t>，</a:t>
            </a:r>
            <a:r>
              <a:rPr dirty="0" sz="3200" spc="-5" i="1">
                <a:latin typeface="Times New Roman"/>
                <a:cs typeface="Times New Roman"/>
              </a:rPr>
              <a:t>t</a:t>
            </a:r>
            <a:r>
              <a:rPr dirty="0" baseline="-16975" sz="2700" spc="-7">
                <a:latin typeface="Times New Roman"/>
                <a:cs typeface="Times New Roman"/>
              </a:rPr>
              <a:t>0</a:t>
            </a:r>
            <a:r>
              <a:rPr dirty="0" sz="2800" spc="-5">
                <a:latin typeface="Times New Roman"/>
                <a:cs typeface="Times New Roman"/>
              </a:rPr>
              <a:t>=0℃ </a:t>
            </a:r>
            <a:r>
              <a:rPr dirty="0" sz="2800">
                <a:latin typeface="微软雅黑"/>
                <a:cs typeface="微软雅黑"/>
              </a:rPr>
              <a:t>时</a:t>
            </a:r>
            <a:r>
              <a:rPr dirty="0" sz="2800" spc="-5" i="1">
                <a:latin typeface="Times New Roman"/>
                <a:cs typeface="Times New Roman"/>
              </a:rPr>
              <a:t>V</a:t>
            </a:r>
            <a:r>
              <a:rPr dirty="0" sz="2800" spc="-5">
                <a:latin typeface="Times New Roman"/>
                <a:cs typeface="Times New Roman"/>
              </a:rPr>
              <a:t>=</a:t>
            </a:r>
            <a:r>
              <a:rPr dirty="0" sz="2800" spc="-5" i="1">
                <a:latin typeface="Times New Roman"/>
                <a:cs typeface="Times New Roman"/>
              </a:rPr>
              <a:t>V</a:t>
            </a:r>
            <a:r>
              <a:rPr dirty="0" baseline="-16975" sz="2700" spc="-7">
                <a:latin typeface="Times New Roman"/>
                <a:cs typeface="Times New Roman"/>
              </a:rPr>
              <a:t>0</a:t>
            </a:r>
            <a:r>
              <a:rPr dirty="0" sz="2800" spc="-5"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72197" y="3712870"/>
            <a:ext cx="658495" cy="0"/>
          </a:xfrm>
          <a:custGeom>
            <a:avLst/>
            <a:gdLst/>
            <a:ahLst/>
            <a:cxnLst/>
            <a:rect l="l" t="t" r="r" b="b"/>
            <a:pathLst>
              <a:path w="658495" h="0">
                <a:moveTo>
                  <a:pt x="0" y="0"/>
                </a:moveTo>
                <a:lnTo>
                  <a:pt x="658215" y="0"/>
                </a:lnTo>
              </a:path>
            </a:pathLst>
          </a:custGeom>
          <a:ln w="196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679588" y="3715575"/>
            <a:ext cx="223520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00" spc="5" i="1">
                <a:latin typeface="Times New Roman"/>
                <a:cs typeface="Times New Roman"/>
              </a:rPr>
              <a:t>S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0468" y="3385577"/>
            <a:ext cx="6480175" cy="523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00" spc="-105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dirty="0" sz="3100" spc="-105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sz="3100" spc="20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100" spc="4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sz="3100" spc="40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24691" sz="2700" spc="6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baseline="-24691" sz="2700" spc="-20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dirty="0" sz="31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100" spc="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3100" spc="-2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50" spc="-370" i="1">
                <a:solidFill>
                  <a:srgbClr val="FF0000"/>
                </a:solidFill>
                <a:latin typeface="Symbol"/>
                <a:cs typeface="Symbol"/>
              </a:rPr>
              <a:t></a:t>
            </a:r>
            <a:r>
              <a:rPr dirty="0" sz="3100" spc="-370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24691" sz="2700" spc="-555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baseline="-24691" sz="2700" spc="-509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100" spc="35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dirty="0" sz="3100" spc="3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3100" spc="-1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100" spc="5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sz="3100" spc="-3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FF0000"/>
                </a:solidFill>
                <a:latin typeface="Times New Roman"/>
                <a:cs typeface="Times New Roman"/>
              </a:rPr>
              <a:t>0)</a:t>
            </a:r>
            <a:r>
              <a:rPr dirty="0" sz="3100" spc="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100" spc="5">
                <a:latin typeface="Symbol"/>
                <a:cs typeface="Symbol"/>
              </a:rPr>
              <a:t></a:t>
            </a:r>
            <a:r>
              <a:rPr dirty="0" sz="3100" spc="-100">
                <a:latin typeface="Times New Roman"/>
                <a:cs typeface="Times New Roman"/>
              </a:rPr>
              <a:t> </a:t>
            </a:r>
            <a:r>
              <a:rPr dirty="0" sz="3100" spc="45">
                <a:latin typeface="Times New Roman"/>
                <a:cs typeface="Times New Roman"/>
              </a:rPr>
              <a:t>(</a:t>
            </a:r>
            <a:r>
              <a:rPr dirty="0" sz="3100" spc="45" i="1">
                <a:latin typeface="Times New Roman"/>
                <a:cs typeface="Times New Roman"/>
              </a:rPr>
              <a:t>h</a:t>
            </a:r>
            <a:r>
              <a:rPr dirty="0" sz="3100" spc="-260" i="1">
                <a:latin typeface="Times New Roman"/>
                <a:cs typeface="Times New Roman"/>
              </a:rPr>
              <a:t> </a:t>
            </a:r>
            <a:r>
              <a:rPr dirty="0" sz="3100" spc="5">
                <a:latin typeface="Symbol"/>
                <a:cs typeface="Symbol"/>
              </a:rPr>
              <a:t></a:t>
            </a:r>
            <a:r>
              <a:rPr dirty="0" sz="3100" spc="-235">
                <a:latin typeface="Times New Roman"/>
                <a:cs typeface="Times New Roman"/>
              </a:rPr>
              <a:t> </a:t>
            </a:r>
            <a:r>
              <a:rPr dirty="0" sz="3100" spc="-80" i="1">
                <a:latin typeface="Times New Roman"/>
                <a:cs typeface="Times New Roman"/>
              </a:rPr>
              <a:t>h</a:t>
            </a:r>
            <a:r>
              <a:rPr dirty="0" baseline="-24691" sz="2700" spc="-120">
                <a:latin typeface="Times New Roman"/>
                <a:cs typeface="Times New Roman"/>
              </a:rPr>
              <a:t>0</a:t>
            </a:r>
            <a:r>
              <a:rPr dirty="0" baseline="-24691" sz="2700" spc="-202">
                <a:latin typeface="Times New Roman"/>
                <a:cs typeface="Times New Roman"/>
              </a:rPr>
              <a:t> </a:t>
            </a:r>
            <a:r>
              <a:rPr dirty="0" sz="3100" spc="70">
                <a:latin typeface="Times New Roman"/>
                <a:cs typeface="Times New Roman"/>
              </a:rPr>
              <a:t>)</a:t>
            </a:r>
            <a:r>
              <a:rPr dirty="0" sz="3100" spc="70" i="1">
                <a:latin typeface="Times New Roman"/>
                <a:cs typeface="Times New Roman"/>
              </a:rPr>
              <a:t>S</a:t>
            </a:r>
            <a:r>
              <a:rPr dirty="0" sz="3100" spc="75" i="1">
                <a:latin typeface="Times New Roman"/>
                <a:cs typeface="Times New Roman"/>
              </a:rPr>
              <a:t> </a:t>
            </a:r>
            <a:r>
              <a:rPr dirty="0" sz="3100" spc="10">
                <a:latin typeface="Symbol"/>
                <a:cs typeface="Symbol"/>
              </a:rPr>
              <a:t>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 spc="5" i="1">
                <a:latin typeface="Times New Roman"/>
                <a:cs typeface="Times New Roman"/>
              </a:rPr>
              <a:t>h</a:t>
            </a:r>
            <a:r>
              <a:rPr dirty="0" sz="3100" spc="-70" i="1">
                <a:latin typeface="Times New Roman"/>
                <a:cs typeface="Times New Roman"/>
              </a:rPr>
              <a:t> </a:t>
            </a:r>
            <a:r>
              <a:rPr dirty="0" sz="3100" spc="5">
                <a:latin typeface="Symbol"/>
                <a:cs typeface="Symbol"/>
              </a:rPr>
              <a:t>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 spc="-45" i="1">
                <a:latin typeface="Times New Roman"/>
                <a:cs typeface="Times New Roman"/>
              </a:rPr>
              <a:t>h</a:t>
            </a:r>
            <a:r>
              <a:rPr dirty="0" baseline="-24691" sz="2700" spc="-67">
                <a:latin typeface="Times New Roman"/>
                <a:cs typeface="Times New Roman"/>
              </a:rPr>
              <a:t>0</a:t>
            </a:r>
            <a:endParaRPr baseline="-24691"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61910" y="3179978"/>
            <a:ext cx="324421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13055" indent="-300355">
              <a:lnSpc>
                <a:spcPct val="100000"/>
              </a:lnSpc>
              <a:spcBef>
                <a:spcPts val="90"/>
              </a:spcBef>
              <a:buSzPct val="95384"/>
              <a:buFont typeface="Symbol"/>
              <a:buChar char=""/>
              <a:tabLst>
                <a:tab pos="313690" algn="l"/>
                <a:tab pos="3112770" algn="l"/>
              </a:tabLst>
            </a:pPr>
            <a:r>
              <a:rPr dirty="0" baseline="7692" sz="4875" spc="-1477" i="1">
                <a:latin typeface="Symbol"/>
                <a:cs typeface="Symbol"/>
              </a:rPr>
              <a:t></a:t>
            </a:r>
            <a:r>
              <a:rPr dirty="0" baseline="8064" sz="4650" spc="-172" i="1">
                <a:latin typeface="Times New Roman"/>
                <a:cs typeface="Times New Roman"/>
              </a:rPr>
              <a:t>V</a:t>
            </a:r>
            <a:r>
              <a:rPr dirty="0" baseline="-10802" sz="2700" spc="-7">
                <a:latin typeface="Times New Roman"/>
                <a:cs typeface="Times New Roman"/>
              </a:rPr>
              <a:t>0</a:t>
            </a:r>
            <a:r>
              <a:rPr dirty="0" baseline="-10802" sz="2700">
                <a:latin typeface="Times New Roman"/>
                <a:cs typeface="Times New Roman"/>
              </a:rPr>
              <a:t> </a:t>
            </a:r>
            <a:r>
              <a:rPr dirty="0" baseline="-10802" sz="2700" spc="-217">
                <a:latin typeface="Times New Roman"/>
                <a:cs typeface="Times New Roman"/>
              </a:rPr>
              <a:t> </a:t>
            </a:r>
            <a:r>
              <a:rPr dirty="0" baseline="-27777" sz="4650" i="1">
                <a:latin typeface="Times New Roman"/>
                <a:cs typeface="Times New Roman"/>
              </a:rPr>
              <a:t>t</a:t>
            </a:r>
            <a:r>
              <a:rPr dirty="0" baseline="-27777" sz="4650" spc="330" i="1"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0000"/>
                </a:solidFill>
                <a:latin typeface="微软雅黑"/>
                <a:cs typeface="微软雅黑"/>
              </a:rPr>
              <a:t>线性关</a:t>
            </a:r>
            <a:r>
              <a:rPr dirty="0" sz="3200" spc="5" b="1">
                <a:solidFill>
                  <a:srgbClr val="FF0000"/>
                </a:solidFill>
                <a:latin typeface="微软雅黑"/>
                <a:cs typeface="微软雅黑"/>
              </a:rPr>
              <a:t>系</a:t>
            </a:r>
            <a:r>
              <a:rPr dirty="0" sz="3200" b="1">
                <a:solidFill>
                  <a:srgbClr val="FF0000"/>
                </a:solidFill>
                <a:latin typeface="微软雅黑"/>
                <a:cs typeface="微软雅黑"/>
              </a:rPr>
              <a:t>	</a:t>
            </a:r>
            <a:r>
              <a:rPr dirty="0" baseline="-28192" sz="5025" spc="-7" i="1">
                <a:latin typeface="Times New Roman"/>
                <a:cs typeface="Times New Roman"/>
              </a:rPr>
              <a:t>t</a:t>
            </a:r>
            <a:endParaRPr baseline="-28192" sz="502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93086" y="3684904"/>
            <a:ext cx="16516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微软雅黑"/>
                <a:cs typeface="微软雅黑"/>
              </a:rPr>
              <a:t>刻度均</a:t>
            </a:r>
            <a:r>
              <a:rPr dirty="0" sz="3200" spc="5" b="1">
                <a:solidFill>
                  <a:srgbClr val="FF0000"/>
                </a:solidFill>
                <a:latin typeface="微软雅黑"/>
                <a:cs typeface="微软雅黑"/>
              </a:rPr>
              <a:t>匀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10778" y="6110694"/>
            <a:ext cx="1583055" cy="0"/>
          </a:xfrm>
          <a:custGeom>
            <a:avLst/>
            <a:gdLst/>
            <a:ahLst/>
            <a:cxnLst/>
            <a:rect l="l" t="t" r="r" b="b"/>
            <a:pathLst>
              <a:path w="1583054" h="0">
                <a:moveTo>
                  <a:pt x="0" y="0"/>
                </a:moveTo>
                <a:lnTo>
                  <a:pt x="1582610" y="0"/>
                </a:lnTo>
              </a:path>
            </a:pathLst>
          </a:custGeom>
          <a:ln w="2463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22217" y="6110694"/>
            <a:ext cx="1415415" cy="0"/>
          </a:xfrm>
          <a:custGeom>
            <a:avLst/>
            <a:gdLst/>
            <a:ahLst/>
            <a:cxnLst/>
            <a:rect l="l" t="t" r="r" b="b"/>
            <a:pathLst>
              <a:path w="1415414" h="0">
                <a:moveTo>
                  <a:pt x="0" y="0"/>
                </a:moveTo>
                <a:lnTo>
                  <a:pt x="1415402" y="0"/>
                </a:lnTo>
              </a:path>
            </a:pathLst>
          </a:custGeom>
          <a:ln w="2463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21919" y="6110694"/>
            <a:ext cx="2200910" cy="0"/>
          </a:xfrm>
          <a:custGeom>
            <a:avLst/>
            <a:gdLst/>
            <a:ahLst/>
            <a:cxnLst/>
            <a:rect l="l" t="t" r="r" b="b"/>
            <a:pathLst>
              <a:path w="2200909" h="0">
                <a:moveTo>
                  <a:pt x="0" y="0"/>
                </a:moveTo>
                <a:lnTo>
                  <a:pt x="2200871" y="0"/>
                </a:lnTo>
              </a:path>
            </a:pathLst>
          </a:custGeom>
          <a:ln w="2463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412896" y="5726353"/>
            <a:ext cx="298450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900" spc="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39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40458" y="5412523"/>
            <a:ext cx="6873240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165350" algn="l"/>
                <a:tab pos="3412490" algn="l"/>
              </a:tabLst>
            </a:pPr>
            <a:r>
              <a:rPr dirty="0" sz="3900" spc="5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sz="3900" spc="-30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5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sz="3900" spc="-3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-105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baseline="-23456" sz="3375" spc="-157">
                <a:solidFill>
                  <a:srgbClr val="FF0000"/>
                </a:solidFill>
                <a:latin typeface="Times New Roman"/>
                <a:cs typeface="Times New Roman"/>
              </a:rPr>
              <a:t>0	</a:t>
            </a:r>
            <a:r>
              <a:rPr dirty="0" sz="390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3900" spc="-10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5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sz="3900" spc="-36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5">
                <a:solidFill>
                  <a:srgbClr val="FF0000"/>
                </a:solidFill>
                <a:latin typeface="Times New Roman"/>
                <a:cs typeface="Times New Roman"/>
              </a:rPr>
              <a:t>0	</a:t>
            </a:r>
            <a:r>
              <a:rPr dirty="0" baseline="-34900" sz="5850" spc="22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dirty="0" baseline="-34900" sz="5850" spc="-29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34900" sz="585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baseline="-34900" sz="5850" spc="16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-34900" sz="5850" spc="7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baseline="-34900" sz="5850" spc="-277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20">
                <a:solidFill>
                  <a:srgbClr val="FF0000"/>
                </a:solidFill>
                <a:latin typeface="Times New Roman"/>
                <a:cs typeface="Times New Roman"/>
              </a:rPr>
              <a:t>100(</a:t>
            </a:r>
            <a:r>
              <a:rPr dirty="0" sz="3900" spc="20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sz="3900" spc="-3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5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sz="3900" spc="-3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-105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baseline="-23456" sz="3375" spc="-157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baseline="-23456" sz="3375" spc="-17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5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86187" y="6115418"/>
            <a:ext cx="1447800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900" spc="5">
                <a:solidFill>
                  <a:srgbClr val="FF0000"/>
                </a:solidFill>
                <a:latin typeface="Times New Roman"/>
                <a:cs typeface="Times New Roman"/>
              </a:rPr>
              <a:t>100</a:t>
            </a:r>
            <a:r>
              <a:rPr dirty="0" sz="3900" spc="-409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5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sz="3900" spc="-4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900" spc="5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29181" y="6243802"/>
            <a:ext cx="6722745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70890" algn="l"/>
                <a:tab pos="5230495" algn="l"/>
                <a:tab pos="5988685" algn="l"/>
              </a:tabLst>
            </a:pPr>
            <a:r>
              <a:rPr dirty="0" baseline="14245" sz="5850" spc="-157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sz="2250" spc="-105">
                <a:solidFill>
                  <a:srgbClr val="FF0000"/>
                </a:solidFill>
                <a:latin typeface="Times New Roman"/>
                <a:cs typeface="Times New Roman"/>
              </a:rPr>
              <a:t>100	</a:t>
            </a:r>
            <a:r>
              <a:rPr dirty="0" baseline="14245" sz="5850" spc="7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baseline="14245" sz="5850" spc="-472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14245" sz="5850" spc="-157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sz="2250" spc="-105">
                <a:solidFill>
                  <a:srgbClr val="FF0000"/>
                </a:solidFill>
                <a:latin typeface="Times New Roman"/>
                <a:cs typeface="Times New Roman"/>
              </a:rPr>
              <a:t>0	</a:t>
            </a:r>
            <a:r>
              <a:rPr dirty="0" baseline="14245" sz="5850" spc="-157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sz="2250" spc="-105">
                <a:solidFill>
                  <a:srgbClr val="FF0000"/>
                </a:solidFill>
                <a:latin typeface="Times New Roman"/>
                <a:cs typeface="Times New Roman"/>
              </a:rPr>
              <a:t>100	</a:t>
            </a:r>
            <a:r>
              <a:rPr dirty="0" baseline="14245" sz="5850" spc="7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baseline="14245" sz="5850" spc="-6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aseline="14245" sz="5850" spc="-157" i="1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dirty="0" sz="2250" spc="-105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625351" y="6291262"/>
            <a:ext cx="566648" cy="566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872985"/>
            <a:ext cx="3335654" cy="147002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三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温度计与温标</a:t>
            </a:r>
            <a:endParaRPr sz="36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1515"/>
              </a:spcBef>
            </a:pPr>
            <a:r>
              <a:rPr dirty="0" sz="3200" spc="-5">
                <a:latin typeface="微软雅黑"/>
                <a:cs typeface="微软雅黑"/>
              </a:rPr>
              <a:t>2.</a:t>
            </a:r>
            <a:r>
              <a:rPr dirty="0" sz="3200">
                <a:latin typeface="微软雅黑"/>
                <a:cs typeface="微软雅黑"/>
              </a:rPr>
              <a:t>热力学温</a:t>
            </a:r>
            <a:r>
              <a:rPr dirty="0" sz="3200" spc="5">
                <a:latin typeface="微软雅黑"/>
                <a:cs typeface="微软雅黑"/>
              </a:rPr>
              <a:t>标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17864" y="1836420"/>
            <a:ext cx="3374135" cy="439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07475" y="581207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285275" y="581218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463075" y="581228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640875" y="5812389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818675" y="5812491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996475" y="581259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174275" y="581269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352075" y="581280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529875" y="581290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707675" y="581301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885475" y="581311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063275" y="581321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241075" y="5813316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418875" y="5800699"/>
            <a:ext cx="54610" cy="26034"/>
          </a:xfrm>
          <a:custGeom>
            <a:avLst/>
            <a:gdLst/>
            <a:ahLst/>
            <a:cxnLst/>
            <a:rect l="l" t="t" r="r" b="b"/>
            <a:pathLst>
              <a:path w="54609" h="26035">
                <a:moveTo>
                  <a:pt x="53975" y="25425"/>
                </a:moveTo>
                <a:lnTo>
                  <a:pt x="0" y="25400"/>
                </a:lnTo>
                <a:lnTo>
                  <a:pt x="25" y="0"/>
                </a:lnTo>
                <a:lnTo>
                  <a:pt x="54000" y="25"/>
                </a:lnTo>
                <a:lnTo>
                  <a:pt x="53975" y="254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839187" y="267814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016987" y="267824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194787" y="267834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372587" y="267845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550387" y="267855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728187" y="267866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905987" y="2678766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083787" y="267886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261587" y="2678969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439387" y="267907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617187" y="2679179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794987" y="267928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972787" y="267938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150587" y="267949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328387" y="267959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6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506187" y="2666974"/>
            <a:ext cx="54610" cy="26034"/>
          </a:xfrm>
          <a:custGeom>
            <a:avLst/>
            <a:gdLst/>
            <a:ahLst/>
            <a:cxnLst/>
            <a:rect l="l" t="t" r="r" b="b"/>
            <a:pathLst>
              <a:path w="54609" h="26035">
                <a:moveTo>
                  <a:pt x="53975" y="25425"/>
                </a:moveTo>
                <a:lnTo>
                  <a:pt x="0" y="25400"/>
                </a:lnTo>
                <a:lnTo>
                  <a:pt x="12" y="0"/>
                </a:lnTo>
                <a:lnTo>
                  <a:pt x="53987" y="25"/>
                </a:lnTo>
                <a:lnTo>
                  <a:pt x="53975" y="254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003540" y="1439227"/>
            <a:ext cx="1802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1F5F"/>
                </a:solidFill>
                <a:latin typeface="微软雅黑"/>
                <a:cs typeface="微软雅黑"/>
              </a:rPr>
              <a:t>热力学温</a:t>
            </a:r>
            <a:r>
              <a:rPr dirty="0" sz="2800" spc="-5" b="1">
                <a:solidFill>
                  <a:srgbClr val="001F5F"/>
                </a:solidFill>
                <a:latin typeface="微软雅黑"/>
                <a:cs typeface="微软雅黑"/>
              </a:rPr>
              <a:t>标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099675" y="1439227"/>
            <a:ext cx="1447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1F5F"/>
                </a:solidFill>
                <a:latin typeface="微软雅黑"/>
                <a:cs typeface="微软雅黑"/>
              </a:rPr>
              <a:t>摄氏温</a:t>
            </a:r>
            <a:r>
              <a:rPr dirty="0" sz="2800" spc="-5" b="1">
                <a:solidFill>
                  <a:srgbClr val="001F5F"/>
                </a:solidFill>
                <a:latin typeface="微软雅黑"/>
                <a:cs typeface="微软雅黑"/>
              </a:rPr>
              <a:t>标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64728" y="5828334"/>
            <a:ext cx="7359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1F5F"/>
                </a:solidFill>
                <a:latin typeface="微软雅黑"/>
                <a:cs typeface="微软雅黑"/>
              </a:rPr>
              <a:t>零</a:t>
            </a:r>
            <a:r>
              <a:rPr dirty="0" sz="2800" spc="-5" b="1">
                <a:solidFill>
                  <a:srgbClr val="001F5F"/>
                </a:solidFill>
                <a:latin typeface="微软雅黑"/>
                <a:cs typeface="微软雅黑"/>
              </a:rPr>
              <a:t>度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117" y="5512434"/>
            <a:ext cx="50203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810" algn="l"/>
              </a:tabLst>
            </a:pPr>
            <a:r>
              <a:rPr dirty="0" sz="2800" spc="-5">
                <a:latin typeface="微软雅黑"/>
                <a:cs typeface="微软雅黑"/>
              </a:rPr>
              <a:t>*</a:t>
            </a:r>
            <a:r>
              <a:rPr dirty="0" sz="2800" spc="-5">
                <a:latin typeface="微软雅黑"/>
                <a:cs typeface="微软雅黑"/>
              </a:rPr>
              <a:t>	</a:t>
            </a:r>
            <a:r>
              <a:rPr dirty="0" sz="2800">
                <a:latin typeface="微软雅黑"/>
                <a:cs typeface="微软雅黑"/>
              </a:rPr>
              <a:t>热力学温度与测温物质无关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485140" indent="632460">
              <a:lnSpc>
                <a:spcPct val="100000"/>
              </a:lnSpc>
              <a:spcBef>
                <a:spcPts val="95"/>
              </a:spcBef>
            </a:pPr>
            <a:r>
              <a:rPr dirty="0" spc="40"/>
              <a:t>以热力学温</a:t>
            </a:r>
            <a:r>
              <a:rPr dirty="0" spc="45"/>
              <a:t>标表示的温度叫做热力学温度，</a:t>
            </a:r>
            <a:r>
              <a:rPr dirty="0" spc="-5"/>
              <a:t>它 </a:t>
            </a:r>
            <a:r>
              <a:rPr dirty="0"/>
              <a:t>是国际单位制中的基本物理量之一，符号为</a:t>
            </a:r>
            <a:r>
              <a:rPr dirty="0" spc="-5" i="1">
                <a:latin typeface="Times New Roman"/>
                <a:cs typeface="Times New Roman"/>
              </a:rPr>
              <a:t>T</a:t>
            </a:r>
            <a:r>
              <a:rPr dirty="0" spc="-5"/>
              <a:t>。</a:t>
            </a:r>
          </a:p>
          <a:p>
            <a:pPr marL="807085" indent="-372745">
              <a:lnSpc>
                <a:spcPct val="100000"/>
              </a:lnSpc>
              <a:spcBef>
                <a:spcPts val="1200"/>
              </a:spcBef>
              <a:buChar char="*"/>
              <a:tabLst>
                <a:tab pos="806450" algn="l"/>
                <a:tab pos="807085" algn="l"/>
              </a:tabLst>
            </a:pPr>
            <a:r>
              <a:rPr dirty="0"/>
              <a:t>单位是开尔文，符号为</a:t>
            </a:r>
            <a:r>
              <a:rPr dirty="0" spc="-5">
                <a:latin typeface="Times New Roman"/>
                <a:cs typeface="Times New Roman"/>
              </a:rPr>
              <a:t>K</a:t>
            </a:r>
            <a:r>
              <a:rPr dirty="0" spc="-5"/>
              <a:t>；</a:t>
            </a:r>
          </a:p>
          <a:p>
            <a:pPr marL="807085" indent="-372745">
              <a:lnSpc>
                <a:spcPts val="3295"/>
              </a:lnSpc>
              <a:spcBef>
                <a:spcPts val="1200"/>
              </a:spcBef>
              <a:buChar char="*"/>
              <a:tabLst>
                <a:tab pos="806450" algn="l"/>
                <a:tab pos="807085" algn="l"/>
              </a:tabLst>
            </a:pPr>
            <a:r>
              <a:rPr dirty="0"/>
              <a:t>热力学温度与摄氏温度的关系（</a:t>
            </a:r>
            <a:r>
              <a:rPr dirty="0" u="heavy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</a:rPr>
              <a:t>绝对零度</a:t>
            </a:r>
            <a:r>
              <a:rPr dirty="0" spc="-5"/>
              <a:t>）</a:t>
            </a:r>
          </a:p>
          <a:p>
            <a:pPr marL="1849755">
              <a:lnSpc>
                <a:spcPts val="4095"/>
              </a:lnSpc>
            </a:pPr>
            <a:r>
              <a:rPr dirty="0" sz="3650" spc="40" i="1">
                <a:latin typeface="Times New Roman"/>
                <a:cs typeface="Times New Roman"/>
              </a:rPr>
              <a:t>T </a:t>
            </a:r>
            <a:r>
              <a:rPr dirty="0" sz="3650" spc="40">
                <a:latin typeface="Symbol"/>
                <a:cs typeface="Symbol"/>
              </a:rPr>
              <a:t></a:t>
            </a:r>
            <a:r>
              <a:rPr dirty="0" sz="3650" spc="40">
                <a:latin typeface="Times New Roman"/>
                <a:cs typeface="Times New Roman"/>
              </a:rPr>
              <a:t> </a:t>
            </a:r>
            <a:r>
              <a:rPr dirty="0" sz="3650" spc="20" i="1">
                <a:latin typeface="Times New Roman"/>
                <a:cs typeface="Times New Roman"/>
              </a:rPr>
              <a:t>t </a:t>
            </a:r>
            <a:r>
              <a:rPr dirty="0" sz="3650" spc="40">
                <a:latin typeface="Symbol"/>
                <a:cs typeface="Symbol"/>
              </a:rPr>
              <a:t></a:t>
            </a:r>
            <a:r>
              <a:rPr dirty="0" sz="3650" spc="-254">
                <a:latin typeface="Times New Roman"/>
                <a:cs typeface="Times New Roman"/>
              </a:rPr>
              <a:t> </a:t>
            </a:r>
            <a:r>
              <a:rPr dirty="0" sz="3650" spc="35">
                <a:latin typeface="Times New Roman"/>
                <a:cs typeface="Times New Roman"/>
              </a:rPr>
              <a:t>273.15K</a:t>
            </a:r>
            <a:endParaRPr sz="3650">
              <a:latin typeface="Times New Roman"/>
              <a:cs typeface="Times New Roman"/>
            </a:endParaRPr>
          </a:p>
          <a:p>
            <a:pPr marL="807085" indent="-372745">
              <a:lnSpc>
                <a:spcPts val="3825"/>
              </a:lnSpc>
              <a:buChar char="*"/>
              <a:tabLst>
                <a:tab pos="806450" algn="l"/>
                <a:tab pos="807085" algn="l"/>
              </a:tabLst>
            </a:pPr>
            <a:r>
              <a:rPr dirty="0"/>
              <a:t>两种温标的温度间隔相同，</a:t>
            </a:r>
            <a:r>
              <a:rPr dirty="0" spc="434"/>
              <a:t>即</a:t>
            </a:r>
            <a:r>
              <a:rPr dirty="0" baseline="3129" sz="5325">
                <a:latin typeface="Symbol"/>
                <a:cs typeface="Symbol"/>
              </a:rPr>
              <a:t></a:t>
            </a:r>
            <a:r>
              <a:rPr dirty="0" baseline="3129" sz="5325" i="1">
                <a:latin typeface="Times New Roman"/>
                <a:cs typeface="Times New Roman"/>
              </a:rPr>
              <a:t>T</a:t>
            </a:r>
            <a:r>
              <a:rPr dirty="0" baseline="3129" sz="5325" spc="532" i="1">
                <a:latin typeface="Times New Roman"/>
                <a:cs typeface="Times New Roman"/>
              </a:rPr>
              <a:t> </a:t>
            </a:r>
            <a:r>
              <a:rPr dirty="0" baseline="3129" sz="5325" spc="15">
                <a:latin typeface="Symbol"/>
                <a:cs typeface="Symbol"/>
              </a:rPr>
              <a:t></a:t>
            </a:r>
            <a:r>
              <a:rPr dirty="0" baseline="3129" sz="5325" spc="-97">
                <a:latin typeface="Times New Roman"/>
                <a:cs typeface="Times New Roman"/>
              </a:rPr>
              <a:t> </a:t>
            </a:r>
            <a:r>
              <a:rPr dirty="0" baseline="3129" sz="5325" spc="-7">
                <a:latin typeface="Symbol"/>
                <a:cs typeface="Symbol"/>
              </a:rPr>
              <a:t></a:t>
            </a:r>
            <a:r>
              <a:rPr dirty="0" baseline="3129" sz="5325" spc="-7" i="1">
                <a:latin typeface="Times New Roman"/>
                <a:cs typeface="Times New Roman"/>
              </a:rPr>
              <a:t>t</a:t>
            </a:r>
            <a:endParaRPr baseline="3129" sz="5325">
              <a:latin typeface="Times New Roman"/>
              <a:cs typeface="Times New Roman"/>
            </a:endParaRPr>
          </a:p>
          <a:p>
            <a:pPr algn="r" marR="5080">
              <a:lnSpc>
                <a:spcPts val="3150"/>
              </a:lnSpc>
            </a:pPr>
            <a:r>
              <a:rPr dirty="0" b="1">
                <a:solidFill>
                  <a:srgbClr val="001F5F"/>
                </a:solidFill>
                <a:latin typeface="微软雅黑"/>
                <a:cs typeface="微软雅黑"/>
              </a:rPr>
              <a:t>绝</a:t>
            </a:r>
            <a:r>
              <a:rPr dirty="0" spc="-5" b="1">
                <a:solidFill>
                  <a:srgbClr val="001F5F"/>
                </a:solidFill>
                <a:latin typeface="微软雅黑"/>
                <a:cs typeface="微软雅黑"/>
              </a:rPr>
              <a:t>对</a:t>
            </a:r>
          </a:p>
        </p:txBody>
      </p:sp>
      <p:sp>
        <p:nvSpPr>
          <p:cNvPr id="40" name="object 40"/>
          <p:cNvSpPr/>
          <p:nvPr/>
        </p:nvSpPr>
        <p:spPr>
          <a:xfrm>
            <a:off x="11625351" y="6291262"/>
            <a:ext cx="566648" cy="566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252" y="941069"/>
            <a:ext cx="10837545" cy="197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1640">
              <a:lnSpc>
                <a:spcPct val="128800"/>
              </a:lnSpc>
              <a:spcBef>
                <a:spcPts val="100"/>
              </a:spcBef>
            </a:pPr>
            <a:r>
              <a:rPr dirty="0" sz="2400" spc="15">
                <a:latin typeface="微软雅黑"/>
                <a:cs typeface="微软雅黑"/>
              </a:rPr>
              <a:t>例题</a:t>
            </a:r>
            <a:r>
              <a:rPr dirty="0" sz="2400">
                <a:latin typeface="微软雅黑"/>
                <a:cs typeface="微软雅黑"/>
              </a:rPr>
              <a:t>.</a:t>
            </a:r>
            <a:r>
              <a:rPr dirty="0" sz="2400" spc="-70">
                <a:latin typeface="微软雅黑"/>
                <a:cs typeface="微软雅黑"/>
              </a:rPr>
              <a:t> </a:t>
            </a:r>
            <a:r>
              <a:rPr dirty="0" sz="2400" spc="15">
                <a:latin typeface="微软雅黑"/>
                <a:cs typeface="微软雅黑"/>
              </a:rPr>
              <a:t>已知某物</a:t>
            </a:r>
            <a:r>
              <a:rPr dirty="0" sz="2400" spc="20">
                <a:latin typeface="微软雅黑"/>
                <a:cs typeface="微软雅黑"/>
              </a:rPr>
              <a:t>理量</a:t>
            </a:r>
            <a:r>
              <a:rPr dirty="0" sz="2400" spc="15" b="1" i="1">
                <a:solidFill>
                  <a:srgbClr val="001F5F"/>
                </a:solidFill>
                <a:latin typeface="Times New Roman"/>
                <a:cs typeface="Times New Roman"/>
              </a:rPr>
              <a:t>X</a:t>
            </a:r>
            <a:r>
              <a:rPr dirty="0" sz="2400" spc="20">
                <a:latin typeface="微软雅黑"/>
                <a:cs typeface="微软雅黑"/>
              </a:rPr>
              <a:t>与热力学温度</a:t>
            </a:r>
            <a:r>
              <a:rPr dirty="0" sz="2400" spc="15" b="1" i="1">
                <a:solidFill>
                  <a:srgbClr val="001F5F"/>
                </a:solidFill>
                <a:latin typeface="Times New Roman"/>
                <a:cs typeface="Times New Roman"/>
              </a:rPr>
              <a:t>T</a:t>
            </a:r>
            <a:r>
              <a:rPr dirty="0" sz="2400" spc="20">
                <a:latin typeface="微软雅黑"/>
                <a:cs typeface="微软雅黑"/>
              </a:rPr>
              <a:t>成正比，请把这个关系式用等式写出来</a:t>
            </a:r>
            <a:r>
              <a:rPr dirty="0" sz="2400">
                <a:latin typeface="微软雅黑"/>
                <a:cs typeface="微软雅黑"/>
              </a:rPr>
              <a:t>。 若用摄氏温度</a:t>
            </a:r>
            <a:r>
              <a:rPr dirty="0" sz="2400" spc="-5" b="1" i="1">
                <a:solidFill>
                  <a:srgbClr val="001F5F"/>
                </a:solidFill>
                <a:latin typeface="Times New Roman"/>
                <a:cs typeface="Times New Roman"/>
              </a:rPr>
              <a:t>t</a:t>
            </a:r>
            <a:r>
              <a:rPr dirty="0" sz="2400">
                <a:latin typeface="微软雅黑"/>
                <a:cs typeface="微软雅黑"/>
              </a:rPr>
              <a:t>来表示温度，这个关系式又该怎么写？</a:t>
            </a:r>
            <a:endParaRPr sz="2400">
              <a:latin typeface="微软雅黑"/>
              <a:cs typeface="微软雅黑"/>
            </a:endParaRPr>
          </a:p>
          <a:p>
            <a:pPr marL="342900">
              <a:lnSpc>
                <a:spcPct val="100000"/>
              </a:lnSpc>
              <a:spcBef>
                <a:spcPts val="1195"/>
              </a:spcBef>
              <a:tabLst>
                <a:tab pos="4137025" algn="l"/>
              </a:tabLst>
            </a:pPr>
            <a:r>
              <a:rPr dirty="0" sz="2400">
                <a:latin typeface="微软雅黑"/>
                <a:cs typeface="微软雅黑"/>
              </a:rPr>
              <a:t>分析：用热力学温度表示</a:t>
            </a:r>
            <a:r>
              <a:rPr dirty="0" sz="2400" spc="140">
                <a:latin typeface="微软雅黑"/>
                <a:cs typeface="微软雅黑"/>
              </a:rPr>
              <a:t> </a:t>
            </a:r>
            <a:r>
              <a:rPr dirty="0" baseline="8547" sz="3900" spc="7" i="1">
                <a:latin typeface="Times New Roman"/>
                <a:cs typeface="Times New Roman"/>
              </a:rPr>
              <a:t>X	</a:t>
            </a:r>
            <a:r>
              <a:rPr dirty="0" baseline="8547" sz="3900" spc="7">
                <a:latin typeface="Symbol"/>
                <a:cs typeface="Symbol"/>
              </a:rPr>
              <a:t></a:t>
            </a:r>
            <a:r>
              <a:rPr dirty="0" baseline="8547" sz="3900" spc="-89">
                <a:latin typeface="Times New Roman"/>
                <a:cs typeface="Times New Roman"/>
              </a:rPr>
              <a:t> </a:t>
            </a:r>
            <a:r>
              <a:rPr dirty="0" baseline="8547" sz="3900" spc="-7" i="1">
                <a:latin typeface="Times New Roman"/>
                <a:cs typeface="Times New Roman"/>
              </a:rPr>
              <a:t>kT</a:t>
            </a:r>
            <a:endParaRPr baseline="8547" sz="3900">
              <a:latin typeface="Times New Roman"/>
              <a:cs typeface="Times New Roman"/>
            </a:endParaRPr>
          </a:p>
          <a:p>
            <a:pPr marL="1244600">
              <a:lnSpc>
                <a:spcPct val="100000"/>
              </a:lnSpc>
              <a:spcBef>
                <a:spcPts val="480"/>
              </a:spcBef>
              <a:tabLst>
                <a:tab pos="4137025" algn="l"/>
              </a:tabLst>
            </a:pPr>
            <a:r>
              <a:rPr dirty="0" sz="2400">
                <a:latin typeface="微软雅黑"/>
                <a:cs typeface="微软雅黑"/>
              </a:rPr>
              <a:t>若用摄氏温度表示</a:t>
            </a:r>
            <a:r>
              <a:rPr dirty="0" sz="2400" spc="240">
                <a:latin typeface="微软雅黑"/>
                <a:cs typeface="微软雅黑"/>
              </a:rPr>
              <a:t> </a:t>
            </a:r>
            <a:r>
              <a:rPr dirty="0" baseline="2136" sz="3900" spc="7" i="1">
                <a:latin typeface="Times New Roman"/>
                <a:cs typeface="Times New Roman"/>
              </a:rPr>
              <a:t>X	</a:t>
            </a:r>
            <a:r>
              <a:rPr dirty="0" baseline="2136" sz="3900" spc="7">
                <a:latin typeface="Symbol"/>
                <a:cs typeface="Symbol"/>
              </a:rPr>
              <a:t></a:t>
            </a:r>
            <a:r>
              <a:rPr dirty="0" baseline="2136" sz="3900" spc="-89">
                <a:latin typeface="Times New Roman"/>
                <a:cs typeface="Times New Roman"/>
              </a:rPr>
              <a:t> </a:t>
            </a:r>
            <a:r>
              <a:rPr dirty="0" baseline="2136" sz="3900" spc="7" i="1">
                <a:latin typeface="Times New Roman"/>
                <a:cs typeface="Times New Roman"/>
              </a:rPr>
              <a:t>k</a:t>
            </a:r>
            <a:r>
              <a:rPr dirty="0" baseline="2136" sz="3900" spc="-592" i="1">
                <a:latin typeface="Times New Roman"/>
                <a:cs typeface="Times New Roman"/>
              </a:rPr>
              <a:t> </a:t>
            </a:r>
            <a:r>
              <a:rPr dirty="0" baseline="2136" sz="3900" spc="-30">
                <a:latin typeface="Times New Roman"/>
                <a:cs typeface="Times New Roman"/>
              </a:rPr>
              <a:t>(</a:t>
            </a:r>
            <a:r>
              <a:rPr dirty="0" baseline="2136" sz="3900" spc="-30" i="1">
                <a:latin typeface="Times New Roman"/>
                <a:cs typeface="Times New Roman"/>
              </a:rPr>
              <a:t>t</a:t>
            </a:r>
            <a:r>
              <a:rPr dirty="0" baseline="2136" sz="3900" spc="-89" i="1">
                <a:latin typeface="Times New Roman"/>
                <a:cs typeface="Times New Roman"/>
              </a:rPr>
              <a:t> </a:t>
            </a:r>
            <a:r>
              <a:rPr dirty="0" baseline="2136" sz="3900" spc="7">
                <a:latin typeface="Symbol"/>
                <a:cs typeface="Symbol"/>
              </a:rPr>
              <a:t></a:t>
            </a:r>
            <a:r>
              <a:rPr dirty="0" baseline="2136" sz="3900" spc="-232">
                <a:latin typeface="Times New Roman"/>
                <a:cs typeface="Times New Roman"/>
              </a:rPr>
              <a:t> </a:t>
            </a:r>
            <a:r>
              <a:rPr dirty="0" baseline="2136" sz="3900" spc="-7">
                <a:latin typeface="Times New Roman"/>
                <a:cs typeface="Times New Roman"/>
              </a:rPr>
              <a:t>273.15)</a:t>
            </a:r>
            <a:endParaRPr baseline="2136" sz="3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49436" y="5595480"/>
            <a:ext cx="208915" cy="0"/>
          </a:xfrm>
          <a:custGeom>
            <a:avLst/>
            <a:gdLst/>
            <a:ahLst/>
            <a:cxnLst/>
            <a:rect l="l" t="t" r="r" b="b"/>
            <a:pathLst>
              <a:path w="208914" h="0">
                <a:moveTo>
                  <a:pt x="0" y="0"/>
                </a:moveTo>
                <a:lnTo>
                  <a:pt x="208305" y="0"/>
                </a:lnTo>
              </a:path>
            </a:pathLst>
          </a:custGeom>
          <a:ln w="164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72179" y="5595480"/>
            <a:ext cx="208915" cy="0"/>
          </a:xfrm>
          <a:custGeom>
            <a:avLst/>
            <a:gdLst/>
            <a:ahLst/>
            <a:cxnLst/>
            <a:rect l="l" t="t" r="r" b="b"/>
            <a:pathLst>
              <a:path w="208914" h="0">
                <a:moveTo>
                  <a:pt x="0" y="0"/>
                </a:moveTo>
                <a:lnTo>
                  <a:pt x="208305" y="0"/>
                </a:lnTo>
              </a:path>
            </a:pathLst>
          </a:custGeom>
          <a:ln w="164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71587" y="5335346"/>
            <a:ext cx="4069079" cy="6838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585"/>
              </a:lnSpc>
              <a:spcBef>
                <a:spcPts val="110"/>
              </a:spcBef>
            </a:pPr>
            <a:r>
              <a:rPr dirty="0" baseline="-13888" sz="3600">
                <a:latin typeface="微软雅黑"/>
                <a:cs typeface="微软雅黑"/>
              </a:rPr>
              <a:t>则</a:t>
            </a:r>
            <a:r>
              <a:rPr dirty="0" baseline="-13888" sz="3600" spc="7">
                <a:latin typeface="微软雅黑"/>
                <a:cs typeface="微软雅黑"/>
              </a:rPr>
              <a:t> </a:t>
            </a:r>
            <a:r>
              <a:rPr dirty="0" sz="2600" spc="5" i="1">
                <a:latin typeface="Times New Roman"/>
                <a:cs typeface="Times New Roman"/>
              </a:rPr>
              <a:t>T</a:t>
            </a:r>
            <a:r>
              <a:rPr dirty="0" sz="2600" spc="265" i="1">
                <a:latin typeface="Times New Roman"/>
                <a:cs typeface="Times New Roman"/>
              </a:rPr>
              <a:t> </a:t>
            </a:r>
            <a:r>
              <a:rPr dirty="0" sz="2600" spc="5">
                <a:latin typeface="Symbol"/>
                <a:cs typeface="Symbol"/>
              </a:rPr>
              <a:t></a:t>
            </a:r>
            <a:r>
              <a:rPr dirty="0" sz="2600" spc="160">
                <a:latin typeface="Times New Roman"/>
                <a:cs typeface="Times New Roman"/>
              </a:rPr>
              <a:t> </a:t>
            </a:r>
            <a:r>
              <a:rPr dirty="0" baseline="35256" sz="3900" spc="7">
                <a:latin typeface="Times New Roman"/>
                <a:cs typeface="Times New Roman"/>
              </a:rPr>
              <a:t>1</a:t>
            </a:r>
            <a:r>
              <a:rPr dirty="0" baseline="35256" sz="3900" spc="195">
                <a:latin typeface="Times New Roman"/>
                <a:cs typeface="Times New Roman"/>
              </a:rPr>
              <a:t> </a:t>
            </a:r>
            <a:r>
              <a:rPr dirty="0" sz="2600" spc="5" i="1">
                <a:latin typeface="Times New Roman"/>
                <a:cs typeface="Times New Roman"/>
              </a:rPr>
              <a:t>X</a:t>
            </a:r>
            <a:r>
              <a:rPr dirty="0" sz="2600" spc="-290" i="1">
                <a:latin typeface="Times New Roman"/>
                <a:cs typeface="Times New Roman"/>
              </a:rPr>
              <a:t> </a:t>
            </a:r>
            <a:r>
              <a:rPr dirty="0" sz="2600" spc="-35">
                <a:latin typeface="宋体"/>
                <a:cs typeface="宋体"/>
              </a:rPr>
              <a:t>或</a:t>
            </a:r>
            <a:r>
              <a:rPr dirty="0" sz="2600" i="1">
                <a:latin typeface="Times New Roman"/>
                <a:cs typeface="Times New Roman"/>
              </a:rPr>
              <a:t>t</a:t>
            </a:r>
            <a:r>
              <a:rPr dirty="0" sz="2600" spc="100" i="1">
                <a:latin typeface="Times New Roman"/>
                <a:cs typeface="Times New Roman"/>
              </a:rPr>
              <a:t> </a:t>
            </a:r>
            <a:r>
              <a:rPr dirty="0" sz="2600" spc="5">
                <a:latin typeface="Symbol"/>
                <a:cs typeface="Symbol"/>
              </a:rPr>
              <a:t></a:t>
            </a:r>
            <a:r>
              <a:rPr dirty="0" sz="2600" spc="160">
                <a:latin typeface="Times New Roman"/>
                <a:cs typeface="Times New Roman"/>
              </a:rPr>
              <a:t> </a:t>
            </a:r>
            <a:r>
              <a:rPr dirty="0" baseline="35256" sz="3900" spc="7">
                <a:latin typeface="Times New Roman"/>
                <a:cs typeface="Times New Roman"/>
              </a:rPr>
              <a:t>1</a:t>
            </a:r>
            <a:r>
              <a:rPr dirty="0" baseline="35256" sz="3900" spc="195">
                <a:latin typeface="Times New Roman"/>
                <a:cs typeface="Times New Roman"/>
              </a:rPr>
              <a:t> </a:t>
            </a:r>
            <a:r>
              <a:rPr dirty="0" sz="2600" spc="5" i="1">
                <a:latin typeface="Times New Roman"/>
                <a:cs typeface="Times New Roman"/>
              </a:rPr>
              <a:t>X</a:t>
            </a:r>
            <a:r>
              <a:rPr dirty="0" sz="2600" spc="200" i="1">
                <a:latin typeface="Times New Roman"/>
                <a:cs typeface="Times New Roman"/>
              </a:rPr>
              <a:t> </a:t>
            </a:r>
            <a:r>
              <a:rPr dirty="0" sz="2600" spc="5">
                <a:latin typeface="Symbol"/>
                <a:cs typeface="Symbol"/>
              </a:rPr>
              <a:t></a:t>
            </a:r>
            <a:r>
              <a:rPr dirty="0" sz="2600" spc="-120">
                <a:latin typeface="Times New Roman"/>
                <a:cs typeface="Times New Roman"/>
              </a:rPr>
              <a:t> </a:t>
            </a:r>
            <a:r>
              <a:rPr dirty="0" sz="2600" spc="5">
                <a:latin typeface="Times New Roman"/>
                <a:cs typeface="Times New Roman"/>
              </a:rPr>
              <a:t>273.15</a:t>
            </a:r>
            <a:endParaRPr sz="2600">
              <a:latin typeface="Times New Roman"/>
              <a:cs typeface="Times New Roman"/>
            </a:endParaRPr>
          </a:p>
          <a:p>
            <a:pPr marL="998219">
              <a:lnSpc>
                <a:spcPts val="2585"/>
              </a:lnSpc>
              <a:tabLst>
                <a:tab pos="2314575" algn="l"/>
              </a:tabLst>
            </a:pPr>
            <a:r>
              <a:rPr dirty="0" sz="2600" spc="5" i="1">
                <a:latin typeface="Times New Roman"/>
                <a:cs typeface="Times New Roman"/>
              </a:rPr>
              <a:t>k	k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305" y="3111182"/>
            <a:ext cx="7623809" cy="2131060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2400">
                <a:latin typeface="微软雅黑"/>
                <a:cs typeface="微软雅黑"/>
              </a:rPr>
              <a:t>发散：利用等压变化、等容变化设计气体温度计。</a:t>
            </a:r>
            <a:endParaRPr sz="2400">
              <a:latin typeface="微软雅黑"/>
              <a:cs typeface="微软雅黑"/>
            </a:endParaRPr>
          </a:p>
          <a:p>
            <a:pPr marL="325755" indent="-228600">
              <a:lnSpc>
                <a:spcPct val="100000"/>
              </a:lnSpc>
              <a:spcBef>
                <a:spcPts val="1430"/>
              </a:spcBef>
              <a:buChar char="*"/>
              <a:tabLst>
                <a:tab pos="326390" algn="l"/>
              </a:tabLst>
            </a:pPr>
            <a:r>
              <a:rPr dirty="0" sz="2400">
                <a:latin typeface="微软雅黑"/>
                <a:cs typeface="微软雅黑"/>
              </a:rPr>
              <a:t>测温物质：气体</a:t>
            </a:r>
            <a:endParaRPr sz="2400">
              <a:latin typeface="微软雅黑"/>
              <a:cs typeface="微软雅黑"/>
            </a:endParaRPr>
          </a:p>
          <a:p>
            <a:pPr marL="325755" indent="-228600">
              <a:lnSpc>
                <a:spcPct val="100000"/>
              </a:lnSpc>
              <a:spcBef>
                <a:spcPts val="320"/>
              </a:spcBef>
              <a:buChar char="*"/>
              <a:tabLst>
                <a:tab pos="326390" algn="l"/>
                <a:tab pos="4357370" algn="l"/>
                <a:tab pos="6109335" algn="l"/>
              </a:tabLst>
            </a:pPr>
            <a:r>
              <a:rPr dirty="0" sz="2400">
                <a:latin typeface="微软雅黑"/>
                <a:cs typeface="微软雅黑"/>
              </a:rPr>
              <a:t>测温属性</a:t>
            </a:r>
            <a:r>
              <a:rPr dirty="0" sz="2400" spc="-5">
                <a:latin typeface="微软雅黑"/>
                <a:cs typeface="微软雅黑"/>
              </a:rPr>
              <a:t>：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dirty="0" sz="2400">
                <a:latin typeface="微软雅黑"/>
                <a:cs typeface="微软雅黑"/>
              </a:rPr>
              <a:t>随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400">
                <a:latin typeface="微软雅黑"/>
                <a:cs typeface="微软雅黑"/>
              </a:rPr>
              <a:t>均匀变化</a:t>
            </a:r>
            <a:r>
              <a:rPr dirty="0" sz="2400" spc="-260">
                <a:latin typeface="微软雅黑"/>
                <a:cs typeface="微软雅黑"/>
              </a:rPr>
              <a:t>，</a:t>
            </a:r>
            <a:r>
              <a:rPr dirty="0" baseline="1984" sz="4200" spc="-390" i="1">
                <a:latin typeface="Times New Roman"/>
                <a:cs typeface="Times New Roman"/>
              </a:rPr>
              <a:t>X	</a:t>
            </a:r>
            <a:r>
              <a:rPr dirty="0" baseline="1984" sz="4200">
                <a:latin typeface="Symbol"/>
                <a:cs typeface="Symbol"/>
              </a:rPr>
              <a:t></a:t>
            </a:r>
            <a:r>
              <a:rPr dirty="0" baseline="1984" sz="4200">
                <a:latin typeface="Times New Roman"/>
                <a:cs typeface="Times New Roman"/>
              </a:rPr>
              <a:t> </a:t>
            </a:r>
            <a:r>
              <a:rPr dirty="0" baseline="1984" sz="4200" spc="-15" i="1">
                <a:latin typeface="Times New Roman"/>
                <a:cs typeface="Times New Roman"/>
              </a:rPr>
              <a:t>kT</a:t>
            </a:r>
            <a:r>
              <a:rPr dirty="0" baseline="1984" sz="4200" spc="217" i="1">
                <a:latin typeface="Times New Roman"/>
                <a:cs typeface="Times New Roman"/>
              </a:rPr>
              <a:t> </a:t>
            </a:r>
            <a:r>
              <a:rPr dirty="0" baseline="1984" sz="4200">
                <a:latin typeface="Symbol"/>
                <a:cs typeface="Symbol"/>
              </a:rPr>
              <a:t></a:t>
            </a:r>
            <a:r>
              <a:rPr dirty="0" baseline="1984" sz="4200" spc="-67">
                <a:latin typeface="Times New Roman"/>
                <a:cs typeface="Times New Roman"/>
              </a:rPr>
              <a:t> </a:t>
            </a:r>
            <a:r>
              <a:rPr dirty="0" baseline="1984" sz="4200" spc="-7">
                <a:latin typeface="Symbol"/>
                <a:cs typeface="Symbol"/>
              </a:rPr>
              <a:t></a:t>
            </a:r>
            <a:r>
              <a:rPr dirty="0" baseline="1984" sz="4200" spc="-7" i="1">
                <a:latin typeface="Times New Roman"/>
                <a:cs typeface="Times New Roman"/>
              </a:rPr>
              <a:t>X	</a:t>
            </a:r>
            <a:r>
              <a:rPr dirty="0" baseline="1984" sz="4200">
                <a:latin typeface="Symbol"/>
                <a:cs typeface="Symbol"/>
              </a:rPr>
              <a:t></a:t>
            </a:r>
            <a:r>
              <a:rPr dirty="0" baseline="1984" sz="4200" spc="-82">
                <a:latin typeface="Times New Roman"/>
                <a:cs typeface="Times New Roman"/>
              </a:rPr>
              <a:t> </a:t>
            </a:r>
            <a:r>
              <a:rPr dirty="0" baseline="1984" sz="4200" spc="97" i="1">
                <a:latin typeface="Times New Roman"/>
                <a:cs typeface="Times New Roman"/>
              </a:rPr>
              <a:t>k</a:t>
            </a:r>
            <a:r>
              <a:rPr dirty="0" baseline="1984" sz="4200" spc="97">
                <a:latin typeface="Symbol"/>
                <a:cs typeface="Symbol"/>
              </a:rPr>
              <a:t></a:t>
            </a:r>
            <a:r>
              <a:rPr dirty="0" baseline="1984" sz="4200" spc="97" i="1">
                <a:latin typeface="Times New Roman"/>
                <a:cs typeface="Times New Roman"/>
              </a:rPr>
              <a:t>T</a:t>
            </a:r>
            <a:endParaRPr baseline="1984" sz="4200">
              <a:latin typeface="Times New Roman"/>
              <a:cs typeface="Times New Roman"/>
            </a:endParaRPr>
          </a:p>
          <a:p>
            <a:pPr marL="325755" indent="-228600">
              <a:lnSpc>
                <a:spcPct val="100000"/>
              </a:lnSpc>
              <a:spcBef>
                <a:spcPts val="490"/>
              </a:spcBef>
              <a:buChar char="*"/>
              <a:tabLst>
                <a:tab pos="326390" algn="l"/>
                <a:tab pos="7129145" algn="l"/>
              </a:tabLst>
            </a:pPr>
            <a:r>
              <a:rPr dirty="0" sz="2400">
                <a:latin typeface="微软雅黑"/>
                <a:cs typeface="微软雅黑"/>
              </a:rPr>
              <a:t>固定标准点</a:t>
            </a:r>
            <a:r>
              <a:rPr dirty="0" sz="2400" spc="-5">
                <a:latin typeface="微软雅黑"/>
                <a:cs typeface="微软雅黑"/>
              </a:rPr>
              <a:t>：(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baseline="-17921" sz="2325" spc="-7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sz="2400" spc="-5">
                <a:latin typeface="微软雅黑"/>
                <a:cs typeface="微软雅黑"/>
              </a:rPr>
              <a:t>,</a:t>
            </a:r>
            <a:r>
              <a:rPr dirty="0" sz="2400" spc="-110">
                <a:latin typeface="微软雅黑"/>
                <a:cs typeface="微软雅黑"/>
              </a:rPr>
              <a:t> 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dirty="0" baseline="-17921" sz="2325" spc="-7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sz="2400" spc="-5">
                <a:latin typeface="微软雅黑"/>
                <a:cs typeface="微软雅黑"/>
              </a:rPr>
              <a:t>)，</a:t>
            </a:r>
            <a:r>
              <a:rPr dirty="0" sz="2400">
                <a:latin typeface="微软雅黑"/>
                <a:cs typeface="微软雅黑"/>
              </a:rPr>
              <a:t>确定比例系数</a:t>
            </a:r>
            <a:r>
              <a:rPr dirty="0" sz="2400" spc="160">
                <a:latin typeface="微软雅黑"/>
                <a:cs typeface="微软雅黑"/>
              </a:rPr>
              <a:t> </a:t>
            </a:r>
            <a:r>
              <a:rPr dirty="0" baseline="-2645" sz="4725" spc="22" i="1">
                <a:latin typeface="Times New Roman"/>
                <a:cs typeface="Times New Roman"/>
              </a:rPr>
              <a:t>k</a:t>
            </a:r>
            <a:r>
              <a:rPr dirty="0" baseline="-2645" sz="4725" spc="277" i="1">
                <a:latin typeface="Times New Roman"/>
                <a:cs typeface="Times New Roman"/>
              </a:rPr>
              <a:t> </a:t>
            </a:r>
            <a:r>
              <a:rPr dirty="0" baseline="-2645" sz="4725" spc="30">
                <a:latin typeface="Symbol"/>
                <a:cs typeface="Symbol"/>
              </a:rPr>
              <a:t></a:t>
            </a:r>
            <a:r>
              <a:rPr dirty="0" baseline="-2645" sz="4725" spc="322">
                <a:latin typeface="Times New Roman"/>
                <a:cs typeface="Times New Roman"/>
              </a:rPr>
              <a:t> </a:t>
            </a:r>
            <a:r>
              <a:rPr dirty="0" baseline="-2645" sz="4725" spc="30" i="1">
                <a:latin typeface="Times New Roman"/>
                <a:cs typeface="Times New Roman"/>
              </a:rPr>
              <a:t>X</a:t>
            </a:r>
            <a:r>
              <a:rPr dirty="0" baseline="-2645" sz="4725" spc="-735" i="1">
                <a:latin typeface="Times New Roman"/>
                <a:cs typeface="Times New Roman"/>
              </a:rPr>
              <a:t> </a:t>
            </a:r>
            <a:r>
              <a:rPr dirty="0" baseline="-30030" sz="2775" spc="-7">
                <a:latin typeface="Times New Roman"/>
                <a:cs typeface="Times New Roman"/>
              </a:rPr>
              <a:t>0</a:t>
            </a:r>
            <a:r>
              <a:rPr dirty="0" baseline="-30030" sz="2775" spc="667">
                <a:latin typeface="Times New Roman"/>
                <a:cs typeface="Times New Roman"/>
              </a:rPr>
              <a:t> </a:t>
            </a:r>
            <a:r>
              <a:rPr dirty="0" baseline="-2645" sz="4725" spc="15">
                <a:latin typeface="Times New Roman"/>
                <a:cs typeface="Times New Roman"/>
              </a:rPr>
              <a:t>/</a:t>
            </a:r>
            <a:r>
              <a:rPr dirty="0" baseline="-2645" sz="4725" spc="-457">
                <a:latin typeface="Times New Roman"/>
                <a:cs typeface="Times New Roman"/>
              </a:rPr>
              <a:t> </a:t>
            </a:r>
            <a:r>
              <a:rPr dirty="0" baseline="-2645" sz="4725" spc="-157" i="1">
                <a:latin typeface="Times New Roman"/>
                <a:cs typeface="Times New Roman"/>
              </a:rPr>
              <a:t>T</a:t>
            </a:r>
            <a:r>
              <a:rPr dirty="0" baseline="-30030" sz="2775" spc="-157">
                <a:latin typeface="Times New Roman"/>
                <a:cs typeface="Times New Roman"/>
              </a:rPr>
              <a:t>0	</a:t>
            </a:r>
            <a:r>
              <a:rPr dirty="0" baseline="-2645" sz="4725" spc="30">
                <a:latin typeface="Symbol"/>
                <a:cs typeface="Symbol"/>
              </a:rPr>
              <a:t></a:t>
            </a:r>
            <a:r>
              <a:rPr dirty="0" baseline="-2645" sz="4725" spc="-375">
                <a:latin typeface="Times New Roman"/>
                <a:cs typeface="Times New Roman"/>
              </a:rPr>
              <a:t> </a:t>
            </a:r>
            <a:r>
              <a:rPr dirty="0" baseline="-2645" sz="4725" spc="22">
                <a:latin typeface="Times New Roman"/>
                <a:cs typeface="Times New Roman"/>
              </a:rPr>
              <a:t>?</a:t>
            </a:r>
            <a:endParaRPr baseline="-2645" sz="47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20950" y="3162287"/>
            <a:ext cx="2934970" cy="9855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1370" algn="l"/>
              </a:tabLst>
            </a:pPr>
            <a:r>
              <a:rPr dirty="0" sz="6300" spc="-5" i="1">
                <a:solidFill>
                  <a:srgbClr val="FF0000"/>
                </a:solidFill>
                <a:latin typeface="Times New Roman"/>
                <a:cs typeface="Times New Roman"/>
              </a:rPr>
              <a:t>V	</a:t>
            </a:r>
            <a:r>
              <a:rPr dirty="0" sz="6300" spc="-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6300" spc="-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300" spc="10" i="1">
                <a:solidFill>
                  <a:srgbClr val="FF0000"/>
                </a:solidFill>
                <a:latin typeface="Times New Roman"/>
                <a:cs typeface="Times New Roman"/>
              </a:rPr>
              <a:t>CT</a:t>
            </a:r>
            <a:r>
              <a:rPr dirty="0" sz="6300" spc="-5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300" spc="-5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6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74223" y="4318546"/>
            <a:ext cx="223520" cy="9855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300" spc="-5">
                <a:solidFill>
                  <a:srgbClr val="FF0000"/>
                </a:solidFill>
                <a:latin typeface="Symbol"/>
                <a:cs typeface="Symbol"/>
              </a:rPr>
              <a:t></a:t>
            </a:r>
            <a:endParaRPr sz="63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6248" y="4364456"/>
            <a:ext cx="2922270" cy="9855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300" spc="-5" i="1">
                <a:solidFill>
                  <a:srgbClr val="FF0000"/>
                </a:solidFill>
                <a:latin typeface="Times New Roman"/>
                <a:cs typeface="Times New Roman"/>
              </a:rPr>
              <a:t>p </a:t>
            </a:r>
            <a:r>
              <a:rPr dirty="0" sz="6300" spc="-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6300" spc="-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300" spc="-5" i="1">
                <a:solidFill>
                  <a:srgbClr val="FF0000"/>
                </a:solidFill>
                <a:latin typeface="Times New Roman"/>
                <a:cs typeface="Times New Roman"/>
              </a:rPr>
              <a:t>C T</a:t>
            </a:r>
            <a:r>
              <a:rPr dirty="0" sz="6300" spc="-67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300" spc="-5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6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909559" y="2426207"/>
            <a:ext cx="3642359" cy="1586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6102" y="999807"/>
            <a:ext cx="10894695" cy="337947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69850" marR="5080" indent="421640">
              <a:lnSpc>
                <a:spcPct val="126899"/>
              </a:lnSpc>
              <a:spcBef>
                <a:spcPts val="155"/>
              </a:spcBef>
            </a:pPr>
            <a:r>
              <a:rPr dirty="0" sz="2400" spc="35">
                <a:latin typeface="微软雅黑"/>
                <a:cs typeface="微软雅黑"/>
              </a:rPr>
              <a:t>例题</a:t>
            </a:r>
            <a:r>
              <a:rPr dirty="0" sz="2400">
                <a:latin typeface="微软雅黑"/>
                <a:cs typeface="微软雅黑"/>
              </a:rPr>
              <a:t>.</a:t>
            </a:r>
            <a:r>
              <a:rPr dirty="0" sz="2400" spc="-30">
                <a:latin typeface="微软雅黑"/>
                <a:cs typeface="微软雅黑"/>
              </a:rPr>
              <a:t> </a:t>
            </a:r>
            <a:r>
              <a:rPr dirty="0" sz="2400" spc="35">
                <a:latin typeface="微软雅黑"/>
                <a:cs typeface="微软雅黑"/>
              </a:rPr>
              <a:t>如图，</a:t>
            </a:r>
            <a:r>
              <a:rPr dirty="0" sz="2400" spc="40">
                <a:latin typeface="微软雅黑"/>
                <a:cs typeface="微软雅黑"/>
              </a:rPr>
              <a:t>向一个空铝罐中插入透明吸管，接口用蜡密封，在吸管内引入</a:t>
            </a:r>
            <a:r>
              <a:rPr dirty="0" sz="2400">
                <a:latin typeface="微软雅黑"/>
                <a:cs typeface="微软雅黑"/>
              </a:rPr>
              <a:t>一 </a:t>
            </a:r>
            <a:r>
              <a:rPr dirty="0" sz="2400" spc="30">
                <a:latin typeface="微软雅黑"/>
                <a:cs typeface="微软雅黑"/>
              </a:rPr>
              <a:t>小段油柱（长度可忽略）</a:t>
            </a:r>
            <a:r>
              <a:rPr dirty="0" sz="2400" spc="35">
                <a:latin typeface="微软雅黑"/>
                <a:cs typeface="微软雅黑"/>
              </a:rPr>
              <a:t>。忽略大气压变化，这就是一个简易的气温计。已知</a:t>
            </a:r>
            <a:r>
              <a:rPr dirty="0" sz="2400">
                <a:latin typeface="微软雅黑"/>
                <a:cs typeface="微软雅黑"/>
              </a:rPr>
              <a:t>铝 </a:t>
            </a:r>
            <a:r>
              <a:rPr dirty="0" sz="2400" spc="120">
                <a:latin typeface="微软雅黑"/>
                <a:cs typeface="微软雅黑"/>
              </a:rPr>
              <a:t>罐容积</a:t>
            </a:r>
            <a:r>
              <a:rPr dirty="0" sz="2400" spc="114" i="1">
                <a:latin typeface="Times New Roman"/>
                <a:cs typeface="Times New Roman"/>
              </a:rPr>
              <a:t>V</a:t>
            </a:r>
            <a:r>
              <a:rPr dirty="0" baseline="-17921" sz="2325" spc="187">
                <a:latin typeface="Times New Roman"/>
                <a:cs typeface="Times New Roman"/>
              </a:rPr>
              <a:t>0</a:t>
            </a:r>
            <a:r>
              <a:rPr dirty="0" sz="2400" spc="120">
                <a:latin typeface="Times New Roman"/>
                <a:cs typeface="Times New Roman"/>
              </a:rPr>
              <a:t>=360</a:t>
            </a:r>
            <a:r>
              <a:rPr dirty="0" sz="2400" spc="114">
                <a:latin typeface="Times New Roman"/>
                <a:cs typeface="Times New Roman"/>
              </a:rPr>
              <a:t>cm</a:t>
            </a:r>
            <a:r>
              <a:rPr dirty="0" baseline="21505" sz="2325" spc="187">
                <a:latin typeface="Times New Roman"/>
                <a:cs typeface="Times New Roman"/>
              </a:rPr>
              <a:t>3</a:t>
            </a:r>
            <a:r>
              <a:rPr dirty="0" sz="2400" spc="120">
                <a:latin typeface="微软雅黑"/>
                <a:cs typeface="微软雅黑"/>
              </a:rPr>
              <a:t>，吸管内部粗细均匀、截面积</a:t>
            </a:r>
            <a:r>
              <a:rPr dirty="0" sz="2400" spc="120" i="1">
                <a:latin typeface="Times New Roman"/>
                <a:cs typeface="Times New Roman"/>
              </a:rPr>
              <a:t>S</a:t>
            </a:r>
            <a:r>
              <a:rPr dirty="0" sz="2400" spc="120">
                <a:latin typeface="Times New Roman"/>
                <a:cs typeface="Times New Roman"/>
              </a:rPr>
              <a:t>=0.2</a:t>
            </a:r>
            <a:r>
              <a:rPr dirty="0" sz="2400" spc="114">
                <a:latin typeface="Times New Roman"/>
                <a:cs typeface="Times New Roman"/>
              </a:rPr>
              <a:t>cm</a:t>
            </a:r>
            <a:r>
              <a:rPr dirty="0" baseline="21505" sz="2325" spc="187">
                <a:latin typeface="Times New Roman"/>
                <a:cs typeface="Times New Roman"/>
              </a:rPr>
              <a:t>2</a:t>
            </a:r>
            <a:r>
              <a:rPr dirty="0" sz="2400" spc="125">
                <a:latin typeface="微软雅黑"/>
                <a:cs typeface="微软雅黑"/>
              </a:rPr>
              <a:t>，吸管的有效长度</a:t>
            </a:r>
            <a:r>
              <a:rPr dirty="0" sz="2400">
                <a:latin typeface="微软雅黑"/>
                <a:cs typeface="微软雅黑"/>
              </a:rPr>
              <a:t>为</a:t>
            </a:r>
            <a:endParaRPr sz="2400">
              <a:latin typeface="微软雅黑"/>
              <a:cs typeface="微软雅黑"/>
            </a:endParaRPr>
          </a:p>
          <a:p>
            <a:pPr marL="69850">
              <a:lnSpc>
                <a:spcPct val="100000"/>
              </a:lnSpc>
              <a:spcBef>
                <a:spcPts val="720"/>
              </a:spcBef>
            </a:pPr>
            <a:r>
              <a:rPr dirty="0" sz="2400" spc="-5" i="1">
                <a:latin typeface="Times New Roman"/>
                <a:cs typeface="Times New Roman"/>
              </a:rPr>
              <a:t>L</a:t>
            </a:r>
            <a:r>
              <a:rPr dirty="0" sz="2400" spc="-5">
                <a:latin typeface="Times New Roman"/>
                <a:cs typeface="Times New Roman"/>
              </a:rPr>
              <a:t>=20cm</a:t>
            </a:r>
            <a:r>
              <a:rPr dirty="0" sz="2400" spc="-5">
                <a:latin typeface="微软雅黑"/>
                <a:cs typeface="微软雅黑"/>
              </a:rPr>
              <a:t>，</a:t>
            </a:r>
            <a:r>
              <a:rPr dirty="0" sz="2400">
                <a:latin typeface="微软雅黑"/>
                <a:cs typeface="微软雅黑"/>
              </a:rPr>
              <a:t>当温度为</a:t>
            </a:r>
            <a:r>
              <a:rPr dirty="0" sz="2400" spc="-5" i="1">
                <a:latin typeface="Times New Roman"/>
                <a:cs typeface="Times New Roman"/>
              </a:rPr>
              <a:t>t</a:t>
            </a:r>
            <a:r>
              <a:rPr dirty="0" baseline="-17921" sz="2325" spc="-7">
                <a:latin typeface="Times New Roman"/>
                <a:cs typeface="Times New Roman"/>
              </a:rPr>
              <a:t>1</a:t>
            </a:r>
            <a:r>
              <a:rPr dirty="0" sz="2400" spc="-5">
                <a:latin typeface="Times New Roman"/>
                <a:cs typeface="Times New Roman"/>
              </a:rPr>
              <a:t>=25℃</a:t>
            </a:r>
            <a:r>
              <a:rPr dirty="0" sz="2400">
                <a:latin typeface="微软雅黑"/>
                <a:cs typeface="微软雅黑"/>
              </a:rPr>
              <a:t>时，油柱离管口</a:t>
            </a:r>
            <a:r>
              <a:rPr dirty="0" sz="2400" spc="-5" i="1">
                <a:latin typeface="Times New Roman"/>
                <a:cs typeface="Times New Roman"/>
              </a:rPr>
              <a:t>l</a:t>
            </a:r>
            <a:r>
              <a:rPr dirty="0" baseline="-17921" sz="2325" spc="-7">
                <a:latin typeface="Times New Roman"/>
                <a:cs typeface="Times New Roman"/>
              </a:rPr>
              <a:t>1</a:t>
            </a:r>
            <a:r>
              <a:rPr dirty="0" sz="2400" spc="-5">
                <a:latin typeface="Times New Roman"/>
                <a:cs typeface="Times New Roman"/>
              </a:rPr>
              <a:t>=10cm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038860" indent="-788670">
              <a:lnSpc>
                <a:spcPct val="100000"/>
              </a:lnSpc>
              <a:spcBef>
                <a:spcPts val="720"/>
              </a:spcBef>
              <a:buSzPct val="95833"/>
              <a:buAutoNum type="arabicPlain"/>
              <a:tabLst>
                <a:tab pos="1038860" algn="l"/>
              </a:tabLst>
            </a:pPr>
            <a:r>
              <a:rPr dirty="0" sz="2400">
                <a:latin typeface="微软雅黑"/>
                <a:cs typeface="微软雅黑"/>
              </a:rPr>
              <a:t>若在吸管上标刻度值，刻度均匀么？</a:t>
            </a:r>
            <a:endParaRPr sz="2400">
              <a:latin typeface="微软雅黑"/>
              <a:cs typeface="微软雅黑"/>
            </a:endParaRPr>
          </a:p>
          <a:p>
            <a:pPr marL="1038860" indent="-788670">
              <a:lnSpc>
                <a:spcPct val="100000"/>
              </a:lnSpc>
              <a:spcBef>
                <a:spcPts val="720"/>
              </a:spcBef>
              <a:buSzPct val="95833"/>
              <a:buAutoNum type="arabicPlain"/>
              <a:tabLst>
                <a:tab pos="1038860" algn="l"/>
              </a:tabLst>
            </a:pPr>
            <a:r>
              <a:rPr dirty="0" sz="2400">
                <a:latin typeface="微软雅黑"/>
                <a:cs typeface="微软雅黑"/>
              </a:rPr>
              <a:t>估算这个气温计的测量范围。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2400">
                <a:latin typeface="微软雅黑"/>
                <a:cs typeface="微软雅黑"/>
              </a:rPr>
              <a:t>分析</a:t>
            </a:r>
            <a:r>
              <a:rPr dirty="0" sz="2400" spc="-5">
                <a:latin typeface="微软雅黑"/>
                <a:cs typeface="微软雅黑"/>
              </a:rPr>
              <a:t>：（1）</a:t>
            </a:r>
            <a:r>
              <a:rPr dirty="0" sz="2400">
                <a:latin typeface="微软雅黑"/>
                <a:cs typeface="微软雅黑"/>
              </a:rPr>
              <a:t>这是根据气体等压变化设计的温度计，根据盖</a:t>
            </a:r>
            <a:r>
              <a:rPr dirty="0" sz="2400" spc="-5">
                <a:latin typeface="微软雅黑"/>
                <a:cs typeface="微软雅黑"/>
              </a:rPr>
              <a:t>—</a:t>
            </a:r>
            <a:r>
              <a:rPr dirty="0" sz="2400">
                <a:latin typeface="微软雅黑"/>
                <a:cs typeface="微软雅黑"/>
              </a:rPr>
              <a:t>吕萨克定律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6851" y="5513565"/>
            <a:ext cx="44259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5">
                <a:latin typeface="Times New Roman"/>
                <a:cs typeface="Times New Roman"/>
              </a:rPr>
              <a:t>298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7743" y="5298440"/>
            <a:ext cx="5247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5167" sz="3225" spc="15">
                <a:latin typeface="Symbol"/>
                <a:cs typeface="Symbol"/>
              </a:rPr>
              <a:t></a:t>
            </a:r>
            <a:r>
              <a:rPr dirty="0" baseline="5167" sz="3225" spc="15" i="1">
                <a:latin typeface="Times New Roman"/>
                <a:cs typeface="Times New Roman"/>
              </a:rPr>
              <a:t>V</a:t>
            </a:r>
            <a:r>
              <a:rPr dirty="0" baseline="5167" sz="3225" spc="405" i="1">
                <a:latin typeface="Times New Roman"/>
                <a:cs typeface="Times New Roman"/>
              </a:rPr>
              <a:t> </a:t>
            </a:r>
            <a:r>
              <a:rPr dirty="0" baseline="5167" sz="3225" spc="30">
                <a:latin typeface="Symbol"/>
                <a:cs typeface="Symbol"/>
              </a:rPr>
              <a:t></a:t>
            </a:r>
            <a:r>
              <a:rPr dirty="0" baseline="5167" sz="3225" spc="-172">
                <a:latin typeface="Times New Roman"/>
                <a:cs typeface="Times New Roman"/>
              </a:rPr>
              <a:t> </a:t>
            </a:r>
            <a:r>
              <a:rPr dirty="0" baseline="5167" sz="3225" spc="82" i="1">
                <a:latin typeface="Times New Roman"/>
                <a:cs typeface="Times New Roman"/>
              </a:rPr>
              <a:t>C</a:t>
            </a:r>
            <a:r>
              <a:rPr dirty="0" baseline="5167" sz="3225" spc="82">
                <a:latin typeface="Symbol"/>
                <a:cs typeface="Symbol"/>
              </a:rPr>
              <a:t></a:t>
            </a:r>
            <a:r>
              <a:rPr dirty="0" baseline="5167" sz="3225" spc="82" i="1">
                <a:latin typeface="Times New Roman"/>
                <a:cs typeface="Times New Roman"/>
              </a:rPr>
              <a:t>T</a:t>
            </a:r>
            <a:r>
              <a:rPr dirty="0" baseline="5167" sz="3225" spc="330" i="1">
                <a:latin typeface="Times New Roman"/>
                <a:cs typeface="Times New Roman"/>
              </a:rPr>
              <a:t> </a:t>
            </a:r>
            <a:r>
              <a:rPr dirty="0" baseline="5167" sz="3225" spc="30">
                <a:latin typeface="Symbol"/>
                <a:cs typeface="Symbol"/>
              </a:rPr>
              <a:t></a:t>
            </a:r>
            <a:r>
              <a:rPr dirty="0" baseline="5167" sz="3225" spc="-22">
                <a:latin typeface="Times New Roman"/>
                <a:cs typeface="Times New Roman"/>
              </a:rPr>
              <a:t> </a:t>
            </a:r>
            <a:r>
              <a:rPr dirty="0" u="heavy" baseline="41343" sz="3225" spc="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362</a:t>
            </a:r>
            <a:r>
              <a:rPr dirty="0" baseline="41343" sz="3225" spc="15">
                <a:latin typeface="Times New Roman"/>
                <a:cs typeface="Times New Roman"/>
              </a:rPr>
              <a:t> </a:t>
            </a:r>
            <a:r>
              <a:rPr dirty="0" baseline="5167" sz="3225" spc="15">
                <a:latin typeface="Symbol"/>
                <a:cs typeface="Symbol"/>
              </a:rPr>
              <a:t></a:t>
            </a:r>
            <a:r>
              <a:rPr dirty="0" baseline="5167" sz="3225" spc="15" i="1">
                <a:latin typeface="Times New Roman"/>
                <a:cs typeface="Times New Roman"/>
              </a:rPr>
              <a:t>T</a:t>
            </a:r>
            <a:r>
              <a:rPr dirty="0" baseline="5167" sz="3225" spc="375" i="1">
                <a:latin typeface="Times New Roman"/>
                <a:cs typeface="Times New Roman"/>
              </a:rPr>
              <a:t> </a:t>
            </a:r>
            <a:r>
              <a:rPr dirty="0" sz="2400">
                <a:latin typeface="微软雅黑"/>
                <a:cs typeface="微软雅黑"/>
              </a:rPr>
              <a:t>,吸管上的刻度均匀。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65781" y="4782692"/>
            <a:ext cx="240665" cy="0"/>
          </a:xfrm>
          <a:custGeom>
            <a:avLst/>
            <a:gdLst/>
            <a:ahLst/>
            <a:cxnLst/>
            <a:rect l="l" t="t" r="r" b="b"/>
            <a:pathLst>
              <a:path w="240664" h="0">
                <a:moveTo>
                  <a:pt x="0" y="0"/>
                </a:moveTo>
                <a:lnTo>
                  <a:pt x="240614" y="0"/>
                </a:lnTo>
              </a:path>
            </a:pathLst>
          </a:custGeom>
          <a:ln w="1365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70417" y="4561700"/>
            <a:ext cx="72263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5" i="1">
                <a:latin typeface="Times New Roman"/>
                <a:cs typeface="Times New Roman"/>
              </a:rPr>
              <a:t>C </a:t>
            </a:r>
            <a:r>
              <a:rPr dirty="0" sz="2150" spc="20">
                <a:latin typeface="Symbol"/>
                <a:cs typeface="Symbol"/>
              </a:rPr>
              <a:t></a:t>
            </a:r>
            <a:r>
              <a:rPr dirty="0" sz="2150" spc="-125">
                <a:latin typeface="Times New Roman"/>
                <a:cs typeface="Times New Roman"/>
              </a:rPr>
              <a:t> </a:t>
            </a:r>
            <a:r>
              <a:rPr dirty="0" baseline="34883" sz="3225" spc="-142" i="1">
                <a:latin typeface="Times New Roman"/>
                <a:cs typeface="Times New Roman"/>
              </a:rPr>
              <a:t>V</a:t>
            </a:r>
            <a:r>
              <a:rPr dirty="0" baseline="35555" sz="1875" spc="-142">
                <a:latin typeface="Times New Roman"/>
                <a:cs typeface="Times New Roman"/>
              </a:rPr>
              <a:t>1</a:t>
            </a:r>
            <a:endParaRPr baseline="35555" sz="18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1152" y="4387837"/>
            <a:ext cx="420560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34883" sz="3225" spc="30">
                <a:latin typeface="Symbol"/>
                <a:cs typeface="Symbol"/>
              </a:rPr>
              <a:t></a:t>
            </a:r>
            <a:r>
              <a:rPr dirty="0" baseline="-34883" sz="3225" spc="82">
                <a:latin typeface="Times New Roman"/>
                <a:cs typeface="Times New Roman"/>
              </a:rPr>
              <a:t> </a:t>
            </a:r>
            <a:r>
              <a:rPr dirty="0" u="heavy" sz="21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(360</a:t>
            </a:r>
            <a:r>
              <a:rPr dirty="0" u="heavy" sz="2150" spc="-2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150" spc="2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dirty="0" sz="2150" spc="-340">
                <a:latin typeface="Times New Roman"/>
                <a:cs typeface="Times New Roman"/>
              </a:rPr>
              <a:t> </a:t>
            </a:r>
            <a:r>
              <a:rPr dirty="0" u="heavy" sz="21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</a:t>
            </a:r>
            <a:r>
              <a:rPr dirty="0" u="heavy" sz="2150" spc="7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</a:t>
            </a:r>
            <a:r>
              <a:rPr dirty="0" u="heavy" sz="2150" spc="-2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1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0.2)</a:t>
            </a:r>
            <a:r>
              <a:rPr dirty="0" sz="2150" spc="-210">
                <a:latin typeface="Times New Roman"/>
                <a:cs typeface="Times New Roman"/>
              </a:rPr>
              <a:t> </a:t>
            </a:r>
            <a:r>
              <a:rPr dirty="0" baseline="-34883" sz="3225" spc="30">
                <a:latin typeface="Times New Roman"/>
                <a:cs typeface="Times New Roman"/>
              </a:rPr>
              <a:t>cm</a:t>
            </a:r>
            <a:r>
              <a:rPr dirty="0" baseline="-17777" sz="1875" spc="30">
                <a:latin typeface="Times New Roman"/>
                <a:cs typeface="Times New Roman"/>
              </a:rPr>
              <a:t>3</a:t>
            </a:r>
            <a:r>
              <a:rPr dirty="0" baseline="-17777" sz="1875" spc="-37">
                <a:latin typeface="Times New Roman"/>
                <a:cs typeface="Times New Roman"/>
              </a:rPr>
              <a:t> </a:t>
            </a:r>
            <a:r>
              <a:rPr dirty="0" baseline="-34883" sz="3225" spc="30">
                <a:latin typeface="Times New Roman"/>
                <a:cs typeface="Times New Roman"/>
              </a:rPr>
              <a:t>/K</a:t>
            </a:r>
            <a:r>
              <a:rPr dirty="0" baseline="-34883" sz="3225" spc="270">
                <a:latin typeface="Times New Roman"/>
                <a:cs typeface="Times New Roman"/>
              </a:rPr>
              <a:t> </a:t>
            </a:r>
            <a:r>
              <a:rPr dirty="0" baseline="-34883" sz="3225" spc="30">
                <a:latin typeface="Symbol"/>
                <a:cs typeface="Symbol"/>
              </a:rPr>
              <a:t></a:t>
            </a:r>
            <a:r>
              <a:rPr dirty="0" baseline="-34883" sz="3225" spc="52">
                <a:latin typeface="Times New Roman"/>
                <a:cs typeface="Times New Roman"/>
              </a:rPr>
              <a:t> </a:t>
            </a:r>
            <a:r>
              <a:rPr dirty="0" u="heavy" sz="21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362</a:t>
            </a:r>
            <a:r>
              <a:rPr dirty="0" sz="2150" spc="-220">
                <a:latin typeface="Times New Roman"/>
                <a:cs typeface="Times New Roman"/>
              </a:rPr>
              <a:t> </a:t>
            </a:r>
            <a:r>
              <a:rPr dirty="0" baseline="-34883" sz="3225" spc="30">
                <a:latin typeface="Times New Roman"/>
                <a:cs typeface="Times New Roman"/>
              </a:rPr>
              <a:t>cm</a:t>
            </a:r>
            <a:r>
              <a:rPr dirty="0" baseline="-17777" sz="1875" spc="30">
                <a:latin typeface="Times New Roman"/>
                <a:cs typeface="Times New Roman"/>
              </a:rPr>
              <a:t>3</a:t>
            </a:r>
            <a:r>
              <a:rPr dirty="0" baseline="-17777" sz="1875" spc="-37">
                <a:latin typeface="Times New Roman"/>
                <a:cs typeface="Times New Roman"/>
              </a:rPr>
              <a:t> </a:t>
            </a:r>
            <a:r>
              <a:rPr dirty="0" baseline="-34883" sz="3225" spc="30">
                <a:latin typeface="Times New Roman"/>
                <a:cs typeface="Times New Roman"/>
              </a:rPr>
              <a:t>/K</a:t>
            </a:r>
            <a:endParaRPr baseline="-34883" sz="32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9545" y="4777244"/>
            <a:ext cx="374269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17244" algn="l"/>
                <a:tab pos="3312160" algn="l"/>
              </a:tabLst>
            </a:pPr>
            <a:r>
              <a:rPr dirty="0" sz="2150" spc="-250" i="1">
                <a:latin typeface="Times New Roman"/>
                <a:cs typeface="Times New Roman"/>
              </a:rPr>
              <a:t>T</a:t>
            </a:r>
            <a:r>
              <a:rPr dirty="0" baseline="-24444" sz="1875" spc="7">
                <a:latin typeface="Times New Roman"/>
                <a:cs typeface="Times New Roman"/>
              </a:rPr>
              <a:t>1</a:t>
            </a:r>
            <a:r>
              <a:rPr dirty="0" baseline="-24444" sz="1875">
                <a:latin typeface="Times New Roman"/>
                <a:cs typeface="Times New Roman"/>
              </a:rPr>
              <a:t>	</a:t>
            </a:r>
            <a:r>
              <a:rPr dirty="0" sz="2150" spc="65">
                <a:latin typeface="Times New Roman"/>
                <a:cs typeface="Times New Roman"/>
              </a:rPr>
              <a:t>(</a:t>
            </a:r>
            <a:r>
              <a:rPr dirty="0" sz="2150" spc="15">
                <a:latin typeface="Times New Roman"/>
                <a:cs typeface="Times New Roman"/>
              </a:rPr>
              <a:t>273</a:t>
            </a:r>
            <a:r>
              <a:rPr dirty="0" sz="2150" spc="-300">
                <a:latin typeface="Times New Roman"/>
                <a:cs typeface="Times New Roman"/>
              </a:rPr>
              <a:t> </a:t>
            </a:r>
            <a:r>
              <a:rPr dirty="0" sz="2150" spc="20">
                <a:latin typeface="Symbol"/>
                <a:cs typeface="Symbol"/>
              </a:rPr>
              <a:t></a:t>
            </a:r>
            <a:r>
              <a:rPr dirty="0" sz="2150" spc="-100">
                <a:latin typeface="Times New Roman"/>
                <a:cs typeface="Times New Roman"/>
              </a:rPr>
              <a:t> </a:t>
            </a:r>
            <a:r>
              <a:rPr dirty="0" sz="2150" spc="15">
                <a:latin typeface="Times New Roman"/>
                <a:cs typeface="Times New Roman"/>
              </a:rPr>
              <a:t>2</a:t>
            </a:r>
            <a:r>
              <a:rPr dirty="0" sz="2150" spc="-20">
                <a:latin typeface="Times New Roman"/>
                <a:cs typeface="Times New Roman"/>
              </a:rPr>
              <a:t>5</a:t>
            </a:r>
            <a:r>
              <a:rPr dirty="0" sz="2150" spc="10">
                <a:latin typeface="Times New Roman"/>
                <a:cs typeface="Times New Roman"/>
              </a:rPr>
              <a:t>)</a:t>
            </a:r>
            <a:r>
              <a:rPr dirty="0" sz="2150">
                <a:latin typeface="Times New Roman"/>
                <a:cs typeface="Times New Roman"/>
              </a:rPr>
              <a:t>	</a:t>
            </a:r>
            <a:r>
              <a:rPr dirty="0" sz="2150" spc="15">
                <a:latin typeface="Times New Roman"/>
                <a:cs typeface="Times New Roman"/>
              </a:rPr>
              <a:t>298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9224" y="6192596"/>
            <a:ext cx="405130" cy="0"/>
          </a:xfrm>
          <a:custGeom>
            <a:avLst/>
            <a:gdLst/>
            <a:ahLst/>
            <a:cxnLst/>
            <a:rect l="l" t="t" r="r" b="b"/>
            <a:pathLst>
              <a:path w="405129" h="0">
                <a:moveTo>
                  <a:pt x="0" y="0"/>
                </a:moveTo>
                <a:lnTo>
                  <a:pt x="405041" y="0"/>
                </a:lnTo>
              </a:path>
            </a:pathLst>
          </a:custGeom>
          <a:ln w="1365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37292" y="6192596"/>
            <a:ext cx="435609" cy="0"/>
          </a:xfrm>
          <a:custGeom>
            <a:avLst/>
            <a:gdLst/>
            <a:ahLst/>
            <a:cxnLst/>
            <a:rect l="l" t="t" r="r" b="b"/>
            <a:pathLst>
              <a:path w="435610" h="0">
                <a:moveTo>
                  <a:pt x="0" y="0"/>
                </a:moveTo>
                <a:lnTo>
                  <a:pt x="435216" y="0"/>
                </a:lnTo>
              </a:path>
            </a:pathLst>
          </a:custGeom>
          <a:ln w="1365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79187" y="6192596"/>
            <a:ext cx="435609" cy="0"/>
          </a:xfrm>
          <a:custGeom>
            <a:avLst/>
            <a:gdLst/>
            <a:ahLst/>
            <a:cxnLst/>
            <a:rect l="l" t="t" r="r" b="b"/>
            <a:pathLst>
              <a:path w="435610" h="0">
                <a:moveTo>
                  <a:pt x="0" y="0"/>
                </a:moveTo>
                <a:lnTo>
                  <a:pt x="435216" y="0"/>
                </a:lnTo>
              </a:path>
            </a:pathLst>
          </a:custGeom>
          <a:ln w="1365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648142" y="5908040"/>
            <a:ext cx="9255760" cy="638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60"/>
              </a:lnSpc>
              <a:spcBef>
                <a:spcPts val="100"/>
              </a:spcBef>
              <a:tabLst>
                <a:tab pos="1778000" algn="l"/>
              </a:tabLst>
            </a:pPr>
            <a:r>
              <a:rPr dirty="0" sz="2400" spc="-229">
                <a:latin typeface="微软雅黑"/>
                <a:cs typeface="微软雅黑"/>
              </a:rPr>
              <a:t>（2）</a:t>
            </a:r>
            <a:r>
              <a:rPr dirty="0" baseline="-7751" sz="3225" spc="-345">
                <a:latin typeface="Symbol"/>
                <a:cs typeface="Symbol"/>
              </a:rPr>
              <a:t></a:t>
            </a:r>
            <a:r>
              <a:rPr dirty="0" baseline="-7751" sz="3225" spc="-345" i="1">
                <a:latin typeface="Times New Roman"/>
                <a:cs typeface="Times New Roman"/>
              </a:rPr>
              <a:t>T </a:t>
            </a:r>
            <a:r>
              <a:rPr dirty="0" baseline="-7751" sz="3225" spc="-104" i="1">
                <a:latin typeface="Times New Roman"/>
                <a:cs typeface="Times New Roman"/>
              </a:rPr>
              <a:t> </a:t>
            </a:r>
            <a:r>
              <a:rPr dirty="0" baseline="-7751" sz="3225" spc="30">
                <a:latin typeface="Symbol"/>
                <a:cs typeface="Symbol"/>
              </a:rPr>
              <a:t></a:t>
            </a:r>
            <a:r>
              <a:rPr dirty="0" baseline="-7751" sz="3225" spc="157">
                <a:latin typeface="Times New Roman"/>
                <a:cs typeface="Times New Roman"/>
              </a:rPr>
              <a:t> </a:t>
            </a:r>
            <a:r>
              <a:rPr dirty="0" baseline="28423" sz="3225" spc="15">
                <a:latin typeface="Symbol"/>
                <a:cs typeface="Symbol"/>
              </a:rPr>
              <a:t></a:t>
            </a:r>
            <a:r>
              <a:rPr dirty="0" baseline="28423" sz="3225" spc="15" i="1">
                <a:latin typeface="Times New Roman"/>
                <a:cs typeface="Times New Roman"/>
              </a:rPr>
              <a:t>V	</a:t>
            </a:r>
            <a:r>
              <a:rPr dirty="0" baseline="-7751" sz="3225" spc="30">
                <a:latin typeface="Symbol"/>
                <a:cs typeface="Symbol"/>
              </a:rPr>
              <a:t></a:t>
            </a:r>
            <a:r>
              <a:rPr dirty="0" baseline="-7751" sz="3225" spc="82">
                <a:latin typeface="Times New Roman"/>
                <a:cs typeface="Times New Roman"/>
              </a:rPr>
              <a:t> </a:t>
            </a:r>
            <a:r>
              <a:rPr dirty="0" baseline="28423" sz="3225" spc="22">
                <a:latin typeface="Times New Roman"/>
                <a:cs typeface="Times New Roman"/>
              </a:rPr>
              <a:t>298</a:t>
            </a:r>
            <a:r>
              <a:rPr dirty="0" baseline="28423" sz="3225" spc="-60">
                <a:latin typeface="Times New Roman"/>
                <a:cs typeface="Times New Roman"/>
              </a:rPr>
              <a:t> </a:t>
            </a:r>
            <a:r>
              <a:rPr dirty="0" baseline="-7751" sz="3225" spc="15">
                <a:latin typeface="Symbol"/>
                <a:cs typeface="Symbol"/>
              </a:rPr>
              <a:t></a:t>
            </a:r>
            <a:r>
              <a:rPr dirty="0" baseline="-7751" sz="3225" spc="15" i="1">
                <a:latin typeface="Times New Roman"/>
                <a:cs typeface="Times New Roman"/>
              </a:rPr>
              <a:t>V</a:t>
            </a:r>
            <a:r>
              <a:rPr dirty="0" baseline="-7751" sz="3225" spc="434" i="1">
                <a:latin typeface="Times New Roman"/>
                <a:cs typeface="Times New Roman"/>
              </a:rPr>
              <a:t> </a:t>
            </a:r>
            <a:r>
              <a:rPr dirty="0" baseline="-7751" sz="3225" spc="30">
                <a:latin typeface="Symbol"/>
                <a:cs typeface="Symbol"/>
              </a:rPr>
              <a:t></a:t>
            </a:r>
            <a:r>
              <a:rPr dirty="0" baseline="-7751" sz="3225" spc="89">
                <a:latin typeface="Times New Roman"/>
                <a:cs typeface="Times New Roman"/>
              </a:rPr>
              <a:t> </a:t>
            </a:r>
            <a:r>
              <a:rPr dirty="0" baseline="28423" sz="3225" spc="22">
                <a:latin typeface="Times New Roman"/>
                <a:cs typeface="Times New Roman"/>
              </a:rPr>
              <a:t>298</a:t>
            </a:r>
            <a:r>
              <a:rPr dirty="0" baseline="28423" sz="3225" spc="-172">
                <a:latin typeface="Times New Roman"/>
                <a:cs typeface="Times New Roman"/>
              </a:rPr>
              <a:t> </a:t>
            </a:r>
            <a:r>
              <a:rPr dirty="0" baseline="-7751" sz="3225" spc="52">
                <a:latin typeface="Symbol"/>
                <a:cs typeface="Symbol"/>
              </a:rPr>
              <a:t></a:t>
            </a:r>
            <a:r>
              <a:rPr dirty="0" baseline="-7751" sz="3225" spc="52">
                <a:latin typeface="Times New Roman"/>
                <a:cs typeface="Times New Roman"/>
              </a:rPr>
              <a:t>0.2</a:t>
            </a:r>
            <a:r>
              <a:rPr dirty="0" baseline="-7751" sz="3225" spc="-202">
                <a:latin typeface="Times New Roman"/>
                <a:cs typeface="Times New Roman"/>
              </a:rPr>
              <a:t> </a:t>
            </a:r>
            <a:r>
              <a:rPr dirty="0" baseline="-7751" sz="3225" spc="-22">
                <a:latin typeface="Symbol"/>
                <a:cs typeface="Symbol"/>
              </a:rPr>
              <a:t></a:t>
            </a:r>
            <a:r>
              <a:rPr dirty="0" baseline="-7751" sz="3225" spc="-22">
                <a:latin typeface="Times New Roman"/>
                <a:cs typeface="Times New Roman"/>
              </a:rPr>
              <a:t>10K=1.6K</a:t>
            </a:r>
            <a:r>
              <a:rPr dirty="0" sz="2400" spc="-15">
                <a:latin typeface="微软雅黑"/>
                <a:cs typeface="微软雅黑"/>
              </a:rPr>
              <a:t>，</a:t>
            </a:r>
            <a:r>
              <a:rPr dirty="0" sz="2400">
                <a:latin typeface="微软雅黑"/>
                <a:cs typeface="微软雅黑"/>
              </a:rPr>
              <a:t>测温范围为</a:t>
            </a:r>
            <a:r>
              <a:rPr dirty="0" sz="2400" spc="-110">
                <a:latin typeface="微软雅黑"/>
                <a:cs typeface="微软雅黑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23.4~26.6℃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391920">
              <a:lnSpc>
                <a:spcPts val="2260"/>
              </a:lnSpc>
              <a:tabLst>
                <a:tab pos="1999614" algn="l"/>
                <a:tab pos="3150235" algn="l"/>
              </a:tabLst>
            </a:pPr>
            <a:r>
              <a:rPr dirty="0" sz="2150" spc="25" i="1">
                <a:latin typeface="Times New Roman"/>
                <a:cs typeface="Times New Roman"/>
              </a:rPr>
              <a:t>C	</a:t>
            </a:r>
            <a:r>
              <a:rPr dirty="0" sz="2150" spc="15">
                <a:latin typeface="Times New Roman"/>
                <a:cs typeface="Times New Roman"/>
              </a:rPr>
              <a:t>362	362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79383" y="5071617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 h="0">
                <a:moveTo>
                  <a:pt x="0" y="0"/>
                </a:moveTo>
                <a:lnTo>
                  <a:pt x="388975" y="0"/>
                </a:lnTo>
              </a:path>
            </a:pathLst>
          </a:custGeom>
          <a:ln w="2512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508146" y="5071617"/>
            <a:ext cx="746760" cy="0"/>
          </a:xfrm>
          <a:custGeom>
            <a:avLst/>
            <a:gdLst/>
            <a:ahLst/>
            <a:cxnLst/>
            <a:rect l="l" t="t" r="r" b="b"/>
            <a:pathLst>
              <a:path w="746759" h="0">
                <a:moveTo>
                  <a:pt x="0" y="0"/>
                </a:moveTo>
                <a:lnTo>
                  <a:pt x="746175" y="0"/>
                </a:lnTo>
              </a:path>
            </a:pathLst>
          </a:custGeom>
          <a:ln w="2512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550808" y="4360151"/>
            <a:ext cx="1619250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8694" algn="l"/>
              </a:tabLst>
            </a:pP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3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90596" y="4679886"/>
            <a:ext cx="2030730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96035" algn="l"/>
              </a:tabLst>
            </a:pPr>
            <a:r>
              <a:rPr dirty="0" sz="4000" spc="-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4000" spc="-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5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dirty="0" sz="4000" spc="-26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78595" y="5076240"/>
            <a:ext cx="1583690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1075" algn="l"/>
              </a:tabLst>
            </a:pP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4000" spc="-30">
                <a:solidFill>
                  <a:srgbClr val="FF0000"/>
                </a:solidFill>
                <a:latin typeface="Symbol"/>
                <a:cs typeface="Symbol"/>
              </a:rPr>
              <a:t></a:t>
            </a:r>
            <a:r>
              <a:rPr dirty="0" sz="4000" spc="-5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1764" y="1397952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微软雅黑"/>
                <a:cs typeface="微软雅黑"/>
              </a:rPr>
              <a:t>总结：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5852" y="2763011"/>
            <a:ext cx="1091565" cy="58547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70"/>
              </a:spcBef>
            </a:pPr>
            <a:r>
              <a:rPr dirty="0" u="heavy" sz="32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温</a:t>
            </a:r>
            <a:r>
              <a:rPr dirty="0" u="heavy" sz="3200" spc="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标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2480" y="2098548"/>
            <a:ext cx="2235835" cy="5842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dirty="0" u="heavy" sz="3200" spc="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经 验 温</a:t>
            </a:r>
            <a:r>
              <a:rPr dirty="0" u="heavy" sz="3200" spc="409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 </a:t>
            </a:r>
            <a:r>
              <a:rPr dirty="0" u="heavy" sz="3200" spc="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标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2480" y="3235451"/>
            <a:ext cx="2295525" cy="5842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dirty="0" u="heavy" sz="32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热力学温</a:t>
            </a:r>
            <a:r>
              <a:rPr dirty="0" u="heavy" sz="3200" spc="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标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41747" y="2747772"/>
            <a:ext cx="1092835" cy="5842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dirty="0" u="heavy" sz="32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温</a:t>
            </a:r>
            <a:r>
              <a:rPr dirty="0" u="heavy" sz="3200" spc="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度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5600" y="2717292"/>
            <a:ext cx="1424940" cy="5822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dirty="0" u="heavy" sz="32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热平</a:t>
            </a:r>
            <a:r>
              <a:rPr dirty="0" u="heavy" sz="3200" spc="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衡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3208" y="2712720"/>
            <a:ext cx="1089660" cy="5810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dirty="0" u="heavy" sz="32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系</a:t>
            </a:r>
            <a:r>
              <a:rPr dirty="0" u="heavy" sz="3200" spc="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统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72867" y="2846832"/>
            <a:ext cx="501650" cy="334010"/>
          </a:xfrm>
          <a:custGeom>
            <a:avLst/>
            <a:gdLst/>
            <a:ahLst/>
            <a:cxnLst/>
            <a:rect l="l" t="t" r="r" b="b"/>
            <a:pathLst>
              <a:path w="501650" h="334010">
                <a:moveTo>
                  <a:pt x="335280" y="333756"/>
                </a:moveTo>
                <a:lnTo>
                  <a:pt x="335280" y="251460"/>
                </a:lnTo>
                <a:lnTo>
                  <a:pt x="0" y="251460"/>
                </a:lnTo>
                <a:lnTo>
                  <a:pt x="0" y="83820"/>
                </a:lnTo>
                <a:lnTo>
                  <a:pt x="335280" y="83820"/>
                </a:lnTo>
                <a:lnTo>
                  <a:pt x="335280" y="0"/>
                </a:lnTo>
                <a:lnTo>
                  <a:pt x="501395" y="167640"/>
                </a:lnTo>
                <a:lnTo>
                  <a:pt x="335280" y="33375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66962" y="2831058"/>
            <a:ext cx="517525" cy="365760"/>
          </a:xfrm>
          <a:custGeom>
            <a:avLst/>
            <a:gdLst/>
            <a:ahLst/>
            <a:cxnLst/>
            <a:rect l="l" t="t" r="r" b="b"/>
            <a:pathLst>
              <a:path w="517525" h="365760">
                <a:moveTo>
                  <a:pt x="334175" y="99072"/>
                </a:moveTo>
                <a:lnTo>
                  <a:pt x="334175" y="0"/>
                </a:lnTo>
                <a:lnTo>
                  <a:pt x="349503" y="15328"/>
                </a:lnTo>
                <a:lnTo>
                  <a:pt x="346875" y="15328"/>
                </a:lnTo>
                <a:lnTo>
                  <a:pt x="336029" y="19824"/>
                </a:lnTo>
                <a:lnTo>
                  <a:pt x="346875" y="30670"/>
                </a:lnTo>
                <a:lnTo>
                  <a:pt x="346875" y="92722"/>
                </a:lnTo>
                <a:lnTo>
                  <a:pt x="340525" y="92722"/>
                </a:lnTo>
                <a:lnTo>
                  <a:pt x="334175" y="99072"/>
                </a:lnTo>
                <a:close/>
              </a:path>
              <a:path w="517525" h="365760">
                <a:moveTo>
                  <a:pt x="346875" y="30670"/>
                </a:moveTo>
                <a:lnTo>
                  <a:pt x="336029" y="19824"/>
                </a:lnTo>
                <a:lnTo>
                  <a:pt x="346875" y="15328"/>
                </a:lnTo>
                <a:lnTo>
                  <a:pt x="346875" y="30670"/>
                </a:lnTo>
                <a:close/>
              </a:path>
              <a:path w="517525" h="365760">
                <a:moveTo>
                  <a:pt x="499014" y="182810"/>
                </a:moveTo>
                <a:lnTo>
                  <a:pt x="346875" y="30670"/>
                </a:lnTo>
                <a:lnTo>
                  <a:pt x="346875" y="15328"/>
                </a:lnTo>
                <a:lnTo>
                  <a:pt x="349503" y="15328"/>
                </a:lnTo>
                <a:lnTo>
                  <a:pt x="512495" y="178320"/>
                </a:lnTo>
                <a:lnTo>
                  <a:pt x="503504" y="178320"/>
                </a:lnTo>
                <a:lnTo>
                  <a:pt x="499014" y="182810"/>
                </a:lnTo>
                <a:close/>
              </a:path>
              <a:path w="517525" h="365760">
                <a:moveTo>
                  <a:pt x="334175" y="272897"/>
                </a:moveTo>
                <a:lnTo>
                  <a:pt x="0" y="272897"/>
                </a:lnTo>
                <a:lnTo>
                  <a:pt x="0" y="92722"/>
                </a:lnTo>
                <a:lnTo>
                  <a:pt x="334175" y="92722"/>
                </a:lnTo>
                <a:lnTo>
                  <a:pt x="334175" y="99072"/>
                </a:lnTo>
                <a:lnTo>
                  <a:pt x="12700" y="99072"/>
                </a:lnTo>
                <a:lnTo>
                  <a:pt x="6350" y="105422"/>
                </a:lnTo>
                <a:lnTo>
                  <a:pt x="12700" y="105422"/>
                </a:lnTo>
                <a:lnTo>
                  <a:pt x="12700" y="260197"/>
                </a:lnTo>
                <a:lnTo>
                  <a:pt x="6350" y="260197"/>
                </a:lnTo>
                <a:lnTo>
                  <a:pt x="12700" y="266547"/>
                </a:lnTo>
                <a:lnTo>
                  <a:pt x="334175" y="266547"/>
                </a:lnTo>
                <a:lnTo>
                  <a:pt x="334175" y="272897"/>
                </a:lnTo>
                <a:close/>
              </a:path>
              <a:path w="517525" h="365760">
                <a:moveTo>
                  <a:pt x="346875" y="105422"/>
                </a:moveTo>
                <a:lnTo>
                  <a:pt x="12700" y="105422"/>
                </a:lnTo>
                <a:lnTo>
                  <a:pt x="12700" y="99072"/>
                </a:lnTo>
                <a:lnTo>
                  <a:pt x="334175" y="99072"/>
                </a:lnTo>
                <a:lnTo>
                  <a:pt x="340525" y="92722"/>
                </a:lnTo>
                <a:lnTo>
                  <a:pt x="346875" y="92722"/>
                </a:lnTo>
                <a:lnTo>
                  <a:pt x="346875" y="105422"/>
                </a:lnTo>
                <a:close/>
              </a:path>
              <a:path w="517525" h="365760">
                <a:moveTo>
                  <a:pt x="12700" y="105422"/>
                </a:moveTo>
                <a:lnTo>
                  <a:pt x="6350" y="105422"/>
                </a:lnTo>
                <a:lnTo>
                  <a:pt x="12700" y="99072"/>
                </a:lnTo>
                <a:lnTo>
                  <a:pt x="12700" y="105422"/>
                </a:lnTo>
                <a:close/>
              </a:path>
              <a:path w="517525" h="365760">
                <a:moveTo>
                  <a:pt x="503504" y="187299"/>
                </a:moveTo>
                <a:lnTo>
                  <a:pt x="499021" y="182803"/>
                </a:lnTo>
                <a:lnTo>
                  <a:pt x="503504" y="178320"/>
                </a:lnTo>
                <a:lnTo>
                  <a:pt x="503504" y="187299"/>
                </a:lnTo>
                <a:close/>
              </a:path>
              <a:path w="517525" h="365760">
                <a:moveTo>
                  <a:pt x="512483" y="187299"/>
                </a:moveTo>
                <a:lnTo>
                  <a:pt x="503504" y="187299"/>
                </a:lnTo>
                <a:lnTo>
                  <a:pt x="503504" y="178320"/>
                </a:lnTo>
                <a:lnTo>
                  <a:pt x="512495" y="178320"/>
                </a:lnTo>
                <a:lnTo>
                  <a:pt x="516972" y="182810"/>
                </a:lnTo>
                <a:lnTo>
                  <a:pt x="512483" y="187299"/>
                </a:lnTo>
                <a:close/>
              </a:path>
              <a:path w="517525" h="365760">
                <a:moveTo>
                  <a:pt x="349502" y="350291"/>
                </a:moveTo>
                <a:lnTo>
                  <a:pt x="346875" y="350291"/>
                </a:lnTo>
                <a:lnTo>
                  <a:pt x="346875" y="334949"/>
                </a:lnTo>
                <a:lnTo>
                  <a:pt x="499014" y="182810"/>
                </a:lnTo>
                <a:lnTo>
                  <a:pt x="503504" y="187299"/>
                </a:lnTo>
                <a:lnTo>
                  <a:pt x="512483" y="187299"/>
                </a:lnTo>
                <a:lnTo>
                  <a:pt x="349502" y="350291"/>
                </a:lnTo>
                <a:close/>
              </a:path>
              <a:path w="517525" h="365760">
                <a:moveTo>
                  <a:pt x="12700" y="266547"/>
                </a:moveTo>
                <a:lnTo>
                  <a:pt x="6350" y="260197"/>
                </a:lnTo>
                <a:lnTo>
                  <a:pt x="12700" y="260197"/>
                </a:lnTo>
                <a:lnTo>
                  <a:pt x="12700" y="266547"/>
                </a:lnTo>
                <a:close/>
              </a:path>
              <a:path w="517525" h="365760">
                <a:moveTo>
                  <a:pt x="346875" y="272897"/>
                </a:moveTo>
                <a:lnTo>
                  <a:pt x="340525" y="272897"/>
                </a:lnTo>
                <a:lnTo>
                  <a:pt x="334175" y="266547"/>
                </a:lnTo>
                <a:lnTo>
                  <a:pt x="12700" y="266547"/>
                </a:lnTo>
                <a:lnTo>
                  <a:pt x="12700" y="260197"/>
                </a:lnTo>
                <a:lnTo>
                  <a:pt x="346875" y="260197"/>
                </a:lnTo>
                <a:lnTo>
                  <a:pt x="346875" y="272897"/>
                </a:lnTo>
                <a:close/>
              </a:path>
              <a:path w="517525" h="365760">
                <a:moveTo>
                  <a:pt x="334175" y="365620"/>
                </a:moveTo>
                <a:lnTo>
                  <a:pt x="334175" y="266547"/>
                </a:lnTo>
                <a:lnTo>
                  <a:pt x="340525" y="272897"/>
                </a:lnTo>
                <a:lnTo>
                  <a:pt x="346875" y="272897"/>
                </a:lnTo>
                <a:lnTo>
                  <a:pt x="346875" y="334949"/>
                </a:lnTo>
                <a:lnTo>
                  <a:pt x="336029" y="345795"/>
                </a:lnTo>
                <a:lnTo>
                  <a:pt x="346875" y="350291"/>
                </a:lnTo>
                <a:lnTo>
                  <a:pt x="349502" y="350291"/>
                </a:lnTo>
                <a:lnTo>
                  <a:pt x="334175" y="365620"/>
                </a:lnTo>
                <a:close/>
              </a:path>
              <a:path w="517525" h="365760">
                <a:moveTo>
                  <a:pt x="346875" y="350291"/>
                </a:moveTo>
                <a:lnTo>
                  <a:pt x="336029" y="345795"/>
                </a:lnTo>
                <a:lnTo>
                  <a:pt x="346875" y="334949"/>
                </a:lnTo>
                <a:lnTo>
                  <a:pt x="346875" y="350291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20540" y="2846832"/>
            <a:ext cx="502920" cy="338455"/>
          </a:xfrm>
          <a:custGeom>
            <a:avLst/>
            <a:gdLst/>
            <a:ahLst/>
            <a:cxnLst/>
            <a:rect l="l" t="t" r="r" b="b"/>
            <a:pathLst>
              <a:path w="502920" h="338455">
                <a:moveTo>
                  <a:pt x="333756" y="338328"/>
                </a:moveTo>
                <a:lnTo>
                  <a:pt x="333756" y="252984"/>
                </a:lnTo>
                <a:lnTo>
                  <a:pt x="0" y="252984"/>
                </a:lnTo>
                <a:lnTo>
                  <a:pt x="0" y="83820"/>
                </a:lnTo>
                <a:lnTo>
                  <a:pt x="333756" y="83820"/>
                </a:lnTo>
                <a:lnTo>
                  <a:pt x="333756" y="0"/>
                </a:lnTo>
                <a:lnTo>
                  <a:pt x="502920" y="169164"/>
                </a:lnTo>
                <a:lnTo>
                  <a:pt x="333756" y="33832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14825" y="2831058"/>
            <a:ext cx="517525" cy="368935"/>
          </a:xfrm>
          <a:custGeom>
            <a:avLst/>
            <a:gdLst/>
            <a:ahLst/>
            <a:cxnLst/>
            <a:rect l="l" t="t" r="r" b="b"/>
            <a:pathLst>
              <a:path w="517525" h="368935">
                <a:moveTo>
                  <a:pt x="332574" y="99860"/>
                </a:moveTo>
                <a:lnTo>
                  <a:pt x="332574" y="0"/>
                </a:lnTo>
                <a:lnTo>
                  <a:pt x="347903" y="15328"/>
                </a:lnTo>
                <a:lnTo>
                  <a:pt x="345274" y="15328"/>
                </a:lnTo>
                <a:lnTo>
                  <a:pt x="334441" y="19824"/>
                </a:lnTo>
                <a:lnTo>
                  <a:pt x="345274" y="30657"/>
                </a:lnTo>
                <a:lnTo>
                  <a:pt x="345274" y="93510"/>
                </a:lnTo>
                <a:lnTo>
                  <a:pt x="338924" y="93510"/>
                </a:lnTo>
                <a:lnTo>
                  <a:pt x="332574" y="99860"/>
                </a:lnTo>
                <a:close/>
              </a:path>
              <a:path w="517525" h="368935">
                <a:moveTo>
                  <a:pt x="345274" y="30657"/>
                </a:moveTo>
                <a:lnTo>
                  <a:pt x="334441" y="19824"/>
                </a:lnTo>
                <a:lnTo>
                  <a:pt x="345274" y="15328"/>
                </a:lnTo>
                <a:lnTo>
                  <a:pt x="345274" y="30657"/>
                </a:lnTo>
                <a:close/>
              </a:path>
              <a:path w="517525" h="368935">
                <a:moveTo>
                  <a:pt x="499014" y="184397"/>
                </a:moveTo>
                <a:lnTo>
                  <a:pt x="345274" y="30657"/>
                </a:lnTo>
                <a:lnTo>
                  <a:pt x="345274" y="15328"/>
                </a:lnTo>
                <a:lnTo>
                  <a:pt x="347903" y="15328"/>
                </a:lnTo>
                <a:lnTo>
                  <a:pt x="512483" y="179908"/>
                </a:lnTo>
                <a:lnTo>
                  <a:pt x="503504" y="179908"/>
                </a:lnTo>
                <a:lnTo>
                  <a:pt x="499014" y="184397"/>
                </a:lnTo>
                <a:close/>
              </a:path>
              <a:path w="517525" h="368935">
                <a:moveTo>
                  <a:pt x="332574" y="275285"/>
                </a:moveTo>
                <a:lnTo>
                  <a:pt x="0" y="275285"/>
                </a:lnTo>
                <a:lnTo>
                  <a:pt x="0" y="93510"/>
                </a:lnTo>
                <a:lnTo>
                  <a:pt x="332574" y="93510"/>
                </a:lnTo>
                <a:lnTo>
                  <a:pt x="332574" y="99860"/>
                </a:lnTo>
                <a:lnTo>
                  <a:pt x="12700" y="99860"/>
                </a:lnTo>
                <a:lnTo>
                  <a:pt x="6350" y="106210"/>
                </a:lnTo>
                <a:lnTo>
                  <a:pt x="12700" y="106210"/>
                </a:lnTo>
                <a:lnTo>
                  <a:pt x="12700" y="262585"/>
                </a:lnTo>
                <a:lnTo>
                  <a:pt x="6350" y="262585"/>
                </a:lnTo>
                <a:lnTo>
                  <a:pt x="12700" y="268935"/>
                </a:lnTo>
                <a:lnTo>
                  <a:pt x="332574" y="268935"/>
                </a:lnTo>
                <a:lnTo>
                  <a:pt x="332574" y="275285"/>
                </a:lnTo>
                <a:close/>
              </a:path>
              <a:path w="517525" h="368935">
                <a:moveTo>
                  <a:pt x="345274" y="106210"/>
                </a:moveTo>
                <a:lnTo>
                  <a:pt x="12700" y="106210"/>
                </a:lnTo>
                <a:lnTo>
                  <a:pt x="12700" y="99860"/>
                </a:lnTo>
                <a:lnTo>
                  <a:pt x="332574" y="99860"/>
                </a:lnTo>
                <a:lnTo>
                  <a:pt x="338924" y="93510"/>
                </a:lnTo>
                <a:lnTo>
                  <a:pt x="345274" y="93510"/>
                </a:lnTo>
                <a:lnTo>
                  <a:pt x="345274" y="106210"/>
                </a:lnTo>
                <a:close/>
              </a:path>
              <a:path w="517525" h="368935">
                <a:moveTo>
                  <a:pt x="12700" y="106210"/>
                </a:moveTo>
                <a:lnTo>
                  <a:pt x="6350" y="106210"/>
                </a:lnTo>
                <a:lnTo>
                  <a:pt x="12700" y="99860"/>
                </a:lnTo>
                <a:lnTo>
                  <a:pt x="12700" y="106210"/>
                </a:lnTo>
                <a:close/>
              </a:path>
              <a:path w="517525" h="368935">
                <a:moveTo>
                  <a:pt x="503504" y="188887"/>
                </a:moveTo>
                <a:lnTo>
                  <a:pt x="499014" y="184397"/>
                </a:lnTo>
                <a:lnTo>
                  <a:pt x="503504" y="179908"/>
                </a:lnTo>
                <a:lnTo>
                  <a:pt x="503504" y="188887"/>
                </a:lnTo>
                <a:close/>
              </a:path>
              <a:path w="517525" h="368935">
                <a:moveTo>
                  <a:pt x="512495" y="188887"/>
                </a:moveTo>
                <a:lnTo>
                  <a:pt x="503504" y="188887"/>
                </a:lnTo>
                <a:lnTo>
                  <a:pt x="503504" y="179908"/>
                </a:lnTo>
                <a:lnTo>
                  <a:pt x="512483" y="179908"/>
                </a:lnTo>
                <a:lnTo>
                  <a:pt x="516978" y="184403"/>
                </a:lnTo>
                <a:lnTo>
                  <a:pt x="512495" y="188887"/>
                </a:lnTo>
                <a:close/>
              </a:path>
              <a:path w="517525" h="368935">
                <a:moveTo>
                  <a:pt x="347904" y="353466"/>
                </a:moveTo>
                <a:lnTo>
                  <a:pt x="345274" y="353466"/>
                </a:lnTo>
                <a:lnTo>
                  <a:pt x="345274" y="338137"/>
                </a:lnTo>
                <a:lnTo>
                  <a:pt x="499021" y="184403"/>
                </a:lnTo>
                <a:lnTo>
                  <a:pt x="503504" y="188887"/>
                </a:lnTo>
                <a:lnTo>
                  <a:pt x="512495" y="188887"/>
                </a:lnTo>
                <a:lnTo>
                  <a:pt x="347904" y="353466"/>
                </a:lnTo>
                <a:close/>
              </a:path>
              <a:path w="517525" h="368935">
                <a:moveTo>
                  <a:pt x="12700" y="268935"/>
                </a:moveTo>
                <a:lnTo>
                  <a:pt x="6350" y="262585"/>
                </a:lnTo>
                <a:lnTo>
                  <a:pt x="12700" y="262585"/>
                </a:lnTo>
                <a:lnTo>
                  <a:pt x="12700" y="268935"/>
                </a:lnTo>
                <a:close/>
              </a:path>
              <a:path w="517525" h="368935">
                <a:moveTo>
                  <a:pt x="345274" y="275285"/>
                </a:moveTo>
                <a:lnTo>
                  <a:pt x="338924" y="275285"/>
                </a:lnTo>
                <a:lnTo>
                  <a:pt x="332574" y="268935"/>
                </a:lnTo>
                <a:lnTo>
                  <a:pt x="12700" y="268935"/>
                </a:lnTo>
                <a:lnTo>
                  <a:pt x="12700" y="262585"/>
                </a:lnTo>
                <a:lnTo>
                  <a:pt x="345274" y="262585"/>
                </a:lnTo>
                <a:lnTo>
                  <a:pt x="345274" y="275285"/>
                </a:lnTo>
                <a:close/>
              </a:path>
              <a:path w="517525" h="368935">
                <a:moveTo>
                  <a:pt x="332574" y="368795"/>
                </a:moveTo>
                <a:lnTo>
                  <a:pt x="332574" y="268935"/>
                </a:lnTo>
                <a:lnTo>
                  <a:pt x="338924" y="275285"/>
                </a:lnTo>
                <a:lnTo>
                  <a:pt x="345274" y="275285"/>
                </a:lnTo>
                <a:lnTo>
                  <a:pt x="345274" y="338137"/>
                </a:lnTo>
                <a:lnTo>
                  <a:pt x="334441" y="348970"/>
                </a:lnTo>
                <a:lnTo>
                  <a:pt x="345274" y="353466"/>
                </a:lnTo>
                <a:lnTo>
                  <a:pt x="347904" y="353466"/>
                </a:lnTo>
                <a:lnTo>
                  <a:pt x="332574" y="368795"/>
                </a:lnTo>
                <a:close/>
              </a:path>
              <a:path w="517525" h="368935">
                <a:moveTo>
                  <a:pt x="345274" y="353466"/>
                </a:moveTo>
                <a:lnTo>
                  <a:pt x="334441" y="348970"/>
                </a:lnTo>
                <a:lnTo>
                  <a:pt x="345274" y="338137"/>
                </a:lnTo>
                <a:lnTo>
                  <a:pt x="345274" y="353466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29884" y="2860548"/>
            <a:ext cx="501650" cy="340360"/>
          </a:xfrm>
          <a:custGeom>
            <a:avLst/>
            <a:gdLst/>
            <a:ahLst/>
            <a:cxnLst/>
            <a:rect l="l" t="t" r="r" b="b"/>
            <a:pathLst>
              <a:path w="501650" h="340360">
                <a:moveTo>
                  <a:pt x="330707" y="339851"/>
                </a:moveTo>
                <a:lnTo>
                  <a:pt x="330707" y="254507"/>
                </a:lnTo>
                <a:lnTo>
                  <a:pt x="0" y="254507"/>
                </a:lnTo>
                <a:lnTo>
                  <a:pt x="0" y="85343"/>
                </a:lnTo>
                <a:lnTo>
                  <a:pt x="330707" y="85343"/>
                </a:lnTo>
                <a:lnTo>
                  <a:pt x="330707" y="0"/>
                </a:lnTo>
                <a:lnTo>
                  <a:pt x="501395" y="170687"/>
                </a:lnTo>
                <a:lnTo>
                  <a:pt x="330707" y="33985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22962" y="2845346"/>
            <a:ext cx="517525" cy="370840"/>
          </a:xfrm>
          <a:custGeom>
            <a:avLst/>
            <a:gdLst/>
            <a:ahLst/>
            <a:cxnLst/>
            <a:rect l="l" t="t" r="r" b="b"/>
            <a:pathLst>
              <a:path w="517525" h="370839">
                <a:moveTo>
                  <a:pt x="331787" y="100253"/>
                </a:moveTo>
                <a:lnTo>
                  <a:pt x="331787" y="0"/>
                </a:lnTo>
                <a:lnTo>
                  <a:pt x="347116" y="15328"/>
                </a:lnTo>
                <a:lnTo>
                  <a:pt x="344487" y="15328"/>
                </a:lnTo>
                <a:lnTo>
                  <a:pt x="333654" y="19824"/>
                </a:lnTo>
                <a:lnTo>
                  <a:pt x="344487" y="30658"/>
                </a:lnTo>
                <a:lnTo>
                  <a:pt x="344487" y="93903"/>
                </a:lnTo>
                <a:lnTo>
                  <a:pt x="338137" y="93903"/>
                </a:lnTo>
                <a:lnTo>
                  <a:pt x="331787" y="100253"/>
                </a:lnTo>
                <a:close/>
              </a:path>
              <a:path w="517525" h="370839">
                <a:moveTo>
                  <a:pt x="344487" y="30658"/>
                </a:moveTo>
                <a:lnTo>
                  <a:pt x="333654" y="19824"/>
                </a:lnTo>
                <a:lnTo>
                  <a:pt x="344487" y="15328"/>
                </a:lnTo>
                <a:lnTo>
                  <a:pt x="344487" y="30658"/>
                </a:lnTo>
                <a:close/>
              </a:path>
              <a:path w="517525" h="370839">
                <a:moveTo>
                  <a:pt x="499008" y="185191"/>
                </a:moveTo>
                <a:lnTo>
                  <a:pt x="344487" y="30658"/>
                </a:lnTo>
                <a:lnTo>
                  <a:pt x="344487" y="15328"/>
                </a:lnTo>
                <a:lnTo>
                  <a:pt x="347116" y="15328"/>
                </a:lnTo>
                <a:lnTo>
                  <a:pt x="512483" y="180695"/>
                </a:lnTo>
                <a:lnTo>
                  <a:pt x="503504" y="180695"/>
                </a:lnTo>
                <a:lnTo>
                  <a:pt x="499008" y="185191"/>
                </a:lnTo>
                <a:close/>
              </a:path>
              <a:path w="517525" h="370839">
                <a:moveTo>
                  <a:pt x="331787" y="276466"/>
                </a:moveTo>
                <a:lnTo>
                  <a:pt x="0" y="276466"/>
                </a:lnTo>
                <a:lnTo>
                  <a:pt x="0" y="93903"/>
                </a:lnTo>
                <a:lnTo>
                  <a:pt x="331787" y="93903"/>
                </a:lnTo>
                <a:lnTo>
                  <a:pt x="331787" y="100253"/>
                </a:lnTo>
                <a:lnTo>
                  <a:pt x="12700" y="100253"/>
                </a:lnTo>
                <a:lnTo>
                  <a:pt x="6350" y="106603"/>
                </a:lnTo>
                <a:lnTo>
                  <a:pt x="12700" y="106603"/>
                </a:lnTo>
                <a:lnTo>
                  <a:pt x="12700" y="263766"/>
                </a:lnTo>
                <a:lnTo>
                  <a:pt x="6350" y="263766"/>
                </a:lnTo>
                <a:lnTo>
                  <a:pt x="12700" y="270116"/>
                </a:lnTo>
                <a:lnTo>
                  <a:pt x="331787" y="270116"/>
                </a:lnTo>
                <a:lnTo>
                  <a:pt x="331787" y="276466"/>
                </a:lnTo>
                <a:close/>
              </a:path>
              <a:path w="517525" h="370839">
                <a:moveTo>
                  <a:pt x="344487" y="106603"/>
                </a:moveTo>
                <a:lnTo>
                  <a:pt x="12700" y="106603"/>
                </a:lnTo>
                <a:lnTo>
                  <a:pt x="12700" y="100253"/>
                </a:lnTo>
                <a:lnTo>
                  <a:pt x="331787" y="100253"/>
                </a:lnTo>
                <a:lnTo>
                  <a:pt x="338137" y="93903"/>
                </a:lnTo>
                <a:lnTo>
                  <a:pt x="344487" y="93903"/>
                </a:lnTo>
                <a:lnTo>
                  <a:pt x="344487" y="106603"/>
                </a:lnTo>
                <a:close/>
              </a:path>
              <a:path w="517525" h="370839">
                <a:moveTo>
                  <a:pt x="12700" y="106603"/>
                </a:moveTo>
                <a:lnTo>
                  <a:pt x="6350" y="106603"/>
                </a:lnTo>
                <a:lnTo>
                  <a:pt x="12700" y="100253"/>
                </a:lnTo>
                <a:lnTo>
                  <a:pt x="12700" y="106603"/>
                </a:lnTo>
                <a:close/>
              </a:path>
              <a:path w="517525" h="370839">
                <a:moveTo>
                  <a:pt x="503504" y="189687"/>
                </a:moveTo>
                <a:lnTo>
                  <a:pt x="499008" y="185191"/>
                </a:lnTo>
                <a:lnTo>
                  <a:pt x="503504" y="180695"/>
                </a:lnTo>
                <a:lnTo>
                  <a:pt x="503504" y="189687"/>
                </a:lnTo>
                <a:close/>
              </a:path>
              <a:path w="517525" h="370839">
                <a:moveTo>
                  <a:pt x="512483" y="189687"/>
                </a:moveTo>
                <a:lnTo>
                  <a:pt x="503504" y="189687"/>
                </a:lnTo>
                <a:lnTo>
                  <a:pt x="503504" y="180695"/>
                </a:lnTo>
                <a:lnTo>
                  <a:pt x="512483" y="180695"/>
                </a:lnTo>
                <a:lnTo>
                  <a:pt x="516978" y="185191"/>
                </a:lnTo>
                <a:lnTo>
                  <a:pt x="512483" y="189687"/>
                </a:lnTo>
                <a:close/>
              </a:path>
              <a:path w="517525" h="370839">
                <a:moveTo>
                  <a:pt x="347116" y="355053"/>
                </a:moveTo>
                <a:lnTo>
                  <a:pt x="344487" y="355053"/>
                </a:lnTo>
                <a:lnTo>
                  <a:pt x="344487" y="339724"/>
                </a:lnTo>
                <a:lnTo>
                  <a:pt x="499008" y="185191"/>
                </a:lnTo>
                <a:lnTo>
                  <a:pt x="503504" y="189687"/>
                </a:lnTo>
                <a:lnTo>
                  <a:pt x="512483" y="189687"/>
                </a:lnTo>
                <a:lnTo>
                  <a:pt x="347116" y="355053"/>
                </a:lnTo>
                <a:close/>
              </a:path>
              <a:path w="517525" h="370839">
                <a:moveTo>
                  <a:pt x="12700" y="270116"/>
                </a:moveTo>
                <a:lnTo>
                  <a:pt x="6350" y="263766"/>
                </a:lnTo>
                <a:lnTo>
                  <a:pt x="12700" y="263766"/>
                </a:lnTo>
                <a:lnTo>
                  <a:pt x="12700" y="270116"/>
                </a:lnTo>
                <a:close/>
              </a:path>
              <a:path w="517525" h="370839">
                <a:moveTo>
                  <a:pt x="344487" y="276466"/>
                </a:moveTo>
                <a:lnTo>
                  <a:pt x="338137" y="276466"/>
                </a:lnTo>
                <a:lnTo>
                  <a:pt x="331787" y="270116"/>
                </a:lnTo>
                <a:lnTo>
                  <a:pt x="12700" y="270116"/>
                </a:lnTo>
                <a:lnTo>
                  <a:pt x="12700" y="263766"/>
                </a:lnTo>
                <a:lnTo>
                  <a:pt x="344487" y="263766"/>
                </a:lnTo>
                <a:lnTo>
                  <a:pt x="344487" y="276466"/>
                </a:lnTo>
                <a:close/>
              </a:path>
              <a:path w="517525" h="370839">
                <a:moveTo>
                  <a:pt x="331787" y="370382"/>
                </a:moveTo>
                <a:lnTo>
                  <a:pt x="331787" y="270116"/>
                </a:lnTo>
                <a:lnTo>
                  <a:pt x="338137" y="276466"/>
                </a:lnTo>
                <a:lnTo>
                  <a:pt x="344487" y="276466"/>
                </a:lnTo>
                <a:lnTo>
                  <a:pt x="344487" y="339724"/>
                </a:lnTo>
                <a:lnTo>
                  <a:pt x="333654" y="350558"/>
                </a:lnTo>
                <a:lnTo>
                  <a:pt x="344487" y="355053"/>
                </a:lnTo>
                <a:lnTo>
                  <a:pt x="347116" y="355053"/>
                </a:lnTo>
                <a:lnTo>
                  <a:pt x="331787" y="370382"/>
                </a:lnTo>
                <a:close/>
              </a:path>
              <a:path w="517525" h="370839">
                <a:moveTo>
                  <a:pt x="344487" y="355053"/>
                </a:moveTo>
                <a:lnTo>
                  <a:pt x="333654" y="350558"/>
                </a:lnTo>
                <a:lnTo>
                  <a:pt x="344487" y="339724"/>
                </a:lnTo>
                <a:lnTo>
                  <a:pt x="344487" y="35505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497813" y="2342502"/>
            <a:ext cx="919480" cy="549275"/>
          </a:xfrm>
          <a:custGeom>
            <a:avLst/>
            <a:gdLst/>
            <a:ahLst/>
            <a:cxnLst/>
            <a:rect l="l" t="t" r="r" b="b"/>
            <a:pathLst>
              <a:path w="919479" h="549275">
                <a:moveTo>
                  <a:pt x="18948" y="548982"/>
                </a:moveTo>
                <a:lnTo>
                  <a:pt x="0" y="515937"/>
                </a:lnTo>
                <a:lnTo>
                  <a:pt x="900112" y="0"/>
                </a:lnTo>
                <a:lnTo>
                  <a:pt x="919060" y="33045"/>
                </a:lnTo>
                <a:lnTo>
                  <a:pt x="18948" y="54898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00899" y="3152292"/>
            <a:ext cx="927735" cy="361950"/>
          </a:xfrm>
          <a:custGeom>
            <a:avLst/>
            <a:gdLst/>
            <a:ahLst/>
            <a:cxnLst/>
            <a:rect l="l" t="t" r="r" b="b"/>
            <a:pathLst>
              <a:path w="927734" h="361950">
                <a:moveTo>
                  <a:pt x="914400" y="361327"/>
                </a:moveTo>
                <a:lnTo>
                  <a:pt x="0" y="35890"/>
                </a:lnTo>
                <a:lnTo>
                  <a:pt x="12776" y="0"/>
                </a:lnTo>
                <a:lnTo>
                  <a:pt x="927176" y="325437"/>
                </a:lnTo>
                <a:lnTo>
                  <a:pt x="914400" y="361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308860" y="1601724"/>
            <a:ext cx="3939540" cy="4079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21552" y="1242060"/>
            <a:ext cx="5640324" cy="4418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47132" y="2766060"/>
            <a:ext cx="1414780" cy="739140"/>
          </a:xfrm>
          <a:custGeom>
            <a:avLst/>
            <a:gdLst/>
            <a:ahLst/>
            <a:cxnLst/>
            <a:rect l="l" t="t" r="r" b="b"/>
            <a:pathLst>
              <a:path w="1414779" h="739139">
                <a:moveTo>
                  <a:pt x="1043939" y="739139"/>
                </a:moveTo>
                <a:lnTo>
                  <a:pt x="1043939" y="554736"/>
                </a:lnTo>
                <a:lnTo>
                  <a:pt x="0" y="554736"/>
                </a:lnTo>
                <a:lnTo>
                  <a:pt x="0" y="184403"/>
                </a:lnTo>
                <a:lnTo>
                  <a:pt x="1043939" y="184403"/>
                </a:lnTo>
                <a:lnTo>
                  <a:pt x="1043939" y="0"/>
                </a:lnTo>
                <a:lnTo>
                  <a:pt x="1414271" y="368807"/>
                </a:lnTo>
                <a:lnTo>
                  <a:pt x="1043939" y="73913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40337" y="2750096"/>
            <a:ext cx="1430020" cy="770890"/>
          </a:xfrm>
          <a:custGeom>
            <a:avLst/>
            <a:gdLst/>
            <a:ahLst/>
            <a:cxnLst/>
            <a:rect l="l" t="t" r="r" b="b"/>
            <a:pathLst>
              <a:path w="1430020" h="770889">
                <a:moveTo>
                  <a:pt x="1044575" y="200266"/>
                </a:moveTo>
                <a:lnTo>
                  <a:pt x="1044575" y="0"/>
                </a:lnTo>
                <a:lnTo>
                  <a:pt x="1059903" y="15328"/>
                </a:lnTo>
                <a:lnTo>
                  <a:pt x="1057275" y="15328"/>
                </a:lnTo>
                <a:lnTo>
                  <a:pt x="1046429" y="19824"/>
                </a:lnTo>
                <a:lnTo>
                  <a:pt x="1057275" y="30670"/>
                </a:lnTo>
                <a:lnTo>
                  <a:pt x="1057275" y="193916"/>
                </a:lnTo>
                <a:lnTo>
                  <a:pt x="1050925" y="193916"/>
                </a:lnTo>
                <a:lnTo>
                  <a:pt x="1044575" y="200266"/>
                </a:lnTo>
                <a:close/>
              </a:path>
              <a:path w="1430020" h="770889">
                <a:moveTo>
                  <a:pt x="1057275" y="30670"/>
                </a:moveTo>
                <a:lnTo>
                  <a:pt x="1046429" y="19824"/>
                </a:lnTo>
                <a:lnTo>
                  <a:pt x="1057275" y="15328"/>
                </a:lnTo>
                <a:lnTo>
                  <a:pt x="1057275" y="30670"/>
                </a:lnTo>
                <a:close/>
              </a:path>
              <a:path w="1430020" h="770889">
                <a:moveTo>
                  <a:pt x="1411820" y="385216"/>
                </a:moveTo>
                <a:lnTo>
                  <a:pt x="1057275" y="30670"/>
                </a:lnTo>
                <a:lnTo>
                  <a:pt x="1057275" y="15328"/>
                </a:lnTo>
                <a:lnTo>
                  <a:pt x="1059903" y="15328"/>
                </a:lnTo>
                <a:lnTo>
                  <a:pt x="1425295" y="380720"/>
                </a:lnTo>
                <a:lnTo>
                  <a:pt x="1416316" y="380720"/>
                </a:lnTo>
                <a:lnTo>
                  <a:pt x="1411820" y="385216"/>
                </a:lnTo>
                <a:close/>
              </a:path>
              <a:path w="1430020" h="770889">
                <a:moveTo>
                  <a:pt x="1044575" y="576503"/>
                </a:moveTo>
                <a:lnTo>
                  <a:pt x="0" y="576503"/>
                </a:lnTo>
                <a:lnTo>
                  <a:pt x="0" y="193916"/>
                </a:lnTo>
                <a:lnTo>
                  <a:pt x="1044575" y="193916"/>
                </a:lnTo>
                <a:lnTo>
                  <a:pt x="1044575" y="200266"/>
                </a:lnTo>
                <a:lnTo>
                  <a:pt x="12700" y="200266"/>
                </a:lnTo>
                <a:lnTo>
                  <a:pt x="6350" y="206616"/>
                </a:lnTo>
                <a:lnTo>
                  <a:pt x="12700" y="206616"/>
                </a:lnTo>
                <a:lnTo>
                  <a:pt x="12700" y="563803"/>
                </a:lnTo>
                <a:lnTo>
                  <a:pt x="6350" y="563803"/>
                </a:lnTo>
                <a:lnTo>
                  <a:pt x="12700" y="570153"/>
                </a:lnTo>
                <a:lnTo>
                  <a:pt x="1044575" y="570153"/>
                </a:lnTo>
                <a:lnTo>
                  <a:pt x="1044575" y="576503"/>
                </a:lnTo>
                <a:close/>
              </a:path>
              <a:path w="1430020" h="770889">
                <a:moveTo>
                  <a:pt x="1057275" y="206616"/>
                </a:moveTo>
                <a:lnTo>
                  <a:pt x="12700" y="206616"/>
                </a:lnTo>
                <a:lnTo>
                  <a:pt x="12700" y="200266"/>
                </a:lnTo>
                <a:lnTo>
                  <a:pt x="1044575" y="200266"/>
                </a:lnTo>
                <a:lnTo>
                  <a:pt x="1050925" y="193916"/>
                </a:lnTo>
                <a:lnTo>
                  <a:pt x="1057275" y="193916"/>
                </a:lnTo>
                <a:lnTo>
                  <a:pt x="1057275" y="206616"/>
                </a:lnTo>
                <a:close/>
              </a:path>
              <a:path w="1430020" h="770889">
                <a:moveTo>
                  <a:pt x="12700" y="206616"/>
                </a:moveTo>
                <a:lnTo>
                  <a:pt x="6350" y="206616"/>
                </a:lnTo>
                <a:lnTo>
                  <a:pt x="12700" y="200266"/>
                </a:lnTo>
                <a:lnTo>
                  <a:pt x="12700" y="206616"/>
                </a:lnTo>
                <a:close/>
              </a:path>
              <a:path w="1430020" h="770889">
                <a:moveTo>
                  <a:pt x="1416316" y="389712"/>
                </a:moveTo>
                <a:lnTo>
                  <a:pt x="1411820" y="385216"/>
                </a:lnTo>
                <a:lnTo>
                  <a:pt x="1416316" y="380720"/>
                </a:lnTo>
                <a:lnTo>
                  <a:pt x="1416316" y="389712"/>
                </a:lnTo>
                <a:close/>
              </a:path>
              <a:path w="1430020" h="770889">
                <a:moveTo>
                  <a:pt x="1425295" y="389712"/>
                </a:moveTo>
                <a:lnTo>
                  <a:pt x="1416316" y="389712"/>
                </a:lnTo>
                <a:lnTo>
                  <a:pt x="1416316" y="380720"/>
                </a:lnTo>
                <a:lnTo>
                  <a:pt x="1425295" y="380720"/>
                </a:lnTo>
                <a:lnTo>
                  <a:pt x="1429791" y="385216"/>
                </a:lnTo>
                <a:lnTo>
                  <a:pt x="1425295" y="389712"/>
                </a:lnTo>
                <a:close/>
              </a:path>
              <a:path w="1430020" h="770889">
                <a:moveTo>
                  <a:pt x="1059903" y="755103"/>
                </a:moveTo>
                <a:lnTo>
                  <a:pt x="1057275" y="755103"/>
                </a:lnTo>
                <a:lnTo>
                  <a:pt x="1057275" y="739762"/>
                </a:lnTo>
                <a:lnTo>
                  <a:pt x="1411820" y="385216"/>
                </a:lnTo>
                <a:lnTo>
                  <a:pt x="1416316" y="389712"/>
                </a:lnTo>
                <a:lnTo>
                  <a:pt x="1425295" y="389712"/>
                </a:lnTo>
                <a:lnTo>
                  <a:pt x="1059903" y="755103"/>
                </a:lnTo>
                <a:close/>
              </a:path>
              <a:path w="1430020" h="770889">
                <a:moveTo>
                  <a:pt x="12700" y="570153"/>
                </a:moveTo>
                <a:lnTo>
                  <a:pt x="6350" y="563803"/>
                </a:lnTo>
                <a:lnTo>
                  <a:pt x="12700" y="563803"/>
                </a:lnTo>
                <a:lnTo>
                  <a:pt x="12700" y="570153"/>
                </a:lnTo>
                <a:close/>
              </a:path>
              <a:path w="1430020" h="770889">
                <a:moveTo>
                  <a:pt x="1057275" y="576503"/>
                </a:moveTo>
                <a:lnTo>
                  <a:pt x="1050925" y="576503"/>
                </a:lnTo>
                <a:lnTo>
                  <a:pt x="1044575" y="570153"/>
                </a:lnTo>
                <a:lnTo>
                  <a:pt x="12700" y="570153"/>
                </a:lnTo>
                <a:lnTo>
                  <a:pt x="12700" y="563803"/>
                </a:lnTo>
                <a:lnTo>
                  <a:pt x="1057275" y="563803"/>
                </a:lnTo>
                <a:lnTo>
                  <a:pt x="1057275" y="576503"/>
                </a:lnTo>
                <a:close/>
              </a:path>
              <a:path w="1430020" h="770889">
                <a:moveTo>
                  <a:pt x="1044575" y="770432"/>
                </a:moveTo>
                <a:lnTo>
                  <a:pt x="1044575" y="570153"/>
                </a:lnTo>
                <a:lnTo>
                  <a:pt x="1050925" y="576503"/>
                </a:lnTo>
                <a:lnTo>
                  <a:pt x="1057275" y="576503"/>
                </a:lnTo>
                <a:lnTo>
                  <a:pt x="1057275" y="739762"/>
                </a:lnTo>
                <a:lnTo>
                  <a:pt x="1046429" y="750608"/>
                </a:lnTo>
                <a:lnTo>
                  <a:pt x="1057275" y="755103"/>
                </a:lnTo>
                <a:lnTo>
                  <a:pt x="1059903" y="755103"/>
                </a:lnTo>
                <a:lnTo>
                  <a:pt x="1044575" y="770432"/>
                </a:lnTo>
                <a:close/>
              </a:path>
              <a:path w="1430020" h="770889">
                <a:moveTo>
                  <a:pt x="1057275" y="755103"/>
                </a:moveTo>
                <a:lnTo>
                  <a:pt x="1046429" y="750608"/>
                </a:lnTo>
                <a:lnTo>
                  <a:pt x="1057275" y="739762"/>
                </a:lnTo>
                <a:lnTo>
                  <a:pt x="1057275" y="75510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82140" y="5475998"/>
            <a:ext cx="1928495" cy="862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0" spc="-5" i="1">
                <a:latin typeface="Times New Roman"/>
                <a:cs typeface="Times New Roman"/>
              </a:rPr>
              <a:t>p </a:t>
            </a:r>
            <a:r>
              <a:rPr dirty="0" sz="5500" spc="-5">
                <a:latin typeface="Symbol"/>
                <a:cs typeface="Symbol"/>
              </a:rPr>
              <a:t></a:t>
            </a:r>
            <a:r>
              <a:rPr dirty="0" sz="5500" spc="-365">
                <a:latin typeface="Times New Roman"/>
                <a:cs typeface="Times New Roman"/>
              </a:rPr>
              <a:t> </a:t>
            </a:r>
            <a:r>
              <a:rPr dirty="0" sz="5500" spc="5" i="1">
                <a:latin typeface="Times New Roman"/>
                <a:cs typeface="Times New Roman"/>
              </a:rPr>
              <a:t>CT</a:t>
            </a:r>
            <a:endParaRPr sz="5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0987" y="4615656"/>
            <a:ext cx="2526030" cy="0"/>
          </a:xfrm>
          <a:custGeom>
            <a:avLst/>
            <a:gdLst/>
            <a:ahLst/>
            <a:cxnLst/>
            <a:rect l="l" t="t" r="r" b="b"/>
            <a:pathLst>
              <a:path w="2526030" h="0">
                <a:moveTo>
                  <a:pt x="0" y="0"/>
                </a:moveTo>
                <a:lnTo>
                  <a:pt x="2525737" y="0"/>
                </a:lnTo>
              </a:path>
            </a:pathLst>
          </a:custGeom>
          <a:ln w="396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3178" y="3192703"/>
            <a:ext cx="2025650" cy="1425575"/>
          </a:xfrm>
          <a:custGeom>
            <a:avLst/>
            <a:gdLst/>
            <a:ahLst/>
            <a:cxnLst/>
            <a:rect l="l" t="t" r="r" b="b"/>
            <a:pathLst>
              <a:path w="2025650" h="1425575">
                <a:moveTo>
                  <a:pt x="1900085" y="118313"/>
                </a:moveTo>
                <a:lnTo>
                  <a:pt x="1878330" y="87033"/>
                </a:lnTo>
                <a:lnTo>
                  <a:pt x="2003425" y="0"/>
                </a:lnTo>
                <a:lnTo>
                  <a:pt x="2025192" y="31267"/>
                </a:lnTo>
                <a:lnTo>
                  <a:pt x="1900085" y="118313"/>
                </a:lnTo>
                <a:close/>
              </a:path>
              <a:path w="2025650" h="1425575">
                <a:moveTo>
                  <a:pt x="1681162" y="270624"/>
                </a:moveTo>
                <a:lnTo>
                  <a:pt x="1659394" y="239344"/>
                </a:lnTo>
                <a:lnTo>
                  <a:pt x="1784502" y="152311"/>
                </a:lnTo>
                <a:lnTo>
                  <a:pt x="1806257" y="183591"/>
                </a:lnTo>
                <a:lnTo>
                  <a:pt x="1681162" y="270624"/>
                </a:lnTo>
                <a:close/>
              </a:path>
              <a:path w="2025650" h="1425575">
                <a:moveTo>
                  <a:pt x="1462227" y="422935"/>
                </a:moveTo>
                <a:lnTo>
                  <a:pt x="1440472" y="391655"/>
                </a:lnTo>
                <a:lnTo>
                  <a:pt x="1565567" y="304622"/>
                </a:lnTo>
                <a:lnTo>
                  <a:pt x="1587334" y="335902"/>
                </a:lnTo>
                <a:lnTo>
                  <a:pt x="1462227" y="422935"/>
                </a:lnTo>
                <a:close/>
              </a:path>
              <a:path w="2025650" h="1425575">
                <a:moveTo>
                  <a:pt x="1243304" y="575246"/>
                </a:moveTo>
                <a:lnTo>
                  <a:pt x="1221536" y="543966"/>
                </a:lnTo>
                <a:lnTo>
                  <a:pt x="1346644" y="456933"/>
                </a:lnTo>
                <a:lnTo>
                  <a:pt x="1368399" y="488213"/>
                </a:lnTo>
                <a:lnTo>
                  <a:pt x="1243304" y="575246"/>
                </a:lnTo>
                <a:close/>
              </a:path>
              <a:path w="2025650" h="1425575">
                <a:moveTo>
                  <a:pt x="1024369" y="727557"/>
                </a:moveTo>
                <a:lnTo>
                  <a:pt x="1002614" y="696290"/>
                </a:lnTo>
                <a:lnTo>
                  <a:pt x="1127721" y="609244"/>
                </a:lnTo>
                <a:lnTo>
                  <a:pt x="1149477" y="640524"/>
                </a:lnTo>
                <a:lnTo>
                  <a:pt x="1024369" y="727557"/>
                </a:lnTo>
                <a:close/>
              </a:path>
              <a:path w="2025650" h="1425575">
                <a:moveTo>
                  <a:pt x="805446" y="879868"/>
                </a:moveTo>
                <a:lnTo>
                  <a:pt x="783691" y="848601"/>
                </a:lnTo>
                <a:lnTo>
                  <a:pt x="908786" y="761568"/>
                </a:lnTo>
                <a:lnTo>
                  <a:pt x="930541" y="792835"/>
                </a:lnTo>
                <a:lnTo>
                  <a:pt x="805446" y="879868"/>
                </a:lnTo>
                <a:close/>
              </a:path>
              <a:path w="2025650" h="1425575">
                <a:moveTo>
                  <a:pt x="586511" y="1032192"/>
                </a:moveTo>
                <a:lnTo>
                  <a:pt x="564756" y="1000912"/>
                </a:lnTo>
                <a:lnTo>
                  <a:pt x="689863" y="913879"/>
                </a:lnTo>
                <a:lnTo>
                  <a:pt x="711619" y="945146"/>
                </a:lnTo>
                <a:lnTo>
                  <a:pt x="586511" y="1032192"/>
                </a:lnTo>
                <a:close/>
              </a:path>
              <a:path w="2025650" h="1425575">
                <a:moveTo>
                  <a:pt x="367588" y="1184503"/>
                </a:moveTo>
                <a:lnTo>
                  <a:pt x="345833" y="1153223"/>
                </a:lnTo>
                <a:lnTo>
                  <a:pt x="470928" y="1066190"/>
                </a:lnTo>
                <a:lnTo>
                  <a:pt x="492696" y="1097457"/>
                </a:lnTo>
                <a:lnTo>
                  <a:pt x="367588" y="1184503"/>
                </a:lnTo>
                <a:close/>
              </a:path>
              <a:path w="2025650" h="1425575">
                <a:moveTo>
                  <a:pt x="148666" y="1336814"/>
                </a:moveTo>
                <a:lnTo>
                  <a:pt x="126898" y="1305534"/>
                </a:lnTo>
                <a:lnTo>
                  <a:pt x="252006" y="1218501"/>
                </a:lnTo>
                <a:lnTo>
                  <a:pt x="273761" y="1249781"/>
                </a:lnTo>
                <a:lnTo>
                  <a:pt x="148666" y="1336814"/>
                </a:lnTo>
                <a:close/>
              </a:path>
              <a:path w="2025650" h="1425575">
                <a:moveTo>
                  <a:pt x="21767" y="1425092"/>
                </a:moveTo>
                <a:lnTo>
                  <a:pt x="0" y="1393825"/>
                </a:lnTo>
                <a:lnTo>
                  <a:pt x="33070" y="1370812"/>
                </a:lnTo>
                <a:lnTo>
                  <a:pt x="54838" y="1402092"/>
                </a:lnTo>
                <a:lnTo>
                  <a:pt x="21767" y="14250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4951" y="4530725"/>
            <a:ext cx="164998" cy="165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2252" y="4411838"/>
            <a:ext cx="4505325" cy="1970405"/>
          </a:xfrm>
          <a:prstGeom prst="rect">
            <a:avLst/>
          </a:prstGeom>
        </p:spPr>
        <p:txBody>
          <a:bodyPr wrap="square" lIns="0" tIns="237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3550" spc="5">
                <a:latin typeface="Symbol"/>
                <a:cs typeface="Symbol"/>
              </a:rPr>
              <a:t></a:t>
            </a:r>
            <a:r>
              <a:rPr dirty="0" sz="3550" spc="5">
                <a:latin typeface="Times New Roman"/>
                <a:cs typeface="Times New Roman"/>
              </a:rPr>
              <a:t>273.15</a:t>
            </a:r>
            <a:endParaRPr sz="3550">
              <a:latin typeface="Times New Roman"/>
              <a:cs typeface="Times New Roman"/>
            </a:endParaRPr>
          </a:p>
          <a:p>
            <a:pPr marL="1461135">
              <a:lnSpc>
                <a:spcPct val="100000"/>
              </a:lnSpc>
              <a:spcBef>
                <a:spcPts val="2685"/>
              </a:spcBef>
              <a:tabLst>
                <a:tab pos="3340100" algn="l"/>
              </a:tabLst>
            </a:pPr>
            <a:r>
              <a:rPr dirty="0" sz="5500" spc="-5" i="1">
                <a:latin typeface="Times New Roman"/>
                <a:cs typeface="Times New Roman"/>
              </a:rPr>
              <a:t>p</a:t>
            </a:r>
            <a:r>
              <a:rPr dirty="0" sz="5500" i="1">
                <a:latin typeface="Times New Roman"/>
                <a:cs typeface="Times New Roman"/>
              </a:rPr>
              <a:t> </a:t>
            </a:r>
            <a:r>
              <a:rPr dirty="0" sz="5500" spc="-5">
                <a:latin typeface="Symbol"/>
                <a:cs typeface="Symbol"/>
              </a:rPr>
              <a:t></a:t>
            </a:r>
            <a:r>
              <a:rPr dirty="0" sz="5500" spc="580">
                <a:latin typeface="Times New Roman"/>
                <a:cs typeface="Times New Roman"/>
              </a:rPr>
              <a:t> </a:t>
            </a:r>
            <a:r>
              <a:rPr dirty="0" sz="5500" i="1">
                <a:latin typeface="Times New Roman"/>
                <a:cs typeface="Times New Roman"/>
              </a:rPr>
              <a:t>p</a:t>
            </a:r>
            <a:r>
              <a:rPr dirty="0" baseline="-24691" sz="4725">
                <a:latin typeface="Times New Roman"/>
                <a:cs typeface="Times New Roman"/>
              </a:rPr>
              <a:t>z	</a:t>
            </a:r>
            <a:r>
              <a:rPr dirty="0" sz="5500" spc="-5">
                <a:latin typeface="Symbol"/>
                <a:cs typeface="Symbol"/>
              </a:rPr>
              <a:t></a:t>
            </a:r>
            <a:r>
              <a:rPr dirty="0" sz="5500" spc="-620">
                <a:latin typeface="Times New Roman"/>
                <a:cs typeface="Times New Roman"/>
              </a:rPr>
              <a:t> </a:t>
            </a:r>
            <a:r>
              <a:rPr dirty="0" sz="5500" spc="5" i="1">
                <a:latin typeface="Times New Roman"/>
                <a:cs typeface="Times New Roman"/>
              </a:rPr>
              <a:t>Ct</a:t>
            </a:r>
            <a:endParaRPr sz="5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454" y="1088390"/>
            <a:ext cx="3234690" cy="2215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微软雅黑"/>
                <a:cs typeface="微软雅黑"/>
              </a:rPr>
              <a:t>气体的等容变化</a:t>
            </a:r>
            <a:endParaRPr sz="3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4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00"/>
              </a:spcBef>
            </a:pPr>
            <a:r>
              <a:rPr dirty="0" sz="3600" b="1">
                <a:solidFill>
                  <a:srgbClr val="FF0000"/>
                </a:solidFill>
                <a:latin typeface="微软雅黑"/>
                <a:cs typeface="微软雅黑"/>
              </a:rPr>
              <a:t>外推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869168" y="5751576"/>
            <a:ext cx="1323340" cy="1106805"/>
          </a:xfrm>
          <a:custGeom>
            <a:avLst/>
            <a:gdLst/>
            <a:ahLst/>
            <a:cxnLst/>
            <a:rect l="l" t="t" r="r" b="b"/>
            <a:pathLst>
              <a:path w="1323340" h="1106804">
                <a:moveTo>
                  <a:pt x="1322831" y="1106424"/>
                </a:moveTo>
                <a:lnTo>
                  <a:pt x="0" y="1106424"/>
                </a:lnTo>
                <a:lnTo>
                  <a:pt x="0" y="0"/>
                </a:lnTo>
                <a:lnTo>
                  <a:pt x="1322831" y="0"/>
                </a:lnTo>
                <a:lnTo>
                  <a:pt x="1322831" y="138684"/>
                </a:lnTo>
                <a:lnTo>
                  <a:pt x="661415" y="138684"/>
                </a:lnTo>
                <a:lnTo>
                  <a:pt x="246887" y="553212"/>
                </a:lnTo>
                <a:lnTo>
                  <a:pt x="350520" y="553212"/>
                </a:lnTo>
                <a:lnTo>
                  <a:pt x="350520" y="967740"/>
                </a:lnTo>
                <a:lnTo>
                  <a:pt x="1322831" y="967740"/>
                </a:lnTo>
                <a:lnTo>
                  <a:pt x="1322831" y="1106424"/>
                </a:lnTo>
                <a:close/>
              </a:path>
              <a:path w="1323340" h="1106804">
                <a:moveTo>
                  <a:pt x="816863" y="294132"/>
                </a:moveTo>
                <a:lnTo>
                  <a:pt x="661415" y="138684"/>
                </a:lnTo>
                <a:lnTo>
                  <a:pt x="1322831" y="138684"/>
                </a:lnTo>
                <a:lnTo>
                  <a:pt x="1322831" y="190500"/>
                </a:lnTo>
                <a:lnTo>
                  <a:pt x="816863" y="190500"/>
                </a:lnTo>
                <a:lnTo>
                  <a:pt x="816863" y="294132"/>
                </a:lnTo>
                <a:close/>
              </a:path>
              <a:path w="1323340" h="1106804">
                <a:moveTo>
                  <a:pt x="1322831" y="967740"/>
                </a:moveTo>
                <a:lnTo>
                  <a:pt x="972311" y="967740"/>
                </a:lnTo>
                <a:lnTo>
                  <a:pt x="972311" y="553212"/>
                </a:lnTo>
                <a:lnTo>
                  <a:pt x="1075943" y="553212"/>
                </a:lnTo>
                <a:lnTo>
                  <a:pt x="920496" y="397763"/>
                </a:lnTo>
                <a:lnTo>
                  <a:pt x="920496" y="190500"/>
                </a:lnTo>
                <a:lnTo>
                  <a:pt x="1322831" y="190500"/>
                </a:lnTo>
                <a:lnTo>
                  <a:pt x="1322831" y="96774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216640" y="5939028"/>
            <a:ext cx="627888" cy="7833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113007" y="5887211"/>
            <a:ext cx="835151" cy="8351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100536" y="5880836"/>
            <a:ext cx="861060" cy="845819"/>
          </a:xfrm>
          <a:custGeom>
            <a:avLst/>
            <a:gdLst/>
            <a:ahLst/>
            <a:cxnLst/>
            <a:rect l="l" t="t" r="r" b="b"/>
            <a:pathLst>
              <a:path w="861059" h="845820">
                <a:moveTo>
                  <a:pt x="112725" y="430263"/>
                </a:moveTo>
                <a:lnTo>
                  <a:pt x="0" y="430263"/>
                </a:lnTo>
                <a:lnTo>
                  <a:pt x="430263" y="0"/>
                </a:lnTo>
                <a:lnTo>
                  <a:pt x="443738" y="13474"/>
                </a:lnTo>
                <a:lnTo>
                  <a:pt x="425780" y="13474"/>
                </a:lnTo>
                <a:lnTo>
                  <a:pt x="430269" y="17964"/>
                </a:lnTo>
                <a:lnTo>
                  <a:pt x="30670" y="417563"/>
                </a:lnTo>
                <a:lnTo>
                  <a:pt x="15341" y="417563"/>
                </a:lnTo>
                <a:lnTo>
                  <a:pt x="19824" y="428409"/>
                </a:lnTo>
                <a:lnTo>
                  <a:pt x="112725" y="428409"/>
                </a:lnTo>
                <a:lnTo>
                  <a:pt x="112725" y="430263"/>
                </a:lnTo>
                <a:close/>
              </a:path>
              <a:path w="861059" h="845820">
                <a:moveTo>
                  <a:pt x="430269" y="17964"/>
                </a:moveTo>
                <a:lnTo>
                  <a:pt x="425780" y="13474"/>
                </a:lnTo>
                <a:lnTo>
                  <a:pt x="434759" y="13474"/>
                </a:lnTo>
                <a:lnTo>
                  <a:pt x="430269" y="17964"/>
                </a:lnTo>
                <a:close/>
              </a:path>
              <a:path w="861059" h="845820">
                <a:moveTo>
                  <a:pt x="592213" y="179920"/>
                </a:moveTo>
                <a:lnTo>
                  <a:pt x="430269" y="17964"/>
                </a:lnTo>
                <a:lnTo>
                  <a:pt x="434759" y="13474"/>
                </a:lnTo>
                <a:lnTo>
                  <a:pt x="443738" y="13474"/>
                </a:lnTo>
                <a:lnTo>
                  <a:pt x="579513" y="149250"/>
                </a:lnTo>
                <a:lnTo>
                  <a:pt x="579513" y="164591"/>
                </a:lnTo>
                <a:lnTo>
                  <a:pt x="585863" y="164591"/>
                </a:lnTo>
                <a:lnTo>
                  <a:pt x="581380" y="169075"/>
                </a:lnTo>
                <a:lnTo>
                  <a:pt x="592213" y="179908"/>
                </a:lnTo>
                <a:close/>
              </a:path>
              <a:path w="861059" h="845820">
                <a:moveTo>
                  <a:pt x="592213" y="161950"/>
                </a:moveTo>
                <a:lnTo>
                  <a:pt x="579513" y="149250"/>
                </a:lnTo>
                <a:lnTo>
                  <a:pt x="579513" y="54508"/>
                </a:lnTo>
                <a:lnTo>
                  <a:pt x="695947" y="54508"/>
                </a:lnTo>
                <a:lnTo>
                  <a:pt x="695947" y="60858"/>
                </a:lnTo>
                <a:lnTo>
                  <a:pt x="592213" y="60858"/>
                </a:lnTo>
                <a:lnTo>
                  <a:pt x="585863" y="67208"/>
                </a:lnTo>
                <a:lnTo>
                  <a:pt x="592213" y="67208"/>
                </a:lnTo>
                <a:lnTo>
                  <a:pt x="592213" y="161950"/>
                </a:lnTo>
                <a:close/>
              </a:path>
              <a:path w="861059" h="845820">
                <a:moveTo>
                  <a:pt x="592213" y="67208"/>
                </a:moveTo>
                <a:lnTo>
                  <a:pt x="585863" y="67208"/>
                </a:lnTo>
                <a:lnTo>
                  <a:pt x="592213" y="60858"/>
                </a:lnTo>
                <a:lnTo>
                  <a:pt x="592213" y="67208"/>
                </a:lnTo>
                <a:close/>
              </a:path>
              <a:path w="861059" h="845820">
                <a:moveTo>
                  <a:pt x="683247" y="67208"/>
                </a:moveTo>
                <a:lnTo>
                  <a:pt x="592213" y="67208"/>
                </a:lnTo>
                <a:lnTo>
                  <a:pt x="592213" y="60858"/>
                </a:lnTo>
                <a:lnTo>
                  <a:pt x="683247" y="60858"/>
                </a:lnTo>
                <a:lnTo>
                  <a:pt x="683247" y="67208"/>
                </a:lnTo>
                <a:close/>
              </a:path>
              <a:path w="861059" h="845820">
                <a:moveTo>
                  <a:pt x="695947" y="265683"/>
                </a:moveTo>
                <a:lnTo>
                  <a:pt x="683247" y="252983"/>
                </a:lnTo>
                <a:lnTo>
                  <a:pt x="683247" y="60858"/>
                </a:lnTo>
                <a:lnTo>
                  <a:pt x="689597" y="67208"/>
                </a:lnTo>
                <a:lnTo>
                  <a:pt x="695947" y="67208"/>
                </a:lnTo>
                <a:lnTo>
                  <a:pt x="695947" y="265683"/>
                </a:lnTo>
                <a:close/>
              </a:path>
              <a:path w="861059" h="845820">
                <a:moveTo>
                  <a:pt x="695947" y="67208"/>
                </a:moveTo>
                <a:lnTo>
                  <a:pt x="689597" y="67208"/>
                </a:lnTo>
                <a:lnTo>
                  <a:pt x="683247" y="60858"/>
                </a:lnTo>
                <a:lnTo>
                  <a:pt x="695947" y="60858"/>
                </a:lnTo>
                <a:lnTo>
                  <a:pt x="695947" y="67208"/>
                </a:lnTo>
                <a:close/>
              </a:path>
              <a:path w="861059" h="845820">
                <a:moveTo>
                  <a:pt x="579513" y="164591"/>
                </a:moveTo>
                <a:lnTo>
                  <a:pt x="579513" y="149250"/>
                </a:lnTo>
                <a:lnTo>
                  <a:pt x="590359" y="160096"/>
                </a:lnTo>
                <a:lnTo>
                  <a:pt x="579513" y="164591"/>
                </a:lnTo>
                <a:close/>
              </a:path>
              <a:path w="861059" h="845820">
                <a:moveTo>
                  <a:pt x="585863" y="164591"/>
                </a:moveTo>
                <a:lnTo>
                  <a:pt x="579513" y="164591"/>
                </a:lnTo>
                <a:lnTo>
                  <a:pt x="590359" y="160096"/>
                </a:lnTo>
                <a:lnTo>
                  <a:pt x="585863" y="164591"/>
                </a:lnTo>
                <a:close/>
              </a:path>
              <a:path w="861059" h="845820">
                <a:moveTo>
                  <a:pt x="592213" y="179908"/>
                </a:moveTo>
                <a:lnTo>
                  <a:pt x="581380" y="169075"/>
                </a:lnTo>
                <a:lnTo>
                  <a:pt x="590359" y="160096"/>
                </a:lnTo>
                <a:lnTo>
                  <a:pt x="592213" y="161950"/>
                </a:lnTo>
                <a:lnTo>
                  <a:pt x="592213" y="179908"/>
                </a:lnTo>
                <a:close/>
              </a:path>
              <a:path w="861059" h="845820">
                <a:moveTo>
                  <a:pt x="683247" y="270941"/>
                </a:moveTo>
                <a:lnTo>
                  <a:pt x="592226" y="179920"/>
                </a:lnTo>
                <a:lnTo>
                  <a:pt x="592213" y="161950"/>
                </a:lnTo>
                <a:lnTo>
                  <a:pt x="683247" y="252983"/>
                </a:lnTo>
                <a:lnTo>
                  <a:pt x="683247" y="270941"/>
                </a:lnTo>
                <a:close/>
              </a:path>
              <a:path w="861059" h="845820">
                <a:moveTo>
                  <a:pt x="685114" y="272808"/>
                </a:moveTo>
                <a:lnTo>
                  <a:pt x="683259" y="270954"/>
                </a:lnTo>
                <a:lnTo>
                  <a:pt x="683247" y="252983"/>
                </a:lnTo>
                <a:lnTo>
                  <a:pt x="694093" y="263829"/>
                </a:lnTo>
                <a:lnTo>
                  <a:pt x="685114" y="272808"/>
                </a:lnTo>
                <a:close/>
              </a:path>
              <a:path w="861059" h="845820">
                <a:moveTo>
                  <a:pt x="703072" y="272808"/>
                </a:moveTo>
                <a:lnTo>
                  <a:pt x="685114" y="272808"/>
                </a:lnTo>
                <a:lnTo>
                  <a:pt x="694093" y="263829"/>
                </a:lnTo>
                <a:lnTo>
                  <a:pt x="695947" y="268325"/>
                </a:lnTo>
                <a:lnTo>
                  <a:pt x="698588" y="268325"/>
                </a:lnTo>
                <a:lnTo>
                  <a:pt x="703072" y="272808"/>
                </a:lnTo>
                <a:close/>
              </a:path>
              <a:path w="861059" h="845820">
                <a:moveTo>
                  <a:pt x="695947" y="268325"/>
                </a:moveTo>
                <a:lnTo>
                  <a:pt x="694093" y="263829"/>
                </a:lnTo>
                <a:lnTo>
                  <a:pt x="695947" y="265683"/>
                </a:lnTo>
                <a:lnTo>
                  <a:pt x="695947" y="268325"/>
                </a:lnTo>
                <a:close/>
              </a:path>
              <a:path w="861059" h="845820">
                <a:moveTo>
                  <a:pt x="698588" y="268325"/>
                </a:moveTo>
                <a:lnTo>
                  <a:pt x="695947" y="268325"/>
                </a:lnTo>
                <a:lnTo>
                  <a:pt x="695947" y="265683"/>
                </a:lnTo>
                <a:lnTo>
                  <a:pt x="698588" y="268325"/>
                </a:lnTo>
                <a:close/>
              </a:path>
              <a:path w="861059" h="845820">
                <a:moveTo>
                  <a:pt x="840714" y="428409"/>
                </a:moveTo>
                <a:lnTo>
                  <a:pt x="683247" y="270954"/>
                </a:lnTo>
                <a:lnTo>
                  <a:pt x="685114" y="272808"/>
                </a:lnTo>
                <a:lnTo>
                  <a:pt x="703072" y="272808"/>
                </a:lnTo>
                <a:lnTo>
                  <a:pt x="847826" y="417563"/>
                </a:lnTo>
                <a:lnTo>
                  <a:pt x="845197" y="417563"/>
                </a:lnTo>
                <a:lnTo>
                  <a:pt x="840714" y="428409"/>
                </a:lnTo>
                <a:close/>
              </a:path>
              <a:path w="861059" h="845820">
                <a:moveTo>
                  <a:pt x="19824" y="428409"/>
                </a:moveTo>
                <a:lnTo>
                  <a:pt x="15341" y="417563"/>
                </a:lnTo>
                <a:lnTo>
                  <a:pt x="30670" y="417563"/>
                </a:lnTo>
                <a:lnTo>
                  <a:pt x="19824" y="428409"/>
                </a:lnTo>
                <a:close/>
              </a:path>
              <a:path w="861059" h="845820">
                <a:moveTo>
                  <a:pt x="112725" y="428409"/>
                </a:moveTo>
                <a:lnTo>
                  <a:pt x="19824" y="428409"/>
                </a:lnTo>
                <a:lnTo>
                  <a:pt x="30670" y="417563"/>
                </a:lnTo>
                <a:lnTo>
                  <a:pt x="119075" y="417563"/>
                </a:lnTo>
                <a:lnTo>
                  <a:pt x="119075" y="423913"/>
                </a:lnTo>
                <a:lnTo>
                  <a:pt x="112725" y="423913"/>
                </a:lnTo>
                <a:lnTo>
                  <a:pt x="112725" y="428409"/>
                </a:lnTo>
                <a:close/>
              </a:path>
              <a:path w="861059" h="845820">
                <a:moveTo>
                  <a:pt x="125425" y="430263"/>
                </a:moveTo>
                <a:lnTo>
                  <a:pt x="119075" y="430263"/>
                </a:lnTo>
                <a:lnTo>
                  <a:pt x="119075" y="417563"/>
                </a:lnTo>
                <a:lnTo>
                  <a:pt x="125425" y="417563"/>
                </a:lnTo>
                <a:lnTo>
                  <a:pt x="125425" y="430263"/>
                </a:lnTo>
                <a:close/>
              </a:path>
              <a:path w="861059" h="845820">
                <a:moveTo>
                  <a:pt x="735114" y="430263"/>
                </a:moveTo>
                <a:lnTo>
                  <a:pt x="125425" y="430263"/>
                </a:lnTo>
                <a:lnTo>
                  <a:pt x="125425" y="417563"/>
                </a:lnTo>
                <a:lnTo>
                  <a:pt x="735114" y="417563"/>
                </a:lnTo>
                <a:lnTo>
                  <a:pt x="735114" y="430263"/>
                </a:lnTo>
                <a:close/>
              </a:path>
              <a:path w="861059" h="845820">
                <a:moveTo>
                  <a:pt x="735114" y="838847"/>
                </a:moveTo>
                <a:lnTo>
                  <a:pt x="735114" y="417563"/>
                </a:lnTo>
                <a:lnTo>
                  <a:pt x="741464" y="417563"/>
                </a:lnTo>
                <a:lnTo>
                  <a:pt x="741464" y="430263"/>
                </a:lnTo>
                <a:lnTo>
                  <a:pt x="747814" y="430263"/>
                </a:lnTo>
                <a:lnTo>
                  <a:pt x="747814" y="832497"/>
                </a:lnTo>
                <a:lnTo>
                  <a:pt x="741464" y="832497"/>
                </a:lnTo>
                <a:lnTo>
                  <a:pt x="735114" y="838847"/>
                </a:lnTo>
                <a:close/>
              </a:path>
              <a:path w="861059" h="845820">
                <a:moveTo>
                  <a:pt x="741464" y="430263"/>
                </a:moveTo>
                <a:lnTo>
                  <a:pt x="741464" y="417563"/>
                </a:lnTo>
                <a:lnTo>
                  <a:pt x="829867" y="417563"/>
                </a:lnTo>
                <a:lnTo>
                  <a:pt x="836218" y="423913"/>
                </a:lnTo>
                <a:lnTo>
                  <a:pt x="747814" y="423913"/>
                </a:lnTo>
                <a:lnTo>
                  <a:pt x="741464" y="430263"/>
                </a:lnTo>
                <a:close/>
              </a:path>
              <a:path w="861059" h="845820">
                <a:moveTo>
                  <a:pt x="858672" y="428409"/>
                </a:moveTo>
                <a:lnTo>
                  <a:pt x="840714" y="428409"/>
                </a:lnTo>
                <a:lnTo>
                  <a:pt x="845197" y="417563"/>
                </a:lnTo>
                <a:lnTo>
                  <a:pt x="847826" y="417563"/>
                </a:lnTo>
                <a:lnTo>
                  <a:pt x="858672" y="428409"/>
                </a:lnTo>
                <a:close/>
              </a:path>
              <a:path w="861059" h="845820">
                <a:moveTo>
                  <a:pt x="747814" y="845197"/>
                </a:moveTo>
                <a:lnTo>
                  <a:pt x="112725" y="845197"/>
                </a:lnTo>
                <a:lnTo>
                  <a:pt x="112725" y="423913"/>
                </a:lnTo>
                <a:lnTo>
                  <a:pt x="119075" y="430263"/>
                </a:lnTo>
                <a:lnTo>
                  <a:pt x="125425" y="430263"/>
                </a:lnTo>
                <a:lnTo>
                  <a:pt x="125425" y="832497"/>
                </a:lnTo>
                <a:lnTo>
                  <a:pt x="119075" y="832497"/>
                </a:lnTo>
                <a:lnTo>
                  <a:pt x="125425" y="838847"/>
                </a:lnTo>
                <a:lnTo>
                  <a:pt x="747814" y="838847"/>
                </a:lnTo>
                <a:lnTo>
                  <a:pt x="747814" y="845197"/>
                </a:lnTo>
                <a:close/>
              </a:path>
              <a:path w="861059" h="845820">
                <a:moveTo>
                  <a:pt x="119075" y="430263"/>
                </a:moveTo>
                <a:lnTo>
                  <a:pt x="112725" y="423913"/>
                </a:lnTo>
                <a:lnTo>
                  <a:pt x="119075" y="423913"/>
                </a:lnTo>
                <a:lnTo>
                  <a:pt x="119075" y="430263"/>
                </a:lnTo>
                <a:close/>
              </a:path>
              <a:path w="861059" h="845820">
                <a:moveTo>
                  <a:pt x="747814" y="430263"/>
                </a:moveTo>
                <a:lnTo>
                  <a:pt x="741464" y="430263"/>
                </a:lnTo>
                <a:lnTo>
                  <a:pt x="747814" y="423913"/>
                </a:lnTo>
                <a:lnTo>
                  <a:pt x="747814" y="430263"/>
                </a:lnTo>
                <a:close/>
              </a:path>
              <a:path w="861059" h="845820">
                <a:moveTo>
                  <a:pt x="860526" y="430263"/>
                </a:moveTo>
                <a:lnTo>
                  <a:pt x="747814" y="430263"/>
                </a:lnTo>
                <a:lnTo>
                  <a:pt x="747814" y="423913"/>
                </a:lnTo>
                <a:lnTo>
                  <a:pt x="836218" y="423913"/>
                </a:lnTo>
                <a:lnTo>
                  <a:pt x="840714" y="428409"/>
                </a:lnTo>
                <a:lnTo>
                  <a:pt x="858672" y="428409"/>
                </a:lnTo>
                <a:lnTo>
                  <a:pt x="860526" y="430263"/>
                </a:lnTo>
                <a:close/>
              </a:path>
              <a:path w="861059" h="845820">
                <a:moveTo>
                  <a:pt x="384746" y="838847"/>
                </a:moveTo>
                <a:lnTo>
                  <a:pt x="372046" y="838847"/>
                </a:lnTo>
                <a:lnTo>
                  <a:pt x="372046" y="625030"/>
                </a:lnTo>
                <a:lnTo>
                  <a:pt x="488480" y="625030"/>
                </a:lnTo>
                <a:lnTo>
                  <a:pt x="488480" y="631380"/>
                </a:lnTo>
                <a:lnTo>
                  <a:pt x="384746" y="631380"/>
                </a:lnTo>
                <a:lnTo>
                  <a:pt x="378396" y="637730"/>
                </a:lnTo>
                <a:lnTo>
                  <a:pt x="384746" y="637730"/>
                </a:lnTo>
                <a:lnTo>
                  <a:pt x="384746" y="838847"/>
                </a:lnTo>
                <a:close/>
              </a:path>
              <a:path w="861059" h="845820">
                <a:moveTo>
                  <a:pt x="384746" y="637730"/>
                </a:moveTo>
                <a:lnTo>
                  <a:pt x="378396" y="637730"/>
                </a:lnTo>
                <a:lnTo>
                  <a:pt x="384746" y="631380"/>
                </a:lnTo>
                <a:lnTo>
                  <a:pt x="384746" y="637730"/>
                </a:lnTo>
                <a:close/>
              </a:path>
              <a:path w="861059" h="845820">
                <a:moveTo>
                  <a:pt x="475780" y="637730"/>
                </a:moveTo>
                <a:lnTo>
                  <a:pt x="384746" y="637730"/>
                </a:lnTo>
                <a:lnTo>
                  <a:pt x="384746" y="631380"/>
                </a:lnTo>
                <a:lnTo>
                  <a:pt x="475780" y="631380"/>
                </a:lnTo>
                <a:lnTo>
                  <a:pt x="475780" y="637730"/>
                </a:lnTo>
                <a:close/>
              </a:path>
              <a:path w="861059" h="845820">
                <a:moveTo>
                  <a:pt x="488480" y="838847"/>
                </a:moveTo>
                <a:lnTo>
                  <a:pt x="475780" y="838847"/>
                </a:lnTo>
                <a:lnTo>
                  <a:pt x="475780" y="631380"/>
                </a:lnTo>
                <a:lnTo>
                  <a:pt x="482130" y="637730"/>
                </a:lnTo>
                <a:lnTo>
                  <a:pt x="488480" y="637730"/>
                </a:lnTo>
                <a:lnTo>
                  <a:pt x="488480" y="838847"/>
                </a:lnTo>
                <a:close/>
              </a:path>
              <a:path w="861059" h="845820">
                <a:moveTo>
                  <a:pt x="488480" y="637730"/>
                </a:moveTo>
                <a:lnTo>
                  <a:pt x="482130" y="637730"/>
                </a:lnTo>
                <a:lnTo>
                  <a:pt x="475780" y="631380"/>
                </a:lnTo>
                <a:lnTo>
                  <a:pt x="488480" y="631380"/>
                </a:lnTo>
                <a:lnTo>
                  <a:pt x="488480" y="637730"/>
                </a:lnTo>
                <a:close/>
              </a:path>
              <a:path w="861059" h="845820">
                <a:moveTo>
                  <a:pt x="125425" y="838847"/>
                </a:moveTo>
                <a:lnTo>
                  <a:pt x="119075" y="832497"/>
                </a:lnTo>
                <a:lnTo>
                  <a:pt x="125425" y="832497"/>
                </a:lnTo>
                <a:lnTo>
                  <a:pt x="125425" y="838847"/>
                </a:lnTo>
                <a:close/>
              </a:path>
              <a:path w="861059" h="845820">
                <a:moveTo>
                  <a:pt x="372046" y="838847"/>
                </a:moveTo>
                <a:lnTo>
                  <a:pt x="125425" y="838847"/>
                </a:lnTo>
                <a:lnTo>
                  <a:pt x="125425" y="832497"/>
                </a:lnTo>
                <a:lnTo>
                  <a:pt x="372046" y="832497"/>
                </a:lnTo>
                <a:lnTo>
                  <a:pt x="372046" y="838847"/>
                </a:lnTo>
                <a:close/>
              </a:path>
              <a:path w="861059" h="845820">
                <a:moveTo>
                  <a:pt x="475780" y="838847"/>
                </a:moveTo>
                <a:lnTo>
                  <a:pt x="384746" y="838847"/>
                </a:lnTo>
                <a:lnTo>
                  <a:pt x="384746" y="832497"/>
                </a:lnTo>
                <a:lnTo>
                  <a:pt x="475780" y="832497"/>
                </a:lnTo>
                <a:lnTo>
                  <a:pt x="475780" y="838847"/>
                </a:lnTo>
                <a:close/>
              </a:path>
              <a:path w="861059" h="845820">
                <a:moveTo>
                  <a:pt x="735114" y="838847"/>
                </a:moveTo>
                <a:lnTo>
                  <a:pt x="488480" y="838847"/>
                </a:lnTo>
                <a:lnTo>
                  <a:pt x="488480" y="832497"/>
                </a:lnTo>
                <a:lnTo>
                  <a:pt x="735114" y="832497"/>
                </a:lnTo>
                <a:lnTo>
                  <a:pt x="735114" y="838847"/>
                </a:lnTo>
                <a:close/>
              </a:path>
              <a:path w="861059" h="845820">
                <a:moveTo>
                  <a:pt x="747814" y="838847"/>
                </a:moveTo>
                <a:lnTo>
                  <a:pt x="735114" y="838847"/>
                </a:lnTo>
                <a:lnTo>
                  <a:pt x="741464" y="832497"/>
                </a:lnTo>
                <a:lnTo>
                  <a:pt x="747814" y="832497"/>
                </a:lnTo>
                <a:lnTo>
                  <a:pt x="747814" y="838847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863262" y="5745162"/>
            <a:ext cx="1329055" cy="1113155"/>
          </a:xfrm>
          <a:custGeom>
            <a:avLst/>
            <a:gdLst/>
            <a:ahLst/>
            <a:cxnLst/>
            <a:rect l="l" t="t" r="r" b="b"/>
            <a:pathLst>
              <a:path w="1329054" h="1113154">
                <a:moveTo>
                  <a:pt x="12700" y="1112837"/>
                </a:moveTo>
                <a:lnTo>
                  <a:pt x="0" y="1112837"/>
                </a:lnTo>
                <a:lnTo>
                  <a:pt x="0" y="0"/>
                </a:lnTo>
                <a:lnTo>
                  <a:pt x="1328737" y="0"/>
                </a:lnTo>
                <a:lnTo>
                  <a:pt x="132873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106487"/>
                </a:lnTo>
                <a:lnTo>
                  <a:pt x="6350" y="1106487"/>
                </a:lnTo>
                <a:lnTo>
                  <a:pt x="12700" y="1112837"/>
                </a:lnTo>
                <a:close/>
              </a:path>
              <a:path w="1329054" h="111315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329054" h="1113154">
                <a:moveTo>
                  <a:pt x="132238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322387" y="6350"/>
                </a:lnTo>
                <a:lnTo>
                  <a:pt x="1322387" y="12700"/>
                </a:lnTo>
                <a:close/>
              </a:path>
              <a:path w="1329054" h="1113154">
                <a:moveTo>
                  <a:pt x="1322387" y="1112837"/>
                </a:moveTo>
                <a:lnTo>
                  <a:pt x="1322387" y="6350"/>
                </a:lnTo>
                <a:lnTo>
                  <a:pt x="1328737" y="12700"/>
                </a:lnTo>
                <a:lnTo>
                  <a:pt x="1328737" y="1106487"/>
                </a:lnTo>
                <a:lnTo>
                  <a:pt x="1322387" y="1112837"/>
                </a:lnTo>
                <a:close/>
              </a:path>
              <a:path w="1329054" h="1113154">
                <a:moveTo>
                  <a:pt x="1328737" y="12700"/>
                </a:moveTo>
                <a:lnTo>
                  <a:pt x="1322387" y="6350"/>
                </a:lnTo>
                <a:lnTo>
                  <a:pt x="1328737" y="6350"/>
                </a:lnTo>
                <a:lnTo>
                  <a:pt x="1328737" y="12700"/>
                </a:lnTo>
                <a:close/>
              </a:path>
              <a:path w="1329054" h="1113154">
                <a:moveTo>
                  <a:pt x="12700" y="1112837"/>
                </a:moveTo>
                <a:lnTo>
                  <a:pt x="6350" y="1106487"/>
                </a:lnTo>
                <a:lnTo>
                  <a:pt x="12700" y="1106487"/>
                </a:lnTo>
                <a:lnTo>
                  <a:pt x="12700" y="1112837"/>
                </a:lnTo>
                <a:close/>
              </a:path>
              <a:path w="1329054" h="1113154">
                <a:moveTo>
                  <a:pt x="1322387" y="1112837"/>
                </a:moveTo>
                <a:lnTo>
                  <a:pt x="12700" y="1112837"/>
                </a:lnTo>
                <a:lnTo>
                  <a:pt x="12700" y="1106487"/>
                </a:lnTo>
                <a:lnTo>
                  <a:pt x="1322387" y="1106487"/>
                </a:lnTo>
                <a:lnTo>
                  <a:pt x="1322387" y="1112837"/>
                </a:lnTo>
                <a:close/>
              </a:path>
              <a:path w="1329054" h="1113154">
                <a:moveTo>
                  <a:pt x="1328737" y="1112837"/>
                </a:moveTo>
                <a:lnTo>
                  <a:pt x="1322387" y="1112837"/>
                </a:lnTo>
                <a:lnTo>
                  <a:pt x="1328737" y="1106487"/>
                </a:lnTo>
                <a:lnTo>
                  <a:pt x="1328737" y="1112837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2025-04-20T14:10:36Z</dcterms:created>
  <dcterms:modified xsi:type="dcterms:W3CDTF">2025-04-20T14:10:36Z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