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6689" y="174942"/>
            <a:ext cx="877062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6689" y="174942"/>
            <a:ext cx="2058670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295" y="1348689"/>
            <a:ext cx="7671409" cy="427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jp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jpg"/><Relationship Id="rId7" Type="http://schemas.openxmlformats.org/officeDocument/2006/relationships/image" Target="../media/image2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03040" y="2575560"/>
            <a:ext cx="2002789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>
                <a:solidFill>
                  <a:srgbClr val="000000"/>
                </a:solidFill>
                <a:latin typeface="微软雅黑"/>
                <a:cs typeface="微软雅黑"/>
              </a:rPr>
              <a:t>选 修 </a:t>
            </a:r>
            <a:r>
              <a:rPr dirty="0" sz="3200">
                <a:solidFill>
                  <a:srgbClr val="000000"/>
                </a:solidFill>
                <a:latin typeface="微软雅黑"/>
                <a:cs typeface="微软雅黑"/>
              </a:rPr>
              <a:t>3 -</a:t>
            </a:r>
            <a:r>
              <a:rPr dirty="0" sz="3200" spc="-114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3200">
                <a:solidFill>
                  <a:srgbClr val="000000"/>
                </a:solidFill>
                <a:latin typeface="微软雅黑"/>
                <a:cs typeface="微软雅黑"/>
              </a:rPr>
              <a:t>3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4920" y="3453129"/>
            <a:ext cx="49390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latin typeface="微软雅黑"/>
                <a:cs typeface="微软雅黑"/>
              </a:rPr>
              <a:t>固</a:t>
            </a:r>
            <a:r>
              <a:rPr dirty="0" sz="3200" spc="-20" b="1">
                <a:latin typeface="微软雅黑"/>
                <a:cs typeface="微软雅黑"/>
              </a:rPr>
              <a:t> </a:t>
            </a:r>
            <a:r>
              <a:rPr dirty="0" sz="3200" b="1">
                <a:latin typeface="微软雅黑"/>
                <a:cs typeface="微软雅黑"/>
              </a:rPr>
              <a:t>体、</a:t>
            </a:r>
            <a:r>
              <a:rPr dirty="0" sz="3200" spc="5" b="1">
                <a:latin typeface="微软雅黑"/>
                <a:cs typeface="微软雅黑"/>
              </a:rPr>
              <a:t>液</a:t>
            </a:r>
            <a:r>
              <a:rPr dirty="0" sz="3200" spc="-20" b="1">
                <a:latin typeface="微软雅黑"/>
                <a:cs typeface="微软雅黑"/>
              </a:rPr>
              <a:t> </a:t>
            </a:r>
            <a:r>
              <a:rPr dirty="0" sz="3200" spc="5" b="1">
                <a:latin typeface="微软雅黑"/>
                <a:cs typeface="微软雅黑"/>
              </a:rPr>
              <a:t>体</a:t>
            </a:r>
            <a:r>
              <a:rPr dirty="0" sz="3200" spc="-20" b="1">
                <a:latin typeface="微软雅黑"/>
                <a:cs typeface="微软雅黑"/>
              </a:rPr>
              <a:t> </a:t>
            </a:r>
            <a:r>
              <a:rPr dirty="0" sz="3200" spc="5" b="1">
                <a:latin typeface="微软雅黑"/>
                <a:cs typeface="微软雅黑"/>
              </a:rPr>
              <a:t>和</a:t>
            </a:r>
            <a:r>
              <a:rPr dirty="0" sz="3200" spc="-20" b="1">
                <a:latin typeface="微软雅黑"/>
                <a:cs typeface="微软雅黑"/>
              </a:rPr>
              <a:t> </a:t>
            </a:r>
            <a:r>
              <a:rPr dirty="0" sz="3200" spc="5" b="1">
                <a:latin typeface="微软雅黑"/>
                <a:cs typeface="微软雅黑"/>
              </a:rPr>
              <a:t>物</a:t>
            </a:r>
            <a:r>
              <a:rPr dirty="0" sz="3200" spc="-20" b="1">
                <a:latin typeface="微软雅黑"/>
                <a:cs typeface="微软雅黑"/>
              </a:rPr>
              <a:t> </a:t>
            </a:r>
            <a:r>
              <a:rPr dirty="0" sz="3200" spc="5" b="1">
                <a:latin typeface="微软雅黑"/>
                <a:cs typeface="微软雅黑"/>
              </a:rPr>
              <a:t>态</a:t>
            </a:r>
            <a:r>
              <a:rPr dirty="0" sz="3200" spc="-15" b="1">
                <a:latin typeface="微软雅黑"/>
                <a:cs typeface="微软雅黑"/>
              </a:rPr>
              <a:t> </a:t>
            </a:r>
            <a:r>
              <a:rPr dirty="0" sz="3200" spc="5" b="1">
                <a:latin typeface="微软雅黑"/>
                <a:cs typeface="微软雅黑"/>
              </a:rPr>
              <a:t>变</a:t>
            </a:r>
            <a:r>
              <a:rPr dirty="0" sz="3200" spc="-20" b="1">
                <a:latin typeface="微软雅黑"/>
                <a:cs typeface="微软雅黑"/>
              </a:rPr>
              <a:t> </a:t>
            </a:r>
            <a:r>
              <a:rPr dirty="0" sz="3200" spc="5" b="1">
                <a:latin typeface="微软雅黑"/>
                <a:cs typeface="微软雅黑"/>
              </a:rPr>
              <a:t>化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845" y="4817338"/>
            <a:ext cx="3928110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95"/>
              </a:spcBef>
              <a:tabLst>
                <a:tab pos="624840" algn="l"/>
                <a:tab pos="3604260" algn="l"/>
              </a:tabLst>
            </a:pPr>
            <a:r>
              <a:rPr dirty="0" sz="2400" b="1">
                <a:latin typeface="华文楷体"/>
                <a:cs typeface="华文楷体"/>
              </a:rPr>
              <a:t>主讲人：赵贺</a:t>
            </a:r>
            <a:r>
              <a:rPr dirty="0" sz="2400" spc="-5" b="1">
                <a:latin typeface="华文楷体"/>
                <a:cs typeface="华文楷体"/>
              </a:rPr>
              <a:t>林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spc="-565" b="1">
                <a:latin typeface="华文楷体"/>
                <a:cs typeface="华文楷体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学 学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latin typeface="华文楷体"/>
                <a:cs typeface="华文楷体"/>
              </a:rPr>
              <a:t>）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spc="-5" b="1">
                <a:latin typeface="华文楷体"/>
                <a:cs typeface="华文楷体"/>
              </a:rPr>
              <a:t>年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5815" y="4817338"/>
            <a:ext cx="3084830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</a:pPr>
            <a:r>
              <a:rPr dirty="0" sz="2400" b="1"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latin typeface="华文楷体"/>
                <a:cs typeface="华文楷体"/>
              </a:rPr>
              <a:t>学 </a:t>
            </a:r>
            <a:r>
              <a:rPr dirty="0" sz="2400" b="1"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4859" y="6518909"/>
            <a:ext cx="31750" cy="40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" spc="-5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358" y="2948063"/>
            <a:ext cx="3683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latin typeface="宋体"/>
                <a:cs typeface="宋体"/>
              </a:rPr>
              <a:t>固 体</a:t>
            </a:r>
            <a:endParaRPr sz="27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182" y="4064609"/>
            <a:ext cx="942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非晶</a:t>
            </a:r>
            <a:r>
              <a:rPr dirty="0" sz="2400" spc="-10" b="1">
                <a:latin typeface="宋体"/>
                <a:cs typeface="宋体"/>
              </a:rPr>
              <a:t>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5872" y="3023603"/>
            <a:ext cx="82804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宋体"/>
                <a:cs typeface="宋体"/>
              </a:rPr>
              <a:t>多晶</a:t>
            </a:r>
            <a:r>
              <a:rPr dirty="0" sz="2100" spc="-10" b="1">
                <a:latin typeface="宋体"/>
                <a:cs typeface="宋体"/>
              </a:rPr>
              <a:t>体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8461" y="1823199"/>
            <a:ext cx="2174240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58265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宋体"/>
                <a:cs typeface="宋体"/>
              </a:rPr>
              <a:t>单晶</a:t>
            </a:r>
            <a:r>
              <a:rPr dirty="0" sz="2100" spc="-10" b="1">
                <a:latin typeface="宋体"/>
                <a:cs typeface="宋体"/>
              </a:rPr>
              <a:t>体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宋体"/>
                <a:cs typeface="宋体"/>
              </a:rPr>
              <a:t>晶</a:t>
            </a:r>
            <a:r>
              <a:rPr dirty="0" sz="2400" spc="-10" b="1">
                <a:latin typeface="宋体"/>
                <a:cs typeface="宋体"/>
              </a:rPr>
              <a:t>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97672" y="2511132"/>
            <a:ext cx="126364" cy="1879600"/>
          </a:xfrm>
          <a:custGeom>
            <a:avLst/>
            <a:gdLst/>
            <a:ahLst/>
            <a:cxnLst/>
            <a:rect l="l" t="t" r="r" b="b"/>
            <a:pathLst>
              <a:path w="126364" h="1879600">
                <a:moveTo>
                  <a:pt x="123393" y="38100"/>
                </a:moveTo>
                <a:lnTo>
                  <a:pt x="124980" y="25400"/>
                </a:lnTo>
                <a:lnTo>
                  <a:pt x="76682" y="25400"/>
                </a:lnTo>
                <a:lnTo>
                  <a:pt x="80771" y="12700"/>
                </a:lnTo>
                <a:lnTo>
                  <a:pt x="89954" y="12700"/>
                </a:lnTo>
                <a:lnTo>
                  <a:pt x="90855" y="0"/>
                </a:lnTo>
                <a:lnTo>
                  <a:pt x="124536" y="0"/>
                </a:lnTo>
                <a:lnTo>
                  <a:pt x="126136" y="25400"/>
                </a:lnTo>
                <a:lnTo>
                  <a:pt x="123393" y="38100"/>
                </a:lnTo>
                <a:close/>
              </a:path>
              <a:path w="126364" h="1879600">
                <a:moveTo>
                  <a:pt x="122275" y="38100"/>
                </a:moveTo>
                <a:lnTo>
                  <a:pt x="67589" y="38100"/>
                </a:lnTo>
                <a:lnTo>
                  <a:pt x="71031" y="25400"/>
                </a:lnTo>
                <a:lnTo>
                  <a:pt x="124980" y="25400"/>
                </a:lnTo>
                <a:lnTo>
                  <a:pt x="122275" y="38100"/>
                </a:lnTo>
                <a:close/>
              </a:path>
              <a:path w="126364" h="1879600">
                <a:moveTo>
                  <a:pt x="103606" y="50800"/>
                </a:moveTo>
                <a:lnTo>
                  <a:pt x="63347" y="50800"/>
                </a:lnTo>
                <a:lnTo>
                  <a:pt x="63868" y="38100"/>
                </a:lnTo>
                <a:lnTo>
                  <a:pt x="107378" y="38100"/>
                </a:lnTo>
                <a:lnTo>
                  <a:pt x="103606" y="50800"/>
                </a:lnTo>
                <a:close/>
              </a:path>
              <a:path w="126364" h="1879600">
                <a:moveTo>
                  <a:pt x="106337" y="50800"/>
                </a:moveTo>
                <a:lnTo>
                  <a:pt x="107378" y="38100"/>
                </a:lnTo>
                <a:lnTo>
                  <a:pt x="110426" y="38100"/>
                </a:lnTo>
                <a:lnTo>
                  <a:pt x="106337" y="50800"/>
                </a:lnTo>
                <a:close/>
              </a:path>
              <a:path w="126364" h="1879600">
                <a:moveTo>
                  <a:pt x="98602" y="63500"/>
                </a:moveTo>
                <a:lnTo>
                  <a:pt x="58038" y="63500"/>
                </a:lnTo>
                <a:lnTo>
                  <a:pt x="60274" y="50800"/>
                </a:lnTo>
                <a:lnTo>
                  <a:pt x="101663" y="50800"/>
                </a:lnTo>
                <a:lnTo>
                  <a:pt x="98602" y="63500"/>
                </a:lnTo>
                <a:close/>
              </a:path>
              <a:path w="126364" h="1879600">
                <a:moveTo>
                  <a:pt x="94627" y="76200"/>
                </a:moveTo>
                <a:lnTo>
                  <a:pt x="55943" y="76200"/>
                </a:lnTo>
                <a:lnTo>
                  <a:pt x="57734" y="63500"/>
                </a:lnTo>
                <a:lnTo>
                  <a:pt x="96862" y="63500"/>
                </a:lnTo>
                <a:lnTo>
                  <a:pt x="94627" y="76200"/>
                </a:lnTo>
                <a:close/>
              </a:path>
              <a:path w="126364" h="1879600">
                <a:moveTo>
                  <a:pt x="92062" y="88900"/>
                </a:moveTo>
                <a:lnTo>
                  <a:pt x="53822" y="88900"/>
                </a:lnTo>
                <a:lnTo>
                  <a:pt x="54292" y="76200"/>
                </a:lnTo>
                <a:lnTo>
                  <a:pt x="93370" y="76200"/>
                </a:lnTo>
                <a:lnTo>
                  <a:pt x="92062" y="88900"/>
                </a:lnTo>
                <a:close/>
              </a:path>
              <a:path w="126364" h="1879600">
                <a:moveTo>
                  <a:pt x="91249" y="101600"/>
                </a:moveTo>
                <a:lnTo>
                  <a:pt x="53187" y="101600"/>
                </a:lnTo>
                <a:lnTo>
                  <a:pt x="53428" y="88900"/>
                </a:lnTo>
                <a:lnTo>
                  <a:pt x="91452" y="88900"/>
                </a:lnTo>
                <a:lnTo>
                  <a:pt x="91249" y="101600"/>
                </a:lnTo>
                <a:close/>
              </a:path>
              <a:path w="126364" h="1879600">
                <a:moveTo>
                  <a:pt x="91198" y="850900"/>
                </a:moveTo>
                <a:lnTo>
                  <a:pt x="53098" y="850900"/>
                </a:lnTo>
                <a:lnTo>
                  <a:pt x="53111" y="101600"/>
                </a:lnTo>
                <a:lnTo>
                  <a:pt x="91198" y="101600"/>
                </a:lnTo>
                <a:lnTo>
                  <a:pt x="91198" y="850900"/>
                </a:lnTo>
                <a:close/>
              </a:path>
              <a:path w="126364" h="1879600">
                <a:moveTo>
                  <a:pt x="90868" y="863600"/>
                </a:moveTo>
                <a:lnTo>
                  <a:pt x="52552" y="863600"/>
                </a:lnTo>
                <a:lnTo>
                  <a:pt x="52882" y="850900"/>
                </a:lnTo>
                <a:lnTo>
                  <a:pt x="91135" y="850900"/>
                </a:lnTo>
                <a:lnTo>
                  <a:pt x="90868" y="863600"/>
                </a:lnTo>
                <a:close/>
              </a:path>
              <a:path w="126364" h="1879600">
                <a:moveTo>
                  <a:pt x="50939" y="876300"/>
                </a:moveTo>
                <a:lnTo>
                  <a:pt x="49377" y="876300"/>
                </a:lnTo>
                <a:lnTo>
                  <a:pt x="51155" y="863600"/>
                </a:lnTo>
                <a:lnTo>
                  <a:pt x="50939" y="876300"/>
                </a:lnTo>
                <a:close/>
              </a:path>
              <a:path w="126364" h="1879600">
                <a:moveTo>
                  <a:pt x="88582" y="876300"/>
                </a:moveTo>
                <a:lnTo>
                  <a:pt x="50939" y="876300"/>
                </a:lnTo>
                <a:lnTo>
                  <a:pt x="52247" y="863600"/>
                </a:lnTo>
                <a:lnTo>
                  <a:pt x="89903" y="863600"/>
                </a:lnTo>
                <a:lnTo>
                  <a:pt x="88582" y="876300"/>
                </a:lnTo>
                <a:close/>
              </a:path>
              <a:path w="126364" h="1879600">
                <a:moveTo>
                  <a:pt x="86575" y="889000"/>
                </a:moveTo>
                <a:lnTo>
                  <a:pt x="47447" y="889000"/>
                </a:lnTo>
                <a:lnTo>
                  <a:pt x="49682" y="876300"/>
                </a:lnTo>
                <a:lnTo>
                  <a:pt x="88366" y="876300"/>
                </a:lnTo>
                <a:lnTo>
                  <a:pt x="86575" y="889000"/>
                </a:lnTo>
                <a:close/>
              </a:path>
              <a:path w="126364" h="1879600">
                <a:moveTo>
                  <a:pt x="42646" y="901700"/>
                </a:moveTo>
                <a:lnTo>
                  <a:pt x="39877" y="901700"/>
                </a:lnTo>
                <a:lnTo>
                  <a:pt x="43306" y="889000"/>
                </a:lnTo>
                <a:lnTo>
                  <a:pt x="42646" y="901700"/>
                </a:lnTo>
                <a:close/>
              </a:path>
              <a:path w="126364" h="1879600">
                <a:moveTo>
                  <a:pt x="83616" y="901700"/>
                </a:moveTo>
                <a:lnTo>
                  <a:pt x="42646" y="901700"/>
                </a:lnTo>
                <a:lnTo>
                  <a:pt x="45707" y="889000"/>
                </a:lnTo>
                <a:lnTo>
                  <a:pt x="84023" y="889000"/>
                </a:lnTo>
                <a:lnTo>
                  <a:pt x="83616" y="901700"/>
                </a:lnTo>
                <a:close/>
              </a:path>
              <a:path w="126364" h="1879600">
                <a:moveTo>
                  <a:pt x="33883" y="914400"/>
                </a:moveTo>
                <a:lnTo>
                  <a:pt x="32677" y="914400"/>
                </a:lnTo>
                <a:lnTo>
                  <a:pt x="34836" y="901700"/>
                </a:lnTo>
                <a:lnTo>
                  <a:pt x="33883" y="914400"/>
                </a:lnTo>
                <a:close/>
              </a:path>
              <a:path w="126364" h="1879600">
                <a:moveTo>
                  <a:pt x="77368" y="914400"/>
                </a:moveTo>
                <a:lnTo>
                  <a:pt x="33883" y="914400"/>
                </a:lnTo>
                <a:lnTo>
                  <a:pt x="37972" y="901700"/>
                </a:lnTo>
                <a:lnTo>
                  <a:pt x="80429" y="901700"/>
                </a:lnTo>
                <a:lnTo>
                  <a:pt x="77368" y="914400"/>
                </a:lnTo>
                <a:close/>
              </a:path>
              <a:path w="126364" h="1879600">
                <a:moveTo>
                  <a:pt x="19773" y="952500"/>
                </a:moveTo>
                <a:lnTo>
                  <a:pt x="3568" y="952500"/>
                </a:lnTo>
                <a:lnTo>
                  <a:pt x="1816" y="939800"/>
                </a:lnTo>
                <a:lnTo>
                  <a:pt x="0" y="939800"/>
                </a:lnTo>
                <a:lnTo>
                  <a:pt x="609" y="927100"/>
                </a:lnTo>
                <a:lnTo>
                  <a:pt x="5829" y="927100"/>
                </a:lnTo>
                <a:lnTo>
                  <a:pt x="8508" y="914400"/>
                </a:lnTo>
                <a:lnTo>
                  <a:pt x="19773" y="914400"/>
                </a:lnTo>
                <a:lnTo>
                  <a:pt x="19773" y="952500"/>
                </a:lnTo>
                <a:close/>
              </a:path>
              <a:path w="126364" h="1879600">
                <a:moveTo>
                  <a:pt x="46570" y="952500"/>
                </a:moveTo>
                <a:lnTo>
                  <a:pt x="19773" y="952500"/>
                </a:lnTo>
                <a:lnTo>
                  <a:pt x="19773" y="914400"/>
                </a:lnTo>
                <a:lnTo>
                  <a:pt x="39065" y="914400"/>
                </a:lnTo>
                <a:lnTo>
                  <a:pt x="40373" y="927100"/>
                </a:lnTo>
                <a:lnTo>
                  <a:pt x="57467" y="927100"/>
                </a:lnTo>
                <a:lnTo>
                  <a:pt x="59689" y="939800"/>
                </a:lnTo>
                <a:lnTo>
                  <a:pt x="47675" y="939800"/>
                </a:lnTo>
                <a:lnTo>
                  <a:pt x="46570" y="952500"/>
                </a:lnTo>
                <a:close/>
              </a:path>
              <a:path w="126364" h="1879600">
                <a:moveTo>
                  <a:pt x="68668" y="927100"/>
                </a:moveTo>
                <a:lnTo>
                  <a:pt x="40373" y="927100"/>
                </a:lnTo>
                <a:lnTo>
                  <a:pt x="39065" y="914400"/>
                </a:lnTo>
                <a:lnTo>
                  <a:pt x="72453" y="914400"/>
                </a:lnTo>
                <a:lnTo>
                  <a:pt x="68668" y="927100"/>
                </a:lnTo>
                <a:close/>
              </a:path>
              <a:path w="126364" h="1879600">
                <a:moveTo>
                  <a:pt x="62572" y="939800"/>
                </a:moveTo>
                <a:lnTo>
                  <a:pt x="59689" y="939800"/>
                </a:lnTo>
                <a:lnTo>
                  <a:pt x="57467" y="927100"/>
                </a:lnTo>
                <a:lnTo>
                  <a:pt x="63525" y="927100"/>
                </a:lnTo>
                <a:lnTo>
                  <a:pt x="62572" y="939800"/>
                </a:lnTo>
                <a:close/>
              </a:path>
              <a:path w="126364" h="1879600">
                <a:moveTo>
                  <a:pt x="72453" y="952500"/>
                </a:moveTo>
                <a:lnTo>
                  <a:pt x="46570" y="952500"/>
                </a:lnTo>
                <a:lnTo>
                  <a:pt x="47675" y="939800"/>
                </a:lnTo>
                <a:lnTo>
                  <a:pt x="68668" y="939800"/>
                </a:lnTo>
                <a:lnTo>
                  <a:pt x="72453" y="952500"/>
                </a:lnTo>
                <a:close/>
              </a:path>
              <a:path w="126364" h="1879600">
                <a:moveTo>
                  <a:pt x="30606" y="965200"/>
                </a:moveTo>
                <a:lnTo>
                  <a:pt x="28257" y="952500"/>
                </a:lnTo>
                <a:lnTo>
                  <a:pt x="29705" y="952500"/>
                </a:lnTo>
                <a:lnTo>
                  <a:pt x="30606" y="965200"/>
                </a:lnTo>
                <a:close/>
              </a:path>
              <a:path w="126364" h="1879600">
                <a:moveTo>
                  <a:pt x="77368" y="965200"/>
                </a:moveTo>
                <a:lnTo>
                  <a:pt x="31991" y="965200"/>
                </a:lnTo>
                <a:lnTo>
                  <a:pt x="29705" y="952500"/>
                </a:lnTo>
                <a:lnTo>
                  <a:pt x="76707" y="952500"/>
                </a:lnTo>
                <a:lnTo>
                  <a:pt x="77368" y="965200"/>
                </a:lnTo>
                <a:close/>
              </a:path>
              <a:path w="126364" h="1879600">
                <a:moveTo>
                  <a:pt x="40703" y="977900"/>
                </a:moveTo>
                <a:lnTo>
                  <a:pt x="36931" y="965200"/>
                </a:lnTo>
                <a:lnTo>
                  <a:pt x="39877" y="965200"/>
                </a:lnTo>
                <a:lnTo>
                  <a:pt x="40703" y="977900"/>
                </a:lnTo>
                <a:close/>
              </a:path>
              <a:path w="126364" h="1879600">
                <a:moveTo>
                  <a:pt x="83616" y="977900"/>
                </a:moveTo>
                <a:lnTo>
                  <a:pt x="43306" y="977900"/>
                </a:lnTo>
                <a:lnTo>
                  <a:pt x="39877" y="965200"/>
                </a:lnTo>
                <a:lnTo>
                  <a:pt x="80962" y="965200"/>
                </a:lnTo>
                <a:lnTo>
                  <a:pt x="83616" y="977900"/>
                </a:lnTo>
                <a:close/>
              </a:path>
              <a:path w="126364" h="1879600">
                <a:moveTo>
                  <a:pt x="86575" y="990600"/>
                </a:moveTo>
                <a:lnTo>
                  <a:pt x="47853" y="990600"/>
                </a:lnTo>
                <a:lnTo>
                  <a:pt x="45186" y="977900"/>
                </a:lnTo>
                <a:lnTo>
                  <a:pt x="86271" y="977900"/>
                </a:lnTo>
                <a:lnTo>
                  <a:pt x="86575" y="990600"/>
                </a:lnTo>
                <a:close/>
              </a:path>
              <a:path w="126364" h="1879600">
                <a:moveTo>
                  <a:pt x="89903" y="1003300"/>
                </a:moveTo>
                <a:lnTo>
                  <a:pt x="51155" y="1003300"/>
                </a:lnTo>
                <a:lnTo>
                  <a:pt x="49377" y="990600"/>
                </a:lnTo>
                <a:lnTo>
                  <a:pt x="88582" y="990600"/>
                </a:lnTo>
                <a:lnTo>
                  <a:pt x="89903" y="1003300"/>
                </a:lnTo>
                <a:close/>
              </a:path>
              <a:path w="126364" h="1879600">
                <a:moveTo>
                  <a:pt x="90906" y="1016000"/>
                </a:moveTo>
                <a:lnTo>
                  <a:pt x="52603" y="1016000"/>
                </a:lnTo>
                <a:lnTo>
                  <a:pt x="52133" y="1003300"/>
                </a:lnTo>
                <a:lnTo>
                  <a:pt x="90538" y="1003300"/>
                </a:lnTo>
                <a:lnTo>
                  <a:pt x="90906" y="1016000"/>
                </a:lnTo>
                <a:close/>
              </a:path>
              <a:path w="126364" h="1879600">
                <a:moveTo>
                  <a:pt x="91274" y="1778000"/>
                </a:moveTo>
                <a:lnTo>
                  <a:pt x="53187" y="1778000"/>
                </a:lnTo>
                <a:lnTo>
                  <a:pt x="53098" y="1028700"/>
                </a:lnTo>
                <a:lnTo>
                  <a:pt x="53035" y="1016000"/>
                </a:lnTo>
                <a:lnTo>
                  <a:pt x="91135" y="1016000"/>
                </a:lnTo>
                <a:lnTo>
                  <a:pt x="91198" y="1765300"/>
                </a:lnTo>
                <a:lnTo>
                  <a:pt x="91274" y="1778000"/>
                </a:lnTo>
                <a:close/>
              </a:path>
              <a:path w="126364" h="1879600">
                <a:moveTo>
                  <a:pt x="92176" y="1790700"/>
                </a:moveTo>
                <a:lnTo>
                  <a:pt x="53771" y="1790700"/>
                </a:lnTo>
                <a:lnTo>
                  <a:pt x="53428" y="1778000"/>
                </a:lnTo>
                <a:lnTo>
                  <a:pt x="91706" y="1778000"/>
                </a:lnTo>
                <a:lnTo>
                  <a:pt x="92176" y="1790700"/>
                </a:lnTo>
                <a:close/>
              </a:path>
              <a:path w="126364" h="1879600">
                <a:moveTo>
                  <a:pt x="94932" y="1803400"/>
                </a:moveTo>
                <a:lnTo>
                  <a:pt x="55714" y="1803400"/>
                </a:lnTo>
                <a:lnTo>
                  <a:pt x="54406" y="1790700"/>
                </a:lnTo>
                <a:lnTo>
                  <a:pt x="93141" y="1790700"/>
                </a:lnTo>
                <a:lnTo>
                  <a:pt x="94932" y="1803400"/>
                </a:lnTo>
                <a:close/>
              </a:path>
              <a:path w="126364" h="1879600">
                <a:moveTo>
                  <a:pt x="99123" y="1816100"/>
                </a:moveTo>
                <a:lnTo>
                  <a:pt x="58038" y="1816100"/>
                </a:lnTo>
                <a:lnTo>
                  <a:pt x="57734" y="1803400"/>
                </a:lnTo>
                <a:lnTo>
                  <a:pt x="96456" y="1803400"/>
                </a:lnTo>
                <a:lnTo>
                  <a:pt x="99123" y="1816100"/>
                </a:lnTo>
                <a:close/>
              </a:path>
              <a:path w="126364" h="1879600">
                <a:moveTo>
                  <a:pt x="104432" y="1828800"/>
                </a:moveTo>
                <a:lnTo>
                  <a:pt x="63347" y="1828800"/>
                </a:lnTo>
                <a:lnTo>
                  <a:pt x="60680" y="1816100"/>
                </a:lnTo>
                <a:lnTo>
                  <a:pt x="101003" y="1816100"/>
                </a:lnTo>
                <a:lnTo>
                  <a:pt x="104432" y="1828800"/>
                </a:lnTo>
                <a:close/>
              </a:path>
              <a:path w="126364" h="1879600">
                <a:moveTo>
                  <a:pt x="107378" y="1828800"/>
                </a:moveTo>
                <a:lnTo>
                  <a:pt x="104432" y="1828800"/>
                </a:lnTo>
                <a:lnTo>
                  <a:pt x="103606" y="1816100"/>
                </a:lnTo>
                <a:lnTo>
                  <a:pt x="107378" y="1828800"/>
                </a:lnTo>
                <a:close/>
              </a:path>
              <a:path w="126364" h="1879600">
                <a:moveTo>
                  <a:pt x="116052" y="1841500"/>
                </a:moveTo>
                <a:lnTo>
                  <a:pt x="67589" y="1841500"/>
                </a:lnTo>
                <a:lnTo>
                  <a:pt x="66928" y="1828800"/>
                </a:lnTo>
                <a:lnTo>
                  <a:pt x="113703" y="1828800"/>
                </a:lnTo>
                <a:lnTo>
                  <a:pt x="116052" y="1841500"/>
                </a:lnTo>
                <a:close/>
              </a:path>
              <a:path w="126364" h="1879600">
                <a:moveTo>
                  <a:pt x="124536" y="1879600"/>
                </a:moveTo>
                <a:lnTo>
                  <a:pt x="105244" y="1879600"/>
                </a:lnTo>
                <a:lnTo>
                  <a:pt x="103936" y="1866900"/>
                </a:lnTo>
                <a:lnTo>
                  <a:pt x="86842" y="1866900"/>
                </a:lnTo>
                <a:lnTo>
                  <a:pt x="84620" y="1854200"/>
                </a:lnTo>
                <a:lnTo>
                  <a:pt x="75641" y="1854200"/>
                </a:lnTo>
                <a:lnTo>
                  <a:pt x="71856" y="1841500"/>
                </a:lnTo>
                <a:lnTo>
                  <a:pt x="126136" y="1841500"/>
                </a:lnTo>
                <a:lnTo>
                  <a:pt x="124536" y="187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65970" y="1898700"/>
            <a:ext cx="305435" cy="1371600"/>
          </a:xfrm>
          <a:custGeom>
            <a:avLst/>
            <a:gdLst/>
            <a:ahLst/>
            <a:cxnLst/>
            <a:rect l="l" t="t" r="r" b="b"/>
            <a:pathLst>
              <a:path w="305435" h="1371600">
                <a:moveTo>
                  <a:pt x="305181" y="38099"/>
                </a:moveTo>
                <a:lnTo>
                  <a:pt x="186791" y="38099"/>
                </a:lnTo>
                <a:lnTo>
                  <a:pt x="192214" y="25399"/>
                </a:lnTo>
                <a:lnTo>
                  <a:pt x="203784" y="25399"/>
                </a:lnTo>
                <a:lnTo>
                  <a:pt x="209892" y="12699"/>
                </a:lnTo>
                <a:lnTo>
                  <a:pt x="228739" y="12699"/>
                </a:lnTo>
                <a:lnTo>
                  <a:pt x="235635" y="0"/>
                </a:lnTo>
                <a:lnTo>
                  <a:pt x="304419" y="0"/>
                </a:lnTo>
                <a:lnTo>
                  <a:pt x="305181" y="38099"/>
                </a:lnTo>
                <a:close/>
              </a:path>
              <a:path w="305435" h="1371600">
                <a:moveTo>
                  <a:pt x="238671" y="50799"/>
                </a:moveTo>
                <a:lnTo>
                  <a:pt x="176720" y="50799"/>
                </a:lnTo>
                <a:lnTo>
                  <a:pt x="180962" y="38099"/>
                </a:lnTo>
                <a:lnTo>
                  <a:pt x="244652" y="38099"/>
                </a:lnTo>
                <a:lnTo>
                  <a:pt x="238671" y="50799"/>
                </a:lnTo>
                <a:close/>
              </a:path>
              <a:path w="305435" h="1371600">
                <a:moveTo>
                  <a:pt x="219583" y="63499"/>
                </a:moveTo>
                <a:lnTo>
                  <a:pt x="163702" y="63499"/>
                </a:lnTo>
                <a:lnTo>
                  <a:pt x="167144" y="50799"/>
                </a:lnTo>
                <a:lnTo>
                  <a:pt x="224764" y="50799"/>
                </a:lnTo>
                <a:lnTo>
                  <a:pt x="219583" y="63499"/>
                </a:lnTo>
                <a:close/>
              </a:path>
              <a:path w="305435" h="1371600">
                <a:moveTo>
                  <a:pt x="203898" y="76199"/>
                </a:moveTo>
                <a:lnTo>
                  <a:pt x="156565" y="76199"/>
                </a:lnTo>
                <a:lnTo>
                  <a:pt x="159423" y="63499"/>
                </a:lnTo>
                <a:lnTo>
                  <a:pt x="208140" y="63499"/>
                </a:lnTo>
                <a:lnTo>
                  <a:pt x="203898" y="76199"/>
                </a:lnTo>
                <a:close/>
              </a:path>
              <a:path w="305435" h="1371600">
                <a:moveTo>
                  <a:pt x="194640" y="88899"/>
                </a:moveTo>
                <a:lnTo>
                  <a:pt x="150799" y="88899"/>
                </a:lnTo>
                <a:lnTo>
                  <a:pt x="153047" y="76199"/>
                </a:lnTo>
                <a:lnTo>
                  <a:pt x="198081" y="76199"/>
                </a:lnTo>
                <a:lnTo>
                  <a:pt x="194640" y="88899"/>
                </a:lnTo>
                <a:close/>
              </a:path>
              <a:path w="305435" h="1371600">
                <a:moveTo>
                  <a:pt x="185889" y="101599"/>
                </a:moveTo>
                <a:lnTo>
                  <a:pt x="146519" y="101599"/>
                </a:lnTo>
                <a:lnTo>
                  <a:pt x="148120" y="88899"/>
                </a:lnTo>
                <a:lnTo>
                  <a:pt x="188137" y="88899"/>
                </a:lnTo>
                <a:lnTo>
                  <a:pt x="185889" y="101599"/>
                </a:lnTo>
                <a:close/>
              </a:path>
              <a:path w="305435" h="1371600">
                <a:moveTo>
                  <a:pt x="187680" y="101599"/>
                </a:moveTo>
                <a:lnTo>
                  <a:pt x="188137" y="88899"/>
                </a:lnTo>
                <a:lnTo>
                  <a:pt x="190246" y="88899"/>
                </a:lnTo>
                <a:lnTo>
                  <a:pt x="187680" y="101599"/>
                </a:lnTo>
                <a:close/>
              </a:path>
              <a:path w="305435" h="1371600">
                <a:moveTo>
                  <a:pt x="183134" y="114299"/>
                </a:moveTo>
                <a:lnTo>
                  <a:pt x="143852" y="114299"/>
                </a:lnTo>
                <a:lnTo>
                  <a:pt x="144754" y="101599"/>
                </a:lnTo>
                <a:lnTo>
                  <a:pt x="184721" y="101599"/>
                </a:lnTo>
                <a:lnTo>
                  <a:pt x="183134" y="114299"/>
                </a:lnTo>
                <a:close/>
              </a:path>
              <a:path w="305435" h="1371600">
                <a:moveTo>
                  <a:pt x="180962" y="571499"/>
                </a:moveTo>
                <a:lnTo>
                  <a:pt x="142875" y="571499"/>
                </a:lnTo>
                <a:lnTo>
                  <a:pt x="142887" y="126999"/>
                </a:lnTo>
                <a:lnTo>
                  <a:pt x="143065" y="114299"/>
                </a:lnTo>
                <a:lnTo>
                  <a:pt x="181622" y="114299"/>
                </a:lnTo>
                <a:lnTo>
                  <a:pt x="181076" y="126999"/>
                </a:lnTo>
                <a:lnTo>
                  <a:pt x="180962" y="571499"/>
                </a:lnTo>
                <a:close/>
              </a:path>
              <a:path w="305435" h="1371600">
                <a:moveTo>
                  <a:pt x="142227" y="584199"/>
                </a:moveTo>
                <a:lnTo>
                  <a:pt x="141465" y="584199"/>
                </a:lnTo>
                <a:lnTo>
                  <a:pt x="142379" y="571499"/>
                </a:lnTo>
                <a:lnTo>
                  <a:pt x="142227" y="584199"/>
                </a:lnTo>
                <a:close/>
              </a:path>
              <a:path w="305435" h="1371600">
                <a:moveTo>
                  <a:pt x="180149" y="584199"/>
                </a:moveTo>
                <a:lnTo>
                  <a:pt x="142227" y="584199"/>
                </a:lnTo>
                <a:lnTo>
                  <a:pt x="142773" y="571499"/>
                </a:lnTo>
                <a:lnTo>
                  <a:pt x="180708" y="571499"/>
                </a:lnTo>
                <a:lnTo>
                  <a:pt x="180149" y="584199"/>
                </a:lnTo>
                <a:close/>
              </a:path>
              <a:path w="305435" h="1371600">
                <a:moveTo>
                  <a:pt x="139128" y="596899"/>
                </a:moveTo>
                <a:lnTo>
                  <a:pt x="137553" y="596899"/>
                </a:lnTo>
                <a:lnTo>
                  <a:pt x="139471" y="584199"/>
                </a:lnTo>
                <a:lnTo>
                  <a:pt x="139128" y="596899"/>
                </a:lnTo>
                <a:close/>
              </a:path>
              <a:path w="305435" h="1371600">
                <a:moveTo>
                  <a:pt x="177609" y="596899"/>
                </a:moveTo>
                <a:lnTo>
                  <a:pt x="139128" y="596899"/>
                </a:lnTo>
                <a:lnTo>
                  <a:pt x="140716" y="584199"/>
                </a:lnTo>
                <a:lnTo>
                  <a:pt x="178866" y="584199"/>
                </a:lnTo>
                <a:lnTo>
                  <a:pt x="177609" y="596899"/>
                </a:lnTo>
                <a:close/>
              </a:path>
              <a:path w="305435" h="1371600">
                <a:moveTo>
                  <a:pt x="133604" y="609599"/>
                </a:moveTo>
                <a:lnTo>
                  <a:pt x="131254" y="609599"/>
                </a:lnTo>
                <a:lnTo>
                  <a:pt x="134112" y="596899"/>
                </a:lnTo>
                <a:lnTo>
                  <a:pt x="133604" y="609599"/>
                </a:lnTo>
                <a:close/>
              </a:path>
              <a:path w="305435" h="1371600">
                <a:moveTo>
                  <a:pt x="173456" y="609599"/>
                </a:moveTo>
                <a:lnTo>
                  <a:pt x="133604" y="609599"/>
                </a:lnTo>
                <a:lnTo>
                  <a:pt x="136169" y="596899"/>
                </a:lnTo>
                <a:lnTo>
                  <a:pt x="175374" y="596899"/>
                </a:lnTo>
                <a:lnTo>
                  <a:pt x="173456" y="609599"/>
                </a:lnTo>
                <a:close/>
              </a:path>
              <a:path w="305435" h="1371600">
                <a:moveTo>
                  <a:pt x="125768" y="622299"/>
                </a:moveTo>
                <a:lnTo>
                  <a:pt x="122656" y="622299"/>
                </a:lnTo>
                <a:lnTo>
                  <a:pt x="126377" y="609599"/>
                </a:lnTo>
                <a:lnTo>
                  <a:pt x="125768" y="622299"/>
                </a:lnTo>
                <a:close/>
              </a:path>
              <a:path w="305435" h="1371600">
                <a:moveTo>
                  <a:pt x="167779" y="622299"/>
                </a:moveTo>
                <a:lnTo>
                  <a:pt x="125768" y="622299"/>
                </a:lnTo>
                <a:lnTo>
                  <a:pt x="129209" y="609599"/>
                </a:lnTo>
                <a:lnTo>
                  <a:pt x="170345" y="609599"/>
                </a:lnTo>
                <a:lnTo>
                  <a:pt x="167779" y="622299"/>
                </a:lnTo>
                <a:close/>
              </a:path>
              <a:path w="305435" h="1371600">
                <a:moveTo>
                  <a:pt x="160718" y="634999"/>
                </a:moveTo>
                <a:lnTo>
                  <a:pt x="111887" y="634999"/>
                </a:lnTo>
                <a:lnTo>
                  <a:pt x="116370" y="622299"/>
                </a:lnTo>
                <a:lnTo>
                  <a:pt x="163880" y="622299"/>
                </a:lnTo>
                <a:lnTo>
                  <a:pt x="160718" y="634999"/>
                </a:lnTo>
                <a:close/>
              </a:path>
              <a:path w="305435" h="1371600">
                <a:moveTo>
                  <a:pt x="152387" y="647699"/>
                </a:moveTo>
                <a:lnTo>
                  <a:pt x="94399" y="647699"/>
                </a:lnTo>
                <a:lnTo>
                  <a:pt x="99796" y="634999"/>
                </a:lnTo>
                <a:lnTo>
                  <a:pt x="156108" y="634999"/>
                </a:lnTo>
                <a:lnTo>
                  <a:pt x="152387" y="647699"/>
                </a:lnTo>
                <a:close/>
              </a:path>
              <a:path w="305435" h="1371600">
                <a:moveTo>
                  <a:pt x="142227" y="660399"/>
                </a:moveTo>
                <a:lnTo>
                  <a:pt x="68186" y="660399"/>
                </a:lnTo>
                <a:lnTo>
                  <a:pt x="74510" y="647699"/>
                </a:lnTo>
                <a:lnTo>
                  <a:pt x="142887" y="647699"/>
                </a:lnTo>
                <a:lnTo>
                  <a:pt x="142227" y="660399"/>
                </a:lnTo>
                <a:close/>
              </a:path>
              <a:path w="305435" h="1371600">
                <a:moveTo>
                  <a:pt x="19431" y="698499"/>
                </a:moveTo>
                <a:lnTo>
                  <a:pt x="4343" y="698499"/>
                </a:lnTo>
                <a:lnTo>
                  <a:pt x="2489" y="685799"/>
                </a:lnTo>
                <a:lnTo>
                  <a:pt x="0" y="685799"/>
                </a:lnTo>
                <a:lnTo>
                  <a:pt x="279" y="673099"/>
                </a:lnTo>
                <a:lnTo>
                  <a:pt x="6642" y="673099"/>
                </a:lnTo>
                <a:lnTo>
                  <a:pt x="9309" y="660399"/>
                </a:lnTo>
                <a:lnTo>
                  <a:pt x="19431" y="660399"/>
                </a:lnTo>
                <a:lnTo>
                  <a:pt x="19431" y="698499"/>
                </a:lnTo>
                <a:close/>
              </a:path>
              <a:path w="305435" h="1371600">
                <a:moveTo>
                  <a:pt x="73901" y="698499"/>
                </a:moveTo>
                <a:lnTo>
                  <a:pt x="19431" y="698499"/>
                </a:lnTo>
                <a:lnTo>
                  <a:pt x="19431" y="660399"/>
                </a:lnTo>
                <a:lnTo>
                  <a:pt x="51308" y="660399"/>
                </a:lnTo>
                <a:lnTo>
                  <a:pt x="58978" y="673099"/>
                </a:lnTo>
                <a:lnTo>
                  <a:pt x="95110" y="673099"/>
                </a:lnTo>
                <a:lnTo>
                  <a:pt x="101092" y="685799"/>
                </a:lnTo>
                <a:lnTo>
                  <a:pt x="80391" y="685799"/>
                </a:lnTo>
                <a:lnTo>
                  <a:pt x="73901" y="698499"/>
                </a:lnTo>
                <a:close/>
              </a:path>
              <a:path w="305435" h="1371600">
                <a:moveTo>
                  <a:pt x="126669" y="673099"/>
                </a:moveTo>
                <a:lnTo>
                  <a:pt x="58978" y="673099"/>
                </a:lnTo>
                <a:lnTo>
                  <a:pt x="51308" y="660399"/>
                </a:lnTo>
                <a:lnTo>
                  <a:pt x="131635" y="660399"/>
                </a:lnTo>
                <a:lnTo>
                  <a:pt x="126669" y="673099"/>
                </a:lnTo>
                <a:close/>
              </a:path>
              <a:path w="305435" h="1371600">
                <a:moveTo>
                  <a:pt x="107632" y="685799"/>
                </a:moveTo>
                <a:lnTo>
                  <a:pt x="101092" y="685799"/>
                </a:lnTo>
                <a:lnTo>
                  <a:pt x="95110" y="673099"/>
                </a:lnTo>
                <a:lnTo>
                  <a:pt x="108356" y="673099"/>
                </a:lnTo>
                <a:lnTo>
                  <a:pt x="107632" y="685799"/>
                </a:lnTo>
                <a:close/>
              </a:path>
              <a:path w="305435" h="1371600">
                <a:moveTo>
                  <a:pt x="120065" y="698499"/>
                </a:moveTo>
                <a:lnTo>
                  <a:pt x="73901" y="698499"/>
                </a:lnTo>
                <a:lnTo>
                  <a:pt x="80391" y="685799"/>
                </a:lnTo>
                <a:lnTo>
                  <a:pt x="113957" y="685799"/>
                </a:lnTo>
                <a:lnTo>
                  <a:pt x="120065" y="698499"/>
                </a:lnTo>
                <a:close/>
              </a:path>
              <a:path w="305435" h="1371600">
                <a:moveTo>
                  <a:pt x="137058" y="711199"/>
                </a:moveTo>
                <a:lnTo>
                  <a:pt x="57315" y="711199"/>
                </a:lnTo>
                <a:lnTo>
                  <a:pt x="50533" y="698499"/>
                </a:lnTo>
                <a:lnTo>
                  <a:pt x="131635" y="698499"/>
                </a:lnTo>
                <a:lnTo>
                  <a:pt x="137058" y="711199"/>
                </a:lnTo>
                <a:close/>
              </a:path>
              <a:path w="305435" h="1371600">
                <a:moveTo>
                  <a:pt x="151764" y="723899"/>
                </a:moveTo>
                <a:lnTo>
                  <a:pt x="90246" y="723899"/>
                </a:lnTo>
                <a:lnTo>
                  <a:pt x="84442" y="711199"/>
                </a:lnTo>
                <a:lnTo>
                  <a:pt x="147777" y="711199"/>
                </a:lnTo>
                <a:lnTo>
                  <a:pt x="151764" y="723899"/>
                </a:lnTo>
                <a:close/>
              </a:path>
              <a:path w="305435" h="1371600">
                <a:moveTo>
                  <a:pt x="160147" y="736599"/>
                </a:moveTo>
                <a:lnTo>
                  <a:pt x="108521" y="736599"/>
                </a:lnTo>
                <a:lnTo>
                  <a:pt x="103568" y="723899"/>
                </a:lnTo>
                <a:lnTo>
                  <a:pt x="156705" y="723899"/>
                </a:lnTo>
                <a:lnTo>
                  <a:pt x="160147" y="736599"/>
                </a:lnTo>
                <a:close/>
              </a:path>
              <a:path w="305435" h="1371600">
                <a:moveTo>
                  <a:pt x="167779" y="749299"/>
                </a:moveTo>
                <a:lnTo>
                  <a:pt x="123291" y="749299"/>
                </a:lnTo>
                <a:lnTo>
                  <a:pt x="119303" y="736599"/>
                </a:lnTo>
                <a:lnTo>
                  <a:pt x="167284" y="736599"/>
                </a:lnTo>
                <a:lnTo>
                  <a:pt x="167779" y="749299"/>
                </a:lnTo>
                <a:close/>
              </a:path>
              <a:path w="305435" h="1371600">
                <a:moveTo>
                  <a:pt x="173456" y="761999"/>
                </a:moveTo>
                <a:lnTo>
                  <a:pt x="131787" y="761999"/>
                </a:lnTo>
                <a:lnTo>
                  <a:pt x="128638" y="749299"/>
                </a:lnTo>
                <a:lnTo>
                  <a:pt x="173050" y="749299"/>
                </a:lnTo>
                <a:lnTo>
                  <a:pt x="173456" y="761999"/>
                </a:lnTo>
                <a:close/>
              </a:path>
              <a:path w="305435" h="1371600">
                <a:moveTo>
                  <a:pt x="177609" y="774699"/>
                </a:moveTo>
                <a:lnTo>
                  <a:pt x="137960" y="774699"/>
                </a:lnTo>
                <a:lnTo>
                  <a:pt x="135712" y="761999"/>
                </a:lnTo>
                <a:lnTo>
                  <a:pt x="177330" y="761999"/>
                </a:lnTo>
                <a:lnTo>
                  <a:pt x="177609" y="774699"/>
                </a:lnTo>
                <a:close/>
              </a:path>
              <a:path w="305435" h="1371600">
                <a:moveTo>
                  <a:pt x="179997" y="787399"/>
                </a:moveTo>
                <a:lnTo>
                  <a:pt x="141681" y="787399"/>
                </a:lnTo>
                <a:lnTo>
                  <a:pt x="140423" y="774699"/>
                </a:lnTo>
                <a:lnTo>
                  <a:pt x="179095" y="774699"/>
                </a:lnTo>
                <a:lnTo>
                  <a:pt x="179997" y="787399"/>
                </a:lnTo>
                <a:close/>
              </a:path>
              <a:path w="305435" h="1371600">
                <a:moveTo>
                  <a:pt x="181152" y="1244599"/>
                </a:moveTo>
                <a:lnTo>
                  <a:pt x="143065" y="1244599"/>
                </a:lnTo>
                <a:lnTo>
                  <a:pt x="142875" y="1231899"/>
                </a:lnTo>
                <a:lnTo>
                  <a:pt x="142875" y="800099"/>
                </a:lnTo>
                <a:lnTo>
                  <a:pt x="142697" y="787399"/>
                </a:lnTo>
                <a:lnTo>
                  <a:pt x="180784" y="787399"/>
                </a:lnTo>
                <a:lnTo>
                  <a:pt x="180975" y="800099"/>
                </a:lnTo>
                <a:lnTo>
                  <a:pt x="180962" y="1231899"/>
                </a:lnTo>
                <a:lnTo>
                  <a:pt x="181152" y="1244599"/>
                </a:lnTo>
                <a:close/>
              </a:path>
              <a:path w="305435" h="1371600">
                <a:moveTo>
                  <a:pt x="182384" y="1257299"/>
                </a:moveTo>
                <a:lnTo>
                  <a:pt x="143700" y="1257299"/>
                </a:lnTo>
                <a:lnTo>
                  <a:pt x="143141" y="1244599"/>
                </a:lnTo>
                <a:lnTo>
                  <a:pt x="181483" y="1244599"/>
                </a:lnTo>
                <a:lnTo>
                  <a:pt x="182384" y="1257299"/>
                </a:lnTo>
                <a:close/>
              </a:path>
              <a:path w="305435" h="1371600">
                <a:moveTo>
                  <a:pt x="183426" y="1257299"/>
                </a:moveTo>
                <a:lnTo>
                  <a:pt x="182384" y="1257299"/>
                </a:lnTo>
                <a:lnTo>
                  <a:pt x="182168" y="1244599"/>
                </a:lnTo>
                <a:lnTo>
                  <a:pt x="183426" y="1257299"/>
                </a:lnTo>
                <a:close/>
              </a:path>
              <a:path w="305435" h="1371600">
                <a:moveTo>
                  <a:pt x="186296" y="1269999"/>
                </a:moveTo>
                <a:lnTo>
                  <a:pt x="146240" y="1269999"/>
                </a:lnTo>
                <a:lnTo>
                  <a:pt x="144983" y="1257299"/>
                </a:lnTo>
                <a:lnTo>
                  <a:pt x="184378" y="1257299"/>
                </a:lnTo>
                <a:lnTo>
                  <a:pt x="186296" y="1269999"/>
                </a:lnTo>
                <a:close/>
              </a:path>
              <a:path w="305435" h="1371600">
                <a:moveTo>
                  <a:pt x="192595" y="1282699"/>
                </a:moveTo>
                <a:lnTo>
                  <a:pt x="150393" y="1282699"/>
                </a:lnTo>
                <a:lnTo>
                  <a:pt x="148475" y="1269999"/>
                </a:lnTo>
                <a:lnTo>
                  <a:pt x="189737" y="1269999"/>
                </a:lnTo>
                <a:lnTo>
                  <a:pt x="192595" y="1282699"/>
                </a:lnTo>
                <a:close/>
              </a:path>
              <a:path w="305435" h="1371600">
                <a:moveTo>
                  <a:pt x="201193" y="1295399"/>
                </a:moveTo>
                <a:lnTo>
                  <a:pt x="156070" y="1295399"/>
                </a:lnTo>
                <a:lnTo>
                  <a:pt x="153504" y="1282699"/>
                </a:lnTo>
                <a:lnTo>
                  <a:pt x="197472" y="1282699"/>
                </a:lnTo>
                <a:lnTo>
                  <a:pt x="201193" y="1295399"/>
                </a:lnTo>
                <a:close/>
              </a:path>
              <a:path w="305435" h="1371600">
                <a:moveTo>
                  <a:pt x="204546" y="1295399"/>
                </a:moveTo>
                <a:lnTo>
                  <a:pt x="201193" y="1295399"/>
                </a:lnTo>
                <a:lnTo>
                  <a:pt x="200558" y="1282699"/>
                </a:lnTo>
                <a:lnTo>
                  <a:pt x="204546" y="1295399"/>
                </a:lnTo>
                <a:close/>
              </a:path>
              <a:path w="305435" h="1371600">
                <a:moveTo>
                  <a:pt x="216014" y="1308099"/>
                </a:moveTo>
                <a:lnTo>
                  <a:pt x="163131" y="1308099"/>
                </a:lnTo>
                <a:lnTo>
                  <a:pt x="159969" y="1295399"/>
                </a:lnTo>
                <a:lnTo>
                  <a:pt x="211289" y="1295399"/>
                </a:lnTo>
                <a:lnTo>
                  <a:pt x="216014" y="1308099"/>
                </a:lnTo>
                <a:close/>
              </a:path>
              <a:path w="305435" h="1371600">
                <a:moveTo>
                  <a:pt x="234340" y="1320799"/>
                </a:moveTo>
                <a:lnTo>
                  <a:pt x="176072" y="1320799"/>
                </a:lnTo>
                <a:lnTo>
                  <a:pt x="172085" y="1308099"/>
                </a:lnTo>
                <a:lnTo>
                  <a:pt x="228739" y="1308099"/>
                </a:lnTo>
                <a:lnTo>
                  <a:pt x="234340" y="1320799"/>
                </a:lnTo>
                <a:close/>
              </a:path>
              <a:path w="305435" h="1371600">
                <a:moveTo>
                  <a:pt x="267296" y="1333499"/>
                </a:moveTo>
                <a:lnTo>
                  <a:pt x="186118" y="1333499"/>
                </a:lnTo>
                <a:lnTo>
                  <a:pt x="181622" y="1320799"/>
                </a:lnTo>
                <a:lnTo>
                  <a:pt x="260654" y="1320799"/>
                </a:lnTo>
                <a:lnTo>
                  <a:pt x="267296" y="1333499"/>
                </a:lnTo>
                <a:close/>
              </a:path>
              <a:path w="305435" h="1371600">
                <a:moveTo>
                  <a:pt x="304419" y="1371600"/>
                </a:moveTo>
                <a:lnTo>
                  <a:pt x="264871" y="1371600"/>
                </a:lnTo>
                <a:lnTo>
                  <a:pt x="257340" y="1358900"/>
                </a:lnTo>
                <a:lnTo>
                  <a:pt x="222758" y="1358900"/>
                </a:lnTo>
                <a:lnTo>
                  <a:pt x="222021" y="1346199"/>
                </a:lnTo>
                <a:lnTo>
                  <a:pt x="203073" y="1346199"/>
                </a:lnTo>
                <a:lnTo>
                  <a:pt x="197878" y="1333499"/>
                </a:lnTo>
                <a:lnTo>
                  <a:pt x="305181" y="1333499"/>
                </a:lnTo>
                <a:lnTo>
                  <a:pt x="304419" y="137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20376" y="454444"/>
            <a:ext cx="199008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第一节</a:t>
            </a:r>
            <a:r>
              <a:rPr dirty="0" sz="2800" spc="-75" b="1">
                <a:latin typeface="宋体"/>
                <a:cs typeface="宋体"/>
              </a:rPr>
              <a:t> </a:t>
            </a:r>
            <a:r>
              <a:rPr dirty="0" sz="2800" b="1">
                <a:latin typeface="宋体"/>
                <a:cs typeface="宋体"/>
              </a:rPr>
              <a:t>固</a:t>
            </a:r>
            <a:r>
              <a:rPr dirty="0" sz="2800" spc="-20" b="1">
                <a:latin typeface="宋体"/>
                <a:cs typeface="宋体"/>
              </a:rPr>
              <a:t>体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64479" y="1519427"/>
            <a:ext cx="2215896" cy="1476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79364" y="3514344"/>
            <a:ext cx="2016251" cy="18379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306921" y="309253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水晶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2034" y="5551513"/>
            <a:ext cx="913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岩盐</a:t>
            </a:r>
            <a:r>
              <a:rPr dirty="0" sz="1800" spc="-5">
                <a:latin typeface="Calibri"/>
                <a:cs typeface="Calibri"/>
              </a:rPr>
              <a:t>Na</a:t>
            </a:r>
            <a:r>
              <a:rPr dirty="0" sz="1800">
                <a:latin typeface="Calibri"/>
                <a:cs typeface="Calibri"/>
              </a:rPr>
              <a:t>Cl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17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92836" y="1255775"/>
            <a:ext cx="5076444" cy="2752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781598" y="1408963"/>
            <a:ext cx="2832735" cy="2178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latin typeface="宋体"/>
                <a:cs typeface="宋体"/>
              </a:rPr>
              <a:t>晶体与非晶体在物理性</a:t>
            </a:r>
            <a:r>
              <a:rPr dirty="0" sz="2000" spc="-5" b="1">
                <a:latin typeface="宋体"/>
                <a:cs typeface="宋体"/>
              </a:rPr>
              <a:t>质 </a:t>
            </a:r>
            <a:r>
              <a:rPr dirty="0" sz="2000" b="1">
                <a:latin typeface="宋体"/>
                <a:cs typeface="宋体"/>
              </a:rPr>
              <a:t>上有所不同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800">
                <a:latin typeface="宋体"/>
                <a:cs typeface="宋体"/>
              </a:rPr>
              <a:t>  晶体------各向异性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800">
                <a:latin typeface="宋体"/>
                <a:cs typeface="宋体"/>
              </a:rPr>
              <a:t>  非晶体-----各向同性。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宋体"/>
                <a:cs typeface="宋体"/>
              </a:rPr>
              <a:t> （多晶体是各向同性</a:t>
            </a:r>
            <a:r>
              <a:rPr dirty="0" sz="1800" spc="-10" b="1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43628" y="2412492"/>
            <a:ext cx="839724" cy="219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38955" y="1917192"/>
            <a:ext cx="835151" cy="2194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75688" y="3064764"/>
            <a:ext cx="839724" cy="219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7898" y="749084"/>
            <a:ext cx="745045" cy="4012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6593" y="783996"/>
            <a:ext cx="190652" cy="3093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0369" y="761542"/>
            <a:ext cx="1354975" cy="6359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9901" y="761555"/>
            <a:ext cx="681685" cy="338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59064" y="800620"/>
            <a:ext cx="798017" cy="5361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78876" y="799236"/>
            <a:ext cx="126593" cy="2434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60186" y="4293095"/>
            <a:ext cx="2927349" cy="17722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95705" y="4803355"/>
            <a:ext cx="43795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ts val="2135"/>
              </a:lnSpc>
              <a:spcBef>
                <a:spcPts val="100"/>
              </a:spcBef>
            </a:pPr>
            <a:r>
              <a:rPr dirty="0" sz="1800">
                <a:solidFill>
                  <a:srgbClr val="5B9BD4"/>
                </a:solidFill>
                <a:latin typeface="宋体"/>
                <a:cs typeface="宋体"/>
              </a:rPr>
              <a:t>从某一微粒出发，沿不同的方向等长的线段</a:t>
            </a:r>
            <a:endParaRPr sz="1800">
              <a:latin typeface="宋体"/>
              <a:cs typeface="宋体"/>
            </a:endParaRPr>
          </a:p>
          <a:p>
            <a:pPr algn="just" marL="22860" marR="5080" indent="-10795">
              <a:lnSpc>
                <a:spcPts val="2160"/>
              </a:lnSpc>
              <a:spcBef>
                <a:spcPts val="95"/>
              </a:spcBef>
            </a:pPr>
            <a:r>
              <a:rPr dirty="0" sz="1850" spc="-565" i="1">
                <a:solidFill>
                  <a:srgbClr val="5B9BD4"/>
                </a:solidFill>
                <a:latin typeface="宋体"/>
                <a:cs typeface="宋体"/>
              </a:rPr>
              <a:t>AB</a:t>
            </a:r>
            <a:r>
              <a:rPr dirty="0" sz="1800" spc="-85">
                <a:solidFill>
                  <a:srgbClr val="5B9BD4"/>
                </a:solidFill>
                <a:latin typeface="宋体"/>
                <a:cs typeface="宋体"/>
              </a:rPr>
              <a:t>、</a:t>
            </a:r>
            <a:r>
              <a:rPr dirty="0" sz="1850" spc="-565" i="1">
                <a:solidFill>
                  <a:srgbClr val="5B9BD4"/>
                </a:solidFill>
                <a:latin typeface="宋体"/>
                <a:cs typeface="宋体"/>
              </a:rPr>
              <a:t>AC</a:t>
            </a:r>
            <a:r>
              <a:rPr dirty="0" sz="1800" spc="-85">
                <a:solidFill>
                  <a:srgbClr val="5B9BD4"/>
                </a:solidFill>
                <a:latin typeface="宋体"/>
                <a:cs typeface="宋体"/>
              </a:rPr>
              <a:t>、</a:t>
            </a:r>
            <a:r>
              <a:rPr dirty="0" sz="1850" spc="-375" i="1">
                <a:solidFill>
                  <a:srgbClr val="5B9BD4"/>
                </a:solidFill>
                <a:latin typeface="宋体"/>
                <a:cs typeface="宋体"/>
              </a:rPr>
              <a:t>AD</a:t>
            </a:r>
            <a:r>
              <a:rPr dirty="0" sz="1800" spc="-375">
                <a:solidFill>
                  <a:srgbClr val="5B9BD4"/>
                </a:solidFill>
                <a:latin typeface="宋体"/>
                <a:cs typeface="宋体"/>
              </a:rPr>
              <a:t>，</a:t>
            </a:r>
            <a:r>
              <a:rPr dirty="0" sz="1800">
                <a:solidFill>
                  <a:srgbClr val="5B9BD4"/>
                </a:solidFill>
                <a:latin typeface="宋体"/>
                <a:cs typeface="宋体"/>
              </a:rPr>
              <a:t>则三条线段上的微粒数目并不 相等。正是这个原因，晶体在不同的方向上 会表现出不同的物理性质。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6899" y="4279760"/>
            <a:ext cx="1295184" cy="4025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9371" y="4296384"/>
            <a:ext cx="2082342" cy="63176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8954" y="4294987"/>
            <a:ext cx="1231353" cy="3366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27" y="101917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697" y="408280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 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697" y="1210081"/>
            <a:ext cx="7188200" cy="2715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第二</a:t>
            </a:r>
            <a:r>
              <a:rPr dirty="0" sz="2800" spc="-20" b="1">
                <a:latin typeface="宋体"/>
                <a:cs typeface="宋体"/>
              </a:rPr>
              <a:t>节</a:t>
            </a:r>
            <a:r>
              <a:rPr dirty="0" sz="2800" spc="-130" b="1">
                <a:latin typeface="宋体"/>
                <a:cs typeface="宋体"/>
              </a:rPr>
              <a:t> </a:t>
            </a:r>
            <a:r>
              <a:rPr dirty="0" sz="2800" b="1">
                <a:latin typeface="宋体"/>
                <a:cs typeface="宋体"/>
              </a:rPr>
              <a:t>液</a:t>
            </a:r>
            <a:r>
              <a:rPr dirty="0" sz="2800" spc="-20" b="1">
                <a:latin typeface="宋体"/>
                <a:cs typeface="宋体"/>
              </a:rPr>
              <a:t>体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2400">
                <a:latin typeface="宋体"/>
                <a:cs typeface="宋体"/>
              </a:rPr>
              <a:t>一、思</a:t>
            </a:r>
            <a:r>
              <a:rPr dirty="0" sz="2400" spc="-110">
                <a:latin typeface="宋体"/>
                <a:cs typeface="宋体"/>
              </a:rPr>
              <a:t>考</a:t>
            </a:r>
            <a:r>
              <a:rPr dirty="0" sz="2500" spc="-484" i="1">
                <a:latin typeface="宋体"/>
                <a:cs typeface="宋体"/>
              </a:rPr>
              <a:t>？？</a:t>
            </a:r>
            <a:endParaRPr sz="2500">
              <a:latin typeface="宋体"/>
              <a:cs typeface="宋体"/>
            </a:endParaRPr>
          </a:p>
          <a:p>
            <a:pPr marL="12700" marR="5080">
              <a:lnSpc>
                <a:spcPts val="4320"/>
              </a:lnSpc>
              <a:spcBef>
                <a:spcPts val="360"/>
              </a:spcBef>
            </a:pPr>
            <a:r>
              <a:rPr dirty="0" sz="2400">
                <a:latin typeface="宋体"/>
                <a:cs typeface="宋体"/>
              </a:rPr>
              <a:t> 气体很容易压缩，而液体像固体那样不易压缩；液体 不像固体那样具有一定的形状，而且液体能够流动，  从分子动理论的角度，这些事实表明了什么？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313" y="4161447"/>
            <a:ext cx="6884034" cy="13970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>
                <a:latin typeface="宋体"/>
                <a:cs typeface="宋体"/>
              </a:rPr>
              <a:t>说明： 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spc="-5">
                <a:latin typeface="宋体"/>
                <a:cs typeface="宋体"/>
              </a:rPr>
              <a:t>  液体分子间的距离及固体分子间的距离都比气体要小得多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2000" spc="-5">
                <a:latin typeface="宋体"/>
                <a:cs typeface="宋体"/>
              </a:rPr>
              <a:t>  </a:t>
            </a:r>
            <a:r>
              <a:rPr dirty="0" sz="2000">
                <a:latin typeface="宋体"/>
                <a:cs typeface="宋体"/>
              </a:rPr>
              <a:t>液体分子间的相互作用力比固体分子间的作用力要小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17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66927" y="1615439"/>
            <a:ext cx="1665732" cy="1511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4791" y="909866"/>
            <a:ext cx="1708200" cy="3942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3110" y="926490"/>
            <a:ext cx="2680855" cy="6234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6820" y="925106"/>
            <a:ext cx="1644789" cy="3297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49563" y="1116736"/>
            <a:ext cx="5894705" cy="2332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我们经常看到小水滴为什么总是呈现球形的趋势</a:t>
            </a:r>
            <a:r>
              <a:rPr dirty="0" sz="2000" spc="5"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Times New Roman"/>
              <a:cs typeface="Times New Roman"/>
            </a:endParaRPr>
          </a:p>
          <a:p>
            <a:pPr algn="just" marL="12700" marR="104775">
              <a:lnSpc>
                <a:spcPct val="125000"/>
              </a:lnSpc>
            </a:pPr>
            <a:r>
              <a:rPr dirty="0" sz="1800">
                <a:latin typeface="宋体"/>
                <a:cs typeface="宋体"/>
              </a:rPr>
              <a:t>在液体内部，分子间的距离在</a:t>
            </a:r>
            <a:r>
              <a:rPr dirty="0" sz="1800" spc="-540">
                <a:latin typeface="宋体"/>
                <a:cs typeface="宋体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r</a:t>
            </a:r>
            <a:r>
              <a:rPr dirty="0" sz="1800" spc="-215" i="1">
                <a:latin typeface="Times New Roman"/>
                <a:cs typeface="Times New Roman"/>
              </a:rPr>
              <a:t> </a:t>
            </a:r>
            <a:r>
              <a:rPr dirty="0" baseline="-16908" sz="1725" spc="15">
                <a:latin typeface="Calibri"/>
                <a:cs typeface="Calibri"/>
              </a:rPr>
              <a:t>0</a:t>
            </a:r>
            <a:r>
              <a:rPr dirty="0" baseline="-16908" sz="1725" spc="-44">
                <a:latin typeface="Calibri"/>
                <a:cs typeface="Calibri"/>
              </a:rPr>
              <a:t> </a:t>
            </a:r>
            <a:r>
              <a:rPr dirty="0" sz="1800">
                <a:latin typeface="宋体"/>
                <a:cs typeface="宋体"/>
              </a:rPr>
              <a:t>左右，而在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表面层，分子 比较稀疏，分子间的距离大于</a:t>
            </a:r>
            <a:r>
              <a:rPr dirty="0" sz="1800" spc="-49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z="1800" spc="-5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16908" sz="1725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，</a:t>
            </a:r>
            <a:r>
              <a:rPr dirty="0" sz="1800">
                <a:latin typeface="宋体"/>
                <a:cs typeface="宋体"/>
              </a:rPr>
              <a:t>因此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分子间的作用表现 为相互吸引</a:t>
            </a:r>
            <a:r>
              <a:rPr dirty="0" sz="1800" spc="-5">
                <a:solidFill>
                  <a:srgbClr val="FF0000"/>
                </a:solidFill>
                <a:latin typeface="Calibri"/>
                <a:cs typeface="Calibri"/>
              </a:rPr>
              <a:t>---------</a:t>
            </a:r>
            <a:r>
              <a:rPr dirty="0" sz="1800">
                <a:latin typeface="宋体"/>
                <a:cs typeface="宋体"/>
              </a:rPr>
              <a:t>液体的</a:t>
            </a:r>
            <a:r>
              <a:rPr dirty="0" sz="1800" b="1">
                <a:latin typeface="宋体"/>
                <a:cs typeface="宋体"/>
              </a:rPr>
              <a:t>表面张力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12700" marR="5080" indent="154305">
              <a:lnSpc>
                <a:spcPct val="125000"/>
              </a:lnSpc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它的作用是使液体表面绷紧，</a:t>
            </a:r>
            <a:r>
              <a:rPr dirty="0" sz="1800">
                <a:latin typeface="宋体"/>
                <a:cs typeface="宋体"/>
              </a:rPr>
              <a:t>在它的作用下，液体面积总 趋向最小。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31619" y="3945635"/>
            <a:ext cx="1879092" cy="14340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88408" y="3945635"/>
            <a:ext cx="1603248" cy="14340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689" y="174942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36" y="1216824"/>
            <a:ext cx="4248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三、液晶</a:t>
            </a:r>
            <a:r>
              <a:rPr dirty="0" sz="2400" b="1">
                <a:latin typeface="Calibri"/>
                <a:cs typeface="Calibri"/>
              </a:rPr>
              <a:t>------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流动性</a:t>
            </a:r>
            <a:r>
              <a:rPr dirty="0" sz="2400">
                <a:latin typeface="宋体"/>
                <a:cs typeface="宋体"/>
              </a:rPr>
              <a:t>，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各向异性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5008" y="1964435"/>
            <a:ext cx="3314700" cy="16078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67555" y="1906523"/>
            <a:ext cx="1607820" cy="1725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1123" y="3788664"/>
            <a:ext cx="7920228" cy="26517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83808" y="2113788"/>
            <a:ext cx="2104643" cy="1310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89" y="174942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8113" y="1024546"/>
            <a:ext cx="5663565" cy="2002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051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第三节</a:t>
            </a:r>
            <a:r>
              <a:rPr dirty="0" sz="2800" spc="-50" b="1">
                <a:latin typeface="宋体"/>
                <a:cs typeface="宋体"/>
              </a:rPr>
              <a:t> </a:t>
            </a:r>
            <a:r>
              <a:rPr dirty="0" sz="2800" b="1">
                <a:latin typeface="宋体"/>
                <a:cs typeface="宋体"/>
              </a:rPr>
              <a:t>饱和汽与饱和汽</a:t>
            </a:r>
            <a:r>
              <a:rPr dirty="0" sz="2800" spc="-20" b="1">
                <a:latin typeface="宋体"/>
                <a:cs typeface="宋体"/>
              </a:rPr>
              <a:t>压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dirty="0" sz="2400" spc="-5" b="1">
                <a:latin typeface="Calibri"/>
                <a:cs typeface="Calibri"/>
              </a:rPr>
              <a:t>1.</a:t>
            </a:r>
            <a:r>
              <a:rPr dirty="0" sz="2400" b="1">
                <a:latin typeface="宋体"/>
                <a:cs typeface="宋体"/>
              </a:rPr>
              <a:t>汽</a:t>
            </a:r>
            <a:r>
              <a:rPr dirty="0" sz="2400" spc="-10" b="1">
                <a:latin typeface="宋体"/>
                <a:cs typeface="宋体"/>
              </a:rPr>
              <a:t>化</a:t>
            </a:r>
            <a:endParaRPr sz="2400">
              <a:latin typeface="宋体"/>
              <a:cs typeface="宋体"/>
            </a:endParaRPr>
          </a:p>
          <a:p>
            <a:pPr marL="151130" marR="250825" indent="69215">
              <a:lnSpc>
                <a:spcPct val="125000"/>
              </a:lnSpc>
            </a:pPr>
            <a:r>
              <a:rPr dirty="0" sz="2400">
                <a:latin typeface="宋体"/>
                <a:cs typeface="宋体"/>
              </a:rPr>
              <a:t>物质从液态变成气态的过程叫做</a:t>
            </a:r>
            <a:r>
              <a:rPr dirty="0" sz="2400" b="1">
                <a:latin typeface="宋体"/>
                <a:cs typeface="宋体"/>
              </a:rPr>
              <a:t>汽化</a:t>
            </a:r>
            <a:r>
              <a:rPr dirty="0" sz="2400">
                <a:latin typeface="宋体"/>
                <a:cs typeface="宋体"/>
              </a:rPr>
              <a:t>。 汽化有两种方式：</a:t>
            </a:r>
            <a:r>
              <a:rPr dirty="0" sz="2400" b="1">
                <a:latin typeface="宋体"/>
                <a:cs typeface="宋体"/>
              </a:rPr>
              <a:t>蒸发</a:t>
            </a:r>
            <a:r>
              <a:rPr dirty="0" sz="2400">
                <a:latin typeface="宋体"/>
                <a:cs typeface="宋体"/>
              </a:rPr>
              <a:t>和</a:t>
            </a:r>
            <a:r>
              <a:rPr dirty="0" sz="2400" b="1">
                <a:latin typeface="宋体"/>
                <a:cs typeface="宋体"/>
              </a:rPr>
              <a:t>沸腾</a:t>
            </a:r>
            <a:r>
              <a:rPr dirty="0" sz="240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9160" y="3212592"/>
            <a:ext cx="4572000" cy="2723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26400" y="6043510"/>
            <a:ext cx="22599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水的沸点与大气压的关</a:t>
            </a:r>
            <a:r>
              <a:rPr dirty="0" sz="1600" spc="-5">
                <a:latin typeface="宋体"/>
                <a:cs typeface="宋体"/>
              </a:rPr>
              <a:t>系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89" y="174942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286" y="2899575"/>
            <a:ext cx="434975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5000"/>
              </a:lnSpc>
              <a:spcBef>
                <a:spcPts val="95"/>
              </a:spcBef>
            </a:pPr>
            <a:r>
              <a:rPr dirty="0" sz="2000">
                <a:latin typeface="华文楷体"/>
                <a:cs typeface="华文楷体"/>
              </a:rPr>
              <a:t>注：容器中</a:t>
            </a:r>
            <a:r>
              <a:rPr dirty="0" sz="2000" b="1">
                <a:latin typeface="华文楷体"/>
                <a:cs typeface="华文楷体"/>
              </a:rPr>
              <a:t>混合气体的压强等于</a:t>
            </a:r>
            <a:r>
              <a:rPr dirty="0" sz="2000">
                <a:latin typeface="华文楷体"/>
                <a:cs typeface="华文楷体"/>
              </a:rPr>
              <a:t>在同</a:t>
            </a:r>
            <a:r>
              <a:rPr dirty="0" sz="2000">
                <a:latin typeface="华文楷体"/>
                <a:cs typeface="华文楷体"/>
              </a:rPr>
              <a:t>样 </a:t>
            </a:r>
            <a:r>
              <a:rPr dirty="0" sz="2000">
                <a:latin typeface="华文楷体"/>
                <a:cs typeface="华文楷体"/>
              </a:rPr>
              <a:t>温度、同样体积条件下混合气体各成</a:t>
            </a:r>
            <a:r>
              <a:rPr dirty="0" sz="2000">
                <a:latin typeface="华文楷体"/>
                <a:cs typeface="华文楷体"/>
              </a:rPr>
              <a:t>分 </a:t>
            </a:r>
            <a:r>
              <a:rPr dirty="0" sz="2000">
                <a:latin typeface="华文楷体"/>
                <a:cs typeface="华文楷体"/>
              </a:rPr>
              <a:t>单独存在时的</a:t>
            </a:r>
            <a:r>
              <a:rPr dirty="0" sz="2000" b="1">
                <a:latin typeface="华文楷体"/>
                <a:cs typeface="华文楷体"/>
              </a:rPr>
              <a:t>分压强之和</a:t>
            </a:r>
            <a:r>
              <a:rPr dirty="0" sz="2000">
                <a:latin typeface="华文楷体"/>
                <a:cs typeface="华文楷体"/>
              </a:rPr>
              <a:t>，这个规律</a:t>
            </a:r>
            <a:r>
              <a:rPr dirty="0" sz="2000">
                <a:latin typeface="华文楷体"/>
                <a:cs typeface="华文楷体"/>
              </a:rPr>
              <a:t>称 </a:t>
            </a:r>
            <a:r>
              <a:rPr dirty="0" sz="2000">
                <a:latin typeface="华文楷体"/>
                <a:cs typeface="华文楷体"/>
              </a:rPr>
              <a:t>为道尔顿分压定律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99290" y="2766644"/>
            <a:ext cx="1397000" cy="2059939"/>
          </a:xfrm>
          <a:custGeom>
            <a:avLst/>
            <a:gdLst/>
            <a:ahLst/>
            <a:cxnLst/>
            <a:rect l="l" t="t" r="r" b="b"/>
            <a:pathLst>
              <a:path w="1397000" h="2059939">
                <a:moveTo>
                  <a:pt x="1382433" y="2059901"/>
                </a:moveTo>
                <a:lnTo>
                  <a:pt x="14287" y="2059901"/>
                </a:lnTo>
                <a:lnTo>
                  <a:pt x="11493" y="2059622"/>
                </a:lnTo>
                <a:lnTo>
                  <a:pt x="0" y="2045614"/>
                </a:lnTo>
                <a:lnTo>
                  <a:pt x="0" y="14287"/>
                </a:lnTo>
                <a:lnTo>
                  <a:pt x="14287" y="0"/>
                </a:lnTo>
                <a:lnTo>
                  <a:pt x="1382433" y="0"/>
                </a:lnTo>
                <a:lnTo>
                  <a:pt x="139672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031326"/>
                </a:lnTo>
                <a:lnTo>
                  <a:pt x="14287" y="2031326"/>
                </a:lnTo>
                <a:lnTo>
                  <a:pt x="28575" y="2045614"/>
                </a:lnTo>
                <a:lnTo>
                  <a:pt x="1396720" y="2045614"/>
                </a:lnTo>
                <a:lnTo>
                  <a:pt x="1396441" y="2048395"/>
                </a:lnTo>
                <a:lnTo>
                  <a:pt x="1385227" y="2059622"/>
                </a:lnTo>
                <a:lnTo>
                  <a:pt x="1382433" y="2059901"/>
                </a:lnTo>
                <a:close/>
              </a:path>
              <a:path w="1397000" h="205993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97000" h="2059939">
                <a:moveTo>
                  <a:pt x="136814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68145" y="14287"/>
                </a:lnTo>
                <a:lnTo>
                  <a:pt x="1368145" y="28575"/>
                </a:lnTo>
                <a:close/>
              </a:path>
              <a:path w="1397000" h="2059939">
                <a:moveTo>
                  <a:pt x="1368145" y="2045614"/>
                </a:moveTo>
                <a:lnTo>
                  <a:pt x="1368145" y="14287"/>
                </a:lnTo>
                <a:lnTo>
                  <a:pt x="1382433" y="28575"/>
                </a:lnTo>
                <a:lnTo>
                  <a:pt x="1396720" y="28575"/>
                </a:lnTo>
                <a:lnTo>
                  <a:pt x="1396720" y="2031326"/>
                </a:lnTo>
                <a:lnTo>
                  <a:pt x="1382433" y="2031326"/>
                </a:lnTo>
                <a:lnTo>
                  <a:pt x="1368145" y="2045614"/>
                </a:lnTo>
                <a:close/>
              </a:path>
              <a:path w="1397000" h="2059939">
                <a:moveTo>
                  <a:pt x="1396720" y="28575"/>
                </a:moveTo>
                <a:lnTo>
                  <a:pt x="1382433" y="28575"/>
                </a:lnTo>
                <a:lnTo>
                  <a:pt x="1368145" y="14287"/>
                </a:lnTo>
                <a:lnTo>
                  <a:pt x="1396720" y="14287"/>
                </a:lnTo>
                <a:lnTo>
                  <a:pt x="1396720" y="28575"/>
                </a:lnTo>
                <a:close/>
              </a:path>
              <a:path w="1397000" h="2059939">
                <a:moveTo>
                  <a:pt x="28575" y="2045614"/>
                </a:moveTo>
                <a:lnTo>
                  <a:pt x="14287" y="2031326"/>
                </a:lnTo>
                <a:lnTo>
                  <a:pt x="28575" y="2031326"/>
                </a:lnTo>
                <a:lnTo>
                  <a:pt x="28575" y="2045614"/>
                </a:lnTo>
                <a:close/>
              </a:path>
              <a:path w="1397000" h="2059939">
                <a:moveTo>
                  <a:pt x="1368145" y="2045614"/>
                </a:moveTo>
                <a:lnTo>
                  <a:pt x="28575" y="2045614"/>
                </a:lnTo>
                <a:lnTo>
                  <a:pt x="28575" y="2031326"/>
                </a:lnTo>
                <a:lnTo>
                  <a:pt x="1368145" y="2031326"/>
                </a:lnTo>
                <a:lnTo>
                  <a:pt x="1368145" y="2045614"/>
                </a:lnTo>
                <a:close/>
              </a:path>
              <a:path w="1397000" h="2059939">
                <a:moveTo>
                  <a:pt x="1396720" y="2045614"/>
                </a:moveTo>
                <a:lnTo>
                  <a:pt x="1368145" y="2045614"/>
                </a:lnTo>
                <a:lnTo>
                  <a:pt x="1382433" y="2031326"/>
                </a:lnTo>
                <a:lnTo>
                  <a:pt x="1396720" y="2031326"/>
                </a:lnTo>
                <a:lnTo>
                  <a:pt x="1396720" y="2045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286" y="1341399"/>
            <a:ext cx="7650480" cy="175958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2400" spc="-5" b="1">
                <a:latin typeface="Calibri"/>
                <a:cs typeface="Calibri"/>
              </a:rPr>
              <a:t>2.</a:t>
            </a:r>
            <a:r>
              <a:rPr dirty="0" sz="2400" b="1">
                <a:latin typeface="宋体"/>
                <a:cs typeface="宋体"/>
              </a:rPr>
              <a:t>饱和汽与饱和汽</a:t>
            </a:r>
            <a:r>
              <a:rPr dirty="0" sz="2400" spc="-10" b="1">
                <a:latin typeface="宋体"/>
                <a:cs typeface="宋体"/>
              </a:rPr>
              <a:t>压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latin typeface="宋体"/>
                <a:cs typeface="宋体"/>
              </a:rPr>
              <a:t>与液体处于动态平衡的蒸汽</a:t>
            </a:r>
            <a:r>
              <a:rPr dirty="0" sz="2400" b="1">
                <a:latin typeface="宋体"/>
                <a:cs typeface="宋体"/>
              </a:rPr>
              <a:t>叫做饱和汽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latin typeface="宋体"/>
                <a:cs typeface="宋体"/>
              </a:rPr>
              <a:t>在一定温度下，饱和汽的压强叫做这种液体的</a:t>
            </a:r>
            <a:r>
              <a:rPr dirty="0" sz="2400" b="1">
                <a:latin typeface="宋体"/>
                <a:cs typeface="宋体"/>
              </a:rPr>
              <a:t>饱和汽压</a:t>
            </a:r>
            <a:r>
              <a:rPr dirty="0" sz="240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4886325">
              <a:lnSpc>
                <a:spcPct val="100000"/>
              </a:lnSpc>
              <a:spcBef>
                <a:spcPts val="695"/>
              </a:spcBef>
            </a:pPr>
            <a:r>
              <a:rPr dirty="0" sz="1800" spc="-640">
                <a:latin typeface="宋体"/>
                <a:cs typeface="宋体"/>
              </a:rPr>
              <a:t>。</a:t>
            </a:r>
            <a:r>
              <a:rPr dirty="0" baseline="13888" sz="2700" spc="-1747">
                <a:latin typeface="宋体"/>
                <a:cs typeface="宋体"/>
              </a:rPr>
              <a:t>。</a:t>
            </a:r>
            <a:r>
              <a:rPr dirty="0" sz="1800">
                <a:latin typeface="宋体"/>
                <a:cs typeface="宋体"/>
              </a:rPr>
              <a:t>。</a:t>
            </a:r>
            <a:r>
              <a:rPr dirty="0" sz="1800" spc="-715">
                <a:latin typeface="宋体"/>
                <a:cs typeface="宋体"/>
              </a:rPr>
              <a:t>。</a:t>
            </a:r>
            <a:r>
              <a:rPr dirty="0" baseline="13888" sz="2700" spc="-1635">
                <a:solidFill>
                  <a:srgbClr val="C00000"/>
                </a:solidFill>
                <a:latin typeface="宋体"/>
                <a:cs typeface="宋体"/>
              </a:rPr>
              <a:t>。</a:t>
            </a:r>
            <a:r>
              <a:rPr dirty="0" sz="1800" spc="-765">
                <a:latin typeface="宋体"/>
                <a:cs typeface="宋体"/>
              </a:rPr>
              <a:t>。</a:t>
            </a:r>
            <a:r>
              <a:rPr dirty="0" baseline="13888" sz="2700" spc="-1560">
                <a:solidFill>
                  <a:srgbClr val="C00000"/>
                </a:solidFill>
                <a:latin typeface="宋体"/>
                <a:cs typeface="宋体"/>
              </a:rPr>
              <a:t>。</a:t>
            </a:r>
            <a:r>
              <a:rPr dirty="0" sz="1800" spc="-815">
                <a:latin typeface="宋体"/>
                <a:cs typeface="宋体"/>
              </a:rPr>
              <a:t>。</a:t>
            </a:r>
            <a:r>
              <a:rPr dirty="0" baseline="13888" sz="2700" spc="-1485">
                <a:solidFill>
                  <a:srgbClr val="C00000"/>
                </a:solidFill>
                <a:latin typeface="宋体"/>
                <a:cs typeface="宋体"/>
              </a:rPr>
              <a:t>。</a:t>
            </a:r>
            <a:r>
              <a:rPr dirty="0" sz="1800" spc="-155">
                <a:latin typeface="宋体"/>
                <a:cs typeface="宋体"/>
              </a:rPr>
              <a:t>。</a:t>
            </a:r>
            <a:r>
              <a:rPr dirty="0" baseline="13888" sz="2700">
                <a:solidFill>
                  <a:srgbClr val="C00000"/>
                </a:solidFill>
                <a:latin typeface="宋体"/>
                <a:cs typeface="宋体"/>
              </a:rPr>
              <a:t>。</a:t>
            </a:r>
            <a:endParaRPr baseline="13888" sz="27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18" y="3075571"/>
            <a:ext cx="1397000" cy="1613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640">
                <a:latin typeface="宋体"/>
                <a:cs typeface="宋体"/>
              </a:rPr>
              <a:t>。</a:t>
            </a:r>
            <a:r>
              <a:rPr dirty="0" baseline="13888" sz="2700" spc="-1747">
                <a:solidFill>
                  <a:srgbClr val="C00000"/>
                </a:solidFill>
                <a:latin typeface="宋体"/>
                <a:cs typeface="宋体"/>
              </a:rPr>
              <a:t>。</a:t>
            </a:r>
            <a:r>
              <a:rPr dirty="0" sz="1800">
                <a:latin typeface="宋体"/>
                <a:cs typeface="宋体"/>
              </a:rPr>
              <a:t>。</a:t>
            </a:r>
            <a:r>
              <a:rPr dirty="0" sz="1800" spc="-620">
                <a:latin typeface="宋体"/>
                <a:cs typeface="宋体"/>
              </a:rPr>
              <a:t> </a:t>
            </a:r>
            <a:r>
              <a:rPr dirty="0" baseline="13888" sz="2700" spc="-569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r>
              <a:rPr dirty="0" sz="1800" spc="-10" b="1">
                <a:latin typeface="宋体"/>
                <a:cs typeface="宋体"/>
              </a:rPr>
              <a:t>。</a:t>
            </a:r>
            <a:r>
              <a:rPr dirty="0" sz="1800">
                <a:latin typeface="宋体"/>
                <a:cs typeface="宋体"/>
              </a:rPr>
              <a:t>。</a:t>
            </a:r>
            <a:r>
              <a:rPr dirty="0" sz="1800" spc="-10" b="1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dirty="0" sz="1800" spc="-640">
                <a:latin typeface="宋体"/>
                <a:cs typeface="宋体"/>
              </a:rPr>
              <a:t>。</a:t>
            </a:r>
            <a:r>
              <a:rPr dirty="0" baseline="13888" sz="2700" spc="-1747">
                <a:latin typeface="宋体"/>
                <a:cs typeface="宋体"/>
              </a:rPr>
              <a:t>。</a:t>
            </a:r>
            <a:r>
              <a:rPr dirty="0" sz="1800" spc="-690">
                <a:latin typeface="宋体"/>
                <a:cs typeface="宋体"/>
              </a:rPr>
              <a:t>。</a:t>
            </a:r>
            <a:r>
              <a:rPr dirty="0" baseline="13888" sz="2700" spc="-1672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 spc="-30">
                <a:latin typeface="宋体"/>
                <a:cs typeface="宋体"/>
              </a:rPr>
              <a:t>。</a:t>
            </a:r>
            <a:r>
              <a:rPr dirty="0" baseline="13888" sz="2700" spc="37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 spc="-1170">
                <a:latin typeface="宋体"/>
                <a:cs typeface="宋体"/>
              </a:rPr>
              <a:t>。</a:t>
            </a:r>
            <a:r>
              <a:rPr dirty="0" baseline="13888" sz="2700" spc="-952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dirty="0" sz="1800" spc="-640">
                <a:latin typeface="宋体"/>
                <a:cs typeface="宋体"/>
              </a:rPr>
              <a:t>。</a:t>
            </a:r>
            <a:r>
              <a:rPr dirty="0" baseline="13888" sz="2700" spc="-1747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 spc="-690">
                <a:latin typeface="宋体"/>
                <a:cs typeface="宋体"/>
              </a:rPr>
              <a:t>。</a:t>
            </a:r>
            <a:r>
              <a:rPr dirty="0" baseline="13888" sz="2700" spc="-1672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 spc="-30">
                <a:latin typeface="宋体"/>
                <a:cs typeface="宋体"/>
              </a:rPr>
              <a:t>。</a:t>
            </a:r>
            <a:r>
              <a:rPr dirty="0" baseline="13888" sz="2700" spc="37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 spc="-1170">
                <a:latin typeface="宋体"/>
                <a:cs typeface="宋体"/>
              </a:rPr>
              <a:t>。</a:t>
            </a:r>
            <a:r>
              <a:rPr dirty="0" baseline="13888" sz="2700" spc="-952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ts val="1930"/>
              </a:lnSpc>
            </a:pPr>
            <a:r>
              <a:rPr dirty="0" sz="1800" spc="-640">
                <a:latin typeface="宋体"/>
                <a:cs typeface="宋体"/>
              </a:rPr>
              <a:t>。</a:t>
            </a:r>
            <a:r>
              <a:rPr dirty="0" baseline="13888" sz="2700" spc="-1747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 spc="-690">
                <a:latin typeface="宋体"/>
                <a:cs typeface="宋体"/>
              </a:rPr>
              <a:t>。</a:t>
            </a:r>
            <a:r>
              <a:rPr dirty="0" baseline="13888" sz="2700" spc="-1672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sz="1800" spc="-740">
                <a:latin typeface="宋体"/>
                <a:cs typeface="宋体"/>
              </a:rPr>
              <a:t>。</a:t>
            </a:r>
            <a:r>
              <a:rPr dirty="0" baseline="13888" sz="2700" spc="-1597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r>
              <a:rPr dirty="0" sz="1800">
                <a:latin typeface="宋体"/>
                <a:cs typeface="宋体"/>
              </a:rPr>
              <a:t>。。。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ts val="1930"/>
              </a:lnSpc>
            </a:pPr>
            <a:r>
              <a:rPr dirty="0" baseline="-13888" sz="2700" spc="-960">
                <a:latin typeface="宋体"/>
                <a:cs typeface="宋体"/>
              </a:rPr>
              <a:t>。</a:t>
            </a:r>
            <a:r>
              <a:rPr dirty="0" sz="1800" spc="-1165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r>
              <a:rPr dirty="0" baseline="-13888" sz="2700">
                <a:latin typeface="宋体"/>
                <a:cs typeface="宋体"/>
              </a:rPr>
              <a:t>。</a:t>
            </a:r>
            <a:r>
              <a:rPr dirty="0" baseline="-13888" sz="2700" spc="-937">
                <a:latin typeface="宋体"/>
                <a:cs typeface="宋体"/>
              </a:rPr>
              <a:t> </a:t>
            </a:r>
            <a:r>
              <a:rPr dirty="0" sz="1800" spc="-380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r>
              <a:rPr dirty="0" baseline="-13888" sz="2700" spc="-1530">
                <a:latin typeface="宋体"/>
                <a:cs typeface="宋体"/>
              </a:rPr>
              <a:t>。</a:t>
            </a:r>
            <a:r>
              <a:rPr dirty="0" sz="1800" spc="-785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r>
              <a:rPr dirty="0" baseline="-13888" sz="2700" spc="-315">
                <a:latin typeface="宋体"/>
                <a:cs typeface="宋体"/>
              </a:rPr>
              <a:t>。</a:t>
            </a:r>
            <a:r>
              <a:rPr dirty="0" sz="1800">
                <a:solidFill>
                  <a:srgbClr val="00AF50"/>
                </a:solidFill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algn="ctr" marL="117475">
              <a:lnSpc>
                <a:spcPct val="100000"/>
              </a:lnSpc>
            </a:pPr>
            <a:r>
              <a:rPr dirty="0" sz="1800">
                <a:solidFill>
                  <a:srgbClr val="00AF50"/>
                </a:solidFill>
                <a:latin typeface="宋体"/>
                <a:cs typeface="宋体"/>
              </a:rPr>
              <a:t>。。</a:t>
            </a:r>
            <a:r>
              <a:rPr dirty="0" sz="1800" spc="405">
                <a:solidFill>
                  <a:srgbClr val="C00000"/>
                </a:solidFill>
                <a:latin typeface="宋体"/>
                <a:cs typeface="宋体"/>
              </a:rPr>
              <a:t>。</a:t>
            </a:r>
            <a:r>
              <a:rPr dirty="0" sz="1800">
                <a:solidFill>
                  <a:srgbClr val="00AF50"/>
                </a:solidFill>
                <a:latin typeface="宋体"/>
                <a:cs typeface="宋体"/>
              </a:rPr>
              <a:t>。。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89" y="174942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36195">
              <a:lnSpc>
                <a:spcPct val="100000"/>
              </a:lnSpc>
              <a:spcBef>
                <a:spcPts val="95"/>
              </a:spcBef>
            </a:pPr>
            <a:r>
              <a:rPr dirty="0"/>
              <a:t>第四节</a:t>
            </a:r>
            <a:r>
              <a:rPr dirty="0" spc="1400"/>
              <a:t> </a:t>
            </a:r>
            <a:r>
              <a:rPr dirty="0"/>
              <a:t>物态变化中的能量交</a:t>
            </a:r>
            <a:r>
              <a:rPr dirty="0" spc="-20"/>
              <a:t>换</a:t>
            </a:r>
          </a:p>
          <a:p>
            <a:pPr marL="25400">
              <a:lnSpc>
                <a:spcPct val="100000"/>
              </a:lnSpc>
              <a:spcBef>
                <a:spcPts val="25"/>
              </a:spcBef>
            </a:pPr>
            <a:endParaRPr sz="35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latin typeface="Calibri"/>
                <a:cs typeface="Calibri"/>
              </a:rPr>
              <a:t>1.</a:t>
            </a:r>
            <a:r>
              <a:rPr dirty="0" sz="2400"/>
              <a:t>熔化</a:t>
            </a:r>
            <a:r>
              <a:rPr dirty="0" sz="2400" spc="-10"/>
              <a:t>热</a:t>
            </a:r>
            <a:endParaRPr sz="2400">
              <a:latin typeface="Calibri"/>
              <a:cs typeface="Calibri"/>
            </a:endParaRPr>
          </a:p>
          <a:p>
            <a:pPr marL="38100" marR="5080">
              <a:lnSpc>
                <a:spcPct val="125000"/>
              </a:lnSpc>
            </a:pPr>
            <a:r>
              <a:rPr dirty="0" sz="2400" b="0">
                <a:latin typeface="宋体"/>
                <a:cs typeface="宋体"/>
              </a:rPr>
              <a:t>某种晶体熔化过程中所需的能量与其质量之比，称做这种 晶体的</a:t>
            </a:r>
            <a:r>
              <a:rPr dirty="0" sz="2400"/>
              <a:t>熔化热</a:t>
            </a:r>
            <a:r>
              <a:rPr dirty="0" sz="2400" b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76530">
              <a:lnSpc>
                <a:spcPct val="100000"/>
              </a:lnSpc>
              <a:spcBef>
                <a:spcPts val="720"/>
              </a:spcBef>
            </a:pPr>
            <a:r>
              <a:rPr dirty="0" sz="2400" b="0">
                <a:latin typeface="宋体"/>
                <a:cs typeface="宋体"/>
              </a:rPr>
              <a:t>不同晶体的熔化热不相同，非晶体没有确定的熔化热。</a:t>
            </a:r>
            <a:endParaRPr sz="2400">
              <a:latin typeface="宋体"/>
              <a:cs typeface="宋体"/>
            </a:endParaRPr>
          </a:p>
          <a:p>
            <a:pPr marL="25400"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181610" marR="589280">
              <a:lnSpc>
                <a:spcPct val="128099"/>
              </a:lnSpc>
            </a:pPr>
            <a:r>
              <a:rPr dirty="0" sz="2000"/>
              <a:t>一定质量的物质熔化时吸收的能量，与这种物质凝固时放出</a:t>
            </a:r>
            <a:r>
              <a:rPr dirty="0" sz="2000" spc="-5"/>
              <a:t>的 </a:t>
            </a:r>
            <a:r>
              <a:rPr dirty="0" sz="2000"/>
              <a:t>能量相等</a:t>
            </a:r>
            <a:r>
              <a:rPr dirty="0" sz="2400" b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89" y="174942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2794" y="909358"/>
            <a:ext cx="7950200" cy="139700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2400" spc="-5" b="1">
                <a:latin typeface="Calibri"/>
                <a:cs typeface="Calibri"/>
              </a:rPr>
              <a:t>2.</a:t>
            </a:r>
            <a:r>
              <a:rPr dirty="0" sz="2400" b="1">
                <a:latin typeface="宋体"/>
                <a:cs typeface="宋体"/>
              </a:rPr>
              <a:t>汽化</a:t>
            </a:r>
            <a:r>
              <a:rPr dirty="0" sz="2400" spc="-10" b="1">
                <a:latin typeface="宋体"/>
                <a:cs typeface="宋体"/>
              </a:rPr>
              <a:t>热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25000"/>
              </a:lnSpc>
            </a:pPr>
            <a:r>
              <a:rPr dirty="0" sz="2400">
                <a:latin typeface="宋体"/>
                <a:cs typeface="宋体"/>
              </a:rPr>
              <a:t>某种液体汽化成同温度的气体时所需的能量与其质量之比， 叫做这种物质在这个温度下的</a:t>
            </a:r>
            <a:r>
              <a:rPr dirty="0" sz="2400" b="1">
                <a:latin typeface="宋体"/>
                <a:cs typeface="宋体"/>
              </a:rPr>
              <a:t>汽化热</a:t>
            </a:r>
            <a:r>
              <a:rPr dirty="0" sz="240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8" y="4599406"/>
            <a:ext cx="71501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一定质量的物质，在一定的温度和压强下，汽化时吸收的热量与液化</a:t>
            </a:r>
            <a:r>
              <a:rPr dirty="0" sz="1800" spc="-10" b="1">
                <a:latin typeface="宋体"/>
                <a:cs typeface="宋体"/>
              </a:rPr>
              <a:t>时 </a:t>
            </a:r>
            <a:r>
              <a:rPr dirty="0" sz="1800" b="1">
                <a:latin typeface="宋体"/>
                <a:cs typeface="宋体"/>
              </a:rPr>
              <a:t>放出的热量相等</a:t>
            </a:r>
            <a:r>
              <a:rPr dirty="0" sz="1800" spc="-10" b="1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8324" y="2410967"/>
            <a:ext cx="4791456" cy="194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75232" y="4093464"/>
            <a:ext cx="571500" cy="199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685829"/>
            <a:ext cx="7934325" cy="4968240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2400" b="1">
                <a:latin typeface="宋体"/>
                <a:cs typeface="宋体"/>
              </a:rPr>
              <a:t>练</a:t>
            </a:r>
            <a:r>
              <a:rPr dirty="0" sz="2400" spc="-10" b="1">
                <a:latin typeface="宋体"/>
                <a:cs typeface="宋体"/>
              </a:rPr>
              <a:t>习</a:t>
            </a:r>
            <a:endParaRPr sz="2400">
              <a:latin typeface="宋体"/>
              <a:cs typeface="宋体"/>
            </a:endParaRPr>
          </a:p>
          <a:p>
            <a:pPr marL="300355">
              <a:lnSpc>
                <a:spcPct val="100000"/>
              </a:lnSpc>
              <a:spcBef>
                <a:spcPts val="1080"/>
              </a:spcBef>
            </a:pPr>
            <a:r>
              <a:rPr dirty="0" sz="2000" spc="-5">
                <a:latin typeface="宋体"/>
                <a:cs typeface="宋体"/>
              </a:rPr>
              <a:t>1.</a:t>
            </a:r>
            <a:r>
              <a:rPr dirty="0" sz="2000" spc="-3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北京奥运会的国家游泳中心——水立方，像一个透明的水蓝</a:t>
            </a:r>
            <a:r>
              <a:rPr dirty="0" sz="2000" spc="5">
                <a:latin typeface="宋体"/>
                <a:cs typeface="宋体"/>
              </a:rPr>
              <a:t>色</a:t>
            </a:r>
            <a:endParaRPr sz="2000">
              <a:latin typeface="宋体"/>
              <a:cs typeface="宋体"/>
            </a:endParaRPr>
          </a:p>
          <a:p>
            <a:pPr algn="just" marL="300355" marR="5080">
              <a:lnSpc>
                <a:spcPct val="125000"/>
              </a:lnSpc>
            </a:pPr>
            <a:r>
              <a:rPr dirty="0" sz="2000">
                <a:latin typeface="宋体"/>
                <a:cs typeface="宋体"/>
              </a:rPr>
              <a:t>“冰块”，透过它游泳池中心内部设施尽收眼底。这种独特的感觉</a:t>
            </a:r>
            <a:r>
              <a:rPr dirty="0" sz="2000">
                <a:latin typeface="宋体"/>
                <a:cs typeface="宋体"/>
              </a:rPr>
              <a:t>就 </a:t>
            </a:r>
            <a:r>
              <a:rPr dirty="0" sz="2000">
                <a:latin typeface="宋体"/>
                <a:cs typeface="宋体"/>
              </a:rPr>
              <a:t>源于建筑外墙采用了一种叫做</a:t>
            </a:r>
            <a:r>
              <a:rPr dirty="0" sz="2000" spc="-60">
                <a:latin typeface="宋体"/>
                <a:cs typeface="宋体"/>
              </a:rPr>
              <a:t> </a:t>
            </a:r>
            <a:r>
              <a:rPr dirty="0" sz="2000" spc="-5">
                <a:latin typeface="Cambria Math"/>
                <a:cs typeface="Cambria Math"/>
              </a:rPr>
              <a:t>ETFE</a:t>
            </a:r>
            <a:r>
              <a:rPr dirty="0" sz="2000" spc="-5">
                <a:latin typeface="宋体"/>
                <a:cs typeface="宋体"/>
              </a:rPr>
              <a:t>（</a:t>
            </a:r>
            <a:r>
              <a:rPr dirty="0" sz="2000">
                <a:latin typeface="宋体"/>
                <a:cs typeface="宋体"/>
              </a:rPr>
              <a:t>四氟乙烯和乙烯的共聚物）</a:t>
            </a:r>
            <a:r>
              <a:rPr dirty="0" sz="2000" spc="5">
                <a:latin typeface="宋体"/>
                <a:cs typeface="宋体"/>
              </a:rPr>
              <a:t>的 </a:t>
            </a:r>
            <a:r>
              <a:rPr dirty="0" sz="2000">
                <a:latin typeface="宋体"/>
                <a:cs typeface="宋体"/>
              </a:rPr>
              <a:t>膜材料这种膜材料属于非晶体，那么它具有的特性是（</a:t>
            </a:r>
            <a:r>
              <a:rPr dirty="0" sz="2000" spc="-810">
                <a:latin typeface="宋体"/>
                <a:cs typeface="宋体"/>
              </a:rPr>
              <a:t> </a:t>
            </a:r>
            <a:r>
              <a:rPr dirty="0" baseline="7716" sz="2700" spc="-142">
                <a:solidFill>
                  <a:srgbClr val="FF0000"/>
                </a:solidFill>
                <a:latin typeface="宋体"/>
                <a:cs typeface="宋体"/>
              </a:rPr>
              <a:t>A</a:t>
            </a:r>
            <a:r>
              <a:rPr dirty="0" sz="1800" spc="-810">
                <a:latin typeface="宋体"/>
                <a:cs typeface="宋体"/>
              </a:rPr>
              <a:t> </a:t>
            </a:r>
            <a:r>
              <a:rPr dirty="0" baseline="7716" sz="2700" spc="7">
                <a:solidFill>
                  <a:srgbClr val="FF0000"/>
                </a:solidFill>
                <a:latin typeface="宋体"/>
                <a:cs typeface="宋体"/>
              </a:rPr>
              <a:t>D</a:t>
            </a:r>
            <a:r>
              <a:rPr dirty="0" sz="2000" spc="5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300355" marR="538480">
              <a:lnSpc>
                <a:spcPct val="125000"/>
              </a:lnSpc>
              <a:spcBef>
                <a:spcPts val="60"/>
              </a:spcBef>
              <a:tabLst>
                <a:tab pos="3043555" algn="l"/>
                <a:tab pos="3957954" algn="l"/>
              </a:tabLst>
            </a:pPr>
            <a:r>
              <a:rPr dirty="0" sz="2000" spc="-5">
                <a:latin typeface="宋体"/>
                <a:cs typeface="宋体"/>
              </a:rPr>
              <a:t>A.</a:t>
            </a:r>
            <a:r>
              <a:rPr dirty="0" sz="2000">
                <a:latin typeface="宋体"/>
                <a:cs typeface="宋体"/>
              </a:rPr>
              <a:t> 在物理性质上具有各向同</a:t>
            </a:r>
            <a:r>
              <a:rPr dirty="0" sz="2000" spc="5">
                <a:latin typeface="宋体"/>
                <a:cs typeface="宋体"/>
              </a:rPr>
              <a:t>性	</a:t>
            </a:r>
            <a:r>
              <a:rPr dirty="0" sz="2000" spc="-5">
                <a:latin typeface="宋体"/>
                <a:cs typeface="宋体"/>
              </a:rPr>
              <a:t>B.</a:t>
            </a:r>
            <a:r>
              <a:rPr dirty="0" sz="2000" spc="-95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在物理性质上具有各向异</a:t>
            </a:r>
            <a:r>
              <a:rPr dirty="0" sz="2000" spc="5">
                <a:latin typeface="宋体"/>
                <a:cs typeface="宋体"/>
              </a:rPr>
              <a:t>性 </a:t>
            </a:r>
            <a:r>
              <a:rPr dirty="0" sz="2000" spc="-5">
                <a:latin typeface="宋体"/>
                <a:cs typeface="宋体"/>
              </a:rPr>
              <a:t>C. </a:t>
            </a:r>
            <a:r>
              <a:rPr dirty="0" sz="2000">
                <a:latin typeface="宋体"/>
                <a:cs typeface="宋体"/>
              </a:rPr>
              <a:t>具有一定的熔</a:t>
            </a:r>
            <a:r>
              <a:rPr dirty="0" sz="2000" spc="5">
                <a:latin typeface="宋体"/>
                <a:cs typeface="宋体"/>
              </a:rPr>
              <a:t>点	</a:t>
            </a:r>
            <a:r>
              <a:rPr dirty="0" sz="2000" spc="-5">
                <a:latin typeface="宋体"/>
                <a:cs typeface="宋体"/>
              </a:rPr>
              <a:t>D.</a:t>
            </a:r>
            <a:r>
              <a:rPr dirty="0" sz="2000" spc="-1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没有一定的熔</a:t>
            </a:r>
            <a:r>
              <a:rPr dirty="0" sz="2000" spc="5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  <a:p>
            <a:pPr algn="just" marL="300355">
              <a:lnSpc>
                <a:spcPct val="100000"/>
              </a:lnSpc>
              <a:spcBef>
                <a:spcPts val="1750"/>
              </a:spcBef>
            </a:pPr>
            <a:r>
              <a:rPr dirty="0" sz="1800" spc="-5">
                <a:latin typeface="Calibri"/>
                <a:cs typeface="Calibri"/>
              </a:rPr>
              <a:t>2.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2000">
                <a:latin typeface="宋体"/>
                <a:cs typeface="宋体"/>
              </a:rPr>
              <a:t>有关晶体的微观结构，下列说法正确的有（</a:t>
            </a:r>
            <a:r>
              <a:rPr dirty="0" sz="2000" spc="140">
                <a:latin typeface="宋体"/>
                <a:cs typeface="宋体"/>
              </a:rPr>
              <a:t> </a:t>
            </a:r>
            <a:r>
              <a:rPr dirty="0" baseline="4629" sz="2700" spc="-247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dirty="0" sz="1800" spc="-250">
                <a:latin typeface="Calibri"/>
                <a:cs typeface="Calibri"/>
              </a:rPr>
              <a:t> </a:t>
            </a:r>
            <a:r>
              <a:rPr dirty="0" baseline="4629" sz="2700" spc="-412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dirty="0" sz="1800" spc="-275">
                <a:latin typeface="Calibri"/>
                <a:cs typeface="Calibri"/>
              </a:rPr>
              <a:t>      </a:t>
            </a:r>
            <a:r>
              <a:rPr dirty="0" sz="1800" spc="-240">
                <a:latin typeface="Calibri"/>
                <a:cs typeface="Calibri"/>
              </a:rPr>
              <a:t> </a:t>
            </a:r>
            <a:r>
              <a:rPr dirty="0" sz="2000" spc="5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algn="just" marL="300355">
              <a:lnSpc>
                <a:spcPct val="100000"/>
              </a:lnSpc>
              <a:spcBef>
                <a:spcPts val="665"/>
              </a:spcBef>
            </a:pPr>
            <a:r>
              <a:rPr dirty="0" sz="2000" spc="-5">
                <a:latin typeface="宋体"/>
                <a:cs typeface="宋体"/>
              </a:rPr>
              <a:t>  </a:t>
            </a:r>
            <a:r>
              <a:rPr dirty="0" sz="2000" spc="-5">
                <a:latin typeface="宋体"/>
                <a:cs typeface="宋体"/>
              </a:rPr>
              <a:t>A.</a:t>
            </a:r>
            <a:r>
              <a:rPr dirty="0" sz="2000" spc="-10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同种元素原子按不同结构排列有相同的物理性</a:t>
            </a:r>
            <a:r>
              <a:rPr dirty="0" sz="2000" spc="5">
                <a:latin typeface="宋体"/>
                <a:cs typeface="宋体"/>
              </a:rPr>
              <a:t>质</a:t>
            </a:r>
            <a:endParaRPr sz="2000">
              <a:latin typeface="宋体"/>
              <a:cs typeface="宋体"/>
            </a:endParaRPr>
          </a:p>
          <a:p>
            <a:pPr algn="just" marL="300355">
              <a:lnSpc>
                <a:spcPct val="100000"/>
              </a:lnSpc>
              <a:spcBef>
                <a:spcPts val="600"/>
              </a:spcBef>
            </a:pPr>
            <a:r>
              <a:rPr dirty="0" sz="2000" spc="-5">
                <a:latin typeface="宋体"/>
                <a:cs typeface="宋体"/>
              </a:rPr>
              <a:t>  </a:t>
            </a:r>
            <a:r>
              <a:rPr dirty="0" sz="2000" spc="-5">
                <a:latin typeface="宋体"/>
                <a:cs typeface="宋体"/>
              </a:rPr>
              <a:t>B.</a:t>
            </a:r>
            <a:r>
              <a:rPr dirty="0" sz="2000" spc="-10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同种元素原子按不同结构排列有不同的物理性</a:t>
            </a:r>
            <a:r>
              <a:rPr dirty="0" sz="2000" spc="5">
                <a:latin typeface="宋体"/>
                <a:cs typeface="宋体"/>
              </a:rPr>
              <a:t>质</a:t>
            </a:r>
            <a:endParaRPr sz="2000">
              <a:latin typeface="宋体"/>
              <a:cs typeface="宋体"/>
            </a:endParaRPr>
          </a:p>
          <a:p>
            <a:pPr algn="just" marL="300355">
              <a:lnSpc>
                <a:spcPct val="100000"/>
              </a:lnSpc>
              <a:spcBef>
                <a:spcPts val="600"/>
              </a:spcBef>
            </a:pPr>
            <a:r>
              <a:rPr dirty="0" sz="2000" spc="-5">
                <a:latin typeface="宋体"/>
                <a:cs typeface="宋体"/>
              </a:rPr>
              <a:t>  </a:t>
            </a:r>
            <a:r>
              <a:rPr dirty="0" sz="2000" spc="-5">
                <a:latin typeface="宋体"/>
                <a:cs typeface="宋体"/>
              </a:rPr>
              <a:t>C.</a:t>
            </a:r>
            <a:r>
              <a:rPr dirty="0" sz="2000" spc="-1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同种元素形成晶体只能有一种排列规</a:t>
            </a:r>
            <a:r>
              <a:rPr dirty="0" sz="2000" spc="5">
                <a:latin typeface="宋体"/>
                <a:cs typeface="宋体"/>
              </a:rPr>
              <a:t>律</a:t>
            </a:r>
            <a:endParaRPr sz="2000">
              <a:latin typeface="宋体"/>
              <a:cs typeface="宋体"/>
            </a:endParaRPr>
          </a:p>
          <a:p>
            <a:pPr algn="just" marL="300355">
              <a:lnSpc>
                <a:spcPct val="100000"/>
              </a:lnSpc>
              <a:spcBef>
                <a:spcPts val="600"/>
              </a:spcBef>
            </a:pPr>
            <a:r>
              <a:rPr dirty="0" sz="2000" spc="-5">
                <a:latin typeface="宋体"/>
                <a:cs typeface="宋体"/>
              </a:rPr>
              <a:t>  </a:t>
            </a:r>
            <a:r>
              <a:rPr dirty="0" sz="2000" spc="-5">
                <a:latin typeface="宋体"/>
                <a:cs typeface="宋体"/>
              </a:rPr>
              <a:t>D.</a:t>
            </a:r>
            <a:r>
              <a:rPr dirty="0" sz="2000" spc="-1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同种元素形成晶体可能有不同的排列规</a:t>
            </a:r>
            <a:r>
              <a:rPr dirty="0" sz="2000" spc="5">
                <a:latin typeface="宋体"/>
                <a:cs typeface="宋体"/>
              </a:rPr>
              <a:t>律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4793" y="783589"/>
            <a:ext cx="7035800" cy="4504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75305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latin typeface="黑体"/>
                <a:cs typeface="黑体"/>
              </a:rPr>
              <a:t>小</a:t>
            </a:r>
            <a:r>
              <a:rPr dirty="0" sz="3400" spc="-5">
                <a:latin typeface="黑体"/>
                <a:cs typeface="黑体"/>
              </a:rPr>
              <a:t>结</a:t>
            </a:r>
            <a:endParaRPr sz="34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algn="just" marL="12700" marR="5080" indent="138430">
              <a:lnSpc>
                <a:spcPct val="125000"/>
              </a:lnSpc>
              <a:spcBef>
                <a:spcPts val="2075"/>
              </a:spcBef>
            </a:pPr>
            <a:r>
              <a:rPr dirty="0" sz="2400">
                <a:latin typeface="宋体"/>
                <a:cs typeface="宋体"/>
              </a:rPr>
              <a:t>物质是由分子组成的。分子在不停地做无规则运动</a:t>
            </a:r>
            <a:r>
              <a:rPr dirty="0" sz="2400">
                <a:latin typeface="Calibri"/>
                <a:cs typeface="Calibri"/>
              </a:rPr>
              <a:t>,  </a:t>
            </a:r>
            <a:r>
              <a:rPr dirty="0" sz="2400">
                <a:latin typeface="宋体"/>
                <a:cs typeface="宋体"/>
              </a:rPr>
              <a:t>它们之间存在着相互作用力。这些因素决定了分子的 三种不同的聚集状态：固态、液态和气态。物质处于 不同状态时具有不同的物理性质。</a:t>
            </a:r>
            <a:endParaRPr sz="2400">
              <a:latin typeface="宋体"/>
              <a:cs typeface="宋体"/>
            </a:endParaRPr>
          </a:p>
          <a:p>
            <a:pPr marL="12700" marR="5080" indent="69215">
              <a:lnSpc>
                <a:spcPct val="125000"/>
              </a:lnSpc>
            </a:pPr>
            <a:r>
              <a:rPr dirty="0" sz="2400">
                <a:latin typeface="宋体"/>
                <a:cs typeface="宋体"/>
              </a:rPr>
              <a:t>人类对物质属性的认识是从宏观到微观不断深入的 过程。相应地，人们对新材料或传统材料新功能开发 和研制也从来没有停止过。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89" y="174942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281" y="1707832"/>
            <a:ext cx="6128385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宋体"/>
                <a:cs typeface="宋体"/>
              </a:rPr>
              <a:t>作业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dirty="0" sz="2000">
                <a:latin typeface="宋体"/>
                <a:cs typeface="宋体"/>
              </a:rPr>
              <a:t>阅读教材</a:t>
            </a:r>
            <a:r>
              <a:rPr dirty="0" sz="2000" spc="-5">
                <a:latin typeface="Calibri"/>
                <a:cs typeface="Calibri"/>
              </a:rPr>
              <a:t>34-36</a:t>
            </a:r>
            <a:r>
              <a:rPr dirty="0" sz="2000">
                <a:latin typeface="宋体"/>
                <a:cs typeface="宋体"/>
              </a:rPr>
              <a:t>页</a:t>
            </a:r>
            <a:r>
              <a:rPr dirty="0" sz="2000" spc="-5">
                <a:latin typeface="Calibri"/>
                <a:cs typeface="Calibri"/>
              </a:rPr>
              <a:t>--</a:t>
            </a:r>
            <a:r>
              <a:rPr dirty="0" sz="2000">
                <a:latin typeface="宋体"/>
                <a:cs typeface="宋体"/>
              </a:rPr>
              <a:t>科学漫</a:t>
            </a:r>
            <a:r>
              <a:rPr dirty="0" sz="2000" spc="5">
                <a:latin typeface="宋体"/>
                <a:cs typeface="宋体"/>
              </a:rPr>
              <a:t>步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20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tabLst>
                <a:tab pos="3009265" algn="l"/>
              </a:tabLst>
            </a:pPr>
            <a:r>
              <a:rPr dirty="0" sz="2000">
                <a:latin typeface="宋体"/>
                <a:cs typeface="宋体"/>
              </a:rPr>
              <a:t>一、“超小物质的秘</a:t>
            </a:r>
            <a:r>
              <a:rPr dirty="0" sz="2000" spc="5">
                <a:latin typeface="宋体"/>
                <a:cs typeface="宋体"/>
              </a:rPr>
              <a:t>密	</a:t>
            </a:r>
            <a:r>
              <a:rPr dirty="0" sz="2000">
                <a:latin typeface="宋体"/>
                <a:cs typeface="宋体"/>
              </a:rPr>
              <a:t>二、能“记忆</a:t>
            </a:r>
            <a:r>
              <a:rPr dirty="0" sz="2000" spc="5">
                <a:latin typeface="宋体"/>
                <a:cs typeface="宋体"/>
              </a:rPr>
              <a:t>”</a:t>
            </a:r>
            <a:r>
              <a:rPr dirty="0" sz="2000" spc="-64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形状的合</a:t>
            </a:r>
            <a:r>
              <a:rPr dirty="0" sz="2000" spc="5">
                <a:latin typeface="宋体"/>
                <a:cs typeface="宋体"/>
              </a:rPr>
              <a:t>金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  <a:tab pos="3225165" algn="l"/>
              </a:tabLst>
            </a:pPr>
            <a:r>
              <a:rPr dirty="0" sz="2000">
                <a:latin typeface="宋体"/>
                <a:cs typeface="宋体"/>
              </a:rPr>
              <a:t>阅读教材</a:t>
            </a:r>
            <a:r>
              <a:rPr dirty="0" sz="2000" spc="-5">
                <a:latin typeface="Calibri"/>
                <a:cs typeface="Calibri"/>
              </a:rPr>
              <a:t>47</a:t>
            </a:r>
            <a:r>
              <a:rPr dirty="0" sz="2000">
                <a:latin typeface="宋体"/>
                <a:cs typeface="宋体"/>
              </a:rPr>
              <a:t>页</a:t>
            </a:r>
            <a:r>
              <a:rPr dirty="0" sz="2000" spc="-5">
                <a:latin typeface="Calibri"/>
                <a:cs typeface="Calibri"/>
              </a:rPr>
              <a:t>--</a:t>
            </a:r>
            <a:r>
              <a:rPr dirty="0" sz="2000">
                <a:latin typeface="宋体"/>
                <a:cs typeface="宋体"/>
              </a:rPr>
              <a:t>科学漫</a:t>
            </a:r>
            <a:r>
              <a:rPr dirty="0" sz="2000" spc="5">
                <a:latin typeface="宋体"/>
                <a:cs typeface="宋体"/>
              </a:rPr>
              <a:t>步	</a:t>
            </a:r>
            <a:r>
              <a:rPr dirty="0" sz="2000">
                <a:latin typeface="宋体"/>
                <a:cs typeface="宋体"/>
              </a:rPr>
              <a:t>气体的液</a:t>
            </a:r>
            <a:r>
              <a:rPr dirty="0" sz="2000" spc="5">
                <a:latin typeface="宋体"/>
                <a:cs typeface="宋体"/>
              </a:rPr>
              <a:t>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20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dirty="0" sz="2000">
                <a:latin typeface="宋体"/>
                <a:cs typeface="宋体"/>
              </a:rPr>
              <a:t>完成课后练</a:t>
            </a:r>
            <a:r>
              <a:rPr dirty="0" sz="2000" spc="5">
                <a:latin typeface="宋体"/>
                <a:cs typeface="宋体"/>
              </a:rPr>
              <a:t>习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2025-04-20T14:15:21Z</dcterms:created>
  <dcterms:modified xsi:type="dcterms:W3CDTF">2025-04-20T14:15:21Z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