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</p:sldIdLst>
  <p:sldSz cx="12192000" cy="6858000"/>
  <p:notesSz cx="12192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060382" y="5269968"/>
            <a:ext cx="2071235" cy="9766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50" b="0" i="0">
                <a:solidFill>
                  <a:srgbClr val="757577"/>
                </a:solidFill>
                <a:latin typeface="宋体"/>
                <a:cs typeface="宋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rgbClr val="E4F0E6"/>
                </a:solidFill>
                <a:latin typeface="宋体"/>
                <a:cs typeface="宋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385622"/>
                </a:solidFill>
                <a:latin typeface="华文楷体"/>
                <a:cs typeface="华文楷体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rgbClr val="E4F0E6"/>
                </a:solidFill>
                <a:latin typeface="宋体"/>
                <a:cs typeface="宋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rgbClr val="E4F0E6"/>
                </a:solidFill>
                <a:latin typeface="宋体"/>
                <a:cs typeface="宋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45122" y="315033"/>
            <a:ext cx="11301754" cy="3613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rgbClr val="E4F0E6"/>
                </a:solidFill>
                <a:latin typeface="宋体"/>
                <a:cs typeface="宋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636519" y="3031489"/>
            <a:ext cx="6918960" cy="20720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385622"/>
                </a:solidFill>
                <a:latin typeface="华文楷体"/>
                <a:cs typeface="华文楷体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4.jp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jp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jp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2.jpg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3.png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jpg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5.jpg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jpg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1.png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image" Target="../media/image38.png"/></Relationships>
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39.png"/></Relationships>
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0.png"/></Relationships>
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/Relationships>
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3.png"/><Relationship Id="rId3" Type="http://schemas.openxmlformats.org/officeDocument/2006/relationships/image" Target="../media/image44.png"/><Relationship Id="rId4" Type="http://schemas.openxmlformats.org/officeDocument/2006/relationships/image" Target="../media/image45.png"/></Relationships>
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6.png"/></Relationships>
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7.png"/></Relationships>
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7.png"/></Relationships>
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7.pn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18463" y="1028382"/>
            <a:ext cx="21590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微软雅黑"/>
                <a:cs typeface="微软雅黑"/>
              </a:rPr>
              <a:t>基础教育精品课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53311" y="2830067"/>
            <a:ext cx="409956" cy="46634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425623" y="2335822"/>
            <a:ext cx="7340600" cy="7569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b="1">
                <a:solidFill>
                  <a:srgbClr val="FFFFFF"/>
                </a:solidFill>
                <a:latin typeface="微软雅黑"/>
                <a:cs typeface="微软雅黑"/>
              </a:rPr>
              <a:t>气体的等压变化和等容变化</a:t>
            </a:r>
            <a:endParaRPr sz="480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138362" y="3444748"/>
            <a:ext cx="2342515" cy="1046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9600"/>
              </a:lnSpc>
              <a:spcBef>
                <a:spcPts val="100"/>
              </a:spcBef>
              <a:tabLst>
                <a:tab pos="726440" algn="l"/>
                <a:tab pos="1972310" algn="l"/>
              </a:tabLst>
            </a:pPr>
            <a:r>
              <a:rPr dirty="0" sz="2800" spc="-10" b="1">
                <a:solidFill>
                  <a:srgbClr val="FFFFFF"/>
                </a:solidFill>
                <a:latin typeface="华文楷体"/>
                <a:cs typeface="华文楷体"/>
              </a:rPr>
              <a:t>年</a:t>
            </a:r>
            <a:r>
              <a:rPr dirty="0" sz="2800" spc="-10" b="1">
                <a:solidFill>
                  <a:srgbClr val="FFFFFF"/>
                </a:solidFill>
                <a:latin typeface="华文楷体"/>
                <a:cs typeface="华文楷体"/>
              </a:rPr>
              <a:t>	</a:t>
            </a:r>
            <a:r>
              <a:rPr dirty="0" sz="2800" b="1">
                <a:solidFill>
                  <a:srgbClr val="FFFFFF"/>
                </a:solidFill>
                <a:latin typeface="华文楷体"/>
                <a:cs typeface="华文楷体"/>
              </a:rPr>
              <a:t>级：</a:t>
            </a:r>
            <a:r>
              <a:rPr dirty="0" sz="2800" spc="-10" b="1">
                <a:solidFill>
                  <a:srgbClr val="FFFFFF"/>
                </a:solidFill>
                <a:latin typeface="华文楷体"/>
                <a:cs typeface="华文楷体"/>
              </a:rPr>
              <a:t>高</a:t>
            </a:r>
            <a:r>
              <a:rPr dirty="0" sz="2800" b="1">
                <a:solidFill>
                  <a:srgbClr val="FFFFFF"/>
                </a:solidFill>
                <a:latin typeface="华文楷体"/>
                <a:cs typeface="华文楷体"/>
              </a:rPr>
              <a:t>	</a:t>
            </a:r>
            <a:r>
              <a:rPr dirty="0" sz="2800" spc="-690" b="1">
                <a:solidFill>
                  <a:srgbClr val="FFFFFF"/>
                </a:solidFill>
                <a:latin typeface="华文楷体"/>
                <a:cs typeface="华文楷体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华文楷体"/>
                <a:cs typeface="华文楷体"/>
              </a:rPr>
              <a:t>二 </a:t>
            </a:r>
            <a:r>
              <a:rPr dirty="0" sz="2800" b="1">
                <a:solidFill>
                  <a:srgbClr val="FFFFFF"/>
                </a:solidFill>
                <a:latin typeface="华文楷体"/>
                <a:cs typeface="华文楷体"/>
              </a:rPr>
              <a:t>主讲人：</a:t>
            </a:r>
            <a:r>
              <a:rPr dirty="0" sz="2800" spc="-10" b="1">
                <a:solidFill>
                  <a:srgbClr val="FFFFFF"/>
                </a:solidFill>
                <a:latin typeface="华文楷体"/>
                <a:cs typeface="华文楷体"/>
              </a:rPr>
              <a:t>季</a:t>
            </a:r>
            <a:r>
              <a:rPr dirty="0" sz="2800" b="1">
                <a:solidFill>
                  <a:srgbClr val="FFFFFF"/>
                </a:solidFill>
                <a:latin typeface="华文楷体"/>
                <a:cs typeface="华文楷体"/>
              </a:rPr>
              <a:t>	</a:t>
            </a:r>
            <a:r>
              <a:rPr dirty="0" sz="2800" spc="-10" b="1">
                <a:solidFill>
                  <a:srgbClr val="FFFFFF"/>
                </a:solidFill>
                <a:latin typeface="华文楷体"/>
                <a:cs typeface="华文楷体"/>
              </a:rPr>
              <a:t>萍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335077" y="3444748"/>
            <a:ext cx="3946525" cy="1046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905">
              <a:lnSpc>
                <a:spcPct val="119600"/>
              </a:lnSpc>
              <a:spcBef>
                <a:spcPts val="100"/>
              </a:spcBef>
              <a:tabLst>
                <a:tab pos="726440" algn="l"/>
              </a:tabLst>
            </a:pPr>
            <a:r>
              <a:rPr dirty="0" sz="2800" spc="-10" b="1">
                <a:solidFill>
                  <a:srgbClr val="FFFFFF"/>
                </a:solidFill>
                <a:latin typeface="华文楷体"/>
                <a:cs typeface="华文楷体"/>
              </a:rPr>
              <a:t>学</a:t>
            </a:r>
            <a:r>
              <a:rPr dirty="0" sz="2800" spc="-10" b="1">
                <a:solidFill>
                  <a:srgbClr val="FFFFFF"/>
                </a:solidFill>
                <a:latin typeface="华文楷体"/>
                <a:cs typeface="华文楷体"/>
              </a:rPr>
              <a:t>	</a:t>
            </a:r>
            <a:r>
              <a:rPr dirty="0" sz="2800" spc="-690" b="1">
                <a:solidFill>
                  <a:srgbClr val="FFFFFF"/>
                </a:solidFill>
                <a:latin typeface="华文楷体"/>
                <a:cs typeface="华文楷体"/>
              </a:rPr>
              <a:t> </a:t>
            </a:r>
            <a:r>
              <a:rPr dirty="0" sz="2800" b="1">
                <a:solidFill>
                  <a:srgbClr val="FFFFFF"/>
                </a:solidFill>
                <a:latin typeface="华文楷体"/>
                <a:cs typeface="华文楷体"/>
              </a:rPr>
              <a:t>科：物理（人教版</a:t>
            </a:r>
            <a:r>
              <a:rPr dirty="0" sz="2800" spc="-5" b="1">
                <a:solidFill>
                  <a:srgbClr val="FFFFFF"/>
                </a:solidFill>
                <a:latin typeface="华文楷体"/>
                <a:cs typeface="华文楷体"/>
              </a:rPr>
              <a:t>） </a:t>
            </a:r>
            <a:r>
              <a:rPr dirty="0" sz="2800" spc="-10" b="1">
                <a:solidFill>
                  <a:srgbClr val="FFFFFF"/>
                </a:solidFill>
                <a:latin typeface="华文楷体"/>
                <a:cs typeface="华文楷体"/>
              </a:rPr>
              <a:t>学	</a:t>
            </a:r>
            <a:r>
              <a:rPr dirty="0" sz="2800" b="1">
                <a:solidFill>
                  <a:srgbClr val="FFFFFF"/>
                </a:solidFill>
                <a:latin typeface="华文楷体"/>
                <a:cs typeface="华文楷体"/>
              </a:rPr>
              <a:t>校：铜梁中学</a:t>
            </a:r>
            <a:r>
              <a:rPr dirty="0" sz="2800" spc="-10" b="1">
                <a:solidFill>
                  <a:srgbClr val="FFFFFF"/>
                </a:solidFill>
                <a:latin typeface="华文楷体"/>
                <a:cs typeface="华文楷体"/>
              </a:rPr>
              <a:t>校</a:t>
            </a:r>
            <a:endParaRPr sz="28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825495" y="1196339"/>
            <a:ext cx="6541008" cy="435406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4656137" y="5683250"/>
            <a:ext cx="2877820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082675" algn="l"/>
                <a:tab pos="2153285" algn="l"/>
              </a:tabLst>
            </a:pPr>
            <a:r>
              <a:rPr dirty="0" sz="2800" b="1">
                <a:solidFill>
                  <a:srgbClr val="385622"/>
                </a:solidFill>
                <a:latin typeface="华文楷体"/>
                <a:cs typeface="华文楷体"/>
              </a:rPr>
              <a:t>压</a:t>
            </a:r>
            <a:r>
              <a:rPr dirty="0" sz="2800" spc="-10" b="1">
                <a:solidFill>
                  <a:srgbClr val="385622"/>
                </a:solidFill>
                <a:latin typeface="华文楷体"/>
                <a:cs typeface="华文楷体"/>
              </a:rPr>
              <a:t>强</a:t>
            </a:r>
            <a:r>
              <a:rPr dirty="0" sz="2800" b="1">
                <a:solidFill>
                  <a:srgbClr val="385622"/>
                </a:solidFill>
                <a:latin typeface="华文楷体"/>
                <a:cs typeface="华文楷体"/>
              </a:rPr>
              <a:t>	</a:t>
            </a:r>
            <a:r>
              <a:rPr dirty="0" sz="2800" b="1">
                <a:solidFill>
                  <a:srgbClr val="385622"/>
                </a:solidFill>
                <a:latin typeface="华文楷体"/>
                <a:cs typeface="华文楷体"/>
              </a:rPr>
              <a:t>温</a:t>
            </a:r>
            <a:r>
              <a:rPr dirty="0" sz="2800" spc="-10" b="1">
                <a:solidFill>
                  <a:srgbClr val="385622"/>
                </a:solidFill>
                <a:latin typeface="华文楷体"/>
                <a:cs typeface="华文楷体"/>
              </a:rPr>
              <a:t>度</a:t>
            </a:r>
            <a:r>
              <a:rPr dirty="0" sz="2800" b="1">
                <a:solidFill>
                  <a:srgbClr val="385622"/>
                </a:solidFill>
                <a:latin typeface="华文楷体"/>
                <a:cs typeface="华文楷体"/>
              </a:rPr>
              <a:t>	</a:t>
            </a:r>
            <a:r>
              <a:rPr dirty="0" sz="2800" b="1">
                <a:solidFill>
                  <a:srgbClr val="385622"/>
                </a:solidFill>
                <a:latin typeface="华文楷体"/>
                <a:cs typeface="华文楷体"/>
              </a:rPr>
              <a:t>体</a:t>
            </a:r>
            <a:r>
              <a:rPr dirty="0" sz="2800" spc="-10" b="1">
                <a:solidFill>
                  <a:srgbClr val="385622"/>
                </a:solidFill>
                <a:latin typeface="华文楷体"/>
                <a:cs typeface="华文楷体"/>
              </a:rPr>
              <a:t>积</a:t>
            </a:r>
            <a:endParaRPr sz="28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93627" y="2837497"/>
            <a:ext cx="2404744" cy="168465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69364" y="1230629"/>
            <a:ext cx="33655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>
                <a:solidFill>
                  <a:srgbClr val="000000"/>
                </a:solidFill>
                <a:latin typeface="黑体"/>
                <a:cs typeface="黑体"/>
              </a:rPr>
              <a:t>—</a:t>
            </a:r>
            <a:r>
              <a:rPr dirty="0" sz="3000" spc="105">
                <a:solidFill>
                  <a:srgbClr val="000000"/>
                </a:solidFill>
                <a:latin typeface="黑体"/>
                <a:cs typeface="黑体"/>
              </a:rPr>
              <a:t> </a:t>
            </a:r>
            <a:r>
              <a:rPr dirty="0" sz="3000" spc="100">
                <a:solidFill>
                  <a:srgbClr val="000000"/>
                </a:solidFill>
                <a:latin typeface="黑体"/>
                <a:cs typeface="黑体"/>
              </a:rPr>
              <a:t>气体的等压变</a:t>
            </a:r>
            <a:r>
              <a:rPr dirty="0" sz="3000">
                <a:solidFill>
                  <a:srgbClr val="000000"/>
                </a:solidFill>
                <a:latin typeface="黑体"/>
                <a:cs typeface="黑体"/>
              </a:rPr>
              <a:t>化</a:t>
            </a:r>
            <a:endParaRPr sz="3000">
              <a:latin typeface="黑体"/>
              <a:cs typeface="黑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81812" y="1307591"/>
            <a:ext cx="273050" cy="273050"/>
          </a:xfrm>
          <a:custGeom>
            <a:avLst/>
            <a:gdLst/>
            <a:ahLst/>
            <a:cxnLst/>
            <a:rect l="l" t="t" r="r" b="b"/>
            <a:pathLst>
              <a:path w="273050" h="273050">
                <a:moveTo>
                  <a:pt x="0" y="0"/>
                </a:moveTo>
                <a:lnTo>
                  <a:pt x="272796" y="0"/>
                </a:lnTo>
                <a:lnTo>
                  <a:pt x="272796" y="272796"/>
                </a:lnTo>
                <a:lnTo>
                  <a:pt x="0" y="272796"/>
                </a:lnTo>
                <a:lnTo>
                  <a:pt x="0" y="0"/>
                </a:lnTo>
                <a:close/>
              </a:path>
            </a:pathLst>
          </a:custGeom>
          <a:solidFill>
            <a:srgbClr val="3856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931163" y="1475232"/>
            <a:ext cx="186055" cy="186055"/>
          </a:xfrm>
          <a:custGeom>
            <a:avLst/>
            <a:gdLst/>
            <a:ahLst/>
            <a:cxnLst/>
            <a:rect l="l" t="t" r="r" b="b"/>
            <a:pathLst>
              <a:path w="186055" h="186055">
                <a:moveTo>
                  <a:pt x="0" y="0"/>
                </a:moveTo>
                <a:lnTo>
                  <a:pt x="185928" y="0"/>
                </a:lnTo>
                <a:lnTo>
                  <a:pt x="185928" y="185928"/>
                </a:lnTo>
                <a:lnTo>
                  <a:pt x="0" y="185928"/>
                </a:lnTo>
                <a:lnTo>
                  <a:pt x="0" y="0"/>
                </a:lnTo>
                <a:close/>
              </a:path>
            </a:pathLst>
          </a:custGeom>
          <a:solidFill>
            <a:srgbClr val="53823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5167629" y="4559300"/>
            <a:ext cx="185610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b="1">
                <a:solidFill>
                  <a:srgbClr val="385622"/>
                </a:solidFill>
                <a:latin typeface="华文楷体"/>
                <a:cs typeface="华文楷体"/>
              </a:rPr>
              <a:t>实验探</a:t>
            </a:r>
            <a:r>
              <a:rPr dirty="0" sz="3600" spc="-5" b="1">
                <a:solidFill>
                  <a:srgbClr val="385622"/>
                </a:solidFill>
                <a:latin typeface="华文楷体"/>
                <a:cs typeface="华文楷体"/>
              </a:rPr>
              <a:t>究</a:t>
            </a:r>
            <a:endParaRPr sz="3600">
              <a:latin typeface="华文楷体"/>
              <a:cs typeface="华文楷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938395" y="2614295"/>
            <a:ext cx="231394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b="1">
                <a:solidFill>
                  <a:srgbClr val="385622"/>
                </a:solidFill>
                <a:latin typeface="华文楷体"/>
                <a:cs typeface="华文楷体"/>
              </a:rPr>
              <a:t>控制变量</a:t>
            </a:r>
            <a:r>
              <a:rPr dirty="0" sz="3600" spc="-5" b="1">
                <a:solidFill>
                  <a:srgbClr val="385622"/>
                </a:solidFill>
                <a:latin typeface="华文楷体"/>
                <a:cs typeface="华文楷体"/>
              </a:rPr>
              <a:t>法</a:t>
            </a:r>
            <a:endParaRPr sz="3600">
              <a:latin typeface="华文楷体"/>
              <a:cs typeface="华文楷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871971" y="3470147"/>
            <a:ext cx="448309" cy="922019"/>
          </a:xfrm>
          <a:custGeom>
            <a:avLst/>
            <a:gdLst/>
            <a:ahLst/>
            <a:cxnLst/>
            <a:rect l="l" t="t" r="r" b="b"/>
            <a:pathLst>
              <a:path w="448310" h="922020">
                <a:moveTo>
                  <a:pt x="336803" y="696467"/>
                </a:moveTo>
                <a:lnTo>
                  <a:pt x="111251" y="696467"/>
                </a:lnTo>
                <a:lnTo>
                  <a:pt x="111251" y="0"/>
                </a:lnTo>
                <a:lnTo>
                  <a:pt x="336803" y="0"/>
                </a:lnTo>
                <a:lnTo>
                  <a:pt x="336803" y="696467"/>
                </a:lnTo>
                <a:close/>
              </a:path>
              <a:path w="448310" h="922020">
                <a:moveTo>
                  <a:pt x="224027" y="922019"/>
                </a:moveTo>
                <a:lnTo>
                  <a:pt x="0" y="696467"/>
                </a:lnTo>
                <a:lnTo>
                  <a:pt x="448055" y="696467"/>
                </a:lnTo>
                <a:lnTo>
                  <a:pt x="224027" y="922019"/>
                </a:lnTo>
                <a:close/>
              </a:path>
            </a:pathLst>
          </a:custGeom>
          <a:solidFill>
            <a:srgbClr val="C5DF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856198" y="3463925"/>
            <a:ext cx="480059" cy="937260"/>
          </a:xfrm>
          <a:custGeom>
            <a:avLst/>
            <a:gdLst/>
            <a:ahLst/>
            <a:cxnLst/>
            <a:rect l="l" t="t" r="r" b="b"/>
            <a:pathLst>
              <a:path w="480060" h="937260">
                <a:moveTo>
                  <a:pt x="121221" y="703262"/>
                </a:moveTo>
                <a:lnTo>
                  <a:pt x="121221" y="0"/>
                </a:lnTo>
                <a:lnTo>
                  <a:pt x="358394" y="0"/>
                </a:lnTo>
                <a:lnTo>
                  <a:pt x="358394" y="6350"/>
                </a:lnTo>
                <a:lnTo>
                  <a:pt x="133921" y="6350"/>
                </a:lnTo>
                <a:lnTo>
                  <a:pt x="127571" y="12700"/>
                </a:lnTo>
                <a:lnTo>
                  <a:pt x="133921" y="12700"/>
                </a:lnTo>
                <a:lnTo>
                  <a:pt x="133921" y="696912"/>
                </a:lnTo>
                <a:lnTo>
                  <a:pt x="127571" y="696912"/>
                </a:lnTo>
                <a:lnTo>
                  <a:pt x="121221" y="703262"/>
                </a:lnTo>
                <a:close/>
              </a:path>
              <a:path w="480060" h="937260">
                <a:moveTo>
                  <a:pt x="133921" y="12700"/>
                </a:moveTo>
                <a:lnTo>
                  <a:pt x="127571" y="12700"/>
                </a:lnTo>
                <a:lnTo>
                  <a:pt x="133921" y="6350"/>
                </a:lnTo>
                <a:lnTo>
                  <a:pt x="133921" y="12700"/>
                </a:lnTo>
                <a:close/>
              </a:path>
              <a:path w="480060" h="937260">
                <a:moveTo>
                  <a:pt x="345694" y="12700"/>
                </a:moveTo>
                <a:lnTo>
                  <a:pt x="133921" y="12700"/>
                </a:lnTo>
                <a:lnTo>
                  <a:pt x="133921" y="6350"/>
                </a:lnTo>
                <a:lnTo>
                  <a:pt x="345694" y="6350"/>
                </a:lnTo>
                <a:lnTo>
                  <a:pt x="345694" y="12700"/>
                </a:lnTo>
                <a:close/>
              </a:path>
              <a:path w="480060" h="937260">
                <a:moveTo>
                  <a:pt x="448932" y="709612"/>
                </a:moveTo>
                <a:lnTo>
                  <a:pt x="345694" y="709612"/>
                </a:lnTo>
                <a:lnTo>
                  <a:pt x="345694" y="6350"/>
                </a:lnTo>
                <a:lnTo>
                  <a:pt x="352044" y="12700"/>
                </a:lnTo>
                <a:lnTo>
                  <a:pt x="358394" y="12700"/>
                </a:lnTo>
                <a:lnTo>
                  <a:pt x="358394" y="696912"/>
                </a:lnTo>
                <a:lnTo>
                  <a:pt x="352044" y="696912"/>
                </a:lnTo>
                <a:lnTo>
                  <a:pt x="358394" y="703262"/>
                </a:lnTo>
                <a:lnTo>
                  <a:pt x="455282" y="703262"/>
                </a:lnTo>
                <a:lnTo>
                  <a:pt x="448932" y="709612"/>
                </a:lnTo>
                <a:close/>
              </a:path>
              <a:path w="480060" h="937260">
                <a:moveTo>
                  <a:pt x="358394" y="12700"/>
                </a:moveTo>
                <a:lnTo>
                  <a:pt x="352044" y="12700"/>
                </a:lnTo>
                <a:lnTo>
                  <a:pt x="345694" y="6350"/>
                </a:lnTo>
                <a:lnTo>
                  <a:pt x="358394" y="6350"/>
                </a:lnTo>
                <a:lnTo>
                  <a:pt x="358394" y="12700"/>
                </a:lnTo>
                <a:close/>
              </a:path>
              <a:path w="480060" h="937260">
                <a:moveTo>
                  <a:pt x="239801" y="936713"/>
                </a:moveTo>
                <a:lnTo>
                  <a:pt x="0" y="696912"/>
                </a:lnTo>
                <a:lnTo>
                  <a:pt x="121221" y="696912"/>
                </a:lnTo>
                <a:lnTo>
                  <a:pt x="121221" y="698766"/>
                </a:lnTo>
                <a:lnTo>
                  <a:pt x="19824" y="698766"/>
                </a:lnTo>
                <a:lnTo>
                  <a:pt x="15328" y="709612"/>
                </a:lnTo>
                <a:lnTo>
                  <a:pt x="30670" y="709612"/>
                </a:lnTo>
                <a:lnTo>
                  <a:pt x="239801" y="918743"/>
                </a:lnTo>
                <a:lnTo>
                  <a:pt x="235305" y="923239"/>
                </a:lnTo>
                <a:lnTo>
                  <a:pt x="253276" y="923239"/>
                </a:lnTo>
                <a:lnTo>
                  <a:pt x="239801" y="936713"/>
                </a:lnTo>
                <a:close/>
              </a:path>
              <a:path w="480060" h="937260">
                <a:moveTo>
                  <a:pt x="133921" y="703262"/>
                </a:moveTo>
                <a:lnTo>
                  <a:pt x="121221" y="703262"/>
                </a:lnTo>
                <a:lnTo>
                  <a:pt x="127571" y="696912"/>
                </a:lnTo>
                <a:lnTo>
                  <a:pt x="133921" y="696912"/>
                </a:lnTo>
                <a:lnTo>
                  <a:pt x="133921" y="703262"/>
                </a:lnTo>
                <a:close/>
              </a:path>
              <a:path w="480060" h="937260">
                <a:moveTo>
                  <a:pt x="358394" y="703262"/>
                </a:moveTo>
                <a:lnTo>
                  <a:pt x="352044" y="696912"/>
                </a:lnTo>
                <a:lnTo>
                  <a:pt x="358394" y="696912"/>
                </a:lnTo>
                <a:lnTo>
                  <a:pt x="358394" y="703262"/>
                </a:lnTo>
                <a:close/>
              </a:path>
              <a:path w="480060" h="937260">
                <a:moveTo>
                  <a:pt x="455282" y="703262"/>
                </a:moveTo>
                <a:lnTo>
                  <a:pt x="358394" y="703262"/>
                </a:lnTo>
                <a:lnTo>
                  <a:pt x="358394" y="696912"/>
                </a:lnTo>
                <a:lnTo>
                  <a:pt x="479602" y="696912"/>
                </a:lnTo>
                <a:lnTo>
                  <a:pt x="477748" y="698766"/>
                </a:lnTo>
                <a:lnTo>
                  <a:pt x="459778" y="698766"/>
                </a:lnTo>
                <a:lnTo>
                  <a:pt x="455282" y="703262"/>
                </a:lnTo>
                <a:close/>
              </a:path>
              <a:path w="480060" h="937260">
                <a:moveTo>
                  <a:pt x="30670" y="709612"/>
                </a:moveTo>
                <a:lnTo>
                  <a:pt x="15328" y="709612"/>
                </a:lnTo>
                <a:lnTo>
                  <a:pt x="19824" y="698766"/>
                </a:lnTo>
                <a:lnTo>
                  <a:pt x="30670" y="709612"/>
                </a:lnTo>
                <a:close/>
              </a:path>
              <a:path w="480060" h="937260">
                <a:moveTo>
                  <a:pt x="133921" y="709612"/>
                </a:moveTo>
                <a:lnTo>
                  <a:pt x="30670" y="709612"/>
                </a:lnTo>
                <a:lnTo>
                  <a:pt x="19824" y="698766"/>
                </a:lnTo>
                <a:lnTo>
                  <a:pt x="121221" y="698766"/>
                </a:lnTo>
                <a:lnTo>
                  <a:pt x="121221" y="703262"/>
                </a:lnTo>
                <a:lnTo>
                  <a:pt x="133921" y="703262"/>
                </a:lnTo>
                <a:lnTo>
                  <a:pt x="133921" y="709612"/>
                </a:lnTo>
                <a:close/>
              </a:path>
              <a:path w="480060" h="937260">
                <a:moveTo>
                  <a:pt x="253276" y="923239"/>
                </a:moveTo>
                <a:lnTo>
                  <a:pt x="244297" y="923239"/>
                </a:lnTo>
                <a:lnTo>
                  <a:pt x="239801" y="918743"/>
                </a:lnTo>
                <a:lnTo>
                  <a:pt x="459778" y="698766"/>
                </a:lnTo>
                <a:lnTo>
                  <a:pt x="464273" y="709612"/>
                </a:lnTo>
                <a:lnTo>
                  <a:pt x="466902" y="709612"/>
                </a:lnTo>
                <a:lnTo>
                  <a:pt x="253276" y="923239"/>
                </a:lnTo>
                <a:close/>
              </a:path>
              <a:path w="480060" h="937260">
                <a:moveTo>
                  <a:pt x="466902" y="709612"/>
                </a:moveTo>
                <a:lnTo>
                  <a:pt x="464273" y="709612"/>
                </a:lnTo>
                <a:lnTo>
                  <a:pt x="459778" y="698766"/>
                </a:lnTo>
                <a:lnTo>
                  <a:pt x="477748" y="698766"/>
                </a:lnTo>
                <a:lnTo>
                  <a:pt x="466902" y="709612"/>
                </a:lnTo>
                <a:close/>
              </a:path>
              <a:path w="480060" h="937260">
                <a:moveTo>
                  <a:pt x="244297" y="923239"/>
                </a:moveTo>
                <a:lnTo>
                  <a:pt x="235305" y="923239"/>
                </a:lnTo>
                <a:lnTo>
                  <a:pt x="239801" y="918743"/>
                </a:lnTo>
                <a:lnTo>
                  <a:pt x="244297" y="923239"/>
                </a:lnTo>
                <a:close/>
              </a:path>
            </a:pathLst>
          </a:custGeom>
          <a:solidFill>
            <a:srgbClr val="538235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69364" y="1230629"/>
            <a:ext cx="33655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>
                <a:solidFill>
                  <a:srgbClr val="000000"/>
                </a:solidFill>
                <a:latin typeface="黑体"/>
                <a:cs typeface="黑体"/>
              </a:rPr>
              <a:t>—</a:t>
            </a:r>
            <a:r>
              <a:rPr dirty="0" sz="3000" spc="105">
                <a:solidFill>
                  <a:srgbClr val="000000"/>
                </a:solidFill>
                <a:latin typeface="黑体"/>
                <a:cs typeface="黑体"/>
              </a:rPr>
              <a:t> </a:t>
            </a:r>
            <a:r>
              <a:rPr dirty="0" sz="3000" spc="100">
                <a:solidFill>
                  <a:srgbClr val="000000"/>
                </a:solidFill>
                <a:latin typeface="黑体"/>
                <a:cs typeface="黑体"/>
              </a:rPr>
              <a:t>气体的等压变</a:t>
            </a:r>
            <a:r>
              <a:rPr dirty="0" sz="3000">
                <a:solidFill>
                  <a:srgbClr val="000000"/>
                </a:solidFill>
                <a:latin typeface="黑体"/>
                <a:cs typeface="黑体"/>
              </a:rPr>
              <a:t>化</a:t>
            </a:r>
            <a:endParaRPr sz="3000">
              <a:latin typeface="黑体"/>
              <a:cs typeface="黑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81812" y="1307591"/>
            <a:ext cx="273050" cy="273050"/>
          </a:xfrm>
          <a:custGeom>
            <a:avLst/>
            <a:gdLst/>
            <a:ahLst/>
            <a:cxnLst/>
            <a:rect l="l" t="t" r="r" b="b"/>
            <a:pathLst>
              <a:path w="273050" h="273050">
                <a:moveTo>
                  <a:pt x="0" y="0"/>
                </a:moveTo>
                <a:lnTo>
                  <a:pt x="272796" y="0"/>
                </a:lnTo>
                <a:lnTo>
                  <a:pt x="272796" y="272796"/>
                </a:lnTo>
                <a:lnTo>
                  <a:pt x="0" y="272796"/>
                </a:lnTo>
                <a:lnTo>
                  <a:pt x="0" y="0"/>
                </a:lnTo>
                <a:close/>
              </a:path>
            </a:pathLst>
          </a:custGeom>
          <a:solidFill>
            <a:srgbClr val="3856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931163" y="1475232"/>
            <a:ext cx="186055" cy="186055"/>
          </a:xfrm>
          <a:custGeom>
            <a:avLst/>
            <a:gdLst/>
            <a:ahLst/>
            <a:cxnLst/>
            <a:rect l="l" t="t" r="r" b="b"/>
            <a:pathLst>
              <a:path w="186055" h="186055">
                <a:moveTo>
                  <a:pt x="0" y="0"/>
                </a:moveTo>
                <a:lnTo>
                  <a:pt x="185928" y="0"/>
                </a:lnTo>
                <a:lnTo>
                  <a:pt x="185928" y="185928"/>
                </a:lnTo>
                <a:lnTo>
                  <a:pt x="0" y="185928"/>
                </a:lnTo>
                <a:lnTo>
                  <a:pt x="0" y="0"/>
                </a:lnTo>
                <a:close/>
              </a:path>
            </a:pathLst>
          </a:custGeom>
          <a:solidFill>
            <a:srgbClr val="53823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4123690" y="2628900"/>
            <a:ext cx="3942715" cy="25406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solidFill>
                  <a:srgbClr val="385622"/>
                </a:solidFill>
                <a:latin typeface="华文楷体"/>
                <a:cs typeface="华文楷体"/>
              </a:rPr>
              <a:t>研究对象：一定质量气</a:t>
            </a:r>
            <a:r>
              <a:rPr dirty="0" sz="2800" spc="-10" b="1">
                <a:solidFill>
                  <a:srgbClr val="385622"/>
                </a:solidFill>
                <a:latin typeface="华文楷体"/>
                <a:cs typeface="华文楷体"/>
              </a:rPr>
              <a:t>体</a:t>
            </a:r>
            <a:endParaRPr sz="2800">
              <a:latin typeface="华文楷体"/>
              <a:cs typeface="华文楷体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4250">
              <a:latin typeface="Times New Roman"/>
              <a:cs typeface="Times New Roman"/>
            </a:endParaRPr>
          </a:p>
          <a:p>
            <a:pPr algn="ctr" marL="635">
              <a:lnSpc>
                <a:spcPct val="100000"/>
              </a:lnSpc>
            </a:pPr>
            <a:r>
              <a:rPr dirty="0" sz="2800" b="1" i="1">
                <a:solidFill>
                  <a:srgbClr val="385622"/>
                </a:solidFill>
                <a:latin typeface="Times New Roman"/>
                <a:cs typeface="Times New Roman"/>
              </a:rPr>
              <a:t>m</a:t>
            </a:r>
            <a:r>
              <a:rPr dirty="0" sz="2800" b="1">
                <a:solidFill>
                  <a:srgbClr val="385622"/>
                </a:solidFill>
                <a:latin typeface="华文楷体"/>
                <a:cs typeface="华文楷体"/>
              </a:rPr>
              <a:t>不变</a:t>
            </a:r>
            <a:r>
              <a:rPr dirty="0" sz="2800" spc="-5" b="1">
                <a:solidFill>
                  <a:srgbClr val="385622"/>
                </a:solidFill>
                <a:latin typeface="华文楷体"/>
                <a:cs typeface="华文楷体"/>
              </a:rPr>
              <a:t>，</a:t>
            </a:r>
            <a:r>
              <a:rPr dirty="0" sz="2800" spc="-5" b="1" i="1">
                <a:solidFill>
                  <a:srgbClr val="385622"/>
                </a:solidFill>
                <a:latin typeface="Times New Roman"/>
                <a:cs typeface="Times New Roman"/>
              </a:rPr>
              <a:t>p</a:t>
            </a:r>
            <a:r>
              <a:rPr dirty="0" sz="2800" b="1">
                <a:solidFill>
                  <a:srgbClr val="385622"/>
                </a:solidFill>
                <a:latin typeface="华文楷体"/>
                <a:cs typeface="华文楷体"/>
              </a:rPr>
              <a:t>不</a:t>
            </a:r>
            <a:r>
              <a:rPr dirty="0" sz="2800" spc="-10" b="1">
                <a:solidFill>
                  <a:srgbClr val="385622"/>
                </a:solidFill>
                <a:latin typeface="华文楷体"/>
                <a:cs typeface="华文楷体"/>
              </a:rPr>
              <a:t>变</a:t>
            </a:r>
            <a:endParaRPr sz="2800">
              <a:latin typeface="华文楷体"/>
              <a:cs typeface="华文楷体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41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dirty="0" sz="2800" b="1">
                <a:solidFill>
                  <a:srgbClr val="385622"/>
                </a:solidFill>
                <a:latin typeface="华文楷体"/>
                <a:cs typeface="华文楷体"/>
              </a:rPr>
              <a:t>探究体积与温度的关</a:t>
            </a:r>
            <a:r>
              <a:rPr dirty="0" sz="2800" spc="-10" b="1">
                <a:solidFill>
                  <a:srgbClr val="385622"/>
                </a:solidFill>
                <a:latin typeface="华文楷体"/>
                <a:cs typeface="华文楷体"/>
              </a:rPr>
              <a:t>系</a:t>
            </a:r>
            <a:endParaRPr sz="28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01035" y="1196975"/>
            <a:ext cx="16637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300">
                <a:solidFill>
                  <a:srgbClr val="000000"/>
                </a:solidFill>
                <a:latin typeface="黑体"/>
                <a:cs typeface="黑体"/>
              </a:rPr>
              <a:t>定性实</a:t>
            </a:r>
            <a:r>
              <a:rPr dirty="0" sz="3000">
                <a:solidFill>
                  <a:srgbClr val="000000"/>
                </a:solidFill>
                <a:latin typeface="黑体"/>
                <a:cs typeface="黑体"/>
              </a:rPr>
              <a:t>验</a:t>
            </a:r>
            <a:endParaRPr sz="3000">
              <a:latin typeface="黑体"/>
              <a:cs typeface="黑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679700" y="1196975"/>
            <a:ext cx="431800" cy="487045"/>
          </a:xfrm>
          <a:custGeom>
            <a:avLst/>
            <a:gdLst/>
            <a:ahLst/>
            <a:cxnLst/>
            <a:rect l="l" t="t" r="r" b="b"/>
            <a:pathLst>
              <a:path w="431800" h="487044">
                <a:moveTo>
                  <a:pt x="223202" y="62039"/>
                </a:moveTo>
                <a:lnTo>
                  <a:pt x="208597" y="62039"/>
                </a:lnTo>
                <a:lnTo>
                  <a:pt x="202945" y="56095"/>
                </a:lnTo>
                <a:lnTo>
                  <a:pt x="202945" y="5943"/>
                </a:lnTo>
                <a:lnTo>
                  <a:pt x="208597" y="0"/>
                </a:lnTo>
                <a:lnTo>
                  <a:pt x="223202" y="0"/>
                </a:lnTo>
                <a:lnTo>
                  <a:pt x="229184" y="5943"/>
                </a:lnTo>
                <a:lnTo>
                  <a:pt x="229184" y="56095"/>
                </a:lnTo>
                <a:lnTo>
                  <a:pt x="223202" y="62039"/>
                </a:lnTo>
                <a:close/>
              </a:path>
              <a:path w="431800" h="487044">
                <a:moveTo>
                  <a:pt x="102641" y="111861"/>
                </a:moveTo>
                <a:lnTo>
                  <a:pt x="94005" y="111861"/>
                </a:lnTo>
                <a:lnTo>
                  <a:pt x="89014" y="106578"/>
                </a:lnTo>
                <a:lnTo>
                  <a:pt x="63436" y="81178"/>
                </a:lnTo>
                <a:lnTo>
                  <a:pt x="58127" y="76225"/>
                </a:lnTo>
                <a:lnTo>
                  <a:pt x="58127" y="67640"/>
                </a:lnTo>
                <a:lnTo>
                  <a:pt x="63436" y="62699"/>
                </a:lnTo>
                <a:lnTo>
                  <a:pt x="68427" y="57416"/>
                </a:lnTo>
                <a:lnTo>
                  <a:pt x="77063" y="57416"/>
                </a:lnTo>
                <a:lnTo>
                  <a:pt x="82042" y="62699"/>
                </a:lnTo>
                <a:lnTo>
                  <a:pt x="112598" y="93052"/>
                </a:lnTo>
                <a:lnTo>
                  <a:pt x="112928" y="101638"/>
                </a:lnTo>
                <a:lnTo>
                  <a:pt x="107619" y="106578"/>
                </a:lnTo>
                <a:lnTo>
                  <a:pt x="102641" y="111861"/>
                </a:lnTo>
                <a:close/>
              </a:path>
              <a:path w="431800" h="487044">
                <a:moveTo>
                  <a:pt x="338137" y="111861"/>
                </a:moveTo>
                <a:lnTo>
                  <a:pt x="329501" y="111861"/>
                </a:lnTo>
                <a:lnTo>
                  <a:pt x="324510" y="106578"/>
                </a:lnTo>
                <a:lnTo>
                  <a:pt x="319201" y="101638"/>
                </a:lnTo>
                <a:lnTo>
                  <a:pt x="319201" y="93052"/>
                </a:lnTo>
                <a:lnTo>
                  <a:pt x="324510" y="88099"/>
                </a:lnTo>
                <a:lnTo>
                  <a:pt x="350088" y="62699"/>
                </a:lnTo>
                <a:lnTo>
                  <a:pt x="355066" y="57416"/>
                </a:lnTo>
                <a:lnTo>
                  <a:pt x="363372" y="57416"/>
                </a:lnTo>
                <a:lnTo>
                  <a:pt x="373672" y="67640"/>
                </a:lnTo>
                <a:lnTo>
                  <a:pt x="373672" y="76225"/>
                </a:lnTo>
                <a:lnTo>
                  <a:pt x="343115" y="106578"/>
                </a:lnTo>
                <a:lnTo>
                  <a:pt x="338137" y="111861"/>
                </a:lnTo>
                <a:close/>
              </a:path>
              <a:path w="431800" h="487044">
                <a:moveTo>
                  <a:pt x="251777" y="397294"/>
                </a:moveTo>
                <a:lnTo>
                  <a:pt x="180365" y="397294"/>
                </a:lnTo>
                <a:lnTo>
                  <a:pt x="168250" y="394912"/>
                </a:lnTo>
                <a:lnTo>
                  <a:pt x="158438" y="388385"/>
                </a:lnTo>
                <a:lnTo>
                  <a:pt x="151865" y="378638"/>
                </a:lnTo>
                <a:lnTo>
                  <a:pt x="149466" y="366598"/>
                </a:lnTo>
                <a:lnTo>
                  <a:pt x="149352" y="360344"/>
                </a:lnTo>
                <a:lnTo>
                  <a:pt x="149016" y="353526"/>
                </a:lnTo>
                <a:lnTo>
                  <a:pt x="134188" y="317436"/>
                </a:lnTo>
                <a:lnTo>
                  <a:pt x="128879" y="311823"/>
                </a:lnTo>
                <a:lnTo>
                  <a:pt x="104631" y="280554"/>
                </a:lnTo>
                <a:lnTo>
                  <a:pt x="90887" y="242698"/>
                </a:lnTo>
                <a:lnTo>
                  <a:pt x="88353" y="214490"/>
                </a:lnTo>
                <a:lnTo>
                  <a:pt x="90112" y="193429"/>
                </a:lnTo>
                <a:lnTo>
                  <a:pt x="103345" y="154902"/>
                </a:lnTo>
                <a:lnTo>
                  <a:pt x="150170" y="105778"/>
                </a:lnTo>
                <a:lnTo>
                  <a:pt x="193301" y="89700"/>
                </a:lnTo>
                <a:lnTo>
                  <a:pt x="238837" y="89700"/>
                </a:lnTo>
                <a:lnTo>
                  <a:pt x="281965" y="105778"/>
                </a:lnTo>
                <a:lnTo>
                  <a:pt x="285439" y="108889"/>
                </a:lnTo>
                <a:lnTo>
                  <a:pt x="212242" y="108889"/>
                </a:lnTo>
                <a:lnTo>
                  <a:pt x="209257" y="109219"/>
                </a:lnTo>
                <a:lnTo>
                  <a:pt x="205930" y="109550"/>
                </a:lnTo>
                <a:lnTo>
                  <a:pt x="204939" y="109550"/>
                </a:lnTo>
                <a:lnTo>
                  <a:pt x="199288" y="110210"/>
                </a:lnTo>
                <a:lnTo>
                  <a:pt x="155654" y="128116"/>
                </a:lnTo>
                <a:lnTo>
                  <a:pt x="122607" y="165066"/>
                </a:lnTo>
                <a:lnTo>
                  <a:pt x="110274" y="214490"/>
                </a:lnTo>
                <a:lnTo>
                  <a:pt x="111166" y="231055"/>
                </a:lnTo>
                <a:lnTo>
                  <a:pt x="122567" y="268274"/>
                </a:lnTo>
                <a:lnTo>
                  <a:pt x="147142" y="299618"/>
                </a:lnTo>
                <a:lnTo>
                  <a:pt x="152793" y="305892"/>
                </a:lnTo>
                <a:lnTo>
                  <a:pt x="169662" y="342181"/>
                </a:lnTo>
                <a:lnTo>
                  <a:pt x="171056" y="369239"/>
                </a:lnTo>
                <a:lnTo>
                  <a:pt x="172059" y="371551"/>
                </a:lnTo>
                <a:lnTo>
                  <a:pt x="175374" y="374853"/>
                </a:lnTo>
                <a:lnTo>
                  <a:pt x="177698" y="375843"/>
                </a:lnTo>
                <a:lnTo>
                  <a:pt x="280823" y="375843"/>
                </a:lnTo>
                <a:lnTo>
                  <a:pt x="280266" y="378638"/>
                </a:lnTo>
                <a:lnTo>
                  <a:pt x="273697" y="388385"/>
                </a:lnTo>
                <a:lnTo>
                  <a:pt x="263890" y="394912"/>
                </a:lnTo>
                <a:lnTo>
                  <a:pt x="251777" y="397294"/>
                </a:lnTo>
                <a:close/>
              </a:path>
              <a:path w="431800" h="487044">
                <a:moveTo>
                  <a:pt x="280823" y="375843"/>
                </a:moveTo>
                <a:lnTo>
                  <a:pt x="257086" y="375843"/>
                </a:lnTo>
                <a:lnTo>
                  <a:pt x="261073" y="371881"/>
                </a:lnTo>
                <a:lnTo>
                  <a:pt x="261173" y="360344"/>
                </a:lnTo>
                <a:lnTo>
                  <a:pt x="269049" y="317766"/>
                </a:lnTo>
                <a:lnTo>
                  <a:pt x="287312" y="297306"/>
                </a:lnTo>
                <a:lnTo>
                  <a:pt x="294787" y="289131"/>
                </a:lnTo>
                <a:lnTo>
                  <a:pt x="317376" y="249055"/>
                </a:lnTo>
                <a:lnTo>
                  <a:pt x="321856" y="214490"/>
                </a:lnTo>
                <a:lnTo>
                  <a:pt x="320402" y="197025"/>
                </a:lnTo>
                <a:lnTo>
                  <a:pt x="300596" y="151130"/>
                </a:lnTo>
                <a:lnTo>
                  <a:pt x="261970" y="119670"/>
                </a:lnTo>
                <a:lnTo>
                  <a:pt x="227190" y="109550"/>
                </a:lnTo>
                <a:lnTo>
                  <a:pt x="226199" y="109550"/>
                </a:lnTo>
                <a:lnTo>
                  <a:pt x="219557" y="108889"/>
                </a:lnTo>
                <a:lnTo>
                  <a:pt x="285439" y="108889"/>
                </a:lnTo>
                <a:lnTo>
                  <a:pt x="317868" y="137934"/>
                </a:lnTo>
                <a:lnTo>
                  <a:pt x="328594" y="154902"/>
                </a:lnTo>
                <a:lnTo>
                  <a:pt x="336638" y="173483"/>
                </a:lnTo>
                <a:lnTo>
                  <a:pt x="341692" y="193429"/>
                </a:lnTo>
                <a:lnTo>
                  <a:pt x="343446" y="214490"/>
                </a:lnTo>
                <a:lnTo>
                  <a:pt x="342371" y="233625"/>
                </a:lnTo>
                <a:lnTo>
                  <a:pt x="328498" y="278168"/>
                </a:lnTo>
                <a:lnTo>
                  <a:pt x="300596" y="314464"/>
                </a:lnTo>
                <a:lnTo>
                  <a:pt x="294614" y="320408"/>
                </a:lnTo>
                <a:lnTo>
                  <a:pt x="289966" y="325361"/>
                </a:lnTo>
                <a:lnTo>
                  <a:pt x="282663" y="366598"/>
                </a:lnTo>
                <a:lnTo>
                  <a:pt x="280823" y="375843"/>
                </a:lnTo>
                <a:close/>
              </a:path>
              <a:path w="431800" h="487044">
                <a:moveTo>
                  <a:pt x="56794" y="227355"/>
                </a:moveTo>
                <a:lnTo>
                  <a:pt x="5981" y="227355"/>
                </a:lnTo>
                <a:lnTo>
                  <a:pt x="0" y="221411"/>
                </a:lnTo>
                <a:lnTo>
                  <a:pt x="0" y="207225"/>
                </a:lnTo>
                <a:lnTo>
                  <a:pt x="5981" y="201282"/>
                </a:lnTo>
                <a:lnTo>
                  <a:pt x="56794" y="201282"/>
                </a:lnTo>
                <a:lnTo>
                  <a:pt x="62776" y="207225"/>
                </a:lnTo>
                <a:lnTo>
                  <a:pt x="62776" y="221411"/>
                </a:lnTo>
                <a:lnTo>
                  <a:pt x="56794" y="227355"/>
                </a:lnTo>
                <a:close/>
              </a:path>
              <a:path w="431800" h="487044">
                <a:moveTo>
                  <a:pt x="425818" y="227355"/>
                </a:moveTo>
                <a:lnTo>
                  <a:pt x="375335" y="227355"/>
                </a:lnTo>
                <a:lnTo>
                  <a:pt x="369354" y="221411"/>
                </a:lnTo>
                <a:lnTo>
                  <a:pt x="369354" y="207225"/>
                </a:lnTo>
                <a:lnTo>
                  <a:pt x="375335" y="201282"/>
                </a:lnTo>
                <a:lnTo>
                  <a:pt x="425818" y="201282"/>
                </a:lnTo>
                <a:lnTo>
                  <a:pt x="431800" y="207225"/>
                </a:lnTo>
                <a:lnTo>
                  <a:pt x="431800" y="221411"/>
                </a:lnTo>
                <a:lnTo>
                  <a:pt x="425818" y="227355"/>
                </a:lnTo>
                <a:close/>
              </a:path>
              <a:path w="431800" h="487044">
                <a:moveTo>
                  <a:pt x="77063" y="371221"/>
                </a:moveTo>
                <a:lnTo>
                  <a:pt x="68427" y="371221"/>
                </a:lnTo>
                <a:lnTo>
                  <a:pt x="63436" y="365937"/>
                </a:lnTo>
                <a:lnTo>
                  <a:pt x="58138" y="361007"/>
                </a:lnTo>
                <a:lnTo>
                  <a:pt x="58127" y="352412"/>
                </a:lnTo>
                <a:lnTo>
                  <a:pt x="63436" y="347459"/>
                </a:lnTo>
                <a:lnTo>
                  <a:pt x="89014" y="322059"/>
                </a:lnTo>
                <a:lnTo>
                  <a:pt x="94005" y="316776"/>
                </a:lnTo>
                <a:lnTo>
                  <a:pt x="102641" y="316776"/>
                </a:lnTo>
                <a:lnTo>
                  <a:pt x="107619" y="322059"/>
                </a:lnTo>
                <a:lnTo>
                  <a:pt x="112928" y="327012"/>
                </a:lnTo>
                <a:lnTo>
                  <a:pt x="112928" y="335584"/>
                </a:lnTo>
                <a:lnTo>
                  <a:pt x="107619" y="340537"/>
                </a:lnTo>
                <a:lnTo>
                  <a:pt x="82042" y="365937"/>
                </a:lnTo>
                <a:lnTo>
                  <a:pt x="77063" y="371221"/>
                </a:lnTo>
                <a:close/>
              </a:path>
              <a:path w="431800" h="487044">
                <a:moveTo>
                  <a:pt x="363372" y="371221"/>
                </a:moveTo>
                <a:lnTo>
                  <a:pt x="355066" y="371221"/>
                </a:lnTo>
                <a:lnTo>
                  <a:pt x="350088" y="365937"/>
                </a:lnTo>
                <a:lnTo>
                  <a:pt x="324510" y="340537"/>
                </a:lnTo>
                <a:lnTo>
                  <a:pt x="319201" y="335584"/>
                </a:lnTo>
                <a:lnTo>
                  <a:pt x="319201" y="327012"/>
                </a:lnTo>
                <a:lnTo>
                  <a:pt x="324510" y="322059"/>
                </a:lnTo>
                <a:lnTo>
                  <a:pt x="329501" y="316776"/>
                </a:lnTo>
                <a:lnTo>
                  <a:pt x="338137" y="316776"/>
                </a:lnTo>
                <a:lnTo>
                  <a:pt x="343115" y="322059"/>
                </a:lnTo>
                <a:lnTo>
                  <a:pt x="373552" y="352293"/>
                </a:lnTo>
                <a:lnTo>
                  <a:pt x="373661" y="361007"/>
                </a:lnTo>
                <a:lnTo>
                  <a:pt x="363372" y="371221"/>
                </a:lnTo>
                <a:close/>
              </a:path>
              <a:path w="431800" h="487044">
                <a:moveTo>
                  <a:pt x="224536" y="487044"/>
                </a:moveTo>
                <a:lnTo>
                  <a:pt x="196964" y="487044"/>
                </a:lnTo>
                <a:lnTo>
                  <a:pt x="185674" y="481431"/>
                </a:lnTo>
                <a:lnTo>
                  <a:pt x="185674" y="472859"/>
                </a:lnTo>
                <a:lnTo>
                  <a:pt x="246456" y="472859"/>
                </a:lnTo>
                <a:lnTo>
                  <a:pt x="246456" y="473849"/>
                </a:lnTo>
                <a:lnTo>
                  <a:pt x="244525" y="479110"/>
                </a:lnTo>
                <a:lnTo>
                  <a:pt x="239482" y="483290"/>
                </a:lnTo>
                <a:lnTo>
                  <a:pt x="232445" y="486049"/>
                </a:lnTo>
                <a:lnTo>
                  <a:pt x="224536" y="487044"/>
                </a:lnTo>
                <a:close/>
              </a:path>
              <a:path w="431800" h="487044">
                <a:moveTo>
                  <a:pt x="258749" y="465594"/>
                </a:moveTo>
                <a:lnTo>
                  <a:pt x="173050" y="465594"/>
                </a:lnTo>
                <a:lnTo>
                  <a:pt x="167411" y="459651"/>
                </a:lnTo>
                <a:lnTo>
                  <a:pt x="167411" y="445135"/>
                </a:lnTo>
                <a:lnTo>
                  <a:pt x="173050" y="439204"/>
                </a:lnTo>
                <a:lnTo>
                  <a:pt x="258749" y="439204"/>
                </a:lnTo>
                <a:lnTo>
                  <a:pt x="264731" y="445135"/>
                </a:lnTo>
                <a:lnTo>
                  <a:pt x="264731" y="459651"/>
                </a:lnTo>
                <a:lnTo>
                  <a:pt x="258749" y="465594"/>
                </a:lnTo>
                <a:close/>
              </a:path>
              <a:path w="431800" h="487044">
                <a:moveTo>
                  <a:pt x="258749" y="432269"/>
                </a:moveTo>
                <a:lnTo>
                  <a:pt x="173050" y="432269"/>
                </a:lnTo>
                <a:lnTo>
                  <a:pt x="167411" y="426326"/>
                </a:lnTo>
                <a:lnTo>
                  <a:pt x="167411" y="411810"/>
                </a:lnTo>
                <a:lnTo>
                  <a:pt x="173050" y="405866"/>
                </a:lnTo>
                <a:lnTo>
                  <a:pt x="258749" y="405866"/>
                </a:lnTo>
                <a:lnTo>
                  <a:pt x="264731" y="411810"/>
                </a:lnTo>
                <a:lnTo>
                  <a:pt x="264731" y="426326"/>
                </a:lnTo>
                <a:lnTo>
                  <a:pt x="258749" y="432269"/>
                </a:lnTo>
                <a:close/>
              </a:path>
            </a:pathLst>
          </a:custGeom>
          <a:solidFill>
            <a:srgbClr val="3856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679192" y="1988820"/>
            <a:ext cx="5878067" cy="40203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7633" y="100763"/>
            <a:ext cx="11996720" cy="66533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9639313" y="367094"/>
            <a:ext cx="2105660" cy="280035"/>
          </a:xfrm>
          <a:custGeom>
            <a:avLst/>
            <a:gdLst/>
            <a:ahLst/>
            <a:cxnLst/>
            <a:rect l="l" t="t" r="r" b="b"/>
            <a:pathLst>
              <a:path w="2105659" h="280034">
                <a:moveTo>
                  <a:pt x="0" y="0"/>
                </a:moveTo>
                <a:lnTo>
                  <a:pt x="2105223" y="0"/>
                </a:lnTo>
                <a:lnTo>
                  <a:pt x="2105223" y="279896"/>
                </a:lnTo>
                <a:lnTo>
                  <a:pt x="0" y="279896"/>
                </a:lnTo>
                <a:lnTo>
                  <a:pt x="0" y="0"/>
                </a:lnTo>
                <a:close/>
              </a:path>
            </a:pathLst>
          </a:custGeom>
          <a:solidFill>
            <a:srgbClr val="2A4F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9194165">
              <a:lnSpc>
                <a:spcPct val="100000"/>
              </a:lnSpc>
              <a:spcBef>
                <a:spcPts val="100"/>
              </a:spcBef>
            </a:pPr>
            <a:r>
              <a:rPr dirty="0" spc="155"/>
              <a:t>里础敦宫龋吊谯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37254" y="1783715"/>
            <a:ext cx="166370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300">
                <a:latin typeface="黑体"/>
                <a:cs typeface="黑体"/>
              </a:rPr>
              <a:t>定性关</a:t>
            </a:r>
            <a:r>
              <a:rPr dirty="0" sz="3000">
                <a:latin typeface="黑体"/>
                <a:cs typeface="黑体"/>
              </a:rPr>
              <a:t>系</a:t>
            </a:r>
            <a:endParaRPr sz="3000">
              <a:latin typeface="黑体"/>
              <a:cs typeface="黑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915920" y="1783714"/>
            <a:ext cx="431800" cy="487045"/>
          </a:xfrm>
          <a:custGeom>
            <a:avLst/>
            <a:gdLst/>
            <a:ahLst/>
            <a:cxnLst/>
            <a:rect l="l" t="t" r="r" b="b"/>
            <a:pathLst>
              <a:path w="431800" h="487044">
                <a:moveTo>
                  <a:pt x="223202" y="62039"/>
                </a:moveTo>
                <a:lnTo>
                  <a:pt x="208597" y="62039"/>
                </a:lnTo>
                <a:lnTo>
                  <a:pt x="202946" y="56095"/>
                </a:lnTo>
                <a:lnTo>
                  <a:pt x="202946" y="5943"/>
                </a:lnTo>
                <a:lnTo>
                  <a:pt x="208597" y="0"/>
                </a:lnTo>
                <a:lnTo>
                  <a:pt x="223202" y="0"/>
                </a:lnTo>
                <a:lnTo>
                  <a:pt x="229184" y="5943"/>
                </a:lnTo>
                <a:lnTo>
                  <a:pt x="229184" y="56095"/>
                </a:lnTo>
                <a:lnTo>
                  <a:pt x="223202" y="62039"/>
                </a:lnTo>
                <a:close/>
              </a:path>
              <a:path w="431800" h="487044">
                <a:moveTo>
                  <a:pt x="102641" y="111861"/>
                </a:moveTo>
                <a:lnTo>
                  <a:pt x="94005" y="111861"/>
                </a:lnTo>
                <a:lnTo>
                  <a:pt x="89014" y="106578"/>
                </a:lnTo>
                <a:lnTo>
                  <a:pt x="63436" y="81178"/>
                </a:lnTo>
                <a:lnTo>
                  <a:pt x="58127" y="76225"/>
                </a:lnTo>
                <a:lnTo>
                  <a:pt x="58127" y="67640"/>
                </a:lnTo>
                <a:lnTo>
                  <a:pt x="63436" y="62699"/>
                </a:lnTo>
                <a:lnTo>
                  <a:pt x="68427" y="57416"/>
                </a:lnTo>
                <a:lnTo>
                  <a:pt x="77063" y="57416"/>
                </a:lnTo>
                <a:lnTo>
                  <a:pt x="82042" y="62699"/>
                </a:lnTo>
                <a:lnTo>
                  <a:pt x="112598" y="93052"/>
                </a:lnTo>
                <a:lnTo>
                  <a:pt x="112928" y="101638"/>
                </a:lnTo>
                <a:lnTo>
                  <a:pt x="107619" y="106578"/>
                </a:lnTo>
                <a:lnTo>
                  <a:pt x="102641" y="111861"/>
                </a:lnTo>
                <a:close/>
              </a:path>
              <a:path w="431800" h="487044">
                <a:moveTo>
                  <a:pt x="338137" y="111861"/>
                </a:moveTo>
                <a:lnTo>
                  <a:pt x="329501" y="111861"/>
                </a:lnTo>
                <a:lnTo>
                  <a:pt x="324510" y="106578"/>
                </a:lnTo>
                <a:lnTo>
                  <a:pt x="319201" y="101638"/>
                </a:lnTo>
                <a:lnTo>
                  <a:pt x="319201" y="93052"/>
                </a:lnTo>
                <a:lnTo>
                  <a:pt x="324510" y="88099"/>
                </a:lnTo>
                <a:lnTo>
                  <a:pt x="350088" y="62699"/>
                </a:lnTo>
                <a:lnTo>
                  <a:pt x="355066" y="57416"/>
                </a:lnTo>
                <a:lnTo>
                  <a:pt x="363372" y="57416"/>
                </a:lnTo>
                <a:lnTo>
                  <a:pt x="373672" y="67640"/>
                </a:lnTo>
                <a:lnTo>
                  <a:pt x="373672" y="76225"/>
                </a:lnTo>
                <a:lnTo>
                  <a:pt x="343115" y="106578"/>
                </a:lnTo>
                <a:lnTo>
                  <a:pt x="338137" y="111861"/>
                </a:lnTo>
                <a:close/>
              </a:path>
              <a:path w="431800" h="487044">
                <a:moveTo>
                  <a:pt x="251777" y="397294"/>
                </a:moveTo>
                <a:lnTo>
                  <a:pt x="180365" y="397294"/>
                </a:lnTo>
                <a:lnTo>
                  <a:pt x="168250" y="394912"/>
                </a:lnTo>
                <a:lnTo>
                  <a:pt x="158438" y="388385"/>
                </a:lnTo>
                <a:lnTo>
                  <a:pt x="151865" y="378638"/>
                </a:lnTo>
                <a:lnTo>
                  <a:pt x="149466" y="366598"/>
                </a:lnTo>
                <a:lnTo>
                  <a:pt x="149352" y="360344"/>
                </a:lnTo>
                <a:lnTo>
                  <a:pt x="149016" y="353526"/>
                </a:lnTo>
                <a:lnTo>
                  <a:pt x="134188" y="317436"/>
                </a:lnTo>
                <a:lnTo>
                  <a:pt x="128879" y="311823"/>
                </a:lnTo>
                <a:lnTo>
                  <a:pt x="104631" y="280554"/>
                </a:lnTo>
                <a:lnTo>
                  <a:pt x="90887" y="242698"/>
                </a:lnTo>
                <a:lnTo>
                  <a:pt x="88353" y="214490"/>
                </a:lnTo>
                <a:lnTo>
                  <a:pt x="90112" y="193429"/>
                </a:lnTo>
                <a:lnTo>
                  <a:pt x="103345" y="154902"/>
                </a:lnTo>
                <a:lnTo>
                  <a:pt x="150170" y="105778"/>
                </a:lnTo>
                <a:lnTo>
                  <a:pt x="193301" y="89700"/>
                </a:lnTo>
                <a:lnTo>
                  <a:pt x="238837" y="89700"/>
                </a:lnTo>
                <a:lnTo>
                  <a:pt x="281965" y="105778"/>
                </a:lnTo>
                <a:lnTo>
                  <a:pt x="285439" y="108889"/>
                </a:lnTo>
                <a:lnTo>
                  <a:pt x="212242" y="108889"/>
                </a:lnTo>
                <a:lnTo>
                  <a:pt x="209257" y="109220"/>
                </a:lnTo>
                <a:lnTo>
                  <a:pt x="205930" y="109550"/>
                </a:lnTo>
                <a:lnTo>
                  <a:pt x="204939" y="109550"/>
                </a:lnTo>
                <a:lnTo>
                  <a:pt x="199288" y="110210"/>
                </a:lnTo>
                <a:lnTo>
                  <a:pt x="155654" y="128116"/>
                </a:lnTo>
                <a:lnTo>
                  <a:pt x="122607" y="165066"/>
                </a:lnTo>
                <a:lnTo>
                  <a:pt x="110274" y="214490"/>
                </a:lnTo>
                <a:lnTo>
                  <a:pt x="111166" y="231055"/>
                </a:lnTo>
                <a:lnTo>
                  <a:pt x="122567" y="268274"/>
                </a:lnTo>
                <a:lnTo>
                  <a:pt x="147142" y="299618"/>
                </a:lnTo>
                <a:lnTo>
                  <a:pt x="152793" y="305892"/>
                </a:lnTo>
                <a:lnTo>
                  <a:pt x="169662" y="342181"/>
                </a:lnTo>
                <a:lnTo>
                  <a:pt x="171056" y="369239"/>
                </a:lnTo>
                <a:lnTo>
                  <a:pt x="172059" y="371551"/>
                </a:lnTo>
                <a:lnTo>
                  <a:pt x="175374" y="374853"/>
                </a:lnTo>
                <a:lnTo>
                  <a:pt x="177698" y="375843"/>
                </a:lnTo>
                <a:lnTo>
                  <a:pt x="280823" y="375843"/>
                </a:lnTo>
                <a:lnTo>
                  <a:pt x="280266" y="378638"/>
                </a:lnTo>
                <a:lnTo>
                  <a:pt x="273697" y="388385"/>
                </a:lnTo>
                <a:lnTo>
                  <a:pt x="263890" y="394912"/>
                </a:lnTo>
                <a:lnTo>
                  <a:pt x="251777" y="397294"/>
                </a:lnTo>
                <a:close/>
              </a:path>
              <a:path w="431800" h="487044">
                <a:moveTo>
                  <a:pt x="280823" y="375843"/>
                </a:moveTo>
                <a:lnTo>
                  <a:pt x="257086" y="375843"/>
                </a:lnTo>
                <a:lnTo>
                  <a:pt x="261073" y="371881"/>
                </a:lnTo>
                <a:lnTo>
                  <a:pt x="261173" y="360344"/>
                </a:lnTo>
                <a:lnTo>
                  <a:pt x="269049" y="317766"/>
                </a:lnTo>
                <a:lnTo>
                  <a:pt x="287312" y="297307"/>
                </a:lnTo>
                <a:lnTo>
                  <a:pt x="294787" y="289131"/>
                </a:lnTo>
                <a:lnTo>
                  <a:pt x="317376" y="249055"/>
                </a:lnTo>
                <a:lnTo>
                  <a:pt x="321856" y="214490"/>
                </a:lnTo>
                <a:lnTo>
                  <a:pt x="320402" y="197025"/>
                </a:lnTo>
                <a:lnTo>
                  <a:pt x="300596" y="151130"/>
                </a:lnTo>
                <a:lnTo>
                  <a:pt x="261970" y="119670"/>
                </a:lnTo>
                <a:lnTo>
                  <a:pt x="227190" y="109550"/>
                </a:lnTo>
                <a:lnTo>
                  <a:pt x="226199" y="109550"/>
                </a:lnTo>
                <a:lnTo>
                  <a:pt x="219557" y="108889"/>
                </a:lnTo>
                <a:lnTo>
                  <a:pt x="285439" y="108889"/>
                </a:lnTo>
                <a:lnTo>
                  <a:pt x="317868" y="137934"/>
                </a:lnTo>
                <a:lnTo>
                  <a:pt x="328594" y="154902"/>
                </a:lnTo>
                <a:lnTo>
                  <a:pt x="336638" y="173483"/>
                </a:lnTo>
                <a:lnTo>
                  <a:pt x="341692" y="193429"/>
                </a:lnTo>
                <a:lnTo>
                  <a:pt x="343446" y="214490"/>
                </a:lnTo>
                <a:lnTo>
                  <a:pt x="342371" y="233625"/>
                </a:lnTo>
                <a:lnTo>
                  <a:pt x="328498" y="278168"/>
                </a:lnTo>
                <a:lnTo>
                  <a:pt x="300596" y="314464"/>
                </a:lnTo>
                <a:lnTo>
                  <a:pt x="294614" y="320408"/>
                </a:lnTo>
                <a:lnTo>
                  <a:pt x="289966" y="325361"/>
                </a:lnTo>
                <a:lnTo>
                  <a:pt x="282663" y="366598"/>
                </a:lnTo>
                <a:lnTo>
                  <a:pt x="280823" y="375843"/>
                </a:lnTo>
                <a:close/>
              </a:path>
              <a:path w="431800" h="487044">
                <a:moveTo>
                  <a:pt x="56794" y="227355"/>
                </a:moveTo>
                <a:lnTo>
                  <a:pt x="5981" y="227355"/>
                </a:lnTo>
                <a:lnTo>
                  <a:pt x="0" y="221411"/>
                </a:lnTo>
                <a:lnTo>
                  <a:pt x="0" y="207225"/>
                </a:lnTo>
                <a:lnTo>
                  <a:pt x="5981" y="201282"/>
                </a:lnTo>
                <a:lnTo>
                  <a:pt x="56794" y="201282"/>
                </a:lnTo>
                <a:lnTo>
                  <a:pt x="62776" y="207225"/>
                </a:lnTo>
                <a:lnTo>
                  <a:pt x="62776" y="221411"/>
                </a:lnTo>
                <a:lnTo>
                  <a:pt x="56794" y="227355"/>
                </a:lnTo>
                <a:close/>
              </a:path>
              <a:path w="431800" h="487044">
                <a:moveTo>
                  <a:pt x="425818" y="227355"/>
                </a:moveTo>
                <a:lnTo>
                  <a:pt x="375335" y="227355"/>
                </a:lnTo>
                <a:lnTo>
                  <a:pt x="369354" y="221411"/>
                </a:lnTo>
                <a:lnTo>
                  <a:pt x="369354" y="207225"/>
                </a:lnTo>
                <a:lnTo>
                  <a:pt x="375335" y="201282"/>
                </a:lnTo>
                <a:lnTo>
                  <a:pt x="425818" y="201282"/>
                </a:lnTo>
                <a:lnTo>
                  <a:pt x="431800" y="207225"/>
                </a:lnTo>
                <a:lnTo>
                  <a:pt x="431800" y="221411"/>
                </a:lnTo>
                <a:lnTo>
                  <a:pt x="425818" y="227355"/>
                </a:lnTo>
                <a:close/>
              </a:path>
              <a:path w="431800" h="487044">
                <a:moveTo>
                  <a:pt x="77063" y="371221"/>
                </a:moveTo>
                <a:lnTo>
                  <a:pt x="68427" y="371221"/>
                </a:lnTo>
                <a:lnTo>
                  <a:pt x="63436" y="365937"/>
                </a:lnTo>
                <a:lnTo>
                  <a:pt x="58138" y="361007"/>
                </a:lnTo>
                <a:lnTo>
                  <a:pt x="58127" y="352412"/>
                </a:lnTo>
                <a:lnTo>
                  <a:pt x="63436" y="347459"/>
                </a:lnTo>
                <a:lnTo>
                  <a:pt x="89014" y="322059"/>
                </a:lnTo>
                <a:lnTo>
                  <a:pt x="94005" y="316776"/>
                </a:lnTo>
                <a:lnTo>
                  <a:pt x="102641" y="316776"/>
                </a:lnTo>
                <a:lnTo>
                  <a:pt x="107619" y="322059"/>
                </a:lnTo>
                <a:lnTo>
                  <a:pt x="112928" y="327012"/>
                </a:lnTo>
                <a:lnTo>
                  <a:pt x="112928" y="335584"/>
                </a:lnTo>
                <a:lnTo>
                  <a:pt x="107619" y="340537"/>
                </a:lnTo>
                <a:lnTo>
                  <a:pt x="82042" y="365937"/>
                </a:lnTo>
                <a:lnTo>
                  <a:pt x="77063" y="371221"/>
                </a:lnTo>
                <a:close/>
              </a:path>
              <a:path w="431800" h="487044">
                <a:moveTo>
                  <a:pt x="363372" y="371221"/>
                </a:moveTo>
                <a:lnTo>
                  <a:pt x="355066" y="371221"/>
                </a:lnTo>
                <a:lnTo>
                  <a:pt x="350088" y="365937"/>
                </a:lnTo>
                <a:lnTo>
                  <a:pt x="324510" y="340537"/>
                </a:lnTo>
                <a:lnTo>
                  <a:pt x="319201" y="335584"/>
                </a:lnTo>
                <a:lnTo>
                  <a:pt x="319201" y="327012"/>
                </a:lnTo>
                <a:lnTo>
                  <a:pt x="324510" y="322059"/>
                </a:lnTo>
                <a:lnTo>
                  <a:pt x="329501" y="316776"/>
                </a:lnTo>
                <a:lnTo>
                  <a:pt x="338137" y="316776"/>
                </a:lnTo>
                <a:lnTo>
                  <a:pt x="343115" y="322059"/>
                </a:lnTo>
                <a:lnTo>
                  <a:pt x="373552" y="352293"/>
                </a:lnTo>
                <a:lnTo>
                  <a:pt x="373661" y="361007"/>
                </a:lnTo>
                <a:lnTo>
                  <a:pt x="363372" y="371221"/>
                </a:lnTo>
                <a:close/>
              </a:path>
              <a:path w="431800" h="487044">
                <a:moveTo>
                  <a:pt x="224536" y="487045"/>
                </a:moveTo>
                <a:lnTo>
                  <a:pt x="196964" y="487045"/>
                </a:lnTo>
                <a:lnTo>
                  <a:pt x="185674" y="481431"/>
                </a:lnTo>
                <a:lnTo>
                  <a:pt x="185674" y="472859"/>
                </a:lnTo>
                <a:lnTo>
                  <a:pt x="246456" y="472859"/>
                </a:lnTo>
                <a:lnTo>
                  <a:pt x="246456" y="473849"/>
                </a:lnTo>
                <a:lnTo>
                  <a:pt x="244525" y="479110"/>
                </a:lnTo>
                <a:lnTo>
                  <a:pt x="239482" y="483290"/>
                </a:lnTo>
                <a:lnTo>
                  <a:pt x="232445" y="486049"/>
                </a:lnTo>
                <a:lnTo>
                  <a:pt x="224536" y="487045"/>
                </a:lnTo>
                <a:close/>
              </a:path>
              <a:path w="431800" h="487044">
                <a:moveTo>
                  <a:pt x="258749" y="465594"/>
                </a:moveTo>
                <a:lnTo>
                  <a:pt x="173050" y="465594"/>
                </a:lnTo>
                <a:lnTo>
                  <a:pt x="167411" y="459651"/>
                </a:lnTo>
                <a:lnTo>
                  <a:pt x="167411" y="445135"/>
                </a:lnTo>
                <a:lnTo>
                  <a:pt x="173050" y="439204"/>
                </a:lnTo>
                <a:lnTo>
                  <a:pt x="258749" y="439204"/>
                </a:lnTo>
                <a:lnTo>
                  <a:pt x="264731" y="445135"/>
                </a:lnTo>
                <a:lnTo>
                  <a:pt x="264731" y="459651"/>
                </a:lnTo>
                <a:lnTo>
                  <a:pt x="258749" y="465594"/>
                </a:lnTo>
                <a:close/>
              </a:path>
              <a:path w="431800" h="487044">
                <a:moveTo>
                  <a:pt x="258749" y="432269"/>
                </a:moveTo>
                <a:lnTo>
                  <a:pt x="173050" y="432269"/>
                </a:lnTo>
                <a:lnTo>
                  <a:pt x="167411" y="426326"/>
                </a:lnTo>
                <a:lnTo>
                  <a:pt x="167411" y="411810"/>
                </a:lnTo>
                <a:lnTo>
                  <a:pt x="173050" y="405866"/>
                </a:lnTo>
                <a:lnTo>
                  <a:pt x="258749" y="405866"/>
                </a:lnTo>
                <a:lnTo>
                  <a:pt x="264731" y="411810"/>
                </a:lnTo>
                <a:lnTo>
                  <a:pt x="264731" y="426326"/>
                </a:lnTo>
                <a:lnTo>
                  <a:pt x="258749" y="432269"/>
                </a:lnTo>
                <a:close/>
              </a:path>
            </a:pathLst>
          </a:custGeom>
          <a:solidFill>
            <a:srgbClr val="3856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917825" y="2880867"/>
            <a:ext cx="5723890" cy="19456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 indent="629285">
              <a:lnSpc>
                <a:spcPct val="150000"/>
              </a:lnSpc>
              <a:spcBef>
                <a:spcPts val="100"/>
              </a:spcBef>
            </a:pPr>
            <a:r>
              <a:rPr dirty="0" sz="2800" b="1">
                <a:solidFill>
                  <a:srgbClr val="385622"/>
                </a:solidFill>
                <a:latin typeface="华文楷体"/>
                <a:cs typeface="华文楷体"/>
              </a:rPr>
              <a:t>实验表明，在保持气体压强不</a:t>
            </a:r>
            <a:r>
              <a:rPr dirty="0" sz="2800" spc="-10" b="1">
                <a:solidFill>
                  <a:srgbClr val="385622"/>
                </a:solidFill>
                <a:latin typeface="华文楷体"/>
                <a:cs typeface="华文楷体"/>
              </a:rPr>
              <a:t>变 </a:t>
            </a:r>
            <a:r>
              <a:rPr dirty="0" sz="2800" b="1">
                <a:solidFill>
                  <a:srgbClr val="385622"/>
                </a:solidFill>
                <a:latin typeface="华文楷体"/>
                <a:cs typeface="华文楷体"/>
              </a:rPr>
              <a:t>的情况下一定质量气体的体积随温</a:t>
            </a:r>
            <a:r>
              <a:rPr dirty="0" sz="2800" spc="-5" b="1">
                <a:solidFill>
                  <a:srgbClr val="385622"/>
                </a:solidFill>
                <a:latin typeface="华文楷体"/>
                <a:cs typeface="华文楷体"/>
              </a:rPr>
              <a:t>度 </a:t>
            </a:r>
            <a:r>
              <a:rPr dirty="0" sz="2800" b="1">
                <a:solidFill>
                  <a:srgbClr val="385622"/>
                </a:solidFill>
                <a:latin typeface="华文楷体"/>
                <a:cs typeface="华文楷体"/>
              </a:rPr>
              <a:t>的升高而增大</a:t>
            </a:r>
            <a:r>
              <a:rPr dirty="0" sz="2800" spc="-10" b="1">
                <a:solidFill>
                  <a:srgbClr val="385622"/>
                </a:solidFill>
                <a:latin typeface="华文楷体"/>
                <a:cs typeface="华文楷体"/>
              </a:rPr>
              <a:t>。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609850" y="2629535"/>
            <a:ext cx="6514465" cy="27336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25139" y="2061972"/>
            <a:ext cx="5681471" cy="3886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658870" y="3877906"/>
            <a:ext cx="0" cy="474980"/>
          </a:xfrm>
          <a:custGeom>
            <a:avLst/>
            <a:gdLst/>
            <a:ahLst/>
            <a:cxnLst/>
            <a:rect l="l" t="t" r="r" b="b"/>
            <a:pathLst>
              <a:path w="0" h="474979">
                <a:moveTo>
                  <a:pt x="0" y="0"/>
                </a:moveTo>
                <a:lnTo>
                  <a:pt x="0" y="474421"/>
                </a:lnTo>
              </a:path>
            </a:pathLst>
          </a:custGeom>
          <a:ln w="26669">
            <a:solidFill>
              <a:srgbClr val="38562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112135" y="3451225"/>
            <a:ext cx="109283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solidFill>
                  <a:srgbClr val="385622"/>
                </a:solidFill>
                <a:latin typeface="华文楷体"/>
                <a:cs typeface="华文楷体"/>
              </a:rPr>
              <a:t>保温</a:t>
            </a:r>
            <a:r>
              <a:rPr dirty="0" sz="2800" spc="-10" b="1">
                <a:solidFill>
                  <a:srgbClr val="385622"/>
                </a:solidFill>
                <a:latin typeface="华文楷体"/>
                <a:cs typeface="华文楷体"/>
              </a:rPr>
              <a:t>杯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891019" y="3877906"/>
            <a:ext cx="0" cy="474980"/>
          </a:xfrm>
          <a:custGeom>
            <a:avLst/>
            <a:gdLst/>
            <a:ahLst/>
            <a:cxnLst/>
            <a:rect l="l" t="t" r="r" b="b"/>
            <a:pathLst>
              <a:path w="0" h="474979">
                <a:moveTo>
                  <a:pt x="0" y="0"/>
                </a:moveTo>
                <a:lnTo>
                  <a:pt x="0" y="474421"/>
                </a:lnTo>
              </a:path>
            </a:pathLst>
          </a:custGeom>
          <a:ln w="26670">
            <a:solidFill>
              <a:srgbClr val="38562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8051165" y="3877906"/>
            <a:ext cx="0" cy="474980"/>
          </a:xfrm>
          <a:custGeom>
            <a:avLst/>
            <a:gdLst/>
            <a:ahLst/>
            <a:cxnLst/>
            <a:rect l="l" t="t" r="r" b="b"/>
            <a:pathLst>
              <a:path w="0" h="474979">
                <a:moveTo>
                  <a:pt x="0" y="0"/>
                </a:moveTo>
                <a:lnTo>
                  <a:pt x="0" y="474421"/>
                </a:lnTo>
              </a:path>
            </a:pathLst>
          </a:custGeom>
          <a:ln w="26670">
            <a:solidFill>
              <a:srgbClr val="38562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6522719" y="3451225"/>
            <a:ext cx="189674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172210" algn="l"/>
              </a:tabLst>
            </a:pPr>
            <a:r>
              <a:rPr dirty="0" sz="2800" b="1">
                <a:solidFill>
                  <a:srgbClr val="385622"/>
                </a:solidFill>
                <a:latin typeface="华文楷体"/>
                <a:cs typeface="华文楷体"/>
              </a:rPr>
              <a:t>冷</a:t>
            </a:r>
            <a:r>
              <a:rPr dirty="0" sz="2800" spc="-10" b="1">
                <a:solidFill>
                  <a:srgbClr val="385622"/>
                </a:solidFill>
                <a:latin typeface="华文楷体"/>
                <a:cs typeface="华文楷体"/>
              </a:rPr>
              <a:t>水</a:t>
            </a:r>
            <a:r>
              <a:rPr dirty="0" sz="2800" b="1">
                <a:solidFill>
                  <a:srgbClr val="385622"/>
                </a:solidFill>
                <a:latin typeface="华文楷体"/>
                <a:cs typeface="华文楷体"/>
              </a:rPr>
              <a:t>	</a:t>
            </a:r>
            <a:r>
              <a:rPr dirty="0" sz="2800" b="1">
                <a:solidFill>
                  <a:srgbClr val="385622"/>
                </a:solidFill>
                <a:latin typeface="华文楷体"/>
                <a:cs typeface="华文楷体"/>
              </a:rPr>
              <a:t>热</a:t>
            </a:r>
            <a:r>
              <a:rPr dirty="0" sz="2800" spc="-10" b="1">
                <a:solidFill>
                  <a:srgbClr val="385622"/>
                </a:solidFill>
                <a:latin typeface="华文楷体"/>
                <a:cs typeface="华文楷体"/>
              </a:rPr>
              <a:t>水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611623" y="2067077"/>
            <a:ext cx="1065276" cy="388871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000576" y="2987484"/>
            <a:ext cx="872490" cy="739775"/>
          </a:xfrm>
          <a:custGeom>
            <a:avLst/>
            <a:gdLst/>
            <a:ahLst/>
            <a:cxnLst/>
            <a:rect l="l" t="t" r="r" b="b"/>
            <a:pathLst>
              <a:path w="872489" h="739775">
                <a:moveTo>
                  <a:pt x="855980" y="739520"/>
                </a:moveTo>
                <a:lnTo>
                  <a:pt x="0" y="19430"/>
                </a:lnTo>
                <a:lnTo>
                  <a:pt x="16357" y="0"/>
                </a:lnTo>
                <a:lnTo>
                  <a:pt x="872337" y="720089"/>
                </a:lnTo>
                <a:lnTo>
                  <a:pt x="855980" y="739520"/>
                </a:lnTo>
                <a:close/>
              </a:path>
            </a:pathLst>
          </a:custGeom>
          <a:solidFill>
            <a:srgbClr val="3856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019550" y="2540596"/>
            <a:ext cx="0" cy="474980"/>
          </a:xfrm>
          <a:custGeom>
            <a:avLst/>
            <a:gdLst/>
            <a:ahLst/>
            <a:cxnLst/>
            <a:rect l="l" t="t" r="r" b="b"/>
            <a:pathLst>
              <a:path w="0" h="474980">
                <a:moveTo>
                  <a:pt x="0" y="0"/>
                </a:moveTo>
                <a:lnTo>
                  <a:pt x="0" y="474421"/>
                </a:lnTo>
              </a:path>
            </a:pathLst>
          </a:custGeom>
          <a:ln w="26670">
            <a:solidFill>
              <a:srgbClr val="38562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167629" y="2540596"/>
            <a:ext cx="1524292" cy="265687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3472815" y="2113914"/>
            <a:ext cx="3926840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489835" algn="l"/>
              </a:tabLst>
            </a:pPr>
            <a:r>
              <a:rPr dirty="0" sz="2800" b="1">
                <a:solidFill>
                  <a:srgbClr val="385622"/>
                </a:solidFill>
                <a:latin typeface="华文楷体"/>
                <a:cs typeface="华文楷体"/>
              </a:rPr>
              <a:t>温度</a:t>
            </a:r>
            <a:r>
              <a:rPr dirty="0" sz="2800" spc="-10" b="1">
                <a:solidFill>
                  <a:srgbClr val="385622"/>
                </a:solidFill>
                <a:latin typeface="华文楷体"/>
                <a:cs typeface="华文楷体"/>
              </a:rPr>
              <a:t>计</a:t>
            </a:r>
            <a:r>
              <a:rPr dirty="0" sz="2800" b="1">
                <a:solidFill>
                  <a:srgbClr val="385622"/>
                </a:solidFill>
                <a:latin typeface="华文楷体"/>
                <a:cs typeface="华文楷体"/>
              </a:rPr>
              <a:t>	</a:t>
            </a:r>
            <a:r>
              <a:rPr dirty="0" sz="2800" b="1">
                <a:solidFill>
                  <a:srgbClr val="385622"/>
                </a:solidFill>
                <a:latin typeface="华文楷体"/>
                <a:cs typeface="华文楷体"/>
              </a:rPr>
              <a:t>封闭气</a:t>
            </a:r>
            <a:r>
              <a:rPr dirty="0" sz="2800" spc="-10" b="1">
                <a:solidFill>
                  <a:srgbClr val="385622"/>
                </a:solidFill>
                <a:latin typeface="华文楷体"/>
                <a:cs typeface="华文楷体"/>
              </a:rPr>
              <a:t>体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1243330" y="1230629"/>
            <a:ext cx="55499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>
                <a:solidFill>
                  <a:srgbClr val="000000"/>
                </a:solidFill>
                <a:latin typeface="黑体"/>
                <a:cs typeface="黑体"/>
              </a:rPr>
              <a:t>定量实验:探究气体等压变化规律</a:t>
            </a:r>
            <a:endParaRPr sz="3000">
              <a:latin typeface="黑体"/>
              <a:cs typeface="黑体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782749" y="1308100"/>
            <a:ext cx="331470" cy="351790"/>
          </a:xfrm>
          <a:custGeom>
            <a:avLst/>
            <a:gdLst/>
            <a:ahLst/>
            <a:cxnLst/>
            <a:rect l="l" t="t" r="r" b="b"/>
            <a:pathLst>
              <a:path w="331469" h="351789">
                <a:moveTo>
                  <a:pt x="227383" y="21983"/>
                </a:moveTo>
                <a:lnTo>
                  <a:pt x="103583" y="21983"/>
                </a:lnTo>
                <a:lnTo>
                  <a:pt x="98618" y="17043"/>
                </a:lnTo>
                <a:lnTo>
                  <a:pt x="98618" y="4953"/>
                </a:lnTo>
                <a:lnTo>
                  <a:pt x="103583" y="0"/>
                </a:lnTo>
                <a:lnTo>
                  <a:pt x="227383" y="0"/>
                </a:lnTo>
                <a:lnTo>
                  <a:pt x="232349" y="4953"/>
                </a:lnTo>
                <a:lnTo>
                  <a:pt x="232349" y="17043"/>
                </a:lnTo>
                <a:lnTo>
                  <a:pt x="227383" y="21983"/>
                </a:lnTo>
                <a:close/>
              </a:path>
              <a:path w="331469" h="351789">
                <a:moveTo>
                  <a:pt x="277116" y="351789"/>
                </a:moveTo>
                <a:lnTo>
                  <a:pt x="54129" y="351789"/>
                </a:lnTo>
                <a:lnTo>
                  <a:pt x="23064" y="345859"/>
                </a:lnTo>
                <a:lnTo>
                  <a:pt x="4563" y="329698"/>
                </a:lnTo>
                <a:lnTo>
                  <a:pt x="0" y="305755"/>
                </a:lnTo>
                <a:lnTo>
                  <a:pt x="10746" y="276478"/>
                </a:lnTo>
                <a:lnTo>
                  <a:pt x="120995" y="95364"/>
                </a:lnTo>
                <a:lnTo>
                  <a:pt x="120995" y="21983"/>
                </a:lnTo>
                <a:lnTo>
                  <a:pt x="143385" y="21983"/>
                </a:lnTo>
                <a:lnTo>
                  <a:pt x="143385" y="101409"/>
                </a:lnTo>
                <a:lnTo>
                  <a:pt x="71262" y="219862"/>
                </a:lnTo>
                <a:lnTo>
                  <a:pt x="285843" y="219862"/>
                </a:lnTo>
                <a:lnTo>
                  <a:pt x="320220" y="276478"/>
                </a:lnTo>
                <a:lnTo>
                  <a:pt x="331089" y="305755"/>
                </a:lnTo>
                <a:lnTo>
                  <a:pt x="326543" y="329698"/>
                </a:lnTo>
                <a:lnTo>
                  <a:pt x="308059" y="345859"/>
                </a:lnTo>
                <a:lnTo>
                  <a:pt x="277116" y="351789"/>
                </a:lnTo>
                <a:close/>
              </a:path>
              <a:path w="331469" h="351789">
                <a:moveTo>
                  <a:pt x="285843" y="219862"/>
                </a:moveTo>
                <a:lnTo>
                  <a:pt x="259984" y="219862"/>
                </a:lnTo>
                <a:lnTo>
                  <a:pt x="187860" y="101409"/>
                </a:lnTo>
                <a:lnTo>
                  <a:pt x="187860" y="21983"/>
                </a:lnTo>
                <a:lnTo>
                  <a:pt x="210251" y="21983"/>
                </a:lnTo>
                <a:lnTo>
                  <a:pt x="210251" y="95364"/>
                </a:lnTo>
                <a:lnTo>
                  <a:pt x="285843" y="219862"/>
                </a:lnTo>
                <a:close/>
              </a:path>
            </a:pathLst>
          </a:custGeom>
          <a:solidFill>
            <a:srgbClr val="385622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3053"/>
            <a:ext cx="12191987" cy="617706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6302256"/>
            <a:ext cx="12191987" cy="54961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6169152" y="859028"/>
            <a:ext cx="128270" cy="127635"/>
          </a:xfrm>
          <a:custGeom>
            <a:avLst/>
            <a:gdLst/>
            <a:ahLst/>
            <a:cxnLst/>
            <a:rect l="l" t="t" r="r" b="b"/>
            <a:pathLst>
              <a:path w="128270" h="127634">
                <a:moveTo>
                  <a:pt x="0" y="0"/>
                </a:moveTo>
                <a:lnTo>
                  <a:pt x="128120" y="0"/>
                </a:lnTo>
                <a:lnTo>
                  <a:pt x="128120" y="127225"/>
                </a:lnTo>
                <a:lnTo>
                  <a:pt x="0" y="127225"/>
                </a:lnTo>
                <a:lnTo>
                  <a:pt x="0" y="0"/>
                </a:lnTo>
                <a:close/>
              </a:path>
            </a:pathLst>
          </a:custGeom>
          <a:solidFill>
            <a:srgbClr val="E8E4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186532" y="920772"/>
            <a:ext cx="128270" cy="127635"/>
          </a:xfrm>
          <a:custGeom>
            <a:avLst/>
            <a:gdLst/>
            <a:ahLst/>
            <a:cxnLst/>
            <a:rect l="l" t="t" r="r" b="b"/>
            <a:pathLst>
              <a:path w="128270" h="127634">
                <a:moveTo>
                  <a:pt x="0" y="0"/>
                </a:moveTo>
                <a:lnTo>
                  <a:pt x="128120" y="0"/>
                </a:lnTo>
                <a:lnTo>
                  <a:pt x="128120" y="127225"/>
                </a:lnTo>
                <a:lnTo>
                  <a:pt x="0" y="127225"/>
                </a:lnTo>
                <a:lnTo>
                  <a:pt x="0" y="0"/>
                </a:lnTo>
                <a:close/>
              </a:path>
            </a:pathLst>
          </a:custGeom>
          <a:solidFill>
            <a:srgbClr val="E8E4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180176" y="947323"/>
            <a:ext cx="51435" cy="43180"/>
          </a:xfrm>
          <a:custGeom>
            <a:avLst/>
            <a:gdLst/>
            <a:ahLst/>
            <a:cxnLst/>
            <a:rect l="l" t="t" r="r" b="b"/>
            <a:pathLst>
              <a:path w="51435" h="43180">
                <a:moveTo>
                  <a:pt x="0" y="0"/>
                </a:moveTo>
                <a:lnTo>
                  <a:pt x="0" y="42914"/>
                </a:lnTo>
                <a:lnTo>
                  <a:pt x="51248" y="42914"/>
                </a:lnTo>
                <a:lnTo>
                  <a:pt x="51248" y="0"/>
                </a:lnTo>
                <a:lnTo>
                  <a:pt x="0" y="0"/>
                </a:lnTo>
                <a:close/>
              </a:path>
            </a:pathLst>
          </a:custGeom>
          <a:solidFill>
            <a:srgbClr val="E8E4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180176" y="990238"/>
            <a:ext cx="51435" cy="46990"/>
          </a:xfrm>
          <a:custGeom>
            <a:avLst/>
            <a:gdLst/>
            <a:ahLst/>
            <a:cxnLst/>
            <a:rect l="l" t="t" r="r" b="b"/>
            <a:pathLst>
              <a:path w="51435" h="46990">
                <a:moveTo>
                  <a:pt x="0" y="0"/>
                </a:moveTo>
                <a:lnTo>
                  <a:pt x="0" y="46505"/>
                </a:lnTo>
                <a:lnTo>
                  <a:pt x="51248" y="46505"/>
                </a:lnTo>
                <a:lnTo>
                  <a:pt x="51248" y="0"/>
                </a:lnTo>
                <a:lnTo>
                  <a:pt x="0" y="0"/>
                </a:lnTo>
                <a:close/>
              </a:path>
            </a:pathLst>
          </a:custGeom>
          <a:solidFill>
            <a:srgbClr val="E8E4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6176501" y="1036743"/>
            <a:ext cx="77470" cy="76835"/>
          </a:xfrm>
          <a:custGeom>
            <a:avLst/>
            <a:gdLst/>
            <a:ahLst/>
            <a:cxnLst/>
            <a:rect l="l" t="t" r="r" b="b"/>
            <a:pathLst>
              <a:path w="77470" h="76834">
                <a:moveTo>
                  <a:pt x="0" y="0"/>
                </a:moveTo>
                <a:lnTo>
                  <a:pt x="76872" y="0"/>
                </a:lnTo>
                <a:lnTo>
                  <a:pt x="76872" y="76335"/>
                </a:lnTo>
                <a:lnTo>
                  <a:pt x="0" y="76335"/>
                </a:lnTo>
                <a:lnTo>
                  <a:pt x="0" y="0"/>
                </a:lnTo>
                <a:close/>
              </a:path>
            </a:pathLst>
          </a:custGeom>
          <a:solidFill>
            <a:srgbClr val="E8E4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177420" y="1097838"/>
            <a:ext cx="70485" cy="24765"/>
          </a:xfrm>
          <a:custGeom>
            <a:avLst/>
            <a:gdLst/>
            <a:ahLst/>
            <a:cxnLst/>
            <a:rect l="l" t="t" r="r" b="b"/>
            <a:pathLst>
              <a:path w="70485" h="24765">
                <a:moveTo>
                  <a:pt x="0" y="0"/>
                </a:moveTo>
                <a:lnTo>
                  <a:pt x="0" y="24197"/>
                </a:lnTo>
                <a:lnTo>
                  <a:pt x="70466" y="24197"/>
                </a:lnTo>
                <a:lnTo>
                  <a:pt x="70466" y="0"/>
                </a:lnTo>
                <a:lnTo>
                  <a:pt x="0" y="0"/>
                </a:lnTo>
                <a:close/>
              </a:path>
            </a:pathLst>
          </a:custGeom>
          <a:solidFill>
            <a:srgbClr val="E8E4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6177420" y="1122036"/>
            <a:ext cx="70485" cy="70485"/>
          </a:xfrm>
          <a:custGeom>
            <a:avLst/>
            <a:gdLst/>
            <a:ahLst/>
            <a:cxnLst/>
            <a:rect l="l" t="t" r="r" b="b"/>
            <a:pathLst>
              <a:path w="70485" h="70484">
                <a:moveTo>
                  <a:pt x="0" y="0"/>
                </a:moveTo>
                <a:lnTo>
                  <a:pt x="70466" y="0"/>
                </a:lnTo>
                <a:lnTo>
                  <a:pt x="70466" y="69974"/>
                </a:lnTo>
                <a:lnTo>
                  <a:pt x="0" y="69974"/>
                </a:lnTo>
                <a:lnTo>
                  <a:pt x="0" y="0"/>
                </a:lnTo>
                <a:close/>
              </a:path>
            </a:pathLst>
          </a:custGeom>
          <a:solidFill>
            <a:srgbClr val="E8E4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6186978" y="1146863"/>
            <a:ext cx="70485" cy="70485"/>
          </a:xfrm>
          <a:custGeom>
            <a:avLst/>
            <a:gdLst/>
            <a:ahLst/>
            <a:cxnLst/>
            <a:rect l="l" t="t" r="r" b="b"/>
            <a:pathLst>
              <a:path w="70485" h="70484">
                <a:moveTo>
                  <a:pt x="0" y="0"/>
                </a:moveTo>
                <a:lnTo>
                  <a:pt x="70466" y="0"/>
                </a:lnTo>
                <a:lnTo>
                  <a:pt x="70466" y="69974"/>
                </a:lnTo>
                <a:lnTo>
                  <a:pt x="0" y="69974"/>
                </a:lnTo>
                <a:lnTo>
                  <a:pt x="0" y="0"/>
                </a:lnTo>
                <a:close/>
              </a:path>
            </a:pathLst>
          </a:custGeom>
          <a:solidFill>
            <a:srgbClr val="E8E4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6186978" y="1277097"/>
            <a:ext cx="70485" cy="70485"/>
          </a:xfrm>
          <a:custGeom>
            <a:avLst/>
            <a:gdLst/>
            <a:ahLst/>
            <a:cxnLst/>
            <a:rect l="l" t="t" r="r" b="b"/>
            <a:pathLst>
              <a:path w="70485" h="70484">
                <a:moveTo>
                  <a:pt x="0" y="0"/>
                </a:moveTo>
                <a:lnTo>
                  <a:pt x="70466" y="0"/>
                </a:lnTo>
                <a:lnTo>
                  <a:pt x="70466" y="69974"/>
                </a:lnTo>
                <a:lnTo>
                  <a:pt x="0" y="69974"/>
                </a:lnTo>
                <a:lnTo>
                  <a:pt x="0" y="0"/>
                </a:lnTo>
                <a:close/>
              </a:path>
            </a:pathLst>
          </a:custGeom>
          <a:solidFill>
            <a:srgbClr val="E8E4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6173745" y="1375299"/>
            <a:ext cx="96520" cy="47625"/>
          </a:xfrm>
          <a:custGeom>
            <a:avLst/>
            <a:gdLst/>
            <a:ahLst/>
            <a:cxnLst/>
            <a:rect l="l" t="t" r="r" b="b"/>
            <a:pathLst>
              <a:path w="96520" h="47625">
                <a:moveTo>
                  <a:pt x="0" y="0"/>
                </a:moveTo>
                <a:lnTo>
                  <a:pt x="0" y="47336"/>
                </a:lnTo>
                <a:lnTo>
                  <a:pt x="96090" y="47336"/>
                </a:lnTo>
                <a:lnTo>
                  <a:pt x="96090" y="0"/>
                </a:lnTo>
                <a:lnTo>
                  <a:pt x="0" y="0"/>
                </a:lnTo>
                <a:close/>
              </a:path>
            </a:pathLst>
          </a:custGeom>
          <a:solidFill>
            <a:srgbClr val="E8E4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6160883" y="1422636"/>
            <a:ext cx="186055" cy="184785"/>
          </a:xfrm>
          <a:custGeom>
            <a:avLst/>
            <a:gdLst/>
            <a:ahLst/>
            <a:cxnLst/>
            <a:rect l="l" t="t" r="r" b="b"/>
            <a:pathLst>
              <a:path w="186054" h="184784">
                <a:moveTo>
                  <a:pt x="0" y="0"/>
                </a:moveTo>
                <a:lnTo>
                  <a:pt x="185774" y="0"/>
                </a:lnTo>
                <a:lnTo>
                  <a:pt x="185774" y="184477"/>
                </a:lnTo>
                <a:lnTo>
                  <a:pt x="0" y="184477"/>
                </a:lnTo>
                <a:lnTo>
                  <a:pt x="0" y="0"/>
                </a:lnTo>
                <a:close/>
              </a:path>
            </a:pathLst>
          </a:custGeom>
          <a:solidFill>
            <a:srgbClr val="E8E4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6165105" y="945905"/>
            <a:ext cx="105410" cy="256540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85000"/>
              </a:lnSpc>
            </a:pPr>
            <a:r>
              <a:rPr dirty="0" sz="400">
                <a:solidFill>
                  <a:srgbClr val="B3ACA1"/>
                </a:solidFill>
                <a:latin typeface="宋体"/>
                <a:cs typeface="宋体"/>
              </a:rPr>
              <a:t>/</a:t>
            </a:r>
            <a:r>
              <a:rPr dirty="0" sz="400" spc="-110">
                <a:solidFill>
                  <a:srgbClr val="B3ACA1"/>
                </a:solidFill>
                <a:latin typeface="宋体"/>
                <a:cs typeface="宋体"/>
              </a:rPr>
              <a:t> </a:t>
            </a:r>
            <a:r>
              <a:rPr dirty="0" sz="400">
                <a:solidFill>
                  <a:srgbClr val="B3ACA1"/>
                </a:solidFill>
                <a:latin typeface="宋体"/>
                <a:cs typeface="宋体"/>
              </a:rPr>
              <a:t>r</a:t>
            </a:r>
            <a:r>
              <a:rPr dirty="0" sz="400" spc="-90">
                <a:solidFill>
                  <a:srgbClr val="B3ACA1"/>
                </a:solidFill>
                <a:latin typeface="宋体"/>
                <a:cs typeface="宋体"/>
              </a:rPr>
              <a:t> </a:t>
            </a:r>
            <a:r>
              <a:rPr dirty="0" baseline="9259" sz="900" spc="-82">
                <a:solidFill>
                  <a:srgbClr val="B3ACA1"/>
                </a:solidFill>
                <a:latin typeface="宋体"/>
                <a:cs typeface="宋体"/>
              </a:rPr>
              <a:t>匀</a:t>
            </a:r>
            <a:r>
              <a:rPr dirty="0" baseline="5050" sz="825" spc="-44">
                <a:solidFill>
                  <a:srgbClr val="B3ACA1"/>
                </a:solidFill>
                <a:latin typeface="宋体"/>
                <a:cs typeface="宋体"/>
              </a:rPr>
              <a:t>r</a:t>
            </a:r>
            <a:r>
              <a:rPr dirty="0" baseline="5050" sz="825" spc="-209">
                <a:solidFill>
                  <a:srgbClr val="B3ACA1"/>
                </a:solidFill>
                <a:latin typeface="宋体"/>
                <a:cs typeface="宋体"/>
              </a:rPr>
              <a:t>/</a:t>
            </a:r>
            <a:r>
              <a:rPr dirty="0" baseline="15151" sz="825">
                <a:solidFill>
                  <a:srgbClr val="B3ACA1"/>
                </a:solidFill>
                <a:latin typeface="宋体"/>
                <a:cs typeface="宋体"/>
              </a:rPr>
              <a:t>:</a:t>
            </a:r>
            <a:endParaRPr baseline="15151" sz="825">
              <a:latin typeface="宋体"/>
              <a:cs typeface="宋体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161416" y="1279805"/>
            <a:ext cx="121285" cy="217170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70000"/>
              </a:lnSpc>
            </a:pPr>
            <a:r>
              <a:rPr dirty="0" sz="550">
                <a:solidFill>
                  <a:srgbClr val="B3ACA1"/>
                </a:solidFill>
                <a:latin typeface="宋体"/>
                <a:cs typeface="宋体"/>
              </a:rPr>
              <a:t>V</a:t>
            </a:r>
            <a:r>
              <a:rPr dirty="0" sz="550" spc="80">
                <a:solidFill>
                  <a:srgbClr val="B3ACA1"/>
                </a:solidFill>
                <a:latin typeface="宋体"/>
                <a:cs typeface="宋体"/>
              </a:rPr>
              <a:t> </a:t>
            </a:r>
            <a:r>
              <a:rPr dirty="0" sz="750" spc="-65">
                <a:solidFill>
                  <a:srgbClr val="B3ACA1"/>
                </a:solidFill>
                <a:latin typeface="宋体"/>
                <a:cs typeface="宋体"/>
              </a:rPr>
              <a:t>订</a:t>
            </a:r>
            <a:r>
              <a:rPr dirty="0" baseline="-41666" sz="300" spc="-22">
                <a:solidFill>
                  <a:srgbClr val="979183"/>
                </a:solidFill>
                <a:latin typeface="宋体"/>
                <a:cs typeface="宋体"/>
              </a:rPr>
              <a:t>7</a:t>
            </a:r>
            <a:r>
              <a:rPr dirty="0" baseline="-41666" sz="300">
                <a:solidFill>
                  <a:srgbClr val="D4CDC1"/>
                </a:solidFill>
                <a:latin typeface="宋体"/>
                <a:cs typeface="宋体"/>
              </a:rPr>
              <a:t>-</a:t>
            </a:r>
            <a:endParaRPr baseline="-41666" sz="300">
              <a:latin typeface="宋体"/>
              <a:cs typeface="宋体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150272" y="830831"/>
            <a:ext cx="234315" cy="786130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45000"/>
              </a:lnSpc>
              <a:tabLst>
                <a:tab pos="554990" algn="l"/>
              </a:tabLst>
            </a:pPr>
            <a:r>
              <a:rPr dirty="0" baseline="-30555" sz="1500">
                <a:solidFill>
                  <a:srgbClr val="B3ACA1"/>
                </a:solidFill>
                <a:latin typeface="宋体"/>
                <a:cs typeface="宋体"/>
              </a:rPr>
              <a:t>,</a:t>
            </a:r>
            <a:r>
              <a:rPr dirty="0" baseline="-30555" sz="1500" spc="-262">
                <a:solidFill>
                  <a:srgbClr val="B3ACA1"/>
                </a:solidFill>
                <a:latin typeface="宋体"/>
                <a:cs typeface="宋体"/>
              </a:rPr>
              <a:t> </a:t>
            </a:r>
            <a:r>
              <a:rPr dirty="0" baseline="-13888" sz="1500" spc="-690">
                <a:solidFill>
                  <a:srgbClr val="B3ACA1"/>
                </a:solidFill>
                <a:latin typeface="宋体"/>
                <a:cs typeface="宋体"/>
              </a:rPr>
              <a:t>＇</a:t>
            </a:r>
            <a:r>
              <a:rPr dirty="0" sz="850">
                <a:solidFill>
                  <a:srgbClr val="979183"/>
                </a:solidFill>
                <a:latin typeface="宋体"/>
                <a:cs typeface="宋体"/>
              </a:rPr>
              <a:t>1</a:t>
            </a:r>
            <a:r>
              <a:rPr dirty="0" sz="850">
                <a:solidFill>
                  <a:srgbClr val="979183"/>
                </a:solidFill>
                <a:latin typeface="宋体"/>
                <a:cs typeface="宋体"/>
              </a:rPr>
              <a:t>	</a:t>
            </a:r>
            <a:r>
              <a:rPr dirty="0" sz="850" spc="-165">
                <a:solidFill>
                  <a:srgbClr val="979183"/>
                </a:solidFill>
                <a:latin typeface="宋体"/>
                <a:cs typeface="宋体"/>
              </a:rPr>
              <a:t>0</a:t>
            </a:r>
            <a:r>
              <a:rPr dirty="0" baseline="-19157" sz="2175">
                <a:solidFill>
                  <a:srgbClr val="B3ACA1"/>
                </a:solidFill>
                <a:latin typeface="宋体"/>
                <a:cs typeface="宋体"/>
              </a:rPr>
              <a:t>－</a:t>
            </a:r>
            <a:endParaRPr baseline="-19157" sz="2175">
              <a:latin typeface="宋体"/>
              <a:cs typeface="宋体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165458" y="3473344"/>
            <a:ext cx="70485" cy="85090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80000"/>
              </a:lnSpc>
            </a:pPr>
            <a:r>
              <a:rPr dirty="0" sz="350">
                <a:solidFill>
                  <a:srgbClr val="979183"/>
                </a:solidFill>
                <a:latin typeface="宋体"/>
                <a:cs typeface="宋体"/>
              </a:rPr>
              <a:t>l</a:t>
            </a:r>
            <a:r>
              <a:rPr dirty="0" sz="350" spc="-60">
                <a:solidFill>
                  <a:srgbClr val="979183"/>
                </a:solidFill>
                <a:latin typeface="宋体"/>
                <a:cs typeface="宋体"/>
              </a:rPr>
              <a:t> </a:t>
            </a:r>
            <a:r>
              <a:rPr dirty="0" sz="350">
                <a:solidFill>
                  <a:srgbClr val="827967"/>
                </a:solidFill>
                <a:latin typeface="宋体"/>
                <a:cs typeface="宋体"/>
              </a:rPr>
              <a:t>-</a:t>
            </a:r>
            <a:endParaRPr sz="350">
              <a:latin typeface="宋体"/>
              <a:cs typeface="宋体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144693" y="3495464"/>
            <a:ext cx="178435" cy="175895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65000"/>
              </a:lnSpc>
            </a:pPr>
            <a:r>
              <a:rPr dirty="0" sz="1150" spc="-570">
                <a:solidFill>
                  <a:srgbClr val="979183"/>
                </a:solidFill>
                <a:latin typeface="宋体"/>
                <a:cs typeface="宋体"/>
              </a:rPr>
              <a:t>－</a:t>
            </a:r>
            <a:r>
              <a:rPr dirty="0" sz="1200">
                <a:solidFill>
                  <a:srgbClr val="827967"/>
                </a:solidFill>
                <a:latin typeface="宋体"/>
                <a:cs typeface="宋体"/>
              </a:rPr>
              <a:t>T</a:t>
            </a:r>
            <a:endParaRPr sz="1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697126" y="97709"/>
            <a:ext cx="1183806" cy="9404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1337694" y="1599991"/>
            <a:ext cx="158654" cy="54961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0" y="6122104"/>
            <a:ext cx="12191987" cy="72976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489655" y="1670220"/>
            <a:ext cx="8848090" cy="0"/>
          </a:xfrm>
          <a:custGeom>
            <a:avLst/>
            <a:gdLst/>
            <a:ahLst/>
            <a:cxnLst/>
            <a:rect l="l" t="t" r="r" b="b"/>
            <a:pathLst>
              <a:path w="8848090" h="0">
                <a:moveTo>
                  <a:pt x="0" y="0"/>
                </a:moveTo>
                <a:lnTo>
                  <a:pt x="8848039" y="0"/>
                </a:lnTo>
              </a:path>
            </a:pathLst>
          </a:custGeom>
          <a:ln w="183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81068" y="1676327"/>
            <a:ext cx="1025525" cy="0"/>
          </a:xfrm>
          <a:custGeom>
            <a:avLst/>
            <a:gdLst/>
            <a:ahLst/>
            <a:cxnLst/>
            <a:rect l="l" t="t" r="r" b="b"/>
            <a:pathLst>
              <a:path w="1025525" h="0">
                <a:moveTo>
                  <a:pt x="0" y="0"/>
                </a:moveTo>
                <a:lnTo>
                  <a:pt x="1025152" y="0"/>
                </a:lnTo>
              </a:path>
            </a:pathLst>
          </a:custGeom>
          <a:ln w="916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9639313" y="367094"/>
            <a:ext cx="2105660" cy="280035"/>
          </a:xfrm>
          <a:prstGeom prst="rect"/>
          <a:solidFill>
            <a:srgbClr val="2A4F38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205"/>
              </a:lnSpc>
            </a:pPr>
            <a:r>
              <a:rPr dirty="0" spc="155"/>
              <a:t>里础敦宫龋吊谯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23110" y="933605"/>
            <a:ext cx="290830" cy="125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" spc="45">
                <a:solidFill>
                  <a:srgbClr val="858585"/>
                </a:solidFill>
                <a:latin typeface="宋体"/>
                <a:cs typeface="宋体"/>
              </a:rPr>
              <a:t>三文件</a:t>
            </a:r>
            <a:endParaRPr sz="650">
              <a:latin typeface="宋体"/>
              <a:cs typeface="宋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56491" y="917574"/>
            <a:ext cx="13779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80">
                <a:solidFill>
                  <a:srgbClr val="858585"/>
                </a:solidFill>
                <a:latin typeface="宋体"/>
                <a:cs typeface="宋体"/>
              </a:rPr>
              <a:t>曰</a:t>
            </a:r>
            <a:endParaRPr sz="800">
              <a:latin typeface="宋体"/>
              <a:cs typeface="宋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045486" y="936658"/>
            <a:ext cx="205740" cy="125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" spc="55">
                <a:solidFill>
                  <a:srgbClr val="858585"/>
                </a:solidFill>
                <a:latin typeface="宋体"/>
                <a:cs typeface="宋体"/>
              </a:rPr>
              <a:t>公式</a:t>
            </a:r>
            <a:endParaRPr sz="650">
              <a:latin typeface="宋体"/>
              <a:cs typeface="宋体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398293" y="936658"/>
            <a:ext cx="205740" cy="125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" spc="55">
                <a:solidFill>
                  <a:srgbClr val="777777"/>
                </a:solidFill>
                <a:latin typeface="宋体"/>
                <a:cs typeface="宋体"/>
              </a:rPr>
              <a:t>数据</a:t>
            </a:r>
            <a:endParaRPr sz="650">
              <a:latin typeface="宋体"/>
              <a:cs typeface="宋体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744821" y="936658"/>
            <a:ext cx="204470" cy="125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" spc="50">
                <a:solidFill>
                  <a:srgbClr val="777777"/>
                </a:solidFill>
                <a:latin typeface="宋体"/>
                <a:cs typeface="宋体"/>
              </a:rPr>
              <a:t>古闽</a:t>
            </a:r>
            <a:endParaRPr sz="650">
              <a:latin typeface="宋体"/>
              <a:cs typeface="宋体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097951" y="936658"/>
            <a:ext cx="200660" cy="125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" spc="35">
                <a:solidFill>
                  <a:srgbClr val="777777"/>
                </a:solidFill>
                <a:latin typeface="宋体"/>
                <a:cs typeface="宋体"/>
              </a:rPr>
              <a:t>视图</a:t>
            </a:r>
            <a:endParaRPr sz="650">
              <a:latin typeface="宋体"/>
              <a:cs typeface="宋体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446513" y="930297"/>
            <a:ext cx="205740" cy="132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5">
                <a:solidFill>
                  <a:srgbClr val="777777"/>
                </a:solidFill>
                <a:latin typeface="宋体"/>
                <a:cs typeface="宋体"/>
              </a:rPr>
              <a:t>安全</a:t>
            </a:r>
            <a:endParaRPr sz="700">
              <a:latin typeface="宋体"/>
              <a:cs typeface="宋体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794058" y="936658"/>
            <a:ext cx="293370" cy="125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" spc="50">
                <a:solidFill>
                  <a:srgbClr val="777777"/>
                </a:solidFill>
                <a:latin typeface="宋体"/>
                <a:cs typeface="宋体"/>
              </a:rPr>
              <a:t>云服务</a:t>
            </a:r>
            <a:endParaRPr sz="650">
              <a:latin typeface="宋体"/>
              <a:cs typeface="宋体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232764" y="936658"/>
            <a:ext cx="369570" cy="125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" spc="25">
                <a:solidFill>
                  <a:srgbClr val="777777"/>
                </a:solidFill>
                <a:latin typeface="宋体"/>
                <a:cs typeface="宋体"/>
              </a:rPr>
              <a:t>百反网盘</a:t>
            </a:r>
            <a:endParaRPr sz="650">
              <a:latin typeface="宋体"/>
              <a:cs typeface="宋体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0015046" y="923935"/>
            <a:ext cx="469265" cy="1403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20">
                <a:solidFill>
                  <a:srgbClr val="777777"/>
                </a:solidFill>
                <a:latin typeface="Arial"/>
                <a:cs typeface="Arial"/>
              </a:rPr>
              <a:t>Q</a:t>
            </a:r>
            <a:r>
              <a:rPr dirty="0" sz="750" spc="-15">
                <a:solidFill>
                  <a:srgbClr val="777777"/>
                </a:solidFill>
                <a:latin typeface="Arial"/>
                <a:cs typeface="Arial"/>
              </a:rPr>
              <a:t> </a:t>
            </a:r>
            <a:r>
              <a:rPr dirty="0" sz="600" spc="20">
                <a:solidFill>
                  <a:srgbClr val="777777"/>
                </a:solidFill>
                <a:latin typeface="宋体"/>
                <a:cs typeface="宋体"/>
              </a:rPr>
              <a:t>高</a:t>
            </a:r>
            <a:r>
              <a:rPr dirty="0" sz="600" spc="155">
                <a:solidFill>
                  <a:srgbClr val="777777"/>
                </a:solidFill>
                <a:latin typeface="宋体"/>
                <a:cs typeface="宋体"/>
              </a:rPr>
              <a:t>找</a:t>
            </a:r>
            <a:r>
              <a:rPr dirty="0" sz="600" spc="20">
                <a:solidFill>
                  <a:srgbClr val="777777"/>
                </a:solidFill>
                <a:latin typeface="宋体"/>
                <a:cs typeface="宋体"/>
              </a:rPr>
              <a:t>命令</a:t>
            </a:r>
            <a:endParaRPr sz="600">
              <a:latin typeface="宋体"/>
              <a:cs typeface="宋体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1022369" y="966454"/>
            <a:ext cx="18415" cy="76835"/>
          </a:xfrm>
          <a:custGeom>
            <a:avLst/>
            <a:gdLst/>
            <a:ahLst/>
            <a:cxnLst/>
            <a:rect l="l" t="t" r="r" b="b"/>
            <a:pathLst>
              <a:path w="18415" h="76834">
                <a:moveTo>
                  <a:pt x="0" y="0"/>
                </a:moveTo>
                <a:lnTo>
                  <a:pt x="18306" y="0"/>
                </a:lnTo>
                <a:lnTo>
                  <a:pt x="18306" y="76335"/>
                </a:lnTo>
                <a:lnTo>
                  <a:pt x="0" y="76335"/>
                </a:lnTo>
                <a:lnTo>
                  <a:pt x="0" y="0"/>
                </a:lnTo>
                <a:close/>
              </a:path>
            </a:pathLst>
          </a:custGeom>
          <a:solidFill>
            <a:srgbClr val="D8D8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11009668" y="873045"/>
            <a:ext cx="307340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10">
                <a:solidFill>
                  <a:srgbClr val="B8BAB8"/>
                </a:solidFill>
                <a:latin typeface="宋体"/>
                <a:cs typeface="宋体"/>
              </a:rPr>
              <a:t>'</a:t>
            </a:r>
            <a:r>
              <a:rPr dirty="0" sz="600" spc="275">
                <a:solidFill>
                  <a:srgbClr val="B8BAB8"/>
                </a:solidFill>
                <a:latin typeface="宋体"/>
                <a:cs typeface="宋体"/>
              </a:rPr>
              <a:t> </a:t>
            </a:r>
            <a:r>
              <a:rPr dirty="0" sz="1150" spc="50">
                <a:solidFill>
                  <a:srgbClr val="858585"/>
                </a:solidFill>
                <a:latin typeface="Times New Roman"/>
                <a:cs typeface="Times New Roman"/>
              </a:rPr>
              <a:t>©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094799" y="1173553"/>
            <a:ext cx="321945" cy="3340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7780">
              <a:lnSpc>
                <a:spcPct val="100000"/>
              </a:lnSpc>
              <a:spcBef>
                <a:spcPts val="100"/>
              </a:spcBef>
            </a:pPr>
            <a:r>
              <a:rPr dirty="0" sz="900" spc="25">
                <a:solidFill>
                  <a:srgbClr val="858585"/>
                </a:solidFill>
                <a:latin typeface="Times New Roman"/>
                <a:cs typeface="Times New Roman"/>
              </a:rPr>
              <a:t>X</a:t>
            </a:r>
            <a:r>
              <a:rPr dirty="0" sz="900" spc="-65">
                <a:solidFill>
                  <a:srgbClr val="858585"/>
                </a:solidFill>
                <a:latin typeface="Times New Roman"/>
                <a:cs typeface="Times New Roman"/>
              </a:rPr>
              <a:t> </a:t>
            </a:r>
            <a:r>
              <a:rPr dirty="0" sz="650" spc="25">
                <a:solidFill>
                  <a:srgbClr val="858585"/>
                </a:solidFill>
                <a:latin typeface="宋体"/>
                <a:cs typeface="宋体"/>
              </a:rPr>
              <a:t>究切</a:t>
            </a:r>
            <a:endParaRPr sz="65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565"/>
              </a:spcBef>
            </a:pPr>
            <a:r>
              <a:rPr dirty="0" sz="650" spc="65">
                <a:solidFill>
                  <a:srgbClr val="858585"/>
                </a:solidFill>
                <a:latin typeface="宋体"/>
                <a:cs typeface="宋体"/>
              </a:rPr>
              <a:t>心复制</a:t>
            </a:r>
            <a:endParaRPr sz="650">
              <a:latin typeface="宋体"/>
              <a:cs typeface="宋体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672730" y="1180168"/>
            <a:ext cx="21907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98425" indent="-85725">
              <a:lnSpc>
                <a:spcPct val="100000"/>
              </a:lnSpc>
              <a:spcBef>
                <a:spcPts val="100"/>
              </a:spcBef>
              <a:buChar char="·"/>
              <a:tabLst>
                <a:tab pos="99060" algn="l"/>
              </a:tabLst>
            </a:pPr>
            <a:r>
              <a:rPr dirty="0" sz="800" spc="10">
                <a:solidFill>
                  <a:srgbClr val="9C9E9E"/>
                </a:solidFill>
                <a:latin typeface="Times New Roman"/>
                <a:cs typeface="Times New Roman"/>
              </a:rPr>
              <a:t>2</a:t>
            </a:r>
            <a:r>
              <a:rPr dirty="0" sz="800" spc="30">
                <a:solidFill>
                  <a:srgbClr val="777777"/>
                </a:solidFill>
                <a:latin typeface="Times New Roman"/>
                <a:cs typeface="Times New Roman"/>
              </a:rPr>
              <a:t>4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144066" y="1158285"/>
            <a:ext cx="387985" cy="163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92100" algn="l"/>
              </a:tabLst>
            </a:pPr>
            <a:r>
              <a:rPr dirty="0" sz="900" spc="35">
                <a:solidFill>
                  <a:srgbClr val="9C9E9E"/>
                </a:solidFill>
                <a:latin typeface="Arial"/>
                <a:cs typeface="Arial"/>
              </a:rPr>
              <a:t>·A</a:t>
            </a:r>
            <a:r>
              <a:rPr dirty="0" sz="900" spc="35">
                <a:solidFill>
                  <a:srgbClr val="9C9E9E"/>
                </a:solidFill>
                <a:latin typeface="Arial"/>
                <a:cs typeface="Arial"/>
              </a:rPr>
              <a:t>	</a:t>
            </a:r>
            <a:r>
              <a:rPr dirty="0" sz="800" spc="-85">
                <a:solidFill>
                  <a:srgbClr val="B8BAB8"/>
                </a:solidFill>
                <a:latin typeface="Arial"/>
                <a:cs typeface="Arial"/>
              </a:rPr>
              <a:t>­</a:t>
            </a:r>
            <a:r>
              <a:rPr dirty="0" sz="800" spc="-70">
                <a:solidFill>
                  <a:srgbClr val="858585"/>
                </a:solidFill>
                <a:latin typeface="Arial"/>
                <a:cs typeface="Arial"/>
              </a:rPr>
              <a:t>A</a:t>
            </a:r>
            <a:endParaRPr sz="8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919935" y="1341745"/>
            <a:ext cx="1571625" cy="155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23340" algn="l"/>
              </a:tabLst>
            </a:pPr>
            <a:r>
              <a:rPr dirty="0" sz="800" spc="-5">
                <a:solidFill>
                  <a:srgbClr val="606060"/>
                </a:solidFill>
                <a:latin typeface="Times New Roman"/>
                <a:cs typeface="Times New Roman"/>
              </a:rPr>
              <a:t>B   </a:t>
            </a:r>
            <a:r>
              <a:rPr dirty="0" sz="800" spc="65">
                <a:solidFill>
                  <a:srgbClr val="606060"/>
                </a:solidFill>
                <a:latin typeface="Times New Roman"/>
                <a:cs typeface="Times New Roman"/>
              </a:rPr>
              <a:t> </a:t>
            </a:r>
            <a:r>
              <a:rPr dirty="0" sz="800" spc="-5">
                <a:solidFill>
                  <a:srgbClr val="858585"/>
                </a:solidFill>
                <a:latin typeface="Times New Roman"/>
                <a:cs typeface="Times New Roman"/>
              </a:rPr>
              <a:t>/   </a:t>
            </a:r>
            <a:r>
              <a:rPr dirty="0" sz="800" spc="140">
                <a:solidFill>
                  <a:srgbClr val="858585"/>
                </a:solidFill>
                <a:latin typeface="Times New Roman"/>
                <a:cs typeface="Times New Roman"/>
              </a:rPr>
              <a:t> </a:t>
            </a:r>
            <a:r>
              <a:rPr dirty="0" sz="700" spc="15">
                <a:solidFill>
                  <a:srgbClr val="9C9E9E"/>
                </a:solidFill>
                <a:latin typeface="Times New Roman"/>
                <a:cs typeface="Times New Roman"/>
              </a:rPr>
              <a:t>!,!	</a:t>
            </a:r>
            <a:r>
              <a:rPr dirty="0" baseline="6535" sz="1275" spc="-60">
                <a:solidFill>
                  <a:srgbClr val="9C9E9E"/>
                </a:solidFill>
                <a:latin typeface="Arial"/>
                <a:cs typeface="Arial"/>
              </a:rPr>
              <a:t>•</a:t>
            </a:r>
            <a:r>
              <a:rPr dirty="0" baseline="6535" sz="1275" spc="202">
                <a:solidFill>
                  <a:srgbClr val="9C9E9E"/>
                </a:solidFill>
                <a:latin typeface="Arial"/>
                <a:cs typeface="Arial"/>
              </a:rPr>
              <a:t> </a:t>
            </a:r>
            <a:r>
              <a:rPr dirty="0" baseline="6535" sz="1275" spc="-82">
                <a:solidFill>
                  <a:srgbClr val="858585"/>
                </a:solidFill>
                <a:latin typeface="Arial"/>
                <a:cs typeface="Arial"/>
              </a:rPr>
              <a:t>iQ.</a:t>
            </a:r>
            <a:endParaRPr baseline="6535" sz="1275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522624" y="1199252"/>
            <a:ext cx="205740" cy="125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" spc="55">
                <a:solidFill>
                  <a:srgbClr val="858585"/>
                </a:solidFill>
                <a:latin typeface="宋体"/>
                <a:cs typeface="宋体"/>
              </a:rPr>
              <a:t>常规</a:t>
            </a:r>
            <a:endParaRPr sz="650">
              <a:latin typeface="宋体"/>
              <a:cs typeface="宋体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494363" y="1127967"/>
            <a:ext cx="302260" cy="379730"/>
          </a:xfrm>
          <a:prstGeom prst="rect">
            <a:avLst/>
          </a:prstGeom>
        </p:spPr>
        <p:txBody>
          <a:bodyPr wrap="square" lIns="0" tIns="63500" rIns="0" bIns="0" rtlCol="0" vert="horz">
            <a:spAutoFit/>
          </a:bodyPr>
          <a:lstStyle/>
          <a:p>
            <a:pPr marL="129539">
              <a:lnSpc>
                <a:spcPct val="100000"/>
              </a:lnSpc>
              <a:spcBef>
                <a:spcPts val="500"/>
              </a:spcBef>
            </a:pPr>
            <a:r>
              <a:rPr dirty="0" sz="1150" spc="100">
                <a:solidFill>
                  <a:srgbClr val="858585"/>
                </a:solidFill>
                <a:latin typeface="宋体"/>
                <a:cs typeface="宋体"/>
              </a:rPr>
              <a:t>巴</a:t>
            </a:r>
            <a:endParaRPr sz="115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650" spc="55">
                <a:solidFill>
                  <a:srgbClr val="858585"/>
                </a:solidFill>
                <a:latin typeface="宋体"/>
                <a:cs typeface="宋体"/>
              </a:rPr>
              <a:t>条·</a:t>
            </a:r>
            <a:endParaRPr sz="650">
              <a:latin typeface="宋体"/>
              <a:cs typeface="宋体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525318" y="1146455"/>
            <a:ext cx="269240" cy="361950"/>
          </a:xfrm>
          <a:prstGeom prst="rect">
            <a:avLst/>
          </a:prstGeom>
        </p:spPr>
        <p:txBody>
          <a:bodyPr wrap="square" lIns="0" tIns="54610" rIns="0" bIns="0" rtlCol="0" vert="horz">
            <a:spAutoFit/>
          </a:bodyPr>
          <a:lstStyle/>
          <a:p>
            <a:pPr marL="65405">
              <a:lnSpc>
                <a:spcPct val="100000"/>
              </a:lnSpc>
              <a:spcBef>
                <a:spcPts val="430"/>
              </a:spcBef>
            </a:pPr>
            <a:r>
              <a:rPr dirty="0" sz="1050" spc="-55">
                <a:solidFill>
                  <a:srgbClr val="777777"/>
                </a:solidFill>
                <a:latin typeface="宋体"/>
                <a:cs typeface="宋体"/>
              </a:rPr>
              <a:t>区</a:t>
            </a:r>
            <a:endParaRPr sz="105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dirty="0" sz="700" spc="-35">
                <a:solidFill>
                  <a:srgbClr val="777777"/>
                </a:solidFill>
                <a:latin typeface="宋体"/>
                <a:cs typeface="宋体"/>
              </a:rPr>
              <a:t>求</a:t>
            </a:r>
            <a:r>
              <a:rPr dirty="0" sz="700" spc="150">
                <a:solidFill>
                  <a:srgbClr val="777777"/>
                </a:solidFill>
                <a:latin typeface="宋体"/>
                <a:cs typeface="宋体"/>
              </a:rPr>
              <a:t> </a:t>
            </a:r>
            <a:r>
              <a:rPr dirty="0" sz="700" spc="-35">
                <a:solidFill>
                  <a:srgbClr val="9C9E9E"/>
                </a:solidFill>
                <a:latin typeface="宋体"/>
                <a:cs typeface="宋体"/>
              </a:rPr>
              <a:t>·</a:t>
            </a:r>
            <a:endParaRPr sz="700">
              <a:latin typeface="宋体"/>
              <a:cs typeface="宋体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442393" y="1185258"/>
            <a:ext cx="38798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50">
                <a:solidFill>
                  <a:srgbClr val="858585"/>
                </a:solidFill>
                <a:latin typeface="宋体"/>
                <a:cs typeface="宋体"/>
              </a:rPr>
              <a:t>亏厅巨</a:t>
            </a:r>
            <a:endParaRPr sz="1000">
              <a:latin typeface="宋体"/>
              <a:cs typeface="宋体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575292" y="1152687"/>
            <a:ext cx="511809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54025" algn="l"/>
              </a:tabLst>
            </a:pPr>
            <a:r>
              <a:rPr dirty="0" baseline="2525" sz="1650" spc="-825">
                <a:solidFill>
                  <a:srgbClr val="858585"/>
                </a:solidFill>
                <a:latin typeface="宋体"/>
                <a:cs typeface="宋体"/>
              </a:rPr>
              <a:t>匡｝</a:t>
            </a:r>
            <a:r>
              <a:rPr dirty="0" baseline="2525" sz="1650" spc="-825">
                <a:solidFill>
                  <a:srgbClr val="858585"/>
                </a:solidFill>
                <a:latin typeface="宋体"/>
                <a:cs typeface="宋体"/>
              </a:rPr>
              <a:t>	</a:t>
            </a:r>
            <a:r>
              <a:rPr dirty="0" sz="1400" spc="-350">
                <a:solidFill>
                  <a:srgbClr val="9C9E9E"/>
                </a:solidFill>
                <a:latin typeface="Times New Roman"/>
                <a:cs typeface="Times New Roman"/>
              </a:rPr>
              <a:t>0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404964" y="1379404"/>
            <a:ext cx="2085975" cy="125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" spc="175">
                <a:solidFill>
                  <a:srgbClr val="858585"/>
                </a:solidFill>
                <a:latin typeface="宋体"/>
                <a:cs typeface="宋体"/>
              </a:rPr>
              <a:t>馅式．行和列工作安冻结四馅．查找·</a:t>
            </a:r>
            <a:r>
              <a:rPr dirty="0" sz="650" spc="-225">
                <a:solidFill>
                  <a:srgbClr val="858585"/>
                </a:solidFill>
                <a:latin typeface="宋体"/>
                <a:cs typeface="宋体"/>
              </a:rPr>
              <a:t> </a:t>
            </a:r>
            <a:r>
              <a:rPr dirty="0" sz="650" spc="25">
                <a:solidFill>
                  <a:srgbClr val="858585"/>
                </a:solidFill>
                <a:latin typeface="宋体"/>
                <a:cs typeface="宋体"/>
              </a:rPr>
              <a:t>符号·</a:t>
            </a:r>
            <a:endParaRPr sz="650">
              <a:latin typeface="宋体"/>
              <a:cs typeface="宋体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0595293" y="1385510"/>
            <a:ext cx="627380" cy="125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" spc="25">
                <a:solidFill>
                  <a:srgbClr val="777777"/>
                </a:solidFill>
                <a:latin typeface="宋体"/>
                <a:cs typeface="宋体"/>
              </a:rPr>
              <a:t>保存到百反网臣</a:t>
            </a:r>
            <a:endParaRPr sz="650">
              <a:latin typeface="宋体"/>
              <a:cs typeface="宋体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359871" y="1398743"/>
            <a:ext cx="84455" cy="1860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35">
                <a:solidFill>
                  <a:srgbClr val="B8BAB8"/>
                </a:solidFill>
                <a:latin typeface="Times New Roman"/>
                <a:cs typeface="Times New Roman"/>
              </a:rPr>
              <a:t>.,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188554" y="1687291"/>
            <a:ext cx="184150" cy="1403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45">
                <a:solidFill>
                  <a:srgbClr val="858585"/>
                </a:solidFill>
                <a:latin typeface="Arial"/>
                <a:cs typeface="Arial"/>
              </a:rPr>
              <a:t>K'.l8</a:t>
            </a:r>
            <a:endParaRPr sz="75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061359" y="1912901"/>
            <a:ext cx="89535" cy="89535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75000"/>
              </a:lnSpc>
            </a:pPr>
            <a:r>
              <a:rPr dirty="0" sz="500">
                <a:solidFill>
                  <a:srgbClr val="858585"/>
                </a:solidFill>
                <a:latin typeface="宋体"/>
                <a:cs typeface="宋体"/>
              </a:rPr>
              <a:t>人</a:t>
            </a:r>
            <a:endParaRPr sz="500">
              <a:latin typeface="宋体"/>
              <a:cs typeface="宋体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1830395" y="1557346"/>
            <a:ext cx="0" cy="312420"/>
          </a:xfrm>
          <a:custGeom>
            <a:avLst/>
            <a:gdLst/>
            <a:ahLst/>
            <a:cxnLst/>
            <a:rect l="l" t="t" r="r" b="b"/>
            <a:pathLst>
              <a:path w="0" h="312419">
                <a:moveTo>
                  <a:pt x="0" y="0"/>
                </a:moveTo>
                <a:lnTo>
                  <a:pt x="0" y="312423"/>
                </a:lnTo>
              </a:path>
            </a:pathLst>
          </a:custGeom>
          <a:ln w="48816">
            <a:solidFill>
              <a:srgbClr val="D8D8D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1793287" y="1553704"/>
            <a:ext cx="634746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10185" algn="l"/>
                <a:tab pos="542290" algn="l"/>
                <a:tab pos="6333490" algn="l"/>
              </a:tabLst>
            </a:pPr>
            <a:r>
              <a:rPr dirty="0" sz="1800" spc="-405">
                <a:solidFill>
                  <a:srgbClr val="B8BAB8"/>
                </a:solidFill>
                <a:latin typeface="Arial"/>
                <a:cs typeface="Arial"/>
              </a:rPr>
              <a:t>J	</a:t>
            </a:r>
            <a:r>
              <a:rPr dirty="0" sz="750" spc="35">
                <a:solidFill>
                  <a:srgbClr val="858585"/>
                </a:solidFill>
                <a:latin typeface="Times New Roman"/>
                <a:cs typeface="Times New Roman"/>
              </a:rPr>
              <a:t>X	</a:t>
            </a:r>
            <a:r>
              <a:rPr dirty="0" sz="850" spc="-80">
                <a:solidFill>
                  <a:srgbClr val="858585"/>
                </a:solidFill>
                <a:latin typeface="Times New Roman"/>
                <a:cs typeface="Times New Roman"/>
              </a:rPr>
              <a:t>f:;c </a:t>
            </a:r>
            <a:r>
              <a:rPr dirty="0" sz="850" spc="-35">
                <a:solidFill>
                  <a:srgbClr val="858585"/>
                </a:solidFill>
                <a:latin typeface="Times New Roman"/>
                <a:cs typeface="Times New Roman"/>
              </a:rPr>
              <a:t> </a:t>
            </a:r>
            <a:r>
              <a:rPr dirty="0" u="sng" sz="850">
                <a:solidFill>
                  <a:srgbClr val="858585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850">
                <a:solidFill>
                  <a:srgbClr val="858585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878206" y="1898740"/>
            <a:ext cx="7363459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28369" algn="l"/>
                <a:tab pos="7350125" algn="l"/>
              </a:tabLst>
            </a:pPr>
            <a:r>
              <a:rPr dirty="0" u="sng" sz="600">
                <a:solidFill>
                  <a:srgbClr val="858585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600">
                <a:solidFill>
                  <a:srgbClr val="858585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</a:t>
            </a:r>
            <a:r>
              <a:rPr dirty="0" u="sng" sz="600" spc="5">
                <a:solidFill>
                  <a:srgbClr val="858585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B	</a:t>
            </a:r>
            <a:endParaRPr sz="6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8493621" y="1674568"/>
            <a:ext cx="2880995" cy="3416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867660" algn="l"/>
              </a:tabLst>
            </a:pPr>
            <a:r>
              <a:rPr dirty="0" u="sng" sz="850">
                <a:solidFill>
                  <a:srgbClr val="858585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850">
                <a:solidFill>
                  <a:srgbClr val="858585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1946275" algn="l"/>
                <a:tab pos="2861310" algn="l"/>
              </a:tabLst>
            </a:pPr>
            <a:r>
              <a:rPr dirty="0" u="sng" sz="600">
                <a:solidFill>
                  <a:srgbClr val="858585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600">
                <a:solidFill>
                  <a:srgbClr val="858585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</a:t>
            </a:r>
            <a:r>
              <a:rPr dirty="0" sz="600">
                <a:solidFill>
                  <a:srgbClr val="858585"/>
                </a:solidFill>
                <a:latin typeface="Arial"/>
                <a:cs typeface="Arial"/>
              </a:rPr>
              <a:t> </a:t>
            </a:r>
            <a:r>
              <a:rPr dirty="0" sz="600" spc="5">
                <a:solidFill>
                  <a:srgbClr val="858585"/>
                </a:solidFill>
                <a:latin typeface="Arial"/>
                <a:cs typeface="Arial"/>
              </a:rPr>
              <a:t> </a:t>
            </a:r>
            <a:r>
              <a:rPr dirty="0" u="sng" sz="600">
                <a:solidFill>
                  <a:srgbClr val="858585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600">
                <a:solidFill>
                  <a:srgbClr val="858585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</a:t>
            </a:r>
            <a:endParaRPr sz="6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5057268" y="1879403"/>
            <a:ext cx="67310" cy="108585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50000"/>
              </a:lnSpc>
            </a:pPr>
            <a:r>
              <a:rPr dirty="0" sz="650">
                <a:solidFill>
                  <a:srgbClr val="858585"/>
                </a:solidFill>
                <a:latin typeface="宋体"/>
                <a:cs typeface="宋体"/>
              </a:rPr>
              <a:t>E</a:t>
            </a:r>
            <a:endParaRPr sz="650">
              <a:latin typeface="宋体"/>
              <a:cs typeface="宋体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140096" y="1879403"/>
            <a:ext cx="67310" cy="108585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50000"/>
              </a:lnSpc>
            </a:pPr>
            <a:r>
              <a:rPr dirty="0" sz="650">
                <a:solidFill>
                  <a:srgbClr val="858585"/>
                </a:solidFill>
                <a:latin typeface="宋体"/>
                <a:cs typeface="宋体"/>
              </a:rPr>
              <a:t>F</a:t>
            </a:r>
            <a:endParaRPr sz="650">
              <a:latin typeface="宋体"/>
              <a:cs typeface="宋体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7206618" y="1865019"/>
            <a:ext cx="83185" cy="140335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45000"/>
              </a:lnSpc>
            </a:pPr>
            <a:r>
              <a:rPr dirty="0" sz="900">
                <a:solidFill>
                  <a:srgbClr val="858585"/>
                </a:solidFill>
                <a:latin typeface="宋体"/>
                <a:cs typeface="宋体"/>
              </a:rPr>
              <a:t>c</a:t>
            </a:r>
            <a:endParaRPr sz="900">
              <a:latin typeface="宋体"/>
              <a:cs typeface="宋体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8294447" y="1879403"/>
            <a:ext cx="67310" cy="108585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50000"/>
              </a:lnSpc>
            </a:pPr>
            <a:r>
              <a:rPr dirty="0" sz="650">
                <a:solidFill>
                  <a:srgbClr val="858585"/>
                </a:solidFill>
                <a:latin typeface="宋体"/>
                <a:cs typeface="宋体"/>
              </a:rPr>
              <a:t>H</a:t>
            </a:r>
            <a:endParaRPr sz="650">
              <a:latin typeface="宋体"/>
              <a:cs typeface="宋体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0454525" y="1867815"/>
            <a:ext cx="80010" cy="133985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45000"/>
              </a:lnSpc>
            </a:pPr>
            <a:r>
              <a:rPr dirty="0" sz="850">
                <a:solidFill>
                  <a:srgbClr val="858585"/>
                </a:solidFill>
                <a:latin typeface="宋体"/>
                <a:cs typeface="宋体"/>
              </a:rPr>
              <a:t>I</a:t>
            </a:r>
            <a:endParaRPr sz="850">
              <a:latin typeface="宋体"/>
              <a:cs typeface="宋体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798021" y="3159323"/>
            <a:ext cx="67310" cy="108585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50000"/>
              </a:lnSpc>
            </a:pPr>
            <a:r>
              <a:rPr dirty="0" sz="650">
                <a:solidFill>
                  <a:srgbClr val="858585"/>
                </a:solidFill>
                <a:latin typeface="宋体"/>
                <a:cs typeface="宋体"/>
              </a:rPr>
              <a:t>6</a:t>
            </a:r>
            <a:endParaRPr sz="650">
              <a:latin typeface="宋体"/>
              <a:cs typeface="宋体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726977" y="4118385"/>
            <a:ext cx="311785" cy="311785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60000"/>
              </a:lnSpc>
            </a:pPr>
            <a:r>
              <a:rPr dirty="0" sz="2250">
                <a:solidFill>
                  <a:srgbClr val="858585"/>
                </a:solidFill>
                <a:latin typeface="宋体"/>
                <a:cs typeface="宋体"/>
              </a:rPr>
              <a:t>。</a:t>
            </a:r>
            <a:endParaRPr sz="2250">
              <a:latin typeface="宋体"/>
              <a:cs typeface="宋体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828325" y="4280181"/>
            <a:ext cx="67310" cy="998855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50000"/>
              </a:lnSpc>
              <a:tabLst>
                <a:tab pos="235585" algn="l"/>
                <a:tab pos="457834" algn="l"/>
                <a:tab pos="681355" algn="l"/>
                <a:tab pos="902969" algn="l"/>
              </a:tabLst>
            </a:pPr>
            <a:r>
              <a:rPr dirty="0" sz="650">
                <a:solidFill>
                  <a:srgbClr val="858585"/>
                </a:solidFill>
                <a:latin typeface="宋体"/>
                <a:cs typeface="宋体"/>
              </a:rPr>
              <a:t>l</a:t>
            </a:r>
            <a:r>
              <a:rPr dirty="0" sz="650">
                <a:solidFill>
                  <a:srgbClr val="858585"/>
                </a:solidFill>
                <a:latin typeface="宋体"/>
                <a:cs typeface="宋体"/>
              </a:rPr>
              <a:t>	</a:t>
            </a:r>
            <a:r>
              <a:rPr dirty="0" sz="650">
                <a:solidFill>
                  <a:srgbClr val="858585"/>
                </a:solidFill>
                <a:latin typeface="宋体"/>
                <a:cs typeface="宋体"/>
              </a:rPr>
              <a:t>2</a:t>
            </a:r>
            <a:r>
              <a:rPr dirty="0" sz="650">
                <a:solidFill>
                  <a:srgbClr val="858585"/>
                </a:solidFill>
                <a:latin typeface="宋体"/>
                <a:cs typeface="宋体"/>
              </a:rPr>
              <a:t>	</a:t>
            </a:r>
            <a:r>
              <a:rPr dirty="0" sz="650">
                <a:solidFill>
                  <a:srgbClr val="858585"/>
                </a:solidFill>
                <a:latin typeface="宋体"/>
                <a:cs typeface="宋体"/>
              </a:rPr>
              <a:t>3</a:t>
            </a:r>
            <a:r>
              <a:rPr dirty="0" sz="650">
                <a:solidFill>
                  <a:srgbClr val="858585"/>
                </a:solidFill>
                <a:latin typeface="宋体"/>
                <a:cs typeface="宋体"/>
              </a:rPr>
              <a:t>	</a:t>
            </a:r>
            <a:r>
              <a:rPr dirty="0" sz="650">
                <a:solidFill>
                  <a:srgbClr val="858585"/>
                </a:solidFill>
                <a:latin typeface="宋体"/>
                <a:cs typeface="宋体"/>
              </a:rPr>
              <a:t>4</a:t>
            </a:r>
            <a:r>
              <a:rPr dirty="0" sz="650">
                <a:solidFill>
                  <a:srgbClr val="858585"/>
                </a:solidFill>
                <a:latin typeface="宋体"/>
                <a:cs typeface="宋体"/>
              </a:rPr>
              <a:t>	</a:t>
            </a:r>
            <a:r>
              <a:rPr dirty="0" sz="650">
                <a:solidFill>
                  <a:srgbClr val="858585"/>
                </a:solidFill>
                <a:latin typeface="宋体"/>
                <a:cs typeface="宋体"/>
              </a:rPr>
              <a:t>5</a:t>
            </a:r>
            <a:endParaRPr sz="650">
              <a:latin typeface="宋体"/>
              <a:cs typeface="宋体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788662" y="3605121"/>
            <a:ext cx="73660" cy="1681480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55000"/>
              </a:lnSpc>
              <a:tabLst>
                <a:tab pos="234950" algn="l"/>
                <a:tab pos="464820" algn="l"/>
                <a:tab pos="690245" algn="l"/>
                <a:tab pos="913130" algn="l"/>
                <a:tab pos="1139190" algn="l"/>
                <a:tab pos="1365250" algn="l"/>
                <a:tab pos="1584960" algn="l"/>
              </a:tabLst>
            </a:pPr>
            <a:r>
              <a:rPr dirty="0" baseline="4273" sz="975">
                <a:solidFill>
                  <a:srgbClr val="858585"/>
                </a:solidFill>
                <a:latin typeface="宋体"/>
                <a:cs typeface="宋体"/>
              </a:rPr>
              <a:t>8</a:t>
            </a:r>
            <a:r>
              <a:rPr dirty="0" baseline="4273" sz="975">
                <a:solidFill>
                  <a:srgbClr val="858585"/>
                </a:solidFill>
                <a:latin typeface="宋体"/>
                <a:cs typeface="宋体"/>
              </a:rPr>
              <a:t>	</a:t>
            </a:r>
            <a:r>
              <a:rPr dirty="0" baseline="4273" sz="975">
                <a:solidFill>
                  <a:srgbClr val="858585"/>
                </a:solidFill>
                <a:latin typeface="宋体"/>
                <a:cs typeface="宋体"/>
              </a:rPr>
              <a:t>9</a:t>
            </a:r>
            <a:r>
              <a:rPr dirty="0" baseline="4273" sz="975">
                <a:solidFill>
                  <a:srgbClr val="858585"/>
                </a:solidFill>
                <a:latin typeface="宋体"/>
                <a:cs typeface="宋体"/>
              </a:rPr>
              <a:t>	</a:t>
            </a:r>
            <a:r>
              <a:rPr dirty="0" baseline="4273" sz="975">
                <a:solidFill>
                  <a:srgbClr val="858585"/>
                </a:solidFill>
                <a:latin typeface="宋体"/>
                <a:cs typeface="宋体"/>
              </a:rPr>
              <a:t>1</a:t>
            </a:r>
            <a:r>
              <a:rPr dirty="0" baseline="4273" sz="975">
                <a:solidFill>
                  <a:srgbClr val="858585"/>
                </a:solidFill>
                <a:latin typeface="宋体"/>
                <a:cs typeface="宋体"/>
              </a:rPr>
              <a:t>	</a:t>
            </a:r>
            <a:r>
              <a:rPr dirty="0" sz="650">
                <a:solidFill>
                  <a:srgbClr val="858585"/>
                </a:solidFill>
                <a:latin typeface="宋体"/>
                <a:cs typeface="宋体"/>
              </a:rPr>
              <a:t>l</a:t>
            </a:r>
            <a:r>
              <a:rPr dirty="0" sz="650">
                <a:solidFill>
                  <a:srgbClr val="858585"/>
                </a:solidFill>
                <a:latin typeface="宋体"/>
                <a:cs typeface="宋体"/>
              </a:rPr>
              <a:t>	</a:t>
            </a:r>
            <a:r>
              <a:rPr dirty="0" sz="650">
                <a:solidFill>
                  <a:srgbClr val="858585"/>
                </a:solidFill>
                <a:latin typeface="宋体"/>
                <a:cs typeface="宋体"/>
              </a:rPr>
              <a:t>l</a:t>
            </a:r>
            <a:r>
              <a:rPr dirty="0" sz="650">
                <a:solidFill>
                  <a:srgbClr val="858585"/>
                </a:solidFill>
                <a:latin typeface="宋体"/>
                <a:cs typeface="宋体"/>
              </a:rPr>
              <a:t>	</a:t>
            </a:r>
            <a:r>
              <a:rPr dirty="0" sz="650">
                <a:solidFill>
                  <a:srgbClr val="858585"/>
                </a:solidFill>
                <a:latin typeface="宋体"/>
                <a:cs typeface="宋体"/>
              </a:rPr>
              <a:t>l</a:t>
            </a:r>
            <a:r>
              <a:rPr dirty="0" sz="650">
                <a:solidFill>
                  <a:srgbClr val="858585"/>
                </a:solidFill>
                <a:latin typeface="宋体"/>
                <a:cs typeface="宋体"/>
              </a:rPr>
              <a:t>	</a:t>
            </a:r>
            <a:r>
              <a:rPr dirty="0" sz="650">
                <a:solidFill>
                  <a:srgbClr val="858585"/>
                </a:solidFill>
                <a:latin typeface="宋体"/>
                <a:cs typeface="宋体"/>
              </a:rPr>
              <a:t>l</a:t>
            </a:r>
            <a:r>
              <a:rPr dirty="0" sz="650">
                <a:solidFill>
                  <a:srgbClr val="858585"/>
                </a:solidFill>
                <a:latin typeface="宋体"/>
                <a:cs typeface="宋体"/>
              </a:rPr>
              <a:t>	</a:t>
            </a:r>
            <a:r>
              <a:rPr dirty="0" sz="650">
                <a:solidFill>
                  <a:srgbClr val="858585"/>
                </a:solidFill>
                <a:latin typeface="宋体"/>
                <a:cs typeface="宋体"/>
              </a:rPr>
              <a:t>l</a:t>
            </a:r>
            <a:endParaRPr sz="650">
              <a:latin typeface="宋体"/>
              <a:cs typeface="宋体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761834" y="5416278"/>
            <a:ext cx="112395" cy="5676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335">
              <a:lnSpc>
                <a:spcPct val="100000"/>
              </a:lnSpc>
              <a:spcBef>
                <a:spcPts val="100"/>
              </a:spcBef>
            </a:pPr>
            <a:r>
              <a:rPr dirty="0" sz="600" spc="-110">
                <a:solidFill>
                  <a:srgbClr val="858585"/>
                </a:solidFill>
                <a:latin typeface="Times New Roman"/>
                <a:cs typeface="Times New Roman"/>
              </a:rPr>
              <a:t>11:1</a:t>
            </a: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 marL="13970">
              <a:lnSpc>
                <a:spcPct val="100000"/>
              </a:lnSpc>
              <a:spcBef>
                <a:spcPts val="345"/>
              </a:spcBef>
            </a:pPr>
            <a:r>
              <a:rPr dirty="0" sz="600" spc="-140">
                <a:solidFill>
                  <a:srgbClr val="858585"/>
                </a:solidFill>
                <a:latin typeface="Arial"/>
                <a:cs typeface="Arial"/>
              </a:rPr>
              <a:t>11</a:t>
            </a:r>
            <a:endParaRPr sz="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8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650" spc="15">
                <a:solidFill>
                  <a:srgbClr val="858585"/>
                </a:solidFill>
                <a:latin typeface="Times New Roman"/>
                <a:cs typeface="Times New Roman"/>
              </a:rPr>
              <a:t>18</a:t>
            </a:r>
            <a:endParaRPr sz="65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3396432" y="2466676"/>
            <a:ext cx="8128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40">
                <a:solidFill>
                  <a:srgbClr val="363636"/>
                </a:solidFill>
                <a:latin typeface="Times New Roman"/>
                <a:cs typeface="Times New Roman"/>
              </a:rPr>
              <a:t>)</a:t>
            </a:r>
            <a:endParaRPr sz="1200">
              <a:latin typeface="Times New Roman"/>
              <a:cs typeface="Times New Roman"/>
            </a:endParaRPr>
          </a:p>
        </p:txBody>
      </p:sp>
      <p:graphicFrame>
        <p:nvGraphicFramePr>
          <p:cNvPr id="49" name="object 49"/>
          <p:cNvGraphicFramePr>
            <a:graphicFrameLocks noGrp="1"/>
          </p:cNvGraphicFramePr>
          <p:nvPr/>
        </p:nvGraphicFramePr>
        <p:xfrm>
          <a:off x="1281440" y="2430521"/>
          <a:ext cx="2169795" cy="18046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0135"/>
                <a:gridCol w="1071244"/>
              </a:tblGrid>
              <a:tr h="225953">
                <a:tc>
                  <a:txBody>
                    <a:bodyPr/>
                    <a:lstStyle/>
                    <a:p>
                      <a:pPr algn="ctr">
                        <a:lnSpc>
                          <a:spcPts val="1340"/>
                        </a:lnSpc>
                        <a:spcBef>
                          <a:spcPts val="335"/>
                        </a:spcBef>
                      </a:pPr>
                      <a:r>
                        <a:rPr dirty="0" sz="1200" spc="60">
                          <a:solidFill>
                            <a:srgbClr val="606060"/>
                          </a:solidFill>
                          <a:latin typeface="宋体"/>
                          <a:cs typeface="宋体"/>
                        </a:rPr>
                        <a:t>摄氏温</a:t>
                      </a:r>
                      <a:r>
                        <a:rPr dirty="0" sz="1200" spc="70">
                          <a:solidFill>
                            <a:srgbClr val="606060"/>
                          </a:solidFill>
                          <a:latin typeface="宋体"/>
                          <a:cs typeface="宋体"/>
                        </a:rPr>
                        <a:t>度</a:t>
                      </a:r>
                      <a:r>
                        <a:rPr dirty="0" sz="1200" spc="-20">
                          <a:solidFill>
                            <a:srgbClr val="363636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dirty="0" sz="1200" spc="-130">
                          <a:solidFill>
                            <a:srgbClr val="363636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15">
                          <a:solidFill>
                            <a:srgbClr val="606060"/>
                          </a:solidFill>
                          <a:latin typeface="Times New Roman"/>
                          <a:cs typeface="Times New Roman"/>
                        </a:rPr>
                        <a:t>(°</a:t>
                      </a:r>
                      <a:r>
                        <a:rPr dirty="0" sz="1200" spc="15">
                          <a:solidFill>
                            <a:srgbClr val="464444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dirty="0" sz="1200" spc="15">
                          <a:solidFill>
                            <a:srgbClr val="606060"/>
                          </a:solidFill>
                          <a:latin typeface="Times New Roman"/>
                          <a:cs typeface="Times New Roman"/>
                        </a:rPr>
                        <a:t>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254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1340"/>
                        </a:lnSpc>
                        <a:spcBef>
                          <a:spcPts val="335"/>
                        </a:spcBef>
                      </a:pPr>
                      <a:r>
                        <a:rPr dirty="0" sz="1200" spc="45">
                          <a:solidFill>
                            <a:srgbClr val="606060"/>
                          </a:solidFill>
                          <a:latin typeface="宋体"/>
                          <a:cs typeface="宋体"/>
                        </a:rPr>
                        <a:t>气体长</a:t>
                      </a:r>
                      <a:r>
                        <a:rPr dirty="0" sz="1200">
                          <a:solidFill>
                            <a:srgbClr val="606060"/>
                          </a:solidFill>
                          <a:latin typeface="宋体"/>
                          <a:cs typeface="宋体"/>
                        </a:rPr>
                        <a:t>度</a:t>
                      </a:r>
                      <a:r>
                        <a:rPr dirty="0" sz="1200" spc="100">
                          <a:solidFill>
                            <a:srgbClr val="363636"/>
                          </a:solidFill>
                          <a:latin typeface="Times New Roman"/>
                          <a:cs typeface="Times New Roman"/>
                        </a:rPr>
                        <a:t>L(cm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254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5953">
                <a:tc>
                  <a:txBody>
                    <a:bodyPr/>
                    <a:lstStyle/>
                    <a:p>
                      <a:pPr marL="39306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1200" spc="15">
                          <a:solidFill>
                            <a:srgbClr val="606060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r>
                        <a:rPr dirty="0" sz="1200" spc="15">
                          <a:solidFill>
                            <a:srgbClr val="464444"/>
                          </a:solidFill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dirty="0" sz="1200" spc="-10">
                          <a:solidFill>
                            <a:srgbClr val="464444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50">
                          <a:solidFill>
                            <a:srgbClr val="606060"/>
                          </a:solidFill>
                          <a:latin typeface="Times New Roman"/>
                          <a:cs typeface="Times New Roman"/>
                        </a:rPr>
                        <a:t>g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47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47625">
                        <a:lnSpc>
                          <a:spcPts val="1390"/>
                        </a:lnSpc>
                        <a:spcBef>
                          <a:spcPts val="290"/>
                        </a:spcBef>
                      </a:pPr>
                      <a:r>
                        <a:rPr dirty="0" sz="1200" spc="15">
                          <a:solidFill>
                            <a:srgbClr val="606060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r>
                        <a:rPr dirty="0" sz="1200" spc="15">
                          <a:solidFill>
                            <a:srgbClr val="464444"/>
                          </a:solidFill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dirty="0" sz="1200" spc="-25">
                          <a:solidFill>
                            <a:srgbClr val="464444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45">
                          <a:solidFill>
                            <a:srgbClr val="606060"/>
                          </a:solidFill>
                          <a:latin typeface="Times New Roman"/>
                          <a:cs typeface="Times New Roman"/>
                        </a:rPr>
                        <a:t>85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5953">
                <a:tc>
                  <a:txBody>
                    <a:bodyPr/>
                    <a:lstStyle/>
                    <a:p>
                      <a:pPr algn="ctr" marR="50165">
                        <a:lnSpc>
                          <a:spcPts val="1415"/>
                        </a:lnSpc>
                        <a:spcBef>
                          <a:spcPts val="265"/>
                        </a:spcBef>
                      </a:pPr>
                      <a:r>
                        <a:rPr dirty="0" sz="1200" spc="30">
                          <a:solidFill>
                            <a:srgbClr val="606060"/>
                          </a:solidFill>
                          <a:latin typeface="Times New Roman"/>
                          <a:cs typeface="Times New Roman"/>
                        </a:rPr>
                        <a:t>9.</a:t>
                      </a:r>
                      <a:r>
                        <a:rPr dirty="0" sz="1200" spc="25">
                          <a:solidFill>
                            <a:srgbClr val="60606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40">
                          <a:solidFill>
                            <a:srgbClr val="464444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365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50800">
                        <a:lnSpc>
                          <a:spcPts val="1415"/>
                        </a:lnSpc>
                        <a:spcBef>
                          <a:spcPts val="265"/>
                        </a:spcBef>
                      </a:pPr>
                      <a:r>
                        <a:rPr dirty="0" sz="1200" spc="100">
                          <a:solidFill>
                            <a:srgbClr val="606060"/>
                          </a:solidFill>
                          <a:latin typeface="Times New Roman"/>
                          <a:cs typeface="Times New Roman"/>
                        </a:rPr>
                        <a:t>6.96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365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5953">
                <a:tc>
                  <a:txBody>
                    <a:bodyPr/>
                    <a:lstStyle/>
                    <a:p>
                      <a:pPr marL="347980">
                        <a:lnSpc>
                          <a:spcPts val="1415"/>
                        </a:lnSpc>
                        <a:spcBef>
                          <a:spcPts val="265"/>
                        </a:spcBef>
                      </a:pPr>
                      <a:r>
                        <a:rPr dirty="0" sz="1200" spc="15">
                          <a:solidFill>
                            <a:srgbClr val="606060"/>
                          </a:solidFill>
                          <a:latin typeface="Times New Roman"/>
                          <a:cs typeface="Times New Roman"/>
                        </a:rPr>
                        <a:t>12</a:t>
                      </a:r>
                      <a:r>
                        <a:rPr dirty="0" sz="1200" spc="15">
                          <a:solidFill>
                            <a:srgbClr val="464444"/>
                          </a:solidFill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dirty="0" sz="1200" spc="5">
                          <a:solidFill>
                            <a:srgbClr val="464444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solidFill>
                            <a:srgbClr val="606060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365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40005">
                        <a:lnSpc>
                          <a:spcPts val="1415"/>
                        </a:lnSpc>
                        <a:spcBef>
                          <a:spcPts val="265"/>
                        </a:spcBef>
                      </a:pPr>
                      <a:r>
                        <a:rPr dirty="0" sz="1200" spc="5">
                          <a:solidFill>
                            <a:srgbClr val="606060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r>
                        <a:rPr dirty="0" sz="1200" spc="5">
                          <a:solidFill>
                            <a:srgbClr val="464444"/>
                          </a:solidFill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dirty="0" sz="1200" spc="15">
                          <a:solidFill>
                            <a:srgbClr val="464444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60">
                          <a:solidFill>
                            <a:srgbClr val="606060"/>
                          </a:solidFill>
                          <a:latin typeface="Times New Roman"/>
                          <a:cs typeface="Times New Roman"/>
                        </a:rPr>
                        <a:t>04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365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19846">
                <a:tc>
                  <a:txBody>
                    <a:bodyPr/>
                    <a:lstStyle/>
                    <a:p>
                      <a:pPr marL="347980">
                        <a:lnSpc>
                          <a:spcPts val="1390"/>
                        </a:lnSpc>
                        <a:spcBef>
                          <a:spcPts val="240"/>
                        </a:spcBef>
                      </a:pPr>
                      <a:r>
                        <a:rPr dirty="0" sz="1200" spc="25">
                          <a:solidFill>
                            <a:srgbClr val="606060"/>
                          </a:solidFill>
                          <a:latin typeface="Times New Roman"/>
                          <a:cs typeface="Times New Roman"/>
                        </a:rPr>
                        <a:t>18</a:t>
                      </a:r>
                      <a:r>
                        <a:rPr dirty="0" sz="1200" spc="25">
                          <a:solidFill>
                            <a:srgbClr val="363636"/>
                          </a:solidFill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dirty="0" sz="1200">
                          <a:solidFill>
                            <a:srgbClr val="363636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30">
                          <a:solidFill>
                            <a:srgbClr val="60606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47625">
                        <a:lnSpc>
                          <a:spcPts val="1390"/>
                        </a:lnSpc>
                        <a:spcBef>
                          <a:spcPts val="240"/>
                        </a:spcBef>
                      </a:pPr>
                      <a:r>
                        <a:rPr dirty="0" sz="1200" spc="30">
                          <a:solidFill>
                            <a:srgbClr val="606060"/>
                          </a:solidFill>
                          <a:latin typeface="Times New Roman"/>
                          <a:cs typeface="Times New Roman"/>
                        </a:rPr>
                        <a:t>7.</a:t>
                      </a:r>
                      <a:r>
                        <a:rPr dirty="0" sz="1200" spc="-25">
                          <a:solidFill>
                            <a:srgbClr val="60606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25">
                          <a:solidFill>
                            <a:srgbClr val="464444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dirty="0" sz="1200" spc="25">
                          <a:solidFill>
                            <a:srgbClr val="606060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5953">
                <a:tc>
                  <a:txBody>
                    <a:bodyPr/>
                    <a:lstStyle/>
                    <a:p>
                      <a:pPr algn="ctr" marR="52069">
                        <a:lnSpc>
                          <a:spcPts val="1390"/>
                        </a:lnSpc>
                        <a:spcBef>
                          <a:spcPts val="290"/>
                        </a:spcBef>
                      </a:pPr>
                      <a:r>
                        <a:rPr dirty="0" sz="1200" spc="85">
                          <a:solidFill>
                            <a:srgbClr val="606060"/>
                          </a:solidFill>
                          <a:latin typeface="Times New Roman"/>
                          <a:cs typeface="Times New Roman"/>
                        </a:rPr>
                        <a:t>22.0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54610">
                        <a:lnSpc>
                          <a:spcPts val="1390"/>
                        </a:lnSpc>
                        <a:spcBef>
                          <a:spcPts val="290"/>
                        </a:spcBef>
                      </a:pPr>
                      <a:r>
                        <a:rPr dirty="0" sz="1200" spc="5">
                          <a:solidFill>
                            <a:srgbClr val="606060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r>
                        <a:rPr dirty="0" sz="1200" spc="5">
                          <a:solidFill>
                            <a:srgbClr val="464444"/>
                          </a:solidFill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dirty="0" sz="1200" spc="40">
                          <a:solidFill>
                            <a:srgbClr val="464444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solidFill>
                            <a:srgbClr val="606060"/>
                          </a:solidFill>
                          <a:latin typeface="Times New Roman"/>
                          <a:cs typeface="Times New Roman"/>
                        </a:rPr>
                        <a:t>29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5953">
                <a:tc>
                  <a:txBody>
                    <a:bodyPr/>
                    <a:lstStyle/>
                    <a:p>
                      <a:pPr marL="350520">
                        <a:lnSpc>
                          <a:spcPts val="1415"/>
                        </a:lnSpc>
                        <a:spcBef>
                          <a:spcPts val="265"/>
                        </a:spcBef>
                      </a:pPr>
                      <a:r>
                        <a:rPr dirty="0" sz="1200" spc="10">
                          <a:solidFill>
                            <a:srgbClr val="606060"/>
                          </a:solidFill>
                          <a:latin typeface="Times New Roman"/>
                          <a:cs typeface="Times New Roman"/>
                        </a:rPr>
                        <a:t>29</a:t>
                      </a:r>
                      <a:r>
                        <a:rPr dirty="0" sz="1200" spc="10">
                          <a:solidFill>
                            <a:srgbClr val="363636"/>
                          </a:solidFill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dirty="0" sz="1200" spc="35">
                          <a:solidFill>
                            <a:srgbClr val="363636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solidFill>
                            <a:srgbClr val="777777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365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49530">
                        <a:lnSpc>
                          <a:spcPts val="1415"/>
                        </a:lnSpc>
                        <a:spcBef>
                          <a:spcPts val="265"/>
                        </a:spcBef>
                      </a:pPr>
                      <a:r>
                        <a:rPr dirty="0" sz="1200" spc="5">
                          <a:solidFill>
                            <a:srgbClr val="606060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r>
                        <a:rPr dirty="0" sz="1200" spc="5">
                          <a:solidFill>
                            <a:srgbClr val="363636"/>
                          </a:solidFill>
                          <a:latin typeface="Times New Roman"/>
                          <a:cs typeface="Times New Roman"/>
                        </a:rPr>
                        <a:t>. </a:t>
                      </a:r>
                      <a:r>
                        <a:rPr dirty="0" sz="1200" spc="30">
                          <a:solidFill>
                            <a:srgbClr val="606060"/>
                          </a:solidFill>
                          <a:latin typeface="Times New Roman"/>
                          <a:cs typeface="Times New Roman"/>
                        </a:rPr>
                        <a:t>50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365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16792">
                <a:tc>
                  <a:txBody>
                    <a:bodyPr/>
                    <a:lstStyle/>
                    <a:p>
                      <a:pPr marL="353695">
                        <a:lnSpc>
                          <a:spcPts val="1365"/>
                        </a:lnSpc>
                        <a:spcBef>
                          <a:spcPts val="240"/>
                        </a:spcBef>
                      </a:pPr>
                      <a:r>
                        <a:rPr dirty="0" sz="1200" spc="15">
                          <a:solidFill>
                            <a:srgbClr val="606060"/>
                          </a:solidFill>
                          <a:latin typeface="Times New Roman"/>
                          <a:cs typeface="Times New Roman"/>
                        </a:rPr>
                        <a:t>37.</a:t>
                      </a:r>
                      <a:r>
                        <a:rPr dirty="0" sz="1200" spc="-20">
                          <a:solidFill>
                            <a:srgbClr val="60606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15">
                          <a:solidFill>
                            <a:srgbClr val="777777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43180">
                        <a:lnSpc>
                          <a:spcPts val="1365"/>
                        </a:lnSpc>
                        <a:spcBef>
                          <a:spcPts val="240"/>
                        </a:spcBef>
                      </a:pPr>
                      <a:r>
                        <a:rPr dirty="0" sz="1200" spc="110">
                          <a:solidFill>
                            <a:srgbClr val="606060"/>
                          </a:solidFill>
                          <a:latin typeface="Times New Roman"/>
                          <a:cs typeface="Times New Roman"/>
                        </a:rPr>
                        <a:t>7.65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990088" y="1598675"/>
            <a:ext cx="6211823" cy="35173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237229" y="5144025"/>
            <a:ext cx="5716270" cy="1031875"/>
          </a:xfrm>
          <a:prstGeom prst="rect">
            <a:avLst/>
          </a:prstGeom>
        </p:spPr>
        <p:txBody>
          <a:bodyPr wrap="square" lIns="0" tIns="4445" rIns="0" bIns="0" rtlCol="0" vert="horz">
            <a:spAutoFit/>
          </a:bodyPr>
          <a:lstStyle/>
          <a:p>
            <a:pPr marL="12700" marR="5080" indent="537210">
              <a:lnSpc>
                <a:spcPct val="117000"/>
              </a:lnSpc>
              <a:spcBef>
                <a:spcPts val="35"/>
              </a:spcBef>
            </a:pPr>
            <a:r>
              <a:rPr dirty="0" sz="2800" spc="100" b="1">
                <a:solidFill>
                  <a:srgbClr val="385622"/>
                </a:solidFill>
                <a:latin typeface="华文楷体"/>
                <a:cs typeface="华文楷体"/>
              </a:rPr>
              <a:t>一定质量的某种气体</a:t>
            </a:r>
            <a:r>
              <a:rPr dirty="0" sz="2800" spc="105" b="1">
                <a:solidFill>
                  <a:srgbClr val="385622"/>
                </a:solidFill>
                <a:latin typeface="华文楷体"/>
                <a:cs typeface="华文楷体"/>
              </a:rPr>
              <a:t>，在等压</a:t>
            </a:r>
            <a:r>
              <a:rPr dirty="0" sz="2800" spc="-5" b="1">
                <a:solidFill>
                  <a:srgbClr val="385622"/>
                </a:solidFill>
                <a:latin typeface="华文楷体"/>
                <a:cs typeface="华文楷体"/>
              </a:rPr>
              <a:t>变 </a:t>
            </a:r>
            <a:r>
              <a:rPr dirty="0" sz="2800" b="1">
                <a:solidFill>
                  <a:srgbClr val="385622"/>
                </a:solidFill>
                <a:latin typeface="华文楷体"/>
                <a:cs typeface="华文楷体"/>
              </a:rPr>
              <a:t>化时，体积与</a:t>
            </a:r>
            <a:r>
              <a:rPr dirty="0" sz="2800" b="1">
                <a:solidFill>
                  <a:srgbClr val="C00000"/>
                </a:solidFill>
                <a:latin typeface="华文楷体"/>
                <a:cs typeface="华文楷体"/>
              </a:rPr>
              <a:t>热力学温</a:t>
            </a:r>
            <a:r>
              <a:rPr dirty="0" sz="2800" spc="-285" b="1">
                <a:solidFill>
                  <a:srgbClr val="C00000"/>
                </a:solidFill>
                <a:latin typeface="华文楷体"/>
                <a:cs typeface="华文楷体"/>
              </a:rPr>
              <a:t>度</a:t>
            </a:r>
            <a:r>
              <a:rPr dirty="0" sz="2900" spc="-245" b="1" i="1">
                <a:solidFill>
                  <a:srgbClr val="C00000"/>
                </a:solidFill>
                <a:latin typeface="华文楷体"/>
                <a:cs typeface="华文楷体"/>
              </a:rPr>
              <a:t>T</a:t>
            </a:r>
            <a:r>
              <a:rPr dirty="0" sz="2800" b="1">
                <a:solidFill>
                  <a:srgbClr val="385622"/>
                </a:solidFill>
                <a:latin typeface="华文楷体"/>
                <a:cs typeface="华文楷体"/>
              </a:rPr>
              <a:t>成正比</a:t>
            </a:r>
            <a:r>
              <a:rPr dirty="0" sz="2800" spc="-10" b="1">
                <a:solidFill>
                  <a:srgbClr val="385622"/>
                </a:solidFill>
                <a:latin typeface="华文楷体"/>
                <a:cs typeface="华文楷体"/>
              </a:rPr>
              <a:t>。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095625" y="981075"/>
            <a:ext cx="16637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300">
                <a:solidFill>
                  <a:srgbClr val="000000"/>
                </a:solidFill>
                <a:latin typeface="黑体"/>
                <a:cs typeface="黑体"/>
              </a:rPr>
              <a:t>实验结</a:t>
            </a:r>
            <a:r>
              <a:rPr dirty="0" sz="3000">
                <a:solidFill>
                  <a:srgbClr val="000000"/>
                </a:solidFill>
                <a:latin typeface="黑体"/>
                <a:cs typeface="黑体"/>
              </a:rPr>
              <a:t>论</a:t>
            </a:r>
            <a:endParaRPr sz="3000">
              <a:latin typeface="黑体"/>
              <a:cs typeface="黑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506345" y="1022985"/>
            <a:ext cx="449580" cy="446405"/>
          </a:xfrm>
          <a:custGeom>
            <a:avLst/>
            <a:gdLst/>
            <a:ahLst/>
            <a:cxnLst/>
            <a:rect l="l" t="t" r="r" b="b"/>
            <a:pathLst>
              <a:path w="449580" h="446405">
                <a:moveTo>
                  <a:pt x="232587" y="92849"/>
                </a:moveTo>
                <a:lnTo>
                  <a:pt x="216700" y="92849"/>
                </a:lnTo>
                <a:lnTo>
                  <a:pt x="210108" y="86309"/>
                </a:lnTo>
                <a:lnTo>
                  <a:pt x="210108" y="6248"/>
                </a:lnTo>
                <a:lnTo>
                  <a:pt x="216700" y="0"/>
                </a:lnTo>
                <a:lnTo>
                  <a:pt x="232587" y="0"/>
                </a:lnTo>
                <a:lnTo>
                  <a:pt x="239179" y="6248"/>
                </a:lnTo>
                <a:lnTo>
                  <a:pt x="239179" y="86309"/>
                </a:lnTo>
                <a:lnTo>
                  <a:pt x="232587" y="92849"/>
                </a:lnTo>
                <a:close/>
              </a:path>
              <a:path w="449580" h="446405">
                <a:moveTo>
                  <a:pt x="126187" y="136601"/>
                </a:moveTo>
                <a:lnTo>
                  <a:pt x="117195" y="136601"/>
                </a:lnTo>
                <a:lnTo>
                  <a:pt x="60248" y="80060"/>
                </a:lnTo>
                <a:lnTo>
                  <a:pt x="60248" y="70827"/>
                </a:lnTo>
                <a:lnTo>
                  <a:pt x="71335" y="59816"/>
                </a:lnTo>
                <a:lnTo>
                  <a:pt x="80619" y="59816"/>
                </a:lnTo>
                <a:lnTo>
                  <a:pt x="86017" y="65468"/>
                </a:lnTo>
                <a:lnTo>
                  <a:pt x="131876" y="111010"/>
                </a:lnTo>
                <a:lnTo>
                  <a:pt x="137566" y="116357"/>
                </a:lnTo>
                <a:lnTo>
                  <a:pt x="137566" y="125590"/>
                </a:lnTo>
                <a:lnTo>
                  <a:pt x="131876" y="130949"/>
                </a:lnTo>
                <a:lnTo>
                  <a:pt x="126187" y="136601"/>
                </a:lnTo>
                <a:close/>
              </a:path>
              <a:path w="449580" h="446405">
                <a:moveTo>
                  <a:pt x="332092" y="136601"/>
                </a:moveTo>
                <a:lnTo>
                  <a:pt x="323100" y="136601"/>
                </a:lnTo>
                <a:lnTo>
                  <a:pt x="311708" y="125285"/>
                </a:lnTo>
                <a:lnTo>
                  <a:pt x="312013" y="116357"/>
                </a:lnTo>
                <a:lnTo>
                  <a:pt x="317398" y="110705"/>
                </a:lnTo>
                <a:lnTo>
                  <a:pt x="368960" y="59816"/>
                </a:lnTo>
                <a:lnTo>
                  <a:pt x="377952" y="59816"/>
                </a:lnTo>
                <a:lnTo>
                  <a:pt x="389331" y="71132"/>
                </a:lnTo>
                <a:lnTo>
                  <a:pt x="389331" y="80060"/>
                </a:lnTo>
                <a:lnTo>
                  <a:pt x="332092" y="136601"/>
                </a:lnTo>
                <a:close/>
              </a:path>
              <a:path w="449580" h="446405">
                <a:moveTo>
                  <a:pt x="222389" y="340156"/>
                </a:moveTo>
                <a:lnTo>
                  <a:pt x="176460" y="330968"/>
                </a:lnTo>
                <a:lnTo>
                  <a:pt x="139065" y="305930"/>
                </a:lnTo>
                <a:lnTo>
                  <a:pt x="113853" y="268700"/>
                </a:lnTo>
                <a:lnTo>
                  <a:pt x="104597" y="223202"/>
                </a:lnTo>
                <a:lnTo>
                  <a:pt x="106991" y="199562"/>
                </a:lnTo>
                <a:lnTo>
                  <a:pt x="124705" y="157749"/>
                </a:lnTo>
                <a:lnTo>
                  <a:pt x="156470" y="126035"/>
                </a:lnTo>
                <a:lnTo>
                  <a:pt x="198583" y="108324"/>
                </a:lnTo>
                <a:lnTo>
                  <a:pt x="222389" y="105943"/>
                </a:lnTo>
                <a:lnTo>
                  <a:pt x="246073" y="108324"/>
                </a:lnTo>
                <a:lnTo>
                  <a:pt x="268209" y="115169"/>
                </a:lnTo>
                <a:lnTo>
                  <a:pt x="288267" y="126035"/>
                </a:lnTo>
                <a:lnTo>
                  <a:pt x="305714" y="140474"/>
                </a:lnTo>
                <a:lnTo>
                  <a:pt x="307689" y="142849"/>
                </a:lnTo>
                <a:lnTo>
                  <a:pt x="222389" y="142849"/>
                </a:lnTo>
                <a:lnTo>
                  <a:pt x="206027" y="144472"/>
                </a:lnTo>
                <a:lnTo>
                  <a:pt x="165150" y="166357"/>
                </a:lnTo>
                <a:lnTo>
                  <a:pt x="143099" y="206951"/>
                </a:lnTo>
                <a:lnTo>
                  <a:pt x="141465" y="223202"/>
                </a:lnTo>
                <a:lnTo>
                  <a:pt x="143099" y="239324"/>
                </a:lnTo>
                <a:lnTo>
                  <a:pt x="165150" y="280047"/>
                </a:lnTo>
                <a:lnTo>
                  <a:pt x="206027" y="301932"/>
                </a:lnTo>
                <a:lnTo>
                  <a:pt x="222389" y="303555"/>
                </a:lnTo>
                <a:lnTo>
                  <a:pt x="307670" y="303555"/>
                </a:lnTo>
                <a:lnTo>
                  <a:pt x="305714" y="305930"/>
                </a:lnTo>
                <a:lnTo>
                  <a:pt x="288267" y="320193"/>
                </a:lnTo>
                <a:lnTo>
                  <a:pt x="268209" y="330968"/>
                </a:lnTo>
                <a:lnTo>
                  <a:pt x="246073" y="337780"/>
                </a:lnTo>
                <a:lnTo>
                  <a:pt x="222389" y="340156"/>
                </a:lnTo>
                <a:close/>
              </a:path>
              <a:path w="449580" h="446405">
                <a:moveTo>
                  <a:pt x="307670" y="303555"/>
                </a:moveTo>
                <a:lnTo>
                  <a:pt x="222389" y="303555"/>
                </a:lnTo>
                <a:lnTo>
                  <a:pt x="238752" y="301932"/>
                </a:lnTo>
                <a:lnTo>
                  <a:pt x="253934" y="297268"/>
                </a:lnTo>
                <a:lnTo>
                  <a:pt x="289533" y="268111"/>
                </a:lnTo>
                <a:lnTo>
                  <a:pt x="303314" y="223202"/>
                </a:lnTo>
                <a:lnTo>
                  <a:pt x="301679" y="206951"/>
                </a:lnTo>
                <a:lnTo>
                  <a:pt x="279641" y="166357"/>
                </a:lnTo>
                <a:lnTo>
                  <a:pt x="238752" y="144472"/>
                </a:lnTo>
                <a:lnTo>
                  <a:pt x="222389" y="142849"/>
                </a:lnTo>
                <a:lnTo>
                  <a:pt x="307689" y="142849"/>
                </a:lnTo>
                <a:lnTo>
                  <a:pt x="320079" y="157749"/>
                </a:lnTo>
                <a:lnTo>
                  <a:pt x="330930" y="177595"/>
                </a:lnTo>
                <a:lnTo>
                  <a:pt x="337789" y="199562"/>
                </a:lnTo>
                <a:lnTo>
                  <a:pt x="340182" y="223202"/>
                </a:lnTo>
                <a:lnTo>
                  <a:pt x="337776" y="246719"/>
                </a:lnTo>
                <a:lnTo>
                  <a:pt x="330930" y="268585"/>
                </a:lnTo>
                <a:lnTo>
                  <a:pt x="320079" y="288485"/>
                </a:lnTo>
                <a:lnTo>
                  <a:pt x="307670" y="303555"/>
                </a:lnTo>
                <a:close/>
              </a:path>
              <a:path w="449580" h="446405">
                <a:moveTo>
                  <a:pt x="86918" y="237489"/>
                </a:moveTo>
                <a:lnTo>
                  <a:pt x="6299" y="237489"/>
                </a:lnTo>
                <a:lnTo>
                  <a:pt x="0" y="230936"/>
                </a:lnTo>
                <a:lnTo>
                  <a:pt x="0" y="215163"/>
                </a:lnTo>
                <a:lnTo>
                  <a:pt x="6299" y="208914"/>
                </a:lnTo>
                <a:lnTo>
                  <a:pt x="86918" y="208914"/>
                </a:lnTo>
                <a:lnTo>
                  <a:pt x="93510" y="215163"/>
                </a:lnTo>
                <a:lnTo>
                  <a:pt x="93510" y="230936"/>
                </a:lnTo>
                <a:lnTo>
                  <a:pt x="86918" y="237489"/>
                </a:lnTo>
                <a:close/>
              </a:path>
              <a:path w="449580" h="446405">
                <a:moveTo>
                  <a:pt x="442988" y="237489"/>
                </a:moveTo>
                <a:lnTo>
                  <a:pt x="362356" y="237489"/>
                </a:lnTo>
                <a:lnTo>
                  <a:pt x="355765" y="230936"/>
                </a:lnTo>
                <a:lnTo>
                  <a:pt x="355765" y="215163"/>
                </a:lnTo>
                <a:lnTo>
                  <a:pt x="362356" y="208914"/>
                </a:lnTo>
                <a:lnTo>
                  <a:pt x="442988" y="208914"/>
                </a:lnTo>
                <a:lnTo>
                  <a:pt x="449580" y="215163"/>
                </a:lnTo>
                <a:lnTo>
                  <a:pt x="449580" y="230936"/>
                </a:lnTo>
                <a:lnTo>
                  <a:pt x="442988" y="237489"/>
                </a:lnTo>
                <a:close/>
              </a:path>
              <a:path w="449580" h="446405">
                <a:moveTo>
                  <a:pt x="80619" y="386587"/>
                </a:moveTo>
                <a:lnTo>
                  <a:pt x="71335" y="386587"/>
                </a:lnTo>
                <a:lnTo>
                  <a:pt x="65633" y="380936"/>
                </a:lnTo>
                <a:lnTo>
                  <a:pt x="60248" y="375272"/>
                </a:lnTo>
                <a:lnTo>
                  <a:pt x="60248" y="366344"/>
                </a:lnTo>
                <a:lnTo>
                  <a:pt x="65633" y="360692"/>
                </a:lnTo>
                <a:lnTo>
                  <a:pt x="111493" y="315163"/>
                </a:lnTo>
                <a:lnTo>
                  <a:pt x="117195" y="309803"/>
                </a:lnTo>
                <a:lnTo>
                  <a:pt x="126187" y="309803"/>
                </a:lnTo>
                <a:lnTo>
                  <a:pt x="131876" y="315163"/>
                </a:lnTo>
                <a:lnTo>
                  <a:pt x="137566" y="320814"/>
                </a:lnTo>
                <a:lnTo>
                  <a:pt x="137566" y="329742"/>
                </a:lnTo>
                <a:lnTo>
                  <a:pt x="86017" y="380936"/>
                </a:lnTo>
                <a:lnTo>
                  <a:pt x="80619" y="386587"/>
                </a:lnTo>
                <a:close/>
              </a:path>
              <a:path w="449580" h="446405">
                <a:moveTo>
                  <a:pt x="377952" y="386587"/>
                </a:moveTo>
                <a:lnTo>
                  <a:pt x="368960" y="386587"/>
                </a:lnTo>
                <a:lnTo>
                  <a:pt x="317398" y="335699"/>
                </a:lnTo>
                <a:lnTo>
                  <a:pt x="312013" y="330047"/>
                </a:lnTo>
                <a:lnTo>
                  <a:pt x="311708" y="321119"/>
                </a:lnTo>
                <a:lnTo>
                  <a:pt x="323100" y="309803"/>
                </a:lnTo>
                <a:lnTo>
                  <a:pt x="332092" y="309803"/>
                </a:lnTo>
                <a:lnTo>
                  <a:pt x="383641" y="360692"/>
                </a:lnTo>
                <a:lnTo>
                  <a:pt x="389039" y="366344"/>
                </a:lnTo>
                <a:lnTo>
                  <a:pt x="389331" y="375272"/>
                </a:lnTo>
                <a:lnTo>
                  <a:pt x="377952" y="386587"/>
                </a:lnTo>
                <a:close/>
              </a:path>
              <a:path w="449580" h="446405">
                <a:moveTo>
                  <a:pt x="232587" y="446404"/>
                </a:moveTo>
                <a:lnTo>
                  <a:pt x="216700" y="446404"/>
                </a:lnTo>
                <a:lnTo>
                  <a:pt x="210108" y="439851"/>
                </a:lnTo>
                <a:lnTo>
                  <a:pt x="210108" y="359803"/>
                </a:lnTo>
                <a:lnTo>
                  <a:pt x="216700" y="353555"/>
                </a:lnTo>
                <a:lnTo>
                  <a:pt x="232587" y="353555"/>
                </a:lnTo>
                <a:lnTo>
                  <a:pt x="239179" y="359803"/>
                </a:lnTo>
                <a:lnTo>
                  <a:pt x="239179" y="439851"/>
                </a:lnTo>
                <a:lnTo>
                  <a:pt x="232587" y="446404"/>
                </a:lnTo>
                <a:close/>
              </a:path>
            </a:pathLst>
          </a:custGeom>
          <a:solidFill>
            <a:srgbClr val="385622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40250" y="3068954"/>
            <a:ext cx="27305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300">
                <a:solidFill>
                  <a:srgbClr val="000000"/>
                </a:solidFill>
                <a:latin typeface="黑体"/>
                <a:cs typeface="黑体"/>
              </a:rPr>
              <a:t>盖</a:t>
            </a:r>
            <a:r>
              <a:rPr dirty="0" sz="3000">
                <a:solidFill>
                  <a:srgbClr val="000000"/>
                </a:solidFill>
                <a:latin typeface="黑体"/>
                <a:cs typeface="黑体"/>
              </a:rPr>
              <a:t>-</a:t>
            </a:r>
            <a:r>
              <a:rPr dirty="0" sz="3000" spc="-1275">
                <a:solidFill>
                  <a:srgbClr val="000000"/>
                </a:solidFill>
                <a:latin typeface="黑体"/>
                <a:cs typeface="黑体"/>
              </a:rPr>
              <a:t> </a:t>
            </a:r>
            <a:r>
              <a:rPr dirty="0" sz="3000" spc="300">
                <a:solidFill>
                  <a:srgbClr val="000000"/>
                </a:solidFill>
                <a:latin typeface="黑体"/>
                <a:cs typeface="黑体"/>
              </a:rPr>
              <a:t>吕萨克定</a:t>
            </a:r>
            <a:r>
              <a:rPr dirty="0" sz="3000">
                <a:solidFill>
                  <a:srgbClr val="000000"/>
                </a:solidFill>
                <a:latin typeface="黑体"/>
                <a:cs typeface="黑体"/>
              </a:rPr>
              <a:t>律</a:t>
            </a:r>
            <a:endParaRPr sz="3000">
              <a:latin typeface="黑体"/>
              <a:cs typeface="黑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48864" y="2276475"/>
            <a:ext cx="1316990" cy="2825750"/>
          </a:xfrm>
          <a:custGeom>
            <a:avLst/>
            <a:gdLst/>
            <a:ahLst/>
            <a:cxnLst/>
            <a:rect l="l" t="t" r="r" b="b"/>
            <a:pathLst>
              <a:path w="1316989" h="2825750">
                <a:moveTo>
                  <a:pt x="494030" y="626668"/>
                </a:moveTo>
                <a:lnTo>
                  <a:pt x="447320" y="623261"/>
                </a:lnTo>
                <a:lnTo>
                  <a:pt x="402734" y="613362"/>
                </a:lnTo>
                <a:lnTo>
                  <a:pt x="360762" y="597460"/>
                </a:lnTo>
                <a:lnTo>
                  <a:pt x="321893" y="576040"/>
                </a:lnTo>
                <a:lnTo>
                  <a:pt x="286617" y="549590"/>
                </a:lnTo>
                <a:lnTo>
                  <a:pt x="255424" y="518597"/>
                </a:lnTo>
                <a:lnTo>
                  <a:pt x="228804" y="483548"/>
                </a:lnTo>
                <a:lnTo>
                  <a:pt x="207246" y="444928"/>
                </a:lnTo>
                <a:lnTo>
                  <a:pt x="191242" y="403226"/>
                </a:lnTo>
                <a:lnTo>
                  <a:pt x="181280" y="358928"/>
                </a:lnTo>
                <a:lnTo>
                  <a:pt x="177850" y="312521"/>
                </a:lnTo>
                <a:lnTo>
                  <a:pt x="181280" y="266518"/>
                </a:lnTo>
                <a:lnTo>
                  <a:pt x="191242" y="222551"/>
                </a:lnTo>
                <a:lnTo>
                  <a:pt x="207246" y="181114"/>
                </a:lnTo>
                <a:lnTo>
                  <a:pt x="228804" y="142701"/>
                </a:lnTo>
                <a:lnTo>
                  <a:pt x="255424" y="107807"/>
                </a:lnTo>
                <a:lnTo>
                  <a:pt x="286617" y="76925"/>
                </a:lnTo>
                <a:lnTo>
                  <a:pt x="321893" y="50549"/>
                </a:lnTo>
                <a:lnTo>
                  <a:pt x="360762" y="29175"/>
                </a:lnTo>
                <a:lnTo>
                  <a:pt x="402734" y="13296"/>
                </a:lnTo>
                <a:lnTo>
                  <a:pt x="447320" y="3406"/>
                </a:lnTo>
                <a:lnTo>
                  <a:pt x="494030" y="0"/>
                </a:lnTo>
                <a:lnTo>
                  <a:pt x="540328" y="3406"/>
                </a:lnTo>
                <a:lnTo>
                  <a:pt x="584578" y="13296"/>
                </a:lnTo>
                <a:lnTo>
                  <a:pt x="626281" y="29175"/>
                </a:lnTo>
                <a:lnTo>
                  <a:pt x="664941" y="50549"/>
                </a:lnTo>
                <a:lnTo>
                  <a:pt x="700059" y="76925"/>
                </a:lnTo>
                <a:lnTo>
                  <a:pt x="731139" y="107807"/>
                </a:lnTo>
                <a:lnTo>
                  <a:pt x="757684" y="142701"/>
                </a:lnTo>
                <a:lnTo>
                  <a:pt x="779195" y="181114"/>
                </a:lnTo>
                <a:lnTo>
                  <a:pt x="795176" y="222551"/>
                </a:lnTo>
                <a:lnTo>
                  <a:pt x="805129" y="266518"/>
                </a:lnTo>
                <a:lnTo>
                  <a:pt x="808558" y="312521"/>
                </a:lnTo>
                <a:lnTo>
                  <a:pt x="805129" y="358928"/>
                </a:lnTo>
                <a:lnTo>
                  <a:pt x="795176" y="403226"/>
                </a:lnTo>
                <a:lnTo>
                  <a:pt x="779195" y="444928"/>
                </a:lnTo>
                <a:lnTo>
                  <a:pt x="757684" y="483548"/>
                </a:lnTo>
                <a:lnTo>
                  <a:pt x="731139" y="518597"/>
                </a:lnTo>
                <a:lnTo>
                  <a:pt x="700059" y="549590"/>
                </a:lnTo>
                <a:lnTo>
                  <a:pt x="664941" y="576040"/>
                </a:lnTo>
                <a:lnTo>
                  <a:pt x="626281" y="597460"/>
                </a:lnTo>
                <a:lnTo>
                  <a:pt x="584578" y="613362"/>
                </a:lnTo>
                <a:lnTo>
                  <a:pt x="540328" y="623261"/>
                </a:lnTo>
                <a:lnTo>
                  <a:pt x="494030" y="626668"/>
                </a:lnTo>
                <a:close/>
              </a:path>
              <a:path w="1316989" h="2825750">
                <a:moveTo>
                  <a:pt x="874455" y="996454"/>
                </a:moveTo>
                <a:lnTo>
                  <a:pt x="494030" y="996454"/>
                </a:lnTo>
                <a:lnTo>
                  <a:pt x="663638" y="703580"/>
                </a:lnTo>
                <a:lnTo>
                  <a:pt x="732802" y="703580"/>
                </a:lnTo>
                <a:lnTo>
                  <a:pt x="759155" y="702838"/>
                </a:lnTo>
                <a:lnTo>
                  <a:pt x="783035" y="697647"/>
                </a:lnTo>
                <a:lnTo>
                  <a:pt x="806913" y="683557"/>
                </a:lnTo>
                <a:lnTo>
                  <a:pt x="833259" y="656120"/>
                </a:lnTo>
                <a:lnTo>
                  <a:pt x="1113205" y="237248"/>
                </a:lnTo>
                <a:lnTo>
                  <a:pt x="1145116" y="206058"/>
                </a:lnTo>
                <a:lnTo>
                  <a:pt x="1186903" y="187753"/>
                </a:lnTo>
                <a:lnTo>
                  <a:pt x="1231777" y="184788"/>
                </a:lnTo>
                <a:lnTo>
                  <a:pt x="1272946" y="199618"/>
                </a:lnTo>
                <a:lnTo>
                  <a:pt x="1279537" y="204533"/>
                </a:lnTo>
                <a:lnTo>
                  <a:pt x="1307942" y="237867"/>
                </a:lnTo>
                <a:lnTo>
                  <a:pt x="1316586" y="279792"/>
                </a:lnTo>
                <a:lnTo>
                  <a:pt x="1309177" y="324171"/>
                </a:lnTo>
                <a:lnTo>
                  <a:pt x="1289418" y="364870"/>
                </a:lnTo>
                <a:lnTo>
                  <a:pt x="1244105" y="435255"/>
                </a:lnTo>
                <a:lnTo>
                  <a:pt x="1133178" y="606423"/>
                </a:lnTo>
                <a:lnTo>
                  <a:pt x="994154" y="818393"/>
                </a:lnTo>
                <a:lnTo>
                  <a:pt x="874455" y="996454"/>
                </a:lnTo>
                <a:close/>
              </a:path>
              <a:path w="1316989" h="2825750">
                <a:moveTo>
                  <a:pt x="494855" y="757980"/>
                </a:moveTo>
                <a:lnTo>
                  <a:pt x="483945" y="754603"/>
                </a:lnTo>
                <a:lnTo>
                  <a:pt x="474268" y="744474"/>
                </a:lnTo>
                <a:lnTo>
                  <a:pt x="457796" y="719937"/>
                </a:lnTo>
                <a:lnTo>
                  <a:pt x="453041" y="706284"/>
                </a:lnTo>
                <a:lnTo>
                  <a:pt x="455539" y="695391"/>
                </a:lnTo>
                <a:lnTo>
                  <a:pt x="464519" y="688180"/>
                </a:lnTo>
                <a:lnTo>
                  <a:pt x="479209" y="685571"/>
                </a:lnTo>
                <a:lnTo>
                  <a:pt x="510501" y="685571"/>
                </a:lnTo>
                <a:lnTo>
                  <a:pt x="525191" y="688180"/>
                </a:lnTo>
                <a:lnTo>
                  <a:pt x="534169" y="695391"/>
                </a:lnTo>
                <a:lnTo>
                  <a:pt x="536664" y="706284"/>
                </a:lnTo>
                <a:lnTo>
                  <a:pt x="531901" y="719937"/>
                </a:lnTo>
                <a:lnTo>
                  <a:pt x="515442" y="744474"/>
                </a:lnTo>
                <a:lnTo>
                  <a:pt x="505765" y="754603"/>
                </a:lnTo>
                <a:lnTo>
                  <a:pt x="494855" y="757980"/>
                </a:lnTo>
                <a:close/>
              </a:path>
              <a:path w="1316989" h="2825750">
                <a:moveTo>
                  <a:pt x="149860" y="1824380"/>
                </a:moveTo>
                <a:lnTo>
                  <a:pt x="108686" y="1824380"/>
                </a:lnTo>
                <a:lnTo>
                  <a:pt x="65997" y="1815790"/>
                </a:lnTo>
                <a:lnTo>
                  <a:pt x="31492" y="1792474"/>
                </a:lnTo>
                <a:lnTo>
                  <a:pt x="8413" y="1758114"/>
                </a:lnTo>
                <a:lnTo>
                  <a:pt x="0" y="1716392"/>
                </a:lnTo>
                <a:lnTo>
                  <a:pt x="0" y="1003007"/>
                </a:lnTo>
                <a:lnTo>
                  <a:pt x="3970" y="963652"/>
                </a:lnTo>
                <a:lnTo>
                  <a:pt x="15559" y="925357"/>
                </a:lnTo>
                <a:lnTo>
                  <a:pt x="34281" y="888496"/>
                </a:lnTo>
                <a:lnTo>
                  <a:pt x="59653" y="853441"/>
                </a:lnTo>
                <a:lnTo>
                  <a:pt x="91190" y="820566"/>
                </a:lnTo>
                <a:lnTo>
                  <a:pt x="128409" y="790243"/>
                </a:lnTo>
                <a:lnTo>
                  <a:pt x="170824" y="762846"/>
                </a:lnTo>
                <a:lnTo>
                  <a:pt x="217952" y="738748"/>
                </a:lnTo>
                <a:lnTo>
                  <a:pt x="269308" y="718322"/>
                </a:lnTo>
                <a:lnTo>
                  <a:pt x="324408" y="701941"/>
                </a:lnTo>
                <a:lnTo>
                  <a:pt x="494030" y="996454"/>
                </a:lnTo>
                <a:lnTo>
                  <a:pt x="874455" y="996454"/>
                </a:lnTo>
                <a:lnTo>
                  <a:pt x="864552" y="1011186"/>
                </a:lnTo>
                <a:lnTo>
                  <a:pt x="843195" y="1044009"/>
                </a:lnTo>
                <a:lnTo>
                  <a:pt x="828957" y="1066812"/>
                </a:lnTo>
                <a:lnTo>
                  <a:pt x="169621" y="1066812"/>
                </a:lnTo>
                <a:lnTo>
                  <a:pt x="161668" y="1068244"/>
                </a:lnTo>
                <a:lnTo>
                  <a:pt x="155416" y="1072129"/>
                </a:lnTo>
                <a:lnTo>
                  <a:pt x="151326" y="1077855"/>
                </a:lnTo>
                <a:lnTo>
                  <a:pt x="149860" y="1084808"/>
                </a:lnTo>
                <a:lnTo>
                  <a:pt x="149860" y="1824380"/>
                </a:lnTo>
                <a:close/>
              </a:path>
              <a:path w="1316989" h="2825750">
                <a:moveTo>
                  <a:pt x="494030" y="957186"/>
                </a:moveTo>
                <a:lnTo>
                  <a:pt x="436397" y="859015"/>
                </a:lnTo>
                <a:lnTo>
                  <a:pt x="462737" y="747750"/>
                </a:lnTo>
                <a:lnTo>
                  <a:pt x="464388" y="749388"/>
                </a:lnTo>
                <a:lnTo>
                  <a:pt x="470178" y="757980"/>
                </a:lnTo>
                <a:lnTo>
                  <a:pt x="477356" y="764116"/>
                </a:lnTo>
                <a:lnTo>
                  <a:pt x="485460" y="767796"/>
                </a:lnTo>
                <a:lnTo>
                  <a:pt x="494030" y="769023"/>
                </a:lnTo>
                <a:lnTo>
                  <a:pt x="530358" y="769023"/>
                </a:lnTo>
                <a:lnTo>
                  <a:pt x="551662" y="859015"/>
                </a:lnTo>
                <a:lnTo>
                  <a:pt x="494030" y="957186"/>
                </a:lnTo>
                <a:close/>
              </a:path>
              <a:path w="1316989" h="2825750">
                <a:moveTo>
                  <a:pt x="530358" y="769023"/>
                </a:moveTo>
                <a:lnTo>
                  <a:pt x="494030" y="769023"/>
                </a:lnTo>
                <a:lnTo>
                  <a:pt x="503316" y="767796"/>
                </a:lnTo>
                <a:lnTo>
                  <a:pt x="511524" y="764116"/>
                </a:lnTo>
                <a:lnTo>
                  <a:pt x="518808" y="757980"/>
                </a:lnTo>
                <a:lnTo>
                  <a:pt x="525322" y="749388"/>
                </a:lnTo>
                <a:lnTo>
                  <a:pt x="525322" y="747750"/>
                </a:lnTo>
                <a:lnTo>
                  <a:pt x="530358" y="769023"/>
                </a:lnTo>
                <a:close/>
              </a:path>
              <a:path w="1316989" h="2825750">
                <a:moveTo>
                  <a:pt x="319468" y="2825750"/>
                </a:moveTo>
                <a:lnTo>
                  <a:pt x="316179" y="2825750"/>
                </a:lnTo>
                <a:lnTo>
                  <a:pt x="273645" y="2819052"/>
                </a:lnTo>
                <a:lnTo>
                  <a:pt x="236515" y="2800389"/>
                </a:lnTo>
                <a:lnTo>
                  <a:pt x="207104" y="2771909"/>
                </a:lnTo>
                <a:lnTo>
                  <a:pt x="187731" y="2735757"/>
                </a:lnTo>
                <a:lnTo>
                  <a:pt x="187731" y="1084808"/>
                </a:lnTo>
                <a:lnTo>
                  <a:pt x="186291" y="1077855"/>
                </a:lnTo>
                <a:lnTo>
                  <a:pt x="182381" y="1072129"/>
                </a:lnTo>
                <a:lnTo>
                  <a:pt x="176619" y="1068244"/>
                </a:lnTo>
                <a:lnTo>
                  <a:pt x="169621" y="1066812"/>
                </a:lnTo>
                <a:lnTo>
                  <a:pt x="828957" y="1066812"/>
                </a:lnTo>
                <a:lnTo>
                  <a:pt x="810358" y="1100454"/>
                </a:lnTo>
                <a:lnTo>
                  <a:pt x="795563" y="1158953"/>
                </a:lnTo>
                <a:lnTo>
                  <a:pt x="792707" y="1200577"/>
                </a:lnTo>
                <a:lnTo>
                  <a:pt x="792010" y="1235449"/>
                </a:lnTo>
                <a:lnTo>
                  <a:pt x="792086" y="1824380"/>
                </a:lnTo>
                <a:lnTo>
                  <a:pt x="454507" y="1824380"/>
                </a:lnTo>
                <a:lnTo>
                  <a:pt x="454507" y="2709583"/>
                </a:lnTo>
                <a:lnTo>
                  <a:pt x="443828" y="2759484"/>
                </a:lnTo>
                <a:lnTo>
                  <a:pt x="414777" y="2795889"/>
                </a:lnTo>
                <a:lnTo>
                  <a:pt x="371831" y="2818182"/>
                </a:lnTo>
                <a:lnTo>
                  <a:pt x="319468" y="2825750"/>
                </a:lnTo>
                <a:close/>
              </a:path>
              <a:path w="1316989" h="2825750">
                <a:moveTo>
                  <a:pt x="665289" y="2825750"/>
                </a:moveTo>
                <a:lnTo>
                  <a:pt x="662000" y="2825750"/>
                </a:lnTo>
                <a:lnTo>
                  <a:pt x="608685" y="2818182"/>
                </a:lnTo>
                <a:lnTo>
                  <a:pt x="565253" y="2795889"/>
                </a:lnTo>
                <a:lnTo>
                  <a:pt x="536025" y="2759484"/>
                </a:lnTo>
                <a:lnTo>
                  <a:pt x="525322" y="2709583"/>
                </a:lnTo>
                <a:lnTo>
                  <a:pt x="525322" y="1824380"/>
                </a:lnTo>
                <a:lnTo>
                  <a:pt x="792086" y="1824380"/>
                </a:lnTo>
                <a:lnTo>
                  <a:pt x="792086" y="2735757"/>
                </a:lnTo>
                <a:lnTo>
                  <a:pt x="772970" y="2771909"/>
                </a:lnTo>
                <a:lnTo>
                  <a:pt x="744127" y="2800389"/>
                </a:lnTo>
                <a:lnTo>
                  <a:pt x="707565" y="2819052"/>
                </a:lnTo>
                <a:lnTo>
                  <a:pt x="665289" y="2825750"/>
                </a:lnTo>
                <a:close/>
              </a:path>
            </a:pathLst>
          </a:custGeom>
          <a:solidFill>
            <a:srgbClr val="385622">
              <a:alpha val="76098"/>
            </a:srgbClr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54760" y="1230629"/>
            <a:ext cx="32639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83565" algn="l"/>
              </a:tabLst>
            </a:pPr>
            <a:r>
              <a:rPr dirty="0" sz="3000">
                <a:solidFill>
                  <a:srgbClr val="000000"/>
                </a:solidFill>
                <a:latin typeface="黑体"/>
                <a:cs typeface="黑体"/>
              </a:rPr>
              <a:t>—	气体的等压变化</a:t>
            </a:r>
            <a:endParaRPr sz="3000">
              <a:latin typeface="黑体"/>
              <a:cs typeface="黑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81812" y="1307591"/>
            <a:ext cx="273050" cy="273050"/>
          </a:xfrm>
          <a:custGeom>
            <a:avLst/>
            <a:gdLst/>
            <a:ahLst/>
            <a:cxnLst/>
            <a:rect l="l" t="t" r="r" b="b"/>
            <a:pathLst>
              <a:path w="273050" h="273050">
                <a:moveTo>
                  <a:pt x="0" y="0"/>
                </a:moveTo>
                <a:lnTo>
                  <a:pt x="272796" y="0"/>
                </a:lnTo>
                <a:lnTo>
                  <a:pt x="272796" y="272796"/>
                </a:lnTo>
                <a:lnTo>
                  <a:pt x="0" y="272796"/>
                </a:lnTo>
                <a:lnTo>
                  <a:pt x="0" y="0"/>
                </a:lnTo>
                <a:close/>
              </a:path>
            </a:pathLst>
          </a:custGeom>
          <a:solidFill>
            <a:srgbClr val="3856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931163" y="1475232"/>
            <a:ext cx="186055" cy="186055"/>
          </a:xfrm>
          <a:custGeom>
            <a:avLst/>
            <a:gdLst/>
            <a:ahLst/>
            <a:cxnLst/>
            <a:rect l="l" t="t" r="r" b="b"/>
            <a:pathLst>
              <a:path w="186055" h="186055">
                <a:moveTo>
                  <a:pt x="0" y="0"/>
                </a:moveTo>
                <a:lnTo>
                  <a:pt x="185928" y="0"/>
                </a:lnTo>
                <a:lnTo>
                  <a:pt x="185928" y="185928"/>
                </a:lnTo>
                <a:lnTo>
                  <a:pt x="0" y="185928"/>
                </a:lnTo>
                <a:lnTo>
                  <a:pt x="0" y="0"/>
                </a:lnTo>
                <a:close/>
              </a:path>
            </a:pathLst>
          </a:custGeom>
          <a:solidFill>
            <a:srgbClr val="53823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226310" y="2082673"/>
            <a:ext cx="6617334" cy="3363595"/>
          </a:xfrm>
          <a:prstGeom prst="rect">
            <a:avLst/>
          </a:prstGeom>
        </p:spPr>
        <p:txBody>
          <a:bodyPr wrap="square" lIns="0" tIns="145415" rIns="0" bIns="0" rtlCol="0" vert="horz">
            <a:spAutoFit/>
          </a:bodyPr>
          <a:lstStyle/>
          <a:p>
            <a:pPr marL="741680" indent="-335915">
              <a:lnSpc>
                <a:spcPct val="100000"/>
              </a:lnSpc>
              <a:spcBef>
                <a:spcPts val="1145"/>
              </a:spcBef>
              <a:buAutoNum type="arabicPeriod"/>
              <a:tabLst>
                <a:tab pos="741680" algn="l"/>
              </a:tabLst>
            </a:pPr>
            <a:r>
              <a:rPr dirty="0" sz="2800" b="1">
                <a:solidFill>
                  <a:srgbClr val="385622"/>
                </a:solidFill>
                <a:latin typeface="华文楷体"/>
                <a:cs typeface="华文楷体"/>
              </a:rPr>
              <a:t>文字表</a:t>
            </a:r>
            <a:r>
              <a:rPr dirty="0" sz="2800" spc="-10" b="1">
                <a:solidFill>
                  <a:srgbClr val="385622"/>
                </a:solidFill>
                <a:latin typeface="华文楷体"/>
                <a:cs typeface="华文楷体"/>
              </a:rPr>
              <a:t>述</a:t>
            </a:r>
            <a:endParaRPr sz="2800">
              <a:latin typeface="华文楷体"/>
              <a:cs typeface="华文楷体"/>
            </a:endParaRPr>
          </a:p>
          <a:p>
            <a:pPr marL="549275">
              <a:lnSpc>
                <a:spcPct val="100000"/>
              </a:lnSpc>
              <a:spcBef>
                <a:spcPts val="1045"/>
              </a:spcBef>
            </a:pPr>
            <a:r>
              <a:rPr dirty="0" sz="2800" b="1">
                <a:solidFill>
                  <a:srgbClr val="385622"/>
                </a:solidFill>
                <a:latin typeface="华文楷体"/>
                <a:cs typeface="华文楷体"/>
              </a:rPr>
              <a:t>一定质量的某种气体，在压强不变的</a:t>
            </a:r>
            <a:r>
              <a:rPr dirty="0" sz="2800" spc="-10" b="1">
                <a:solidFill>
                  <a:srgbClr val="385622"/>
                </a:solidFill>
                <a:latin typeface="华文楷体"/>
                <a:cs typeface="华文楷体"/>
              </a:rPr>
              <a:t>情</a:t>
            </a:r>
            <a:endParaRPr sz="2800">
              <a:latin typeface="华文楷体"/>
              <a:cs typeface="华文楷体"/>
            </a:endParaRPr>
          </a:p>
          <a:p>
            <a:pPr marL="12700">
              <a:lnSpc>
                <a:spcPct val="100000"/>
              </a:lnSpc>
              <a:spcBef>
                <a:spcPts val="1580"/>
              </a:spcBef>
            </a:pPr>
            <a:r>
              <a:rPr dirty="0" sz="2800" b="1">
                <a:solidFill>
                  <a:srgbClr val="385622"/>
                </a:solidFill>
                <a:latin typeface="华文楷体"/>
                <a:cs typeface="华文楷体"/>
              </a:rPr>
              <a:t>况下，其体</a:t>
            </a:r>
            <a:r>
              <a:rPr dirty="0" sz="2800" spc="-285" b="1">
                <a:solidFill>
                  <a:srgbClr val="385622"/>
                </a:solidFill>
                <a:latin typeface="华文楷体"/>
                <a:cs typeface="华文楷体"/>
              </a:rPr>
              <a:t>积</a:t>
            </a:r>
            <a:r>
              <a:rPr dirty="0" sz="2900" spc="-245" b="1" i="1">
                <a:solidFill>
                  <a:srgbClr val="385622"/>
                </a:solidFill>
                <a:latin typeface="华文楷体"/>
                <a:cs typeface="华文楷体"/>
              </a:rPr>
              <a:t>V</a:t>
            </a:r>
            <a:r>
              <a:rPr dirty="0" sz="2800" b="1">
                <a:solidFill>
                  <a:srgbClr val="385622"/>
                </a:solidFill>
                <a:latin typeface="华文楷体"/>
                <a:cs typeface="华文楷体"/>
              </a:rPr>
              <a:t>与</a:t>
            </a:r>
            <a:r>
              <a:rPr dirty="0" sz="2800" b="1">
                <a:solidFill>
                  <a:srgbClr val="C00000"/>
                </a:solidFill>
                <a:latin typeface="华文楷体"/>
                <a:cs typeface="华文楷体"/>
              </a:rPr>
              <a:t>热力学温</a:t>
            </a:r>
            <a:r>
              <a:rPr dirty="0" sz="2800" spc="-285" b="1">
                <a:solidFill>
                  <a:srgbClr val="C00000"/>
                </a:solidFill>
                <a:latin typeface="华文楷体"/>
                <a:cs typeface="华文楷体"/>
              </a:rPr>
              <a:t>度</a:t>
            </a:r>
            <a:r>
              <a:rPr dirty="0" sz="2900" spc="-245" b="1" i="1">
                <a:solidFill>
                  <a:srgbClr val="C00000"/>
                </a:solidFill>
                <a:latin typeface="华文楷体"/>
                <a:cs typeface="华文楷体"/>
              </a:rPr>
              <a:t>T</a:t>
            </a:r>
            <a:r>
              <a:rPr dirty="0" sz="2800" b="1">
                <a:solidFill>
                  <a:srgbClr val="385622"/>
                </a:solidFill>
                <a:latin typeface="华文楷体"/>
                <a:cs typeface="华文楷体"/>
              </a:rPr>
              <a:t>成正比</a:t>
            </a:r>
            <a:r>
              <a:rPr dirty="0" sz="2800" spc="-10" b="1">
                <a:solidFill>
                  <a:srgbClr val="385622"/>
                </a:solidFill>
                <a:latin typeface="华文楷体"/>
                <a:cs typeface="华文楷体"/>
              </a:rPr>
              <a:t>。</a:t>
            </a:r>
            <a:endParaRPr sz="2800">
              <a:latin typeface="华文楷体"/>
              <a:cs typeface="华文楷体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3050">
              <a:latin typeface="Times New Roman"/>
              <a:cs typeface="Times New Roman"/>
            </a:endParaRPr>
          </a:p>
          <a:p>
            <a:pPr marL="814705" indent="-335915">
              <a:lnSpc>
                <a:spcPct val="100000"/>
              </a:lnSpc>
              <a:buAutoNum type="arabicPeriod" startAt="2"/>
              <a:tabLst>
                <a:tab pos="814705" algn="l"/>
              </a:tabLst>
            </a:pPr>
            <a:r>
              <a:rPr dirty="0" sz="2800" b="1">
                <a:solidFill>
                  <a:srgbClr val="385622"/>
                </a:solidFill>
                <a:latin typeface="华文楷体"/>
                <a:cs typeface="华文楷体"/>
              </a:rPr>
              <a:t>公式表</a:t>
            </a:r>
            <a:r>
              <a:rPr dirty="0" sz="2800" spc="-10" b="1">
                <a:solidFill>
                  <a:srgbClr val="385622"/>
                </a:solidFill>
                <a:latin typeface="华文楷体"/>
                <a:cs typeface="华文楷体"/>
              </a:rPr>
              <a:t>述</a:t>
            </a:r>
            <a:endParaRPr sz="2800">
              <a:latin typeface="华文楷体"/>
              <a:cs typeface="华文楷体"/>
            </a:endParaRPr>
          </a:p>
          <a:p>
            <a:pPr marL="836930">
              <a:lnSpc>
                <a:spcPct val="100000"/>
              </a:lnSpc>
              <a:spcBef>
                <a:spcPts val="2145"/>
              </a:spcBef>
            </a:pPr>
            <a:r>
              <a:rPr dirty="0" sz="2800" b="1" i="1">
                <a:solidFill>
                  <a:srgbClr val="385622"/>
                </a:solidFill>
                <a:latin typeface="Times New Roman"/>
                <a:cs typeface="Times New Roman"/>
              </a:rPr>
              <a:t>V=CT</a:t>
            </a:r>
            <a:r>
              <a:rPr dirty="0" sz="2800" b="1">
                <a:solidFill>
                  <a:srgbClr val="385622"/>
                </a:solidFill>
                <a:latin typeface="华文楷体"/>
                <a:cs typeface="华文楷体"/>
              </a:rPr>
              <a:t>（</a:t>
            </a:r>
            <a:r>
              <a:rPr dirty="0" sz="2800" b="1" i="1">
                <a:solidFill>
                  <a:srgbClr val="385622"/>
                </a:solidFill>
                <a:latin typeface="Times New Roman"/>
                <a:cs typeface="Times New Roman"/>
              </a:rPr>
              <a:t>C</a:t>
            </a:r>
            <a:r>
              <a:rPr dirty="0" sz="2800" b="1">
                <a:solidFill>
                  <a:srgbClr val="385622"/>
                </a:solidFill>
                <a:latin typeface="华文楷体"/>
                <a:cs typeface="华文楷体"/>
              </a:rPr>
              <a:t>为常量</a:t>
            </a:r>
            <a:r>
              <a:rPr dirty="0" sz="2800" spc="-10" b="1">
                <a:solidFill>
                  <a:srgbClr val="385622"/>
                </a:solidFill>
                <a:latin typeface="华文楷体"/>
                <a:cs typeface="华文楷体"/>
              </a:rPr>
              <a:t>）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091428" y="4844796"/>
            <a:ext cx="1455420" cy="8290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748016" y="4869179"/>
            <a:ext cx="1371600" cy="78028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488692" y="2962655"/>
            <a:ext cx="2985516" cy="24734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657088" y="3089148"/>
            <a:ext cx="3537204" cy="23469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449705" y="2020036"/>
            <a:ext cx="178498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385622"/>
                </a:solidFill>
                <a:latin typeface="华文楷体"/>
                <a:cs typeface="华文楷体"/>
              </a:rPr>
              <a:t>3.</a:t>
            </a:r>
            <a:r>
              <a:rPr dirty="0" sz="2800" spc="-65" b="1">
                <a:solidFill>
                  <a:srgbClr val="385622"/>
                </a:solidFill>
                <a:latin typeface="华文楷体"/>
                <a:cs typeface="华文楷体"/>
              </a:rPr>
              <a:t> </a:t>
            </a:r>
            <a:r>
              <a:rPr dirty="0" sz="2800" b="1">
                <a:solidFill>
                  <a:srgbClr val="385622"/>
                </a:solidFill>
                <a:latin typeface="华文楷体"/>
                <a:cs typeface="华文楷体"/>
              </a:rPr>
              <a:t>图像表</a:t>
            </a:r>
            <a:r>
              <a:rPr dirty="0" sz="2800" spc="-10" b="1">
                <a:solidFill>
                  <a:srgbClr val="385622"/>
                </a:solidFill>
                <a:latin typeface="华文楷体"/>
                <a:cs typeface="华文楷体"/>
              </a:rPr>
              <a:t>述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69364" y="1230629"/>
            <a:ext cx="336550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>
                <a:latin typeface="黑体"/>
                <a:cs typeface="黑体"/>
              </a:rPr>
              <a:t>—</a:t>
            </a:r>
            <a:r>
              <a:rPr dirty="0" sz="3000" spc="105">
                <a:latin typeface="黑体"/>
                <a:cs typeface="黑体"/>
              </a:rPr>
              <a:t> </a:t>
            </a:r>
            <a:r>
              <a:rPr dirty="0" sz="3000" spc="100">
                <a:latin typeface="黑体"/>
                <a:cs typeface="黑体"/>
              </a:rPr>
              <a:t>气体的等压变</a:t>
            </a:r>
            <a:r>
              <a:rPr dirty="0" sz="3000">
                <a:latin typeface="黑体"/>
                <a:cs typeface="黑体"/>
              </a:rPr>
              <a:t>化</a:t>
            </a:r>
            <a:endParaRPr sz="3000">
              <a:latin typeface="黑体"/>
              <a:cs typeface="黑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81812" y="1307591"/>
            <a:ext cx="273050" cy="273050"/>
          </a:xfrm>
          <a:custGeom>
            <a:avLst/>
            <a:gdLst/>
            <a:ahLst/>
            <a:cxnLst/>
            <a:rect l="l" t="t" r="r" b="b"/>
            <a:pathLst>
              <a:path w="273050" h="273050">
                <a:moveTo>
                  <a:pt x="0" y="0"/>
                </a:moveTo>
                <a:lnTo>
                  <a:pt x="272796" y="0"/>
                </a:lnTo>
                <a:lnTo>
                  <a:pt x="272796" y="272796"/>
                </a:lnTo>
                <a:lnTo>
                  <a:pt x="0" y="272796"/>
                </a:lnTo>
                <a:lnTo>
                  <a:pt x="0" y="0"/>
                </a:lnTo>
                <a:close/>
              </a:path>
            </a:pathLst>
          </a:custGeom>
          <a:solidFill>
            <a:srgbClr val="3856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31163" y="1475232"/>
            <a:ext cx="186055" cy="186055"/>
          </a:xfrm>
          <a:custGeom>
            <a:avLst/>
            <a:gdLst/>
            <a:ahLst/>
            <a:cxnLst/>
            <a:rect l="l" t="t" r="r" b="b"/>
            <a:pathLst>
              <a:path w="186055" h="186055">
                <a:moveTo>
                  <a:pt x="0" y="0"/>
                </a:moveTo>
                <a:lnTo>
                  <a:pt x="185928" y="0"/>
                </a:lnTo>
                <a:lnTo>
                  <a:pt x="185928" y="185928"/>
                </a:lnTo>
                <a:lnTo>
                  <a:pt x="0" y="185928"/>
                </a:lnTo>
                <a:lnTo>
                  <a:pt x="0" y="0"/>
                </a:lnTo>
                <a:close/>
              </a:path>
            </a:pathLst>
          </a:custGeom>
          <a:solidFill>
            <a:srgbClr val="538235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69364" y="1230629"/>
            <a:ext cx="33655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>
                <a:solidFill>
                  <a:srgbClr val="000000"/>
                </a:solidFill>
                <a:latin typeface="黑体"/>
                <a:cs typeface="黑体"/>
              </a:rPr>
              <a:t>二</a:t>
            </a:r>
            <a:r>
              <a:rPr dirty="0" sz="3000" spc="105">
                <a:solidFill>
                  <a:srgbClr val="000000"/>
                </a:solidFill>
                <a:latin typeface="黑体"/>
                <a:cs typeface="黑体"/>
              </a:rPr>
              <a:t> </a:t>
            </a:r>
            <a:r>
              <a:rPr dirty="0" sz="3000" spc="100">
                <a:solidFill>
                  <a:srgbClr val="000000"/>
                </a:solidFill>
                <a:latin typeface="黑体"/>
                <a:cs typeface="黑体"/>
              </a:rPr>
              <a:t>气体的等容变</a:t>
            </a:r>
            <a:r>
              <a:rPr dirty="0" sz="3000">
                <a:solidFill>
                  <a:srgbClr val="000000"/>
                </a:solidFill>
                <a:latin typeface="黑体"/>
                <a:cs typeface="黑体"/>
              </a:rPr>
              <a:t>化</a:t>
            </a:r>
            <a:endParaRPr sz="3000">
              <a:latin typeface="黑体"/>
              <a:cs typeface="黑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81812" y="1307591"/>
            <a:ext cx="273050" cy="273050"/>
          </a:xfrm>
          <a:custGeom>
            <a:avLst/>
            <a:gdLst/>
            <a:ahLst/>
            <a:cxnLst/>
            <a:rect l="l" t="t" r="r" b="b"/>
            <a:pathLst>
              <a:path w="273050" h="273050">
                <a:moveTo>
                  <a:pt x="0" y="0"/>
                </a:moveTo>
                <a:lnTo>
                  <a:pt x="272796" y="0"/>
                </a:lnTo>
                <a:lnTo>
                  <a:pt x="272796" y="272796"/>
                </a:lnTo>
                <a:lnTo>
                  <a:pt x="0" y="272796"/>
                </a:lnTo>
                <a:lnTo>
                  <a:pt x="0" y="0"/>
                </a:lnTo>
                <a:close/>
              </a:path>
            </a:pathLst>
          </a:custGeom>
          <a:solidFill>
            <a:srgbClr val="3856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931163" y="1475232"/>
            <a:ext cx="186055" cy="186055"/>
          </a:xfrm>
          <a:custGeom>
            <a:avLst/>
            <a:gdLst/>
            <a:ahLst/>
            <a:cxnLst/>
            <a:rect l="l" t="t" r="r" b="b"/>
            <a:pathLst>
              <a:path w="186055" h="186055">
                <a:moveTo>
                  <a:pt x="0" y="0"/>
                </a:moveTo>
                <a:lnTo>
                  <a:pt x="185928" y="0"/>
                </a:lnTo>
                <a:lnTo>
                  <a:pt x="185928" y="185928"/>
                </a:lnTo>
                <a:lnTo>
                  <a:pt x="0" y="185928"/>
                </a:lnTo>
                <a:lnTo>
                  <a:pt x="0" y="0"/>
                </a:lnTo>
                <a:close/>
              </a:path>
            </a:pathLst>
          </a:custGeom>
          <a:solidFill>
            <a:srgbClr val="53823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5167629" y="4559300"/>
            <a:ext cx="185610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b="1">
                <a:solidFill>
                  <a:srgbClr val="385622"/>
                </a:solidFill>
                <a:latin typeface="华文楷体"/>
                <a:cs typeface="华文楷体"/>
              </a:rPr>
              <a:t>实验探</a:t>
            </a:r>
            <a:r>
              <a:rPr dirty="0" sz="3600" spc="-5" b="1">
                <a:solidFill>
                  <a:srgbClr val="385622"/>
                </a:solidFill>
                <a:latin typeface="华文楷体"/>
                <a:cs typeface="华文楷体"/>
              </a:rPr>
              <a:t>究</a:t>
            </a:r>
            <a:endParaRPr sz="3600">
              <a:latin typeface="华文楷体"/>
              <a:cs typeface="华文楷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938395" y="2614295"/>
            <a:ext cx="231394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b="1">
                <a:solidFill>
                  <a:srgbClr val="385622"/>
                </a:solidFill>
                <a:latin typeface="华文楷体"/>
                <a:cs typeface="华文楷体"/>
              </a:rPr>
              <a:t>控制变量</a:t>
            </a:r>
            <a:r>
              <a:rPr dirty="0" sz="3600" spc="-5" b="1">
                <a:solidFill>
                  <a:srgbClr val="385622"/>
                </a:solidFill>
                <a:latin typeface="华文楷体"/>
                <a:cs typeface="华文楷体"/>
              </a:rPr>
              <a:t>法</a:t>
            </a:r>
            <a:endParaRPr sz="3600">
              <a:latin typeface="华文楷体"/>
              <a:cs typeface="华文楷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871971" y="3470147"/>
            <a:ext cx="448309" cy="922019"/>
          </a:xfrm>
          <a:custGeom>
            <a:avLst/>
            <a:gdLst/>
            <a:ahLst/>
            <a:cxnLst/>
            <a:rect l="l" t="t" r="r" b="b"/>
            <a:pathLst>
              <a:path w="448310" h="922020">
                <a:moveTo>
                  <a:pt x="336803" y="696467"/>
                </a:moveTo>
                <a:lnTo>
                  <a:pt x="111251" y="696467"/>
                </a:lnTo>
                <a:lnTo>
                  <a:pt x="111251" y="0"/>
                </a:lnTo>
                <a:lnTo>
                  <a:pt x="336803" y="0"/>
                </a:lnTo>
                <a:lnTo>
                  <a:pt x="336803" y="696467"/>
                </a:lnTo>
                <a:close/>
              </a:path>
              <a:path w="448310" h="922020">
                <a:moveTo>
                  <a:pt x="224027" y="922019"/>
                </a:moveTo>
                <a:lnTo>
                  <a:pt x="0" y="696467"/>
                </a:lnTo>
                <a:lnTo>
                  <a:pt x="448055" y="696467"/>
                </a:lnTo>
                <a:lnTo>
                  <a:pt x="224027" y="922019"/>
                </a:lnTo>
                <a:close/>
              </a:path>
            </a:pathLst>
          </a:custGeom>
          <a:solidFill>
            <a:srgbClr val="C5DF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856198" y="3463925"/>
            <a:ext cx="480059" cy="937260"/>
          </a:xfrm>
          <a:custGeom>
            <a:avLst/>
            <a:gdLst/>
            <a:ahLst/>
            <a:cxnLst/>
            <a:rect l="l" t="t" r="r" b="b"/>
            <a:pathLst>
              <a:path w="480060" h="937260">
                <a:moveTo>
                  <a:pt x="121221" y="703262"/>
                </a:moveTo>
                <a:lnTo>
                  <a:pt x="121221" y="0"/>
                </a:lnTo>
                <a:lnTo>
                  <a:pt x="358394" y="0"/>
                </a:lnTo>
                <a:lnTo>
                  <a:pt x="358394" y="6350"/>
                </a:lnTo>
                <a:lnTo>
                  <a:pt x="133921" y="6350"/>
                </a:lnTo>
                <a:lnTo>
                  <a:pt x="127571" y="12700"/>
                </a:lnTo>
                <a:lnTo>
                  <a:pt x="133921" y="12700"/>
                </a:lnTo>
                <a:lnTo>
                  <a:pt x="133921" y="696912"/>
                </a:lnTo>
                <a:lnTo>
                  <a:pt x="127571" y="696912"/>
                </a:lnTo>
                <a:lnTo>
                  <a:pt x="121221" y="703262"/>
                </a:lnTo>
                <a:close/>
              </a:path>
              <a:path w="480060" h="937260">
                <a:moveTo>
                  <a:pt x="133921" y="12700"/>
                </a:moveTo>
                <a:lnTo>
                  <a:pt x="127571" y="12700"/>
                </a:lnTo>
                <a:lnTo>
                  <a:pt x="133921" y="6350"/>
                </a:lnTo>
                <a:lnTo>
                  <a:pt x="133921" y="12700"/>
                </a:lnTo>
                <a:close/>
              </a:path>
              <a:path w="480060" h="937260">
                <a:moveTo>
                  <a:pt x="345694" y="12700"/>
                </a:moveTo>
                <a:lnTo>
                  <a:pt x="133921" y="12700"/>
                </a:lnTo>
                <a:lnTo>
                  <a:pt x="133921" y="6350"/>
                </a:lnTo>
                <a:lnTo>
                  <a:pt x="345694" y="6350"/>
                </a:lnTo>
                <a:lnTo>
                  <a:pt x="345694" y="12700"/>
                </a:lnTo>
                <a:close/>
              </a:path>
              <a:path w="480060" h="937260">
                <a:moveTo>
                  <a:pt x="448932" y="709612"/>
                </a:moveTo>
                <a:lnTo>
                  <a:pt x="345694" y="709612"/>
                </a:lnTo>
                <a:lnTo>
                  <a:pt x="345694" y="6350"/>
                </a:lnTo>
                <a:lnTo>
                  <a:pt x="352044" y="12700"/>
                </a:lnTo>
                <a:lnTo>
                  <a:pt x="358394" y="12700"/>
                </a:lnTo>
                <a:lnTo>
                  <a:pt x="358394" y="696912"/>
                </a:lnTo>
                <a:lnTo>
                  <a:pt x="352044" y="696912"/>
                </a:lnTo>
                <a:lnTo>
                  <a:pt x="358394" y="703262"/>
                </a:lnTo>
                <a:lnTo>
                  <a:pt x="455282" y="703262"/>
                </a:lnTo>
                <a:lnTo>
                  <a:pt x="448932" y="709612"/>
                </a:lnTo>
                <a:close/>
              </a:path>
              <a:path w="480060" h="937260">
                <a:moveTo>
                  <a:pt x="358394" y="12700"/>
                </a:moveTo>
                <a:lnTo>
                  <a:pt x="352044" y="12700"/>
                </a:lnTo>
                <a:lnTo>
                  <a:pt x="345694" y="6350"/>
                </a:lnTo>
                <a:lnTo>
                  <a:pt x="358394" y="6350"/>
                </a:lnTo>
                <a:lnTo>
                  <a:pt x="358394" y="12700"/>
                </a:lnTo>
                <a:close/>
              </a:path>
              <a:path w="480060" h="937260">
                <a:moveTo>
                  <a:pt x="239801" y="936713"/>
                </a:moveTo>
                <a:lnTo>
                  <a:pt x="0" y="696912"/>
                </a:lnTo>
                <a:lnTo>
                  <a:pt x="121221" y="696912"/>
                </a:lnTo>
                <a:lnTo>
                  <a:pt x="121221" y="698766"/>
                </a:lnTo>
                <a:lnTo>
                  <a:pt x="19824" y="698766"/>
                </a:lnTo>
                <a:lnTo>
                  <a:pt x="15328" y="709612"/>
                </a:lnTo>
                <a:lnTo>
                  <a:pt x="30670" y="709612"/>
                </a:lnTo>
                <a:lnTo>
                  <a:pt x="239801" y="918743"/>
                </a:lnTo>
                <a:lnTo>
                  <a:pt x="235305" y="923239"/>
                </a:lnTo>
                <a:lnTo>
                  <a:pt x="253276" y="923239"/>
                </a:lnTo>
                <a:lnTo>
                  <a:pt x="239801" y="936713"/>
                </a:lnTo>
                <a:close/>
              </a:path>
              <a:path w="480060" h="937260">
                <a:moveTo>
                  <a:pt x="133921" y="703262"/>
                </a:moveTo>
                <a:lnTo>
                  <a:pt x="121221" y="703262"/>
                </a:lnTo>
                <a:lnTo>
                  <a:pt x="127571" y="696912"/>
                </a:lnTo>
                <a:lnTo>
                  <a:pt x="133921" y="696912"/>
                </a:lnTo>
                <a:lnTo>
                  <a:pt x="133921" y="703262"/>
                </a:lnTo>
                <a:close/>
              </a:path>
              <a:path w="480060" h="937260">
                <a:moveTo>
                  <a:pt x="358394" y="703262"/>
                </a:moveTo>
                <a:lnTo>
                  <a:pt x="352044" y="696912"/>
                </a:lnTo>
                <a:lnTo>
                  <a:pt x="358394" y="696912"/>
                </a:lnTo>
                <a:lnTo>
                  <a:pt x="358394" y="703262"/>
                </a:lnTo>
                <a:close/>
              </a:path>
              <a:path w="480060" h="937260">
                <a:moveTo>
                  <a:pt x="455282" y="703262"/>
                </a:moveTo>
                <a:lnTo>
                  <a:pt x="358394" y="703262"/>
                </a:lnTo>
                <a:lnTo>
                  <a:pt x="358394" y="696912"/>
                </a:lnTo>
                <a:lnTo>
                  <a:pt x="479602" y="696912"/>
                </a:lnTo>
                <a:lnTo>
                  <a:pt x="477748" y="698766"/>
                </a:lnTo>
                <a:lnTo>
                  <a:pt x="459778" y="698766"/>
                </a:lnTo>
                <a:lnTo>
                  <a:pt x="455282" y="703262"/>
                </a:lnTo>
                <a:close/>
              </a:path>
              <a:path w="480060" h="937260">
                <a:moveTo>
                  <a:pt x="30670" y="709612"/>
                </a:moveTo>
                <a:lnTo>
                  <a:pt x="15328" y="709612"/>
                </a:lnTo>
                <a:lnTo>
                  <a:pt x="19824" y="698766"/>
                </a:lnTo>
                <a:lnTo>
                  <a:pt x="30670" y="709612"/>
                </a:lnTo>
                <a:close/>
              </a:path>
              <a:path w="480060" h="937260">
                <a:moveTo>
                  <a:pt x="133921" y="709612"/>
                </a:moveTo>
                <a:lnTo>
                  <a:pt x="30670" y="709612"/>
                </a:lnTo>
                <a:lnTo>
                  <a:pt x="19824" y="698766"/>
                </a:lnTo>
                <a:lnTo>
                  <a:pt x="121221" y="698766"/>
                </a:lnTo>
                <a:lnTo>
                  <a:pt x="121221" y="703262"/>
                </a:lnTo>
                <a:lnTo>
                  <a:pt x="133921" y="703262"/>
                </a:lnTo>
                <a:lnTo>
                  <a:pt x="133921" y="709612"/>
                </a:lnTo>
                <a:close/>
              </a:path>
              <a:path w="480060" h="937260">
                <a:moveTo>
                  <a:pt x="253276" y="923239"/>
                </a:moveTo>
                <a:lnTo>
                  <a:pt x="244297" y="923239"/>
                </a:lnTo>
                <a:lnTo>
                  <a:pt x="239801" y="918743"/>
                </a:lnTo>
                <a:lnTo>
                  <a:pt x="459778" y="698766"/>
                </a:lnTo>
                <a:lnTo>
                  <a:pt x="464273" y="709612"/>
                </a:lnTo>
                <a:lnTo>
                  <a:pt x="466902" y="709612"/>
                </a:lnTo>
                <a:lnTo>
                  <a:pt x="253276" y="923239"/>
                </a:lnTo>
                <a:close/>
              </a:path>
              <a:path w="480060" h="937260">
                <a:moveTo>
                  <a:pt x="466902" y="709612"/>
                </a:moveTo>
                <a:lnTo>
                  <a:pt x="464273" y="709612"/>
                </a:lnTo>
                <a:lnTo>
                  <a:pt x="459778" y="698766"/>
                </a:lnTo>
                <a:lnTo>
                  <a:pt x="477748" y="698766"/>
                </a:lnTo>
                <a:lnTo>
                  <a:pt x="466902" y="709612"/>
                </a:lnTo>
                <a:close/>
              </a:path>
              <a:path w="480060" h="937260">
                <a:moveTo>
                  <a:pt x="244297" y="923239"/>
                </a:moveTo>
                <a:lnTo>
                  <a:pt x="235305" y="923239"/>
                </a:lnTo>
                <a:lnTo>
                  <a:pt x="239801" y="918743"/>
                </a:lnTo>
                <a:lnTo>
                  <a:pt x="244297" y="923239"/>
                </a:lnTo>
                <a:close/>
              </a:path>
            </a:pathLst>
          </a:custGeom>
          <a:solidFill>
            <a:srgbClr val="538235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69364" y="1230629"/>
            <a:ext cx="33655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>
                <a:solidFill>
                  <a:srgbClr val="000000"/>
                </a:solidFill>
                <a:latin typeface="黑体"/>
                <a:cs typeface="黑体"/>
              </a:rPr>
              <a:t>二</a:t>
            </a:r>
            <a:r>
              <a:rPr dirty="0" sz="3000" spc="105">
                <a:solidFill>
                  <a:srgbClr val="000000"/>
                </a:solidFill>
                <a:latin typeface="黑体"/>
                <a:cs typeface="黑体"/>
              </a:rPr>
              <a:t> </a:t>
            </a:r>
            <a:r>
              <a:rPr dirty="0" sz="3000" spc="100">
                <a:solidFill>
                  <a:srgbClr val="000000"/>
                </a:solidFill>
                <a:latin typeface="黑体"/>
                <a:cs typeface="黑体"/>
              </a:rPr>
              <a:t>气体的等容变</a:t>
            </a:r>
            <a:r>
              <a:rPr dirty="0" sz="3000">
                <a:solidFill>
                  <a:srgbClr val="000000"/>
                </a:solidFill>
                <a:latin typeface="黑体"/>
                <a:cs typeface="黑体"/>
              </a:rPr>
              <a:t>化</a:t>
            </a:r>
            <a:endParaRPr sz="3000">
              <a:latin typeface="黑体"/>
              <a:cs typeface="黑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81812" y="1307591"/>
            <a:ext cx="273050" cy="273050"/>
          </a:xfrm>
          <a:custGeom>
            <a:avLst/>
            <a:gdLst/>
            <a:ahLst/>
            <a:cxnLst/>
            <a:rect l="l" t="t" r="r" b="b"/>
            <a:pathLst>
              <a:path w="273050" h="273050">
                <a:moveTo>
                  <a:pt x="0" y="0"/>
                </a:moveTo>
                <a:lnTo>
                  <a:pt x="272796" y="0"/>
                </a:lnTo>
                <a:lnTo>
                  <a:pt x="272796" y="272796"/>
                </a:lnTo>
                <a:lnTo>
                  <a:pt x="0" y="272796"/>
                </a:lnTo>
                <a:lnTo>
                  <a:pt x="0" y="0"/>
                </a:lnTo>
                <a:close/>
              </a:path>
            </a:pathLst>
          </a:custGeom>
          <a:solidFill>
            <a:srgbClr val="3856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931163" y="1475232"/>
            <a:ext cx="186055" cy="186055"/>
          </a:xfrm>
          <a:custGeom>
            <a:avLst/>
            <a:gdLst/>
            <a:ahLst/>
            <a:cxnLst/>
            <a:rect l="l" t="t" r="r" b="b"/>
            <a:pathLst>
              <a:path w="186055" h="186055">
                <a:moveTo>
                  <a:pt x="0" y="0"/>
                </a:moveTo>
                <a:lnTo>
                  <a:pt x="185928" y="0"/>
                </a:lnTo>
                <a:lnTo>
                  <a:pt x="185928" y="185928"/>
                </a:lnTo>
                <a:lnTo>
                  <a:pt x="0" y="185928"/>
                </a:lnTo>
                <a:lnTo>
                  <a:pt x="0" y="0"/>
                </a:lnTo>
                <a:close/>
              </a:path>
            </a:pathLst>
          </a:custGeom>
          <a:solidFill>
            <a:srgbClr val="53823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4123690" y="2557144"/>
            <a:ext cx="3942715" cy="25406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solidFill>
                  <a:srgbClr val="385622"/>
                </a:solidFill>
                <a:latin typeface="华文楷体"/>
                <a:cs typeface="华文楷体"/>
              </a:rPr>
              <a:t>研究对象：一定质量气</a:t>
            </a:r>
            <a:r>
              <a:rPr dirty="0" sz="2800" spc="-10" b="1">
                <a:solidFill>
                  <a:srgbClr val="385622"/>
                </a:solidFill>
                <a:latin typeface="华文楷体"/>
                <a:cs typeface="华文楷体"/>
              </a:rPr>
              <a:t>体</a:t>
            </a:r>
            <a:endParaRPr sz="2800">
              <a:latin typeface="华文楷体"/>
              <a:cs typeface="华文楷体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4250">
              <a:latin typeface="Times New Roman"/>
              <a:cs typeface="Times New Roman"/>
            </a:endParaRPr>
          </a:p>
          <a:p>
            <a:pPr algn="ctr" marL="635">
              <a:lnSpc>
                <a:spcPct val="100000"/>
              </a:lnSpc>
            </a:pPr>
            <a:r>
              <a:rPr dirty="0" sz="2800" b="1" i="1">
                <a:solidFill>
                  <a:srgbClr val="385622"/>
                </a:solidFill>
                <a:latin typeface="Times New Roman"/>
                <a:cs typeface="Times New Roman"/>
              </a:rPr>
              <a:t>m</a:t>
            </a:r>
            <a:r>
              <a:rPr dirty="0" sz="2800" b="1">
                <a:solidFill>
                  <a:srgbClr val="385622"/>
                </a:solidFill>
                <a:latin typeface="华文楷体"/>
                <a:cs typeface="华文楷体"/>
              </a:rPr>
              <a:t>不变，</a:t>
            </a:r>
            <a:r>
              <a:rPr dirty="0" sz="2800" b="1" i="1">
                <a:solidFill>
                  <a:srgbClr val="385622"/>
                </a:solidFill>
                <a:latin typeface="Times New Roman"/>
                <a:cs typeface="Times New Roman"/>
              </a:rPr>
              <a:t>V</a:t>
            </a:r>
            <a:r>
              <a:rPr dirty="0" sz="2800" b="1">
                <a:solidFill>
                  <a:srgbClr val="385622"/>
                </a:solidFill>
                <a:latin typeface="华文楷体"/>
                <a:cs typeface="华文楷体"/>
              </a:rPr>
              <a:t>不</a:t>
            </a:r>
            <a:r>
              <a:rPr dirty="0" sz="2800" spc="-10" b="1">
                <a:solidFill>
                  <a:srgbClr val="385622"/>
                </a:solidFill>
                <a:latin typeface="华文楷体"/>
                <a:cs typeface="华文楷体"/>
              </a:rPr>
              <a:t>变</a:t>
            </a:r>
            <a:endParaRPr sz="2800">
              <a:latin typeface="华文楷体"/>
              <a:cs typeface="华文楷体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41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dirty="0" sz="2800" b="1">
                <a:solidFill>
                  <a:srgbClr val="385622"/>
                </a:solidFill>
                <a:latin typeface="华文楷体"/>
                <a:cs typeface="华文楷体"/>
              </a:rPr>
              <a:t>探究压强与温度的关</a:t>
            </a:r>
            <a:r>
              <a:rPr dirty="0" sz="2800" spc="-10" b="1">
                <a:solidFill>
                  <a:srgbClr val="385622"/>
                </a:solidFill>
                <a:latin typeface="华文楷体"/>
                <a:cs typeface="华文楷体"/>
              </a:rPr>
              <a:t>系</a:t>
            </a:r>
            <a:endParaRPr sz="28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01035" y="1196975"/>
            <a:ext cx="16637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300">
                <a:solidFill>
                  <a:srgbClr val="000000"/>
                </a:solidFill>
                <a:latin typeface="黑体"/>
                <a:cs typeface="黑体"/>
              </a:rPr>
              <a:t>定性实</a:t>
            </a:r>
            <a:r>
              <a:rPr dirty="0" sz="3000">
                <a:solidFill>
                  <a:srgbClr val="000000"/>
                </a:solidFill>
                <a:latin typeface="黑体"/>
                <a:cs typeface="黑体"/>
              </a:rPr>
              <a:t>验</a:t>
            </a:r>
            <a:endParaRPr sz="3000">
              <a:latin typeface="黑体"/>
              <a:cs typeface="黑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679700" y="1196975"/>
            <a:ext cx="431800" cy="487045"/>
          </a:xfrm>
          <a:custGeom>
            <a:avLst/>
            <a:gdLst/>
            <a:ahLst/>
            <a:cxnLst/>
            <a:rect l="l" t="t" r="r" b="b"/>
            <a:pathLst>
              <a:path w="431800" h="487044">
                <a:moveTo>
                  <a:pt x="223202" y="62039"/>
                </a:moveTo>
                <a:lnTo>
                  <a:pt x="208597" y="62039"/>
                </a:lnTo>
                <a:lnTo>
                  <a:pt x="202945" y="56095"/>
                </a:lnTo>
                <a:lnTo>
                  <a:pt x="202945" y="5943"/>
                </a:lnTo>
                <a:lnTo>
                  <a:pt x="208597" y="0"/>
                </a:lnTo>
                <a:lnTo>
                  <a:pt x="223202" y="0"/>
                </a:lnTo>
                <a:lnTo>
                  <a:pt x="229184" y="5943"/>
                </a:lnTo>
                <a:lnTo>
                  <a:pt x="229184" y="56095"/>
                </a:lnTo>
                <a:lnTo>
                  <a:pt x="223202" y="62039"/>
                </a:lnTo>
                <a:close/>
              </a:path>
              <a:path w="431800" h="487044">
                <a:moveTo>
                  <a:pt x="102641" y="111861"/>
                </a:moveTo>
                <a:lnTo>
                  <a:pt x="94005" y="111861"/>
                </a:lnTo>
                <a:lnTo>
                  <a:pt x="89014" y="106578"/>
                </a:lnTo>
                <a:lnTo>
                  <a:pt x="63436" y="81178"/>
                </a:lnTo>
                <a:lnTo>
                  <a:pt x="58127" y="76225"/>
                </a:lnTo>
                <a:lnTo>
                  <a:pt x="58127" y="67640"/>
                </a:lnTo>
                <a:lnTo>
                  <a:pt x="63436" y="62699"/>
                </a:lnTo>
                <a:lnTo>
                  <a:pt x="68427" y="57416"/>
                </a:lnTo>
                <a:lnTo>
                  <a:pt x="77063" y="57416"/>
                </a:lnTo>
                <a:lnTo>
                  <a:pt x="82042" y="62699"/>
                </a:lnTo>
                <a:lnTo>
                  <a:pt x="112598" y="93052"/>
                </a:lnTo>
                <a:lnTo>
                  <a:pt x="112928" y="101638"/>
                </a:lnTo>
                <a:lnTo>
                  <a:pt x="107619" y="106578"/>
                </a:lnTo>
                <a:lnTo>
                  <a:pt x="102641" y="111861"/>
                </a:lnTo>
                <a:close/>
              </a:path>
              <a:path w="431800" h="487044">
                <a:moveTo>
                  <a:pt x="338137" y="111861"/>
                </a:moveTo>
                <a:lnTo>
                  <a:pt x="329501" y="111861"/>
                </a:lnTo>
                <a:lnTo>
                  <a:pt x="324510" y="106578"/>
                </a:lnTo>
                <a:lnTo>
                  <a:pt x="319201" y="101638"/>
                </a:lnTo>
                <a:lnTo>
                  <a:pt x="319201" y="93052"/>
                </a:lnTo>
                <a:lnTo>
                  <a:pt x="324510" y="88099"/>
                </a:lnTo>
                <a:lnTo>
                  <a:pt x="350088" y="62699"/>
                </a:lnTo>
                <a:lnTo>
                  <a:pt x="355066" y="57416"/>
                </a:lnTo>
                <a:lnTo>
                  <a:pt x="363372" y="57416"/>
                </a:lnTo>
                <a:lnTo>
                  <a:pt x="373672" y="67640"/>
                </a:lnTo>
                <a:lnTo>
                  <a:pt x="373672" y="76225"/>
                </a:lnTo>
                <a:lnTo>
                  <a:pt x="343115" y="106578"/>
                </a:lnTo>
                <a:lnTo>
                  <a:pt x="338137" y="111861"/>
                </a:lnTo>
                <a:close/>
              </a:path>
              <a:path w="431800" h="487044">
                <a:moveTo>
                  <a:pt x="251777" y="397294"/>
                </a:moveTo>
                <a:lnTo>
                  <a:pt x="180365" y="397294"/>
                </a:lnTo>
                <a:lnTo>
                  <a:pt x="168250" y="394912"/>
                </a:lnTo>
                <a:lnTo>
                  <a:pt x="158438" y="388385"/>
                </a:lnTo>
                <a:lnTo>
                  <a:pt x="151865" y="378638"/>
                </a:lnTo>
                <a:lnTo>
                  <a:pt x="149466" y="366598"/>
                </a:lnTo>
                <a:lnTo>
                  <a:pt x="149352" y="360344"/>
                </a:lnTo>
                <a:lnTo>
                  <a:pt x="149016" y="353526"/>
                </a:lnTo>
                <a:lnTo>
                  <a:pt x="134188" y="317436"/>
                </a:lnTo>
                <a:lnTo>
                  <a:pt x="128879" y="311823"/>
                </a:lnTo>
                <a:lnTo>
                  <a:pt x="104631" y="280554"/>
                </a:lnTo>
                <a:lnTo>
                  <a:pt x="90887" y="242698"/>
                </a:lnTo>
                <a:lnTo>
                  <a:pt x="88353" y="214490"/>
                </a:lnTo>
                <a:lnTo>
                  <a:pt x="90112" y="193429"/>
                </a:lnTo>
                <a:lnTo>
                  <a:pt x="103345" y="154902"/>
                </a:lnTo>
                <a:lnTo>
                  <a:pt x="150170" y="105778"/>
                </a:lnTo>
                <a:lnTo>
                  <a:pt x="193301" y="89700"/>
                </a:lnTo>
                <a:lnTo>
                  <a:pt x="238837" y="89700"/>
                </a:lnTo>
                <a:lnTo>
                  <a:pt x="281965" y="105778"/>
                </a:lnTo>
                <a:lnTo>
                  <a:pt x="285439" y="108889"/>
                </a:lnTo>
                <a:lnTo>
                  <a:pt x="212242" y="108889"/>
                </a:lnTo>
                <a:lnTo>
                  <a:pt x="209257" y="109219"/>
                </a:lnTo>
                <a:lnTo>
                  <a:pt x="205930" y="109550"/>
                </a:lnTo>
                <a:lnTo>
                  <a:pt x="204939" y="109550"/>
                </a:lnTo>
                <a:lnTo>
                  <a:pt x="199288" y="110210"/>
                </a:lnTo>
                <a:lnTo>
                  <a:pt x="155654" y="128116"/>
                </a:lnTo>
                <a:lnTo>
                  <a:pt x="122607" y="165066"/>
                </a:lnTo>
                <a:lnTo>
                  <a:pt x="110274" y="214490"/>
                </a:lnTo>
                <a:lnTo>
                  <a:pt x="111166" y="231055"/>
                </a:lnTo>
                <a:lnTo>
                  <a:pt x="122567" y="268274"/>
                </a:lnTo>
                <a:lnTo>
                  <a:pt x="147142" y="299618"/>
                </a:lnTo>
                <a:lnTo>
                  <a:pt x="152793" y="305892"/>
                </a:lnTo>
                <a:lnTo>
                  <a:pt x="169662" y="342181"/>
                </a:lnTo>
                <a:lnTo>
                  <a:pt x="171056" y="369239"/>
                </a:lnTo>
                <a:lnTo>
                  <a:pt x="172059" y="371551"/>
                </a:lnTo>
                <a:lnTo>
                  <a:pt x="175374" y="374853"/>
                </a:lnTo>
                <a:lnTo>
                  <a:pt x="177698" y="375843"/>
                </a:lnTo>
                <a:lnTo>
                  <a:pt x="280823" y="375843"/>
                </a:lnTo>
                <a:lnTo>
                  <a:pt x="280266" y="378638"/>
                </a:lnTo>
                <a:lnTo>
                  <a:pt x="273697" y="388385"/>
                </a:lnTo>
                <a:lnTo>
                  <a:pt x="263890" y="394912"/>
                </a:lnTo>
                <a:lnTo>
                  <a:pt x="251777" y="397294"/>
                </a:lnTo>
                <a:close/>
              </a:path>
              <a:path w="431800" h="487044">
                <a:moveTo>
                  <a:pt x="280823" y="375843"/>
                </a:moveTo>
                <a:lnTo>
                  <a:pt x="257086" y="375843"/>
                </a:lnTo>
                <a:lnTo>
                  <a:pt x="261073" y="371881"/>
                </a:lnTo>
                <a:lnTo>
                  <a:pt x="261173" y="360344"/>
                </a:lnTo>
                <a:lnTo>
                  <a:pt x="269049" y="317766"/>
                </a:lnTo>
                <a:lnTo>
                  <a:pt x="287312" y="297306"/>
                </a:lnTo>
                <a:lnTo>
                  <a:pt x="294787" y="289131"/>
                </a:lnTo>
                <a:lnTo>
                  <a:pt x="317376" y="249055"/>
                </a:lnTo>
                <a:lnTo>
                  <a:pt x="321856" y="214490"/>
                </a:lnTo>
                <a:lnTo>
                  <a:pt x="320402" y="197025"/>
                </a:lnTo>
                <a:lnTo>
                  <a:pt x="300596" y="151130"/>
                </a:lnTo>
                <a:lnTo>
                  <a:pt x="261970" y="119670"/>
                </a:lnTo>
                <a:lnTo>
                  <a:pt x="227190" y="109550"/>
                </a:lnTo>
                <a:lnTo>
                  <a:pt x="226199" y="109550"/>
                </a:lnTo>
                <a:lnTo>
                  <a:pt x="219557" y="108889"/>
                </a:lnTo>
                <a:lnTo>
                  <a:pt x="285439" y="108889"/>
                </a:lnTo>
                <a:lnTo>
                  <a:pt x="317868" y="137934"/>
                </a:lnTo>
                <a:lnTo>
                  <a:pt x="328594" y="154902"/>
                </a:lnTo>
                <a:lnTo>
                  <a:pt x="336638" y="173483"/>
                </a:lnTo>
                <a:lnTo>
                  <a:pt x="341692" y="193429"/>
                </a:lnTo>
                <a:lnTo>
                  <a:pt x="343446" y="214490"/>
                </a:lnTo>
                <a:lnTo>
                  <a:pt x="342371" y="233625"/>
                </a:lnTo>
                <a:lnTo>
                  <a:pt x="328498" y="278168"/>
                </a:lnTo>
                <a:lnTo>
                  <a:pt x="300596" y="314464"/>
                </a:lnTo>
                <a:lnTo>
                  <a:pt x="294614" y="320408"/>
                </a:lnTo>
                <a:lnTo>
                  <a:pt x="289966" y="325361"/>
                </a:lnTo>
                <a:lnTo>
                  <a:pt x="282663" y="366598"/>
                </a:lnTo>
                <a:lnTo>
                  <a:pt x="280823" y="375843"/>
                </a:lnTo>
                <a:close/>
              </a:path>
              <a:path w="431800" h="487044">
                <a:moveTo>
                  <a:pt x="56794" y="227355"/>
                </a:moveTo>
                <a:lnTo>
                  <a:pt x="5981" y="227355"/>
                </a:lnTo>
                <a:lnTo>
                  <a:pt x="0" y="221411"/>
                </a:lnTo>
                <a:lnTo>
                  <a:pt x="0" y="207225"/>
                </a:lnTo>
                <a:lnTo>
                  <a:pt x="5981" y="201282"/>
                </a:lnTo>
                <a:lnTo>
                  <a:pt x="56794" y="201282"/>
                </a:lnTo>
                <a:lnTo>
                  <a:pt x="62776" y="207225"/>
                </a:lnTo>
                <a:lnTo>
                  <a:pt x="62776" y="221411"/>
                </a:lnTo>
                <a:lnTo>
                  <a:pt x="56794" y="227355"/>
                </a:lnTo>
                <a:close/>
              </a:path>
              <a:path w="431800" h="487044">
                <a:moveTo>
                  <a:pt x="425818" y="227355"/>
                </a:moveTo>
                <a:lnTo>
                  <a:pt x="375335" y="227355"/>
                </a:lnTo>
                <a:lnTo>
                  <a:pt x="369354" y="221411"/>
                </a:lnTo>
                <a:lnTo>
                  <a:pt x="369354" y="207225"/>
                </a:lnTo>
                <a:lnTo>
                  <a:pt x="375335" y="201282"/>
                </a:lnTo>
                <a:lnTo>
                  <a:pt x="425818" y="201282"/>
                </a:lnTo>
                <a:lnTo>
                  <a:pt x="431800" y="207225"/>
                </a:lnTo>
                <a:lnTo>
                  <a:pt x="431800" y="221411"/>
                </a:lnTo>
                <a:lnTo>
                  <a:pt x="425818" y="227355"/>
                </a:lnTo>
                <a:close/>
              </a:path>
              <a:path w="431800" h="487044">
                <a:moveTo>
                  <a:pt x="77063" y="371221"/>
                </a:moveTo>
                <a:lnTo>
                  <a:pt x="68427" y="371221"/>
                </a:lnTo>
                <a:lnTo>
                  <a:pt x="63436" y="365937"/>
                </a:lnTo>
                <a:lnTo>
                  <a:pt x="58138" y="361007"/>
                </a:lnTo>
                <a:lnTo>
                  <a:pt x="58127" y="352412"/>
                </a:lnTo>
                <a:lnTo>
                  <a:pt x="63436" y="347459"/>
                </a:lnTo>
                <a:lnTo>
                  <a:pt x="89014" y="322059"/>
                </a:lnTo>
                <a:lnTo>
                  <a:pt x="94005" y="316776"/>
                </a:lnTo>
                <a:lnTo>
                  <a:pt x="102641" y="316776"/>
                </a:lnTo>
                <a:lnTo>
                  <a:pt x="107619" y="322059"/>
                </a:lnTo>
                <a:lnTo>
                  <a:pt x="112928" y="327012"/>
                </a:lnTo>
                <a:lnTo>
                  <a:pt x="112928" y="335584"/>
                </a:lnTo>
                <a:lnTo>
                  <a:pt x="107619" y="340537"/>
                </a:lnTo>
                <a:lnTo>
                  <a:pt x="82042" y="365937"/>
                </a:lnTo>
                <a:lnTo>
                  <a:pt x="77063" y="371221"/>
                </a:lnTo>
                <a:close/>
              </a:path>
              <a:path w="431800" h="487044">
                <a:moveTo>
                  <a:pt x="363372" y="371221"/>
                </a:moveTo>
                <a:lnTo>
                  <a:pt x="355066" y="371221"/>
                </a:lnTo>
                <a:lnTo>
                  <a:pt x="350088" y="365937"/>
                </a:lnTo>
                <a:lnTo>
                  <a:pt x="324510" y="340537"/>
                </a:lnTo>
                <a:lnTo>
                  <a:pt x="319201" y="335584"/>
                </a:lnTo>
                <a:lnTo>
                  <a:pt x="319201" y="327012"/>
                </a:lnTo>
                <a:lnTo>
                  <a:pt x="324510" y="322059"/>
                </a:lnTo>
                <a:lnTo>
                  <a:pt x="329501" y="316776"/>
                </a:lnTo>
                <a:lnTo>
                  <a:pt x="338137" y="316776"/>
                </a:lnTo>
                <a:lnTo>
                  <a:pt x="343115" y="322059"/>
                </a:lnTo>
                <a:lnTo>
                  <a:pt x="373552" y="352293"/>
                </a:lnTo>
                <a:lnTo>
                  <a:pt x="373661" y="361007"/>
                </a:lnTo>
                <a:lnTo>
                  <a:pt x="363372" y="371221"/>
                </a:lnTo>
                <a:close/>
              </a:path>
              <a:path w="431800" h="487044">
                <a:moveTo>
                  <a:pt x="224536" y="487044"/>
                </a:moveTo>
                <a:lnTo>
                  <a:pt x="196964" y="487044"/>
                </a:lnTo>
                <a:lnTo>
                  <a:pt x="185674" y="481431"/>
                </a:lnTo>
                <a:lnTo>
                  <a:pt x="185674" y="472859"/>
                </a:lnTo>
                <a:lnTo>
                  <a:pt x="246456" y="472859"/>
                </a:lnTo>
                <a:lnTo>
                  <a:pt x="246456" y="473849"/>
                </a:lnTo>
                <a:lnTo>
                  <a:pt x="244525" y="479110"/>
                </a:lnTo>
                <a:lnTo>
                  <a:pt x="239482" y="483290"/>
                </a:lnTo>
                <a:lnTo>
                  <a:pt x="232445" y="486049"/>
                </a:lnTo>
                <a:lnTo>
                  <a:pt x="224536" y="487044"/>
                </a:lnTo>
                <a:close/>
              </a:path>
              <a:path w="431800" h="487044">
                <a:moveTo>
                  <a:pt x="258749" y="465594"/>
                </a:moveTo>
                <a:lnTo>
                  <a:pt x="173050" y="465594"/>
                </a:lnTo>
                <a:lnTo>
                  <a:pt x="167411" y="459651"/>
                </a:lnTo>
                <a:lnTo>
                  <a:pt x="167411" y="445135"/>
                </a:lnTo>
                <a:lnTo>
                  <a:pt x="173050" y="439204"/>
                </a:lnTo>
                <a:lnTo>
                  <a:pt x="258749" y="439204"/>
                </a:lnTo>
                <a:lnTo>
                  <a:pt x="264731" y="445135"/>
                </a:lnTo>
                <a:lnTo>
                  <a:pt x="264731" y="459651"/>
                </a:lnTo>
                <a:lnTo>
                  <a:pt x="258749" y="465594"/>
                </a:lnTo>
                <a:close/>
              </a:path>
              <a:path w="431800" h="487044">
                <a:moveTo>
                  <a:pt x="258749" y="432269"/>
                </a:moveTo>
                <a:lnTo>
                  <a:pt x="173050" y="432269"/>
                </a:lnTo>
                <a:lnTo>
                  <a:pt x="167411" y="426326"/>
                </a:lnTo>
                <a:lnTo>
                  <a:pt x="167411" y="411810"/>
                </a:lnTo>
                <a:lnTo>
                  <a:pt x="173050" y="405866"/>
                </a:lnTo>
                <a:lnTo>
                  <a:pt x="258749" y="405866"/>
                </a:lnTo>
                <a:lnTo>
                  <a:pt x="264731" y="411810"/>
                </a:lnTo>
                <a:lnTo>
                  <a:pt x="264731" y="426326"/>
                </a:lnTo>
                <a:lnTo>
                  <a:pt x="258749" y="432269"/>
                </a:lnTo>
                <a:close/>
              </a:path>
            </a:pathLst>
          </a:custGeom>
          <a:solidFill>
            <a:srgbClr val="3856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215639" y="1844039"/>
            <a:ext cx="6201156" cy="41193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52165" y="1628775"/>
            <a:ext cx="166370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300">
                <a:latin typeface="黑体"/>
                <a:cs typeface="黑体"/>
              </a:rPr>
              <a:t>定性关</a:t>
            </a:r>
            <a:r>
              <a:rPr dirty="0" sz="3000">
                <a:latin typeface="黑体"/>
                <a:cs typeface="黑体"/>
              </a:rPr>
              <a:t>系</a:t>
            </a:r>
            <a:endParaRPr sz="3000">
              <a:latin typeface="黑体"/>
              <a:cs typeface="黑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830829" y="1628775"/>
            <a:ext cx="431800" cy="487045"/>
          </a:xfrm>
          <a:custGeom>
            <a:avLst/>
            <a:gdLst/>
            <a:ahLst/>
            <a:cxnLst/>
            <a:rect l="l" t="t" r="r" b="b"/>
            <a:pathLst>
              <a:path w="431800" h="487044">
                <a:moveTo>
                  <a:pt x="223202" y="62039"/>
                </a:moveTo>
                <a:lnTo>
                  <a:pt x="208597" y="62039"/>
                </a:lnTo>
                <a:lnTo>
                  <a:pt x="202945" y="56095"/>
                </a:lnTo>
                <a:lnTo>
                  <a:pt x="202945" y="5943"/>
                </a:lnTo>
                <a:lnTo>
                  <a:pt x="208597" y="0"/>
                </a:lnTo>
                <a:lnTo>
                  <a:pt x="223202" y="0"/>
                </a:lnTo>
                <a:lnTo>
                  <a:pt x="229184" y="5943"/>
                </a:lnTo>
                <a:lnTo>
                  <a:pt x="229184" y="56095"/>
                </a:lnTo>
                <a:lnTo>
                  <a:pt x="223202" y="62039"/>
                </a:lnTo>
                <a:close/>
              </a:path>
              <a:path w="431800" h="487044">
                <a:moveTo>
                  <a:pt x="102641" y="111861"/>
                </a:moveTo>
                <a:lnTo>
                  <a:pt x="94005" y="111861"/>
                </a:lnTo>
                <a:lnTo>
                  <a:pt x="89014" y="106578"/>
                </a:lnTo>
                <a:lnTo>
                  <a:pt x="63436" y="81178"/>
                </a:lnTo>
                <a:lnTo>
                  <a:pt x="58127" y="76225"/>
                </a:lnTo>
                <a:lnTo>
                  <a:pt x="58127" y="67640"/>
                </a:lnTo>
                <a:lnTo>
                  <a:pt x="63436" y="62699"/>
                </a:lnTo>
                <a:lnTo>
                  <a:pt x="68427" y="57416"/>
                </a:lnTo>
                <a:lnTo>
                  <a:pt x="77063" y="57416"/>
                </a:lnTo>
                <a:lnTo>
                  <a:pt x="82042" y="62699"/>
                </a:lnTo>
                <a:lnTo>
                  <a:pt x="112598" y="93052"/>
                </a:lnTo>
                <a:lnTo>
                  <a:pt x="112928" y="101638"/>
                </a:lnTo>
                <a:lnTo>
                  <a:pt x="107619" y="106578"/>
                </a:lnTo>
                <a:lnTo>
                  <a:pt x="102641" y="111861"/>
                </a:lnTo>
                <a:close/>
              </a:path>
              <a:path w="431800" h="487044">
                <a:moveTo>
                  <a:pt x="338137" y="111861"/>
                </a:moveTo>
                <a:lnTo>
                  <a:pt x="329501" y="111861"/>
                </a:lnTo>
                <a:lnTo>
                  <a:pt x="324510" y="106578"/>
                </a:lnTo>
                <a:lnTo>
                  <a:pt x="319201" y="101638"/>
                </a:lnTo>
                <a:lnTo>
                  <a:pt x="319201" y="93052"/>
                </a:lnTo>
                <a:lnTo>
                  <a:pt x="324510" y="88099"/>
                </a:lnTo>
                <a:lnTo>
                  <a:pt x="350088" y="62699"/>
                </a:lnTo>
                <a:lnTo>
                  <a:pt x="355066" y="57416"/>
                </a:lnTo>
                <a:lnTo>
                  <a:pt x="363372" y="57416"/>
                </a:lnTo>
                <a:lnTo>
                  <a:pt x="373672" y="67640"/>
                </a:lnTo>
                <a:lnTo>
                  <a:pt x="373672" y="76225"/>
                </a:lnTo>
                <a:lnTo>
                  <a:pt x="343115" y="106578"/>
                </a:lnTo>
                <a:lnTo>
                  <a:pt x="338137" y="111861"/>
                </a:lnTo>
                <a:close/>
              </a:path>
              <a:path w="431800" h="487044">
                <a:moveTo>
                  <a:pt x="251777" y="397294"/>
                </a:moveTo>
                <a:lnTo>
                  <a:pt x="180365" y="397294"/>
                </a:lnTo>
                <a:lnTo>
                  <a:pt x="168250" y="394912"/>
                </a:lnTo>
                <a:lnTo>
                  <a:pt x="158438" y="388385"/>
                </a:lnTo>
                <a:lnTo>
                  <a:pt x="151865" y="378638"/>
                </a:lnTo>
                <a:lnTo>
                  <a:pt x="149466" y="366598"/>
                </a:lnTo>
                <a:lnTo>
                  <a:pt x="149352" y="360344"/>
                </a:lnTo>
                <a:lnTo>
                  <a:pt x="149016" y="353526"/>
                </a:lnTo>
                <a:lnTo>
                  <a:pt x="134188" y="317436"/>
                </a:lnTo>
                <a:lnTo>
                  <a:pt x="128879" y="311823"/>
                </a:lnTo>
                <a:lnTo>
                  <a:pt x="104631" y="280554"/>
                </a:lnTo>
                <a:lnTo>
                  <a:pt x="90887" y="242698"/>
                </a:lnTo>
                <a:lnTo>
                  <a:pt x="88353" y="214490"/>
                </a:lnTo>
                <a:lnTo>
                  <a:pt x="90112" y="193429"/>
                </a:lnTo>
                <a:lnTo>
                  <a:pt x="103345" y="154902"/>
                </a:lnTo>
                <a:lnTo>
                  <a:pt x="150170" y="105778"/>
                </a:lnTo>
                <a:lnTo>
                  <a:pt x="193301" y="89700"/>
                </a:lnTo>
                <a:lnTo>
                  <a:pt x="238837" y="89700"/>
                </a:lnTo>
                <a:lnTo>
                  <a:pt x="281965" y="105778"/>
                </a:lnTo>
                <a:lnTo>
                  <a:pt x="285439" y="108889"/>
                </a:lnTo>
                <a:lnTo>
                  <a:pt x="212242" y="108889"/>
                </a:lnTo>
                <a:lnTo>
                  <a:pt x="209257" y="109219"/>
                </a:lnTo>
                <a:lnTo>
                  <a:pt x="205930" y="109550"/>
                </a:lnTo>
                <a:lnTo>
                  <a:pt x="204939" y="109550"/>
                </a:lnTo>
                <a:lnTo>
                  <a:pt x="199288" y="110210"/>
                </a:lnTo>
                <a:lnTo>
                  <a:pt x="155654" y="128116"/>
                </a:lnTo>
                <a:lnTo>
                  <a:pt x="122607" y="165066"/>
                </a:lnTo>
                <a:lnTo>
                  <a:pt x="110274" y="214490"/>
                </a:lnTo>
                <a:lnTo>
                  <a:pt x="111166" y="231055"/>
                </a:lnTo>
                <a:lnTo>
                  <a:pt x="122567" y="268274"/>
                </a:lnTo>
                <a:lnTo>
                  <a:pt x="147142" y="299618"/>
                </a:lnTo>
                <a:lnTo>
                  <a:pt x="152793" y="305892"/>
                </a:lnTo>
                <a:lnTo>
                  <a:pt x="169662" y="342181"/>
                </a:lnTo>
                <a:lnTo>
                  <a:pt x="171056" y="369239"/>
                </a:lnTo>
                <a:lnTo>
                  <a:pt x="172059" y="371551"/>
                </a:lnTo>
                <a:lnTo>
                  <a:pt x="175374" y="374853"/>
                </a:lnTo>
                <a:lnTo>
                  <a:pt x="177698" y="375843"/>
                </a:lnTo>
                <a:lnTo>
                  <a:pt x="280823" y="375843"/>
                </a:lnTo>
                <a:lnTo>
                  <a:pt x="280266" y="378638"/>
                </a:lnTo>
                <a:lnTo>
                  <a:pt x="273697" y="388385"/>
                </a:lnTo>
                <a:lnTo>
                  <a:pt x="263890" y="394912"/>
                </a:lnTo>
                <a:lnTo>
                  <a:pt x="251777" y="397294"/>
                </a:lnTo>
                <a:close/>
              </a:path>
              <a:path w="431800" h="487044">
                <a:moveTo>
                  <a:pt x="280823" y="375843"/>
                </a:moveTo>
                <a:lnTo>
                  <a:pt x="257086" y="375843"/>
                </a:lnTo>
                <a:lnTo>
                  <a:pt x="261073" y="371881"/>
                </a:lnTo>
                <a:lnTo>
                  <a:pt x="261173" y="360344"/>
                </a:lnTo>
                <a:lnTo>
                  <a:pt x="269049" y="317766"/>
                </a:lnTo>
                <a:lnTo>
                  <a:pt x="287312" y="297306"/>
                </a:lnTo>
                <a:lnTo>
                  <a:pt x="294787" y="289131"/>
                </a:lnTo>
                <a:lnTo>
                  <a:pt x="317376" y="249055"/>
                </a:lnTo>
                <a:lnTo>
                  <a:pt x="321856" y="214490"/>
                </a:lnTo>
                <a:lnTo>
                  <a:pt x="320402" y="197025"/>
                </a:lnTo>
                <a:lnTo>
                  <a:pt x="300596" y="151130"/>
                </a:lnTo>
                <a:lnTo>
                  <a:pt x="261970" y="119670"/>
                </a:lnTo>
                <a:lnTo>
                  <a:pt x="227190" y="109550"/>
                </a:lnTo>
                <a:lnTo>
                  <a:pt x="226199" y="109550"/>
                </a:lnTo>
                <a:lnTo>
                  <a:pt x="219557" y="108889"/>
                </a:lnTo>
                <a:lnTo>
                  <a:pt x="285439" y="108889"/>
                </a:lnTo>
                <a:lnTo>
                  <a:pt x="317868" y="137934"/>
                </a:lnTo>
                <a:lnTo>
                  <a:pt x="328594" y="154902"/>
                </a:lnTo>
                <a:lnTo>
                  <a:pt x="336638" y="173483"/>
                </a:lnTo>
                <a:lnTo>
                  <a:pt x="341692" y="193429"/>
                </a:lnTo>
                <a:lnTo>
                  <a:pt x="343446" y="214490"/>
                </a:lnTo>
                <a:lnTo>
                  <a:pt x="342371" y="233625"/>
                </a:lnTo>
                <a:lnTo>
                  <a:pt x="328498" y="278168"/>
                </a:lnTo>
                <a:lnTo>
                  <a:pt x="300596" y="314464"/>
                </a:lnTo>
                <a:lnTo>
                  <a:pt x="294614" y="320408"/>
                </a:lnTo>
                <a:lnTo>
                  <a:pt x="289966" y="325361"/>
                </a:lnTo>
                <a:lnTo>
                  <a:pt x="282663" y="366598"/>
                </a:lnTo>
                <a:lnTo>
                  <a:pt x="280823" y="375843"/>
                </a:lnTo>
                <a:close/>
              </a:path>
              <a:path w="431800" h="487044">
                <a:moveTo>
                  <a:pt x="56794" y="227355"/>
                </a:moveTo>
                <a:lnTo>
                  <a:pt x="5981" y="227355"/>
                </a:lnTo>
                <a:lnTo>
                  <a:pt x="0" y="221411"/>
                </a:lnTo>
                <a:lnTo>
                  <a:pt x="0" y="207225"/>
                </a:lnTo>
                <a:lnTo>
                  <a:pt x="5981" y="201282"/>
                </a:lnTo>
                <a:lnTo>
                  <a:pt x="56794" y="201282"/>
                </a:lnTo>
                <a:lnTo>
                  <a:pt x="62776" y="207225"/>
                </a:lnTo>
                <a:lnTo>
                  <a:pt x="62776" y="221411"/>
                </a:lnTo>
                <a:lnTo>
                  <a:pt x="56794" y="227355"/>
                </a:lnTo>
                <a:close/>
              </a:path>
              <a:path w="431800" h="487044">
                <a:moveTo>
                  <a:pt x="425818" y="227355"/>
                </a:moveTo>
                <a:lnTo>
                  <a:pt x="375335" y="227355"/>
                </a:lnTo>
                <a:lnTo>
                  <a:pt x="369354" y="221411"/>
                </a:lnTo>
                <a:lnTo>
                  <a:pt x="369354" y="207225"/>
                </a:lnTo>
                <a:lnTo>
                  <a:pt x="375335" y="201282"/>
                </a:lnTo>
                <a:lnTo>
                  <a:pt x="425818" y="201282"/>
                </a:lnTo>
                <a:lnTo>
                  <a:pt x="431799" y="207225"/>
                </a:lnTo>
                <a:lnTo>
                  <a:pt x="431799" y="221411"/>
                </a:lnTo>
                <a:lnTo>
                  <a:pt x="425818" y="227355"/>
                </a:lnTo>
                <a:close/>
              </a:path>
              <a:path w="431800" h="487044">
                <a:moveTo>
                  <a:pt x="77063" y="371220"/>
                </a:moveTo>
                <a:lnTo>
                  <a:pt x="68427" y="371220"/>
                </a:lnTo>
                <a:lnTo>
                  <a:pt x="63436" y="365937"/>
                </a:lnTo>
                <a:lnTo>
                  <a:pt x="58138" y="361007"/>
                </a:lnTo>
                <a:lnTo>
                  <a:pt x="58127" y="352412"/>
                </a:lnTo>
                <a:lnTo>
                  <a:pt x="63436" y="347459"/>
                </a:lnTo>
                <a:lnTo>
                  <a:pt x="89014" y="322059"/>
                </a:lnTo>
                <a:lnTo>
                  <a:pt x="94005" y="316776"/>
                </a:lnTo>
                <a:lnTo>
                  <a:pt x="102641" y="316776"/>
                </a:lnTo>
                <a:lnTo>
                  <a:pt x="107619" y="322059"/>
                </a:lnTo>
                <a:lnTo>
                  <a:pt x="112928" y="327012"/>
                </a:lnTo>
                <a:lnTo>
                  <a:pt x="112928" y="335584"/>
                </a:lnTo>
                <a:lnTo>
                  <a:pt x="107619" y="340537"/>
                </a:lnTo>
                <a:lnTo>
                  <a:pt x="82042" y="365937"/>
                </a:lnTo>
                <a:lnTo>
                  <a:pt x="77063" y="371220"/>
                </a:lnTo>
                <a:close/>
              </a:path>
              <a:path w="431800" h="487044">
                <a:moveTo>
                  <a:pt x="363372" y="371220"/>
                </a:moveTo>
                <a:lnTo>
                  <a:pt x="355066" y="371220"/>
                </a:lnTo>
                <a:lnTo>
                  <a:pt x="350088" y="365937"/>
                </a:lnTo>
                <a:lnTo>
                  <a:pt x="324510" y="340537"/>
                </a:lnTo>
                <a:lnTo>
                  <a:pt x="319201" y="335584"/>
                </a:lnTo>
                <a:lnTo>
                  <a:pt x="319201" y="327012"/>
                </a:lnTo>
                <a:lnTo>
                  <a:pt x="324510" y="322059"/>
                </a:lnTo>
                <a:lnTo>
                  <a:pt x="329501" y="316776"/>
                </a:lnTo>
                <a:lnTo>
                  <a:pt x="338137" y="316776"/>
                </a:lnTo>
                <a:lnTo>
                  <a:pt x="343115" y="322059"/>
                </a:lnTo>
                <a:lnTo>
                  <a:pt x="373552" y="352293"/>
                </a:lnTo>
                <a:lnTo>
                  <a:pt x="373661" y="361007"/>
                </a:lnTo>
                <a:lnTo>
                  <a:pt x="363372" y="371220"/>
                </a:lnTo>
                <a:close/>
              </a:path>
              <a:path w="431800" h="487044">
                <a:moveTo>
                  <a:pt x="224536" y="487044"/>
                </a:moveTo>
                <a:lnTo>
                  <a:pt x="196964" y="487044"/>
                </a:lnTo>
                <a:lnTo>
                  <a:pt x="185674" y="481431"/>
                </a:lnTo>
                <a:lnTo>
                  <a:pt x="185674" y="472859"/>
                </a:lnTo>
                <a:lnTo>
                  <a:pt x="246456" y="472859"/>
                </a:lnTo>
                <a:lnTo>
                  <a:pt x="246456" y="473849"/>
                </a:lnTo>
                <a:lnTo>
                  <a:pt x="244525" y="479110"/>
                </a:lnTo>
                <a:lnTo>
                  <a:pt x="239482" y="483290"/>
                </a:lnTo>
                <a:lnTo>
                  <a:pt x="232445" y="486049"/>
                </a:lnTo>
                <a:lnTo>
                  <a:pt x="224536" y="487044"/>
                </a:lnTo>
                <a:close/>
              </a:path>
              <a:path w="431800" h="487044">
                <a:moveTo>
                  <a:pt x="258749" y="465594"/>
                </a:moveTo>
                <a:lnTo>
                  <a:pt x="173050" y="465594"/>
                </a:lnTo>
                <a:lnTo>
                  <a:pt x="167411" y="459651"/>
                </a:lnTo>
                <a:lnTo>
                  <a:pt x="167411" y="445135"/>
                </a:lnTo>
                <a:lnTo>
                  <a:pt x="173050" y="439204"/>
                </a:lnTo>
                <a:lnTo>
                  <a:pt x="258749" y="439204"/>
                </a:lnTo>
                <a:lnTo>
                  <a:pt x="264731" y="445135"/>
                </a:lnTo>
                <a:lnTo>
                  <a:pt x="264731" y="459651"/>
                </a:lnTo>
                <a:lnTo>
                  <a:pt x="258749" y="465594"/>
                </a:lnTo>
                <a:close/>
              </a:path>
              <a:path w="431800" h="487044">
                <a:moveTo>
                  <a:pt x="258749" y="432269"/>
                </a:moveTo>
                <a:lnTo>
                  <a:pt x="173050" y="432269"/>
                </a:lnTo>
                <a:lnTo>
                  <a:pt x="167411" y="426326"/>
                </a:lnTo>
                <a:lnTo>
                  <a:pt x="167411" y="411810"/>
                </a:lnTo>
                <a:lnTo>
                  <a:pt x="173050" y="405866"/>
                </a:lnTo>
                <a:lnTo>
                  <a:pt x="258749" y="405866"/>
                </a:lnTo>
                <a:lnTo>
                  <a:pt x="264731" y="411810"/>
                </a:lnTo>
                <a:lnTo>
                  <a:pt x="264731" y="426326"/>
                </a:lnTo>
                <a:lnTo>
                  <a:pt x="258749" y="432269"/>
                </a:lnTo>
                <a:close/>
              </a:path>
            </a:pathLst>
          </a:custGeom>
          <a:solidFill>
            <a:srgbClr val="3856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892425" y="2867533"/>
            <a:ext cx="5723890" cy="19456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 indent="629285">
              <a:lnSpc>
                <a:spcPct val="150000"/>
              </a:lnSpc>
              <a:spcBef>
                <a:spcPts val="100"/>
              </a:spcBef>
            </a:pPr>
            <a:r>
              <a:rPr dirty="0" sz="2800" b="1">
                <a:solidFill>
                  <a:srgbClr val="385622"/>
                </a:solidFill>
                <a:latin typeface="华文楷体"/>
                <a:cs typeface="华文楷体"/>
              </a:rPr>
              <a:t>实验表明</a:t>
            </a:r>
            <a:r>
              <a:rPr dirty="0" sz="2800" b="1">
                <a:solidFill>
                  <a:srgbClr val="385622"/>
                </a:solidFill>
                <a:latin typeface="华文楷体"/>
                <a:cs typeface="华文楷体"/>
              </a:rPr>
              <a:t>,</a:t>
            </a:r>
            <a:r>
              <a:rPr dirty="0" sz="2800" b="1">
                <a:solidFill>
                  <a:srgbClr val="385622"/>
                </a:solidFill>
                <a:latin typeface="华文楷体"/>
                <a:cs typeface="华文楷体"/>
              </a:rPr>
              <a:t>在保持气体的体积不</a:t>
            </a:r>
            <a:r>
              <a:rPr dirty="0" sz="2800" spc="-5" b="1">
                <a:solidFill>
                  <a:srgbClr val="385622"/>
                </a:solidFill>
                <a:latin typeface="华文楷体"/>
                <a:cs typeface="华文楷体"/>
              </a:rPr>
              <a:t>变 </a:t>
            </a:r>
            <a:r>
              <a:rPr dirty="0" sz="2800" b="1">
                <a:solidFill>
                  <a:srgbClr val="385622"/>
                </a:solidFill>
                <a:latin typeface="华文楷体"/>
                <a:cs typeface="华文楷体"/>
              </a:rPr>
              <a:t>的情况下，一定质量气体的压强随</a:t>
            </a:r>
            <a:r>
              <a:rPr dirty="0" sz="2800" spc="-5" b="1">
                <a:solidFill>
                  <a:srgbClr val="385622"/>
                </a:solidFill>
                <a:latin typeface="华文楷体"/>
                <a:cs typeface="华文楷体"/>
              </a:rPr>
              <a:t>温 </a:t>
            </a:r>
            <a:r>
              <a:rPr dirty="0" sz="2800" b="1">
                <a:solidFill>
                  <a:srgbClr val="385622"/>
                </a:solidFill>
                <a:latin typeface="华文楷体"/>
                <a:cs typeface="华文楷体"/>
              </a:rPr>
              <a:t>度的升高而增大</a:t>
            </a:r>
            <a:r>
              <a:rPr dirty="0" sz="2800" spc="-10" b="1">
                <a:solidFill>
                  <a:srgbClr val="385622"/>
                </a:solidFill>
                <a:latin typeface="华文楷体"/>
                <a:cs typeface="华文楷体"/>
              </a:rPr>
              <a:t>。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740025" y="2629535"/>
            <a:ext cx="6514465" cy="27336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191255" y="2133600"/>
            <a:ext cx="3022092" cy="374446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927725" y="4508500"/>
            <a:ext cx="1046480" cy="0"/>
          </a:xfrm>
          <a:custGeom>
            <a:avLst/>
            <a:gdLst/>
            <a:ahLst/>
            <a:cxnLst/>
            <a:rect l="l" t="t" r="r" b="b"/>
            <a:pathLst>
              <a:path w="1046479" h="0">
                <a:moveTo>
                  <a:pt x="0" y="0"/>
                </a:moveTo>
                <a:lnTo>
                  <a:pt x="1046479" y="0"/>
                </a:lnTo>
              </a:path>
            </a:pathLst>
          </a:custGeom>
          <a:ln w="25400">
            <a:solidFill>
              <a:srgbClr val="0D0D0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271632" y="5590540"/>
            <a:ext cx="2623820" cy="0"/>
          </a:xfrm>
          <a:custGeom>
            <a:avLst/>
            <a:gdLst/>
            <a:ahLst/>
            <a:cxnLst/>
            <a:rect l="l" t="t" r="r" b="b"/>
            <a:pathLst>
              <a:path w="2623820" h="0">
                <a:moveTo>
                  <a:pt x="0" y="0"/>
                </a:moveTo>
                <a:lnTo>
                  <a:pt x="2623210" y="0"/>
                </a:lnTo>
              </a:path>
            </a:pathLst>
          </a:custGeom>
          <a:ln w="29210">
            <a:solidFill>
              <a:srgbClr val="0D0D0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243330" y="1230629"/>
            <a:ext cx="55499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>
                <a:solidFill>
                  <a:srgbClr val="000000"/>
                </a:solidFill>
                <a:latin typeface="黑体"/>
                <a:cs typeface="黑体"/>
              </a:rPr>
              <a:t>定量实验:探究气体等容变化规律</a:t>
            </a:r>
            <a:endParaRPr sz="3000">
              <a:latin typeface="黑体"/>
              <a:cs typeface="黑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82749" y="1308100"/>
            <a:ext cx="331470" cy="351790"/>
          </a:xfrm>
          <a:custGeom>
            <a:avLst/>
            <a:gdLst/>
            <a:ahLst/>
            <a:cxnLst/>
            <a:rect l="l" t="t" r="r" b="b"/>
            <a:pathLst>
              <a:path w="331469" h="351789">
                <a:moveTo>
                  <a:pt x="227383" y="21983"/>
                </a:moveTo>
                <a:lnTo>
                  <a:pt x="103583" y="21983"/>
                </a:lnTo>
                <a:lnTo>
                  <a:pt x="98618" y="17043"/>
                </a:lnTo>
                <a:lnTo>
                  <a:pt x="98618" y="4953"/>
                </a:lnTo>
                <a:lnTo>
                  <a:pt x="103583" y="0"/>
                </a:lnTo>
                <a:lnTo>
                  <a:pt x="227383" y="0"/>
                </a:lnTo>
                <a:lnTo>
                  <a:pt x="232349" y="4953"/>
                </a:lnTo>
                <a:lnTo>
                  <a:pt x="232349" y="17043"/>
                </a:lnTo>
                <a:lnTo>
                  <a:pt x="227383" y="21983"/>
                </a:lnTo>
                <a:close/>
              </a:path>
              <a:path w="331469" h="351789">
                <a:moveTo>
                  <a:pt x="277116" y="351789"/>
                </a:moveTo>
                <a:lnTo>
                  <a:pt x="54129" y="351789"/>
                </a:lnTo>
                <a:lnTo>
                  <a:pt x="23064" y="345859"/>
                </a:lnTo>
                <a:lnTo>
                  <a:pt x="4563" y="329698"/>
                </a:lnTo>
                <a:lnTo>
                  <a:pt x="0" y="305755"/>
                </a:lnTo>
                <a:lnTo>
                  <a:pt x="10746" y="276478"/>
                </a:lnTo>
                <a:lnTo>
                  <a:pt x="120995" y="95364"/>
                </a:lnTo>
                <a:lnTo>
                  <a:pt x="120995" y="21983"/>
                </a:lnTo>
                <a:lnTo>
                  <a:pt x="143385" y="21983"/>
                </a:lnTo>
                <a:lnTo>
                  <a:pt x="143385" y="101409"/>
                </a:lnTo>
                <a:lnTo>
                  <a:pt x="71262" y="219862"/>
                </a:lnTo>
                <a:lnTo>
                  <a:pt x="285843" y="219862"/>
                </a:lnTo>
                <a:lnTo>
                  <a:pt x="320220" y="276478"/>
                </a:lnTo>
                <a:lnTo>
                  <a:pt x="331089" y="305755"/>
                </a:lnTo>
                <a:lnTo>
                  <a:pt x="326543" y="329698"/>
                </a:lnTo>
                <a:lnTo>
                  <a:pt x="308059" y="345859"/>
                </a:lnTo>
                <a:lnTo>
                  <a:pt x="277116" y="351789"/>
                </a:lnTo>
                <a:close/>
              </a:path>
              <a:path w="331469" h="351789">
                <a:moveTo>
                  <a:pt x="285843" y="219862"/>
                </a:moveTo>
                <a:lnTo>
                  <a:pt x="259984" y="219862"/>
                </a:lnTo>
                <a:lnTo>
                  <a:pt x="187860" y="101409"/>
                </a:lnTo>
                <a:lnTo>
                  <a:pt x="187860" y="21983"/>
                </a:lnTo>
                <a:lnTo>
                  <a:pt x="210251" y="21983"/>
                </a:lnTo>
                <a:lnTo>
                  <a:pt x="210251" y="95364"/>
                </a:lnTo>
                <a:lnTo>
                  <a:pt x="285843" y="219862"/>
                </a:lnTo>
                <a:close/>
              </a:path>
            </a:pathLst>
          </a:custGeom>
          <a:solidFill>
            <a:srgbClr val="3856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215164" y="2498407"/>
            <a:ext cx="648970" cy="0"/>
          </a:xfrm>
          <a:custGeom>
            <a:avLst/>
            <a:gdLst/>
            <a:ahLst/>
            <a:cxnLst/>
            <a:rect l="l" t="t" r="r" b="b"/>
            <a:pathLst>
              <a:path w="648970" h="0">
                <a:moveTo>
                  <a:pt x="0" y="0"/>
                </a:moveTo>
                <a:lnTo>
                  <a:pt x="648766" y="0"/>
                </a:lnTo>
              </a:path>
            </a:pathLst>
          </a:custGeom>
          <a:ln w="36194">
            <a:solidFill>
              <a:srgbClr val="0D0D0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772467" y="2497658"/>
            <a:ext cx="454659" cy="793750"/>
          </a:xfrm>
          <a:custGeom>
            <a:avLst/>
            <a:gdLst/>
            <a:ahLst/>
            <a:cxnLst/>
            <a:rect l="l" t="t" r="r" b="b"/>
            <a:pathLst>
              <a:path w="454660" h="793750">
                <a:moveTo>
                  <a:pt x="22225" y="793343"/>
                </a:moveTo>
                <a:lnTo>
                  <a:pt x="0" y="781050"/>
                </a:lnTo>
                <a:lnTo>
                  <a:pt x="432435" y="0"/>
                </a:lnTo>
                <a:lnTo>
                  <a:pt x="454660" y="12293"/>
                </a:lnTo>
                <a:lnTo>
                  <a:pt x="22225" y="793343"/>
                </a:lnTo>
                <a:close/>
              </a:path>
            </a:pathLst>
          </a:custGeom>
          <a:solidFill>
            <a:srgbClr val="0D0D0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6998969" y="2185035"/>
            <a:ext cx="1805305" cy="35477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latin typeface="华文楷体"/>
                <a:cs typeface="华文楷体"/>
              </a:rPr>
              <a:t>压强传感</a:t>
            </a:r>
            <a:r>
              <a:rPr dirty="0" sz="2800" spc="-10" b="1">
                <a:latin typeface="华文楷体"/>
                <a:cs typeface="华文楷体"/>
              </a:rPr>
              <a:t>器</a:t>
            </a:r>
            <a:endParaRPr sz="2800">
              <a:latin typeface="华文楷体"/>
              <a:cs typeface="华文楷体"/>
            </a:endParaRPr>
          </a:p>
          <a:p>
            <a:pPr algn="ctr" marL="12065" marR="5080">
              <a:lnSpc>
                <a:spcPct val="236200"/>
              </a:lnSpc>
              <a:spcBef>
                <a:spcPts val="565"/>
              </a:spcBef>
            </a:pPr>
            <a:r>
              <a:rPr dirty="0" sz="2800" b="1">
                <a:solidFill>
                  <a:srgbClr val="0D0D0D"/>
                </a:solidFill>
                <a:latin typeface="华文楷体"/>
                <a:cs typeface="华文楷体"/>
              </a:rPr>
              <a:t>温度传感</a:t>
            </a:r>
            <a:r>
              <a:rPr dirty="0" sz="2800" spc="-5" b="1">
                <a:solidFill>
                  <a:srgbClr val="0D0D0D"/>
                </a:solidFill>
                <a:latin typeface="华文楷体"/>
                <a:cs typeface="华文楷体"/>
              </a:rPr>
              <a:t>器 </a:t>
            </a:r>
            <a:r>
              <a:rPr dirty="0" sz="2800" b="1">
                <a:solidFill>
                  <a:srgbClr val="0D0D0D"/>
                </a:solidFill>
                <a:latin typeface="华文楷体"/>
                <a:cs typeface="华文楷体"/>
              </a:rPr>
              <a:t>封闭气</a:t>
            </a:r>
            <a:r>
              <a:rPr dirty="0" sz="2800" spc="-10" b="1">
                <a:solidFill>
                  <a:srgbClr val="0D0D0D"/>
                </a:solidFill>
                <a:latin typeface="华文楷体"/>
                <a:cs typeface="华文楷体"/>
              </a:rPr>
              <a:t>体 </a:t>
            </a:r>
            <a:r>
              <a:rPr dirty="0" sz="2800" b="1">
                <a:solidFill>
                  <a:srgbClr val="0D0D0D"/>
                </a:solidFill>
                <a:latin typeface="华文楷体"/>
                <a:cs typeface="华文楷体"/>
              </a:rPr>
              <a:t>数据采集</a:t>
            </a:r>
            <a:r>
              <a:rPr dirty="0" sz="2800" spc="-10" b="1">
                <a:solidFill>
                  <a:srgbClr val="0D0D0D"/>
                </a:solidFill>
                <a:latin typeface="华文楷体"/>
                <a:cs typeface="华文楷体"/>
              </a:rPr>
              <a:t>器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215303" y="3574415"/>
            <a:ext cx="680085" cy="0"/>
          </a:xfrm>
          <a:custGeom>
            <a:avLst/>
            <a:gdLst/>
            <a:ahLst/>
            <a:cxnLst/>
            <a:rect l="l" t="t" r="r" b="b"/>
            <a:pathLst>
              <a:path w="680084" h="0">
                <a:moveTo>
                  <a:pt x="0" y="0"/>
                </a:moveTo>
                <a:lnTo>
                  <a:pt x="679602" y="0"/>
                </a:lnTo>
              </a:path>
            </a:pathLst>
          </a:custGeom>
          <a:ln w="29210">
            <a:solidFill>
              <a:srgbClr val="0D0D0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912296" y="3561943"/>
            <a:ext cx="1310640" cy="885825"/>
          </a:xfrm>
          <a:custGeom>
            <a:avLst/>
            <a:gdLst/>
            <a:ahLst/>
            <a:cxnLst/>
            <a:rect l="l" t="t" r="r" b="b"/>
            <a:pathLst>
              <a:path w="1310639" h="885825">
                <a:moveTo>
                  <a:pt x="14096" y="885367"/>
                </a:moveTo>
                <a:lnTo>
                  <a:pt x="0" y="864234"/>
                </a:lnTo>
                <a:lnTo>
                  <a:pt x="1296035" y="0"/>
                </a:lnTo>
                <a:lnTo>
                  <a:pt x="1310131" y="21132"/>
                </a:lnTo>
                <a:lnTo>
                  <a:pt x="14096" y="885367"/>
                </a:lnTo>
                <a:close/>
              </a:path>
            </a:pathLst>
          </a:custGeom>
          <a:solidFill>
            <a:srgbClr val="0D0D0D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7633" y="100763"/>
            <a:ext cx="12008925" cy="667782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654568" y="388468"/>
            <a:ext cx="2121535" cy="280035"/>
          </a:xfrm>
          <a:prstGeom prst="rect">
            <a:avLst/>
          </a:prstGeom>
          <a:solidFill>
            <a:srgbClr val="264B34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205"/>
              </a:lnSpc>
            </a:pPr>
            <a:r>
              <a:rPr dirty="0" sz="2200" spc="175">
                <a:solidFill>
                  <a:srgbClr val="E4F2E8"/>
                </a:solidFill>
                <a:latin typeface="宋体"/>
                <a:cs typeface="宋体"/>
              </a:rPr>
              <a:t>里础敦旨龋吊谯</a:t>
            </a:r>
            <a:endParaRPr sz="2200">
              <a:latin typeface="宋体"/>
              <a:cs typeface="宋体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243204">
              <a:lnSpc>
                <a:spcPts val="6200"/>
              </a:lnSpc>
              <a:spcBef>
                <a:spcPts val="110"/>
              </a:spcBef>
              <a:tabLst>
                <a:tab pos="1910080" algn="l"/>
              </a:tabLst>
            </a:pPr>
            <a:r>
              <a:rPr dirty="0" sz="4150" spc="335">
                <a:solidFill>
                  <a:srgbClr val="5B5D5B"/>
                </a:solidFill>
              </a:rPr>
              <a:t>阳</a:t>
            </a:r>
            <a:r>
              <a:rPr dirty="0" sz="4150" spc="-240">
                <a:solidFill>
                  <a:srgbClr val="5B5D5B"/>
                </a:solidFill>
              </a:rPr>
              <a:t> </a:t>
            </a:r>
            <a:r>
              <a:rPr dirty="0" spc="75"/>
              <a:t>/</a:t>
            </a:r>
            <a:r>
              <a:rPr dirty="0" spc="-670"/>
              <a:t> </a:t>
            </a:r>
            <a:r>
              <a:rPr dirty="0" spc="-840"/>
              <a:t>了</a:t>
            </a:r>
            <a:r>
              <a:rPr dirty="0" spc="-930">
                <a:solidFill>
                  <a:srgbClr val="5B5D5B"/>
                </a:solidFill>
              </a:rPr>
              <a:t>-</a:t>
            </a:r>
            <a:r>
              <a:rPr dirty="0" spc="-1130"/>
              <a:t>亡</a:t>
            </a:r>
            <a:r>
              <a:rPr dirty="0"/>
              <a:t>	</a:t>
            </a:r>
            <a:r>
              <a:rPr dirty="0" spc="-705"/>
              <a:t>-</a:t>
            </a:r>
            <a:r>
              <a:rPr dirty="0" sz="5350" spc="-2320">
                <a:solidFill>
                  <a:srgbClr val="5B5D5B"/>
                </a:solidFill>
                <a:latin typeface="Times New Roman"/>
                <a:cs typeface="Times New Roman"/>
              </a:rPr>
              <a:t>1</a:t>
            </a:r>
            <a:r>
              <a:rPr dirty="0" spc="-345"/>
              <a:t>-</a:t>
            </a:r>
            <a:endParaRPr sz="5350">
              <a:latin typeface="Times New Roman"/>
              <a:cs typeface="Times New Roman"/>
            </a:endParaRPr>
          </a:p>
          <a:p>
            <a:pPr marL="347980">
              <a:lnSpc>
                <a:spcPts val="1280"/>
              </a:lnSpc>
            </a:pPr>
            <a:r>
              <a:rPr dirty="0" sz="1250" spc="-550">
                <a:solidFill>
                  <a:srgbClr val="698C85"/>
                </a:solidFill>
              </a:rPr>
              <a:t>＿</a:t>
            </a:r>
            <a:endParaRPr sz="1250"/>
          </a:p>
        </p:txBody>
      </p:sp>
      <p:sp>
        <p:nvSpPr>
          <p:cNvPr id="5" name="object 5"/>
          <p:cNvSpPr txBox="1"/>
          <p:nvPr/>
        </p:nvSpPr>
        <p:spPr>
          <a:xfrm>
            <a:off x="7328136" y="5945028"/>
            <a:ext cx="232410" cy="4686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900" spc="-1275">
                <a:solidFill>
                  <a:srgbClr val="698C85"/>
                </a:solidFill>
                <a:latin typeface="宋体"/>
                <a:cs typeface="宋体"/>
              </a:rPr>
              <a:t>．</a:t>
            </a:r>
            <a:endParaRPr sz="29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967989" y="4889235"/>
            <a:ext cx="6566534" cy="1207770"/>
          </a:xfrm>
          <a:prstGeom prst="rect">
            <a:avLst/>
          </a:prstGeom>
        </p:spPr>
        <p:txBody>
          <a:bodyPr wrap="square" lIns="0" tIns="162560" rIns="0" bIns="0" rtlCol="0" vert="horz">
            <a:spAutoFit/>
          </a:bodyPr>
          <a:lstStyle/>
          <a:p>
            <a:pPr algn="ctr" marL="54610">
              <a:lnSpc>
                <a:spcPct val="100000"/>
              </a:lnSpc>
              <a:spcBef>
                <a:spcPts val="1280"/>
              </a:spcBef>
            </a:pPr>
            <a:r>
              <a:rPr dirty="0" sz="2800" b="1">
                <a:solidFill>
                  <a:srgbClr val="385622"/>
                </a:solidFill>
                <a:latin typeface="华文楷体"/>
                <a:cs typeface="华文楷体"/>
              </a:rPr>
              <a:t>一定质量的气体，在体积不变的</a:t>
            </a:r>
            <a:r>
              <a:rPr dirty="0" sz="2800" spc="-10" b="1">
                <a:solidFill>
                  <a:srgbClr val="385622"/>
                </a:solidFill>
                <a:latin typeface="华文楷体"/>
                <a:cs typeface="华文楷体"/>
              </a:rPr>
              <a:t>情</a:t>
            </a:r>
            <a:endParaRPr sz="2800">
              <a:latin typeface="华文楷体"/>
              <a:cs typeface="华文楷体"/>
            </a:endParaRPr>
          </a:p>
          <a:p>
            <a:pPr algn="ctr">
              <a:lnSpc>
                <a:spcPct val="100000"/>
              </a:lnSpc>
              <a:spcBef>
                <a:spcPts val="1280"/>
              </a:spcBef>
            </a:pPr>
            <a:r>
              <a:rPr dirty="0" sz="2800" b="1">
                <a:solidFill>
                  <a:srgbClr val="385622"/>
                </a:solidFill>
                <a:latin typeface="华文楷体"/>
                <a:cs typeface="华文楷体"/>
              </a:rPr>
              <a:t>况下，它的压强</a:t>
            </a:r>
            <a:r>
              <a:rPr dirty="0" sz="2800" spc="-5" b="1" i="1">
                <a:solidFill>
                  <a:srgbClr val="385622"/>
                </a:solidFill>
                <a:latin typeface="Times New Roman"/>
                <a:cs typeface="Times New Roman"/>
              </a:rPr>
              <a:t>p</a:t>
            </a:r>
            <a:r>
              <a:rPr dirty="0" sz="2800" b="1">
                <a:solidFill>
                  <a:srgbClr val="385622"/>
                </a:solidFill>
                <a:latin typeface="华文楷体"/>
                <a:cs typeface="华文楷体"/>
              </a:rPr>
              <a:t>与</a:t>
            </a:r>
            <a:r>
              <a:rPr dirty="0" sz="2800" b="1">
                <a:solidFill>
                  <a:srgbClr val="C00000"/>
                </a:solidFill>
                <a:latin typeface="华文楷体"/>
                <a:cs typeface="华文楷体"/>
              </a:rPr>
              <a:t>热力学温</a:t>
            </a:r>
            <a:r>
              <a:rPr dirty="0" sz="2800" spc="-285" b="1">
                <a:solidFill>
                  <a:srgbClr val="C00000"/>
                </a:solidFill>
                <a:latin typeface="华文楷体"/>
                <a:cs typeface="华文楷体"/>
              </a:rPr>
              <a:t>度</a:t>
            </a:r>
            <a:r>
              <a:rPr dirty="0" sz="2900" spc="-245" b="1" i="1">
                <a:solidFill>
                  <a:srgbClr val="C00000"/>
                </a:solidFill>
                <a:latin typeface="华文楷体"/>
                <a:cs typeface="华文楷体"/>
              </a:rPr>
              <a:t>T</a:t>
            </a:r>
            <a:r>
              <a:rPr dirty="0" sz="2800" b="1">
                <a:solidFill>
                  <a:srgbClr val="385622"/>
                </a:solidFill>
                <a:latin typeface="华文楷体"/>
                <a:cs typeface="华文楷体"/>
              </a:rPr>
              <a:t>成正比</a:t>
            </a:r>
            <a:r>
              <a:rPr dirty="0" sz="2800" spc="-10" b="1">
                <a:solidFill>
                  <a:srgbClr val="385622"/>
                </a:solidFill>
                <a:latin typeface="华文楷体"/>
                <a:cs typeface="华文楷体"/>
              </a:rPr>
              <a:t>。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460750" y="1196975"/>
            <a:ext cx="16637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300">
                <a:solidFill>
                  <a:srgbClr val="000000"/>
                </a:solidFill>
                <a:latin typeface="黑体"/>
                <a:cs typeface="黑体"/>
              </a:rPr>
              <a:t>实验结</a:t>
            </a:r>
            <a:r>
              <a:rPr dirty="0" sz="3000">
                <a:solidFill>
                  <a:srgbClr val="000000"/>
                </a:solidFill>
                <a:latin typeface="黑体"/>
                <a:cs typeface="黑体"/>
              </a:rPr>
              <a:t>论</a:t>
            </a:r>
            <a:endParaRPr sz="3000">
              <a:latin typeface="黑体"/>
              <a:cs typeface="黑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871470" y="1238885"/>
            <a:ext cx="449580" cy="446405"/>
          </a:xfrm>
          <a:custGeom>
            <a:avLst/>
            <a:gdLst/>
            <a:ahLst/>
            <a:cxnLst/>
            <a:rect l="l" t="t" r="r" b="b"/>
            <a:pathLst>
              <a:path w="449579" h="446405">
                <a:moveTo>
                  <a:pt x="232587" y="92849"/>
                </a:moveTo>
                <a:lnTo>
                  <a:pt x="216700" y="92849"/>
                </a:lnTo>
                <a:lnTo>
                  <a:pt x="210108" y="86309"/>
                </a:lnTo>
                <a:lnTo>
                  <a:pt x="210108" y="6248"/>
                </a:lnTo>
                <a:lnTo>
                  <a:pt x="216700" y="0"/>
                </a:lnTo>
                <a:lnTo>
                  <a:pt x="232587" y="0"/>
                </a:lnTo>
                <a:lnTo>
                  <a:pt x="239179" y="6248"/>
                </a:lnTo>
                <a:lnTo>
                  <a:pt x="239179" y="86309"/>
                </a:lnTo>
                <a:lnTo>
                  <a:pt x="232587" y="92849"/>
                </a:lnTo>
                <a:close/>
              </a:path>
              <a:path w="449579" h="446405">
                <a:moveTo>
                  <a:pt x="126187" y="136601"/>
                </a:moveTo>
                <a:lnTo>
                  <a:pt x="117195" y="136601"/>
                </a:lnTo>
                <a:lnTo>
                  <a:pt x="60248" y="80060"/>
                </a:lnTo>
                <a:lnTo>
                  <a:pt x="60248" y="70827"/>
                </a:lnTo>
                <a:lnTo>
                  <a:pt x="71335" y="59816"/>
                </a:lnTo>
                <a:lnTo>
                  <a:pt x="80619" y="59816"/>
                </a:lnTo>
                <a:lnTo>
                  <a:pt x="86017" y="65468"/>
                </a:lnTo>
                <a:lnTo>
                  <a:pt x="131876" y="111010"/>
                </a:lnTo>
                <a:lnTo>
                  <a:pt x="137566" y="116357"/>
                </a:lnTo>
                <a:lnTo>
                  <a:pt x="137566" y="125590"/>
                </a:lnTo>
                <a:lnTo>
                  <a:pt x="131876" y="130949"/>
                </a:lnTo>
                <a:lnTo>
                  <a:pt x="126187" y="136601"/>
                </a:lnTo>
                <a:close/>
              </a:path>
              <a:path w="449579" h="446405">
                <a:moveTo>
                  <a:pt x="332092" y="136601"/>
                </a:moveTo>
                <a:lnTo>
                  <a:pt x="323100" y="136601"/>
                </a:lnTo>
                <a:lnTo>
                  <a:pt x="311708" y="125285"/>
                </a:lnTo>
                <a:lnTo>
                  <a:pt x="312013" y="116357"/>
                </a:lnTo>
                <a:lnTo>
                  <a:pt x="317398" y="110705"/>
                </a:lnTo>
                <a:lnTo>
                  <a:pt x="368960" y="59816"/>
                </a:lnTo>
                <a:lnTo>
                  <a:pt x="377952" y="59816"/>
                </a:lnTo>
                <a:lnTo>
                  <a:pt x="389331" y="71132"/>
                </a:lnTo>
                <a:lnTo>
                  <a:pt x="389331" y="80060"/>
                </a:lnTo>
                <a:lnTo>
                  <a:pt x="332092" y="136601"/>
                </a:lnTo>
                <a:close/>
              </a:path>
              <a:path w="449579" h="446405">
                <a:moveTo>
                  <a:pt x="222389" y="340156"/>
                </a:moveTo>
                <a:lnTo>
                  <a:pt x="176460" y="330968"/>
                </a:lnTo>
                <a:lnTo>
                  <a:pt x="139065" y="305930"/>
                </a:lnTo>
                <a:lnTo>
                  <a:pt x="113853" y="268700"/>
                </a:lnTo>
                <a:lnTo>
                  <a:pt x="104597" y="223202"/>
                </a:lnTo>
                <a:lnTo>
                  <a:pt x="106991" y="199562"/>
                </a:lnTo>
                <a:lnTo>
                  <a:pt x="124705" y="157749"/>
                </a:lnTo>
                <a:lnTo>
                  <a:pt x="156470" y="126035"/>
                </a:lnTo>
                <a:lnTo>
                  <a:pt x="198583" y="108324"/>
                </a:lnTo>
                <a:lnTo>
                  <a:pt x="222389" y="105943"/>
                </a:lnTo>
                <a:lnTo>
                  <a:pt x="246073" y="108324"/>
                </a:lnTo>
                <a:lnTo>
                  <a:pt x="268209" y="115169"/>
                </a:lnTo>
                <a:lnTo>
                  <a:pt x="288267" y="126035"/>
                </a:lnTo>
                <a:lnTo>
                  <a:pt x="305714" y="140474"/>
                </a:lnTo>
                <a:lnTo>
                  <a:pt x="307689" y="142849"/>
                </a:lnTo>
                <a:lnTo>
                  <a:pt x="222389" y="142849"/>
                </a:lnTo>
                <a:lnTo>
                  <a:pt x="206027" y="144472"/>
                </a:lnTo>
                <a:lnTo>
                  <a:pt x="165150" y="166357"/>
                </a:lnTo>
                <a:lnTo>
                  <a:pt x="143099" y="206957"/>
                </a:lnTo>
                <a:lnTo>
                  <a:pt x="141465" y="223202"/>
                </a:lnTo>
                <a:lnTo>
                  <a:pt x="143099" y="239324"/>
                </a:lnTo>
                <a:lnTo>
                  <a:pt x="165150" y="280047"/>
                </a:lnTo>
                <a:lnTo>
                  <a:pt x="206027" y="301932"/>
                </a:lnTo>
                <a:lnTo>
                  <a:pt x="222389" y="303555"/>
                </a:lnTo>
                <a:lnTo>
                  <a:pt x="307670" y="303555"/>
                </a:lnTo>
                <a:lnTo>
                  <a:pt x="305714" y="305930"/>
                </a:lnTo>
                <a:lnTo>
                  <a:pt x="288267" y="320193"/>
                </a:lnTo>
                <a:lnTo>
                  <a:pt x="268209" y="330968"/>
                </a:lnTo>
                <a:lnTo>
                  <a:pt x="246073" y="337780"/>
                </a:lnTo>
                <a:lnTo>
                  <a:pt x="222389" y="340156"/>
                </a:lnTo>
                <a:close/>
              </a:path>
              <a:path w="449579" h="446405">
                <a:moveTo>
                  <a:pt x="307670" y="303555"/>
                </a:moveTo>
                <a:lnTo>
                  <a:pt x="222389" y="303555"/>
                </a:lnTo>
                <a:lnTo>
                  <a:pt x="238752" y="301932"/>
                </a:lnTo>
                <a:lnTo>
                  <a:pt x="253934" y="297268"/>
                </a:lnTo>
                <a:lnTo>
                  <a:pt x="289533" y="268111"/>
                </a:lnTo>
                <a:lnTo>
                  <a:pt x="303314" y="223202"/>
                </a:lnTo>
                <a:lnTo>
                  <a:pt x="301679" y="206957"/>
                </a:lnTo>
                <a:lnTo>
                  <a:pt x="279641" y="166357"/>
                </a:lnTo>
                <a:lnTo>
                  <a:pt x="238752" y="144472"/>
                </a:lnTo>
                <a:lnTo>
                  <a:pt x="222389" y="142849"/>
                </a:lnTo>
                <a:lnTo>
                  <a:pt x="307689" y="142849"/>
                </a:lnTo>
                <a:lnTo>
                  <a:pt x="320079" y="157749"/>
                </a:lnTo>
                <a:lnTo>
                  <a:pt x="330930" y="177595"/>
                </a:lnTo>
                <a:lnTo>
                  <a:pt x="337789" y="199562"/>
                </a:lnTo>
                <a:lnTo>
                  <a:pt x="340182" y="223202"/>
                </a:lnTo>
                <a:lnTo>
                  <a:pt x="337776" y="246719"/>
                </a:lnTo>
                <a:lnTo>
                  <a:pt x="330930" y="268585"/>
                </a:lnTo>
                <a:lnTo>
                  <a:pt x="320079" y="288485"/>
                </a:lnTo>
                <a:lnTo>
                  <a:pt x="307670" y="303555"/>
                </a:lnTo>
                <a:close/>
              </a:path>
              <a:path w="449579" h="446405">
                <a:moveTo>
                  <a:pt x="86918" y="237489"/>
                </a:moveTo>
                <a:lnTo>
                  <a:pt x="6299" y="237489"/>
                </a:lnTo>
                <a:lnTo>
                  <a:pt x="0" y="230936"/>
                </a:lnTo>
                <a:lnTo>
                  <a:pt x="0" y="215163"/>
                </a:lnTo>
                <a:lnTo>
                  <a:pt x="6299" y="208914"/>
                </a:lnTo>
                <a:lnTo>
                  <a:pt x="86918" y="208914"/>
                </a:lnTo>
                <a:lnTo>
                  <a:pt x="93510" y="215163"/>
                </a:lnTo>
                <a:lnTo>
                  <a:pt x="93510" y="230936"/>
                </a:lnTo>
                <a:lnTo>
                  <a:pt x="86918" y="237489"/>
                </a:lnTo>
                <a:close/>
              </a:path>
              <a:path w="449579" h="446405">
                <a:moveTo>
                  <a:pt x="442988" y="237489"/>
                </a:moveTo>
                <a:lnTo>
                  <a:pt x="362356" y="237489"/>
                </a:lnTo>
                <a:lnTo>
                  <a:pt x="355765" y="230936"/>
                </a:lnTo>
                <a:lnTo>
                  <a:pt x="355765" y="215163"/>
                </a:lnTo>
                <a:lnTo>
                  <a:pt x="362356" y="208914"/>
                </a:lnTo>
                <a:lnTo>
                  <a:pt x="442988" y="208914"/>
                </a:lnTo>
                <a:lnTo>
                  <a:pt x="449580" y="215163"/>
                </a:lnTo>
                <a:lnTo>
                  <a:pt x="449580" y="230936"/>
                </a:lnTo>
                <a:lnTo>
                  <a:pt x="442988" y="237489"/>
                </a:lnTo>
                <a:close/>
              </a:path>
              <a:path w="449579" h="446405">
                <a:moveTo>
                  <a:pt x="80619" y="386587"/>
                </a:moveTo>
                <a:lnTo>
                  <a:pt x="71335" y="386587"/>
                </a:lnTo>
                <a:lnTo>
                  <a:pt x="65633" y="380936"/>
                </a:lnTo>
                <a:lnTo>
                  <a:pt x="60248" y="375272"/>
                </a:lnTo>
                <a:lnTo>
                  <a:pt x="60248" y="366344"/>
                </a:lnTo>
                <a:lnTo>
                  <a:pt x="65633" y="360692"/>
                </a:lnTo>
                <a:lnTo>
                  <a:pt x="111493" y="315163"/>
                </a:lnTo>
                <a:lnTo>
                  <a:pt x="117195" y="309803"/>
                </a:lnTo>
                <a:lnTo>
                  <a:pt x="126187" y="309803"/>
                </a:lnTo>
                <a:lnTo>
                  <a:pt x="131876" y="315163"/>
                </a:lnTo>
                <a:lnTo>
                  <a:pt x="137566" y="320814"/>
                </a:lnTo>
                <a:lnTo>
                  <a:pt x="137566" y="329742"/>
                </a:lnTo>
                <a:lnTo>
                  <a:pt x="86017" y="380936"/>
                </a:lnTo>
                <a:lnTo>
                  <a:pt x="80619" y="386587"/>
                </a:lnTo>
                <a:close/>
              </a:path>
              <a:path w="449579" h="446405">
                <a:moveTo>
                  <a:pt x="377952" y="386587"/>
                </a:moveTo>
                <a:lnTo>
                  <a:pt x="368960" y="386587"/>
                </a:lnTo>
                <a:lnTo>
                  <a:pt x="317398" y="335699"/>
                </a:lnTo>
                <a:lnTo>
                  <a:pt x="312013" y="330047"/>
                </a:lnTo>
                <a:lnTo>
                  <a:pt x="311708" y="321119"/>
                </a:lnTo>
                <a:lnTo>
                  <a:pt x="323100" y="309803"/>
                </a:lnTo>
                <a:lnTo>
                  <a:pt x="332092" y="309803"/>
                </a:lnTo>
                <a:lnTo>
                  <a:pt x="383641" y="360692"/>
                </a:lnTo>
                <a:lnTo>
                  <a:pt x="389039" y="366344"/>
                </a:lnTo>
                <a:lnTo>
                  <a:pt x="389331" y="375272"/>
                </a:lnTo>
                <a:lnTo>
                  <a:pt x="377952" y="386587"/>
                </a:lnTo>
                <a:close/>
              </a:path>
              <a:path w="449579" h="446405">
                <a:moveTo>
                  <a:pt x="232587" y="446404"/>
                </a:moveTo>
                <a:lnTo>
                  <a:pt x="216700" y="446404"/>
                </a:lnTo>
                <a:lnTo>
                  <a:pt x="210108" y="439851"/>
                </a:lnTo>
                <a:lnTo>
                  <a:pt x="210108" y="359803"/>
                </a:lnTo>
                <a:lnTo>
                  <a:pt x="216700" y="353555"/>
                </a:lnTo>
                <a:lnTo>
                  <a:pt x="232587" y="353555"/>
                </a:lnTo>
                <a:lnTo>
                  <a:pt x="239179" y="359803"/>
                </a:lnTo>
                <a:lnTo>
                  <a:pt x="239179" y="439851"/>
                </a:lnTo>
                <a:lnTo>
                  <a:pt x="232587" y="446404"/>
                </a:lnTo>
                <a:close/>
              </a:path>
            </a:pathLst>
          </a:custGeom>
          <a:solidFill>
            <a:srgbClr val="3856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403348" y="2001011"/>
            <a:ext cx="7386828" cy="27401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07940" y="3140709"/>
            <a:ext cx="16637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300">
                <a:solidFill>
                  <a:srgbClr val="000000"/>
                </a:solidFill>
                <a:latin typeface="黑体"/>
                <a:cs typeface="黑体"/>
              </a:rPr>
              <a:t>查理定</a:t>
            </a:r>
            <a:r>
              <a:rPr dirty="0" sz="3000">
                <a:solidFill>
                  <a:srgbClr val="000000"/>
                </a:solidFill>
                <a:latin typeface="黑体"/>
                <a:cs typeface="黑体"/>
              </a:rPr>
              <a:t>律</a:t>
            </a:r>
            <a:endParaRPr sz="3000">
              <a:latin typeface="黑体"/>
              <a:cs typeface="黑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454910" y="2348229"/>
            <a:ext cx="1316990" cy="2825750"/>
          </a:xfrm>
          <a:custGeom>
            <a:avLst/>
            <a:gdLst/>
            <a:ahLst/>
            <a:cxnLst/>
            <a:rect l="l" t="t" r="r" b="b"/>
            <a:pathLst>
              <a:path w="1316989" h="2825750">
                <a:moveTo>
                  <a:pt x="494029" y="626668"/>
                </a:moveTo>
                <a:lnTo>
                  <a:pt x="447320" y="623261"/>
                </a:lnTo>
                <a:lnTo>
                  <a:pt x="402734" y="613362"/>
                </a:lnTo>
                <a:lnTo>
                  <a:pt x="360762" y="597460"/>
                </a:lnTo>
                <a:lnTo>
                  <a:pt x="321893" y="576040"/>
                </a:lnTo>
                <a:lnTo>
                  <a:pt x="286617" y="549590"/>
                </a:lnTo>
                <a:lnTo>
                  <a:pt x="255424" y="518597"/>
                </a:lnTo>
                <a:lnTo>
                  <a:pt x="228804" y="483548"/>
                </a:lnTo>
                <a:lnTo>
                  <a:pt x="207246" y="444928"/>
                </a:lnTo>
                <a:lnTo>
                  <a:pt x="191242" y="403226"/>
                </a:lnTo>
                <a:lnTo>
                  <a:pt x="181280" y="358928"/>
                </a:lnTo>
                <a:lnTo>
                  <a:pt x="177850" y="312521"/>
                </a:lnTo>
                <a:lnTo>
                  <a:pt x="181280" y="266518"/>
                </a:lnTo>
                <a:lnTo>
                  <a:pt x="191242" y="222551"/>
                </a:lnTo>
                <a:lnTo>
                  <a:pt x="207246" y="181114"/>
                </a:lnTo>
                <a:lnTo>
                  <a:pt x="228804" y="142701"/>
                </a:lnTo>
                <a:lnTo>
                  <a:pt x="255424" y="107807"/>
                </a:lnTo>
                <a:lnTo>
                  <a:pt x="286617" y="76925"/>
                </a:lnTo>
                <a:lnTo>
                  <a:pt x="321893" y="50549"/>
                </a:lnTo>
                <a:lnTo>
                  <a:pt x="360762" y="29175"/>
                </a:lnTo>
                <a:lnTo>
                  <a:pt x="402734" y="13296"/>
                </a:lnTo>
                <a:lnTo>
                  <a:pt x="447320" y="3406"/>
                </a:lnTo>
                <a:lnTo>
                  <a:pt x="494029" y="0"/>
                </a:lnTo>
                <a:lnTo>
                  <a:pt x="540328" y="3406"/>
                </a:lnTo>
                <a:lnTo>
                  <a:pt x="584578" y="13296"/>
                </a:lnTo>
                <a:lnTo>
                  <a:pt x="626281" y="29175"/>
                </a:lnTo>
                <a:lnTo>
                  <a:pt x="664941" y="50549"/>
                </a:lnTo>
                <a:lnTo>
                  <a:pt x="700059" y="76925"/>
                </a:lnTo>
                <a:lnTo>
                  <a:pt x="731139" y="107807"/>
                </a:lnTo>
                <a:lnTo>
                  <a:pt x="757684" y="142701"/>
                </a:lnTo>
                <a:lnTo>
                  <a:pt x="779195" y="181114"/>
                </a:lnTo>
                <a:lnTo>
                  <a:pt x="795176" y="222551"/>
                </a:lnTo>
                <a:lnTo>
                  <a:pt x="805129" y="266518"/>
                </a:lnTo>
                <a:lnTo>
                  <a:pt x="808558" y="312521"/>
                </a:lnTo>
                <a:lnTo>
                  <a:pt x="805129" y="358928"/>
                </a:lnTo>
                <a:lnTo>
                  <a:pt x="795176" y="403226"/>
                </a:lnTo>
                <a:lnTo>
                  <a:pt x="779195" y="444928"/>
                </a:lnTo>
                <a:lnTo>
                  <a:pt x="757684" y="483548"/>
                </a:lnTo>
                <a:lnTo>
                  <a:pt x="731139" y="518597"/>
                </a:lnTo>
                <a:lnTo>
                  <a:pt x="700059" y="549590"/>
                </a:lnTo>
                <a:lnTo>
                  <a:pt x="664941" y="576040"/>
                </a:lnTo>
                <a:lnTo>
                  <a:pt x="626281" y="597460"/>
                </a:lnTo>
                <a:lnTo>
                  <a:pt x="584578" y="613362"/>
                </a:lnTo>
                <a:lnTo>
                  <a:pt x="540328" y="623261"/>
                </a:lnTo>
                <a:lnTo>
                  <a:pt x="494029" y="626668"/>
                </a:lnTo>
                <a:close/>
              </a:path>
              <a:path w="1316989" h="2825750">
                <a:moveTo>
                  <a:pt x="874455" y="996454"/>
                </a:moveTo>
                <a:lnTo>
                  <a:pt x="494029" y="996454"/>
                </a:lnTo>
                <a:lnTo>
                  <a:pt x="663638" y="703580"/>
                </a:lnTo>
                <a:lnTo>
                  <a:pt x="732802" y="703580"/>
                </a:lnTo>
                <a:lnTo>
                  <a:pt x="759155" y="702838"/>
                </a:lnTo>
                <a:lnTo>
                  <a:pt x="783035" y="697647"/>
                </a:lnTo>
                <a:lnTo>
                  <a:pt x="806913" y="683557"/>
                </a:lnTo>
                <a:lnTo>
                  <a:pt x="833259" y="656120"/>
                </a:lnTo>
                <a:lnTo>
                  <a:pt x="1113205" y="237248"/>
                </a:lnTo>
                <a:lnTo>
                  <a:pt x="1145116" y="206058"/>
                </a:lnTo>
                <a:lnTo>
                  <a:pt x="1186903" y="187753"/>
                </a:lnTo>
                <a:lnTo>
                  <a:pt x="1231777" y="184788"/>
                </a:lnTo>
                <a:lnTo>
                  <a:pt x="1272946" y="199618"/>
                </a:lnTo>
                <a:lnTo>
                  <a:pt x="1279537" y="204533"/>
                </a:lnTo>
                <a:lnTo>
                  <a:pt x="1307942" y="237867"/>
                </a:lnTo>
                <a:lnTo>
                  <a:pt x="1316586" y="279792"/>
                </a:lnTo>
                <a:lnTo>
                  <a:pt x="1309177" y="324171"/>
                </a:lnTo>
                <a:lnTo>
                  <a:pt x="1289418" y="364871"/>
                </a:lnTo>
                <a:lnTo>
                  <a:pt x="1244105" y="435255"/>
                </a:lnTo>
                <a:lnTo>
                  <a:pt x="1133178" y="606423"/>
                </a:lnTo>
                <a:lnTo>
                  <a:pt x="994154" y="818393"/>
                </a:lnTo>
                <a:lnTo>
                  <a:pt x="874455" y="996454"/>
                </a:lnTo>
                <a:close/>
              </a:path>
              <a:path w="1316989" h="2825750">
                <a:moveTo>
                  <a:pt x="494855" y="757980"/>
                </a:moveTo>
                <a:lnTo>
                  <a:pt x="483945" y="754603"/>
                </a:lnTo>
                <a:lnTo>
                  <a:pt x="474268" y="744474"/>
                </a:lnTo>
                <a:lnTo>
                  <a:pt x="457796" y="719937"/>
                </a:lnTo>
                <a:lnTo>
                  <a:pt x="453041" y="706284"/>
                </a:lnTo>
                <a:lnTo>
                  <a:pt x="455539" y="695391"/>
                </a:lnTo>
                <a:lnTo>
                  <a:pt x="464519" y="688180"/>
                </a:lnTo>
                <a:lnTo>
                  <a:pt x="479209" y="685571"/>
                </a:lnTo>
                <a:lnTo>
                  <a:pt x="510501" y="685571"/>
                </a:lnTo>
                <a:lnTo>
                  <a:pt x="525191" y="688180"/>
                </a:lnTo>
                <a:lnTo>
                  <a:pt x="534169" y="695391"/>
                </a:lnTo>
                <a:lnTo>
                  <a:pt x="536664" y="706284"/>
                </a:lnTo>
                <a:lnTo>
                  <a:pt x="531901" y="719937"/>
                </a:lnTo>
                <a:lnTo>
                  <a:pt x="515442" y="744474"/>
                </a:lnTo>
                <a:lnTo>
                  <a:pt x="505765" y="754603"/>
                </a:lnTo>
                <a:lnTo>
                  <a:pt x="494855" y="757980"/>
                </a:lnTo>
                <a:close/>
              </a:path>
              <a:path w="1316989" h="2825750">
                <a:moveTo>
                  <a:pt x="149859" y="1824380"/>
                </a:moveTo>
                <a:lnTo>
                  <a:pt x="108686" y="1824380"/>
                </a:lnTo>
                <a:lnTo>
                  <a:pt x="65997" y="1815790"/>
                </a:lnTo>
                <a:lnTo>
                  <a:pt x="31492" y="1792474"/>
                </a:lnTo>
                <a:lnTo>
                  <a:pt x="8413" y="1758114"/>
                </a:lnTo>
                <a:lnTo>
                  <a:pt x="0" y="1716392"/>
                </a:lnTo>
                <a:lnTo>
                  <a:pt x="0" y="1003007"/>
                </a:lnTo>
                <a:lnTo>
                  <a:pt x="3970" y="963652"/>
                </a:lnTo>
                <a:lnTo>
                  <a:pt x="15559" y="925357"/>
                </a:lnTo>
                <a:lnTo>
                  <a:pt x="34281" y="888496"/>
                </a:lnTo>
                <a:lnTo>
                  <a:pt x="59653" y="853441"/>
                </a:lnTo>
                <a:lnTo>
                  <a:pt x="91190" y="820566"/>
                </a:lnTo>
                <a:lnTo>
                  <a:pt x="128409" y="790243"/>
                </a:lnTo>
                <a:lnTo>
                  <a:pt x="170824" y="762846"/>
                </a:lnTo>
                <a:lnTo>
                  <a:pt x="217952" y="738748"/>
                </a:lnTo>
                <a:lnTo>
                  <a:pt x="269308" y="718322"/>
                </a:lnTo>
                <a:lnTo>
                  <a:pt x="324408" y="701941"/>
                </a:lnTo>
                <a:lnTo>
                  <a:pt x="494029" y="996454"/>
                </a:lnTo>
                <a:lnTo>
                  <a:pt x="874455" y="996454"/>
                </a:lnTo>
                <a:lnTo>
                  <a:pt x="864552" y="1011186"/>
                </a:lnTo>
                <a:lnTo>
                  <a:pt x="843195" y="1044009"/>
                </a:lnTo>
                <a:lnTo>
                  <a:pt x="828957" y="1066812"/>
                </a:lnTo>
                <a:lnTo>
                  <a:pt x="169621" y="1066812"/>
                </a:lnTo>
                <a:lnTo>
                  <a:pt x="161668" y="1068244"/>
                </a:lnTo>
                <a:lnTo>
                  <a:pt x="155416" y="1072129"/>
                </a:lnTo>
                <a:lnTo>
                  <a:pt x="151326" y="1077855"/>
                </a:lnTo>
                <a:lnTo>
                  <a:pt x="149859" y="1084808"/>
                </a:lnTo>
                <a:lnTo>
                  <a:pt x="149859" y="1824380"/>
                </a:lnTo>
                <a:close/>
              </a:path>
              <a:path w="1316989" h="2825750">
                <a:moveTo>
                  <a:pt x="494029" y="957186"/>
                </a:moveTo>
                <a:lnTo>
                  <a:pt x="436397" y="859015"/>
                </a:lnTo>
                <a:lnTo>
                  <a:pt x="462737" y="747750"/>
                </a:lnTo>
                <a:lnTo>
                  <a:pt x="464388" y="749388"/>
                </a:lnTo>
                <a:lnTo>
                  <a:pt x="470178" y="757980"/>
                </a:lnTo>
                <a:lnTo>
                  <a:pt x="477356" y="764116"/>
                </a:lnTo>
                <a:lnTo>
                  <a:pt x="485460" y="767796"/>
                </a:lnTo>
                <a:lnTo>
                  <a:pt x="494029" y="769023"/>
                </a:lnTo>
                <a:lnTo>
                  <a:pt x="530358" y="769023"/>
                </a:lnTo>
                <a:lnTo>
                  <a:pt x="551662" y="859015"/>
                </a:lnTo>
                <a:lnTo>
                  <a:pt x="494029" y="957186"/>
                </a:lnTo>
                <a:close/>
              </a:path>
              <a:path w="1316989" h="2825750">
                <a:moveTo>
                  <a:pt x="530358" y="769023"/>
                </a:moveTo>
                <a:lnTo>
                  <a:pt x="494029" y="769023"/>
                </a:lnTo>
                <a:lnTo>
                  <a:pt x="503316" y="767796"/>
                </a:lnTo>
                <a:lnTo>
                  <a:pt x="511524" y="764116"/>
                </a:lnTo>
                <a:lnTo>
                  <a:pt x="518808" y="757980"/>
                </a:lnTo>
                <a:lnTo>
                  <a:pt x="525322" y="749388"/>
                </a:lnTo>
                <a:lnTo>
                  <a:pt x="525322" y="747750"/>
                </a:lnTo>
                <a:lnTo>
                  <a:pt x="530358" y="769023"/>
                </a:lnTo>
                <a:close/>
              </a:path>
              <a:path w="1316989" h="2825750">
                <a:moveTo>
                  <a:pt x="319468" y="2825750"/>
                </a:moveTo>
                <a:lnTo>
                  <a:pt x="316179" y="2825750"/>
                </a:lnTo>
                <a:lnTo>
                  <a:pt x="273645" y="2819052"/>
                </a:lnTo>
                <a:lnTo>
                  <a:pt x="236515" y="2800389"/>
                </a:lnTo>
                <a:lnTo>
                  <a:pt x="207104" y="2771909"/>
                </a:lnTo>
                <a:lnTo>
                  <a:pt x="187731" y="2735757"/>
                </a:lnTo>
                <a:lnTo>
                  <a:pt x="187731" y="1084808"/>
                </a:lnTo>
                <a:lnTo>
                  <a:pt x="186291" y="1077855"/>
                </a:lnTo>
                <a:lnTo>
                  <a:pt x="182381" y="1072129"/>
                </a:lnTo>
                <a:lnTo>
                  <a:pt x="176619" y="1068244"/>
                </a:lnTo>
                <a:lnTo>
                  <a:pt x="169621" y="1066812"/>
                </a:lnTo>
                <a:lnTo>
                  <a:pt x="828957" y="1066812"/>
                </a:lnTo>
                <a:lnTo>
                  <a:pt x="810358" y="1100455"/>
                </a:lnTo>
                <a:lnTo>
                  <a:pt x="795563" y="1158953"/>
                </a:lnTo>
                <a:lnTo>
                  <a:pt x="792707" y="1200577"/>
                </a:lnTo>
                <a:lnTo>
                  <a:pt x="792010" y="1235449"/>
                </a:lnTo>
                <a:lnTo>
                  <a:pt x="792086" y="1824380"/>
                </a:lnTo>
                <a:lnTo>
                  <a:pt x="454507" y="1824380"/>
                </a:lnTo>
                <a:lnTo>
                  <a:pt x="454507" y="2709583"/>
                </a:lnTo>
                <a:lnTo>
                  <a:pt x="443828" y="2759484"/>
                </a:lnTo>
                <a:lnTo>
                  <a:pt x="414777" y="2795889"/>
                </a:lnTo>
                <a:lnTo>
                  <a:pt x="371831" y="2818182"/>
                </a:lnTo>
                <a:lnTo>
                  <a:pt x="319468" y="2825750"/>
                </a:lnTo>
                <a:close/>
              </a:path>
              <a:path w="1316989" h="2825750">
                <a:moveTo>
                  <a:pt x="665289" y="2825750"/>
                </a:moveTo>
                <a:lnTo>
                  <a:pt x="662000" y="2825750"/>
                </a:lnTo>
                <a:lnTo>
                  <a:pt x="608685" y="2818182"/>
                </a:lnTo>
                <a:lnTo>
                  <a:pt x="565253" y="2795889"/>
                </a:lnTo>
                <a:lnTo>
                  <a:pt x="536025" y="2759484"/>
                </a:lnTo>
                <a:lnTo>
                  <a:pt x="525322" y="2709583"/>
                </a:lnTo>
                <a:lnTo>
                  <a:pt x="525322" y="1824380"/>
                </a:lnTo>
                <a:lnTo>
                  <a:pt x="792086" y="1824380"/>
                </a:lnTo>
                <a:lnTo>
                  <a:pt x="792086" y="2735757"/>
                </a:lnTo>
                <a:lnTo>
                  <a:pt x="772970" y="2771909"/>
                </a:lnTo>
                <a:lnTo>
                  <a:pt x="744127" y="2800389"/>
                </a:lnTo>
                <a:lnTo>
                  <a:pt x="707565" y="2819052"/>
                </a:lnTo>
                <a:lnTo>
                  <a:pt x="665289" y="2825750"/>
                </a:lnTo>
                <a:close/>
              </a:path>
            </a:pathLst>
          </a:custGeom>
          <a:solidFill>
            <a:srgbClr val="385622">
              <a:alpha val="76098"/>
            </a:srgbClr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54760" y="1230629"/>
            <a:ext cx="32639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83565" algn="l"/>
              </a:tabLst>
            </a:pPr>
            <a:r>
              <a:rPr dirty="0" sz="3000">
                <a:solidFill>
                  <a:srgbClr val="000000"/>
                </a:solidFill>
                <a:latin typeface="黑体"/>
                <a:cs typeface="黑体"/>
              </a:rPr>
              <a:t>二	气体的等容变化</a:t>
            </a:r>
            <a:endParaRPr sz="3000">
              <a:latin typeface="黑体"/>
              <a:cs typeface="黑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81812" y="1307591"/>
            <a:ext cx="273050" cy="273050"/>
          </a:xfrm>
          <a:custGeom>
            <a:avLst/>
            <a:gdLst/>
            <a:ahLst/>
            <a:cxnLst/>
            <a:rect l="l" t="t" r="r" b="b"/>
            <a:pathLst>
              <a:path w="273050" h="273050">
                <a:moveTo>
                  <a:pt x="0" y="0"/>
                </a:moveTo>
                <a:lnTo>
                  <a:pt x="272796" y="0"/>
                </a:lnTo>
                <a:lnTo>
                  <a:pt x="272796" y="272796"/>
                </a:lnTo>
                <a:lnTo>
                  <a:pt x="0" y="272796"/>
                </a:lnTo>
                <a:lnTo>
                  <a:pt x="0" y="0"/>
                </a:lnTo>
                <a:close/>
              </a:path>
            </a:pathLst>
          </a:custGeom>
          <a:solidFill>
            <a:srgbClr val="3856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931163" y="1475232"/>
            <a:ext cx="186055" cy="186055"/>
          </a:xfrm>
          <a:custGeom>
            <a:avLst/>
            <a:gdLst/>
            <a:ahLst/>
            <a:cxnLst/>
            <a:rect l="l" t="t" r="r" b="b"/>
            <a:pathLst>
              <a:path w="186055" h="186055">
                <a:moveTo>
                  <a:pt x="0" y="0"/>
                </a:moveTo>
                <a:lnTo>
                  <a:pt x="185928" y="0"/>
                </a:lnTo>
                <a:lnTo>
                  <a:pt x="185928" y="185928"/>
                </a:lnTo>
                <a:lnTo>
                  <a:pt x="0" y="185928"/>
                </a:lnTo>
                <a:lnTo>
                  <a:pt x="0" y="0"/>
                </a:lnTo>
                <a:close/>
              </a:path>
            </a:pathLst>
          </a:custGeom>
          <a:solidFill>
            <a:srgbClr val="53823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762885" y="2131136"/>
            <a:ext cx="6477000" cy="3385820"/>
          </a:xfrm>
          <a:prstGeom prst="rect">
            <a:avLst/>
          </a:prstGeom>
        </p:spPr>
        <p:txBody>
          <a:bodyPr wrap="square" lIns="0" tIns="146685" rIns="0" bIns="0" rtlCol="0" vert="horz">
            <a:spAutoFit/>
          </a:bodyPr>
          <a:lstStyle/>
          <a:p>
            <a:pPr marL="470534" indent="-335915">
              <a:lnSpc>
                <a:spcPct val="100000"/>
              </a:lnSpc>
              <a:spcBef>
                <a:spcPts val="1155"/>
              </a:spcBef>
              <a:buAutoNum type="arabicPeriod"/>
              <a:tabLst>
                <a:tab pos="470534" algn="l"/>
              </a:tabLst>
            </a:pPr>
            <a:r>
              <a:rPr dirty="0" sz="2800" b="1">
                <a:solidFill>
                  <a:srgbClr val="385622"/>
                </a:solidFill>
                <a:latin typeface="华文楷体"/>
                <a:cs typeface="华文楷体"/>
              </a:rPr>
              <a:t>文字表</a:t>
            </a:r>
            <a:r>
              <a:rPr dirty="0" sz="2800" spc="-10" b="1">
                <a:solidFill>
                  <a:srgbClr val="385622"/>
                </a:solidFill>
                <a:latin typeface="华文楷体"/>
                <a:cs typeface="华文楷体"/>
              </a:rPr>
              <a:t>述</a:t>
            </a:r>
            <a:endParaRPr sz="2800">
              <a:latin typeface="华文楷体"/>
              <a:cs typeface="华文楷体"/>
            </a:endParaRPr>
          </a:p>
          <a:p>
            <a:pPr marL="549910">
              <a:lnSpc>
                <a:spcPct val="100000"/>
              </a:lnSpc>
              <a:spcBef>
                <a:spcPts val="1055"/>
              </a:spcBef>
            </a:pPr>
            <a:r>
              <a:rPr dirty="0" sz="2800" b="1">
                <a:solidFill>
                  <a:srgbClr val="385622"/>
                </a:solidFill>
                <a:latin typeface="华文楷体"/>
                <a:cs typeface="华文楷体"/>
              </a:rPr>
              <a:t>一定质量的某种气体，在体积不变</a:t>
            </a:r>
            <a:r>
              <a:rPr dirty="0" sz="2800" spc="-10" b="1">
                <a:solidFill>
                  <a:srgbClr val="385622"/>
                </a:solidFill>
                <a:latin typeface="华文楷体"/>
                <a:cs typeface="华文楷体"/>
              </a:rPr>
              <a:t>的</a:t>
            </a:r>
            <a:endParaRPr sz="2800">
              <a:latin typeface="华文楷体"/>
              <a:cs typeface="华文楷体"/>
            </a:endParaRPr>
          </a:p>
          <a:p>
            <a:pPr marL="12700">
              <a:lnSpc>
                <a:spcPct val="100000"/>
              </a:lnSpc>
              <a:spcBef>
                <a:spcPts val="1620"/>
              </a:spcBef>
            </a:pPr>
            <a:r>
              <a:rPr dirty="0" sz="2800" b="1">
                <a:solidFill>
                  <a:srgbClr val="385622"/>
                </a:solidFill>
                <a:latin typeface="华文楷体"/>
                <a:cs typeface="华文楷体"/>
              </a:rPr>
              <a:t>情况下，其压强</a:t>
            </a:r>
            <a:r>
              <a:rPr dirty="0" sz="2800" spc="-5" b="1" i="1">
                <a:solidFill>
                  <a:srgbClr val="385622"/>
                </a:solidFill>
                <a:latin typeface="Times New Roman"/>
                <a:cs typeface="Times New Roman"/>
              </a:rPr>
              <a:t>p</a:t>
            </a:r>
            <a:r>
              <a:rPr dirty="0" sz="2800" b="1">
                <a:solidFill>
                  <a:srgbClr val="385622"/>
                </a:solidFill>
                <a:latin typeface="华文楷体"/>
                <a:cs typeface="华文楷体"/>
              </a:rPr>
              <a:t>与</a:t>
            </a:r>
            <a:r>
              <a:rPr dirty="0" sz="2800" b="1">
                <a:solidFill>
                  <a:srgbClr val="C00000"/>
                </a:solidFill>
                <a:latin typeface="华文楷体"/>
                <a:cs typeface="华文楷体"/>
              </a:rPr>
              <a:t>热力学温</a:t>
            </a:r>
            <a:r>
              <a:rPr dirty="0" sz="2800" spc="-285" b="1">
                <a:solidFill>
                  <a:srgbClr val="C00000"/>
                </a:solidFill>
                <a:latin typeface="华文楷体"/>
                <a:cs typeface="华文楷体"/>
              </a:rPr>
              <a:t>度</a:t>
            </a:r>
            <a:r>
              <a:rPr dirty="0" sz="2900" spc="-950" b="1" i="1">
                <a:solidFill>
                  <a:srgbClr val="C00000"/>
                </a:solidFill>
                <a:latin typeface="华文楷体"/>
                <a:cs typeface="华文楷体"/>
              </a:rPr>
              <a:t>T</a:t>
            </a:r>
            <a:r>
              <a:rPr dirty="0" sz="2800" b="1">
                <a:solidFill>
                  <a:srgbClr val="385622"/>
                </a:solidFill>
                <a:latin typeface="华文楷体"/>
                <a:cs typeface="华文楷体"/>
              </a:rPr>
              <a:t>成正比</a:t>
            </a:r>
            <a:r>
              <a:rPr dirty="0" sz="2800" spc="-10" b="1">
                <a:solidFill>
                  <a:srgbClr val="385622"/>
                </a:solidFill>
                <a:latin typeface="华文楷体"/>
                <a:cs typeface="华文楷体"/>
              </a:rPr>
              <a:t>。</a:t>
            </a:r>
            <a:endParaRPr sz="2800">
              <a:latin typeface="华文楷体"/>
              <a:cs typeface="华文楷体"/>
            </a:endParaRPr>
          </a:p>
          <a:p>
            <a:pPr>
              <a:lnSpc>
                <a:spcPct val="100000"/>
              </a:lnSpc>
            </a:pPr>
            <a:endParaRPr sz="3050">
              <a:latin typeface="Times New Roman"/>
              <a:cs typeface="Times New Roman"/>
            </a:endParaRPr>
          </a:p>
          <a:p>
            <a:pPr marL="470534" indent="-335915">
              <a:lnSpc>
                <a:spcPct val="100000"/>
              </a:lnSpc>
              <a:buAutoNum type="arabicPeriod" startAt="2"/>
              <a:tabLst>
                <a:tab pos="470534" algn="l"/>
              </a:tabLst>
            </a:pPr>
            <a:r>
              <a:rPr dirty="0" sz="2800" b="1">
                <a:solidFill>
                  <a:srgbClr val="385622"/>
                </a:solidFill>
                <a:latin typeface="华文楷体"/>
                <a:cs typeface="华文楷体"/>
              </a:rPr>
              <a:t>公式表</a:t>
            </a:r>
            <a:r>
              <a:rPr dirty="0" sz="2800" spc="-10" b="1">
                <a:solidFill>
                  <a:srgbClr val="385622"/>
                </a:solidFill>
                <a:latin typeface="华文楷体"/>
                <a:cs typeface="华文楷体"/>
              </a:rPr>
              <a:t>述</a:t>
            </a:r>
            <a:endParaRPr sz="2800">
              <a:latin typeface="华文楷体"/>
              <a:cs typeface="华文楷体"/>
            </a:endParaRPr>
          </a:p>
          <a:p>
            <a:pPr marL="515620">
              <a:lnSpc>
                <a:spcPct val="100000"/>
              </a:lnSpc>
              <a:spcBef>
                <a:spcPts val="2300"/>
              </a:spcBef>
            </a:pPr>
            <a:r>
              <a:rPr dirty="0" sz="2800" spc="-5" b="1" i="1">
                <a:solidFill>
                  <a:srgbClr val="385622"/>
                </a:solidFill>
                <a:latin typeface="Times New Roman"/>
                <a:cs typeface="Times New Roman"/>
              </a:rPr>
              <a:t>p=CT</a:t>
            </a:r>
            <a:r>
              <a:rPr dirty="0" sz="2800" spc="-5" b="1">
                <a:solidFill>
                  <a:srgbClr val="385622"/>
                </a:solidFill>
                <a:latin typeface="华文楷体"/>
                <a:cs typeface="华文楷体"/>
              </a:rPr>
              <a:t>（</a:t>
            </a:r>
            <a:r>
              <a:rPr dirty="0" sz="2800" spc="-5" b="1" i="1">
                <a:solidFill>
                  <a:srgbClr val="385622"/>
                </a:solidFill>
                <a:latin typeface="Times New Roman"/>
                <a:cs typeface="Times New Roman"/>
              </a:rPr>
              <a:t>C</a:t>
            </a:r>
            <a:r>
              <a:rPr dirty="0" sz="2800" b="1">
                <a:solidFill>
                  <a:srgbClr val="385622"/>
                </a:solidFill>
                <a:latin typeface="华文楷体"/>
                <a:cs typeface="华文楷体"/>
              </a:rPr>
              <a:t>为常量</a:t>
            </a:r>
            <a:r>
              <a:rPr dirty="0" sz="2800" spc="-10" b="1">
                <a:solidFill>
                  <a:srgbClr val="385622"/>
                </a:solidFill>
                <a:latin typeface="华文楷体"/>
                <a:cs typeface="华文楷体"/>
              </a:rPr>
              <a:t>）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163055" y="4931664"/>
            <a:ext cx="1397507" cy="7635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676388" y="4931664"/>
            <a:ext cx="1395983" cy="79400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572511" y="3067811"/>
            <a:ext cx="3229356" cy="24841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839967" y="3067811"/>
            <a:ext cx="3389376" cy="247345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254760" y="1230629"/>
            <a:ext cx="326390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83565" algn="l"/>
              </a:tabLst>
            </a:pPr>
            <a:r>
              <a:rPr dirty="0" sz="3000">
                <a:latin typeface="黑体"/>
                <a:cs typeface="黑体"/>
              </a:rPr>
              <a:t>二	气体的等容变化</a:t>
            </a:r>
            <a:endParaRPr sz="3000">
              <a:latin typeface="黑体"/>
              <a:cs typeface="黑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81812" y="1307591"/>
            <a:ext cx="273050" cy="273050"/>
          </a:xfrm>
          <a:custGeom>
            <a:avLst/>
            <a:gdLst/>
            <a:ahLst/>
            <a:cxnLst/>
            <a:rect l="l" t="t" r="r" b="b"/>
            <a:pathLst>
              <a:path w="273050" h="273050">
                <a:moveTo>
                  <a:pt x="0" y="0"/>
                </a:moveTo>
                <a:lnTo>
                  <a:pt x="272796" y="0"/>
                </a:lnTo>
                <a:lnTo>
                  <a:pt x="272796" y="272796"/>
                </a:lnTo>
                <a:lnTo>
                  <a:pt x="0" y="272796"/>
                </a:lnTo>
                <a:lnTo>
                  <a:pt x="0" y="0"/>
                </a:lnTo>
                <a:close/>
              </a:path>
            </a:pathLst>
          </a:custGeom>
          <a:solidFill>
            <a:srgbClr val="3856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931163" y="1475232"/>
            <a:ext cx="186055" cy="186055"/>
          </a:xfrm>
          <a:custGeom>
            <a:avLst/>
            <a:gdLst/>
            <a:ahLst/>
            <a:cxnLst/>
            <a:rect l="l" t="t" r="r" b="b"/>
            <a:pathLst>
              <a:path w="186055" h="186055">
                <a:moveTo>
                  <a:pt x="0" y="0"/>
                </a:moveTo>
                <a:lnTo>
                  <a:pt x="185928" y="0"/>
                </a:lnTo>
                <a:lnTo>
                  <a:pt x="185928" y="185928"/>
                </a:lnTo>
                <a:lnTo>
                  <a:pt x="0" y="185928"/>
                </a:lnTo>
                <a:lnTo>
                  <a:pt x="0" y="0"/>
                </a:lnTo>
                <a:close/>
              </a:path>
            </a:pathLst>
          </a:custGeom>
          <a:solidFill>
            <a:srgbClr val="53823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449705" y="2143226"/>
            <a:ext cx="178498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385622"/>
                </a:solidFill>
                <a:latin typeface="华文楷体"/>
                <a:cs typeface="华文楷体"/>
              </a:rPr>
              <a:t>3.</a:t>
            </a:r>
            <a:r>
              <a:rPr dirty="0" sz="2800" spc="-65" b="1">
                <a:solidFill>
                  <a:srgbClr val="385622"/>
                </a:solidFill>
                <a:latin typeface="华文楷体"/>
                <a:cs typeface="华文楷体"/>
              </a:rPr>
              <a:t> </a:t>
            </a:r>
            <a:r>
              <a:rPr dirty="0" sz="2800" b="1">
                <a:solidFill>
                  <a:srgbClr val="385622"/>
                </a:solidFill>
                <a:latin typeface="华文楷体"/>
                <a:cs typeface="华文楷体"/>
              </a:rPr>
              <a:t>图像表</a:t>
            </a:r>
            <a:r>
              <a:rPr dirty="0" sz="2800" spc="-10" b="1">
                <a:solidFill>
                  <a:srgbClr val="385622"/>
                </a:solidFill>
                <a:latin typeface="华文楷体"/>
                <a:cs typeface="华文楷体"/>
              </a:rPr>
              <a:t>述</a:t>
            </a:r>
            <a:endParaRPr sz="28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98600" y="2689860"/>
            <a:ext cx="9163050" cy="1986914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4572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solidFill>
                  <a:srgbClr val="385622"/>
                </a:solidFill>
                <a:latin typeface="华文楷体"/>
                <a:cs typeface="华文楷体"/>
              </a:rPr>
              <a:t>某种气体的压强为</a:t>
            </a:r>
            <a:r>
              <a:rPr dirty="0" sz="2800" b="1">
                <a:solidFill>
                  <a:srgbClr val="385622"/>
                </a:solidFill>
                <a:latin typeface="Times New Roman"/>
                <a:cs typeface="Times New Roman"/>
              </a:rPr>
              <a:t>2</a:t>
            </a:r>
            <a:r>
              <a:rPr dirty="0" sz="2800" b="1">
                <a:solidFill>
                  <a:srgbClr val="385622"/>
                </a:solidFill>
                <a:latin typeface="华文楷体"/>
                <a:cs typeface="华文楷体"/>
              </a:rPr>
              <a:t>×</a:t>
            </a:r>
            <a:r>
              <a:rPr dirty="0" sz="2800" b="1">
                <a:solidFill>
                  <a:srgbClr val="385622"/>
                </a:solidFill>
                <a:latin typeface="Times New Roman"/>
                <a:cs typeface="Times New Roman"/>
              </a:rPr>
              <a:t>10</a:t>
            </a:r>
            <a:r>
              <a:rPr dirty="0" baseline="21604" sz="2700" b="1">
                <a:solidFill>
                  <a:srgbClr val="385622"/>
                </a:solidFill>
                <a:latin typeface="Times New Roman"/>
                <a:cs typeface="Times New Roman"/>
              </a:rPr>
              <a:t>5</a:t>
            </a:r>
            <a:r>
              <a:rPr dirty="0" baseline="21604" sz="2700" spc="-22" b="1">
                <a:solidFill>
                  <a:srgbClr val="385622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385622"/>
                </a:solidFill>
                <a:latin typeface="Times New Roman"/>
                <a:cs typeface="Times New Roman"/>
              </a:rPr>
              <a:t>pa</a:t>
            </a:r>
            <a:r>
              <a:rPr dirty="0" baseline="-16975" sz="2700" spc="-7" b="1">
                <a:solidFill>
                  <a:srgbClr val="385622"/>
                </a:solidFill>
                <a:latin typeface="Times New Roman"/>
                <a:cs typeface="Times New Roman"/>
              </a:rPr>
              <a:t>,</a:t>
            </a:r>
            <a:r>
              <a:rPr dirty="0" sz="2800" b="1">
                <a:solidFill>
                  <a:srgbClr val="385622"/>
                </a:solidFill>
                <a:latin typeface="华文楷体"/>
                <a:cs typeface="华文楷体"/>
              </a:rPr>
              <a:t>体积为</a:t>
            </a:r>
            <a:r>
              <a:rPr dirty="0" sz="2800" b="1">
                <a:solidFill>
                  <a:srgbClr val="385622"/>
                </a:solidFill>
                <a:latin typeface="Times New Roman"/>
                <a:cs typeface="Times New Roman"/>
              </a:rPr>
              <a:t>1m</a:t>
            </a:r>
            <a:r>
              <a:rPr dirty="0" baseline="21604" sz="2700" b="1">
                <a:solidFill>
                  <a:srgbClr val="385622"/>
                </a:solidFill>
                <a:latin typeface="Times New Roman"/>
                <a:cs typeface="Times New Roman"/>
              </a:rPr>
              <a:t>3</a:t>
            </a:r>
            <a:r>
              <a:rPr dirty="0" sz="2800" b="1">
                <a:solidFill>
                  <a:srgbClr val="385622"/>
                </a:solidFill>
                <a:latin typeface="华文楷体"/>
                <a:cs typeface="华文楷体"/>
              </a:rPr>
              <a:t>，温度为</a:t>
            </a:r>
            <a:r>
              <a:rPr dirty="0" sz="2800" spc="-5" b="1">
                <a:solidFill>
                  <a:srgbClr val="385622"/>
                </a:solidFill>
                <a:latin typeface="Times New Roman"/>
                <a:cs typeface="Times New Roman"/>
              </a:rPr>
              <a:t>200K</a:t>
            </a:r>
            <a:r>
              <a:rPr dirty="0" sz="2800" spc="-10" b="1">
                <a:solidFill>
                  <a:srgbClr val="385622"/>
                </a:solidFill>
                <a:latin typeface="华文楷体"/>
                <a:cs typeface="华文楷体"/>
              </a:rPr>
              <a:t>。</a:t>
            </a:r>
            <a:endParaRPr sz="2800">
              <a:latin typeface="华文楷体"/>
              <a:cs typeface="华文楷体"/>
            </a:endParaRPr>
          </a:p>
          <a:p>
            <a:pPr marL="12700" marR="5080">
              <a:lnSpc>
                <a:spcPct val="179900"/>
              </a:lnSpc>
            </a:pPr>
            <a:r>
              <a:rPr dirty="0" sz="2800" b="1">
                <a:solidFill>
                  <a:srgbClr val="385622"/>
                </a:solidFill>
                <a:latin typeface="华文楷体"/>
                <a:cs typeface="华文楷体"/>
              </a:rPr>
              <a:t>它经过等温过程后体积变为</a:t>
            </a:r>
            <a:r>
              <a:rPr dirty="0" sz="2800" spc="-5" b="1">
                <a:solidFill>
                  <a:srgbClr val="385622"/>
                </a:solidFill>
                <a:latin typeface="Times New Roman"/>
                <a:cs typeface="Times New Roman"/>
              </a:rPr>
              <a:t>2m</a:t>
            </a:r>
            <a:r>
              <a:rPr dirty="0" baseline="21604" sz="2700" spc="7" b="1">
                <a:solidFill>
                  <a:srgbClr val="385622"/>
                </a:solidFill>
                <a:latin typeface="Times New Roman"/>
                <a:cs typeface="Times New Roman"/>
              </a:rPr>
              <a:t>3</a:t>
            </a:r>
            <a:r>
              <a:rPr dirty="0" sz="2800" b="1">
                <a:solidFill>
                  <a:srgbClr val="385622"/>
                </a:solidFill>
                <a:latin typeface="华文楷体"/>
                <a:cs typeface="华文楷体"/>
              </a:rPr>
              <a:t>。随后，又经过等容过程</a:t>
            </a:r>
            <a:r>
              <a:rPr dirty="0" sz="2800" spc="-5" b="1">
                <a:solidFill>
                  <a:srgbClr val="385622"/>
                </a:solidFill>
                <a:latin typeface="华文楷体"/>
                <a:cs typeface="华文楷体"/>
              </a:rPr>
              <a:t>， </a:t>
            </a:r>
            <a:r>
              <a:rPr dirty="0" sz="2800" b="1">
                <a:solidFill>
                  <a:srgbClr val="385622"/>
                </a:solidFill>
                <a:latin typeface="华文楷体"/>
                <a:cs typeface="华文楷体"/>
              </a:rPr>
              <a:t>温度变为</a:t>
            </a:r>
            <a:r>
              <a:rPr dirty="0" sz="2800" spc="-5" b="1">
                <a:solidFill>
                  <a:srgbClr val="385622"/>
                </a:solidFill>
                <a:latin typeface="Times New Roman"/>
                <a:cs typeface="Times New Roman"/>
              </a:rPr>
              <a:t>300K</a:t>
            </a:r>
            <a:r>
              <a:rPr dirty="0" sz="2800" spc="-5" b="1">
                <a:solidFill>
                  <a:srgbClr val="385622"/>
                </a:solidFill>
                <a:latin typeface="华文楷体"/>
                <a:cs typeface="华文楷体"/>
              </a:rPr>
              <a:t>，</a:t>
            </a:r>
            <a:r>
              <a:rPr dirty="0" sz="2800" b="1">
                <a:solidFill>
                  <a:srgbClr val="385622"/>
                </a:solidFill>
                <a:latin typeface="华文楷体"/>
                <a:cs typeface="华文楷体"/>
              </a:rPr>
              <a:t>求此时气体的压强</a:t>
            </a:r>
            <a:r>
              <a:rPr dirty="0" sz="2800" spc="-10" b="1">
                <a:solidFill>
                  <a:srgbClr val="385622"/>
                </a:solidFill>
                <a:latin typeface="华文楷体"/>
                <a:cs typeface="华文楷体"/>
              </a:rPr>
              <a:t>。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44319" y="1385569"/>
            <a:ext cx="103060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385622"/>
                </a:solidFill>
                <a:latin typeface="华文楷体"/>
                <a:cs typeface="华文楷体"/>
              </a:rPr>
              <a:t>例题</a:t>
            </a:r>
            <a:r>
              <a:rPr dirty="0" sz="3200" spc="-5" b="1">
                <a:solidFill>
                  <a:srgbClr val="385622"/>
                </a:solidFill>
                <a:latin typeface="华文楷体"/>
                <a:cs typeface="华文楷体"/>
              </a:rPr>
              <a:t>1</a:t>
            </a:r>
            <a:endParaRPr sz="3200">
              <a:latin typeface="华文楷体"/>
              <a:cs typeface="华文楷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35715" y="1429421"/>
            <a:ext cx="304800" cy="533400"/>
          </a:xfrm>
          <a:custGeom>
            <a:avLst/>
            <a:gdLst/>
            <a:ahLst/>
            <a:cxnLst/>
            <a:rect l="l" t="t" r="r" b="b"/>
            <a:pathLst>
              <a:path w="304800" h="533400">
                <a:moveTo>
                  <a:pt x="13533" y="112917"/>
                </a:moveTo>
                <a:lnTo>
                  <a:pt x="3614" y="86729"/>
                </a:lnTo>
                <a:lnTo>
                  <a:pt x="0" y="66040"/>
                </a:lnTo>
                <a:lnTo>
                  <a:pt x="5684" y="46716"/>
                </a:lnTo>
                <a:lnTo>
                  <a:pt x="19427" y="30667"/>
                </a:lnTo>
                <a:lnTo>
                  <a:pt x="39987" y="19800"/>
                </a:lnTo>
                <a:lnTo>
                  <a:pt x="97835" y="2338"/>
                </a:lnTo>
                <a:lnTo>
                  <a:pt x="121572" y="0"/>
                </a:lnTo>
                <a:lnTo>
                  <a:pt x="143916" y="5435"/>
                </a:lnTo>
                <a:lnTo>
                  <a:pt x="162227" y="17688"/>
                </a:lnTo>
                <a:lnTo>
                  <a:pt x="173870" y="35802"/>
                </a:lnTo>
                <a:lnTo>
                  <a:pt x="183789" y="60542"/>
                </a:lnTo>
                <a:lnTo>
                  <a:pt x="13533" y="112917"/>
                </a:lnTo>
                <a:close/>
              </a:path>
              <a:path w="304800" h="533400">
                <a:moveTo>
                  <a:pt x="284627" y="380607"/>
                </a:moveTo>
                <a:lnTo>
                  <a:pt x="274708" y="377699"/>
                </a:lnTo>
                <a:lnTo>
                  <a:pt x="273057" y="370422"/>
                </a:lnTo>
                <a:lnTo>
                  <a:pt x="165615" y="93994"/>
                </a:lnTo>
                <a:lnTo>
                  <a:pt x="193707" y="85269"/>
                </a:lnTo>
                <a:lnTo>
                  <a:pt x="301162" y="361684"/>
                </a:lnTo>
                <a:lnTo>
                  <a:pt x="304464" y="368961"/>
                </a:lnTo>
                <a:lnTo>
                  <a:pt x="299511" y="376238"/>
                </a:lnTo>
                <a:lnTo>
                  <a:pt x="291243" y="379147"/>
                </a:lnTo>
                <a:lnTo>
                  <a:pt x="284627" y="380607"/>
                </a:lnTo>
                <a:close/>
              </a:path>
              <a:path w="304800" h="533400">
                <a:moveTo>
                  <a:pt x="213598" y="413795"/>
                </a:moveTo>
                <a:lnTo>
                  <a:pt x="202377" y="411151"/>
                </a:lnTo>
                <a:lnTo>
                  <a:pt x="193041" y="405248"/>
                </a:lnTo>
                <a:lnTo>
                  <a:pt x="187103" y="396609"/>
                </a:lnTo>
                <a:lnTo>
                  <a:pt x="79649" y="120181"/>
                </a:lnTo>
                <a:lnTo>
                  <a:pt x="135859" y="102731"/>
                </a:lnTo>
                <a:lnTo>
                  <a:pt x="243301" y="379147"/>
                </a:lnTo>
                <a:lnTo>
                  <a:pt x="245576" y="389901"/>
                </a:lnTo>
                <a:lnTo>
                  <a:pt x="242890" y="399698"/>
                </a:lnTo>
                <a:lnTo>
                  <a:pt x="235863" y="407586"/>
                </a:lnTo>
                <a:lnTo>
                  <a:pt x="225115" y="412611"/>
                </a:lnTo>
                <a:lnTo>
                  <a:pt x="213598" y="413795"/>
                </a:lnTo>
                <a:close/>
              </a:path>
              <a:path w="304800" h="533400">
                <a:moveTo>
                  <a:pt x="140812" y="424244"/>
                </a:moveTo>
                <a:lnTo>
                  <a:pt x="132544" y="419888"/>
                </a:lnTo>
                <a:lnTo>
                  <a:pt x="130893" y="414059"/>
                </a:lnTo>
                <a:lnTo>
                  <a:pt x="23451" y="137643"/>
                </a:lnTo>
                <a:lnTo>
                  <a:pt x="51556" y="128919"/>
                </a:lnTo>
                <a:lnTo>
                  <a:pt x="158965" y="405248"/>
                </a:lnTo>
                <a:lnTo>
                  <a:pt x="159040" y="405520"/>
                </a:lnTo>
                <a:lnTo>
                  <a:pt x="160649" y="412611"/>
                </a:lnTo>
                <a:lnTo>
                  <a:pt x="157347" y="419888"/>
                </a:lnTo>
                <a:lnTo>
                  <a:pt x="149080" y="421336"/>
                </a:lnTo>
                <a:lnTo>
                  <a:pt x="140812" y="424244"/>
                </a:lnTo>
                <a:close/>
              </a:path>
              <a:path w="304800" h="533400">
                <a:moveTo>
                  <a:pt x="303722" y="405520"/>
                </a:moveTo>
                <a:lnTo>
                  <a:pt x="286490" y="405520"/>
                </a:lnTo>
                <a:lnTo>
                  <a:pt x="293749" y="405317"/>
                </a:lnTo>
                <a:lnTo>
                  <a:pt x="301162" y="403886"/>
                </a:lnTo>
                <a:lnTo>
                  <a:pt x="302813" y="403886"/>
                </a:lnTo>
                <a:lnTo>
                  <a:pt x="304464" y="402426"/>
                </a:lnTo>
                <a:lnTo>
                  <a:pt x="303722" y="405520"/>
                </a:lnTo>
                <a:close/>
              </a:path>
              <a:path w="304800" h="533400">
                <a:moveTo>
                  <a:pt x="295216" y="440981"/>
                </a:moveTo>
                <a:lnTo>
                  <a:pt x="211894" y="440981"/>
                </a:lnTo>
                <a:lnTo>
                  <a:pt x="223620" y="440389"/>
                </a:lnTo>
                <a:lnTo>
                  <a:pt x="235033" y="437338"/>
                </a:lnTo>
                <a:lnTo>
                  <a:pt x="269755" y="411151"/>
                </a:lnTo>
                <a:lnTo>
                  <a:pt x="271504" y="405248"/>
                </a:lnTo>
                <a:lnTo>
                  <a:pt x="273057" y="403886"/>
                </a:lnTo>
                <a:lnTo>
                  <a:pt x="279542" y="404906"/>
                </a:lnTo>
                <a:lnTo>
                  <a:pt x="286490" y="405520"/>
                </a:lnTo>
                <a:lnTo>
                  <a:pt x="303722" y="405520"/>
                </a:lnTo>
                <a:lnTo>
                  <a:pt x="295216" y="440981"/>
                </a:lnTo>
                <a:close/>
              </a:path>
              <a:path w="304800" h="533400">
                <a:moveTo>
                  <a:pt x="273057" y="533363"/>
                </a:moveTo>
                <a:lnTo>
                  <a:pt x="155696" y="447523"/>
                </a:lnTo>
                <a:lnTo>
                  <a:pt x="158998" y="447523"/>
                </a:lnTo>
                <a:lnTo>
                  <a:pt x="165870" y="444820"/>
                </a:lnTo>
                <a:lnTo>
                  <a:pt x="171811" y="441161"/>
                </a:lnTo>
                <a:lnTo>
                  <a:pt x="177131" y="436683"/>
                </a:lnTo>
                <a:lnTo>
                  <a:pt x="182138" y="431521"/>
                </a:lnTo>
                <a:lnTo>
                  <a:pt x="183789" y="432982"/>
                </a:lnTo>
                <a:lnTo>
                  <a:pt x="187103" y="434430"/>
                </a:lnTo>
                <a:lnTo>
                  <a:pt x="188754" y="435890"/>
                </a:lnTo>
                <a:lnTo>
                  <a:pt x="200168" y="439390"/>
                </a:lnTo>
                <a:lnTo>
                  <a:pt x="211894" y="440981"/>
                </a:lnTo>
                <a:lnTo>
                  <a:pt x="295216" y="440981"/>
                </a:lnTo>
                <a:lnTo>
                  <a:pt x="273057" y="533363"/>
                </a:lnTo>
                <a:close/>
              </a:path>
            </a:pathLst>
          </a:custGeom>
          <a:solidFill>
            <a:srgbClr val="3856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9744532" y="4701235"/>
            <a:ext cx="1053255" cy="105220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96364" y="1430528"/>
            <a:ext cx="9113520" cy="1826260"/>
          </a:xfrm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 marR="5080" indent="539750">
              <a:lnSpc>
                <a:spcPct val="140500"/>
              </a:lnSpc>
              <a:spcBef>
                <a:spcPts val="120"/>
              </a:spcBef>
            </a:pPr>
            <a:r>
              <a:rPr dirty="0" sz="2800" b="1">
                <a:solidFill>
                  <a:srgbClr val="385622"/>
                </a:solidFill>
                <a:latin typeface="华文楷体"/>
                <a:cs typeface="华文楷体"/>
              </a:rPr>
              <a:t>该变化为多过程变化。在状态变化中气体质量不变，</a:t>
            </a:r>
            <a:r>
              <a:rPr dirty="0" sz="2800" spc="-5" b="1">
                <a:solidFill>
                  <a:srgbClr val="385622"/>
                </a:solidFill>
                <a:latin typeface="华文楷体"/>
                <a:cs typeface="华文楷体"/>
              </a:rPr>
              <a:t>气 </a:t>
            </a:r>
            <a:r>
              <a:rPr dirty="0" sz="2800" b="1">
                <a:solidFill>
                  <a:srgbClr val="385622"/>
                </a:solidFill>
                <a:latin typeface="华文楷体"/>
                <a:cs typeface="华文楷体"/>
              </a:rPr>
              <a:t>体开始时的压强、体积和温度分别为</a:t>
            </a:r>
            <a:r>
              <a:rPr dirty="0" sz="2800" b="1" i="1">
                <a:solidFill>
                  <a:srgbClr val="385622"/>
                </a:solidFill>
                <a:latin typeface="Times New Roman"/>
                <a:cs typeface="Times New Roman"/>
              </a:rPr>
              <a:t>p</a:t>
            </a:r>
            <a:r>
              <a:rPr dirty="0" baseline="-16975" sz="2700" b="1">
                <a:solidFill>
                  <a:srgbClr val="385622"/>
                </a:solidFill>
                <a:latin typeface="Times New Roman"/>
                <a:cs typeface="Times New Roman"/>
              </a:rPr>
              <a:t>1</a:t>
            </a:r>
            <a:r>
              <a:rPr dirty="0" sz="2800" b="1">
                <a:solidFill>
                  <a:srgbClr val="385622"/>
                </a:solidFill>
                <a:latin typeface="华文楷体"/>
                <a:cs typeface="华文楷体"/>
              </a:rPr>
              <a:t>、</a:t>
            </a:r>
            <a:r>
              <a:rPr dirty="0" sz="2800" b="1" i="1">
                <a:solidFill>
                  <a:srgbClr val="385622"/>
                </a:solidFill>
                <a:latin typeface="Times New Roman"/>
                <a:cs typeface="Times New Roman"/>
              </a:rPr>
              <a:t>V</a:t>
            </a:r>
            <a:r>
              <a:rPr dirty="0" baseline="-16975" sz="2700" b="1">
                <a:solidFill>
                  <a:srgbClr val="385622"/>
                </a:solidFill>
                <a:latin typeface="Times New Roman"/>
                <a:cs typeface="Times New Roman"/>
              </a:rPr>
              <a:t>1</a:t>
            </a:r>
            <a:r>
              <a:rPr dirty="0" sz="2800" b="1">
                <a:solidFill>
                  <a:srgbClr val="385622"/>
                </a:solidFill>
                <a:latin typeface="华文楷体"/>
                <a:cs typeface="华文楷体"/>
              </a:rPr>
              <a:t>、</a:t>
            </a:r>
            <a:r>
              <a:rPr dirty="0" sz="2800" b="1" i="1">
                <a:solidFill>
                  <a:srgbClr val="385622"/>
                </a:solidFill>
                <a:latin typeface="Times New Roman"/>
                <a:cs typeface="Times New Roman"/>
              </a:rPr>
              <a:t>T</a:t>
            </a:r>
            <a:r>
              <a:rPr dirty="0" baseline="-16975" sz="2700" b="1">
                <a:solidFill>
                  <a:srgbClr val="385622"/>
                </a:solidFill>
                <a:latin typeface="Times New Roman"/>
                <a:cs typeface="Times New Roman"/>
              </a:rPr>
              <a:t>1</a:t>
            </a:r>
            <a:r>
              <a:rPr dirty="0" sz="2800" b="1">
                <a:solidFill>
                  <a:srgbClr val="385622"/>
                </a:solidFill>
                <a:latin typeface="Times New Roman"/>
                <a:cs typeface="Times New Roman"/>
              </a:rPr>
              <a:t>,</a:t>
            </a:r>
            <a:r>
              <a:rPr dirty="0" sz="2800" b="1">
                <a:solidFill>
                  <a:srgbClr val="385622"/>
                </a:solidFill>
                <a:latin typeface="华文楷体"/>
                <a:cs typeface="华文楷体"/>
              </a:rPr>
              <a:t>经过等</a:t>
            </a:r>
            <a:r>
              <a:rPr dirty="0" sz="2800" spc="-10" b="1">
                <a:solidFill>
                  <a:srgbClr val="385622"/>
                </a:solidFill>
                <a:latin typeface="华文楷体"/>
                <a:cs typeface="华文楷体"/>
              </a:rPr>
              <a:t>温 </a:t>
            </a:r>
            <a:r>
              <a:rPr dirty="0" sz="2800" b="1">
                <a:solidFill>
                  <a:srgbClr val="385622"/>
                </a:solidFill>
                <a:latin typeface="华文楷体"/>
                <a:cs typeface="华文楷体"/>
              </a:rPr>
              <a:t>过程变为</a:t>
            </a:r>
            <a:r>
              <a:rPr dirty="0" sz="2800" spc="-5" b="1" i="1">
                <a:solidFill>
                  <a:srgbClr val="385622"/>
                </a:solidFill>
                <a:latin typeface="Times New Roman"/>
                <a:cs typeface="Times New Roman"/>
              </a:rPr>
              <a:t>p</a:t>
            </a:r>
            <a:r>
              <a:rPr dirty="0" sz="2800" b="1">
                <a:solidFill>
                  <a:srgbClr val="385622"/>
                </a:solidFill>
                <a:latin typeface="华文楷体"/>
                <a:cs typeface="华文楷体"/>
              </a:rPr>
              <a:t>、</a:t>
            </a:r>
            <a:r>
              <a:rPr dirty="0" sz="2800" b="1" i="1">
                <a:solidFill>
                  <a:srgbClr val="385622"/>
                </a:solidFill>
                <a:latin typeface="Times New Roman"/>
                <a:cs typeface="Times New Roman"/>
              </a:rPr>
              <a:t>V</a:t>
            </a:r>
            <a:r>
              <a:rPr dirty="0" sz="2800" b="1">
                <a:solidFill>
                  <a:srgbClr val="385622"/>
                </a:solidFill>
                <a:latin typeface="华文楷体"/>
                <a:cs typeface="华文楷体"/>
              </a:rPr>
              <a:t>、</a:t>
            </a:r>
            <a:r>
              <a:rPr dirty="0" sz="2800" spc="-5" b="1" i="1">
                <a:solidFill>
                  <a:srgbClr val="385622"/>
                </a:solidFill>
                <a:latin typeface="Times New Roman"/>
                <a:cs typeface="Times New Roman"/>
              </a:rPr>
              <a:t>T</a:t>
            </a:r>
            <a:r>
              <a:rPr dirty="0" sz="2800" spc="-5" b="1">
                <a:solidFill>
                  <a:srgbClr val="385622"/>
                </a:solidFill>
                <a:latin typeface="华文楷体"/>
                <a:cs typeface="华文楷体"/>
              </a:rPr>
              <a:t>，</a:t>
            </a:r>
            <a:r>
              <a:rPr dirty="0" sz="2800" b="1">
                <a:solidFill>
                  <a:srgbClr val="385622"/>
                </a:solidFill>
                <a:latin typeface="华文楷体"/>
                <a:cs typeface="华文楷体"/>
              </a:rPr>
              <a:t>再经过等容过程变为</a:t>
            </a:r>
            <a:r>
              <a:rPr dirty="0" sz="2800" b="1" i="1">
                <a:solidFill>
                  <a:srgbClr val="385622"/>
                </a:solidFill>
                <a:latin typeface="Times New Roman"/>
                <a:cs typeface="Times New Roman"/>
              </a:rPr>
              <a:t>p</a:t>
            </a:r>
            <a:r>
              <a:rPr dirty="0" baseline="-16975" sz="2700" b="1">
                <a:solidFill>
                  <a:srgbClr val="385622"/>
                </a:solidFill>
                <a:latin typeface="Times New Roman"/>
                <a:cs typeface="Times New Roman"/>
              </a:rPr>
              <a:t>2</a:t>
            </a:r>
            <a:r>
              <a:rPr dirty="0" sz="2800" b="1">
                <a:solidFill>
                  <a:srgbClr val="385622"/>
                </a:solidFill>
                <a:latin typeface="华文楷体"/>
                <a:cs typeface="华文楷体"/>
              </a:rPr>
              <a:t>、</a:t>
            </a:r>
            <a:r>
              <a:rPr dirty="0" sz="2800" b="1" i="1">
                <a:solidFill>
                  <a:srgbClr val="385622"/>
                </a:solidFill>
                <a:latin typeface="Times New Roman"/>
                <a:cs typeface="Times New Roman"/>
              </a:rPr>
              <a:t>V</a:t>
            </a:r>
            <a:r>
              <a:rPr dirty="0" baseline="-16975" sz="2700" b="1">
                <a:solidFill>
                  <a:srgbClr val="385622"/>
                </a:solidFill>
                <a:latin typeface="Times New Roman"/>
                <a:cs typeface="Times New Roman"/>
              </a:rPr>
              <a:t>2</a:t>
            </a:r>
            <a:r>
              <a:rPr dirty="0" sz="2800" b="1">
                <a:solidFill>
                  <a:srgbClr val="385622"/>
                </a:solidFill>
                <a:latin typeface="华文楷体"/>
                <a:cs typeface="华文楷体"/>
              </a:rPr>
              <a:t>、</a:t>
            </a:r>
            <a:r>
              <a:rPr dirty="0" sz="2800" b="1" i="1">
                <a:solidFill>
                  <a:srgbClr val="385622"/>
                </a:solidFill>
                <a:latin typeface="Times New Roman"/>
                <a:cs typeface="Times New Roman"/>
              </a:rPr>
              <a:t>T</a:t>
            </a:r>
            <a:r>
              <a:rPr dirty="0" baseline="-16975" sz="2700" b="1">
                <a:solidFill>
                  <a:srgbClr val="385622"/>
                </a:solidFill>
                <a:latin typeface="Times New Roman"/>
                <a:cs typeface="Times New Roman"/>
              </a:rPr>
              <a:t>2</a:t>
            </a:r>
            <a:r>
              <a:rPr dirty="0" baseline="-16975" sz="2700" spc="-7" b="1">
                <a:solidFill>
                  <a:srgbClr val="385622"/>
                </a:solidFill>
                <a:latin typeface="Times New Roman"/>
                <a:cs typeface="Times New Roman"/>
              </a:rPr>
              <a:t> </a:t>
            </a:r>
            <a:r>
              <a:rPr dirty="0" sz="2800" spc="-10" b="1">
                <a:solidFill>
                  <a:srgbClr val="385622"/>
                </a:solidFill>
                <a:latin typeface="华文楷体"/>
                <a:cs typeface="华文楷体"/>
              </a:rPr>
              <a:t>。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79562" y="3737609"/>
            <a:ext cx="901890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0" b="1">
                <a:solidFill>
                  <a:srgbClr val="385622"/>
                </a:solidFill>
                <a:latin typeface="华文楷体"/>
                <a:cs typeface="华文楷体"/>
              </a:rPr>
              <a:t>解</a:t>
            </a:r>
            <a:r>
              <a:rPr dirty="0" sz="2800" spc="-35" b="1">
                <a:solidFill>
                  <a:srgbClr val="385622"/>
                </a:solidFill>
                <a:latin typeface="华文楷体"/>
                <a:cs typeface="华文楷体"/>
              </a:rPr>
              <a:t> </a:t>
            </a:r>
            <a:r>
              <a:rPr dirty="0" sz="2800" b="1">
                <a:solidFill>
                  <a:srgbClr val="385622"/>
                </a:solidFill>
                <a:latin typeface="华文楷体"/>
                <a:cs typeface="华文楷体"/>
              </a:rPr>
              <a:t>以该质量不变的气体为研究对象，根据玻意耳定律，</a:t>
            </a:r>
            <a:r>
              <a:rPr dirty="0" sz="2800" spc="-10" b="1">
                <a:solidFill>
                  <a:srgbClr val="385622"/>
                </a:solidFill>
                <a:latin typeface="华文楷体"/>
                <a:cs typeface="华文楷体"/>
              </a:rPr>
              <a:t>有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152900" y="4724400"/>
            <a:ext cx="1694688" cy="5242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240779" y="4724400"/>
            <a:ext cx="2237231" cy="5242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983183" y="4964722"/>
            <a:ext cx="1054731" cy="115318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04259" y="1210310"/>
            <a:ext cx="2953385" cy="451484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solidFill>
                  <a:srgbClr val="385622"/>
                </a:solidFill>
                <a:latin typeface="华文楷体"/>
                <a:cs typeface="华文楷体"/>
              </a:rPr>
              <a:t>根据查理定律，有</a:t>
            </a:r>
            <a:r>
              <a:rPr dirty="0" sz="2800" spc="-5" b="1">
                <a:solidFill>
                  <a:srgbClr val="385622"/>
                </a:solidFill>
                <a:latin typeface="华文楷体"/>
                <a:cs typeface="华文楷体"/>
              </a:rPr>
              <a:t>: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829300" y="1795272"/>
            <a:ext cx="2243328" cy="7498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975603" y="2915411"/>
            <a:ext cx="1950720" cy="7437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582670" y="2541905"/>
            <a:ext cx="2161540" cy="16395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solidFill>
                  <a:srgbClr val="385622"/>
                </a:solidFill>
                <a:latin typeface="华文楷体"/>
                <a:cs typeface="华文楷体"/>
              </a:rPr>
              <a:t>联立得</a:t>
            </a:r>
            <a:r>
              <a:rPr dirty="0" sz="2800" spc="-5" b="1">
                <a:solidFill>
                  <a:srgbClr val="385622"/>
                </a:solidFill>
                <a:latin typeface="华文楷体"/>
                <a:cs typeface="华文楷体"/>
              </a:rPr>
              <a:t>:</a:t>
            </a:r>
            <a:endParaRPr sz="2800">
              <a:latin typeface="华文楷体"/>
              <a:cs typeface="华文楷体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5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800" b="1">
                <a:solidFill>
                  <a:srgbClr val="385622"/>
                </a:solidFill>
                <a:latin typeface="华文楷体"/>
                <a:cs typeface="华文楷体"/>
              </a:rPr>
              <a:t>代入数据得</a:t>
            </a:r>
            <a:r>
              <a:rPr dirty="0" sz="2800" spc="-10" b="1">
                <a:solidFill>
                  <a:srgbClr val="385622"/>
                </a:solidFill>
                <a:latin typeface="华文楷体"/>
                <a:cs typeface="华文楷体"/>
              </a:rPr>
              <a:t>：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407664" y="5362955"/>
            <a:ext cx="3991355" cy="7239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771644" y="4364735"/>
            <a:ext cx="4069079" cy="74523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282289" y="2158657"/>
            <a:ext cx="5289550" cy="34302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95"/>
              </a:spcBef>
              <a:buFont typeface="Wingdings"/>
              <a:buChar char=""/>
              <a:tabLst>
                <a:tab pos="469265" algn="l"/>
                <a:tab pos="469900" algn="l"/>
              </a:tabLst>
            </a:pPr>
            <a:r>
              <a:rPr dirty="0" sz="2800" b="1">
                <a:latin typeface="华文楷体"/>
                <a:cs typeface="华文楷体"/>
              </a:rPr>
              <a:t>气体实验定</a:t>
            </a:r>
            <a:r>
              <a:rPr dirty="0" sz="2800" spc="-10" b="1">
                <a:latin typeface="华文楷体"/>
                <a:cs typeface="华文楷体"/>
              </a:rPr>
              <a:t>律</a:t>
            </a:r>
            <a:endParaRPr sz="2800">
              <a:latin typeface="华文楷体"/>
              <a:cs typeface="华文楷体"/>
            </a:endParaRPr>
          </a:p>
          <a:p>
            <a:pPr marL="290195">
              <a:lnSpc>
                <a:spcPct val="100000"/>
              </a:lnSpc>
              <a:spcBef>
                <a:spcPts val="2595"/>
              </a:spcBef>
            </a:pPr>
            <a:r>
              <a:rPr dirty="0" sz="2800" b="1">
                <a:solidFill>
                  <a:srgbClr val="385622"/>
                </a:solidFill>
                <a:latin typeface="华文楷体"/>
                <a:cs typeface="华文楷体"/>
              </a:rPr>
              <a:t>等温变化、等压变化、等容变</a:t>
            </a:r>
            <a:r>
              <a:rPr dirty="0" sz="2800" spc="-10" b="1">
                <a:solidFill>
                  <a:srgbClr val="385622"/>
                </a:solidFill>
                <a:latin typeface="华文楷体"/>
                <a:cs typeface="华文楷体"/>
              </a:rPr>
              <a:t>化</a:t>
            </a:r>
            <a:endParaRPr sz="2800">
              <a:latin typeface="华文楷体"/>
              <a:cs typeface="华文楷体"/>
            </a:endParaRPr>
          </a:p>
          <a:p>
            <a:pPr marL="469900" indent="-457200">
              <a:lnSpc>
                <a:spcPct val="100000"/>
              </a:lnSpc>
              <a:spcBef>
                <a:spcPts val="2255"/>
              </a:spcBef>
              <a:buFont typeface="Wingdings"/>
              <a:buChar char=""/>
              <a:tabLst>
                <a:tab pos="469265" algn="l"/>
                <a:tab pos="469900" algn="l"/>
              </a:tabLst>
            </a:pPr>
            <a:r>
              <a:rPr dirty="0" sz="2800" b="1">
                <a:latin typeface="华文楷体"/>
                <a:cs typeface="华文楷体"/>
              </a:rPr>
              <a:t>气体实验定律的适用条</a:t>
            </a:r>
            <a:r>
              <a:rPr dirty="0" sz="2800" spc="-10" b="1">
                <a:latin typeface="华文楷体"/>
                <a:cs typeface="华文楷体"/>
              </a:rPr>
              <a:t>件</a:t>
            </a:r>
            <a:endParaRPr sz="2800">
              <a:latin typeface="华文楷体"/>
              <a:cs typeface="华文楷体"/>
            </a:endParaRPr>
          </a:p>
          <a:p>
            <a:pPr marL="685800" marR="429259" indent="-108585">
              <a:lnSpc>
                <a:spcPts val="6220"/>
              </a:lnSpc>
              <a:spcBef>
                <a:spcPts val="125"/>
              </a:spcBef>
            </a:pPr>
            <a:r>
              <a:rPr dirty="0" sz="2800" b="1">
                <a:solidFill>
                  <a:srgbClr val="385622"/>
                </a:solidFill>
                <a:latin typeface="华文楷体"/>
                <a:cs typeface="华文楷体"/>
              </a:rPr>
              <a:t>压强不太大（相对大气压</a:t>
            </a:r>
            <a:r>
              <a:rPr dirty="0" sz="2800" spc="-5" b="1">
                <a:solidFill>
                  <a:srgbClr val="385622"/>
                </a:solidFill>
                <a:latin typeface="华文楷体"/>
                <a:cs typeface="华文楷体"/>
              </a:rPr>
              <a:t>） </a:t>
            </a:r>
            <a:r>
              <a:rPr dirty="0" sz="2800" b="1">
                <a:solidFill>
                  <a:srgbClr val="385622"/>
                </a:solidFill>
                <a:latin typeface="华文楷体"/>
                <a:cs typeface="华文楷体"/>
              </a:rPr>
              <a:t>温度不太低（相对室温</a:t>
            </a:r>
            <a:r>
              <a:rPr dirty="0" sz="2800" spc="-10" b="1">
                <a:solidFill>
                  <a:srgbClr val="385622"/>
                </a:solidFill>
                <a:latin typeface="华文楷体"/>
                <a:cs typeface="华文楷体"/>
              </a:rPr>
              <a:t>）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83335" y="1226820"/>
            <a:ext cx="21209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83565" algn="l"/>
              </a:tabLst>
            </a:pPr>
            <a:r>
              <a:rPr dirty="0" sz="3000">
                <a:solidFill>
                  <a:srgbClr val="000000"/>
                </a:solidFill>
                <a:latin typeface="黑体"/>
                <a:cs typeface="黑体"/>
              </a:rPr>
              <a:t>三	理想气体</a:t>
            </a:r>
            <a:endParaRPr sz="3000">
              <a:latin typeface="黑体"/>
              <a:cs typeface="黑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92480" y="1304544"/>
            <a:ext cx="273050" cy="273050"/>
          </a:xfrm>
          <a:custGeom>
            <a:avLst/>
            <a:gdLst/>
            <a:ahLst/>
            <a:cxnLst/>
            <a:rect l="l" t="t" r="r" b="b"/>
            <a:pathLst>
              <a:path w="273050" h="273050">
                <a:moveTo>
                  <a:pt x="0" y="0"/>
                </a:moveTo>
                <a:lnTo>
                  <a:pt x="272795" y="0"/>
                </a:lnTo>
                <a:lnTo>
                  <a:pt x="272795" y="272795"/>
                </a:lnTo>
                <a:lnTo>
                  <a:pt x="0" y="272795"/>
                </a:lnTo>
                <a:lnTo>
                  <a:pt x="0" y="0"/>
                </a:lnTo>
                <a:close/>
              </a:path>
            </a:pathLst>
          </a:custGeom>
          <a:solidFill>
            <a:srgbClr val="3856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941832" y="1472183"/>
            <a:ext cx="184785" cy="184785"/>
          </a:xfrm>
          <a:custGeom>
            <a:avLst/>
            <a:gdLst/>
            <a:ahLst/>
            <a:cxnLst/>
            <a:rect l="l" t="t" r="r" b="b"/>
            <a:pathLst>
              <a:path w="184784" h="184785">
                <a:moveTo>
                  <a:pt x="0" y="0"/>
                </a:moveTo>
                <a:lnTo>
                  <a:pt x="184403" y="0"/>
                </a:lnTo>
                <a:lnTo>
                  <a:pt x="184403" y="184403"/>
                </a:lnTo>
                <a:lnTo>
                  <a:pt x="0" y="184403"/>
                </a:lnTo>
                <a:lnTo>
                  <a:pt x="0" y="0"/>
                </a:lnTo>
                <a:close/>
              </a:path>
            </a:pathLst>
          </a:custGeom>
          <a:solidFill>
            <a:srgbClr val="538235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883909" y="1137284"/>
            <a:ext cx="789305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1">
                <a:latin typeface="黑体"/>
                <a:cs typeface="黑体"/>
              </a:rPr>
              <a:t>资</a:t>
            </a:r>
            <a:r>
              <a:rPr dirty="0" sz="3000" spc="-15" b="1">
                <a:latin typeface="黑体"/>
                <a:cs typeface="黑体"/>
              </a:rPr>
              <a:t>料</a:t>
            </a:r>
            <a:endParaRPr sz="3000">
              <a:latin typeface="黑体"/>
              <a:cs typeface="黑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373370" y="1124585"/>
            <a:ext cx="323850" cy="468630"/>
          </a:xfrm>
          <a:custGeom>
            <a:avLst/>
            <a:gdLst/>
            <a:ahLst/>
            <a:cxnLst/>
            <a:rect l="l" t="t" r="r" b="b"/>
            <a:pathLst>
              <a:path w="323850" h="468630">
                <a:moveTo>
                  <a:pt x="284657" y="468629"/>
                </a:moveTo>
                <a:lnTo>
                  <a:pt x="39179" y="468629"/>
                </a:lnTo>
                <a:lnTo>
                  <a:pt x="24040" y="465269"/>
                </a:lnTo>
                <a:lnTo>
                  <a:pt x="11574" y="456147"/>
                </a:lnTo>
                <a:lnTo>
                  <a:pt x="3116" y="442703"/>
                </a:lnTo>
                <a:lnTo>
                  <a:pt x="0" y="426377"/>
                </a:lnTo>
                <a:lnTo>
                  <a:pt x="0" y="42252"/>
                </a:lnTo>
                <a:lnTo>
                  <a:pt x="3116" y="25926"/>
                </a:lnTo>
                <a:lnTo>
                  <a:pt x="11574" y="12482"/>
                </a:lnTo>
                <a:lnTo>
                  <a:pt x="24040" y="3360"/>
                </a:lnTo>
                <a:lnTo>
                  <a:pt x="39179" y="0"/>
                </a:lnTo>
                <a:lnTo>
                  <a:pt x="182003" y="0"/>
                </a:lnTo>
                <a:lnTo>
                  <a:pt x="182003" y="153301"/>
                </a:lnTo>
                <a:lnTo>
                  <a:pt x="323850" y="153301"/>
                </a:lnTo>
                <a:lnTo>
                  <a:pt x="323850" y="195198"/>
                </a:lnTo>
                <a:lnTo>
                  <a:pt x="60883" y="195198"/>
                </a:lnTo>
                <a:lnTo>
                  <a:pt x="54076" y="202539"/>
                </a:lnTo>
                <a:lnTo>
                  <a:pt x="54076" y="220700"/>
                </a:lnTo>
                <a:lnTo>
                  <a:pt x="60883" y="228028"/>
                </a:lnTo>
                <a:lnTo>
                  <a:pt x="323850" y="228028"/>
                </a:lnTo>
                <a:lnTo>
                  <a:pt x="323850" y="261200"/>
                </a:lnTo>
                <a:lnTo>
                  <a:pt x="60883" y="261200"/>
                </a:lnTo>
                <a:lnTo>
                  <a:pt x="54076" y="268541"/>
                </a:lnTo>
                <a:lnTo>
                  <a:pt x="54076" y="286689"/>
                </a:lnTo>
                <a:lnTo>
                  <a:pt x="60883" y="294030"/>
                </a:lnTo>
                <a:lnTo>
                  <a:pt x="323850" y="294030"/>
                </a:lnTo>
                <a:lnTo>
                  <a:pt x="323850" y="327202"/>
                </a:lnTo>
                <a:lnTo>
                  <a:pt x="60883" y="327202"/>
                </a:lnTo>
                <a:lnTo>
                  <a:pt x="54076" y="334530"/>
                </a:lnTo>
                <a:lnTo>
                  <a:pt x="54076" y="352691"/>
                </a:lnTo>
                <a:lnTo>
                  <a:pt x="60883" y="360375"/>
                </a:lnTo>
                <a:lnTo>
                  <a:pt x="323850" y="360375"/>
                </a:lnTo>
                <a:lnTo>
                  <a:pt x="323850" y="426377"/>
                </a:lnTo>
                <a:lnTo>
                  <a:pt x="320778" y="442703"/>
                </a:lnTo>
                <a:lnTo>
                  <a:pt x="312393" y="456147"/>
                </a:lnTo>
                <a:lnTo>
                  <a:pt x="299938" y="465269"/>
                </a:lnTo>
                <a:lnTo>
                  <a:pt x="284657" y="468629"/>
                </a:lnTo>
                <a:close/>
              </a:path>
              <a:path w="323850" h="468630">
                <a:moveTo>
                  <a:pt x="323850" y="130606"/>
                </a:moveTo>
                <a:lnTo>
                  <a:pt x="202730" y="130606"/>
                </a:lnTo>
                <a:lnTo>
                  <a:pt x="202730" y="0"/>
                </a:lnTo>
                <a:lnTo>
                  <a:pt x="323850" y="130606"/>
                </a:lnTo>
                <a:close/>
              </a:path>
              <a:path w="323850" h="468630">
                <a:moveTo>
                  <a:pt x="323850" y="228028"/>
                </a:moveTo>
                <a:lnTo>
                  <a:pt x="262966" y="228028"/>
                </a:lnTo>
                <a:lnTo>
                  <a:pt x="270090" y="220700"/>
                </a:lnTo>
                <a:lnTo>
                  <a:pt x="270090" y="202539"/>
                </a:lnTo>
                <a:lnTo>
                  <a:pt x="263283" y="195198"/>
                </a:lnTo>
                <a:lnTo>
                  <a:pt x="323850" y="195198"/>
                </a:lnTo>
                <a:lnTo>
                  <a:pt x="323850" y="228028"/>
                </a:lnTo>
                <a:close/>
              </a:path>
              <a:path w="323850" h="468630">
                <a:moveTo>
                  <a:pt x="323850" y="294030"/>
                </a:moveTo>
                <a:lnTo>
                  <a:pt x="262966" y="294030"/>
                </a:lnTo>
                <a:lnTo>
                  <a:pt x="270090" y="286689"/>
                </a:lnTo>
                <a:lnTo>
                  <a:pt x="270090" y="268541"/>
                </a:lnTo>
                <a:lnTo>
                  <a:pt x="263283" y="261200"/>
                </a:lnTo>
                <a:lnTo>
                  <a:pt x="323850" y="261200"/>
                </a:lnTo>
                <a:lnTo>
                  <a:pt x="323850" y="294030"/>
                </a:lnTo>
                <a:close/>
              </a:path>
              <a:path w="323850" h="468630">
                <a:moveTo>
                  <a:pt x="323850" y="360375"/>
                </a:moveTo>
                <a:lnTo>
                  <a:pt x="181025" y="360375"/>
                </a:lnTo>
                <a:lnTo>
                  <a:pt x="188150" y="352691"/>
                </a:lnTo>
                <a:lnTo>
                  <a:pt x="188150" y="334530"/>
                </a:lnTo>
                <a:lnTo>
                  <a:pt x="181025" y="327202"/>
                </a:lnTo>
                <a:lnTo>
                  <a:pt x="323850" y="327202"/>
                </a:lnTo>
                <a:lnTo>
                  <a:pt x="323850" y="360375"/>
                </a:lnTo>
                <a:close/>
              </a:path>
            </a:pathLst>
          </a:custGeom>
          <a:solidFill>
            <a:srgbClr val="76707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734311" y="1844039"/>
            <a:ext cx="8723630" cy="4168140"/>
          </a:xfrm>
          <a:custGeom>
            <a:avLst/>
            <a:gdLst/>
            <a:ahLst/>
            <a:cxnLst/>
            <a:rect l="l" t="t" r="r" b="b"/>
            <a:pathLst>
              <a:path w="8723630" h="4168140">
                <a:moveTo>
                  <a:pt x="8028432" y="4168140"/>
                </a:moveTo>
                <a:lnTo>
                  <a:pt x="694944" y="4168140"/>
                </a:lnTo>
                <a:lnTo>
                  <a:pt x="647401" y="4166461"/>
                </a:lnTo>
                <a:lnTo>
                  <a:pt x="600718" y="4161654"/>
                </a:lnTo>
                <a:lnTo>
                  <a:pt x="554996" y="4153821"/>
                </a:lnTo>
                <a:lnTo>
                  <a:pt x="510341" y="4143065"/>
                </a:lnTo>
                <a:lnTo>
                  <a:pt x="466855" y="4129490"/>
                </a:lnTo>
                <a:lnTo>
                  <a:pt x="424640" y="4113199"/>
                </a:lnTo>
                <a:lnTo>
                  <a:pt x="383801" y="4094295"/>
                </a:lnTo>
                <a:lnTo>
                  <a:pt x="344440" y="4072881"/>
                </a:lnTo>
                <a:lnTo>
                  <a:pt x="306662" y="4049061"/>
                </a:lnTo>
                <a:lnTo>
                  <a:pt x="270568" y="4022938"/>
                </a:lnTo>
                <a:lnTo>
                  <a:pt x="236263" y="3994615"/>
                </a:lnTo>
                <a:lnTo>
                  <a:pt x="203849" y="3964195"/>
                </a:lnTo>
                <a:lnTo>
                  <a:pt x="173430" y="3931782"/>
                </a:lnTo>
                <a:lnTo>
                  <a:pt x="145109" y="3897478"/>
                </a:lnTo>
                <a:lnTo>
                  <a:pt x="118989" y="3861388"/>
                </a:lnTo>
                <a:lnTo>
                  <a:pt x="95173" y="3823614"/>
                </a:lnTo>
                <a:lnTo>
                  <a:pt x="73766" y="3784259"/>
                </a:lnTo>
                <a:lnTo>
                  <a:pt x="54869" y="3743427"/>
                </a:lnTo>
                <a:lnTo>
                  <a:pt x="38586" y="3701222"/>
                </a:lnTo>
                <a:lnTo>
                  <a:pt x="25021" y="3657745"/>
                </a:lnTo>
                <a:lnTo>
                  <a:pt x="14277" y="3613101"/>
                </a:lnTo>
                <a:lnTo>
                  <a:pt x="6456" y="3567392"/>
                </a:lnTo>
                <a:lnTo>
                  <a:pt x="1663" y="3520723"/>
                </a:lnTo>
                <a:lnTo>
                  <a:pt x="0" y="3473196"/>
                </a:lnTo>
                <a:lnTo>
                  <a:pt x="0" y="694944"/>
                </a:lnTo>
                <a:lnTo>
                  <a:pt x="1663" y="647416"/>
                </a:lnTo>
                <a:lnTo>
                  <a:pt x="6456" y="600747"/>
                </a:lnTo>
                <a:lnTo>
                  <a:pt x="14277" y="555038"/>
                </a:lnTo>
                <a:lnTo>
                  <a:pt x="25021" y="510394"/>
                </a:lnTo>
                <a:lnTo>
                  <a:pt x="38586" y="466917"/>
                </a:lnTo>
                <a:lnTo>
                  <a:pt x="54869" y="424712"/>
                </a:lnTo>
                <a:lnTo>
                  <a:pt x="73766" y="383880"/>
                </a:lnTo>
                <a:lnTo>
                  <a:pt x="95173" y="344525"/>
                </a:lnTo>
                <a:lnTo>
                  <a:pt x="118989" y="306751"/>
                </a:lnTo>
                <a:lnTo>
                  <a:pt x="145109" y="270661"/>
                </a:lnTo>
                <a:lnTo>
                  <a:pt x="173430" y="236357"/>
                </a:lnTo>
                <a:lnTo>
                  <a:pt x="203849" y="203944"/>
                </a:lnTo>
                <a:lnTo>
                  <a:pt x="236263" y="173524"/>
                </a:lnTo>
                <a:lnTo>
                  <a:pt x="270568" y="145201"/>
                </a:lnTo>
                <a:lnTo>
                  <a:pt x="306662" y="119078"/>
                </a:lnTo>
                <a:lnTo>
                  <a:pt x="344440" y="95258"/>
                </a:lnTo>
                <a:lnTo>
                  <a:pt x="383801" y="73844"/>
                </a:lnTo>
                <a:lnTo>
                  <a:pt x="424640" y="54940"/>
                </a:lnTo>
                <a:lnTo>
                  <a:pt x="466855" y="38649"/>
                </a:lnTo>
                <a:lnTo>
                  <a:pt x="510341" y="25074"/>
                </a:lnTo>
                <a:lnTo>
                  <a:pt x="554996" y="14318"/>
                </a:lnTo>
                <a:lnTo>
                  <a:pt x="600718" y="6485"/>
                </a:lnTo>
                <a:lnTo>
                  <a:pt x="647401" y="1678"/>
                </a:lnTo>
                <a:lnTo>
                  <a:pt x="694944" y="0"/>
                </a:lnTo>
                <a:lnTo>
                  <a:pt x="8028432" y="0"/>
                </a:lnTo>
                <a:lnTo>
                  <a:pt x="8076050" y="1678"/>
                </a:lnTo>
                <a:lnTo>
                  <a:pt x="8122803" y="6485"/>
                </a:lnTo>
                <a:lnTo>
                  <a:pt x="8168587" y="14318"/>
                </a:lnTo>
                <a:lnTo>
                  <a:pt x="8213299" y="25074"/>
                </a:lnTo>
                <a:lnTo>
                  <a:pt x="8256835" y="38649"/>
                </a:lnTo>
                <a:lnTo>
                  <a:pt x="8299092" y="54940"/>
                </a:lnTo>
                <a:lnTo>
                  <a:pt x="8339968" y="73844"/>
                </a:lnTo>
                <a:lnTo>
                  <a:pt x="8379358" y="95258"/>
                </a:lnTo>
                <a:lnTo>
                  <a:pt x="8417160" y="119078"/>
                </a:lnTo>
                <a:lnTo>
                  <a:pt x="8453270" y="145201"/>
                </a:lnTo>
                <a:lnTo>
                  <a:pt x="8487585" y="173524"/>
                </a:lnTo>
                <a:lnTo>
                  <a:pt x="8520002" y="203944"/>
                </a:lnTo>
                <a:lnTo>
                  <a:pt x="8550418" y="236357"/>
                </a:lnTo>
                <a:lnTo>
                  <a:pt x="8578729" y="270661"/>
                </a:lnTo>
                <a:lnTo>
                  <a:pt x="8604833" y="306751"/>
                </a:lnTo>
                <a:lnTo>
                  <a:pt x="8628625" y="344525"/>
                </a:lnTo>
                <a:lnTo>
                  <a:pt x="8650003" y="383880"/>
                </a:lnTo>
                <a:lnTo>
                  <a:pt x="8668863" y="424712"/>
                </a:lnTo>
                <a:lnTo>
                  <a:pt x="8685103" y="466917"/>
                </a:lnTo>
                <a:lnTo>
                  <a:pt x="8698618" y="510394"/>
                </a:lnTo>
                <a:lnTo>
                  <a:pt x="8709307" y="555038"/>
                </a:lnTo>
                <a:lnTo>
                  <a:pt x="8717064" y="600747"/>
                </a:lnTo>
                <a:lnTo>
                  <a:pt x="8721788" y="647416"/>
                </a:lnTo>
                <a:lnTo>
                  <a:pt x="8723376" y="694944"/>
                </a:lnTo>
                <a:lnTo>
                  <a:pt x="8723376" y="3473196"/>
                </a:lnTo>
                <a:lnTo>
                  <a:pt x="8721788" y="3520723"/>
                </a:lnTo>
                <a:lnTo>
                  <a:pt x="8717064" y="3567392"/>
                </a:lnTo>
                <a:lnTo>
                  <a:pt x="8709307" y="3613101"/>
                </a:lnTo>
                <a:lnTo>
                  <a:pt x="8698618" y="3657745"/>
                </a:lnTo>
                <a:lnTo>
                  <a:pt x="8685103" y="3701222"/>
                </a:lnTo>
                <a:lnTo>
                  <a:pt x="8668863" y="3743427"/>
                </a:lnTo>
                <a:lnTo>
                  <a:pt x="8650003" y="3784259"/>
                </a:lnTo>
                <a:lnTo>
                  <a:pt x="8628625" y="3823614"/>
                </a:lnTo>
                <a:lnTo>
                  <a:pt x="8604833" y="3861388"/>
                </a:lnTo>
                <a:lnTo>
                  <a:pt x="8578729" y="3897478"/>
                </a:lnTo>
                <a:lnTo>
                  <a:pt x="8550418" y="3931782"/>
                </a:lnTo>
                <a:lnTo>
                  <a:pt x="8520002" y="3964195"/>
                </a:lnTo>
                <a:lnTo>
                  <a:pt x="8487585" y="3994615"/>
                </a:lnTo>
                <a:lnTo>
                  <a:pt x="8453270" y="4022938"/>
                </a:lnTo>
                <a:lnTo>
                  <a:pt x="8417160" y="4049061"/>
                </a:lnTo>
                <a:lnTo>
                  <a:pt x="8379358" y="4072881"/>
                </a:lnTo>
                <a:lnTo>
                  <a:pt x="8339968" y="4094295"/>
                </a:lnTo>
                <a:lnTo>
                  <a:pt x="8299092" y="4113199"/>
                </a:lnTo>
                <a:lnTo>
                  <a:pt x="8256835" y="4129490"/>
                </a:lnTo>
                <a:lnTo>
                  <a:pt x="8213299" y="4143065"/>
                </a:lnTo>
                <a:lnTo>
                  <a:pt x="8168587" y="4153821"/>
                </a:lnTo>
                <a:lnTo>
                  <a:pt x="8122803" y="4161654"/>
                </a:lnTo>
                <a:lnTo>
                  <a:pt x="8076050" y="4166461"/>
                </a:lnTo>
                <a:lnTo>
                  <a:pt x="8028432" y="4168140"/>
                </a:lnTo>
                <a:close/>
              </a:path>
            </a:pathLst>
          </a:custGeom>
          <a:solidFill>
            <a:srgbClr val="E1EF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722120" y="1831975"/>
            <a:ext cx="8748395" cy="4191000"/>
          </a:xfrm>
          <a:custGeom>
            <a:avLst/>
            <a:gdLst/>
            <a:ahLst/>
            <a:cxnLst/>
            <a:rect l="l" t="t" r="r" b="b"/>
            <a:pathLst>
              <a:path w="8748395" h="4191000">
                <a:moveTo>
                  <a:pt x="8183714" y="12700"/>
                </a:moveTo>
                <a:lnTo>
                  <a:pt x="564680" y="12700"/>
                </a:lnTo>
                <a:lnTo>
                  <a:pt x="582028" y="0"/>
                </a:lnTo>
                <a:lnTo>
                  <a:pt x="8166366" y="0"/>
                </a:lnTo>
                <a:lnTo>
                  <a:pt x="8183714" y="12700"/>
                </a:lnTo>
                <a:close/>
              </a:path>
              <a:path w="8748395" h="4191000">
                <a:moveTo>
                  <a:pt x="8234794" y="25400"/>
                </a:moveTo>
                <a:lnTo>
                  <a:pt x="513600" y="25400"/>
                </a:lnTo>
                <a:lnTo>
                  <a:pt x="530466" y="12700"/>
                </a:lnTo>
                <a:lnTo>
                  <a:pt x="8217928" y="12700"/>
                </a:lnTo>
                <a:lnTo>
                  <a:pt x="8234794" y="25400"/>
                </a:lnTo>
                <a:close/>
              </a:path>
              <a:path w="8748395" h="4191000">
                <a:moveTo>
                  <a:pt x="569620" y="38100"/>
                </a:moveTo>
                <a:lnTo>
                  <a:pt x="464032" y="38100"/>
                </a:lnTo>
                <a:lnTo>
                  <a:pt x="480377" y="25400"/>
                </a:lnTo>
                <a:lnTo>
                  <a:pt x="586651" y="25400"/>
                </a:lnTo>
                <a:lnTo>
                  <a:pt x="569620" y="38100"/>
                </a:lnTo>
                <a:close/>
              </a:path>
              <a:path w="8748395" h="4191000">
                <a:moveTo>
                  <a:pt x="8284362" y="38100"/>
                </a:moveTo>
                <a:lnTo>
                  <a:pt x="8178774" y="38100"/>
                </a:lnTo>
                <a:lnTo>
                  <a:pt x="8161743" y="25400"/>
                </a:lnTo>
                <a:lnTo>
                  <a:pt x="8268017" y="25400"/>
                </a:lnTo>
                <a:lnTo>
                  <a:pt x="8284362" y="38100"/>
                </a:lnTo>
                <a:close/>
              </a:path>
              <a:path w="8748395" h="4191000">
                <a:moveTo>
                  <a:pt x="520382" y="50800"/>
                </a:moveTo>
                <a:lnTo>
                  <a:pt x="431914" y="50800"/>
                </a:lnTo>
                <a:lnTo>
                  <a:pt x="447878" y="38100"/>
                </a:lnTo>
                <a:lnTo>
                  <a:pt x="536943" y="38100"/>
                </a:lnTo>
                <a:lnTo>
                  <a:pt x="520382" y="50800"/>
                </a:lnTo>
                <a:close/>
              </a:path>
              <a:path w="8748395" h="4191000">
                <a:moveTo>
                  <a:pt x="8316480" y="50800"/>
                </a:moveTo>
                <a:lnTo>
                  <a:pt x="8228012" y="50800"/>
                </a:lnTo>
                <a:lnTo>
                  <a:pt x="8211451" y="38100"/>
                </a:lnTo>
                <a:lnTo>
                  <a:pt x="8300516" y="38100"/>
                </a:lnTo>
                <a:lnTo>
                  <a:pt x="8316480" y="50800"/>
                </a:lnTo>
                <a:close/>
              </a:path>
              <a:path w="8748395" h="4191000">
                <a:moveTo>
                  <a:pt x="441667" y="76200"/>
                </a:moveTo>
                <a:lnTo>
                  <a:pt x="385229" y="76200"/>
                </a:lnTo>
                <a:lnTo>
                  <a:pt x="400583" y="63500"/>
                </a:lnTo>
                <a:lnTo>
                  <a:pt x="416153" y="50800"/>
                </a:lnTo>
                <a:lnTo>
                  <a:pt x="488670" y="50800"/>
                </a:lnTo>
                <a:lnTo>
                  <a:pt x="472617" y="63500"/>
                </a:lnTo>
                <a:lnTo>
                  <a:pt x="457339" y="63500"/>
                </a:lnTo>
                <a:lnTo>
                  <a:pt x="441667" y="76200"/>
                </a:lnTo>
                <a:close/>
              </a:path>
              <a:path w="8748395" h="4191000">
                <a:moveTo>
                  <a:pt x="8363165" y="76200"/>
                </a:moveTo>
                <a:lnTo>
                  <a:pt x="8306727" y="76200"/>
                </a:lnTo>
                <a:lnTo>
                  <a:pt x="8291055" y="63500"/>
                </a:lnTo>
                <a:lnTo>
                  <a:pt x="8275777" y="63500"/>
                </a:lnTo>
                <a:lnTo>
                  <a:pt x="8259724" y="50800"/>
                </a:lnTo>
                <a:lnTo>
                  <a:pt x="8332241" y="50800"/>
                </a:lnTo>
                <a:lnTo>
                  <a:pt x="8347811" y="63500"/>
                </a:lnTo>
                <a:lnTo>
                  <a:pt x="8363165" y="76200"/>
                </a:lnTo>
                <a:close/>
              </a:path>
              <a:path w="8748395" h="4191000">
                <a:moveTo>
                  <a:pt x="382079" y="101600"/>
                </a:moveTo>
                <a:lnTo>
                  <a:pt x="340474" y="101600"/>
                </a:lnTo>
                <a:lnTo>
                  <a:pt x="355168" y="88900"/>
                </a:lnTo>
                <a:lnTo>
                  <a:pt x="370090" y="76200"/>
                </a:lnTo>
                <a:lnTo>
                  <a:pt x="426758" y="76200"/>
                </a:lnTo>
                <a:lnTo>
                  <a:pt x="411480" y="88900"/>
                </a:lnTo>
                <a:lnTo>
                  <a:pt x="396951" y="88900"/>
                </a:lnTo>
                <a:lnTo>
                  <a:pt x="382079" y="101600"/>
                </a:lnTo>
                <a:close/>
              </a:path>
              <a:path w="8748395" h="4191000">
                <a:moveTo>
                  <a:pt x="8407920" y="101600"/>
                </a:moveTo>
                <a:lnTo>
                  <a:pt x="8366315" y="101600"/>
                </a:lnTo>
                <a:lnTo>
                  <a:pt x="8351443" y="88900"/>
                </a:lnTo>
                <a:lnTo>
                  <a:pt x="8336914" y="88900"/>
                </a:lnTo>
                <a:lnTo>
                  <a:pt x="8321636" y="76200"/>
                </a:lnTo>
                <a:lnTo>
                  <a:pt x="8378304" y="76200"/>
                </a:lnTo>
                <a:lnTo>
                  <a:pt x="8393226" y="88900"/>
                </a:lnTo>
                <a:lnTo>
                  <a:pt x="8407920" y="101600"/>
                </a:lnTo>
                <a:close/>
              </a:path>
              <a:path w="8748395" h="4191000">
                <a:moveTo>
                  <a:pt x="325881" y="139700"/>
                </a:moveTo>
                <a:lnTo>
                  <a:pt x="284060" y="139700"/>
                </a:lnTo>
                <a:lnTo>
                  <a:pt x="297802" y="127000"/>
                </a:lnTo>
                <a:lnTo>
                  <a:pt x="311785" y="114300"/>
                </a:lnTo>
                <a:lnTo>
                  <a:pt x="326009" y="101600"/>
                </a:lnTo>
                <a:lnTo>
                  <a:pt x="382358" y="101600"/>
                </a:lnTo>
                <a:lnTo>
                  <a:pt x="367703" y="114300"/>
                </a:lnTo>
                <a:lnTo>
                  <a:pt x="353796" y="114300"/>
                </a:lnTo>
                <a:lnTo>
                  <a:pt x="339598" y="127000"/>
                </a:lnTo>
                <a:lnTo>
                  <a:pt x="339852" y="127000"/>
                </a:lnTo>
                <a:lnTo>
                  <a:pt x="325881" y="139700"/>
                </a:lnTo>
                <a:close/>
              </a:path>
              <a:path w="8748395" h="4191000">
                <a:moveTo>
                  <a:pt x="8464334" y="139700"/>
                </a:moveTo>
                <a:lnTo>
                  <a:pt x="8422513" y="139700"/>
                </a:lnTo>
                <a:lnTo>
                  <a:pt x="8408543" y="127000"/>
                </a:lnTo>
                <a:lnTo>
                  <a:pt x="8408797" y="127000"/>
                </a:lnTo>
                <a:lnTo>
                  <a:pt x="8394598" y="114300"/>
                </a:lnTo>
                <a:lnTo>
                  <a:pt x="8380691" y="114300"/>
                </a:lnTo>
                <a:lnTo>
                  <a:pt x="8366036" y="101600"/>
                </a:lnTo>
                <a:lnTo>
                  <a:pt x="8422386" y="101600"/>
                </a:lnTo>
                <a:lnTo>
                  <a:pt x="8436610" y="114300"/>
                </a:lnTo>
                <a:lnTo>
                  <a:pt x="8450592" y="127000"/>
                </a:lnTo>
                <a:lnTo>
                  <a:pt x="8464334" y="139700"/>
                </a:lnTo>
                <a:close/>
              </a:path>
              <a:path w="8748395" h="4191000">
                <a:moveTo>
                  <a:pt x="339852" y="4051300"/>
                </a:moveTo>
                <a:lnTo>
                  <a:pt x="284060" y="4051300"/>
                </a:lnTo>
                <a:lnTo>
                  <a:pt x="270573" y="4038600"/>
                </a:lnTo>
                <a:lnTo>
                  <a:pt x="231686" y="4000500"/>
                </a:lnTo>
                <a:lnTo>
                  <a:pt x="195275" y="3962400"/>
                </a:lnTo>
                <a:lnTo>
                  <a:pt x="161493" y="3924300"/>
                </a:lnTo>
                <a:lnTo>
                  <a:pt x="130479" y="3886200"/>
                </a:lnTo>
                <a:lnTo>
                  <a:pt x="102387" y="3848100"/>
                </a:lnTo>
                <a:lnTo>
                  <a:pt x="85356" y="3810000"/>
                </a:lnTo>
                <a:lnTo>
                  <a:pt x="77368" y="3797300"/>
                </a:lnTo>
                <a:lnTo>
                  <a:pt x="69748" y="3784600"/>
                </a:lnTo>
                <a:lnTo>
                  <a:pt x="62471" y="3771900"/>
                </a:lnTo>
                <a:lnTo>
                  <a:pt x="55575" y="3759200"/>
                </a:lnTo>
                <a:lnTo>
                  <a:pt x="49060" y="3733800"/>
                </a:lnTo>
                <a:lnTo>
                  <a:pt x="42913" y="3721100"/>
                </a:lnTo>
                <a:lnTo>
                  <a:pt x="37160" y="3708400"/>
                </a:lnTo>
                <a:lnTo>
                  <a:pt x="31800" y="3683000"/>
                </a:lnTo>
                <a:lnTo>
                  <a:pt x="26822" y="3670300"/>
                </a:lnTo>
                <a:lnTo>
                  <a:pt x="22263" y="3657600"/>
                </a:lnTo>
                <a:lnTo>
                  <a:pt x="18110" y="3632200"/>
                </a:lnTo>
                <a:lnTo>
                  <a:pt x="14363" y="3619500"/>
                </a:lnTo>
                <a:lnTo>
                  <a:pt x="11049" y="3606800"/>
                </a:lnTo>
                <a:lnTo>
                  <a:pt x="8140" y="3581400"/>
                </a:lnTo>
                <a:lnTo>
                  <a:pt x="5676" y="3568700"/>
                </a:lnTo>
                <a:lnTo>
                  <a:pt x="3644" y="3556000"/>
                </a:lnTo>
                <a:lnTo>
                  <a:pt x="2057" y="3530600"/>
                </a:lnTo>
                <a:lnTo>
                  <a:pt x="914" y="3517900"/>
                </a:lnTo>
                <a:lnTo>
                  <a:pt x="228" y="3492500"/>
                </a:lnTo>
                <a:lnTo>
                  <a:pt x="0" y="3479800"/>
                </a:lnTo>
                <a:lnTo>
                  <a:pt x="0" y="698500"/>
                </a:lnTo>
                <a:lnTo>
                  <a:pt x="228" y="685800"/>
                </a:lnTo>
                <a:lnTo>
                  <a:pt x="914" y="660400"/>
                </a:lnTo>
                <a:lnTo>
                  <a:pt x="2057" y="647700"/>
                </a:lnTo>
                <a:lnTo>
                  <a:pt x="3644" y="622300"/>
                </a:lnTo>
                <a:lnTo>
                  <a:pt x="5676" y="609600"/>
                </a:lnTo>
                <a:lnTo>
                  <a:pt x="8140" y="596900"/>
                </a:lnTo>
                <a:lnTo>
                  <a:pt x="11049" y="571500"/>
                </a:lnTo>
                <a:lnTo>
                  <a:pt x="14363" y="558800"/>
                </a:lnTo>
                <a:lnTo>
                  <a:pt x="18110" y="546100"/>
                </a:lnTo>
                <a:lnTo>
                  <a:pt x="22263" y="520700"/>
                </a:lnTo>
                <a:lnTo>
                  <a:pt x="26822" y="508000"/>
                </a:lnTo>
                <a:lnTo>
                  <a:pt x="31800" y="495300"/>
                </a:lnTo>
                <a:lnTo>
                  <a:pt x="37160" y="469900"/>
                </a:lnTo>
                <a:lnTo>
                  <a:pt x="42913" y="457200"/>
                </a:lnTo>
                <a:lnTo>
                  <a:pt x="49060" y="444500"/>
                </a:lnTo>
                <a:lnTo>
                  <a:pt x="55575" y="431800"/>
                </a:lnTo>
                <a:lnTo>
                  <a:pt x="62471" y="406400"/>
                </a:lnTo>
                <a:lnTo>
                  <a:pt x="69748" y="393700"/>
                </a:lnTo>
                <a:lnTo>
                  <a:pt x="77368" y="381000"/>
                </a:lnTo>
                <a:lnTo>
                  <a:pt x="85356" y="368300"/>
                </a:lnTo>
                <a:lnTo>
                  <a:pt x="93700" y="342900"/>
                </a:lnTo>
                <a:lnTo>
                  <a:pt x="120789" y="304800"/>
                </a:lnTo>
                <a:lnTo>
                  <a:pt x="150837" y="266700"/>
                </a:lnTo>
                <a:lnTo>
                  <a:pt x="183718" y="228600"/>
                </a:lnTo>
                <a:lnTo>
                  <a:pt x="219265" y="190500"/>
                </a:lnTo>
                <a:lnTo>
                  <a:pt x="257352" y="152400"/>
                </a:lnTo>
                <a:lnTo>
                  <a:pt x="270573" y="139700"/>
                </a:lnTo>
                <a:lnTo>
                  <a:pt x="312648" y="139700"/>
                </a:lnTo>
                <a:lnTo>
                  <a:pt x="299148" y="152400"/>
                </a:lnTo>
                <a:lnTo>
                  <a:pt x="299389" y="152400"/>
                </a:lnTo>
                <a:lnTo>
                  <a:pt x="286143" y="165100"/>
                </a:lnTo>
                <a:lnTo>
                  <a:pt x="286385" y="165100"/>
                </a:lnTo>
                <a:lnTo>
                  <a:pt x="273392" y="177800"/>
                </a:lnTo>
                <a:lnTo>
                  <a:pt x="273634" y="177800"/>
                </a:lnTo>
                <a:lnTo>
                  <a:pt x="260896" y="190500"/>
                </a:lnTo>
                <a:lnTo>
                  <a:pt x="248881" y="190500"/>
                </a:lnTo>
                <a:lnTo>
                  <a:pt x="236689" y="203200"/>
                </a:lnTo>
                <a:lnTo>
                  <a:pt x="236905" y="203200"/>
                </a:lnTo>
                <a:lnTo>
                  <a:pt x="224980" y="215900"/>
                </a:lnTo>
                <a:lnTo>
                  <a:pt x="225196" y="215900"/>
                </a:lnTo>
                <a:lnTo>
                  <a:pt x="213563" y="228600"/>
                </a:lnTo>
                <a:lnTo>
                  <a:pt x="213766" y="228600"/>
                </a:lnTo>
                <a:lnTo>
                  <a:pt x="202412" y="241300"/>
                </a:lnTo>
                <a:lnTo>
                  <a:pt x="202615" y="241300"/>
                </a:lnTo>
                <a:lnTo>
                  <a:pt x="191554" y="254000"/>
                </a:lnTo>
                <a:lnTo>
                  <a:pt x="191757" y="254000"/>
                </a:lnTo>
                <a:lnTo>
                  <a:pt x="180987" y="266700"/>
                </a:lnTo>
                <a:lnTo>
                  <a:pt x="181178" y="266700"/>
                </a:lnTo>
                <a:lnTo>
                  <a:pt x="170713" y="279400"/>
                </a:lnTo>
                <a:lnTo>
                  <a:pt x="170903" y="279400"/>
                </a:lnTo>
                <a:lnTo>
                  <a:pt x="160743" y="292100"/>
                </a:lnTo>
                <a:lnTo>
                  <a:pt x="160934" y="292100"/>
                </a:lnTo>
                <a:lnTo>
                  <a:pt x="151091" y="304800"/>
                </a:lnTo>
                <a:lnTo>
                  <a:pt x="151269" y="304800"/>
                </a:lnTo>
                <a:lnTo>
                  <a:pt x="141744" y="317500"/>
                </a:lnTo>
                <a:lnTo>
                  <a:pt x="141922" y="317500"/>
                </a:lnTo>
                <a:lnTo>
                  <a:pt x="132715" y="330200"/>
                </a:lnTo>
                <a:lnTo>
                  <a:pt x="132880" y="330200"/>
                </a:lnTo>
                <a:lnTo>
                  <a:pt x="124015" y="342900"/>
                </a:lnTo>
                <a:lnTo>
                  <a:pt x="124180" y="342900"/>
                </a:lnTo>
                <a:lnTo>
                  <a:pt x="115646" y="355600"/>
                </a:lnTo>
                <a:lnTo>
                  <a:pt x="115798" y="355600"/>
                </a:lnTo>
                <a:lnTo>
                  <a:pt x="107607" y="381000"/>
                </a:lnTo>
                <a:lnTo>
                  <a:pt x="107759" y="381000"/>
                </a:lnTo>
                <a:lnTo>
                  <a:pt x="99910" y="393700"/>
                </a:lnTo>
                <a:lnTo>
                  <a:pt x="100050" y="393700"/>
                </a:lnTo>
                <a:lnTo>
                  <a:pt x="92557" y="406400"/>
                </a:lnTo>
                <a:lnTo>
                  <a:pt x="92697" y="406400"/>
                </a:lnTo>
                <a:lnTo>
                  <a:pt x="85559" y="419100"/>
                </a:lnTo>
                <a:lnTo>
                  <a:pt x="85686" y="419100"/>
                </a:lnTo>
                <a:lnTo>
                  <a:pt x="78917" y="431800"/>
                </a:lnTo>
                <a:lnTo>
                  <a:pt x="75831" y="444500"/>
                </a:lnTo>
                <a:lnTo>
                  <a:pt x="72745" y="444500"/>
                </a:lnTo>
                <a:lnTo>
                  <a:pt x="66713" y="469900"/>
                </a:lnTo>
                <a:lnTo>
                  <a:pt x="61163" y="482600"/>
                </a:lnTo>
                <a:lnTo>
                  <a:pt x="56006" y="495300"/>
                </a:lnTo>
                <a:lnTo>
                  <a:pt x="51219" y="508000"/>
                </a:lnTo>
                <a:lnTo>
                  <a:pt x="46824" y="533400"/>
                </a:lnTo>
                <a:lnTo>
                  <a:pt x="42824" y="546100"/>
                </a:lnTo>
                <a:lnTo>
                  <a:pt x="39217" y="558800"/>
                </a:lnTo>
                <a:lnTo>
                  <a:pt x="36017" y="584200"/>
                </a:lnTo>
                <a:lnTo>
                  <a:pt x="33235" y="596900"/>
                </a:lnTo>
                <a:lnTo>
                  <a:pt x="30861" y="609600"/>
                </a:lnTo>
                <a:lnTo>
                  <a:pt x="28905" y="635000"/>
                </a:lnTo>
                <a:lnTo>
                  <a:pt x="27381" y="647700"/>
                </a:lnTo>
                <a:lnTo>
                  <a:pt x="26276" y="660400"/>
                </a:lnTo>
                <a:lnTo>
                  <a:pt x="25615" y="685800"/>
                </a:lnTo>
                <a:lnTo>
                  <a:pt x="25400" y="698500"/>
                </a:lnTo>
                <a:lnTo>
                  <a:pt x="25400" y="3479800"/>
                </a:lnTo>
                <a:lnTo>
                  <a:pt x="25628" y="3492500"/>
                </a:lnTo>
                <a:lnTo>
                  <a:pt x="26288" y="3517900"/>
                </a:lnTo>
                <a:lnTo>
                  <a:pt x="27393" y="3530600"/>
                </a:lnTo>
                <a:lnTo>
                  <a:pt x="28930" y="3543300"/>
                </a:lnTo>
                <a:lnTo>
                  <a:pt x="30899" y="3568700"/>
                </a:lnTo>
                <a:lnTo>
                  <a:pt x="33274" y="3581400"/>
                </a:lnTo>
                <a:lnTo>
                  <a:pt x="36080" y="3594100"/>
                </a:lnTo>
                <a:lnTo>
                  <a:pt x="39281" y="3619500"/>
                </a:lnTo>
                <a:lnTo>
                  <a:pt x="42887" y="3632200"/>
                </a:lnTo>
                <a:lnTo>
                  <a:pt x="46901" y="3644900"/>
                </a:lnTo>
                <a:lnTo>
                  <a:pt x="51307" y="3670300"/>
                </a:lnTo>
                <a:lnTo>
                  <a:pt x="56095" y="3683000"/>
                </a:lnTo>
                <a:lnTo>
                  <a:pt x="61264" y="3695700"/>
                </a:lnTo>
                <a:lnTo>
                  <a:pt x="66814" y="3708400"/>
                </a:lnTo>
                <a:lnTo>
                  <a:pt x="72745" y="3733800"/>
                </a:lnTo>
                <a:lnTo>
                  <a:pt x="79032" y="3746500"/>
                </a:lnTo>
                <a:lnTo>
                  <a:pt x="85686" y="3759200"/>
                </a:lnTo>
                <a:lnTo>
                  <a:pt x="85559" y="3759200"/>
                </a:lnTo>
                <a:lnTo>
                  <a:pt x="92697" y="3771900"/>
                </a:lnTo>
                <a:lnTo>
                  <a:pt x="92557" y="3771900"/>
                </a:lnTo>
                <a:lnTo>
                  <a:pt x="100050" y="3784600"/>
                </a:lnTo>
                <a:lnTo>
                  <a:pt x="99910" y="3784600"/>
                </a:lnTo>
                <a:lnTo>
                  <a:pt x="107759" y="3810000"/>
                </a:lnTo>
                <a:lnTo>
                  <a:pt x="111702" y="3810000"/>
                </a:lnTo>
                <a:lnTo>
                  <a:pt x="115798" y="3822700"/>
                </a:lnTo>
                <a:lnTo>
                  <a:pt x="115646" y="3822700"/>
                </a:lnTo>
                <a:lnTo>
                  <a:pt x="124180" y="3835400"/>
                </a:lnTo>
                <a:lnTo>
                  <a:pt x="124015" y="3835400"/>
                </a:lnTo>
                <a:lnTo>
                  <a:pt x="132880" y="3848100"/>
                </a:lnTo>
                <a:lnTo>
                  <a:pt x="132715" y="3848100"/>
                </a:lnTo>
                <a:lnTo>
                  <a:pt x="141922" y="3860800"/>
                </a:lnTo>
                <a:lnTo>
                  <a:pt x="141744" y="3860800"/>
                </a:lnTo>
                <a:lnTo>
                  <a:pt x="151269" y="3873500"/>
                </a:lnTo>
                <a:lnTo>
                  <a:pt x="151091" y="3873500"/>
                </a:lnTo>
                <a:lnTo>
                  <a:pt x="160934" y="3886200"/>
                </a:lnTo>
                <a:lnTo>
                  <a:pt x="160743" y="3886200"/>
                </a:lnTo>
                <a:lnTo>
                  <a:pt x="170903" y="3898900"/>
                </a:lnTo>
                <a:lnTo>
                  <a:pt x="170713" y="3898900"/>
                </a:lnTo>
                <a:lnTo>
                  <a:pt x="181178" y="3911600"/>
                </a:lnTo>
                <a:lnTo>
                  <a:pt x="180987" y="3911600"/>
                </a:lnTo>
                <a:lnTo>
                  <a:pt x="191757" y="3924300"/>
                </a:lnTo>
                <a:lnTo>
                  <a:pt x="191554" y="3924300"/>
                </a:lnTo>
                <a:lnTo>
                  <a:pt x="202615" y="3937000"/>
                </a:lnTo>
                <a:lnTo>
                  <a:pt x="202412" y="3937000"/>
                </a:lnTo>
                <a:lnTo>
                  <a:pt x="213766" y="3949700"/>
                </a:lnTo>
                <a:lnTo>
                  <a:pt x="213563" y="3949700"/>
                </a:lnTo>
                <a:lnTo>
                  <a:pt x="225196" y="3962400"/>
                </a:lnTo>
                <a:lnTo>
                  <a:pt x="224980" y="3962400"/>
                </a:lnTo>
                <a:lnTo>
                  <a:pt x="236905" y="3975100"/>
                </a:lnTo>
                <a:lnTo>
                  <a:pt x="236689" y="3975100"/>
                </a:lnTo>
                <a:lnTo>
                  <a:pt x="248881" y="3987800"/>
                </a:lnTo>
                <a:lnTo>
                  <a:pt x="248666" y="3987800"/>
                </a:lnTo>
                <a:lnTo>
                  <a:pt x="261124" y="4000500"/>
                </a:lnTo>
                <a:lnTo>
                  <a:pt x="273392" y="4000500"/>
                </a:lnTo>
                <a:lnTo>
                  <a:pt x="286385" y="4013200"/>
                </a:lnTo>
                <a:lnTo>
                  <a:pt x="286143" y="4013200"/>
                </a:lnTo>
                <a:lnTo>
                  <a:pt x="299389" y="4025900"/>
                </a:lnTo>
                <a:lnTo>
                  <a:pt x="299148" y="4025900"/>
                </a:lnTo>
                <a:lnTo>
                  <a:pt x="312648" y="4038600"/>
                </a:lnTo>
                <a:lnTo>
                  <a:pt x="325881" y="4038600"/>
                </a:lnTo>
                <a:lnTo>
                  <a:pt x="339852" y="4051300"/>
                </a:lnTo>
                <a:close/>
              </a:path>
              <a:path w="8748395" h="4191000">
                <a:moveTo>
                  <a:pt x="8675763" y="457200"/>
                </a:moveTo>
                <a:lnTo>
                  <a:pt x="8669362" y="431800"/>
                </a:lnTo>
                <a:lnTo>
                  <a:pt x="8662708" y="419100"/>
                </a:lnTo>
                <a:lnTo>
                  <a:pt x="8655697" y="406400"/>
                </a:lnTo>
                <a:lnTo>
                  <a:pt x="8655837" y="406400"/>
                </a:lnTo>
                <a:lnTo>
                  <a:pt x="8648344" y="393700"/>
                </a:lnTo>
                <a:lnTo>
                  <a:pt x="8648484" y="393700"/>
                </a:lnTo>
                <a:lnTo>
                  <a:pt x="8640635" y="381000"/>
                </a:lnTo>
                <a:lnTo>
                  <a:pt x="8640787" y="381000"/>
                </a:lnTo>
                <a:lnTo>
                  <a:pt x="8632596" y="355600"/>
                </a:lnTo>
                <a:lnTo>
                  <a:pt x="8632748" y="355600"/>
                </a:lnTo>
                <a:lnTo>
                  <a:pt x="8624214" y="342900"/>
                </a:lnTo>
                <a:lnTo>
                  <a:pt x="8624379" y="342900"/>
                </a:lnTo>
                <a:lnTo>
                  <a:pt x="8615514" y="330200"/>
                </a:lnTo>
                <a:lnTo>
                  <a:pt x="8615680" y="330200"/>
                </a:lnTo>
                <a:lnTo>
                  <a:pt x="8606485" y="317500"/>
                </a:lnTo>
                <a:lnTo>
                  <a:pt x="8606650" y="317500"/>
                </a:lnTo>
                <a:lnTo>
                  <a:pt x="8597125" y="304800"/>
                </a:lnTo>
                <a:lnTo>
                  <a:pt x="8597303" y="304800"/>
                </a:lnTo>
                <a:lnTo>
                  <a:pt x="8587460" y="292100"/>
                </a:lnTo>
                <a:lnTo>
                  <a:pt x="8587638" y="292100"/>
                </a:lnTo>
                <a:lnTo>
                  <a:pt x="8577491" y="279400"/>
                </a:lnTo>
                <a:lnTo>
                  <a:pt x="8577681" y="279400"/>
                </a:lnTo>
                <a:lnTo>
                  <a:pt x="8567216" y="266700"/>
                </a:lnTo>
                <a:lnTo>
                  <a:pt x="8567407" y="266700"/>
                </a:lnTo>
                <a:lnTo>
                  <a:pt x="8556637" y="254000"/>
                </a:lnTo>
                <a:lnTo>
                  <a:pt x="8556840" y="254000"/>
                </a:lnTo>
                <a:lnTo>
                  <a:pt x="8545779" y="241300"/>
                </a:lnTo>
                <a:lnTo>
                  <a:pt x="8545982" y="241300"/>
                </a:lnTo>
                <a:lnTo>
                  <a:pt x="8534628" y="228600"/>
                </a:lnTo>
                <a:lnTo>
                  <a:pt x="8534831" y="228600"/>
                </a:lnTo>
                <a:lnTo>
                  <a:pt x="8523198" y="215900"/>
                </a:lnTo>
                <a:lnTo>
                  <a:pt x="8523414" y="215900"/>
                </a:lnTo>
                <a:lnTo>
                  <a:pt x="8511489" y="203200"/>
                </a:lnTo>
                <a:lnTo>
                  <a:pt x="8511705" y="203200"/>
                </a:lnTo>
                <a:lnTo>
                  <a:pt x="8499513" y="190500"/>
                </a:lnTo>
                <a:lnTo>
                  <a:pt x="8487498" y="190500"/>
                </a:lnTo>
                <a:lnTo>
                  <a:pt x="8474760" y="177800"/>
                </a:lnTo>
                <a:lnTo>
                  <a:pt x="8475002" y="177800"/>
                </a:lnTo>
                <a:lnTo>
                  <a:pt x="8462010" y="165100"/>
                </a:lnTo>
                <a:lnTo>
                  <a:pt x="8462251" y="165100"/>
                </a:lnTo>
                <a:lnTo>
                  <a:pt x="8449005" y="152400"/>
                </a:lnTo>
                <a:lnTo>
                  <a:pt x="8449246" y="152400"/>
                </a:lnTo>
                <a:lnTo>
                  <a:pt x="8435746" y="139700"/>
                </a:lnTo>
                <a:lnTo>
                  <a:pt x="8477821" y="139700"/>
                </a:lnTo>
                <a:lnTo>
                  <a:pt x="8491042" y="152400"/>
                </a:lnTo>
                <a:lnTo>
                  <a:pt x="8529129" y="190500"/>
                </a:lnTo>
                <a:lnTo>
                  <a:pt x="8564676" y="228600"/>
                </a:lnTo>
                <a:lnTo>
                  <a:pt x="8597557" y="266700"/>
                </a:lnTo>
                <a:lnTo>
                  <a:pt x="8627605" y="304800"/>
                </a:lnTo>
                <a:lnTo>
                  <a:pt x="8654694" y="342900"/>
                </a:lnTo>
                <a:lnTo>
                  <a:pt x="8663038" y="368300"/>
                </a:lnTo>
                <a:lnTo>
                  <a:pt x="8671026" y="381000"/>
                </a:lnTo>
                <a:lnTo>
                  <a:pt x="8678646" y="393700"/>
                </a:lnTo>
                <a:lnTo>
                  <a:pt x="8685923" y="406400"/>
                </a:lnTo>
                <a:lnTo>
                  <a:pt x="8692819" y="431800"/>
                </a:lnTo>
                <a:lnTo>
                  <a:pt x="8699334" y="444500"/>
                </a:lnTo>
                <a:lnTo>
                  <a:pt x="8675649" y="444500"/>
                </a:lnTo>
                <a:lnTo>
                  <a:pt x="8675763" y="457200"/>
                </a:lnTo>
                <a:close/>
              </a:path>
              <a:path w="8748395" h="4191000">
                <a:moveTo>
                  <a:pt x="72631" y="457200"/>
                </a:moveTo>
                <a:lnTo>
                  <a:pt x="72745" y="444500"/>
                </a:lnTo>
                <a:lnTo>
                  <a:pt x="75831" y="444500"/>
                </a:lnTo>
                <a:lnTo>
                  <a:pt x="72631" y="457200"/>
                </a:lnTo>
                <a:close/>
              </a:path>
              <a:path w="8748395" h="4191000">
                <a:moveTo>
                  <a:pt x="8663038" y="3810000"/>
                </a:moveTo>
                <a:lnTo>
                  <a:pt x="8640635" y="3810000"/>
                </a:lnTo>
                <a:lnTo>
                  <a:pt x="8648484" y="3784600"/>
                </a:lnTo>
                <a:lnTo>
                  <a:pt x="8648344" y="3784600"/>
                </a:lnTo>
                <a:lnTo>
                  <a:pt x="8655837" y="3771900"/>
                </a:lnTo>
                <a:lnTo>
                  <a:pt x="8655697" y="3771900"/>
                </a:lnTo>
                <a:lnTo>
                  <a:pt x="8662835" y="3759200"/>
                </a:lnTo>
                <a:lnTo>
                  <a:pt x="8669477" y="3746500"/>
                </a:lnTo>
                <a:lnTo>
                  <a:pt x="8675763" y="3733800"/>
                </a:lnTo>
                <a:lnTo>
                  <a:pt x="8681681" y="3708400"/>
                </a:lnTo>
                <a:lnTo>
                  <a:pt x="8687231" y="3695700"/>
                </a:lnTo>
                <a:lnTo>
                  <a:pt x="8692388" y="3683000"/>
                </a:lnTo>
                <a:lnTo>
                  <a:pt x="8697175" y="3670300"/>
                </a:lnTo>
                <a:lnTo>
                  <a:pt x="8701570" y="3644900"/>
                </a:lnTo>
                <a:lnTo>
                  <a:pt x="8705570" y="3632200"/>
                </a:lnTo>
                <a:lnTo>
                  <a:pt x="8709177" y="3619500"/>
                </a:lnTo>
                <a:lnTo>
                  <a:pt x="8712377" y="3594100"/>
                </a:lnTo>
                <a:lnTo>
                  <a:pt x="8715159" y="3581400"/>
                </a:lnTo>
                <a:lnTo>
                  <a:pt x="8717534" y="3568700"/>
                </a:lnTo>
                <a:lnTo>
                  <a:pt x="8719489" y="3543300"/>
                </a:lnTo>
                <a:lnTo>
                  <a:pt x="8721013" y="3530600"/>
                </a:lnTo>
                <a:lnTo>
                  <a:pt x="8722118" y="3517900"/>
                </a:lnTo>
                <a:lnTo>
                  <a:pt x="8722779" y="3492500"/>
                </a:lnTo>
                <a:lnTo>
                  <a:pt x="8722995" y="3479800"/>
                </a:lnTo>
                <a:lnTo>
                  <a:pt x="8722995" y="698500"/>
                </a:lnTo>
                <a:lnTo>
                  <a:pt x="8722766" y="685800"/>
                </a:lnTo>
                <a:lnTo>
                  <a:pt x="8722106" y="660400"/>
                </a:lnTo>
                <a:lnTo>
                  <a:pt x="8720988" y="647700"/>
                </a:lnTo>
                <a:lnTo>
                  <a:pt x="8719464" y="635000"/>
                </a:lnTo>
                <a:lnTo>
                  <a:pt x="8717495" y="609600"/>
                </a:lnTo>
                <a:lnTo>
                  <a:pt x="8715108" y="596900"/>
                </a:lnTo>
                <a:lnTo>
                  <a:pt x="8712314" y="584200"/>
                </a:lnTo>
                <a:lnTo>
                  <a:pt x="8709113" y="558800"/>
                </a:lnTo>
                <a:lnTo>
                  <a:pt x="8705507" y="546100"/>
                </a:lnTo>
                <a:lnTo>
                  <a:pt x="8701493" y="533400"/>
                </a:lnTo>
                <a:lnTo>
                  <a:pt x="8697087" y="508000"/>
                </a:lnTo>
                <a:lnTo>
                  <a:pt x="8692299" y="495300"/>
                </a:lnTo>
                <a:lnTo>
                  <a:pt x="8687130" y="482600"/>
                </a:lnTo>
                <a:lnTo>
                  <a:pt x="8681580" y="469900"/>
                </a:lnTo>
                <a:lnTo>
                  <a:pt x="8675649" y="444500"/>
                </a:lnTo>
                <a:lnTo>
                  <a:pt x="8699334" y="444500"/>
                </a:lnTo>
                <a:lnTo>
                  <a:pt x="8705481" y="457200"/>
                </a:lnTo>
                <a:lnTo>
                  <a:pt x="8711234" y="469900"/>
                </a:lnTo>
                <a:lnTo>
                  <a:pt x="8716594" y="495300"/>
                </a:lnTo>
                <a:lnTo>
                  <a:pt x="8721572" y="508000"/>
                </a:lnTo>
                <a:lnTo>
                  <a:pt x="8726131" y="520700"/>
                </a:lnTo>
                <a:lnTo>
                  <a:pt x="8730284" y="546100"/>
                </a:lnTo>
                <a:lnTo>
                  <a:pt x="8734031" y="558800"/>
                </a:lnTo>
                <a:lnTo>
                  <a:pt x="8737346" y="571500"/>
                </a:lnTo>
                <a:lnTo>
                  <a:pt x="8740241" y="596900"/>
                </a:lnTo>
                <a:lnTo>
                  <a:pt x="8742718" y="609600"/>
                </a:lnTo>
                <a:lnTo>
                  <a:pt x="8744750" y="622300"/>
                </a:lnTo>
                <a:lnTo>
                  <a:pt x="8746337" y="647700"/>
                </a:lnTo>
                <a:lnTo>
                  <a:pt x="8747480" y="660400"/>
                </a:lnTo>
                <a:lnTo>
                  <a:pt x="8748166" y="685800"/>
                </a:lnTo>
                <a:lnTo>
                  <a:pt x="8748395" y="698500"/>
                </a:lnTo>
                <a:lnTo>
                  <a:pt x="8748395" y="3479800"/>
                </a:lnTo>
                <a:lnTo>
                  <a:pt x="8748166" y="3492500"/>
                </a:lnTo>
                <a:lnTo>
                  <a:pt x="8747480" y="3517900"/>
                </a:lnTo>
                <a:lnTo>
                  <a:pt x="8746337" y="3530600"/>
                </a:lnTo>
                <a:lnTo>
                  <a:pt x="8744750" y="3556000"/>
                </a:lnTo>
                <a:lnTo>
                  <a:pt x="8742718" y="3568700"/>
                </a:lnTo>
                <a:lnTo>
                  <a:pt x="8740241" y="3581400"/>
                </a:lnTo>
                <a:lnTo>
                  <a:pt x="8737346" y="3606800"/>
                </a:lnTo>
                <a:lnTo>
                  <a:pt x="8734031" y="3619500"/>
                </a:lnTo>
                <a:lnTo>
                  <a:pt x="8730284" y="3632200"/>
                </a:lnTo>
                <a:lnTo>
                  <a:pt x="8726131" y="3657600"/>
                </a:lnTo>
                <a:lnTo>
                  <a:pt x="8721572" y="3670300"/>
                </a:lnTo>
                <a:lnTo>
                  <a:pt x="8716594" y="3683000"/>
                </a:lnTo>
                <a:lnTo>
                  <a:pt x="8711234" y="3708400"/>
                </a:lnTo>
                <a:lnTo>
                  <a:pt x="8705481" y="3721100"/>
                </a:lnTo>
                <a:lnTo>
                  <a:pt x="8699334" y="3733800"/>
                </a:lnTo>
                <a:lnTo>
                  <a:pt x="8692819" y="3759200"/>
                </a:lnTo>
                <a:lnTo>
                  <a:pt x="8685923" y="3771900"/>
                </a:lnTo>
                <a:lnTo>
                  <a:pt x="8678646" y="3784600"/>
                </a:lnTo>
                <a:lnTo>
                  <a:pt x="8671026" y="3797300"/>
                </a:lnTo>
                <a:lnTo>
                  <a:pt x="8663038" y="3810000"/>
                </a:lnTo>
                <a:close/>
              </a:path>
              <a:path w="8748395" h="4191000">
                <a:moveTo>
                  <a:pt x="111702" y="3810000"/>
                </a:moveTo>
                <a:lnTo>
                  <a:pt x="107759" y="3810000"/>
                </a:lnTo>
                <a:lnTo>
                  <a:pt x="107607" y="3797300"/>
                </a:lnTo>
                <a:lnTo>
                  <a:pt x="111702" y="3810000"/>
                </a:lnTo>
                <a:close/>
              </a:path>
              <a:path w="8748395" h="4191000">
                <a:moveTo>
                  <a:pt x="8464334" y="4051300"/>
                </a:moveTo>
                <a:lnTo>
                  <a:pt x="8408543" y="4051300"/>
                </a:lnTo>
                <a:lnTo>
                  <a:pt x="8422513" y="4038600"/>
                </a:lnTo>
                <a:lnTo>
                  <a:pt x="8435746" y="4038600"/>
                </a:lnTo>
                <a:lnTo>
                  <a:pt x="8449246" y="4025900"/>
                </a:lnTo>
                <a:lnTo>
                  <a:pt x="8449005" y="4025900"/>
                </a:lnTo>
                <a:lnTo>
                  <a:pt x="8462251" y="4013200"/>
                </a:lnTo>
                <a:lnTo>
                  <a:pt x="8462010" y="4013200"/>
                </a:lnTo>
                <a:lnTo>
                  <a:pt x="8475002" y="4000500"/>
                </a:lnTo>
                <a:lnTo>
                  <a:pt x="8487270" y="4000500"/>
                </a:lnTo>
                <a:lnTo>
                  <a:pt x="8499729" y="3987800"/>
                </a:lnTo>
                <a:lnTo>
                  <a:pt x="8499513" y="3987800"/>
                </a:lnTo>
                <a:lnTo>
                  <a:pt x="8511705" y="3975100"/>
                </a:lnTo>
                <a:lnTo>
                  <a:pt x="8511489" y="3975100"/>
                </a:lnTo>
                <a:lnTo>
                  <a:pt x="8523414" y="3962400"/>
                </a:lnTo>
                <a:lnTo>
                  <a:pt x="8523198" y="3962400"/>
                </a:lnTo>
                <a:lnTo>
                  <a:pt x="8534831" y="3949700"/>
                </a:lnTo>
                <a:lnTo>
                  <a:pt x="8534628" y="3949700"/>
                </a:lnTo>
                <a:lnTo>
                  <a:pt x="8545982" y="3937000"/>
                </a:lnTo>
                <a:lnTo>
                  <a:pt x="8545779" y="3937000"/>
                </a:lnTo>
                <a:lnTo>
                  <a:pt x="8556840" y="3924300"/>
                </a:lnTo>
                <a:lnTo>
                  <a:pt x="8556637" y="3924300"/>
                </a:lnTo>
                <a:lnTo>
                  <a:pt x="8567407" y="3911600"/>
                </a:lnTo>
                <a:lnTo>
                  <a:pt x="8567216" y="3911600"/>
                </a:lnTo>
                <a:lnTo>
                  <a:pt x="8577681" y="3898900"/>
                </a:lnTo>
                <a:lnTo>
                  <a:pt x="8577491" y="3898900"/>
                </a:lnTo>
                <a:lnTo>
                  <a:pt x="8587638" y="3886200"/>
                </a:lnTo>
                <a:lnTo>
                  <a:pt x="8587460" y="3886200"/>
                </a:lnTo>
                <a:lnTo>
                  <a:pt x="8597303" y="3873500"/>
                </a:lnTo>
                <a:lnTo>
                  <a:pt x="8597125" y="3873500"/>
                </a:lnTo>
                <a:lnTo>
                  <a:pt x="8606650" y="3860800"/>
                </a:lnTo>
                <a:lnTo>
                  <a:pt x="8606485" y="3860800"/>
                </a:lnTo>
                <a:lnTo>
                  <a:pt x="8615680" y="3848100"/>
                </a:lnTo>
                <a:lnTo>
                  <a:pt x="8615514" y="3848100"/>
                </a:lnTo>
                <a:lnTo>
                  <a:pt x="8624379" y="3835400"/>
                </a:lnTo>
                <a:lnTo>
                  <a:pt x="8624214" y="3835400"/>
                </a:lnTo>
                <a:lnTo>
                  <a:pt x="8632748" y="3822700"/>
                </a:lnTo>
                <a:lnTo>
                  <a:pt x="8632596" y="3822700"/>
                </a:lnTo>
                <a:lnTo>
                  <a:pt x="8640787" y="3797300"/>
                </a:lnTo>
                <a:lnTo>
                  <a:pt x="8640635" y="3810000"/>
                </a:lnTo>
                <a:lnTo>
                  <a:pt x="8663038" y="3810000"/>
                </a:lnTo>
                <a:lnTo>
                  <a:pt x="8646007" y="3848100"/>
                </a:lnTo>
                <a:lnTo>
                  <a:pt x="8617915" y="3886200"/>
                </a:lnTo>
                <a:lnTo>
                  <a:pt x="8586901" y="3924300"/>
                </a:lnTo>
                <a:lnTo>
                  <a:pt x="8553119" y="3962400"/>
                </a:lnTo>
                <a:lnTo>
                  <a:pt x="8516708" y="4000500"/>
                </a:lnTo>
                <a:lnTo>
                  <a:pt x="8477821" y="4038600"/>
                </a:lnTo>
                <a:lnTo>
                  <a:pt x="8464334" y="4051300"/>
                </a:lnTo>
                <a:close/>
              </a:path>
              <a:path w="8748395" h="4191000">
                <a:moveTo>
                  <a:pt x="396951" y="4089400"/>
                </a:moveTo>
                <a:lnTo>
                  <a:pt x="340474" y="4089400"/>
                </a:lnTo>
                <a:lnTo>
                  <a:pt x="326009" y="4076700"/>
                </a:lnTo>
                <a:lnTo>
                  <a:pt x="311785" y="4064000"/>
                </a:lnTo>
                <a:lnTo>
                  <a:pt x="297802" y="4051300"/>
                </a:lnTo>
                <a:lnTo>
                  <a:pt x="339598" y="4051300"/>
                </a:lnTo>
                <a:lnTo>
                  <a:pt x="353796" y="4064000"/>
                </a:lnTo>
                <a:lnTo>
                  <a:pt x="367703" y="4064000"/>
                </a:lnTo>
                <a:lnTo>
                  <a:pt x="382358" y="4076700"/>
                </a:lnTo>
                <a:lnTo>
                  <a:pt x="382079" y="4076700"/>
                </a:lnTo>
                <a:lnTo>
                  <a:pt x="396951" y="4089400"/>
                </a:lnTo>
                <a:close/>
              </a:path>
              <a:path w="8748395" h="4191000">
                <a:moveTo>
                  <a:pt x="8407920" y="4089400"/>
                </a:moveTo>
                <a:lnTo>
                  <a:pt x="8351443" y="4089400"/>
                </a:lnTo>
                <a:lnTo>
                  <a:pt x="8366315" y="4076700"/>
                </a:lnTo>
                <a:lnTo>
                  <a:pt x="8366036" y="4076700"/>
                </a:lnTo>
                <a:lnTo>
                  <a:pt x="8380691" y="4064000"/>
                </a:lnTo>
                <a:lnTo>
                  <a:pt x="8394598" y="4064000"/>
                </a:lnTo>
                <a:lnTo>
                  <a:pt x="8408797" y="4051300"/>
                </a:lnTo>
                <a:lnTo>
                  <a:pt x="8450592" y="4051300"/>
                </a:lnTo>
                <a:lnTo>
                  <a:pt x="8436610" y="4064000"/>
                </a:lnTo>
                <a:lnTo>
                  <a:pt x="8422386" y="4076700"/>
                </a:lnTo>
                <a:lnTo>
                  <a:pt x="8407920" y="4089400"/>
                </a:lnTo>
                <a:close/>
              </a:path>
              <a:path w="8748395" h="4191000">
                <a:moveTo>
                  <a:pt x="457339" y="4114800"/>
                </a:moveTo>
                <a:lnTo>
                  <a:pt x="385229" y="4114800"/>
                </a:lnTo>
                <a:lnTo>
                  <a:pt x="370090" y="4102100"/>
                </a:lnTo>
                <a:lnTo>
                  <a:pt x="355168" y="4089400"/>
                </a:lnTo>
                <a:lnTo>
                  <a:pt x="411480" y="4089400"/>
                </a:lnTo>
                <a:lnTo>
                  <a:pt x="426758" y="4102100"/>
                </a:lnTo>
                <a:lnTo>
                  <a:pt x="441667" y="4102100"/>
                </a:lnTo>
                <a:lnTo>
                  <a:pt x="457339" y="4114800"/>
                </a:lnTo>
                <a:close/>
              </a:path>
              <a:path w="8748395" h="4191000">
                <a:moveTo>
                  <a:pt x="8363165" y="4114800"/>
                </a:moveTo>
                <a:lnTo>
                  <a:pt x="8291055" y="4114800"/>
                </a:lnTo>
                <a:lnTo>
                  <a:pt x="8306727" y="4102100"/>
                </a:lnTo>
                <a:lnTo>
                  <a:pt x="8321636" y="4102100"/>
                </a:lnTo>
                <a:lnTo>
                  <a:pt x="8336914" y="4089400"/>
                </a:lnTo>
                <a:lnTo>
                  <a:pt x="8393226" y="4089400"/>
                </a:lnTo>
                <a:lnTo>
                  <a:pt x="8378304" y="4102100"/>
                </a:lnTo>
                <a:lnTo>
                  <a:pt x="8363165" y="4114800"/>
                </a:lnTo>
                <a:close/>
              </a:path>
              <a:path w="8748395" h="4191000">
                <a:moveTo>
                  <a:pt x="488670" y="4127500"/>
                </a:moveTo>
                <a:lnTo>
                  <a:pt x="416153" y="4127500"/>
                </a:lnTo>
                <a:lnTo>
                  <a:pt x="400583" y="4114800"/>
                </a:lnTo>
                <a:lnTo>
                  <a:pt x="472617" y="4114800"/>
                </a:lnTo>
                <a:lnTo>
                  <a:pt x="488670" y="4127500"/>
                </a:lnTo>
                <a:close/>
              </a:path>
              <a:path w="8748395" h="4191000">
                <a:moveTo>
                  <a:pt x="8332241" y="4127500"/>
                </a:moveTo>
                <a:lnTo>
                  <a:pt x="8259724" y="4127500"/>
                </a:lnTo>
                <a:lnTo>
                  <a:pt x="8275777" y="4114800"/>
                </a:lnTo>
                <a:lnTo>
                  <a:pt x="8347811" y="4114800"/>
                </a:lnTo>
                <a:lnTo>
                  <a:pt x="8332241" y="4127500"/>
                </a:lnTo>
                <a:close/>
              </a:path>
              <a:path w="8748395" h="4191000">
                <a:moveTo>
                  <a:pt x="520687" y="4140200"/>
                </a:moveTo>
                <a:lnTo>
                  <a:pt x="447878" y="4140200"/>
                </a:lnTo>
                <a:lnTo>
                  <a:pt x="431914" y="4127500"/>
                </a:lnTo>
                <a:lnTo>
                  <a:pt x="504291" y="4127500"/>
                </a:lnTo>
                <a:lnTo>
                  <a:pt x="520687" y="4140200"/>
                </a:lnTo>
                <a:close/>
              </a:path>
              <a:path w="8748395" h="4191000">
                <a:moveTo>
                  <a:pt x="8300516" y="4140200"/>
                </a:moveTo>
                <a:lnTo>
                  <a:pt x="8227707" y="4140200"/>
                </a:lnTo>
                <a:lnTo>
                  <a:pt x="8244103" y="4127500"/>
                </a:lnTo>
                <a:lnTo>
                  <a:pt x="8316480" y="4127500"/>
                </a:lnTo>
                <a:lnTo>
                  <a:pt x="8300516" y="4140200"/>
                </a:lnTo>
                <a:close/>
              </a:path>
              <a:path w="8748395" h="4191000">
                <a:moveTo>
                  <a:pt x="569925" y="4152900"/>
                </a:moveTo>
                <a:lnTo>
                  <a:pt x="480377" y="4152900"/>
                </a:lnTo>
                <a:lnTo>
                  <a:pt x="464032" y="4140200"/>
                </a:lnTo>
                <a:lnTo>
                  <a:pt x="553046" y="4140200"/>
                </a:lnTo>
                <a:lnTo>
                  <a:pt x="569925" y="4152900"/>
                </a:lnTo>
                <a:close/>
              </a:path>
              <a:path w="8748395" h="4191000">
                <a:moveTo>
                  <a:pt x="8268017" y="4152900"/>
                </a:moveTo>
                <a:lnTo>
                  <a:pt x="8178469" y="4152900"/>
                </a:lnTo>
                <a:lnTo>
                  <a:pt x="8195348" y="4140200"/>
                </a:lnTo>
                <a:lnTo>
                  <a:pt x="8284362" y="4140200"/>
                </a:lnTo>
                <a:lnTo>
                  <a:pt x="8268017" y="4152900"/>
                </a:lnTo>
                <a:close/>
              </a:path>
              <a:path w="8748395" h="4191000">
                <a:moveTo>
                  <a:pt x="672261" y="4165600"/>
                </a:moveTo>
                <a:lnTo>
                  <a:pt x="530466" y="4165600"/>
                </a:lnTo>
                <a:lnTo>
                  <a:pt x="513600" y="4152900"/>
                </a:lnTo>
                <a:lnTo>
                  <a:pt x="654557" y="4152900"/>
                </a:lnTo>
                <a:lnTo>
                  <a:pt x="672261" y="4165600"/>
                </a:lnTo>
                <a:close/>
              </a:path>
              <a:path w="8748395" h="4191000">
                <a:moveTo>
                  <a:pt x="8217928" y="4165600"/>
                </a:moveTo>
                <a:lnTo>
                  <a:pt x="8076133" y="4165600"/>
                </a:lnTo>
                <a:lnTo>
                  <a:pt x="8093836" y="4152900"/>
                </a:lnTo>
                <a:lnTo>
                  <a:pt x="8234794" y="4152900"/>
                </a:lnTo>
                <a:lnTo>
                  <a:pt x="8217928" y="4165600"/>
                </a:lnTo>
                <a:close/>
              </a:path>
              <a:path w="8748395" h="4191000">
                <a:moveTo>
                  <a:pt x="8166366" y="4178300"/>
                </a:moveTo>
                <a:lnTo>
                  <a:pt x="582028" y="4178300"/>
                </a:lnTo>
                <a:lnTo>
                  <a:pt x="564680" y="4165600"/>
                </a:lnTo>
                <a:lnTo>
                  <a:pt x="8183714" y="4165600"/>
                </a:lnTo>
                <a:lnTo>
                  <a:pt x="8166366" y="4178300"/>
                </a:lnTo>
                <a:close/>
              </a:path>
              <a:path w="8748395" h="4191000">
                <a:moveTo>
                  <a:pt x="8077581" y="4191000"/>
                </a:moveTo>
                <a:lnTo>
                  <a:pt x="670813" y="4191000"/>
                </a:lnTo>
                <a:lnTo>
                  <a:pt x="652792" y="4178300"/>
                </a:lnTo>
                <a:lnTo>
                  <a:pt x="8095602" y="4178300"/>
                </a:lnTo>
                <a:lnTo>
                  <a:pt x="8077581" y="4191000"/>
                </a:lnTo>
                <a:close/>
              </a:path>
            </a:pathLst>
          </a:custGeom>
          <a:solidFill>
            <a:srgbClr val="53823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002535" y="2191511"/>
            <a:ext cx="8186927" cy="40538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18739" y="5100320"/>
            <a:ext cx="1449070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latin typeface="华文楷体"/>
                <a:cs typeface="华文楷体"/>
              </a:rPr>
              <a:t>物理模</a:t>
            </a:r>
            <a:r>
              <a:rPr dirty="0" sz="2800" spc="-10" b="1">
                <a:latin typeface="华文楷体"/>
                <a:cs typeface="华文楷体"/>
              </a:rPr>
              <a:t>型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420109" y="2480944"/>
            <a:ext cx="736600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latin typeface="华文楷体"/>
                <a:cs typeface="华文楷体"/>
              </a:rPr>
              <a:t>微</a:t>
            </a:r>
            <a:r>
              <a:rPr dirty="0" sz="2800" spc="-10" b="1">
                <a:latin typeface="华文楷体"/>
                <a:cs typeface="华文楷体"/>
              </a:rPr>
              <a:t>观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09315" y="3945889"/>
            <a:ext cx="736600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latin typeface="华文楷体"/>
                <a:cs typeface="华文楷体"/>
              </a:rPr>
              <a:t>宏</a:t>
            </a:r>
            <a:r>
              <a:rPr dirty="0" sz="2800" spc="-10" b="1">
                <a:latin typeface="华文楷体"/>
                <a:cs typeface="华文楷体"/>
              </a:rPr>
              <a:t>观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283335" y="1226820"/>
            <a:ext cx="21209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83565" algn="l"/>
              </a:tabLst>
            </a:pPr>
            <a:r>
              <a:rPr dirty="0" sz="3000">
                <a:solidFill>
                  <a:srgbClr val="000000"/>
                </a:solidFill>
                <a:latin typeface="黑体"/>
                <a:cs typeface="黑体"/>
              </a:rPr>
              <a:t>三	理想气体</a:t>
            </a:r>
            <a:endParaRPr sz="3000">
              <a:latin typeface="黑体"/>
              <a:cs typeface="黑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92480" y="1304544"/>
            <a:ext cx="273050" cy="273050"/>
          </a:xfrm>
          <a:custGeom>
            <a:avLst/>
            <a:gdLst/>
            <a:ahLst/>
            <a:cxnLst/>
            <a:rect l="l" t="t" r="r" b="b"/>
            <a:pathLst>
              <a:path w="273050" h="273050">
                <a:moveTo>
                  <a:pt x="0" y="0"/>
                </a:moveTo>
                <a:lnTo>
                  <a:pt x="272795" y="0"/>
                </a:lnTo>
                <a:lnTo>
                  <a:pt x="272795" y="272795"/>
                </a:lnTo>
                <a:lnTo>
                  <a:pt x="0" y="272795"/>
                </a:lnTo>
                <a:lnTo>
                  <a:pt x="0" y="0"/>
                </a:lnTo>
                <a:close/>
              </a:path>
            </a:pathLst>
          </a:custGeom>
          <a:solidFill>
            <a:srgbClr val="3856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41832" y="1472183"/>
            <a:ext cx="184785" cy="184785"/>
          </a:xfrm>
          <a:custGeom>
            <a:avLst/>
            <a:gdLst/>
            <a:ahLst/>
            <a:cxnLst/>
            <a:rect l="l" t="t" r="r" b="b"/>
            <a:pathLst>
              <a:path w="184784" h="184785">
                <a:moveTo>
                  <a:pt x="0" y="0"/>
                </a:moveTo>
                <a:lnTo>
                  <a:pt x="184403" y="0"/>
                </a:lnTo>
                <a:lnTo>
                  <a:pt x="184403" y="184403"/>
                </a:lnTo>
                <a:lnTo>
                  <a:pt x="0" y="184403"/>
                </a:lnTo>
                <a:lnTo>
                  <a:pt x="0" y="0"/>
                </a:lnTo>
                <a:close/>
              </a:path>
            </a:pathLst>
          </a:custGeom>
          <a:solidFill>
            <a:srgbClr val="53823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427287" y="2634614"/>
            <a:ext cx="380365" cy="1449070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60000"/>
              </a:lnSpc>
            </a:pPr>
            <a:r>
              <a:rPr dirty="0" sz="2800" spc="10" b="1">
                <a:latin typeface="华文楷体"/>
                <a:cs typeface="华文楷体"/>
              </a:rPr>
              <a:t>理想气</a:t>
            </a:r>
            <a:r>
              <a:rPr dirty="0" sz="2800" b="1">
                <a:latin typeface="华文楷体"/>
                <a:cs typeface="华文楷体"/>
              </a:rPr>
              <a:t>体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900679" y="2708275"/>
            <a:ext cx="420471" cy="147701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397692" y="2245042"/>
            <a:ext cx="4858385" cy="1038225"/>
          </a:xfrm>
          <a:custGeom>
            <a:avLst/>
            <a:gdLst/>
            <a:ahLst/>
            <a:cxnLst/>
            <a:rect l="l" t="t" r="r" b="b"/>
            <a:pathLst>
              <a:path w="4858384" h="1038225">
                <a:moveTo>
                  <a:pt x="4847272" y="1038225"/>
                </a:moveTo>
                <a:lnTo>
                  <a:pt x="11112" y="1038225"/>
                </a:lnTo>
                <a:lnTo>
                  <a:pt x="8636" y="1037945"/>
                </a:lnTo>
                <a:lnTo>
                  <a:pt x="0" y="1027112"/>
                </a:lnTo>
                <a:lnTo>
                  <a:pt x="0" y="11112"/>
                </a:lnTo>
                <a:lnTo>
                  <a:pt x="11112" y="0"/>
                </a:lnTo>
                <a:lnTo>
                  <a:pt x="4847272" y="0"/>
                </a:lnTo>
                <a:lnTo>
                  <a:pt x="4858385" y="11112"/>
                </a:lnTo>
                <a:lnTo>
                  <a:pt x="22225" y="11112"/>
                </a:lnTo>
                <a:lnTo>
                  <a:pt x="11112" y="22225"/>
                </a:lnTo>
                <a:lnTo>
                  <a:pt x="22225" y="22225"/>
                </a:lnTo>
                <a:lnTo>
                  <a:pt x="22225" y="1016000"/>
                </a:lnTo>
                <a:lnTo>
                  <a:pt x="11112" y="1016000"/>
                </a:lnTo>
                <a:lnTo>
                  <a:pt x="22225" y="1027112"/>
                </a:lnTo>
                <a:lnTo>
                  <a:pt x="4858385" y="1027112"/>
                </a:lnTo>
                <a:lnTo>
                  <a:pt x="4858105" y="1029589"/>
                </a:lnTo>
                <a:lnTo>
                  <a:pt x="4849749" y="1037945"/>
                </a:lnTo>
                <a:lnTo>
                  <a:pt x="4847272" y="1038225"/>
                </a:lnTo>
                <a:close/>
              </a:path>
              <a:path w="4858384" h="1038225">
                <a:moveTo>
                  <a:pt x="22225" y="22225"/>
                </a:moveTo>
                <a:lnTo>
                  <a:pt x="11112" y="22225"/>
                </a:lnTo>
                <a:lnTo>
                  <a:pt x="22225" y="11112"/>
                </a:lnTo>
                <a:lnTo>
                  <a:pt x="22225" y="22225"/>
                </a:lnTo>
                <a:close/>
              </a:path>
              <a:path w="4858384" h="1038225">
                <a:moveTo>
                  <a:pt x="4836160" y="22225"/>
                </a:moveTo>
                <a:lnTo>
                  <a:pt x="22225" y="22225"/>
                </a:lnTo>
                <a:lnTo>
                  <a:pt x="22225" y="11112"/>
                </a:lnTo>
                <a:lnTo>
                  <a:pt x="4836160" y="11112"/>
                </a:lnTo>
                <a:lnTo>
                  <a:pt x="4836160" y="22225"/>
                </a:lnTo>
                <a:close/>
              </a:path>
              <a:path w="4858384" h="1038225">
                <a:moveTo>
                  <a:pt x="4836160" y="1027112"/>
                </a:moveTo>
                <a:lnTo>
                  <a:pt x="4836160" y="11112"/>
                </a:lnTo>
                <a:lnTo>
                  <a:pt x="4847272" y="22225"/>
                </a:lnTo>
                <a:lnTo>
                  <a:pt x="4858385" y="22225"/>
                </a:lnTo>
                <a:lnTo>
                  <a:pt x="4858385" y="1016000"/>
                </a:lnTo>
                <a:lnTo>
                  <a:pt x="4847272" y="1016000"/>
                </a:lnTo>
                <a:lnTo>
                  <a:pt x="4836160" y="1027112"/>
                </a:lnTo>
                <a:close/>
              </a:path>
              <a:path w="4858384" h="1038225">
                <a:moveTo>
                  <a:pt x="4858385" y="22225"/>
                </a:moveTo>
                <a:lnTo>
                  <a:pt x="4847272" y="22225"/>
                </a:lnTo>
                <a:lnTo>
                  <a:pt x="4836160" y="11112"/>
                </a:lnTo>
                <a:lnTo>
                  <a:pt x="4858385" y="11112"/>
                </a:lnTo>
                <a:lnTo>
                  <a:pt x="4858385" y="22225"/>
                </a:lnTo>
                <a:close/>
              </a:path>
              <a:path w="4858384" h="1038225">
                <a:moveTo>
                  <a:pt x="22225" y="1027112"/>
                </a:moveTo>
                <a:lnTo>
                  <a:pt x="11112" y="1016000"/>
                </a:lnTo>
                <a:lnTo>
                  <a:pt x="22225" y="1016000"/>
                </a:lnTo>
                <a:lnTo>
                  <a:pt x="22225" y="1027112"/>
                </a:lnTo>
                <a:close/>
              </a:path>
              <a:path w="4858384" h="1038225">
                <a:moveTo>
                  <a:pt x="4836160" y="1027112"/>
                </a:moveTo>
                <a:lnTo>
                  <a:pt x="22225" y="1027112"/>
                </a:lnTo>
                <a:lnTo>
                  <a:pt x="22225" y="1016000"/>
                </a:lnTo>
                <a:lnTo>
                  <a:pt x="4836160" y="1016000"/>
                </a:lnTo>
                <a:lnTo>
                  <a:pt x="4836160" y="1027112"/>
                </a:lnTo>
                <a:close/>
              </a:path>
              <a:path w="4858384" h="1038225">
                <a:moveTo>
                  <a:pt x="4858385" y="1027112"/>
                </a:moveTo>
                <a:lnTo>
                  <a:pt x="4836160" y="1027112"/>
                </a:lnTo>
                <a:lnTo>
                  <a:pt x="4847272" y="1016000"/>
                </a:lnTo>
                <a:lnTo>
                  <a:pt x="4858385" y="1016000"/>
                </a:lnTo>
                <a:lnTo>
                  <a:pt x="4858385" y="1027112"/>
                </a:lnTo>
                <a:close/>
              </a:path>
            </a:pathLst>
          </a:custGeom>
          <a:solidFill>
            <a:srgbClr val="A9D18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4464684" y="2228723"/>
            <a:ext cx="4655185" cy="9639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0000"/>
              </a:lnSpc>
              <a:spcBef>
                <a:spcPts val="100"/>
              </a:spcBef>
            </a:pPr>
            <a:r>
              <a:rPr dirty="0" sz="2800" b="1">
                <a:solidFill>
                  <a:srgbClr val="385622"/>
                </a:solidFill>
                <a:latin typeface="华文楷体"/>
                <a:cs typeface="华文楷体"/>
              </a:rPr>
              <a:t>忽略分子大小和相互作用力</a:t>
            </a:r>
            <a:r>
              <a:rPr dirty="0" sz="2800" spc="-5" b="1">
                <a:solidFill>
                  <a:srgbClr val="385622"/>
                </a:solidFill>
                <a:latin typeface="华文楷体"/>
                <a:cs typeface="华文楷体"/>
              </a:rPr>
              <a:t>， </a:t>
            </a:r>
            <a:r>
              <a:rPr dirty="0" sz="2800" b="1">
                <a:solidFill>
                  <a:srgbClr val="385622"/>
                </a:solidFill>
                <a:latin typeface="华文楷体"/>
                <a:cs typeface="华文楷体"/>
              </a:rPr>
              <a:t>不计分子与器壁碰撞动能损</a:t>
            </a:r>
            <a:r>
              <a:rPr dirty="0" sz="2800" spc="-10" b="1">
                <a:solidFill>
                  <a:srgbClr val="385622"/>
                </a:solidFill>
                <a:latin typeface="华文楷体"/>
                <a:cs typeface="华文楷体"/>
              </a:rPr>
              <a:t>失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213859" y="2667000"/>
            <a:ext cx="193675" cy="195580"/>
          </a:xfrm>
          <a:custGeom>
            <a:avLst/>
            <a:gdLst/>
            <a:ahLst/>
            <a:cxnLst/>
            <a:rect l="l" t="t" r="r" b="b"/>
            <a:pathLst>
              <a:path w="193675" h="195580">
                <a:moveTo>
                  <a:pt x="193548" y="195072"/>
                </a:moveTo>
                <a:lnTo>
                  <a:pt x="0" y="97536"/>
                </a:lnTo>
                <a:lnTo>
                  <a:pt x="193548" y="0"/>
                </a:lnTo>
                <a:lnTo>
                  <a:pt x="193548" y="195072"/>
                </a:lnTo>
                <a:close/>
              </a:path>
            </a:pathLst>
          </a:custGeom>
          <a:solidFill>
            <a:srgbClr val="A9D18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399279" y="3697604"/>
            <a:ext cx="4855210" cy="1035050"/>
          </a:xfrm>
          <a:custGeom>
            <a:avLst/>
            <a:gdLst/>
            <a:ahLst/>
            <a:cxnLst/>
            <a:rect l="l" t="t" r="r" b="b"/>
            <a:pathLst>
              <a:path w="4855209" h="1035050">
                <a:moveTo>
                  <a:pt x="4845685" y="1035050"/>
                </a:moveTo>
                <a:lnTo>
                  <a:pt x="9525" y="1035050"/>
                </a:lnTo>
                <a:lnTo>
                  <a:pt x="7404" y="1034808"/>
                </a:lnTo>
                <a:lnTo>
                  <a:pt x="0" y="1025525"/>
                </a:lnTo>
                <a:lnTo>
                  <a:pt x="0" y="9525"/>
                </a:lnTo>
                <a:lnTo>
                  <a:pt x="9525" y="0"/>
                </a:lnTo>
                <a:lnTo>
                  <a:pt x="4845685" y="0"/>
                </a:lnTo>
                <a:lnTo>
                  <a:pt x="4855210" y="9525"/>
                </a:lnTo>
                <a:lnTo>
                  <a:pt x="19050" y="9525"/>
                </a:lnTo>
                <a:lnTo>
                  <a:pt x="9525" y="19050"/>
                </a:lnTo>
                <a:lnTo>
                  <a:pt x="19050" y="19050"/>
                </a:lnTo>
                <a:lnTo>
                  <a:pt x="19050" y="1016000"/>
                </a:lnTo>
                <a:lnTo>
                  <a:pt x="9525" y="1016000"/>
                </a:lnTo>
                <a:lnTo>
                  <a:pt x="19050" y="1025525"/>
                </a:lnTo>
                <a:lnTo>
                  <a:pt x="4855210" y="1025525"/>
                </a:lnTo>
                <a:lnTo>
                  <a:pt x="4854968" y="1027645"/>
                </a:lnTo>
                <a:lnTo>
                  <a:pt x="4847805" y="1034808"/>
                </a:lnTo>
                <a:lnTo>
                  <a:pt x="4845685" y="1035050"/>
                </a:lnTo>
                <a:close/>
              </a:path>
              <a:path w="4855209" h="1035050">
                <a:moveTo>
                  <a:pt x="19050" y="19050"/>
                </a:moveTo>
                <a:lnTo>
                  <a:pt x="9525" y="19050"/>
                </a:lnTo>
                <a:lnTo>
                  <a:pt x="19050" y="9525"/>
                </a:lnTo>
                <a:lnTo>
                  <a:pt x="19050" y="19050"/>
                </a:lnTo>
                <a:close/>
              </a:path>
              <a:path w="4855209" h="1035050">
                <a:moveTo>
                  <a:pt x="4836160" y="19050"/>
                </a:moveTo>
                <a:lnTo>
                  <a:pt x="19050" y="19050"/>
                </a:lnTo>
                <a:lnTo>
                  <a:pt x="19050" y="9525"/>
                </a:lnTo>
                <a:lnTo>
                  <a:pt x="4836160" y="9525"/>
                </a:lnTo>
                <a:lnTo>
                  <a:pt x="4836160" y="19050"/>
                </a:lnTo>
                <a:close/>
              </a:path>
              <a:path w="4855209" h="1035050">
                <a:moveTo>
                  <a:pt x="4836160" y="1025525"/>
                </a:moveTo>
                <a:lnTo>
                  <a:pt x="4836160" y="9525"/>
                </a:lnTo>
                <a:lnTo>
                  <a:pt x="4845685" y="19050"/>
                </a:lnTo>
                <a:lnTo>
                  <a:pt x="4855210" y="19050"/>
                </a:lnTo>
                <a:lnTo>
                  <a:pt x="4855210" y="1016000"/>
                </a:lnTo>
                <a:lnTo>
                  <a:pt x="4845685" y="1016000"/>
                </a:lnTo>
                <a:lnTo>
                  <a:pt x="4836160" y="1025525"/>
                </a:lnTo>
                <a:close/>
              </a:path>
              <a:path w="4855209" h="1035050">
                <a:moveTo>
                  <a:pt x="4855210" y="19050"/>
                </a:moveTo>
                <a:lnTo>
                  <a:pt x="4845685" y="19050"/>
                </a:lnTo>
                <a:lnTo>
                  <a:pt x="4836160" y="9525"/>
                </a:lnTo>
                <a:lnTo>
                  <a:pt x="4855210" y="9525"/>
                </a:lnTo>
                <a:lnTo>
                  <a:pt x="4855210" y="19050"/>
                </a:lnTo>
                <a:close/>
              </a:path>
              <a:path w="4855209" h="1035050">
                <a:moveTo>
                  <a:pt x="19050" y="1025525"/>
                </a:moveTo>
                <a:lnTo>
                  <a:pt x="9525" y="1016000"/>
                </a:lnTo>
                <a:lnTo>
                  <a:pt x="19050" y="1016000"/>
                </a:lnTo>
                <a:lnTo>
                  <a:pt x="19050" y="1025525"/>
                </a:lnTo>
                <a:close/>
              </a:path>
              <a:path w="4855209" h="1035050">
                <a:moveTo>
                  <a:pt x="4836160" y="1025525"/>
                </a:moveTo>
                <a:lnTo>
                  <a:pt x="19050" y="1025525"/>
                </a:lnTo>
                <a:lnTo>
                  <a:pt x="19050" y="1016000"/>
                </a:lnTo>
                <a:lnTo>
                  <a:pt x="4836160" y="1016000"/>
                </a:lnTo>
                <a:lnTo>
                  <a:pt x="4836160" y="1025525"/>
                </a:lnTo>
                <a:close/>
              </a:path>
              <a:path w="4855209" h="1035050">
                <a:moveTo>
                  <a:pt x="4855210" y="1025525"/>
                </a:moveTo>
                <a:lnTo>
                  <a:pt x="4836160" y="1025525"/>
                </a:lnTo>
                <a:lnTo>
                  <a:pt x="4845685" y="1016000"/>
                </a:lnTo>
                <a:lnTo>
                  <a:pt x="4855210" y="1016000"/>
                </a:lnTo>
                <a:lnTo>
                  <a:pt x="4855210" y="1025525"/>
                </a:lnTo>
                <a:close/>
              </a:path>
            </a:pathLst>
          </a:custGeom>
          <a:solidFill>
            <a:srgbClr val="A9D18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4464684" y="3679698"/>
            <a:ext cx="4655185" cy="9639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0000"/>
              </a:lnSpc>
              <a:spcBef>
                <a:spcPts val="100"/>
              </a:spcBef>
            </a:pPr>
            <a:r>
              <a:rPr dirty="0" sz="2800" b="1">
                <a:solidFill>
                  <a:srgbClr val="385622"/>
                </a:solidFill>
                <a:latin typeface="华文楷体"/>
                <a:cs typeface="华文楷体"/>
              </a:rPr>
              <a:t>任何温度、任何压强下都遵</a:t>
            </a:r>
            <a:r>
              <a:rPr dirty="0" sz="2800" spc="-5" b="1">
                <a:solidFill>
                  <a:srgbClr val="385622"/>
                </a:solidFill>
                <a:latin typeface="华文楷体"/>
                <a:cs typeface="华文楷体"/>
              </a:rPr>
              <a:t>循 </a:t>
            </a:r>
            <a:r>
              <a:rPr dirty="0" sz="2800" b="1">
                <a:solidFill>
                  <a:srgbClr val="385622"/>
                </a:solidFill>
                <a:latin typeface="华文楷体"/>
                <a:cs typeface="华文楷体"/>
              </a:rPr>
              <a:t>气体实验定</a:t>
            </a:r>
            <a:r>
              <a:rPr dirty="0" sz="2800" spc="-10" b="1">
                <a:solidFill>
                  <a:srgbClr val="385622"/>
                </a:solidFill>
                <a:latin typeface="华文楷体"/>
                <a:cs typeface="华文楷体"/>
              </a:rPr>
              <a:t>律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213859" y="4119371"/>
            <a:ext cx="193675" cy="193675"/>
          </a:xfrm>
          <a:custGeom>
            <a:avLst/>
            <a:gdLst/>
            <a:ahLst/>
            <a:cxnLst/>
            <a:rect l="l" t="t" r="r" b="b"/>
            <a:pathLst>
              <a:path w="193675" h="193675">
                <a:moveTo>
                  <a:pt x="193548" y="193548"/>
                </a:moveTo>
                <a:lnTo>
                  <a:pt x="0" y="96012"/>
                </a:lnTo>
                <a:lnTo>
                  <a:pt x="193548" y="0"/>
                </a:lnTo>
                <a:lnTo>
                  <a:pt x="193548" y="193548"/>
                </a:lnTo>
                <a:close/>
              </a:path>
            </a:pathLst>
          </a:custGeom>
          <a:solidFill>
            <a:srgbClr val="A9D18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4398009" y="5110479"/>
            <a:ext cx="2339340" cy="561340"/>
          </a:xfrm>
          <a:custGeom>
            <a:avLst/>
            <a:gdLst/>
            <a:ahLst/>
            <a:cxnLst/>
            <a:rect l="l" t="t" r="r" b="b"/>
            <a:pathLst>
              <a:path w="2339340" h="561339">
                <a:moveTo>
                  <a:pt x="2329815" y="561340"/>
                </a:moveTo>
                <a:lnTo>
                  <a:pt x="9525" y="561340"/>
                </a:lnTo>
                <a:lnTo>
                  <a:pt x="7404" y="561098"/>
                </a:lnTo>
                <a:lnTo>
                  <a:pt x="0" y="551815"/>
                </a:lnTo>
                <a:lnTo>
                  <a:pt x="0" y="9525"/>
                </a:lnTo>
                <a:lnTo>
                  <a:pt x="9525" y="0"/>
                </a:lnTo>
                <a:lnTo>
                  <a:pt x="2329815" y="0"/>
                </a:lnTo>
                <a:lnTo>
                  <a:pt x="2339340" y="9525"/>
                </a:lnTo>
                <a:lnTo>
                  <a:pt x="19050" y="9525"/>
                </a:lnTo>
                <a:lnTo>
                  <a:pt x="9525" y="19050"/>
                </a:lnTo>
                <a:lnTo>
                  <a:pt x="19050" y="19050"/>
                </a:lnTo>
                <a:lnTo>
                  <a:pt x="19050" y="542290"/>
                </a:lnTo>
                <a:lnTo>
                  <a:pt x="9525" y="542290"/>
                </a:lnTo>
                <a:lnTo>
                  <a:pt x="19050" y="551815"/>
                </a:lnTo>
                <a:lnTo>
                  <a:pt x="2339340" y="551815"/>
                </a:lnTo>
                <a:lnTo>
                  <a:pt x="2339098" y="553935"/>
                </a:lnTo>
                <a:lnTo>
                  <a:pt x="2331935" y="561098"/>
                </a:lnTo>
                <a:lnTo>
                  <a:pt x="2329815" y="561340"/>
                </a:lnTo>
                <a:close/>
              </a:path>
              <a:path w="2339340" h="561339">
                <a:moveTo>
                  <a:pt x="19050" y="19050"/>
                </a:moveTo>
                <a:lnTo>
                  <a:pt x="9525" y="19050"/>
                </a:lnTo>
                <a:lnTo>
                  <a:pt x="19050" y="9525"/>
                </a:lnTo>
                <a:lnTo>
                  <a:pt x="19050" y="19050"/>
                </a:lnTo>
                <a:close/>
              </a:path>
              <a:path w="2339340" h="561339">
                <a:moveTo>
                  <a:pt x="2320290" y="19050"/>
                </a:moveTo>
                <a:lnTo>
                  <a:pt x="19050" y="19050"/>
                </a:lnTo>
                <a:lnTo>
                  <a:pt x="19050" y="9525"/>
                </a:lnTo>
                <a:lnTo>
                  <a:pt x="2320290" y="9525"/>
                </a:lnTo>
                <a:lnTo>
                  <a:pt x="2320290" y="19050"/>
                </a:lnTo>
                <a:close/>
              </a:path>
              <a:path w="2339340" h="561339">
                <a:moveTo>
                  <a:pt x="2320290" y="551815"/>
                </a:moveTo>
                <a:lnTo>
                  <a:pt x="2320290" y="9525"/>
                </a:lnTo>
                <a:lnTo>
                  <a:pt x="2329815" y="19050"/>
                </a:lnTo>
                <a:lnTo>
                  <a:pt x="2339340" y="19050"/>
                </a:lnTo>
                <a:lnTo>
                  <a:pt x="2339340" y="542290"/>
                </a:lnTo>
                <a:lnTo>
                  <a:pt x="2329815" y="542290"/>
                </a:lnTo>
                <a:lnTo>
                  <a:pt x="2320290" y="551815"/>
                </a:lnTo>
                <a:close/>
              </a:path>
              <a:path w="2339340" h="561339">
                <a:moveTo>
                  <a:pt x="2339340" y="19050"/>
                </a:moveTo>
                <a:lnTo>
                  <a:pt x="2329815" y="19050"/>
                </a:lnTo>
                <a:lnTo>
                  <a:pt x="2320290" y="9525"/>
                </a:lnTo>
                <a:lnTo>
                  <a:pt x="2339340" y="9525"/>
                </a:lnTo>
                <a:lnTo>
                  <a:pt x="2339340" y="19050"/>
                </a:lnTo>
                <a:close/>
              </a:path>
              <a:path w="2339340" h="561339">
                <a:moveTo>
                  <a:pt x="19050" y="551815"/>
                </a:moveTo>
                <a:lnTo>
                  <a:pt x="9525" y="542290"/>
                </a:lnTo>
                <a:lnTo>
                  <a:pt x="19050" y="542290"/>
                </a:lnTo>
                <a:lnTo>
                  <a:pt x="19050" y="551815"/>
                </a:lnTo>
                <a:close/>
              </a:path>
              <a:path w="2339340" h="561339">
                <a:moveTo>
                  <a:pt x="2320290" y="551815"/>
                </a:moveTo>
                <a:lnTo>
                  <a:pt x="19050" y="551815"/>
                </a:lnTo>
                <a:lnTo>
                  <a:pt x="19050" y="542290"/>
                </a:lnTo>
                <a:lnTo>
                  <a:pt x="2320290" y="542290"/>
                </a:lnTo>
                <a:lnTo>
                  <a:pt x="2320290" y="551815"/>
                </a:lnTo>
                <a:close/>
              </a:path>
              <a:path w="2339340" h="561339">
                <a:moveTo>
                  <a:pt x="2339340" y="551815"/>
                </a:moveTo>
                <a:lnTo>
                  <a:pt x="2320290" y="551815"/>
                </a:lnTo>
                <a:lnTo>
                  <a:pt x="2329815" y="542290"/>
                </a:lnTo>
                <a:lnTo>
                  <a:pt x="2339340" y="542290"/>
                </a:lnTo>
                <a:lnTo>
                  <a:pt x="2339340" y="551815"/>
                </a:lnTo>
                <a:close/>
              </a:path>
            </a:pathLst>
          </a:custGeom>
          <a:solidFill>
            <a:srgbClr val="A9D18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4463415" y="5135879"/>
            <a:ext cx="2161540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solidFill>
                  <a:srgbClr val="385622"/>
                </a:solidFill>
                <a:latin typeface="华文楷体"/>
                <a:cs typeface="华文楷体"/>
              </a:rPr>
              <a:t>理想气体模</a:t>
            </a:r>
            <a:r>
              <a:rPr dirty="0" sz="2800" spc="-10" b="1">
                <a:solidFill>
                  <a:srgbClr val="385622"/>
                </a:solidFill>
                <a:latin typeface="华文楷体"/>
                <a:cs typeface="华文楷体"/>
              </a:rPr>
              <a:t>型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213859" y="5294376"/>
            <a:ext cx="193675" cy="193675"/>
          </a:xfrm>
          <a:custGeom>
            <a:avLst/>
            <a:gdLst/>
            <a:ahLst/>
            <a:cxnLst/>
            <a:rect l="l" t="t" r="r" b="b"/>
            <a:pathLst>
              <a:path w="193675" h="193675">
                <a:moveTo>
                  <a:pt x="193548" y="193548"/>
                </a:moveTo>
                <a:lnTo>
                  <a:pt x="0" y="97536"/>
                </a:lnTo>
                <a:lnTo>
                  <a:pt x="193548" y="0"/>
                </a:lnTo>
                <a:lnTo>
                  <a:pt x="193548" y="193548"/>
                </a:lnTo>
                <a:close/>
              </a:path>
            </a:pathLst>
          </a:custGeom>
          <a:solidFill>
            <a:srgbClr val="A9D18E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82795" y="2643505"/>
            <a:ext cx="2874010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latin typeface="华文楷体"/>
                <a:cs typeface="华文楷体"/>
              </a:rPr>
              <a:t>理想气体状态方</a:t>
            </a:r>
            <a:r>
              <a:rPr dirty="0" sz="2800" spc="-10" b="1">
                <a:latin typeface="华文楷体"/>
                <a:cs typeface="华文楷体"/>
              </a:rPr>
              <a:t>程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83335" y="1226820"/>
            <a:ext cx="212090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83565" algn="l"/>
              </a:tabLst>
            </a:pPr>
            <a:r>
              <a:rPr dirty="0" sz="3000">
                <a:latin typeface="黑体"/>
                <a:cs typeface="黑体"/>
              </a:rPr>
              <a:t>三	理想气体</a:t>
            </a:r>
            <a:endParaRPr sz="3000">
              <a:latin typeface="黑体"/>
              <a:cs typeface="黑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92480" y="1304544"/>
            <a:ext cx="273050" cy="273050"/>
          </a:xfrm>
          <a:custGeom>
            <a:avLst/>
            <a:gdLst/>
            <a:ahLst/>
            <a:cxnLst/>
            <a:rect l="l" t="t" r="r" b="b"/>
            <a:pathLst>
              <a:path w="273050" h="273050">
                <a:moveTo>
                  <a:pt x="0" y="0"/>
                </a:moveTo>
                <a:lnTo>
                  <a:pt x="272795" y="0"/>
                </a:lnTo>
                <a:lnTo>
                  <a:pt x="272795" y="272795"/>
                </a:lnTo>
                <a:lnTo>
                  <a:pt x="0" y="272795"/>
                </a:lnTo>
                <a:lnTo>
                  <a:pt x="0" y="0"/>
                </a:lnTo>
                <a:close/>
              </a:path>
            </a:pathLst>
          </a:custGeom>
          <a:solidFill>
            <a:srgbClr val="3856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941832" y="1472183"/>
            <a:ext cx="184785" cy="184785"/>
          </a:xfrm>
          <a:custGeom>
            <a:avLst/>
            <a:gdLst/>
            <a:ahLst/>
            <a:cxnLst/>
            <a:rect l="l" t="t" r="r" b="b"/>
            <a:pathLst>
              <a:path w="184784" h="184785">
                <a:moveTo>
                  <a:pt x="0" y="0"/>
                </a:moveTo>
                <a:lnTo>
                  <a:pt x="184403" y="0"/>
                </a:lnTo>
                <a:lnTo>
                  <a:pt x="184403" y="184403"/>
                </a:lnTo>
                <a:lnTo>
                  <a:pt x="0" y="184403"/>
                </a:lnTo>
                <a:lnTo>
                  <a:pt x="0" y="0"/>
                </a:lnTo>
                <a:close/>
              </a:path>
            </a:pathLst>
          </a:custGeom>
          <a:solidFill>
            <a:srgbClr val="53823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954523" y="4610100"/>
            <a:ext cx="2278379" cy="7437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546091" y="3496055"/>
            <a:ext cx="3093719" cy="78028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93259" y="2112644"/>
            <a:ext cx="285305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latin typeface="华文楷体"/>
                <a:cs typeface="华文楷体"/>
              </a:rPr>
              <a:t>自主阅读教材</a:t>
            </a:r>
            <a:r>
              <a:rPr dirty="0" sz="2800" spc="-5" b="1">
                <a:latin typeface="华文楷体"/>
                <a:cs typeface="华文楷体"/>
              </a:rPr>
              <a:t>29</a:t>
            </a:r>
            <a:r>
              <a:rPr dirty="0" sz="2800" spc="-10" b="1">
                <a:latin typeface="华文楷体"/>
                <a:cs typeface="华文楷体"/>
              </a:rPr>
              <a:t>页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56030" y="1230629"/>
            <a:ext cx="47879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83565" algn="l"/>
              </a:tabLst>
            </a:pPr>
            <a:r>
              <a:rPr dirty="0" sz="3000">
                <a:solidFill>
                  <a:srgbClr val="000000"/>
                </a:solidFill>
                <a:latin typeface="黑体"/>
                <a:cs typeface="黑体"/>
              </a:rPr>
              <a:t>四	气体实验定律的微观解释</a:t>
            </a:r>
            <a:endParaRPr sz="3000">
              <a:latin typeface="黑体"/>
              <a:cs typeface="黑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92480" y="1304544"/>
            <a:ext cx="273050" cy="273050"/>
          </a:xfrm>
          <a:custGeom>
            <a:avLst/>
            <a:gdLst/>
            <a:ahLst/>
            <a:cxnLst/>
            <a:rect l="l" t="t" r="r" b="b"/>
            <a:pathLst>
              <a:path w="273050" h="273050">
                <a:moveTo>
                  <a:pt x="0" y="0"/>
                </a:moveTo>
                <a:lnTo>
                  <a:pt x="272795" y="0"/>
                </a:lnTo>
                <a:lnTo>
                  <a:pt x="272795" y="272795"/>
                </a:lnTo>
                <a:lnTo>
                  <a:pt x="0" y="272795"/>
                </a:lnTo>
                <a:lnTo>
                  <a:pt x="0" y="0"/>
                </a:lnTo>
                <a:close/>
              </a:path>
            </a:pathLst>
          </a:custGeom>
          <a:solidFill>
            <a:srgbClr val="3856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941832" y="1472183"/>
            <a:ext cx="184785" cy="184785"/>
          </a:xfrm>
          <a:custGeom>
            <a:avLst/>
            <a:gdLst/>
            <a:ahLst/>
            <a:cxnLst/>
            <a:rect l="l" t="t" r="r" b="b"/>
            <a:pathLst>
              <a:path w="184784" h="184785">
                <a:moveTo>
                  <a:pt x="0" y="0"/>
                </a:moveTo>
                <a:lnTo>
                  <a:pt x="184403" y="0"/>
                </a:lnTo>
                <a:lnTo>
                  <a:pt x="184403" y="184403"/>
                </a:lnTo>
                <a:lnTo>
                  <a:pt x="0" y="184403"/>
                </a:lnTo>
                <a:lnTo>
                  <a:pt x="0" y="0"/>
                </a:lnTo>
                <a:close/>
              </a:path>
            </a:pathLst>
          </a:custGeom>
          <a:solidFill>
            <a:srgbClr val="53823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2848355" y="3183635"/>
            <a:ext cx="887094" cy="500380"/>
          </a:xfrm>
          <a:prstGeom prst="rect">
            <a:avLst/>
          </a:prstGeom>
          <a:solidFill>
            <a:srgbClr val="538235">
              <a:alpha val="50199"/>
            </a:srgbClr>
          </a:solidFill>
        </p:spPr>
        <p:txBody>
          <a:bodyPr wrap="square" lIns="0" tIns="0" rIns="0" bIns="0" rtlCol="0" vert="horz">
            <a:spAutoFit/>
          </a:bodyPr>
          <a:lstStyle/>
          <a:p>
            <a:pPr marL="68580">
              <a:lnSpc>
                <a:spcPts val="3304"/>
              </a:lnSpc>
            </a:pPr>
            <a:r>
              <a:rPr dirty="0" sz="2800" b="1">
                <a:latin typeface="华文楷体"/>
                <a:cs typeface="华文楷体"/>
              </a:rPr>
              <a:t>体</a:t>
            </a:r>
            <a:r>
              <a:rPr dirty="0" sz="2800" spc="-10" b="1">
                <a:latin typeface="华文楷体"/>
                <a:cs typeface="华文楷体"/>
              </a:rPr>
              <a:t>积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848355" y="5123688"/>
            <a:ext cx="914400" cy="498475"/>
          </a:xfrm>
          <a:prstGeom prst="rect">
            <a:avLst/>
          </a:prstGeom>
          <a:solidFill>
            <a:srgbClr val="538235">
              <a:alpha val="50199"/>
            </a:srgbClr>
          </a:solidFill>
        </p:spPr>
        <p:txBody>
          <a:bodyPr wrap="square" lIns="0" tIns="0" rIns="0" bIns="0" rtlCol="0" vert="horz">
            <a:spAutoFit/>
          </a:bodyPr>
          <a:lstStyle/>
          <a:p>
            <a:pPr marL="68580">
              <a:lnSpc>
                <a:spcPts val="3295"/>
              </a:lnSpc>
            </a:pPr>
            <a:r>
              <a:rPr dirty="0" sz="2800" b="1">
                <a:latin typeface="华文楷体"/>
                <a:cs typeface="华文楷体"/>
              </a:rPr>
              <a:t>温</a:t>
            </a:r>
            <a:r>
              <a:rPr dirty="0" sz="2800" spc="-10" b="1">
                <a:latin typeface="华文楷体"/>
                <a:cs typeface="华文楷体"/>
              </a:rPr>
              <a:t>度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887467" y="5123688"/>
            <a:ext cx="2327275" cy="498475"/>
          </a:xfrm>
          <a:prstGeom prst="rect">
            <a:avLst/>
          </a:prstGeom>
          <a:solidFill>
            <a:srgbClr val="538235">
              <a:alpha val="50199"/>
            </a:srgbClr>
          </a:solidFill>
        </p:spPr>
        <p:txBody>
          <a:bodyPr wrap="square" lIns="0" tIns="0" rIns="0" bIns="0" rtlCol="0" vert="horz">
            <a:spAutoFit/>
          </a:bodyPr>
          <a:lstStyle/>
          <a:p>
            <a:pPr marL="68580">
              <a:lnSpc>
                <a:spcPts val="3295"/>
              </a:lnSpc>
            </a:pPr>
            <a:r>
              <a:rPr dirty="0" sz="2800" b="1">
                <a:latin typeface="华文楷体"/>
                <a:cs typeface="华文楷体"/>
              </a:rPr>
              <a:t>分子平均动</a:t>
            </a:r>
            <a:r>
              <a:rPr dirty="0" sz="2800" spc="-10" b="1">
                <a:latin typeface="华文楷体"/>
                <a:cs typeface="华文楷体"/>
              </a:rPr>
              <a:t>能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081015" y="3183635"/>
            <a:ext cx="1941830" cy="500380"/>
          </a:xfrm>
          <a:prstGeom prst="rect">
            <a:avLst/>
          </a:prstGeom>
          <a:solidFill>
            <a:srgbClr val="538235">
              <a:alpha val="50199"/>
            </a:srgbClr>
          </a:solidFill>
        </p:spPr>
        <p:txBody>
          <a:bodyPr wrap="square" lIns="0" tIns="0" rIns="0" bIns="0" rtlCol="0" vert="horz">
            <a:spAutoFit/>
          </a:bodyPr>
          <a:lstStyle/>
          <a:p>
            <a:pPr marL="67945">
              <a:lnSpc>
                <a:spcPts val="3304"/>
              </a:lnSpc>
            </a:pPr>
            <a:r>
              <a:rPr dirty="0" sz="2800" b="1">
                <a:latin typeface="华文楷体"/>
                <a:cs typeface="华文楷体"/>
              </a:rPr>
              <a:t>分子数密</a:t>
            </a:r>
            <a:r>
              <a:rPr dirty="0" sz="2800" spc="-10" b="1">
                <a:latin typeface="华文楷体"/>
                <a:cs typeface="华文楷体"/>
              </a:rPr>
              <a:t>度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408679" y="4156075"/>
            <a:ext cx="48812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035935" algn="l"/>
              </a:tabLst>
            </a:pPr>
            <a:r>
              <a:rPr dirty="0" sz="2400" b="1">
                <a:latin typeface="华文楷体"/>
                <a:cs typeface="华文楷体"/>
              </a:rPr>
              <a:t>从宏观到微</a:t>
            </a:r>
            <a:r>
              <a:rPr dirty="0" sz="2400" spc="-5" b="1">
                <a:latin typeface="华文楷体"/>
                <a:cs typeface="华文楷体"/>
              </a:rPr>
              <a:t>观</a:t>
            </a:r>
            <a:r>
              <a:rPr dirty="0" sz="2400" b="1">
                <a:latin typeface="华文楷体"/>
                <a:cs typeface="华文楷体"/>
              </a:rPr>
              <a:t>	</a:t>
            </a:r>
            <a:r>
              <a:rPr dirty="0" sz="2400" b="1">
                <a:latin typeface="华文楷体"/>
                <a:cs typeface="华文楷体"/>
              </a:rPr>
              <a:t>从微观到宏</a:t>
            </a:r>
            <a:r>
              <a:rPr dirty="0" sz="2400" spc="-5" b="1">
                <a:latin typeface="华文楷体"/>
                <a:cs typeface="华文楷体"/>
              </a:rPr>
              <a:t>观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856126" y="3368179"/>
            <a:ext cx="1080770" cy="142875"/>
          </a:xfrm>
          <a:custGeom>
            <a:avLst/>
            <a:gdLst/>
            <a:ahLst/>
            <a:cxnLst/>
            <a:rect l="l" t="t" r="r" b="b"/>
            <a:pathLst>
              <a:path w="1080770" h="142875">
                <a:moveTo>
                  <a:pt x="1053031" y="88633"/>
                </a:moveTo>
                <a:lnTo>
                  <a:pt x="1048639" y="88633"/>
                </a:lnTo>
                <a:lnTo>
                  <a:pt x="1049083" y="56883"/>
                </a:lnTo>
                <a:lnTo>
                  <a:pt x="990366" y="56054"/>
                </a:lnTo>
                <a:lnTo>
                  <a:pt x="946213" y="29451"/>
                </a:lnTo>
                <a:lnTo>
                  <a:pt x="938542" y="16598"/>
                </a:lnTo>
                <a:lnTo>
                  <a:pt x="938707" y="13487"/>
                </a:lnTo>
                <a:lnTo>
                  <a:pt x="953655" y="0"/>
                </a:lnTo>
                <a:lnTo>
                  <a:pt x="956767" y="165"/>
                </a:lnTo>
                <a:lnTo>
                  <a:pt x="959789" y="927"/>
                </a:lnTo>
                <a:lnTo>
                  <a:pt x="962596" y="2260"/>
                </a:lnTo>
                <a:lnTo>
                  <a:pt x="1080363" y="73202"/>
                </a:lnTo>
                <a:lnTo>
                  <a:pt x="1053031" y="88633"/>
                </a:lnTo>
                <a:close/>
              </a:path>
              <a:path w="1080770" h="142875">
                <a:moveTo>
                  <a:pt x="989922" y="87804"/>
                </a:moveTo>
                <a:lnTo>
                  <a:pt x="0" y="73837"/>
                </a:lnTo>
                <a:lnTo>
                  <a:pt x="457" y="42087"/>
                </a:lnTo>
                <a:lnTo>
                  <a:pt x="990366" y="56054"/>
                </a:lnTo>
                <a:lnTo>
                  <a:pt x="1017358" y="72318"/>
                </a:lnTo>
                <a:lnTo>
                  <a:pt x="989922" y="87804"/>
                </a:lnTo>
                <a:close/>
              </a:path>
              <a:path w="1080770" h="142875">
                <a:moveTo>
                  <a:pt x="1017358" y="72318"/>
                </a:moveTo>
                <a:lnTo>
                  <a:pt x="990366" y="56054"/>
                </a:lnTo>
                <a:lnTo>
                  <a:pt x="1049083" y="56883"/>
                </a:lnTo>
                <a:lnTo>
                  <a:pt x="1049054" y="58940"/>
                </a:lnTo>
                <a:lnTo>
                  <a:pt x="1041057" y="58940"/>
                </a:lnTo>
                <a:lnTo>
                  <a:pt x="1017358" y="72318"/>
                </a:lnTo>
                <a:close/>
              </a:path>
              <a:path w="1080770" h="142875">
                <a:moveTo>
                  <a:pt x="1040663" y="86360"/>
                </a:moveTo>
                <a:lnTo>
                  <a:pt x="1017358" y="72318"/>
                </a:lnTo>
                <a:lnTo>
                  <a:pt x="1041057" y="58940"/>
                </a:lnTo>
                <a:lnTo>
                  <a:pt x="1040663" y="86360"/>
                </a:lnTo>
                <a:close/>
              </a:path>
              <a:path w="1080770" h="142875">
                <a:moveTo>
                  <a:pt x="1048670" y="86360"/>
                </a:moveTo>
                <a:lnTo>
                  <a:pt x="1040663" y="86360"/>
                </a:lnTo>
                <a:lnTo>
                  <a:pt x="1041057" y="58940"/>
                </a:lnTo>
                <a:lnTo>
                  <a:pt x="1049054" y="58940"/>
                </a:lnTo>
                <a:lnTo>
                  <a:pt x="1048670" y="86360"/>
                </a:lnTo>
                <a:close/>
              </a:path>
              <a:path w="1080770" h="142875">
                <a:moveTo>
                  <a:pt x="1048639" y="88633"/>
                </a:moveTo>
                <a:lnTo>
                  <a:pt x="989922" y="87804"/>
                </a:lnTo>
                <a:lnTo>
                  <a:pt x="1017358" y="72318"/>
                </a:lnTo>
                <a:lnTo>
                  <a:pt x="1040663" y="86360"/>
                </a:lnTo>
                <a:lnTo>
                  <a:pt x="1048670" y="86360"/>
                </a:lnTo>
                <a:lnTo>
                  <a:pt x="1048639" y="88633"/>
                </a:lnTo>
                <a:close/>
              </a:path>
              <a:path w="1080770" h="142875">
                <a:moveTo>
                  <a:pt x="951649" y="142798"/>
                </a:moveTo>
                <a:lnTo>
                  <a:pt x="937005" y="125780"/>
                </a:lnTo>
                <a:lnTo>
                  <a:pt x="937539" y="122720"/>
                </a:lnTo>
                <a:lnTo>
                  <a:pt x="989922" y="87804"/>
                </a:lnTo>
                <a:lnTo>
                  <a:pt x="1048639" y="88633"/>
                </a:lnTo>
                <a:lnTo>
                  <a:pt x="1053031" y="88633"/>
                </a:lnTo>
                <a:lnTo>
                  <a:pt x="960640" y="140792"/>
                </a:lnTo>
                <a:lnTo>
                  <a:pt x="957795" y="142049"/>
                </a:lnTo>
                <a:lnTo>
                  <a:pt x="954760" y="142735"/>
                </a:lnTo>
                <a:lnTo>
                  <a:pt x="951649" y="142798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8377428" y="3150107"/>
            <a:ext cx="579120" cy="2478405"/>
          </a:xfrm>
          <a:prstGeom prst="rect">
            <a:avLst/>
          </a:prstGeom>
          <a:solidFill>
            <a:srgbClr val="538235">
              <a:alpha val="50199"/>
            </a:srgbClr>
          </a:solidFill>
        </p:spPr>
        <p:txBody>
          <a:bodyPr wrap="square" lIns="0" tIns="508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40"/>
              </a:spcBef>
            </a:pPr>
            <a:endParaRPr sz="3800">
              <a:latin typeface="Times New Roman"/>
              <a:cs typeface="Times New Roman"/>
            </a:endParaRPr>
          </a:p>
          <a:p>
            <a:pPr marL="68580" marR="147320">
              <a:lnSpc>
                <a:spcPct val="139900"/>
              </a:lnSpc>
            </a:pPr>
            <a:r>
              <a:rPr dirty="0" sz="2800" spc="-10" b="1">
                <a:latin typeface="华文楷体"/>
                <a:cs typeface="华文楷体"/>
              </a:rPr>
              <a:t>压 强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168515" y="3362350"/>
            <a:ext cx="1080135" cy="142875"/>
          </a:xfrm>
          <a:custGeom>
            <a:avLst/>
            <a:gdLst/>
            <a:ahLst/>
            <a:cxnLst/>
            <a:rect l="l" t="t" r="r" b="b"/>
            <a:pathLst>
              <a:path w="1080134" h="142875">
                <a:moveTo>
                  <a:pt x="1017112" y="71412"/>
                </a:moveTo>
                <a:lnTo>
                  <a:pt x="945375" y="29565"/>
                </a:lnTo>
                <a:lnTo>
                  <a:pt x="937539" y="16814"/>
                </a:lnTo>
                <a:lnTo>
                  <a:pt x="937653" y="13703"/>
                </a:lnTo>
                <a:lnTo>
                  <a:pt x="952411" y="0"/>
                </a:lnTo>
                <a:lnTo>
                  <a:pt x="955522" y="114"/>
                </a:lnTo>
                <a:lnTo>
                  <a:pt x="958545" y="838"/>
                </a:lnTo>
                <a:lnTo>
                  <a:pt x="961377" y="2133"/>
                </a:lnTo>
                <a:lnTo>
                  <a:pt x="1052921" y="55537"/>
                </a:lnTo>
                <a:lnTo>
                  <a:pt x="1048626" y="55537"/>
                </a:lnTo>
                <a:lnTo>
                  <a:pt x="1048626" y="57696"/>
                </a:lnTo>
                <a:lnTo>
                  <a:pt x="1040625" y="57696"/>
                </a:lnTo>
                <a:lnTo>
                  <a:pt x="1017112" y="71412"/>
                </a:lnTo>
                <a:close/>
              </a:path>
              <a:path w="1080134" h="142875">
                <a:moveTo>
                  <a:pt x="989897" y="87287"/>
                </a:moveTo>
                <a:lnTo>
                  <a:pt x="0" y="87287"/>
                </a:lnTo>
                <a:lnTo>
                  <a:pt x="0" y="55537"/>
                </a:lnTo>
                <a:lnTo>
                  <a:pt x="989897" y="55537"/>
                </a:lnTo>
                <a:lnTo>
                  <a:pt x="1017112" y="71412"/>
                </a:lnTo>
                <a:lnTo>
                  <a:pt x="989897" y="87287"/>
                </a:lnTo>
                <a:close/>
              </a:path>
              <a:path w="1080134" h="142875">
                <a:moveTo>
                  <a:pt x="1052921" y="87287"/>
                </a:moveTo>
                <a:lnTo>
                  <a:pt x="1048626" y="87287"/>
                </a:lnTo>
                <a:lnTo>
                  <a:pt x="1048626" y="55537"/>
                </a:lnTo>
                <a:lnTo>
                  <a:pt x="1052921" y="55537"/>
                </a:lnTo>
                <a:lnTo>
                  <a:pt x="1080134" y="71412"/>
                </a:lnTo>
                <a:lnTo>
                  <a:pt x="1052921" y="87287"/>
                </a:lnTo>
                <a:close/>
              </a:path>
              <a:path w="1080134" h="142875">
                <a:moveTo>
                  <a:pt x="1040625" y="85128"/>
                </a:moveTo>
                <a:lnTo>
                  <a:pt x="1017112" y="71412"/>
                </a:lnTo>
                <a:lnTo>
                  <a:pt x="1040625" y="57696"/>
                </a:lnTo>
                <a:lnTo>
                  <a:pt x="1040625" y="85128"/>
                </a:lnTo>
                <a:close/>
              </a:path>
              <a:path w="1080134" h="142875">
                <a:moveTo>
                  <a:pt x="1048626" y="85128"/>
                </a:moveTo>
                <a:lnTo>
                  <a:pt x="1040625" y="85128"/>
                </a:lnTo>
                <a:lnTo>
                  <a:pt x="1040625" y="57696"/>
                </a:lnTo>
                <a:lnTo>
                  <a:pt x="1048626" y="57696"/>
                </a:lnTo>
                <a:lnTo>
                  <a:pt x="1048626" y="85128"/>
                </a:lnTo>
                <a:close/>
              </a:path>
              <a:path w="1080134" h="142875">
                <a:moveTo>
                  <a:pt x="952411" y="142824"/>
                </a:moveTo>
                <a:lnTo>
                  <a:pt x="937539" y="126009"/>
                </a:lnTo>
                <a:lnTo>
                  <a:pt x="938021" y="122936"/>
                </a:lnTo>
                <a:lnTo>
                  <a:pt x="1017112" y="71412"/>
                </a:lnTo>
                <a:lnTo>
                  <a:pt x="1040625" y="85128"/>
                </a:lnTo>
                <a:lnTo>
                  <a:pt x="1048626" y="85128"/>
                </a:lnTo>
                <a:lnTo>
                  <a:pt x="1048626" y="87287"/>
                </a:lnTo>
                <a:lnTo>
                  <a:pt x="1052921" y="87287"/>
                </a:lnTo>
                <a:lnTo>
                  <a:pt x="961377" y="140690"/>
                </a:lnTo>
                <a:lnTo>
                  <a:pt x="958545" y="141986"/>
                </a:lnTo>
                <a:lnTo>
                  <a:pt x="955522" y="142709"/>
                </a:lnTo>
                <a:lnTo>
                  <a:pt x="952411" y="142824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856354" y="5301322"/>
            <a:ext cx="935990" cy="142875"/>
          </a:xfrm>
          <a:custGeom>
            <a:avLst/>
            <a:gdLst/>
            <a:ahLst/>
            <a:cxnLst/>
            <a:rect l="l" t="t" r="r" b="b"/>
            <a:pathLst>
              <a:path w="935989" h="142875">
                <a:moveTo>
                  <a:pt x="872967" y="71412"/>
                </a:moveTo>
                <a:lnTo>
                  <a:pt x="801230" y="29565"/>
                </a:lnTo>
                <a:lnTo>
                  <a:pt x="793394" y="16814"/>
                </a:lnTo>
                <a:lnTo>
                  <a:pt x="793508" y="13703"/>
                </a:lnTo>
                <a:lnTo>
                  <a:pt x="808266" y="0"/>
                </a:lnTo>
                <a:lnTo>
                  <a:pt x="811377" y="114"/>
                </a:lnTo>
                <a:lnTo>
                  <a:pt x="814400" y="838"/>
                </a:lnTo>
                <a:lnTo>
                  <a:pt x="817232" y="2133"/>
                </a:lnTo>
                <a:lnTo>
                  <a:pt x="908776" y="55537"/>
                </a:lnTo>
                <a:lnTo>
                  <a:pt x="904481" y="55537"/>
                </a:lnTo>
                <a:lnTo>
                  <a:pt x="904481" y="57696"/>
                </a:lnTo>
                <a:lnTo>
                  <a:pt x="896480" y="57696"/>
                </a:lnTo>
                <a:lnTo>
                  <a:pt x="872967" y="71412"/>
                </a:lnTo>
                <a:close/>
              </a:path>
              <a:path w="935989" h="142875">
                <a:moveTo>
                  <a:pt x="845752" y="87287"/>
                </a:moveTo>
                <a:lnTo>
                  <a:pt x="0" y="87287"/>
                </a:lnTo>
                <a:lnTo>
                  <a:pt x="0" y="55537"/>
                </a:lnTo>
                <a:lnTo>
                  <a:pt x="845752" y="55537"/>
                </a:lnTo>
                <a:lnTo>
                  <a:pt x="872967" y="71412"/>
                </a:lnTo>
                <a:lnTo>
                  <a:pt x="845752" y="87287"/>
                </a:lnTo>
                <a:close/>
              </a:path>
              <a:path w="935989" h="142875">
                <a:moveTo>
                  <a:pt x="908776" y="87287"/>
                </a:moveTo>
                <a:lnTo>
                  <a:pt x="904481" y="87287"/>
                </a:lnTo>
                <a:lnTo>
                  <a:pt x="904481" y="55537"/>
                </a:lnTo>
                <a:lnTo>
                  <a:pt x="908776" y="55537"/>
                </a:lnTo>
                <a:lnTo>
                  <a:pt x="935990" y="71412"/>
                </a:lnTo>
                <a:lnTo>
                  <a:pt x="908776" y="87287"/>
                </a:lnTo>
                <a:close/>
              </a:path>
              <a:path w="935989" h="142875">
                <a:moveTo>
                  <a:pt x="896480" y="85128"/>
                </a:moveTo>
                <a:lnTo>
                  <a:pt x="872967" y="71412"/>
                </a:lnTo>
                <a:lnTo>
                  <a:pt x="896480" y="57696"/>
                </a:lnTo>
                <a:lnTo>
                  <a:pt x="896480" y="85128"/>
                </a:lnTo>
                <a:close/>
              </a:path>
              <a:path w="935989" h="142875">
                <a:moveTo>
                  <a:pt x="904481" y="85128"/>
                </a:moveTo>
                <a:lnTo>
                  <a:pt x="896480" y="85128"/>
                </a:lnTo>
                <a:lnTo>
                  <a:pt x="896480" y="57696"/>
                </a:lnTo>
                <a:lnTo>
                  <a:pt x="904481" y="57696"/>
                </a:lnTo>
                <a:lnTo>
                  <a:pt x="904481" y="85128"/>
                </a:lnTo>
                <a:close/>
              </a:path>
              <a:path w="935989" h="142875">
                <a:moveTo>
                  <a:pt x="808266" y="142824"/>
                </a:moveTo>
                <a:lnTo>
                  <a:pt x="793394" y="126009"/>
                </a:lnTo>
                <a:lnTo>
                  <a:pt x="793877" y="122936"/>
                </a:lnTo>
                <a:lnTo>
                  <a:pt x="872967" y="71412"/>
                </a:lnTo>
                <a:lnTo>
                  <a:pt x="896480" y="85128"/>
                </a:lnTo>
                <a:lnTo>
                  <a:pt x="904481" y="85128"/>
                </a:lnTo>
                <a:lnTo>
                  <a:pt x="904481" y="87287"/>
                </a:lnTo>
                <a:lnTo>
                  <a:pt x="908776" y="87287"/>
                </a:lnTo>
                <a:lnTo>
                  <a:pt x="817232" y="140690"/>
                </a:lnTo>
                <a:lnTo>
                  <a:pt x="814400" y="141986"/>
                </a:lnTo>
                <a:lnTo>
                  <a:pt x="811377" y="142709"/>
                </a:lnTo>
                <a:lnTo>
                  <a:pt x="808266" y="142824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7285825" y="5305399"/>
            <a:ext cx="1035050" cy="142875"/>
          </a:xfrm>
          <a:custGeom>
            <a:avLst/>
            <a:gdLst/>
            <a:ahLst/>
            <a:cxnLst/>
            <a:rect l="l" t="t" r="r" b="b"/>
            <a:pathLst>
              <a:path w="1035050" h="142875">
                <a:moveTo>
                  <a:pt x="1007283" y="88277"/>
                </a:moveTo>
                <a:lnTo>
                  <a:pt x="1002906" y="88277"/>
                </a:lnTo>
                <a:lnTo>
                  <a:pt x="1003236" y="56527"/>
                </a:lnTo>
                <a:lnTo>
                  <a:pt x="944520" y="55915"/>
                </a:lnTo>
                <a:lnTo>
                  <a:pt x="900264" y="29476"/>
                </a:lnTo>
                <a:lnTo>
                  <a:pt x="892555" y="16649"/>
                </a:lnTo>
                <a:lnTo>
                  <a:pt x="892708" y="13538"/>
                </a:lnTo>
                <a:lnTo>
                  <a:pt x="907605" y="0"/>
                </a:lnTo>
                <a:lnTo>
                  <a:pt x="910717" y="139"/>
                </a:lnTo>
                <a:lnTo>
                  <a:pt x="913739" y="901"/>
                </a:lnTo>
                <a:lnTo>
                  <a:pt x="916558" y="2222"/>
                </a:lnTo>
                <a:lnTo>
                  <a:pt x="1034580" y="72732"/>
                </a:lnTo>
                <a:lnTo>
                  <a:pt x="1007283" y="88277"/>
                </a:lnTo>
                <a:close/>
              </a:path>
              <a:path w="1035050" h="142875">
                <a:moveTo>
                  <a:pt x="944194" y="87665"/>
                </a:moveTo>
                <a:lnTo>
                  <a:pt x="0" y="77812"/>
                </a:lnTo>
                <a:lnTo>
                  <a:pt x="330" y="46062"/>
                </a:lnTo>
                <a:lnTo>
                  <a:pt x="944520" y="55915"/>
                </a:lnTo>
                <a:lnTo>
                  <a:pt x="971573" y="72076"/>
                </a:lnTo>
                <a:lnTo>
                  <a:pt x="944194" y="87665"/>
                </a:lnTo>
                <a:close/>
              </a:path>
              <a:path w="1035050" h="142875">
                <a:moveTo>
                  <a:pt x="971573" y="72076"/>
                </a:moveTo>
                <a:lnTo>
                  <a:pt x="944520" y="55915"/>
                </a:lnTo>
                <a:lnTo>
                  <a:pt x="1003236" y="56527"/>
                </a:lnTo>
                <a:lnTo>
                  <a:pt x="1003214" y="58610"/>
                </a:lnTo>
                <a:lnTo>
                  <a:pt x="995222" y="58610"/>
                </a:lnTo>
                <a:lnTo>
                  <a:pt x="971573" y="72076"/>
                </a:lnTo>
                <a:close/>
              </a:path>
              <a:path w="1035050" h="142875">
                <a:moveTo>
                  <a:pt x="994930" y="86029"/>
                </a:moveTo>
                <a:lnTo>
                  <a:pt x="971573" y="72076"/>
                </a:lnTo>
                <a:lnTo>
                  <a:pt x="995222" y="58610"/>
                </a:lnTo>
                <a:lnTo>
                  <a:pt x="994930" y="86029"/>
                </a:lnTo>
                <a:close/>
              </a:path>
              <a:path w="1035050" h="142875">
                <a:moveTo>
                  <a:pt x="1002929" y="86029"/>
                </a:moveTo>
                <a:lnTo>
                  <a:pt x="994930" y="86029"/>
                </a:lnTo>
                <a:lnTo>
                  <a:pt x="995222" y="58610"/>
                </a:lnTo>
                <a:lnTo>
                  <a:pt x="1003214" y="58610"/>
                </a:lnTo>
                <a:lnTo>
                  <a:pt x="1002929" y="86029"/>
                </a:lnTo>
                <a:close/>
              </a:path>
              <a:path w="1035050" h="142875">
                <a:moveTo>
                  <a:pt x="1002906" y="88277"/>
                </a:moveTo>
                <a:lnTo>
                  <a:pt x="944194" y="87665"/>
                </a:lnTo>
                <a:lnTo>
                  <a:pt x="971573" y="72076"/>
                </a:lnTo>
                <a:lnTo>
                  <a:pt x="994930" y="86029"/>
                </a:lnTo>
                <a:lnTo>
                  <a:pt x="1002929" y="86029"/>
                </a:lnTo>
                <a:lnTo>
                  <a:pt x="1002906" y="88277"/>
                </a:lnTo>
                <a:close/>
              </a:path>
              <a:path w="1035050" h="142875">
                <a:moveTo>
                  <a:pt x="906119" y="142798"/>
                </a:moveTo>
                <a:lnTo>
                  <a:pt x="891412" y="125831"/>
                </a:lnTo>
                <a:lnTo>
                  <a:pt x="891946" y="122770"/>
                </a:lnTo>
                <a:lnTo>
                  <a:pt x="944194" y="87665"/>
                </a:lnTo>
                <a:lnTo>
                  <a:pt x="1002906" y="88277"/>
                </a:lnTo>
                <a:lnTo>
                  <a:pt x="1007283" y="88277"/>
                </a:lnTo>
                <a:lnTo>
                  <a:pt x="915111" y="140766"/>
                </a:lnTo>
                <a:lnTo>
                  <a:pt x="912266" y="142036"/>
                </a:lnTo>
                <a:lnTo>
                  <a:pt x="909231" y="142722"/>
                </a:lnTo>
                <a:lnTo>
                  <a:pt x="906119" y="142798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314892" y="2210752"/>
            <a:ext cx="316230" cy="31623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138339" y="3036887"/>
            <a:ext cx="2772410" cy="2501265"/>
          </a:xfrm>
          <a:custGeom>
            <a:avLst/>
            <a:gdLst/>
            <a:ahLst/>
            <a:cxnLst/>
            <a:rect l="l" t="t" r="r" b="b"/>
            <a:pathLst>
              <a:path w="2772410" h="2501265">
                <a:moveTo>
                  <a:pt x="2760675" y="2501265"/>
                </a:moveTo>
                <a:lnTo>
                  <a:pt x="11112" y="2501265"/>
                </a:lnTo>
                <a:lnTo>
                  <a:pt x="8636" y="2500985"/>
                </a:lnTo>
                <a:lnTo>
                  <a:pt x="0" y="2490152"/>
                </a:lnTo>
                <a:lnTo>
                  <a:pt x="0" y="11112"/>
                </a:lnTo>
                <a:lnTo>
                  <a:pt x="11112" y="0"/>
                </a:lnTo>
                <a:lnTo>
                  <a:pt x="2760675" y="0"/>
                </a:lnTo>
                <a:lnTo>
                  <a:pt x="2771787" y="11112"/>
                </a:lnTo>
                <a:lnTo>
                  <a:pt x="22225" y="11112"/>
                </a:lnTo>
                <a:lnTo>
                  <a:pt x="11112" y="22225"/>
                </a:lnTo>
                <a:lnTo>
                  <a:pt x="22225" y="22225"/>
                </a:lnTo>
                <a:lnTo>
                  <a:pt x="22225" y="2479040"/>
                </a:lnTo>
                <a:lnTo>
                  <a:pt x="11112" y="2479040"/>
                </a:lnTo>
                <a:lnTo>
                  <a:pt x="22225" y="2490152"/>
                </a:lnTo>
                <a:lnTo>
                  <a:pt x="2771787" y="2490152"/>
                </a:lnTo>
                <a:lnTo>
                  <a:pt x="2771508" y="2492629"/>
                </a:lnTo>
                <a:lnTo>
                  <a:pt x="2763151" y="2500985"/>
                </a:lnTo>
                <a:lnTo>
                  <a:pt x="2760675" y="2501265"/>
                </a:lnTo>
                <a:close/>
              </a:path>
              <a:path w="2772410" h="2501265">
                <a:moveTo>
                  <a:pt x="22225" y="22225"/>
                </a:moveTo>
                <a:lnTo>
                  <a:pt x="11112" y="22225"/>
                </a:lnTo>
                <a:lnTo>
                  <a:pt x="22225" y="11112"/>
                </a:lnTo>
                <a:lnTo>
                  <a:pt x="22225" y="22225"/>
                </a:lnTo>
                <a:close/>
              </a:path>
              <a:path w="2772410" h="2501265">
                <a:moveTo>
                  <a:pt x="2749562" y="22225"/>
                </a:moveTo>
                <a:lnTo>
                  <a:pt x="22225" y="22225"/>
                </a:lnTo>
                <a:lnTo>
                  <a:pt x="22225" y="11112"/>
                </a:lnTo>
                <a:lnTo>
                  <a:pt x="2749562" y="11112"/>
                </a:lnTo>
                <a:lnTo>
                  <a:pt x="2749562" y="22225"/>
                </a:lnTo>
                <a:close/>
              </a:path>
              <a:path w="2772410" h="2501265">
                <a:moveTo>
                  <a:pt x="2749562" y="2490152"/>
                </a:moveTo>
                <a:lnTo>
                  <a:pt x="2749562" y="11112"/>
                </a:lnTo>
                <a:lnTo>
                  <a:pt x="2760675" y="22225"/>
                </a:lnTo>
                <a:lnTo>
                  <a:pt x="2771787" y="22225"/>
                </a:lnTo>
                <a:lnTo>
                  <a:pt x="2771787" y="2479040"/>
                </a:lnTo>
                <a:lnTo>
                  <a:pt x="2760675" y="2479040"/>
                </a:lnTo>
                <a:lnTo>
                  <a:pt x="2749562" y="2490152"/>
                </a:lnTo>
                <a:close/>
              </a:path>
              <a:path w="2772410" h="2501265">
                <a:moveTo>
                  <a:pt x="2771787" y="22225"/>
                </a:moveTo>
                <a:lnTo>
                  <a:pt x="2760675" y="22225"/>
                </a:lnTo>
                <a:lnTo>
                  <a:pt x="2749562" y="11112"/>
                </a:lnTo>
                <a:lnTo>
                  <a:pt x="2771787" y="11112"/>
                </a:lnTo>
                <a:lnTo>
                  <a:pt x="2771787" y="22225"/>
                </a:lnTo>
                <a:close/>
              </a:path>
              <a:path w="2772410" h="2501265">
                <a:moveTo>
                  <a:pt x="22225" y="2490152"/>
                </a:moveTo>
                <a:lnTo>
                  <a:pt x="11112" y="2479040"/>
                </a:lnTo>
                <a:lnTo>
                  <a:pt x="22225" y="2479040"/>
                </a:lnTo>
                <a:lnTo>
                  <a:pt x="22225" y="2490152"/>
                </a:lnTo>
                <a:close/>
              </a:path>
              <a:path w="2772410" h="2501265">
                <a:moveTo>
                  <a:pt x="2749562" y="2490152"/>
                </a:moveTo>
                <a:lnTo>
                  <a:pt x="22225" y="2490152"/>
                </a:lnTo>
                <a:lnTo>
                  <a:pt x="22225" y="2479040"/>
                </a:lnTo>
                <a:lnTo>
                  <a:pt x="2749562" y="2479040"/>
                </a:lnTo>
                <a:lnTo>
                  <a:pt x="2749562" y="2490152"/>
                </a:lnTo>
                <a:close/>
              </a:path>
              <a:path w="2772410" h="2501265">
                <a:moveTo>
                  <a:pt x="2771787" y="2490152"/>
                </a:moveTo>
                <a:lnTo>
                  <a:pt x="2749562" y="2490152"/>
                </a:lnTo>
                <a:lnTo>
                  <a:pt x="2760675" y="2479040"/>
                </a:lnTo>
                <a:lnTo>
                  <a:pt x="2771787" y="2479040"/>
                </a:lnTo>
                <a:lnTo>
                  <a:pt x="2771787" y="2490152"/>
                </a:lnTo>
                <a:close/>
              </a:path>
            </a:pathLst>
          </a:custGeom>
          <a:solidFill>
            <a:srgbClr val="53823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205331" y="2993897"/>
            <a:ext cx="2874010" cy="242316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 marR="5080">
              <a:lnSpc>
                <a:spcPct val="139900"/>
              </a:lnSpc>
              <a:spcBef>
                <a:spcPts val="140"/>
              </a:spcBef>
            </a:pPr>
            <a:r>
              <a:rPr dirty="0" sz="2800" spc="155" b="1">
                <a:solidFill>
                  <a:srgbClr val="385622"/>
                </a:solidFill>
                <a:latin typeface="华文楷体"/>
                <a:cs typeface="华文楷体"/>
              </a:rPr>
              <a:t>分子平均动</a:t>
            </a:r>
            <a:r>
              <a:rPr dirty="0" sz="2800" spc="160" b="1">
                <a:solidFill>
                  <a:srgbClr val="385622"/>
                </a:solidFill>
                <a:latin typeface="华文楷体"/>
                <a:cs typeface="华文楷体"/>
              </a:rPr>
              <a:t>能</a:t>
            </a:r>
            <a:r>
              <a:rPr dirty="0" sz="2800" spc="-10" b="1">
                <a:solidFill>
                  <a:srgbClr val="385622"/>
                </a:solidFill>
                <a:latin typeface="华文楷体"/>
                <a:cs typeface="华文楷体"/>
              </a:rPr>
              <a:t>不 </a:t>
            </a:r>
            <a:r>
              <a:rPr dirty="0" sz="2800" spc="310" b="1">
                <a:solidFill>
                  <a:srgbClr val="385622"/>
                </a:solidFill>
                <a:latin typeface="华文楷体"/>
                <a:cs typeface="华文楷体"/>
              </a:rPr>
              <a:t>变</a:t>
            </a:r>
            <a:r>
              <a:rPr dirty="0" sz="2800" spc="-10" b="1">
                <a:solidFill>
                  <a:srgbClr val="385622"/>
                </a:solidFill>
                <a:latin typeface="华文楷体"/>
                <a:cs typeface="华文楷体"/>
              </a:rPr>
              <a:t>，</a:t>
            </a:r>
            <a:r>
              <a:rPr dirty="0" sz="2800" spc="-400" b="1">
                <a:solidFill>
                  <a:srgbClr val="385622"/>
                </a:solidFill>
                <a:latin typeface="华文楷体"/>
                <a:cs typeface="华文楷体"/>
              </a:rPr>
              <a:t> </a:t>
            </a:r>
            <a:r>
              <a:rPr dirty="0" sz="2800" spc="310" b="1">
                <a:solidFill>
                  <a:srgbClr val="385622"/>
                </a:solidFill>
                <a:latin typeface="华文楷体"/>
                <a:cs typeface="华文楷体"/>
              </a:rPr>
              <a:t>若</a:t>
            </a:r>
            <a:r>
              <a:rPr dirty="0" sz="2800" spc="-5" b="1" i="1">
                <a:solidFill>
                  <a:srgbClr val="385622"/>
                </a:solidFill>
                <a:latin typeface="Times New Roman"/>
                <a:cs typeface="Times New Roman"/>
              </a:rPr>
              <a:t>V</a:t>
            </a:r>
            <a:r>
              <a:rPr dirty="0" sz="2800" spc="-395" b="1" i="1">
                <a:solidFill>
                  <a:srgbClr val="385622"/>
                </a:solidFill>
                <a:latin typeface="Times New Roman"/>
                <a:cs typeface="Times New Roman"/>
              </a:rPr>
              <a:t> </a:t>
            </a:r>
            <a:r>
              <a:rPr dirty="0" sz="2800" spc="315" b="1">
                <a:solidFill>
                  <a:srgbClr val="385622"/>
                </a:solidFill>
                <a:latin typeface="华文楷体"/>
                <a:cs typeface="华文楷体"/>
              </a:rPr>
              <a:t>减小</a:t>
            </a:r>
            <a:r>
              <a:rPr dirty="0" sz="2800" spc="-10" b="1">
                <a:solidFill>
                  <a:srgbClr val="385622"/>
                </a:solidFill>
                <a:latin typeface="华文楷体"/>
                <a:cs typeface="华文楷体"/>
              </a:rPr>
              <a:t>，  </a:t>
            </a:r>
            <a:r>
              <a:rPr dirty="0" sz="2800" b="1">
                <a:solidFill>
                  <a:srgbClr val="385622"/>
                </a:solidFill>
                <a:latin typeface="华文楷体"/>
                <a:cs typeface="华文楷体"/>
              </a:rPr>
              <a:t>分子数密度增大</a:t>
            </a:r>
            <a:r>
              <a:rPr dirty="0" sz="2800" spc="-10" b="1">
                <a:solidFill>
                  <a:srgbClr val="385622"/>
                </a:solidFill>
                <a:latin typeface="华文楷体"/>
                <a:cs typeface="华文楷体"/>
              </a:rPr>
              <a:t>，</a:t>
            </a:r>
            <a:endParaRPr sz="2800">
              <a:latin typeface="华文楷体"/>
              <a:cs typeface="华文楷体"/>
            </a:endParaRPr>
          </a:p>
          <a:p>
            <a:pPr marL="12700">
              <a:lnSpc>
                <a:spcPct val="100000"/>
              </a:lnSpc>
              <a:spcBef>
                <a:spcPts val="1380"/>
              </a:spcBef>
            </a:pPr>
            <a:r>
              <a:rPr dirty="0" sz="2800" spc="-5" b="1" i="1">
                <a:solidFill>
                  <a:srgbClr val="385622"/>
                </a:solidFill>
                <a:latin typeface="Times New Roman"/>
                <a:cs typeface="Times New Roman"/>
              </a:rPr>
              <a:t>p</a:t>
            </a:r>
            <a:r>
              <a:rPr dirty="0" sz="2800" b="1">
                <a:solidFill>
                  <a:srgbClr val="385622"/>
                </a:solidFill>
                <a:latin typeface="华文楷体"/>
                <a:cs typeface="华文楷体"/>
              </a:rPr>
              <a:t>增大</a:t>
            </a:r>
            <a:r>
              <a:rPr dirty="0" sz="2800" spc="-10" b="1">
                <a:solidFill>
                  <a:srgbClr val="385622"/>
                </a:solidFill>
                <a:latin typeface="华文楷体"/>
                <a:cs typeface="华文楷体"/>
              </a:rPr>
              <a:t>；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256030" y="1230629"/>
            <a:ext cx="47879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83565" algn="l"/>
              </a:tabLst>
            </a:pPr>
            <a:r>
              <a:rPr dirty="0" sz="3000">
                <a:solidFill>
                  <a:srgbClr val="000000"/>
                </a:solidFill>
                <a:latin typeface="黑体"/>
                <a:cs typeface="黑体"/>
              </a:rPr>
              <a:t>四	气体实验定律的微观解释</a:t>
            </a:r>
            <a:endParaRPr sz="3000">
              <a:latin typeface="黑体"/>
              <a:cs typeface="黑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92480" y="1304544"/>
            <a:ext cx="273050" cy="273050"/>
          </a:xfrm>
          <a:custGeom>
            <a:avLst/>
            <a:gdLst/>
            <a:ahLst/>
            <a:cxnLst/>
            <a:rect l="l" t="t" r="r" b="b"/>
            <a:pathLst>
              <a:path w="273050" h="273050">
                <a:moveTo>
                  <a:pt x="0" y="0"/>
                </a:moveTo>
                <a:lnTo>
                  <a:pt x="272795" y="0"/>
                </a:lnTo>
                <a:lnTo>
                  <a:pt x="272795" y="272795"/>
                </a:lnTo>
                <a:lnTo>
                  <a:pt x="0" y="272795"/>
                </a:lnTo>
                <a:lnTo>
                  <a:pt x="0" y="0"/>
                </a:lnTo>
                <a:close/>
              </a:path>
            </a:pathLst>
          </a:custGeom>
          <a:solidFill>
            <a:srgbClr val="3856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41832" y="1472183"/>
            <a:ext cx="184785" cy="184785"/>
          </a:xfrm>
          <a:custGeom>
            <a:avLst/>
            <a:gdLst/>
            <a:ahLst/>
            <a:cxnLst/>
            <a:rect l="l" t="t" r="r" b="b"/>
            <a:pathLst>
              <a:path w="184784" h="184785">
                <a:moveTo>
                  <a:pt x="0" y="0"/>
                </a:moveTo>
                <a:lnTo>
                  <a:pt x="184403" y="0"/>
                </a:lnTo>
                <a:lnTo>
                  <a:pt x="184403" y="184403"/>
                </a:lnTo>
                <a:lnTo>
                  <a:pt x="0" y="184403"/>
                </a:lnTo>
                <a:lnTo>
                  <a:pt x="0" y="0"/>
                </a:lnTo>
                <a:close/>
              </a:path>
            </a:pathLst>
          </a:custGeom>
          <a:solidFill>
            <a:srgbClr val="53823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732972" y="3037522"/>
            <a:ext cx="2757805" cy="2501265"/>
          </a:xfrm>
          <a:custGeom>
            <a:avLst/>
            <a:gdLst/>
            <a:ahLst/>
            <a:cxnLst/>
            <a:rect l="l" t="t" r="r" b="b"/>
            <a:pathLst>
              <a:path w="2757804" h="2501265">
                <a:moveTo>
                  <a:pt x="2746692" y="2501265"/>
                </a:moveTo>
                <a:lnTo>
                  <a:pt x="11112" y="2501265"/>
                </a:lnTo>
                <a:lnTo>
                  <a:pt x="8636" y="2500985"/>
                </a:lnTo>
                <a:lnTo>
                  <a:pt x="0" y="2490152"/>
                </a:lnTo>
                <a:lnTo>
                  <a:pt x="0" y="11112"/>
                </a:lnTo>
                <a:lnTo>
                  <a:pt x="11112" y="0"/>
                </a:lnTo>
                <a:lnTo>
                  <a:pt x="2746692" y="0"/>
                </a:lnTo>
                <a:lnTo>
                  <a:pt x="2757805" y="11112"/>
                </a:lnTo>
                <a:lnTo>
                  <a:pt x="22225" y="11112"/>
                </a:lnTo>
                <a:lnTo>
                  <a:pt x="11112" y="22225"/>
                </a:lnTo>
                <a:lnTo>
                  <a:pt x="22225" y="22225"/>
                </a:lnTo>
                <a:lnTo>
                  <a:pt x="22225" y="2479040"/>
                </a:lnTo>
                <a:lnTo>
                  <a:pt x="11112" y="2479040"/>
                </a:lnTo>
                <a:lnTo>
                  <a:pt x="22225" y="2490152"/>
                </a:lnTo>
                <a:lnTo>
                  <a:pt x="2757805" y="2490152"/>
                </a:lnTo>
                <a:lnTo>
                  <a:pt x="2757525" y="2492629"/>
                </a:lnTo>
                <a:lnTo>
                  <a:pt x="2749168" y="2500985"/>
                </a:lnTo>
                <a:lnTo>
                  <a:pt x="2746692" y="2501265"/>
                </a:lnTo>
                <a:close/>
              </a:path>
              <a:path w="2757804" h="2501265">
                <a:moveTo>
                  <a:pt x="22225" y="22225"/>
                </a:moveTo>
                <a:lnTo>
                  <a:pt x="11112" y="22225"/>
                </a:lnTo>
                <a:lnTo>
                  <a:pt x="22225" y="11112"/>
                </a:lnTo>
                <a:lnTo>
                  <a:pt x="22225" y="22225"/>
                </a:lnTo>
                <a:close/>
              </a:path>
              <a:path w="2757804" h="2501265">
                <a:moveTo>
                  <a:pt x="2735580" y="22225"/>
                </a:moveTo>
                <a:lnTo>
                  <a:pt x="22225" y="22225"/>
                </a:lnTo>
                <a:lnTo>
                  <a:pt x="22225" y="11112"/>
                </a:lnTo>
                <a:lnTo>
                  <a:pt x="2735580" y="11112"/>
                </a:lnTo>
                <a:lnTo>
                  <a:pt x="2735580" y="22225"/>
                </a:lnTo>
                <a:close/>
              </a:path>
              <a:path w="2757804" h="2501265">
                <a:moveTo>
                  <a:pt x="2735580" y="2490152"/>
                </a:moveTo>
                <a:lnTo>
                  <a:pt x="2735580" y="11112"/>
                </a:lnTo>
                <a:lnTo>
                  <a:pt x="2746692" y="22225"/>
                </a:lnTo>
                <a:lnTo>
                  <a:pt x="2757805" y="22225"/>
                </a:lnTo>
                <a:lnTo>
                  <a:pt x="2757805" y="2479040"/>
                </a:lnTo>
                <a:lnTo>
                  <a:pt x="2746692" y="2479040"/>
                </a:lnTo>
                <a:lnTo>
                  <a:pt x="2735580" y="2490152"/>
                </a:lnTo>
                <a:close/>
              </a:path>
              <a:path w="2757804" h="2501265">
                <a:moveTo>
                  <a:pt x="2757805" y="22225"/>
                </a:moveTo>
                <a:lnTo>
                  <a:pt x="2746692" y="22225"/>
                </a:lnTo>
                <a:lnTo>
                  <a:pt x="2735580" y="11112"/>
                </a:lnTo>
                <a:lnTo>
                  <a:pt x="2757805" y="11112"/>
                </a:lnTo>
                <a:lnTo>
                  <a:pt x="2757805" y="22225"/>
                </a:lnTo>
                <a:close/>
              </a:path>
              <a:path w="2757804" h="2501265">
                <a:moveTo>
                  <a:pt x="22225" y="2490152"/>
                </a:moveTo>
                <a:lnTo>
                  <a:pt x="11112" y="2479040"/>
                </a:lnTo>
                <a:lnTo>
                  <a:pt x="22225" y="2479040"/>
                </a:lnTo>
                <a:lnTo>
                  <a:pt x="22225" y="2490152"/>
                </a:lnTo>
                <a:close/>
              </a:path>
              <a:path w="2757804" h="2501265">
                <a:moveTo>
                  <a:pt x="2735580" y="2490152"/>
                </a:moveTo>
                <a:lnTo>
                  <a:pt x="22225" y="2490152"/>
                </a:lnTo>
                <a:lnTo>
                  <a:pt x="22225" y="2479040"/>
                </a:lnTo>
                <a:lnTo>
                  <a:pt x="2735580" y="2479040"/>
                </a:lnTo>
                <a:lnTo>
                  <a:pt x="2735580" y="2490152"/>
                </a:lnTo>
                <a:close/>
              </a:path>
              <a:path w="2757804" h="2501265">
                <a:moveTo>
                  <a:pt x="2757805" y="2490152"/>
                </a:moveTo>
                <a:lnTo>
                  <a:pt x="2735580" y="2490152"/>
                </a:lnTo>
                <a:lnTo>
                  <a:pt x="2746692" y="2479040"/>
                </a:lnTo>
                <a:lnTo>
                  <a:pt x="2757805" y="2479040"/>
                </a:lnTo>
                <a:lnTo>
                  <a:pt x="2757805" y="2490152"/>
                </a:lnTo>
                <a:close/>
              </a:path>
            </a:pathLst>
          </a:custGeom>
          <a:solidFill>
            <a:srgbClr val="53823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4799965" y="3029457"/>
            <a:ext cx="2695575" cy="2407920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algn="just" marL="12700" marR="5080">
              <a:lnSpc>
                <a:spcPct val="111900"/>
              </a:lnSpc>
              <a:spcBef>
                <a:spcPts val="60"/>
              </a:spcBef>
            </a:pPr>
            <a:r>
              <a:rPr dirty="0" sz="2800" spc="-5" b="1" i="1">
                <a:solidFill>
                  <a:srgbClr val="385622"/>
                </a:solidFill>
                <a:latin typeface="Times New Roman"/>
                <a:cs typeface="Times New Roman"/>
              </a:rPr>
              <a:t>T</a:t>
            </a:r>
            <a:r>
              <a:rPr dirty="0" sz="2800" spc="-405" b="1" i="1">
                <a:solidFill>
                  <a:srgbClr val="385622"/>
                </a:solidFill>
                <a:latin typeface="Times New Roman"/>
                <a:cs typeface="Times New Roman"/>
              </a:rPr>
              <a:t> </a:t>
            </a:r>
            <a:r>
              <a:rPr dirty="0" sz="2800" spc="320" b="1">
                <a:solidFill>
                  <a:srgbClr val="385622"/>
                </a:solidFill>
                <a:latin typeface="华文楷体"/>
                <a:cs typeface="华文楷体"/>
              </a:rPr>
              <a:t>升高时</a:t>
            </a:r>
            <a:r>
              <a:rPr dirty="0" sz="2800" spc="-10" b="1">
                <a:solidFill>
                  <a:srgbClr val="385622"/>
                </a:solidFill>
                <a:latin typeface="华文楷体"/>
                <a:cs typeface="华文楷体"/>
              </a:rPr>
              <a:t>，</a:t>
            </a:r>
            <a:r>
              <a:rPr dirty="0" sz="2800" spc="-395" b="1">
                <a:solidFill>
                  <a:srgbClr val="385622"/>
                </a:solidFill>
                <a:latin typeface="华文楷体"/>
                <a:cs typeface="华文楷体"/>
              </a:rPr>
              <a:t> </a:t>
            </a:r>
            <a:r>
              <a:rPr dirty="0" sz="2800" spc="320" b="1">
                <a:solidFill>
                  <a:srgbClr val="385622"/>
                </a:solidFill>
                <a:latin typeface="华文楷体"/>
                <a:cs typeface="华文楷体"/>
              </a:rPr>
              <a:t>分</a:t>
            </a:r>
            <a:r>
              <a:rPr dirty="0" sz="2800" spc="-10" b="1">
                <a:solidFill>
                  <a:srgbClr val="385622"/>
                </a:solidFill>
                <a:latin typeface="华文楷体"/>
                <a:cs typeface="华文楷体"/>
              </a:rPr>
              <a:t>子 </a:t>
            </a:r>
            <a:r>
              <a:rPr dirty="0" sz="2800" spc="135" b="1">
                <a:solidFill>
                  <a:srgbClr val="385622"/>
                </a:solidFill>
                <a:latin typeface="华文楷体"/>
                <a:cs typeface="华文楷体"/>
              </a:rPr>
              <a:t>平均动</a:t>
            </a:r>
            <a:r>
              <a:rPr dirty="0" sz="2800" spc="140" b="1">
                <a:solidFill>
                  <a:srgbClr val="385622"/>
                </a:solidFill>
                <a:latin typeface="华文楷体"/>
                <a:cs typeface="华文楷体"/>
              </a:rPr>
              <a:t>能增大</a:t>
            </a:r>
            <a:r>
              <a:rPr dirty="0" sz="2800" spc="-10" b="1">
                <a:solidFill>
                  <a:srgbClr val="385622"/>
                </a:solidFill>
                <a:latin typeface="华文楷体"/>
                <a:cs typeface="华文楷体"/>
              </a:rPr>
              <a:t>，  </a:t>
            </a:r>
            <a:r>
              <a:rPr dirty="0" sz="2800" spc="290" b="1">
                <a:solidFill>
                  <a:srgbClr val="385622"/>
                </a:solidFill>
                <a:latin typeface="华文楷体"/>
                <a:cs typeface="华文楷体"/>
              </a:rPr>
              <a:t>只有</a:t>
            </a:r>
            <a:r>
              <a:rPr dirty="0" sz="2800" spc="295" b="1">
                <a:solidFill>
                  <a:srgbClr val="385622"/>
                </a:solidFill>
                <a:latin typeface="华文楷体"/>
                <a:cs typeface="华文楷体"/>
              </a:rPr>
              <a:t>增大</a:t>
            </a:r>
            <a:r>
              <a:rPr dirty="0" sz="2800" spc="-5" b="1" i="1">
                <a:solidFill>
                  <a:srgbClr val="385622"/>
                </a:solidFill>
                <a:latin typeface="Times New Roman"/>
                <a:cs typeface="Times New Roman"/>
              </a:rPr>
              <a:t>V</a:t>
            </a:r>
            <a:r>
              <a:rPr dirty="0" sz="2800" spc="-425" b="1" i="1">
                <a:solidFill>
                  <a:srgbClr val="385622"/>
                </a:solidFill>
                <a:latin typeface="Times New Roman"/>
                <a:cs typeface="Times New Roman"/>
              </a:rPr>
              <a:t> </a:t>
            </a:r>
            <a:r>
              <a:rPr dirty="0" sz="2800" spc="-10" b="1">
                <a:solidFill>
                  <a:srgbClr val="385622"/>
                </a:solidFill>
                <a:latin typeface="华文楷体"/>
                <a:cs typeface="华文楷体"/>
              </a:rPr>
              <a:t>，</a:t>
            </a:r>
            <a:r>
              <a:rPr dirty="0" sz="2800" spc="-420" b="1">
                <a:solidFill>
                  <a:srgbClr val="385622"/>
                </a:solidFill>
                <a:latin typeface="华文楷体"/>
                <a:cs typeface="华文楷体"/>
              </a:rPr>
              <a:t> </a:t>
            </a:r>
            <a:r>
              <a:rPr dirty="0" sz="2800" spc="-10" b="1">
                <a:solidFill>
                  <a:srgbClr val="385622"/>
                </a:solidFill>
                <a:latin typeface="华文楷体"/>
                <a:cs typeface="华文楷体"/>
              </a:rPr>
              <a:t>减 </a:t>
            </a:r>
            <a:r>
              <a:rPr dirty="0" sz="2800" spc="135" b="1">
                <a:solidFill>
                  <a:srgbClr val="385622"/>
                </a:solidFill>
                <a:latin typeface="华文楷体"/>
                <a:cs typeface="华文楷体"/>
              </a:rPr>
              <a:t>小分子</a:t>
            </a:r>
            <a:r>
              <a:rPr dirty="0" sz="2800" spc="140" b="1">
                <a:solidFill>
                  <a:srgbClr val="385622"/>
                </a:solidFill>
                <a:latin typeface="华文楷体"/>
                <a:cs typeface="华文楷体"/>
              </a:rPr>
              <a:t>数密度</a:t>
            </a:r>
            <a:r>
              <a:rPr dirty="0" sz="2800" spc="-10" b="1">
                <a:solidFill>
                  <a:srgbClr val="385622"/>
                </a:solidFill>
                <a:latin typeface="华文楷体"/>
                <a:cs typeface="华文楷体"/>
              </a:rPr>
              <a:t>，  </a:t>
            </a:r>
            <a:r>
              <a:rPr dirty="0" sz="2800" b="1">
                <a:solidFill>
                  <a:srgbClr val="385622"/>
                </a:solidFill>
                <a:latin typeface="华文楷体"/>
                <a:cs typeface="华文楷体"/>
              </a:rPr>
              <a:t>才能保证</a:t>
            </a:r>
            <a:r>
              <a:rPr dirty="0" sz="2800" spc="-5" b="1" i="1">
                <a:solidFill>
                  <a:srgbClr val="385622"/>
                </a:solidFill>
                <a:latin typeface="Times New Roman"/>
                <a:cs typeface="Times New Roman"/>
              </a:rPr>
              <a:t>p</a:t>
            </a:r>
            <a:r>
              <a:rPr dirty="0" sz="2800" b="1">
                <a:solidFill>
                  <a:srgbClr val="385622"/>
                </a:solidFill>
                <a:latin typeface="华文楷体"/>
                <a:cs typeface="华文楷体"/>
              </a:rPr>
              <a:t>不变</a:t>
            </a:r>
            <a:r>
              <a:rPr dirty="0" sz="2800" spc="-10" b="1">
                <a:solidFill>
                  <a:srgbClr val="385622"/>
                </a:solidFill>
                <a:latin typeface="华文楷体"/>
                <a:cs typeface="华文楷体"/>
              </a:rPr>
              <a:t>；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730496" y="2397251"/>
            <a:ext cx="2749550" cy="650875"/>
          </a:xfrm>
          <a:custGeom>
            <a:avLst/>
            <a:gdLst/>
            <a:ahLst/>
            <a:cxnLst/>
            <a:rect l="l" t="t" r="r" b="b"/>
            <a:pathLst>
              <a:path w="2749550" h="650875">
                <a:moveTo>
                  <a:pt x="0" y="0"/>
                </a:moveTo>
                <a:lnTo>
                  <a:pt x="2749296" y="0"/>
                </a:lnTo>
                <a:lnTo>
                  <a:pt x="2749296" y="650748"/>
                </a:lnTo>
                <a:lnTo>
                  <a:pt x="0" y="650748"/>
                </a:lnTo>
                <a:lnTo>
                  <a:pt x="0" y="0"/>
                </a:lnTo>
                <a:close/>
              </a:path>
            </a:pathLst>
          </a:custGeom>
          <a:solidFill>
            <a:srgbClr val="538235">
              <a:alpha val="57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135380" y="2368295"/>
            <a:ext cx="6344920" cy="695325"/>
          </a:xfrm>
          <a:prstGeom prst="rect">
            <a:avLst/>
          </a:prstGeom>
          <a:solidFill>
            <a:srgbClr val="538235">
              <a:alpha val="57998"/>
            </a:srgbClr>
          </a:solidFill>
        </p:spPr>
        <p:txBody>
          <a:bodyPr wrap="square" lIns="0" tIns="150495" rIns="0" bIns="0" rtlCol="0" vert="horz">
            <a:spAutoFit/>
          </a:bodyPr>
          <a:lstStyle/>
          <a:p>
            <a:pPr marL="671830">
              <a:lnSpc>
                <a:spcPct val="100000"/>
              </a:lnSpc>
              <a:spcBef>
                <a:spcPts val="1185"/>
              </a:spcBef>
              <a:tabLst>
                <a:tab pos="4256405" algn="l"/>
              </a:tabLst>
            </a:pPr>
            <a:r>
              <a:rPr dirty="0" sz="2800" b="1">
                <a:latin typeface="华文楷体"/>
                <a:cs typeface="华文楷体"/>
              </a:rPr>
              <a:t>等温变</a:t>
            </a:r>
            <a:r>
              <a:rPr dirty="0" sz="2800" spc="-10" b="1">
                <a:latin typeface="华文楷体"/>
                <a:cs typeface="华文楷体"/>
              </a:rPr>
              <a:t>化	</a:t>
            </a:r>
            <a:r>
              <a:rPr dirty="0" sz="2800" b="1">
                <a:latin typeface="华文楷体"/>
                <a:cs typeface="华文楷体"/>
              </a:rPr>
              <a:t>等压变</a:t>
            </a:r>
            <a:r>
              <a:rPr dirty="0" sz="2800" spc="-10" b="1">
                <a:latin typeface="华文楷体"/>
                <a:cs typeface="华文楷体"/>
              </a:rPr>
              <a:t>化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947092" y="2223452"/>
            <a:ext cx="316230" cy="31623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8297964" y="3037522"/>
            <a:ext cx="2747645" cy="2501265"/>
          </a:xfrm>
          <a:custGeom>
            <a:avLst/>
            <a:gdLst/>
            <a:ahLst/>
            <a:cxnLst/>
            <a:rect l="l" t="t" r="r" b="b"/>
            <a:pathLst>
              <a:path w="2747645" h="2501265">
                <a:moveTo>
                  <a:pt x="2736341" y="2501265"/>
                </a:moveTo>
                <a:lnTo>
                  <a:pt x="11112" y="2501265"/>
                </a:lnTo>
                <a:lnTo>
                  <a:pt x="8648" y="2500985"/>
                </a:lnTo>
                <a:lnTo>
                  <a:pt x="0" y="2490152"/>
                </a:lnTo>
                <a:lnTo>
                  <a:pt x="0" y="11112"/>
                </a:lnTo>
                <a:lnTo>
                  <a:pt x="11112" y="0"/>
                </a:lnTo>
                <a:lnTo>
                  <a:pt x="2736341" y="0"/>
                </a:lnTo>
                <a:lnTo>
                  <a:pt x="2747454" y="11112"/>
                </a:lnTo>
                <a:lnTo>
                  <a:pt x="22225" y="11112"/>
                </a:lnTo>
                <a:lnTo>
                  <a:pt x="11112" y="22225"/>
                </a:lnTo>
                <a:lnTo>
                  <a:pt x="22225" y="22225"/>
                </a:lnTo>
                <a:lnTo>
                  <a:pt x="22225" y="2479040"/>
                </a:lnTo>
                <a:lnTo>
                  <a:pt x="11112" y="2479040"/>
                </a:lnTo>
                <a:lnTo>
                  <a:pt x="22225" y="2490152"/>
                </a:lnTo>
                <a:lnTo>
                  <a:pt x="2747454" y="2490152"/>
                </a:lnTo>
                <a:lnTo>
                  <a:pt x="2747175" y="2492629"/>
                </a:lnTo>
                <a:lnTo>
                  <a:pt x="2738818" y="2500985"/>
                </a:lnTo>
                <a:lnTo>
                  <a:pt x="2736341" y="2501265"/>
                </a:lnTo>
                <a:close/>
              </a:path>
              <a:path w="2747645" h="2501265">
                <a:moveTo>
                  <a:pt x="22225" y="22225"/>
                </a:moveTo>
                <a:lnTo>
                  <a:pt x="11112" y="22225"/>
                </a:lnTo>
                <a:lnTo>
                  <a:pt x="22225" y="11112"/>
                </a:lnTo>
                <a:lnTo>
                  <a:pt x="22225" y="22225"/>
                </a:lnTo>
                <a:close/>
              </a:path>
              <a:path w="2747645" h="2501265">
                <a:moveTo>
                  <a:pt x="2725229" y="22225"/>
                </a:moveTo>
                <a:lnTo>
                  <a:pt x="22225" y="22225"/>
                </a:lnTo>
                <a:lnTo>
                  <a:pt x="22225" y="11112"/>
                </a:lnTo>
                <a:lnTo>
                  <a:pt x="2725229" y="11112"/>
                </a:lnTo>
                <a:lnTo>
                  <a:pt x="2725229" y="22225"/>
                </a:lnTo>
                <a:close/>
              </a:path>
              <a:path w="2747645" h="2501265">
                <a:moveTo>
                  <a:pt x="2725229" y="2490152"/>
                </a:moveTo>
                <a:lnTo>
                  <a:pt x="2725229" y="11112"/>
                </a:lnTo>
                <a:lnTo>
                  <a:pt x="2736341" y="22225"/>
                </a:lnTo>
                <a:lnTo>
                  <a:pt x="2747454" y="22225"/>
                </a:lnTo>
                <a:lnTo>
                  <a:pt x="2747454" y="2479040"/>
                </a:lnTo>
                <a:lnTo>
                  <a:pt x="2736341" y="2479040"/>
                </a:lnTo>
                <a:lnTo>
                  <a:pt x="2725229" y="2490152"/>
                </a:lnTo>
                <a:close/>
              </a:path>
              <a:path w="2747645" h="2501265">
                <a:moveTo>
                  <a:pt x="2747454" y="22225"/>
                </a:moveTo>
                <a:lnTo>
                  <a:pt x="2736341" y="22225"/>
                </a:lnTo>
                <a:lnTo>
                  <a:pt x="2725229" y="11112"/>
                </a:lnTo>
                <a:lnTo>
                  <a:pt x="2747454" y="11112"/>
                </a:lnTo>
                <a:lnTo>
                  <a:pt x="2747454" y="22225"/>
                </a:lnTo>
                <a:close/>
              </a:path>
              <a:path w="2747645" h="2501265">
                <a:moveTo>
                  <a:pt x="22225" y="2490152"/>
                </a:moveTo>
                <a:lnTo>
                  <a:pt x="11112" y="2479040"/>
                </a:lnTo>
                <a:lnTo>
                  <a:pt x="22225" y="2479040"/>
                </a:lnTo>
                <a:lnTo>
                  <a:pt x="22225" y="2490152"/>
                </a:lnTo>
                <a:close/>
              </a:path>
              <a:path w="2747645" h="2501265">
                <a:moveTo>
                  <a:pt x="2725229" y="2490152"/>
                </a:moveTo>
                <a:lnTo>
                  <a:pt x="22225" y="2490152"/>
                </a:lnTo>
                <a:lnTo>
                  <a:pt x="22225" y="2479040"/>
                </a:lnTo>
                <a:lnTo>
                  <a:pt x="2725229" y="2479040"/>
                </a:lnTo>
                <a:lnTo>
                  <a:pt x="2725229" y="2490152"/>
                </a:lnTo>
                <a:close/>
              </a:path>
              <a:path w="2747645" h="2501265">
                <a:moveTo>
                  <a:pt x="2747454" y="2490152"/>
                </a:moveTo>
                <a:lnTo>
                  <a:pt x="2725229" y="2490152"/>
                </a:lnTo>
                <a:lnTo>
                  <a:pt x="2736341" y="2479040"/>
                </a:lnTo>
                <a:lnTo>
                  <a:pt x="2747454" y="2479040"/>
                </a:lnTo>
                <a:lnTo>
                  <a:pt x="2747454" y="2490152"/>
                </a:lnTo>
                <a:close/>
              </a:path>
            </a:pathLst>
          </a:custGeom>
          <a:solidFill>
            <a:srgbClr val="53823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8364956" y="2994533"/>
            <a:ext cx="2874010" cy="242316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 marR="5080">
              <a:lnSpc>
                <a:spcPct val="139900"/>
              </a:lnSpc>
              <a:spcBef>
                <a:spcPts val="140"/>
              </a:spcBef>
            </a:pPr>
            <a:r>
              <a:rPr dirty="0" sz="2800" b="1">
                <a:solidFill>
                  <a:srgbClr val="385622"/>
                </a:solidFill>
                <a:latin typeface="华文楷体"/>
                <a:cs typeface="华文楷体"/>
              </a:rPr>
              <a:t>分子数密度不变</a:t>
            </a:r>
            <a:r>
              <a:rPr dirty="0" sz="2800" spc="-5" b="1">
                <a:solidFill>
                  <a:srgbClr val="385622"/>
                </a:solidFill>
                <a:latin typeface="华文楷体"/>
                <a:cs typeface="华文楷体"/>
              </a:rPr>
              <a:t>， </a:t>
            </a:r>
            <a:r>
              <a:rPr dirty="0" sz="2800" spc="305" b="1">
                <a:solidFill>
                  <a:srgbClr val="385622"/>
                </a:solidFill>
                <a:latin typeface="华文楷体"/>
                <a:cs typeface="华文楷体"/>
              </a:rPr>
              <a:t>若</a:t>
            </a:r>
            <a:r>
              <a:rPr dirty="0" sz="2800" spc="-5" b="1" i="1">
                <a:solidFill>
                  <a:srgbClr val="385622"/>
                </a:solidFill>
                <a:latin typeface="Times New Roman"/>
                <a:cs typeface="Times New Roman"/>
              </a:rPr>
              <a:t>T</a:t>
            </a:r>
            <a:r>
              <a:rPr dirty="0" sz="2800" spc="-405" b="1" i="1">
                <a:solidFill>
                  <a:srgbClr val="385622"/>
                </a:solidFill>
                <a:latin typeface="Times New Roman"/>
                <a:cs typeface="Times New Roman"/>
              </a:rPr>
              <a:t> </a:t>
            </a:r>
            <a:r>
              <a:rPr dirty="0" sz="2800" spc="305" b="1">
                <a:solidFill>
                  <a:srgbClr val="385622"/>
                </a:solidFill>
                <a:latin typeface="华文楷体"/>
                <a:cs typeface="华文楷体"/>
              </a:rPr>
              <a:t>升高</a:t>
            </a:r>
            <a:r>
              <a:rPr dirty="0" sz="2800" spc="-10" b="1">
                <a:solidFill>
                  <a:srgbClr val="385622"/>
                </a:solidFill>
                <a:latin typeface="华文楷体"/>
                <a:cs typeface="华文楷体"/>
              </a:rPr>
              <a:t>，</a:t>
            </a:r>
            <a:r>
              <a:rPr dirty="0" sz="2800" spc="-400" b="1">
                <a:solidFill>
                  <a:srgbClr val="385622"/>
                </a:solidFill>
                <a:latin typeface="华文楷体"/>
                <a:cs typeface="华文楷体"/>
              </a:rPr>
              <a:t> </a:t>
            </a:r>
            <a:r>
              <a:rPr dirty="0" sz="2800" spc="310" b="1">
                <a:solidFill>
                  <a:srgbClr val="385622"/>
                </a:solidFill>
                <a:latin typeface="华文楷体"/>
                <a:cs typeface="华文楷体"/>
              </a:rPr>
              <a:t>分</a:t>
            </a:r>
            <a:r>
              <a:rPr dirty="0" sz="2800" spc="-10" b="1">
                <a:solidFill>
                  <a:srgbClr val="385622"/>
                </a:solidFill>
                <a:latin typeface="华文楷体"/>
                <a:cs typeface="华文楷体"/>
              </a:rPr>
              <a:t>子 </a:t>
            </a:r>
            <a:r>
              <a:rPr dirty="0" sz="2800" spc="120" b="1">
                <a:solidFill>
                  <a:srgbClr val="385622"/>
                </a:solidFill>
                <a:latin typeface="华文楷体"/>
                <a:cs typeface="华文楷体"/>
              </a:rPr>
              <a:t>平均</a:t>
            </a:r>
            <a:r>
              <a:rPr dirty="0" sz="2800" spc="125" b="1">
                <a:solidFill>
                  <a:srgbClr val="385622"/>
                </a:solidFill>
                <a:latin typeface="华文楷体"/>
                <a:cs typeface="华文楷体"/>
              </a:rPr>
              <a:t>动能增大</a:t>
            </a:r>
            <a:r>
              <a:rPr dirty="0" sz="2800" spc="-10" b="1">
                <a:solidFill>
                  <a:srgbClr val="385622"/>
                </a:solidFill>
                <a:latin typeface="华文楷体"/>
                <a:cs typeface="华文楷体"/>
              </a:rPr>
              <a:t>，</a:t>
            </a:r>
            <a:endParaRPr sz="2800">
              <a:latin typeface="华文楷体"/>
              <a:cs typeface="华文楷体"/>
            </a:endParaRPr>
          </a:p>
          <a:p>
            <a:pPr marL="12700">
              <a:lnSpc>
                <a:spcPct val="100000"/>
              </a:lnSpc>
              <a:spcBef>
                <a:spcPts val="1380"/>
              </a:spcBef>
            </a:pPr>
            <a:r>
              <a:rPr dirty="0" sz="2800" spc="-5" b="1" i="1">
                <a:solidFill>
                  <a:srgbClr val="385622"/>
                </a:solidFill>
                <a:latin typeface="Times New Roman"/>
                <a:cs typeface="Times New Roman"/>
              </a:rPr>
              <a:t>p</a:t>
            </a:r>
            <a:r>
              <a:rPr dirty="0" sz="2800" b="1">
                <a:solidFill>
                  <a:srgbClr val="385622"/>
                </a:solidFill>
                <a:latin typeface="华文楷体"/>
                <a:cs typeface="华文楷体"/>
              </a:rPr>
              <a:t>增大</a:t>
            </a:r>
            <a:r>
              <a:rPr dirty="0" sz="2800" spc="-10" b="1">
                <a:solidFill>
                  <a:srgbClr val="385622"/>
                </a:solidFill>
                <a:latin typeface="华文楷体"/>
                <a:cs typeface="华文楷体"/>
              </a:rPr>
              <a:t>。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305800" y="2397251"/>
            <a:ext cx="2746375" cy="650875"/>
          </a:xfrm>
          <a:custGeom>
            <a:avLst/>
            <a:gdLst/>
            <a:ahLst/>
            <a:cxnLst/>
            <a:rect l="l" t="t" r="r" b="b"/>
            <a:pathLst>
              <a:path w="2746375" h="650875">
                <a:moveTo>
                  <a:pt x="0" y="0"/>
                </a:moveTo>
                <a:lnTo>
                  <a:pt x="2746248" y="0"/>
                </a:lnTo>
                <a:lnTo>
                  <a:pt x="2746248" y="650748"/>
                </a:lnTo>
                <a:lnTo>
                  <a:pt x="0" y="650748"/>
                </a:lnTo>
                <a:lnTo>
                  <a:pt x="0" y="0"/>
                </a:lnTo>
                <a:close/>
              </a:path>
            </a:pathLst>
          </a:custGeom>
          <a:solidFill>
            <a:srgbClr val="538235">
              <a:alpha val="57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8305800" y="2500630"/>
            <a:ext cx="274637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6604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latin typeface="华文楷体"/>
                <a:cs typeface="华文楷体"/>
              </a:rPr>
              <a:t>等容变</a:t>
            </a:r>
            <a:r>
              <a:rPr dirty="0" sz="2800" spc="-10" b="1">
                <a:latin typeface="华文楷体"/>
                <a:cs typeface="华文楷体"/>
              </a:rPr>
              <a:t>化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9520872" y="2223452"/>
            <a:ext cx="316230" cy="31623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87829" y="1231265"/>
            <a:ext cx="15494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>
                <a:solidFill>
                  <a:srgbClr val="000000"/>
                </a:solidFill>
                <a:latin typeface="黑体"/>
                <a:cs typeface="黑体"/>
              </a:rPr>
              <a:t>课堂小结</a:t>
            </a:r>
            <a:endParaRPr sz="3000">
              <a:latin typeface="黑体"/>
              <a:cs typeface="黑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0181" y="1116964"/>
            <a:ext cx="749935" cy="758825"/>
          </a:xfrm>
          <a:custGeom>
            <a:avLst/>
            <a:gdLst/>
            <a:ahLst/>
            <a:cxnLst/>
            <a:rect l="l" t="t" r="r" b="b"/>
            <a:pathLst>
              <a:path w="749935" h="758825">
                <a:moveTo>
                  <a:pt x="374599" y="758723"/>
                </a:moveTo>
                <a:lnTo>
                  <a:pt x="327610" y="755767"/>
                </a:lnTo>
                <a:lnTo>
                  <a:pt x="282363" y="747137"/>
                </a:lnTo>
                <a:lnTo>
                  <a:pt x="239209" y="733187"/>
                </a:lnTo>
                <a:lnTo>
                  <a:pt x="198499" y="714274"/>
                </a:lnTo>
                <a:lnTo>
                  <a:pt x="160583" y="690753"/>
                </a:lnTo>
                <a:lnTo>
                  <a:pt x="125813" y="662979"/>
                </a:lnTo>
                <a:lnTo>
                  <a:pt x="94541" y="631309"/>
                </a:lnTo>
                <a:lnTo>
                  <a:pt x="67116" y="596097"/>
                </a:lnTo>
                <a:lnTo>
                  <a:pt x="43890" y="557699"/>
                </a:lnTo>
                <a:lnTo>
                  <a:pt x="25215" y="516471"/>
                </a:lnTo>
                <a:lnTo>
                  <a:pt x="11440" y="472769"/>
                </a:lnTo>
                <a:lnTo>
                  <a:pt x="2918" y="426947"/>
                </a:lnTo>
                <a:lnTo>
                  <a:pt x="0" y="379361"/>
                </a:lnTo>
                <a:lnTo>
                  <a:pt x="2918" y="331776"/>
                </a:lnTo>
                <a:lnTo>
                  <a:pt x="11440" y="285954"/>
                </a:lnTo>
                <a:lnTo>
                  <a:pt x="25215" y="242251"/>
                </a:lnTo>
                <a:lnTo>
                  <a:pt x="43890" y="201023"/>
                </a:lnTo>
                <a:lnTo>
                  <a:pt x="67116" y="162625"/>
                </a:lnTo>
                <a:lnTo>
                  <a:pt x="94541" y="127414"/>
                </a:lnTo>
                <a:lnTo>
                  <a:pt x="125813" y="95743"/>
                </a:lnTo>
                <a:lnTo>
                  <a:pt x="160583" y="67970"/>
                </a:lnTo>
                <a:lnTo>
                  <a:pt x="198499" y="44448"/>
                </a:lnTo>
                <a:lnTo>
                  <a:pt x="239209" y="25535"/>
                </a:lnTo>
                <a:lnTo>
                  <a:pt x="282363" y="11586"/>
                </a:lnTo>
                <a:lnTo>
                  <a:pt x="327610" y="2955"/>
                </a:lnTo>
                <a:lnTo>
                  <a:pt x="374599" y="0"/>
                </a:lnTo>
                <a:lnTo>
                  <a:pt x="421587" y="2955"/>
                </a:lnTo>
                <a:lnTo>
                  <a:pt x="466836" y="11587"/>
                </a:lnTo>
                <a:lnTo>
                  <a:pt x="509994" y="25538"/>
                </a:lnTo>
                <a:lnTo>
                  <a:pt x="550713" y="44455"/>
                </a:lnTo>
                <a:lnTo>
                  <a:pt x="588643" y="67983"/>
                </a:lnTo>
                <a:lnTo>
                  <a:pt x="623434" y="95767"/>
                </a:lnTo>
                <a:lnTo>
                  <a:pt x="654736" y="127451"/>
                </a:lnTo>
                <a:lnTo>
                  <a:pt x="682200" y="162682"/>
                </a:lnTo>
                <a:lnTo>
                  <a:pt x="705476" y="201103"/>
                </a:lnTo>
                <a:lnTo>
                  <a:pt x="724214" y="242361"/>
                </a:lnTo>
                <a:lnTo>
                  <a:pt x="738065" y="286100"/>
                </a:lnTo>
                <a:lnTo>
                  <a:pt x="746679" y="331965"/>
                </a:lnTo>
                <a:lnTo>
                  <a:pt x="749706" y="379603"/>
                </a:lnTo>
                <a:lnTo>
                  <a:pt x="746679" y="427137"/>
                </a:lnTo>
                <a:lnTo>
                  <a:pt x="738065" y="472915"/>
                </a:lnTo>
                <a:lnTo>
                  <a:pt x="724214" y="516581"/>
                </a:lnTo>
                <a:lnTo>
                  <a:pt x="705476" y="557779"/>
                </a:lnTo>
                <a:lnTo>
                  <a:pt x="682200" y="596153"/>
                </a:lnTo>
                <a:lnTo>
                  <a:pt x="654736" y="631347"/>
                </a:lnTo>
                <a:lnTo>
                  <a:pt x="623434" y="663003"/>
                </a:lnTo>
                <a:lnTo>
                  <a:pt x="588643" y="690767"/>
                </a:lnTo>
                <a:lnTo>
                  <a:pt x="550713" y="714281"/>
                </a:lnTo>
                <a:lnTo>
                  <a:pt x="509994" y="733190"/>
                </a:lnTo>
                <a:lnTo>
                  <a:pt x="466836" y="747137"/>
                </a:lnTo>
                <a:lnTo>
                  <a:pt x="421587" y="755767"/>
                </a:lnTo>
                <a:lnTo>
                  <a:pt x="374599" y="758723"/>
                </a:lnTo>
                <a:close/>
              </a:path>
            </a:pathLst>
          </a:custGeom>
          <a:solidFill>
            <a:srgbClr val="3856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839063" y="1264919"/>
            <a:ext cx="385572" cy="457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305555" y="2115311"/>
            <a:ext cx="1637030" cy="521334"/>
          </a:xfrm>
          <a:prstGeom prst="rect">
            <a:avLst/>
          </a:prstGeom>
          <a:solidFill>
            <a:srgbClr val="538235">
              <a:alpha val="50199"/>
            </a:srgbClr>
          </a:solidFill>
        </p:spPr>
        <p:txBody>
          <a:bodyPr wrap="square" lIns="0" tIns="3810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30"/>
              </a:spcBef>
            </a:pPr>
            <a:r>
              <a:rPr dirty="0" sz="2800" b="1">
                <a:latin typeface="华文楷体"/>
                <a:cs typeface="华文楷体"/>
              </a:rPr>
              <a:t>科学探</a:t>
            </a:r>
            <a:r>
              <a:rPr dirty="0" sz="2800" spc="-10" b="1">
                <a:latin typeface="华文楷体"/>
                <a:cs typeface="华文楷体"/>
              </a:rPr>
              <a:t>究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957571" y="2133600"/>
            <a:ext cx="360045" cy="486409"/>
          </a:xfrm>
          <a:custGeom>
            <a:avLst/>
            <a:gdLst/>
            <a:ahLst/>
            <a:cxnLst/>
            <a:rect l="l" t="t" r="r" b="b"/>
            <a:pathLst>
              <a:path w="360045" h="486410">
                <a:moveTo>
                  <a:pt x="0" y="486156"/>
                </a:moveTo>
                <a:lnTo>
                  <a:pt x="0" y="0"/>
                </a:lnTo>
                <a:lnTo>
                  <a:pt x="359663" y="242316"/>
                </a:lnTo>
                <a:lnTo>
                  <a:pt x="0" y="486156"/>
                </a:lnTo>
                <a:close/>
              </a:path>
            </a:pathLst>
          </a:custGeom>
          <a:solidFill>
            <a:srgbClr val="538235">
              <a:alpha val="501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3305555" y="2781300"/>
            <a:ext cx="1637030" cy="523240"/>
          </a:xfrm>
          <a:prstGeom prst="rect">
            <a:avLst/>
          </a:prstGeom>
          <a:solidFill>
            <a:srgbClr val="538235">
              <a:alpha val="50199"/>
            </a:srgbClr>
          </a:solidFill>
        </p:spPr>
        <p:txBody>
          <a:bodyPr wrap="square" lIns="0" tIns="4445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35"/>
              </a:spcBef>
            </a:pPr>
            <a:r>
              <a:rPr dirty="0" sz="2800" b="1">
                <a:latin typeface="华文楷体"/>
                <a:cs typeface="华文楷体"/>
              </a:rPr>
              <a:t>物理过</a:t>
            </a:r>
            <a:r>
              <a:rPr dirty="0" sz="2800" spc="-10" b="1">
                <a:latin typeface="华文楷体"/>
                <a:cs typeface="华文楷体"/>
              </a:rPr>
              <a:t>程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957571" y="2799588"/>
            <a:ext cx="360045" cy="486409"/>
          </a:xfrm>
          <a:custGeom>
            <a:avLst/>
            <a:gdLst/>
            <a:ahLst/>
            <a:cxnLst/>
            <a:rect l="l" t="t" r="r" b="b"/>
            <a:pathLst>
              <a:path w="360045" h="486410">
                <a:moveTo>
                  <a:pt x="0" y="486156"/>
                </a:moveTo>
                <a:lnTo>
                  <a:pt x="0" y="0"/>
                </a:lnTo>
                <a:lnTo>
                  <a:pt x="359663" y="243839"/>
                </a:lnTo>
                <a:lnTo>
                  <a:pt x="0" y="486156"/>
                </a:lnTo>
                <a:close/>
              </a:path>
            </a:pathLst>
          </a:custGeom>
          <a:solidFill>
            <a:srgbClr val="538235">
              <a:alpha val="501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3305555" y="3448811"/>
            <a:ext cx="1635760" cy="521334"/>
          </a:xfrm>
          <a:prstGeom prst="rect">
            <a:avLst/>
          </a:prstGeom>
          <a:solidFill>
            <a:srgbClr val="538235">
              <a:alpha val="50199"/>
            </a:srgbClr>
          </a:solidFill>
        </p:spPr>
        <p:txBody>
          <a:bodyPr wrap="square" lIns="0" tIns="3810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30"/>
              </a:spcBef>
            </a:pPr>
            <a:r>
              <a:rPr dirty="0" sz="2800" b="1">
                <a:latin typeface="华文楷体"/>
                <a:cs typeface="华文楷体"/>
              </a:rPr>
              <a:t>物理规</a:t>
            </a:r>
            <a:r>
              <a:rPr dirty="0" sz="2800" spc="-10" b="1">
                <a:latin typeface="华文楷体"/>
                <a:cs typeface="华文楷体"/>
              </a:rPr>
              <a:t>律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957571" y="3467100"/>
            <a:ext cx="360045" cy="486409"/>
          </a:xfrm>
          <a:custGeom>
            <a:avLst/>
            <a:gdLst/>
            <a:ahLst/>
            <a:cxnLst/>
            <a:rect l="l" t="t" r="r" b="b"/>
            <a:pathLst>
              <a:path w="360045" h="486410">
                <a:moveTo>
                  <a:pt x="0" y="486155"/>
                </a:moveTo>
                <a:lnTo>
                  <a:pt x="0" y="0"/>
                </a:lnTo>
                <a:lnTo>
                  <a:pt x="359663" y="242315"/>
                </a:lnTo>
                <a:lnTo>
                  <a:pt x="0" y="486155"/>
                </a:lnTo>
                <a:close/>
              </a:path>
            </a:pathLst>
          </a:custGeom>
          <a:solidFill>
            <a:srgbClr val="538235">
              <a:alpha val="501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3305555" y="4114800"/>
            <a:ext cx="1637030" cy="523240"/>
          </a:xfrm>
          <a:prstGeom prst="rect">
            <a:avLst/>
          </a:prstGeom>
          <a:solidFill>
            <a:srgbClr val="538235">
              <a:alpha val="50199"/>
            </a:srgbClr>
          </a:solidFill>
        </p:spPr>
        <p:txBody>
          <a:bodyPr wrap="square" lIns="0" tIns="4445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35"/>
              </a:spcBef>
            </a:pPr>
            <a:r>
              <a:rPr dirty="0" sz="2800" b="1">
                <a:latin typeface="华文楷体"/>
                <a:cs typeface="华文楷体"/>
              </a:rPr>
              <a:t>物理模</a:t>
            </a:r>
            <a:r>
              <a:rPr dirty="0" sz="2800" spc="-10" b="1">
                <a:latin typeface="华文楷体"/>
                <a:cs typeface="华文楷体"/>
              </a:rPr>
              <a:t>型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957571" y="4133088"/>
            <a:ext cx="360045" cy="486409"/>
          </a:xfrm>
          <a:custGeom>
            <a:avLst/>
            <a:gdLst/>
            <a:ahLst/>
            <a:cxnLst/>
            <a:rect l="l" t="t" r="r" b="b"/>
            <a:pathLst>
              <a:path w="360045" h="486410">
                <a:moveTo>
                  <a:pt x="0" y="486156"/>
                </a:moveTo>
                <a:lnTo>
                  <a:pt x="0" y="0"/>
                </a:lnTo>
                <a:lnTo>
                  <a:pt x="359663" y="243839"/>
                </a:lnTo>
                <a:lnTo>
                  <a:pt x="0" y="486156"/>
                </a:lnTo>
                <a:close/>
              </a:path>
            </a:pathLst>
          </a:custGeom>
          <a:solidFill>
            <a:srgbClr val="538235">
              <a:alpha val="501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3305555" y="4782311"/>
            <a:ext cx="1637030" cy="521334"/>
          </a:xfrm>
          <a:prstGeom prst="rect">
            <a:avLst/>
          </a:prstGeom>
          <a:solidFill>
            <a:srgbClr val="538235">
              <a:alpha val="50199"/>
            </a:srgbClr>
          </a:solidFill>
        </p:spPr>
        <p:txBody>
          <a:bodyPr wrap="square" lIns="0" tIns="3810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30"/>
              </a:spcBef>
            </a:pPr>
            <a:r>
              <a:rPr dirty="0" sz="2800" b="1">
                <a:latin typeface="华文楷体"/>
                <a:cs typeface="华文楷体"/>
              </a:rPr>
              <a:t>物理思</a:t>
            </a:r>
            <a:r>
              <a:rPr dirty="0" sz="2800" spc="-10" b="1">
                <a:latin typeface="华文楷体"/>
                <a:cs typeface="华文楷体"/>
              </a:rPr>
              <a:t>维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957571" y="4800600"/>
            <a:ext cx="360045" cy="486409"/>
          </a:xfrm>
          <a:custGeom>
            <a:avLst/>
            <a:gdLst/>
            <a:ahLst/>
            <a:cxnLst/>
            <a:rect l="l" t="t" r="r" b="b"/>
            <a:pathLst>
              <a:path w="360045" h="486410">
                <a:moveTo>
                  <a:pt x="0" y="486155"/>
                </a:moveTo>
                <a:lnTo>
                  <a:pt x="0" y="0"/>
                </a:lnTo>
                <a:lnTo>
                  <a:pt x="359663" y="242315"/>
                </a:lnTo>
                <a:lnTo>
                  <a:pt x="0" y="486155"/>
                </a:lnTo>
                <a:close/>
              </a:path>
            </a:pathLst>
          </a:custGeom>
          <a:solidFill>
            <a:srgbClr val="538235">
              <a:alpha val="501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3305555" y="5448300"/>
            <a:ext cx="1637030" cy="523240"/>
          </a:xfrm>
          <a:prstGeom prst="rect">
            <a:avLst/>
          </a:prstGeom>
          <a:solidFill>
            <a:srgbClr val="538235">
              <a:alpha val="50199"/>
            </a:srgbClr>
          </a:solidFill>
        </p:spPr>
        <p:txBody>
          <a:bodyPr wrap="square" lIns="0" tIns="4445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35"/>
              </a:spcBef>
            </a:pPr>
            <a:r>
              <a:rPr dirty="0" sz="2800" b="1">
                <a:latin typeface="华文楷体"/>
                <a:cs typeface="华文楷体"/>
              </a:rPr>
              <a:t>物理方</a:t>
            </a:r>
            <a:r>
              <a:rPr dirty="0" sz="2800" spc="-10" b="1">
                <a:latin typeface="华文楷体"/>
                <a:cs typeface="华文楷体"/>
              </a:rPr>
              <a:t>法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513704" y="1866138"/>
            <a:ext cx="4054475" cy="4025900"/>
          </a:xfrm>
          <a:prstGeom prst="rect">
            <a:avLst/>
          </a:prstGeom>
        </p:spPr>
        <p:txBody>
          <a:bodyPr wrap="square" lIns="0" tIns="25272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89"/>
              </a:spcBef>
            </a:pPr>
            <a:r>
              <a:rPr dirty="0" sz="2800" b="1">
                <a:solidFill>
                  <a:srgbClr val="385622"/>
                </a:solidFill>
                <a:latin typeface="华文楷体"/>
                <a:cs typeface="华文楷体"/>
              </a:rPr>
              <a:t>定性和定</a:t>
            </a:r>
            <a:r>
              <a:rPr dirty="0" sz="2800" spc="-10" b="1">
                <a:solidFill>
                  <a:srgbClr val="385622"/>
                </a:solidFill>
                <a:latin typeface="华文楷体"/>
                <a:cs typeface="华文楷体"/>
              </a:rPr>
              <a:t>量</a:t>
            </a:r>
            <a:endParaRPr sz="2800">
              <a:latin typeface="华文楷体"/>
              <a:cs typeface="华文楷体"/>
            </a:endParaRPr>
          </a:p>
          <a:p>
            <a:pPr marL="12700">
              <a:lnSpc>
                <a:spcPct val="100000"/>
              </a:lnSpc>
              <a:spcBef>
                <a:spcPts val="1889"/>
              </a:spcBef>
            </a:pPr>
            <a:r>
              <a:rPr dirty="0" sz="2800" b="1">
                <a:solidFill>
                  <a:srgbClr val="385622"/>
                </a:solidFill>
                <a:latin typeface="华文楷体"/>
                <a:cs typeface="华文楷体"/>
              </a:rPr>
              <a:t>等压变化、等容变</a:t>
            </a:r>
            <a:r>
              <a:rPr dirty="0" sz="2800" spc="-10" b="1">
                <a:solidFill>
                  <a:srgbClr val="385622"/>
                </a:solidFill>
                <a:latin typeface="华文楷体"/>
                <a:cs typeface="华文楷体"/>
              </a:rPr>
              <a:t>化</a:t>
            </a:r>
            <a:endParaRPr sz="2800">
              <a:latin typeface="华文楷体"/>
              <a:cs typeface="华文楷体"/>
            </a:endParaRPr>
          </a:p>
          <a:p>
            <a:pPr marL="12700" marR="5080">
              <a:lnSpc>
                <a:spcPts val="5250"/>
              </a:lnSpc>
              <a:spcBef>
                <a:spcPts val="490"/>
              </a:spcBef>
            </a:pPr>
            <a:r>
              <a:rPr dirty="0" sz="2800" b="1">
                <a:solidFill>
                  <a:srgbClr val="385622"/>
                </a:solidFill>
                <a:latin typeface="华文楷体"/>
                <a:cs typeface="华文楷体"/>
              </a:rPr>
              <a:t>盖</a:t>
            </a:r>
            <a:r>
              <a:rPr dirty="0" sz="2800" b="1">
                <a:solidFill>
                  <a:srgbClr val="385622"/>
                </a:solidFill>
                <a:latin typeface="华文楷体"/>
                <a:cs typeface="华文楷体"/>
              </a:rPr>
              <a:t>-</a:t>
            </a:r>
            <a:r>
              <a:rPr dirty="0" sz="2800" b="1">
                <a:solidFill>
                  <a:srgbClr val="385622"/>
                </a:solidFill>
                <a:latin typeface="华文楷体"/>
                <a:cs typeface="华文楷体"/>
              </a:rPr>
              <a:t>吕萨克定律、查理定</a:t>
            </a:r>
            <a:r>
              <a:rPr dirty="0" sz="2800" spc="-5" b="1">
                <a:solidFill>
                  <a:srgbClr val="385622"/>
                </a:solidFill>
                <a:latin typeface="华文楷体"/>
                <a:cs typeface="华文楷体"/>
              </a:rPr>
              <a:t>律 </a:t>
            </a:r>
            <a:r>
              <a:rPr dirty="0" sz="2800" b="1">
                <a:solidFill>
                  <a:srgbClr val="385622"/>
                </a:solidFill>
                <a:latin typeface="华文楷体"/>
                <a:cs typeface="华文楷体"/>
              </a:rPr>
              <a:t>理想气体模</a:t>
            </a:r>
            <a:r>
              <a:rPr dirty="0" sz="2800" spc="-10" b="1">
                <a:solidFill>
                  <a:srgbClr val="385622"/>
                </a:solidFill>
                <a:latin typeface="华文楷体"/>
                <a:cs typeface="华文楷体"/>
              </a:rPr>
              <a:t>型</a:t>
            </a:r>
            <a:endParaRPr sz="2800">
              <a:latin typeface="华文楷体"/>
              <a:cs typeface="华文楷体"/>
            </a:endParaRPr>
          </a:p>
          <a:p>
            <a:pPr marL="12700" marR="1186180">
              <a:lnSpc>
                <a:spcPts val="5250"/>
              </a:lnSpc>
            </a:pPr>
            <a:r>
              <a:rPr dirty="0" sz="2800" b="1">
                <a:solidFill>
                  <a:srgbClr val="385622"/>
                </a:solidFill>
                <a:latin typeface="华文楷体"/>
                <a:cs typeface="华文楷体"/>
              </a:rPr>
              <a:t>理想气体状态方</a:t>
            </a:r>
            <a:r>
              <a:rPr dirty="0" sz="2800" spc="-5" b="1">
                <a:solidFill>
                  <a:srgbClr val="385622"/>
                </a:solidFill>
                <a:latin typeface="华文楷体"/>
                <a:cs typeface="华文楷体"/>
              </a:rPr>
              <a:t>程 </a:t>
            </a:r>
            <a:r>
              <a:rPr dirty="0" sz="2800" b="1">
                <a:solidFill>
                  <a:srgbClr val="385622"/>
                </a:solidFill>
                <a:latin typeface="华文楷体"/>
                <a:cs typeface="华文楷体"/>
              </a:rPr>
              <a:t>宏观与微观相结</a:t>
            </a:r>
            <a:r>
              <a:rPr dirty="0" sz="2800" spc="-10" b="1">
                <a:solidFill>
                  <a:srgbClr val="385622"/>
                </a:solidFill>
                <a:latin typeface="华文楷体"/>
                <a:cs typeface="华文楷体"/>
              </a:rPr>
              <a:t>合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957571" y="5466588"/>
            <a:ext cx="360045" cy="486409"/>
          </a:xfrm>
          <a:custGeom>
            <a:avLst/>
            <a:gdLst/>
            <a:ahLst/>
            <a:cxnLst/>
            <a:rect l="l" t="t" r="r" b="b"/>
            <a:pathLst>
              <a:path w="360045" h="486410">
                <a:moveTo>
                  <a:pt x="0" y="486156"/>
                </a:moveTo>
                <a:lnTo>
                  <a:pt x="0" y="0"/>
                </a:lnTo>
                <a:lnTo>
                  <a:pt x="359663" y="243839"/>
                </a:lnTo>
                <a:lnTo>
                  <a:pt x="0" y="486156"/>
                </a:lnTo>
                <a:close/>
              </a:path>
            </a:pathLst>
          </a:custGeom>
          <a:solidFill>
            <a:srgbClr val="538235">
              <a:alpha val="50199"/>
            </a:srgbClr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91279" y="1557654"/>
            <a:ext cx="15494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>
                <a:solidFill>
                  <a:srgbClr val="000000"/>
                </a:solidFill>
                <a:latin typeface="黑体"/>
                <a:cs typeface="黑体"/>
              </a:rPr>
              <a:t>任务拓展</a:t>
            </a:r>
            <a:endParaRPr sz="3000">
              <a:latin typeface="黑体"/>
              <a:cs typeface="黑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806783" y="1389710"/>
            <a:ext cx="892027" cy="8054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678815">
              <a:lnSpc>
                <a:spcPct val="100000"/>
              </a:lnSpc>
              <a:spcBef>
                <a:spcPts val="95"/>
              </a:spcBef>
            </a:pPr>
            <a:r>
              <a:rPr dirty="0"/>
              <a:t>请同学们尝试解释拔火罐的原理，</a:t>
            </a:r>
            <a:r>
              <a:rPr dirty="0" spc="-10"/>
              <a:t>查</a:t>
            </a:r>
          </a:p>
          <a:p>
            <a:pPr marL="139065" marR="5080">
              <a:lnSpc>
                <a:spcPct val="189900"/>
              </a:lnSpc>
            </a:pPr>
            <a:r>
              <a:rPr dirty="0"/>
              <a:t>阅资料，了解我国中医拔火罐的相关知识</a:t>
            </a:r>
            <a:r>
              <a:rPr dirty="0" spc="-5"/>
              <a:t>， </a:t>
            </a:r>
            <a:r>
              <a:rPr dirty="0"/>
              <a:t>体会祖国中医学的博大精深</a:t>
            </a:r>
            <a:r>
              <a:rPr dirty="0" spc="-10"/>
              <a:t>。</a:t>
            </a:r>
          </a:p>
        </p:txBody>
      </p:sp>
      <p:sp>
        <p:nvSpPr>
          <p:cNvPr id="5" name="object 5"/>
          <p:cNvSpPr/>
          <p:nvPr/>
        </p:nvSpPr>
        <p:spPr>
          <a:xfrm>
            <a:off x="2454910" y="2480945"/>
            <a:ext cx="6979920" cy="3162300"/>
          </a:xfrm>
          <a:custGeom>
            <a:avLst/>
            <a:gdLst/>
            <a:ahLst/>
            <a:cxnLst/>
            <a:rect l="l" t="t" r="r" b="b"/>
            <a:pathLst>
              <a:path w="6979920" h="3162300">
                <a:moveTo>
                  <a:pt x="6565074" y="12699"/>
                </a:moveTo>
                <a:lnTo>
                  <a:pt x="414845" y="12699"/>
                </a:lnTo>
                <a:lnTo>
                  <a:pt x="427863" y="0"/>
                </a:lnTo>
                <a:lnTo>
                  <a:pt x="6552057" y="0"/>
                </a:lnTo>
                <a:lnTo>
                  <a:pt x="6565074" y="12699"/>
                </a:lnTo>
                <a:close/>
              </a:path>
              <a:path w="6979920" h="3162300">
                <a:moveTo>
                  <a:pt x="6615938" y="25399"/>
                </a:moveTo>
                <a:lnTo>
                  <a:pt x="363981" y="25399"/>
                </a:lnTo>
                <a:lnTo>
                  <a:pt x="376504" y="12699"/>
                </a:lnTo>
                <a:lnTo>
                  <a:pt x="6603415" y="12699"/>
                </a:lnTo>
                <a:lnTo>
                  <a:pt x="6615938" y="25399"/>
                </a:lnTo>
                <a:close/>
              </a:path>
              <a:path w="6979920" h="3162300">
                <a:moveTo>
                  <a:pt x="420395" y="38099"/>
                </a:moveTo>
                <a:lnTo>
                  <a:pt x="327266" y="38099"/>
                </a:lnTo>
                <a:lnTo>
                  <a:pt x="339356" y="25399"/>
                </a:lnTo>
                <a:lnTo>
                  <a:pt x="433108" y="25399"/>
                </a:lnTo>
                <a:lnTo>
                  <a:pt x="420395" y="38099"/>
                </a:lnTo>
                <a:close/>
              </a:path>
              <a:path w="6979920" h="3162300">
                <a:moveTo>
                  <a:pt x="6652653" y="38099"/>
                </a:moveTo>
                <a:lnTo>
                  <a:pt x="6559524" y="38099"/>
                </a:lnTo>
                <a:lnTo>
                  <a:pt x="6546811" y="25399"/>
                </a:lnTo>
                <a:lnTo>
                  <a:pt x="6640563" y="25399"/>
                </a:lnTo>
                <a:lnTo>
                  <a:pt x="6652653" y="38099"/>
                </a:lnTo>
                <a:close/>
              </a:path>
              <a:path w="6979920" h="3162300">
                <a:moveTo>
                  <a:pt x="371982" y="50799"/>
                </a:moveTo>
                <a:lnTo>
                  <a:pt x="303529" y="50799"/>
                </a:lnTo>
                <a:lnTo>
                  <a:pt x="315315" y="38099"/>
                </a:lnTo>
                <a:lnTo>
                  <a:pt x="384200" y="38099"/>
                </a:lnTo>
                <a:lnTo>
                  <a:pt x="371982" y="50799"/>
                </a:lnTo>
                <a:close/>
              </a:path>
              <a:path w="6979920" h="3162300">
                <a:moveTo>
                  <a:pt x="6676390" y="50799"/>
                </a:moveTo>
                <a:lnTo>
                  <a:pt x="6607936" y="50799"/>
                </a:lnTo>
                <a:lnTo>
                  <a:pt x="6595719" y="38099"/>
                </a:lnTo>
                <a:lnTo>
                  <a:pt x="6664604" y="38099"/>
                </a:lnTo>
                <a:lnTo>
                  <a:pt x="6676390" y="50799"/>
                </a:lnTo>
                <a:close/>
              </a:path>
              <a:path w="6979920" h="3162300">
                <a:moveTo>
                  <a:pt x="337019" y="63499"/>
                </a:moveTo>
                <a:lnTo>
                  <a:pt x="280415" y="63499"/>
                </a:lnTo>
                <a:lnTo>
                  <a:pt x="291896" y="50799"/>
                </a:lnTo>
                <a:lnTo>
                  <a:pt x="348818" y="50799"/>
                </a:lnTo>
                <a:lnTo>
                  <a:pt x="337019" y="63499"/>
                </a:lnTo>
                <a:close/>
              </a:path>
              <a:path w="6979920" h="3162300">
                <a:moveTo>
                  <a:pt x="6699504" y="63499"/>
                </a:moveTo>
                <a:lnTo>
                  <a:pt x="6642900" y="63499"/>
                </a:lnTo>
                <a:lnTo>
                  <a:pt x="6631089" y="50799"/>
                </a:lnTo>
                <a:lnTo>
                  <a:pt x="6688023" y="50799"/>
                </a:lnTo>
                <a:lnTo>
                  <a:pt x="6699504" y="63499"/>
                </a:lnTo>
                <a:close/>
              </a:path>
              <a:path w="6979920" h="3162300">
                <a:moveTo>
                  <a:pt x="303339" y="76199"/>
                </a:moveTo>
                <a:lnTo>
                  <a:pt x="257975" y="76199"/>
                </a:lnTo>
                <a:lnTo>
                  <a:pt x="269113" y="63499"/>
                </a:lnTo>
                <a:lnTo>
                  <a:pt x="314693" y="63499"/>
                </a:lnTo>
                <a:lnTo>
                  <a:pt x="303339" y="76199"/>
                </a:lnTo>
                <a:close/>
              </a:path>
              <a:path w="6979920" h="3162300">
                <a:moveTo>
                  <a:pt x="6721944" y="76199"/>
                </a:moveTo>
                <a:lnTo>
                  <a:pt x="6676580" y="76199"/>
                </a:lnTo>
                <a:lnTo>
                  <a:pt x="6665226" y="63499"/>
                </a:lnTo>
                <a:lnTo>
                  <a:pt x="6710807" y="63499"/>
                </a:lnTo>
                <a:lnTo>
                  <a:pt x="6721944" y="76199"/>
                </a:lnTo>
                <a:close/>
              </a:path>
              <a:path w="6979920" h="3162300">
                <a:moveTo>
                  <a:pt x="281647" y="88899"/>
                </a:moveTo>
                <a:lnTo>
                  <a:pt x="236245" y="88899"/>
                </a:lnTo>
                <a:lnTo>
                  <a:pt x="247014" y="76199"/>
                </a:lnTo>
                <a:lnTo>
                  <a:pt x="292684" y="76199"/>
                </a:lnTo>
                <a:lnTo>
                  <a:pt x="281647" y="88899"/>
                </a:lnTo>
                <a:close/>
              </a:path>
              <a:path w="6979920" h="3162300">
                <a:moveTo>
                  <a:pt x="6743674" y="88899"/>
                </a:moveTo>
                <a:lnTo>
                  <a:pt x="6698272" y="88899"/>
                </a:lnTo>
                <a:lnTo>
                  <a:pt x="6687235" y="76199"/>
                </a:lnTo>
                <a:lnTo>
                  <a:pt x="6732905" y="76199"/>
                </a:lnTo>
                <a:lnTo>
                  <a:pt x="6743674" y="88899"/>
                </a:lnTo>
                <a:close/>
              </a:path>
              <a:path w="6979920" h="3162300">
                <a:moveTo>
                  <a:pt x="260603" y="101599"/>
                </a:moveTo>
                <a:lnTo>
                  <a:pt x="215226" y="101599"/>
                </a:lnTo>
                <a:lnTo>
                  <a:pt x="225640" y="88899"/>
                </a:lnTo>
                <a:lnTo>
                  <a:pt x="271297" y="88899"/>
                </a:lnTo>
                <a:lnTo>
                  <a:pt x="260603" y="101599"/>
                </a:lnTo>
                <a:close/>
              </a:path>
              <a:path w="6979920" h="3162300">
                <a:moveTo>
                  <a:pt x="6764693" y="101599"/>
                </a:moveTo>
                <a:lnTo>
                  <a:pt x="6719315" y="101599"/>
                </a:lnTo>
                <a:lnTo>
                  <a:pt x="6708622" y="88899"/>
                </a:lnTo>
                <a:lnTo>
                  <a:pt x="6754279" y="88899"/>
                </a:lnTo>
                <a:lnTo>
                  <a:pt x="6764693" y="101599"/>
                </a:lnTo>
                <a:close/>
              </a:path>
              <a:path w="6979920" h="3162300">
                <a:moveTo>
                  <a:pt x="220586" y="126999"/>
                </a:moveTo>
                <a:lnTo>
                  <a:pt x="185165" y="126999"/>
                </a:lnTo>
                <a:lnTo>
                  <a:pt x="194995" y="114299"/>
                </a:lnTo>
                <a:lnTo>
                  <a:pt x="205016" y="101599"/>
                </a:lnTo>
                <a:lnTo>
                  <a:pt x="250583" y="101599"/>
                </a:lnTo>
                <a:lnTo>
                  <a:pt x="240233" y="114299"/>
                </a:lnTo>
                <a:lnTo>
                  <a:pt x="230568" y="114299"/>
                </a:lnTo>
                <a:lnTo>
                  <a:pt x="220586" y="126999"/>
                </a:lnTo>
                <a:close/>
              </a:path>
              <a:path w="6979920" h="3162300">
                <a:moveTo>
                  <a:pt x="6794754" y="126999"/>
                </a:moveTo>
                <a:lnTo>
                  <a:pt x="6759333" y="126999"/>
                </a:lnTo>
                <a:lnTo>
                  <a:pt x="6749351" y="114299"/>
                </a:lnTo>
                <a:lnTo>
                  <a:pt x="6739686" y="114299"/>
                </a:lnTo>
                <a:lnTo>
                  <a:pt x="6729336" y="101599"/>
                </a:lnTo>
                <a:lnTo>
                  <a:pt x="6774903" y="101599"/>
                </a:lnTo>
                <a:lnTo>
                  <a:pt x="6784924" y="114299"/>
                </a:lnTo>
                <a:lnTo>
                  <a:pt x="6794754" y="126999"/>
                </a:lnTo>
                <a:close/>
              </a:path>
              <a:path w="6979920" h="3162300">
                <a:moveTo>
                  <a:pt x="183553" y="165099"/>
                </a:moveTo>
                <a:lnTo>
                  <a:pt x="147967" y="165099"/>
                </a:lnTo>
                <a:lnTo>
                  <a:pt x="156946" y="152399"/>
                </a:lnTo>
                <a:lnTo>
                  <a:pt x="166141" y="139699"/>
                </a:lnTo>
                <a:lnTo>
                  <a:pt x="175552" y="126999"/>
                </a:lnTo>
                <a:lnTo>
                  <a:pt x="220827" y="126999"/>
                </a:lnTo>
                <a:lnTo>
                  <a:pt x="211035" y="139699"/>
                </a:lnTo>
                <a:lnTo>
                  <a:pt x="201917" y="139699"/>
                </a:lnTo>
                <a:lnTo>
                  <a:pt x="192519" y="152399"/>
                </a:lnTo>
                <a:lnTo>
                  <a:pt x="192747" y="152399"/>
                </a:lnTo>
                <a:lnTo>
                  <a:pt x="183553" y="165099"/>
                </a:lnTo>
                <a:close/>
              </a:path>
              <a:path w="6979920" h="3162300">
                <a:moveTo>
                  <a:pt x="6831952" y="165099"/>
                </a:moveTo>
                <a:lnTo>
                  <a:pt x="6796354" y="165099"/>
                </a:lnTo>
                <a:lnTo>
                  <a:pt x="6787172" y="152399"/>
                </a:lnTo>
                <a:lnTo>
                  <a:pt x="6787400" y="152399"/>
                </a:lnTo>
                <a:lnTo>
                  <a:pt x="6778002" y="139699"/>
                </a:lnTo>
                <a:lnTo>
                  <a:pt x="6768871" y="139699"/>
                </a:lnTo>
                <a:lnTo>
                  <a:pt x="6759092" y="126999"/>
                </a:lnTo>
                <a:lnTo>
                  <a:pt x="6804367" y="126999"/>
                </a:lnTo>
                <a:lnTo>
                  <a:pt x="6813778" y="139699"/>
                </a:lnTo>
                <a:lnTo>
                  <a:pt x="6822973" y="152399"/>
                </a:lnTo>
                <a:lnTo>
                  <a:pt x="6831952" y="165099"/>
                </a:lnTo>
                <a:close/>
              </a:path>
              <a:path w="6979920" h="3162300">
                <a:moveTo>
                  <a:pt x="141858" y="203199"/>
                </a:moveTo>
                <a:lnTo>
                  <a:pt x="114287" y="203199"/>
                </a:lnTo>
                <a:lnTo>
                  <a:pt x="122364" y="190499"/>
                </a:lnTo>
                <a:lnTo>
                  <a:pt x="130670" y="177799"/>
                </a:lnTo>
                <a:lnTo>
                  <a:pt x="139204" y="165099"/>
                </a:lnTo>
                <a:lnTo>
                  <a:pt x="175006" y="165099"/>
                </a:lnTo>
                <a:lnTo>
                  <a:pt x="166242" y="177799"/>
                </a:lnTo>
                <a:lnTo>
                  <a:pt x="166446" y="177799"/>
                </a:lnTo>
                <a:lnTo>
                  <a:pt x="157899" y="190499"/>
                </a:lnTo>
                <a:lnTo>
                  <a:pt x="149961" y="190499"/>
                </a:lnTo>
                <a:lnTo>
                  <a:pt x="141858" y="203199"/>
                </a:lnTo>
                <a:close/>
              </a:path>
              <a:path w="6979920" h="3162300">
                <a:moveTo>
                  <a:pt x="6865632" y="203199"/>
                </a:moveTo>
                <a:lnTo>
                  <a:pt x="6838061" y="203199"/>
                </a:lnTo>
                <a:lnTo>
                  <a:pt x="6829945" y="190499"/>
                </a:lnTo>
                <a:lnTo>
                  <a:pt x="6822020" y="190499"/>
                </a:lnTo>
                <a:lnTo>
                  <a:pt x="6813461" y="177799"/>
                </a:lnTo>
                <a:lnTo>
                  <a:pt x="6813677" y="177799"/>
                </a:lnTo>
                <a:lnTo>
                  <a:pt x="6804913" y="165099"/>
                </a:lnTo>
                <a:lnTo>
                  <a:pt x="6840715" y="165099"/>
                </a:lnTo>
                <a:lnTo>
                  <a:pt x="6849249" y="177799"/>
                </a:lnTo>
                <a:lnTo>
                  <a:pt x="6857555" y="190499"/>
                </a:lnTo>
                <a:lnTo>
                  <a:pt x="6865632" y="203199"/>
                </a:lnTo>
                <a:close/>
              </a:path>
              <a:path w="6979920" h="3162300">
                <a:moveTo>
                  <a:pt x="92938" y="279399"/>
                </a:moveTo>
                <a:lnTo>
                  <a:pt x="64681" y="279399"/>
                </a:lnTo>
                <a:lnTo>
                  <a:pt x="71005" y="266699"/>
                </a:lnTo>
                <a:lnTo>
                  <a:pt x="91516" y="228599"/>
                </a:lnTo>
                <a:lnTo>
                  <a:pt x="106464" y="203199"/>
                </a:lnTo>
                <a:lnTo>
                  <a:pt x="142049" y="203199"/>
                </a:lnTo>
                <a:lnTo>
                  <a:pt x="134175" y="215899"/>
                </a:lnTo>
                <a:lnTo>
                  <a:pt x="134353" y="215899"/>
                </a:lnTo>
                <a:lnTo>
                  <a:pt x="126707" y="228599"/>
                </a:lnTo>
                <a:lnTo>
                  <a:pt x="119659" y="228599"/>
                </a:lnTo>
                <a:lnTo>
                  <a:pt x="112483" y="241299"/>
                </a:lnTo>
                <a:lnTo>
                  <a:pt x="112648" y="241299"/>
                </a:lnTo>
                <a:lnTo>
                  <a:pt x="105727" y="253999"/>
                </a:lnTo>
                <a:lnTo>
                  <a:pt x="105892" y="253999"/>
                </a:lnTo>
                <a:lnTo>
                  <a:pt x="99212" y="266699"/>
                </a:lnTo>
                <a:lnTo>
                  <a:pt x="99364" y="266699"/>
                </a:lnTo>
                <a:lnTo>
                  <a:pt x="92938" y="279399"/>
                </a:lnTo>
                <a:close/>
              </a:path>
              <a:path w="6979920" h="3162300">
                <a:moveTo>
                  <a:pt x="6915238" y="279399"/>
                </a:moveTo>
                <a:lnTo>
                  <a:pt x="6886981" y="279399"/>
                </a:lnTo>
                <a:lnTo>
                  <a:pt x="6880555" y="266699"/>
                </a:lnTo>
                <a:lnTo>
                  <a:pt x="6880707" y="266699"/>
                </a:lnTo>
                <a:lnTo>
                  <a:pt x="6874027" y="253999"/>
                </a:lnTo>
                <a:lnTo>
                  <a:pt x="6874192" y="253999"/>
                </a:lnTo>
                <a:lnTo>
                  <a:pt x="6867271" y="241299"/>
                </a:lnTo>
                <a:lnTo>
                  <a:pt x="6867436" y="241299"/>
                </a:lnTo>
                <a:lnTo>
                  <a:pt x="6860260" y="228599"/>
                </a:lnTo>
                <a:lnTo>
                  <a:pt x="6853212" y="228599"/>
                </a:lnTo>
                <a:lnTo>
                  <a:pt x="6845566" y="215899"/>
                </a:lnTo>
                <a:lnTo>
                  <a:pt x="6845744" y="215899"/>
                </a:lnTo>
                <a:lnTo>
                  <a:pt x="6837870" y="203199"/>
                </a:lnTo>
                <a:lnTo>
                  <a:pt x="6873455" y="203199"/>
                </a:lnTo>
                <a:lnTo>
                  <a:pt x="6895490" y="241299"/>
                </a:lnTo>
                <a:lnTo>
                  <a:pt x="6908914" y="266699"/>
                </a:lnTo>
                <a:lnTo>
                  <a:pt x="6915238" y="279399"/>
                </a:lnTo>
                <a:close/>
              </a:path>
              <a:path w="6979920" h="3162300">
                <a:moveTo>
                  <a:pt x="99364" y="2882900"/>
                </a:moveTo>
                <a:lnTo>
                  <a:pt x="64681" y="2882900"/>
                </a:lnTo>
                <a:lnTo>
                  <a:pt x="58623" y="2870200"/>
                </a:lnTo>
                <a:lnTo>
                  <a:pt x="42113" y="2832100"/>
                </a:lnTo>
                <a:lnTo>
                  <a:pt x="28155" y="2794000"/>
                </a:lnTo>
                <a:lnTo>
                  <a:pt x="16865" y="2755900"/>
                </a:lnTo>
                <a:lnTo>
                  <a:pt x="8369" y="2717800"/>
                </a:lnTo>
                <a:lnTo>
                  <a:pt x="2768" y="2679700"/>
                </a:lnTo>
                <a:lnTo>
                  <a:pt x="177" y="2641600"/>
                </a:lnTo>
                <a:lnTo>
                  <a:pt x="0" y="533399"/>
                </a:lnTo>
                <a:lnTo>
                  <a:pt x="177" y="520699"/>
                </a:lnTo>
                <a:lnTo>
                  <a:pt x="698" y="507999"/>
                </a:lnTo>
                <a:lnTo>
                  <a:pt x="1562" y="482599"/>
                </a:lnTo>
                <a:lnTo>
                  <a:pt x="6172" y="444499"/>
                </a:lnTo>
                <a:lnTo>
                  <a:pt x="13715" y="406399"/>
                </a:lnTo>
                <a:lnTo>
                  <a:pt x="24091" y="368299"/>
                </a:lnTo>
                <a:lnTo>
                  <a:pt x="37172" y="330199"/>
                </a:lnTo>
                <a:lnTo>
                  <a:pt x="52844" y="292099"/>
                </a:lnTo>
                <a:lnTo>
                  <a:pt x="58623" y="279399"/>
                </a:lnTo>
                <a:lnTo>
                  <a:pt x="93090" y="279399"/>
                </a:lnTo>
                <a:lnTo>
                  <a:pt x="86931" y="292099"/>
                </a:lnTo>
                <a:lnTo>
                  <a:pt x="81305" y="292099"/>
                </a:lnTo>
                <a:lnTo>
                  <a:pt x="75666" y="304799"/>
                </a:lnTo>
                <a:lnTo>
                  <a:pt x="70421" y="317499"/>
                </a:lnTo>
                <a:lnTo>
                  <a:pt x="65443" y="330199"/>
                </a:lnTo>
                <a:lnTo>
                  <a:pt x="60744" y="342899"/>
                </a:lnTo>
                <a:lnTo>
                  <a:pt x="56311" y="355599"/>
                </a:lnTo>
                <a:lnTo>
                  <a:pt x="52171" y="368299"/>
                </a:lnTo>
                <a:lnTo>
                  <a:pt x="48298" y="380999"/>
                </a:lnTo>
                <a:lnTo>
                  <a:pt x="44716" y="393699"/>
                </a:lnTo>
                <a:lnTo>
                  <a:pt x="41427" y="406399"/>
                </a:lnTo>
                <a:lnTo>
                  <a:pt x="38430" y="419099"/>
                </a:lnTo>
                <a:lnTo>
                  <a:pt x="35737" y="431799"/>
                </a:lnTo>
                <a:lnTo>
                  <a:pt x="33350" y="444499"/>
                </a:lnTo>
                <a:lnTo>
                  <a:pt x="31254" y="457199"/>
                </a:lnTo>
                <a:lnTo>
                  <a:pt x="29476" y="469899"/>
                </a:lnTo>
                <a:lnTo>
                  <a:pt x="28016" y="482599"/>
                </a:lnTo>
                <a:lnTo>
                  <a:pt x="26873" y="495299"/>
                </a:lnTo>
                <a:lnTo>
                  <a:pt x="26060" y="507999"/>
                </a:lnTo>
                <a:lnTo>
                  <a:pt x="25565" y="520699"/>
                </a:lnTo>
                <a:lnTo>
                  <a:pt x="25400" y="533399"/>
                </a:lnTo>
                <a:lnTo>
                  <a:pt x="25482" y="2628900"/>
                </a:lnTo>
                <a:lnTo>
                  <a:pt x="25565" y="2641600"/>
                </a:lnTo>
                <a:lnTo>
                  <a:pt x="25819" y="2641600"/>
                </a:lnTo>
                <a:lnTo>
                  <a:pt x="26073" y="2654300"/>
                </a:lnTo>
                <a:lnTo>
                  <a:pt x="26898" y="2667000"/>
                </a:lnTo>
                <a:lnTo>
                  <a:pt x="28054" y="2679700"/>
                </a:lnTo>
                <a:lnTo>
                  <a:pt x="29514" y="2692400"/>
                </a:lnTo>
                <a:lnTo>
                  <a:pt x="31305" y="2705100"/>
                </a:lnTo>
                <a:lnTo>
                  <a:pt x="33400" y="2717800"/>
                </a:lnTo>
                <a:lnTo>
                  <a:pt x="35801" y="2730500"/>
                </a:lnTo>
                <a:lnTo>
                  <a:pt x="38506" y="2743200"/>
                </a:lnTo>
                <a:lnTo>
                  <a:pt x="41503" y="2755900"/>
                </a:lnTo>
                <a:lnTo>
                  <a:pt x="44716" y="2755900"/>
                </a:lnTo>
                <a:lnTo>
                  <a:pt x="48387" y="2768600"/>
                </a:lnTo>
                <a:lnTo>
                  <a:pt x="52260" y="2781300"/>
                </a:lnTo>
                <a:lnTo>
                  <a:pt x="56426" y="2794000"/>
                </a:lnTo>
                <a:lnTo>
                  <a:pt x="60858" y="2806700"/>
                </a:lnTo>
                <a:lnTo>
                  <a:pt x="65570" y="2819400"/>
                </a:lnTo>
                <a:lnTo>
                  <a:pt x="70548" y="2832100"/>
                </a:lnTo>
                <a:lnTo>
                  <a:pt x="75793" y="2844800"/>
                </a:lnTo>
                <a:lnTo>
                  <a:pt x="81305" y="2857500"/>
                </a:lnTo>
                <a:lnTo>
                  <a:pt x="81165" y="2857500"/>
                </a:lnTo>
                <a:lnTo>
                  <a:pt x="87071" y="2870200"/>
                </a:lnTo>
                <a:lnTo>
                  <a:pt x="92938" y="2870200"/>
                </a:lnTo>
                <a:lnTo>
                  <a:pt x="99364" y="2882900"/>
                </a:lnTo>
                <a:close/>
              </a:path>
              <a:path w="6979920" h="3162300">
                <a:moveTo>
                  <a:pt x="6979742" y="2641600"/>
                </a:moveTo>
                <a:lnTo>
                  <a:pt x="6954354" y="2641600"/>
                </a:lnTo>
                <a:lnTo>
                  <a:pt x="6954437" y="2628900"/>
                </a:lnTo>
                <a:lnTo>
                  <a:pt x="6954519" y="533399"/>
                </a:lnTo>
                <a:lnTo>
                  <a:pt x="6954354" y="520699"/>
                </a:lnTo>
                <a:lnTo>
                  <a:pt x="6953846" y="507999"/>
                </a:lnTo>
                <a:lnTo>
                  <a:pt x="6953021" y="495299"/>
                </a:lnTo>
                <a:lnTo>
                  <a:pt x="6951865" y="482599"/>
                </a:lnTo>
                <a:lnTo>
                  <a:pt x="6950405" y="469899"/>
                </a:lnTo>
                <a:lnTo>
                  <a:pt x="6948614" y="457199"/>
                </a:lnTo>
                <a:lnTo>
                  <a:pt x="6946519" y="444499"/>
                </a:lnTo>
                <a:lnTo>
                  <a:pt x="6944118" y="431799"/>
                </a:lnTo>
                <a:lnTo>
                  <a:pt x="6941413" y="419099"/>
                </a:lnTo>
                <a:lnTo>
                  <a:pt x="6938416" y="406399"/>
                </a:lnTo>
                <a:lnTo>
                  <a:pt x="6935114" y="393699"/>
                </a:lnTo>
                <a:lnTo>
                  <a:pt x="6931533" y="380999"/>
                </a:lnTo>
                <a:lnTo>
                  <a:pt x="6927646" y="368299"/>
                </a:lnTo>
                <a:lnTo>
                  <a:pt x="6923493" y="355599"/>
                </a:lnTo>
                <a:lnTo>
                  <a:pt x="6919061" y="342899"/>
                </a:lnTo>
                <a:lnTo>
                  <a:pt x="6914349" y="330199"/>
                </a:lnTo>
                <a:lnTo>
                  <a:pt x="6909371" y="317499"/>
                </a:lnTo>
                <a:lnTo>
                  <a:pt x="6904126" y="304799"/>
                </a:lnTo>
                <a:lnTo>
                  <a:pt x="6898614" y="292099"/>
                </a:lnTo>
                <a:lnTo>
                  <a:pt x="6892988" y="292099"/>
                </a:lnTo>
                <a:lnTo>
                  <a:pt x="6886829" y="279399"/>
                </a:lnTo>
                <a:lnTo>
                  <a:pt x="6921296" y="279399"/>
                </a:lnTo>
                <a:lnTo>
                  <a:pt x="6937806" y="317499"/>
                </a:lnTo>
                <a:lnTo>
                  <a:pt x="6951764" y="355599"/>
                </a:lnTo>
                <a:lnTo>
                  <a:pt x="6963054" y="393699"/>
                </a:lnTo>
                <a:lnTo>
                  <a:pt x="6971550" y="431799"/>
                </a:lnTo>
                <a:lnTo>
                  <a:pt x="6977151" y="469899"/>
                </a:lnTo>
                <a:lnTo>
                  <a:pt x="6979221" y="507999"/>
                </a:lnTo>
                <a:lnTo>
                  <a:pt x="6979742" y="520699"/>
                </a:lnTo>
                <a:lnTo>
                  <a:pt x="6979919" y="533399"/>
                </a:lnTo>
                <a:lnTo>
                  <a:pt x="6979831" y="2628900"/>
                </a:lnTo>
                <a:lnTo>
                  <a:pt x="6979742" y="2641600"/>
                </a:lnTo>
                <a:close/>
              </a:path>
              <a:path w="6979920" h="3162300">
                <a:moveTo>
                  <a:pt x="25819" y="2641600"/>
                </a:moveTo>
                <a:lnTo>
                  <a:pt x="25565" y="2641600"/>
                </a:lnTo>
                <a:lnTo>
                  <a:pt x="25565" y="2628900"/>
                </a:lnTo>
                <a:lnTo>
                  <a:pt x="25819" y="2641600"/>
                </a:lnTo>
                <a:close/>
              </a:path>
              <a:path w="6979920" h="3162300">
                <a:moveTo>
                  <a:pt x="6915238" y="2882900"/>
                </a:moveTo>
                <a:lnTo>
                  <a:pt x="6880555" y="2882900"/>
                </a:lnTo>
                <a:lnTo>
                  <a:pt x="6886981" y="2870200"/>
                </a:lnTo>
                <a:lnTo>
                  <a:pt x="6892848" y="2870200"/>
                </a:lnTo>
                <a:lnTo>
                  <a:pt x="6898754" y="2857500"/>
                </a:lnTo>
                <a:lnTo>
                  <a:pt x="6898614" y="2857500"/>
                </a:lnTo>
                <a:lnTo>
                  <a:pt x="6904253" y="2844800"/>
                </a:lnTo>
                <a:lnTo>
                  <a:pt x="6909498" y="2832100"/>
                </a:lnTo>
                <a:lnTo>
                  <a:pt x="6914476" y="2819400"/>
                </a:lnTo>
                <a:lnTo>
                  <a:pt x="6919175" y="2806700"/>
                </a:lnTo>
                <a:lnTo>
                  <a:pt x="6923608" y="2794000"/>
                </a:lnTo>
                <a:lnTo>
                  <a:pt x="6927748" y="2781300"/>
                </a:lnTo>
                <a:lnTo>
                  <a:pt x="6931621" y="2768600"/>
                </a:lnTo>
                <a:lnTo>
                  <a:pt x="6935203" y="2755900"/>
                </a:lnTo>
                <a:lnTo>
                  <a:pt x="6938416" y="2755900"/>
                </a:lnTo>
                <a:lnTo>
                  <a:pt x="6941489" y="2743200"/>
                </a:lnTo>
                <a:lnTo>
                  <a:pt x="6944182" y="2730500"/>
                </a:lnTo>
                <a:lnTo>
                  <a:pt x="6946569" y="2717800"/>
                </a:lnTo>
                <a:lnTo>
                  <a:pt x="6948665" y="2705100"/>
                </a:lnTo>
                <a:lnTo>
                  <a:pt x="6950443" y="2692400"/>
                </a:lnTo>
                <a:lnTo>
                  <a:pt x="6951903" y="2679700"/>
                </a:lnTo>
                <a:lnTo>
                  <a:pt x="6953046" y="2667000"/>
                </a:lnTo>
                <a:lnTo>
                  <a:pt x="6953859" y="2654300"/>
                </a:lnTo>
                <a:lnTo>
                  <a:pt x="6954354" y="2628900"/>
                </a:lnTo>
                <a:lnTo>
                  <a:pt x="6954354" y="2641600"/>
                </a:lnTo>
                <a:lnTo>
                  <a:pt x="6979742" y="2641600"/>
                </a:lnTo>
                <a:lnTo>
                  <a:pt x="6977151" y="2679700"/>
                </a:lnTo>
                <a:lnTo>
                  <a:pt x="6971550" y="2717800"/>
                </a:lnTo>
                <a:lnTo>
                  <a:pt x="6963054" y="2755900"/>
                </a:lnTo>
                <a:lnTo>
                  <a:pt x="6951764" y="2794000"/>
                </a:lnTo>
                <a:lnTo>
                  <a:pt x="6937806" y="2832100"/>
                </a:lnTo>
                <a:lnTo>
                  <a:pt x="6921296" y="2870200"/>
                </a:lnTo>
                <a:lnTo>
                  <a:pt x="6915238" y="2882900"/>
                </a:lnTo>
                <a:close/>
              </a:path>
              <a:path w="6979920" h="3162300">
                <a:moveTo>
                  <a:pt x="44805" y="2755900"/>
                </a:moveTo>
                <a:lnTo>
                  <a:pt x="41503" y="2755900"/>
                </a:lnTo>
                <a:lnTo>
                  <a:pt x="41427" y="2743200"/>
                </a:lnTo>
                <a:lnTo>
                  <a:pt x="44805" y="2755900"/>
                </a:lnTo>
                <a:close/>
              </a:path>
              <a:path w="6979920" h="3162300">
                <a:moveTo>
                  <a:pt x="6938416" y="2755900"/>
                </a:moveTo>
                <a:lnTo>
                  <a:pt x="6935114" y="2755900"/>
                </a:lnTo>
                <a:lnTo>
                  <a:pt x="6938492" y="2743200"/>
                </a:lnTo>
                <a:lnTo>
                  <a:pt x="6938416" y="2755900"/>
                </a:lnTo>
                <a:close/>
              </a:path>
              <a:path w="6979920" h="3162300">
                <a:moveTo>
                  <a:pt x="149961" y="2959100"/>
                </a:moveTo>
                <a:lnTo>
                  <a:pt x="114287" y="2959100"/>
                </a:lnTo>
                <a:lnTo>
                  <a:pt x="106464" y="2946400"/>
                </a:lnTo>
                <a:lnTo>
                  <a:pt x="84429" y="2908300"/>
                </a:lnTo>
                <a:lnTo>
                  <a:pt x="71005" y="2882900"/>
                </a:lnTo>
                <a:lnTo>
                  <a:pt x="99212" y="2882900"/>
                </a:lnTo>
                <a:lnTo>
                  <a:pt x="105892" y="2895600"/>
                </a:lnTo>
                <a:lnTo>
                  <a:pt x="105727" y="2895600"/>
                </a:lnTo>
                <a:lnTo>
                  <a:pt x="112648" y="2908300"/>
                </a:lnTo>
                <a:lnTo>
                  <a:pt x="112483" y="2908300"/>
                </a:lnTo>
                <a:lnTo>
                  <a:pt x="119659" y="2921000"/>
                </a:lnTo>
                <a:lnTo>
                  <a:pt x="119481" y="2921000"/>
                </a:lnTo>
                <a:lnTo>
                  <a:pt x="126885" y="2933700"/>
                </a:lnTo>
                <a:lnTo>
                  <a:pt x="134175" y="2933700"/>
                </a:lnTo>
                <a:lnTo>
                  <a:pt x="142049" y="2946400"/>
                </a:lnTo>
                <a:lnTo>
                  <a:pt x="141858" y="2946400"/>
                </a:lnTo>
                <a:lnTo>
                  <a:pt x="149961" y="2959100"/>
                </a:lnTo>
                <a:close/>
              </a:path>
              <a:path w="6979920" h="3162300">
                <a:moveTo>
                  <a:pt x="6865632" y="2959100"/>
                </a:moveTo>
                <a:lnTo>
                  <a:pt x="6829945" y="2959100"/>
                </a:lnTo>
                <a:lnTo>
                  <a:pt x="6838061" y="2946400"/>
                </a:lnTo>
                <a:lnTo>
                  <a:pt x="6837870" y="2946400"/>
                </a:lnTo>
                <a:lnTo>
                  <a:pt x="6845744" y="2933700"/>
                </a:lnTo>
                <a:lnTo>
                  <a:pt x="6853034" y="2933700"/>
                </a:lnTo>
                <a:lnTo>
                  <a:pt x="6860438" y="2921000"/>
                </a:lnTo>
                <a:lnTo>
                  <a:pt x="6860260" y="2921000"/>
                </a:lnTo>
                <a:lnTo>
                  <a:pt x="6867436" y="2908300"/>
                </a:lnTo>
                <a:lnTo>
                  <a:pt x="6867271" y="2908300"/>
                </a:lnTo>
                <a:lnTo>
                  <a:pt x="6874192" y="2895600"/>
                </a:lnTo>
                <a:lnTo>
                  <a:pt x="6874027" y="2895600"/>
                </a:lnTo>
                <a:lnTo>
                  <a:pt x="6880707" y="2882900"/>
                </a:lnTo>
                <a:lnTo>
                  <a:pt x="6908914" y="2882900"/>
                </a:lnTo>
                <a:lnTo>
                  <a:pt x="6902335" y="2895600"/>
                </a:lnTo>
                <a:lnTo>
                  <a:pt x="6895490" y="2908300"/>
                </a:lnTo>
                <a:lnTo>
                  <a:pt x="6888403" y="2921000"/>
                </a:lnTo>
                <a:lnTo>
                  <a:pt x="6881050" y="2933700"/>
                </a:lnTo>
                <a:lnTo>
                  <a:pt x="6873455" y="2946400"/>
                </a:lnTo>
                <a:lnTo>
                  <a:pt x="6865632" y="2959100"/>
                </a:lnTo>
                <a:close/>
              </a:path>
              <a:path w="6979920" h="3162300">
                <a:moveTo>
                  <a:pt x="134353" y="2933700"/>
                </a:moveTo>
                <a:lnTo>
                  <a:pt x="126885" y="2933700"/>
                </a:lnTo>
                <a:lnTo>
                  <a:pt x="126707" y="2921000"/>
                </a:lnTo>
                <a:lnTo>
                  <a:pt x="134353" y="2933700"/>
                </a:lnTo>
                <a:close/>
              </a:path>
              <a:path w="6979920" h="3162300">
                <a:moveTo>
                  <a:pt x="6853034" y="2933700"/>
                </a:moveTo>
                <a:lnTo>
                  <a:pt x="6845566" y="2933700"/>
                </a:lnTo>
                <a:lnTo>
                  <a:pt x="6853212" y="2921000"/>
                </a:lnTo>
                <a:lnTo>
                  <a:pt x="6853034" y="2933700"/>
                </a:lnTo>
                <a:close/>
              </a:path>
              <a:path w="6979920" h="3162300">
                <a:moveTo>
                  <a:pt x="183781" y="2997200"/>
                </a:moveTo>
                <a:lnTo>
                  <a:pt x="147967" y="2997200"/>
                </a:lnTo>
                <a:lnTo>
                  <a:pt x="139204" y="2984500"/>
                </a:lnTo>
                <a:lnTo>
                  <a:pt x="130670" y="2971800"/>
                </a:lnTo>
                <a:lnTo>
                  <a:pt x="122364" y="2959100"/>
                </a:lnTo>
                <a:lnTo>
                  <a:pt x="157899" y="2959100"/>
                </a:lnTo>
                <a:lnTo>
                  <a:pt x="166446" y="2971800"/>
                </a:lnTo>
                <a:lnTo>
                  <a:pt x="166242" y="2971800"/>
                </a:lnTo>
                <a:lnTo>
                  <a:pt x="175006" y="2984500"/>
                </a:lnTo>
                <a:lnTo>
                  <a:pt x="174802" y="2984500"/>
                </a:lnTo>
                <a:lnTo>
                  <a:pt x="183781" y="2997200"/>
                </a:lnTo>
                <a:close/>
              </a:path>
              <a:path w="6979920" h="3162300">
                <a:moveTo>
                  <a:pt x="6831952" y="2997200"/>
                </a:moveTo>
                <a:lnTo>
                  <a:pt x="6796138" y="2997200"/>
                </a:lnTo>
                <a:lnTo>
                  <a:pt x="6805117" y="2984500"/>
                </a:lnTo>
                <a:lnTo>
                  <a:pt x="6804913" y="2984500"/>
                </a:lnTo>
                <a:lnTo>
                  <a:pt x="6813677" y="2971800"/>
                </a:lnTo>
                <a:lnTo>
                  <a:pt x="6813461" y="2971800"/>
                </a:lnTo>
                <a:lnTo>
                  <a:pt x="6822020" y="2959100"/>
                </a:lnTo>
                <a:lnTo>
                  <a:pt x="6857555" y="2959100"/>
                </a:lnTo>
                <a:lnTo>
                  <a:pt x="6849249" y="2971800"/>
                </a:lnTo>
                <a:lnTo>
                  <a:pt x="6840715" y="2984500"/>
                </a:lnTo>
                <a:lnTo>
                  <a:pt x="6831952" y="2997200"/>
                </a:lnTo>
                <a:close/>
              </a:path>
              <a:path w="6979920" h="3162300">
                <a:moveTo>
                  <a:pt x="220827" y="3022600"/>
                </a:moveTo>
                <a:lnTo>
                  <a:pt x="175552" y="3022600"/>
                </a:lnTo>
                <a:lnTo>
                  <a:pt x="166141" y="3009900"/>
                </a:lnTo>
                <a:lnTo>
                  <a:pt x="156946" y="2997200"/>
                </a:lnTo>
                <a:lnTo>
                  <a:pt x="192519" y="2997200"/>
                </a:lnTo>
                <a:lnTo>
                  <a:pt x="201917" y="3009900"/>
                </a:lnTo>
                <a:lnTo>
                  <a:pt x="211035" y="3009900"/>
                </a:lnTo>
                <a:lnTo>
                  <a:pt x="220827" y="3022600"/>
                </a:lnTo>
                <a:close/>
              </a:path>
              <a:path w="6979920" h="3162300">
                <a:moveTo>
                  <a:pt x="6804367" y="3022600"/>
                </a:moveTo>
                <a:lnTo>
                  <a:pt x="6759092" y="3022600"/>
                </a:lnTo>
                <a:lnTo>
                  <a:pt x="6768871" y="3009900"/>
                </a:lnTo>
                <a:lnTo>
                  <a:pt x="6778002" y="3009900"/>
                </a:lnTo>
                <a:lnTo>
                  <a:pt x="6787400" y="2997200"/>
                </a:lnTo>
                <a:lnTo>
                  <a:pt x="6822973" y="2997200"/>
                </a:lnTo>
                <a:lnTo>
                  <a:pt x="6813778" y="3009900"/>
                </a:lnTo>
                <a:lnTo>
                  <a:pt x="6804367" y="3022600"/>
                </a:lnTo>
                <a:close/>
              </a:path>
              <a:path w="6979920" h="3162300">
                <a:moveTo>
                  <a:pt x="250583" y="3048000"/>
                </a:moveTo>
                <a:lnTo>
                  <a:pt x="205016" y="3048000"/>
                </a:lnTo>
                <a:lnTo>
                  <a:pt x="194995" y="3035300"/>
                </a:lnTo>
                <a:lnTo>
                  <a:pt x="185165" y="3022600"/>
                </a:lnTo>
                <a:lnTo>
                  <a:pt x="220586" y="3022600"/>
                </a:lnTo>
                <a:lnTo>
                  <a:pt x="230568" y="3035300"/>
                </a:lnTo>
                <a:lnTo>
                  <a:pt x="240233" y="3035300"/>
                </a:lnTo>
                <a:lnTo>
                  <a:pt x="250583" y="3048000"/>
                </a:lnTo>
                <a:close/>
              </a:path>
              <a:path w="6979920" h="3162300">
                <a:moveTo>
                  <a:pt x="6774903" y="3048000"/>
                </a:moveTo>
                <a:lnTo>
                  <a:pt x="6729336" y="3048000"/>
                </a:lnTo>
                <a:lnTo>
                  <a:pt x="6739686" y="3035300"/>
                </a:lnTo>
                <a:lnTo>
                  <a:pt x="6749351" y="3035300"/>
                </a:lnTo>
                <a:lnTo>
                  <a:pt x="6759333" y="3022600"/>
                </a:lnTo>
                <a:lnTo>
                  <a:pt x="6794754" y="3022600"/>
                </a:lnTo>
                <a:lnTo>
                  <a:pt x="6784924" y="3035300"/>
                </a:lnTo>
                <a:lnTo>
                  <a:pt x="6774903" y="3048000"/>
                </a:lnTo>
                <a:close/>
              </a:path>
              <a:path w="6979920" h="3162300">
                <a:moveTo>
                  <a:pt x="271297" y="3060700"/>
                </a:moveTo>
                <a:lnTo>
                  <a:pt x="225640" y="3060700"/>
                </a:lnTo>
                <a:lnTo>
                  <a:pt x="215226" y="3048000"/>
                </a:lnTo>
                <a:lnTo>
                  <a:pt x="260603" y="3048000"/>
                </a:lnTo>
                <a:lnTo>
                  <a:pt x="271297" y="3060700"/>
                </a:lnTo>
                <a:close/>
              </a:path>
              <a:path w="6979920" h="3162300">
                <a:moveTo>
                  <a:pt x="6754279" y="3060700"/>
                </a:moveTo>
                <a:lnTo>
                  <a:pt x="6708622" y="3060700"/>
                </a:lnTo>
                <a:lnTo>
                  <a:pt x="6719315" y="3048000"/>
                </a:lnTo>
                <a:lnTo>
                  <a:pt x="6764693" y="3048000"/>
                </a:lnTo>
                <a:lnTo>
                  <a:pt x="6754279" y="3060700"/>
                </a:lnTo>
                <a:close/>
              </a:path>
              <a:path w="6979920" h="3162300">
                <a:moveTo>
                  <a:pt x="314693" y="3086100"/>
                </a:moveTo>
                <a:lnTo>
                  <a:pt x="257975" y="3086100"/>
                </a:lnTo>
                <a:lnTo>
                  <a:pt x="247014" y="3073400"/>
                </a:lnTo>
                <a:lnTo>
                  <a:pt x="236245" y="3060700"/>
                </a:lnTo>
                <a:lnTo>
                  <a:pt x="281647" y="3060700"/>
                </a:lnTo>
                <a:lnTo>
                  <a:pt x="292684" y="3073400"/>
                </a:lnTo>
                <a:lnTo>
                  <a:pt x="303339" y="3073400"/>
                </a:lnTo>
                <a:lnTo>
                  <a:pt x="314693" y="3086100"/>
                </a:lnTo>
                <a:close/>
              </a:path>
              <a:path w="6979920" h="3162300">
                <a:moveTo>
                  <a:pt x="6721944" y="3086100"/>
                </a:moveTo>
                <a:lnTo>
                  <a:pt x="6665226" y="3086100"/>
                </a:lnTo>
                <a:lnTo>
                  <a:pt x="6676580" y="3073400"/>
                </a:lnTo>
                <a:lnTo>
                  <a:pt x="6687235" y="3073400"/>
                </a:lnTo>
                <a:lnTo>
                  <a:pt x="6698272" y="3060700"/>
                </a:lnTo>
                <a:lnTo>
                  <a:pt x="6743674" y="3060700"/>
                </a:lnTo>
                <a:lnTo>
                  <a:pt x="6732905" y="3073400"/>
                </a:lnTo>
                <a:lnTo>
                  <a:pt x="6721944" y="3086100"/>
                </a:lnTo>
                <a:close/>
              </a:path>
              <a:path w="6979920" h="3162300">
                <a:moveTo>
                  <a:pt x="348818" y="3098800"/>
                </a:moveTo>
                <a:lnTo>
                  <a:pt x="280415" y="3098800"/>
                </a:lnTo>
                <a:lnTo>
                  <a:pt x="269113" y="3086100"/>
                </a:lnTo>
                <a:lnTo>
                  <a:pt x="337019" y="3086100"/>
                </a:lnTo>
                <a:lnTo>
                  <a:pt x="348818" y="3098800"/>
                </a:lnTo>
                <a:close/>
              </a:path>
              <a:path w="6979920" h="3162300">
                <a:moveTo>
                  <a:pt x="6699504" y="3098800"/>
                </a:moveTo>
                <a:lnTo>
                  <a:pt x="6631089" y="3098800"/>
                </a:lnTo>
                <a:lnTo>
                  <a:pt x="6642900" y="3086100"/>
                </a:lnTo>
                <a:lnTo>
                  <a:pt x="6710807" y="3086100"/>
                </a:lnTo>
                <a:lnTo>
                  <a:pt x="6699504" y="3098800"/>
                </a:lnTo>
                <a:close/>
              </a:path>
              <a:path w="6979920" h="3162300">
                <a:moveTo>
                  <a:pt x="372275" y="3111500"/>
                </a:moveTo>
                <a:lnTo>
                  <a:pt x="315315" y="3111500"/>
                </a:lnTo>
                <a:lnTo>
                  <a:pt x="303529" y="3098800"/>
                </a:lnTo>
                <a:lnTo>
                  <a:pt x="360184" y="3098800"/>
                </a:lnTo>
                <a:lnTo>
                  <a:pt x="372275" y="3111500"/>
                </a:lnTo>
                <a:close/>
              </a:path>
              <a:path w="6979920" h="3162300">
                <a:moveTo>
                  <a:pt x="6664604" y="3111500"/>
                </a:moveTo>
                <a:lnTo>
                  <a:pt x="6607644" y="3111500"/>
                </a:lnTo>
                <a:lnTo>
                  <a:pt x="6619735" y="3098800"/>
                </a:lnTo>
                <a:lnTo>
                  <a:pt x="6676390" y="3098800"/>
                </a:lnTo>
                <a:lnTo>
                  <a:pt x="6664604" y="3111500"/>
                </a:lnTo>
                <a:close/>
              </a:path>
              <a:path w="6979920" h="3162300">
                <a:moveTo>
                  <a:pt x="420712" y="3124200"/>
                </a:moveTo>
                <a:lnTo>
                  <a:pt x="339356" y="3124200"/>
                </a:lnTo>
                <a:lnTo>
                  <a:pt x="327266" y="3111500"/>
                </a:lnTo>
                <a:lnTo>
                  <a:pt x="408114" y="3111500"/>
                </a:lnTo>
                <a:lnTo>
                  <a:pt x="420712" y="3124200"/>
                </a:lnTo>
                <a:close/>
              </a:path>
              <a:path w="6979920" h="3162300">
                <a:moveTo>
                  <a:pt x="6640563" y="3124200"/>
                </a:moveTo>
                <a:lnTo>
                  <a:pt x="6559207" y="3124200"/>
                </a:lnTo>
                <a:lnTo>
                  <a:pt x="6571805" y="3111500"/>
                </a:lnTo>
                <a:lnTo>
                  <a:pt x="6652653" y="3111500"/>
                </a:lnTo>
                <a:lnTo>
                  <a:pt x="6640563" y="3124200"/>
                </a:lnTo>
                <a:close/>
              </a:path>
              <a:path w="6979920" h="3162300">
                <a:moveTo>
                  <a:pt x="496722" y="3136900"/>
                </a:moveTo>
                <a:lnTo>
                  <a:pt x="376504" y="3136900"/>
                </a:lnTo>
                <a:lnTo>
                  <a:pt x="363981" y="3124200"/>
                </a:lnTo>
                <a:lnTo>
                  <a:pt x="483476" y="3124200"/>
                </a:lnTo>
                <a:lnTo>
                  <a:pt x="496722" y="3136900"/>
                </a:lnTo>
                <a:close/>
              </a:path>
              <a:path w="6979920" h="3162300">
                <a:moveTo>
                  <a:pt x="6603415" y="3136900"/>
                </a:moveTo>
                <a:lnTo>
                  <a:pt x="6483197" y="3136900"/>
                </a:lnTo>
                <a:lnTo>
                  <a:pt x="6496443" y="3124200"/>
                </a:lnTo>
                <a:lnTo>
                  <a:pt x="6615938" y="3124200"/>
                </a:lnTo>
                <a:lnTo>
                  <a:pt x="6603415" y="3136900"/>
                </a:lnTo>
                <a:close/>
              </a:path>
              <a:path w="6979920" h="3162300">
                <a:moveTo>
                  <a:pt x="6565074" y="3149600"/>
                </a:moveTo>
                <a:lnTo>
                  <a:pt x="414845" y="3149600"/>
                </a:lnTo>
                <a:lnTo>
                  <a:pt x="401942" y="3136900"/>
                </a:lnTo>
                <a:lnTo>
                  <a:pt x="6577977" y="3136900"/>
                </a:lnTo>
                <a:lnTo>
                  <a:pt x="6565074" y="3149600"/>
                </a:lnTo>
                <a:close/>
              </a:path>
              <a:path w="6979920" h="3162300">
                <a:moveTo>
                  <a:pt x="6485293" y="3162300"/>
                </a:moveTo>
                <a:lnTo>
                  <a:pt x="494626" y="3162300"/>
                </a:lnTo>
                <a:lnTo>
                  <a:pt x="481075" y="3149600"/>
                </a:lnTo>
                <a:lnTo>
                  <a:pt x="6498844" y="3149600"/>
                </a:lnTo>
                <a:lnTo>
                  <a:pt x="6485293" y="3162300"/>
                </a:lnTo>
                <a:close/>
              </a:path>
            </a:pathLst>
          </a:custGeom>
          <a:solidFill>
            <a:srgbClr val="538235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91279" y="1557654"/>
            <a:ext cx="154940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>
                <a:latin typeface="黑体"/>
                <a:cs typeface="黑体"/>
              </a:rPr>
              <a:t>任务拓展</a:t>
            </a:r>
            <a:endParaRPr sz="3000">
              <a:latin typeface="黑体"/>
              <a:cs typeface="黑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806783" y="1389710"/>
            <a:ext cx="892027" cy="8054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762885" y="3031489"/>
            <a:ext cx="6263640" cy="20720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5245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solidFill>
                  <a:srgbClr val="385622"/>
                </a:solidFill>
                <a:latin typeface="华文楷体"/>
                <a:cs typeface="华文楷体"/>
              </a:rPr>
              <a:t>气体实验定律以及理想气体状态方</a:t>
            </a:r>
            <a:r>
              <a:rPr dirty="0" sz="2800" spc="-10" b="1">
                <a:solidFill>
                  <a:srgbClr val="385622"/>
                </a:solidFill>
                <a:latin typeface="华文楷体"/>
                <a:cs typeface="华文楷体"/>
              </a:rPr>
              <a:t>程</a:t>
            </a:r>
            <a:endParaRPr sz="2800">
              <a:latin typeface="华文楷体"/>
              <a:cs typeface="华文楷体"/>
            </a:endParaRPr>
          </a:p>
          <a:p>
            <a:pPr marL="12700" marR="69850">
              <a:lnSpc>
                <a:spcPct val="188700"/>
              </a:lnSpc>
              <a:spcBef>
                <a:spcPts val="80"/>
              </a:spcBef>
            </a:pPr>
            <a:r>
              <a:rPr dirty="0" sz="2800" b="1">
                <a:solidFill>
                  <a:srgbClr val="385622"/>
                </a:solidFill>
                <a:latin typeface="华文楷体"/>
                <a:cs typeface="华文楷体"/>
              </a:rPr>
              <a:t>中的</a:t>
            </a:r>
            <a:r>
              <a:rPr dirty="0" sz="2800" b="1" i="1">
                <a:solidFill>
                  <a:srgbClr val="385622"/>
                </a:solidFill>
                <a:latin typeface="Times New Roman"/>
                <a:cs typeface="Times New Roman"/>
              </a:rPr>
              <a:t>C</a:t>
            </a:r>
            <a:r>
              <a:rPr dirty="0" sz="2800" b="1">
                <a:solidFill>
                  <a:srgbClr val="385622"/>
                </a:solidFill>
                <a:latin typeface="华文楷体"/>
                <a:cs typeface="华文楷体"/>
              </a:rPr>
              <a:t>一样吗？</a:t>
            </a:r>
            <a:r>
              <a:rPr dirty="0" sz="2800" b="1" i="1">
                <a:solidFill>
                  <a:srgbClr val="385622"/>
                </a:solidFill>
                <a:latin typeface="Times New Roman"/>
                <a:cs typeface="Times New Roman"/>
              </a:rPr>
              <a:t>C</a:t>
            </a:r>
            <a:r>
              <a:rPr dirty="0" sz="2800" b="1">
                <a:solidFill>
                  <a:srgbClr val="385622"/>
                </a:solidFill>
                <a:latin typeface="华文楷体"/>
                <a:cs typeface="华文楷体"/>
              </a:rPr>
              <a:t>与哪些因素有关？请</a:t>
            </a:r>
            <a:r>
              <a:rPr dirty="0" sz="2800" spc="-5" b="1">
                <a:solidFill>
                  <a:srgbClr val="385622"/>
                </a:solidFill>
                <a:latin typeface="华文楷体"/>
                <a:cs typeface="华文楷体"/>
              </a:rPr>
              <a:t>陈 </a:t>
            </a:r>
            <a:r>
              <a:rPr dirty="0" sz="2800" b="1">
                <a:solidFill>
                  <a:srgbClr val="385622"/>
                </a:solidFill>
                <a:latin typeface="华文楷体"/>
                <a:cs typeface="华文楷体"/>
              </a:rPr>
              <a:t>述理由</a:t>
            </a:r>
            <a:r>
              <a:rPr dirty="0" sz="2800" spc="-10" b="1">
                <a:solidFill>
                  <a:srgbClr val="385622"/>
                </a:solidFill>
                <a:latin typeface="华文楷体"/>
                <a:cs typeface="华文楷体"/>
              </a:rPr>
              <a:t>。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454910" y="2480945"/>
            <a:ext cx="6979920" cy="3162300"/>
          </a:xfrm>
          <a:custGeom>
            <a:avLst/>
            <a:gdLst/>
            <a:ahLst/>
            <a:cxnLst/>
            <a:rect l="l" t="t" r="r" b="b"/>
            <a:pathLst>
              <a:path w="6979920" h="3162300">
                <a:moveTo>
                  <a:pt x="6565074" y="12699"/>
                </a:moveTo>
                <a:lnTo>
                  <a:pt x="414845" y="12699"/>
                </a:lnTo>
                <a:lnTo>
                  <a:pt x="427863" y="0"/>
                </a:lnTo>
                <a:lnTo>
                  <a:pt x="6552057" y="0"/>
                </a:lnTo>
                <a:lnTo>
                  <a:pt x="6565074" y="12699"/>
                </a:lnTo>
                <a:close/>
              </a:path>
              <a:path w="6979920" h="3162300">
                <a:moveTo>
                  <a:pt x="6615938" y="25399"/>
                </a:moveTo>
                <a:lnTo>
                  <a:pt x="363981" y="25399"/>
                </a:lnTo>
                <a:lnTo>
                  <a:pt x="376504" y="12699"/>
                </a:lnTo>
                <a:lnTo>
                  <a:pt x="6603415" y="12699"/>
                </a:lnTo>
                <a:lnTo>
                  <a:pt x="6615938" y="25399"/>
                </a:lnTo>
                <a:close/>
              </a:path>
              <a:path w="6979920" h="3162300">
                <a:moveTo>
                  <a:pt x="420395" y="38099"/>
                </a:moveTo>
                <a:lnTo>
                  <a:pt x="327266" y="38099"/>
                </a:lnTo>
                <a:lnTo>
                  <a:pt x="339356" y="25399"/>
                </a:lnTo>
                <a:lnTo>
                  <a:pt x="433108" y="25399"/>
                </a:lnTo>
                <a:lnTo>
                  <a:pt x="420395" y="38099"/>
                </a:lnTo>
                <a:close/>
              </a:path>
              <a:path w="6979920" h="3162300">
                <a:moveTo>
                  <a:pt x="6652653" y="38099"/>
                </a:moveTo>
                <a:lnTo>
                  <a:pt x="6559524" y="38099"/>
                </a:lnTo>
                <a:lnTo>
                  <a:pt x="6546811" y="25399"/>
                </a:lnTo>
                <a:lnTo>
                  <a:pt x="6640563" y="25399"/>
                </a:lnTo>
                <a:lnTo>
                  <a:pt x="6652653" y="38099"/>
                </a:lnTo>
                <a:close/>
              </a:path>
              <a:path w="6979920" h="3162300">
                <a:moveTo>
                  <a:pt x="371982" y="50799"/>
                </a:moveTo>
                <a:lnTo>
                  <a:pt x="303529" y="50799"/>
                </a:lnTo>
                <a:lnTo>
                  <a:pt x="315315" y="38099"/>
                </a:lnTo>
                <a:lnTo>
                  <a:pt x="384200" y="38099"/>
                </a:lnTo>
                <a:lnTo>
                  <a:pt x="371982" y="50799"/>
                </a:lnTo>
                <a:close/>
              </a:path>
              <a:path w="6979920" h="3162300">
                <a:moveTo>
                  <a:pt x="6676390" y="50799"/>
                </a:moveTo>
                <a:lnTo>
                  <a:pt x="6607936" y="50799"/>
                </a:lnTo>
                <a:lnTo>
                  <a:pt x="6595719" y="38099"/>
                </a:lnTo>
                <a:lnTo>
                  <a:pt x="6664604" y="38099"/>
                </a:lnTo>
                <a:lnTo>
                  <a:pt x="6676390" y="50799"/>
                </a:lnTo>
                <a:close/>
              </a:path>
              <a:path w="6979920" h="3162300">
                <a:moveTo>
                  <a:pt x="337019" y="63499"/>
                </a:moveTo>
                <a:lnTo>
                  <a:pt x="280415" y="63499"/>
                </a:lnTo>
                <a:lnTo>
                  <a:pt x="291896" y="50799"/>
                </a:lnTo>
                <a:lnTo>
                  <a:pt x="348818" y="50799"/>
                </a:lnTo>
                <a:lnTo>
                  <a:pt x="337019" y="63499"/>
                </a:lnTo>
                <a:close/>
              </a:path>
              <a:path w="6979920" h="3162300">
                <a:moveTo>
                  <a:pt x="6699504" y="63499"/>
                </a:moveTo>
                <a:lnTo>
                  <a:pt x="6642900" y="63499"/>
                </a:lnTo>
                <a:lnTo>
                  <a:pt x="6631089" y="50799"/>
                </a:lnTo>
                <a:lnTo>
                  <a:pt x="6688023" y="50799"/>
                </a:lnTo>
                <a:lnTo>
                  <a:pt x="6699504" y="63499"/>
                </a:lnTo>
                <a:close/>
              </a:path>
              <a:path w="6979920" h="3162300">
                <a:moveTo>
                  <a:pt x="303339" y="76199"/>
                </a:moveTo>
                <a:lnTo>
                  <a:pt x="257975" y="76199"/>
                </a:lnTo>
                <a:lnTo>
                  <a:pt x="269113" y="63499"/>
                </a:lnTo>
                <a:lnTo>
                  <a:pt x="314693" y="63499"/>
                </a:lnTo>
                <a:lnTo>
                  <a:pt x="303339" y="76199"/>
                </a:lnTo>
                <a:close/>
              </a:path>
              <a:path w="6979920" h="3162300">
                <a:moveTo>
                  <a:pt x="6721944" y="76199"/>
                </a:moveTo>
                <a:lnTo>
                  <a:pt x="6676580" y="76199"/>
                </a:lnTo>
                <a:lnTo>
                  <a:pt x="6665226" y="63499"/>
                </a:lnTo>
                <a:lnTo>
                  <a:pt x="6710807" y="63499"/>
                </a:lnTo>
                <a:lnTo>
                  <a:pt x="6721944" y="76199"/>
                </a:lnTo>
                <a:close/>
              </a:path>
              <a:path w="6979920" h="3162300">
                <a:moveTo>
                  <a:pt x="281647" y="88899"/>
                </a:moveTo>
                <a:lnTo>
                  <a:pt x="236245" y="88899"/>
                </a:lnTo>
                <a:lnTo>
                  <a:pt x="247014" y="76199"/>
                </a:lnTo>
                <a:lnTo>
                  <a:pt x="292684" y="76199"/>
                </a:lnTo>
                <a:lnTo>
                  <a:pt x="281647" y="88899"/>
                </a:lnTo>
                <a:close/>
              </a:path>
              <a:path w="6979920" h="3162300">
                <a:moveTo>
                  <a:pt x="6743674" y="88899"/>
                </a:moveTo>
                <a:lnTo>
                  <a:pt x="6698272" y="88899"/>
                </a:lnTo>
                <a:lnTo>
                  <a:pt x="6687235" y="76199"/>
                </a:lnTo>
                <a:lnTo>
                  <a:pt x="6732905" y="76199"/>
                </a:lnTo>
                <a:lnTo>
                  <a:pt x="6743674" y="88899"/>
                </a:lnTo>
                <a:close/>
              </a:path>
              <a:path w="6979920" h="3162300">
                <a:moveTo>
                  <a:pt x="260603" y="101599"/>
                </a:moveTo>
                <a:lnTo>
                  <a:pt x="215226" y="101599"/>
                </a:lnTo>
                <a:lnTo>
                  <a:pt x="225640" y="88899"/>
                </a:lnTo>
                <a:lnTo>
                  <a:pt x="271297" y="88899"/>
                </a:lnTo>
                <a:lnTo>
                  <a:pt x="260603" y="101599"/>
                </a:lnTo>
                <a:close/>
              </a:path>
              <a:path w="6979920" h="3162300">
                <a:moveTo>
                  <a:pt x="6764693" y="101599"/>
                </a:moveTo>
                <a:lnTo>
                  <a:pt x="6719315" y="101599"/>
                </a:lnTo>
                <a:lnTo>
                  <a:pt x="6708622" y="88899"/>
                </a:lnTo>
                <a:lnTo>
                  <a:pt x="6754279" y="88899"/>
                </a:lnTo>
                <a:lnTo>
                  <a:pt x="6764693" y="101599"/>
                </a:lnTo>
                <a:close/>
              </a:path>
              <a:path w="6979920" h="3162300">
                <a:moveTo>
                  <a:pt x="220586" y="126999"/>
                </a:moveTo>
                <a:lnTo>
                  <a:pt x="185165" y="126999"/>
                </a:lnTo>
                <a:lnTo>
                  <a:pt x="194995" y="114299"/>
                </a:lnTo>
                <a:lnTo>
                  <a:pt x="205016" y="101599"/>
                </a:lnTo>
                <a:lnTo>
                  <a:pt x="250583" y="101599"/>
                </a:lnTo>
                <a:lnTo>
                  <a:pt x="240233" y="114299"/>
                </a:lnTo>
                <a:lnTo>
                  <a:pt x="230568" y="114299"/>
                </a:lnTo>
                <a:lnTo>
                  <a:pt x="220586" y="126999"/>
                </a:lnTo>
                <a:close/>
              </a:path>
              <a:path w="6979920" h="3162300">
                <a:moveTo>
                  <a:pt x="6794754" y="126999"/>
                </a:moveTo>
                <a:lnTo>
                  <a:pt x="6759333" y="126999"/>
                </a:lnTo>
                <a:lnTo>
                  <a:pt x="6749351" y="114299"/>
                </a:lnTo>
                <a:lnTo>
                  <a:pt x="6739686" y="114299"/>
                </a:lnTo>
                <a:lnTo>
                  <a:pt x="6729336" y="101599"/>
                </a:lnTo>
                <a:lnTo>
                  <a:pt x="6774903" y="101599"/>
                </a:lnTo>
                <a:lnTo>
                  <a:pt x="6784924" y="114299"/>
                </a:lnTo>
                <a:lnTo>
                  <a:pt x="6794754" y="126999"/>
                </a:lnTo>
                <a:close/>
              </a:path>
              <a:path w="6979920" h="3162300">
                <a:moveTo>
                  <a:pt x="183553" y="165099"/>
                </a:moveTo>
                <a:lnTo>
                  <a:pt x="147967" y="165099"/>
                </a:lnTo>
                <a:lnTo>
                  <a:pt x="156946" y="152399"/>
                </a:lnTo>
                <a:lnTo>
                  <a:pt x="166141" y="139699"/>
                </a:lnTo>
                <a:lnTo>
                  <a:pt x="175552" y="126999"/>
                </a:lnTo>
                <a:lnTo>
                  <a:pt x="220827" y="126999"/>
                </a:lnTo>
                <a:lnTo>
                  <a:pt x="211035" y="139699"/>
                </a:lnTo>
                <a:lnTo>
                  <a:pt x="201917" y="139699"/>
                </a:lnTo>
                <a:lnTo>
                  <a:pt x="192519" y="152399"/>
                </a:lnTo>
                <a:lnTo>
                  <a:pt x="192747" y="152399"/>
                </a:lnTo>
                <a:lnTo>
                  <a:pt x="183553" y="165099"/>
                </a:lnTo>
                <a:close/>
              </a:path>
              <a:path w="6979920" h="3162300">
                <a:moveTo>
                  <a:pt x="6831952" y="165099"/>
                </a:moveTo>
                <a:lnTo>
                  <a:pt x="6796354" y="165099"/>
                </a:lnTo>
                <a:lnTo>
                  <a:pt x="6787172" y="152399"/>
                </a:lnTo>
                <a:lnTo>
                  <a:pt x="6787400" y="152399"/>
                </a:lnTo>
                <a:lnTo>
                  <a:pt x="6778002" y="139699"/>
                </a:lnTo>
                <a:lnTo>
                  <a:pt x="6768871" y="139699"/>
                </a:lnTo>
                <a:lnTo>
                  <a:pt x="6759092" y="126999"/>
                </a:lnTo>
                <a:lnTo>
                  <a:pt x="6804367" y="126999"/>
                </a:lnTo>
                <a:lnTo>
                  <a:pt x="6813778" y="139699"/>
                </a:lnTo>
                <a:lnTo>
                  <a:pt x="6822973" y="152399"/>
                </a:lnTo>
                <a:lnTo>
                  <a:pt x="6831952" y="165099"/>
                </a:lnTo>
                <a:close/>
              </a:path>
              <a:path w="6979920" h="3162300">
                <a:moveTo>
                  <a:pt x="141858" y="203199"/>
                </a:moveTo>
                <a:lnTo>
                  <a:pt x="114287" y="203199"/>
                </a:lnTo>
                <a:lnTo>
                  <a:pt x="122364" y="190499"/>
                </a:lnTo>
                <a:lnTo>
                  <a:pt x="130670" y="177799"/>
                </a:lnTo>
                <a:lnTo>
                  <a:pt x="139204" y="165099"/>
                </a:lnTo>
                <a:lnTo>
                  <a:pt x="175006" y="165099"/>
                </a:lnTo>
                <a:lnTo>
                  <a:pt x="166242" y="177799"/>
                </a:lnTo>
                <a:lnTo>
                  <a:pt x="166446" y="177799"/>
                </a:lnTo>
                <a:lnTo>
                  <a:pt x="157899" y="190499"/>
                </a:lnTo>
                <a:lnTo>
                  <a:pt x="149961" y="190499"/>
                </a:lnTo>
                <a:lnTo>
                  <a:pt x="141858" y="203199"/>
                </a:lnTo>
                <a:close/>
              </a:path>
              <a:path w="6979920" h="3162300">
                <a:moveTo>
                  <a:pt x="6865632" y="203199"/>
                </a:moveTo>
                <a:lnTo>
                  <a:pt x="6838061" y="203199"/>
                </a:lnTo>
                <a:lnTo>
                  <a:pt x="6829945" y="190499"/>
                </a:lnTo>
                <a:lnTo>
                  <a:pt x="6822020" y="190499"/>
                </a:lnTo>
                <a:lnTo>
                  <a:pt x="6813461" y="177799"/>
                </a:lnTo>
                <a:lnTo>
                  <a:pt x="6813677" y="177799"/>
                </a:lnTo>
                <a:lnTo>
                  <a:pt x="6804913" y="165099"/>
                </a:lnTo>
                <a:lnTo>
                  <a:pt x="6840715" y="165099"/>
                </a:lnTo>
                <a:lnTo>
                  <a:pt x="6849249" y="177799"/>
                </a:lnTo>
                <a:lnTo>
                  <a:pt x="6857555" y="190499"/>
                </a:lnTo>
                <a:lnTo>
                  <a:pt x="6865632" y="203199"/>
                </a:lnTo>
                <a:close/>
              </a:path>
              <a:path w="6979920" h="3162300">
                <a:moveTo>
                  <a:pt x="92938" y="279399"/>
                </a:moveTo>
                <a:lnTo>
                  <a:pt x="64681" y="279399"/>
                </a:lnTo>
                <a:lnTo>
                  <a:pt x="71005" y="266699"/>
                </a:lnTo>
                <a:lnTo>
                  <a:pt x="91516" y="228599"/>
                </a:lnTo>
                <a:lnTo>
                  <a:pt x="106464" y="203199"/>
                </a:lnTo>
                <a:lnTo>
                  <a:pt x="142049" y="203199"/>
                </a:lnTo>
                <a:lnTo>
                  <a:pt x="134175" y="215899"/>
                </a:lnTo>
                <a:lnTo>
                  <a:pt x="134353" y="215899"/>
                </a:lnTo>
                <a:lnTo>
                  <a:pt x="126707" y="228599"/>
                </a:lnTo>
                <a:lnTo>
                  <a:pt x="119659" y="228599"/>
                </a:lnTo>
                <a:lnTo>
                  <a:pt x="112483" y="241299"/>
                </a:lnTo>
                <a:lnTo>
                  <a:pt x="112648" y="241299"/>
                </a:lnTo>
                <a:lnTo>
                  <a:pt x="105727" y="253999"/>
                </a:lnTo>
                <a:lnTo>
                  <a:pt x="105892" y="253999"/>
                </a:lnTo>
                <a:lnTo>
                  <a:pt x="99212" y="266699"/>
                </a:lnTo>
                <a:lnTo>
                  <a:pt x="99364" y="266699"/>
                </a:lnTo>
                <a:lnTo>
                  <a:pt x="92938" y="279399"/>
                </a:lnTo>
                <a:close/>
              </a:path>
              <a:path w="6979920" h="3162300">
                <a:moveTo>
                  <a:pt x="6915238" y="279399"/>
                </a:moveTo>
                <a:lnTo>
                  <a:pt x="6886981" y="279399"/>
                </a:lnTo>
                <a:lnTo>
                  <a:pt x="6880555" y="266699"/>
                </a:lnTo>
                <a:lnTo>
                  <a:pt x="6880707" y="266699"/>
                </a:lnTo>
                <a:lnTo>
                  <a:pt x="6874027" y="253999"/>
                </a:lnTo>
                <a:lnTo>
                  <a:pt x="6874192" y="253999"/>
                </a:lnTo>
                <a:lnTo>
                  <a:pt x="6867271" y="241299"/>
                </a:lnTo>
                <a:lnTo>
                  <a:pt x="6867436" y="241299"/>
                </a:lnTo>
                <a:lnTo>
                  <a:pt x="6860260" y="228599"/>
                </a:lnTo>
                <a:lnTo>
                  <a:pt x="6853212" y="228599"/>
                </a:lnTo>
                <a:lnTo>
                  <a:pt x="6845566" y="215899"/>
                </a:lnTo>
                <a:lnTo>
                  <a:pt x="6845744" y="215899"/>
                </a:lnTo>
                <a:lnTo>
                  <a:pt x="6837870" y="203199"/>
                </a:lnTo>
                <a:lnTo>
                  <a:pt x="6873455" y="203199"/>
                </a:lnTo>
                <a:lnTo>
                  <a:pt x="6895490" y="241299"/>
                </a:lnTo>
                <a:lnTo>
                  <a:pt x="6908914" y="266699"/>
                </a:lnTo>
                <a:lnTo>
                  <a:pt x="6915238" y="279399"/>
                </a:lnTo>
                <a:close/>
              </a:path>
              <a:path w="6979920" h="3162300">
                <a:moveTo>
                  <a:pt x="99364" y="2882900"/>
                </a:moveTo>
                <a:lnTo>
                  <a:pt x="64681" y="2882900"/>
                </a:lnTo>
                <a:lnTo>
                  <a:pt x="58623" y="2870200"/>
                </a:lnTo>
                <a:lnTo>
                  <a:pt x="42113" y="2832100"/>
                </a:lnTo>
                <a:lnTo>
                  <a:pt x="28155" y="2794000"/>
                </a:lnTo>
                <a:lnTo>
                  <a:pt x="16865" y="2755900"/>
                </a:lnTo>
                <a:lnTo>
                  <a:pt x="8369" y="2717800"/>
                </a:lnTo>
                <a:lnTo>
                  <a:pt x="2768" y="2679700"/>
                </a:lnTo>
                <a:lnTo>
                  <a:pt x="177" y="2641600"/>
                </a:lnTo>
                <a:lnTo>
                  <a:pt x="0" y="533399"/>
                </a:lnTo>
                <a:lnTo>
                  <a:pt x="177" y="520699"/>
                </a:lnTo>
                <a:lnTo>
                  <a:pt x="698" y="507999"/>
                </a:lnTo>
                <a:lnTo>
                  <a:pt x="1562" y="482599"/>
                </a:lnTo>
                <a:lnTo>
                  <a:pt x="6172" y="444499"/>
                </a:lnTo>
                <a:lnTo>
                  <a:pt x="13715" y="406399"/>
                </a:lnTo>
                <a:lnTo>
                  <a:pt x="24091" y="368299"/>
                </a:lnTo>
                <a:lnTo>
                  <a:pt x="37172" y="330199"/>
                </a:lnTo>
                <a:lnTo>
                  <a:pt x="52844" y="292099"/>
                </a:lnTo>
                <a:lnTo>
                  <a:pt x="58623" y="279399"/>
                </a:lnTo>
                <a:lnTo>
                  <a:pt x="93090" y="279399"/>
                </a:lnTo>
                <a:lnTo>
                  <a:pt x="86931" y="292099"/>
                </a:lnTo>
                <a:lnTo>
                  <a:pt x="81305" y="292099"/>
                </a:lnTo>
                <a:lnTo>
                  <a:pt x="75666" y="304799"/>
                </a:lnTo>
                <a:lnTo>
                  <a:pt x="70421" y="317499"/>
                </a:lnTo>
                <a:lnTo>
                  <a:pt x="65443" y="330199"/>
                </a:lnTo>
                <a:lnTo>
                  <a:pt x="60744" y="342899"/>
                </a:lnTo>
                <a:lnTo>
                  <a:pt x="56311" y="355599"/>
                </a:lnTo>
                <a:lnTo>
                  <a:pt x="52171" y="368299"/>
                </a:lnTo>
                <a:lnTo>
                  <a:pt x="48298" y="380999"/>
                </a:lnTo>
                <a:lnTo>
                  <a:pt x="44716" y="393699"/>
                </a:lnTo>
                <a:lnTo>
                  <a:pt x="41427" y="406399"/>
                </a:lnTo>
                <a:lnTo>
                  <a:pt x="38430" y="419099"/>
                </a:lnTo>
                <a:lnTo>
                  <a:pt x="35737" y="431799"/>
                </a:lnTo>
                <a:lnTo>
                  <a:pt x="33350" y="444499"/>
                </a:lnTo>
                <a:lnTo>
                  <a:pt x="31254" y="457199"/>
                </a:lnTo>
                <a:lnTo>
                  <a:pt x="29476" y="469899"/>
                </a:lnTo>
                <a:lnTo>
                  <a:pt x="28016" y="482599"/>
                </a:lnTo>
                <a:lnTo>
                  <a:pt x="26873" y="495299"/>
                </a:lnTo>
                <a:lnTo>
                  <a:pt x="26060" y="507999"/>
                </a:lnTo>
                <a:lnTo>
                  <a:pt x="25565" y="520699"/>
                </a:lnTo>
                <a:lnTo>
                  <a:pt x="25400" y="533399"/>
                </a:lnTo>
                <a:lnTo>
                  <a:pt x="25482" y="2628900"/>
                </a:lnTo>
                <a:lnTo>
                  <a:pt x="25565" y="2641600"/>
                </a:lnTo>
                <a:lnTo>
                  <a:pt x="25819" y="2641600"/>
                </a:lnTo>
                <a:lnTo>
                  <a:pt x="26073" y="2654300"/>
                </a:lnTo>
                <a:lnTo>
                  <a:pt x="26898" y="2667000"/>
                </a:lnTo>
                <a:lnTo>
                  <a:pt x="28054" y="2679700"/>
                </a:lnTo>
                <a:lnTo>
                  <a:pt x="29514" y="2692400"/>
                </a:lnTo>
                <a:lnTo>
                  <a:pt x="31305" y="2705100"/>
                </a:lnTo>
                <a:lnTo>
                  <a:pt x="33400" y="2717800"/>
                </a:lnTo>
                <a:lnTo>
                  <a:pt x="35801" y="2730500"/>
                </a:lnTo>
                <a:lnTo>
                  <a:pt x="38506" y="2743200"/>
                </a:lnTo>
                <a:lnTo>
                  <a:pt x="41503" y="2755900"/>
                </a:lnTo>
                <a:lnTo>
                  <a:pt x="44716" y="2755900"/>
                </a:lnTo>
                <a:lnTo>
                  <a:pt x="48387" y="2768600"/>
                </a:lnTo>
                <a:lnTo>
                  <a:pt x="52260" y="2781300"/>
                </a:lnTo>
                <a:lnTo>
                  <a:pt x="56426" y="2794000"/>
                </a:lnTo>
                <a:lnTo>
                  <a:pt x="60858" y="2806700"/>
                </a:lnTo>
                <a:lnTo>
                  <a:pt x="65570" y="2819400"/>
                </a:lnTo>
                <a:lnTo>
                  <a:pt x="70548" y="2832100"/>
                </a:lnTo>
                <a:lnTo>
                  <a:pt x="75793" y="2844800"/>
                </a:lnTo>
                <a:lnTo>
                  <a:pt x="81305" y="2857500"/>
                </a:lnTo>
                <a:lnTo>
                  <a:pt x="81165" y="2857500"/>
                </a:lnTo>
                <a:lnTo>
                  <a:pt x="87071" y="2870200"/>
                </a:lnTo>
                <a:lnTo>
                  <a:pt x="92938" y="2870200"/>
                </a:lnTo>
                <a:lnTo>
                  <a:pt x="99364" y="2882900"/>
                </a:lnTo>
                <a:close/>
              </a:path>
              <a:path w="6979920" h="3162300">
                <a:moveTo>
                  <a:pt x="6979742" y="2641600"/>
                </a:moveTo>
                <a:lnTo>
                  <a:pt x="6954354" y="2641600"/>
                </a:lnTo>
                <a:lnTo>
                  <a:pt x="6954437" y="2628900"/>
                </a:lnTo>
                <a:lnTo>
                  <a:pt x="6954519" y="533399"/>
                </a:lnTo>
                <a:lnTo>
                  <a:pt x="6954354" y="520699"/>
                </a:lnTo>
                <a:lnTo>
                  <a:pt x="6953846" y="507999"/>
                </a:lnTo>
                <a:lnTo>
                  <a:pt x="6953021" y="495299"/>
                </a:lnTo>
                <a:lnTo>
                  <a:pt x="6951865" y="482599"/>
                </a:lnTo>
                <a:lnTo>
                  <a:pt x="6950405" y="469899"/>
                </a:lnTo>
                <a:lnTo>
                  <a:pt x="6948614" y="457199"/>
                </a:lnTo>
                <a:lnTo>
                  <a:pt x="6946519" y="444499"/>
                </a:lnTo>
                <a:lnTo>
                  <a:pt x="6944118" y="431799"/>
                </a:lnTo>
                <a:lnTo>
                  <a:pt x="6941413" y="419099"/>
                </a:lnTo>
                <a:lnTo>
                  <a:pt x="6938416" y="406399"/>
                </a:lnTo>
                <a:lnTo>
                  <a:pt x="6935114" y="393699"/>
                </a:lnTo>
                <a:lnTo>
                  <a:pt x="6931533" y="380999"/>
                </a:lnTo>
                <a:lnTo>
                  <a:pt x="6927646" y="368299"/>
                </a:lnTo>
                <a:lnTo>
                  <a:pt x="6923493" y="355599"/>
                </a:lnTo>
                <a:lnTo>
                  <a:pt x="6919061" y="342899"/>
                </a:lnTo>
                <a:lnTo>
                  <a:pt x="6914349" y="330199"/>
                </a:lnTo>
                <a:lnTo>
                  <a:pt x="6909371" y="317499"/>
                </a:lnTo>
                <a:lnTo>
                  <a:pt x="6904126" y="304799"/>
                </a:lnTo>
                <a:lnTo>
                  <a:pt x="6898614" y="292099"/>
                </a:lnTo>
                <a:lnTo>
                  <a:pt x="6892988" y="292099"/>
                </a:lnTo>
                <a:lnTo>
                  <a:pt x="6886829" y="279399"/>
                </a:lnTo>
                <a:lnTo>
                  <a:pt x="6921296" y="279399"/>
                </a:lnTo>
                <a:lnTo>
                  <a:pt x="6937806" y="317499"/>
                </a:lnTo>
                <a:lnTo>
                  <a:pt x="6951764" y="355599"/>
                </a:lnTo>
                <a:lnTo>
                  <a:pt x="6963054" y="393699"/>
                </a:lnTo>
                <a:lnTo>
                  <a:pt x="6971550" y="431799"/>
                </a:lnTo>
                <a:lnTo>
                  <a:pt x="6977151" y="469899"/>
                </a:lnTo>
                <a:lnTo>
                  <a:pt x="6979221" y="507999"/>
                </a:lnTo>
                <a:lnTo>
                  <a:pt x="6979742" y="520699"/>
                </a:lnTo>
                <a:lnTo>
                  <a:pt x="6979919" y="533399"/>
                </a:lnTo>
                <a:lnTo>
                  <a:pt x="6979831" y="2628900"/>
                </a:lnTo>
                <a:lnTo>
                  <a:pt x="6979742" y="2641600"/>
                </a:lnTo>
                <a:close/>
              </a:path>
              <a:path w="6979920" h="3162300">
                <a:moveTo>
                  <a:pt x="25819" y="2641600"/>
                </a:moveTo>
                <a:lnTo>
                  <a:pt x="25565" y="2641600"/>
                </a:lnTo>
                <a:lnTo>
                  <a:pt x="25565" y="2628900"/>
                </a:lnTo>
                <a:lnTo>
                  <a:pt x="25819" y="2641600"/>
                </a:lnTo>
                <a:close/>
              </a:path>
              <a:path w="6979920" h="3162300">
                <a:moveTo>
                  <a:pt x="6915238" y="2882900"/>
                </a:moveTo>
                <a:lnTo>
                  <a:pt x="6880555" y="2882900"/>
                </a:lnTo>
                <a:lnTo>
                  <a:pt x="6886981" y="2870200"/>
                </a:lnTo>
                <a:lnTo>
                  <a:pt x="6892848" y="2870200"/>
                </a:lnTo>
                <a:lnTo>
                  <a:pt x="6898754" y="2857500"/>
                </a:lnTo>
                <a:lnTo>
                  <a:pt x="6898614" y="2857500"/>
                </a:lnTo>
                <a:lnTo>
                  <a:pt x="6904253" y="2844800"/>
                </a:lnTo>
                <a:lnTo>
                  <a:pt x="6909498" y="2832100"/>
                </a:lnTo>
                <a:lnTo>
                  <a:pt x="6914476" y="2819400"/>
                </a:lnTo>
                <a:lnTo>
                  <a:pt x="6919175" y="2806700"/>
                </a:lnTo>
                <a:lnTo>
                  <a:pt x="6923608" y="2794000"/>
                </a:lnTo>
                <a:lnTo>
                  <a:pt x="6927748" y="2781300"/>
                </a:lnTo>
                <a:lnTo>
                  <a:pt x="6931621" y="2768600"/>
                </a:lnTo>
                <a:lnTo>
                  <a:pt x="6935203" y="2755900"/>
                </a:lnTo>
                <a:lnTo>
                  <a:pt x="6938416" y="2755900"/>
                </a:lnTo>
                <a:lnTo>
                  <a:pt x="6941489" y="2743200"/>
                </a:lnTo>
                <a:lnTo>
                  <a:pt x="6944182" y="2730500"/>
                </a:lnTo>
                <a:lnTo>
                  <a:pt x="6946569" y="2717800"/>
                </a:lnTo>
                <a:lnTo>
                  <a:pt x="6948665" y="2705100"/>
                </a:lnTo>
                <a:lnTo>
                  <a:pt x="6950443" y="2692400"/>
                </a:lnTo>
                <a:lnTo>
                  <a:pt x="6951903" y="2679700"/>
                </a:lnTo>
                <a:lnTo>
                  <a:pt x="6953046" y="2667000"/>
                </a:lnTo>
                <a:lnTo>
                  <a:pt x="6953859" y="2654300"/>
                </a:lnTo>
                <a:lnTo>
                  <a:pt x="6954354" y="2628900"/>
                </a:lnTo>
                <a:lnTo>
                  <a:pt x="6954354" y="2641600"/>
                </a:lnTo>
                <a:lnTo>
                  <a:pt x="6979742" y="2641600"/>
                </a:lnTo>
                <a:lnTo>
                  <a:pt x="6977151" y="2679700"/>
                </a:lnTo>
                <a:lnTo>
                  <a:pt x="6971550" y="2717800"/>
                </a:lnTo>
                <a:lnTo>
                  <a:pt x="6963054" y="2755900"/>
                </a:lnTo>
                <a:lnTo>
                  <a:pt x="6951764" y="2794000"/>
                </a:lnTo>
                <a:lnTo>
                  <a:pt x="6937806" y="2832100"/>
                </a:lnTo>
                <a:lnTo>
                  <a:pt x="6921296" y="2870200"/>
                </a:lnTo>
                <a:lnTo>
                  <a:pt x="6915238" y="2882900"/>
                </a:lnTo>
                <a:close/>
              </a:path>
              <a:path w="6979920" h="3162300">
                <a:moveTo>
                  <a:pt x="44805" y="2755900"/>
                </a:moveTo>
                <a:lnTo>
                  <a:pt x="41503" y="2755900"/>
                </a:lnTo>
                <a:lnTo>
                  <a:pt x="41427" y="2743200"/>
                </a:lnTo>
                <a:lnTo>
                  <a:pt x="44805" y="2755900"/>
                </a:lnTo>
                <a:close/>
              </a:path>
              <a:path w="6979920" h="3162300">
                <a:moveTo>
                  <a:pt x="6938416" y="2755900"/>
                </a:moveTo>
                <a:lnTo>
                  <a:pt x="6935114" y="2755900"/>
                </a:lnTo>
                <a:lnTo>
                  <a:pt x="6938492" y="2743200"/>
                </a:lnTo>
                <a:lnTo>
                  <a:pt x="6938416" y="2755900"/>
                </a:lnTo>
                <a:close/>
              </a:path>
              <a:path w="6979920" h="3162300">
                <a:moveTo>
                  <a:pt x="149961" y="2959100"/>
                </a:moveTo>
                <a:lnTo>
                  <a:pt x="114287" y="2959100"/>
                </a:lnTo>
                <a:lnTo>
                  <a:pt x="106464" y="2946400"/>
                </a:lnTo>
                <a:lnTo>
                  <a:pt x="84429" y="2908300"/>
                </a:lnTo>
                <a:lnTo>
                  <a:pt x="71005" y="2882900"/>
                </a:lnTo>
                <a:lnTo>
                  <a:pt x="99212" y="2882900"/>
                </a:lnTo>
                <a:lnTo>
                  <a:pt x="105892" y="2895600"/>
                </a:lnTo>
                <a:lnTo>
                  <a:pt x="105727" y="2895600"/>
                </a:lnTo>
                <a:lnTo>
                  <a:pt x="112648" y="2908300"/>
                </a:lnTo>
                <a:lnTo>
                  <a:pt x="112483" y="2908300"/>
                </a:lnTo>
                <a:lnTo>
                  <a:pt x="119659" y="2921000"/>
                </a:lnTo>
                <a:lnTo>
                  <a:pt x="119481" y="2921000"/>
                </a:lnTo>
                <a:lnTo>
                  <a:pt x="126885" y="2933700"/>
                </a:lnTo>
                <a:lnTo>
                  <a:pt x="134175" y="2933700"/>
                </a:lnTo>
                <a:lnTo>
                  <a:pt x="142049" y="2946400"/>
                </a:lnTo>
                <a:lnTo>
                  <a:pt x="141858" y="2946400"/>
                </a:lnTo>
                <a:lnTo>
                  <a:pt x="149961" y="2959100"/>
                </a:lnTo>
                <a:close/>
              </a:path>
              <a:path w="6979920" h="3162300">
                <a:moveTo>
                  <a:pt x="6865632" y="2959100"/>
                </a:moveTo>
                <a:lnTo>
                  <a:pt x="6829945" y="2959100"/>
                </a:lnTo>
                <a:lnTo>
                  <a:pt x="6838061" y="2946400"/>
                </a:lnTo>
                <a:lnTo>
                  <a:pt x="6837870" y="2946400"/>
                </a:lnTo>
                <a:lnTo>
                  <a:pt x="6845744" y="2933700"/>
                </a:lnTo>
                <a:lnTo>
                  <a:pt x="6853034" y="2933700"/>
                </a:lnTo>
                <a:lnTo>
                  <a:pt x="6860438" y="2921000"/>
                </a:lnTo>
                <a:lnTo>
                  <a:pt x="6860260" y="2921000"/>
                </a:lnTo>
                <a:lnTo>
                  <a:pt x="6867436" y="2908300"/>
                </a:lnTo>
                <a:lnTo>
                  <a:pt x="6867271" y="2908300"/>
                </a:lnTo>
                <a:lnTo>
                  <a:pt x="6874192" y="2895600"/>
                </a:lnTo>
                <a:lnTo>
                  <a:pt x="6874027" y="2895600"/>
                </a:lnTo>
                <a:lnTo>
                  <a:pt x="6880707" y="2882900"/>
                </a:lnTo>
                <a:lnTo>
                  <a:pt x="6908914" y="2882900"/>
                </a:lnTo>
                <a:lnTo>
                  <a:pt x="6902335" y="2895600"/>
                </a:lnTo>
                <a:lnTo>
                  <a:pt x="6895490" y="2908300"/>
                </a:lnTo>
                <a:lnTo>
                  <a:pt x="6888403" y="2921000"/>
                </a:lnTo>
                <a:lnTo>
                  <a:pt x="6881050" y="2933700"/>
                </a:lnTo>
                <a:lnTo>
                  <a:pt x="6873455" y="2946400"/>
                </a:lnTo>
                <a:lnTo>
                  <a:pt x="6865632" y="2959100"/>
                </a:lnTo>
                <a:close/>
              </a:path>
              <a:path w="6979920" h="3162300">
                <a:moveTo>
                  <a:pt x="134353" y="2933700"/>
                </a:moveTo>
                <a:lnTo>
                  <a:pt x="126885" y="2933700"/>
                </a:lnTo>
                <a:lnTo>
                  <a:pt x="126707" y="2921000"/>
                </a:lnTo>
                <a:lnTo>
                  <a:pt x="134353" y="2933700"/>
                </a:lnTo>
                <a:close/>
              </a:path>
              <a:path w="6979920" h="3162300">
                <a:moveTo>
                  <a:pt x="6853034" y="2933700"/>
                </a:moveTo>
                <a:lnTo>
                  <a:pt x="6845566" y="2933700"/>
                </a:lnTo>
                <a:lnTo>
                  <a:pt x="6853212" y="2921000"/>
                </a:lnTo>
                <a:lnTo>
                  <a:pt x="6853034" y="2933700"/>
                </a:lnTo>
                <a:close/>
              </a:path>
              <a:path w="6979920" h="3162300">
                <a:moveTo>
                  <a:pt x="183781" y="2997200"/>
                </a:moveTo>
                <a:lnTo>
                  <a:pt x="147967" y="2997200"/>
                </a:lnTo>
                <a:lnTo>
                  <a:pt x="139204" y="2984500"/>
                </a:lnTo>
                <a:lnTo>
                  <a:pt x="130670" y="2971800"/>
                </a:lnTo>
                <a:lnTo>
                  <a:pt x="122364" y="2959100"/>
                </a:lnTo>
                <a:lnTo>
                  <a:pt x="157899" y="2959100"/>
                </a:lnTo>
                <a:lnTo>
                  <a:pt x="166446" y="2971800"/>
                </a:lnTo>
                <a:lnTo>
                  <a:pt x="166242" y="2971800"/>
                </a:lnTo>
                <a:lnTo>
                  <a:pt x="175006" y="2984500"/>
                </a:lnTo>
                <a:lnTo>
                  <a:pt x="174802" y="2984500"/>
                </a:lnTo>
                <a:lnTo>
                  <a:pt x="183781" y="2997200"/>
                </a:lnTo>
                <a:close/>
              </a:path>
              <a:path w="6979920" h="3162300">
                <a:moveTo>
                  <a:pt x="6831952" y="2997200"/>
                </a:moveTo>
                <a:lnTo>
                  <a:pt x="6796138" y="2997200"/>
                </a:lnTo>
                <a:lnTo>
                  <a:pt x="6805117" y="2984500"/>
                </a:lnTo>
                <a:lnTo>
                  <a:pt x="6804913" y="2984500"/>
                </a:lnTo>
                <a:lnTo>
                  <a:pt x="6813677" y="2971800"/>
                </a:lnTo>
                <a:lnTo>
                  <a:pt x="6813461" y="2971800"/>
                </a:lnTo>
                <a:lnTo>
                  <a:pt x="6822020" y="2959100"/>
                </a:lnTo>
                <a:lnTo>
                  <a:pt x="6857555" y="2959100"/>
                </a:lnTo>
                <a:lnTo>
                  <a:pt x="6849249" y="2971800"/>
                </a:lnTo>
                <a:lnTo>
                  <a:pt x="6840715" y="2984500"/>
                </a:lnTo>
                <a:lnTo>
                  <a:pt x="6831952" y="2997200"/>
                </a:lnTo>
                <a:close/>
              </a:path>
              <a:path w="6979920" h="3162300">
                <a:moveTo>
                  <a:pt x="220827" y="3022600"/>
                </a:moveTo>
                <a:lnTo>
                  <a:pt x="175552" y="3022600"/>
                </a:lnTo>
                <a:lnTo>
                  <a:pt x="166141" y="3009900"/>
                </a:lnTo>
                <a:lnTo>
                  <a:pt x="156946" y="2997200"/>
                </a:lnTo>
                <a:lnTo>
                  <a:pt x="192519" y="2997200"/>
                </a:lnTo>
                <a:lnTo>
                  <a:pt x="201917" y="3009900"/>
                </a:lnTo>
                <a:lnTo>
                  <a:pt x="211035" y="3009900"/>
                </a:lnTo>
                <a:lnTo>
                  <a:pt x="220827" y="3022600"/>
                </a:lnTo>
                <a:close/>
              </a:path>
              <a:path w="6979920" h="3162300">
                <a:moveTo>
                  <a:pt x="6804367" y="3022600"/>
                </a:moveTo>
                <a:lnTo>
                  <a:pt x="6759092" y="3022600"/>
                </a:lnTo>
                <a:lnTo>
                  <a:pt x="6768871" y="3009900"/>
                </a:lnTo>
                <a:lnTo>
                  <a:pt x="6778002" y="3009900"/>
                </a:lnTo>
                <a:lnTo>
                  <a:pt x="6787400" y="2997200"/>
                </a:lnTo>
                <a:lnTo>
                  <a:pt x="6822973" y="2997200"/>
                </a:lnTo>
                <a:lnTo>
                  <a:pt x="6813778" y="3009900"/>
                </a:lnTo>
                <a:lnTo>
                  <a:pt x="6804367" y="3022600"/>
                </a:lnTo>
                <a:close/>
              </a:path>
              <a:path w="6979920" h="3162300">
                <a:moveTo>
                  <a:pt x="250583" y="3048000"/>
                </a:moveTo>
                <a:lnTo>
                  <a:pt x="205016" y="3048000"/>
                </a:lnTo>
                <a:lnTo>
                  <a:pt x="194995" y="3035300"/>
                </a:lnTo>
                <a:lnTo>
                  <a:pt x="185165" y="3022600"/>
                </a:lnTo>
                <a:lnTo>
                  <a:pt x="220586" y="3022600"/>
                </a:lnTo>
                <a:lnTo>
                  <a:pt x="230568" y="3035300"/>
                </a:lnTo>
                <a:lnTo>
                  <a:pt x="240233" y="3035300"/>
                </a:lnTo>
                <a:lnTo>
                  <a:pt x="250583" y="3048000"/>
                </a:lnTo>
                <a:close/>
              </a:path>
              <a:path w="6979920" h="3162300">
                <a:moveTo>
                  <a:pt x="6774903" y="3048000"/>
                </a:moveTo>
                <a:lnTo>
                  <a:pt x="6729336" y="3048000"/>
                </a:lnTo>
                <a:lnTo>
                  <a:pt x="6739686" y="3035300"/>
                </a:lnTo>
                <a:lnTo>
                  <a:pt x="6749351" y="3035300"/>
                </a:lnTo>
                <a:lnTo>
                  <a:pt x="6759333" y="3022600"/>
                </a:lnTo>
                <a:lnTo>
                  <a:pt x="6794754" y="3022600"/>
                </a:lnTo>
                <a:lnTo>
                  <a:pt x="6784924" y="3035300"/>
                </a:lnTo>
                <a:lnTo>
                  <a:pt x="6774903" y="3048000"/>
                </a:lnTo>
                <a:close/>
              </a:path>
              <a:path w="6979920" h="3162300">
                <a:moveTo>
                  <a:pt x="271297" y="3060700"/>
                </a:moveTo>
                <a:lnTo>
                  <a:pt x="225640" y="3060700"/>
                </a:lnTo>
                <a:lnTo>
                  <a:pt x="215226" y="3048000"/>
                </a:lnTo>
                <a:lnTo>
                  <a:pt x="260603" y="3048000"/>
                </a:lnTo>
                <a:lnTo>
                  <a:pt x="271297" y="3060700"/>
                </a:lnTo>
                <a:close/>
              </a:path>
              <a:path w="6979920" h="3162300">
                <a:moveTo>
                  <a:pt x="6754279" y="3060700"/>
                </a:moveTo>
                <a:lnTo>
                  <a:pt x="6708622" y="3060700"/>
                </a:lnTo>
                <a:lnTo>
                  <a:pt x="6719315" y="3048000"/>
                </a:lnTo>
                <a:lnTo>
                  <a:pt x="6764693" y="3048000"/>
                </a:lnTo>
                <a:lnTo>
                  <a:pt x="6754279" y="3060700"/>
                </a:lnTo>
                <a:close/>
              </a:path>
              <a:path w="6979920" h="3162300">
                <a:moveTo>
                  <a:pt x="314693" y="3086100"/>
                </a:moveTo>
                <a:lnTo>
                  <a:pt x="257975" y="3086100"/>
                </a:lnTo>
                <a:lnTo>
                  <a:pt x="247014" y="3073400"/>
                </a:lnTo>
                <a:lnTo>
                  <a:pt x="236245" y="3060700"/>
                </a:lnTo>
                <a:lnTo>
                  <a:pt x="281647" y="3060700"/>
                </a:lnTo>
                <a:lnTo>
                  <a:pt x="292684" y="3073400"/>
                </a:lnTo>
                <a:lnTo>
                  <a:pt x="303339" y="3073400"/>
                </a:lnTo>
                <a:lnTo>
                  <a:pt x="314693" y="3086100"/>
                </a:lnTo>
                <a:close/>
              </a:path>
              <a:path w="6979920" h="3162300">
                <a:moveTo>
                  <a:pt x="6721944" y="3086100"/>
                </a:moveTo>
                <a:lnTo>
                  <a:pt x="6665226" y="3086100"/>
                </a:lnTo>
                <a:lnTo>
                  <a:pt x="6676580" y="3073400"/>
                </a:lnTo>
                <a:lnTo>
                  <a:pt x="6687235" y="3073400"/>
                </a:lnTo>
                <a:lnTo>
                  <a:pt x="6698272" y="3060700"/>
                </a:lnTo>
                <a:lnTo>
                  <a:pt x="6743674" y="3060700"/>
                </a:lnTo>
                <a:lnTo>
                  <a:pt x="6732905" y="3073400"/>
                </a:lnTo>
                <a:lnTo>
                  <a:pt x="6721944" y="3086100"/>
                </a:lnTo>
                <a:close/>
              </a:path>
              <a:path w="6979920" h="3162300">
                <a:moveTo>
                  <a:pt x="348818" y="3098800"/>
                </a:moveTo>
                <a:lnTo>
                  <a:pt x="280415" y="3098800"/>
                </a:lnTo>
                <a:lnTo>
                  <a:pt x="269113" y="3086100"/>
                </a:lnTo>
                <a:lnTo>
                  <a:pt x="337019" y="3086100"/>
                </a:lnTo>
                <a:lnTo>
                  <a:pt x="348818" y="3098800"/>
                </a:lnTo>
                <a:close/>
              </a:path>
              <a:path w="6979920" h="3162300">
                <a:moveTo>
                  <a:pt x="6699504" y="3098800"/>
                </a:moveTo>
                <a:lnTo>
                  <a:pt x="6631089" y="3098800"/>
                </a:lnTo>
                <a:lnTo>
                  <a:pt x="6642900" y="3086100"/>
                </a:lnTo>
                <a:lnTo>
                  <a:pt x="6710807" y="3086100"/>
                </a:lnTo>
                <a:lnTo>
                  <a:pt x="6699504" y="3098800"/>
                </a:lnTo>
                <a:close/>
              </a:path>
              <a:path w="6979920" h="3162300">
                <a:moveTo>
                  <a:pt x="372275" y="3111500"/>
                </a:moveTo>
                <a:lnTo>
                  <a:pt x="315315" y="3111500"/>
                </a:lnTo>
                <a:lnTo>
                  <a:pt x="303529" y="3098800"/>
                </a:lnTo>
                <a:lnTo>
                  <a:pt x="360184" y="3098800"/>
                </a:lnTo>
                <a:lnTo>
                  <a:pt x="372275" y="3111500"/>
                </a:lnTo>
                <a:close/>
              </a:path>
              <a:path w="6979920" h="3162300">
                <a:moveTo>
                  <a:pt x="6664604" y="3111500"/>
                </a:moveTo>
                <a:lnTo>
                  <a:pt x="6607644" y="3111500"/>
                </a:lnTo>
                <a:lnTo>
                  <a:pt x="6619735" y="3098800"/>
                </a:lnTo>
                <a:lnTo>
                  <a:pt x="6676390" y="3098800"/>
                </a:lnTo>
                <a:lnTo>
                  <a:pt x="6664604" y="3111500"/>
                </a:lnTo>
                <a:close/>
              </a:path>
              <a:path w="6979920" h="3162300">
                <a:moveTo>
                  <a:pt x="420712" y="3124200"/>
                </a:moveTo>
                <a:lnTo>
                  <a:pt x="339356" y="3124200"/>
                </a:lnTo>
                <a:lnTo>
                  <a:pt x="327266" y="3111500"/>
                </a:lnTo>
                <a:lnTo>
                  <a:pt x="408114" y="3111500"/>
                </a:lnTo>
                <a:lnTo>
                  <a:pt x="420712" y="3124200"/>
                </a:lnTo>
                <a:close/>
              </a:path>
              <a:path w="6979920" h="3162300">
                <a:moveTo>
                  <a:pt x="6640563" y="3124200"/>
                </a:moveTo>
                <a:lnTo>
                  <a:pt x="6559207" y="3124200"/>
                </a:lnTo>
                <a:lnTo>
                  <a:pt x="6571805" y="3111500"/>
                </a:lnTo>
                <a:lnTo>
                  <a:pt x="6652653" y="3111500"/>
                </a:lnTo>
                <a:lnTo>
                  <a:pt x="6640563" y="3124200"/>
                </a:lnTo>
                <a:close/>
              </a:path>
              <a:path w="6979920" h="3162300">
                <a:moveTo>
                  <a:pt x="496722" y="3136900"/>
                </a:moveTo>
                <a:lnTo>
                  <a:pt x="376504" y="3136900"/>
                </a:lnTo>
                <a:lnTo>
                  <a:pt x="363981" y="3124200"/>
                </a:lnTo>
                <a:lnTo>
                  <a:pt x="483476" y="3124200"/>
                </a:lnTo>
                <a:lnTo>
                  <a:pt x="496722" y="3136900"/>
                </a:lnTo>
                <a:close/>
              </a:path>
              <a:path w="6979920" h="3162300">
                <a:moveTo>
                  <a:pt x="6603415" y="3136900"/>
                </a:moveTo>
                <a:lnTo>
                  <a:pt x="6483197" y="3136900"/>
                </a:lnTo>
                <a:lnTo>
                  <a:pt x="6496443" y="3124200"/>
                </a:lnTo>
                <a:lnTo>
                  <a:pt x="6615938" y="3124200"/>
                </a:lnTo>
                <a:lnTo>
                  <a:pt x="6603415" y="3136900"/>
                </a:lnTo>
                <a:close/>
              </a:path>
              <a:path w="6979920" h="3162300">
                <a:moveTo>
                  <a:pt x="6565074" y="3149600"/>
                </a:moveTo>
                <a:lnTo>
                  <a:pt x="414845" y="3149600"/>
                </a:lnTo>
                <a:lnTo>
                  <a:pt x="401942" y="3136900"/>
                </a:lnTo>
                <a:lnTo>
                  <a:pt x="6577977" y="3136900"/>
                </a:lnTo>
                <a:lnTo>
                  <a:pt x="6565074" y="3149600"/>
                </a:lnTo>
                <a:close/>
              </a:path>
              <a:path w="6979920" h="3162300">
                <a:moveTo>
                  <a:pt x="6485293" y="3162300"/>
                </a:moveTo>
                <a:lnTo>
                  <a:pt x="494626" y="3162300"/>
                </a:lnTo>
                <a:lnTo>
                  <a:pt x="481075" y="3149600"/>
                </a:lnTo>
                <a:lnTo>
                  <a:pt x="6498844" y="3149600"/>
                </a:lnTo>
                <a:lnTo>
                  <a:pt x="6485293" y="3162300"/>
                </a:lnTo>
                <a:close/>
              </a:path>
            </a:pathLst>
          </a:custGeom>
          <a:solidFill>
            <a:srgbClr val="538235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91279" y="1557654"/>
            <a:ext cx="154940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>
                <a:latin typeface="黑体"/>
                <a:cs typeface="黑体"/>
              </a:rPr>
              <a:t>任务拓展</a:t>
            </a:r>
            <a:endParaRPr sz="3000">
              <a:latin typeface="黑体"/>
              <a:cs typeface="黑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806783" y="1389710"/>
            <a:ext cx="892027" cy="8054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762885" y="3031489"/>
            <a:ext cx="6436360" cy="20720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5245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solidFill>
                  <a:srgbClr val="385622"/>
                </a:solidFill>
                <a:latin typeface="华文楷体"/>
                <a:cs typeface="华文楷体"/>
              </a:rPr>
              <a:t>请同学们查找资料，了解物理学家</a:t>
            </a:r>
            <a:r>
              <a:rPr dirty="0" sz="2800" spc="-10" b="1">
                <a:solidFill>
                  <a:srgbClr val="385622"/>
                </a:solidFill>
                <a:latin typeface="华文楷体"/>
                <a:cs typeface="华文楷体"/>
              </a:rPr>
              <a:t>发</a:t>
            </a:r>
            <a:endParaRPr sz="2800">
              <a:latin typeface="华文楷体"/>
              <a:cs typeface="华文楷体"/>
            </a:endParaRPr>
          </a:p>
          <a:p>
            <a:pPr marL="12700" marR="5080">
              <a:lnSpc>
                <a:spcPct val="189900"/>
              </a:lnSpc>
            </a:pPr>
            <a:r>
              <a:rPr dirty="0" sz="2800" b="1">
                <a:solidFill>
                  <a:srgbClr val="385622"/>
                </a:solidFill>
                <a:latin typeface="华文楷体"/>
                <a:cs typeface="华文楷体"/>
              </a:rPr>
              <a:t>现这些规律的故事，体会科学家的科学</a:t>
            </a:r>
            <a:r>
              <a:rPr dirty="0" sz="2800" spc="-5" b="1">
                <a:solidFill>
                  <a:srgbClr val="385622"/>
                </a:solidFill>
                <a:latin typeface="华文楷体"/>
                <a:cs typeface="华文楷体"/>
              </a:rPr>
              <a:t>态 </a:t>
            </a:r>
            <a:r>
              <a:rPr dirty="0" sz="2800" b="1">
                <a:solidFill>
                  <a:srgbClr val="385622"/>
                </a:solidFill>
                <a:latin typeface="华文楷体"/>
                <a:cs typeface="华文楷体"/>
              </a:rPr>
              <a:t>度和科学精神</a:t>
            </a:r>
            <a:r>
              <a:rPr dirty="0" sz="2800" spc="-10" b="1">
                <a:solidFill>
                  <a:srgbClr val="385622"/>
                </a:solidFill>
                <a:latin typeface="华文楷体"/>
                <a:cs typeface="华文楷体"/>
              </a:rPr>
              <a:t>。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454910" y="2480945"/>
            <a:ext cx="6979920" cy="3162300"/>
          </a:xfrm>
          <a:custGeom>
            <a:avLst/>
            <a:gdLst/>
            <a:ahLst/>
            <a:cxnLst/>
            <a:rect l="l" t="t" r="r" b="b"/>
            <a:pathLst>
              <a:path w="6979920" h="3162300">
                <a:moveTo>
                  <a:pt x="6565074" y="12699"/>
                </a:moveTo>
                <a:lnTo>
                  <a:pt x="414845" y="12699"/>
                </a:lnTo>
                <a:lnTo>
                  <a:pt x="427863" y="0"/>
                </a:lnTo>
                <a:lnTo>
                  <a:pt x="6552057" y="0"/>
                </a:lnTo>
                <a:lnTo>
                  <a:pt x="6565074" y="12699"/>
                </a:lnTo>
                <a:close/>
              </a:path>
              <a:path w="6979920" h="3162300">
                <a:moveTo>
                  <a:pt x="6615938" y="25399"/>
                </a:moveTo>
                <a:lnTo>
                  <a:pt x="363981" y="25399"/>
                </a:lnTo>
                <a:lnTo>
                  <a:pt x="376504" y="12699"/>
                </a:lnTo>
                <a:lnTo>
                  <a:pt x="6603415" y="12699"/>
                </a:lnTo>
                <a:lnTo>
                  <a:pt x="6615938" y="25399"/>
                </a:lnTo>
                <a:close/>
              </a:path>
              <a:path w="6979920" h="3162300">
                <a:moveTo>
                  <a:pt x="420395" y="38099"/>
                </a:moveTo>
                <a:lnTo>
                  <a:pt x="327266" y="38099"/>
                </a:lnTo>
                <a:lnTo>
                  <a:pt x="339356" y="25399"/>
                </a:lnTo>
                <a:lnTo>
                  <a:pt x="433108" y="25399"/>
                </a:lnTo>
                <a:lnTo>
                  <a:pt x="420395" y="38099"/>
                </a:lnTo>
                <a:close/>
              </a:path>
              <a:path w="6979920" h="3162300">
                <a:moveTo>
                  <a:pt x="6652653" y="38099"/>
                </a:moveTo>
                <a:lnTo>
                  <a:pt x="6559524" y="38099"/>
                </a:lnTo>
                <a:lnTo>
                  <a:pt x="6546811" y="25399"/>
                </a:lnTo>
                <a:lnTo>
                  <a:pt x="6640563" y="25399"/>
                </a:lnTo>
                <a:lnTo>
                  <a:pt x="6652653" y="38099"/>
                </a:lnTo>
                <a:close/>
              </a:path>
              <a:path w="6979920" h="3162300">
                <a:moveTo>
                  <a:pt x="371982" y="50799"/>
                </a:moveTo>
                <a:lnTo>
                  <a:pt x="303529" y="50799"/>
                </a:lnTo>
                <a:lnTo>
                  <a:pt x="315315" y="38099"/>
                </a:lnTo>
                <a:lnTo>
                  <a:pt x="384200" y="38099"/>
                </a:lnTo>
                <a:lnTo>
                  <a:pt x="371982" y="50799"/>
                </a:lnTo>
                <a:close/>
              </a:path>
              <a:path w="6979920" h="3162300">
                <a:moveTo>
                  <a:pt x="6676390" y="50799"/>
                </a:moveTo>
                <a:lnTo>
                  <a:pt x="6607936" y="50799"/>
                </a:lnTo>
                <a:lnTo>
                  <a:pt x="6595719" y="38099"/>
                </a:lnTo>
                <a:lnTo>
                  <a:pt x="6664604" y="38099"/>
                </a:lnTo>
                <a:lnTo>
                  <a:pt x="6676390" y="50799"/>
                </a:lnTo>
                <a:close/>
              </a:path>
              <a:path w="6979920" h="3162300">
                <a:moveTo>
                  <a:pt x="337019" y="63499"/>
                </a:moveTo>
                <a:lnTo>
                  <a:pt x="280415" y="63499"/>
                </a:lnTo>
                <a:lnTo>
                  <a:pt x="291896" y="50799"/>
                </a:lnTo>
                <a:lnTo>
                  <a:pt x="348818" y="50799"/>
                </a:lnTo>
                <a:lnTo>
                  <a:pt x="337019" y="63499"/>
                </a:lnTo>
                <a:close/>
              </a:path>
              <a:path w="6979920" h="3162300">
                <a:moveTo>
                  <a:pt x="6699504" y="63499"/>
                </a:moveTo>
                <a:lnTo>
                  <a:pt x="6642900" y="63499"/>
                </a:lnTo>
                <a:lnTo>
                  <a:pt x="6631089" y="50799"/>
                </a:lnTo>
                <a:lnTo>
                  <a:pt x="6688023" y="50799"/>
                </a:lnTo>
                <a:lnTo>
                  <a:pt x="6699504" y="63499"/>
                </a:lnTo>
                <a:close/>
              </a:path>
              <a:path w="6979920" h="3162300">
                <a:moveTo>
                  <a:pt x="303339" y="76199"/>
                </a:moveTo>
                <a:lnTo>
                  <a:pt x="257975" y="76199"/>
                </a:lnTo>
                <a:lnTo>
                  <a:pt x="269113" y="63499"/>
                </a:lnTo>
                <a:lnTo>
                  <a:pt x="314693" y="63499"/>
                </a:lnTo>
                <a:lnTo>
                  <a:pt x="303339" y="76199"/>
                </a:lnTo>
                <a:close/>
              </a:path>
              <a:path w="6979920" h="3162300">
                <a:moveTo>
                  <a:pt x="6721944" y="76199"/>
                </a:moveTo>
                <a:lnTo>
                  <a:pt x="6676580" y="76199"/>
                </a:lnTo>
                <a:lnTo>
                  <a:pt x="6665226" y="63499"/>
                </a:lnTo>
                <a:lnTo>
                  <a:pt x="6710807" y="63499"/>
                </a:lnTo>
                <a:lnTo>
                  <a:pt x="6721944" y="76199"/>
                </a:lnTo>
                <a:close/>
              </a:path>
              <a:path w="6979920" h="3162300">
                <a:moveTo>
                  <a:pt x="281647" y="88899"/>
                </a:moveTo>
                <a:lnTo>
                  <a:pt x="236245" y="88899"/>
                </a:lnTo>
                <a:lnTo>
                  <a:pt x="247014" y="76199"/>
                </a:lnTo>
                <a:lnTo>
                  <a:pt x="292684" y="76199"/>
                </a:lnTo>
                <a:lnTo>
                  <a:pt x="281647" y="88899"/>
                </a:lnTo>
                <a:close/>
              </a:path>
              <a:path w="6979920" h="3162300">
                <a:moveTo>
                  <a:pt x="6743674" y="88899"/>
                </a:moveTo>
                <a:lnTo>
                  <a:pt x="6698272" y="88899"/>
                </a:lnTo>
                <a:lnTo>
                  <a:pt x="6687235" y="76199"/>
                </a:lnTo>
                <a:lnTo>
                  <a:pt x="6732905" y="76199"/>
                </a:lnTo>
                <a:lnTo>
                  <a:pt x="6743674" y="88899"/>
                </a:lnTo>
                <a:close/>
              </a:path>
              <a:path w="6979920" h="3162300">
                <a:moveTo>
                  <a:pt x="260603" y="101599"/>
                </a:moveTo>
                <a:lnTo>
                  <a:pt x="215226" y="101599"/>
                </a:lnTo>
                <a:lnTo>
                  <a:pt x="225640" y="88899"/>
                </a:lnTo>
                <a:lnTo>
                  <a:pt x="271297" y="88899"/>
                </a:lnTo>
                <a:lnTo>
                  <a:pt x="260603" y="101599"/>
                </a:lnTo>
                <a:close/>
              </a:path>
              <a:path w="6979920" h="3162300">
                <a:moveTo>
                  <a:pt x="6764693" y="101599"/>
                </a:moveTo>
                <a:lnTo>
                  <a:pt x="6719315" y="101599"/>
                </a:lnTo>
                <a:lnTo>
                  <a:pt x="6708622" y="88899"/>
                </a:lnTo>
                <a:lnTo>
                  <a:pt x="6754279" y="88899"/>
                </a:lnTo>
                <a:lnTo>
                  <a:pt x="6764693" y="101599"/>
                </a:lnTo>
                <a:close/>
              </a:path>
              <a:path w="6979920" h="3162300">
                <a:moveTo>
                  <a:pt x="220586" y="126999"/>
                </a:moveTo>
                <a:lnTo>
                  <a:pt x="185165" y="126999"/>
                </a:lnTo>
                <a:lnTo>
                  <a:pt x="194995" y="114299"/>
                </a:lnTo>
                <a:lnTo>
                  <a:pt x="205016" y="101599"/>
                </a:lnTo>
                <a:lnTo>
                  <a:pt x="250583" y="101599"/>
                </a:lnTo>
                <a:lnTo>
                  <a:pt x="240233" y="114299"/>
                </a:lnTo>
                <a:lnTo>
                  <a:pt x="230568" y="114299"/>
                </a:lnTo>
                <a:lnTo>
                  <a:pt x="220586" y="126999"/>
                </a:lnTo>
                <a:close/>
              </a:path>
              <a:path w="6979920" h="3162300">
                <a:moveTo>
                  <a:pt x="6794754" y="126999"/>
                </a:moveTo>
                <a:lnTo>
                  <a:pt x="6759333" y="126999"/>
                </a:lnTo>
                <a:lnTo>
                  <a:pt x="6749351" y="114299"/>
                </a:lnTo>
                <a:lnTo>
                  <a:pt x="6739686" y="114299"/>
                </a:lnTo>
                <a:lnTo>
                  <a:pt x="6729336" y="101599"/>
                </a:lnTo>
                <a:lnTo>
                  <a:pt x="6774903" y="101599"/>
                </a:lnTo>
                <a:lnTo>
                  <a:pt x="6784924" y="114299"/>
                </a:lnTo>
                <a:lnTo>
                  <a:pt x="6794754" y="126999"/>
                </a:lnTo>
                <a:close/>
              </a:path>
              <a:path w="6979920" h="3162300">
                <a:moveTo>
                  <a:pt x="183553" y="165099"/>
                </a:moveTo>
                <a:lnTo>
                  <a:pt x="147967" y="165099"/>
                </a:lnTo>
                <a:lnTo>
                  <a:pt x="156946" y="152399"/>
                </a:lnTo>
                <a:lnTo>
                  <a:pt x="166141" y="139699"/>
                </a:lnTo>
                <a:lnTo>
                  <a:pt x="175552" y="126999"/>
                </a:lnTo>
                <a:lnTo>
                  <a:pt x="220827" y="126999"/>
                </a:lnTo>
                <a:lnTo>
                  <a:pt x="211035" y="139699"/>
                </a:lnTo>
                <a:lnTo>
                  <a:pt x="201917" y="139699"/>
                </a:lnTo>
                <a:lnTo>
                  <a:pt x="192519" y="152399"/>
                </a:lnTo>
                <a:lnTo>
                  <a:pt x="192747" y="152399"/>
                </a:lnTo>
                <a:lnTo>
                  <a:pt x="183553" y="165099"/>
                </a:lnTo>
                <a:close/>
              </a:path>
              <a:path w="6979920" h="3162300">
                <a:moveTo>
                  <a:pt x="6831952" y="165099"/>
                </a:moveTo>
                <a:lnTo>
                  <a:pt x="6796354" y="165099"/>
                </a:lnTo>
                <a:lnTo>
                  <a:pt x="6787172" y="152399"/>
                </a:lnTo>
                <a:lnTo>
                  <a:pt x="6787400" y="152399"/>
                </a:lnTo>
                <a:lnTo>
                  <a:pt x="6778002" y="139699"/>
                </a:lnTo>
                <a:lnTo>
                  <a:pt x="6768871" y="139699"/>
                </a:lnTo>
                <a:lnTo>
                  <a:pt x="6759092" y="126999"/>
                </a:lnTo>
                <a:lnTo>
                  <a:pt x="6804367" y="126999"/>
                </a:lnTo>
                <a:lnTo>
                  <a:pt x="6813778" y="139699"/>
                </a:lnTo>
                <a:lnTo>
                  <a:pt x="6822973" y="152399"/>
                </a:lnTo>
                <a:lnTo>
                  <a:pt x="6831952" y="165099"/>
                </a:lnTo>
                <a:close/>
              </a:path>
              <a:path w="6979920" h="3162300">
                <a:moveTo>
                  <a:pt x="141858" y="203199"/>
                </a:moveTo>
                <a:lnTo>
                  <a:pt x="114287" y="203199"/>
                </a:lnTo>
                <a:lnTo>
                  <a:pt x="122364" y="190499"/>
                </a:lnTo>
                <a:lnTo>
                  <a:pt x="130670" y="177799"/>
                </a:lnTo>
                <a:lnTo>
                  <a:pt x="139204" y="165099"/>
                </a:lnTo>
                <a:lnTo>
                  <a:pt x="175006" y="165099"/>
                </a:lnTo>
                <a:lnTo>
                  <a:pt x="166242" y="177799"/>
                </a:lnTo>
                <a:lnTo>
                  <a:pt x="166446" y="177799"/>
                </a:lnTo>
                <a:lnTo>
                  <a:pt x="157899" y="190499"/>
                </a:lnTo>
                <a:lnTo>
                  <a:pt x="149961" y="190499"/>
                </a:lnTo>
                <a:lnTo>
                  <a:pt x="141858" y="203199"/>
                </a:lnTo>
                <a:close/>
              </a:path>
              <a:path w="6979920" h="3162300">
                <a:moveTo>
                  <a:pt x="6865632" y="203199"/>
                </a:moveTo>
                <a:lnTo>
                  <a:pt x="6838061" y="203199"/>
                </a:lnTo>
                <a:lnTo>
                  <a:pt x="6829945" y="190499"/>
                </a:lnTo>
                <a:lnTo>
                  <a:pt x="6822020" y="190499"/>
                </a:lnTo>
                <a:lnTo>
                  <a:pt x="6813461" y="177799"/>
                </a:lnTo>
                <a:lnTo>
                  <a:pt x="6813677" y="177799"/>
                </a:lnTo>
                <a:lnTo>
                  <a:pt x="6804913" y="165099"/>
                </a:lnTo>
                <a:lnTo>
                  <a:pt x="6840715" y="165099"/>
                </a:lnTo>
                <a:lnTo>
                  <a:pt x="6849249" y="177799"/>
                </a:lnTo>
                <a:lnTo>
                  <a:pt x="6857555" y="190499"/>
                </a:lnTo>
                <a:lnTo>
                  <a:pt x="6865632" y="203199"/>
                </a:lnTo>
                <a:close/>
              </a:path>
              <a:path w="6979920" h="3162300">
                <a:moveTo>
                  <a:pt x="92938" y="279399"/>
                </a:moveTo>
                <a:lnTo>
                  <a:pt x="64681" y="279399"/>
                </a:lnTo>
                <a:lnTo>
                  <a:pt x="71005" y="266699"/>
                </a:lnTo>
                <a:lnTo>
                  <a:pt x="91516" y="228599"/>
                </a:lnTo>
                <a:lnTo>
                  <a:pt x="106464" y="203199"/>
                </a:lnTo>
                <a:lnTo>
                  <a:pt x="142049" y="203199"/>
                </a:lnTo>
                <a:lnTo>
                  <a:pt x="134175" y="215899"/>
                </a:lnTo>
                <a:lnTo>
                  <a:pt x="134353" y="215899"/>
                </a:lnTo>
                <a:lnTo>
                  <a:pt x="126707" y="228599"/>
                </a:lnTo>
                <a:lnTo>
                  <a:pt x="119659" y="228599"/>
                </a:lnTo>
                <a:lnTo>
                  <a:pt x="112483" y="241299"/>
                </a:lnTo>
                <a:lnTo>
                  <a:pt x="112648" y="241299"/>
                </a:lnTo>
                <a:lnTo>
                  <a:pt x="105727" y="253999"/>
                </a:lnTo>
                <a:lnTo>
                  <a:pt x="105892" y="253999"/>
                </a:lnTo>
                <a:lnTo>
                  <a:pt x="99212" y="266699"/>
                </a:lnTo>
                <a:lnTo>
                  <a:pt x="99364" y="266699"/>
                </a:lnTo>
                <a:lnTo>
                  <a:pt x="92938" y="279399"/>
                </a:lnTo>
                <a:close/>
              </a:path>
              <a:path w="6979920" h="3162300">
                <a:moveTo>
                  <a:pt x="6915238" y="279399"/>
                </a:moveTo>
                <a:lnTo>
                  <a:pt x="6886981" y="279399"/>
                </a:lnTo>
                <a:lnTo>
                  <a:pt x="6880555" y="266699"/>
                </a:lnTo>
                <a:lnTo>
                  <a:pt x="6880707" y="266699"/>
                </a:lnTo>
                <a:lnTo>
                  <a:pt x="6874027" y="253999"/>
                </a:lnTo>
                <a:lnTo>
                  <a:pt x="6874192" y="253999"/>
                </a:lnTo>
                <a:lnTo>
                  <a:pt x="6867271" y="241299"/>
                </a:lnTo>
                <a:lnTo>
                  <a:pt x="6867436" y="241299"/>
                </a:lnTo>
                <a:lnTo>
                  <a:pt x="6860260" y="228599"/>
                </a:lnTo>
                <a:lnTo>
                  <a:pt x="6853212" y="228599"/>
                </a:lnTo>
                <a:lnTo>
                  <a:pt x="6845566" y="215899"/>
                </a:lnTo>
                <a:lnTo>
                  <a:pt x="6845744" y="215899"/>
                </a:lnTo>
                <a:lnTo>
                  <a:pt x="6837870" y="203199"/>
                </a:lnTo>
                <a:lnTo>
                  <a:pt x="6873455" y="203199"/>
                </a:lnTo>
                <a:lnTo>
                  <a:pt x="6895490" y="241299"/>
                </a:lnTo>
                <a:lnTo>
                  <a:pt x="6908914" y="266699"/>
                </a:lnTo>
                <a:lnTo>
                  <a:pt x="6915238" y="279399"/>
                </a:lnTo>
                <a:close/>
              </a:path>
              <a:path w="6979920" h="3162300">
                <a:moveTo>
                  <a:pt x="99364" y="2882900"/>
                </a:moveTo>
                <a:lnTo>
                  <a:pt x="64681" y="2882900"/>
                </a:lnTo>
                <a:lnTo>
                  <a:pt x="58623" y="2870200"/>
                </a:lnTo>
                <a:lnTo>
                  <a:pt x="42113" y="2832100"/>
                </a:lnTo>
                <a:lnTo>
                  <a:pt x="28155" y="2794000"/>
                </a:lnTo>
                <a:lnTo>
                  <a:pt x="16865" y="2755900"/>
                </a:lnTo>
                <a:lnTo>
                  <a:pt x="8369" y="2717800"/>
                </a:lnTo>
                <a:lnTo>
                  <a:pt x="2768" y="2679700"/>
                </a:lnTo>
                <a:lnTo>
                  <a:pt x="177" y="2641600"/>
                </a:lnTo>
                <a:lnTo>
                  <a:pt x="0" y="533399"/>
                </a:lnTo>
                <a:lnTo>
                  <a:pt x="177" y="520699"/>
                </a:lnTo>
                <a:lnTo>
                  <a:pt x="698" y="507999"/>
                </a:lnTo>
                <a:lnTo>
                  <a:pt x="1562" y="482599"/>
                </a:lnTo>
                <a:lnTo>
                  <a:pt x="6172" y="444499"/>
                </a:lnTo>
                <a:lnTo>
                  <a:pt x="13715" y="406399"/>
                </a:lnTo>
                <a:lnTo>
                  <a:pt x="24091" y="368299"/>
                </a:lnTo>
                <a:lnTo>
                  <a:pt x="37172" y="330199"/>
                </a:lnTo>
                <a:lnTo>
                  <a:pt x="52844" y="292099"/>
                </a:lnTo>
                <a:lnTo>
                  <a:pt x="58623" y="279399"/>
                </a:lnTo>
                <a:lnTo>
                  <a:pt x="93090" y="279399"/>
                </a:lnTo>
                <a:lnTo>
                  <a:pt x="86931" y="292099"/>
                </a:lnTo>
                <a:lnTo>
                  <a:pt x="81305" y="292099"/>
                </a:lnTo>
                <a:lnTo>
                  <a:pt x="75666" y="304799"/>
                </a:lnTo>
                <a:lnTo>
                  <a:pt x="70421" y="317499"/>
                </a:lnTo>
                <a:lnTo>
                  <a:pt x="65443" y="330199"/>
                </a:lnTo>
                <a:lnTo>
                  <a:pt x="60744" y="342899"/>
                </a:lnTo>
                <a:lnTo>
                  <a:pt x="56311" y="355599"/>
                </a:lnTo>
                <a:lnTo>
                  <a:pt x="52171" y="368299"/>
                </a:lnTo>
                <a:lnTo>
                  <a:pt x="48298" y="380999"/>
                </a:lnTo>
                <a:lnTo>
                  <a:pt x="44716" y="393699"/>
                </a:lnTo>
                <a:lnTo>
                  <a:pt x="41427" y="406399"/>
                </a:lnTo>
                <a:lnTo>
                  <a:pt x="38430" y="419099"/>
                </a:lnTo>
                <a:lnTo>
                  <a:pt x="35737" y="431799"/>
                </a:lnTo>
                <a:lnTo>
                  <a:pt x="33350" y="444499"/>
                </a:lnTo>
                <a:lnTo>
                  <a:pt x="31254" y="457199"/>
                </a:lnTo>
                <a:lnTo>
                  <a:pt x="29476" y="469899"/>
                </a:lnTo>
                <a:lnTo>
                  <a:pt x="28016" y="482599"/>
                </a:lnTo>
                <a:lnTo>
                  <a:pt x="26873" y="495299"/>
                </a:lnTo>
                <a:lnTo>
                  <a:pt x="26060" y="507999"/>
                </a:lnTo>
                <a:lnTo>
                  <a:pt x="25565" y="520699"/>
                </a:lnTo>
                <a:lnTo>
                  <a:pt x="25400" y="533399"/>
                </a:lnTo>
                <a:lnTo>
                  <a:pt x="25482" y="2628900"/>
                </a:lnTo>
                <a:lnTo>
                  <a:pt x="25565" y="2641600"/>
                </a:lnTo>
                <a:lnTo>
                  <a:pt x="25819" y="2641600"/>
                </a:lnTo>
                <a:lnTo>
                  <a:pt x="26073" y="2654300"/>
                </a:lnTo>
                <a:lnTo>
                  <a:pt x="26898" y="2667000"/>
                </a:lnTo>
                <a:lnTo>
                  <a:pt x="28054" y="2679700"/>
                </a:lnTo>
                <a:lnTo>
                  <a:pt x="29514" y="2692400"/>
                </a:lnTo>
                <a:lnTo>
                  <a:pt x="31305" y="2705100"/>
                </a:lnTo>
                <a:lnTo>
                  <a:pt x="33400" y="2717800"/>
                </a:lnTo>
                <a:lnTo>
                  <a:pt x="35801" y="2730500"/>
                </a:lnTo>
                <a:lnTo>
                  <a:pt x="38506" y="2743200"/>
                </a:lnTo>
                <a:lnTo>
                  <a:pt x="41503" y="2755900"/>
                </a:lnTo>
                <a:lnTo>
                  <a:pt x="44716" y="2755900"/>
                </a:lnTo>
                <a:lnTo>
                  <a:pt x="48387" y="2768600"/>
                </a:lnTo>
                <a:lnTo>
                  <a:pt x="52260" y="2781300"/>
                </a:lnTo>
                <a:lnTo>
                  <a:pt x="56426" y="2794000"/>
                </a:lnTo>
                <a:lnTo>
                  <a:pt x="60858" y="2806700"/>
                </a:lnTo>
                <a:lnTo>
                  <a:pt x="65570" y="2819400"/>
                </a:lnTo>
                <a:lnTo>
                  <a:pt x="70548" y="2832100"/>
                </a:lnTo>
                <a:lnTo>
                  <a:pt x="75793" y="2844800"/>
                </a:lnTo>
                <a:lnTo>
                  <a:pt x="81305" y="2857500"/>
                </a:lnTo>
                <a:lnTo>
                  <a:pt x="81165" y="2857500"/>
                </a:lnTo>
                <a:lnTo>
                  <a:pt x="87071" y="2870200"/>
                </a:lnTo>
                <a:lnTo>
                  <a:pt x="92938" y="2870200"/>
                </a:lnTo>
                <a:lnTo>
                  <a:pt x="99364" y="2882900"/>
                </a:lnTo>
                <a:close/>
              </a:path>
              <a:path w="6979920" h="3162300">
                <a:moveTo>
                  <a:pt x="6979742" y="2641600"/>
                </a:moveTo>
                <a:lnTo>
                  <a:pt x="6954354" y="2641600"/>
                </a:lnTo>
                <a:lnTo>
                  <a:pt x="6954437" y="2628900"/>
                </a:lnTo>
                <a:lnTo>
                  <a:pt x="6954519" y="533399"/>
                </a:lnTo>
                <a:lnTo>
                  <a:pt x="6954354" y="520699"/>
                </a:lnTo>
                <a:lnTo>
                  <a:pt x="6953846" y="507999"/>
                </a:lnTo>
                <a:lnTo>
                  <a:pt x="6953021" y="495299"/>
                </a:lnTo>
                <a:lnTo>
                  <a:pt x="6951865" y="482599"/>
                </a:lnTo>
                <a:lnTo>
                  <a:pt x="6950405" y="469899"/>
                </a:lnTo>
                <a:lnTo>
                  <a:pt x="6948614" y="457199"/>
                </a:lnTo>
                <a:lnTo>
                  <a:pt x="6946519" y="444499"/>
                </a:lnTo>
                <a:lnTo>
                  <a:pt x="6944118" y="431799"/>
                </a:lnTo>
                <a:lnTo>
                  <a:pt x="6941413" y="419099"/>
                </a:lnTo>
                <a:lnTo>
                  <a:pt x="6938416" y="406399"/>
                </a:lnTo>
                <a:lnTo>
                  <a:pt x="6935114" y="393699"/>
                </a:lnTo>
                <a:lnTo>
                  <a:pt x="6931533" y="380999"/>
                </a:lnTo>
                <a:lnTo>
                  <a:pt x="6927646" y="368299"/>
                </a:lnTo>
                <a:lnTo>
                  <a:pt x="6923493" y="355599"/>
                </a:lnTo>
                <a:lnTo>
                  <a:pt x="6919061" y="342899"/>
                </a:lnTo>
                <a:lnTo>
                  <a:pt x="6914349" y="330199"/>
                </a:lnTo>
                <a:lnTo>
                  <a:pt x="6909371" y="317499"/>
                </a:lnTo>
                <a:lnTo>
                  <a:pt x="6904126" y="304799"/>
                </a:lnTo>
                <a:lnTo>
                  <a:pt x="6898614" y="292099"/>
                </a:lnTo>
                <a:lnTo>
                  <a:pt x="6892988" y="292099"/>
                </a:lnTo>
                <a:lnTo>
                  <a:pt x="6886829" y="279399"/>
                </a:lnTo>
                <a:lnTo>
                  <a:pt x="6921296" y="279399"/>
                </a:lnTo>
                <a:lnTo>
                  <a:pt x="6937806" y="317499"/>
                </a:lnTo>
                <a:lnTo>
                  <a:pt x="6951764" y="355599"/>
                </a:lnTo>
                <a:lnTo>
                  <a:pt x="6963054" y="393699"/>
                </a:lnTo>
                <a:lnTo>
                  <a:pt x="6971550" y="431799"/>
                </a:lnTo>
                <a:lnTo>
                  <a:pt x="6977151" y="469899"/>
                </a:lnTo>
                <a:lnTo>
                  <a:pt x="6979221" y="507999"/>
                </a:lnTo>
                <a:lnTo>
                  <a:pt x="6979742" y="520699"/>
                </a:lnTo>
                <a:lnTo>
                  <a:pt x="6979919" y="533399"/>
                </a:lnTo>
                <a:lnTo>
                  <a:pt x="6979831" y="2628900"/>
                </a:lnTo>
                <a:lnTo>
                  <a:pt x="6979742" y="2641600"/>
                </a:lnTo>
                <a:close/>
              </a:path>
              <a:path w="6979920" h="3162300">
                <a:moveTo>
                  <a:pt x="25819" y="2641600"/>
                </a:moveTo>
                <a:lnTo>
                  <a:pt x="25565" y="2641600"/>
                </a:lnTo>
                <a:lnTo>
                  <a:pt x="25565" y="2628900"/>
                </a:lnTo>
                <a:lnTo>
                  <a:pt x="25819" y="2641600"/>
                </a:lnTo>
                <a:close/>
              </a:path>
              <a:path w="6979920" h="3162300">
                <a:moveTo>
                  <a:pt x="6915238" y="2882900"/>
                </a:moveTo>
                <a:lnTo>
                  <a:pt x="6880555" y="2882900"/>
                </a:lnTo>
                <a:lnTo>
                  <a:pt x="6886981" y="2870200"/>
                </a:lnTo>
                <a:lnTo>
                  <a:pt x="6892848" y="2870200"/>
                </a:lnTo>
                <a:lnTo>
                  <a:pt x="6898754" y="2857500"/>
                </a:lnTo>
                <a:lnTo>
                  <a:pt x="6898614" y="2857500"/>
                </a:lnTo>
                <a:lnTo>
                  <a:pt x="6904253" y="2844800"/>
                </a:lnTo>
                <a:lnTo>
                  <a:pt x="6909498" y="2832100"/>
                </a:lnTo>
                <a:lnTo>
                  <a:pt x="6914476" y="2819400"/>
                </a:lnTo>
                <a:lnTo>
                  <a:pt x="6919175" y="2806700"/>
                </a:lnTo>
                <a:lnTo>
                  <a:pt x="6923608" y="2794000"/>
                </a:lnTo>
                <a:lnTo>
                  <a:pt x="6927748" y="2781300"/>
                </a:lnTo>
                <a:lnTo>
                  <a:pt x="6931621" y="2768600"/>
                </a:lnTo>
                <a:lnTo>
                  <a:pt x="6935203" y="2755900"/>
                </a:lnTo>
                <a:lnTo>
                  <a:pt x="6938416" y="2755900"/>
                </a:lnTo>
                <a:lnTo>
                  <a:pt x="6941489" y="2743200"/>
                </a:lnTo>
                <a:lnTo>
                  <a:pt x="6944182" y="2730500"/>
                </a:lnTo>
                <a:lnTo>
                  <a:pt x="6946569" y="2717800"/>
                </a:lnTo>
                <a:lnTo>
                  <a:pt x="6948665" y="2705100"/>
                </a:lnTo>
                <a:lnTo>
                  <a:pt x="6950443" y="2692400"/>
                </a:lnTo>
                <a:lnTo>
                  <a:pt x="6951903" y="2679700"/>
                </a:lnTo>
                <a:lnTo>
                  <a:pt x="6953046" y="2667000"/>
                </a:lnTo>
                <a:lnTo>
                  <a:pt x="6953859" y="2654300"/>
                </a:lnTo>
                <a:lnTo>
                  <a:pt x="6954354" y="2628900"/>
                </a:lnTo>
                <a:lnTo>
                  <a:pt x="6954354" y="2641600"/>
                </a:lnTo>
                <a:lnTo>
                  <a:pt x="6979742" y="2641600"/>
                </a:lnTo>
                <a:lnTo>
                  <a:pt x="6977151" y="2679700"/>
                </a:lnTo>
                <a:lnTo>
                  <a:pt x="6971550" y="2717800"/>
                </a:lnTo>
                <a:lnTo>
                  <a:pt x="6963054" y="2755900"/>
                </a:lnTo>
                <a:lnTo>
                  <a:pt x="6951764" y="2794000"/>
                </a:lnTo>
                <a:lnTo>
                  <a:pt x="6937806" y="2832100"/>
                </a:lnTo>
                <a:lnTo>
                  <a:pt x="6921296" y="2870200"/>
                </a:lnTo>
                <a:lnTo>
                  <a:pt x="6915238" y="2882900"/>
                </a:lnTo>
                <a:close/>
              </a:path>
              <a:path w="6979920" h="3162300">
                <a:moveTo>
                  <a:pt x="44805" y="2755900"/>
                </a:moveTo>
                <a:lnTo>
                  <a:pt x="41503" y="2755900"/>
                </a:lnTo>
                <a:lnTo>
                  <a:pt x="41427" y="2743200"/>
                </a:lnTo>
                <a:lnTo>
                  <a:pt x="44805" y="2755900"/>
                </a:lnTo>
                <a:close/>
              </a:path>
              <a:path w="6979920" h="3162300">
                <a:moveTo>
                  <a:pt x="6938416" y="2755900"/>
                </a:moveTo>
                <a:lnTo>
                  <a:pt x="6935114" y="2755900"/>
                </a:lnTo>
                <a:lnTo>
                  <a:pt x="6938492" y="2743200"/>
                </a:lnTo>
                <a:lnTo>
                  <a:pt x="6938416" y="2755900"/>
                </a:lnTo>
                <a:close/>
              </a:path>
              <a:path w="6979920" h="3162300">
                <a:moveTo>
                  <a:pt x="149961" y="2959100"/>
                </a:moveTo>
                <a:lnTo>
                  <a:pt x="114287" y="2959100"/>
                </a:lnTo>
                <a:lnTo>
                  <a:pt x="106464" y="2946400"/>
                </a:lnTo>
                <a:lnTo>
                  <a:pt x="84429" y="2908300"/>
                </a:lnTo>
                <a:lnTo>
                  <a:pt x="71005" y="2882900"/>
                </a:lnTo>
                <a:lnTo>
                  <a:pt x="99212" y="2882900"/>
                </a:lnTo>
                <a:lnTo>
                  <a:pt x="105892" y="2895600"/>
                </a:lnTo>
                <a:lnTo>
                  <a:pt x="105727" y="2895600"/>
                </a:lnTo>
                <a:lnTo>
                  <a:pt x="112648" y="2908300"/>
                </a:lnTo>
                <a:lnTo>
                  <a:pt x="112483" y="2908300"/>
                </a:lnTo>
                <a:lnTo>
                  <a:pt x="119659" y="2921000"/>
                </a:lnTo>
                <a:lnTo>
                  <a:pt x="119481" y="2921000"/>
                </a:lnTo>
                <a:lnTo>
                  <a:pt x="126885" y="2933700"/>
                </a:lnTo>
                <a:lnTo>
                  <a:pt x="134175" y="2933700"/>
                </a:lnTo>
                <a:lnTo>
                  <a:pt x="142049" y="2946400"/>
                </a:lnTo>
                <a:lnTo>
                  <a:pt x="141858" y="2946400"/>
                </a:lnTo>
                <a:lnTo>
                  <a:pt x="149961" y="2959100"/>
                </a:lnTo>
                <a:close/>
              </a:path>
              <a:path w="6979920" h="3162300">
                <a:moveTo>
                  <a:pt x="6865632" y="2959100"/>
                </a:moveTo>
                <a:lnTo>
                  <a:pt x="6829945" y="2959100"/>
                </a:lnTo>
                <a:lnTo>
                  <a:pt x="6838061" y="2946400"/>
                </a:lnTo>
                <a:lnTo>
                  <a:pt x="6837870" y="2946400"/>
                </a:lnTo>
                <a:lnTo>
                  <a:pt x="6845744" y="2933700"/>
                </a:lnTo>
                <a:lnTo>
                  <a:pt x="6853034" y="2933700"/>
                </a:lnTo>
                <a:lnTo>
                  <a:pt x="6860438" y="2921000"/>
                </a:lnTo>
                <a:lnTo>
                  <a:pt x="6860260" y="2921000"/>
                </a:lnTo>
                <a:lnTo>
                  <a:pt x="6867436" y="2908300"/>
                </a:lnTo>
                <a:lnTo>
                  <a:pt x="6867271" y="2908300"/>
                </a:lnTo>
                <a:lnTo>
                  <a:pt x="6874192" y="2895600"/>
                </a:lnTo>
                <a:lnTo>
                  <a:pt x="6874027" y="2895600"/>
                </a:lnTo>
                <a:lnTo>
                  <a:pt x="6880707" y="2882900"/>
                </a:lnTo>
                <a:lnTo>
                  <a:pt x="6908914" y="2882900"/>
                </a:lnTo>
                <a:lnTo>
                  <a:pt x="6902335" y="2895600"/>
                </a:lnTo>
                <a:lnTo>
                  <a:pt x="6895490" y="2908300"/>
                </a:lnTo>
                <a:lnTo>
                  <a:pt x="6888403" y="2921000"/>
                </a:lnTo>
                <a:lnTo>
                  <a:pt x="6881050" y="2933700"/>
                </a:lnTo>
                <a:lnTo>
                  <a:pt x="6873455" y="2946400"/>
                </a:lnTo>
                <a:lnTo>
                  <a:pt x="6865632" y="2959100"/>
                </a:lnTo>
                <a:close/>
              </a:path>
              <a:path w="6979920" h="3162300">
                <a:moveTo>
                  <a:pt x="134353" y="2933700"/>
                </a:moveTo>
                <a:lnTo>
                  <a:pt x="126885" y="2933700"/>
                </a:lnTo>
                <a:lnTo>
                  <a:pt x="126707" y="2921000"/>
                </a:lnTo>
                <a:lnTo>
                  <a:pt x="134353" y="2933700"/>
                </a:lnTo>
                <a:close/>
              </a:path>
              <a:path w="6979920" h="3162300">
                <a:moveTo>
                  <a:pt x="6853034" y="2933700"/>
                </a:moveTo>
                <a:lnTo>
                  <a:pt x="6845566" y="2933700"/>
                </a:lnTo>
                <a:lnTo>
                  <a:pt x="6853212" y="2921000"/>
                </a:lnTo>
                <a:lnTo>
                  <a:pt x="6853034" y="2933700"/>
                </a:lnTo>
                <a:close/>
              </a:path>
              <a:path w="6979920" h="3162300">
                <a:moveTo>
                  <a:pt x="183781" y="2997200"/>
                </a:moveTo>
                <a:lnTo>
                  <a:pt x="147967" y="2997200"/>
                </a:lnTo>
                <a:lnTo>
                  <a:pt x="139204" y="2984500"/>
                </a:lnTo>
                <a:lnTo>
                  <a:pt x="130670" y="2971800"/>
                </a:lnTo>
                <a:lnTo>
                  <a:pt x="122364" y="2959100"/>
                </a:lnTo>
                <a:lnTo>
                  <a:pt x="157899" y="2959100"/>
                </a:lnTo>
                <a:lnTo>
                  <a:pt x="166446" y="2971800"/>
                </a:lnTo>
                <a:lnTo>
                  <a:pt x="166242" y="2971800"/>
                </a:lnTo>
                <a:lnTo>
                  <a:pt x="175006" y="2984500"/>
                </a:lnTo>
                <a:lnTo>
                  <a:pt x="174802" y="2984500"/>
                </a:lnTo>
                <a:lnTo>
                  <a:pt x="183781" y="2997200"/>
                </a:lnTo>
                <a:close/>
              </a:path>
              <a:path w="6979920" h="3162300">
                <a:moveTo>
                  <a:pt x="6831952" y="2997200"/>
                </a:moveTo>
                <a:lnTo>
                  <a:pt x="6796138" y="2997200"/>
                </a:lnTo>
                <a:lnTo>
                  <a:pt x="6805117" y="2984500"/>
                </a:lnTo>
                <a:lnTo>
                  <a:pt x="6804913" y="2984500"/>
                </a:lnTo>
                <a:lnTo>
                  <a:pt x="6813677" y="2971800"/>
                </a:lnTo>
                <a:lnTo>
                  <a:pt x="6813461" y="2971800"/>
                </a:lnTo>
                <a:lnTo>
                  <a:pt x="6822020" y="2959100"/>
                </a:lnTo>
                <a:lnTo>
                  <a:pt x="6857555" y="2959100"/>
                </a:lnTo>
                <a:lnTo>
                  <a:pt x="6849249" y="2971800"/>
                </a:lnTo>
                <a:lnTo>
                  <a:pt x="6840715" y="2984500"/>
                </a:lnTo>
                <a:lnTo>
                  <a:pt x="6831952" y="2997200"/>
                </a:lnTo>
                <a:close/>
              </a:path>
              <a:path w="6979920" h="3162300">
                <a:moveTo>
                  <a:pt x="220827" y="3022600"/>
                </a:moveTo>
                <a:lnTo>
                  <a:pt x="175552" y="3022600"/>
                </a:lnTo>
                <a:lnTo>
                  <a:pt x="166141" y="3009900"/>
                </a:lnTo>
                <a:lnTo>
                  <a:pt x="156946" y="2997200"/>
                </a:lnTo>
                <a:lnTo>
                  <a:pt x="192519" y="2997200"/>
                </a:lnTo>
                <a:lnTo>
                  <a:pt x="201917" y="3009900"/>
                </a:lnTo>
                <a:lnTo>
                  <a:pt x="211035" y="3009900"/>
                </a:lnTo>
                <a:lnTo>
                  <a:pt x="220827" y="3022600"/>
                </a:lnTo>
                <a:close/>
              </a:path>
              <a:path w="6979920" h="3162300">
                <a:moveTo>
                  <a:pt x="6804367" y="3022600"/>
                </a:moveTo>
                <a:lnTo>
                  <a:pt x="6759092" y="3022600"/>
                </a:lnTo>
                <a:lnTo>
                  <a:pt x="6768871" y="3009900"/>
                </a:lnTo>
                <a:lnTo>
                  <a:pt x="6778002" y="3009900"/>
                </a:lnTo>
                <a:lnTo>
                  <a:pt x="6787400" y="2997200"/>
                </a:lnTo>
                <a:lnTo>
                  <a:pt x="6822973" y="2997200"/>
                </a:lnTo>
                <a:lnTo>
                  <a:pt x="6813778" y="3009900"/>
                </a:lnTo>
                <a:lnTo>
                  <a:pt x="6804367" y="3022600"/>
                </a:lnTo>
                <a:close/>
              </a:path>
              <a:path w="6979920" h="3162300">
                <a:moveTo>
                  <a:pt x="250583" y="3048000"/>
                </a:moveTo>
                <a:lnTo>
                  <a:pt x="205016" y="3048000"/>
                </a:lnTo>
                <a:lnTo>
                  <a:pt x="194995" y="3035300"/>
                </a:lnTo>
                <a:lnTo>
                  <a:pt x="185165" y="3022600"/>
                </a:lnTo>
                <a:lnTo>
                  <a:pt x="220586" y="3022600"/>
                </a:lnTo>
                <a:lnTo>
                  <a:pt x="230568" y="3035300"/>
                </a:lnTo>
                <a:lnTo>
                  <a:pt x="240233" y="3035300"/>
                </a:lnTo>
                <a:lnTo>
                  <a:pt x="250583" y="3048000"/>
                </a:lnTo>
                <a:close/>
              </a:path>
              <a:path w="6979920" h="3162300">
                <a:moveTo>
                  <a:pt x="6774903" y="3048000"/>
                </a:moveTo>
                <a:lnTo>
                  <a:pt x="6729336" y="3048000"/>
                </a:lnTo>
                <a:lnTo>
                  <a:pt x="6739686" y="3035300"/>
                </a:lnTo>
                <a:lnTo>
                  <a:pt x="6749351" y="3035300"/>
                </a:lnTo>
                <a:lnTo>
                  <a:pt x="6759333" y="3022600"/>
                </a:lnTo>
                <a:lnTo>
                  <a:pt x="6794754" y="3022600"/>
                </a:lnTo>
                <a:lnTo>
                  <a:pt x="6784924" y="3035300"/>
                </a:lnTo>
                <a:lnTo>
                  <a:pt x="6774903" y="3048000"/>
                </a:lnTo>
                <a:close/>
              </a:path>
              <a:path w="6979920" h="3162300">
                <a:moveTo>
                  <a:pt x="271297" y="3060700"/>
                </a:moveTo>
                <a:lnTo>
                  <a:pt x="225640" y="3060700"/>
                </a:lnTo>
                <a:lnTo>
                  <a:pt x="215226" y="3048000"/>
                </a:lnTo>
                <a:lnTo>
                  <a:pt x="260603" y="3048000"/>
                </a:lnTo>
                <a:lnTo>
                  <a:pt x="271297" y="3060700"/>
                </a:lnTo>
                <a:close/>
              </a:path>
              <a:path w="6979920" h="3162300">
                <a:moveTo>
                  <a:pt x="6754279" y="3060700"/>
                </a:moveTo>
                <a:lnTo>
                  <a:pt x="6708622" y="3060700"/>
                </a:lnTo>
                <a:lnTo>
                  <a:pt x="6719315" y="3048000"/>
                </a:lnTo>
                <a:lnTo>
                  <a:pt x="6764693" y="3048000"/>
                </a:lnTo>
                <a:lnTo>
                  <a:pt x="6754279" y="3060700"/>
                </a:lnTo>
                <a:close/>
              </a:path>
              <a:path w="6979920" h="3162300">
                <a:moveTo>
                  <a:pt x="314693" y="3086100"/>
                </a:moveTo>
                <a:lnTo>
                  <a:pt x="257975" y="3086100"/>
                </a:lnTo>
                <a:lnTo>
                  <a:pt x="247014" y="3073400"/>
                </a:lnTo>
                <a:lnTo>
                  <a:pt x="236245" y="3060700"/>
                </a:lnTo>
                <a:lnTo>
                  <a:pt x="281647" y="3060700"/>
                </a:lnTo>
                <a:lnTo>
                  <a:pt x="292684" y="3073400"/>
                </a:lnTo>
                <a:lnTo>
                  <a:pt x="303339" y="3073400"/>
                </a:lnTo>
                <a:lnTo>
                  <a:pt x="314693" y="3086100"/>
                </a:lnTo>
                <a:close/>
              </a:path>
              <a:path w="6979920" h="3162300">
                <a:moveTo>
                  <a:pt x="6721944" y="3086100"/>
                </a:moveTo>
                <a:lnTo>
                  <a:pt x="6665226" y="3086100"/>
                </a:lnTo>
                <a:lnTo>
                  <a:pt x="6676580" y="3073400"/>
                </a:lnTo>
                <a:lnTo>
                  <a:pt x="6687235" y="3073400"/>
                </a:lnTo>
                <a:lnTo>
                  <a:pt x="6698272" y="3060700"/>
                </a:lnTo>
                <a:lnTo>
                  <a:pt x="6743674" y="3060700"/>
                </a:lnTo>
                <a:lnTo>
                  <a:pt x="6732905" y="3073400"/>
                </a:lnTo>
                <a:lnTo>
                  <a:pt x="6721944" y="3086100"/>
                </a:lnTo>
                <a:close/>
              </a:path>
              <a:path w="6979920" h="3162300">
                <a:moveTo>
                  <a:pt x="348818" y="3098800"/>
                </a:moveTo>
                <a:lnTo>
                  <a:pt x="280415" y="3098800"/>
                </a:lnTo>
                <a:lnTo>
                  <a:pt x="269113" y="3086100"/>
                </a:lnTo>
                <a:lnTo>
                  <a:pt x="337019" y="3086100"/>
                </a:lnTo>
                <a:lnTo>
                  <a:pt x="348818" y="3098800"/>
                </a:lnTo>
                <a:close/>
              </a:path>
              <a:path w="6979920" h="3162300">
                <a:moveTo>
                  <a:pt x="6699504" y="3098800"/>
                </a:moveTo>
                <a:lnTo>
                  <a:pt x="6631089" y="3098800"/>
                </a:lnTo>
                <a:lnTo>
                  <a:pt x="6642900" y="3086100"/>
                </a:lnTo>
                <a:lnTo>
                  <a:pt x="6710807" y="3086100"/>
                </a:lnTo>
                <a:lnTo>
                  <a:pt x="6699504" y="3098800"/>
                </a:lnTo>
                <a:close/>
              </a:path>
              <a:path w="6979920" h="3162300">
                <a:moveTo>
                  <a:pt x="372275" y="3111500"/>
                </a:moveTo>
                <a:lnTo>
                  <a:pt x="315315" y="3111500"/>
                </a:lnTo>
                <a:lnTo>
                  <a:pt x="303529" y="3098800"/>
                </a:lnTo>
                <a:lnTo>
                  <a:pt x="360184" y="3098800"/>
                </a:lnTo>
                <a:lnTo>
                  <a:pt x="372275" y="3111500"/>
                </a:lnTo>
                <a:close/>
              </a:path>
              <a:path w="6979920" h="3162300">
                <a:moveTo>
                  <a:pt x="6664604" y="3111500"/>
                </a:moveTo>
                <a:lnTo>
                  <a:pt x="6607644" y="3111500"/>
                </a:lnTo>
                <a:lnTo>
                  <a:pt x="6619735" y="3098800"/>
                </a:lnTo>
                <a:lnTo>
                  <a:pt x="6676390" y="3098800"/>
                </a:lnTo>
                <a:lnTo>
                  <a:pt x="6664604" y="3111500"/>
                </a:lnTo>
                <a:close/>
              </a:path>
              <a:path w="6979920" h="3162300">
                <a:moveTo>
                  <a:pt x="420712" y="3124200"/>
                </a:moveTo>
                <a:lnTo>
                  <a:pt x="339356" y="3124200"/>
                </a:lnTo>
                <a:lnTo>
                  <a:pt x="327266" y="3111500"/>
                </a:lnTo>
                <a:lnTo>
                  <a:pt x="408114" y="3111500"/>
                </a:lnTo>
                <a:lnTo>
                  <a:pt x="420712" y="3124200"/>
                </a:lnTo>
                <a:close/>
              </a:path>
              <a:path w="6979920" h="3162300">
                <a:moveTo>
                  <a:pt x="6640563" y="3124200"/>
                </a:moveTo>
                <a:lnTo>
                  <a:pt x="6559207" y="3124200"/>
                </a:lnTo>
                <a:lnTo>
                  <a:pt x="6571805" y="3111500"/>
                </a:lnTo>
                <a:lnTo>
                  <a:pt x="6652653" y="3111500"/>
                </a:lnTo>
                <a:lnTo>
                  <a:pt x="6640563" y="3124200"/>
                </a:lnTo>
                <a:close/>
              </a:path>
              <a:path w="6979920" h="3162300">
                <a:moveTo>
                  <a:pt x="496722" y="3136900"/>
                </a:moveTo>
                <a:lnTo>
                  <a:pt x="376504" y="3136900"/>
                </a:lnTo>
                <a:lnTo>
                  <a:pt x="363981" y="3124200"/>
                </a:lnTo>
                <a:lnTo>
                  <a:pt x="483476" y="3124200"/>
                </a:lnTo>
                <a:lnTo>
                  <a:pt x="496722" y="3136900"/>
                </a:lnTo>
                <a:close/>
              </a:path>
              <a:path w="6979920" h="3162300">
                <a:moveTo>
                  <a:pt x="6603415" y="3136900"/>
                </a:moveTo>
                <a:lnTo>
                  <a:pt x="6483197" y="3136900"/>
                </a:lnTo>
                <a:lnTo>
                  <a:pt x="6496443" y="3124200"/>
                </a:lnTo>
                <a:lnTo>
                  <a:pt x="6615938" y="3124200"/>
                </a:lnTo>
                <a:lnTo>
                  <a:pt x="6603415" y="3136900"/>
                </a:lnTo>
                <a:close/>
              </a:path>
              <a:path w="6979920" h="3162300">
                <a:moveTo>
                  <a:pt x="6565074" y="3149600"/>
                </a:moveTo>
                <a:lnTo>
                  <a:pt x="414845" y="3149600"/>
                </a:lnTo>
                <a:lnTo>
                  <a:pt x="401942" y="3136900"/>
                </a:lnTo>
                <a:lnTo>
                  <a:pt x="6577977" y="3136900"/>
                </a:lnTo>
                <a:lnTo>
                  <a:pt x="6565074" y="3149600"/>
                </a:lnTo>
                <a:close/>
              </a:path>
              <a:path w="6979920" h="3162300">
                <a:moveTo>
                  <a:pt x="6485293" y="3162300"/>
                </a:moveTo>
                <a:lnTo>
                  <a:pt x="494626" y="3162300"/>
                </a:lnTo>
                <a:lnTo>
                  <a:pt x="481075" y="3149600"/>
                </a:lnTo>
                <a:lnTo>
                  <a:pt x="6498844" y="3149600"/>
                </a:lnTo>
                <a:lnTo>
                  <a:pt x="6485293" y="3162300"/>
                </a:lnTo>
                <a:close/>
              </a:path>
            </a:pathLst>
          </a:custGeom>
          <a:solidFill>
            <a:srgbClr val="538235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2025-04-20T14:08:54Z</dcterms:created>
  <dcterms:modified xsi:type="dcterms:W3CDTF">2025-04-20T14:08:54Z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2024-03-01T00:00:00Z</vt:filetime>
  </property>
  <property fmtid="{D5CDD505-2E9C-101B-9397-08002B2CF9AE}" pid="3" name="Creator">
    <vt:lpwstr>WPS 演示</vt:lpwstr>
  </property>
  <property fmtid="{D5CDD505-2E9C-101B-9397-08002B2CF9AE}" pid="4" name="LastSaved">
    <vt:filetime>2025-04-20T00:00:00Z</vt:filetime>
  </property>
</Properties>
</file>