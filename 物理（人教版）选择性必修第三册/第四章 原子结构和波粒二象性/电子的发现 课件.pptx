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0705" y="-27063"/>
            <a:ext cx="802258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0705" y="-27063"/>
            <a:ext cx="155130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286" y="1004836"/>
            <a:ext cx="7880350" cy="1541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3943" y="1756803"/>
            <a:ext cx="25647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0">
                <a:solidFill>
                  <a:srgbClr val="FFFFFF"/>
                </a:solidFill>
                <a:latin typeface="微软雅黑"/>
                <a:cs typeface="微软雅黑"/>
              </a:rPr>
              <a:t>电子的发</a:t>
            </a:r>
            <a:r>
              <a:rPr dirty="0" sz="4000" spc="-5" i="0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0054" y="2585961"/>
            <a:ext cx="2548255" cy="77216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主讲人：赵贺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林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472440" algn="l"/>
              </a:tabLst>
            </a:pP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4684" y="2585961"/>
            <a:ext cx="289433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36100"/>
              </a:lnSpc>
              <a:spcBef>
                <a:spcPts val="100"/>
              </a:spcBef>
              <a:tabLst>
                <a:tab pos="472440" algn="l"/>
                <a:tab pos="535940" algn="l"/>
              </a:tabLst>
            </a:pP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	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1800" spc="455" b="1" i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5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8331" y="1054506"/>
            <a:ext cx="6783070" cy="1861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spc="-5">
                <a:latin typeface="微软雅黑"/>
                <a:cs typeface="微软雅黑"/>
              </a:rPr>
              <a:t>19</a:t>
            </a:r>
            <a:r>
              <a:rPr dirty="0" sz="2400">
                <a:latin typeface="微软雅黑"/>
                <a:cs typeface="微软雅黑"/>
              </a:rPr>
              <a:t>世纪末，科学家们发现了电子，从而认识到：原 子是可以分割的，是由更小的微粒组成的。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那么，电子是如何被科学家发现的呢？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491484" y="1357883"/>
            <a:ext cx="2572512" cy="1353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90295" y="1801113"/>
            <a:ext cx="7797800" cy="2801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88645" marR="542226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楷体"/>
                <a:cs typeface="楷体"/>
              </a:rPr>
              <a:t>真空玻璃管壁</a:t>
            </a:r>
            <a:r>
              <a:rPr dirty="0" sz="2000">
                <a:latin typeface="楷体"/>
                <a:cs typeface="楷体"/>
              </a:rPr>
              <a:t>上 </a:t>
            </a:r>
            <a:r>
              <a:rPr dirty="0" sz="2000">
                <a:latin typeface="楷体"/>
                <a:cs typeface="楷体"/>
              </a:rPr>
              <a:t>的荧光及阴</a:t>
            </a:r>
            <a:r>
              <a:rPr dirty="0" sz="2000" spc="5">
                <a:latin typeface="楷体"/>
                <a:cs typeface="楷体"/>
              </a:rPr>
              <a:t>影</a:t>
            </a:r>
            <a:endParaRPr sz="20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125730" indent="102870">
              <a:lnSpc>
                <a:spcPct val="125000"/>
              </a:lnSpc>
            </a:pPr>
            <a:r>
              <a:rPr dirty="0" sz="1800">
                <a:latin typeface="宋体"/>
                <a:cs typeface="宋体"/>
              </a:rPr>
              <a:t>早在</a:t>
            </a:r>
            <a:r>
              <a:rPr dirty="0" sz="1800" spc="-5">
                <a:latin typeface="Calibri"/>
                <a:cs typeface="Calibri"/>
              </a:rPr>
              <a:t>1858</a:t>
            </a:r>
            <a:r>
              <a:rPr dirty="0" sz="1800">
                <a:latin typeface="宋体"/>
                <a:cs typeface="宋体"/>
              </a:rPr>
              <a:t>年，德国物理学家普吕克尔就在类似的实验中看到了玻璃壁上淡淡 的荧光及管中物体在玻璃壁上的影。</a:t>
            </a:r>
            <a:endParaRPr sz="1800">
              <a:latin typeface="宋体"/>
              <a:cs typeface="宋体"/>
            </a:endParaRPr>
          </a:p>
          <a:p>
            <a:pPr marL="12700" marR="5080" indent="102870">
              <a:lnSpc>
                <a:spcPct val="125000"/>
              </a:lnSpc>
            </a:pPr>
            <a:r>
              <a:rPr dirty="0" sz="1800">
                <a:latin typeface="宋体"/>
                <a:cs typeface="宋体"/>
              </a:rPr>
              <a:t>管中物体的影说明射线是直线传播的。</a:t>
            </a:r>
            <a:r>
              <a:rPr dirty="0" sz="1800" spc="-5">
                <a:latin typeface="Calibri"/>
                <a:cs typeface="Calibri"/>
              </a:rPr>
              <a:t>1876</a:t>
            </a:r>
            <a:r>
              <a:rPr dirty="0" sz="1800">
                <a:latin typeface="宋体"/>
                <a:cs typeface="宋体"/>
              </a:rPr>
              <a:t>年，德国物理学家戈德斯坦认为 管壁上的荧光是由于玻璃受到阴极发出的某种射线的撞击而引起的，并把这种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800">
                <a:latin typeface="宋体"/>
                <a:cs typeface="宋体"/>
              </a:rPr>
              <a:t>射线命名为</a:t>
            </a:r>
            <a:r>
              <a:rPr dirty="0" sz="2000" b="1">
                <a:latin typeface="宋体"/>
                <a:cs typeface="宋体"/>
              </a:rPr>
              <a:t>阴极射线</a:t>
            </a:r>
            <a:r>
              <a:rPr dirty="0" sz="1800" spc="-10" b="1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935" y="609346"/>
            <a:ext cx="4902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电子的发现是从研究阴极射线开始的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949972"/>
            <a:ext cx="7392034" cy="215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202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阴极射线的本质------电子发现的历程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微软雅黑"/>
                <a:cs typeface="微软雅黑"/>
              </a:rPr>
              <a:t>19</a:t>
            </a:r>
            <a:r>
              <a:rPr dirty="0" sz="2000">
                <a:latin typeface="微软雅黑"/>
                <a:cs typeface="微软雅黑"/>
              </a:rPr>
              <a:t>世纪，对阴极射线的本质的认识有两种观点</a:t>
            </a:r>
            <a:r>
              <a:rPr dirty="0" sz="2000" spc="5"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</a:pPr>
            <a:r>
              <a:rPr dirty="0" sz="2000">
                <a:latin typeface="微软雅黑"/>
                <a:cs typeface="微软雅黑"/>
              </a:rPr>
              <a:t>一种观点认为阴极射线是一种电磁辐射，另一种观点认为阴极射</a:t>
            </a:r>
            <a:r>
              <a:rPr dirty="0" sz="2000">
                <a:latin typeface="微软雅黑"/>
                <a:cs typeface="微软雅黑"/>
              </a:rPr>
              <a:t>线 </a:t>
            </a:r>
            <a:r>
              <a:rPr dirty="0" sz="2000">
                <a:latin typeface="微软雅黑"/>
                <a:cs typeface="微软雅黑"/>
              </a:rPr>
              <a:t>是带电微粒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99160" y="1923288"/>
            <a:ext cx="4248912" cy="3026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6277" y="929665"/>
            <a:ext cx="7463155" cy="305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08000">
              <a:lnSpc>
                <a:spcPct val="125000"/>
              </a:lnSpc>
              <a:spcBef>
                <a:spcPts val="100"/>
              </a:spcBef>
            </a:pPr>
            <a:r>
              <a:rPr dirty="0" sz="2000">
                <a:latin typeface="微软雅黑"/>
                <a:cs typeface="微软雅黑"/>
              </a:rPr>
              <a:t>英国物理学家</a:t>
            </a:r>
            <a:r>
              <a:rPr dirty="0" sz="2000" spc="-5">
                <a:latin typeface="Times New Roman"/>
                <a:cs typeface="Times New Roman"/>
              </a:rPr>
              <a:t>J.J.</a:t>
            </a:r>
            <a:r>
              <a:rPr dirty="0" sz="2000">
                <a:latin typeface="微软雅黑"/>
                <a:cs typeface="微软雅黑"/>
              </a:rPr>
              <a:t>汤姆孙自</a:t>
            </a:r>
            <a:r>
              <a:rPr dirty="0" sz="2000" spc="-5">
                <a:latin typeface="Times New Roman"/>
                <a:cs typeface="Times New Roman"/>
              </a:rPr>
              <a:t>1890</a:t>
            </a:r>
            <a:r>
              <a:rPr dirty="0" sz="2000">
                <a:latin typeface="微软雅黑"/>
                <a:cs typeface="微软雅黑"/>
              </a:rPr>
              <a:t>年起，就开始对阴极射线进行</a:t>
            </a:r>
            <a:r>
              <a:rPr dirty="0" sz="2000">
                <a:latin typeface="微软雅黑"/>
                <a:cs typeface="微软雅黑"/>
              </a:rPr>
              <a:t>了 </a:t>
            </a:r>
            <a:r>
              <a:rPr dirty="0" sz="2000">
                <a:latin typeface="微软雅黑"/>
                <a:cs typeface="微软雅黑"/>
              </a:rPr>
              <a:t>一系列的实验研究，他认为阴极射线是带电粒子流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>
              <a:latin typeface="Times New Roman"/>
              <a:cs typeface="Times New Roman"/>
            </a:endParaRPr>
          </a:p>
          <a:p>
            <a:pPr marL="5262245">
              <a:lnSpc>
                <a:spcPct val="100000"/>
              </a:lnSpc>
            </a:pP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思考</a:t>
            </a:r>
            <a:r>
              <a:rPr dirty="0" sz="2000" spc="5" b="1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algn="just" marL="5262245" marR="160020">
              <a:lnSpc>
                <a:spcPct val="125000"/>
              </a:lnSpc>
              <a:spcBef>
                <a:spcPts val="480"/>
              </a:spcBef>
            </a:pPr>
            <a:r>
              <a:rPr dirty="0" sz="2000">
                <a:latin typeface="微软雅黑"/>
                <a:cs typeface="微软雅黑"/>
              </a:rPr>
              <a:t>用什么方法可以</a:t>
            </a:r>
            <a:r>
              <a:rPr dirty="0" sz="2000">
                <a:latin typeface="微软雅黑"/>
                <a:cs typeface="微软雅黑"/>
              </a:rPr>
              <a:t>判 </a:t>
            </a:r>
            <a:r>
              <a:rPr dirty="0" sz="2000">
                <a:latin typeface="微软雅黑"/>
                <a:cs typeface="微软雅黑"/>
              </a:rPr>
              <a:t>断阴极射线是带</a:t>
            </a:r>
            <a:r>
              <a:rPr dirty="0" sz="2000">
                <a:latin typeface="微软雅黑"/>
                <a:cs typeface="微软雅黑"/>
              </a:rPr>
              <a:t>点 </a:t>
            </a:r>
            <a:r>
              <a:rPr dirty="0" sz="2000">
                <a:latin typeface="微软雅黑"/>
                <a:cs typeface="微软雅黑"/>
              </a:rPr>
              <a:t>粒子流</a:t>
            </a:r>
            <a:r>
              <a:rPr dirty="0" sz="2000" spc="5">
                <a:latin typeface="微软雅黑"/>
                <a:cs typeface="微软雅黑"/>
              </a:rPr>
              <a:t>呢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719072" y="1275588"/>
            <a:ext cx="5593080" cy="2232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33500" y="3512934"/>
            <a:ext cx="620522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1.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当金属板</a:t>
            </a:r>
            <a:r>
              <a:rPr dirty="0" sz="1800">
                <a:latin typeface="Times New Roman"/>
                <a:cs typeface="Times New Roman"/>
              </a:rPr>
              <a:t>D</a:t>
            </a:r>
            <a:r>
              <a:rPr dirty="0" baseline="-16908" sz="1725">
                <a:latin typeface="Times New Roman"/>
                <a:cs typeface="Times New Roman"/>
              </a:rPr>
              <a:t>1</a:t>
            </a:r>
            <a:r>
              <a:rPr dirty="0" sz="1800">
                <a:latin typeface="微软雅黑"/>
                <a:cs typeface="微软雅黑"/>
              </a:rPr>
              <a:t>、</a:t>
            </a:r>
            <a:r>
              <a:rPr dirty="0" sz="1800">
                <a:latin typeface="Times New Roman"/>
                <a:cs typeface="Times New Roman"/>
              </a:rPr>
              <a:t>D</a:t>
            </a:r>
            <a:r>
              <a:rPr dirty="0" baseline="-16908" sz="1725">
                <a:latin typeface="Times New Roman"/>
                <a:cs typeface="Times New Roman"/>
              </a:rPr>
              <a:t>2</a:t>
            </a:r>
            <a:r>
              <a:rPr dirty="0" sz="1800">
                <a:latin typeface="微软雅黑"/>
                <a:cs typeface="微软雅黑"/>
              </a:rPr>
              <a:t>之间未加电场时，射线不偏转，射在屏上</a:t>
            </a:r>
            <a:r>
              <a:rPr dirty="0" sz="1800" spc="5" i="1">
                <a:latin typeface="Times New Roman"/>
                <a:cs typeface="Times New Roman"/>
              </a:rPr>
              <a:t>P</a:t>
            </a:r>
            <a:r>
              <a:rPr dirty="0" baseline="-16908" sz="1725" spc="7">
                <a:latin typeface="Times New Roman"/>
                <a:cs typeface="Times New Roman"/>
              </a:rPr>
              <a:t>1  </a:t>
            </a:r>
            <a:r>
              <a:rPr dirty="0" sz="1800">
                <a:latin typeface="微软雅黑"/>
                <a:cs typeface="微软雅黑"/>
              </a:rPr>
              <a:t>点。施加电场</a:t>
            </a:r>
            <a:r>
              <a:rPr dirty="0" sz="1800" spc="-135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E</a:t>
            </a:r>
            <a:r>
              <a:rPr dirty="0" sz="1800">
                <a:latin typeface="微软雅黑"/>
                <a:cs typeface="微软雅黑"/>
              </a:rPr>
              <a:t>之后，射线发生偏转并射到屏上</a:t>
            </a:r>
            <a:r>
              <a:rPr dirty="0" sz="1800" i="1">
                <a:latin typeface="Times New Roman"/>
                <a:cs typeface="Times New Roman"/>
              </a:rPr>
              <a:t>P</a:t>
            </a:r>
            <a:r>
              <a:rPr dirty="0" baseline="-16908" sz="1725">
                <a:latin typeface="Times New Roman"/>
                <a:cs typeface="Times New Roman"/>
              </a:rPr>
              <a:t>2</a:t>
            </a:r>
            <a:r>
              <a:rPr dirty="0" sz="1800">
                <a:latin typeface="微软雅黑"/>
                <a:cs typeface="微软雅黑"/>
              </a:rPr>
              <a:t>处。由此可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3500" y="4473054"/>
            <a:ext cx="3911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以推断阴极射线带有什么性质的电荷？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4324" y="4507319"/>
            <a:ext cx="5353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负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电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3075" y="652297"/>
            <a:ext cx="5358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汤姆孙对阴极射线进行的实验研</a:t>
            </a:r>
            <a:r>
              <a:rPr dirty="0" sz="2800" spc="-5" b="1">
                <a:latin typeface="微软雅黑"/>
                <a:cs typeface="微软雅黑"/>
              </a:rPr>
              <a:t>究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55748" y="3075432"/>
            <a:ext cx="943355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72311" y="1359408"/>
            <a:ext cx="520293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83182" y="667575"/>
            <a:ext cx="5358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汤姆孙对阴极射线</a:t>
            </a:r>
            <a:r>
              <a:rPr dirty="0" sz="2800" b="1">
                <a:solidFill>
                  <a:srgbClr val="44536A"/>
                </a:solidFill>
                <a:latin typeface="微软雅黑"/>
                <a:cs typeface="微软雅黑"/>
              </a:rPr>
              <a:t>进行的实验研</a:t>
            </a:r>
            <a:r>
              <a:rPr dirty="0" sz="2800" spc="-5" b="1">
                <a:solidFill>
                  <a:srgbClr val="44536A"/>
                </a:solidFill>
                <a:latin typeface="微软雅黑"/>
                <a:cs typeface="微软雅黑"/>
              </a:rPr>
              <a:t>究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9918" y="1456271"/>
            <a:ext cx="178117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006475" algn="l"/>
              </a:tabLst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电场力	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Eq  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洛伦兹力</a:t>
            </a:r>
            <a:r>
              <a:rPr dirty="0" sz="1800" spc="26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180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18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qvB  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两者关系</a:t>
            </a:r>
            <a:r>
              <a:rPr dirty="0" sz="1800" spc="-16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spc="-5" i="1">
                <a:solidFill>
                  <a:srgbClr val="FF0000"/>
                </a:solidFill>
                <a:latin typeface="Times New Roman"/>
                <a:cs typeface="Times New Roman"/>
              </a:rPr>
              <a:t>Eq</a:t>
            </a:r>
            <a:r>
              <a:rPr dirty="0" sz="1800" spc="-5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1800" spc="-5" i="1">
                <a:solidFill>
                  <a:srgbClr val="FF0000"/>
                </a:solidFill>
                <a:latin typeface="Times New Roman"/>
                <a:cs typeface="Times New Roman"/>
              </a:rPr>
              <a:t>qvB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918" y="2965030"/>
            <a:ext cx="1403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所以速度</a:t>
            </a:r>
            <a:r>
              <a:rPr dirty="0" sz="1800" spc="-17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spc="25" i="1">
                <a:solidFill>
                  <a:srgbClr val="FF0000"/>
                </a:solidFill>
                <a:latin typeface="Times New Roman"/>
                <a:cs typeface="Times New Roman"/>
              </a:rPr>
              <a:t>v=</a:t>
            </a:r>
            <a:r>
              <a:rPr dirty="0" baseline="44871" sz="1950" spc="37" i="1">
                <a:solidFill>
                  <a:srgbClr val="FF0000"/>
                </a:solidFill>
                <a:latin typeface="Cambria Math"/>
                <a:cs typeface="Cambria Math"/>
              </a:rPr>
              <a:t>E</a:t>
            </a:r>
            <a:endParaRPr baseline="44871" sz="19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95793" y="3140881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 h="0">
                <a:moveTo>
                  <a:pt x="0" y="0"/>
                </a:moveTo>
                <a:lnTo>
                  <a:pt x="10858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2272" y="3144100"/>
            <a:ext cx="8255000" cy="1705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292975">
              <a:lnSpc>
                <a:spcPct val="100000"/>
              </a:lnSpc>
              <a:spcBef>
                <a:spcPts val="95"/>
              </a:spcBef>
            </a:pPr>
            <a:r>
              <a:rPr dirty="0" sz="1300" spc="55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endParaRPr sz="1300">
              <a:latin typeface="Cambria Math"/>
              <a:cs typeface="Cambria Math"/>
            </a:endParaRPr>
          </a:p>
          <a:p>
            <a:pPr marL="12700" marR="5080">
              <a:lnSpc>
                <a:spcPct val="125000"/>
              </a:lnSpc>
              <a:spcBef>
                <a:spcPts val="869"/>
              </a:spcBef>
            </a:pPr>
            <a:r>
              <a:rPr dirty="0" sz="1800">
                <a:latin typeface="Times New Roman"/>
                <a:cs typeface="Times New Roman"/>
              </a:rPr>
              <a:t>2.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如果要抵消阴极射线的偏转，使它从</a:t>
            </a:r>
            <a:r>
              <a:rPr dirty="0" sz="1800" spc="-95">
                <a:latin typeface="微软雅黑"/>
                <a:cs typeface="微软雅黑"/>
              </a:rPr>
              <a:t> </a:t>
            </a:r>
            <a:r>
              <a:rPr dirty="0" sz="1800" spc="5" i="1">
                <a:latin typeface="Times New Roman"/>
                <a:cs typeface="Times New Roman"/>
              </a:rPr>
              <a:t>P</a:t>
            </a:r>
            <a:r>
              <a:rPr dirty="0" baseline="-16908" sz="1725" spc="7">
                <a:latin typeface="Times New Roman"/>
                <a:cs typeface="Times New Roman"/>
              </a:rPr>
              <a:t>2</a:t>
            </a:r>
            <a:r>
              <a:rPr dirty="0" baseline="-16908" sz="1725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点回到</a:t>
            </a:r>
            <a:r>
              <a:rPr dirty="0" sz="1800" spc="340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P</a:t>
            </a:r>
            <a:r>
              <a:rPr dirty="0" baseline="-16908" sz="1725">
                <a:latin typeface="Times New Roman"/>
                <a:cs typeface="Times New Roman"/>
              </a:rPr>
              <a:t>1</a:t>
            </a:r>
            <a:r>
              <a:rPr dirty="0" sz="1800">
                <a:latin typeface="微软雅黑"/>
                <a:cs typeface="微软雅黑"/>
              </a:rPr>
              <a:t>，需要在两块金属板之间的 区域再施加一个大小、方向合适的磁场。这个磁场的方向是向纸面外还是纸面内？ 此时每个阴极射线微粒（质量为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>
                <a:latin typeface="微软雅黑"/>
                <a:cs typeface="微软雅黑"/>
              </a:rPr>
              <a:t>，速度为</a:t>
            </a:r>
            <a:r>
              <a:rPr dirty="0" sz="1800" spc="300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v</a:t>
            </a:r>
            <a:r>
              <a:rPr dirty="0" sz="1800">
                <a:latin typeface="微软雅黑"/>
                <a:cs typeface="微软雅黑"/>
              </a:rPr>
              <a:t>）受到的洛仑兹力和电场力存在怎样 的关系？你能由此求出阴极射线的速度</a:t>
            </a:r>
            <a:r>
              <a:rPr dirty="0" sz="1800" spc="-90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v </a:t>
            </a:r>
            <a:r>
              <a:rPr dirty="0" sz="1800">
                <a:latin typeface="微软雅黑"/>
                <a:cs typeface="微软雅黑"/>
              </a:rPr>
              <a:t>的表达式吗？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36420" y="3012948"/>
            <a:ext cx="790956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72311" y="1359408"/>
            <a:ext cx="520293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83182" y="667575"/>
            <a:ext cx="5358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汤姆孙对阴极射线</a:t>
            </a:r>
            <a:r>
              <a:rPr dirty="0" sz="2800" b="1">
                <a:solidFill>
                  <a:srgbClr val="44536A"/>
                </a:solidFill>
                <a:latin typeface="微软雅黑"/>
                <a:cs typeface="微软雅黑"/>
              </a:rPr>
              <a:t>进行的实验研</a:t>
            </a:r>
            <a:r>
              <a:rPr dirty="0" sz="2800" spc="-5" b="1">
                <a:solidFill>
                  <a:srgbClr val="44536A"/>
                </a:solidFill>
                <a:latin typeface="微软雅黑"/>
                <a:cs typeface="微软雅黑"/>
              </a:rPr>
              <a:t>究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9918" y="1456271"/>
            <a:ext cx="178117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006475" algn="l"/>
              </a:tabLst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电场力	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Eq  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洛伦兹力</a:t>
            </a:r>
            <a:r>
              <a:rPr dirty="0" sz="1800" spc="26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180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18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qvB  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两者关系</a:t>
            </a:r>
            <a:r>
              <a:rPr dirty="0" sz="1800" spc="-16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spc="-5" i="1">
                <a:solidFill>
                  <a:srgbClr val="FF0000"/>
                </a:solidFill>
                <a:latin typeface="Times New Roman"/>
                <a:cs typeface="Times New Roman"/>
              </a:rPr>
              <a:t>Eq</a:t>
            </a:r>
            <a:r>
              <a:rPr dirty="0" sz="1800" spc="-5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1800" spc="-5" i="1">
                <a:solidFill>
                  <a:srgbClr val="FF0000"/>
                </a:solidFill>
                <a:latin typeface="Times New Roman"/>
                <a:cs typeface="Times New Roman"/>
              </a:rPr>
              <a:t>qvB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918" y="2965030"/>
            <a:ext cx="1403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所以速度</a:t>
            </a:r>
            <a:r>
              <a:rPr dirty="0" sz="1800" spc="-17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spc="25" i="1">
                <a:solidFill>
                  <a:srgbClr val="FF0000"/>
                </a:solidFill>
                <a:latin typeface="Times New Roman"/>
                <a:cs typeface="Times New Roman"/>
              </a:rPr>
              <a:t>v=</a:t>
            </a:r>
            <a:r>
              <a:rPr dirty="0" baseline="44871" sz="1950" spc="37" i="1">
                <a:solidFill>
                  <a:srgbClr val="FF0000"/>
                </a:solidFill>
                <a:latin typeface="Cambria Math"/>
                <a:cs typeface="Cambria Math"/>
              </a:rPr>
              <a:t>E</a:t>
            </a:r>
            <a:endParaRPr baseline="44871" sz="19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95793" y="3140881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 h="0">
                <a:moveTo>
                  <a:pt x="0" y="0"/>
                </a:moveTo>
                <a:lnTo>
                  <a:pt x="10858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83093" y="3144100"/>
            <a:ext cx="1333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55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4519" y="3526647"/>
            <a:ext cx="8288020" cy="1054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0"/>
              </a:spcBef>
            </a:pPr>
            <a:r>
              <a:rPr dirty="0" sz="1800" spc="-5">
                <a:latin typeface="微软雅黑"/>
                <a:cs typeface="微软雅黑"/>
              </a:rPr>
              <a:t>3.</a:t>
            </a:r>
            <a:r>
              <a:rPr dirty="0" sz="1800">
                <a:latin typeface="微软雅黑"/>
                <a:cs typeface="微软雅黑"/>
              </a:rPr>
              <a:t>磁感应强</a:t>
            </a:r>
            <a:r>
              <a:rPr dirty="0" sz="1800" spc="-155">
                <a:latin typeface="微软雅黑"/>
                <a:cs typeface="微软雅黑"/>
              </a:rPr>
              <a:t>度</a:t>
            </a:r>
            <a:r>
              <a:rPr dirty="0" sz="1850" spc="-110" i="1">
                <a:latin typeface="微软雅黑"/>
                <a:cs typeface="微软雅黑"/>
              </a:rPr>
              <a:t>B</a:t>
            </a:r>
            <a:r>
              <a:rPr dirty="0" sz="1800">
                <a:latin typeface="微软雅黑"/>
                <a:cs typeface="微软雅黑"/>
              </a:rPr>
              <a:t>可以由电流的大小算出，按已知量处理。由于金属板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D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baseline="-16908" sz="1725" spc="15">
                <a:latin typeface="微软雅黑"/>
                <a:cs typeface="微软雅黑"/>
              </a:rPr>
              <a:t>1</a:t>
            </a:r>
            <a:r>
              <a:rPr dirty="0" baseline="-16908" sz="1725" spc="27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、D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baseline="-16908" sz="1725" spc="15">
                <a:latin typeface="微软雅黑"/>
                <a:cs typeface="微软雅黑"/>
              </a:rPr>
              <a:t>2</a:t>
            </a:r>
            <a:r>
              <a:rPr dirty="0" baseline="-16908" sz="1725" spc="27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间 的距离是已知的，两板间的电压是可测量的，所以两板间的电场强度</a:t>
            </a:r>
            <a:r>
              <a:rPr dirty="0" sz="1800" spc="-185">
                <a:latin typeface="微软雅黑"/>
                <a:cs typeface="微软雅黑"/>
              </a:rPr>
              <a:t> </a:t>
            </a:r>
            <a:r>
              <a:rPr dirty="0" sz="1850" spc="-105" i="1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是已知量。 磁场由电流产生，磁感应强度</a:t>
            </a:r>
            <a:r>
              <a:rPr dirty="0" sz="1800" spc="-165">
                <a:latin typeface="微软雅黑"/>
                <a:cs typeface="微软雅黑"/>
              </a:rPr>
              <a:t> </a:t>
            </a:r>
            <a:r>
              <a:rPr dirty="0" sz="1850" spc="-110" i="1">
                <a:latin typeface="微软雅黑"/>
                <a:cs typeface="微软雅黑"/>
              </a:rPr>
              <a:t>B</a:t>
            </a:r>
            <a:r>
              <a:rPr dirty="0" sz="1800">
                <a:latin typeface="微软雅黑"/>
                <a:cs typeface="微软雅黑"/>
              </a:rPr>
              <a:t>可以由电流的大小算出，因此也按已知量处理。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08048" y="3023616"/>
            <a:ext cx="734568" cy="333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684276" y="1114044"/>
            <a:ext cx="5202936" cy="2077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98549" y="345075"/>
            <a:ext cx="7255509" cy="137541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800" b="1">
                <a:latin typeface="微软雅黑"/>
                <a:cs typeface="微软雅黑"/>
              </a:rPr>
              <a:t>汤姆孙对阴极射线</a:t>
            </a:r>
            <a:r>
              <a:rPr dirty="0" sz="2800" b="1">
                <a:solidFill>
                  <a:srgbClr val="44536A"/>
                </a:solidFill>
                <a:latin typeface="微软雅黑"/>
                <a:cs typeface="微软雅黑"/>
              </a:rPr>
              <a:t>进行的实验研</a:t>
            </a:r>
            <a:r>
              <a:rPr dirty="0" sz="2800" spc="-5" b="1">
                <a:solidFill>
                  <a:srgbClr val="44536A"/>
                </a:solidFill>
                <a:latin typeface="微软雅黑"/>
                <a:cs typeface="微软雅黑"/>
              </a:rPr>
              <a:t>究</a:t>
            </a:r>
            <a:endParaRPr sz="2800">
              <a:latin typeface="微软雅黑"/>
              <a:cs typeface="微软雅黑"/>
            </a:endParaRPr>
          </a:p>
          <a:p>
            <a:pPr marL="4727575" marR="5080">
              <a:lnSpc>
                <a:spcPct val="125000"/>
              </a:lnSpc>
              <a:spcBef>
                <a:spcPts val="405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由洛伦兹力提供圆周运动 的向心力，可知：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4974" y="2003234"/>
            <a:ext cx="961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qvB =</a:t>
            </a:r>
            <a:r>
              <a:rPr dirty="0" sz="1800" spc="-8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44871" sz="1950" spc="60" i="1">
                <a:solidFill>
                  <a:srgbClr val="FF0000"/>
                </a:solidFill>
                <a:latin typeface="Cambria Math"/>
                <a:cs typeface="Cambria Math"/>
              </a:rPr>
              <a:t>mv</a:t>
            </a:r>
            <a:r>
              <a:rPr dirty="0" baseline="79365" sz="1575" spc="60" i="1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baseline="79365" sz="1575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21880" y="2179085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 h="0">
                <a:moveTo>
                  <a:pt x="0" y="0"/>
                </a:moveTo>
                <a:lnTo>
                  <a:pt x="317500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28560" y="2182304"/>
            <a:ext cx="104139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75" i="1">
                <a:solidFill>
                  <a:srgbClr val="FF0000"/>
                </a:solidFill>
                <a:latin typeface="Cambria Math"/>
                <a:cs typeface="Cambria Math"/>
              </a:rPr>
              <a:t>r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66280" y="2752490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4" h="0">
                <a:moveTo>
                  <a:pt x="0" y="0"/>
                </a:moveTo>
                <a:lnTo>
                  <a:pt x="15303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35849" y="275249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732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13475" y="2576639"/>
            <a:ext cx="18281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1960" algn="l"/>
              </a:tabLst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所</a:t>
            </a:r>
            <a:r>
              <a:rPr dirty="0" sz="1800" spc="405">
                <a:solidFill>
                  <a:srgbClr val="FF0000"/>
                </a:solidFill>
                <a:latin typeface="宋体"/>
                <a:cs typeface="宋体"/>
              </a:rPr>
              <a:t>以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r>
              <a:rPr dirty="0" sz="1800" spc="12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baseline="44871" sz="1950" spc="104" i="1">
                <a:solidFill>
                  <a:srgbClr val="FF0000"/>
                </a:solidFill>
                <a:latin typeface="Cambria Math"/>
                <a:cs typeface="Cambria Math"/>
              </a:rPr>
              <a:t>q</a:t>
            </a:r>
            <a:r>
              <a:rPr dirty="0" baseline="44871" sz="1950" i="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baseline="44871" sz="1950" spc="60" i="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= </a:t>
            </a: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baseline="44871" sz="1950" spc="-127" i="1">
                <a:solidFill>
                  <a:srgbClr val="FF0000"/>
                </a:solidFill>
                <a:latin typeface="Cambria Math"/>
                <a:cs typeface="Cambria Math"/>
              </a:rPr>
              <a:t>V</a:t>
            </a:r>
            <a:r>
              <a:rPr dirty="0" baseline="44871" sz="1950" i="1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dirty="0" baseline="44871" sz="1950" spc="-104" i="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=	</a:t>
            </a:r>
            <a:r>
              <a:rPr dirty="0" baseline="44871" sz="1950" spc="89" i="1">
                <a:solidFill>
                  <a:srgbClr val="FF0000"/>
                </a:solidFill>
                <a:latin typeface="Cambria Math"/>
                <a:cs typeface="Cambria Math"/>
              </a:rPr>
              <a:t>E</a:t>
            </a:r>
            <a:endParaRPr baseline="44871" sz="19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39710" y="2752490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 h="0">
                <a:moveTo>
                  <a:pt x="0" y="0"/>
                </a:moveTo>
                <a:lnTo>
                  <a:pt x="27622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953580" y="2755709"/>
            <a:ext cx="10750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1635" algn="l"/>
                <a:tab pos="785495" algn="l"/>
              </a:tabLst>
            </a:pPr>
            <a:r>
              <a:rPr dirty="0" sz="1300" spc="114" i="1">
                <a:solidFill>
                  <a:srgbClr val="FF0000"/>
                </a:solidFill>
                <a:latin typeface="Cambria Math"/>
                <a:cs typeface="Cambria Math"/>
              </a:rPr>
              <a:t>m</a:t>
            </a:r>
            <a:r>
              <a:rPr dirty="0" sz="1300" spc="114" i="1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dirty="0" sz="1300" spc="60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r>
              <a:rPr dirty="0" sz="1300" spc="75" i="1">
                <a:solidFill>
                  <a:srgbClr val="FF0000"/>
                </a:solidFill>
                <a:latin typeface="Cambria Math"/>
                <a:cs typeface="Cambria Math"/>
              </a:rPr>
              <a:t>r</a:t>
            </a:r>
            <a:r>
              <a:rPr dirty="0" sz="1300" i="1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dirty="0" sz="1300" spc="80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r>
              <a:rPr dirty="0" baseline="23809" sz="1575" spc="135" i="1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dirty="0" sz="1300" spc="75" i="1">
                <a:solidFill>
                  <a:srgbClr val="FF0000"/>
                </a:solidFill>
                <a:latin typeface="Cambria Math"/>
                <a:cs typeface="Cambria Math"/>
              </a:rPr>
              <a:t>r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53630" y="3407174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 h="0">
                <a:moveTo>
                  <a:pt x="0" y="0"/>
                </a:moveTo>
                <a:lnTo>
                  <a:pt x="10858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27775" y="3231324"/>
            <a:ext cx="1532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（因为</a:t>
            </a:r>
            <a:r>
              <a:rPr dirty="0" sz="1800" spc="-47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180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dirty="0" baseline="44871" sz="1950" spc="89" i="1">
                <a:solidFill>
                  <a:srgbClr val="FF0000"/>
                </a:solidFill>
                <a:latin typeface="Cambria Math"/>
                <a:cs typeface="Cambria Math"/>
              </a:rPr>
              <a:t>E</a:t>
            </a:r>
            <a:r>
              <a:rPr dirty="0" baseline="44871" sz="1950" spc="240" i="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40763" y="2857500"/>
            <a:ext cx="734568" cy="333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2046" y="3389607"/>
            <a:ext cx="8536305" cy="123317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r" marR="1388745">
              <a:lnSpc>
                <a:spcPct val="100000"/>
              </a:lnSpc>
              <a:spcBef>
                <a:spcPts val="254"/>
              </a:spcBef>
            </a:pPr>
            <a:r>
              <a:rPr dirty="0" sz="1300" spc="55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800">
                <a:latin typeface="Times New Roman"/>
                <a:cs typeface="Times New Roman"/>
              </a:rPr>
              <a:t>4.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如果去掉</a:t>
            </a:r>
            <a:r>
              <a:rPr dirty="0" sz="1800" spc="-105">
                <a:latin typeface="微软雅黑"/>
                <a:cs typeface="微软雅黑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</a:t>
            </a:r>
            <a:r>
              <a:rPr dirty="0" baseline="-16908" sz="1725">
                <a:latin typeface="Times New Roman"/>
                <a:cs typeface="Times New Roman"/>
              </a:rPr>
              <a:t>1</a:t>
            </a:r>
            <a:r>
              <a:rPr dirty="0" sz="1800">
                <a:latin typeface="微软雅黑"/>
                <a:cs typeface="微软雅黑"/>
              </a:rPr>
              <a:t>、</a:t>
            </a:r>
            <a:r>
              <a:rPr dirty="0" sz="1800" spc="5">
                <a:latin typeface="Times New Roman"/>
                <a:cs typeface="Times New Roman"/>
              </a:rPr>
              <a:t>D</a:t>
            </a:r>
            <a:r>
              <a:rPr dirty="0" baseline="-16908" sz="1725" spc="7">
                <a:latin typeface="Times New Roman"/>
                <a:cs typeface="Times New Roman"/>
              </a:rPr>
              <a:t>2</a:t>
            </a:r>
            <a:r>
              <a:rPr dirty="0" baseline="-16908" sz="1725" spc="-7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间的电场</a:t>
            </a:r>
            <a:r>
              <a:rPr dirty="0" sz="1800" spc="-105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E</a:t>
            </a:r>
            <a:r>
              <a:rPr dirty="0" sz="1800">
                <a:latin typeface="微软雅黑"/>
                <a:cs typeface="微软雅黑"/>
              </a:rPr>
              <a:t>，只保留磁场</a:t>
            </a:r>
            <a:r>
              <a:rPr dirty="0" sz="1800" spc="-105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sz="1800">
                <a:latin typeface="微软雅黑"/>
                <a:cs typeface="微软雅黑"/>
              </a:rPr>
              <a:t>，磁场方向与射线运动方向垂直。阴极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微软雅黑"/>
                <a:cs typeface="微软雅黑"/>
              </a:rPr>
              <a:t>射线在有磁场的区域将会形成一个半径为</a:t>
            </a:r>
            <a:r>
              <a:rPr dirty="0" sz="1800" spc="-100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r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的圆弧，由此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求出粒子比荷</a:t>
            </a:r>
            <a:r>
              <a:rPr dirty="0" sz="1800">
                <a:latin typeface="微软雅黑"/>
                <a:cs typeface="微软雅黑"/>
              </a:rPr>
              <a:t>的表达式。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微软雅黑"/>
                <a:cs typeface="微软雅黑"/>
              </a:rPr>
              <a:t>（此时，半径</a:t>
            </a:r>
            <a:r>
              <a:rPr dirty="0" sz="1800" spc="-90">
                <a:latin typeface="微软雅黑"/>
                <a:cs typeface="微软雅黑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r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可以通过</a:t>
            </a:r>
            <a:r>
              <a:rPr dirty="0" sz="1800" spc="-90">
                <a:latin typeface="微软雅黑"/>
                <a:cs typeface="微软雅黑"/>
              </a:rPr>
              <a:t> </a:t>
            </a:r>
            <a:r>
              <a:rPr dirty="0" sz="1800" spc="5" i="1">
                <a:latin typeface="Times New Roman"/>
                <a:cs typeface="Times New Roman"/>
              </a:rPr>
              <a:t>P</a:t>
            </a:r>
            <a:r>
              <a:rPr dirty="0" baseline="-16908" sz="1725" spc="7">
                <a:latin typeface="Times New Roman"/>
                <a:cs typeface="Times New Roman"/>
              </a:rPr>
              <a:t>3 </a:t>
            </a:r>
            <a:r>
              <a:rPr dirty="0" sz="1800">
                <a:latin typeface="微软雅黑"/>
                <a:cs typeface="微软雅黑"/>
              </a:rPr>
              <a:t>的位置算出，同样按已知量处理。）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838479"/>
            <a:ext cx="7950200" cy="39706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210" marR="95885" indent="270510">
              <a:lnSpc>
                <a:spcPct val="15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1897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年，汤姆孙得出阴极射线的本质是带负电的粒子流 并求出了这种粒子的比荷。</a:t>
            </a:r>
            <a:endParaRPr sz="2400">
              <a:latin typeface="微软雅黑"/>
              <a:cs typeface="微软雅黑"/>
            </a:endParaRPr>
          </a:p>
          <a:p>
            <a:pPr marL="12700" marR="5080" indent="539115">
              <a:lnSpc>
                <a:spcPct val="159500"/>
              </a:lnSpc>
              <a:spcBef>
                <a:spcPts val="1735"/>
              </a:spcBef>
            </a:pPr>
            <a:r>
              <a:rPr dirty="0" sz="2400">
                <a:latin typeface="微软雅黑"/>
                <a:cs typeface="微软雅黑"/>
              </a:rPr>
              <a:t>当汤姆孙在测定比荷实验时，发现用不同材料的阴极做 实验，所发出射线的粒子都有相同的比荷，这说明了什么？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Times New Roman"/>
              <a:cs typeface="Times New Roman"/>
            </a:endParaRPr>
          </a:p>
          <a:p>
            <a:pPr marL="192405" marR="129539">
              <a:lnSpc>
                <a:spcPct val="150000"/>
              </a:lnSpc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说明不同物质都能发射这种带电粒子，它是构成各种物质 的共有成分。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8331" y="1221955"/>
            <a:ext cx="7265034" cy="2957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 marR="50800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latin typeface="微软雅黑"/>
                <a:cs typeface="微软雅黑"/>
              </a:rPr>
              <a:t>实验测得的阴极射线粒子的比荷是氢离子比荷的近两千倍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是电荷量比氢离子大？还是质量比氢离子小</a:t>
            </a:r>
            <a:r>
              <a:rPr dirty="0" sz="2000" spc="5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84455" marR="59690" indent="508000">
              <a:lnSpc>
                <a:spcPct val="100000"/>
              </a:lnSpc>
            </a:pPr>
            <a:r>
              <a:rPr dirty="0" sz="2000">
                <a:latin typeface="宋体"/>
                <a:cs typeface="宋体"/>
              </a:rPr>
              <a:t>汤姆孙猜测：这可能表示阴极射线粒子电荷量的大小与一</a:t>
            </a:r>
            <a:r>
              <a:rPr dirty="0" sz="2000">
                <a:latin typeface="宋体"/>
                <a:cs typeface="宋体"/>
              </a:rPr>
              <a:t>个 </a:t>
            </a:r>
            <a:r>
              <a:rPr dirty="0" sz="2000">
                <a:latin typeface="宋体"/>
                <a:cs typeface="宋体"/>
              </a:rPr>
              <a:t>氢离子一样，而质量比氢离子小得多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 marR="5080" indent="508000">
              <a:lnSpc>
                <a:spcPct val="100000"/>
              </a:lnSpc>
              <a:spcBef>
                <a:spcPts val="775"/>
              </a:spcBef>
            </a:pPr>
            <a:r>
              <a:rPr dirty="0" sz="2000">
                <a:latin typeface="宋体"/>
                <a:cs typeface="宋体"/>
              </a:rPr>
              <a:t>后来汤姆孙测得了这种粒子的电荷量与氢离子电荷量大致</a:t>
            </a:r>
            <a:r>
              <a:rPr dirty="0" sz="2000" spc="5">
                <a:latin typeface="宋体"/>
                <a:cs typeface="宋体"/>
              </a:rPr>
              <a:t>相 </a:t>
            </a:r>
            <a:r>
              <a:rPr dirty="0" sz="2000" spc="-5">
                <a:latin typeface="宋体"/>
                <a:cs typeface="宋体"/>
              </a:rPr>
              <a:t>同，由此可以看出他当初的猜测是正确的---组成阴极射线的粒</a:t>
            </a:r>
            <a:r>
              <a:rPr dirty="0" sz="2000">
                <a:latin typeface="宋体"/>
                <a:cs typeface="宋体"/>
              </a:rPr>
              <a:t>子 </a:t>
            </a:r>
            <a:r>
              <a:rPr dirty="0" sz="2000">
                <a:latin typeface="宋体"/>
                <a:cs typeface="宋体"/>
              </a:rPr>
              <a:t>被称为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电子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772947"/>
            <a:ext cx="8351520" cy="387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6550" indent="29972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latin typeface="微软雅黑"/>
                <a:cs typeface="微软雅黑"/>
              </a:rPr>
              <a:t>进一步研究表明：不论是由于正离子的轰</a:t>
            </a:r>
            <a:r>
              <a:rPr dirty="0" sz="2000" spc="5">
                <a:latin typeface="微软雅黑"/>
                <a:cs typeface="微软雅黑"/>
              </a:rPr>
              <a:t>击</a:t>
            </a:r>
            <a:r>
              <a:rPr dirty="0" sz="2000" spc="-11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、紫外光的照射、金属</a:t>
            </a:r>
            <a:r>
              <a:rPr dirty="0" sz="2000" spc="5">
                <a:latin typeface="微软雅黑"/>
                <a:cs typeface="微软雅黑"/>
              </a:rPr>
              <a:t>受 </a:t>
            </a:r>
            <a:r>
              <a:rPr dirty="0" sz="2000">
                <a:latin typeface="微软雅黑"/>
                <a:cs typeface="微软雅黑"/>
              </a:rPr>
              <a:t>热还是放射性物质的自发辐射，都能发射同样的带电粒</a:t>
            </a:r>
            <a:r>
              <a:rPr dirty="0" sz="2000" spc="5">
                <a:latin typeface="微软雅黑"/>
                <a:cs typeface="微软雅黑"/>
              </a:rPr>
              <a:t>子</a:t>
            </a:r>
            <a:r>
              <a:rPr dirty="0" sz="2000" spc="-3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——</a:t>
            </a:r>
            <a:r>
              <a:rPr dirty="0" sz="2000" spc="-3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电子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627380">
              <a:lnSpc>
                <a:spcPct val="100000"/>
              </a:lnSpc>
              <a:spcBef>
                <a:spcPts val="2085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电子是原子的组成部分，是比原子更基本的物质单元</a:t>
            </a:r>
            <a:endParaRPr sz="2400">
              <a:latin typeface="微软雅黑"/>
              <a:cs typeface="微软雅黑"/>
            </a:endParaRPr>
          </a:p>
          <a:p>
            <a:pPr algn="ctr" marL="317500">
              <a:lnSpc>
                <a:spcPct val="100000"/>
              </a:lnSpc>
              <a:spcBef>
                <a:spcPts val="1355"/>
              </a:spcBef>
            </a:pPr>
            <a:r>
              <a:rPr dirty="0" sz="2000">
                <a:latin typeface="微软雅黑"/>
                <a:cs typeface="微软雅黑"/>
              </a:rPr>
              <a:t>美国科学家密立根通过著名的油滴实验又精确地测定了电子的电</a:t>
            </a:r>
            <a:r>
              <a:rPr dirty="0" sz="2000" spc="5">
                <a:latin typeface="微软雅黑"/>
                <a:cs typeface="微软雅黑"/>
              </a:rPr>
              <a:t>量</a:t>
            </a:r>
            <a:endParaRPr sz="2000">
              <a:latin typeface="微软雅黑"/>
              <a:cs typeface="微软雅黑"/>
            </a:endParaRPr>
          </a:p>
          <a:p>
            <a:pPr algn="ctr" marL="316865">
              <a:lnSpc>
                <a:spcPct val="100000"/>
              </a:lnSpc>
              <a:spcBef>
                <a:spcPts val="480"/>
              </a:spcBef>
            </a:pPr>
            <a:r>
              <a:rPr dirty="0" sz="2000" spc="-5">
                <a:latin typeface="Times New Roman"/>
                <a:cs typeface="Times New Roman"/>
              </a:rPr>
              <a:t>e=1.6022</a:t>
            </a:r>
            <a:r>
              <a:rPr dirty="0" sz="2000" spc="-5">
                <a:latin typeface="微软雅黑"/>
                <a:cs typeface="微软雅黑"/>
              </a:rPr>
              <a:t>×</a:t>
            </a:r>
            <a:r>
              <a:rPr dirty="0" sz="2000" spc="-5">
                <a:latin typeface="Times New Roman"/>
                <a:cs typeface="Times New Roman"/>
              </a:rPr>
              <a:t>10</a:t>
            </a:r>
            <a:r>
              <a:rPr dirty="0" baseline="21367" sz="1950" spc="-7">
                <a:latin typeface="微软雅黑"/>
                <a:cs typeface="微软雅黑"/>
              </a:rPr>
              <a:t>－</a:t>
            </a:r>
            <a:r>
              <a:rPr dirty="0" baseline="21367" sz="1950" spc="-7">
                <a:latin typeface="Times New Roman"/>
                <a:cs typeface="Times New Roman"/>
              </a:rPr>
              <a:t>19</a:t>
            </a:r>
            <a:r>
              <a:rPr dirty="0" baseline="21367" sz="195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微软雅黑"/>
                <a:cs typeface="微软雅黑"/>
              </a:rPr>
              <a:t>更重要的发现：电荷具有量子化的特</a:t>
            </a:r>
            <a:r>
              <a:rPr dirty="0" sz="2000" spc="5">
                <a:latin typeface="微软雅黑"/>
                <a:cs typeface="微软雅黑"/>
              </a:rPr>
              <a:t>征</a:t>
            </a:r>
            <a:endParaRPr sz="2000">
              <a:latin typeface="微软雅黑"/>
              <a:cs typeface="微软雅黑"/>
            </a:endParaRPr>
          </a:p>
          <a:p>
            <a:pPr algn="ctr" marR="122555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微软雅黑"/>
                <a:cs typeface="微软雅黑"/>
              </a:rPr>
              <a:t>即任何带电体的电荷只能是</a:t>
            </a:r>
            <a:r>
              <a:rPr dirty="0" sz="2000" i="1">
                <a:latin typeface="Times New Roman"/>
                <a:cs typeface="Times New Roman"/>
              </a:rPr>
              <a:t>e</a:t>
            </a:r>
            <a:r>
              <a:rPr dirty="0" sz="2000">
                <a:latin typeface="微软雅黑"/>
                <a:cs typeface="微软雅黑"/>
              </a:rPr>
              <a:t>的整数</a:t>
            </a:r>
            <a:r>
              <a:rPr dirty="0" sz="2000" spc="5"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 algn="ctr" marL="231140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微软雅黑"/>
                <a:cs typeface="微软雅黑"/>
              </a:rPr>
              <a:t>根据测得的比荷，可以精确地计算出电子的质量为</a:t>
            </a:r>
            <a:r>
              <a:rPr dirty="0" sz="2000" spc="5">
                <a:latin typeface="微软雅黑"/>
                <a:cs typeface="微软雅黑"/>
              </a:rPr>
              <a:t>：</a:t>
            </a:r>
            <a:r>
              <a:rPr dirty="0" sz="2000" spc="-130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</a:t>
            </a:r>
            <a:r>
              <a:rPr dirty="0" baseline="-17094" sz="1950" spc="-7" i="1">
                <a:latin typeface="Times New Roman"/>
                <a:cs typeface="Times New Roman"/>
              </a:rPr>
              <a:t>e</a:t>
            </a:r>
            <a:r>
              <a:rPr dirty="0" sz="2000" spc="-5">
                <a:latin typeface="Times New Roman"/>
                <a:cs typeface="Times New Roman"/>
              </a:rPr>
              <a:t>=9.1094</a:t>
            </a:r>
            <a:r>
              <a:rPr dirty="0" sz="2000" spc="-5">
                <a:latin typeface="微软雅黑"/>
                <a:cs typeface="微软雅黑"/>
              </a:rPr>
              <a:t>×</a:t>
            </a:r>
            <a:r>
              <a:rPr dirty="0" sz="2000" spc="-5">
                <a:latin typeface="Times New Roman"/>
                <a:cs typeface="Times New Roman"/>
              </a:rPr>
              <a:t>10</a:t>
            </a:r>
            <a:r>
              <a:rPr dirty="0" baseline="21367" sz="1950" spc="-7">
                <a:latin typeface="微软雅黑"/>
                <a:cs typeface="微软雅黑"/>
              </a:rPr>
              <a:t>－</a:t>
            </a:r>
            <a:r>
              <a:rPr dirty="0" baseline="21367" sz="1950" spc="-7">
                <a:latin typeface="Times New Roman"/>
                <a:cs typeface="Times New Roman"/>
              </a:rPr>
              <a:t>31</a:t>
            </a:r>
            <a:r>
              <a:rPr dirty="0" baseline="21367" sz="195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kg</a:t>
            </a:r>
            <a:endParaRPr sz="20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spcBef>
                <a:spcPts val="480"/>
              </a:spcBef>
              <a:tabLst>
                <a:tab pos="4053840" algn="l"/>
              </a:tabLst>
            </a:pPr>
            <a:r>
              <a:rPr dirty="0" sz="2000">
                <a:latin typeface="微软雅黑"/>
                <a:cs typeface="微软雅黑"/>
              </a:rPr>
              <a:t>质子质量与电子质量的比值</a:t>
            </a:r>
            <a:r>
              <a:rPr dirty="0" sz="2000" spc="500">
                <a:latin typeface="微软雅黑"/>
                <a:cs typeface="微软雅黑"/>
              </a:rPr>
              <a:t>为</a:t>
            </a:r>
            <a:r>
              <a:rPr dirty="0" sz="2000" spc="5">
                <a:latin typeface="微软雅黑"/>
                <a:cs typeface="微软雅黑"/>
              </a:rPr>
              <a:t>：	</a:t>
            </a:r>
            <a:r>
              <a:rPr dirty="0" sz="2000" i="1">
                <a:latin typeface="Times New Roman"/>
                <a:cs typeface="Times New Roman"/>
              </a:rPr>
              <a:t>m </a:t>
            </a:r>
            <a:r>
              <a:rPr dirty="0" baseline="-17094" sz="1950" spc="-7">
                <a:latin typeface="Times New Roman"/>
                <a:cs typeface="Times New Roman"/>
              </a:rPr>
              <a:t>p</a:t>
            </a:r>
            <a:r>
              <a:rPr dirty="0" sz="2000" spc="-5">
                <a:latin typeface="Times New Roman"/>
                <a:cs typeface="Times New Roman"/>
              </a:rPr>
              <a:t>:</a:t>
            </a:r>
            <a:r>
              <a:rPr dirty="0" sz="2000" spc="-5" i="1">
                <a:latin typeface="Times New Roman"/>
                <a:cs typeface="Times New Roman"/>
              </a:rPr>
              <a:t>m </a:t>
            </a:r>
            <a:r>
              <a:rPr dirty="0" baseline="-17094" sz="1950">
                <a:latin typeface="Times New Roman"/>
                <a:cs typeface="Times New Roman"/>
              </a:rPr>
              <a:t>e</a:t>
            </a:r>
            <a:r>
              <a:rPr dirty="0" sz="2000">
                <a:latin typeface="微软雅黑"/>
                <a:cs typeface="微软雅黑"/>
              </a:rPr>
              <a:t>＝ </a:t>
            </a:r>
            <a:r>
              <a:rPr dirty="0" sz="2000">
                <a:latin typeface="Times New Roman"/>
                <a:cs typeface="Times New Roman"/>
              </a:rPr>
              <a:t>1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836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2349" y="974962"/>
            <a:ext cx="6972934" cy="3324860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marL="254000">
              <a:lnSpc>
                <a:spcPct val="100000"/>
              </a:lnSpc>
              <a:spcBef>
                <a:spcPts val="1565"/>
              </a:spcBef>
            </a:pPr>
            <a:r>
              <a:rPr dirty="0" sz="2400" b="1">
                <a:latin typeface="微软雅黑"/>
                <a:cs typeface="微软雅黑"/>
              </a:rPr>
              <a:t>电子发现的意义</a:t>
            </a:r>
            <a:endParaRPr sz="2400">
              <a:latin typeface="微软雅黑"/>
              <a:cs typeface="微软雅黑"/>
            </a:endParaRPr>
          </a:p>
          <a:p>
            <a:pPr algn="just" marL="12700" marR="93980" indent="241300">
              <a:lnSpc>
                <a:spcPct val="125000"/>
              </a:lnSpc>
              <a:spcBef>
                <a:spcPts val="630"/>
              </a:spcBef>
            </a:pPr>
            <a:r>
              <a:rPr dirty="0" sz="2000">
                <a:latin typeface="微软雅黑"/>
                <a:cs typeface="微软雅黑"/>
              </a:rPr>
              <a:t>电子是人类发现的第一个比原子小的粒子。电子的发现打</a:t>
            </a:r>
            <a:r>
              <a:rPr dirty="0" sz="2000">
                <a:latin typeface="微软雅黑"/>
                <a:cs typeface="微软雅黑"/>
              </a:rPr>
              <a:t>破 </a:t>
            </a:r>
            <a:r>
              <a:rPr dirty="0" sz="2000">
                <a:latin typeface="微软雅黑"/>
                <a:cs typeface="微软雅黑"/>
              </a:rPr>
              <a:t>了原子不可再分的传统观念，使人们认识到原子不是组成物</a:t>
            </a:r>
            <a:r>
              <a:rPr dirty="0" sz="2000">
                <a:latin typeface="微软雅黑"/>
                <a:cs typeface="微软雅黑"/>
              </a:rPr>
              <a:t>质 </a:t>
            </a:r>
            <a:r>
              <a:rPr dirty="0" sz="2000">
                <a:latin typeface="微软雅黑"/>
                <a:cs typeface="微软雅黑"/>
              </a:rPr>
              <a:t>的最小微粒，原子本身也有内部结构。这是人类对物质结构</a:t>
            </a:r>
            <a:r>
              <a:rPr dirty="0" sz="2000">
                <a:latin typeface="微软雅黑"/>
                <a:cs typeface="微软雅黑"/>
              </a:rPr>
              <a:t>认 </a:t>
            </a:r>
            <a:r>
              <a:rPr dirty="0" sz="2000">
                <a:latin typeface="微软雅黑"/>
                <a:cs typeface="微软雅黑"/>
              </a:rPr>
              <a:t>识的一次飞跃，作为人类认识原子结构的开端，开创了探索</a:t>
            </a:r>
            <a:r>
              <a:rPr dirty="0" sz="2000">
                <a:latin typeface="微软雅黑"/>
                <a:cs typeface="微软雅黑"/>
              </a:rPr>
              <a:t>原 </a:t>
            </a:r>
            <a:r>
              <a:rPr dirty="0" sz="2000">
                <a:latin typeface="微软雅黑"/>
                <a:cs typeface="微软雅黑"/>
              </a:rPr>
              <a:t>子结构奥秘的新时代。汤姆孙也由于发现了电子，不仅荣获</a:t>
            </a:r>
            <a:r>
              <a:rPr dirty="0" sz="2000" spc="5">
                <a:latin typeface="微软雅黑"/>
                <a:cs typeface="微软雅黑"/>
              </a:rPr>
              <a:t>了</a:t>
            </a: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</a:pPr>
            <a:r>
              <a:rPr dirty="0" sz="2000" spc="-5">
                <a:latin typeface="微软雅黑"/>
                <a:cs typeface="微软雅黑"/>
              </a:rPr>
              <a:t>1906年诺贝尔物理奖，而且被后人誉为“最先打开通向基本</a:t>
            </a:r>
            <a:r>
              <a:rPr dirty="0" sz="2000">
                <a:latin typeface="微软雅黑"/>
                <a:cs typeface="微软雅黑"/>
              </a:rPr>
              <a:t>粒 </a:t>
            </a:r>
            <a:r>
              <a:rPr dirty="0" sz="2000">
                <a:latin typeface="微软雅黑"/>
                <a:cs typeface="微软雅黑"/>
              </a:rPr>
              <a:t>子物理学大门的伟人”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128013"/>
            <a:ext cx="8256905" cy="2768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 indent="241300">
              <a:lnSpc>
                <a:spcPct val="124300"/>
              </a:lnSpc>
              <a:spcBef>
                <a:spcPts val="114"/>
              </a:spcBef>
            </a:pPr>
            <a:r>
              <a:rPr dirty="0" sz="1800">
                <a:latin typeface="微软雅黑"/>
                <a:cs typeface="微软雅黑"/>
              </a:rPr>
              <a:t>【练习】如图所示为汤姆孙用来测定电子比荷的装置。当极板</a:t>
            </a:r>
            <a:r>
              <a:rPr dirty="0" sz="1800" i="1">
                <a:latin typeface="Times New Roman"/>
                <a:cs typeface="Times New Roman"/>
              </a:rPr>
              <a:t>P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和</a:t>
            </a:r>
            <a:r>
              <a:rPr dirty="0" sz="1800" i="1">
                <a:latin typeface="Times New Roman"/>
                <a:cs typeface="Times New Roman"/>
              </a:rPr>
              <a:t>P’</a:t>
            </a:r>
            <a:r>
              <a:rPr dirty="0" sz="1800">
                <a:latin typeface="微软雅黑"/>
                <a:cs typeface="微软雅黑"/>
              </a:rPr>
              <a:t>间不加偏 转电压时，电子束打在荧光屏的中心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微软雅黑"/>
                <a:cs typeface="微软雅黑"/>
              </a:rPr>
              <a:t>点处，形成一个亮点；加上偏转电压</a:t>
            </a:r>
            <a:r>
              <a:rPr dirty="0" sz="1800" i="1">
                <a:latin typeface="Times New Roman"/>
                <a:cs typeface="Times New Roman"/>
              </a:rPr>
              <a:t>U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后，  亮点偏离到</a:t>
            </a:r>
            <a:r>
              <a:rPr dirty="0" sz="1800" i="1">
                <a:latin typeface="Times New Roman"/>
                <a:cs typeface="Times New Roman"/>
              </a:rPr>
              <a:t>O’</a:t>
            </a:r>
            <a:r>
              <a:rPr dirty="0" sz="1800">
                <a:latin typeface="微软雅黑"/>
                <a:cs typeface="微软雅黑"/>
              </a:rPr>
              <a:t>点，</a:t>
            </a:r>
            <a:r>
              <a:rPr dirty="0" sz="1800" i="1">
                <a:latin typeface="Times New Roman"/>
                <a:cs typeface="Times New Roman"/>
              </a:rPr>
              <a:t>O’</a:t>
            </a:r>
            <a:r>
              <a:rPr dirty="0" sz="1800" spc="-220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点到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点的竖直距离为</a:t>
            </a:r>
            <a:r>
              <a:rPr dirty="0" sz="1800" i="1">
                <a:latin typeface="Times New Roman"/>
                <a:cs typeface="Times New Roman"/>
              </a:rPr>
              <a:t>d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,</a:t>
            </a:r>
            <a:r>
              <a:rPr dirty="0" sz="1800">
                <a:latin typeface="微软雅黑"/>
                <a:cs typeface="微软雅黑"/>
              </a:rPr>
              <a:t>水平距离可忽略不计，此时在</a:t>
            </a:r>
            <a:r>
              <a:rPr dirty="0" sz="1800" i="1">
                <a:latin typeface="Times New Roman"/>
                <a:cs typeface="Times New Roman"/>
              </a:rPr>
              <a:t>P</a:t>
            </a:r>
            <a:r>
              <a:rPr dirty="0" sz="1800" spc="-60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与</a:t>
            </a:r>
            <a:r>
              <a:rPr dirty="0" sz="1800" i="1">
                <a:latin typeface="Times New Roman"/>
                <a:cs typeface="Times New Roman"/>
              </a:rPr>
              <a:t>P’  </a:t>
            </a:r>
            <a:r>
              <a:rPr dirty="0" sz="1800">
                <a:latin typeface="微软雅黑"/>
                <a:cs typeface="微软雅黑"/>
              </a:rPr>
              <a:t>之间的区域里再加上一个方向垂直于纸面向里的匀强磁场</a:t>
            </a:r>
            <a:r>
              <a:rPr dirty="0" sz="1800" spc="-1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，调节磁感应强度，当 其大小为</a:t>
            </a: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sz="1800" spc="-15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时，亮点重新回到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 spc="-15" i="1">
                <a:latin typeface="Times New Roman"/>
                <a:cs typeface="Times New Roman"/>
              </a:rPr>
              <a:t> </a:t>
            </a:r>
            <a:r>
              <a:rPr dirty="0" sz="1800">
                <a:latin typeface="微软雅黑"/>
                <a:cs typeface="微软雅黑"/>
              </a:rPr>
              <a:t>点。已知极板水平方向长度为</a:t>
            </a:r>
            <a:r>
              <a:rPr dirty="0" sz="1800" spc="-95">
                <a:latin typeface="微软雅黑"/>
                <a:cs typeface="微软雅黑"/>
              </a:rPr>
              <a:t> </a:t>
            </a:r>
            <a:r>
              <a:rPr dirty="0" sz="1800" spc="5" i="1">
                <a:latin typeface="Times New Roman"/>
                <a:cs typeface="Times New Roman"/>
              </a:rPr>
              <a:t>L</a:t>
            </a:r>
            <a:r>
              <a:rPr dirty="0" baseline="-21739" sz="1725" spc="7">
                <a:latin typeface="Times New Roman"/>
                <a:cs typeface="Times New Roman"/>
              </a:rPr>
              <a:t>1</a:t>
            </a:r>
            <a:r>
              <a:rPr dirty="0" baseline="-21739" sz="1725" spc="7">
                <a:latin typeface="微软雅黑"/>
                <a:cs typeface="微软雅黑"/>
              </a:rPr>
              <a:t>，</a:t>
            </a:r>
            <a:r>
              <a:rPr dirty="0" sz="1800">
                <a:latin typeface="微软雅黑"/>
                <a:cs typeface="微软雅黑"/>
              </a:rPr>
              <a:t>极板间距为</a:t>
            </a:r>
            <a:r>
              <a:rPr dirty="0" sz="1800" spc="-105" i="1">
                <a:latin typeface="Times New Roman"/>
                <a:cs typeface="Times New Roman"/>
              </a:rPr>
              <a:t>b</a:t>
            </a:r>
            <a:r>
              <a:rPr dirty="0" sz="1850" spc="-105" i="1">
                <a:latin typeface="微软雅黑"/>
                <a:cs typeface="微软雅黑"/>
              </a:rPr>
              <a:t>，  </a:t>
            </a:r>
            <a:r>
              <a:rPr dirty="0" sz="1800">
                <a:latin typeface="微软雅黑"/>
                <a:cs typeface="微软雅黑"/>
              </a:rPr>
              <a:t>极板右端到荧光屏的距离为</a:t>
            </a:r>
            <a:r>
              <a:rPr dirty="0" sz="1800" i="1">
                <a:latin typeface="Times New Roman"/>
                <a:cs typeface="Times New Roman"/>
              </a:rPr>
              <a:t>L</a:t>
            </a:r>
            <a:r>
              <a:rPr dirty="0" baseline="-21739" sz="1725">
                <a:latin typeface="Times New Roman"/>
                <a:cs typeface="Times New Roman"/>
              </a:rPr>
              <a:t>2 </a:t>
            </a:r>
            <a:r>
              <a:rPr dirty="0" sz="1800">
                <a:latin typeface="微软雅黑"/>
                <a:cs typeface="微软雅黑"/>
              </a:rPr>
              <a:t>。</a:t>
            </a:r>
            <a:endParaRPr sz="1800">
              <a:latin typeface="微软雅黑"/>
              <a:cs typeface="微软雅黑"/>
            </a:endParaRPr>
          </a:p>
          <a:p>
            <a:pPr marL="520700" indent="-266700">
              <a:lnSpc>
                <a:spcPct val="100000"/>
              </a:lnSpc>
              <a:spcBef>
                <a:spcPts val="540"/>
              </a:spcBef>
              <a:buSzPct val="94444"/>
              <a:buFont typeface="Times New Roman"/>
              <a:buAutoNum type="arabicParenBoth"/>
              <a:tabLst>
                <a:tab pos="521334" algn="l"/>
              </a:tabLst>
            </a:pPr>
            <a:r>
              <a:rPr dirty="0" sz="1800">
                <a:latin typeface="微软雅黑"/>
                <a:cs typeface="微软雅黑"/>
              </a:rPr>
              <a:t>求打在荧光屏</a:t>
            </a:r>
            <a:r>
              <a:rPr dirty="0" sz="1800" i="1">
                <a:latin typeface="Times New Roman"/>
                <a:cs typeface="Times New Roman"/>
              </a:rPr>
              <a:t>O</a:t>
            </a:r>
            <a:r>
              <a:rPr dirty="0" sz="1800">
                <a:latin typeface="微软雅黑"/>
                <a:cs typeface="微软雅黑"/>
              </a:rPr>
              <a:t>点的电子速度的大小。</a:t>
            </a:r>
            <a:endParaRPr sz="1800">
              <a:latin typeface="微软雅黑"/>
              <a:cs typeface="微软雅黑"/>
            </a:endParaRPr>
          </a:p>
          <a:p>
            <a:pPr marL="520700" indent="-266700">
              <a:lnSpc>
                <a:spcPct val="100000"/>
              </a:lnSpc>
              <a:spcBef>
                <a:spcPts val="540"/>
              </a:spcBef>
              <a:buSzPct val="94444"/>
              <a:buFont typeface="Times New Roman"/>
              <a:buAutoNum type="arabicParenBoth"/>
              <a:tabLst>
                <a:tab pos="521334" algn="l"/>
              </a:tabLst>
            </a:pPr>
            <a:r>
              <a:rPr dirty="0" sz="1800">
                <a:latin typeface="微软雅黑"/>
                <a:cs typeface="微软雅黑"/>
              </a:rPr>
              <a:t>推导电子比荷的表达式。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0" y="3596640"/>
            <a:ext cx="3621024" cy="1312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3572" y="4717160"/>
            <a:ext cx="571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686991" y="2025237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 h="0">
                <a:moveTo>
                  <a:pt x="0" y="0"/>
                </a:moveTo>
                <a:lnTo>
                  <a:pt x="108584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80131" y="2025237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 h="0">
                <a:moveTo>
                  <a:pt x="0" y="0"/>
                </a:moveTo>
                <a:lnTo>
                  <a:pt x="197485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00330">
              <a:lnSpc>
                <a:spcPct val="125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解析</a:t>
            </a:r>
            <a:r>
              <a:rPr dirty="0" spc="-5">
                <a:latin typeface="Times New Roman"/>
                <a:cs typeface="Times New Roman"/>
              </a:rPr>
              <a:t>:</a:t>
            </a:r>
            <a:r>
              <a:rPr dirty="0">
                <a:latin typeface="Times New Roman"/>
                <a:cs typeface="Times New Roman"/>
              </a:rPr>
              <a:t>(1)</a:t>
            </a:r>
            <a:r>
              <a:rPr dirty="0"/>
              <a:t>当电子受到的电场力与洛伦兹力平衡时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电子做匀速直线运动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亮点重新 回到中心</a:t>
            </a:r>
            <a:r>
              <a:rPr dirty="0" i="1">
                <a:latin typeface="Times New Roman"/>
                <a:cs typeface="Times New Roman"/>
              </a:rPr>
              <a:t>O</a:t>
            </a:r>
            <a:r>
              <a:rPr dirty="0"/>
              <a:t>点。设电子的速度大小为</a:t>
            </a:r>
            <a:r>
              <a:rPr dirty="0" i="1">
                <a:latin typeface="Times New Roman"/>
                <a:cs typeface="Times New Roman"/>
              </a:rPr>
              <a:t>v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则</a:t>
            </a:r>
            <a:r>
              <a:rPr dirty="0" spc="355"/>
              <a:t> </a:t>
            </a:r>
            <a:r>
              <a:rPr dirty="0" i="1">
                <a:latin typeface="Times New Roman"/>
                <a:cs typeface="Times New Roman"/>
              </a:rPr>
              <a:t>evB = eE</a:t>
            </a:r>
            <a:r>
              <a:rPr dirty="0">
                <a:latin typeface="Times New Roman"/>
                <a:cs typeface="Times New Roman"/>
              </a:rPr>
              <a:t>,</a:t>
            </a:r>
          </a:p>
          <a:p>
            <a:pPr marL="355600">
              <a:lnSpc>
                <a:spcPts val="1785"/>
              </a:lnSpc>
              <a:spcBef>
                <a:spcPts val="1250"/>
              </a:spcBef>
              <a:tabLst>
                <a:tab pos="1348105" algn="l"/>
              </a:tabLst>
            </a:pPr>
            <a:r>
              <a:rPr dirty="0"/>
              <a:t>得  </a:t>
            </a:r>
            <a:r>
              <a:rPr dirty="0" i="1">
                <a:latin typeface="Times New Roman"/>
                <a:cs typeface="Times New Roman"/>
              </a:rPr>
              <a:t>v</a:t>
            </a:r>
            <a:r>
              <a:rPr dirty="0" spc="-1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=</a:t>
            </a:r>
            <a:r>
              <a:rPr dirty="0" spc="20" i="1">
                <a:latin typeface="Times New Roman"/>
                <a:cs typeface="Times New Roman"/>
              </a:rPr>
              <a:t> </a:t>
            </a:r>
            <a:r>
              <a:rPr dirty="0" baseline="44871" sz="1950" spc="89" i="1">
                <a:latin typeface="Cambria Math"/>
                <a:cs typeface="Cambria Math"/>
              </a:rPr>
              <a:t>E	</a:t>
            </a:r>
            <a:r>
              <a:rPr dirty="0" sz="1800"/>
              <a:t>即  </a:t>
            </a:r>
            <a:r>
              <a:rPr dirty="0" sz="1800" i="1">
                <a:latin typeface="Times New Roman"/>
                <a:cs typeface="Times New Roman"/>
              </a:rPr>
              <a:t>v =</a:t>
            </a:r>
            <a:r>
              <a:rPr dirty="0" sz="1800" spc="65" i="1">
                <a:latin typeface="Times New Roman"/>
                <a:cs typeface="Times New Roman"/>
              </a:rPr>
              <a:t> </a:t>
            </a:r>
            <a:r>
              <a:rPr dirty="0" baseline="44871" sz="1950" spc="67" i="1">
                <a:latin typeface="Cambria Math"/>
                <a:cs typeface="Cambria Math"/>
              </a:rPr>
              <a:t>U</a:t>
            </a:r>
            <a:endParaRPr baseline="44871" sz="1950">
              <a:latin typeface="Cambria Math"/>
              <a:cs typeface="Cambria Math"/>
            </a:endParaRPr>
          </a:p>
          <a:p>
            <a:pPr marL="1068705">
              <a:lnSpc>
                <a:spcPts val="1185"/>
              </a:lnSpc>
              <a:tabLst>
                <a:tab pos="2061210" algn="l"/>
              </a:tabLst>
            </a:pPr>
            <a:r>
              <a:rPr dirty="0" sz="1300" spc="55" i="1">
                <a:latin typeface="Cambria Math"/>
                <a:cs typeface="Cambria Math"/>
              </a:rPr>
              <a:t>B	</a:t>
            </a:r>
            <a:r>
              <a:rPr dirty="0" sz="1300" spc="15" i="1">
                <a:latin typeface="Cambria Math"/>
                <a:cs typeface="Cambria Math"/>
              </a:rPr>
              <a:t>B5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>
                <a:latin typeface="Times New Roman"/>
                <a:cs typeface="Times New Roman"/>
              </a:rPr>
              <a:t>(2)</a:t>
            </a:r>
            <a:r>
              <a:rPr dirty="0"/>
              <a:t>当极板间仅有偏转电场时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电子以速度</a:t>
            </a:r>
            <a:r>
              <a:rPr dirty="0" i="1">
                <a:latin typeface="Times New Roman"/>
                <a:cs typeface="Times New Roman"/>
              </a:rPr>
              <a:t>v</a:t>
            </a:r>
            <a:r>
              <a:rPr dirty="0"/>
              <a:t>进入后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竖直方向做匀加速直线运动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286" y="2679331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速度大小为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2736" y="2545981"/>
            <a:ext cx="619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2407" sz="2700" i="1">
                <a:latin typeface="Times New Roman"/>
                <a:cs typeface="Times New Roman"/>
              </a:rPr>
              <a:t>a =</a:t>
            </a:r>
            <a:r>
              <a:rPr dirty="0" baseline="-32407" sz="2700" spc="60" i="1">
                <a:latin typeface="Times New Roman"/>
                <a:cs typeface="Times New Roman"/>
              </a:rPr>
              <a:t> </a:t>
            </a:r>
            <a:r>
              <a:rPr dirty="0" sz="1300" spc="25" i="1">
                <a:latin typeface="Cambria Math"/>
                <a:cs typeface="Cambria Math"/>
              </a:rPr>
              <a:t>eU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8341" y="2855182"/>
            <a:ext cx="227329" cy="0"/>
          </a:xfrm>
          <a:custGeom>
            <a:avLst/>
            <a:gdLst/>
            <a:ahLst/>
            <a:cxnLst/>
            <a:rect l="l" t="t" r="r" b="b"/>
            <a:pathLst>
              <a:path w="227330" h="0">
                <a:moveTo>
                  <a:pt x="0" y="0"/>
                </a:moveTo>
                <a:lnTo>
                  <a:pt x="227330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15641" y="2858401"/>
            <a:ext cx="252729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latin typeface="Cambria Math"/>
                <a:cs typeface="Cambria Math"/>
              </a:rPr>
              <a:t>m</a:t>
            </a:r>
            <a:r>
              <a:rPr dirty="0" sz="1300" spc="-25" i="1"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9586" y="3283851"/>
            <a:ext cx="1003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5336" y="3090176"/>
            <a:ext cx="11557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420" i="1">
                <a:latin typeface="Cambria Math"/>
                <a:cs typeface="Cambria Math"/>
              </a:rPr>
              <a:t> 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15506" y="3154311"/>
            <a:ext cx="105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 i="1">
                <a:latin typeface="Cambria Math"/>
                <a:cs typeface="Cambria Math"/>
              </a:rPr>
              <a:t>归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38036" y="3335242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 h="0">
                <a:moveTo>
                  <a:pt x="0" y="0"/>
                </a:moveTo>
                <a:lnTo>
                  <a:pt x="175894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68516" y="3338461"/>
            <a:ext cx="11493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85" i="1">
                <a:latin typeface="Cambria Math"/>
                <a:cs typeface="Cambria Math"/>
              </a:rPr>
              <a:t>V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286" y="3159391"/>
            <a:ext cx="5575300" cy="748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9865" algn="l"/>
              </a:tabLst>
            </a:pPr>
            <a:r>
              <a:rPr dirty="0" sz="1800">
                <a:latin typeface="微软雅黑"/>
                <a:cs typeface="微软雅黑"/>
              </a:rPr>
              <a:t>电子在水平方向做匀速运动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>
                <a:latin typeface="微软雅黑"/>
                <a:cs typeface="微软雅黑"/>
              </a:rPr>
              <a:t>在电场内的运动时间为	</a:t>
            </a: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 spc="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800">
                <a:latin typeface="微软雅黑"/>
                <a:cs typeface="微软雅黑"/>
              </a:rPr>
              <a:t>电子在电场中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>
                <a:latin typeface="微软雅黑"/>
                <a:cs typeface="微软雅黑"/>
              </a:rPr>
              <a:t>竖直向上偏转的距离为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2686" y="4210951"/>
            <a:ext cx="1003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31136" y="4262342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439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18436" y="4265561"/>
            <a:ext cx="116839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i="1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6416" y="4196981"/>
            <a:ext cx="1206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5" i="1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0556" y="4067441"/>
            <a:ext cx="1206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5" i="1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8386" y="4086491"/>
            <a:ext cx="1216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290" algn="l"/>
                <a:tab pos="1031875" algn="l"/>
              </a:tabLst>
            </a:pPr>
            <a:r>
              <a:rPr dirty="0" sz="1800" i="1">
                <a:latin typeface="Times New Roman"/>
                <a:cs typeface="Times New Roman"/>
              </a:rPr>
              <a:t>d</a:t>
            </a:r>
            <a:r>
              <a:rPr dirty="0" sz="1800" spc="1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	</a:t>
            </a:r>
            <a:r>
              <a:rPr dirty="0" sz="1800" spc="120" i="1">
                <a:latin typeface="Cambria Math"/>
                <a:cs typeface="Cambria Math"/>
              </a:rPr>
              <a:t>a</a:t>
            </a:r>
            <a:r>
              <a:rPr dirty="0" sz="1800" spc="100" i="1">
                <a:latin typeface="Cambria Math"/>
                <a:cs typeface="Cambria Math"/>
              </a:rPr>
              <a:t>t</a:t>
            </a:r>
            <a:r>
              <a:rPr dirty="0" sz="1800" i="1">
                <a:latin typeface="Cambria Math"/>
                <a:cs typeface="Cambria Math"/>
              </a:rPr>
              <a:t>	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64916" y="4081411"/>
            <a:ext cx="105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 i="1">
                <a:latin typeface="Cambria Math"/>
                <a:cs typeface="Cambria Math"/>
              </a:rPr>
              <a:t>归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0641" y="3981081"/>
            <a:ext cx="105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45" i="1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18436" y="4017276"/>
            <a:ext cx="135699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6460" algn="l"/>
                <a:tab pos="1229995" algn="l"/>
              </a:tabLst>
            </a:pPr>
            <a:r>
              <a:rPr dirty="0" sz="1300" spc="-5" i="1">
                <a:latin typeface="Cambria Math"/>
                <a:cs typeface="Cambria Math"/>
              </a:rPr>
              <a:t>1</a:t>
            </a:r>
            <a:r>
              <a:rPr dirty="0" sz="1300" spc="-5" i="1">
                <a:latin typeface="Cambria Math"/>
                <a:cs typeface="Cambria Math"/>
              </a:rPr>
              <a:t>	</a:t>
            </a:r>
            <a:r>
              <a:rPr dirty="0" sz="1300" spc="5" i="1">
                <a:latin typeface="Cambria Math"/>
                <a:cs typeface="Cambria Math"/>
              </a:rPr>
              <a:t>e</a:t>
            </a:r>
            <a:r>
              <a:rPr dirty="0" sz="1300" spc="420" i="1">
                <a:latin typeface="Cambria Math"/>
                <a:cs typeface="Cambria Math"/>
              </a:rPr>
              <a:t> </a:t>
            </a:r>
            <a:r>
              <a:rPr dirty="0" sz="1300" spc="420" i="1">
                <a:latin typeface="Cambria Math"/>
                <a:cs typeface="Cambria Math"/>
              </a:rPr>
              <a:t>	</a:t>
            </a:r>
            <a:r>
              <a:rPr dirty="0" sz="1300" spc="45" i="1">
                <a:latin typeface="Cambria Math"/>
                <a:cs typeface="Cambria Math"/>
              </a:rPr>
              <a:t>U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85211" y="4262342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 h="0">
                <a:moveTo>
                  <a:pt x="0" y="0"/>
                </a:moveTo>
                <a:lnTo>
                  <a:pt x="497839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672511" y="4265561"/>
            <a:ext cx="52324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i="1">
                <a:latin typeface="Cambria Math"/>
                <a:cs typeface="Cambria Math"/>
              </a:rPr>
              <a:t>2</a:t>
            </a:r>
            <a:r>
              <a:rPr dirty="0" sz="1300" i="1">
                <a:latin typeface="Cambria Math"/>
                <a:cs typeface="Cambria Math"/>
              </a:rPr>
              <a:t>m</a:t>
            </a:r>
            <a:r>
              <a:rPr dirty="0" sz="1300" spc="75" i="1">
                <a:latin typeface="Cambria Math"/>
                <a:cs typeface="Cambria Math"/>
              </a:rPr>
              <a:t>v</a:t>
            </a:r>
            <a:r>
              <a:rPr dirty="0" baseline="23809" sz="1575" spc="135" i="1">
                <a:latin typeface="Cambria Math"/>
                <a:cs typeface="Cambria Math"/>
              </a:rPr>
              <a:t>2</a:t>
            </a:r>
            <a:r>
              <a:rPr dirty="0" sz="1300" spc="-25" i="1"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0385" y="946810"/>
            <a:ext cx="4245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离开电场时竖直向上的分速度为</a:t>
            </a:r>
            <a:r>
              <a:rPr dirty="0" sz="1800" spc="315">
                <a:latin typeface="微软雅黑"/>
                <a:cs typeface="微软雅黑"/>
              </a:rPr>
              <a:t> </a:t>
            </a:r>
            <a:r>
              <a:rPr dirty="0" sz="1800" spc="5" i="1">
                <a:latin typeface="Times New Roman"/>
                <a:cs typeface="Times New Roman"/>
              </a:rPr>
              <a:t>v</a:t>
            </a:r>
            <a:r>
              <a:rPr dirty="0" baseline="-16908" sz="1725" spc="7">
                <a:latin typeface="宋体"/>
                <a:cs typeface="宋体"/>
              </a:rPr>
              <a:t>⊥</a:t>
            </a:r>
            <a:r>
              <a:rPr dirty="0" sz="1800" spc="5" i="1">
                <a:latin typeface="Times New Roman"/>
                <a:cs typeface="Times New Roman"/>
              </a:rPr>
              <a:t>=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at</a:t>
            </a:r>
            <a:r>
              <a:rPr dirty="0" baseline="-16908" sz="1725">
                <a:latin typeface="Times New Roman"/>
                <a:cs typeface="Times New Roman"/>
              </a:rPr>
              <a:t>1</a:t>
            </a:r>
            <a:r>
              <a:rPr dirty="0" baseline="-16908" sz="1725" spc="-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9830" y="941730"/>
            <a:ext cx="105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 i="1">
                <a:latin typeface="Cambria Math"/>
                <a:cs typeface="Cambria Math"/>
              </a:rPr>
              <a:t>归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7745" y="877595"/>
            <a:ext cx="39687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5" i="1">
                <a:latin typeface="Cambria Math"/>
                <a:cs typeface="Cambria Math"/>
              </a:rPr>
              <a:t>e</a:t>
            </a:r>
            <a:r>
              <a:rPr dirty="0" sz="1300" spc="135" i="1">
                <a:latin typeface="Cambria Math"/>
                <a:cs typeface="Cambria Math"/>
              </a:rPr>
              <a:t> </a:t>
            </a:r>
            <a:r>
              <a:rPr dirty="0" sz="1300" spc="45" i="1">
                <a:latin typeface="Cambria Math"/>
                <a:cs typeface="Cambria Math"/>
              </a:rPr>
              <a:t>U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00445" y="1122660"/>
            <a:ext cx="371475" cy="0"/>
          </a:xfrm>
          <a:custGeom>
            <a:avLst/>
            <a:gdLst/>
            <a:ahLst/>
            <a:cxnLst/>
            <a:rect l="l" t="t" r="r" b="b"/>
            <a:pathLst>
              <a:path w="371475" h="0">
                <a:moveTo>
                  <a:pt x="0" y="0"/>
                </a:moveTo>
                <a:lnTo>
                  <a:pt x="371475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15050" y="1125880"/>
            <a:ext cx="34226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latin typeface="Cambria Math"/>
                <a:cs typeface="Cambria Math"/>
              </a:rPr>
              <a:t>m</a:t>
            </a:r>
            <a:r>
              <a:rPr dirty="0" sz="1300" spc="-85" i="1">
                <a:latin typeface="Cambria Math"/>
                <a:cs typeface="Cambria Math"/>
              </a:rPr>
              <a:t>V</a:t>
            </a:r>
            <a:r>
              <a:rPr dirty="0" sz="1300" spc="-25" i="1"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0385" y="1343685"/>
            <a:ext cx="5420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电子离开电场后做匀速直线运动，经</a:t>
            </a:r>
            <a:r>
              <a:rPr dirty="0" sz="1800" spc="-5" i="1">
                <a:latin typeface="Times New Roman"/>
                <a:cs typeface="Times New Roman"/>
              </a:rPr>
              <a:t>t</a:t>
            </a:r>
            <a:r>
              <a:rPr dirty="0" baseline="-16908" sz="1725" spc="7">
                <a:latin typeface="Times New Roman"/>
                <a:cs typeface="Times New Roman"/>
              </a:rPr>
              <a:t>2</a:t>
            </a:r>
            <a:r>
              <a:rPr dirty="0" sz="1800">
                <a:latin typeface="微软雅黑"/>
                <a:cs typeface="微软雅黑"/>
              </a:rPr>
              <a:t>时间到达荧光屏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2585" y="1797710"/>
            <a:ext cx="1003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39085" y="1673250"/>
            <a:ext cx="354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t</a:t>
            </a:r>
            <a:r>
              <a:rPr dirty="0" sz="1800" spc="3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5800" y="1604035"/>
            <a:ext cx="11557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420" i="1">
                <a:latin typeface="Cambria Math"/>
                <a:cs typeface="Cambria Math"/>
              </a:rPr>
              <a:t> 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5970" y="1668170"/>
            <a:ext cx="105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45" i="1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38500" y="184910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 h="0">
                <a:moveTo>
                  <a:pt x="0" y="0"/>
                </a:moveTo>
                <a:lnTo>
                  <a:pt x="175895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868980" y="1852320"/>
            <a:ext cx="11493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85" i="1">
                <a:latin typeface="Cambria Math"/>
                <a:cs typeface="Cambria Math"/>
              </a:rPr>
              <a:t>V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0385" y="2012975"/>
            <a:ext cx="2677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i="1">
                <a:latin typeface="Times New Roman"/>
                <a:cs typeface="Times New Roman"/>
              </a:rPr>
              <a:t>t</a:t>
            </a:r>
            <a:r>
              <a:rPr dirty="0" baseline="-16908" sz="1725" spc="7">
                <a:latin typeface="Times New Roman"/>
                <a:cs typeface="Times New Roman"/>
              </a:rPr>
              <a:t>2</a:t>
            </a:r>
            <a:r>
              <a:rPr dirty="0" sz="1800">
                <a:latin typeface="微软雅黑"/>
                <a:cs typeface="微软雅黑"/>
              </a:rPr>
              <a:t>时间内向上运动的距离为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4885" y="2336825"/>
            <a:ext cx="1005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2305" algn="l"/>
              </a:tabLst>
            </a:pPr>
            <a:r>
              <a:rPr dirty="0" sz="1800" i="1">
                <a:latin typeface="Times New Roman"/>
                <a:cs typeface="Times New Roman"/>
              </a:rPr>
              <a:t>d</a:t>
            </a:r>
            <a:r>
              <a:rPr dirty="0" sz="1800" spc="1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 v	t</a:t>
            </a:r>
            <a:r>
              <a:rPr dirty="0" sz="1800" spc="3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61840" y="2267610"/>
            <a:ext cx="48704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5" i="1">
                <a:latin typeface="Cambria Math"/>
                <a:cs typeface="Cambria Math"/>
              </a:rPr>
              <a:t>eU</a:t>
            </a:r>
            <a:r>
              <a:rPr dirty="0" sz="1300" spc="445" i="1">
                <a:latin typeface="Cambria Math"/>
                <a:cs typeface="Cambria Math"/>
              </a:rPr>
              <a:t> </a:t>
            </a:r>
            <a:r>
              <a:rPr dirty="0" sz="1300" spc="25" i="1">
                <a:latin typeface="Cambria Math"/>
                <a:cs typeface="Cambria Math"/>
              </a:rPr>
              <a:t> </a:t>
            </a:r>
            <a:r>
              <a:rPr dirty="0" sz="1300" spc="100" i="1">
                <a:latin typeface="Cambria Math"/>
                <a:cs typeface="Cambria Math"/>
              </a:rPr>
              <a:t> </a:t>
            </a:r>
            <a:r>
              <a:rPr dirty="0" sz="1300" spc="420" i="1">
                <a:latin typeface="Cambria Math"/>
                <a:cs typeface="Cambria Math"/>
              </a:rPr>
              <a:t> 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47590" y="2331745"/>
            <a:ext cx="2813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 i="1">
                <a:latin typeface="Cambria Math"/>
                <a:cs typeface="Cambria Math"/>
              </a:rPr>
              <a:t>归</a:t>
            </a:r>
            <a:r>
              <a:rPr dirty="0" sz="1050" spc="-90" i="1">
                <a:latin typeface="Cambria Math"/>
                <a:cs typeface="Cambria Math"/>
              </a:rPr>
              <a:t> </a:t>
            </a:r>
            <a:r>
              <a:rPr dirty="0" sz="1050" spc="-229" i="1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4540" y="2512675"/>
            <a:ext cx="547370" cy="0"/>
          </a:xfrm>
          <a:custGeom>
            <a:avLst/>
            <a:gdLst/>
            <a:ahLst/>
            <a:cxnLst/>
            <a:rect l="l" t="t" r="r" b="b"/>
            <a:pathLst>
              <a:path w="547370" h="0">
                <a:moveTo>
                  <a:pt x="0" y="0"/>
                </a:moveTo>
                <a:lnTo>
                  <a:pt x="547369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232325" y="2515895"/>
            <a:ext cx="43180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latin typeface="Cambria Math"/>
                <a:cs typeface="Cambria Math"/>
              </a:rPr>
              <a:t>m</a:t>
            </a:r>
            <a:r>
              <a:rPr dirty="0" sz="1300" spc="75" i="1">
                <a:latin typeface="Cambria Math"/>
                <a:cs typeface="Cambria Math"/>
              </a:rPr>
              <a:t>v</a:t>
            </a:r>
            <a:r>
              <a:rPr dirty="0" baseline="23809" sz="1575" spc="135" i="1">
                <a:latin typeface="Cambria Math"/>
                <a:cs typeface="Cambria Math"/>
              </a:rPr>
              <a:t>2</a:t>
            </a:r>
            <a:r>
              <a:rPr dirty="0" sz="1300" spc="-25" i="1"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0385" y="2437658"/>
            <a:ext cx="2540000" cy="5391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r" marR="16510">
              <a:lnSpc>
                <a:spcPct val="100000"/>
              </a:lnSpc>
              <a:spcBef>
                <a:spcPts val="310"/>
              </a:spcBef>
              <a:tabLst>
                <a:tab pos="386715" algn="l"/>
              </a:tabLst>
            </a:pPr>
            <a:r>
              <a:rPr dirty="0" sz="1150" spc="10">
                <a:latin typeface="Times New Roman"/>
                <a:cs typeface="Times New Roman"/>
              </a:rPr>
              <a:t>2	</a:t>
            </a:r>
            <a:r>
              <a:rPr dirty="0" sz="1150" spc="25">
                <a:latin typeface="宋体"/>
                <a:cs typeface="宋体"/>
              </a:rPr>
              <a:t>⊥</a:t>
            </a:r>
            <a:r>
              <a:rPr dirty="0" sz="1150" spc="-180">
                <a:latin typeface="宋体"/>
                <a:cs typeface="宋体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微软雅黑"/>
                <a:cs typeface="微软雅黑"/>
              </a:rPr>
              <a:t>电子向上的总偏转距离为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67685" y="3000400"/>
            <a:ext cx="1074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d= d +d</a:t>
            </a:r>
            <a:r>
              <a:rPr dirty="0" sz="1800" spc="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79265" y="2931185"/>
            <a:ext cx="220979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5" i="1">
                <a:latin typeface="Cambria Math"/>
                <a:cs typeface="Cambria Math"/>
              </a:rPr>
              <a:t>e</a:t>
            </a:r>
            <a:r>
              <a:rPr dirty="0" sz="1300" spc="45" i="1">
                <a:latin typeface="Cambria Math"/>
                <a:cs typeface="Cambria Math"/>
              </a:rPr>
              <a:t>U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86555" y="3176250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400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773855" y="3179470"/>
            <a:ext cx="43180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latin typeface="Cambria Math"/>
                <a:cs typeface="Cambria Math"/>
              </a:rPr>
              <a:t>m</a:t>
            </a:r>
            <a:r>
              <a:rPr dirty="0" sz="1300" spc="75" i="1">
                <a:latin typeface="Cambria Math"/>
                <a:cs typeface="Cambria Math"/>
              </a:rPr>
              <a:t>v</a:t>
            </a:r>
            <a:r>
              <a:rPr dirty="0" baseline="23809" sz="1575" spc="135" i="1">
                <a:latin typeface="Cambria Math"/>
                <a:cs typeface="Cambria Math"/>
              </a:rPr>
              <a:t>2</a:t>
            </a:r>
            <a:r>
              <a:rPr dirty="0" sz="1300" spc="-25" i="1"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7255" y="3124860"/>
            <a:ext cx="37782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9560" algn="l"/>
              </a:tabLst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r>
              <a:rPr dirty="0" sz="1150" spc="1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13350" y="2931185"/>
            <a:ext cx="11557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420" i="1">
                <a:latin typeface="Cambria Math"/>
                <a:cs typeface="Cambria Math"/>
              </a:rPr>
              <a:t> 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03520" y="2995320"/>
            <a:ext cx="105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 i="1">
                <a:latin typeface="Cambria Math"/>
                <a:cs typeface="Cambria Math"/>
              </a:rPr>
              <a:t>归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26050" y="317625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 h="0">
                <a:moveTo>
                  <a:pt x="0" y="0"/>
                </a:moveTo>
                <a:lnTo>
                  <a:pt x="175894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55260" y="3179470"/>
            <a:ext cx="116839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i="1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80255" y="3000400"/>
            <a:ext cx="910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1055" algn="l"/>
              </a:tabLst>
            </a:pPr>
            <a:r>
              <a:rPr dirty="0" sz="1800" i="1">
                <a:latin typeface="Times New Roman"/>
                <a:cs typeface="Times New Roman"/>
              </a:rPr>
              <a:t>L</a:t>
            </a:r>
            <a:r>
              <a:rPr dirty="0" sz="1800" spc="130" i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</a:t>
            </a:r>
            <a:r>
              <a:rPr dirty="0" sz="1800" i="1">
                <a:latin typeface="Times New Roman"/>
                <a:cs typeface="Times New Roman"/>
              </a:rPr>
              <a:t>L</a:t>
            </a:r>
            <a:r>
              <a:rPr dirty="0" sz="1800" spc="1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+	</a:t>
            </a:r>
            <a:r>
              <a:rPr dirty="0" sz="180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0385" y="3394735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可解得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280335" y="3570585"/>
            <a:ext cx="138430" cy="0"/>
          </a:xfrm>
          <a:custGeom>
            <a:avLst/>
            <a:gdLst/>
            <a:ahLst/>
            <a:cxnLst/>
            <a:rect l="l" t="t" r="r" b="b"/>
            <a:pathLst>
              <a:path w="138430" h="0">
                <a:moveTo>
                  <a:pt x="0" y="0"/>
                </a:moveTo>
                <a:lnTo>
                  <a:pt x="138430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267635" y="3573805"/>
            <a:ext cx="1638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latin typeface="Cambria Math"/>
                <a:cs typeface="Cambria Math"/>
              </a:rPr>
              <a:t>m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95575" y="3261385"/>
            <a:ext cx="370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" i="1">
                <a:latin typeface="Cambria Math"/>
                <a:cs typeface="Cambria Math"/>
              </a:rPr>
              <a:t>e</a:t>
            </a:r>
            <a:r>
              <a:rPr dirty="0" sz="1300" spc="60" i="1">
                <a:latin typeface="Cambria Math"/>
                <a:cs typeface="Cambria Math"/>
              </a:rPr>
              <a:t> </a:t>
            </a:r>
            <a:r>
              <a:rPr dirty="0" baseline="-32407" sz="2700" i="1">
                <a:latin typeface="Cambria Math"/>
                <a:cs typeface="Cambria Math"/>
              </a:rPr>
              <a:t>=</a:t>
            </a:r>
            <a:endParaRPr baseline="-32407" sz="27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07740" y="3105271"/>
            <a:ext cx="443230" cy="44323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  <a:tabLst>
                <a:tab pos="342265" algn="l"/>
              </a:tabLst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r>
              <a:rPr dirty="0" sz="1150" spc="1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algn="ctr" marL="29845">
              <a:lnSpc>
                <a:spcPct val="100000"/>
              </a:lnSpc>
              <a:spcBef>
                <a:spcPts val="170"/>
              </a:spcBef>
            </a:pPr>
            <a:r>
              <a:rPr dirty="0" sz="1300" spc="40" i="1">
                <a:latin typeface="Cambria Math"/>
                <a:cs typeface="Cambria Math"/>
              </a:rPr>
              <a:t>U6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805480" y="3570585"/>
            <a:ext cx="1078865" cy="0"/>
          </a:xfrm>
          <a:custGeom>
            <a:avLst/>
            <a:gdLst/>
            <a:ahLst/>
            <a:cxnLst/>
            <a:rect l="l" t="t" r="r" b="b"/>
            <a:pathLst>
              <a:path w="1078864" h="0">
                <a:moveTo>
                  <a:pt x="0" y="0"/>
                </a:moveTo>
                <a:lnTo>
                  <a:pt x="1078864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3045" y="3730618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08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676065" y="3714775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i="1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92780" y="3536975"/>
            <a:ext cx="1104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0" i="1">
                <a:latin typeface="Cambria Math"/>
                <a:cs typeface="Cambria Math"/>
              </a:rPr>
              <a:t>B</a:t>
            </a:r>
            <a:r>
              <a:rPr dirty="0" baseline="23809" sz="1575" spc="75" i="1">
                <a:latin typeface="Cambria Math"/>
                <a:cs typeface="Cambria Math"/>
              </a:rPr>
              <a:t>2</a:t>
            </a:r>
            <a:r>
              <a:rPr dirty="0" sz="1300" spc="50" i="1">
                <a:latin typeface="Cambria Math"/>
                <a:cs typeface="Cambria Math"/>
              </a:rPr>
              <a:t>5</a:t>
            </a:r>
            <a:r>
              <a:rPr dirty="0" sz="1300" spc="-20" i="1">
                <a:latin typeface="Cambria Math"/>
                <a:cs typeface="Cambria Math"/>
              </a:rPr>
              <a:t> </a:t>
            </a:r>
            <a:r>
              <a:rPr dirty="0" baseline="-13227" sz="1575" spc="-82" i="1">
                <a:latin typeface="Cambria Math"/>
                <a:cs typeface="Cambria Math"/>
              </a:rPr>
              <a:t>归 </a:t>
            </a:r>
            <a:r>
              <a:rPr dirty="0" sz="1800">
                <a:latin typeface="Times New Roman"/>
                <a:cs typeface="Times New Roman"/>
              </a:rPr>
              <a:t>( </a:t>
            </a:r>
            <a:r>
              <a:rPr dirty="0" baseline="-13227" sz="1575" spc="75" i="1">
                <a:latin typeface="Cambria Math"/>
                <a:cs typeface="Cambria Math"/>
              </a:rPr>
              <a:t>2</a:t>
            </a:r>
            <a:r>
              <a:rPr dirty="0" sz="1300" spc="50" i="1">
                <a:latin typeface="Cambria Math"/>
                <a:cs typeface="Cambria Math"/>
              </a:rPr>
              <a:t>+</a:t>
            </a:r>
            <a:r>
              <a:rPr dirty="0" baseline="39682" sz="1575" spc="75" i="1">
                <a:latin typeface="Cambria Math"/>
                <a:cs typeface="Cambria Math"/>
              </a:rPr>
              <a:t>L </a:t>
            </a:r>
            <a:r>
              <a:rPr dirty="0" baseline="26455" sz="1575" spc="-97" i="1">
                <a:latin typeface="Cambria Math"/>
                <a:cs typeface="Cambria Math"/>
              </a:rPr>
              <a:t>归 </a:t>
            </a:r>
            <a:r>
              <a:rPr dirty="0" sz="1800" spc="-585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210485" y="4200506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 h="0">
                <a:moveTo>
                  <a:pt x="0" y="0"/>
                </a:moveTo>
                <a:lnTo>
                  <a:pt x="197485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197785" y="4203725"/>
            <a:ext cx="2228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60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r>
              <a:rPr dirty="0" sz="1300" spc="-25" i="1">
                <a:solidFill>
                  <a:srgbClr val="FF0000"/>
                </a:solidFill>
                <a:latin typeface="Cambria Math"/>
                <a:cs typeface="Cambria Math"/>
              </a:rPr>
              <a:t>5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10385" y="4024655"/>
            <a:ext cx="1505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5550" algn="l"/>
              </a:tabLst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答案</a:t>
            </a:r>
            <a:r>
              <a:rPr dirty="0" sz="1800" spc="-5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r>
              <a:rPr dirty="0" sz="1800" spc="-1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44871" sz="1950" spc="67" i="1">
                <a:solidFill>
                  <a:srgbClr val="FF0000"/>
                </a:solidFill>
                <a:latin typeface="Cambria Math"/>
                <a:cs typeface="Cambria Math"/>
              </a:rPr>
              <a:t>U</a:t>
            </a:r>
            <a:r>
              <a:rPr dirty="0" baseline="44871" sz="1950" i="1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(2)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24910" y="3955440"/>
            <a:ext cx="2349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45" i="1">
                <a:solidFill>
                  <a:srgbClr val="FF0000"/>
                </a:solidFill>
                <a:latin typeface="Cambria Math"/>
                <a:cs typeface="Cambria Math"/>
              </a:rPr>
              <a:t>U</a:t>
            </a:r>
            <a:r>
              <a:rPr dirty="0" sz="1300" spc="30" i="1">
                <a:solidFill>
                  <a:srgbClr val="FF0000"/>
                </a:solidFill>
                <a:latin typeface="Cambria Math"/>
                <a:cs typeface="Cambria Math"/>
              </a:rPr>
              <a:t>6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903270" y="4200506"/>
            <a:ext cx="1078865" cy="0"/>
          </a:xfrm>
          <a:custGeom>
            <a:avLst/>
            <a:gdLst/>
            <a:ahLst/>
            <a:cxnLst/>
            <a:rect l="l" t="t" r="r" b="b"/>
            <a:pathLst>
              <a:path w="1078864" h="0">
                <a:moveTo>
                  <a:pt x="0" y="0"/>
                </a:moveTo>
                <a:lnTo>
                  <a:pt x="1078864" y="0"/>
                </a:lnTo>
              </a:path>
            </a:pathLst>
          </a:custGeom>
          <a:ln w="1499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40835" y="4360538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083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773855" y="4344695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i="1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90570" y="4166895"/>
            <a:ext cx="1104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0" i="1">
                <a:solidFill>
                  <a:srgbClr val="FF0000"/>
                </a:solidFill>
                <a:latin typeface="Cambria Math"/>
                <a:cs typeface="Cambria Math"/>
              </a:rPr>
              <a:t>B</a:t>
            </a:r>
            <a:r>
              <a:rPr dirty="0" baseline="23809" sz="1575" spc="75" i="1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dirty="0" sz="1300" spc="50" i="1">
                <a:solidFill>
                  <a:srgbClr val="FF0000"/>
                </a:solidFill>
                <a:latin typeface="Cambria Math"/>
                <a:cs typeface="Cambria Math"/>
              </a:rPr>
              <a:t>5</a:t>
            </a:r>
            <a:r>
              <a:rPr dirty="0" sz="1300" spc="-20" i="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baseline="-13227" sz="1575" spc="-82" i="1">
                <a:solidFill>
                  <a:srgbClr val="FF0000"/>
                </a:solidFill>
                <a:latin typeface="Cambria Math"/>
                <a:cs typeface="Cambria Math"/>
              </a:rPr>
              <a:t>归 </a:t>
            </a: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dirty="0" baseline="-13227" sz="1575" spc="75" i="1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dirty="0" sz="1300" spc="50" i="1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dirty="0" baseline="39682" sz="1575" spc="75" i="1">
                <a:solidFill>
                  <a:srgbClr val="FF0000"/>
                </a:solidFill>
                <a:latin typeface="Cambria Math"/>
                <a:cs typeface="Cambria Math"/>
              </a:rPr>
              <a:t>L </a:t>
            </a:r>
            <a:r>
              <a:rPr dirty="0" baseline="26455" sz="1575" spc="-97" i="1">
                <a:solidFill>
                  <a:srgbClr val="FF0000"/>
                </a:solidFill>
                <a:latin typeface="Cambria Math"/>
                <a:cs typeface="Cambria Math"/>
              </a:rPr>
              <a:t>归 </a:t>
            </a:r>
            <a:r>
              <a:rPr dirty="0" sz="1800" spc="-585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705" y="0"/>
            <a:ext cx="15513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3000" spc="-5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3827" y="1116507"/>
            <a:ext cx="6115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宋体"/>
                <a:cs typeface="宋体"/>
              </a:rPr>
              <a:t>小</a:t>
            </a:r>
            <a:r>
              <a:rPr dirty="0" sz="2300" spc="-10" b="1">
                <a:latin typeface="宋体"/>
                <a:cs typeface="宋体"/>
              </a:rPr>
              <a:t>结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3606" y="1694535"/>
            <a:ext cx="6647294" cy="2837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6367" y="931076"/>
            <a:ext cx="6884034" cy="329692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象科学家一样的思考：</a:t>
            </a:r>
            <a:endParaRPr sz="2400">
              <a:latin typeface="微软雅黑"/>
              <a:cs typeface="微软雅黑"/>
            </a:endParaRPr>
          </a:p>
          <a:p>
            <a:pPr marL="12700" marR="5080" indent="207645">
              <a:lnSpc>
                <a:spcPct val="126899"/>
              </a:lnSpc>
              <a:spcBef>
                <a:spcPts val="400"/>
              </a:spcBef>
            </a:pPr>
            <a:r>
              <a:rPr dirty="0" sz="2000">
                <a:latin typeface="微软雅黑"/>
                <a:cs typeface="微软雅黑"/>
              </a:rPr>
              <a:t>电子的发现使人们认识到原子不是组成物质的最小微粒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>
                <a:latin typeface="微软雅黑"/>
                <a:cs typeface="微软雅黑"/>
              </a:rPr>
              <a:t>原子本身也具有结构。通常情况下，物质是不带电的，因此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原子应该是电中性的。然而，既然电子是带负电的，质量</a:t>
            </a:r>
            <a:r>
              <a:rPr dirty="0" sz="2000" spc="5">
                <a:latin typeface="微软雅黑"/>
                <a:cs typeface="微软雅黑"/>
              </a:rPr>
              <a:t>又 </a:t>
            </a:r>
            <a:r>
              <a:rPr dirty="0" sz="2000">
                <a:latin typeface="微软雅黑"/>
                <a:cs typeface="微软雅黑"/>
              </a:rPr>
              <a:t>很小，那么，原子中一定还有带正电的部分，它具有大部</a:t>
            </a:r>
            <a:r>
              <a:rPr dirty="0" sz="2000" spc="5">
                <a:latin typeface="微软雅黑"/>
                <a:cs typeface="微软雅黑"/>
              </a:rPr>
              <a:t>分 </a:t>
            </a:r>
            <a:r>
              <a:rPr dirty="0" sz="2000">
                <a:latin typeface="微软雅黑"/>
                <a:cs typeface="微软雅黑"/>
              </a:rPr>
              <a:t>的原子质量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 marR="363855" indent="149860">
              <a:lnSpc>
                <a:spcPct val="125000"/>
              </a:lnSpc>
            </a:pPr>
            <a:r>
              <a:rPr dirty="0" sz="2000">
                <a:latin typeface="微软雅黑"/>
                <a:cs typeface="微软雅黑"/>
              </a:rPr>
              <a:t>那么，原子中带正电的部分以及带负电的电子可能是如</a:t>
            </a:r>
            <a:r>
              <a:rPr dirty="0" sz="2000">
                <a:latin typeface="微软雅黑"/>
                <a:cs typeface="微软雅黑"/>
              </a:rPr>
              <a:t>何 </a:t>
            </a:r>
            <a:r>
              <a:rPr dirty="0" sz="2000">
                <a:latin typeface="微软雅黑"/>
                <a:cs typeface="微软雅黑"/>
              </a:rPr>
              <a:t>分布的呢</a:t>
            </a:r>
            <a:r>
              <a:rPr dirty="0" sz="2000" spc="5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2025-04-20T14:28:17Z</dcterms:created>
  <dcterms:modified xsi:type="dcterms:W3CDTF">2025-04-20T14:28:17Z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