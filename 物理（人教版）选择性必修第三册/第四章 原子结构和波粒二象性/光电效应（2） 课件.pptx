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9994" y="1267193"/>
            <a:ext cx="4052011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7385" y="1812518"/>
            <a:ext cx="11357228" cy="302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63782" y="2001062"/>
            <a:ext cx="2463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光电效应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4406" y="3643096"/>
            <a:ext cx="216344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级：高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主讲人：宋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静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50191" y="3643096"/>
            <a:ext cx="5013325" cy="1046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760"/>
              </a:spcBef>
              <a:tabLst>
                <a:tab pos="728345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校：重庆巴蜀科学城中学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校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59815" y="4087583"/>
            <a:ext cx="1233170" cy="1012825"/>
          </a:xfrm>
          <a:custGeom>
            <a:avLst/>
            <a:gdLst/>
            <a:ahLst/>
            <a:cxnLst/>
            <a:rect l="l" t="t" r="r" b="b"/>
            <a:pathLst>
              <a:path w="1233170" h="1012825">
                <a:moveTo>
                  <a:pt x="134594" y="1012672"/>
                </a:moveTo>
                <a:lnTo>
                  <a:pt x="0" y="1012672"/>
                </a:lnTo>
                <a:lnTo>
                  <a:pt x="1232725" y="0"/>
                </a:lnTo>
                <a:lnTo>
                  <a:pt x="1232725" y="111099"/>
                </a:lnTo>
                <a:lnTo>
                  <a:pt x="134594" y="1012672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40896" y="3942397"/>
            <a:ext cx="2129155" cy="2085339"/>
          </a:xfrm>
          <a:custGeom>
            <a:avLst/>
            <a:gdLst/>
            <a:ahLst/>
            <a:cxnLst/>
            <a:rect l="l" t="t" r="r" b="b"/>
            <a:pathLst>
              <a:path w="2129154" h="2085339">
                <a:moveTo>
                  <a:pt x="1063942" y="2085162"/>
                </a:moveTo>
                <a:lnTo>
                  <a:pt x="0" y="1211364"/>
                </a:lnTo>
                <a:lnTo>
                  <a:pt x="476415" y="1211364"/>
                </a:lnTo>
                <a:lnTo>
                  <a:pt x="476415" y="0"/>
                </a:lnTo>
                <a:lnTo>
                  <a:pt x="1653590" y="0"/>
                </a:lnTo>
                <a:lnTo>
                  <a:pt x="1653590" y="85458"/>
                </a:lnTo>
                <a:lnTo>
                  <a:pt x="561873" y="85458"/>
                </a:lnTo>
                <a:lnTo>
                  <a:pt x="561873" y="1296822"/>
                </a:lnTo>
                <a:lnTo>
                  <a:pt x="239280" y="1296822"/>
                </a:lnTo>
                <a:lnTo>
                  <a:pt x="1063942" y="1974062"/>
                </a:lnTo>
                <a:lnTo>
                  <a:pt x="1199353" y="1974062"/>
                </a:lnTo>
                <a:lnTo>
                  <a:pt x="1063942" y="2085162"/>
                </a:lnTo>
                <a:close/>
              </a:path>
              <a:path w="2129154" h="2085339">
                <a:moveTo>
                  <a:pt x="1199353" y="1974062"/>
                </a:moveTo>
                <a:lnTo>
                  <a:pt x="1063942" y="1974062"/>
                </a:lnTo>
                <a:lnTo>
                  <a:pt x="1890737" y="1296822"/>
                </a:lnTo>
                <a:lnTo>
                  <a:pt x="1568132" y="1296822"/>
                </a:lnTo>
                <a:lnTo>
                  <a:pt x="1568132" y="85458"/>
                </a:lnTo>
                <a:lnTo>
                  <a:pt x="1653590" y="85458"/>
                </a:lnTo>
                <a:lnTo>
                  <a:pt x="1653590" y="1211364"/>
                </a:lnTo>
                <a:lnTo>
                  <a:pt x="2128951" y="1211364"/>
                </a:lnTo>
                <a:lnTo>
                  <a:pt x="1199353" y="1974062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53944" y="3666832"/>
            <a:ext cx="1233170" cy="1012825"/>
          </a:xfrm>
          <a:custGeom>
            <a:avLst/>
            <a:gdLst/>
            <a:ahLst/>
            <a:cxnLst/>
            <a:rect l="l" t="t" r="r" b="b"/>
            <a:pathLst>
              <a:path w="1233170" h="1012825">
                <a:moveTo>
                  <a:pt x="0" y="1012672"/>
                </a:moveTo>
                <a:lnTo>
                  <a:pt x="0" y="901573"/>
                </a:lnTo>
                <a:lnTo>
                  <a:pt x="1098118" y="0"/>
                </a:lnTo>
                <a:lnTo>
                  <a:pt x="1232712" y="0"/>
                </a:lnTo>
                <a:lnTo>
                  <a:pt x="0" y="101267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08120" y="2715844"/>
            <a:ext cx="2129155" cy="2085339"/>
          </a:xfrm>
          <a:custGeom>
            <a:avLst/>
            <a:gdLst/>
            <a:ahLst/>
            <a:cxnLst/>
            <a:rect l="l" t="t" r="r" b="b"/>
            <a:pathLst>
              <a:path w="2129154" h="2085339">
                <a:moveTo>
                  <a:pt x="1652536" y="2085162"/>
                </a:moveTo>
                <a:lnTo>
                  <a:pt x="475361" y="2085162"/>
                </a:lnTo>
                <a:lnTo>
                  <a:pt x="475361" y="873798"/>
                </a:lnTo>
                <a:lnTo>
                  <a:pt x="0" y="873798"/>
                </a:lnTo>
                <a:lnTo>
                  <a:pt x="1065009" y="0"/>
                </a:lnTo>
                <a:lnTo>
                  <a:pt x="1200284" y="111099"/>
                </a:lnTo>
                <a:lnTo>
                  <a:pt x="1065009" y="111099"/>
                </a:lnTo>
                <a:lnTo>
                  <a:pt x="238213" y="788339"/>
                </a:lnTo>
                <a:lnTo>
                  <a:pt x="560819" y="788339"/>
                </a:lnTo>
                <a:lnTo>
                  <a:pt x="560819" y="1999703"/>
                </a:lnTo>
                <a:lnTo>
                  <a:pt x="1652536" y="1999703"/>
                </a:lnTo>
                <a:lnTo>
                  <a:pt x="1652536" y="2085162"/>
                </a:lnTo>
                <a:close/>
              </a:path>
              <a:path w="2129154" h="2085339">
                <a:moveTo>
                  <a:pt x="1652536" y="1999703"/>
                </a:moveTo>
                <a:lnTo>
                  <a:pt x="1567078" y="1999703"/>
                </a:lnTo>
                <a:lnTo>
                  <a:pt x="1567078" y="788339"/>
                </a:lnTo>
                <a:lnTo>
                  <a:pt x="1889671" y="788339"/>
                </a:lnTo>
                <a:lnTo>
                  <a:pt x="1065009" y="111099"/>
                </a:lnTo>
                <a:lnTo>
                  <a:pt x="1200284" y="111099"/>
                </a:lnTo>
                <a:lnTo>
                  <a:pt x="2128951" y="873798"/>
                </a:lnTo>
                <a:lnTo>
                  <a:pt x="1652536" y="873798"/>
                </a:lnTo>
                <a:lnTo>
                  <a:pt x="1652536" y="199970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70819" y="3272006"/>
            <a:ext cx="2079625" cy="1896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740"/>
              </a:lnSpc>
            </a:pPr>
            <a:r>
              <a:rPr dirty="0" sz="4000" spc="-5">
                <a:solidFill>
                  <a:srgbClr val="1684AC"/>
                </a:solidFill>
                <a:latin typeface="华文楷体"/>
                <a:cs typeface="华文楷体"/>
              </a:rPr>
              <a:t>低</a:t>
            </a:r>
            <a:endParaRPr sz="4000">
              <a:latin typeface="华文楷体"/>
              <a:cs typeface="华文楷体"/>
            </a:endParaRPr>
          </a:p>
          <a:p>
            <a:pPr marL="1367790" indent="-1368425">
              <a:lnSpc>
                <a:spcPct val="115900"/>
              </a:lnSpc>
              <a:spcBef>
                <a:spcPts val="175"/>
              </a:spcBef>
              <a:tabLst>
                <a:tab pos="1367790" algn="l"/>
              </a:tabLst>
            </a:pPr>
            <a:r>
              <a:rPr dirty="0" baseline="-6944" sz="6000" spc="-7">
                <a:solidFill>
                  <a:srgbClr val="1684AC"/>
                </a:solidFill>
                <a:latin typeface="华文楷体"/>
                <a:cs typeface="华文楷体"/>
              </a:rPr>
              <a:t>碳</a:t>
            </a:r>
            <a:r>
              <a:rPr dirty="0" baseline="-6944" sz="6000" spc="-7">
                <a:solidFill>
                  <a:srgbClr val="1684AC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808080"/>
                </a:solidFill>
                <a:latin typeface="华文楷体"/>
                <a:cs typeface="华文楷体"/>
              </a:rPr>
              <a:t>能</a:t>
            </a:r>
            <a:r>
              <a:rPr dirty="0" sz="2800" spc="-5" b="1">
                <a:solidFill>
                  <a:srgbClr val="808080"/>
                </a:solidFill>
                <a:latin typeface="华文楷体"/>
                <a:cs typeface="华文楷体"/>
              </a:rPr>
              <a:t>源 </a:t>
            </a:r>
            <a:r>
              <a:rPr dirty="0" sz="2800" b="1">
                <a:solidFill>
                  <a:srgbClr val="808080"/>
                </a:solidFill>
                <a:latin typeface="华文楷体"/>
                <a:cs typeface="华文楷体"/>
              </a:rPr>
              <a:t>危</a:t>
            </a:r>
            <a:r>
              <a:rPr dirty="0" sz="2800" spc="-10" b="1">
                <a:solidFill>
                  <a:srgbClr val="808080"/>
                </a:solidFill>
                <a:latin typeface="华文楷体"/>
                <a:cs typeface="华文楷体"/>
              </a:rPr>
              <a:t>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1412" y="1468577"/>
            <a:ext cx="500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光伏发电的基本原理是什么呢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63951" y="2080260"/>
            <a:ext cx="6701028" cy="4160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37415" y="5719508"/>
            <a:ext cx="30905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https://image.so.com/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问题引入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7565" y="1356245"/>
            <a:ext cx="1764030" cy="0"/>
          </a:xfrm>
          <a:custGeom>
            <a:avLst/>
            <a:gdLst/>
            <a:ahLst/>
            <a:cxnLst/>
            <a:rect l="l" t="t" r="r" b="b"/>
            <a:pathLst>
              <a:path w="1764030" h="0">
                <a:moveTo>
                  <a:pt x="0" y="0"/>
                </a:moveTo>
                <a:lnTo>
                  <a:pt x="1764004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7523" y="1671827"/>
            <a:ext cx="3890772" cy="3052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50653" y="3142018"/>
            <a:ext cx="431800" cy="171450"/>
          </a:xfrm>
          <a:custGeom>
            <a:avLst/>
            <a:gdLst/>
            <a:ahLst/>
            <a:cxnLst/>
            <a:rect l="l" t="t" r="r" b="b"/>
            <a:pathLst>
              <a:path w="431800" h="171450">
                <a:moveTo>
                  <a:pt x="356186" y="85731"/>
                </a:moveTo>
                <a:lnTo>
                  <a:pt x="270090" y="35509"/>
                </a:lnTo>
                <a:lnTo>
                  <a:pt x="260642" y="18973"/>
                </a:lnTo>
                <a:lnTo>
                  <a:pt x="260946" y="15659"/>
                </a:lnTo>
                <a:lnTo>
                  <a:pt x="279781" y="0"/>
                </a:lnTo>
                <a:lnTo>
                  <a:pt x="283083" y="304"/>
                </a:lnTo>
                <a:lnTo>
                  <a:pt x="286296" y="1181"/>
                </a:lnTo>
                <a:lnTo>
                  <a:pt x="289293" y="2603"/>
                </a:lnTo>
                <a:lnTo>
                  <a:pt x="399139" y="66674"/>
                </a:lnTo>
                <a:lnTo>
                  <a:pt x="393992" y="66674"/>
                </a:lnTo>
                <a:lnTo>
                  <a:pt x="393992" y="69278"/>
                </a:lnTo>
                <a:lnTo>
                  <a:pt x="384390" y="69278"/>
                </a:lnTo>
                <a:lnTo>
                  <a:pt x="356186" y="85731"/>
                </a:lnTo>
                <a:close/>
              </a:path>
              <a:path w="431800" h="171450">
                <a:moveTo>
                  <a:pt x="323539" y="104774"/>
                </a:moveTo>
                <a:lnTo>
                  <a:pt x="0" y="104774"/>
                </a:lnTo>
                <a:lnTo>
                  <a:pt x="0" y="66674"/>
                </a:lnTo>
                <a:lnTo>
                  <a:pt x="323517" y="66674"/>
                </a:lnTo>
                <a:lnTo>
                  <a:pt x="356186" y="85731"/>
                </a:lnTo>
                <a:lnTo>
                  <a:pt x="323539" y="104774"/>
                </a:lnTo>
                <a:close/>
              </a:path>
              <a:path w="431800" h="171450">
                <a:moveTo>
                  <a:pt x="399144" y="104774"/>
                </a:moveTo>
                <a:lnTo>
                  <a:pt x="393992" y="104774"/>
                </a:lnTo>
                <a:lnTo>
                  <a:pt x="393992" y="66674"/>
                </a:lnTo>
                <a:lnTo>
                  <a:pt x="399139" y="66674"/>
                </a:lnTo>
                <a:lnTo>
                  <a:pt x="431800" y="85724"/>
                </a:lnTo>
                <a:lnTo>
                  <a:pt x="399144" y="104774"/>
                </a:lnTo>
                <a:close/>
              </a:path>
              <a:path w="431800" h="171450">
                <a:moveTo>
                  <a:pt x="384390" y="102184"/>
                </a:moveTo>
                <a:lnTo>
                  <a:pt x="356186" y="85731"/>
                </a:lnTo>
                <a:lnTo>
                  <a:pt x="384390" y="69278"/>
                </a:lnTo>
                <a:lnTo>
                  <a:pt x="384390" y="102184"/>
                </a:lnTo>
                <a:close/>
              </a:path>
              <a:path w="431800" h="171450">
                <a:moveTo>
                  <a:pt x="393992" y="102184"/>
                </a:moveTo>
                <a:lnTo>
                  <a:pt x="384390" y="102184"/>
                </a:lnTo>
                <a:lnTo>
                  <a:pt x="384390" y="69278"/>
                </a:lnTo>
                <a:lnTo>
                  <a:pt x="393992" y="69278"/>
                </a:lnTo>
                <a:lnTo>
                  <a:pt x="393992" y="102184"/>
                </a:lnTo>
                <a:close/>
              </a:path>
              <a:path w="431800" h="171450">
                <a:moveTo>
                  <a:pt x="279781" y="171450"/>
                </a:moveTo>
                <a:lnTo>
                  <a:pt x="260642" y="152488"/>
                </a:lnTo>
                <a:lnTo>
                  <a:pt x="260921" y="149174"/>
                </a:lnTo>
                <a:lnTo>
                  <a:pt x="356186" y="85731"/>
                </a:lnTo>
                <a:lnTo>
                  <a:pt x="384390" y="102184"/>
                </a:lnTo>
                <a:lnTo>
                  <a:pt x="393992" y="102184"/>
                </a:lnTo>
                <a:lnTo>
                  <a:pt x="393992" y="104774"/>
                </a:lnTo>
                <a:lnTo>
                  <a:pt x="399144" y="104774"/>
                </a:lnTo>
                <a:lnTo>
                  <a:pt x="289293" y="168859"/>
                </a:lnTo>
                <a:lnTo>
                  <a:pt x="286296" y="170268"/>
                </a:lnTo>
                <a:lnTo>
                  <a:pt x="283083" y="171145"/>
                </a:lnTo>
                <a:lnTo>
                  <a:pt x="279781" y="1714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45498" y="3389668"/>
            <a:ext cx="171450" cy="431800"/>
          </a:xfrm>
          <a:custGeom>
            <a:avLst/>
            <a:gdLst/>
            <a:ahLst/>
            <a:cxnLst/>
            <a:rect l="l" t="t" r="r" b="b"/>
            <a:pathLst>
              <a:path w="171450" h="431800">
                <a:moveTo>
                  <a:pt x="18961" y="171157"/>
                </a:moveTo>
                <a:lnTo>
                  <a:pt x="0" y="152018"/>
                </a:lnTo>
                <a:lnTo>
                  <a:pt x="304" y="148716"/>
                </a:lnTo>
                <a:lnTo>
                  <a:pt x="1181" y="145516"/>
                </a:lnTo>
                <a:lnTo>
                  <a:pt x="2603" y="142506"/>
                </a:lnTo>
                <a:lnTo>
                  <a:pt x="85725" y="0"/>
                </a:lnTo>
                <a:lnTo>
                  <a:pt x="107781" y="37807"/>
                </a:lnTo>
                <a:lnTo>
                  <a:pt x="66675" y="37807"/>
                </a:lnTo>
                <a:lnTo>
                  <a:pt x="66675" y="108282"/>
                </a:lnTo>
                <a:lnTo>
                  <a:pt x="35509" y="161709"/>
                </a:lnTo>
                <a:lnTo>
                  <a:pt x="22275" y="170891"/>
                </a:lnTo>
                <a:lnTo>
                  <a:pt x="18961" y="171157"/>
                </a:lnTo>
                <a:close/>
              </a:path>
              <a:path w="171450" h="431800">
                <a:moveTo>
                  <a:pt x="66675" y="108282"/>
                </a:moveTo>
                <a:lnTo>
                  <a:pt x="66675" y="37807"/>
                </a:lnTo>
                <a:lnTo>
                  <a:pt x="104775" y="37807"/>
                </a:lnTo>
                <a:lnTo>
                  <a:pt x="104775" y="47409"/>
                </a:lnTo>
                <a:lnTo>
                  <a:pt x="69278" y="47409"/>
                </a:lnTo>
                <a:lnTo>
                  <a:pt x="85731" y="75613"/>
                </a:lnTo>
                <a:lnTo>
                  <a:pt x="66675" y="108282"/>
                </a:lnTo>
                <a:close/>
              </a:path>
              <a:path w="171450" h="431800">
                <a:moveTo>
                  <a:pt x="152488" y="171157"/>
                </a:moveTo>
                <a:lnTo>
                  <a:pt x="104787" y="108282"/>
                </a:lnTo>
                <a:lnTo>
                  <a:pt x="104775" y="37807"/>
                </a:lnTo>
                <a:lnTo>
                  <a:pt x="107781" y="37807"/>
                </a:lnTo>
                <a:lnTo>
                  <a:pt x="168859" y="142506"/>
                </a:lnTo>
                <a:lnTo>
                  <a:pt x="170268" y="145516"/>
                </a:lnTo>
                <a:lnTo>
                  <a:pt x="171145" y="148716"/>
                </a:lnTo>
                <a:lnTo>
                  <a:pt x="171450" y="152018"/>
                </a:lnTo>
                <a:lnTo>
                  <a:pt x="171183" y="155333"/>
                </a:lnTo>
                <a:lnTo>
                  <a:pt x="152488" y="171157"/>
                </a:lnTo>
                <a:close/>
              </a:path>
              <a:path w="171450" h="431800">
                <a:moveTo>
                  <a:pt x="85731" y="75613"/>
                </a:moveTo>
                <a:lnTo>
                  <a:pt x="69278" y="47409"/>
                </a:lnTo>
                <a:lnTo>
                  <a:pt x="102184" y="47409"/>
                </a:lnTo>
                <a:lnTo>
                  <a:pt x="85731" y="75613"/>
                </a:lnTo>
                <a:close/>
              </a:path>
              <a:path w="171450" h="431800">
                <a:moveTo>
                  <a:pt x="104775" y="108260"/>
                </a:moveTo>
                <a:lnTo>
                  <a:pt x="85731" y="75613"/>
                </a:lnTo>
                <a:lnTo>
                  <a:pt x="102184" y="47409"/>
                </a:lnTo>
                <a:lnTo>
                  <a:pt x="104775" y="47409"/>
                </a:lnTo>
                <a:lnTo>
                  <a:pt x="104775" y="108260"/>
                </a:lnTo>
                <a:close/>
              </a:path>
              <a:path w="171450" h="431800">
                <a:moveTo>
                  <a:pt x="104775" y="431800"/>
                </a:moveTo>
                <a:lnTo>
                  <a:pt x="66675" y="431800"/>
                </a:lnTo>
                <a:lnTo>
                  <a:pt x="66687" y="108260"/>
                </a:lnTo>
                <a:lnTo>
                  <a:pt x="85731" y="75613"/>
                </a:lnTo>
                <a:lnTo>
                  <a:pt x="104775" y="108260"/>
                </a:lnTo>
                <a:lnTo>
                  <a:pt x="104775" y="431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3907" y="2636075"/>
            <a:ext cx="138722" cy="1380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36455" y="2633217"/>
            <a:ext cx="138734" cy="1284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22676" y="2270607"/>
            <a:ext cx="138747" cy="1380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85249" y="2267737"/>
            <a:ext cx="138747" cy="1284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5432" y="1940750"/>
            <a:ext cx="137693" cy="1380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075000" y="1714588"/>
            <a:ext cx="185420" cy="11468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980"/>
              </a:lnSpc>
              <a:spcBef>
                <a:spcPts val="95"/>
              </a:spcBef>
            </a:pPr>
            <a:r>
              <a:rPr dirty="0" sz="2800" spc="-5" b="1">
                <a:latin typeface="华文楷体"/>
                <a:cs typeface="华文楷体"/>
              </a:rPr>
              <a:t>-</a:t>
            </a:r>
            <a:endParaRPr sz="2800">
              <a:latin typeface="华文楷体"/>
              <a:cs typeface="华文楷体"/>
            </a:endParaRPr>
          </a:p>
          <a:p>
            <a:pPr marL="60960">
              <a:lnSpc>
                <a:spcPts val="2740"/>
              </a:lnSpc>
            </a:pPr>
            <a:r>
              <a:rPr dirty="0" sz="2800" spc="-5" b="1">
                <a:latin typeface="华文楷体"/>
                <a:cs typeface="华文楷体"/>
              </a:rPr>
              <a:t>-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ts val="3120"/>
              </a:lnSpc>
            </a:pPr>
            <a:r>
              <a:rPr dirty="0" sz="2800" spc="-5" b="1">
                <a:latin typeface="华文楷体"/>
                <a:cs typeface="华文楷体"/>
              </a:rPr>
              <a:t>-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6938" y="1937880"/>
            <a:ext cx="138747" cy="1284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08860" y="1671827"/>
            <a:ext cx="922019" cy="1576070"/>
          </a:xfrm>
          <a:custGeom>
            <a:avLst/>
            <a:gdLst/>
            <a:ahLst/>
            <a:cxnLst/>
            <a:rect l="l" t="t" r="r" b="b"/>
            <a:pathLst>
              <a:path w="922019" h="1576070">
                <a:moveTo>
                  <a:pt x="922019" y="1575816"/>
                </a:moveTo>
                <a:lnTo>
                  <a:pt x="0" y="1345692"/>
                </a:lnTo>
                <a:lnTo>
                  <a:pt x="0" y="231648"/>
                </a:lnTo>
                <a:lnTo>
                  <a:pt x="922019" y="0"/>
                </a:lnTo>
                <a:lnTo>
                  <a:pt x="922019" y="1575816"/>
                </a:lnTo>
                <a:close/>
              </a:path>
            </a:pathLst>
          </a:custGeom>
          <a:solidFill>
            <a:srgbClr val="9900CC">
              <a:alpha val="1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50948" y="1877567"/>
            <a:ext cx="59690" cy="1141095"/>
          </a:xfrm>
          <a:custGeom>
            <a:avLst/>
            <a:gdLst/>
            <a:ahLst/>
            <a:cxnLst/>
            <a:rect l="l" t="t" r="r" b="b"/>
            <a:pathLst>
              <a:path w="59689" h="1141095">
                <a:moveTo>
                  <a:pt x="29197" y="1140993"/>
                </a:moveTo>
                <a:lnTo>
                  <a:pt x="17578" y="1140412"/>
                </a:lnTo>
                <a:lnTo>
                  <a:pt x="8154" y="1138848"/>
                </a:lnTo>
                <a:lnTo>
                  <a:pt x="1952" y="1136573"/>
                </a:lnTo>
                <a:lnTo>
                  <a:pt x="0" y="1133855"/>
                </a:lnTo>
                <a:lnTo>
                  <a:pt x="0" y="0"/>
                </a:lnTo>
                <a:lnTo>
                  <a:pt x="1952" y="2741"/>
                </a:lnTo>
                <a:lnTo>
                  <a:pt x="8154" y="5032"/>
                </a:lnTo>
                <a:lnTo>
                  <a:pt x="17578" y="6604"/>
                </a:lnTo>
                <a:lnTo>
                  <a:pt x="29197" y="7188"/>
                </a:lnTo>
                <a:lnTo>
                  <a:pt x="59435" y="7188"/>
                </a:lnTo>
                <a:lnTo>
                  <a:pt x="59435" y="1133855"/>
                </a:lnTo>
                <a:lnTo>
                  <a:pt x="56875" y="1136573"/>
                </a:lnTo>
                <a:lnTo>
                  <a:pt x="50365" y="1138848"/>
                </a:lnTo>
                <a:lnTo>
                  <a:pt x="40830" y="1140412"/>
                </a:lnTo>
                <a:lnTo>
                  <a:pt x="29197" y="1140993"/>
                </a:lnTo>
                <a:close/>
              </a:path>
              <a:path w="59689" h="1141095">
                <a:moveTo>
                  <a:pt x="59435" y="7188"/>
                </a:moveTo>
                <a:lnTo>
                  <a:pt x="29197" y="7188"/>
                </a:lnTo>
                <a:lnTo>
                  <a:pt x="40830" y="6604"/>
                </a:lnTo>
                <a:lnTo>
                  <a:pt x="50365" y="5032"/>
                </a:lnTo>
                <a:lnTo>
                  <a:pt x="56875" y="2741"/>
                </a:lnTo>
                <a:lnTo>
                  <a:pt x="59435" y="0"/>
                </a:lnTo>
                <a:lnTo>
                  <a:pt x="59435" y="7188"/>
                </a:lnTo>
                <a:close/>
              </a:path>
            </a:pathLst>
          </a:custGeom>
          <a:solidFill>
            <a:srgbClr val="99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47900" y="1866900"/>
            <a:ext cx="65531" cy="213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69719" y="2056371"/>
            <a:ext cx="280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光 源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4975" y="3438562"/>
            <a:ext cx="11403965" cy="2320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58695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Times New Roman"/>
              <a:cs typeface="Times New Roman"/>
            </a:endParaRPr>
          </a:p>
          <a:p>
            <a:pPr marL="12700" marR="5080" indent="711200">
              <a:lnSpc>
                <a:spcPct val="100000"/>
              </a:lnSpc>
            </a:pPr>
            <a:r>
              <a:rPr dirty="0" sz="2800">
                <a:latin typeface="华文楷体"/>
                <a:cs typeface="华文楷体"/>
              </a:rPr>
              <a:t>照射到金属表面的光，能使金属中的电子从表面逸出。这个现象称</a:t>
            </a:r>
            <a:r>
              <a:rPr dirty="0" sz="2800" spc="-5">
                <a:latin typeface="华文楷体"/>
                <a:cs typeface="华文楷体"/>
              </a:rPr>
              <a:t>为 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光电效应</a:t>
            </a:r>
            <a:r>
              <a:rPr dirty="0" sz="2800">
                <a:latin typeface="华文楷体"/>
                <a:cs typeface="华文楷体"/>
              </a:rPr>
              <a:t>，这种电子常称为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光电子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认识光电效应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7565" y="1356245"/>
            <a:ext cx="2484120" cy="0"/>
          </a:xfrm>
          <a:custGeom>
            <a:avLst/>
            <a:gdLst/>
            <a:ahLst/>
            <a:cxnLst/>
            <a:rect l="l" t="t" r="r" b="b"/>
            <a:pathLst>
              <a:path w="2484120" h="0">
                <a:moveTo>
                  <a:pt x="0" y="0"/>
                </a:moveTo>
                <a:lnTo>
                  <a:pt x="2484005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238" y="1532686"/>
            <a:ext cx="53587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楷体"/>
                <a:cs typeface="楷体"/>
              </a:rPr>
              <a:t>光电效应的产生与哪些因素有关</a:t>
            </a:r>
            <a:r>
              <a:rPr dirty="0" sz="2800" spc="-5">
                <a:latin typeface="楷体"/>
                <a:cs typeface="楷体"/>
              </a:rPr>
              <a:t>？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9120" y="1554733"/>
            <a:ext cx="1147445" cy="452755"/>
          </a:xfrm>
          <a:custGeom>
            <a:avLst/>
            <a:gdLst/>
            <a:ahLst/>
            <a:cxnLst/>
            <a:rect l="l" t="t" r="r" b="b"/>
            <a:pathLst>
              <a:path w="1147445" h="452755">
                <a:moveTo>
                  <a:pt x="86201" y="229139"/>
                </a:moveTo>
                <a:lnTo>
                  <a:pt x="0" y="145567"/>
                </a:lnTo>
                <a:lnTo>
                  <a:pt x="0" y="0"/>
                </a:lnTo>
                <a:lnTo>
                  <a:pt x="1066025" y="0"/>
                </a:lnTo>
                <a:lnTo>
                  <a:pt x="1066025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4696"/>
                </a:lnTo>
                <a:lnTo>
                  <a:pt x="16154" y="134696"/>
                </a:lnTo>
                <a:lnTo>
                  <a:pt x="19050" y="141528"/>
                </a:lnTo>
                <a:lnTo>
                  <a:pt x="23202" y="141528"/>
                </a:lnTo>
                <a:lnTo>
                  <a:pt x="106527" y="222300"/>
                </a:lnTo>
                <a:lnTo>
                  <a:pt x="93256" y="222300"/>
                </a:lnTo>
                <a:lnTo>
                  <a:pt x="86201" y="229139"/>
                </a:lnTo>
                <a:close/>
              </a:path>
              <a:path w="114744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147445" h="452755">
                <a:moveTo>
                  <a:pt x="1046975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1046975" y="9524"/>
                </a:lnTo>
                <a:lnTo>
                  <a:pt x="1046975" y="19049"/>
                </a:lnTo>
                <a:close/>
              </a:path>
              <a:path w="1147445" h="452755">
                <a:moveTo>
                  <a:pt x="1119714" y="229139"/>
                </a:moveTo>
                <a:lnTo>
                  <a:pt x="1046975" y="158622"/>
                </a:lnTo>
                <a:lnTo>
                  <a:pt x="1046975" y="9524"/>
                </a:lnTo>
                <a:lnTo>
                  <a:pt x="1056500" y="19049"/>
                </a:lnTo>
                <a:lnTo>
                  <a:pt x="1066025" y="19049"/>
                </a:lnTo>
                <a:lnTo>
                  <a:pt x="1066025" y="147751"/>
                </a:lnTo>
                <a:lnTo>
                  <a:pt x="1063129" y="147751"/>
                </a:lnTo>
                <a:lnTo>
                  <a:pt x="1066025" y="154597"/>
                </a:lnTo>
                <a:lnTo>
                  <a:pt x="1070190" y="154597"/>
                </a:lnTo>
                <a:lnTo>
                  <a:pt x="1140028" y="222300"/>
                </a:lnTo>
                <a:lnTo>
                  <a:pt x="1126769" y="222300"/>
                </a:lnTo>
                <a:lnTo>
                  <a:pt x="1119714" y="229139"/>
                </a:lnTo>
                <a:close/>
              </a:path>
              <a:path w="1147445" h="452755">
                <a:moveTo>
                  <a:pt x="1066025" y="19049"/>
                </a:moveTo>
                <a:lnTo>
                  <a:pt x="1056500" y="19049"/>
                </a:lnTo>
                <a:lnTo>
                  <a:pt x="1046975" y="9524"/>
                </a:lnTo>
                <a:lnTo>
                  <a:pt x="1066025" y="9524"/>
                </a:lnTo>
                <a:lnTo>
                  <a:pt x="1066025" y="19049"/>
                </a:lnTo>
                <a:close/>
              </a:path>
              <a:path w="1147445" h="452755">
                <a:moveTo>
                  <a:pt x="19050" y="141528"/>
                </a:moveTo>
                <a:lnTo>
                  <a:pt x="16154" y="134696"/>
                </a:lnTo>
                <a:lnTo>
                  <a:pt x="19050" y="137503"/>
                </a:lnTo>
                <a:lnTo>
                  <a:pt x="19050" y="141528"/>
                </a:lnTo>
                <a:close/>
              </a:path>
              <a:path w="1147445" h="452755">
                <a:moveTo>
                  <a:pt x="19050" y="137503"/>
                </a:moveTo>
                <a:lnTo>
                  <a:pt x="16154" y="134696"/>
                </a:lnTo>
                <a:lnTo>
                  <a:pt x="19050" y="134696"/>
                </a:lnTo>
                <a:lnTo>
                  <a:pt x="19050" y="137503"/>
                </a:lnTo>
                <a:close/>
              </a:path>
              <a:path w="1147445" h="452755">
                <a:moveTo>
                  <a:pt x="23202" y="141528"/>
                </a:moveTo>
                <a:lnTo>
                  <a:pt x="19050" y="141528"/>
                </a:lnTo>
                <a:lnTo>
                  <a:pt x="19050" y="137503"/>
                </a:lnTo>
                <a:lnTo>
                  <a:pt x="23202" y="141528"/>
                </a:lnTo>
                <a:close/>
              </a:path>
              <a:path w="1147445" h="452755">
                <a:moveTo>
                  <a:pt x="1066025" y="154597"/>
                </a:moveTo>
                <a:lnTo>
                  <a:pt x="1063129" y="147751"/>
                </a:lnTo>
                <a:lnTo>
                  <a:pt x="1066025" y="150558"/>
                </a:lnTo>
                <a:lnTo>
                  <a:pt x="1066025" y="154597"/>
                </a:lnTo>
                <a:close/>
              </a:path>
              <a:path w="1147445" h="452755">
                <a:moveTo>
                  <a:pt x="1066025" y="150558"/>
                </a:moveTo>
                <a:lnTo>
                  <a:pt x="1063129" y="147751"/>
                </a:lnTo>
                <a:lnTo>
                  <a:pt x="1066025" y="147751"/>
                </a:lnTo>
                <a:lnTo>
                  <a:pt x="1066025" y="150558"/>
                </a:lnTo>
                <a:close/>
              </a:path>
              <a:path w="1147445" h="452755">
                <a:moveTo>
                  <a:pt x="1070190" y="154597"/>
                </a:moveTo>
                <a:lnTo>
                  <a:pt x="1066025" y="154597"/>
                </a:lnTo>
                <a:lnTo>
                  <a:pt x="1066025" y="150558"/>
                </a:lnTo>
                <a:lnTo>
                  <a:pt x="1070190" y="154597"/>
                </a:lnTo>
                <a:close/>
              </a:path>
              <a:path w="1147445" h="452755">
                <a:moveTo>
                  <a:pt x="93256" y="235978"/>
                </a:moveTo>
                <a:lnTo>
                  <a:pt x="86201" y="229139"/>
                </a:lnTo>
                <a:lnTo>
                  <a:pt x="93256" y="222300"/>
                </a:lnTo>
                <a:lnTo>
                  <a:pt x="93256" y="235978"/>
                </a:lnTo>
                <a:close/>
              </a:path>
              <a:path w="1147445" h="452755">
                <a:moveTo>
                  <a:pt x="106515" y="235978"/>
                </a:moveTo>
                <a:lnTo>
                  <a:pt x="93256" y="235978"/>
                </a:lnTo>
                <a:lnTo>
                  <a:pt x="93256" y="222300"/>
                </a:lnTo>
                <a:lnTo>
                  <a:pt x="106527" y="222300"/>
                </a:lnTo>
                <a:lnTo>
                  <a:pt x="113576" y="229133"/>
                </a:lnTo>
                <a:lnTo>
                  <a:pt x="106515" y="235978"/>
                </a:lnTo>
                <a:close/>
              </a:path>
              <a:path w="1147445" h="452755">
                <a:moveTo>
                  <a:pt x="1126769" y="235978"/>
                </a:moveTo>
                <a:lnTo>
                  <a:pt x="1119714" y="229139"/>
                </a:lnTo>
                <a:lnTo>
                  <a:pt x="1126769" y="222300"/>
                </a:lnTo>
                <a:lnTo>
                  <a:pt x="1126769" y="235978"/>
                </a:lnTo>
                <a:close/>
              </a:path>
              <a:path w="1147445" h="452755">
                <a:moveTo>
                  <a:pt x="1140016" y="235978"/>
                </a:moveTo>
                <a:lnTo>
                  <a:pt x="1126769" y="235978"/>
                </a:lnTo>
                <a:lnTo>
                  <a:pt x="1126769" y="222300"/>
                </a:lnTo>
                <a:lnTo>
                  <a:pt x="1140028" y="222300"/>
                </a:lnTo>
                <a:lnTo>
                  <a:pt x="1147076" y="229133"/>
                </a:lnTo>
                <a:lnTo>
                  <a:pt x="1140016" y="235978"/>
                </a:lnTo>
                <a:close/>
              </a:path>
              <a:path w="1147445" h="452755">
                <a:moveTo>
                  <a:pt x="1066025" y="452462"/>
                </a:moveTo>
                <a:lnTo>
                  <a:pt x="0" y="452462"/>
                </a:lnTo>
                <a:lnTo>
                  <a:pt x="0" y="312712"/>
                </a:lnTo>
                <a:lnTo>
                  <a:pt x="86201" y="229139"/>
                </a:lnTo>
                <a:lnTo>
                  <a:pt x="93256" y="235978"/>
                </a:lnTo>
                <a:lnTo>
                  <a:pt x="106515" y="235978"/>
                </a:lnTo>
                <a:lnTo>
                  <a:pt x="23215" y="316738"/>
                </a:lnTo>
                <a:lnTo>
                  <a:pt x="19050" y="316738"/>
                </a:lnTo>
                <a:lnTo>
                  <a:pt x="16154" y="323583"/>
                </a:lnTo>
                <a:lnTo>
                  <a:pt x="19050" y="323583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1066025" y="442937"/>
                </a:lnTo>
                <a:lnTo>
                  <a:pt x="1066025" y="452462"/>
                </a:lnTo>
                <a:close/>
              </a:path>
              <a:path w="1147445" h="452755">
                <a:moveTo>
                  <a:pt x="1046975" y="442937"/>
                </a:moveTo>
                <a:lnTo>
                  <a:pt x="1046975" y="299656"/>
                </a:lnTo>
                <a:lnTo>
                  <a:pt x="1119714" y="229139"/>
                </a:lnTo>
                <a:lnTo>
                  <a:pt x="1126769" y="235978"/>
                </a:lnTo>
                <a:lnTo>
                  <a:pt x="1140016" y="235978"/>
                </a:lnTo>
                <a:lnTo>
                  <a:pt x="1070189" y="303682"/>
                </a:lnTo>
                <a:lnTo>
                  <a:pt x="1066025" y="303682"/>
                </a:lnTo>
                <a:lnTo>
                  <a:pt x="1063129" y="310527"/>
                </a:lnTo>
                <a:lnTo>
                  <a:pt x="1066025" y="310527"/>
                </a:lnTo>
                <a:lnTo>
                  <a:pt x="1066025" y="433412"/>
                </a:lnTo>
                <a:lnTo>
                  <a:pt x="1056500" y="433412"/>
                </a:lnTo>
                <a:lnTo>
                  <a:pt x="1046975" y="442937"/>
                </a:lnTo>
                <a:close/>
              </a:path>
              <a:path w="1147445" h="452755">
                <a:moveTo>
                  <a:pt x="1063129" y="310527"/>
                </a:moveTo>
                <a:lnTo>
                  <a:pt x="1066025" y="303682"/>
                </a:lnTo>
                <a:lnTo>
                  <a:pt x="1066025" y="307720"/>
                </a:lnTo>
                <a:lnTo>
                  <a:pt x="1063129" y="310527"/>
                </a:lnTo>
                <a:close/>
              </a:path>
              <a:path w="1147445" h="452755">
                <a:moveTo>
                  <a:pt x="1066025" y="307720"/>
                </a:moveTo>
                <a:lnTo>
                  <a:pt x="1066025" y="303682"/>
                </a:lnTo>
                <a:lnTo>
                  <a:pt x="1070189" y="303682"/>
                </a:lnTo>
                <a:lnTo>
                  <a:pt x="1066025" y="307720"/>
                </a:lnTo>
                <a:close/>
              </a:path>
              <a:path w="1147445" h="452755">
                <a:moveTo>
                  <a:pt x="1066025" y="310527"/>
                </a:moveTo>
                <a:lnTo>
                  <a:pt x="1063129" y="310527"/>
                </a:lnTo>
                <a:lnTo>
                  <a:pt x="1066025" y="307720"/>
                </a:lnTo>
                <a:lnTo>
                  <a:pt x="1066025" y="310527"/>
                </a:lnTo>
                <a:close/>
              </a:path>
              <a:path w="1147445" h="452755">
                <a:moveTo>
                  <a:pt x="16154" y="323583"/>
                </a:moveTo>
                <a:lnTo>
                  <a:pt x="19050" y="316738"/>
                </a:lnTo>
                <a:lnTo>
                  <a:pt x="19050" y="320776"/>
                </a:lnTo>
                <a:lnTo>
                  <a:pt x="16154" y="323583"/>
                </a:lnTo>
                <a:close/>
              </a:path>
              <a:path w="1147445" h="452755">
                <a:moveTo>
                  <a:pt x="19050" y="320776"/>
                </a:moveTo>
                <a:lnTo>
                  <a:pt x="19050" y="316738"/>
                </a:lnTo>
                <a:lnTo>
                  <a:pt x="23215" y="316738"/>
                </a:lnTo>
                <a:lnTo>
                  <a:pt x="19050" y="320776"/>
                </a:lnTo>
                <a:close/>
              </a:path>
              <a:path w="1147445" h="452755">
                <a:moveTo>
                  <a:pt x="19050" y="323583"/>
                </a:moveTo>
                <a:lnTo>
                  <a:pt x="16154" y="323583"/>
                </a:lnTo>
                <a:lnTo>
                  <a:pt x="19050" y="320776"/>
                </a:lnTo>
                <a:lnTo>
                  <a:pt x="19050" y="323583"/>
                </a:lnTo>
                <a:close/>
              </a:path>
              <a:path w="114744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1147445" h="452755">
                <a:moveTo>
                  <a:pt x="1046975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1046975" y="433412"/>
                </a:lnTo>
                <a:lnTo>
                  <a:pt x="1046975" y="442937"/>
                </a:lnTo>
                <a:close/>
              </a:path>
              <a:path w="1147445" h="452755">
                <a:moveTo>
                  <a:pt x="1066025" y="442937"/>
                </a:moveTo>
                <a:lnTo>
                  <a:pt x="1046975" y="442937"/>
                </a:lnTo>
                <a:lnTo>
                  <a:pt x="1056500" y="433412"/>
                </a:lnTo>
                <a:lnTo>
                  <a:pt x="1066025" y="433412"/>
                </a:lnTo>
                <a:lnTo>
                  <a:pt x="1066025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3580" y="1514094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问</a:t>
            </a:r>
            <a:r>
              <a:rPr dirty="0" sz="2800" spc="-10" b="1">
                <a:solidFill>
                  <a:srgbClr val="01611F"/>
                </a:solidFill>
                <a:latin typeface="华文楷体"/>
                <a:cs typeface="华文楷体"/>
              </a:rPr>
              <a:t>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认识光电效应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565" y="1356245"/>
            <a:ext cx="2484120" cy="0"/>
          </a:xfrm>
          <a:custGeom>
            <a:avLst/>
            <a:gdLst/>
            <a:ahLst/>
            <a:cxnLst/>
            <a:rect l="l" t="t" r="r" b="b"/>
            <a:pathLst>
              <a:path w="2484120" h="0">
                <a:moveTo>
                  <a:pt x="0" y="0"/>
                </a:moveTo>
                <a:lnTo>
                  <a:pt x="2484005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91662" y="2146922"/>
            <a:ext cx="5598388" cy="4099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44711" y="3596640"/>
            <a:ext cx="2371344" cy="2371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16136" y="3568065"/>
            <a:ext cx="2428875" cy="2425700"/>
          </a:xfrm>
          <a:custGeom>
            <a:avLst/>
            <a:gdLst/>
            <a:ahLst/>
            <a:cxnLst/>
            <a:rect l="l" t="t" r="r" b="b"/>
            <a:pathLst>
              <a:path w="2428875" h="2425700">
                <a:moveTo>
                  <a:pt x="2110752" y="12700"/>
                </a:moveTo>
                <a:lnTo>
                  <a:pt x="318084" y="12700"/>
                </a:lnTo>
                <a:lnTo>
                  <a:pt x="328295" y="0"/>
                </a:lnTo>
                <a:lnTo>
                  <a:pt x="2100199" y="0"/>
                </a:lnTo>
                <a:lnTo>
                  <a:pt x="2110752" y="12700"/>
                </a:lnTo>
                <a:close/>
              </a:path>
              <a:path w="2428875" h="2425700">
                <a:moveTo>
                  <a:pt x="2150567" y="25400"/>
                </a:moveTo>
                <a:lnTo>
                  <a:pt x="278257" y="25400"/>
                </a:lnTo>
                <a:lnTo>
                  <a:pt x="288048" y="12700"/>
                </a:lnTo>
                <a:lnTo>
                  <a:pt x="2140775" y="12700"/>
                </a:lnTo>
                <a:lnTo>
                  <a:pt x="2150567" y="25400"/>
                </a:lnTo>
                <a:close/>
              </a:path>
              <a:path w="2428875" h="2425700">
                <a:moveTo>
                  <a:pt x="334378" y="38100"/>
                </a:moveTo>
                <a:lnTo>
                  <a:pt x="240207" y="38100"/>
                </a:lnTo>
                <a:lnTo>
                  <a:pt x="249542" y="25400"/>
                </a:lnTo>
                <a:lnTo>
                  <a:pt x="344322" y="25400"/>
                </a:lnTo>
                <a:lnTo>
                  <a:pt x="334378" y="38100"/>
                </a:lnTo>
                <a:close/>
              </a:path>
              <a:path w="2428875" h="2425700">
                <a:moveTo>
                  <a:pt x="2188591" y="38100"/>
                </a:moveTo>
                <a:lnTo>
                  <a:pt x="2094115" y="38100"/>
                </a:lnTo>
                <a:lnTo>
                  <a:pt x="2084158" y="25400"/>
                </a:lnTo>
                <a:lnTo>
                  <a:pt x="2179269" y="25400"/>
                </a:lnTo>
                <a:lnTo>
                  <a:pt x="2188591" y="38100"/>
                </a:lnTo>
                <a:close/>
              </a:path>
              <a:path w="2428875" h="2425700">
                <a:moveTo>
                  <a:pt x="287743" y="50800"/>
                </a:moveTo>
                <a:lnTo>
                  <a:pt x="221932" y="50800"/>
                </a:lnTo>
                <a:lnTo>
                  <a:pt x="231000" y="38100"/>
                </a:lnTo>
                <a:lnTo>
                  <a:pt x="297205" y="38100"/>
                </a:lnTo>
                <a:lnTo>
                  <a:pt x="287743" y="50800"/>
                </a:lnTo>
                <a:close/>
              </a:path>
              <a:path w="2428875" h="2425700">
                <a:moveTo>
                  <a:pt x="2206866" y="50800"/>
                </a:moveTo>
                <a:lnTo>
                  <a:pt x="2140750" y="50800"/>
                </a:lnTo>
                <a:lnTo>
                  <a:pt x="2131288" y="38100"/>
                </a:lnTo>
                <a:lnTo>
                  <a:pt x="2197798" y="38100"/>
                </a:lnTo>
                <a:lnTo>
                  <a:pt x="2206866" y="50800"/>
                </a:lnTo>
                <a:close/>
              </a:path>
              <a:path w="2428875" h="2425700">
                <a:moveTo>
                  <a:pt x="252298" y="63500"/>
                </a:moveTo>
                <a:lnTo>
                  <a:pt x="195503" y="63500"/>
                </a:lnTo>
                <a:lnTo>
                  <a:pt x="204177" y="50800"/>
                </a:lnTo>
                <a:lnTo>
                  <a:pt x="261315" y="50800"/>
                </a:lnTo>
                <a:lnTo>
                  <a:pt x="252298" y="63500"/>
                </a:lnTo>
                <a:close/>
              </a:path>
              <a:path w="2428875" h="2425700">
                <a:moveTo>
                  <a:pt x="260997" y="63500"/>
                </a:moveTo>
                <a:lnTo>
                  <a:pt x="261315" y="50800"/>
                </a:lnTo>
                <a:lnTo>
                  <a:pt x="270129" y="50800"/>
                </a:lnTo>
                <a:lnTo>
                  <a:pt x="260997" y="63500"/>
                </a:lnTo>
                <a:close/>
              </a:path>
              <a:path w="2428875" h="2425700">
                <a:moveTo>
                  <a:pt x="2167496" y="63500"/>
                </a:moveTo>
                <a:lnTo>
                  <a:pt x="2158365" y="50800"/>
                </a:lnTo>
                <a:lnTo>
                  <a:pt x="2167178" y="50800"/>
                </a:lnTo>
                <a:lnTo>
                  <a:pt x="2167496" y="63500"/>
                </a:lnTo>
                <a:close/>
              </a:path>
              <a:path w="2428875" h="2425700">
                <a:moveTo>
                  <a:pt x="2233282" y="63500"/>
                </a:moveTo>
                <a:lnTo>
                  <a:pt x="2176195" y="63500"/>
                </a:lnTo>
                <a:lnTo>
                  <a:pt x="2167178" y="50800"/>
                </a:lnTo>
                <a:lnTo>
                  <a:pt x="2224620" y="50800"/>
                </a:lnTo>
                <a:lnTo>
                  <a:pt x="2233282" y="63500"/>
                </a:lnTo>
                <a:close/>
              </a:path>
              <a:path w="2428875" h="2425700">
                <a:moveTo>
                  <a:pt x="226923" y="76200"/>
                </a:moveTo>
                <a:lnTo>
                  <a:pt x="178587" y="76200"/>
                </a:lnTo>
                <a:lnTo>
                  <a:pt x="186969" y="63500"/>
                </a:lnTo>
                <a:lnTo>
                  <a:pt x="235572" y="63500"/>
                </a:lnTo>
                <a:lnTo>
                  <a:pt x="226923" y="76200"/>
                </a:lnTo>
                <a:close/>
              </a:path>
              <a:path w="2428875" h="2425700">
                <a:moveTo>
                  <a:pt x="235267" y="76200"/>
                </a:moveTo>
                <a:lnTo>
                  <a:pt x="235572" y="63500"/>
                </a:lnTo>
                <a:lnTo>
                  <a:pt x="244030" y="63500"/>
                </a:lnTo>
                <a:lnTo>
                  <a:pt x="235267" y="76200"/>
                </a:lnTo>
                <a:close/>
              </a:path>
              <a:path w="2428875" h="2425700">
                <a:moveTo>
                  <a:pt x="2193226" y="76200"/>
                </a:moveTo>
                <a:lnTo>
                  <a:pt x="2184463" y="63500"/>
                </a:lnTo>
                <a:lnTo>
                  <a:pt x="2192921" y="63500"/>
                </a:lnTo>
                <a:lnTo>
                  <a:pt x="2193226" y="76200"/>
                </a:lnTo>
                <a:close/>
              </a:path>
              <a:path w="2428875" h="2425700">
                <a:moveTo>
                  <a:pt x="2250186" y="76200"/>
                </a:moveTo>
                <a:lnTo>
                  <a:pt x="2201570" y="76200"/>
                </a:lnTo>
                <a:lnTo>
                  <a:pt x="2192921" y="63500"/>
                </a:lnTo>
                <a:lnTo>
                  <a:pt x="2241804" y="63500"/>
                </a:lnTo>
                <a:lnTo>
                  <a:pt x="2250186" y="76200"/>
                </a:lnTo>
                <a:close/>
              </a:path>
              <a:path w="2428875" h="2425700">
                <a:moveTo>
                  <a:pt x="210629" y="88900"/>
                </a:moveTo>
                <a:lnTo>
                  <a:pt x="162267" y="88900"/>
                </a:lnTo>
                <a:lnTo>
                  <a:pt x="170357" y="76200"/>
                </a:lnTo>
                <a:lnTo>
                  <a:pt x="219011" y="76200"/>
                </a:lnTo>
                <a:lnTo>
                  <a:pt x="210629" y="88900"/>
                </a:lnTo>
                <a:close/>
              </a:path>
              <a:path w="2428875" h="2425700">
                <a:moveTo>
                  <a:pt x="2266492" y="88900"/>
                </a:moveTo>
                <a:lnTo>
                  <a:pt x="2217864" y="88900"/>
                </a:lnTo>
                <a:lnTo>
                  <a:pt x="2209482" y="76200"/>
                </a:lnTo>
                <a:lnTo>
                  <a:pt x="2258415" y="76200"/>
                </a:lnTo>
                <a:lnTo>
                  <a:pt x="2266492" y="88900"/>
                </a:lnTo>
                <a:close/>
              </a:path>
              <a:path w="2428875" h="2425700">
                <a:moveTo>
                  <a:pt x="187198" y="101600"/>
                </a:moveTo>
                <a:lnTo>
                  <a:pt x="146570" y="101600"/>
                </a:lnTo>
                <a:lnTo>
                  <a:pt x="154343" y="88900"/>
                </a:lnTo>
                <a:lnTo>
                  <a:pt x="195148" y="88900"/>
                </a:lnTo>
                <a:lnTo>
                  <a:pt x="187198" y="101600"/>
                </a:lnTo>
                <a:close/>
              </a:path>
              <a:path w="2428875" h="2425700">
                <a:moveTo>
                  <a:pt x="2282177" y="101600"/>
                </a:moveTo>
                <a:lnTo>
                  <a:pt x="2241296" y="101600"/>
                </a:lnTo>
                <a:lnTo>
                  <a:pt x="2233345" y="88900"/>
                </a:lnTo>
                <a:lnTo>
                  <a:pt x="2274150" y="88900"/>
                </a:lnTo>
                <a:lnTo>
                  <a:pt x="2282177" y="101600"/>
                </a:lnTo>
                <a:close/>
              </a:path>
              <a:path w="2428875" h="2425700">
                <a:moveTo>
                  <a:pt x="172275" y="114300"/>
                </a:moveTo>
                <a:lnTo>
                  <a:pt x="131521" y="114300"/>
                </a:lnTo>
                <a:lnTo>
                  <a:pt x="138963" y="101600"/>
                </a:lnTo>
                <a:lnTo>
                  <a:pt x="179933" y="101600"/>
                </a:lnTo>
                <a:lnTo>
                  <a:pt x="172275" y="114300"/>
                </a:lnTo>
                <a:close/>
              </a:path>
              <a:path w="2428875" h="2425700">
                <a:moveTo>
                  <a:pt x="2297214" y="114300"/>
                </a:moveTo>
                <a:lnTo>
                  <a:pt x="2256218" y="114300"/>
                </a:lnTo>
                <a:lnTo>
                  <a:pt x="2248560" y="101600"/>
                </a:lnTo>
                <a:lnTo>
                  <a:pt x="2289771" y="101600"/>
                </a:lnTo>
                <a:lnTo>
                  <a:pt x="2297214" y="114300"/>
                </a:lnTo>
                <a:close/>
              </a:path>
              <a:path w="2428875" h="2425700">
                <a:moveTo>
                  <a:pt x="157937" y="127000"/>
                </a:moveTo>
                <a:lnTo>
                  <a:pt x="117144" y="127000"/>
                </a:lnTo>
                <a:lnTo>
                  <a:pt x="124256" y="114300"/>
                </a:lnTo>
                <a:lnTo>
                  <a:pt x="165290" y="114300"/>
                </a:lnTo>
                <a:lnTo>
                  <a:pt x="157937" y="127000"/>
                </a:lnTo>
                <a:close/>
              </a:path>
              <a:path w="2428875" h="2425700">
                <a:moveTo>
                  <a:pt x="2311577" y="127000"/>
                </a:moveTo>
                <a:lnTo>
                  <a:pt x="2270556" y="127000"/>
                </a:lnTo>
                <a:lnTo>
                  <a:pt x="2263203" y="114300"/>
                </a:lnTo>
                <a:lnTo>
                  <a:pt x="2304478" y="114300"/>
                </a:lnTo>
                <a:lnTo>
                  <a:pt x="2311577" y="127000"/>
                </a:lnTo>
                <a:close/>
              </a:path>
              <a:path w="2428875" h="2425700">
                <a:moveTo>
                  <a:pt x="131127" y="152400"/>
                </a:moveTo>
                <a:lnTo>
                  <a:pt x="96901" y="152400"/>
                </a:lnTo>
                <a:lnTo>
                  <a:pt x="103466" y="139700"/>
                </a:lnTo>
                <a:lnTo>
                  <a:pt x="110223" y="127000"/>
                </a:lnTo>
                <a:lnTo>
                  <a:pt x="151244" y="127000"/>
                </a:lnTo>
                <a:lnTo>
                  <a:pt x="144208" y="139700"/>
                </a:lnTo>
                <a:lnTo>
                  <a:pt x="137833" y="139700"/>
                </a:lnTo>
                <a:lnTo>
                  <a:pt x="131127" y="152400"/>
                </a:lnTo>
                <a:close/>
              </a:path>
              <a:path w="2428875" h="2425700">
                <a:moveTo>
                  <a:pt x="2331808" y="152400"/>
                </a:moveTo>
                <a:lnTo>
                  <a:pt x="2297366" y="152400"/>
                </a:lnTo>
                <a:lnTo>
                  <a:pt x="2290660" y="139700"/>
                </a:lnTo>
                <a:lnTo>
                  <a:pt x="2284285" y="139700"/>
                </a:lnTo>
                <a:lnTo>
                  <a:pt x="2277249" y="127000"/>
                </a:lnTo>
                <a:lnTo>
                  <a:pt x="2318512" y="127000"/>
                </a:lnTo>
                <a:lnTo>
                  <a:pt x="2325255" y="139700"/>
                </a:lnTo>
                <a:lnTo>
                  <a:pt x="2331808" y="152400"/>
                </a:lnTo>
                <a:close/>
              </a:path>
              <a:path w="2428875" h="2425700">
                <a:moveTo>
                  <a:pt x="112763" y="177800"/>
                </a:moveTo>
                <a:lnTo>
                  <a:pt x="78308" y="177800"/>
                </a:lnTo>
                <a:lnTo>
                  <a:pt x="84315" y="165100"/>
                </a:lnTo>
                <a:lnTo>
                  <a:pt x="90512" y="152400"/>
                </a:lnTo>
                <a:lnTo>
                  <a:pt x="125069" y="152400"/>
                </a:lnTo>
                <a:lnTo>
                  <a:pt x="118719" y="165100"/>
                </a:lnTo>
                <a:lnTo>
                  <a:pt x="118935" y="165100"/>
                </a:lnTo>
                <a:lnTo>
                  <a:pt x="112763" y="177800"/>
                </a:lnTo>
                <a:close/>
              </a:path>
              <a:path w="2428875" h="2425700">
                <a:moveTo>
                  <a:pt x="124841" y="165100"/>
                </a:moveTo>
                <a:lnTo>
                  <a:pt x="125069" y="152400"/>
                </a:lnTo>
                <a:lnTo>
                  <a:pt x="131356" y="152400"/>
                </a:lnTo>
                <a:lnTo>
                  <a:pt x="124841" y="165100"/>
                </a:lnTo>
                <a:close/>
              </a:path>
              <a:path w="2428875" h="2425700">
                <a:moveTo>
                  <a:pt x="2303653" y="165100"/>
                </a:moveTo>
                <a:lnTo>
                  <a:pt x="2297137" y="152400"/>
                </a:lnTo>
                <a:lnTo>
                  <a:pt x="2303424" y="152400"/>
                </a:lnTo>
                <a:lnTo>
                  <a:pt x="2303653" y="165100"/>
                </a:lnTo>
                <a:close/>
              </a:path>
              <a:path w="2428875" h="2425700">
                <a:moveTo>
                  <a:pt x="2350389" y="177800"/>
                </a:moveTo>
                <a:lnTo>
                  <a:pt x="2315730" y="177800"/>
                </a:lnTo>
                <a:lnTo>
                  <a:pt x="2309558" y="165100"/>
                </a:lnTo>
                <a:lnTo>
                  <a:pt x="2309774" y="165100"/>
                </a:lnTo>
                <a:lnTo>
                  <a:pt x="2303424" y="152400"/>
                </a:lnTo>
                <a:lnTo>
                  <a:pt x="2338197" y="152400"/>
                </a:lnTo>
                <a:lnTo>
                  <a:pt x="2344381" y="165100"/>
                </a:lnTo>
                <a:lnTo>
                  <a:pt x="2350389" y="177800"/>
                </a:lnTo>
                <a:close/>
              </a:path>
              <a:path w="2428875" h="2425700">
                <a:moveTo>
                  <a:pt x="90741" y="203200"/>
                </a:moveTo>
                <a:lnTo>
                  <a:pt x="61468" y="203200"/>
                </a:lnTo>
                <a:lnTo>
                  <a:pt x="66878" y="190500"/>
                </a:lnTo>
                <a:lnTo>
                  <a:pt x="72491" y="177800"/>
                </a:lnTo>
                <a:lnTo>
                  <a:pt x="107188" y="177800"/>
                </a:lnTo>
                <a:lnTo>
                  <a:pt x="101396" y="190500"/>
                </a:lnTo>
                <a:lnTo>
                  <a:pt x="96164" y="190500"/>
                </a:lnTo>
                <a:lnTo>
                  <a:pt x="90741" y="203200"/>
                </a:lnTo>
                <a:close/>
              </a:path>
              <a:path w="2428875" h="2425700">
                <a:moveTo>
                  <a:pt x="2367203" y="203200"/>
                </a:moveTo>
                <a:lnTo>
                  <a:pt x="2337752" y="203200"/>
                </a:lnTo>
                <a:lnTo>
                  <a:pt x="2332329" y="190500"/>
                </a:lnTo>
                <a:lnTo>
                  <a:pt x="2327097" y="190500"/>
                </a:lnTo>
                <a:lnTo>
                  <a:pt x="2321293" y="177800"/>
                </a:lnTo>
                <a:lnTo>
                  <a:pt x="2356192" y="177800"/>
                </a:lnTo>
                <a:lnTo>
                  <a:pt x="2361806" y="190500"/>
                </a:lnTo>
                <a:lnTo>
                  <a:pt x="2367203" y="203200"/>
                </a:lnTo>
                <a:close/>
              </a:path>
              <a:path w="2428875" h="2425700">
                <a:moveTo>
                  <a:pt x="76187" y="228600"/>
                </a:moveTo>
                <a:lnTo>
                  <a:pt x="46456" y="228600"/>
                </a:lnTo>
                <a:lnTo>
                  <a:pt x="51244" y="215900"/>
                </a:lnTo>
                <a:lnTo>
                  <a:pt x="56248" y="203200"/>
                </a:lnTo>
                <a:lnTo>
                  <a:pt x="90932" y="203200"/>
                </a:lnTo>
                <a:lnTo>
                  <a:pt x="85699" y="215900"/>
                </a:lnTo>
                <a:lnTo>
                  <a:pt x="81026" y="215900"/>
                </a:lnTo>
                <a:lnTo>
                  <a:pt x="76187" y="228600"/>
                </a:lnTo>
                <a:close/>
              </a:path>
              <a:path w="2428875" h="2425700">
                <a:moveTo>
                  <a:pt x="2382189" y="228600"/>
                </a:moveTo>
                <a:lnTo>
                  <a:pt x="2352306" y="228600"/>
                </a:lnTo>
                <a:lnTo>
                  <a:pt x="2347468" y="215900"/>
                </a:lnTo>
                <a:lnTo>
                  <a:pt x="2342794" y="215900"/>
                </a:lnTo>
                <a:lnTo>
                  <a:pt x="2337562" y="203200"/>
                </a:lnTo>
                <a:lnTo>
                  <a:pt x="2372410" y="203200"/>
                </a:lnTo>
                <a:lnTo>
                  <a:pt x="2377414" y="215900"/>
                </a:lnTo>
                <a:lnTo>
                  <a:pt x="2382189" y="228600"/>
                </a:lnTo>
                <a:close/>
              </a:path>
              <a:path w="2428875" h="2425700">
                <a:moveTo>
                  <a:pt x="59563" y="266700"/>
                </a:moveTo>
                <a:lnTo>
                  <a:pt x="29337" y="266700"/>
                </a:lnTo>
                <a:lnTo>
                  <a:pt x="33388" y="254000"/>
                </a:lnTo>
                <a:lnTo>
                  <a:pt x="37528" y="241300"/>
                </a:lnTo>
                <a:lnTo>
                  <a:pt x="41884" y="228600"/>
                </a:lnTo>
                <a:lnTo>
                  <a:pt x="76352" y="228600"/>
                </a:lnTo>
                <a:lnTo>
                  <a:pt x="71729" y="241300"/>
                </a:lnTo>
                <a:lnTo>
                  <a:pt x="67627" y="241300"/>
                </a:lnTo>
                <a:lnTo>
                  <a:pt x="63411" y="254000"/>
                </a:lnTo>
                <a:lnTo>
                  <a:pt x="63563" y="254000"/>
                </a:lnTo>
                <a:lnTo>
                  <a:pt x="59563" y="266700"/>
                </a:lnTo>
                <a:close/>
              </a:path>
              <a:path w="2428875" h="2425700">
                <a:moveTo>
                  <a:pt x="2399157" y="266700"/>
                </a:moveTo>
                <a:lnTo>
                  <a:pt x="2368931" y="266700"/>
                </a:lnTo>
                <a:lnTo>
                  <a:pt x="2364930" y="254000"/>
                </a:lnTo>
                <a:lnTo>
                  <a:pt x="2365082" y="254000"/>
                </a:lnTo>
                <a:lnTo>
                  <a:pt x="2360866" y="241300"/>
                </a:lnTo>
                <a:lnTo>
                  <a:pt x="2356764" y="241300"/>
                </a:lnTo>
                <a:lnTo>
                  <a:pt x="2352141" y="228600"/>
                </a:lnTo>
                <a:lnTo>
                  <a:pt x="2386761" y="228600"/>
                </a:lnTo>
                <a:lnTo>
                  <a:pt x="2391117" y="241300"/>
                </a:lnTo>
                <a:lnTo>
                  <a:pt x="2395245" y="254000"/>
                </a:lnTo>
                <a:lnTo>
                  <a:pt x="2399157" y="266700"/>
                </a:lnTo>
                <a:close/>
              </a:path>
              <a:path w="2428875" h="2425700">
                <a:moveTo>
                  <a:pt x="40970" y="317500"/>
                </a:moveTo>
                <a:lnTo>
                  <a:pt x="13385" y="317500"/>
                </a:lnTo>
                <a:lnTo>
                  <a:pt x="16129" y="304800"/>
                </a:lnTo>
                <a:lnTo>
                  <a:pt x="18999" y="292100"/>
                </a:lnTo>
                <a:lnTo>
                  <a:pt x="22326" y="279400"/>
                </a:lnTo>
                <a:lnTo>
                  <a:pt x="25781" y="266700"/>
                </a:lnTo>
                <a:lnTo>
                  <a:pt x="56057" y="266700"/>
                </a:lnTo>
                <a:lnTo>
                  <a:pt x="52489" y="279400"/>
                </a:lnTo>
                <a:lnTo>
                  <a:pt x="49276" y="292100"/>
                </a:lnTo>
                <a:lnTo>
                  <a:pt x="46291" y="304800"/>
                </a:lnTo>
                <a:lnTo>
                  <a:pt x="43611" y="304800"/>
                </a:lnTo>
                <a:lnTo>
                  <a:pt x="40970" y="317500"/>
                </a:lnTo>
                <a:close/>
              </a:path>
              <a:path w="2428875" h="2425700">
                <a:moveTo>
                  <a:pt x="2415197" y="317500"/>
                </a:moveTo>
                <a:lnTo>
                  <a:pt x="2387523" y="317500"/>
                </a:lnTo>
                <a:lnTo>
                  <a:pt x="2384882" y="304800"/>
                </a:lnTo>
                <a:lnTo>
                  <a:pt x="2382202" y="304800"/>
                </a:lnTo>
                <a:lnTo>
                  <a:pt x="2379103" y="292100"/>
                </a:lnTo>
                <a:lnTo>
                  <a:pt x="2375877" y="279400"/>
                </a:lnTo>
                <a:lnTo>
                  <a:pt x="2372436" y="266700"/>
                </a:lnTo>
                <a:lnTo>
                  <a:pt x="2402827" y="266700"/>
                </a:lnTo>
                <a:lnTo>
                  <a:pt x="2406281" y="279400"/>
                </a:lnTo>
                <a:lnTo>
                  <a:pt x="2409482" y="292100"/>
                </a:lnTo>
                <a:lnTo>
                  <a:pt x="2412466" y="304800"/>
                </a:lnTo>
                <a:lnTo>
                  <a:pt x="2415197" y="317500"/>
                </a:lnTo>
                <a:close/>
              </a:path>
              <a:path w="2428875" h="2425700">
                <a:moveTo>
                  <a:pt x="31724" y="368300"/>
                </a:moveTo>
                <a:lnTo>
                  <a:pt x="3429" y="368300"/>
                </a:lnTo>
                <a:lnTo>
                  <a:pt x="4851" y="355600"/>
                </a:lnTo>
                <a:lnTo>
                  <a:pt x="6654" y="342900"/>
                </a:lnTo>
                <a:lnTo>
                  <a:pt x="8648" y="330200"/>
                </a:lnTo>
                <a:lnTo>
                  <a:pt x="10807" y="317500"/>
                </a:lnTo>
                <a:lnTo>
                  <a:pt x="41059" y="317500"/>
                </a:lnTo>
                <a:lnTo>
                  <a:pt x="38658" y="330200"/>
                </a:lnTo>
                <a:lnTo>
                  <a:pt x="36563" y="342900"/>
                </a:lnTo>
                <a:lnTo>
                  <a:pt x="34772" y="342900"/>
                </a:lnTo>
                <a:lnTo>
                  <a:pt x="33096" y="355600"/>
                </a:lnTo>
                <a:lnTo>
                  <a:pt x="31724" y="368300"/>
                </a:lnTo>
                <a:close/>
              </a:path>
              <a:path w="2428875" h="2425700">
                <a:moveTo>
                  <a:pt x="2425115" y="368300"/>
                </a:moveTo>
                <a:lnTo>
                  <a:pt x="2396769" y="368300"/>
                </a:lnTo>
                <a:lnTo>
                  <a:pt x="2395334" y="355600"/>
                </a:lnTo>
                <a:lnTo>
                  <a:pt x="2393721" y="342900"/>
                </a:lnTo>
                <a:lnTo>
                  <a:pt x="2391930" y="342900"/>
                </a:lnTo>
                <a:lnTo>
                  <a:pt x="2389759" y="330200"/>
                </a:lnTo>
                <a:lnTo>
                  <a:pt x="2387434" y="317500"/>
                </a:lnTo>
                <a:lnTo>
                  <a:pt x="2417686" y="317500"/>
                </a:lnTo>
                <a:lnTo>
                  <a:pt x="2419921" y="330200"/>
                </a:lnTo>
                <a:lnTo>
                  <a:pt x="2421902" y="342900"/>
                </a:lnTo>
                <a:lnTo>
                  <a:pt x="2423642" y="355600"/>
                </a:lnTo>
                <a:lnTo>
                  <a:pt x="2425115" y="368300"/>
                </a:lnTo>
                <a:close/>
              </a:path>
              <a:path w="2428875" h="2425700">
                <a:moveTo>
                  <a:pt x="33159" y="2057400"/>
                </a:moveTo>
                <a:lnTo>
                  <a:pt x="3378" y="2057400"/>
                </a:lnTo>
                <a:lnTo>
                  <a:pt x="2171" y="2044700"/>
                </a:lnTo>
                <a:lnTo>
                  <a:pt x="1219" y="2032000"/>
                </a:lnTo>
                <a:lnTo>
                  <a:pt x="546" y="2019300"/>
                </a:lnTo>
                <a:lnTo>
                  <a:pt x="127" y="2006600"/>
                </a:lnTo>
                <a:lnTo>
                  <a:pt x="0" y="1993900"/>
                </a:lnTo>
                <a:lnTo>
                  <a:pt x="0" y="419100"/>
                </a:lnTo>
                <a:lnTo>
                  <a:pt x="127" y="406400"/>
                </a:lnTo>
                <a:lnTo>
                  <a:pt x="558" y="393700"/>
                </a:lnTo>
                <a:lnTo>
                  <a:pt x="1244" y="381000"/>
                </a:lnTo>
                <a:lnTo>
                  <a:pt x="2209" y="368300"/>
                </a:lnTo>
                <a:lnTo>
                  <a:pt x="31775" y="368300"/>
                </a:lnTo>
                <a:lnTo>
                  <a:pt x="30594" y="381000"/>
                </a:lnTo>
                <a:lnTo>
                  <a:pt x="29743" y="381000"/>
                </a:lnTo>
                <a:lnTo>
                  <a:pt x="29083" y="393700"/>
                </a:lnTo>
                <a:lnTo>
                  <a:pt x="28702" y="406400"/>
                </a:lnTo>
                <a:lnTo>
                  <a:pt x="28575" y="419100"/>
                </a:lnTo>
                <a:lnTo>
                  <a:pt x="28575" y="1993900"/>
                </a:lnTo>
                <a:lnTo>
                  <a:pt x="28702" y="2006600"/>
                </a:lnTo>
                <a:lnTo>
                  <a:pt x="29095" y="2019300"/>
                </a:lnTo>
                <a:lnTo>
                  <a:pt x="29743" y="2032000"/>
                </a:lnTo>
                <a:lnTo>
                  <a:pt x="30632" y="2044700"/>
                </a:lnTo>
                <a:lnTo>
                  <a:pt x="31724" y="2044700"/>
                </a:lnTo>
                <a:lnTo>
                  <a:pt x="33159" y="2057400"/>
                </a:lnTo>
                <a:close/>
              </a:path>
              <a:path w="2428875" h="2425700">
                <a:moveTo>
                  <a:pt x="2425065" y="2057400"/>
                </a:moveTo>
                <a:lnTo>
                  <a:pt x="2395334" y="2057400"/>
                </a:lnTo>
                <a:lnTo>
                  <a:pt x="2396769" y="2044700"/>
                </a:lnTo>
                <a:lnTo>
                  <a:pt x="2397861" y="2044700"/>
                </a:lnTo>
                <a:lnTo>
                  <a:pt x="2398776" y="2032000"/>
                </a:lnTo>
                <a:lnTo>
                  <a:pt x="2399411" y="2019300"/>
                </a:lnTo>
                <a:lnTo>
                  <a:pt x="2399792" y="2006600"/>
                </a:lnTo>
                <a:lnTo>
                  <a:pt x="2399792" y="406400"/>
                </a:lnTo>
                <a:lnTo>
                  <a:pt x="2399398" y="393700"/>
                </a:lnTo>
                <a:lnTo>
                  <a:pt x="2398750" y="381000"/>
                </a:lnTo>
                <a:lnTo>
                  <a:pt x="2397899" y="381000"/>
                </a:lnTo>
                <a:lnTo>
                  <a:pt x="2396718" y="368300"/>
                </a:lnTo>
                <a:lnTo>
                  <a:pt x="2426322" y="368300"/>
                </a:lnTo>
                <a:lnTo>
                  <a:pt x="2427274" y="381000"/>
                </a:lnTo>
                <a:lnTo>
                  <a:pt x="2427947" y="393700"/>
                </a:lnTo>
                <a:lnTo>
                  <a:pt x="2428354" y="406400"/>
                </a:lnTo>
                <a:lnTo>
                  <a:pt x="2428494" y="419100"/>
                </a:lnTo>
                <a:lnTo>
                  <a:pt x="2428494" y="1993900"/>
                </a:lnTo>
                <a:lnTo>
                  <a:pt x="2428354" y="2006600"/>
                </a:lnTo>
                <a:lnTo>
                  <a:pt x="2427935" y="2019300"/>
                </a:lnTo>
                <a:lnTo>
                  <a:pt x="2427249" y="2032000"/>
                </a:lnTo>
                <a:lnTo>
                  <a:pt x="2426284" y="2044700"/>
                </a:lnTo>
                <a:lnTo>
                  <a:pt x="2425065" y="2057400"/>
                </a:lnTo>
                <a:close/>
              </a:path>
              <a:path w="2428875" h="2425700">
                <a:moveTo>
                  <a:pt x="43611" y="2108200"/>
                </a:moveTo>
                <a:lnTo>
                  <a:pt x="13296" y="2108200"/>
                </a:lnTo>
                <a:lnTo>
                  <a:pt x="10807" y="2095500"/>
                </a:lnTo>
                <a:lnTo>
                  <a:pt x="8572" y="2082800"/>
                </a:lnTo>
                <a:lnTo>
                  <a:pt x="6591" y="2070100"/>
                </a:lnTo>
                <a:lnTo>
                  <a:pt x="4851" y="2057400"/>
                </a:lnTo>
                <a:lnTo>
                  <a:pt x="33096" y="2057400"/>
                </a:lnTo>
                <a:lnTo>
                  <a:pt x="34772" y="2070100"/>
                </a:lnTo>
                <a:lnTo>
                  <a:pt x="36639" y="2082800"/>
                </a:lnTo>
                <a:lnTo>
                  <a:pt x="38658" y="2082800"/>
                </a:lnTo>
                <a:lnTo>
                  <a:pt x="41059" y="2095500"/>
                </a:lnTo>
                <a:lnTo>
                  <a:pt x="43611" y="2108200"/>
                </a:lnTo>
                <a:close/>
              </a:path>
              <a:path w="2428875" h="2425700">
                <a:moveTo>
                  <a:pt x="2415108" y="2108200"/>
                </a:moveTo>
                <a:lnTo>
                  <a:pt x="2384882" y="2108200"/>
                </a:lnTo>
                <a:lnTo>
                  <a:pt x="2387523" y="2095500"/>
                </a:lnTo>
                <a:lnTo>
                  <a:pt x="2389835" y="2082800"/>
                </a:lnTo>
                <a:lnTo>
                  <a:pt x="2391854" y="2082800"/>
                </a:lnTo>
                <a:lnTo>
                  <a:pt x="2393784" y="2070100"/>
                </a:lnTo>
                <a:lnTo>
                  <a:pt x="2395397" y="2057400"/>
                </a:lnTo>
                <a:lnTo>
                  <a:pt x="2423642" y="2057400"/>
                </a:lnTo>
                <a:lnTo>
                  <a:pt x="2421839" y="2070100"/>
                </a:lnTo>
                <a:lnTo>
                  <a:pt x="2419845" y="2082800"/>
                </a:lnTo>
                <a:lnTo>
                  <a:pt x="2417686" y="2095500"/>
                </a:lnTo>
                <a:lnTo>
                  <a:pt x="2415108" y="2108200"/>
                </a:lnTo>
                <a:close/>
              </a:path>
              <a:path w="2428875" h="2425700">
                <a:moveTo>
                  <a:pt x="63563" y="2159000"/>
                </a:moveTo>
                <a:lnTo>
                  <a:pt x="29337" y="2159000"/>
                </a:lnTo>
                <a:lnTo>
                  <a:pt x="25666" y="2146300"/>
                </a:lnTo>
                <a:lnTo>
                  <a:pt x="22212" y="2133600"/>
                </a:lnTo>
                <a:lnTo>
                  <a:pt x="18999" y="2120900"/>
                </a:lnTo>
                <a:lnTo>
                  <a:pt x="16027" y="2108200"/>
                </a:lnTo>
                <a:lnTo>
                  <a:pt x="43522" y="2108200"/>
                </a:lnTo>
                <a:lnTo>
                  <a:pt x="46393" y="2120900"/>
                </a:lnTo>
                <a:lnTo>
                  <a:pt x="49276" y="2120900"/>
                </a:lnTo>
                <a:lnTo>
                  <a:pt x="52616" y="2133600"/>
                </a:lnTo>
                <a:lnTo>
                  <a:pt x="56057" y="2146300"/>
                </a:lnTo>
                <a:lnTo>
                  <a:pt x="59563" y="2146300"/>
                </a:lnTo>
                <a:lnTo>
                  <a:pt x="63563" y="2159000"/>
                </a:lnTo>
                <a:close/>
              </a:path>
              <a:path w="2428875" h="2425700">
                <a:moveTo>
                  <a:pt x="2399157" y="2159000"/>
                </a:moveTo>
                <a:lnTo>
                  <a:pt x="2364930" y="2159000"/>
                </a:lnTo>
                <a:lnTo>
                  <a:pt x="2368931" y="2146300"/>
                </a:lnTo>
                <a:lnTo>
                  <a:pt x="2372436" y="2146300"/>
                </a:lnTo>
                <a:lnTo>
                  <a:pt x="2375992" y="2133600"/>
                </a:lnTo>
                <a:lnTo>
                  <a:pt x="2379205" y="2120900"/>
                </a:lnTo>
                <a:lnTo>
                  <a:pt x="2382100" y="2120900"/>
                </a:lnTo>
                <a:lnTo>
                  <a:pt x="2384971" y="2108200"/>
                </a:lnTo>
                <a:lnTo>
                  <a:pt x="2412365" y="2108200"/>
                </a:lnTo>
                <a:lnTo>
                  <a:pt x="2409380" y="2120900"/>
                </a:lnTo>
                <a:lnTo>
                  <a:pt x="2406167" y="2133600"/>
                </a:lnTo>
                <a:lnTo>
                  <a:pt x="2402713" y="2146300"/>
                </a:lnTo>
                <a:lnTo>
                  <a:pt x="2399157" y="2159000"/>
                </a:lnTo>
                <a:close/>
              </a:path>
              <a:path w="2428875" h="2425700">
                <a:moveTo>
                  <a:pt x="81026" y="2197100"/>
                </a:moveTo>
                <a:lnTo>
                  <a:pt x="46304" y="2197100"/>
                </a:lnTo>
                <a:lnTo>
                  <a:pt x="41732" y="2184400"/>
                </a:lnTo>
                <a:lnTo>
                  <a:pt x="37376" y="2171700"/>
                </a:lnTo>
                <a:lnTo>
                  <a:pt x="33248" y="2159000"/>
                </a:lnTo>
                <a:lnTo>
                  <a:pt x="63411" y="2159000"/>
                </a:lnTo>
                <a:lnTo>
                  <a:pt x="67627" y="2171700"/>
                </a:lnTo>
                <a:lnTo>
                  <a:pt x="67475" y="2171700"/>
                </a:lnTo>
                <a:lnTo>
                  <a:pt x="71894" y="2184400"/>
                </a:lnTo>
                <a:lnTo>
                  <a:pt x="76187" y="2184400"/>
                </a:lnTo>
                <a:lnTo>
                  <a:pt x="81026" y="2197100"/>
                </a:lnTo>
                <a:close/>
              </a:path>
              <a:path w="2428875" h="2425700">
                <a:moveTo>
                  <a:pt x="2382037" y="2197100"/>
                </a:moveTo>
                <a:lnTo>
                  <a:pt x="2347468" y="2197100"/>
                </a:lnTo>
                <a:lnTo>
                  <a:pt x="2352306" y="2184400"/>
                </a:lnTo>
                <a:lnTo>
                  <a:pt x="2356599" y="2184400"/>
                </a:lnTo>
                <a:lnTo>
                  <a:pt x="2361018" y="2171700"/>
                </a:lnTo>
                <a:lnTo>
                  <a:pt x="2360866" y="2171700"/>
                </a:lnTo>
                <a:lnTo>
                  <a:pt x="2365082" y="2159000"/>
                </a:lnTo>
                <a:lnTo>
                  <a:pt x="2395105" y="2159000"/>
                </a:lnTo>
                <a:lnTo>
                  <a:pt x="2390965" y="2171700"/>
                </a:lnTo>
                <a:lnTo>
                  <a:pt x="2386609" y="2184400"/>
                </a:lnTo>
                <a:lnTo>
                  <a:pt x="2382037" y="2197100"/>
                </a:lnTo>
                <a:close/>
              </a:path>
              <a:path w="2428875" h="2425700">
                <a:moveTo>
                  <a:pt x="96164" y="2222500"/>
                </a:moveTo>
                <a:lnTo>
                  <a:pt x="61277" y="2222500"/>
                </a:lnTo>
                <a:lnTo>
                  <a:pt x="56083" y="2209800"/>
                </a:lnTo>
                <a:lnTo>
                  <a:pt x="51079" y="2197100"/>
                </a:lnTo>
                <a:lnTo>
                  <a:pt x="85699" y="2197100"/>
                </a:lnTo>
                <a:lnTo>
                  <a:pt x="90932" y="2209800"/>
                </a:lnTo>
                <a:lnTo>
                  <a:pt x="90741" y="2209800"/>
                </a:lnTo>
                <a:lnTo>
                  <a:pt x="96164" y="2222500"/>
                </a:lnTo>
                <a:close/>
              </a:path>
              <a:path w="2428875" h="2425700">
                <a:moveTo>
                  <a:pt x="2367026" y="2222500"/>
                </a:moveTo>
                <a:lnTo>
                  <a:pt x="2332329" y="2222500"/>
                </a:lnTo>
                <a:lnTo>
                  <a:pt x="2337752" y="2209800"/>
                </a:lnTo>
                <a:lnTo>
                  <a:pt x="2337562" y="2209800"/>
                </a:lnTo>
                <a:lnTo>
                  <a:pt x="2342794" y="2197100"/>
                </a:lnTo>
                <a:lnTo>
                  <a:pt x="2377249" y="2197100"/>
                </a:lnTo>
                <a:lnTo>
                  <a:pt x="2372245" y="2209800"/>
                </a:lnTo>
                <a:lnTo>
                  <a:pt x="2367026" y="2222500"/>
                </a:lnTo>
                <a:close/>
              </a:path>
              <a:path w="2428875" h="2425700">
                <a:moveTo>
                  <a:pt x="112979" y="2247900"/>
                </a:moveTo>
                <a:lnTo>
                  <a:pt x="78105" y="2247900"/>
                </a:lnTo>
                <a:lnTo>
                  <a:pt x="72301" y="2235200"/>
                </a:lnTo>
                <a:lnTo>
                  <a:pt x="66687" y="2222500"/>
                </a:lnTo>
                <a:lnTo>
                  <a:pt x="101396" y="2222500"/>
                </a:lnTo>
                <a:lnTo>
                  <a:pt x="107188" y="2235200"/>
                </a:lnTo>
                <a:lnTo>
                  <a:pt x="106984" y="2235200"/>
                </a:lnTo>
                <a:lnTo>
                  <a:pt x="112979" y="2247900"/>
                </a:lnTo>
                <a:close/>
              </a:path>
              <a:path w="2428875" h="2425700">
                <a:moveTo>
                  <a:pt x="2350185" y="2247900"/>
                </a:moveTo>
                <a:lnTo>
                  <a:pt x="2315514" y="2247900"/>
                </a:lnTo>
                <a:lnTo>
                  <a:pt x="2321509" y="2235200"/>
                </a:lnTo>
                <a:lnTo>
                  <a:pt x="2321293" y="2235200"/>
                </a:lnTo>
                <a:lnTo>
                  <a:pt x="2327097" y="2222500"/>
                </a:lnTo>
                <a:lnTo>
                  <a:pt x="2361615" y="2222500"/>
                </a:lnTo>
                <a:lnTo>
                  <a:pt x="2356002" y="2235200"/>
                </a:lnTo>
                <a:lnTo>
                  <a:pt x="2350185" y="2247900"/>
                </a:lnTo>
                <a:close/>
              </a:path>
              <a:path w="2428875" h="2425700">
                <a:moveTo>
                  <a:pt x="137833" y="2273300"/>
                </a:moveTo>
                <a:lnTo>
                  <a:pt x="96672" y="2273300"/>
                </a:lnTo>
                <a:lnTo>
                  <a:pt x="90297" y="2260600"/>
                </a:lnTo>
                <a:lnTo>
                  <a:pt x="84112" y="2247900"/>
                </a:lnTo>
                <a:lnTo>
                  <a:pt x="118719" y="2247900"/>
                </a:lnTo>
                <a:lnTo>
                  <a:pt x="125069" y="2260600"/>
                </a:lnTo>
                <a:lnTo>
                  <a:pt x="131127" y="2260600"/>
                </a:lnTo>
                <a:lnTo>
                  <a:pt x="137833" y="2273300"/>
                </a:lnTo>
                <a:close/>
              </a:path>
              <a:path w="2428875" h="2425700">
                <a:moveTo>
                  <a:pt x="2331593" y="2273300"/>
                </a:moveTo>
                <a:lnTo>
                  <a:pt x="2290660" y="2273300"/>
                </a:lnTo>
                <a:lnTo>
                  <a:pt x="2297366" y="2260600"/>
                </a:lnTo>
                <a:lnTo>
                  <a:pt x="2303424" y="2260600"/>
                </a:lnTo>
                <a:lnTo>
                  <a:pt x="2309774" y="2247900"/>
                </a:lnTo>
                <a:lnTo>
                  <a:pt x="2344178" y="2247900"/>
                </a:lnTo>
                <a:lnTo>
                  <a:pt x="2337981" y="2260600"/>
                </a:lnTo>
                <a:lnTo>
                  <a:pt x="2331593" y="2273300"/>
                </a:lnTo>
                <a:close/>
              </a:path>
              <a:path w="2428875" h="2425700">
                <a:moveTo>
                  <a:pt x="151244" y="2286000"/>
                </a:moveTo>
                <a:lnTo>
                  <a:pt x="109994" y="2286000"/>
                </a:lnTo>
                <a:lnTo>
                  <a:pt x="103238" y="2273300"/>
                </a:lnTo>
                <a:lnTo>
                  <a:pt x="144208" y="2273300"/>
                </a:lnTo>
                <a:lnTo>
                  <a:pt x="151244" y="2286000"/>
                </a:lnTo>
                <a:close/>
              </a:path>
              <a:path w="2428875" h="2425700">
                <a:moveTo>
                  <a:pt x="2318512" y="2286000"/>
                </a:moveTo>
                <a:lnTo>
                  <a:pt x="2277249" y="2286000"/>
                </a:lnTo>
                <a:lnTo>
                  <a:pt x="2284285" y="2273300"/>
                </a:lnTo>
                <a:lnTo>
                  <a:pt x="2325027" y="2273300"/>
                </a:lnTo>
                <a:lnTo>
                  <a:pt x="2318512" y="2286000"/>
                </a:lnTo>
                <a:close/>
              </a:path>
              <a:path w="2428875" h="2425700">
                <a:moveTo>
                  <a:pt x="165290" y="2298700"/>
                </a:moveTo>
                <a:lnTo>
                  <a:pt x="124015" y="2298700"/>
                </a:lnTo>
                <a:lnTo>
                  <a:pt x="116916" y="2286000"/>
                </a:lnTo>
                <a:lnTo>
                  <a:pt x="157937" y="2286000"/>
                </a:lnTo>
                <a:lnTo>
                  <a:pt x="165290" y="2298700"/>
                </a:lnTo>
                <a:close/>
              </a:path>
              <a:path w="2428875" h="2425700">
                <a:moveTo>
                  <a:pt x="2296972" y="2311400"/>
                </a:moveTo>
                <a:lnTo>
                  <a:pt x="2248560" y="2311400"/>
                </a:lnTo>
                <a:lnTo>
                  <a:pt x="2256218" y="2298700"/>
                </a:lnTo>
                <a:lnTo>
                  <a:pt x="2263203" y="2298700"/>
                </a:lnTo>
                <a:lnTo>
                  <a:pt x="2270556" y="2286000"/>
                </a:lnTo>
                <a:lnTo>
                  <a:pt x="2311349" y="2286000"/>
                </a:lnTo>
                <a:lnTo>
                  <a:pt x="2304237" y="2298700"/>
                </a:lnTo>
                <a:lnTo>
                  <a:pt x="2296972" y="2311400"/>
                </a:lnTo>
                <a:close/>
              </a:path>
              <a:path w="2428875" h="2425700">
                <a:moveTo>
                  <a:pt x="195148" y="2324100"/>
                </a:moveTo>
                <a:lnTo>
                  <a:pt x="146316" y="2324100"/>
                </a:lnTo>
                <a:lnTo>
                  <a:pt x="138722" y="2311400"/>
                </a:lnTo>
                <a:lnTo>
                  <a:pt x="131279" y="2298700"/>
                </a:lnTo>
                <a:lnTo>
                  <a:pt x="172275" y="2298700"/>
                </a:lnTo>
                <a:lnTo>
                  <a:pt x="179933" y="2311400"/>
                </a:lnTo>
                <a:lnTo>
                  <a:pt x="187198" y="2311400"/>
                </a:lnTo>
                <a:lnTo>
                  <a:pt x="195148" y="2324100"/>
                </a:lnTo>
                <a:close/>
              </a:path>
              <a:path w="2428875" h="2425700">
                <a:moveTo>
                  <a:pt x="2281923" y="2324100"/>
                </a:moveTo>
                <a:lnTo>
                  <a:pt x="2233345" y="2324100"/>
                </a:lnTo>
                <a:lnTo>
                  <a:pt x="2241296" y="2311400"/>
                </a:lnTo>
                <a:lnTo>
                  <a:pt x="2289530" y="2311400"/>
                </a:lnTo>
                <a:lnTo>
                  <a:pt x="2281923" y="2324100"/>
                </a:lnTo>
                <a:close/>
              </a:path>
              <a:path w="2428875" h="2425700">
                <a:moveTo>
                  <a:pt x="210921" y="2336800"/>
                </a:moveTo>
                <a:lnTo>
                  <a:pt x="162001" y="2336800"/>
                </a:lnTo>
                <a:lnTo>
                  <a:pt x="154089" y="2324100"/>
                </a:lnTo>
                <a:lnTo>
                  <a:pt x="202679" y="2324100"/>
                </a:lnTo>
                <a:lnTo>
                  <a:pt x="210921" y="2336800"/>
                </a:lnTo>
                <a:close/>
              </a:path>
              <a:path w="2428875" h="2425700">
                <a:moveTo>
                  <a:pt x="2266226" y="2336800"/>
                </a:moveTo>
                <a:lnTo>
                  <a:pt x="2217572" y="2336800"/>
                </a:lnTo>
                <a:lnTo>
                  <a:pt x="2225802" y="2324100"/>
                </a:lnTo>
                <a:lnTo>
                  <a:pt x="2274150" y="2324100"/>
                </a:lnTo>
                <a:lnTo>
                  <a:pt x="2266226" y="2336800"/>
                </a:lnTo>
                <a:close/>
              </a:path>
              <a:path w="2428875" h="2425700">
                <a:moveTo>
                  <a:pt x="235572" y="2349500"/>
                </a:moveTo>
                <a:lnTo>
                  <a:pt x="178308" y="2349500"/>
                </a:lnTo>
                <a:lnTo>
                  <a:pt x="170078" y="2336800"/>
                </a:lnTo>
                <a:lnTo>
                  <a:pt x="226923" y="2336800"/>
                </a:lnTo>
                <a:lnTo>
                  <a:pt x="235572" y="2349500"/>
                </a:lnTo>
                <a:close/>
              </a:path>
              <a:path w="2428875" h="2425700">
                <a:moveTo>
                  <a:pt x="2249906" y="2349500"/>
                </a:moveTo>
                <a:lnTo>
                  <a:pt x="2192921" y="2349500"/>
                </a:lnTo>
                <a:lnTo>
                  <a:pt x="2201570" y="2336800"/>
                </a:lnTo>
                <a:lnTo>
                  <a:pt x="2258136" y="2336800"/>
                </a:lnTo>
                <a:lnTo>
                  <a:pt x="2249906" y="2349500"/>
                </a:lnTo>
                <a:close/>
              </a:path>
              <a:path w="2428875" h="2425700">
                <a:moveTo>
                  <a:pt x="261315" y="2362200"/>
                </a:moveTo>
                <a:lnTo>
                  <a:pt x="203885" y="2362200"/>
                </a:lnTo>
                <a:lnTo>
                  <a:pt x="195211" y="2349500"/>
                </a:lnTo>
                <a:lnTo>
                  <a:pt x="252298" y="2349500"/>
                </a:lnTo>
                <a:lnTo>
                  <a:pt x="261315" y="2362200"/>
                </a:lnTo>
                <a:close/>
              </a:path>
              <a:path w="2428875" h="2425700">
                <a:moveTo>
                  <a:pt x="2224316" y="2362200"/>
                </a:moveTo>
                <a:lnTo>
                  <a:pt x="2167178" y="2362200"/>
                </a:lnTo>
                <a:lnTo>
                  <a:pt x="2176195" y="2349500"/>
                </a:lnTo>
                <a:lnTo>
                  <a:pt x="2232990" y="2349500"/>
                </a:lnTo>
                <a:lnTo>
                  <a:pt x="2224316" y="2362200"/>
                </a:lnTo>
                <a:close/>
              </a:path>
              <a:path w="2428875" h="2425700">
                <a:moveTo>
                  <a:pt x="288074" y="2374900"/>
                </a:moveTo>
                <a:lnTo>
                  <a:pt x="221932" y="2374900"/>
                </a:lnTo>
                <a:lnTo>
                  <a:pt x="212686" y="2362200"/>
                </a:lnTo>
                <a:lnTo>
                  <a:pt x="278726" y="2362200"/>
                </a:lnTo>
                <a:lnTo>
                  <a:pt x="288074" y="2374900"/>
                </a:lnTo>
                <a:close/>
              </a:path>
              <a:path w="2428875" h="2425700">
                <a:moveTo>
                  <a:pt x="2206561" y="2374900"/>
                </a:moveTo>
                <a:lnTo>
                  <a:pt x="2140419" y="2374900"/>
                </a:lnTo>
                <a:lnTo>
                  <a:pt x="2149767" y="2362200"/>
                </a:lnTo>
                <a:lnTo>
                  <a:pt x="2215515" y="2362200"/>
                </a:lnTo>
                <a:lnTo>
                  <a:pt x="2206561" y="2374900"/>
                </a:lnTo>
                <a:close/>
              </a:path>
              <a:path w="2428875" h="2425700">
                <a:moveTo>
                  <a:pt x="334721" y="2387600"/>
                </a:moveTo>
                <a:lnTo>
                  <a:pt x="249224" y="2387600"/>
                </a:lnTo>
                <a:lnTo>
                  <a:pt x="239903" y="2374900"/>
                </a:lnTo>
                <a:lnTo>
                  <a:pt x="324853" y="2374900"/>
                </a:lnTo>
                <a:lnTo>
                  <a:pt x="334721" y="2387600"/>
                </a:lnTo>
                <a:close/>
              </a:path>
              <a:path w="2428875" h="2425700">
                <a:moveTo>
                  <a:pt x="2178951" y="2387600"/>
                </a:moveTo>
                <a:lnTo>
                  <a:pt x="2093772" y="2387600"/>
                </a:lnTo>
                <a:lnTo>
                  <a:pt x="2103640" y="2374900"/>
                </a:lnTo>
                <a:lnTo>
                  <a:pt x="2188286" y="2374900"/>
                </a:lnTo>
                <a:lnTo>
                  <a:pt x="2178951" y="2387600"/>
                </a:lnTo>
                <a:close/>
              </a:path>
              <a:path w="2428875" h="2425700">
                <a:moveTo>
                  <a:pt x="2150237" y="2400300"/>
                </a:moveTo>
                <a:lnTo>
                  <a:pt x="277926" y="2400300"/>
                </a:lnTo>
                <a:lnTo>
                  <a:pt x="268566" y="2387600"/>
                </a:lnTo>
                <a:lnTo>
                  <a:pt x="2159927" y="2387600"/>
                </a:lnTo>
                <a:lnTo>
                  <a:pt x="2150237" y="2400300"/>
                </a:lnTo>
                <a:close/>
              </a:path>
              <a:path w="2428875" h="2425700">
                <a:moveTo>
                  <a:pt x="2110409" y="2413000"/>
                </a:moveTo>
                <a:lnTo>
                  <a:pt x="317741" y="2413000"/>
                </a:lnTo>
                <a:lnTo>
                  <a:pt x="307632" y="2400300"/>
                </a:lnTo>
                <a:lnTo>
                  <a:pt x="2120519" y="2400300"/>
                </a:lnTo>
                <a:lnTo>
                  <a:pt x="2110409" y="2413000"/>
                </a:lnTo>
                <a:close/>
              </a:path>
              <a:path w="2428875" h="2425700">
                <a:moveTo>
                  <a:pt x="2047798" y="2425700"/>
                </a:moveTo>
                <a:lnTo>
                  <a:pt x="380326" y="2425700"/>
                </a:lnTo>
                <a:lnTo>
                  <a:pt x="369684" y="2413000"/>
                </a:lnTo>
                <a:lnTo>
                  <a:pt x="2058454" y="2413000"/>
                </a:lnTo>
                <a:lnTo>
                  <a:pt x="2047798" y="2425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48807" y="2886951"/>
            <a:ext cx="4324985" cy="752475"/>
          </a:xfrm>
          <a:custGeom>
            <a:avLst/>
            <a:gdLst/>
            <a:ahLst/>
            <a:cxnLst/>
            <a:rect l="l" t="t" r="r" b="b"/>
            <a:pathLst>
              <a:path w="4324984" h="752475">
                <a:moveTo>
                  <a:pt x="42862" y="85725"/>
                </a:moveTo>
                <a:lnTo>
                  <a:pt x="26178" y="82356"/>
                </a:lnTo>
                <a:lnTo>
                  <a:pt x="12553" y="73171"/>
                </a:lnTo>
                <a:lnTo>
                  <a:pt x="3368" y="59546"/>
                </a:lnTo>
                <a:lnTo>
                  <a:pt x="0" y="42862"/>
                </a:lnTo>
                <a:lnTo>
                  <a:pt x="3368" y="26178"/>
                </a:lnTo>
                <a:lnTo>
                  <a:pt x="12553" y="12553"/>
                </a:lnTo>
                <a:lnTo>
                  <a:pt x="26178" y="3368"/>
                </a:lnTo>
                <a:lnTo>
                  <a:pt x="42862" y="0"/>
                </a:lnTo>
                <a:lnTo>
                  <a:pt x="59546" y="3368"/>
                </a:lnTo>
                <a:lnTo>
                  <a:pt x="73171" y="12553"/>
                </a:lnTo>
                <a:lnTo>
                  <a:pt x="82356" y="26178"/>
                </a:lnTo>
                <a:lnTo>
                  <a:pt x="82840" y="28575"/>
                </a:lnTo>
                <a:lnTo>
                  <a:pt x="42862" y="28575"/>
                </a:lnTo>
                <a:lnTo>
                  <a:pt x="42862" y="57150"/>
                </a:lnTo>
                <a:lnTo>
                  <a:pt x="82840" y="57150"/>
                </a:lnTo>
                <a:lnTo>
                  <a:pt x="82356" y="59546"/>
                </a:lnTo>
                <a:lnTo>
                  <a:pt x="73171" y="73171"/>
                </a:lnTo>
                <a:lnTo>
                  <a:pt x="59546" y="82356"/>
                </a:lnTo>
                <a:lnTo>
                  <a:pt x="42862" y="85725"/>
                </a:lnTo>
                <a:close/>
              </a:path>
              <a:path w="4324984" h="752475">
                <a:moveTo>
                  <a:pt x="82840" y="57150"/>
                </a:moveTo>
                <a:lnTo>
                  <a:pt x="42862" y="57150"/>
                </a:lnTo>
                <a:lnTo>
                  <a:pt x="42862" y="28575"/>
                </a:lnTo>
                <a:lnTo>
                  <a:pt x="82840" y="28575"/>
                </a:lnTo>
                <a:lnTo>
                  <a:pt x="85725" y="42862"/>
                </a:lnTo>
                <a:lnTo>
                  <a:pt x="82840" y="57150"/>
                </a:lnTo>
                <a:close/>
              </a:path>
              <a:path w="4324984" h="752475">
                <a:moveTo>
                  <a:pt x="4267708" y="57150"/>
                </a:moveTo>
                <a:lnTo>
                  <a:pt x="82840" y="57150"/>
                </a:lnTo>
                <a:lnTo>
                  <a:pt x="85725" y="42862"/>
                </a:lnTo>
                <a:lnTo>
                  <a:pt x="82840" y="28575"/>
                </a:lnTo>
                <a:lnTo>
                  <a:pt x="4296283" y="28575"/>
                </a:lnTo>
                <a:lnTo>
                  <a:pt x="4296283" y="42862"/>
                </a:lnTo>
                <a:lnTo>
                  <a:pt x="4267708" y="42862"/>
                </a:lnTo>
                <a:lnTo>
                  <a:pt x="4267708" y="57150"/>
                </a:lnTo>
                <a:close/>
              </a:path>
              <a:path w="4324984" h="752475">
                <a:moveTo>
                  <a:pt x="4267708" y="669291"/>
                </a:moveTo>
                <a:lnTo>
                  <a:pt x="4267708" y="42862"/>
                </a:lnTo>
                <a:lnTo>
                  <a:pt x="4281995" y="57150"/>
                </a:lnTo>
                <a:lnTo>
                  <a:pt x="4296283" y="57150"/>
                </a:lnTo>
                <a:lnTo>
                  <a:pt x="4296283" y="666407"/>
                </a:lnTo>
                <a:lnTo>
                  <a:pt x="4281995" y="666407"/>
                </a:lnTo>
                <a:lnTo>
                  <a:pt x="4267708" y="669291"/>
                </a:lnTo>
                <a:close/>
              </a:path>
              <a:path w="4324984" h="752475">
                <a:moveTo>
                  <a:pt x="4296283" y="57150"/>
                </a:moveTo>
                <a:lnTo>
                  <a:pt x="4281995" y="57150"/>
                </a:lnTo>
                <a:lnTo>
                  <a:pt x="4267708" y="42862"/>
                </a:lnTo>
                <a:lnTo>
                  <a:pt x="4296283" y="42862"/>
                </a:lnTo>
                <a:lnTo>
                  <a:pt x="4296283" y="57150"/>
                </a:lnTo>
                <a:close/>
              </a:path>
              <a:path w="4324984" h="752475">
                <a:moveTo>
                  <a:pt x="4296283" y="709269"/>
                </a:moveTo>
                <a:lnTo>
                  <a:pt x="4267708" y="709269"/>
                </a:lnTo>
                <a:lnTo>
                  <a:pt x="4267708" y="669291"/>
                </a:lnTo>
                <a:lnTo>
                  <a:pt x="4281995" y="666407"/>
                </a:lnTo>
                <a:lnTo>
                  <a:pt x="4296283" y="669291"/>
                </a:lnTo>
                <a:lnTo>
                  <a:pt x="4296283" y="709269"/>
                </a:lnTo>
                <a:close/>
              </a:path>
              <a:path w="4324984" h="752475">
                <a:moveTo>
                  <a:pt x="4296283" y="669291"/>
                </a:moveTo>
                <a:lnTo>
                  <a:pt x="4281995" y="666407"/>
                </a:lnTo>
                <a:lnTo>
                  <a:pt x="4296283" y="666407"/>
                </a:lnTo>
                <a:lnTo>
                  <a:pt x="4296283" y="669291"/>
                </a:lnTo>
                <a:close/>
              </a:path>
              <a:path w="4324984" h="752475">
                <a:moveTo>
                  <a:pt x="4281995" y="752132"/>
                </a:moveTo>
                <a:lnTo>
                  <a:pt x="4265311" y="748763"/>
                </a:lnTo>
                <a:lnTo>
                  <a:pt x="4251686" y="739578"/>
                </a:lnTo>
                <a:lnTo>
                  <a:pt x="4242501" y="725953"/>
                </a:lnTo>
                <a:lnTo>
                  <a:pt x="4239133" y="709269"/>
                </a:lnTo>
                <a:lnTo>
                  <a:pt x="4242501" y="692585"/>
                </a:lnTo>
                <a:lnTo>
                  <a:pt x="4251686" y="678961"/>
                </a:lnTo>
                <a:lnTo>
                  <a:pt x="4265311" y="669775"/>
                </a:lnTo>
                <a:lnTo>
                  <a:pt x="4267708" y="669291"/>
                </a:lnTo>
                <a:lnTo>
                  <a:pt x="4267708" y="709269"/>
                </a:lnTo>
                <a:lnTo>
                  <a:pt x="4324858" y="709269"/>
                </a:lnTo>
                <a:lnTo>
                  <a:pt x="4321489" y="725953"/>
                </a:lnTo>
                <a:lnTo>
                  <a:pt x="4312304" y="739578"/>
                </a:lnTo>
                <a:lnTo>
                  <a:pt x="4298679" y="748763"/>
                </a:lnTo>
                <a:lnTo>
                  <a:pt x="4281995" y="752132"/>
                </a:lnTo>
                <a:close/>
              </a:path>
              <a:path w="4324984" h="752475">
                <a:moveTo>
                  <a:pt x="4324858" y="709269"/>
                </a:moveTo>
                <a:lnTo>
                  <a:pt x="4296283" y="709269"/>
                </a:lnTo>
                <a:lnTo>
                  <a:pt x="4296283" y="669291"/>
                </a:lnTo>
                <a:lnTo>
                  <a:pt x="4298679" y="669775"/>
                </a:lnTo>
                <a:lnTo>
                  <a:pt x="4312304" y="678961"/>
                </a:lnTo>
                <a:lnTo>
                  <a:pt x="4321489" y="692585"/>
                </a:lnTo>
                <a:lnTo>
                  <a:pt x="4324858" y="7092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81595" y="3578352"/>
            <a:ext cx="2159507" cy="21595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53109" y="3188436"/>
            <a:ext cx="3274110" cy="2571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49019" y="4983098"/>
          <a:ext cx="7524115" cy="127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0725"/>
                <a:gridCol w="1102995"/>
                <a:gridCol w="1102359"/>
                <a:gridCol w="1102995"/>
                <a:gridCol w="1102995"/>
                <a:gridCol w="1102995"/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金属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钨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钙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钠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钾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</a:pPr>
                      <a:r>
                        <a:rPr dirty="0" sz="2400">
                          <a:latin typeface="华文楷体"/>
                          <a:cs typeface="华文楷体"/>
                        </a:rPr>
                        <a:t>铷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</a:pPr>
                      <a:r>
                        <a:rPr dirty="0" sz="2400" i="1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dirty="0" baseline="-17921" sz="2325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>
                          <a:latin typeface="华文楷体"/>
                          <a:cs typeface="华文楷体"/>
                        </a:rPr>
                        <a:t>（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baseline="21505" sz="2325">
                          <a:latin typeface="Times New Roman"/>
                          <a:cs typeface="Times New Roman"/>
                        </a:rPr>
                        <a:t>14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dirty="0" baseline="-17921" sz="2325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dirty="0" sz="2400"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10.95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7.73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5.53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5.44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5.15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 spc="-5" i="1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dirty="0" baseline="-17921" sz="2325" spc="-7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/eV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4.54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3.20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2.29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2.25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2.13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70000"/>
                      </a:solidFill>
                      <a:prstDash val="solid"/>
                    </a:lnL>
                    <a:lnR w="12700">
                      <a:solidFill>
                        <a:srgbClr val="070000"/>
                      </a:solidFill>
                      <a:prstDash val="solid"/>
                    </a:lnR>
                    <a:lnT w="12700">
                      <a:solidFill>
                        <a:srgbClr val="070000"/>
                      </a:solidFill>
                      <a:prstDash val="solid"/>
                    </a:lnT>
                    <a:lnB w="12700">
                      <a:solidFill>
                        <a:srgbClr val="07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15188" y="1517853"/>
            <a:ext cx="11406505" cy="3355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795" indent="7112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截止频率：</a:t>
            </a:r>
            <a:r>
              <a:rPr dirty="0" sz="2800">
                <a:latin typeface="华文楷体"/>
                <a:cs typeface="华文楷体"/>
              </a:rPr>
              <a:t>当入射光的频率减小到某一数值</a:t>
            </a:r>
            <a:r>
              <a:rPr dirty="0" sz="2800" i="1">
                <a:latin typeface="Times New Roman"/>
                <a:cs typeface="Times New Roman"/>
              </a:rPr>
              <a:t>v</a:t>
            </a:r>
            <a:r>
              <a:rPr dirty="0" baseline="-16975" sz="2700">
                <a:latin typeface="Times New Roman"/>
                <a:cs typeface="Times New Roman"/>
              </a:rPr>
              <a:t>c</a:t>
            </a:r>
            <a:r>
              <a:rPr dirty="0" baseline="-16975" sz="2700" spc="254">
                <a:latin typeface="Times New Roman"/>
                <a:cs typeface="Times New Roman"/>
              </a:rPr>
              <a:t> </a:t>
            </a:r>
            <a:r>
              <a:rPr dirty="0" sz="2800">
                <a:latin typeface="华文楷体"/>
                <a:cs typeface="华文楷体"/>
              </a:rPr>
              <a:t>时，光电流消失，这</a:t>
            </a:r>
            <a:r>
              <a:rPr dirty="0" sz="2800" spc="-5">
                <a:latin typeface="华文楷体"/>
                <a:cs typeface="华文楷体"/>
              </a:rPr>
              <a:t>表 </a:t>
            </a:r>
            <a:r>
              <a:rPr dirty="0" sz="2800">
                <a:latin typeface="华文楷体"/>
                <a:cs typeface="华文楷体"/>
              </a:rPr>
              <a:t>明已经没有光电子了。</a:t>
            </a:r>
            <a:r>
              <a:rPr dirty="0" sz="2800" i="1">
                <a:latin typeface="Times New Roman"/>
                <a:cs typeface="Times New Roman"/>
              </a:rPr>
              <a:t>v</a:t>
            </a:r>
            <a:r>
              <a:rPr dirty="0" baseline="-16975" sz="2700">
                <a:latin typeface="Times New Roman"/>
                <a:cs typeface="Times New Roman"/>
              </a:rPr>
              <a:t>c</a:t>
            </a:r>
            <a:r>
              <a:rPr dirty="0" sz="2800">
                <a:latin typeface="华文楷体"/>
                <a:cs typeface="华文楷体"/>
              </a:rPr>
              <a:t>称为</a:t>
            </a:r>
            <a:r>
              <a:rPr dirty="0" sz="2800" b="1">
                <a:latin typeface="华文楷体"/>
                <a:cs typeface="华文楷体"/>
              </a:rPr>
              <a:t>截止频率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 marR="5080" indent="711200">
              <a:lnSpc>
                <a:spcPct val="101200"/>
              </a:lnSpc>
              <a:spcBef>
                <a:spcPts val="5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逸出功：</a:t>
            </a:r>
            <a:r>
              <a:rPr dirty="0" sz="2800">
                <a:latin typeface="华文楷体"/>
                <a:cs typeface="华文楷体"/>
              </a:rPr>
              <a:t>要使电子脱离某种金属，需要外界对它做功，做功的最小</a:t>
            </a:r>
            <a:r>
              <a:rPr dirty="0" sz="2800" spc="-5">
                <a:latin typeface="华文楷体"/>
                <a:cs typeface="华文楷体"/>
              </a:rPr>
              <a:t>值 </a:t>
            </a:r>
            <a:r>
              <a:rPr dirty="0" sz="2800">
                <a:latin typeface="华文楷体"/>
                <a:cs typeface="华文楷体"/>
              </a:rPr>
              <a:t>叫作这种金属的</a:t>
            </a:r>
            <a:r>
              <a:rPr dirty="0" sz="2800" b="1">
                <a:latin typeface="华文楷体"/>
                <a:cs typeface="华文楷体"/>
              </a:rPr>
              <a:t>逸出功</a:t>
            </a:r>
            <a:r>
              <a:rPr dirty="0" sz="2800" i="1">
                <a:latin typeface="Times New Roman"/>
                <a:cs typeface="Times New Roman"/>
              </a:rPr>
              <a:t>W</a:t>
            </a:r>
            <a:r>
              <a:rPr dirty="0" baseline="-16975" sz="2700">
                <a:latin typeface="Times New Roman"/>
                <a:cs typeface="Times New Roman"/>
              </a:rPr>
              <a:t>0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00">
              <a:latin typeface="Times New Roman"/>
              <a:cs typeface="Times New Roman"/>
            </a:endParaRPr>
          </a:p>
          <a:p>
            <a:pPr marL="584835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几种金属的截止频率和逸出功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4621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60" h="433705">
                <a:moveTo>
                  <a:pt x="884516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16" y="0"/>
                </a:lnTo>
                <a:lnTo>
                  <a:pt x="884516" y="145072"/>
                </a:lnTo>
                <a:lnTo>
                  <a:pt x="949477" y="219621"/>
                </a:lnTo>
                <a:lnTo>
                  <a:pt x="884516" y="294170"/>
                </a:lnTo>
                <a:lnTo>
                  <a:pt x="884516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89774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现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光电效应的产生条件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063" y="1877898"/>
            <a:ext cx="10797540" cy="2464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光电效应实验规律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935355" marR="5080" indent="-177800">
              <a:lnSpc>
                <a:spcPct val="150000"/>
              </a:lnSpc>
              <a:spcBef>
                <a:spcPts val="725"/>
              </a:spcBef>
              <a:buSzPct val="96428"/>
              <a:buAutoNum type="arabicPeriod"/>
              <a:tabLst>
                <a:tab pos="1003935" algn="l"/>
                <a:tab pos="5095240" algn="l"/>
              </a:tabLst>
            </a:pPr>
            <a:r>
              <a:rPr dirty="0" sz="2800">
                <a:latin typeface="华文楷体"/>
                <a:cs typeface="华文楷体"/>
              </a:rPr>
              <a:t>光电效应存在</a:t>
            </a: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截止频率</a:t>
            </a:r>
            <a:r>
              <a:rPr dirty="0" sz="2800" spc="-10" b="1">
                <a:solidFill>
                  <a:srgbClr val="01611F"/>
                </a:solidFill>
                <a:latin typeface="华文楷体"/>
                <a:cs typeface="华文楷体"/>
              </a:rPr>
              <a:t>；</a:t>
            </a: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	</a:t>
            </a:r>
            <a:r>
              <a:rPr dirty="0" sz="2800">
                <a:latin typeface="华文楷体"/>
                <a:cs typeface="华文楷体"/>
              </a:rPr>
              <a:t>不同金属材料具有不同的截止频率</a:t>
            </a:r>
            <a:r>
              <a:rPr dirty="0" sz="2800" spc="-5"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但与光强无关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003300" indent="-245745">
              <a:lnSpc>
                <a:spcPct val="100000"/>
              </a:lnSpc>
              <a:spcBef>
                <a:spcPts val="1680"/>
              </a:spcBef>
              <a:buSzPct val="96428"/>
              <a:buAutoNum type="arabicPeriod"/>
              <a:tabLst>
                <a:tab pos="1003935" algn="l"/>
              </a:tabLst>
            </a:pPr>
            <a:r>
              <a:rPr dirty="0" sz="2800">
                <a:latin typeface="华文楷体"/>
                <a:cs typeface="华文楷体"/>
              </a:rPr>
              <a:t>光电效应具有</a:t>
            </a: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瞬时性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7839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59" h="433705">
                <a:moveTo>
                  <a:pt x="884529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29" y="0"/>
                </a:lnTo>
                <a:lnTo>
                  <a:pt x="884529" y="145072"/>
                </a:lnTo>
                <a:lnTo>
                  <a:pt x="949490" y="219621"/>
                </a:lnTo>
                <a:lnTo>
                  <a:pt x="884529" y="294170"/>
                </a:lnTo>
                <a:lnTo>
                  <a:pt x="884529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89774"/>
            <a:ext cx="1567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</a:tabLst>
            </a:pP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sz="2400" spc="-5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结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光电效应的产生条件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光电效应的产生条件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5696" y="1712976"/>
            <a:ext cx="2837687" cy="2002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2558" y="2052205"/>
            <a:ext cx="2869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电子吸收光的能</a:t>
            </a:r>
            <a:r>
              <a:rPr dirty="0" sz="2800" spc="-5">
                <a:latin typeface="华文楷体"/>
                <a:cs typeface="华文楷体"/>
              </a:rPr>
              <a:t>量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3441" y="4032364"/>
            <a:ext cx="32823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电子脱离金属消耗</a:t>
            </a:r>
            <a:r>
              <a:rPr dirty="0" sz="2800" spc="-5" i="1">
                <a:latin typeface="Times New Roman"/>
                <a:cs typeface="Times New Roman"/>
              </a:rPr>
              <a:t>W</a:t>
            </a:r>
            <a:r>
              <a:rPr dirty="0" baseline="-16975" sz="2700" spc="15">
                <a:latin typeface="Times New Roman"/>
                <a:cs typeface="Times New Roman"/>
              </a:rPr>
              <a:t>0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75091" y="1915566"/>
            <a:ext cx="3225165" cy="106045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dirty="0" sz="2800">
                <a:latin typeface="华文楷体"/>
                <a:cs typeface="华文楷体"/>
              </a:rPr>
              <a:t>光电子的最大初动</a:t>
            </a:r>
            <a:r>
              <a:rPr dirty="0" sz="2800" spc="-5"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  <a:p>
            <a:pPr algn="ctr" marL="1270">
              <a:lnSpc>
                <a:spcPct val="100000"/>
              </a:lnSpc>
              <a:spcBef>
                <a:spcPts val="715"/>
              </a:spcBef>
            </a:pPr>
            <a:r>
              <a:rPr dirty="0" baseline="10912" sz="4200" spc="7" i="1">
                <a:latin typeface="Times New Roman"/>
                <a:cs typeface="Times New Roman"/>
              </a:rPr>
              <a:t>E</a:t>
            </a:r>
            <a:r>
              <a:rPr dirty="0" sz="1800" spc="5">
                <a:latin typeface="Times New Roman"/>
                <a:cs typeface="Times New Roman"/>
              </a:rPr>
              <a:t>km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2987" y="3240049"/>
            <a:ext cx="1753870" cy="1109980"/>
          </a:xfrm>
          <a:custGeom>
            <a:avLst/>
            <a:gdLst/>
            <a:ahLst/>
            <a:cxnLst/>
            <a:rect l="l" t="t" r="r" b="b"/>
            <a:pathLst>
              <a:path w="1753870" h="1109979">
                <a:moveTo>
                  <a:pt x="1699064" y="1065530"/>
                </a:moveTo>
                <a:lnTo>
                  <a:pt x="1691728" y="1065530"/>
                </a:lnTo>
                <a:lnTo>
                  <a:pt x="1650733" y="1062989"/>
                </a:lnTo>
                <a:lnTo>
                  <a:pt x="1630248" y="1062989"/>
                </a:lnTo>
                <a:lnTo>
                  <a:pt x="1589328" y="1060450"/>
                </a:lnTo>
                <a:lnTo>
                  <a:pt x="1568907" y="1057910"/>
                </a:lnTo>
                <a:lnTo>
                  <a:pt x="1548498" y="1056639"/>
                </a:lnTo>
                <a:lnTo>
                  <a:pt x="1528114" y="1054100"/>
                </a:lnTo>
                <a:lnTo>
                  <a:pt x="1507756" y="1052830"/>
                </a:lnTo>
                <a:lnTo>
                  <a:pt x="1426679" y="1042669"/>
                </a:lnTo>
                <a:lnTo>
                  <a:pt x="1406499" y="1038860"/>
                </a:lnTo>
                <a:lnTo>
                  <a:pt x="1386370" y="1036319"/>
                </a:lnTo>
                <a:lnTo>
                  <a:pt x="1246860" y="1009650"/>
                </a:lnTo>
                <a:lnTo>
                  <a:pt x="1227150" y="1004569"/>
                </a:lnTo>
                <a:lnTo>
                  <a:pt x="1207515" y="1000760"/>
                </a:lnTo>
                <a:lnTo>
                  <a:pt x="1110411" y="975360"/>
                </a:lnTo>
                <a:lnTo>
                  <a:pt x="1091222" y="969010"/>
                </a:lnTo>
                <a:lnTo>
                  <a:pt x="1072108" y="963930"/>
                </a:lnTo>
                <a:lnTo>
                  <a:pt x="1053084" y="957580"/>
                </a:lnTo>
                <a:lnTo>
                  <a:pt x="1034148" y="952500"/>
                </a:lnTo>
                <a:lnTo>
                  <a:pt x="940866" y="920750"/>
                </a:lnTo>
                <a:lnTo>
                  <a:pt x="922515" y="913130"/>
                </a:lnTo>
                <a:lnTo>
                  <a:pt x="904252" y="906780"/>
                </a:lnTo>
                <a:lnTo>
                  <a:pt x="886104" y="899160"/>
                </a:lnTo>
                <a:lnTo>
                  <a:pt x="868070" y="892810"/>
                </a:lnTo>
                <a:lnTo>
                  <a:pt x="745096" y="839469"/>
                </a:lnTo>
                <a:lnTo>
                  <a:pt x="728014" y="830580"/>
                </a:lnTo>
                <a:lnTo>
                  <a:pt x="711085" y="822960"/>
                </a:lnTo>
                <a:lnTo>
                  <a:pt x="677608" y="805179"/>
                </a:lnTo>
                <a:lnTo>
                  <a:pt x="661085" y="797560"/>
                </a:lnTo>
                <a:lnTo>
                  <a:pt x="628459" y="779779"/>
                </a:lnTo>
                <a:lnTo>
                  <a:pt x="580631" y="753110"/>
                </a:lnTo>
                <a:lnTo>
                  <a:pt x="564997" y="742950"/>
                </a:lnTo>
                <a:lnTo>
                  <a:pt x="534200" y="725170"/>
                </a:lnTo>
                <a:lnTo>
                  <a:pt x="519036" y="715010"/>
                </a:lnTo>
                <a:lnTo>
                  <a:pt x="504037" y="706120"/>
                </a:lnTo>
                <a:lnTo>
                  <a:pt x="474548" y="685800"/>
                </a:lnTo>
                <a:lnTo>
                  <a:pt x="417652" y="646429"/>
                </a:lnTo>
                <a:lnTo>
                  <a:pt x="376885" y="615950"/>
                </a:lnTo>
                <a:lnTo>
                  <a:pt x="350647" y="594360"/>
                </a:lnTo>
                <a:lnTo>
                  <a:pt x="337820" y="584200"/>
                </a:lnTo>
                <a:lnTo>
                  <a:pt x="325183" y="572770"/>
                </a:lnTo>
                <a:lnTo>
                  <a:pt x="312750" y="562610"/>
                </a:lnTo>
                <a:lnTo>
                  <a:pt x="300520" y="552450"/>
                </a:lnTo>
                <a:lnTo>
                  <a:pt x="288493" y="541020"/>
                </a:lnTo>
                <a:lnTo>
                  <a:pt x="276669" y="529589"/>
                </a:lnTo>
                <a:lnTo>
                  <a:pt x="265049" y="519429"/>
                </a:lnTo>
                <a:lnTo>
                  <a:pt x="231495" y="485139"/>
                </a:lnTo>
                <a:lnTo>
                  <a:pt x="199910" y="450850"/>
                </a:lnTo>
                <a:lnTo>
                  <a:pt x="170357" y="416560"/>
                </a:lnTo>
                <a:lnTo>
                  <a:pt x="142925" y="382270"/>
                </a:lnTo>
                <a:lnTo>
                  <a:pt x="134264" y="369570"/>
                </a:lnTo>
                <a:lnTo>
                  <a:pt x="125844" y="358139"/>
                </a:lnTo>
                <a:lnTo>
                  <a:pt x="117665" y="346710"/>
                </a:lnTo>
                <a:lnTo>
                  <a:pt x="109740" y="334010"/>
                </a:lnTo>
                <a:lnTo>
                  <a:pt x="102069" y="322579"/>
                </a:lnTo>
                <a:lnTo>
                  <a:pt x="94653" y="309879"/>
                </a:lnTo>
                <a:lnTo>
                  <a:pt x="87503" y="298450"/>
                </a:lnTo>
                <a:lnTo>
                  <a:pt x="80594" y="285750"/>
                </a:lnTo>
                <a:lnTo>
                  <a:pt x="73964" y="274320"/>
                </a:lnTo>
                <a:lnTo>
                  <a:pt x="67589" y="261620"/>
                </a:lnTo>
                <a:lnTo>
                  <a:pt x="61493" y="248920"/>
                </a:lnTo>
                <a:lnTo>
                  <a:pt x="55664" y="237489"/>
                </a:lnTo>
                <a:lnTo>
                  <a:pt x="50101" y="224789"/>
                </a:lnTo>
                <a:lnTo>
                  <a:pt x="44831" y="212089"/>
                </a:lnTo>
                <a:lnTo>
                  <a:pt x="39827" y="200660"/>
                </a:lnTo>
                <a:lnTo>
                  <a:pt x="35102" y="187960"/>
                </a:lnTo>
                <a:lnTo>
                  <a:pt x="30670" y="175260"/>
                </a:lnTo>
                <a:lnTo>
                  <a:pt x="26517" y="162560"/>
                </a:lnTo>
                <a:lnTo>
                  <a:pt x="22669" y="149860"/>
                </a:lnTo>
                <a:lnTo>
                  <a:pt x="19100" y="138429"/>
                </a:lnTo>
                <a:lnTo>
                  <a:pt x="10185" y="100329"/>
                </a:lnTo>
                <a:lnTo>
                  <a:pt x="4013" y="62229"/>
                </a:lnTo>
                <a:lnTo>
                  <a:pt x="647" y="24129"/>
                </a:lnTo>
                <a:lnTo>
                  <a:pt x="0" y="0"/>
                </a:lnTo>
                <a:lnTo>
                  <a:pt x="19050" y="0"/>
                </a:lnTo>
                <a:lnTo>
                  <a:pt x="19202" y="11429"/>
                </a:lnTo>
                <a:lnTo>
                  <a:pt x="19672" y="24129"/>
                </a:lnTo>
                <a:lnTo>
                  <a:pt x="20459" y="35560"/>
                </a:lnTo>
                <a:lnTo>
                  <a:pt x="21539" y="48260"/>
                </a:lnTo>
                <a:lnTo>
                  <a:pt x="22923" y="59689"/>
                </a:lnTo>
                <a:lnTo>
                  <a:pt x="24612" y="72389"/>
                </a:lnTo>
                <a:lnTo>
                  <a:pt x="26606" y="85089"/>
                </a:lnTo>
                <a:lnTo>
                  <a:pt x="26800" y="85089"/>
                </a:lnTo>
                <a:lnTo>
                  <a:pt x="28892" y="96520"/>
                </a:lnTo>
                <a:lnTo>
                  <a:pt x="31470" y="109220"/>
                </a:lnTo>
                <a:lnTo>
                  <a:pt x="31711" y="109220"/>
                </a:lnTo>
                <a:lnTo>
                  <a:pt x="34340" y="120650"/>
                </a:lnTo>
                <a:lnTo>
                  <a:pt x="37503" y="133350"/>
                </a:lnTo>
                <a:lnTo>
                  <a:pt x="40957" y="144779"/>
                </a:lnTo>
                <a:lnTo>
                  <a:pt x="44691" y="157479"/>
                </a:lnTo>
                <a:lnTo>
                  <a:pt x="48704" y="168910"/>
                </a:lnTo>
                <a:lnTo>
                  <a:pt x="53009" y="181610"/>
                </a:lnTo>
                <a:lnTo>
                  <a:pt x="57594" y="193039"/>
                </a:lnTo>
                <a:lnTo>
                  <a:pt x="62445" y="205739"/>
                </a:lnTo>
                <a:lnTo>
                  <a:pt x="62890" y="205739"/>
                </a:lnTo>
                <a:lnTo>
                  <a:pt x="67576" y="217170"/>
                </a:lnTo>
                <a:lnTo>
                  <a:pt x="72986" y="228600"/>
                </a:lnTo>
                <a:lnTo>
                  <a:pt x="78663" y="241300"/>
                </a:lnTo>
                <a:lnTo>
                  <a:pt x="84607" y="252729"/>
                </a:lnTo>
                <a:lnTo>
                  <a:pt x="90805" y="265429"/>
                </a:lnTo>
                <a:lnTo>
                  <a:pt x="91384" y="265429"/>
                </a:lnTo>
                <a:lnTo>
                  <a:pt x="97282" y="276860"/>
                </a:lnTo>
                <a:lnTo>
                  <a:pt x="104012" y="288289"/>
                </a:lnTo>
                <a:lnTo>
                  <a:pt x="110998" y="299720"/>
                </a:lnTo>
                <a:lnTo>
                  <a:pt x="118249" y="312420"/>
                </a:lnTo>
                <a:lnTo>
                  <a:pt x="125742" y="323850"/>
                </a:lnTo>
                <a:lnTo>
                  <a:pt x="133502" y="335279"/>
                </a:lnTo>
                <a:lnTo>
                  <a:pt x="141503" y="346710"/>
                </a:lnTo>
                <a:lnTo>
                  <a:pt x="149745" y="358139"/>
                </a:lnTo>
                <a:lnTo>
                  <a:pt x="158242" y="370839"/>
                </a:lnTo>
                <a:lnTo>
                  <a:pt x="159034" y="370839"/>
                </a:lnTo>
                <a:lnTo>
                  <a:pt x="166966" y="382270"/>
                </a:lnTo>
                <a:lnTo>
                  <a:pt x="175945" y="393700"/>
                </a:lnTo>
                <a:lnTo>
                  <a:pt x="185153" y="405129"/>
                </a:lnTo>
                <a:lnTo>
                  <a:pt x="194602" y="416560"/>
                </a:lnTo>
                <a:lnTo>
                  <a:pt x="204266" y="427989"/>
                </a:lnTo>
                <a:lnTo>
                  <a:pt x="205299" y="427989"/>
                </a:lnTo>
                <a:lnTo>
                  <a:pt x="214172" y="438150"/>
                </a:lnTo>
                <a:lnTo>
                  <a:pt x="224307" y="449579"/>
                </a:lnTo>
                <a:lnTo>
                  <a:pt x="234670" y="461010"/>
                </a:lnTo>
                <a:lnTo>
                  <a:pt x="245249" y="472439"/>
                </a:lnTo>
                <a:lnTo>
                  <a:pt x="256057" y="483870"/>
                </a:lnTo>
                <a:lnTo>
                  <a:pt x="257201" y="483870"/>
                </a:lnTo>
                <a:lnTo>
                  <a:pt x="267068" y="494029"/>
                </a:lnTo>
                <a:lnTo>
                  <a:pt x="278307" y="505460"/>
                </a:lnTo>
                <a:lnTo>
                  <a:pt x="289750" y="515620"/>
                </a:lnTo>
                <a:lnTo>
                  <a:pt x="301396" y="527050"/>
                </a:lnTo>
                <a:lnTo>
                  <a:pt x="313270" y="537210"/>
                </a:lnTo>
                <a:lnTo>
                  <a:pt x="325335" y="548639"/>
                </a:lnTo>
                <a:lnTo>
                  <a:pt x="337604" y="558800"/>
                </a:lnTo>
                <a:lnTo>
                  <a:pt x="350075" y="568960"/>
                </a:lnTo>
                <a:lnTo>
                  <a:pt x="362737" y="580389"/>
                </a:lnTo>
                <a:lnTo>
                  <a:pt x="375602" y="590550"/>
                </a:lnTo>
                <a:lnTo>
                  <a:pt x="388658" y="600710"/>
                </a:lnTo>
                <a:lnTo>
                  <a:pt x="401904" y="610870"/>
                </a:lnTo>
                <a:lnTo>
                  <a:pt x="415340" y="621029"/>
                </a:lnTo>
                <a:lnTo>
                  <a:pt x="428955" y="631189"/>
                </a:lnTo>
                <a:lnTo>
                  <a:pt x="442760" y="641350"/>
                </a:lnTo>
                <a:lnTo>
                  <a:pt x="456730" y="651510"/>
                </a:lnTo>
                <a:lnTo>
                  <a:pt x="470890" y="660400"/>
                </a:lnTo>
                <a:lnTo>
                  <a:pt x="485228" y="670560"/>
                </a:lnTo>
                <a:lnTo>
                  <a:pt x="499732" y="680720"/>
                </a:lnTo>
                <a:lnTo>
                  <a:pt x="514400" y="689610"/>
                </a:lnTo>
                <a:lnTo>
                  <a:pt x="529247" y="699770"/>
                </a:lnTo>
                <a:lnTo>
                  <a:pt x="544258" y="708660"/>
                </a:lnTo>
                <a:lnTo>
                  <a:pt x="559422" y="717550"/>
                </a:lnTo>
                <a:lnTo>
                  <a:pt x="574763" y="727710"/>
                </a:lnTo>
                <a:lnTo>
                  <a:pt x="590245" y="736600"/>
                </a:lnTo>
                <a:lnTo>
                  <a:pt x="605891" y="745489"/>
                </a:lnTo>
                <a:lnTo>
                  <a:pt x="621677" y="754379"/>
                </a:lnTo>
                <a:lnTo>
                  <a:pt x="637628" y="763270"/>
                </a:lnTo>
                <a:lnTo>
                  <a:pt x="653719" y="772160"/>
                </a:lnTo>
                <a:lnTo>
                  <a:pt x="669963" y="779779"/>
                </a:lnTo>
                <a:lnTo>
                  <a:pt x="686333" y="788670"/>
                </a:lnTo>
                <a:lnTo>
                  <a:pt x="702856" y="797560"/>
                </a:lnTo>
                <a:lnTo>
                  <a:pt x="719518" y="805179"/>
                </a:lnTo>
                <a:lnTo>
                  <a:pt x="736307" y="814069"/>
                </a:lnTo>
                <a:lnTo>
                  <a:pt x="753224" y="821689"/>
                </a:lnTo>
                <a:lnTo>
                  <a:pt x="770280" y="829310"/>
                </a:lnTo>
                <a:lnTo>
                  <a:pt x="787463" y="836930"/>
                </a:lnTo>
                <a:lnTo>
                  <a:pt x="804773" y="844550"/>
                </a:lnTo>
                <a:lnTo>
                  <a:pt x="822198" y="852169"/>
                </a:lnTo>
                <a:lnTo>
                  <a:pt x="839749" y="859789"/>
                </a:lnTo>
                <a:lnTo>
                  <a:pt x="857415" y="867410"/>
                </a:lnTo>
                <a:lnTo>
                  <a:pt x="875195" y="875030"/>
                </a:lnTo>
                <a:lnTo>
                  <a:pt x="893089" y="881380"/>
                </a:lnTo>
                <a:lnTo>
                  <a:pt x="911085" y="889000"/>
                </a:lnTo>
                <a:lnTo>
                  <a:pt x="929195" y="895350"/>
                </a:lnTo>
                <a:lnTo>
                  <a:pt x="947407" y="901700"/>
                </a:lnTo>
                <a:lnTo>
                  <a:pt x="965733" y="909319"/>
                </a:lnTo>
                <a:lnTo>
                  <a:pt x="984148" y="915669"/>
                </a:lnTo>
                <a:lnTo>
                  <a:pt x="1002652" y="922019"/>
                </a:lnTo>
                <a:lnTo>
                  <a:pt x="1021257" y="927100"/>
                </a:lnTo>
                <a:lnTo>
                  <a:pt x="1039964" y="933450"/>
                </a:lnTo>
                <a:lnTo>
                  <a:pt x="1058748" y="939800"/>
                </a:lnTo>
                <a:lnTo>
                  <a:pt x="1077633" y="944880"/>
                </a:lnTo>
                <a:lnTo>
                  <a:pt x="1096594" y="951230"/>
                </a:lnTo>
                <a:lnTo>
                  <a:pt x="1115631" y="956310"/>
                </a:lnTo>
                <a:lnTo>
                  <a:pt x="1134757" y="961389"/>
                </a:lnTo>
                <a:lnTo>
                  <a:pt x="1153960" y="966469"/>
                </a:lnTo>
                <a:lnTo>
                  <a:pt x="1173226" y="971550"/>
                </a:lnTo>
                <a:lnTo>
                  <a:pt x="1192580" y="976630"/>
                </a:lnTo>
                <a:lnTo>
                  <a:pt x="1211999" y="981710"/>
                </a:lnTo>
                <a:lnTo>
                  <a:pt x="1231480" y="986789"/>
                </a:lnTo>
                <a:lnTo>
                  <a:pt x="1251026" y="990600"/>
                </a:lnTo>
                <a:lnTo>
                  <a:pt x="1270635" y="994410"/>
                </a:lnTo>
                <a:lnTo>
                  <a:pt x="1290307" y="999489"/>
                </a:lnTo>
                <a:lnTo>
                  <a:pt x="1310030" y="1003300"/>
                </a:lnTo>
                <a:lnTo>
                  <a:pt x="1329804" y="1007110"/>
                </a:lnTo>
                <a:lnTo>
                  <a:pt x="1349641" y="1010919"/>
                </a:lnTo>
                <a:lnTo>
                  <a:pt x="1369529" y="1013460"/>
                </a:lnTo>
                <a:lnTo>
                  <a:pt x="1389456" y="1017269"/>
                </a:lnTo>
                <a:lnTo>
                  <a:pt x="1409433" y="1019810"/>
                </a:lnTo>
                <a:lnTo>
                  <a:pt x="1429435" y="1023619"/>
                </a:lnTo>
                <a:lnTo>
                  <a:pt x="1449501" y="1026160"/>
                </a:lnTo>
                <a:lnTo>
                  <a:pt x="1469593" y="1028700"/>
                </a:lnTo>
                <a:lnTo>
                  <a:pt x="1489710" y="1031239"/>
                </a:lnTo>
                <a:lnTo>
                  <a:pt x="1509877" y="1033780"/>
                </a:lnTo>
                <a:lnTo>
                  <a:pt x="1530057" y="1035050"/>
                </a:lnTo>
                <a:lnTo>
                  <a:pt x="1550276" y="1037589"/>
                </a:lnTo>
                <a:lnTo>
                  <a:pt x="1570507" y="1038860"/>
                </a:lnTo>
                <a:lnTo>
                  <a:pt x="1590776" y="1041400"/>
                </a:lnTo>
                <a:lnTo>
                  <a:pt x="1611045" y="1042669"/>
                </a:lnTo>
                <a:lnTo>
                  <a:pt x="1631353" y="1043939"/>
                </a:lnTo>
                <a:lnTo>
                  <a:pt x="1651571" y="1043939"/>
                </a:lnTo>
                <a:lnTo>
                  <a:pt x="1671980" y="1045210"/>
                </a:lnTo>
                <a:lnTo>
                  <a:pt x="1692313" y="1046480"/>
                </a:lnTo>
                <a:lnTo>
                  <a:pt x="1699155" y="1046480"/>
                </a:lnTo>
                <a:lnTo>
                  <a:pt x="1715437" y="1056004"/>
                </a:lnTo>
                <a:lnTo>
                  <a:pt x="1699064" y="1065530"/>
                </a:lnTo>
                <a:close/>
              </a:path>
              <a:path w="1753870" h="1109979">
                <a:moveTo>
                  <a:pt x="26800" y="85089"/>
                </a:moveTo>
                <a:lnTo>
                  <a:pt x="26606" y="85089"/>
                </a:lnTo>
                <a:lnTo>
                  <a:pt x="26568" y="83820"/>
                </a:lnTo>
                <a:lnTo>
                  <a:pt x="26800" y="85089"/>
                </a:lnTo>
                <a:close/>
              </a:path>
              <a:path w="1753870" h="1109979">
                <a:moveTo>
                  <a:pt x="31711" y="109220"/>
                </a:moveTo>
                <a:lnTo>
                  <a:pt x="31470" y="109220"/>
                </a:lnTo>
                <a:lnTo>
                  <a:pt x="31419" y="107950"/>
                </a:lnTo>
                <a:lnTo>
                  <a:pt x="31711" y="109220"/>
                </a:lnTo>
                <a:close/>
              </a:path>
              <a:path w="1753870" h="1109979">
                <a:moveTo>
                  <a:pt x="62890" y="205739"/>
                </a:moveTo>
                <a:lnTo>
                  <a:pt x="62445" y="205739"/>
                </a:lnTo>
                <a:lnTo>
                  <a:pt x="62369" y="204470"/>
                </a:lnTo>
                <a:lnTo>
                  <a:pt x="62890" y="205739"/>
                </a:lnTo>
                <a:close/>
              </a:path>
              <a:path w="1753870" h="1109979">
                <a:moveTo>
                  <a:pt x="91384" y="265429"/>
                </a:moveTo>
                <a:lnTo>
                  <a:pt x="90805" y="265429"/>
                </a:lnTo>
                <a:lnTo>
                  <a:pt x="90728" y="264160"/>
                </a:lnTo>
                <a:lnTo>
                  <a:pt x="91384" y="265429"/>
                </a:lnTo>
                <a:close/>
              </a:path>
              <a:path w="1753870" h="1109979">
                <a:moveTo>
                  <a:pt x="159034" y="370839"/>
                </a:moveTo>
                <a:lnTo>
                  <a:pt x="158242" y="370839"/>
                </a:lnTo>
                <a:lnTo>
                  <a:pt x="158153" y="369570"/>
                </a:lnTo>
                <a:lnTo>
                  <a:pt x="159034" y="370839"/>
                </a:lnTo>
                <a:close/>
              </a:path>
              <a:path w="1753870" h="1109979">
                <a:moveTo>
                  <a:pt x="205299" y="427989"/>
                </a:moveTo>
                <a:lnTo>
                  <a:pt x="204266" y="427989"/>
                </a:lnTo>
                <a:lnTo>
                  <a:pt x="204190" y="426720"/>
                </a:lnTo>
                <a:lnTo>
                  <a:pt x="205299" y="427989"/>
                </a:lnTo>
                <a:close/>
              </a:path>
              <a:path w="1753870" h="1109979">
                <a:moveTo>
                  <a:pt x="257201" y="483870"/>
                </a:moveTo>
                <a:lnTo>
                  <a:pt x="256057" y="483870"/>
                </a:lnTo>
                <a:lnTo>
                  <a:pt x="255968" y="482600"/>
                </a:lnTo>
                <a:lnTo>
                  <a:pt x="257201" y="483870"/>
                </a:lnTo>
                <a:close/>
              </a:path>
              <a:path w="1753870" h="1109979">
                <a:moveTo>
                  <a:pt x="1715437" y="1056004"/>
                </a:moveTo>
                <a:lnTo>
                  <a:pt x="1653565" y="1019810"/>
                </a:lnTo>
                <a:lnTo>
                  <a:pt x="1651736" y="1018539"/>
                </a:lnTo>
                <a:lnTo>
                  <a:pt x="1650301" y="1016000"/>
                </a:lnTo>
                <a:lnTo>
                  <a:pt x="1649336" y="1014730"/>
                </a:lnTo>
                <a:lnTo>
                  <a:pt x="1649120" y="1013460"/>
                </a:lnTo>
                <a:lnTo>
                  <a:pt x="1649018" y="1009650"/>
                </a:lnTo>
                <a:lnTo>
                  <a:pt x="1649679" y="1007110"/>
                </a:lnTo>
                <a:lnTo>
                  <a:pt x="1650847" y="1005839"/>
                </a:lnTo>
                <a:lnTo>
                  <a:pt x="1652447" y="1004569"/>
                </a:lnTo>
                <a:lnTo>
                  <a:pt x="1654403" y="1003300"/>
                </a:lnTo>
                <a:lnTo>
                  <a:pt x="1656588" y="1002030"/>
                </a:lnTo>
                <a:lnTo>
                  <a:pt x="1661134" y="1002030"/>
                </a:lnTo>
                <a:lnTo>
                  <a:pt x="1663242" y="1003300"/>
                </a:lnTo>
                <a:lnTo>
                  <a:pt x="1736145" y="1046480"/>
                </a:lnTo>
                <a:lnTo>
                  <a:pt x="1734439" y="1046480"/>
                </a:lnTo>
                <a:lnTo>
                  <a:pt x="1734433" y="1047750"/>
                </a:lnTo>
                <a:lnTo>
                  <a:pt x="1729625" y="1047750"/>
                </a:lnTo>
                <a:lnTo>
                  <a:pt x="1715437" y="1056004"/>
                </a:lnTo>
                <a:close/>
              </a:path>
              <a:path w="1753870" h="1109979">
                <a:moveTo>
                  <a:pt x="1737838" y="1065530"/>
                </a:moveTo>
                <a:lnTo>
                  <a:pt x="1734350" y="1065530"/>
                </a:lnTo>
                <a:lnTo>
                  <a:pt x="1734439" y="1046480"/>
                </a:lnTo>
                <a:lnTo>
                  <a:pt x="1736145" y="1046480"/>
                </a:lnTo>
                <a:lnTo>
                  <a:pt x="1753298" y="1056639"/>
                </a:lnTo>
                <a:lnTo>
                  <a:pt x="1737838" y="1065530"/>
                </a:lnTo>
                <a:close/>
              </a:path>
              <a:path w="1753870" h="1109979">
                <a:moveTo>
                  <a:pt x="1729549" y="1064260"/>
                </a:moveTo>
                <a:lnTo>
                  <a:pt x="1715437" y="1056004"/>
                </a:lnTo>
                <a:lnTo>
                  <a:pt x="1729625" y="1047750"/>
                </a:lnTo>
                <a:lnTo>
                  <a:pt x="1729549" y="1064260"/>
                </a:lnTo>
                <a:close/>
              </a:path>
              <a:path w="1753870" h="1109979">
                <a:moveTo>
                  <a:pt x="1734356" y="1064260"/>
                </a:moveTo>
                <a:lnTo>
                  <a:pt x="1729549" y="1064260"/>
                </a:lnTo>
                <a:lnTo>
                  <a:pt x="1729625" y="1047750"/>
                </a:lnTo>
                <a:lnTo>
                  <a:pt x="1734433" y="1047750"/>
                </a:lnTo>
                <a:lnTo>
                  <a:pt x="1734356" y="1064260"/>
                </a:lnTo>
                <a:close/>
              </a:path>
              <a:path w="1753870" h="1109979">
                <a:moveTo>
                  <a:pt x="1660626" y="1109980"/>
                </a:moveTo>
                <a:lnTo>
                  <a:pt x="1656080" y="1109980"/>
                </a:lnTo>
                <a:lnTo>
                  <a:pt x="1653895" y="1108710"/>
                </a:lnTo>
                <a:lnTo>
                  <a:pt x="1651952" y="1107439"/>
                </a:lnTo>
                <a:lnTo>
                  <a:pt x="1650364" y="1106169"/>
                </a:lnTo>
                <a:lnTo>
                  <a:pt x="1649222" y="1103630"/>
                </a:lnTo>
                <a:lnTo>
                  <a:pt x="1648587" y="1102360"/>
                </a:lnTo>
                <a:lnTo>
                  <a:pt x="1648485" y="1099819"/>
                </a:lnTo>
                <a:lnTo>
                  <a:pt x="1648955" y="1097280"/>
                </a:lnTo>
                <a:lnTo>
                  <a:pt x="1649933" y="1096010"/>
                </a:lnTo>
                <a:lnTo>
                  <a:pt x="1651381" y="1093469"/>
                </a:lnTo>
                <a:lnTo>
                  <a:pt x="1653222" y="1092200"/>
                </a:lnTo>
                <a:lnTo>
                  <a:pt x="1715437" y="1056004"/>
                </a:lnTo>
                <a:lnTo>
                  <a:pt x="1729549" y="1064260"/>
                </a:lnTo>
                <a:lnTo>
                  <a:pt x="1734356" y="1064260"/>
                </a:lnTo>
                <a:lnTo>
                  <a:pt x="1734350" y="1065530"/>
                </a:lnTo>
                <a:lnTo>
                  <a:pt x="1737838" y="1065530"/>
                </a:lnTo>
                <a:lnTo>
                  <a:pt x="1662747" y="1108710"/>
                </a:lnTo>
                <a:lnTo>
                  <a:pt x="1660626" y="1109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93469" y="2969501"/>
            <a:ext cx="2246630" cy="1333500"/>
          </a:xfrm>
          <a:custGeom>
            <a:avLst/>
            <a:gdLst/>
            <a:ahLst/>
            <a:cxnLst/>
            <a:rect l="l" t="t" r="r" b="b"/>
            <a:pathLst>
              <a:path w="2246629" h="1333500">
                <a:moveTo>
                  <a:pt x="2194308" y="26799"/>
                </a:moveTo>
                <a:lnTo>
                  <a:pt x="2186757" y="13454"/>
                </a:lnTo>
                <a:lnTo>
                  <a:pt x="2194966" y="0"/>
                </a:lnTo>
                <a:lnTo>
                  <a:pt x="2202515" y="13135"/>
                </a:lnTo>
                <a:lnTo>
                  <a:pt x="2194308" y="26799"/>
                </a:lnTo>
                <a:close/>
              </a:path>
              <a:path w="2246629" h="1333500">
                <a:moveTo>
                  <a:pt x="2184975" y="16375"/>
                </a:moveTo>
                <a:lnTo>
                  <a:pt x="2185111" y="12700"/>
                </a:lnTo>
                <a:lnTo>
                  <a:pt x="2186330" y="12700"/>
                </a:lnTo>
                <a:lnTo>
                  <a:pt x="2186757" y="13454"/>
                </a:lnTo>
                <a:lnTo>
                  <a:pt x="2184975" y="16375"/>
                </a:lnTo>
                <a:close/>
              </a:path>
              <a:path w="2246629" h="1333500">
                <a:moveTo>
                  <a:pt x="2186757" y="13454"/>
                </a:moveTo>
                <a:lnTo>
                  <a:pt x="2186330" y="12700"/>
                </a:lnTo>
                <a:lnTo>
                  <a:pt x="2187217" y="12700"/>
                </a:lnTo>
                <a:lnTo>
                  <a:pt x="2186757" y="13454"/>
                </a:lnTo>
                <a:close/>
              </a:path>
              <a:path w="2246629" h="1333500">
                <a:moveTo>
                  <a:pt x="2202515" y="13135"/>
                </a:moveTo>
                <a:lnTo>
                  <a:pt x="2202265" y="12700"/>
                </a:lnTo>
                <a:lnTo>
                  <a:pt x="2202776" y="12700"/>
                </a:lnTo>
                <a:lnTo>
                  <a:pt x="2202515" y="13135"/>
                </a:lnTo>
                <a:close/>
              </a:path>
              <a:path w="2246629" h="1333500">
                <a:moveTo>
                  <a:pt x="2204034" y="15778"/>
                </a:moveTo>
                <a:lnTo>
                  <a:pt x="2202515" y="13135"/>
                </a:lnTo>
                <a:lnTo>
                  <a:pt x="2202776" y="12700"/>
                </a:lnTo>
                <a:lnTo>
                  <a:pt x="2204148" y="12700"/>
                </a:lnTo>
                <a:lnTo>
                  <a:pt x="2204034" y="15778"/>
                </a:lnTo>
                <a:close/>
              </a:path>
              <a:path w="2246629" h="1333500">
                <a:moveTo>
                  <a:pt x="2202343" y="41000"/>
                </a:moveTo>
                <a:lnTo>
                  <a:pt x="2194308" y="26799"/>
                </a:lnTo>
                <a:lnTo>
                  <a:pt x="2202515" y="13135"/>
                </a:lnTo>
                <a:lnTo>
                  <a:pt x="2204034" y="15778"/>
                </a:lnTo>
                <a:lnTo>
                  <a:pt x="2203678" y="25400"/>
                </a:lnTo>
                <a:lnTo>
                  <a:pt x="2202662" y="38100"/>
                </a:lnTo>
                <a:lnTo>
                  <a:pt x="2202343" y="41000"/>
                </a:lnTo>
                <a:close/>
              </a:path>
              <a:path w="2246629" h="1333500">
                <a:moveTo>
                  <a:pt x="2182823" y="45918"/>
                </a:moveTo>
                <a:lnTo>
                  <a:pt x="2183676" y="38100"/>
                </a:lnTo>
                <a:lnTo>
                  <a:pt x="2184654" y="25400"/>
                </a:lnTo>
                <a:lnTo>
                  <a:pt x="2184975" y="16375"/>
                </a:lnTo>
                <a:lnTo>
                  <a:pt x="2186757" y="13454"/>
                </a:lnTo>
                <a:lnTo>
                  <a:pt x="2194308" y="26799"/>
                </a:lnTo>
                <a:lnTo>
                  <a:pt x="2182823" y="45918"/>
                </a:lnTo>
                <a:close/>
              </a:path>
              <a:path w="2246629" h="1333500">
                <a:moveTo>
                  <a:pt x="2245055" y="101600"/>
                </a:moveTo>
                <a:lnTo>
                  <a:pt x="2230793" y="101600"/>
                </a:lnTo>
                <a:lnTo>
                  <a:pt x="2229446" y="88900"/>
                </a:lnTo>
                <a:lnTo>
                  <a:pt x="2202343" y="41000"/>
                </a:lnTo>
                <a:lnTo>
                  <a:pt x="2202662" y="38100"/>
                </a:lnTo>
                <a:lnTo>
                  <a:pt x="2203678" y="25400"/>
                </a:lnTo>
                <a:lnTo>
                  <a:pt x="2204034" y="15778"/>
                </a:lnTo>
                <a:lnTo>
                  <a:pt x="2246058" y="88900"/>
                </a:lnTo>
                <a:lnTo>
                  <a:pt x="2246299" y="88900"/>
                </a:lnTo>
                <a:lnTo>
                  <a:pt x="2245055" y="101600"/>
                </a:lnTo>
                <a:close/>
              </a:path>
              <a:path w="2246629" h="1333500">
                <a:moveTo>
                  <a:pt x="2157006" y="88900"/>
                </a:moveTo>
                <a:lnTo>
                  <a:pt x="2140724" y="88900"/>
                </a:lnTo>
                <a:lnTo>
                  <a:pt x="2184975" y="16375"/>
                </a:lnTo>
                <a:lnTo>
                  <a:pt x="2184641" y="25400"/>
                </a:lnTo>
                <a:lnTo>
                  <a:pt x="2183663" y="38100"/>
                </a:lnTo>
                <a:lnTo>
                  <a:pt x="2182823" y="45918"/>
                </a:lnTo>
                <a:lnTo>
                  <a:pt x="2157006" y="88900"/>
                </a:lnTo>
                <a:close/>
              </a:path>
              <a:path w="2246629" h="1333500">
                <a:moveTo>
                  <a:pt x="1414703" y="977900"/>
                </a:moveTo>
                <a:lnTo>
                  <a:pt x="1364818" y="977900"/>
                </a:lnTo>
                <a:lnTo>
                  <a:pt x="1385354" y="965200"/>
                </a:lnTo>
                <a:lnTo>
                  <a:pt x="1405623" y="952500"/>
                </a:lnTo>
                <a:lnTo>
                  <a:pt x="1425714" y="939800"/>
                </a:lnTo>
                <a:lnTo>
                  <a:pt x="1445615" y="927100"/>
                </a:lnTo>
                <a:lnTo>
                  <a:pt x="1465249" y="927100"/>
                </a:lnTo>
                <a:lnTo>
                  <a:pt x="1484845" y="914400"/>
                </a:lnTo>
                <a:lnTo>
                  <a:pt x="1504162" y="901700"/>
                </a:lnTo>
                <a:lnTo>
                  <a:pt x="1523276" y="889000"/>
                </a:lnTo>
                <a:lnTo>
                  <a:pt x="1542186" y="876300"/>
                </a:lnTo>
                <a:lnTo>
                  <a:pt x="1560893" y="863600"/>
                </a:lnTo>
                <a:lnTo>
                  <a:pt x="1579384" y="850900"/>
                </a:lnTo>
                <a:lnTo>
                  <a:pt x="1597659" y="838200"/>
                </a:lnTo>
                <a:lnTo>
                  <a:pt x="1615719" y="825500"/>
                </a:lnTo>
                <a:lnTo>
                  <a:pt x="1633562" y="812800"/>
                </a:lnTo>
                <a:lnTo>
                  <a:pt x="1651177" y="800100"/>
                </a:lnTo>
                <a:lnTo>
                  <a:pt x="1668576" y="787400"/>
                </a:lnTo>
                <a:lnTo>
                  <a:pt x="1685734" y="774700"/>
                </a:lnTo>
                <a:lnTo>
                  <a:pt x="1702663" y="762000"/>
                </a:lnTo>
                <a:lnTo>
                  <a:pt x="1719351" y="749300"/>
                </a:lnTo>
                <a:lnTo>
                  <a:pt x="1735810" y="736600"/>
                </a:lnTo>
                <a:lnTo>
                  <a:pt x="1752028" y="723900"/>
                </a:lnTo>
                <a:lnTo>
                  <a:pt x="1767992" y="711200"/>
                </a:lnTo>
                <a:lnTo>
                  <a:pt x="1783702" y="698500"/>
                </a:lnTo>
                <a:lnTo>
                  <a:pt x="1799170" y="685800"/>
                </a:lnTo>
                <a:lnTo>
                  <a:pt x="1814385" y="673100"/>
                </a:lnTo>
                <a:lnTo>
                  <a:pt x="1829333" y="660400"/>
                </a:lnTo>
                <a:lnTo>
                  <a:pt x="1844027" y="647700"/>
                </a:lnTo>
                <a:lnTo>
                  <a:pt x="1858454" y="635000"/>
                </a:lnTo>
                <a:lnTo>
                  <a:pt x="1872614" y="622300"/>
                </a:lnTo>
                <a:lnTo>
                  <a:pt x="1886508" y="596900"/>
                </a:lnTo>
                <a:lnTo>
                  <a:pt x="1900123" y="584200"/>
                </a:lnTo>
                <a:lnTo>
                  <a:pt x="1913470" y="571500"/>
                </a:lnTo>
                <a:lnTo>
                  <a:pt x="1926526" y="558800"/>
                </a:lnTo>
                <a:lnTo>
                  <a:pt x="1939302" y="546100"/>
                </a:lnTo>
                <a:lnTo>
                  <a:pt x="1951799" y="533400"/>
                </a:lnTo>
                <a:lnTo>
                  <a:pt x="1964004" y="520700"/>
                </a:lnTo>
                <a:lnTo>
                  <a:pt x="1975904" y="508000"/>
                </a:lnTo>
                <a:lnTo>
                  <a:pt x="1987524" y="495300"/>
                </a:lnTo>
                <a:lnTo>
                  <a:pt x="1998840" y="469900"/>
                </a:lnTo>
                <a:lnTo>
                  <a:pt x="2009851" y="457200"/>
                </a:lnTo>
                <a:lnTo>
                  <a:pt x="2020569" y="444500"/>
                </a:lnTo>
                <a:lnTo>
                  <a:pt x="2030971" y="431800"/>
                </a:lnTo>
                <a:lnTo>
                  <a:pt x="2041055" y="419100"/>
                </a:lnTo>
                <a:lnTo>
                  <a:pt x="2050834" y="406400"/>
                </a:lnTo>
                <a:lnTo>
                  <a:pt x="2060295" y="393700"/>
                </a:lnTo>
                <a:lnTo>
                  <a:pt x="2069439" y="368300"/>
                </a:lnTo>
                <a:lnTo>
                  <a:pt x="2078266" y="355600"/>
                </a:lnTo>
                <a:lnTo>
                  <a:pt x="2086749" y="342900"/>
                </a:lnTo>
                <a:lnTo>
                  <a:pt x="2094915" y="330200"/>
                </a:lnTo>
                <a:lnTo>
                  <a:pt x="2102751" y="317500"/>
                </a:lnTo>
                <a:lnTo>
                  <a:pt x="2110244" y="292100"/>
                </a:lnTo>
                <a:lnTo>
                  <a:pt x="2117407" y="279400"/>
                </a:lnTo>
                <a:lnTo>
                  <a:pt x="2124227" y="266700"/>
                </a:lnTo>
                <a:lnTo>
                  <a:pt x="2130704" y="254000"/>
                </a:lnTo>
                <a:lnTo>
                  <a:pt x="2136838" y="241300"/>
                </a:lnTo>
                <a:lnTo>
                  <a:pt x="2142616" y="228600"/>
                </a:lnTo>
                <a:lnTo>
                  <a:pt x="2148039" y="203200"/>
                </a:lnTo>
                <a:lnTo>
                  <a:pt x="2153119" y="190500"/>
                </a:lnTo>
                <a:lnTo>
                  <a:pt x="2157831" y="177800"/>
                </a:lnTo>
                <a:lnTo>
                  <a:pt x="2162187" y="165100"/>
                </a:lnTo>
                <a:lnTo>
                  <a:pt x="2166175" y="152400"/>
                </a:lnTo>
                <a:lnTo>
                  <a:pt x="2169807" y="127000"/>
                </a:lnTo>
                <a:lnTo>
                  <a:pt x="2173058" y="114300"/>
                </a:lnTo>
                <a:lnTo>
                  <a:pt x="2175941" y="101600"/>
                </a:lnTo>
                <a:lnTo>
                  <a:pt x="2178443" y="88900"/>
                </a:lnTo>
                <a:lnTo>
                  <a:pt x="2180577" y="76200"/>
                </a:lnTo>
                <a:lnTo>
                  <a:pt x="2182317" y="50800"/>
                </a:lnTo>
                <a:lnTo>
                  <a:pt x="2182823" y="45918"/>
                </a:lnTo>
                <a:lnTo>
                  <a:pt x="2194308" y="26799"/>
                </a:lnTo>
                <a:lnTo>
                  <a:pt x="2202343" y="41000"/>
                </a:lnTo>
                <a:lnTo>
                  <a:pt x="2201265" y="50800"/>
                </a:lnTo>
                <a:lnTo>
                  <a:pt x="2199449" y="76200"/>
                </a:lnTo>
                <a:lnTo>
                  <a:pt x="2197265" y="88900"/>
                </a:lnTo>
                <a:lnTo>
                  <a:pt x="2194674" y="101600"/>
                </a:lnTo>
                <a:lnTo>
                  <a:pt x="2191715" y="114300"/>
                </a:lnTo>
                <a:lnTo>
                  <a:pt x="2188362" y="139700"/>
                </a:lnTo>
                <a:lnTo>
                  <a:pt x="2184628" y="152400"/>
                </a:lnTo>
                <a:lnTo>
                  <a:pt x="2180526" y="165100"/>
                </a:lnTo>
                <a:lnTo>
                  <a:pt x="2176056" y="177800"/>
                </a:lnTo>
                <a:lnTo>
                  <a:pt x="2171217" y="203200"/>
                </a:lnTo>
                <a:lnTo>
                  <a:pt x="2166010" y="215900"/>
                </a:lnTo>
                <a:lnTo>
                  <a:pt x="2160447" y="228600"/>
                </a:lnTo>
                <a:lnTo>
                  <a:pt x="2154529" y="241300"/>
                </a:lnTo>
                <a:lnTo>
                  <a:pt x="2148255" y="254000"/>
                </a:lnTo>
                <a:lnTo>
                  <a:pt x="2141626" y="279400"/>
                </a:lnTo>
                <a:lnTo>
                  <a:pt x="2134654" y="292100"/>
                </a:lnTo>
                <a:lnTo>
                  <a:pt x="2127326" y="304800"/>
                </a:lnTo>
                <a:lnTo>
                  <a:pt x="2119668" y="317500"/>
                </a:lnTo>
                <a:lnTo>
                  <a:pt x="2111679" y="342900"/>
                </a:lnTo>
                <a:lnTo>
                  <a:pt x="2085695" y="381000"/>
                </a:lnTo>
                <a:lnTo>
                  <a:pt x="2066747" y="406400"/>
                </a:lnTo>
                <a:lnTo>
                  <a:pt x="2056790" y="431800"/>
                </a:lnTo>
                <a:lnTo>
                  <a:pt x="2025065" y="469900"/>
                </a:lnTo>
                <a:lnTo>
                  <a:pt x="2002383" y="495300"/>
                </a:lnTo>
                <a:lnTo>
                  <a:pt x="1990598" y="520700"/>
                </a:lnTo>
                <a:lnTo>
                  <a:pt x="1953475" y="558800"/>
                </a:lnTo>
                <a:lnTo>
                  <a:pt x="1913788" y="596900"/>
                </a:lnTo>
                <a:lnTo>
                  <a:pt x="1899996" y="622300"/>
                </a:lnTo>
                <a:lnTo>
                  <a:pt x="1857019" y="660400"/>
                </a:lnTo>
                <a:lnTo>
                  <a:pt x="1827034" y="685800"/>
                </a:lnTo>
                <a:lnTo>
                  <a:pt x="1796033" y="711200"/>
                </a:lnTo>
                <a:lnTo>
                  <a:pt x="1764017" y="736600"/>
                </a:lnTo>
                <a:lnTo>
                  <a:pt x="1731035" y="762000"/>
                </a:lnTo>
                <a:lnTo>
                  <a:pt x="1679778" y="800100"/>
                </a:lnTo>
                <a:lnTo>
                  <a:pt x="1644446" y="825500"/>
                </a:lnTo>
                <a:lnTo>
                  <a:pt x="1608239" y="850900"/>
                </a:lnTo>
                <a:lnTo>
                  <a:pt x="1571167" y="876300"/>
                </a:lnTo>
                <a:lnTo>
                  <a:pt x="1533245" y="901700"/>
                </a:lnTo>
                <a:lnTo>
                  <a:pt x="1474851" y="939800"/>
                </a:lnTo>
                <a:lnTo>
                  <a:pt x="1414703" y="977900"/>
                </a:lnTo>
                <a:close/>
              </a:path>
              <a:path w="2246629" h="1333500">
                <a:moveTo>
                  <a:pt x="2153780" y="101600"/>
                </a:moveTo>
                <a:lnTo>
                  <a:pt x="2142972" y="101600"/>
                </a:lnTo>
                <a:lnTo>
                  <a:pt x="2141359" y="88900"/>
                </a:lnTo>
                <a:lnTo>
                  <a:pt x="2155583" y="88900"/>
                </a:lnTo>
                <a:lnTo>
                  <a:pt x="2153780" y="101600"/>
                </a:lnTo>
                <a:close/>
              </a:path>
              <a:path w="2246629" h="1333500">
                <a:moveTo>
                  <a:pt x="1289507" y="1041400"/>
                </a:moveTo>
                <a:lnTo>
                  <a:pt x="1238427" y="1041400"/>
                </a:lnTo>
                <a:lnTo>
                  <a:pt x="1259979" y="1028700"/>
                </a:lnTo>
                <a:lnTo>
                  <a:pt x="1281302" y="1016000"/>
                </a:lnTo>
                <a:lnTo>
                  <a:pt x="1302461" y="1003300"/>
                </a:lnTo>
                <a:lnTo>
                  <a:pt x="1323378" y="1003300"/>
                </a:lnTo>
                <a:lnTo>
                  <a:pt x="1344256" y="990600"/>
                </a:lnTo>
                <a:lnTo>
                  <a:pt x="1364894" y="977900"/>
                </a:lnTo>
                <a:lnTo>
                  <a:pt x="1394282" y="977900"/>
                </a:lnTo>
                <a:lnTo>
                  <a:pt x="1331937" y="1016000"/>
                </a:lnTo>
                <a:lnTo>
                  <a:pt x="1289507" y="1041400"/>
                </a:lnTo>
                <a:close/>
              </a:path>
              <a:path w="2246629" h="1333500">
                <a:moveTo>
                  <a:pt x="1202664" y="1079500"/>
                </a:moveTo>
                <a:lnTo>
                  <a:pt x="1150912" y="1079500"/>
                </a:lnTo>
                <a:lnTo>
                  <a:pt x="1173099" y="1066800"/>
                </a:lnTo>
                <a:lnTo>
                  <a:pt x="1195057" y="1054100"/>
                </a:lnTo>
                <a:lnTo>
                  <a:pt x="1216786" y="1054100"/>
                </a:lnTo>
                <a:lnTo>
                  <a:pt x="1238503" y="1041400"/>
                </a:lnTo>
                <a:lnTo>
                  <a:pt x="1268044" y="1041400"/>
                </a:lnTo>
                <a:lnTo>
                  <a:pt x="1202664" y="1079500"/>
                </a:lnTo>
                <a:close/>
              </a:path>
              <a:path w="2246629" h="1333500">
                <a:moveTo>
                  <a:pt x="1113370" y="1117600"/>
                </a:moveTo>
                <a:lnTo>
                  <a:pt x="1061046" y="1117600"/>
                </a:lnTo>
                <a:lnTo>
                  <a:pt x="1083792" y="1104900"/>
                </a:lnTo>
                <a:lnTo>
                  <a:pt x="1106335" y="1092200"/>
                </a:lnTo>
                <a:lnTo>
                  <a:pt x="1128661" y="1092200"/>
                </a:lnTo>
                <a:lnTo>
                  <a:pt x="1150988" y="1079500"/>
                </a:lnTo>
                <a:lnTo>
                  <a:pt x="1180566" y="1079500"/>
                </a:lnTo>
                <a:lnTo>
                  <a:pt x="1113370" y="1117600"/>
                </a:lnTo>
                <a:close/>
              </a:path>
              <a:path w="2246629" h="1333500">
                <a:moveTo>
                  <a:pt x="1044905" y="1143000"/>
                </a:moveTo>
                <a:lnTo>
                  <a:pt x="992212" y="1143000"/>
                </a:lnTo>
                <a:lnTo>
                  <a:pt x="1015364" y="1130300"/>
                </a:lnTo>
                <a:lnTo>
                  <a:pt x="1038301" y="1117600"/>
                </a:lnTo>
                <a:lnTo>
                  <a:pt x="1090688" y="1117600"/>
                </a:lnTo>
                <a:lnTo>
                  <a:pt x="1044905" y="1143000"/>
                </a:lnTo>
                <a:close/>
              </a:path>
              <a:path w="2246629" h="1333500">
                <a:moveTo>
                  <a:pt x="975258" y="1168400"/>
                </a:moveTo>
                <a:lnTo>
                  <a:pt x="898690" y="1168400"/>
                </a:lnTo>
                <a:lnTo>
                  <a:pt x="922324" y="1155700"/>
                </a:lnTo>
                <a:lnTo>
                  <a:pt x="945692" y="1155700"/>
                </a:lnTo>
                <a:lnTo>
                  <a:pt x="969086" y="1143000"/>
                </a:lnTo>
                <a:lnTo>
                  <a:pt x="1021816" y="1143000"/>
                </a:lnTo>
                <a:lnTo>
                  <a:pt x="975258" y="1168400"/>
                </a:lnTo>
                <a:close/>
              </a:path>
              <a:path w="2246629" h="1333500">
                <a:moveTo>
                  <a:pt x="904493" y="1193800"/>
                </a:moveTo>
                <a:lnTo>
                  <a:pt x="827354" y="1193800"/>
                </a:lnTo>
                <a:lnTo>
                  <a:pt x="851319" y="1181100"/>
                </a:lnTo>
                <a:lnTo>
                  <a:pt x="875029" y="1181100"/>
                </a:lnTo>
                <a:lnTo>
                  <a:pt x="898766" y="1168400"/>
                </a:lnTo>
                <a:lnTo>
                  <a:pt x="951788" y="1168400"/>
                </a:lnTo>
                <a:lnTo>
                  <a:pt x="904493" y="1193800"/>
                </a:lnTo>
                <a:close/>
              </a:path>
              <a:path w="2246629" h="1333500">
                <a:moveTo>
                  <a:pt x="856754" y="1206500"/>
                </a:moveTo>
                <a:lnTo>
                  <a:pt x="779284" y="1206500"/>
                </a:lnTo>
                <a:lnTo>
                  <a:pt x="803440" y="1193800"/>
                </a:lnTo>
                <a:lnTo>
                  <a:pt x="880681" y="1193800"/>
                </a:lnTo>
                <a:lnTo>
                  <a:pt x="856754" y="1206500"/>
                </a:lnTo>
                <a:close/>
              </a:path>
              <a:path w="2246629" h="1333500">
                <a:moveTo>
                  <a:pt x="808583" y="1219200"/>
                </a:moveTo>
                <a:lnTo>
                  <a:pt x="730808" y="1219200"/>
                </a:lnTo>
                <a:lnTo>
                  <a:pt x="755167" y="1206500"/>
                </a:lnTo>
                <a:lnTo>
                  <a:pt x="832713" y="1206500"/>
                </a:lnTo>
                <a:lnTo>
                  <a:pt x="808583" y="1219200"/>
                </a:lnTo>
                <a:close/>
              </a:path>
              <a:path w="2246629" h="1333500">
                <a:moveTo>
                  <a:pt x="760006" y="1231900"/>
                </a:moveTo>
                <a:lnTo>
                  <a:pt x="681977" y="1231900"/>
                </a:lnTo>
                <a:lnTo>
                  <a:pt x="706513" y="1219200"/>
                </a:lnTo>
                <a:lnTo>
                  <a:pt x="784339" y="1219200"/>
                </a:lnTo>
                <a:lnTo>
                  <a:pt x="760006" y="1231900"/>
                </a:lnTo>
                <a:close/>
              </a:path>
              <a:path w="2246629" h="1333500">
                <a:moveTo>
                  <a:pt x="711060" y="1244600"/>
                </a:moveTo>
                <a:lnTo>
                  <a:pt x="632815" y="1244600"/>
                </a:lnTo>
                <a:lnTo>
                  <a:pt x="657517" y="1231900"/>
                </a:lnTo>
                <a:lnTo>
                  <a:pt x="735571" y="1231900"/>
                </a:lnTo>
                <a:lnTo>
                  <a:pt x="711060" y="1244600"/>
                </a:lnTo>
                <a:close/>
              </a:path>
              <a:path w="2246629" h="1333500">
                <a:moveTo>
                  <a:pt x="661746" y="1257300"/>
                </a:moveTo>
                <a:lnTo>
                  <a:pt x="583336" y="1257300"/>
                </a:lnTo>
                <a:lnTo>
                  <a:pt x="608190" y="1244600"/>
                </a:lnTo>
                <a:lnTo>
                  <a:pt x="686447" y="1244600"/>
                </a:lnTo>
                <a:lnTo>
                  <a:pt x="661746" y="1257300"/>
                </a:lnTo>
                <a:close/>
              </a:path>
              <a:path w="2246629" h="1333500">
                <a:moveTo>
                  <a:pt x="612114" y="1270000"/>
                </a:moveTo>
                <a:lnTo>
                  <a:pt x="508584" y="1270000"/>
                </a:lnTo>
                <a:lnTo>
                  <a:pt x="533641" y="1257300"/>
                </a:lnTo>
                <a:lnTo>
                  <a:pt x="636968" y="1257300"/>
                </a:lnTo>
                <a:lnTo>
                  <a:pt x="612114" y="1270000"/>
                </a:lnTo>
                <a:close/>
              </a:path>
              <a:path w="2246629" h="1333500">
                <a:moveTo>
                  <a:pt x="537108" y="1282700"/>
                </a:moveTo>
                <a:lnTo>
                  <a:pt x="433273" y="1282700"/>
                </a:lnTo>
                <a:lnTo>
                  <a:pt x="458508" y="1270000"/>
                </a:lnTo>
                <a:lnTo>
                  <a:pt x="562178" y="1270000"/>
                </a:lnTo>
                <a:lnTo>
                  <a:pt x="537108" y="1282700"/>
                </a:lnTo>
                <a:close/>
              </a:path>
              <a:path w="2246629" h="1333500">
                <a:moveTo>
                  <a:pt x="461505" y="1295400"/>
                </a:moveTo>
                <a:lnTo>
                  <a:pt x="332130" y="1295400"/>
                </a:lnTo>
                <a:lnTo>
                  <a:pt x="357555" y="1282700"/>
                </a:lnTo>
                <a:lnTo>
                  <a:pt x="486765" y="1282700"/>
                </a:lnTo>
                <a:lnTo>
                  <a:pt x="461505" y="1295400"/>
                </a:lnTo>
                <a:close/>
              </a:path>
              <a:path w="2246629" h="1333500">
                <a:moveTo>
                  <a:pt x="385381" y="1308100"/>
                </a:moveTo>
                <a:lnTo>
                  <a:pt x="230339" y="1308100"/>
                </a:lnTo>
                <a:lnTo>
                  <a:pt x="255917" y="1295400"/>
                </a:lnTo>
                <a:lnTo>
                  <a:pt x="410806" y="1295400"/>
                </a:lnTo>
                <a:lnTo>
                  <a:pt x="385381" y="1308100"/>
                </a:lnTo>
                <a:close/>
              </a:path>
              <a:path w="2246629" h="1333500">
                <a:moveTo>
                  <a:pt x="129031" y="1333500"/>
                </a:moveTo>
                <a:lnTo>
                  <a:pt x="88" y="1333500"/>
                </a:lnTo>
                <a:lnTo>
                  <a:pt x="0" y="1308100"/>
                </a:lnTo>
                <a:lnTo>
                  <a:pt x="308838" y="1308100"/>
                </a:lnTo>
                <a:lnTo>
                  <a:pt x="283235" y="1320800"/>
                </a:lnTo>
                <a:lnTo>
                  <a:pt x="154787" y="1320800"/>
                </a:lnTo>
                <a:lnTo>
                  <a:pt x="129031" y="133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869514" y="5089309"/>
            <a:ext cx="1802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经典解释</a:t>
            </a:r>
            <a:r>
              <a:rPr dirty="0" sz="2800" spc="-5">
                <a:solidFill>
                  <a:srgbClr val="00AFEF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4221" y="4550181"/>
            <a:ext cx="1447165" cy="1321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 marR="5080" indent="-12065">
              <a:lnSpc>
                <a:spcPct val="151800"/>
              </a:lnSpc>
              <a:spcBef>
                <a:spcPts val="100"/>
              </a:spcBef>
            </a:pPr>
            <a:r>
              <a:rPr dirty="0" sz="2800">
                <a:latin typeface="华文楷体"/>
                <a:cs typeface="华文楷体"/>
              </a:rPr>
              <a:t>截止频</a:t>
            </a:r>
            <a:r>
              <a:rPr dirty="0" sz="2800" spc="-5">
                <a:latin typeface="华文楷体"/>
                <a:cs typeface="华文楷体"/>
              </a:rPr>
              <a:t>率 </a:t>
            </a:r>
            <a:r>
              <a:rPr dirty="0" sz="2800">
                <a:latin typeface="华文楷体"/>
                <a:cs typeface="华文楷体"/>
              </a:rPr>
              <a:t>瞬时</a:t>
            </a:r>
            <a:r>
              <a:rPr dirty="0" sz="2800" spc="-5">
                <a:latin typeface="华文楷体"/>
                <a:cs typeface="华文楷体"/>
              </a:rPr>
              <a:t>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85178" y="5034318"/>
            <a:ext cx="810260" cy="332105"/>
          </a:xfrm>
          <a:custGeom>
            <a:avLst/>
            <a:gdLst/>
            <a:ahLst/>
            <a:cxnLst/>
            <a:rect l="l" t="t" r="r" b="b"/>
            <a:pathLst>
              <a:path w="810259" h="332104">
                <a:moveTo>
                  <a:pt x="735207" y="26611"/>
                </a:moveTo>
                <a:lnTo>
                  <a:pt x="724801" y="0"/>
                </a:lnTo>
                <a:lnTo>
                  <a:pt x="809637" y="7721"/>
                </a:lnTo>
                <a:lnTo>
                  <a:pt x="798850" y="19672"/>
                </a:lnTo>
                <a:lnTo>
                  <a:pt x="752944" y="19672"/>
                </a:lnTo>
                <a:lnTo>
                  <a:pt x="735207" y="26611"/>
                </a:lnTo>
                <a:close/>
              </a:path>
              <a:path w="810259" h="332104">
                <a:moveTo>
                  <a:pt x="742145" y="44356"/>
                </a:moveTo>
                <a:lnTo>
                  <a:pt x="735207" y="26611"/>
                </a:lnTo>
                <a:lnTo>
                  <a:pt x="752944" y="19672"/>
                </a:lnTo>
                <a:lnTo>
                  <a:pt x="759891" y="37414"/>
                </a:lnTo>
                <a:lnTo>
                  <a:pt x="742145" y="44356"/>
                </a:lnTo>
                <a:close/>
              </a:path>
              <a:path w="810259" h="332104">
                <a:moveTo>
                  <a:pt x="752551" y="70967"/>
                </a:moveTo>
                <a:lnTo>
                  <a:pt x="742145" y="44356"/>
                </a:lnTo>
                <a:lnTo>
                  <a:pt x="759891" y="37414"/>
                </a:lnTo>
                <a:lnTo>
                  <a:pt x="752944" y="19672"/>
                </a:lnTo>
                <a:lnTo>
                  <a:pt x="798850" y="19672"/>
                </a:lnTo>
                <a:lnTo>
                  <a:pt x="752551" y="70967"/>
                </a:lnTo>
                <a:close/>
              </a:path>
              <a:path w="810259" h="332104">
                <a:moveTo>
                  <a:pt x="6946" y="331952"/>
                </a:moveTo>
                <a:lnTo>
                  <a:pt x="0" y="314210"/>
                </a:lnTo>
                <a:lnTo>
                  <a:pt x="735207" y="26611"/>
                </a:lnTo>
                <a:lnTo>
                  <a:pt x="742145" y="44356"/>
                </a:lnTo>
                <a:lnTo>
                  <a:pt x="6946" y="331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185659" y="5090159"/>
            <a:ext cx="237744" cy="219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885063" y="5348579"/>
            <a:ext cx="821690" cy="348615"/>
          </a:xfrm>
          <a:custGeom>
            <a:avLst/>
            <a:gdLst/>
            <a:ahLst/>
            <a:cxnLst/>
            <a:rect l="l" t="t" r="r" b="b"/>
            <a:pathLst>
              <a:path w="821690" h="348614">
                <a:moveTo>
                  <a:pt x="747152" y="321533"/>
                </a:moveTo>
                <a:lnTo>
                  <a:pt x="0" y="17652"/>
                </a:lnTo>
                <a:lnTo>
                  <a:pt x="7175" y="0"/>
                </a:lnTo>
                <a:lnTo>
                  <a:pt x="754333" y="303882"/>
                </a:lnTo>
                <a:lnTo>
                  <a:pt x="747152" y="321533"/>
                </a:lnTo>
                <a:close/>
              </a:path>
              <a:path w="821690" h="348614">
                <a:moveTo>
                  <a:pt x="810174" y="328714"/>
                </a:moveTo>
                <a:lnTo>
                  <a:pt x="764806" y="328714"/>
                </a:lnTo>
                <a:lnTo>
                  <a:pt x="771982" y="311061"/>
                </a:lnTo>
                <a:lnTo>
                  <a:pt x="754333" y="303882"/>
                </a:lnTo>
                <a:lnTo>
                  <a:pt x="765098" y="277418"/>
                </a:lnTo>
                <a:lnTo>
                  <a:pt x="810174" y="328714"/>
                </a:lnTo>
                <a:close/>
              </a:path>
              <a:path w="821690" h="348614">
                <a:moveTo>
                  <a:pt x="764806" y="328714"/>
                </a:moveTo>
                <a:lnTo>
                  <a:pt x="747152" y="321533"/>
                </a:lnTo>
                <a:lnTo>
                  <a:pt x="754333" y="303882"/>
                </a:lnTo>
                <a:lnTo>
                  <a:pt x="771982" y="311061"/>
                </a:lnTo>
                <a:lnTo>
                  <a:pt x="764806" y="328714"/>
                </a:lnTo>
                <a:close/>
              </a:path>
              <a:path w="821690" h="348614">
                <a:moveTo>
                  <a:pt x="736384" y="348005"/>
                </a:moveTo>
                <a:lnTo>
                  <a:pt x="747152" y="321533"/>
                </a:lnTo>
                <a:lnTo>
                  <a:pt x="764806" y="328714"/>
                </a:lnTo>
                <a:lnTo>
                  <a:pt x="810174" y="328714"/>
                </a:lnTo>
                <a:lnTo>
                  <a:pt x="821334" y="341414"/>
                </a:lnTo>
                <a:lnTo>
                  <a:pt x="736384" y="3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194804" y="5405628"/>
            <a:ext cx="237744" cy="219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086" y="1370634"/>
            <a:ext cx="7405370" cy="4377690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爱因斯坦的光电效应理论</a:t>
            </a:r>
            <a:r>
              <a:rPr dirty="0" sz="2800" spc="-5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3970" marR="5080">
              <a:lnSpc>
                <a:spcPct val="128699"/>
              </a:lnSpc>
              <a:spcBef>
                <a:spcPts val="630"/>
              </a:spcBef>
              <a:buSzPct val="96428"/>
              <a:buFont typeface="Times New Roman"/>
              <a:buAutoNum type="arabicPeriod"/>
              <a:tabLst>
                <a:tab pos="281940" algn="l"/>
              </a:tabLst>
            </a:pPr>
            <a:r>
              <a:rPr dirty="0" sz="2800">
                <a:latin typeface="华文楷体"/>
                <a:cs typeface="华文楷体"/>
              </a:rPr>
              <a:t>光本身就是由一个个不可分割能量子组成的</a:t>
            </a:r>
            <a:r>
              <a:rPr dirty="0" sz="2800" spc="-5">
                <a:latin typeface="华文楷体"/>
                <a:cs typeface="华文楷体"/>
              </a:rPr>
              <a:t>。 </a:t>
            </a:r>
            <a:r>
              <a:rPr dirty="0" sz="2800">
                <a:latin typeface="华文楷体"/>
                <a:cs typeface="华文楷体"/>
              </a:rPr>
              <a:t>每一份称为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光量子</a:t>
            </a:r>
            <a:r>
              <a:rPr dirty="0" sz="2800">
                <a:latin typeface="华文楷体"/>
                <a:cs typeface="华文楷体"/>
              </a:rPr>
              <a:t>，简称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光子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657860">
              <a:lnSpc>
                <a:spcPct val="100000"/>
              </a:lnSpc>
              <a:spcBef>
                <a:spcPts val="2085"/>
              </a:spcBef>
            </a:pPr>
            <a:r>
              <a:rPr dirty="0" sz="2800">
                <a:latin typeface="华文楷体"/>
                <a:cs typeface="华文楷体"/>
              </a:rPr>
              <a:t>光子的能量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307340" indent="-267335">
              <a:lnSpc>
                <a:spcPct val="100000"/>
              </a:lnSpc>
              <a:spcBef>
                <a:spcPts val="2725"/>
              </a:spcBef>
              <a:buSzPct val="96428"/>
              <a:buFont typeface="Times New Roman"/>
              <a:buAutoNum type="arabicPeriod" startAt="2"/>
              <a:tabLst>
                <a:tab pos="307975" algn="l"/>
              </a:tabLst>
            </a:pPr>
            <a:r>
              <a:rPr dirty="0" sz="2800">
                <a:latin typeface="华文楷体"/>
                <a:cs typeface="华文楷体"/>
              </a:rPr>
              <a:t>光电效应方程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2"/>
            </a:pPr>
            <a:endParaRPr sz="44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SzPct val="96428"/>
              <a:buFont typeface="Times New Roman"/>
              <a:buAutoNum type="arabicPeriod" startAt="2"/>
              <a:tabLst>
                <a:tab pos="280035" algn="l"/>
              </a:tabLst>
            </a:pPr>
            <a:r>
              <a:rPr dirty="0" sz="2800">
                <a:latin typeface="华文楷体"/>
                <a:cs typeface="华文楷体"/>
              </a:rPr>
              <a:t>存在截止频率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80303" y="2685288"/>
            <a:ext cx="6289548" cy="3537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光电效应的产生条件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光电效应的产生条件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34660" y="4417250"/>
            <a:ext cx="1959610" cy="300990"/>
          </a:xfrm>
          <a:custGeom>
            <a:avLst/>
            <a:gdLst/>
            <a:ahLst/>
            <a:cxnLst/>
            <a:rect l="l" t="t" r="r" b="b"/>
            <a:pathLst>
              <a:path w="1959609" h="300989">
                <a:moveTo>
                  <a:pt x="1808937" y="86652"/>
                </a:moveTo>
                <a:lnTo>
                  <a:pt x="1808937" y="0"/>
                </a:lnTo>
                <a:lnTo>
                  <a:pt x="1831924" y="22987"/>
                </a:lnTo>
                <a:lnTo>
                  <a:pt x="1827987" y="22987"/>
                </a:lnTo>
                <a:lnTo>
                  <a:pt x="1811731" y="29730"/>
                </a:lnTo>
                <a:lnTo>
                  <a:pt x="1827987" y="45986"/>
                </a:lnTo>
                <a:lnTo>
                  <a:pt x="1827987" y="77127"/>
                </a:lnTo>
                <a:lnTo>
                  <a:pt x="1818462" y="77127"/>
                </a:lnTo>
                <a:lnTo>
                  <a:pt x="1808937" y="86652"/>
                </a:lnTo>
                <a:close/>
              </a:path>
              <a:path w="1959609" h="300989">
                <a:moveTo>
                  <a:pt x="1827987" y="45986"/>
                </a:moveTo>
                <a:lnTo>
                  <a:pt x="1811731" y="29730"/>
                </a:lnTo>
                <a:lnTo>
                  <a:pt x="1827987" y="22987"/>
                </a:lnTo>
                <a:lnTo>
                  <a:pt x="1827987" y="45986"/>
                </a:lnTo>
                <a:close/>
              </a:path>
              <a:path w="1959609" h="300989">
                <a:moveTo>
                  <a:pt x="1932311" y="150311"/>
                </a:moveTo>
                <a:lnTo>
                  <a:pt x="1827987" y="45986"/>
                </a:lnTo>
                <a:lnTo>
                  <a:pt x="1827987" y="22987"/>
                </a:lnTo>
                <a:lnTo>
                  <a:pt x="1831924" y="22987"/>
                </a:lnTo>
                <a:lnTo>
                  <a:pt x="1952510" y="143573"/>
                </a:lnTo>
                <a:lnTo>
                  <a:pt x="1939048" y="143573"/>
                </a:lnTo>
                <a:lnTo>
                  <a:pt x="1932311" y="150311"/>
                </a:lnTo>
                <a:close/>
              </a:path>
              <a:path w="1959609" h="300989">
                <a:moveTo>
                  <a:pt x="1808937" y="223494"/>
                </a:moveTo>
                <a:lnTo>
                  <a:pt x="0" y="223494"/>
                </a:lnTo>
                <a:lnTo>
                  <a:pt x="0" y="77127"/>
                </a:lnTo>
                <a:lnTo>
                  <a:pt x="1808937" y="77127"/>
                </a:lnTo>
                <a:lnTo>
                  <a:pt x="1808937" y="86652"/>
                </a:lnTo>
                <a:lnTo>
                  <a:pt x="19050" y="86652"/>
                </a:lnTo>
                <a:lnTo>
                  <a:pt x="9525" y="96177"/>
                </a:lnTo>
                <a:lnTo>
                  <a:pt x="19050" y="96177"/>
                </a:lnTo>
                <a:lnTo>
                  <a:pt x="19050" y="204444"/>
                </a:lnTo>
                <a:lnTo>
                  <a:pt x="9525" y="204444"/>
                </a:lnTo>
                <a:lnTo>
                  <a:pt x="19050" y="213969"/>
                </a:lnTo>
                <a:lnTo>
                  <a:pt x="1808937" y="213969"/>
                </a:lnTo>
                <a:lnTo>
                  <a:pt x="1808937" y="223494"/>
                </a:lnTo>
                <a:close/>
              </a:path>
              <a:path w="1959609" h="300989">
                <a:moveTo>
                  <a:pt x="1827987" y="96177"/>
                </a:moveTo>
                <a:lnTo>
                  <a:pt x="19050" y="96177"/>
                </a:lnTo>
                <a:lnTo>
                  <a:pt x="19050" y="86652"/>
                </a:lnTo>
                <a:lnTo>
                  <a:pt x="1808937" y="86652"/>
                </a:lnTo>
                <a:lnTo>
                  <a:pt x="1818462" y="77127"/>
                </a:lnTo>
                <a:lnTo>
                  <a:pt x="1827987" y="77127"/>
                </a:lnTo>
                <a:lnTo>
                  <a:pt x="1827987" y="96177"/>
                </a:lnTo>
                <a:close/>
              </a:path>
              <a:path w="1959609" h="300989">
                <a:moveTo>
                  <a:pt x="19050" y="96177"/>
                </a:moveTo>
                <a:lnTo>
                  <a:pt x="9525" y="96177"/>
                </a:lnTo>
                <a:lnTo>
                  <a:pt x="19050" y="86652"/>
                </a:lnTo>
                <a:lnTo>
                  <a:pt x="19050" y="96177"/>
                </a:lnTo>
                <a:close/>
              </a:path>
              <a:path w="1959609" h="300989">
                <a:moveTo>
                  <a:pt x="1939048" y="157048"/>
                </a:moveTo>
                <a:lnTo>
                  <a:pt x="1932311" y="150311"/>
                </a:lnTo>
                <a:lnTo>
                  <a:pt x="1939048" y="143573"/>
                </a:lnTo>
                <a:lnTo>
                  <a:pt x="1939048" y="157048"/>
                </a:lnTo>
                <a:close/>
              </a:path>
              <a:path w="1959609" h="300989">
                <a:moveTo>
                  <a:pt x="1952523" y="157048"/>
                </a:moveTo>
                <a:lnTo>
                  <a:pt x="1939048" y="157048"/>
                </a:lnTo>
                <a:lnTo>
                  <a:pt x="1939048" y="143573"/>
                </a:lnTo>
                <a:lnTo>
                  <a:pt x="1952510" y="143573"/>
                </a:lnTo>
                <a:lnTo>
                  <a:pt x="1959254" y="150317"/>
                </a:lnTo>
                <a:lnTo>
                  <a:pt x="1952523" y="157048"/>
                </a:lnTo>
                <a:close/>
              </a:path>
              <a:path w="1959609" h="300989">
                <a:moveTo>
                  <a:pt x="1831936" y="277634"/>
                </a:moveTo>
                <a:lnTo>
                  <a:pt x="1827987" y="277634"/>
                </a:lnTo>
                <a:lnTo>
                  <a:pt x="1827987" y="254646"/>
                </a:lnTo>
                <a:lnTo>
                  <a:pt x="1932317" y="150317"/>
                </a:lnTo>
                <a:lnTo>
                  <a:pt x="1939048" y="157048"/>
                </a:lnTo>
                <a:lnTo>
                  <a:pt x="1952523" y="157048"/>
                </a:lnTo>
                <a:lnTo>
                  <a:pt x="1831936" y="277634"/>
                </a:lnTo>
                <a:close/>
              </a:path>
              <a:path w="1959609" h="300989">
                <a:moveTo>
                  <a:pt x="19050" y="213969"/>
                </a:moveTo>
                <a:lnTo>
                  <a:pt x="9525" y="204444"/>
                </a:lnTo>
                <a:lnTo>
                  <a:pt x="19050" y="204444"/>
                </a:lnTo>
                <a:lnTo>
                  <a:pt x="19050" y="213969"/>
                </a:lnTo>
                <a:close/>
              </a:path>
              <a:path w="1959609" h="300989">
                <a:moveTo>
                  <a:pt x="1827987" y="223494"/>
                </a:moveTo>
                <a:lnTo>
                  <a:pt x="1818462" y="223494"/>
                </a:lnTo>
                <a:lnTo>
                  <a:pt x="1808937" y="213969"/>
                </a:lnTo>
                <a:lnTo>
                  <a:pt x="19050" y="213969"/>
                </a:lnTo>
                <a:lnTo>
                  <a:pt x="19050" y="204444"/>
                </a:lnTo>
                <a:lnTo>
                  <a:pt x="1827987" y="204444"/>
                </a:lnTo>
                <a:lnTo>
                  <a:pt x="1827987" y="223494"/>
                </a:lnTo>
                <a:close/>
              </a:path>
              <a:path w="1959609" h="300989">
                <a:moveTo>
                  <a:pt x="1808937" y="300634"/>
                </a:moveTo>
                <a:lnTo>
                  <a:pt x="1808937" y="213969"/>
                </a:lnTo>
                <a:lnTo>
                  <a:pt x="1818462" y="223494"/>
                </a:lnTo>
                <a:lnTo>
                  <a:pt x="1827987" y="223494"/>
                </a:lnTo>
                <a:lnTo>
                  <a:pt x="1827987" y="254646"/>
                </a:lnTo>
                <a:lnTo>
                  <a:pt x="1811731" y="270903"/>
                </a:lnTo>
                <a:lnTo>
                  <a:pt x="1827987" y="277634"/>
                </a:lnTo>
                <a:lnTo>
                  <a:pt x="1831936" y="277634"/>
                </a:lnTo>
                <a:lnTo>
                  <a:pt x="1808937" y="300634"/>
                </a:lnTo>
                <a:close/>
              </a:path>
              <a:path w="1959609" h="300989">
                <a:moveTo>
                  <a:pt x="1827987" y="277634"/>
                </a:moveTo>
                <a:lnTo>
                  <a:pt x="1811731" y="270903"/>
                </a:lnTo>
                <a:lnTo>
                  <a:pt x="1827987" y="254646"/>
                </a:lnTo>
                <a:lnTo>
                  <a:pt x="1827987" y="277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20583" y="2129027"/>
            <a:ext cx="3332987" cy="3006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34086" y="1370634"/>
            <a:ext cx="7405370" cy="4377690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爱因斯坦的光电效应理论</a:t>
            </a:r>
            <a:r>
              <a:rPr dirty="0" sz="2800" spc="-5">
                <a:solidFill>
                  <a:srgbClr val="00AFEF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3970" marR="5080">
              <a:lnSpc>
                <a:spcPct val="128699"/>
              </a:lnSpc>
              <a:spcBef>
                <a:spcPts val="630"/>
              </a:spcBef>
              <a:buSzPct val="96428"/>
              <a:buFont typeface="Times New Roman"/>
              <a:buAutoNum type="arabicPeriod"/>
              <a:tabLst>
                <a:tab pos="281940" algn="l"/>
              </a:tabLst>
            </a:pPr>
            <a:r>
              <a:rPr dirty="0" sz="2800">
                <a:latin typeface="华文楷体"/>
                <a:cs typeface="华文楷体"/>
              </a:rPr>
              <a:t>光本身就是由一个个不可分割能量子组成的</a:t>
            </a:r>
            <a:r>
              <a:rPr dirty="0" sz="2800" spc="-5">
                <a:latin typeface="华文楷体"/>
                <a:cs typeface="华文楷体"/>
              </a:rPr>
              <a:t>。 </a:t>
            </a:r>
            <a:r>
              <a:rPr dirty="0" sz="2800">
                <a:latin typeface="华文楷体"/>
                <a:cs typeface="华文楷体"/>
              </a:rPr>
              <a:t>每一份称为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光量子</a:t>
            </a:r>
            <a:r>
              <a:rPr dirty="0" sz="2800">
                <a:latin typeface="华文楷体"/>
                <a:cs typeface="华文楷体"/>
              </a:rPr>
              <a:t>，简称</a:t>
            </a:r>
            <a:r>
              <a:rPr dirty="0" sz="2800">
                <a:solidFill>
                  <a:srgbClr val="AE0000"/>
                </a:solidFill>
                <a:latin typeface="华文楷体"/>
                <a:cs typeface="华文楷体"/>
              </a:rPr>
              <a:t>光子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657860">
              <a:lnSpc>
                <a:spcPct val="100000"/>
              </a:lnSpc>
              <a:spcBef>
                <a:spcPts val="2085"/>
              </a:spcBef>
            </a:pPr>
            <a:r>
              <a:rPr dirty="0" sz="2800">
                <a:latin typeface="华文楷体"/>
                <a:cs typeface="华文楷体"/>
              </a:rPr>
              <a:t>光子的能量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307340" indent="-267335">
              <a:lnSpc>
                <a:spcPct val="100000"/>
              </a:lnSpc>
              <a:spcBef>
                <a:spcPts val="2725"/>
              </a:spcBef>
              <a:buSzPct val="96428"/>
              <a:buFont typeface="Times New Roman"/>
              <a:buAutoNum type="arabicPeriod" startAt="2"/>
              <a:tabLst>
                <a:tab pos="307975" algn="l"/>
              </a:tabLst>
            </a:pPr>
            <a:r>
              <a:rPr dirty="0" sz="2800">
                <a:latin typeface="华文楷体"/>
                <a:cs typeface="华文楷体"/>
              </a:rPr>
              <a:t>光电效应方程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 startAt="2"/>
            </a:pPr>
            <a:endParaRPr sz="44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SzPct val="96428"/>
              <a:buFont typeface="Times New Roman"/>
              <a:buAutoNum type="arabicPeriod" startAt="2"/>
              <a:tabLst>
                <a:tab pos="280035" algn="l"/>
              </a:tabLst>
            </a:pPr>
            <a:r>
              <a:rPr dirty="0" sz="2800">
                <a:latin typeface="华文楷体"/>
                <a:cs typeface="华文楷体"/>
              </a:rPr>
              <a:t>存在截止频率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1821" y="2138552"/>
            <a:ext cx="4576089" cy="3195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8476" y="5403631"/>
            <a:ext cx="7298690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latin typeface="华文楷体"/>
                <a:cs typeface="华文楷体"/>
              </a:rPr>
              <a:t>使光电流减小到</a:t>
            </a:r>
            <a:r>
              <a:rPr dirty="0" sz="2800" spc="-5">
                <a:latin typeface="华文楷体"/>
                <a:cs typeface="华文楷体"/>
              </a:rPr>
              <a:t>0</a:t>
            </a:r>
            <a:r>
              <a:rPr dirty="0" sz="2800">
                <a:latin typeface="华文楷体"/>
                <a:cs typeface="华文楷体"/>
              </a:rPr>
              <a:t>的反向电</a:t>
            </a:r>
            <a:r>
              <a:rPr dirty="0" sz="2800" spc="-285">
                <a:latin typeface="华文楷体"/>
                <a:cs typeface="华文楷体"/>
              </a:rPr>
              <a:t>压</a:t>
            </a:r>
            <a:r>
              <a:rPr dirty="0" sz="2900" spc="-480" i="1">
                <a:latin typeface="华文楷体"/>
                <a:cs typeface="华文楷体"/>
              </a:rPr>
              <a:t>U</a:t>
            </a:r>
            <a:r>
              <a:rPr dirty="0" baseline="-16975" sz="2700" spc="-719">
                <a:latin typeface="华文楷体"/>
                <a:cs typeface="华文楷体"/>
              </a:rPr>
              <a:t>c</a:t>
            </a:r>
            <a:r>
              <a:rPr dirty="0" sz="2800">
                <a:latin typeface="华文楷体"/>
                <a:cs typeface="华文楷体"/>
              </a:rPr>
              <a:t>称为</a:t>
            </a: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遏止电</a:t>
            </a:r>
            <a:r>
              <a:rPr dirty="0" sz="2800" spc="-5" b="1">
                <a:solidFill>
                  <a:srgbClr val="C00000"/>
                </a:solidFill>
                <a:latin typeface="华文楷体"/>
                <a:cs typeface="华文楷体"/>
              </a:rPr>
              <a:t>压</a:t>
            </a:r>
            <a:r>
              <a:rPr dirty="0" sz="2800" spc="-5">
                <a:solidFill>
                  <a:srgbClr val="C000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7083" y="4531436"/>
            <a:ext cx="2838450" cy="534035"/>
          </a:xfrm>
          <a:custGeom>
            <a:avLst/>
            <a:gdLst/>
            <a:ahLst/>
            <a:cxnLst/>
            <a:rect l="l" t="t" r="r" b="b"/>
            <a:pathLst>
              <a:path w="2838450" h="534035">
                <a:moveTo>
                  <a:pt x="2838450" y="533768"/>
                </a:moveTo>
                <a:lnTo>
                  <a:pt x="0" y="533768"/>
                </a:lnTo>
                <a:lnTo>
                  <a:pt x="0" y="0"/>
                </a:lnTo>
                <a:lnTo>
                  <a:pt x="2838450" y="0"/>
                </a:lnTo>
                <a:lnTo>
                  <a:pt x="28384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505193"/>
                </a:lnTo>
                <a:lnTo>
                  <a:pt x="14287" y="505193"/>
                </a:lnTo>
                <a:lnTo>
                  <a:pt x="28575" y="519480"/>
                </a:lnTo>
                <a:lnTo>
                  <a:pt x="2838450" y="519480"/>
                </a:lnTo>
                <a:lnTo>
                  <a:pt x="2838450" y="533768"/>
                </a:lnTo>
                <a:close/>
              </a:path>
              <a:path w="2838450" h="53403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838450" h="534035">
                <a:moveTo>
                  <a:pt x="28098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809875" y="14287"/>
                </a:lnTo>
                <a:lnTo>
                  <a:pt x="2809875" y="28575"/>
                </a:lnTo>
                <a:close/>
              </a:path>
              <a:path w="2838450" h="534035">
                <a:moveTo>
                  <a:pt x="2809875" y="519480"/>
                </a:moveTo>
                <a:lnTo>
                  <a:pt x="2809875" y="14287"/>
                </a:lnTo>
                <a:lnTo>
                  <a:pt x="2824162" y="28575"/>
                </a:lnTo>
                <a:lnTo>
                  <a:pt x="2838450" y="28575"/>
                </a:lnTo>
                <a:lnTo>
                  <a:pt x="2838450" y="505193"/>
                </a:lnTo>
                <a:lnTo>
                  <a:pt x="2824162" y="505193"/>
                </a:lnTo>
                <a:lnTo>
                  <a:pt x="2809875" y="519480"/>
                </a:lnTo>
                <a:close/>
              </a:path>
              <a:path w="2838450" h="534035">
                <a:moveTo>
                  <a:pt x="2838450" y="28575"/>
                </a:moveTo>
                <a:lnTo>
                  <a:pt x="2824162" y="28575"/>
                </a:lnTo>
                <a:lnTo>
                  <a:pt x="2809875" y="14287"/>
                </a:lnTo>
                <a:lnTo>
                  <a:pt x="2838450" y="14287"/>
                </a:lnTo>
                <a:lnTo>
                  <a:pt x="2838450" y="28575"/>
                </a:lnTo>
                <a:close/>
              </a:path>
              <a:path w="2838450" h="534035">
                <a:moveTo>
                  <a:pt x="28575" y="519480"/>
                </a:moveTo>
                <a:lnTo>
                  <a:pt x="14287" y="505193"/>
                </a:lnTo>
                <a:lnTo>
                  <a:pt x="28575" y="505193"/>
                </a:lnTo>
                <a:lnTo>
                  <a:pt x="28575" y="519480"/>
                </a:lnTo>
                <a:close/>
              </a:path>
              <a:path w="2838450" h="534035">
                <a:moveTo>
                  <a:pt x="2809875" y="519480"/>
                </a:moveTo>
                <a:lnTo>
                  <a:pt x="28575" y="519480"/>
                </a:lnTo>
                <a:lnTo>
                  <a:pt x="28575" y="505193"/>
                </a:lnTo>
                <a:lnTo>
                  <a:pt x="2809875" y="505193"/>
                </a:lnTo>
                <a:lnTo>
                  <a:pt x="2809875" y="519480"/>
                </a:lnTo>
                <a:close/>
              </a:path>
              <a:path w="2838450" h="534035">
                <a:moveTo>
                  <a:pt x="2838450" y="519480"/>
                </a:moveTo>
                <a:lnTo>
                  <a:pt x="2809875" y="519480"/>
                </a:lnTo>
                <a:lnTo>
                  <a:pt x="2824162" y="505193"/>
                </a:lnTo>
                <a:lnTo>
                  <a:pt x="2838450" y="505193"/>
                </a:lnTo>
                <a:lnTo>
                  <a:pt x="2838450" y="51948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6052" y="2118639"/>
            <a:ext cx="2210193" cy="1136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58168" y="247853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0221" y="3555885"/>
            <a:ext cx="657987" cy="353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747139" y="1611084"/>
            <a:ext cx="6425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楷体"/>
                <a:cs typeface="楷体"/>
              </a:rPr>
              <a:t>光电子的最大初动能与入射光什么关系</a:t>
            </a:r>
            <a:r>
              <a:rPr dirty="0" sz="2800" spc="-5">
                <a:latin typeface="楷体"/>
                <a:cs typeface="楷体"/>
              </a:rPr>
              <a:t>？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9737" y="1642656"/>
            <a:ext cx="1123950" cy="433705"/>
          </a:xfrm>
          <a:custGeom>
            <a:avLst/>
            <a:gdLst/>
            <a:ahLst/>
            <a:cxnLst/>
            <a:rect l="l" t="t" r="r" b="b"/>
            <a:pathLst>
              <a:path w="1123950" h="433705">
                <a:moveTo>
                  <a:pt x="1046975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90360" y="219608"/>
                </a:lnTo>
                <a:lnTo>
                  <a:pt x="0" y="132003"/>
                </a:lnTo>
                <a:lnTo>
                  <a:pt x="0" y="0"/>
                </a:lnTo>
                <a:lnTo>
                  <a:pt x="1046975" y="0"/>
                </a:lnTo>
                <a:lnTo>
                  <a:pt x="1046975" y="145059"/>
                </a:lnTo>
                <a:lnTo>
                  <a:pt x="1123861" y="219608"/>
                </a:lnTo>
                <a:lnTo>
                  <a:pt x="1046975" y="294157"/>
                </a:lnTo>
                <a:lnTo>
                  <a:pt x="1046975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0212" y="1633131"/>
            <a:ext cx="1147445" cy="452755"/>
          </a:xfrm>
          <a:custGeom>
            <a:avLst/>
            <a:gdLst/>
            <a:ahLst/>
            <a:cxnLst/>
            <a:rect l="l" t="t" r="r" b="b"/>
            <a:pathLst>
              <a:path w="1147445" h="452755">
                <a:moveTo>
                  <a:pt x="86201" y="229139"/>
                </a:moveTo>
                <a:lnTo>
                  <a:pt x="0" y="145567"/>
                </a:lnTo>
                <a:lnTo>
                  <a:pt x="0" y="0"/>
                </a:lnTo>
                <a:lnTo>
                  <a:pt x="1066025" y="0"/>
                </a:lnTo>
                <a:lnTo>
                  <a:pt x="106602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4696"/>
                </a:lnTo>
                <a:lnTo>
                  <a:pt x="16154" y="134696"/>
                </a:lnTo>
                <a:lnTo>
                  <a:pt x="19050" y="141528"/>
                </a:lnTo>
                <a:lnTo>
                  <a:pt x="23202" y="141528"/>
                </a:lnTo>
                <a:lnTo>
                  <a:pt x="106515" y="222300"/>
                </a:lnTo>
                <a:lnTo>
                  <a:pt x="93256" y="222300"/>
                </a:lnTo>
                <a:lnTo>
                  <a:pt x="86201" y="229139"/>
                </a:lnTo>
                <a:close/>
              </a:path>
              <a:path w="114744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147445" h="452755">
                <a:moveTo>
                  <a:pt x="104697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046975" y="9525"/>
                </a:lnTo>
                <a:lnTo>
                  <a:pt x="1046975" y="19050"/>
                </a:lnTo>
                <a:close/>
              </a:path>
              <a:path w="1147445" h="452755">
                <a:moveTo>
                  <a:pt x="1119703" y="229139"/>
                </a:moveTo>
                <a:lnTo>
                  <a:pt x="1046975" y="158623"/>
                </a:lnTo>
                <a:lnTo>
                  <a:pt x="1046975" y="9525"/>
                </a:lnTo>
                <a:lnTo>
                  <a:pt x="1056500" y="19050"/>
                </a:lnTo>
                <a:lnTo>
                  <a:pt x="1066025" y="19050"/>
                </a:lnTo>
                <a:lnTo>
                  <a:pt x="1066025" y="147751"/>
                </a:lnTo>
                <a:lnTo>
                  <a:pt x="1063129" y="147751"/>
                </a:lnTo>
                <a:lnTo>
                  <a:pt x="1066025" y="154584"/>
                </a:lnTo>
                <a:lnTo>
                  <a:pt x="1070177" y="154584"/>
                </a:lnTo>
                <a:lnTo>
                  <a:pt x="1140028" y="222300"/>
                </a:lnTo>
                <a:lnTo>
                  <a:pt x="1126756" y="222300"/>
                </a:lnTo>
                <a:lnTo>
                  <a:pt x="1119703" y="229139"/>
                </a:lnTo>
                <a:close/>
              </a:path>
              <a:path w="1147445" h="452755">
                <a:moveTo>
                  <a:pt x="1066025" y="19050"/>
                </a:moveTo>
                <a:lnTo>
                  <a:pt x="1056500" y="19050"/>
                </a:lnTo>
                <a:lnTo>
                  <a:pt x="1046975" y="9525"/>
                </a:lnTo>
                <a:lnTo>
                  <a:pt x="1066025" y="9525"/>
                </a:lnTo>
                <a:lnTo>
                  <a:pt x="1066025" y="19050"/>
                </a:lnTo>
                <a:close/>
              </a:path>
              <a:path w="1147445" h="452755">
                <a:moveTo>
                  <a:pt x="19050" y="141528"/>
                </a:moveTo>
                <a:lnTo>
                  <a:pt x="16154" y="134696"/>
                </a:lnTo>
                <a:lnTo>
                  <a:pt x="19050" y="137503"/>
                </a:lnTo>
                <a:lnTo>
                  <a:pt x="19050" y="141528"/>
                </a:lnTo>
                <a:close/>
              </a:path>
              <a:path w="1147445" h="452755">
                <a:moveTo>
                  <a:pt x="19050" y="137503"/>
                </a:moveTo>
                <a:lnTo>
                  <a:pt x="16154" y="134696"/>
                </a:lnTo>
                <a:lnTo>
                  <a:pt x="19050" y="134696"/>
                </a:lnTo>
                <a:lnTo>
                  <a:pt x="19050" y="137503"/>
                </a:lnTo>
                <a:close/>
              </a:path>
              <a:path w="1147445" h="452755">
                <a:moveTo>
                  <a:pt x="23202" y="141528"/>
                </a:moveTo>
                <a:lnTo>
                  <a:pt x="19050" y="141528"/>
                </a:lnTo>
                <a:lnTo>
                  <a:pt x="19050" y="137503"/>
                </a:lnTo>
                <a:lnTo>
                  <a:pt x="23202" y="141528"/>
                </a:lnTo>
                <a:close/>
              </a:path>
              <a:path w="1147445" h="452755">
                <a:moveTo>
                  <a:pt x="1066025" y="154584"/>
                </a:moveTo>
                <a:lnTo>
                  <a:pt x="1063129" y="147751"/>
                </a:lnTo>
                <a:lnTo>
                  <a:pt x="1066025" y="150558"/>
                </a:lnTo>
                <a:lnTo>
                  <a:pt x="1066025" y="154584"/>
                </a:lnTo>
                <a:close/>
              </a:path>
              <a:path w="1147445" h="452755">
                <a:moveTo>
                  <a:pt x="1066025" y="150558"/>
                </a:moveTo>
                <a:lnTo>
                  <a:pt x="1063129" y="147751"/>
                </a:lnTo>
                <a:lnTo>
                  <a:pt x="1066025" y="147751"/>
                </a:lnTo>
                <a:lnTo>
                  <a:pt x="1066025" y="150558"/>
                </a:lnTo>
                <a:close/>
              </a:path>
              <a:path w="1147445" h="452755">
                <a:moveTo>
                  <a:pt x="1070177" y="154584"/>
                </a:moveTo>
                <a:lnTo>
                  <a:pt x="1066025" y="154584"/>
                </a:lnTo>
                <a:lnTo>
                  <a:pt x="1066025" y="150558"/>
                </a:lnTo>
                <a:lnTo>
                  <a:pt x="1070177" y="154584"/>
                </a:lnTo>
                <a:close/>
              </a:path>
              <a:path w="1147445" h="452755">
                <a:moveTo>
                  <a:pt x="93256" y="235978"/>
                </a:moveTo>
                <a:lnTo>
                  <a:pt x="86201" y="229139"/>
                </a:lnTo>
                <a:lnTo>
                  <a:pt x="93256" y="222300"/>
                </a:lnTo>
                <a:lnTo>
                  <a:pt x="93256" y="235978"/>
                </a:lnTo>
                <a:close/>
              </a:path>
              <a:path w="1147445" h="452755">
                <a:moveTo>
                  <a:pt x="106503" y="235978"/>
                </a:moveTo>
                <a:lnTo>
                  <a:pt x="93256" y="235978"/>
                </a:lnTo>
                <a:lnTo>
                  <a:pt x="93256" y="222300"/>
                </a:lnTo>
                <a:lnTo>
                  <a:pt x="106515" y="222300"/>
                </a:lnTo>
                <a:lnTo>
                  <a:pt x="113563" y="229133"/>
                </a:lnTo>
                <a:lnTo>
                  <a:pt x="106503" y="235978"/>
                </a:lnTo>
                <a:close/>
              </a:path>
              <a:path w="1147445" h="452755">
                <a:moveTo>
                  <a:pt x="1126756" y="235978"/>
                </a:moveTo>
                <a:lnTo>
                  <a:pt x="1119703" y="229139"/>
                </a:lnTo>
                <a:lnTo>
                  <a:pt x="1126756" y="222300"/>
                </a:lnTo>
                <a:lnTo>
                  <a:pt x="1126756" y="235978"/>
                </a:lnTo>
                <a:close/>
              </a:path>
              <a:path w="1147445" h="452755">
                <a:moveTo>
                  <a:pt x="1140016" y="235978"/>
                </a:moveTo>
                <a:lnTo>
                  <a:pt x="1126756" y="235978"/>
                </a:lnTo>
                <a:lnTo>
                  <a:pt x="1126756" y="222300"/>
                </a:lnTo>
                <a:lnTo>
                  <a:pt x="1140028" y="222300"/>
                </a:lnTo>
                <a:lnTo>
                  <a:pt x="1147076" y="229133"/>
                </a:lnTo>
                <a:lnTo>
                  <a:pt x="1140016" y="235978"/>
                </a:lnTo>
                <a:close/>
              </a:path>
              <a:path w="1147445" h="452755">
                <a:moveTo>
                  <a:pt x="1066025" y="452462"/>
                </a:moveTo>
                <a:lnTo>
                  <a:pt x="0" y="452462"/>
                </a:lnTo>
                <a:lnTo>
                  <a:pt x="0" y="312712"/>
                </a:lnTo>
                <a:lnTo>
                  <a:pt x="86201" y="229139"/>
                </a:lnTo>
                <a:lnTo>
                  <a:pt x="93256" y="235978"/>
                </a:lnTo>
                <a:lnTo>
                  <a:pt x="106503" y="235978"/>
                </a:lnTo>
                <a:lnTo>
                  <a:pt x="23214" y="316738"/>
                </a:lnTo>
                <a:lnTo>
                  <a:pt x="19050" y="316738"/>
                </a:lnTo>
                <a:lnTo>
                  <a:pt x="16154" y="323583"/>
                </a:lnTo>
                <a:lnTo>
                  <a:pt x="19050" y="323583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1066025" y="442937"/>
                </a:lnTo>
                <a:lnTo>
                  <a:pt x="1066025" y="452462"/>
                </a:lnTo>
                <a:close/>
              </a:path>
              <a:path w="1147445" h="452755">
                <a:moveTo>
                  <a:pt x="1046975" y="442937"/>
                </a:moveTo>
                <a:lnTo>
                  <a:pt x="1046975" y="299656"/>
                </a:lnTo>
                <a:lnTo>
                  <a:pt x="1119703" y="229139"/>
                </a:lnTo>
                <a:lnTo>
                  <a:pt x="1126756" y="235978"/>
                </a:lnTo>
                <a:lnTo>
                  <a:pt x="1140016" y="235978"/>
                </a:lnTo>
                <a:lnTo>
                  <a:pt x="1070189" y="303682"/>
                </a:lnTo>
                <a:lnTo>
                  <a:pt x="1066025" y="303682"/>
                </a:lnTo>
                <a:lnTo>
                  <a:pt x="1063129" y="310527"/>
                </a:lnTo>
                <a:lnTo>
                  <a:pt x="1066025" y="310527"/>
                </a:lnTo>
                <a:lnTo>
                  <a:pt x="1066025" y="433412"/>
                </a:lnTo>
                <a:lnTo>
                  <a:pt x="1056500" y="433412"/>
                </a:lnTo>
                <a:lnTo>
                  <a:pt x="1046975" y="442937"/>
                </a:lnTo>
                <a:close/>
              </a:path>
              <a:path w="1147445" h="452755">
                <a:moveTo>
                  <a:pt x="1063129" y="310527"/>
                </a:moveTo>
                <a:lnTo>
                  <a:pt x="1066025" y="303682"/>
                </a:lnTo>
                <a:lnTo>
                  <a:pt x="1066025" y="307720"/>
                </a:lnTo>
                <a:lnTo>
                  <a:pt x="1063129" y="310527"/>
                </a:lnTo>
                <a:close/>
              </a:path>
              <a:path w="1147445" h="452755">
                <a:moveTo>
                  <a:pt x="1066025" y="307720"/>
                </a:moveTo>
                <a:lnTo>
                  <a:pt x="1066025" y="303682"/>
                </a:lnTo>
                <a:lnTo>
                  <a:pt x="1070189" y="303682"/>
                </a:lnTo>
                <a:lnTo>
                  <a:pt x="1066025" y="307720"/>
                </a:lnTo>
                <a:close/>
              </a:path>
              <a:path w="1147445" h="452755">
                <a:moveTo>
                  <a:pt x="1066025" y="310527"/>
                </a:moveTo>
                <a:lnTo>
                  <a:pt x="1063129" y="310527"/>
                </a:lnTo>
                <a:lnTo>
                  <a:pt x="1066025" y="307720"/>
                </a:lnTo>
                <a:lnTo>
                  <a:pt x="1066025" y="310527"/>
                </a:lnTo>
                <a:close/>
              </a:path>
              <a:path w="1147445" h="452755">
                <a:moveTo>
                  <a:pt x="16154" y="323583"/>
                </a:moveTo>
                <a:lnTo>
                  <a:pt x="19050" y="316738"/>
                </a:lnTo>
                <a:lnTo>
                  <a:pt x="19050" y="320775"/>
                </a:lnTo>
                <a:lnTo>
                  <a:pt x="16154" y="323583"/>
                </a:lnTo>
                <a:close/>
              </a:path>
              <a:path w="1147445" h="452755">
                <a:moveTo>
                  <a:pt x="19050" y="320775"/>
                </a:moveTo>
                <a:lnTo>
                  <a:pt x="19050" y="316738"/>
                </a:lnTo>
                <a:lnTo>
                  <a:pt x="23214" y="316738"/>
                </a:lnTo>
                <a:lnTo>
                  <a:pt x="19050" y="320775"/>
                </a:lnTo>
                <a:close/>
              </a:path>
              <a:path w="1147445" h="452755">
                <a:moveTo>
                  <a:pt x="19050" y="323583"/>
                </a:moveTo>
                <a:lnTo>
                  <a:pt x="16154" y="323583"/>
                </a:lnTo>
                <a:lnTo>
                  <a:pt x="19050" y="320775"/>
                </a:lnTo>
                <a:lnTo>
                  <a:pt x="19050" y="323583"/>
                </a:lnTo>
                <a:close/>
              </a:path>
              <a:path w="114744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1147445" h="452755">
                <a:moveTo>
                  <a:pt x="1046975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1046975" y="433412"/>
                </a:lnTo>
                <a:lnTo>
                  <a:pt x="1046975" y="442937"/>
                </a:lnTo>
                <a:close/>
              </a:path>
              <a:path w="1147445" h="452755">
                <a:moveTo>
                  <a:pt x="1066025" y="442937"/>
                </a:moveTo>
                <a:lnTo>
                  <a:pt x="1046975" y="442937"/>
                </a:lnTo>
                <a:lnTo>
                  <a:pt x="1056500" y="433412"/>
                </a:lnTo>
                <a:lnTo>
                  <a:pt x="1066025" y="433412"/>
                </a:lnTo>
                <a:lnTo>
                  <a:pt x="1066025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4672" y="1592490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问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光电效应的遏止电压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8160" y="5810034"/>
            <a:ext cx="74764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楷体"/>
                <a:cs typeface="楷体"/>
              </a:rPr>
              <a:t>在坐标纸上画出遏止电压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c</a:t>
            </a:r>
            <a:r>
              <a:rPr dirty="0" sz="2800">
                <a:latin typeface="楷体"/>
                <a:cs typeface="楷体"/>
              </a:rPr>
              <a:t>与频</a:t>
            </a:r>
            <a:r>
              <a:rPr dirty="0" sz="2800" spc="-5">
                <a:latin typeface="楷体"/>
                <a:cs typeface="楷体"/>
              </a:rPr>
              <a:t>率</a:t>
            </a:r>
            <a:r>
              <a:rPr dirty="0" sz="2800" spc="-740">
                <a:latin typeface="楷体"/>
                <a:cs typeface="楷体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ν</a:t>
            </a:r>
            <a:r>
              <a:rPr dirty="0" sz="2800" spc="-40" i="1">
                <a:latin typeface="Times New Roman"/>
                <a:cs typeface="Times New Roman"/>
              </a:rPr>
              <a:t> </a:t>
            </a:r>
            <a:r>
              <a:rPr dirty="0" sz="2800">
                <a:latin typeface="楷体"/>
                <a:cs typeface="楷体"/>
              </a:rPr>
              <a:t>关系图像</a:t>
            </a:r>
            <a:r>
              <a:rPr dirty="0" sz="2800" spc="-5">
                <a:latin typeface="楷体"/>
                <a:cs typeface="楷体"/>
              </a:rPr>
              <a:t>。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0665" y="1497685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频率一定：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8335" y="1499616"/>
            <a:ext cx="2897124" cy="1427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72722" y="2062708"/>
            <a:ext cx="126968" cy="127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93664" y="1508760"/>
            <a:ext cx="2897124" cy="1418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20215" y="1992223"/>
            <a:ext cx="234968" cy="1810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89325" y="2961436"/>
            <a:ext cx="4434840" cy="550545"/>
          </a:xfrm>
          <a:custGeom>
            <a:avLst/>
            <a:gdLst/>
            <a:ahLst/>
            <a:cxnLst/>
            <a:rect l="l" t="t" r="r" b="b"/>
            <a:pathLst>
              <a:path w="4434840" h="550545">
                <a:moveTo>
                  <a:pt x="0" y="550125"/>
                </a:moveTo>
                <a:lnTo>
                  <a:pt x="4434827" y="550125"/>
                </a:lnTo>
                <a:lnTo>
                  <a:pt x="4434827" y="0"/>
                </a:lnTo>
                <a:lnTo>
                  <a:pt x="0" y="0"/>
                </a:lnTo>
                <a:lnTo>
                  <a:pt x="0" y="55012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89325" y="2957626"/>
          <a:ext cx="4458335" cy="2823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0760"/>
                <a:gridCol w="2164080"/>
              </a:tblGrid>
              <a:tr h="557764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baseline="-12896" sz="4200" spc="12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频率</a:t>
                      </a:r>
                      <a:r>
                        <a:rPr dirty="0" sz="280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/10</a:t>
                      </a:r>
                      <a:r>
                        <a:rPr dirty="0" baseline="42042" sz="2775" spc="44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r>
                        <a:rPr dirty="0" sz="280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Hz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R w="9525">
                      <a:solidFill>
                        <a:srgbClr val="FFFFFF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3030"/>
                        </a:lnSpc>
                        <a:spcBef>
                          <a:spcPts val="1260"/>
                        </a:spcBef>
                      </a:pPr>
                      <a:r>
                        <a:rPr dirty="0" sz="2800" spc="8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遏止电压</a:t>
                      </a:r>
                      <a:r>
                        <a:rPr dirty="0" baseline="12896" sz="4200" spc="7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/V</a:t>
                      </a:r>
                      <a:endParaRPr baseline="12896" sz="4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0020">
                    <a:lnL w="9525">
                      <a:solidFill>
                        <a:srgbClr val="FFFFFF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0792">
                <a:tc>
                  <a:txBody>
                    <a:bodyPr/>
                    <a:lstStyle/>
                    <a:p>
                      <a:pPr algn="ctr" marR="83820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5.77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0.23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9525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450799">
                <a:tc>
                  <a:txBody>
                    <a:bodyPr/>
                    <a:lstStyle/>
                    <a:p>
                      <a:pPr algn="ctr" marR="83820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6.45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0.61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450799">
                <a:tc>
                  <a:txBody>
                    <a:bodyPr/>
                    <a:lstStyle/>
                    <a:p>
                      <a:pPr algn="ctr" marR="83820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6.67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0.71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450799">
                <a:tc>
                  <a:txBody>
                    <a:bodyPr/>
                    <a:lstStyle/>
                    <a:p>
                      <a:pPr algn="ctr" marR="83820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7.14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0.90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450799">
                <a:tc>
                  <a:txBody>
                    <a:bodyPr/>
                    <a:lstStyle/>
                    <a:p>
                      <a:pPr algn="ctr" marR="83820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7.59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3329"/>
                        </a:lnSpc>
                        <a:spcBef>
                          <a:spcPts val="114"/>
                        </a:spcBef>
                      </a:pPr>
                      <a:r>
                        <a:rPr dirty="0" sz="2800" spc="25">
                          <a:latin typeface="Times New Roman"/>
                          <a:cs typeface="Times New Roman"/>
                        </a:rPr>
                        <a:t>1.04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4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B4C5E7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496064" y="3343478"/>
            <a:ext cx="160299" cy="1604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656220" y="3343478"/>
            <a:ext cx="160299" cy="1604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4621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60" h="433705">
                <a:moveTo>
                  <a:pt x="884516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16" y="0"/>
                </a:lnTo>
                <a:lnTo>
                  <a:pt x="884516" y="145072"/>
                </a:lnTo>
                <a:lnTo>
                  <a:pt x="949477" y="219621"/>
                </a:lnTo>
                <a:lnTo>
                  <a:pt x="884516" y="294170"/>
                </a:lnTo>
                <a:lnTo>
                  <a:pt x="884516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FFFFFF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808080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光电效应的遏止电压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7839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59" h="433705">
                <a:moveTo>
                  <a:pt x="884529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29" y="0"/>
                </a:lnTo>
                <a:lnTo>
                  <a:pt x="884529" y="145072"/>
                </a:lnTo>
                <a:lnTo>
                  <a:pt x="949490" y="219621"/>
                </a:lnTo>
                <a:lnTo>
                  <a:pt x="884529" y="294170"/>
                </a:lnTo>
                <a:lnTo>
                  <a:pt x="884529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FFFFFF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808080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光电效应的遏止电压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975" y="2162517"/>
            <a:ext cx="4724400" cy="2620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光电效应实验规律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367030" indent="-231775">
              <a:lnSpc>
                <a:spcPct val="100000"/>
              </a:lnSpc>
              <a:spcBef>
                <a:spcPts val="2580"/>
              </a:spcBef>
            </a:pPr>
            <a:r>
              <a:rPr dirty="0" sz="2800" spc="-5">
                <a:latin typeface="华文楷体"/>
                <a:cs typeface="华文楷体"/>
              </a:rPr>
              <a:t>3.</a:t>
            </a:r>
            <a:r>
              <a:rPr dirty="0" sz="2800">
                <a:latin typeface="华文楷体"/>
                <a:cs typeface="华文楷体"/>
              </a:rPr>
              <a:t>光电效应存在</a:t>
            </a: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遏止电压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c</a:t>
            </a:r>
            <a:r>
              <a:rPr dirty="0" baseline="-16975" sz="2700" spc="-89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367030" marR="438150">
              <a:lnSpc>
                <a:spcPct val="150000"/>
              </a:lnSpc>
              <a:spcBef>
                <a:spcPts val="1050"/>
              </a:spcBef>
            </a:pPr>
            <a:r>
              <a:rPr dirty="0" sz="2800">
                <a:latin typeface="华文楷体"/>
                <a:cs typeface="华文楷体"/>
              </a:rPr>
              <a:t>遏止电压与光强无关，</a:t>
            </a:r>
            <a:r>
              <a:rPr dirty="0" sz="2800" spc="-5">
                <a:latin typeface="华文楷体"/>
                <a:cs typeface="华文楷体"/>
              </a:rPr>
              <a:t>与 </a:t>
            </a:r>
            <a:r>
              <a:rPr dirty="0" sz="2800">
                <a:latin typeface="华文楷体"/>
                <a:cs typeface="华文楷体"/>
              </a:rPr>
              <a:t>频率成一次函数关系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42915" y="1659635"/>
            <a:ext cx="6874764" cy="4421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9795" y="1852777"/>
            <a:ext cx="25203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9780" algn="l"/>
              </a:tabLst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经典解释</a:t>
            </a:r>
            <a:r>
              <a:rPr dirty="0" sz="2800" spc="-5">
                <a:solidFill>
                  <a:srgbClr val="00AFEF"/>
                </a:solidFill>
                <a:latin typeface="华文楷体"/>
                <a:cs typeface="华文楷体"/>
              </a:rPr>
              <a:t>：</a:t>
            </a: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	</a:t>
            </a:r>
            <a:r>
              <a:rPr dirty="0" baseline="-10802" sz="5400">
                <a:solidFill>
                  <a:srgbClr val="FF0000"/>
                </a:solidFill>
                <a:latin typeface="宋体"/>
                <a:cs typeface="宋体"/>
              </a:rPr>
              <a:t>↑</a:t>
            </a:r>
            <a:endParaRPr baseline="-10802" sz="5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1304" y="3461435"/>
            <a:ext cx="2158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光子说解释</a:t>
            </a:r>
            <a:r>
              <a:rPr dirty="0" sz="2800" spc="-5">
                <a:solidFill>
                  <a:srgbClr val="00AFEF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8970" y="4901463"/>
            <a:ext cx="307340" cy="213995"/>
          </a:xfrm>
          <a:custGeom>
            <a:avLst/>
            <a:gdLst/>
            <a:ahLst/>
            <a:cxnLst/>
            <a:rect l="l" t="t" r="r" b="b"/>
            <a:pathLst>
              <a:path w="307339" h="213995">
                <a:moveTo>
                  <a:pt x="199999" y="64973"/>
                </a:moveTo>
                <a:lnTo>
                  <a:pt x="199999" y="0"/>
                </a:lnTo>
                <a:lnTo>
                  <a:pt x="222983" y="22987"/>
                </a:lnTo>
                <a:lnTo>
                  <a:pt x="219049" y="22987"/>
                </a:lnTo>
                <a:lnTo>
                  <a:pt x="202780" y="29730"/>
                </a:lnTo>
                <a:lnTo>
                  <a:pt x="219049" y="45999"/>
                </a:lnTo>
                <a:lnTo>
                  <a:pt x="219049" y="55448"/>
                </a:lnTo>
                <a:lnTo>
                  <a:pt x="209524" y="55448"/>
                </a:lnTo>
                <a:lnTo>
                  <a:pt x="199999" y="64973"/>
                </a:lnTo>
                <a:close/>
              </a:path>
              <a:path w="307339" h="213995">
                <a:moveTo>
                  <a:pt x="219049" y="45999"/>
                </a:moveTo>
                <a:lnTo>
                  <a:pt x="202780" y="29730"/>
                </a:lnTo>
                <a:lnTo>
                  <a:pt x="219049" y="22987"/>
                </a:lnTo>
                <a:lnTo>
                  <a:pt x="219049" y="45999"/>
                </a:lnTo>
                <a:close/>
              </a:path>
              <a:path w="307339" h="213995">
                <a:moveTo>
                  <a:pt x="280015" y="106965"/>
                </a:moveTo>
                <a:lnTo>
                  <a:pt x="219049" y="45999"/>
                </a:lnTo>
                <a:lnTo>
                  <a:pt x="219049" y="22987"/>
                </a:lnTo>
                <a:lnTo>
                  <a:pt x="222983" y="22987"/>
                </a:lnTo>
                <a:lnTo>
                  <a:pt x="300216" y="100228"/>
                </a:lnTo>
                <a:lnTo>
                  <a:pt x="286753" y="100228"/>
                </a:lnTo>
                <a:lnTo>
                  <a:pt x="280015" y="106965"/>
                </a:lnTo>
                <a:close/>
              </a:path>
              <a:path w="307339" h="213995">
                <a:moveTo>
                  <a:pt x="199999" y="158483"/>
                </a:moveTo>
                <a:lnTo>
                  <a:pt x="0" y="158483"/>
                </a:lnTo>
                <a:lnTo>
                  <a:pt x="0" y="55448"/>
                </a:lnTo>
                <a:lnTo>
                  <a:pt x="199999" y="55448"/>
                </a:lnTo>
                <a:lnTo>
                  <a:pt x="199999" y="64973"/>
                </a:lnTo>
                <a:lnTo>
                  <a:pt x="19050" y="64973"/>
                </a:lnTo>
                <a:lnTo>
                  <a:pt x="9525" y="74498"/>
                </a:lnTo>
                <a:lnTo>
                  <a:pt x="19050" y="74498"/>
                </a:lnTo>
                <a:lnTo>
                  <a:pt x="19050" y="139433"/>
                </a:lnTo>
                <a:lnTo>
                  <a:pt x="9525" y="139433"/>
                </a:lnTo>
                <a:lnTo>
                  <a:pt x="19050" y="148958"/>
                </a:lnTo>
                <a:lnTo>
                  <a:pt x="199999" y="148958"/>
                </a:lnTo>
                <a:lnTo>
                  <a:pt x="199999" y="158483"/>
                </a:lnTo>
                <a:close/>
              </a:path>
              <a:path w="307339" h="213995">
                <a:moveTo>
                  <a:pt x="219049" y="74498"/>
                </a:moveTo>
                <a:lnTo>
                  <a:pt x="19050" y="74498"/>
                </a:lnTo>
                <a:lnTo>
                  <a:pt x="19050" y="64973"/>
                </a:lnTo>
                <a:lnTo>
                  <a:pt x="199999" y="64973"/>
                </a:lnTo>
                <a:lnTo>
                  <a:pt x="209524" y="55448"/>
                </a:lnTo>
                <a:lnTo>
                  <a:pt x="219049" y="55448"/>
                </a:lnTo>
                <a:lnTo>
                  <a:pt x="219049" y="74498"/>
                </a:lnTo>
                <a:close/>
              </a:path>
              <a:path w="307339" h="213995">
                <a:moveTo>
                  <a:pt x="19050" y="74498"/>
                </a:moveTo>
                <a:lnTo>
                  <a:pt x="9525" y="74498"/>
                </a:lnTo>
                <a:lnTo>
                  <a:pt x="19050" y="64973"/>
                </a:lnTo>
                <a:lnTo>
                  <a:pt x="19050" y="74498"/>
                </a:lnTo>
                <a:close/>
              </a:path>
              <a:path w="307339" h="213995">
                <a:moveTo>
                  <a:pt x="286753" y="113703"/>
                </a:moveTo>
                <a:lnTo>
                  <a:pt x="280015" y="106965"/>
                </a:lnTo>
                <a:lnTo>
                  <a:pt x="286753" y="100228"/>
                </a:lnTo>
                <a:lnTo>
                  <a:pt x="286753" y="113703"/>
                </a:lnTo>
                <a:close/>
              </a:path>
              <a:path w="307339" h="213995">
                <a:moveTo>
                  <a:pt x="300228" y="113703"/>
                </a:moveTo>
                <a:lnTo>
                  <a:pt x="286753" y="113703"/>
                </a:lnTo>
                <a:lnTo>
                  <a:pt x="286753" y="100228"/>
                </a:lnTo>
                <a:lnTo>
                  <a:pt x="300216" y="100228"/>
                </a:lnTo>
                <a:lnTo>
                  <a:pt x="306958" y="106972"/>
                </a:lnTo>
                <a:lnTo>
                  <a:pt x="300228" y="113703"/>
                </a:lnTo>
                <a:close/>
              </a:path>
              <a:path w="307339" h="213995">
                <a:moveTo>
                  <a:pt x="222986" y="190944"/>
                </a:moveTo>
                <a:lnTo>
                  <a:pt x="219049" y="190944"/>
                </a:lnTo>
                <a:lnTo>
                  <a:pt x="219049" y="167932"/>
                </a:lnTo>
                <a:lnTo>
                  <a:pt x="280022" y="106972"/>
                </a:lnTo>
                <a:lnTo>
                  <a:pt x="286753" y="113703"/>
                </a:lnTo>
                <a:lnTo>
                  <a:pt x="300228" y="113703"/>
                </a:lnTo>
                <a:lnTo>
                  <a:pt x="222986" y="190944"/>
                </a:lnTo>
                <a:close/>
              </a:path>
              <a:path w="307339" h="213995">
                <a:moveTo>
                  <a:pt x="19050" y="148958"/>
                </a:moveTo>
                <a:lnTo>
                  <a:pt x="9525" y="139433"/>
                </a:lnTo>
                <a:lnTo>
                  <a:pt x="19050" y="139433"/>
                </a:lnTo>
                <a:lnTo>
                  <a:pt x="19050" y="148958"/>
                </a:lnTo>
                <a:close/>
              </a:path>
              <a:path w="307339" h="213995">
                <a:moveTo>
                  <a:pt x="219049" y="158483"/>
                </a:moveTo>
                <a:lnTo>
                  <a:pt x="209524" y="158483"/>
                </a:lnTo>
                <a:lnTo>
                  <a:pt x="199999" y="148958"/>
                </a:lnTo>
                <a:lnTo>
                  <a:pt x="19050" y="148958"/>
                </a:lnTo>
                <a:lnTo>
                  <a:pt x="19050" y="139433"/>
                </a:lnTo>
                <a:lnTo>
                  <a:pt x="219049" y="139433"/>
                </a:lnTo>
                <a:lnTo>
                  <a:pt x="219049" y="158483"/>
                </a:lnTo>
                <a:close/>
              </a:path>
              <a:path w="307339" h="213995">
                <a:moveTo>
                  <a:pt x="199999" y="213931"/>
                </a:moveTo>
                <a:lnTo>
                  <a:pt x="199999" y="148958"/>
                </a:lnTo>
                <a:lnTo>
                  <a:pt x="209524" y="158483"/>
                </a:lnTo>
                <a:lnTo>
                  <a:pt x="219049" y="158483"/>
                </a:lnTo>
                <a:lnTo>
                  <a:pt x="219049" y="167932"/>
                </a:lnTo>
                <a:lnTo>
                  <a:pt x="202780" y="184200"/>
                </a:lnTo>
                <a:lnTo>
                  <a:pt x="219049" y="190944"/>
                </a:lnTo>
                <a:lnTo>
                  <a:pt x="222986" y="190944"/>
                </a:lnTo>
                <a:lnTo>
                  <a:pt x="199999" y="213931"/>
                </a:lnTo>
                <a:close/>
              </a:path>
              <a:path w="307339" h="213995">
                <a:moveTo>
                  <a:pt x="219049" y="190944"/>
                </a:moveTo>
                <a:lnTo>
                  <a:pt x="202780" y="184200"/>
                </a:lnTo>
                <a:lnTo>
                  <a:pt x="219049" y="167932"/>
                </a:lnTo>
                <a:lnTo>
                  <a:pt x="219049" y="1909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06662" y="3288398"/>
            <a:ext cx="223570" cy="10077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34432" y="2105088"/>
            <a:ext cx="1283335" cy="213995"/>
          </a:xfrm>
          <a:custGeom>
            <a:avLst/>
            <a:gdLst/>
            <a:ahLst/>
            <a:cxnLst/>
            <a:rect l="l" t="t" r="r" b="b"/>
            <a:pathLst>
              <a:path w="1283335" h="213994">
                <a:moveTo>
                  <a:pt x="1176019" y="64985"/>
                </a:moveTo>
                <a:lnTo>
                  <a:pt x="1176019" y="0"/>
                </a:lnTo>
                <a:lnTo>
                  <a:pt x="1199019" y="22999"/>
                </a:lnTo>
                <a:lnTo>
                  <a:pt x="1195069" y="22999"/>
                </a:lnTo>
                <a:lnTo>
                  <a:pt x="1178814" y="29730"/>
                </a:lnTo>
                <a:lnTo>
                  <a:pt x="1195069" y="45989"/>
                </a:lnTo>
                <a:lnTo>
                  <a:pt x="1195069" y="55460"/>
                </a:lnTo>
                <a:lnTo>
                  <a:pt x="1185544" y="55460"/>
                </a:lnTo>
                <a:lnTo>
                  <a:pt x="1176019" y="64985"/>
                </a:lnTo>
                <a:close/>
              </a:path>
              <a:path w="1283335" h="213994">
                <a:moveTo>
                  <a:pt x="1195069" y="45989"/>
                </a:moveTo>
                <a:lnTo>
                  <a:pt x="1178814" y="29730"/>
                </a:lnTo>
                <a:lnTo>
                  <a:pt x="1195069" y="22999"/>
                </a:lnTo>
                <a:lnTo>
                  <a:pt x="1195069" y="45989"/>
                </a:lnTo>
                <a:close/>
              </a:path>
              <a:path w="1283335" h="213994">
                <a:moveTo>
                  <a:pt x="1256049" y="106977"/>
                </a:moveTo>
                <a:lnTo>
                  <a:pt x="1195069" y="45989"/>
                </a:lnTo>
                <a:lnTo>
                  <a:pt x="1195069" y="22999"/>
                </a:lnTo>
                <a:lnTo>
                  <a:pt x="1199019" y="22999"/>
                </a:lnTo>
                <a:lnTo>
                  <a:pt x="1276261" y="100241"/>
                </a:lnTo>
                <a:lnTo>
                  <a:pt x="1262786" y="100241"/>
                </a:lnTo>
                <a:lnTo>
                  <a:pt x="1256049" y="106977"/>
                </a:lnTo>
                <a:close/>
              </a:path>
              <a:path w="1283335" h="213994">
                <a:moveTo>
                  <a:pt x="1176019" y="158483"/>
                </a:moveTo>
                <a:lnTo>
                  <a:pt x="0" y="158483"/>
                </a:lnTo>
                <a:lnTo>
                  <a:pt x="0" y="55460"/>
                </a:lnTo>
                <a:lnTo>
                  <a:pt x="1176019" y="55460"/>
                </a:lnTo>
                <a:lnTo>
                  <a:pt x="1176019" y="64985"/>
                </a:lnTo>
                <a:lnTo>
                  <a:pt x="19050" y="64985"/>
                </a:lnTo>
                <a:lnTo>
                  <a:pt x="9525" y="74510"/>
                </a:lnTo>
                <a:lnTo>
                  <a:pt x="19050" y="74510"/>
                </a:lnTo>
                <a:lnTo>
                  <a:pt x="19050" y="139433"/>
                </a:lnTo>
                <a:lnTo>
                  <a:pt x="9525" y="139433"/>
                </a:lnTo>
                <a:lnTo>
                  <a:pt x="19050" y="148958"/>
                </a:lnTo>
                <a:lnTo>
                  <a:pt x="1176019" y="148958"/>
                </a:lnTo>
                <a:lnTo>
                  <a:pt x="1176019" y="158483"/>
                </a:lnTo>
                <a:close/>
              </a:path>
              <a:path w="1283335" h="213994">
                <a:moveTo>
                  <a:pt x="1195069" y="74510"/>
                </a:moveTo>
                <a:lnTo>
                  <a:pt x="19050" y="74510"/>
                </a:lnTo>
                <a:lnTo>
                  <a:pt x="19050" y="64985"/>
                </a:lnTo>
                <a:lnTo>
                  <a:pt x="1176019" y="64985"/>
                </a:lnTo>
                <a:lnTo>
                  <a:pt x="1185544" y="55460"/>
                </a:lnTo>
                <a:lnTo>
                  <a:pt x="1195069" y="55460"/>
                </a:lnTo>
                <a:lnTo>
                  <a:pt x="1195069" y="74510"/>
                </a:lnTo>
                <a:close/>
              </a:path>
              <a:path w="1283335" h="213994">
                <a:moveTo>
                  <a:pt x="19050" y="74510"/>
                </a:moveTo>
                <a:lnTo>
                  <a:pt x="9525" y="74510"/>
                </a:lnTo>
                <a:lnTo>
                  <a:pt x="19050" y="64985"/>
                </a:lnTo>
                <a:lnTo>
                  <a:pt x="19050" y="74510"/>
                </a:lnTo>
                <a:close/>
              </a:path>
              <a:path w="1283335" h="213994">
                <a:moveTo>
                  <a:pt x="1262786" y="113715"/>
                </a:moveTo>
                <a:lnTo>
                  <a:pt x="1256055" y="106972"/>
                </a:lnTo>
                <a:lnTo>
                  <a:pt x="1262786" y="100241"/>
                </a:lnTo>
                <a:lnTo>
                  <a:pt x="1262786" y="113715"/>
                </a:lnTo>
                <a:close/>
              </a:path>
              <a:path w="1283335" h="213994">
                <a:moveTo>
                  <a:pt x="1276248" y="113715"/>
                </a:moveTo>
                <a:lnTo>
                  <a:pt x="1262786" y="113715"/>
                </a:lnTo>
                <a:lnTo>
                  <a:pt x="1262786" y="100241"/>
                </a:lnTo>
                <a:lnTo>
                  <a:pt x="1276261" y="100241"/>
                </a:lnTo>
                <a:lnTo>
                  <a:pt x="1282986" y="106977"/>
                </a:lnTo>
                <a:lnTo>
                  <a:pt x="1276248" y="113715"/>
                </a:lnTo>
                <a:close/>
              </a:path>
              <a:path w="1283335" h="213994">
                <a:moveTo>
                  <a:pt x="1199006" y="190957"/>
                </a:moveTo>
                <a:lnTo>
                  <a:pt x="1195069" y="190957"/>
                </a:lnTo>
                <a:lnTo>
                  <a:pt x="1195069" y="167957"/>
                </a:lnTo>
                <a:lnTo>
                  <a:pt x="1256049" y="106977"/>
                </a:lnTo>
                <a:lnTo>
                  <a:pt x="1262786" y="113715"/>
                </a:lnTo>
                <a:lnTo>
                  <a:pt x="1276248" y="113715"/>
                </a:lnTo>
                <a:lnTo>
                  <a:pt x="1199006" y="190957"/>
                </a:lnTo>
                <a:close/>
              </a:path>
              <a:path w="1283335" h="213994">
                <a:moveTo>
                  <a:pt x="19050" y="148958"/>
                </a:moveTo>
                <a:lnTo>
                  <a:pt x="9525" y="139433"/>
                </a:lnTo>
                <a:lnTo>
                  <a:pt x="19050" y="139433"/>
                </a:lnTo>
                <a:lnTo>
                  <a:pt x="19050" y="148958"/>
                </a:lnTo>
                <a:close/>
              </a:path>
              <a:path w="1283335" h="213994">
                <a:moveTo>
                  <a:pt x="1195069" y="158483"/>
                </a:moveTo>
                <a:lnTo>
                  <a:pt x="1185544" y="158483"/>
                </a:lnTo>
                <a:lnTo>
                  <a:pt x="1176019" y="148958"/>
                </a:lnTo>
                <a:lnTo>
                  <a:pt x="19050" y="148958"/>
                </a:lnTo>
                <a:lnTo>
                  <a:pt x="19050" y="139433"/>
                </a:lnTo>
                <a:lnTo>
                  <a:pt x="1195069" y="139433"/>
                </a:lnTo>
                <a:lnTo>
                  <a:pt x="1195069" y="158483"/>
                </a:lnTo>
                <a:close/>
              </a:path>
              <a:path w="1283335" h="213994">
                <a:moveTo>
                  <a:pt x="1176019" y="213944"/>
                </a:moveTo>
                <a:lnTo>
                  <a:pt x="1176019" y="148958"/>
                </a:lnTo>
                <a:lnTo>
                  <a:pt x="1185544" y="158483"/>
                </a:lnTo>
                <a:lnTo>
                  <a:pt x="1195069" y="158483"/>
                </a:lnTo>
                <a:lnTo>
                  <a:pt x="1195069" y="167957"/>
                </a:lnTo>
                <a:lnTo>
                  <a:pt x="1178814" y="184213"/>
                </a:lnTo>
                <a:lnTo>
                  <a:pt x="1195069" y="190957"/>
                </a:lnTo>
                <a:lnTo>
                  <a:pt x="1199006" y="190957"/>
                </a:lnTo>
                <a:lnTo>
                  <a:pt x="1176019" y="213944"/>
                </a:lnTo>
                <a:close/>
              </a:path>
              <a:path w="1283335" h="213994">
                <a:moveTo>
                  <a:pt x="1195069" y="190957"/>
                </a:moveTo>
                <a:lnTo>
                  <a:pt x="1178814" y="184213"/>
                </a:lnTo>
                <a:lnTo>
                  <a:pt x="1195069" y="167957"/>
                </a:lnTo>
                <a:lnTo>
                  <a:pt x="1195069" y="190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59198" y="1934349"/>
            <a:ext cx="482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0000"/>
                </a:solidFill>
                <a:latin typeface="宋体"/>
                <a:cs typeface="宋体"/>
              </a:rPr>
              <a:t>↑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2664" y="1916315"/>
            <a:ext cx="3340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 i="1">
                <a:latin typeface="Times New Roman"/>
                <a:cs typeface="Times New Roman"/>
              </a:rPr>
              <a:t>U</a:t>
            </a:r>
            <a:r>
              <a:rPr dirty="0" baseline="-3086" sz="5400" spc="-5287">
                <a:solidFill>
                  <a:srgbClr val="FF0000"/>
                </a:solidFill>
                <a:latin typeface="宋体"/>
                <a:cs typeface="宋体"/>
              </a:rPr>
              <a:t>↑</a:t>
            </a:r>
            <a:r>
              <a:rPr dirty="0" baseline="-17921" sz="2325">
                <a:latin typeface="Times New Roman"/>
                <a:cs typeface="Times New Roman"/>
              </a:rPr>
              <a:t>c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46647" y="2616707"/>
            <a:ext cx="5274563" cy="3392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光电效应的遏止电压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638" y="2008848"/>
            <a:ext cx="3714115" cy="3508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258445" algn="l"/>
                <a:tab pos="1859280" algn="l"/>
              </a:tabLst>
            </a:pPr>
            <a:r>
              <a:rPr dirty="0" sz="2800">
                <a:latin typeface="华文楷体"/>
                <a:cs typeface="华文楷体"/>
              </a:rPr>
              <a:t>横截距</a:t>
            </a:r>
            <a:r>
              <a:rPr dirty="0" sz="2800" spc="-5">
                <a:latin typeface="华文楷体"/>
                <a:cs typeface="华文楷体"/>
              </a:rPr>
              <a:t>：	</a:t>
            </a:r>
            <a:r>
              <a:rPr dirty="0" baseline="1984" sz="4200">
                <a:latin typeface="华文楷体"/>
                <a:cs typeface="华文楷体"/>
              </a:rPr>
              <a:t>截止频</a:t>
            </a:r>
            <a:r>
              <a:rPr dirty="0" baseline="1984" sz="4200" spc="-7">
                <a:latin typeface="华文楷体"/>
                <a:cs typeface="华文楷体"/>
              </a:rPr>
              <a:t>率</a:t>
            </a:r>
            <a:endParaRPr baseline="1984" sz="4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"/>
              <a:buAutoNum type="arabicPeriod"/>
            </a:pPr>
            <a:endParaRPr sz="3350">
              <a:latin typeface="Times New Roman"/>
              <a:cs typeface="Times New Roman"/>
            </a:endParaRPr>
          </a:p>
          <a:p>
            <a:pPr marL="257810" indent="-245110">
              <a:lnSpc>
                <a:spcPct val="100000"/>
              </a:lnSpc>
              <a:buSzPct val="96428"/>
              <a:buAutoNum type="arabicPeriod"/>
              <a:tabLst>
                <a:tab pos="258445" algn="l"/>
              </a:tabLst>
            </a:pPr>
            <a:r>
              <a:rPr dirty="0" sz="2800">
                <a:latin typeface="华文楷体"/>
                <a:cs typeface="华文楷体"/>
              </a:rPr>
              <a:t>斜率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</a:pPr>
            <a:r>
              <a:rPr dirty="0" sz="2800">
                <a:solidFill>
                  <a:srgbClr val="01611F"/>
                </a:solidFill>
                <a:latin typeface="楷体"/>
                <a:cs typeface="楷体"/>
              </a:rPr>
              <a:t>普朗克常量实验值</a:t>
            </a:r>
            <a:r>
              <a:rPr dirty="0" sz="2800" spc="-5">
                <a:solidFill>
                  <a:srgbClr val="01611F"/>
                </a:solidFill>
                <a:latin typeface="楷体"/>
                <a:cs typeface="楷体"/>
              </a:rPr>
              <a:t>：</a:t>
            </a:r>
            <a:endParaRPr sz="2800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Times New Roman"/>
              <a:cs typeface="Times New Roman"/>
            </a:endParaRPr>
          </a:p>
          <a:p>
            <a:pPr marL="145415">
              <a:lnSpc>
                <a:spcPct val="100000"/>
              </a:lnSpc>
            </a:pPr>
            <a:r>
              <a:rPr dirty="0" sz="2800">
                <a:solidFill>
                  <a:srgbClr val="01611F"/>
                </a:solidFill>
                <a:latin typeface="楷体"/>
                <a:cs typeface="楷体"/>
              </a:rPr>
              <a:t>黑体辐射普朗克常量</a:t>
            </a:r>
            <a:r>
              <a:rPr dirty="0" sz="2800" spc="-5">
                <a:solidFill>
                  <a:srgbClr val="01611F"/>
                </a:solidFill>
                <a:latin typeface="楷体"/>
                <a:cs typeface="楷体"/>
              </a:rPr>
              <a:t>：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88508" y="2001011"/>
            <a:ext cx="6341364" cy="40843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光电效应的遏止电压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0736" y="2092299"/>
            <a:ext cx="4576089" cy="3195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163453" y="4110304"/>
            <a:ext cx="2621280" cy="558800"/>
          </a:xfrm>
          <a:custGeom>
            <a:avLst/>
            <a:gdLst/>
            <a:ahLst/>
            <a:cxnLst/>
            <a:rect l="l" t="t" r="r" b="b"/>
            <a:pathLst>
              <a:path w="2621279" h="558800">
                <a:moveTo>
                  <a:pt x="2620784" y="558418"/>
                </a:moveTo>
                <a:lnTo>
                  <a:pt x="0" y="558418"/>
                </a:lnTo>
                <a:lnTo>
                  <a:pt x="0" y="0"/>
                </a:lnTo>
                <a:lnTo>
                  <a:pt x="2620784" y="0"/>
                </a:lnTo>
                <a:lnTo>
                  <a:pt x="262078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529843"/>
                </a:lnTo>
                <a:lnTo>
                  <a:pt x="14287" y="529843"/>
                </a:lnTo>
                <a:lnTo>
                  <a:pt x="28575" y="544131"/>
                </a:lnTo>
                <a:lnTo>
                  <a:pt x="2620784" y="544131"/>
                </a:lnTo>
                <a:lnTo>
                  <a:pt x="2620784" y="558418"/>
                </a:lnTo>
                <a:close/>
              </a:path>
              <a:path w="2621279" h="5588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621279" h="558800">
                <a:moveTo>
                  <a:pt x="259220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592209" y="14287"/>
                </a:lnTo>
                <a:lnTo>
                  <a:pt x="2592209" y="28575"/>
                </a:lnTo>
                <a:close/>
              </a:path>
              <a:path w="2621279" h="558800">
                <a:moveTo>
                  <a:pt x="2592209" y="544131"/>
                </a:moveTo>
                <a:lnTo>
                  <a:pt x="2592209" y="14287"/>
                </a:lnTo>
                <a:lnTo>
                  <a:pt x="2606497" y="28575"/>
                </a:lnTo>
                <a:lnTo>
                  <a:pt x="2620784" y="28575"/>
                </a:lnTo>
                <a:lnTo>
                  <a:pt x="2620784" y="529843"/>
                </a:lnTo>
                <a:lnTo>
                  <a:pt x="2606497" y="529843"/>
                </a:lnTo>
                <a:lnTo>
                  <a:pt x="2592209" y="544131"/>
                </a:lnTo>
                <a:close/>
              </a:path>
              <a:path w="2621279" h="558800">
                <a:moveTo>
                  <a:pt x="2620784" y="28575"/>
                </a:moveTo>
                <a:lnTo>
                  <a:pt x="2606497" y="28575"/>
                </a:lnTo>
                <a:lnTo>
                  <a:pt x="2592209" y="14287"/>
                </a:lnTo>
                <a:lnTo>
                  <a:pt x="2620784" y="14287"/>
                </a:lnTo>
                <a:lnTo>
                  <a:pt x="2620784" y="28575"/>
                </a:lnTo>
                <a:close/>
              </a:path>
              <a:path w="2621279" h="558800">
                <a:moveTo>
                  <a:pt x="28575" y="544131"/>
                </a:moveTo>
                <a:lnTo>
                  <a:pt x="14287" y="529843"/>
                </a:lnTo>
                <a:lnTo>
                  <a:pt x="28575" y="529843"/>
                </a:lnTo>
                <a:lnTo>
                  <a:pt x="28575" y="544131"/>
                </a:lnTo>
                <a:close/>
              </a:path>
              <a:path w="2621279" h="558800">
                <a:moveTo>
                  <a:pt x="2592209" y="544131"/>
                </a:moveTo>
                <a:lnTo>
                  <a:pt x="28575" y="544131"/>
                </a:lnTo>
                <a:lnTo>
                  <a:pt x="28575" y="529843"/>
                </a:lnTo>
                <a:lnTo>
                  <a:pt x="2592209" y="529843"/>
                </a:lnTo>
                <a:lnTo>
                  <a:pt x="2592209" y="544131"/>
                </a:lnTo>
                <a:close/>
              </a:path>
              <a:path w="2621279" h="558800">
                <a:moveTo>
                  <a:pt x="2620784" y="544131"/>
                </a:moveTo>
                <a:lnTo>
                  <a:pt x="2592209" y="544131"/>
                </a:lnTo>
                <a:lnTo>
                  <a:pt x="2606497" y="529843"/>
                </a:lnTo>
                <a:lnTo>
                  <a:pt x="2620784" y="529843"/>
                </a:lnTo>
                <a:lnTo>
                  <a:pt x="2620784" y="54413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78578" y="2718168"/>
            <a:ext cx="616585" cy="171450"/>
          </a:xfrm>
          <a:custGeom>
            <a:avLst/>
            <a:gdLst/>
            <a:ahLst/>
            <a:cxnLst/>
            <a:rect l="l" t="t" r="r" b="b"/>
            <a:pathLst>
              <a:path w="616585" h="171450">
                <a:moveTo>
                  <a:pt x="150812" y="171437"/>
                </a:moveTo>
                <a:lnTo>
                  <a:pt x="147510" y="171081"/>
                </a:lnTo>
                <a:lnTo>
                  <a:pt x="144322" y="170167"/>
                </a:lnTo>
                <a:lnTo>
                  <a:pt x="141338" y="168706"/>
                </a:lnTo>
                <a:lnTo>
                  <a:pt x="0" y="83616"/>
                </a:lnTo>
                <a:lnTo>
                  <a:pt x="143637" y="2463"/>
                </a:lnTo>
                <a:lnTo>
                  <a:pt x="146659" y="1092"/>
                </a:lnTo>
                <a:lnTo>
                  <a:pt x="149885" y="266"/>
                </a:lnTo>
                <a:lnTo>
                  <a:pt x="153187" y="0"/>
                </a:lnTo>
                <a:lnTo>
                  <a:pt x="156489" y="317"/>
                </a:lnTo>
                <a:lnTo>
                  <a:pt x="172059" y="19227"/>
                </a:lnTo>
                <a:lnTo>
                  <a:pt x="171742" y="22529"/>
                </a:lnTo>
                <a:lnTo>
                  <a:pt x="110249" y="65087"/>
                </a:lnTo>
                <a:lnTo>
                  <a:pt x="38061" y="65087"/>
                </a:lnTo>
                <a:lnTo>
                  <a:pt x="37541" y="103187"/>
                </a:lnTo>
                <a:lnTo>
                  <a:pt x="107991" y="104162"/>
                </a:lnTo>
                <a:lnTo>
                  <a:pt x="160985" y="136067"/>
                </a:lnTo>
                <a:lnTo>
                  <a:pt x="170205" y="152742"/>
                </a:lnTo>
                <a:lnTo>
                  <a:pt x="169862" y="156044"/>
                </a:lnTo>
                <a:lnTo>
                  <a:pt x="154127" y="171208"/>
                </a:lnTo>
                <a:lnTo>
                  <a:pt x="150812" y="171437"/>
                </a:lnTo>
                <a:close/>
              </a:path>
              <a:path w="616585" h="171450">
                <a:moveTo>
                  <a:pt x="107991" y="104162"/>
                </a:moveTo>
                <a:lnTo>
                  <a:pt x="37541" y="103187"/>
                </a:lnTo>
                <a:lnTo>
                  <a:pt x="38061" y="65087"/>
                </a:lnTo>
                <a:lnTo>
                  <a:pt x="108520" y="66064"/>
                </a:lnTo>
                <a:lnTo>
                  <a:pt x="105415" y="67818"/>
                </a:lnTo>
                <a:lnTo>
                  <a:pt x="47625" y="67818"/>
                </a:lnTo>
                <a:lnTo>
                  <a:pt x="47167" y="100723"/>
                </a:lnTo>
                <a:lnTo>
                  <a:pt x="102280" y="100723"/>
                </a:lnTo>
                <a:lnTo>
                  <a:pt x="107991" y="104162"/>
                </a:lnTo>
                <a:close/>
              </a:path>
              <a:path w="616585" h="171450">
                <a:moveTo>
                  <a:pt x="108520" y="66064"/>
                </a:moveTo>
                <a:lnTo>
                  <a:pt x="38061" y="65087"/>
                </a:lnTo>
                <a:lnTo>
                  <a:pt x="110249" y="65087"/>
                </a:lnTo>
                <a:lnTo>
                  <a:pt x="108520" y="66064"/>
                </a:lnTo>
                <a:close/>
              </a:path>
              <a:path w="616585" h="171450">
                <a:moveTo>
                  <a:pt x="615645" y="111188"/>
                </a:moveTo>
                <a:lnTo>
                  <a:pt x="107991" y="104162"/>
                </a:lnTo>
                <a:lnTo>
                  <a:pt x="75600" y="84661"/>
                </a:lnTo>
                <a:lnTo>
                  <a:pt x="108520" y="66064"/>
                </a:lnTo>
                <a:lnTo>
                  <a:pt x="616165" y="73101"/>
                </a:lnTo>
                <a:lnTo>
                  <a:pt x="615645" y="111188"/>
                </a:lnTo>
                <a:close/>
              </a:path>
              <a:path w="616585" h="171450">
                <a:moveTo>
                  <a:pt x="47167" y="100723"/>
                </a:moveTo>
                <a:lnTo>
                  <a:pt x="47625" y="67818"/>
                </a:lnTo>
                <a:lnTo>
                  <a:pt x="75600" y="84661"/>
                </a:lnTo>
                <a:lnTo>
                  <a:pt x="47167" y="100723"/>
                </a:lnTo>
                <a:close/>
              </a:path>
              <a:path w="616585" h="171450">
                <a:moveTo>
                  <a:pt x="75600" y="84661"/>
                </a:moveTo>
                <a:lnTo>
                  <a:pt x="47625" y="67818"/>
                </a:lnTo>
                <a:lnTo>
                  <a:pt x="105415" y="67818"/>
                </a:lnTo>
                <a:lnTo>
                  <a:pt x="75600" y="84661"/>
                </a:lnTo>
                <a:close/>
              </a:path>
              <a:path w="616585" h="171450">
                <a:moveTo>
                  <a:pt x="102280" y="100723"/>
                </a:moveTo>
                <a:lnTo>
                  <a:pt x="47167" y="100723"/>
                </a:lnTo>
                <a:lnTo>
                  <a:pt x="75600" y="84661"/>
                </a:lnTo>
                <a:lnTo>
                  <a:pt x="102280" y="100723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08283" y="284194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83506" y="3458006"/>
            <a:ext cx="608495" cy="317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2806" y="5402719"/>
            <a:ext cx="103390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光照不变时，随着正向电压增大，光电流趋于饱和值——</a:t>
            </a:r>
            <a:r>
              <a:rPr dirty="0" sz="2800" b="1">
                <a:solidFill>
                  <a:srgbClr val="AE0000"/>
                </a:solidFill>
                <a:latin typeface="华文楷体"/>
                <a:cs typeface="华文楷体"/>
              </a:rPr>
              <a:t>饱和电</a:t>
            </a:r>
            <a:r>
              <a:rPr dirty="0" sz="2800" spc="-10" b="1">
                <a:solidFill>
                  <a:srgbClr val="AE0000"/>
                </a:solidFill>
                <a:latin typeface="华文楷体"/>
                <a:cs typeface="华文楷体"/>
              </a:rPr>
              <a:t>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4372" y="1540230"/>
            <a:ext cx="6781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楷体"/>
                <a:cs typeface="楷体"/>
              </a:rPr>
              <a:t>频率一定时，饱和电流与光强有什么关系</a:t>
            </a:r>
            <a:r>
              <a:rPr dirty="0" sz="2800" spc="-5">
                <a:latin typeface="楷体"/>
                <a:cs typeface="楷体"/>
              </a:rPr>
              <a:t>？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9493" y="1572564"/>
            <a:ext cx="1123950" cy="433705"/>
          </a:xfrm>
          <a:custGeom>
            <a:avLst/>
            <a:gdLst/>
            <a:ahLst/>
            <a:cxnLst/>
            <a:rect l="l" t="t" r="r" b="b"/>
            <a:pathLst>
              <a:path w="1123950" h="433705">
                <a:moveTo>
                  <a:pt x="1046988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90373" y="219621"/>
                </a:lnTo>
                <a:lnTo>
                  <a:pt x="0" y="132016"/>
                </a:lnTo>
                <a:lnTo>
                  <a:pt x="0" y="0"/>
                </a:lnTo>
                <a:lnTo>
                  <a:pt x="1046988" y="0"/>
                </a:lnTo>
                <a:lnTo>
                  <a:pt x="1046988" y="145072"/>
                </a:lnTo>
                <a:lnTo>
                  <a:pt x="1123873" y="219621"/>
                </a:lnTo>
                <a:lnTo>
                  <a:pt x="1046988" y="294170"/>
                </a:lnTo>
                <a:lnTo>
                  <a:pt x="1046988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9968" y="1563039"/>
            <a:ext cx="1147445" cy="452755"/>
          </a:xfrm>
          <a:custGeom>
            <a:avLst/>
            <a:gdLst/>
            <a:ahLst/>
            <a:cxnLst/>
            <a:rect l="l" t="t" r="r" b="b"/>
            <a:pathLst>
              <a:path w="1147445" h="452755">
                <a:moveTo>
                  <a:pt x="86219" y="229146"/>
                </a:moveTo>
                <a:lnTo>
                  <a:pt x="0" y="145580"/>
                </a:lnTo>
                <a:lnTo>
                  <a:pt x="0" y="0"/>
                </a:lnTo>
                <a:lnTo>
                  <a:pt x="1066038" y="0"/>
                </a:lnTo>
                <a:lnTo>
                  <a:pt x="1066038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4708"/>
                </a:lnTo>
                <a:lnTo>
                  <a:pt x="16167" y="134708"/>
                </a:lnTo>
                <a:lnTo>
                  <a:pt x="19050" y="141541"/>
                </a:lnTo>
                <a:lnTo>
                  <a:pt x="23214" y="141541"/>
                </a:lnTo>
                <a:lnTo>
                  <a:pt x="106528" y="222313"/>
                </a:lnTo>
                <a:lnTo>
                  <a:pt x="93268" y="222313"/>
                </a:lnTo>
                <a:lnTo>
                  <a:pt x="86219" y="229146"/>
                </a:lnTo>
                <a:close/>
              </a:path>
              <a:path w="114744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1147445" h="452755">
                <a:moveTo>
                  <a:pt x="1046988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1046988" y="9524"/>
                </a:lnTo>
                <a:lnTo>
                  <a:pt x="1046988" y="19049"/>
                </a:lnTo>
                <a:close/>
              </a:path>
              <a:path w="1147445" h="452755">
                <a:moveTo>
                  <a:pt x="1119721" y="229146"/>
                </a:moveTo>
                <a:lnTo>
                  <a:pt x="1046988" y="158635"/>
                </a:lnTo>
                <a:lnTo>
                  <a:pt x="1046988" y="9524"/>
                </a:lnTo>
                <a:lnTo>
                  <a:pt x="1056513" y="19049"/>
                </a:lnTo>
                <a:lnTo>
                  <a:pt x="1066038" y="19049"/>
                </a:lnTo>
                <a:lnTo>
                  <a:pt x="1066038" y="147764"/>
                </a:lnTo>
                <a:lnTo>
                  <a:pt x="1063142" y="147764"/>
                </a:lnTo>
                <a:lnTo>
                  <a:pt x="1066038" y="154597"/>
                </a:lnTo>
                <a:lnTo>
                  <a:pt x="1070190" y="154597"/>
                </a:lnTo>
                <a:lnTo>
                  <a:pt x="1140041" y="222313"/>
                </a:lnTo>
                <a:lnTo>
                  <a:pt x="1126769" y="222313"/>
                </a:lnTo>
                <a:lnTo>
                  <a:pt x="1119721" y="229146"/>
                </a:lnTo>
                <a:close/>
              </a:path>
              <a:path w="1147445" h="452755">
                <a:moveTo>
                  <a:pt x="1066038" y="19049"/>
                </a:moveTo>
                <a:lnTo>
                  <a:pt x="1056513" y="19049"/>
                </a:lnTo>
                <a:lnTo>
                  <a:pt x="1046988" y="9524"/>
                </a:lnTo>
                <a:lnTo>
                  <a:pt x="1066038" y="9524"/>
                </a:lnTo>
                <a:lnTo>
                  <a:pt x="1066038" y="19049"/>
                </a:lnTo>
                <a:close/>
              </a:path>
              <a:path w="1147445" h="452755">
                <a:moveTo>
                  <a:pt x="19050" y="141541"/>
                </a:moveTo>
                <a:lnTo>
                  <a:pt x="16167" y="134708"/>
                </a:lnTo>
                <a:lnTo>
                  <a:pt x="19050" y="137503"/>
                </a:lnTo>
                <a:lnTo>
                  <a:pt x="19050" y="141541"/>
                </a:lnTo>
                <a:close/>
              </a:path>
              <a:path w="1147445" h="452755">
                <a:moveTo>
                  <a:pt x="19050" y="137503"/>
                </a:moveTo>
                <a:lnTo>
                  <a:pt x="16167" y="134708"/>
                </a:lnTo>
                <a:lnTo>
                  <a:pt x="19050" y="134708"/>
                </a:lnTo>
                <a:lnTo>
                  <a:pt x="19050" y="137503"/>
                </a:lnTo>
                <a:close/>
              </a:path>
              <a:path w="1147445" h="452755">
                <a:moveTo>
                  <a:pt x="23214" y="141541"/>
                </a:moveTo>
                <a:lnTo>
                  <a:pt x="19050" y="141541"/>
                </a:lnTo>
                <a:lnTo>
                  <a:pt x="19050" y="137503"/>
                </a:lnTo>
                <a:lnTo>
                  <a:pt x="23214" y="141541"/>
                </a:lnTo>
                <a:close/>
              </a:path>
              <a:path w="1147445" h="452755">
                <a:moveTo>
                  <a:pt x="1066038" y="154597"/>
                </a:moveTo>
                <a:lnTo>
                  <a:pt x="1063142" y="147764"/>
                </a:lnTo>
                <a:lnTo>
                  <a:pt x="1066038" y="150571"/>
                </a:lnTo>
                <a:lnTo>
                  <a:pt x="1066038" y="154597"/>
                </a:lnTo>
                <a:close/>
              </a:path>
              <a:path w="1147445" h="452755">
                <a:moveTo>
                  <a:pt x="1066038" y="150571"/>
                </a:moveTo>
                <a:lnTo>
                  <a:pt x="1063142" y="147764"/>
                </a:lnTo>
                <a:lnTo>
                  <a:pt x="1066038" y="147764"/>
                </a:lnTo>
                <a:lnTo>
                  <a:pt x="1066038" y="150571"/>
                </a:lnTo>
                <a:close/>
              </a:path>
              <a:path w="1147445" h="452755">
                <a:moveTo>
                  <a:pt x="1070190" y="154597"/>
                </a:moveTo>
                <a:lnTo>
                  <a:pt x="1066038" y="154597"/>
                </a:lnTo>
                <a:lnTo>
                  <a:pt x="1066038" y="150571"/>
                </a:lnTo>
                <a:lnTo>
                  <a:pt x="1070190" y="154597"/>
                </a:lnTo>
                <a:close/>
              </a:path>
              <a:path w="1147445" h="452755">
                <a:moveTo>
                  <a:pt x="93268" y="235978"/>
                </a:moveTo>
                <a:lnTo>
                  <a:pt x="86219" y="229146"/>
                </a:lnTo>
                <a:lnTo>
                  <a:pt x="93268" y="222313"/>
                </a:lnTo>
                <a:lnTo>
                  <a:pt x="93268" y="235978"/>
                </a:lnTo>
                <a:close/>
              </a:path>
              <a:path w="1147445" h="452755">
                <a:moveTo>
                  <a:pt x="106529" y="235978"/>
                </a:moveTo>
                <a:lnTo>
                  <a:pt x="93268" y="235978"/>
                </a:lnTo>
                <a:lnTo>
                  <a:pt x="93268" y="222313"/>
                </a:lnTo>
                <a:lnTo>
                  <a:pt x="106528" y="222313"/>
                </a:lnTo>
                <a:lnTo>
                  <a:pt x="113576" y="229146"/>
                </a:lnTo>
                <a:lnTo>
                  <a:pt x="106529" y="235978"/>
                </a:lnTo>
                <a:close/>
              </a:path>
              <a:path w="1147445" h="452755">
                <a:moveTo>
                  <a:pt x="1126769" y="235978"/>
                </a:moveTo>
                <a:lnTo>
                  <a:pt x="1119721" y="229146"/>
                </a:lnTo>
                <a:lnTo>
                  <a:pt x="1126769" y="222313"/>
                </a:lnTo>
                <a:lnTo>
                  <a:pt x="1126769" y="235978"/>
                </a:lnTo>
                <a:close/>
              </a:path>
              <a:path w="1147445" h="452755">
                <a:moveTo>
                  <a:pt x="1140041" y="235978"/>
                </a:moveTo>
                <a:lnTo>
                  <a:pt x="1126769" y="235978"/>
                </a:lnTo>
                <a:lnTo>
                  <a:pt x="1126769" y="222313"/>
                </a:lnTo>
                <a:lnTo>
                  <a:pt x="1140041" y="222313"/>
                </a:lnTo>
                <a:lnTo>
                  <a:pt x="1147089" y="229146"/>
                </a:lnTo>
                <a:lnTo>
                  <a:pt x="1140041" y="235978"/>
                </a:lnTo>
                <a:close/>
              </a:path>
              <a:path w="1147445" h="452755">
                <a:moveTo>
                  <a:pt x="1046988" y="442950"/>
                </a:moveTo>
                <a:lnTo>
                  <a:pt x="1046988" y="299656"/>
                </a:lnTo>
                <a:lnTo>
                  <a:pt x="1119721" y="229146"/>
                </a:lnTo>
                <a:lnTo>
                  <a:pt x="1126769" y="235978"/>
                </a:lnTo>
                <a:lnTo>
                  <a:pt x="1140041" y="235978"/>
                </a:lnTo>
                <a:lnTo>
                  <a:pt x="1070190" y="303695"/>
                </a:lnTo>
                <a:lnTo>
                  <a:pt x="1066038" y="303695"/>
                </a:lnTo>
                <a:lnTo>
                  <a:pt x="1063142" y="310527"/>
                </a:lnTo>
                <a:lnTo>
                  <a:pt x="1066038" y="310527"/>
                </a:lnTo>
                <a:lnTo>
                  <a:pt x="1066038" y="433425"/>
                </a:lnTo>
                <a:lnTo>
                  <a:pt x="1056513" y="433425"/>
                </a:lnTo>
                <a:lnTo>
                  <a:pt x="1046988" y="442950"/>
                </a:lnTo>
                <a:close/>
              </a:path>
              <a:path w="1147445" h="452755">
                <a:moveTo>
                  <a:pt x="1066038" y="452475"/>
                </a:moveTo>
                <a:lnTo>
                  <a:pt x="0" y="452475"/>
                </a:lnTo>
                <a:lnTo>
                  <a:pt x="0" y="312724"/>
                </a:lnTo>
                <a:lnTo>
                  <a:pt x="86219" y="229146"/>
                </a:lnTo>
                <a:lnTo>
                  <a:pt x="93268" y="235978"/>
                </a:lnTo>
                <a:lnTo>
                  <a:pt x="106529" y="235978"/>
                </a:lnTo>
                <a:lnTo>
                  <a:pt x="23226" y="316750"/>
                </a:lnTo>
                <a:lnTo>
                  <a:pt x="19050" y="316750"/>
                </a:lnTo>
                <a:lnTo>
                  <a:pt x="16167" y="323595"/>
                </a:lnTo>
                <a:lnTo>
                  <a:pt x="19050" y="323595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1066038" y="442950"/>
                </a:lnTo>
                <a:lnTo>
                  <a:pt x="1066038" y="452475"/>
                </a:lnTo>
                <a:close/>
              </a:path>
              <a:path w="1147445" h="452755">
                <a:moveTo>
                  <a:pt x="1063142" y="310527"/>
                </a:moveTo>
                <a:lnTo>
                  <a:pt x="1066038" y="303695"/>
                </a:lnTo>
                <a:lnTo>
                  <a:pt x="1066038" y="307720"/>
                </a:lnTo>
                <a:lnTo>
                  <a:pt x="1063142" y="310527"/>
                </a:lnTo>
                <a:close/>
              </a:path>
              <a:path w="1147445" h="452755">
                <a:moveTo>
                  <a:pt x="1066038" y="307720"/>
                </a:moveTo>
                <a:lnTo>
                  <a:pt x="1066038" y="303695"/>
                </a:lnTo>
                <a:lnTo>
                  <a:pt x="1070190" y="303695"/>
                </a:lnTo>
                <a:lnTo>
                  <a:pt x="1066038" y="307720"/>
                </a:lnTo>
                <a:close/>
              </a:path>
              <a:path w="1147445" h="452755">
                <a:moveTo>
                  <a:pt x="1066038" y="310527"/>
                </a:moveTo>
                <a:lnTo>
                  <a:pt x="1063142" y="310527"/>
                </a:lnTo>
                <a:lnTo>
                  <a:pt x="1066038" y="307720"/>
                </a:lnTo>
                <a:lnTo>
                  <a:pt x="1066038" y="310527"/>
                </a:lnTo>
                <a:close/>
              </a:path>
              <a:path w="1147445" h="452755">
                <a:moveTo>
                  <a:pt x="16167" y="323595"/>
                </a:moveTo>
                <a:lnTo>
                  <a:pt x="19050" y="316750"/>
                </a:lnTo>
                <a:lnTo>
                  <a:pt x="19050" y="320800"/>
                </a:lnTo>
                <a:lnTo>
                  <a:pt x="16167" y="323595"/>
                </a:lnTo>
                <a:close/>
              </a:path>
              <a:path w="1147445" h="452755">
                <a:moveTo>
                  <a:pt x="19050" y="320800"/>
                </a:moveTo>
                <a:lnTo>
                  <a:pt x="19050" y="316750"/>
                </a:lnTo>
                <a:lnTo>
                  <a:pt x="23226" y="316750"/>
                </a:lnTo>
                <a:lnTo>
                  <a:pt x="19050" y="320800"/>
                </a:lnTo>
                <a:close/>
              </a:path>
              <a:path w="1147445" h="452755">
                <a:moveTo>
                  <a:pt x="19050" y="323595"/>
                </a:moveTo>
                <a:lnTo>
                  <a:pt x="16167" y="323595"/>
                </a:lnTo>
                <a:lnTo>
                  <a:pt x="19050" y="320800"/>
                </a:lnTo>
                <a:lnTo>
                  <a:pt x="19050" y="323595"/>
                </a:lnTo>
                <a:close/>
              </a:path>
              <a:path w="114744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1147445" h="452755">
                <a:moveTo>
                  <a:pt x="1046988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1046988" y="433425"/>
                </a:lnTo>
                <a:lnTo>
                  <a:pt x="1046988" y="442950"/>
                </a:lnTo>
                <a:close/>
              </a:path>
              <a:path w="1147445" h="452755">
                <a:moveTo>
                  <a:pt x="1066038" y="442950"/>
                </a:moveTo>
                <a:lnTo>
                  <a:pt x="1046988" y="442950"/>
                </a:lnTo>
                <a:lnTo>
                  <a:pt x="1056513" y="433425"/>
                </a:lnTo>
                <a:lnTo>
                  <a:pt x="1066038" y="433425"/>
                </a:lnTo>
                <a:lnTo>
                  <a:pt x="1066038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4427" y="1522399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问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题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光电效应的饱和电流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5362" y="4232097"/>
            <a:ext cx="8825865" cy="1955800"/>
          </a:xfrm>
          <a:prstGeom prst="rect">
            <a:avLst/>
          </a:prstGeom>
        </p:spPr>
        <p:txBody>
          <a:bodyPr wrap="square" lIns="0" tIns="231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800">
                <a:solidFill>
                  <a:srgbClr val="01611F"/>
                </a:solidFill>
                <a:latin typeface="华文楷体"/>
                <a:cs typeface="华文楷体"/>
              </a:rPr>
              <a:t>任务</a:t>
            </a:r>
            <a:r>
              <a:rPr dirty="0" sz="2800" spc="-5">
                <a:solidFill>
                  <a:srgbClr val="01611F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279400" indent="-266700">
              <a:lnSpc>
                <a:spcPct val="100000"/>
              </a:lnSpc>
              <a:spcBef>
                <a:spcPts val="1720"/>
              </a:spcBef>
              <a:buSzPct val="96428"/>
              <a:buFont typeface="Times New Roman"/>
              <a:buAutoNum type="arabicPeriod"/>
              <a:tabLst>
                <a:tab pos="280035" algn="l"/>
              </a:tabLst>
            </a:pPr>
            <a:r>
              <a:rPr dirty="0" sz="2800">
                <a:latin typeface="华文楷体"/>
                <a:cs typeface="华文楷体"/>
              </a:rPr>
              <a:t>在坐标纸上画出电</a:t>
            </a:r>
            <a:r>
              <a:rPr dirty="0" sz="2800" spc="-5">
                <a:latin typeface="华文楷体"/>
                <a:cs typeface="华文楷体"/>
              </a:rPr>
              <a:t>流 </a:t>
            </a: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sz="2800" spc="-10" i="1">
                <a:latin typeface="Times New Roman"/>
                <a:cs typeface="Times New Roman"/>
              </a:rPr>
              <a:t> </a:t>
            </a:r>
            <a:r>
              <a:rPr dirty="0" sz="2800">
                <a:latin typeface="华文楷体"/>
                <a:cs typeface="华文楷体"/>
              </a:rPr>
              <a:t>随正向电</a:t>
            </a:r>
            <a:r>
              <a:rPr dirty="0" sz="2800" spc="-5">
                <a:latin typeface="华文楷体"/>
                <a:cs typeface="华文楷体"/>
              </a:rPr>
              <a:t>压</a:t>
            </a:r>
            <a:r>
              <a:rPr dirty="0" sz="2800">
                <a:latin typeface="华文楷体"/>
                <a:cs typeface="华文楷体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U </a:t>
            </a:r>
            <a:r>
              <a:rPr dirty="0" sz="2800">
                <a:latin typeface="华文楷体"/>
                <a:cs typeface="华文楷体"/>
              </a:rPr>
              <a:t>变化图象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279400" indent="-266700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eriod"/>
              <a:tabLst>
                <a:tab pos="280035" algn="l"/>
              </a:tabLst>
            </a:pPr>
            <a:r>
              <a:rPr dirty="0" sz="2800">
                <a:latin typeface="华文楷体"/>
                <a:cs typeface="华文楷体"/>
              </a:rPr>
              <a:t>尝试总结当频率一定时，饱和电流与光强有什么关系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4621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60" h="433705">
                <a:moveTo>
                  <a:pt x="884516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16" y="0"/>
                </a:lnTo>
                <a:lnTo>
                  <a:pt x="884516" y="145072"/>
                </a:lnTo>
                <a:lnTo>
                  <a:pt x="949477" y="219621"/>
                </a:lnTo>
                <a:lnTo>
                  <a:pt x="884516" y="294170"/>
                </a:lnTo>
                <a:lnTo>
                  <a:pt x="884516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FFFFFF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808080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光电效应的饱和电流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56870" y="1637029"/>
          <a:ext cx="11424920" cy="2593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000"/>
                <a:gridCol w="824230"/>
                <a:gridCol w="927100"/>
                <a:gridCol w="824230"/>
                <a:gridCol w="927100"/>
                <a:gridCol w="927100"/>
                <a:gridCol w="927099"/>
                <a:gridCol w="927100"/>
                <a:gridCol w="927100"/>
                <a:gridCol w="927100"/>
                <a:gridCol w="927100"/>
                <a:gridCol w="927100"/>
              </a:tblGrid>
              <a:tr h="516496">
                <a:tc gridSpan="2">
                  <a:txBody>
                    <a:bodyPr/>
                    <a:lstStyle/>
                    <a:p>
                      <a:pPr marL="5892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baseline="-10536" sz="4350" spc="112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</a:t>
                      </a:r>
                      <a:r>
                        <a:rPr dirty="0" baseline="-10536" sz="4350" spc="104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压</a:t>
                      </a:r>
                      <a:r>
                        <a:rPr dirty="0" sz="29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/v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2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6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8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16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18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516496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120014">
                        <a:lnSpc>
                          <a:spcPct val="100000"/>
                        </a:lnSpc>
                        <a:spcBef>
                          <a:spcPts val="2455"/>
                        </a:spcBef>
                      </a:pPr>
                      <a:r>
                        <a:rPr dirty="0" baseline="-11752" sz="3900" spc="157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</a:t>
                      </a:r>
                      <a:r>
                        <a:rPr dirty="0" baseline="-11752" sz="3900" spc="15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流</a:t>
                      </a:r>
                      <a:r>
                        <a:rPr dirty="0" sz="26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μA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9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-10536" sz="4350" spc="-22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孔</a:t>
                      </a:r>
                      <a:endParaRPr baseline="-10536" sz="435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0.1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1.5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2.6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3.4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3.9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51649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9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-10536" sz="4350" spc="-22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孔</a:t>
                      </a:r>
                      <a:endParaRPr baseline="-10536" sz="435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0.2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2.7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5.4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7.6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7.8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7.9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7.8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7.7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7.7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51650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9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baseline="-10536" sz="4350" spc="-22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孔</a:t>
                      </a:r>
                      <a:endParaRPr baseline="-10536" sz="435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0.3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4.3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8.4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11.0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12.1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12.3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12.2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12.2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12.3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5107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9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baseline="-10536" sz="4350" spc="-22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孔</a:t>
                      </a:r>
                      <a:endParaRPr baseline="-10536" sz="4350">
                        <a:latin typeface="微软雅黑"/>
                        <a:cs typeface="微软雅黑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0.5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95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5.4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10.4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14.0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15.8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>
                          <a:latin typeface="Times New Roman"/>
                          <a:cs typeface="Times New Roman"/>
                        </a:rPr>
                        <a:t>16.3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16.3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16.3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16.4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2900" spc="-10">
                          <a:latin typeface="Times New Roman"/>
                          <a:cs typeface="Times New Roman"/>
                        </a:rPr>
                        <a:t>16.4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78397" y="904379"/>
            <a:ext cx="949960" cy="433705"/>
          </a:xfrm>
          <a:custGeom>
            <a:avLst/>
            <a:gdLst/>
            <a:ahLst/>
            <a:cxnLst/>
            <a:rect l="l" t="t" r="r" b="b"/>
            <a:pathLst>
              <a:path w="949959" h="433705">
                <a:moveTo>
                  <a:pt x="884529" y="433425"/>
                </a:moveTo>
                <a:lnTo>
                  <a:pt x="0" y="433425"/>
                </a:lnTo>
                <a:lnTo>
                  <a:pt x="0" y="307225"/>
                </a:lnTo>
                <a:lnTo>
                  <a:pt x="76339" y="219621"/>
                </a:lnTo>
                <a:lnTo>
                  <a:pt x="0" y="132016"/>
                </a:lnTo>
                <a:lnTo>
                  <a:pt x="0" y="0"/>
                </a:lnTo>
                <a:lnTo>
                  <a:pt x="884529" y="0"/>
                </a:lnTo>
                <a:lnTo>
                  <a:pt x="884529" y="145072"/>
                </a:lnTo>
                <a:lnTo>
                  <a:pt x="949490" y="219621"/>
                </a:lnTo>
                <a:lnTo>
                  <a:pt x="884529" y="294170"/>
                </a:lnTo>
                <a:lnTo>
                  <a:pt x="884529" y="433425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FFFFFF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808080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808080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光电效应的饱和电流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673" y="1901037"/>
            <a:ext cx="4184015" cy="2792730"/>
          </a:xfrm>
          <a:prstGeom prst="rect">
            <a:avLst/>
          </a:prstGeom>
        </p:spPr>
        <p:txBody>
          <a:bodyPr wrap="square" lIns="0" tIns="255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光电效应实验规律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2800" spc="-5">
                <a:latin typeface="华文楷体"/>
                <a:cs typeface="华文楷体"/>
              </a:rPr>
              <a:t>4.</a:t>
            </a:r>
            <a:r>
              <a:rPr dirty="0" sz="2800">
                <a:latin typeface="华文楷体"/>
                <a:cs typeface="华文楷体"/>
              </a:rPr>
              <a:t>光电效应存在</a:t>
            </a:r>
            <a:r>
              <a:rPr dirty="0" sz="2800" b="1">
                <a:solidFill>
                  <a:srgbClr val="01611F"/>
                </a:solidFill>
                <a:latin typeface="华文楷体"/>
                <a:cs typeface="华文楷体"/>
              </a:rPr>
              <a:t>饱和电流</a:t>
            </a:r>
            <a:r>
              <a:rPr dirty="0" sz="2800" spc="-5"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194310" marR="426084">
              <a:lnSpc>
                <a:spcPct val="150000"/>
              </a:lnSpc>
              <a:spcBef>
                <a:spcPts val="1165"/>
              </a:spcBef>
            </a:pPr>
            <a:r>
              <a:rPr dirty="0" sz="2800">
                <a:latin typeface="华文楷体"/>
                <a:cs typeface="华文楷体"/>
              </a:rPr>
              <a:t>当频率一定时，饱和</a:t>
            </a:r>
            <a:r>
              <a:rPr dirty="0" sz="2800" spc="-5">
                <a:latin typeface="华文楷体"/>
                <a:cs typeface="华文楷体"/>
              </a:rPr>
              <a:t>电 </a:t>
            </a:r>
            <a:r>
              <a:rPr dirty="0" sz="2800">
                <a:latin typeface="华文楷体"/>
                <a:cs typeface="华文楷体"/>
              </a:rPr>
              <a:t>流与光强成正比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18432" y="1789176"/>
            <a:ext cx="7656575" cy="3723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156721" y="2541079"/>
            <a:ext cx="368300" cy="1745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4</a:t>
            </a:r>
            <a:r>
              <a:rPr dirty="0" sz="1800">
                <a:latin typeface="华文楷体"/>
                <a:cs typeface="华文楷体"/>
              </a:rPr>
              <a:t>孔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dirty="0" sz="1800">
                <a:latin typeface="Times New Roman"/>
                <a:cs typeface="Times New Roman"/>
              </a:rPr>
              <a:t>3</a:t>
            </a:r>
            <a:r>
              <a:rPr dirty="0" sz="1800">
                <a:latin typeface="华文楷体"/>
                <a:cs typeface="华文楷体"/>
              </a:rPr>
              <a:t>孔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1800">
                <a:latin typeface="Times New Roman"/>
                <a:cs typeface="Times New Roman"/>
              </a:rPr>
              <a:t>2</a:t>
            </a:r>
            <a:r>
              <a:rPr dirty="0" sz="1800">
                <a:latin typeface="华文楷体"/>
                <a:cs typeface="华文楷体"/>
              </a:rPr>
              <a:t>孔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800">
                <a:latin typeface="Times New Roman"/>
                <a:cs typeface="Times New Roman"/>
              </a:rPr>
              <a:t>1</a:t>
            </a:r>
            <a:r>
              <a:rPr dirty="0" sz="1800">
                <a:latin typeface="华文楷体"/>
                <a:cs typeface="华文楷体"/>
              </a:rPr>
              <a:t>孔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5332" y="1740407"/>
            <a:ext cx="5897879" cy="3317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6887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4" h="452755">
                <a:moveTo>
                  <a:pt x="73232" y="229146"/>
                </a:moveTo>
                <a:lnTo>
                  <a:pt x="0" y="145110"/>
                </a:lnTo>
                <a:lnTo>
                  <a:pt x="0" y="0"/>
                </a:lnTo>
                <a:lnTo>
                  <a:pt x="903579" y="0"/>
                </a:lnTo>
                <a:lnTo>
                  <a:pt x="903579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41"/>
                </a:lnTo>
                <a:lnTo>
                  <a:pt x="22168" y="141541"/>
                </a:lnTo>
                <a:lnTo>
                  <a:pt x="93045" y="222884"/>
                </a:lnTo>
                <a:lnTo>
                  <a:pt x="78689" y="222884"/>
                </a:lnTo>
                <a:lnTo>
                  <a:pt x="73232" y="229146"/>
                </a:lnTo>
                <a:close/>
              </a:path>
              <a:path w="972184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4" h="452755">
                <a:moveTo>
                  <a:pt x="884529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29" y="9524"/>
                </a:lnTo>
                <a:lnTo>
                  <a:pt x="884529" y="19049"/>
                </a:lnTo>
                <a:close/>
              </a:path>
              <a:path w="972184" h="452755">
                <a:moveTo>
                  <a:pt x="946371" y="229146"/>
                </a:moveTo>
                <a:lnTo>
                  <a:pt x="884529" y="158165"/>
                </a:lnTo>
                <a:lnTo>
                  <a:pt x="884529" y="9524"/>
                </a:lnTo>
                <a:lnTo>
                  <a:pt x="894054" y="19049"/>
                </a:lnTo>
                <a:lnTo>
                  <a:pt x="903579" y="19049"/>
                </a:lnTo>
                <a:lnTo>
                  <a:pt x="903579" y="148348"/>
                </a:lnTo>
                <a:lnTo>
                  <a:pt x="901230" y="148348"/>
                </a:lnTo>
                <a:lnTo>
                  <a:pt x="903579" y="154597"/>
                </a:lnTo>
                <a:lnTo>
                  <a:pt x="906676" y="154597"/>
                </a:lnTo>
                <a:lnTo>
                  <a:pt x="966194" y="222884"/>
                </a:lnTo>
                <a:lnTo>
                  <a:pt x="951826" y="222884"/>
                </a:lnTo>
                <a:lnTo>
                  <a:pt x="946371" y="229146"/>
                </a:lnTo>
                <a:close/>
              </a:path>
              <a:path w="972184" h="452755">
                <a:moveTo>
                  <a:pt x="903579" y="19049"/>
                </a:moveTo>
                <a:lnTo>
                  <a:pt x="894054" y="19049"/>
                </a:lnTo>
                <a:lnTo>
                  <a:pt x="884529" y="9524"/>
                </a:lnTo>
                <a:lnTo>
                  <a:pt x="903579" y="9524"/>
                </a:lnTo>
                <a:lnTo>
                  <a:pt x="903579" y="19049"/>
                </a:lnTo>
                <a:close/>
              </a:path>
              <a:path w="972184" h="452755">
                <a:moveTo>
                  <a:pt x="19050" y="141541"/>
                </a:moveTo>
                <a:lnTo>
                  <a:pt x="16713" y="135280"/>
                </a:lnTo>
                <a:lnTo>
                  <a:pt x="19050" y="137962"/>
                </a:lnTo>
                <a:lnTo>
                  <a:pt x="19050" y="141541"/>
                </a:lnTo>
                <a:close/>
              </a:path>
              <a:path w="972184" h="452755">
                <a:moveTo>
                  <a:pt x="19050" y="137962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2"/>
                </a:lnTo>
                <a:close/>
              </a:path>
              <a:path w="972184" h="452755">
                <a:moveTo>
                  <a:pt x="22168" y="141541"/>
                </a:moveTo>
                <a:lnTo>
                  <a:pt x="19050" y="141541"/>
                </a:lnTo>
                <a:lnTo>
                  <a:pt x="19050" y="137962"/>
                </a:lnTo>
                <a:lnTo>
                  <a:pt x="22168" y="141541"/>
                </a:lnTo>
                <a:close/>
              </a:path>
              <a:path w="972184" h="452755">
                <a:moveTo>
                  <a:pt x="903579" y="154597"/>
                </a:moveTo>
                <a:lnTo>
                  <a:pt x="901230" y="148348"/>
                </a:lnTo>
                <a:lnTo>
                  <a:pt x="903579" y="151044"/>
                </a:lnTo>
                <a:lnTo>
                  <a:pt x="903579" y="154597"/>
                </a:lnTo>
                <a:close/>
              </a:path>
              <a:path w="972184" h="452755">
                <a:moveTo>
                  <a:pt x="903579" y="151044"/>
                </a:moveTo>
                <a:lnTo>
                  <a:pt x="901230" y="148348"/>
                </a:lnTo>
                <a:lnTo>
                  <a:pt x="903579" y="148348"/>
                </a:lnTo>
                <a:lnTo>
                  <a:pt x="903579" y="151044"/>
                </a:lnTo>
                <a:close/>
              </a:path>
              <a:path w="972184" h="452755">
                <a:moveTo>
                  <a:pt x="906676" y="154597"/>
                </a:moveTo>
                <a:lnTo>
                  <a:pt x="903579" y="154597"/>
                </a:lnTo>
                <a:lnTo>
                  <a:pt x="903579" y="151044"/>
                </a:lnTo>
                <a:lnTo>
                  <a:pt x="906676" y="154597"/>
                </a:lnTo>
                <a:close/>
              </a:path>
              <a:path w="972184" h="452755">
                <a:moveTo>
                  <a:pt x="78689" y="235407"/>
                </a:moveTo>
                <a:lnTo>
                  <a:pt x="73232" y="229146"/>
                </a:lnTo>
                <a:lnTo>
                  <a:pt x="78689" y="222884"/>
                </a:lnTo>
                <a:lnTo>
                  <a:pt x="78689" y="235407"/>
                </a:lnTo>
                <a:close/>
              </a:path>
              <a:path w="972184" h="452755">
                <a:moveTo>
                  <a:pt x="93045" y="235407"/>
                </a:moveTo>
                <a:lnTo>
                  <a:pt x="78689" y="235407"/>
                </a:lnTo>
                <a:lnTo>
                  <a:pt x="78689" y="222884"/>
                </a:lnTo>
                <a:lnTo>
                  <a:pt x="93045" y="222884"/>
                </a:lnTo>
                <a:lnTo>
                  <a:pt x="98501" y="229146"/>
                </a:lnTo>
                <a:lnTo>
                  <a:pt x="93045" y="235407"/>
                </a:lnTo>
                <a:close/>
              </a:path>
              <a:path w="972184" h="452755">
                <a:moveTo>
                  <a:pt x="951826" y="235407"/>
                </a:moveTo>
                <a:lnTo>
                  <a:pt x="946371" y="229146"/>
                </a:lnTo>
                <a:lnTo>
                  <a:pt x="951826" y="222884"/>
                </a:lnTo>
                <a:lnTo>
                  <a:pt x="951826" y="235407"/>
                </a:lnTo>
                <a:close/>
              </a:path>
              <a:path w="972184" h="452755">
                <a:moveTo>
                  <a:pt x="966195" y="235407"/>
                </a:moveTo>
                <a:lnTo>
                  <a:pt x="951826" y="235407"/>
                </a:lnTo>
                <a:lnTo>
                  <a:pt x="951826" y="222884"/>
                </a:lnTo>
                <a:lnTo>
                  <a:pt x="966194" y="222884"/>
                </a:lnTo>
                <a:lnTo>
                  <a:pt x="971651" y="229146"/>
                </a:lnTo>
                <a:lnTo>
                  <a:pt x="966195" y="235407"/>
                </a:lnTo>
                <a:close/>
              </a:path>
              <a:path w="972184" h="452755">
                <a:moveTo>
                  <a:pt x="903579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2" y="229146"/>
                </a:lnTo>
                <a:lnTo>
                  <a:pt x="78689" y="235407"/>
                </a:lnTo>
                <a:lnTo>
                  <a:pt x="93045" y="235407"/>
                </a:lnTo>
                <a:lnTo>
                  <a:pt x="22168" y="316750"/>
                </a:lnTo>
                <a:lnTo>
                  <a:pt x="19050" y="316750"/>
                </a:lnTo>
                <a:lnTo>
                  <a:pt x="16713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79" y="442950"/>
                </a:lnTo>
                <a:lnTo>
                  <a:pt x="903579" y="452475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884529" y="300126"/>
                </a:lnTo>
                <a:lnTo>
                  <a:pt x="946371" y="229146"/>
                </a:lnTo>
                <a:lnTo>
                  <a:pt x="951826" y="235407"/>
                </a:lnTo>
                <a:lnTo>
                  <a:pt x="966195" y="235407"/>
                </a:lnTo>
                <a:lnTo>
                  <a:pt x="906686" y="303695"/>
                </a:lnTo>
                <a:lnTo>
                  <a:pt x="903579" y="303695"/>
                </a:lnTo>
                <a:lnTo>
                  <a:pt x="901230" y="309956"/>
                </a:lnTo>
                <a:lnTo>
                  <a:pt x="903579" y="309956"/>
                </a:lnTo>
                <a:lnTo>
                  <a:pt x="903579" y="433425"/>
                </a:lnTo>
                <a:lnTo>
                  <a:pt x="894054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1230" y="309956"/>
                </a:moveTo>
                <a:lnTo>
                  <a:pt x="903579" y="303695"/>
                </a:lnTo>
                <a:lnTo>
                  <a:pt x="903579" y="307260"/>
                </a:lnTo>
                <a:lnTo>
                  <a:pt x="901230" y="309956"/>
                </a:lnTo>
                <a:close/>
              </a:path>
              <a:path w="972184" h="452755">
                <a:moveTo>
                  <a:pt x="903579" y="307260"/>
                </a:moveTo>
                <a:lnTo>
                  <a:pt x="903579" y="303695"/>
                </a:lnTo>
                <a:lnTo>
                  <a:pt x="906686" y="303695"/>
                </a:lnTo>
                <a:lnTo>
                  <a:pt x="903579" y="307260"/>
                </a:lnTo>
                <a:close/>
              </a:path>
              <a:path w="972184" h="452755">
                <a:moveTo>
                  <a:pt x="903579" y="309956"/>
                </a:moveTo>
                <a:lnTo>
                  <a:pt x="901230" y="309956"/>
                </a:lnTo>
                <a:lnTo>
                  <a:pt x="903579" y="307260"/>
                </a:lnTo>
                <a:lnTo>
                  <a:pt x="903579" y="309956"/>
                </a:lnTo>
                <a:close/>
              </a:path>
              <a:path w="972184" h="452755">
                <a:moveTo>
                  <a:pt x="16713" y="323011"/>
                </a:moveTo>
                <a:lnTo>
                  <a:pt x="19050" y="316750"/>
                </a:lnTo>
                <a:lnTo>
                  <a:pt x="19050" y="320329"/>
                </a:lnTo>
                <a:lnTo>
                  <a:pt x="16713" y="323011"/>
                </a:lnTo>
                <a:close/>
              </a:path>
              <a:path w="972184" h="452755">
                <a:moveTo>
                  <a:pt x="19050" y="320329"/>
                </a:moveTo>
                <a:lnTo>
                  <a:pt x="19050" y="316750"/>
                </a:lnTo>
                <a:lnTo>
                  <a:pt x="22168" y="316750"/>
                </a:lnTo>
                <a:lnTo>
                  <a:pt x="19050" y="320329"/>
                </a:lnTo>
                <a:close/>
              </a:path>
              <a:path w="972184" h="452755">
                <a:moveTo>
                  <a:pt x="19050" y="323011"/>
                </a:moveTo>
                <a:lnTo>
                  <a:pt x="16713" y="323011"/>
                </a:lnTo>
                <a:lnTo>
                  <a:pt x="19050" y="320329"/>
                </a:lnTo>
                <a:lnTo>
                  <a:pt x="19050" y="323011"/>
                </a:lnTo>
                <a:close/>
              </a:path>
              <a:path w="972184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4" h="452755">
                <a:moveTo>
                  <a:pt x="884529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29" y="433425"/>
                </a:lnTo>
                <a:lnTo>
                  <a:pt x="884529" y="442950"/>
                </a:lnTo>
                <a:close/>
              </a:path>
              <a:path w="972184" h="452755">
                <a:moveTo>
                  <a:pt x="903579" y="442950"/>
                </a:moveTo>
                <a:lnTo>
                  <a:pt x="884529" y="442950"/>
                </a:lnTo>
                <a:lnTo>
                  <a:pt x="894054" y="433425"/>
                </a:lnTo>
                <a:lnTo>
                  <a:pt x="903579" y="433425"/>
                </a:lnTo>
                <a:lnTo>
                  <a:pt x="903579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36692" y="894854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38" y="229152"/>
                </a:moveTo>
                <a:lnTo>
                  <a:pt x="0" y="145110"/>
                </a:lnTo>
                <a:lnTo>
                  <a:pt x="0" y="0"/>
                </a:lnTo>
                <a:lnTo>
                  <a:pt x="903566" y="0"/>
                </a:lnTo>
                <a:lnTo>
                  <a:pt x="903566" y="9524"/>
                </a:lnTo>
                <a:lnTo>
                  <a:pt x="19050" y="9524"/>
                </a:lnTo>
                <a:lnTo>
                  <a:pt x="9525" y="19049"/>
                </a:lnTo>
                <a:lnTo>
                  <a:pt x="19050" y="19049"/>
                </a:lnTo>
                <a:lnTo>
                  <a:pt x="19050" y="135293"/>
                </a:lnTo>
                <a:lnTo>
                  <a:pt x="16700" y="135293"/>
                </a:lnTo>
                <a:lnTo>
                  <a:pt x="19050" y="141541"/>
                </a:lnTo>
                <a:lnTo>
                  <a:pt x="22146" y="141541"/>
                </a:lnTo>
                <a:lnTo>
                  <a:pt x="93055" y="222897"/>
                </a:lnTo>
                <a:lnTo>
                  <a:pt x="78689" y="222897"/>
                </a:lnTo>
                <a:lnTo>
                  <a:pt x="73238" y="229152"/>
                </a:lnTo>
                <a:close/>
              </a:path>
              <a:path w="972185" h="452755">
                <a:moveTo>
                  <a:pt x="19050" y="19049"/>
                </a:moveTo>
                <a:lnTo>
                  <a:pt x="9525" y="19049"/>
                </a:lnTo>
                <a:lnTo>
                  <a:pt x="19050" y="9524"/>
                </a:lnTo>
                <a:lnTo>
                  <a:pt x="19050" y="19049"/>
                </a:lnTo>
                <a:close/>
              </a:path>
              <a:path w="972185" h="452755">
                <a:moveTo>
                  <a:pt x="884516" y="19049"/>
                </a:moveTo>
                <a:lnTo>
                  <a:pt x="19050" y="19049"/>
                </a:lnTo>
                <a:lnTo>
                  <a:pt x="19050" y="9524"/>
                </a:lnTo>
                <a:lnTo>
                  <a:pt x="884516" y="9524"/>
                </a:lnTo>
                <a:lnTo>
                  <a:pt x="884516" y="19049"/>
                </a:lnTo>
                <a:close/>
              </a:path>
              <a:path w="972185" h="452755">
                <a:moveTo>
                  <a:pt x="946375" y="229151"/>
                </a:moveTo>
                <a:lnTo>
                  <a:pt x="884516" y="158165"/>
                </a:lnTo>
                <a:lnTo>
                  <a:pt x="884516" y="9524"/>
                </a:lnTo>
                <a:lnTo>
                  <a:pt x="894041" y="19049"/>
                </a:lnTo>
                <a:lnTo>
                  <a:pt x="903566" y="19049"/>
                </a:lnTo>
                <a:lnTo>
                  <a:pt x="903566" y="148348"/>
                </a:lnTo>
                <a:lnTo>
                  <a:pt x="901230" y="148348"/>
                </a:lnTo>
                <a:lnTo>
                  <a:pt x="903566" y="154597"/>
                </a:lnTo>
                <a:lnTo>
                  <a:pt x="906675" y="154597"/>
                </a:lnTo>
                <a:lnTo>
                  <a:pt x="966193" y="222897"/>
                </a:lnTo>
                <a:lnTo>
                  <a:pt x="951826" y="222897"/>
                </a:lnTo>
                <a:lnTo>
                  <a:pt x="946375" y="229151"/>
                </a:lnTo>
                <a:close/>
              </a:path>
              <a:path w="972185" h="452755">
                <a:moveTo>
                  <a:pt x="903566" y="19049"/>
                </a:moveTo>
                <a:lnTo>
                  <a:pt x="894041" y="19049"/>
                </a:lnTo>
                <a:lnTo>
                  <a:pt x="884516" y="9524"/>
                </a:lnTo>
                <a:lnTo>
                  <a:pt x="903566" y="9524"/>
                </a:lnTo>
                <a:lnTo>
                  <a:pt x="903566" y="19049"/>
                </a:lnTo>
                <a:close/>
              </a:path>
              <a:path w="972185" h="452755">
                <a:moveTo>
                  <a:pt x="19050" y="141541"/>
                </a:moveTo>
                <a:lnTo>
                  <a:pt x="16700" y="135293"/>
                </a:lnTo>
                <a:lnTo>
                  <a:pt x="19050" y="137988"/>
                </a:lnTo>
                <a:lnTo>
                  <a:pt x="19050" y="141541"/>
                </a:lnTo>
                <a:close/>
              </a:path>
              <a:path w="972185" h="452755">
                <a:moveTo>
                  <a:pt x="19050" y="137988"/>
                </a:moveTo>
                <a:lnTo>
                  <a:pt x="16700" y="135293"/>
                </a:lnTo>
                <a:lnTo>
                  <a:pt x="19050" y="135293"/>
                </a:lnTo>
                <a:lnTo>
                  <a:pt x="19050" y="137988"/>
                </a:lnTo>
                <a:close/>
              </a:path>
              <a:path w="972185" h="452755">
                <a:moveTo>
                  <a:pt x="22146" y="141541"/>
                </a:moveTo>
                <a:lnTo>
                  <a:pt x="19050" y="141541"/>
                </a:lnTo>
                <a:lnTo>
                  <a:pt x="19050" y="137988"/>
                </a:lnTo>
                <a:lnTo>
                  <a:pt x="22146" y="141541"/>
                </a:lnTo>
                <a:close/>
              </a:path>
              <a:path w="972185" h="452755">
                <a:moveTo>
                  <a:pt x="903566" y="154597"/>
                </a:moveTo>
                <a:lnTo>
                  <a:pt x="901230" y="148348"/>
                </a:lnTo>
                <a:lnTo>
                  <a:pt x="903566" y="151030"/>
                </a:lnTo>
                <a:lnTo>
                  <a:pt x="903566" y="154597"/>
                </a:lnTo>
                <a:close/>
              </a:path>
              <a:path w="972185" h="452755">
                <a:moveTo>
                  <a:pt x="903566" y="151030"/>
                </a:moveTo>
                <a:lnTo>
                  <a:pt x="901230" y="148348"/>
                </a:lnTo>
                <a:lnTo>
                  <a:pt x="903566" y="148348"/>
                </a:lnTo>
                <a:lnTo>
                  <a:pt x="903566" y="151030"/>
                </a:lnTo>
                <a:close/>
              </a:path>
              <a:path w="972185" h="452755">
                <a:moveTo>
                  <a:pt x="906675" y="154597"/>
                </a:moveTo>
                <a:lnTo>
                  <a:pt x="903566" y="154597"/>
                </a:lnTo>
                <a:lnTo>
                  <a:pt x="903566" y="151030"/>
                </a:lnTo>
                <a:lnTo>
                  <a:pt x="906675" y="154597"/>
                </a:lnTo>
                <a:close/>
              </a:path>
              <a:path w="972185" h="452755">
                <a:moveTo>
                  <a:pt x="78689" y="235407"/>
                </a:moveTo>
                <a:lnTo>
                  <a:pt x="73243" y="229146"/>
                </a:lnTo>
                <a:lnTo>
                  <a:pt x="78689" y="222897"/>
                </a:lnTo>
                <a:lnTo>
                  <a:pt x="78689" y="235407"/>
                </a:lnTo>
                <a:close/>
              </a:path>
              <a:path w="972185" h="452755">
                <a:moveTo>
                  <a:pt x="93044" y="235407"/>
                </a:moveTo>
                <a:lnTo>
                  <a:pt x="78689" y="235407"/>
                </a:lnTo>
                <a:lnTo>
                  <a:pt x="78689" y="222897"/>
                </a:lnTo>
                <a:lnTo>
                  <a:pt x="93055" y="222897"/>
                </a:lnTo>
                <a:lnTo>
                  <a:pt x="98496" y="229152"/>
                </a:lnTo>
                <a:lnTo>
                  <a:pt x="93044" y="235407"/>
                </a:lnTo>
                <a:close/>
              </a:path>
              <a:path w="972185" h="452755">
                <a:moveTo>
                  <a:pt x="951826" y="235407"/>
                </a:moveTo>
                <a:lnTo>
                  <a:pt x="946380" y="229146"/>
                </a:lnTo>
                <a:lnTo>
                  <a:pt x="951826" y="222897"/>
                </a:lnTo>
                <a:lnTo>
                  <a:pt x="951826" y="235407"/>
                </a:lnTo>
                <a:close/>
              </a:path>
              <a:path w="972185" h="452755">
                <a:moveTo>
                  <a:pt x="966183" y="235407"/>
                </a:moveTo>
                <a:lnTo>
                  <a:pt x="951826" y="235407"/>
                </a:lnTo>
                <a:lnTo>
                  <a:pt x="951826" y="222897"/>
                </a:lnTo>
                <a:lnTo>
                  <a:pt x="966193" y="222897"/>
                </a:lnTo>
                <a:lnTo>
                  <a:pt x="971633" y="229152"/>
                </a:lnTo>
                <a:lnTo>
                  <a:pt x="966183" y="235407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884516" y="300126"/>
                </a:lnTo>
                <a:lnTo>
                  <a:pt x="946375" y="229151"/>
                </a:lnTo>
                <a:lnTo>
                  <a:pt x="951826" y="235407"/>
                </a:lnTo>
                <a:lnTo>
                  <a:pt x="966183" y="235407"/>
                </a:lnTo>
                <a:lnTo>
                  <a:pt x="906685" y="303695"/>
                </a:lnTo>
                <a:lnTo>
                  <a:pt x="903566" y="303695"/>
                </a:lnTo>
                <a:lnTo>
                  <a:pt x="901230" y="309956"/>
                </a:lnTo>
                <a:lnTo>
                  <a:pt x="903566" y="309956"/>
                </a:lnTo>
                <a:lnTo>
                  <a:pt x="903566" y="433425"/>
                </a:lnTo>
                <a:lnTo>
                  <a:pt x="894041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52475"/>
                </a:moveTo>
                <a:lnTo>
                  <a:pt x="0" y="452475"/>
                </a:lnTo>
                <a:lnTo>
                  <a:pt x="0" y="313181"/>
                </a:lnTo>
                <a:lnTo>
                  <a:pt x="73238" y="229152"/>
                </a:lnTo>
                <a:lnTo>
                  <a:pt x="78689" y="235407"/>
                </a:lnTo>
                <a:lnTo>
                  <a:pt x="93044" y="235407"/>
                </a:lnTo>
                <a:lnTo>
                  <a:pt x="22156" y="316750"/>
                </a:lnTo>
                <a:lnTo>
                  <a:pt x="19050" y="316750"/>
                </a:lnTo>
                <a:lnTo>
                  <a:pt x="16700" y="323011"/>
                </a:lnTo>
                <a:lnTo>
                  <a:pt x="19050" y="323011"/>
                </a:lnTo>
                <a:lnTo>
                  <a:pt x="19050" y="433425"/>
                </a:lnTo>
                <a:lnTo>
                  <a:pt x="9525" y="433425"/>
                </a:lnTo>
                <a:lnTo>
                  <a:pt x="19050" y="442950"/>
                </a:lnTo>
                <a:lnTo>
                  <a:pt x="903566" y="442950"/>
                </a:lnTo>
                <a:lnTo>
                  <a:pt x="903566" y="452475"/>
                </a:lnTo>
                <a:close/>
              </a:path>
              <a:path w="972185" h="452755">
                <a:moveTo>
                  <a:pt x="901230" y="309956"/>
                </a:moveTo>
                <a:lnTo>
                  <a:pt x="903566" y="303695"/>
                </a:lnTo>
                <a:lnTo>
                  <a:pt x="903566" y="307274"/>
                </a:lnTo>
                <a:lnTo>
                  <a:pt x="901230" y="309956"/>
                </a:lnTo>
                <a:close/>
              </a:path>
              <a:path w="972185" h="452755">
                <a:moveTo>
                  <a:pt x="903566" y="307274"/>
                </a:moveTo>
                <a:lnTo>
                  <a:pt x="903566" y="303695"/>
                </a:lnTo>
                <a:lnTo>
                  <a:pt x="906685" y="303695"/>
                </a:lnTo>
                <a:lnTo>
                  <a:pt x="903566" y="307274"/>
                </a:lnTo>
                <a:close/>
              </a:path>
              <a:path w="972185" h="452755">
                <a:moveTo>
                  <a:pt x="903566" y="309956"/>
                </a:moveTo>
                <a:lnTo>
                  <a:pt x="901230" y="309956"/>
                </a:lnTo>
                <a:lnTo>
                  <a:pt x="903566" y="307274"/>
                </a:lnTo>
                <a:lnTo>
                  <a:pt x="903566" y="309956"/>
                </a:lnTo>
                <a:close/>
              </a:path>
              <a:path w="972185" h="452755">
                <a:moveTo>
                  <a:pt x="16700" y="323011"/>
                </a:moveTo>
                <a:lnTo>
                  <a:pt x="19050" y="316750"/>
                </a:lnTo>
                <a:lnTo>
                  <a:pt x="19050" y="320315"/>
                </a:lnTo>
                <a:lnTo>
                  <a:pt x="16700" y="323011"/>
                </a:lnTo>
                <a:close/>
              </a:path>
              <a:path w="972185" h="452755">
                <a:moveTo>
                  <a:pt x="19050" y="320315"/>
                </a:moveTo>
                <a:lnTo>
                  <a:pt x="19050" y="316750"/>
                </a:lnTo>
                <a:lnTo>
                  <a:pt x="22156" y="316750"/>
                </a:lnTo>
                <a:lnTo>
                  <a:pt x="19050" y="320315"/>
                </a:lnTo>
                <a:close/>
              </a:path>
              <a:path w="972185" h="452755">
                <a:moveTo>
                  <a:pt x="19050" y="323011"/>
                </a:moveTo>
                <a:lnTo>
                  <a:pt x="16700" y="323011"/>
                </a:lnTo>
                <a:lnTo>
                  <a:pt x="19050" y="320315"/>
                </a:lnTo>
                <a:lnTo>
                  <a:pt x="19050" y="323011"/>
                </a:lnTo>
                <a:close/>
              </a:path>
              <a:path w="972185" h="452755">
                <a:moveTo>
                  <a:pt x="19050" y="442950"/>
                </a:moveTo>
                <a:lnTo>
                  <a:pt x="9525" y="433425"/>
                </a:lnTo>
                <a:lnTo>
                  <a:pt x="19050" y="433425"/>
                </a:lnTo>
                <a:lnTo>
                  <a:pt x="19050" y="442950"/>
                </a:lnTo>
                <a:close/>
              </a:path>
              <a:path w="972185" h="452755">
                <a:moveTo>
                  <a:pt x="884516" y="442950"/>
                </a:moveTo>
                <a:lnTo>
                  <a:pt x="19050" y="442950"/>
                </a:lnTo>
                <a:lnTo>
                  <a:pt x="19050" y="433425"/>
                </a:lnTo>
                <a:lnTo>
                  <a:pt x="884516" y="433425"/>
                </a:lnTo>
                <a:lnTo>
                  <a:pt x="884516" y="442950"/>
                </a:lnTo>
                <a:close/>
              </a:path>
              <a:path w="972185" h="452755">
                <a:moveTo>
                  <a:pt x="903566" y="442950"/>
                </a:moveTo>
                <a:lnTo>
                  <a:pt x="884516" y="442950"/>
                </a:lnTo>
                <a:lnTo>
                  <a:pt x="894041" y="433425"/>
                </a:lnTo>
                <a:lnTo>
                  <a:pt x="903566" y="433425"/>
                </a:lnTo>
                <a:lnTo>
                  <a:pt x="903566" y="44295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09751" y="911542"/>
            <a:ext cx="883919" cy="433705"/>
          </a:xfrm>
          <a:custGeom>
            <a:avLst/>
            <a:gdLst/>
            <a:ahLst/>
            <a:cxnLst/>
            <a:rect l="l" t="t" r="r" b="b"/>
            <a:pathLst>
              <a:path w="883920" h="433705">
                <a:moveTo>
                  <a:pt x="883729" y="433412"/>
                </a:moveTo>
                <a:lnTo>
                  <a:pt x="0" y="433412"/>
                </a:lnTo>
                <a:lnTo>
                  <a:pt x="0" y="307213"/>
                </a:lnTo>
                <a:lnTo>
                  <a:pt x="76276" y="219608"/>
                </a:lnTo>
                <a:lnTo>
                  <a:pt x="0" y="132003"/>
                </a:lnTo>
                <a:lnTo>
                  <a:pt x="0" y="0"/>
                </a:lnTo>
                <a:lnTo>
                  <a:pt x="883729" y="0"/>
                </a:lnTo>
                <a:lnTo>
                  <a:pt x="883729" y="433412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00226" y="902017"/>
            <a:ext cx="902969" cy="452755"/>
          </a:xfrm>
          <a:custGeom>
            <a:avLst/>
            <a:gdLst/>
            <a:ahLst/>
            <a:cxnLst/>
            <a:rect l="l" t="t" r="r" b="b"/>
            <a:pathLst>
              <a:path w="902970" h="452755">
                <a:moveTo>
                  <a:pt x="73167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2779" y="0"/>
                </a:lnTo>
                <a:lnTo>
                  <a:pt x="90277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13" y="135280"/>
                </a:lnTo>
                <a:lnTo>
                  <a:pt x="19050" y="141528"/>
                </a:lnTo>
                <a:lnTo>
                  <a:pt x="22153" y="141528"/>
                </a:lnTo>
                <a:lnTo>
                  <a:pt x="92984" y="222885"/>
                </a:lnTo>
                <a:lnTo>
                  <a:pt x="78613" y="222885"/>
                </a:lnTo>
                <a:lnTo>
                  <a:pt x="73167" y="229139"/>
                </a:lnTo>
                <a:close/>
              </a:path>
              <a:path w="902970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02970" h="452755">
                <a:moveTo>
                  <a:pt x="88372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3729" y="9525"/>
                </a:lnTo>
                <a:lnTo>
                  <a:pt x="883729" y="19050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883729" y="9525"/>
                </a:lnTo>
                <a:lnTo>
                  <a:pt x="893254" y="19050"/>
                </a:lnTo>
                <a:lnTo>
                  <a:pt x="902779" y="19050"/>
                </a:lnTo>
                <a:lnTo>
                  <a:pt x="902779" y="433412"/>
                </a:lnTo>
                <a:lnTo>
                  <a:pt x="893254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19050"/>
                </a:moveTo>
                <a:lnTo>
                  <a:pt x="893254" y="19050"/>
                </a:lnTo>
                <a:lnTo>
                  <a:pt x="883729" y="9525"/>
                </a:lnTo>
                <a:lnTo>
                  <a:pt x="902779" y="9525"/>
                </a:lnTo>
                <a:lnTo>
                  <a:pt x="902779" y="19050"/>
                </a:lnTo>
                <a:close/>
              </a:path>
              <a:path w="902970" h="452755">
                <a:moveTo>
                  <a:pt x="19050" y="141528"/>
                </a:moveTo>
                <a:lnTo>
                  <a:pt x="16713" y="135280"/>
                </a:lnTo>
                <a:lnTo>
                  <a:pt x="19050" y="137964"/>
                </a:lnTo>
                <a:lnTo>
                  <a:pt x="19050" y="141528"/>
                </a:lnTo>
                <a:close/>
              </a:path>
              <a:path w="902970" h="452755">
                <a:moveTo>
                  <a:pt x="19050" y="137964"/>
                </a:moveTo>
                <a:lnTo>
                  <a:pt x="16713" y="135280"/>
                </a:lnTo>
                <a:lnTo>
                  <a:pt x="19050" y="135280"/>
                </a:lnTo>
                <a:lnTo>
                  <a:pt x="19050" y="137964"/>
                </a:lnTo>
                <a:close/>
              </a:path>
              <a:path w="902970" h="452755">
                <a:moveTo>
                  <a:pt x="22153" y="141528"/>
                </a:moveTo>
                <a:lnTo>
                  <a:pt x="19050" y="141528"/>
                </a:lnTo>
                <a:lnTo>
                  <a:pt x="19050" y="137964"/>
                </a:lnTo>
                <a:lnTo>
                  <a:pt x="22153" y="141528"/>
                </a:lnTo>
                <a:close/>
              </a:path>
              <a:path w="902970" h="452755">
                <a:moveTo>
                  <a:pt x="78613" y="235394"/>
                </a:moveTo>
                <a:lnTo>
                  <a:pt x="73173" y="229133"/>
                </a:lnTo>
                <a:lnTo>
                  <a:pt x="78613" y="222885"/>
                </a:lnTo>
                <a:lnTo>
                  <a:pt x="78613" y="235394"/>
                </a:lnTo>
                <a:close/>
              </a:path>
              <a:path w="902970" h="452755">
                <a:moveTo>
                  <a:pt x="92974" y="235394"/>
                </a:moveTo>
                <a:lnTo>
                  <a:pt x="78613" y="235394"/>
                </a:lnTo>
                <a:lnTo>
                  <a:pt x="78613" y="222885"/>
                </a:lnTo>
                <a:lnTo>
                  <a:pt x="92984" y="222885"/>
                </a:lnTo>
                <a:lnTo>
                  <a:pt x="98419" y="229139"/>
                </a:lnTo>
                <a:lnTo>
                  <a:pt x="92974" y="235394"/>
                </a:lnTo>
                <a:close/>
              </a:path>
              <a:path w="902970" h="452755">
                <a:moveTo>
                  <a:pt x="902779" y="452462"/>
                </a:moveTo>
                <a:lnTo>
                  <a:pt x="0" y="452462"/>
                </a:lnTo>
                <a:lnTo>
                  <a:pt x="0" y="313182"/>
                </a:lnTo>
                <a:lnTo>
                  <a:pt x="73167" y="229139"/>
                </a:lnTo>
                <a:lnTo>
                  <a:pt x="78613" y="235394"/>
                </a:lnTo>
                <a:lnTo>
                  <a:pt x="92974" y="235394"/>
                </a:lnTo>
                <a:lnTo>
                  <a:pt x="22163" y="316738"/>
                </a:lnTo>
                <a:lnTo>
                  <a:pt x="19050" y="316738"/>
                </a:lnTo>
                <a:lnTo>
                  <a:pt x="16713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2779" y="442937"/>
                </a:lnTo>
                <a:lnTo>
                  <a:pt x="902779" y="452462"/>
                </a:lnTo>
                <a:close/>
              </a:path>
              <a:path w="902970" h="452755">
                <a:moveTo>
                  <a:pt x="16713" y="322999"/>
                </a:moveTo>
                <a:lnTo>
                  <a:pt x="19050" y="316738"/>
                </a:lnTo>
                <a:lnTo>
                  <a:pt x="19050" y="320314"/>
                </a:lnTo>
                <a:lnTo>
                  <a:pt x="16713" y="322999"/>
                </a:lnTo>
                <a:close/>
              </a:path>
              <a:path w="902970" h="452755">
                <a:moveTo>
                  <a:pt x="19050" y="320314"/>
                </a:moveTo>
                <a:lnTo>
                  <a:pt x="19050" y="316738"/>
                </a:lnTo>
                <a:lnTo>
                  <a:pt x="22163" y="316738"/>
                </a:lnTo>
                <a:lnTo>
                  <a:pt x="19050" y="320314"/>
                </a:lnTo>
                <a:close/>
              </a:path>
              <a:path w="902970" h="452755">
                <a:moveTo>
                  <a:pt x="19050" y="322999"/>
                </a:moveTo>
                <a:lnTo>
                  <a:pt x="16713" y="322999"/>
                </a:lnTo>
                <a:lnTo>
                  <a:pt x="19050" y="320314"/>
                </a:lnTo>
                <a:lnTo>
                  <a:pt x="19050" y="322999"/>
                </a:lnTo>
                <a:close/>
              </a:path>
              <a:path w="902970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02970" h="452755">
                <a:moveTo>
                  <a:pt x="883729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3729" y="433412"/>
                </a:lnTo>
                <a:lnTo>
                  <a:pt x="883729" y="442937"/>
                </a:lnTo>
                <a:close/>
              </a:path>
              <a:path w="902970" h="452755">
                <a:moveTo>
                  <a:pt x="902779" y="442937"/>
                </a:moveTo>
                <a:lnTo>
                  <a:pt x="883729" y="442937"/>
                </a:lnTo>
                <a:lnTo>
                  <a:pt x="893254" y="433412"/>
                </a:lnTo>
                <a:lnTo>
                  <a:pt x="902779" y="433412"/>
                </a:lnTo>
                <a:lnTo>
                  <a:pt x="902779" y="442937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261152" y="896937"/>
            <a:ext cx="2499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4244" algn="l"/>
                <a:tab pos="1875789" algn="l"/>
              </a:tabLst>
            </a:pP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现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象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结</a:t>
            </a:r>
            <a:r>
              <a:rPr dirty="0" baseline="1157" sz="3600" spc="-7" b="1">
                <a:solidFill>
                  <a:srgbClr val="808080"/>
                </a:solidFill>
                <a:latin typeface="华文楷体"/>
                <a:cs typeface="华文楷体"/>
              </a:rPr>
              <a:t>论</a:t>
            </a:r>
            <a:r>
              <a:rPr dirty="0" baseline="1157" sz="3600" b="1">
                <a:solidFill>
                  <a:srgbClr val="808080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解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08869" y="894867"/>
            <a:ext cx="972185" cy="452755"/>
          </a:xfrm>
          <a:custGeom>
            <a:avLst/>
            <a:gdLst/>
            <a:ahLst/>
            <a:cxnLst/>
            <a:rect l="l" t="t" r="r" b="b"/>
            <a:pathLst>
              <a:path w="972185" h="452755">
                <a:moveTo>
                  <a:pt x="73226" y="229139"/>
                </a:moveTo>
                <a:lnTo>
                  <a:pt x="0" y="145097"/>
                </a:lnTo>
                <a:lnTo>
                  <a:pt x="0" y="0"/>
                </a:lnTo>
                <a:lnTo>
                  <a:pt x="903566" y="0"/>
                </a:lnTo>
                <a:lnTo>
                  <a:pt x="90356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5280"/>
                </a:lnTo>
                <a:lnTo>
                  <a:pt x="16700" y="135280"/>
                </a:lnTo>
                <a:lnTo>
                  <a:pt x="19050" y="141528"/>
                </a:lnTo>
                <a:lnTo>
                  <a:pt x="22145" y="141528"/>
                </a:lnTo>
                <a:lnTo>
                  <a:pt x="93043" y="222885"/>
                </a:lnTo>
                <a:lnTo>
                  <a:pt x="78676" y="222885"/>
                </a:lnTo>
                <a:lnTo>
                  <a:pt x="73226" y="229139"/>
                </a:lnTo>
                <a:close/>
              </a:path>
              <a:path w="972185" h="4527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972185" h="452755">
                <a:moveTo>
                  <a:pt x="88451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884516" y="9525"/>
                </a:lnTo>
                <a:lnTo>
                  <a:pt x="884516" y="19050"/>
                </a:lnTo>
                <a:close/>
              </a:path>
              <a:path w="972185" h="452755">
                <a:moveTo>
                  <a:pt x="946375" y="229139"/>
                </a:moveTo>
                <a:lnTo>
                  <a:pt x="884516" y="158153"/>
                </a:lnTo>
                <a:lnTo>
                  <a:pt x="884516" y="9525"/>
                </a:lnTo>
                <a:lnTo>
                  <a:pt x="894041" y="19050"/>
                </a:lnTo>
                <a:lnTo>
                  <a:pt x="903566" y="19050"/>
                </a:lnTo>
                <a:lnTo>
                  <a:pt x="903566" y="148336"/>
                </a:lnTo>
                <a:lnTo>
                  <a:pt x="901217" y="148336"/>
                </a:lnTo>
                <a:lnTo>
                  <a:pt x="903566" y="154584"/>
                </a:lnTo>
                <a:lnTo>
                  <a:pt x="906663" y="154584"/>
                </a:lnTo>
                <a:lnTo>
                  <a:pt x="966192" y="222885"/>
                </a:lnTo>
                <a:lnTo>
                  <a:pt x="951826" y="222885"/>
                </a:lnTo>
                <a:lnTo>
                  <a:pt x="946375" y="229139"/>
                </a:lnTo>
                <a:close/>
              </a:path>
              <a:path w="972185" h="452755">
                <a:moveTo>
                  <a:pt x="903566" y="19050"/>
                </a:moveTo>
                <a:lnTo>
                  <a:pt x="894041" y="19050"/>
                </a:lnTo>
                <a:lnTo>
                  <a:pt x="884516" y="9525"/>
                </a:lnTo>
                <a:lnTo>
                  <a:pt x="903566" y="9525"/>
                </a:lnTo>
                <a:lnTo>
                  <a:pt x="903566" y="19050"/>
                </a:lnTo>
                <a:close/>
              </a:path>
              <a:path w="972185" h="452755">
                <a:moveTo>
                  <a:pt x="19050" y="141528"/>
                </a:moveTo>
                <a:lnTo>
                  <a:pt x="16700" y="135280"/>
                </a:lnTo>
                <a:lnTo>
                  <a:pt x="19050" y="137976"/>
                </a:lnTo>
                <a:lnTo>
                  <a:pt x="19050" y="141528"/>
                </a:lnTo>
                <a:close/>
              </a:path>
              <a:path w="972185" h="452755">
                <a:moveTo>
                  <a:pt x="19050" y="137976"/>
                </a:moveTo>
                <a:lnTo>
                  <a:pt x="16700" y="135280"/>
                </a:lnTo>
                <a:lnTo>
                  <a:pt x="19050" y="135280"/>
                </a:lnTo>
                <a:lnTo>
                  <a:pt x="19050" y="137976"/>
                </a:lnTo>
                <a:close/>
              </a:path>
              <a:path w="972185" h="452755">
                <a:moveTo>
                  <a:pt x="22145" y="141528"/>
                </a:moveTo>
                <a:lnTo>
                  <a:pt x="19050" y="141528"/>
                </a:lnTo>
                <a:lnTo>
                  <a:pt x="19050" y="137976"/>
                </a:lnTo>
                <a:lnTo>
                  <a:pt x="22145" y="141528"/>
                </a:lnTo>
                <a:close/>
              </a:path>
              <a:path w="972185" h="452755">
                <a:moveTo>
                  <a:pt x="903566" y="154584"/>
                </a:moveTo>
                <a:lnTo>
                  <a:pt x="901217" y="148336"/>
                </a:lnTo>
                <a:lnTo>
                  <a:pt x="903566" y="151031"/>
                </a:lnTo>
                <a:lnTo>
                  <a:pt x="903566" y="154584"/>
                </a:lnTo>
                <a:close/>
              </a:path>
              <a:path w="972185" h="452755">
                <a:moveTo>
                  <a:pt x="903566" y="151031"/>
                </a:moveTo>
                <a:lnTo>
                  <a:pt x="901217" y="148336"/>
                </a:lnTo>
                <a:lnTo>
                  <a:pt x="903566" y="148336"/>
                </a:lnTo>
                <a:lnTo>
                  <a:pt x="903566" y="151031"/>
                </a:lnTo>
                <a:close/>
              </a:path>
              <a:path w="972185" h="452755">
                <a:moveTo>
                  <a:pt x="906663" y="154584"/>
                </a:moveTo>
                <a:lnTo>
                  <a:pt x="903566" y="154584"/>
                </a:lnTo>
                <a:lnTo>
                  <a:pt x="903566" y="151031"/>
                </a:lnTo>
                <a:lnTo>
                  <a:pt x="906663" y="154584"/>
                </a:lnTo>
                <a:close/>
              </a:path>
              <a:path w="972185" h="452755">
                <a:moveTo>
                  <a:pt x="78676" y="235394"/>
                </a:moveTo>
                <a:lnTo>
                  <a:pt x="73231" y="229133"/>
                </a:lnTo>
                <a:lnTo>
                  <a:pt x="78676" y="222885"/>
                </a:lnTo>
                <a:lnTo>
                  <a:pt x="78676" y="235394"/>
                </a:lnTo>
                <a:close/>
              </a:path>
              <a:path w="972185" h="452755">
                <a:moveTo>
                  <a:pt x="93033" y="235394"/>
                </a:moveTo>
                <a:lnTo>
                  <a:pt x="78676" y="235394"/>
                </a:lnTo>
                <a:lnTo>
                  <a:pt x="78676" y="222885"/>
                </a:lnTo>
                <a:lnTo>
                  <a:pt x="93043" y="222885"/>
                </a:lnTo>
                <a:lnTo>
                  <a:pt x="98483" y="229139"/>
                </a:lnTo>
                <a:lnTo>
                  <a:pt x="93033" y="235394"/>
                </a:lnTo>
                <a:close/>
              </a:path>
              <a:path w="972185" h="452755">
                <a:moveTo>
                  <a:pt x="951826" y="235394"/>
                </a:moveTo>
                <a:lnTo>
                  <a:pt x="946380" y="229133"/>
                </a:lnTo>
                <a:lnTo>
                  <a:pt x="951826" y="222885"/>
                </a:lnTo>
                <a:lnTo>
                  <a:pt x="951826" y="235394"/>
                </a:lnTo>
                <a:close/>
              </a:path>
              <a:path w="972185" h="452755">
                <a:moveTo>
                  <a:pt x="966182" y="235394"/>
                </a:moveTo>
                <a:lnTo>
                  <a:pt x="951826" y="235394"/>
                </a:lnTo>
                <a:lnTo>
                  <a:pt x="951826" y="222885"/>
                </a:lnTo>
                <a:lnTo>
                  <a:pt x="966192" y="222885"/>
                </a:lnTo>
                <a:lnTo>
                  <a:pt x="971633" y="229139"/>
                </a:lnTo>
                <a:lnTo>
                  <a:pt x="966182" y="235394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884516" y="300113"/>
                </a:lnTo>
                <a:lnTo>
                  <a:pt x="946375" y="229139"/>
                </a:lnTo>
                <a:lnTo>
                  <a:pt x="951826" y="235394"/>
                </a:lnTo>
                <a:lnTo>
                  <a:pt x="966182" y="235394"/>
                </a:lnTo>
                <a:lnTo>
                  <a:pt x="906673" y="303682"/>
                </a:lnTo>
                <a:lnTo>
                  <a:pt x="903566" y="303682"/>
                </a:lnTo>
                <a:lnTo>
                  <a:pt x="901217" y="309943"/>
                </a:lnTo>
                <a:lnTo>
                  <a:pt x="903566" y="309943"/>
                </a:lnTo>
                <a:lnTo>
                  <a:pt x="903566" y="433412"/>
                </a:lnTo>
                <a:lnTo>
                  <a:pt x="894041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52462"/>
                </a:moveTo>
                <a:lnTo>
                  <a:pt x="0" y="452462"/>
                </a:lnTo>
                <a:lnTo>
                  <a:pt x="0" y="313169"/>
                </a:lnTo>
                <a:lnTo>
                  <a:pt x="73226" y="229139"/>
                </a:lnTo>
                <a:lnTo>
                  <a:pt x="78676" y="235394"/>
                </a:lnTo>
                <a:lnTo>
                  <a:pt x="93033" y="235394"/>
                </a:lnTo>
                <a:lnTo>
                  <a:pt x="22155" y="316738"/>
                </a:lnTo>
                <a:lnTo>
                  <a:pt x="19050" y="316738"/>
                </a:lnTo>
                <a:lnTo>
                  <a:pt x="16700" y="322999"/>
                </a:lnTo>
                <a:lnTo>
                  <a:pt x="19050" y="322999"/>
                </a:lnTo>
                <a:lnTo>
                  <a:pt x="19050" y="433412"/>
                </a:lnTo>
                <a:lnTo>
                  <a:pt x="9525" y="433412"/>
                </a:lnTo>
                <a:lnTo>
                  <a:pt x="19050" y="442937"/>
                </a:lnTo>
                <a:lnTo>
                  <a:pt x="903566" y="442937"/>
                </a:lnTo>
                <a:lnTo>
                  <a:pt x="903566" y="452462"/>
                </a:lnTo>
                <a:close/>
              </a:path>
              <a:path w="972185" h="452755">
                <a:moveTo>
                  <a:pt x="901217" y="309943"/>
                </a:moveTo>
                <a:lnTo>
                  <a:pt x="903566" y="303682"/>
                </a:lnTo>
                <a:lnTo>
                  <a:pt x="903566" y="307247"/>
                </a:lnTo>
                <a:lnTo>
                  <a:pt x="901217" y="309943"/>
                </a:lnTo>
                <a:close/>
              </a:path>
              <a:path w="972185" h="452755">
                <a:moveTo>
                  <a:pt x="903566" y="307247"/>
                </a:moveTo>
                <a:lnTo>
                  <a:pt x="903566" y="303682"/>
                </a:lnTo>
                <a:lnTo>
                  <a:pt x="906673" y="303682"/>
                </a:lnTo>
                <a:lnTo>
                  <a:pt x="903566" y="307247"/>
                </a:lnTo>
                <a:close/>
              </a:path>
              <a:path w="972185" h="452755">
                <a:moveTo>
                  <a:pt x="903566" y="309943"/>
                </a:moveTo>
                <a:lnTo>
                  <a:pt x="901217" y="309943"/>
                </a:lnTo>
                <a:lnTo>
                  <a:pt x="903566" y="307247"/>
                </a:lnTo>
                <a:lnTo>
                  <a:pt x="903566" y="309943"/>
                </a:lnTo>
                <a:close/>
              </a:path>
              <a:path w="972185" h="452755">
                <a:moveTo>
                  <a:pt x="16700" y="322999"/>
                </a:moveTo>
                <a:lnTo>
                  <a:pt x="19050" y="316738"/>
                </a:lnTo>
                <a:lnTo>
                  <a:pt x="19050" y="320302"/>
                </a:lnTo>
                <a:lnTo>
                  <a:pt x="16700" y="322999"/>
                </a:lnTo>
                <a:close/>
              </a:path>
              <a:path w="972185" h="452755">
                <a:moveTo>
                  <a:pt x="19050" y="320302"/>
                </a:moveTo>
                <a:lnTo>
                  <a:pt x="19050" y="316738"/>
                </a:lnTo>
                <a:lnTo>
                  <a:pt x="22155" y="316738"/>
                </a:lnTo>
                <a:lnTo>
                  <a:pt x="19050" y="320302"/>
                </a:lnTo>
                <a:close/>
              </a:path>
              <a:path w="972185" h="452755">
                <a:moveTo>
                  <a:pt x="19050" y="322999"/>
                </a:moveTo>
                <a:lnTo>
                  <a:pt x="16700" y="322999"/>
                </a:lnTo>
                <a:lnTo>
                  <a:pt x="19050" y="320302"/>
                </a:lnTo>
                <a:lnTo>
                  <a:pt x="19050" y="322999"/>
                </a:lnTo>
                <a:close/>
              </a:path>
              <a:path w="972185" h="452755">
                <a:moveTo>
                  <a:pt x="19050" y="442937"/>
                </a:moveTo>
                <a:lnTo>
                  <a:pt x="9525" y="433412"/>
                </a:lnTo>
                <a:lnTo>
                  <a:pt x="19050" y="433412"/>
                </a:lnTo>
                <a:lnTo>
                  <a:pt x="19050" y="442937"/>
                </a:lnTo>
                <a:close/>
              </a:path>
              <a:path w="972185" h="452755">
                <a:moveTo>
                  <a:pt x="884516" y="442937"/>
                </a:moveTo>
                <a:lnTo>
                  <a:pt x="19050" y="442937"/>
                </a:lnTo>
                <a:lnTo>
                  <a:pt x="19050" y="433412"/>
                </a:lnTo>
                <a:lnTo>
                  <a:pt x="884516" y="433412"/>
                </a:lnTo>
                <a:lnTo>
                  <a:pt x="884516" y="442937"/>
                </a:lnTo>
                <a:close/>
              </a:path>
              <a:path w="972185" h="452755">
                <a:moveTo>
                  <a:pt x="903566" y="442937"/>
                </a:moveTo>
                <a:lnTo>
                  <a:pt x="884516" y="442937"/>
                </a:lnTo>
                <a:lnTo>
                  <a:pt x="894041" y="433412"/>
                </a:lnTo>
                <a:lnTo>
                  <a:pt x="903566" y="433412"/>
                </a:lnTo>
                <a:lnTo>
                  <a:pt x="903566" y="4429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42875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光电效应的饱和电流</a:t>
            </a:r>
            <a:r>
              <a:rPr dirty="0" sz="3000" spc="160">
                <a:latin typeface="黑体"/>
                <a:cs typeface="黑体"/>
              </a:rPr>
              <a:t> </a:t>
            </a:r>
            <a:r>
              <a:rPr dirty="0" baseline="6944" sz="3600" b="1">
                <a:solidFill>
                  <a:srgbClr val="808080"/>
                </a:solidFill>
                <a:latin typeface="华文楷体"/>
                <a:cs typeface="华文楷体"/>
              </a:rPr>
              <a:t>问</a:t>
            </a:r>
            <a:r>
              <a:rPr dirty="0" baseline="6944" sz="3600" spc="-7" b="1">
                <a:solidFill>
                  <a:srgbClr val="808080"/>
                </a:solidFill>
                <a:latin typeface="华文楷体"/>
                <a:cs typeface="华文楷体"/>
              </a:rPr>
              <a:t>题</a:t>
            </a:r>
            <a:endParaRPr baseline="6944" sz="36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385" y="1812518"/>
            <a:ext cx="5664200" cy="302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AFEF"/>
                </a:solidFill>
                <a:latin typeface="华文楷体"/>
                <a:cs typeface="华文楷体"/>
              </a:rPr>
              <a:t>光子说解释</a:t>
            </a:r>
            <a:r>
              <a:rPr dirty="0" sz="2800" spc="-5">
                <a:solidFill>
                  <a:srgbClr val="00AFEF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226695">
              <a:lnSpc>
                <a:spcPct val="100000"/>
              </a:lnSpc>
              <a:spcBef>
                <a:spcPts val="3185"/>
              </a:spcBef>
            </a:pPr>
            <a:r>
              <a:rPr dirty="0" sz="2800">
                <a:latin typeface="华文楷体"/>
                <a:cs typeface="华文楷体"/>
              </a:rPr>
              <a:t>光强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（</a:t>
            </a:r>
            <a:r>
              <a:rPr dirty="0" sz="2400" i="1">
                <a:latin typeface="Times New Roman"/>
                <a:cs typeface="Times New Roman"/>
              </a:rPr>
              <a:t>n</a:t>
            </a:r>
            <a:r>
              <a:rPr dirty="0" sz="2400">
                <a:latin typeface="华文楷体"/>
                <a:cs typeface="华文楷体"/>
              </a:rPr>
              <a:t>为单位时间打在金属材料上的光子数）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Times New Roman"/>
              <a:cs typeface="Times New Roman"/>
            </a:endParaRPr>
          </a:p>
          <a:p>
            <a:pPr marL="261620">
              <a:lnSpc>
                <a:spcPct val="100000"/>
              </a:lnSpc>
            </a:pPr>
            <a:r>
              <a:rPr dirty="0" sz="2800">
                <a:latin typeface="华文楷体"/>
                <a:cs typeface="华文楷体"/>
              </a:rPr>
              <a:t>饱和电流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2193" y="2332469"/>
            <a:ext cx="2806623" cy="861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42193" y="3316909"/>
            <a:ext cx="2806623" cy="8615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42193" y="4301337"/>
            <a:ext cx="2806623" cy="8615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05185" y="4464329"/>
            <a:ext cx="24034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3.</a:t>
            </a:r>
            <a:r>
              <a:rPr dirty="0" sz="2800">
                <a:solidFill>
                  <a:srgbClr val="304764"/>
                </a:solidFill>
                <a:latin typeface="华文楷体"/>
                <a:cs typeface="华文楷体"/>
              </a:rPr>
              <a:t>存在饱和电</a:t>
            </a: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42193" y="5285778"/>
            <a:ext cx="2806623" cy="8615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38585" y="5448769"/>
            <a:ext cx="13366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4.</a:t>
            </a:r>
            <a:r>
              <a:rPr dirty="0" sz="2800">
                <a:solidFill>
                  <a:srgbClr val="304764"/>
                </a:solidFill>
                <a:latin typeface="华文楷体"/>
                <a:cs typeface="华文楷体"/>
              </a:rPr>
              <a:t>瞬时</a:t>
            </a: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63851" y="2988132"/>
            <a:ext cx="2259812" cy="25887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51100" y="3793680"/>
            <a:ext cx="144907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1135" marR="5080" indent="-17843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爱因斯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坦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光子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说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01306" y="2988132"/>
            <a:ext cx="2283104" cy="2588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224367" y="3793680"/>
            <a:ext cx="109283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经典</a:t>
            </a:r>
            <a:r>
              <a:rPr dirty="0" sz="2800" spc="-5" b="1">
                <a:solidFill>
                  <a:srgbClr val="FFFFFF"/>
                </a:solidFill>
                <a:latin typeface="华文楷体"/>
                <a:cs typeface="华文楷体"/>
              </a:rPr>
              <a:t>电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磁理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01306" y="4539043"/>
            <a:ext cx="539750" cy="201930"/>
          </a:xfrm>
          <a:custGeom>
            <a:avLst/>
            <a:gdLst/>
            <a:ahLst/>
            <a:cxnLst/>
            <a:rect l="l" t="t" r="r" b="b"/>
            <a:pathLst>
              <a:path w="539750" h="201929">
                <a:moveTo>
                  <a:pt x="75239" y="174792"/>
                </a:moveTo>
                <a:lnTo>
                  <a:pt x="69148" y="156747"/>
                </a:lnTo>
                <a:lnTo>
                  <a:pt x="533463" y="0"/>
                </a:lnTo>
                <a:lnTo>
                  <a:pt x="539559" y="18059"/>
                </a:lnTo>
                <a:lnTo>
                  <a:pt x="75239" y="174792"/>
                </a:lnTo>
                <a:close/>
              </a:path>
              <a:path w="539750" h="201929">
                <a:moveTo>
                  <a:pt x="84378" y="201866"/>
                </a:moveTo>
                <a:lnTo>
                  <a:pt x="0" y="190131"/>
                </a:lnTo>
                <a:lnTo>
                  <a:pt x="60007" y="129667"/>
                </a:lnTo>
                <a:lnTo>
                  <a:pt x="69148" y="156747"/>
                </a:lnTo>
                <a:lnTo>
                  <a:pt x="51104" y="162839"/>
                </a:lnTo>
                <a:lnTo>
                  <a:pt x="57188" y="180886"/>
                </a:lnTo>
                <a:lnTo>
                  <a:pt x="77296" y="180886"/>
                </a:lnTo>
                <a:lnTo>
                  <a:pt x="84378" y="201866"/>
                </a:lnTo>
                <a:close/>
              </a:path>
              <a:path w="539750" h="201929">
                <a:moveTo>
                  <a:pt x="57188" y="180886"/>
                </a:moveTo>
                <a:lnTo>
                  <a:pt x="51104" y="162839"/>
                </a:lnTo>
                <a:lnTo>
                  <a:pt x="69148" y="156747"/>
                </a:lnTo>
                <a:lnTo>
                  <a:pt x="75239" y="174792"/>
                </a:lnTo>
                <a:lnTo>
                  <a:pt x="57188" y="180886"/>
                </a:lnTo>
                <a:close/>
              </a:path>
              <a:path w="539750" h="201929">
                <a:moveTo>
                  <a:pt x="77296" y="180886"/>
                </a:moveTo>
                <a:lnTo>
                  <a:pt x="57188" y="180886"/>
                </a:lnTo>
                <a:lnTo>
                  <a:pt x="75239" y="174792"/>
                </a:lnTo>
                <a:lnTo>
                  <a:pt x="77296" y="180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46054" y="1724545"/>
            <a:ext cx="2874010" cy="220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华文楷体"/>
                <a:cs typeface="华文楷体"/>
              </a:rPr>
              <a:t>光电效应实验规</a:t>
            </a:r>
            <a:r>
              <a:rPr dirty="0" sz="2800" spc="-10" b="1">
                <a:solidFill>
                  <a:srgbClr val="C00000"/>
                </a:solidFill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  <a:p>
            <a:pPr marL="417195" indent="-245745">
              <a:lnSpc>
                <a:spcPct val="100000"/>
              </a:lnSpc>
              <a:spcBef>
                <a:spcPts val="2435"/>
              </a:spcBef>
              <a:buSzPct val="96428"/>
              <a:buAutoNum type="arabicPeriod"/>
              <a:tabLst>
                <a:tab pos="417830" algn="l"/>
              </a:tabLst>
            </a:pPr>
            <a:r>
              <a:rPr dirty="0" sz="2800">
                <a:solidFill>
                  <a:srgbClr val="304764"/>
                </a:solidFill>
                <a:latin typeface="华文楷体"/>
                <a:cs typeface="华文楷体"/>
              </a:rPr>
              <a:t>存在截止率</a:t>
            </a: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频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04764"/>
              </a:buClr>
              <a:buFont typeface=""/>
              <a:buAutoNum type="arabicPeriod"/>
            </a:pPr>
            <a:endParaRPr sz="4050">
              <a:latin typeface="Times New Roman"/>
              <a:cs typeface="Times New Roman"/>
            </a:endParaRPr>
          </a:p>
          <a:p>
            <a:pPr marL="417195" indent="-245745">
              <a:lnSpc>
                <a:spcPct val="100000"/>
              </a:lnSpc>
              <a:spcBef>
                <a:spcPts val="5"/>
              </a:spcBef>
              <a:buSzPct val="96428"/>
              <a:buAutoNum type="arabicPeriod"/>
              <a:tabLst>
                <a:tab pos="417830" algn="l"/>
              </a:tabLst>
            </a:pPr>
            <a:r>
              <a:rPr dirty="0" sz="2800">
                <a:solidFill>
                  <a:srgbClr val="304764"/>
                </a:solidFill>
                <a:latin typeface="华文楷体"/>
                <a:cs typeface="华文楷体"/>
              </a:rPr>
              <a:t>存在遏止电</a:t>
            </a:r>
            <a:r>
              <a:rPr dirty="0" sz="2800" spc="-5">
                <a:solidFill>
                  <a:srgbClr val="304764"/>
                </a:solidFill>
                <a:latin typeface="华文楷体"/>
                <a:cs typeface="华文楷体"/>
              </a:rPr>
              <a:t>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81558" y="848652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光电效应的理论解释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7565" y="1356245"/>
            <a:ext cx="3528060" cy="0"/>
          </a:xfrm>
          <a:custGeom>
            <a:avLst/>
            <a:gdLst/>
            <a:ahLst/>
            <a:cxnLst/>
            <a:rect l="l" t="t" r="r" b="b"/>
            <a:pathLst>
              <a:path w="3528060" h="0">
                <a:moveTo>
                  <a:pt x="0" y="0"/>
                </a:moveTo>
                <a:lnTo>
                  <a:pt x="3528009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545" y="848652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康普顿效应和光子的动量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097" y="1691030"/>
            <a:ext cx="1103820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1.</a:t>
            </a:r>
            <a:r>
              <a:rPr dirty="0" sz="2800">
                <a:latin typeface="华文楷体"/>
                <a:cs typeface="华文楷体"/>
              </a:rPr>
              <a:t>石墨对</a:t>
            </a:r>
            <a:r>
              <a:rPr dirty="0" sz="2800" spc="-5" i="1">
                <a:latin typeface="Times New Roman"/>
                <a:cs typeface="Times New Roman"/>
              </a:rPr>
              <a:t>X</a:t>
            </a:r>
            <a:r>
              <a:rPr dirty="0" sz="2800">
                <a:latin typeface="华文楷体"/>
                <a:cs typeface="华文楷体"/>
              </a:rPr>
              <a:t>射线的散射实验：在散射的</a:t>
            </a:r>
            <a:r>
              <a:rPr dirty="0" sz="2800" spc="-5" i="1">
                <a:latin typeface="Times New Roman"/>
                <a:cs typeface="Times New Roman"/>
              </a:rPr>
              <a:t>X</a:t>
            </a:r>
            <a:r>
              <a:rPr dirty="0" sz="2800">
                <a:latin typeface="华文楷体"/>
                <a:cs typeface="华文楷体"/>
              </a:rPr>
              <a:t>射线中，发现除了有与入射波</a:t>
            </a:r>
            <a:r>
              <a:rPr dirty="0" sz="2800" spc="-5">
                <a:latin typeface="华文楷体"/>
                <a:cs typeface="华文楷体"/>
              </a:rPr>
              <a:t>长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dirty="0" sz="2800" i="1">
                <a:latin typeface="Times New Roman"/>
                <a:cs typeface="Times New Roman"/>
              </a:rPr>
              <a:t>λ</a:t>
            </a:r>
            <a:r>
              <a:rPr dirty="0" baseline="-16975" sz="2700">
                <a:latin typeface="Times New Roman"/>
                <a:cs typeface="Times New Roman"/>
              </a:rPr>
              <a:t>0</a:t>
            </a:r>
            <a:r>
              <a:rPr dirty="0" sz="2800">
                <a:latin typeface="华文楷体"/>
                <a:cs typeface="华文楷体"/>
              </a:rPr>
              <a:t>相同的成分外，</a:t>
            </a:r>
            <a:r>
              <a:rPr dirty="0" sz="2800">
                <a:solidFill>
                  <a:srgbClr val="01611F"/>
                </a:solidFill>
                <a:latin typeface="华文楷体"/>
                <a:cs typeface="华文楷体"/>
              </a:rPr>
              <a:t>还有波长大于</a:t>
            </a:r>
            <a:r>
              <a:rPr dirty="0" sz="2800" spc="5" i="1">
                <a:solidFill>
                  <a:srgbClr val="01611F"/>
                </a:solidFill>
                <a:latin typeface="Times New Roman"/>
                <a:cs typeface="Times New Roman"/>
              </a:rPr>
              <a:t>λ</a:t>
            </a:r>
            <a:r>
              <a:rPr dirty="0" baseline="-16975" sz="2700" spc="7">
                <a:solidFill>
                  <a:srgbClr val="01611F"/>
                </a:solidFill>
                <a:latin typeface="Times New Roman"/>
                <a:cs typeface="Times New Roman"/>
              </a:rPr>
              <a:t>0</a:t>
            </a:r>
            <a:r>
              <a:rPr dirty="0" baseline="-16975" sz="2700" spc="-52">
                <a:solidFill>
                  <a:srgbClr val="01611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1611F"/>
                </a:solidFill>
                <a:latin typeface="华文楷体"/>
                <a:cs typeface="华文楷体"/>
              </a:rPr>
              <a:t>的成分</a:t>
            </a:r>
            <a:r>
              <a:rPr dirty="0" sz="2800">
                <a:latin typeface="华文楷体"/>
                <a:cs typeface="华文楷体"/>
              </a:rPr>
              <a:t>，这个现象称为</a:t>
            </a:r>
            <a:r>
              <a:rPr dirty="0" sz="2800">
                <a:solidFill>
                  <a:srgbClr val="01611F"/>
                </a:solidFill>
                <a:latin typeface="华文楷体"/>
                <a:cs typeface="华文楷体"/>
              </a:rPr>
              <a:t>康普顿效应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88252" y="4177385"/>
            <a:ext cx="252018" cy="2520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20905" y="5207812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碰撞前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62371" y="4162044"/>
            <a:ext cx="1258824" cy="320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66254" y="4269409"/>
            <a:ext cx="1490980" cy="0"/>
          </a:xfrm>
          <a:custGeom>
            <a:avLst/>
            <a:gdLst/>
            <a:ahLst/>
            <a:cxnLst/>
            <a:rect l="l" t="t" r="r" b="b"/>
            <a:pathLst>
              <a:path w="1490979" h="0">
                <a:moveTo>
                  <a:pt x="0" y="0"/>
                </a:moveTo>
                <a:lnTo>
                  <a:pt x="149051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72387" y="4267200"/>
            <a:ext cx="466090" cy="364490"/>
          </a:xfrm>
          <a:custGeom>
            <a:avLst/>
            <a:gdLst/>
            <a:ahLst/>
            <a:cxnLst/>
            <a:rect l="l" t="t" r="r" b="b"/>
            <a:pathLst>
              <a:path w="466090" h="364489">
                <a:moveTo>
                  <a:pt x="30137" y="33362"/>
                </a:moveTo>
                <a:lnTo>
                  <a:pt x="0" y="10045"/>
                </a:lnTo>
                <a:lnTo>
                  <a:pt x="7772" y="0"/>
                </a:lnTo>
                <a:lnTo>
                  <a:pt x="37909" y="23317"/>
                </a:lnTo>
                <a:lnTo>
                  <a:pt x="30137" y="33362"/>
                </a:lnTo>
                <a:close/>
              </a:path>
              <a:path w="466090" h="364489">
                <a:moveTo>
                  <a:pt x="70307" y="64452"/>
                </a:moveTo>
                <a:lnTo>
                  <a:pt x="40182" y="41135"/>
                </a:lnTo>
                <a:lnTo>
                  <a:pt x="47955" y="31089"/>
                </a:lnTo>
                <a:lnTo>
                  <a:pt x="78079" y="54406"/>
                </a:lnTo>
                <a:lnTo>
                  <a:pt x="70307" y="64452"/>
                </a:lnTo>
                <a:close/>
              </a:path>
              <a:path w="466090" h="364489">
                <a:moveTo>
                  <a:pt x="110489" y="95529"/>
                </a:moveTo>
                <a:lnTo>
                  <a:pt x="80352" y="72224"/>
                </a:lnTo>
                <a:lnTo>
                  <a:pt x="88125" y="62179"/>
                </a:lnTo>
                <a:lnTo>
                  <a:pt x="118262" y="85496"/>
                </a:lnTo>
                <a:lnTo>
                  <a:pt x="110489" y="95529"/>
                </a:lnTo>
                <a:close/>
              </a:path>
              <a:path w="466090" h="364489">
                <a:moveTo>
                  <a:pt x="150660" y="126619"/>
                </a:moveTo>
                <a:lnTo>
                  <a:pt x="120535" y="103301"/>
                </a:lnTo>
                <a:lnTo>
                  <a:pt x="128308" y="93268"/>
                </a:lnTo>
                <a:lnTo>
                  <a:pt x="158432" y="116573"/>
                </a:lnTo>
                <a:lnTo>
                  <a:pt x="150660" y="126619"/>
                </a:lnTo>
                <a:close/>
              </a:path>
              <a:path w="466090" h="364489">
                <a:moveTo>
                  <a:pt x="190842" y="157708"/>
                </a:moveTo>
                <a:lnTo>
                  <a:pt x="160705" y="134391"/>
                </a:lnTo>
                <a:lnTo>
                  <a:pt x="168478" y="124345"/>
                </a:lnTo>
                <a:lnTo>
                  <a:pt x="198615" y="147662"/>
                </a:lnTo>
                <a:lnTo>
                  <a:pt x="190842" y="157708"/>
                </a:lnTo>
                <a:close/>
              </a:path>
              <a:path w="466090" h="364489">
                <a:moveTo>
                  <a:pt x="231012" y="188798"/>
                </a:moveTo>
                <a:lnTo>
                  <a:pt x="200888" y="165480"/>
                </a:lnTo>
                <a:lnTo>
                  <a:pt x="208660" y="155435"/>
                </a:lnTo>
                <a:lnTo>
                  <a:pt x="238785" y="178752"/>
                </a:lnTo>
                <a:lnTo>
                  <a:pt x="231012" y="188798"/>
                </a:lnTo>
                <a:close/>
              </a:path>
              <a:path w="466090" h="364489">
                <a:moveTo>
                  <a:pt x="271195" y="219887"/>
                </a:moveTo>
                <a:lnTo>
                  <a:pt x="241058" y="196570"/>
                </a:lnTo>
                <a:lnTo>
                  <a:pt x="248831" y="186524"/>
                </a:lnTo>
                <a:lnTo>
                  <a:pt x="278968" y="209842"/>
                </a:lnTo>
                <a:lnTo>
                  <a:pt x="271195" y="219887"/>
                </a:lnTo>
                <a:close/>
              </a:path>
              <a:path w="466090" h="364489">
                <a:moveTo>
                  <a:pt x="311378" y="250977"/>
                </a:moveTo>
                <a:lnTo>
                  <a:pt x="281241" y="227660"/>
                </a:lnTo>
                <a:lnTo>
                  <a:pt x="289013" y="217614"/>
                </a:lnTo>
                <a:lnTo>
                  <a:pt x="319150" y="240931"/>
                </a:lnTo>
                <a:lnTo>
                  <a:pt x="311378" y="250977"/>
                </a:lnTo>
                <a:close/>
              </a:path>
              <a:path w="466090" h="364489">
                <a:moveTo>
                  <a:pt x="351548" y="282066"/>
                </a:moveTo>
                <a:lnTo>
                  <a:pt x="321411" y="258749"/>
                </a:lnTo>
                <a:lnTo>
                  <a:pt x="329183" y="248704"/>
                </a:lnTo>
                <a:lnTo>
                  <a:pt x="359321" y="272021"/>
                </a:lnTo>
                <a:lnTo>
                  <a:pt x="351548" y="282066"/>
                </a:lnTo>
                <a:close/>
              </a:path>
              <a:path w="466090" h="364489">
                <a:moveTo>
                  <a:pt x="391731" y="313143"/>
                </a:moveTo>
                <a:lnTo>
                  <a:pt x="361594" y="289826"/>
                </a:lnTo>
                <a:lnTo>
                  <a:pt x="369366" y="279793"/>
                </a:lnTo>
                <a:lnTo>
                  <a:pt x="399503" y="303098"/>
                </a:lnTo>
                <a:lnTo>
                  <a:pt x="391731" y="313143"/>
                </a:lnTo>
                <a:close/>
              </a:path>
              <a:path w="466090" h="364489">
                <a:moveTo>
                  <a:pt x="431901" y="344233"/>
                </a:moveTo>
                <a:lnTo>
                  <a:pt x="401777" y="320916"/>
                </a:lnTo>
                <a:lnTo>
                  <a:pt x="409536" y="310870"/>
                </a:lnTo>
                <a:lnTo>
                  <a:pt x="439674" y="334187"/>
                </a:lnTo>
                <a:lnTo>
                  <a:pt x="431901" y="344233"/>
                </a:lnTo>
                <a:close/>
              </a:path>
              <a:path w="466090" h="364489">
                <a:moveTo>
                  <a:pt x="457936" y="364375"/>
                </a:moveTo>
                <a:lnTo>
                  <a:pt x="441947" y="352005"/>
                </a:lnTo>
                <a:lnTo>
                  <a:pt x="449719" y="341960"/>
                </a:lnTo>
                <a:lnTo>
                  <a:pt x="465708" y="354329"/>
                </a:lnTo>
                <a:lnTo>
                  <a:pt x="457936" y="364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66304" y="4540630"/>
            <a:ext cx="252412" cy="252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67487" y="4508322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电</a:t>
            </a:r>
            <a:r>
              <a:rPr dirty="0" sz="2000" spc="5">
                <a:latin typeface="华文楷体"/>
                <a:cs typeface="华文楷体"/>
              </a:rPr>
              <a:t>子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6982" y="5207812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碰撞后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76272" y="4747983"/>
            <a:ext cx="341630" cy="248285"/>
          </a:xfrm>
          <a:custGeom>
            <a:avLst/>
            <a:gdLst/>
            <a:ahLst/>
            <a:cxnLst/>
            <a:rect l="l" t="t" r="r" b="b"/>
            <a:pathLst>
              <a:path w="341629" h="248285">
                <a:moveTo>
                  <a:pt x="273640" y="211307"/>
                </a:moveTo>
                <a:lnTo>
                  <a:pt x="0" y="15493"/>
                </a:lnTo>
                <a:lnTo>
                  <a:pt x="11087" y="0"/>
                </a:lnTo>
                <a:lnTo>
                  <a:pt x="284729" y="195814"/>
                </a:lnTo>
                <a:lnTo>
                  <a:pt x="273640" y="211307"/>
                </a:lnTo>
                <a:close/>
              </a:path>
              <a:path w="341629" h="248285">
                <a:moveTo>
                  <a:pt x="327669" y="222389"/>
                </a:moveTo>
                <a:lnTo>
                  <a:pt x="289128" y="222389"/>
                </a:lnTo>
                <a:lnTo>
                  <a:pt x="300215" y="206895"/>
                </a:lnTo>
                <a:lnTo>
                  <a:pt x="284729" y="195814"/>
                </a:lnTo>
                <a:lnTo>
                  <a:pt x="301358" y="172580"/>
                </a:lnTo>
                <a:lnTo>
                  <a:pt x="327669" y="222389"/>
                </a:lnTo>
                <a:close/>
              </a:path>
              <a:path w="341629" h="248285">
                <a:moveTo>
                  <a:pt x="289128" y="222389"/>
                </a:moveTo>
                <a:lnTo>
                  <a:pt x="273640" y="211307"/>
                </a:lnTo>
                <a:lnTo>
                  <a:pt x="284729" y="195814"/>
                </a:lnTo>
                <a:lnTo>
                  <a:pt x="300215" y="206895"/>
                </a:lnTo>
                <a:lnTo>
                  <a:pt x="289128" y="222389"/>
                </a:lnTo>
                <a:close/>
              </a:path>
              <a:path w="341629" h="248285">
                <a:moveTo>
                  <a:pt x="341147" y="247903"/>
                </a:moveTo>
                <a:lnTo>
                  <a:pt x="257009" y="234543"/>
                </a:lnTo>
                <a:lnTo>
                  <a:pt x="273640" y="211307"/>
                </a:lnTo>
                <a:lnTo>
                  <a:pt x="289128" y="222389"/>
                </a:lnTo>
                <a:lnTo>
                  <a:pt x="327669" y="222389"/>
                </a:lnTo>
                <a:lnTo>
                  <a:pt x="341147" y="247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12152" y="3415284"/>
            <a:ext cx="1520952" cy="10927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294029" y="3362744"/>
            <a:ext cx="6451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λ</a:t>
            </a:r>
            <a:r>
              <a:rPr dirty="0" sz="2400" spc="-90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&gt;λ</a:t>
            </a:r>
            <a:r>
              <a:rPr dirty="0" baseline="-17921" sz="2325" b="1">
                <a:latin typeface="Times New Roman"/>
                <a:cs typeface="Times New Roman"/>
              </a:rPr>
              <a:t>0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43803" y="4380547"/>
            <a:ext cx="777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λ</a:t>
            </a:r>
            <a:r>
              <a:rPr dirty="0" sz="2400" spc="-9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宋体"/>
                <a:cs typeface="宋体"/>
              </a:rPr>
              <a:t>＝</a:t>
            </a:r>
            <a:r>
              <a:rPr dirty="0" sz="2400" b="1" i="1">
                <a:latin typeface="Times New Roman"/>
                <a:cs typeface="Times New Roman"/>
              </a:rPr>
              <a:t>λ</a:t>
            </a:r>
            <a:r>
              <a:rPr dirty="0" baseline="-17921" sz="2325" b="1">
                <a:latin typeface="Times New Roman"/>
                <a:cs typeface="Times New Roman"/>
              </a:rPr>
              <a:t>0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927" y="3558768"/>
            <a:ext cx="20478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2.</a:t>
            </a:r>
            <a:r>
              <a:rPr dirty="0" sz="2800">
                <a:latin typeface="华文楷体"/>
                <a:cs typeface="华文楷体"/>
              </a:rPr>
              <a:t>光子动量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27720" y="5205336"/>
            <a:ext cx="386715" cy="208915"/>
          </a:xfrm>
          <a:custGeom>
            <a:avLst/>
            <a:gdLst/>
            <a:ahLst/>
            <a:cxnLst/>
            <a:rect l="l" t="t" r="r" b="b"/>
            <a:pathLst>
              <a:path w="386714" h="208914">
                <a:moveTo>
                  <a:pt x="281978" y="63703"/>
                </a:moveTo>
                <a:lnTo>
                  <a:pt x="281978" y="0"/>
                </a:lnTo>
                <a:lnTo>
                  <a:pt x="304965" y="22986"/>
                </a:lnTo>
                <a:lnTo>
                  <a:pt x="301028" y="22986"/>
                </a:lnTo>
                <a:lnTo>
                  <a:pt x="284772" y="29730"/>
                </a:lnTo>
                <a:lnTo>
                  <a:pt x="301028" y="45986"/>
                </a:lnTo>
                <a:lnTo>
                  <a:pt x="301028" y="54178"/>
                </a:lnTo>
                <a:lnTo>
                  <a:pt x="291503" y="54178"/>
                </a:lnTo>
                <a:lnTo>
                  <a:pt x="281978" y="63703"/>
                </a:lnTo>
                <a:close/>
              </a:path>
              <a:path w="386714" h="208914">
                <a:moveTo>
                  <a:pt x="301028" y="45986"/>
                </a:moveTo>
                <a:lnTo>
                  <a:pt x="284772" y="29730"/>
                </a:lnTo>
                <a:lnTo>
                  <a:pt x="301028" y="22986"/>
                </a:lnTo>
                <a:lnTo>
                  <a:pt x="301028" y="45986"/>
                </a:lnTo>
                <a:close/>
              </a:path>
              <a:path w="386714" h="208914">
                <a:moveTo>
                  <a:pt x="359467" y="104426"/>
                </a:moveTo>
                <a:lnTo>
                  <a:pt x="301028" y="45986"/>
                </a:lnTo>
                <a:lnTo>
                  <a:pt x="301028" y="22986"/>
                </a:lnTo>
                <a:lnTo>
                  <a:pt x="304965" y="22986"/>
                </a:lnTo>
                <a:lnTo>
                  <a:pt x="379666" y="97688"/>
                </a:lnTo>
                <a:lnTo>
                  <a:pt x="366204" y="97688"/>
                </a:lnTo>
                <a:lnTo>
                  <a:pt x="359467" y="104426"/>
                </a:lnTo>
                <a:close/>
              </a:path>
              <a:path w="386714" h="208914">
                <a:moveTo>
                  <a:pt x="281978" y="154673"/>
                </a:moveTo>
                <a:lnTo>
                  <a:pt x="0" y="154673"/>
                </a:lnTo>
                <a:lnTo>
                  <a:pt x="0" y="54178"/>
                </a:lnTo>
                <a:lnTo>
                  <a:pt x="281978" y="54178"/>
                </a:lnTo>
                <a:lnTo>
                  <a:pt x="281978" y="63703"/>
                </a:lnTo>
                <a:lnTo>
                  <a:pt x="19050" y="63703"/>
                </a:lnTo>
                <a:lnTo>
                  <a:pt x="9525" y="73228"/>
                </a:lnTo>
                <a:lnTo>
                  <a:pt x="19050" y="73228"/>
                </a:lnTo>
                <a:lnTo>
                  <a:pt x="19050" y="135623"/>
                </a:lnTo>
                <a:lnTo>
                  <a:pt x="9525" y="135623"/>
                </a:lnTo>
                <a:lnTo>
                  <a:pt x="19050" y="145148"/>
                </a:lnTo>
                <a:lnTo>
                  <a:pt x="281978" y="145148"/>
                </a:lnTo>
                <a:lnTo>
                  <a:pt x="281978" y="154673"/>
                </a:lnTo>
                <a:close/>
              </a:path>
              <a:path w="386714" h="208914">
                <a:moveTo>
                  <a:pt x="301028" y="73228"/>
                </a:moveTo>
                <a:lnTo>
                  <a:pt x="19050" y="73228"/>
                </a:lnTo>
                <a:lnTo>
                  <a:pt x="19050" y="63703"/>
                </a:lnTo>
                <a:lnTo>
                  <a:pt x="281978" y="63703"/>
                </a:lnTo>
                <a:lnTo>
                  <a:pt x="291503" y="54178"/>
                </a:lnTo>
                <a:lnTo>
                  <a:pt x="301028" y="54178"/>
                </a:lnTo>
                <a:lnTo>
                  <a:pt x="301028" y="73228"/>
                </a:lnTo>
                <a:close/>
              </a:path>
              <a:path w="386714" h="208914">
                <a:moveTo>
                  <a:pt x="19050" y="73228"/>
                </a:moveTo>
                <a:lnTo>
                  <a:pt x="9525" y="73228"/>
                </a:lnTo>
                <a:lnTo>
                  <a:pt x="19050" y="63703"/>
                </a:lnTo>
                <a:lnTo>
                  <a:pt x="19050" y="73228"/>
                </a:lnTo>
                <a:close/>
              </a:path>
              <a:path w="386714" h="208914">
                <a:moveTo>
                  <a:pt x="366204" y="111163"/>
                </a:moveTo>
                <a:lnTo>
                  <a:pt x="359467" y="104426"/>
                </a:lnTo>
                <a:lnTo>
                  <a:pt x="366204" y="97688"/>
                </a:lnTo>
                <a:lnTo>
                  <a:pt x="366204" y="111163"/>
                </a:lnTo>
                <a:close/>
              </a:path>
              <a:path w="386714" h="208914">
                <a:moveTo>
                  <a:pt x="379679" y="111163"/>
                </a:moveTo>
                <a:lnTo>
                  <a:pt x="366204" y="111163"/>
                </a:lnTo>
                <a:lnTo>
                  <a:pt x="366204" y="97688"/>
                </a:lnTo>
                <a:lnTo>
                  <a:pt x="379666" y="97688"/>
                </a:lnTo>
                <a:lnTo>
                  <a:pt x="386410" y="104432"/>
                </a:lnTo>
                <a:lnTo>
                  <a:pt x="379679" y="111163"/>
                </a:lnTo>
                <a:close/>
              </a:path>
              <a:path w="386714" h="208914">
                <a:moveTo>
                  <a:pt x="304977" y="185864"/>
                </a:moveTo>
                <a:lnTo>
                  <a:pt x="301028" y="185864"/>
                </a:lnTo>
                <a:lnTo>
                  <a:pt x="301028" y="162874"/>
                </a:lnTo>
                <a:lnTo>
                  <a:pt x="359473" y="104432"/>
                </a:lnTo>
                <a:lnTo>
                  <a:pt x="366204" y="111163"/>
                </a:lnTo>
                <a:lnTo>
                  <a:pt x="379679" y="111163"/>
                </a:lnTo>
                <a:lnTo>
                  <a:pt x="304977" y="185864"/>
                </a:lnTo>
                <a:close/>
              </a:path>
              <a:path w="386714" h="208914">
                <a:moveTo>
                  <a:pt x="19050" y="145148"/>
                </a:moveTo>
                <a:lnTo>
                  <a:pt x="9525" y="135623"/>
                </a:lnTo>
                <a:lnTo>
                  <a:pt x="19050" y="135623"/>
                </a:lnTo>
                <a:lnTo>
                  <a:pt x="19050" y="145148"/>
                </a:lnTo>
                <a:close/>
              </a:path>
              <a:path w="386714" h="208914">
                <a:moveTo>
                  <a:pt x="301028" y="154673"/>
                </a:moveTo>
                <a:lnTo>
                  <a:pt x="291503" y="154673"/>
                </a:lnTo>
                <a:lnTo>
                  <a:pt x="281978" y="145148"/>
                </a:lnTo>
                <a:lnTo>
                  <a:pt x="19050" y="145148"/>
                </a:lnTo>
                <a:lnTo>
                  <a:pt x="19050" y="135623"/>
                </a:lnTo>
                <a:lnTo>
                  <a:pt x="301028" y="135623"/>
                </a:lnTo>
                <a:lnTo>
                  <a:pt x="301028" y="154673"/>
                </a:lnTo>
                <a:close/>
              </a:path>
              <a:path w="386714" h="208914">
                <a:moveTo>
                  <a:pt x="281978" y="208864"/>
                </a:moveTo>
                <a:lnTo>
                  <a:pt x="281978" y="145148"/>
                </a:lnTo>
                <a:lnTo>
                  <a:pt x="291503" y="154673"/>
                </a:lnTo>
                <a:lnTo>
                  <a:pt x="301028" y="154673"/>
                </a:lnTo>
                <a:lnTo>
                  <a:pt x="301028" y="162874"/>
                </a:lnTo>
                <a:lnTo>
                  <a:pt x="284772" y="179133"/>
                </a:lnTo>
                <a:lnTo>
                  <a:pt x="301028" y="185864"/>
                </a:lnTo>
                <a:lnTo>
                  <a:pt x="304977" y="185864"/>
                </a:lnTo>
                <a:lnTo>
                  <a:pt x="281978" y="208864"/>
                </a:lnTo>
                <a:close/>
              </a:path>
              <a:path w="386714" h="208914">
                <a:moveTo>
                  <a:pt x="301028" y="185864"/>
                </a:moveTo>
                <a:lnTo>
                  <a:pt x="284772" y="179133"/>
                </a:lnTo>
                <a:lnTo>
                  <a:pt x="301028" y="162874"/>
                </a:lnTo>
                <a:lnTo>
                  <a:pt x="301028" y="18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2927" y="4329848"/>
            <a:ext cx="3114675" cy="11468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800" spc="-5">
                <a:latin typeface="华文楷体"/>
                <a:cs typeface="华文楷体"/>
              </a:rPr>
              <a:t>3.</a:t>
            </a:r>
            <a:r>
              <a:rPr dirty="0" sz="2800">
                <a:latin typeface="华文楷体"/>
                <a:cs typeface="华文楷体"/>
              </a:rPr>
              <a:t>波长变长的解释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402590">
              <a:lnSpc>
                <a:spcPct val="100000"/>
              </a:lnSpc>
              <a:spcBef>
                <a:spcPts val="1055"/>
              </a:spcBef>
              <a:tabLst>
                <a:tab pos="1728470" algn="l"/>
              </a:tabLst>
            </a:pP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sz="2800" spc="-5">
                <a:latin typeface="Times New Roman"/>
                <a:cs typeface="Times New Roman"/>
              </a:rPr>
              <a:t>↓	</a:t>
            </a:r>
            <a:r>
              <a:rPr dirty="0" sz="2800" spc="-5" i="1">
                <a:latin typeface="Times New Roman"/>
                <a:cs typeface="Times New Roman"/>
              </a:rPr>
              <a:t>λ↑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7565" y="1356245"/>
            <a:ext cx="4356100" cy="0"/>
          </a:xfrm>
          <a:custGeom>
            <a:avLst/>
            <a:gdLst/>
            <a:ahLst/>
            <a:cxnLst/>
            <a:rect l="l" t="t" r="r" b="b"/>
            <a:pathLst>
              <a:path w="4356100" h="0">
                <a:moveTo>
                  <a:pt x="0" y="0"/>
                </a:moveTo>
                <a:lnTo>
                  <a:pt x="4356011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" y="3597224"/>
            <a:ext cx="10142220" cy="0"/>
          </a:xfrm>
          <a:custGeom>
            <a:avLst/>
            <a:gdLst/>
            <a:ahLst/>
            <a:cxnLst/>
            <a:rect l="l" t="t" r="r" b="b"/>
            <a:pathLst>
              <a:path w="10142220" h="0">
                <a:moveTo>
                  <a:pt x="0" y="0"/>
                </a:moveTo>
                <a:lnTo>
                  <a:pt x="10142220" y="0"/>
                </a:lnTo>
              </a:path>
            </a:pathLst>
          </a:custGeom>
          <a:ln w="28575">
            <a:solidFill>
              <a:srgbClr val="647C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3648735"/>
            <a:ext cx="10133330" cy="0"/>
          </a:xfrm>
          <a:custGeom>
            <a:avLst/>
            <a:gdLst/>
            <a:ahLst/>
            <a:cxnLst/>
            <a:rect l="l" t="t" r="r" b="b"/>
            <a:pathLst>
              <a:path w="10133330" h="0">
                <a:moveTo>
                  <a:pt x="0" y="0"/>
                </a:moveTo>
                <a:lnTo>
                  <a:pt x="10132898" y="0"/>
                </a:lnTo>
              </a:path>
            </a:pathLst>
          </a:custGeom>
          <a:ln w="28575">
            <a:solidFill>
              <a:srgbClr val="647C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1510" y="1835099"/>
            <a:ext cx="432434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3200" b="1">
                <a:solidFill>
                  <a:srgbClr val="0000FF"/>
                </a:solidFill>
                <a:latin typeface="华文楷体"/>
                <a:cs typeface="华文楷体"/>
              </a:rPr>
              <a:t>波动说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82130" y="2920072"/>
            <a:ext cx="356870" cy="503555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169</a:t>
            </a:r>
            <a:r>
              <a:rPr dirty="0" sz="2000">
                <a:latin typeface="华文楷体"/>
                <a:cs typeface="华文楷体"/>
              </a:rPr>
              <a:t>0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98534" y="1806613"/>
            <a:ext cx="1501421" cy="3906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48254" y="1816874"/>
            <a:ext cx="5028793" cy="1935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05495" y="1818462"/>
            <a:ext cx="29146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77315" algn="l"/>
                <a:tab pos="1529715" algn="l"/>
              </a:tabLst>
            </a:pPr>
            <a:r>
              <a:rPr dirty="0" baseline="2314" sz="3600">
                <a:latin typeface="华文楷体"/>
                <a:cs typeface="华文楷体"/>
              </a:rPr>
              <a:t>惠更斯	</a:t>
            </a:r>
            <a:r>
              <a:rPr dirty="0" sz="2400">
                <a:latin typeface="华文楷体"/>
                <a:cs typeface="华文楷体"/>
              </a:rPr>
              <a:t>托马斯·杨 </a:t>
            </a:r>
            <a:r>
              <a:rPr dirty="0" baseline="2314" sz="3600">
                <a:latin typeface="华文楷体"/>
                <a:cs typeface="华文楷体"/>
              </a:rPr>
              <a:t>波动说		</a:t>
            </a:r>
            <a:r>
              <a:rPr dirty="0" sz="2400">
                <a:latin typeface="华文楷体"/>
                <a:cs typeface="华文楷体"/>
              </a:rPr>
              <a:t>双缝干涉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4279" y="2915157"/>
            <a:ext cx="878205" cy="52197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31115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186</a:t>
            </a:r>
            <a:r>
              <a:rPr dirty="0" sz="2000">
                <a:latin typeface="华文楷体"/>
                <a:cs typeface="华文楷体"/>
              </a:rPr>
              <a:t>4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000" spc="-5">
                <a:latin typeface="华文楷体"/>
                <a:cs typeface="华文楷体"/>
              </a:rPr>
              <a:t>1801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6983" y="2937586"/>
            <a:ext cx="356870" cy="503555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188</a:t>
            </a:r>
            <a:r>
              <a:rPr dirty="0" sz="2000">
                <a:latin typeface="华文楷体"/>
                <a:cs typeface="华文楷体"/>
              </a:rPr>
              <a:t>8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6748" y="1823630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赫兹发现 </a:t>
            </a:r>
            <a:r>
              <a:rPr dirty="0" sz="2400">
                <a:solidFill>
                  <a:srgbClr val="1D41D4"/>
                </a:solidFill>
                <a:latin typeface="华文楷体"/>
                <a:cs typeface="华文楷体"/>
              </a:rPr>
              <a:t>电磁波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4545" y="3747058"/>
            <a:ext cx="432434" cy="124650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3200" b="1">
                <a:solidFill>
                  <a:srgbClr val="FFC000"/>
                </a:solidFill>
                <a:latin typeface="华文楷体"/>
                <a:cs typeface="华文楷体"/>
              </a:rPr>
              <a:t>微粒说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9687" y="3780929"/>
            <a:ext cx="356870" cy="503555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167</a:t>
            </a:r>
            <a:r>
              <a:rPr dirty="0" sz="2000">
                <a:latin typeface="华文楷体"/>
                <a:cs typeface="华文楷体"/>
              </a:rPr>
              <a:t>2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03677" y="4871084"/>
            <a:ext cx="1633855" cy="840740"/>
          </a:xfrm>
          <a:custGeom>
            <a:avLst/>
            <a:gdLst/>
            <a:ahLst/>
            <a:cxnLst/>
            <a:rect l="l" t="t" r="r" b="b"/>
            <a:pathLst>
              <a:path w="1633854" h="840739">
                <a:moveTo>
                  <a:pt x="1629041" y="840524"/>
                </a:moveTo>
                <a:lnTo>
                  <a:pt x="4762" y="840524"/>
                </a:lnTo>
                <a:lnTo>
                  <a:pt x="3289" y="840295"/>
                </a:lnTo>
                <a:lnTo>
                  <a:pt x="1968" y="839609"/>
                </a:lnTo>
                <a:lnTo>
                  <a:pt x="914" y="838555"/>
                </a:lnTo>
                <a:lnTo>
                  <a:pt x="228" y="837234"/>
                </a:lnTo>
                <a:lnTo>
                  <a:pt x="0" y="835761"/>
                </a:lnTo>
                <a:lnTo>
                  <a:pt x="0" y="4762"/>
                </a:lnTo>
                <a:lnTo>
                  <a:pt x="4762" y="0"/>
                </a:lnTo>
                <a:lnTo>
                  <a:pt x="1629041" y="0"/>
                </a:lnTo>
                <a:lnTo>
                  <a:pt x="1633804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0999"/>
                </a:lnTo>
                <a:lnTo>
                  <a:pt x="4762" y="830999"/>
                </a:lnTo>
                <a:lnTo>
                  <a:pt x="9525" y="835761"/>
                </a:lnTo>
                <a:lnTo>
                  <a:pt x="1633804" y="835761"/>
                </a:lnTo>
                <a:lnTo>
                  <a:pt x="1633562" y="837234"/>
                </a:lnTo>
                <a:lnTo>
                  <a:pt x="1632889" y="838555"/>
                </a:lnTo>
                <a:lnTo>
                  <a:pt x="1631835" y="839609"/>
                </a:lnTo>
                <a:lnTo>
                  <a:pt x="1630514" y="840295"/>
                </a:lnTo>
                <a:lnTo>
                  <a:pt x="1629041" y="840524"/>
                </a:lnTo>
                <a:close/>
              </a:path>
              <a:path w="1633854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33854" h="840739">
                <a:moveTo>
                  <a:pt x="1624279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24279" y="4762"/>
                </a:lnTo>
                <a:lnTo>
                  <a:pt x="1624279" y="9525"/>
                </a:lnTo>
                <a:close/>
              </a:path>
              <a:path w="1633854" h="840739">
                <a:moveTo>
                  <a:pt x="1624279" y="835761"/>
                </a:moveTo>
                <a:lnTo>
                  <a:pt x="1624279" y="4762"/>
                </a:lnTo>
                <a:lnTo>
                  <a:pt x="1629041" y="9525"/>
                </a:lnTo>
                <a:lnTo>
                  <a:pt x="1633804" y="9525"/>
                </a:lnTo>
                <a:lnTo>
                  <a:pt x="1633804" y="830999"/>
                </a:lnTo>
                <a:lnTo>
                  <a:pt x="1629041" y="830999"/>
                </a:lnTo>
                <a:lnTo>
                  <a:pt x="1624279" y="835761"/>
                </a:lnTo>
                <a:close/>
              </a:path>
              <a:path w="1633854" h="840739">
                <a:moveTo>
                  <a:pt x="1633804" y="9525"/>
                </a:moveTo>
                <a:lnTo>
                  <a:pt x="1629041" y="9525"/>
                </a:lnTo>
                <a:lnTo>
                  <a:pt x="1624279" y="4762"/>
                </a:lnTo>
                <a:lnTo>
                  <a:pt x="1633804" y="4762"/>
                </a:lnTo>
                <a:lnTo>
                  <a:pt x="1633804" y="9525"/>
                </a:lnTo>
                <a:close/>
              </a:path>
              <a:path w="1633854" h="840739">
                <a:moveTo>
                  <a:pt x="9525" y="835761"/>
                </a:move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close/>
              </a:path>
              <a:path w="1633854" h="840739">
                <a:moveTo>
                  <a:pt x="1624279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1624279" y="830999"/>
                </a:lnTo>
                <a:lnTo>
                  <a:pt x="1624279" y="835761"/>
                </a:lnTo>
                <a:close/>
              </a:path>
              <a:path w="1633854" h="840739">
                <a:moveTo>
                  <a:pt x="1633804" y="835761"/>
                </a:moveTo>
                <a:lnTo>
                  <a:pt x="1624279" y="835761"/>
                </a:lnTo>
                <a:lnTo>
                  <a:pt x="1629041" y="830999"/>
                </a:lnTo>
                <a:lnTo>
                  <a:pt x="1633804" y="830999"/>
                </a:lnTo>
                <a:lnTo>
                  <a:pt x="1633804" y="835761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25943" y="4874234"/>
            <a:ext cx="28060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  <a:tabLst>
                <a:tab pos="1573530" algn="l"/>
              </a:tabLst>
            </a:pPr>
            <a:r>
              <a:rPr dirty="0" sz="2400">
                <a:latin typeface="华文楷体"/>
                <a:cs typeface="华文楷体"/>
              </a:rPr>
              <a:t>牛顿	赫兹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发现 </a:t>
            </a:r>
            <a:r>
              <a:rPr dirty="0" sz="2400">
                <a:latin typeface="华文楷体"/>
                <a:cs typeface="华文楷体"/>
              </a:rPr>
              <a:t>微粒说	光电效应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82479" y="3744074"/>
            <a:ext cx="2388235" cy="1170305"/>
          </a:xfrm>
          <a:custGeom>
            <a:avLst/>
            <a:gdLst/>
            <a:ahLst/>
            <a:cxnLst/>
            <a:rect l="l" t="t" r="r" b="b"/>
            <a:pathLst>
              <a:path w="2388235" h="1170304">
                <a:moveTo>
                  <a:pt x="2368626" y="565886"/>
                </a:moveTo>
                <a:lnTo>
                  <a:pt x="2368626" y="0"/>
                </a:lnTo>
                <a:lnTo>
                  <a:pt x="2387676" y="0"/>
                </a:lnTo>
                <a:lnTo>
                  <a:pt x="2387676" y="556361"/>
                </a:lnTo>
                <a:lnTo>
                  <a:pt x="2378151" y="556361"/>
                </a:lnTo>
                <a:lnTo>
                  <a:pt x="2368626" y="565886"/>
                </a:lnTo>
                <a:close/>
              </a:path>
              <a:path w="2388235" h="1170304">
                <a:moveTo>
                  <a:pt x="28575" y="1095595"/>
                </a:moveTo>
                <a:lnTo>
                  <a:pt x="28575" y="556361"/>
                </a:lnTo>
                <a:lnTo>
                  <a:pt x="2368626" y="556361"/>
                </a:lnTo>
                <a:lnTo>
                  <a:pt x="2368626" y="565886"/>
                </a:lnTo>
                <a:lnTo>
                  <a:pt x="47625" y="565886"/>
                </a:lnTo>
                <a:lnTo>
                  <a:pt x="38100" y="575411"/>
                </a:lnTo>
                <a:lnTo>
                  <a:pt x="47625" y="575411"/>
                </a:lnTo>
                <a:lnTo>
                  <a:pt x="47625" y="1093673"/>
                </a:lnTo>
                <a:lnTo>
                  <a:pt x="38100" y="1093673"/>
                </a:lnTo>
                <a:lnTo>
                  <a:pt x="28575" y="1095595"/>
                </a:lnTo>
                <a:close/>
              </a:path>
              <a:path w="2388235" h="1170304">
                <a:moveTo>
                  <a:pt x="2387676" y="575411"/>
                </a:moveTo>
                <a:lnTo>
                  <a:pt x="47625" y="575411"/>
                </a:lnTo>
                <a:lnTo>
                  <a:pt x="47625" y="565886"/>
                </a:lnTo>
                <a:lnTo>
                  <a:pt x="2368626" y="565886"/>
                </a:lnTo>
                <a:lnTo>
                  <a:pt x="2378151" y="556361"/>
                </a:lnTo>
                <a:lnTo>
                  <a:pt x="2387676" y="556361"/>
                </a:lnTo>
                <a:lnTo>
                  <a:pt x="2387676" y="575411"/>
                </a:lnTo>
                <a:close/>
              </a:path>
              <a:path w="2388235" h="1170304">
                <a:moveTo>
                  <a:pt x="47625" y="575411"/>
                </a:moveTo>
                <a:lnTo>
                  <a:pt x="38100" y="575411"/>
                </a:lnTo>
                <a:lnTo>
                  <a:pt x="47625" y="565886"/>
                </a:lnTo>
                <a:lnTo>
                  <a:pt x="47625" y="575411"/>
                </a:lnTo>
                <a:close/>
              </a:path>
              <a:path w="2388235" h="1170304">
                <a:moveTo>
                  <a:pt x="47625" y="1131773"/>
                </a:moveTo>
                <a:lnTo>
                  <a:pt x="28575" y="1131773"/>
                </a:lnTo>
                <a:lnTo>
                  <a:pt x="28575" y="1095595"/>
                </a:lnTo>
                <a:lnTo>
                  <a:pt x="38100" y="1093673"/>
                </a:lnTo>
                <a:lnTo>
                  <a:pt x="47625" y="1095595"/>
                </a:lnTo>
                <a:lnTo>
                  <a:pt x="47625" y="1131773"/>
                </a:lnTo>
                <a:close/>
              </a:path>
              <a:path w="2388235" h="1170304">
                <a:moveTo>
                  <a:pt x="47625" y="1095595"/>
                </a:moveTo>
                <a:lnTo>
                  <a:pt x="38100" y="1093673"/>
                </a:lnTo>
                <a:lnTo>
                  <a:pt x="47625" y="1093673"/>
                </a:lnTo>
                <a:lnTo>
                  <a:pt x="47625" y="1095595"/>
                </a:lnTo>
                <a:close/>
              </a:path>
              <a:path w="2388235" h="1170304">
                <a:moveTo>
                  <a:pt x="38100" y="1169873"/>
                </a:moveTo>
                <a:lnTo>
                  <a:pt x="23268" y="1166879"/>
                </a:lnTo>
                <a:lnTo>
                  <a:pt x="11158" y="1158714"/>
                </a:lnTo>
                <a:lnTo>
                  <a:pt x="2993" y="1146604"/>
                </a:lnTo>
                <a:lnTo>
                  <a:pt x="0" y="1131773"/>
                </a:lnTo>
                <a:lnTo>
                  <a:pt x="2993" y="1116942"/>
                </a:lnTo>
                <a:lnTo>
                  <a:pt x="11158" y="1104831"/>
                </a:lnTo>
                <a:lnTo>
                  <a:pt x="23268" y="1096667"/>
                </a:lnTo>
                <a:lnTo>
                  <a:pt x="28575" y="1095595"/>
                </a:lnTo>
                <a:lnTo>
                  <a:pt x="28575" y="1131773"/>
                </a:lnTo>
                <a:lnTo>
                  <a:pt x="76200" y="1131773"/>
                </a:lnTo>
                <a:lnTo>
                  <a:pt x="73206" y="1146604"/>
                </a:lnTo>
                <a:lnTo>
                  <a:pt x="65041" y="1158714"/>
                </a:lnTo>
                <a:lnTo>
                  <a:pt x="52931" y="1166879"/>
                </a:lnTo>
                <a:lnTo>
                  <a:pt x="38100" y="1169873"/>
                </a:lnTo>
                <a:close/>
              </a:path>
              <a:path w="2388235" h="1170304">
                <a:moveTo>
                  <a:pt x="76200" y="1131773"/>
                </a:moveTo>
                <a:lnTo>
                  <a:pt x="47625" y="1131773"/>
                </a:lnTo>
                <a:lnTo>
                  <a:pt x="47625" y="1095595"/>
                </a:lnTo>
                <a:lnTo>
                  <a:pt x="52931" y="1096667"/>
                </a:lnTo>
                <a:lnTo>
                  <a:pt x="65041" y="1104831"/>
                </a:lnTo>
                <a:lnTo>
                  <a:pt x="73206" y="1116942"/>
                </a:lnTo>
                <a:lnTo>
                  <a:pt x="76200" y="11317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056671" y="3752646"/>
            <a:ext cx="901700" cy="548640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57785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190</a:t>
            </a:r>
            <a:r>
              <a:rPr dirty="0" sz="2000">
                <a:latin typeface="华文楷体"/>
                <a:cs typeface="华文楷体"/>
              </a:rPr>
              <a:t>2</a:t>
            </a:r>
            <a:endParaRPr sz="2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2000" spc="-5">
                <a:latin typeface="华文楷体"/>
                <a:cs typeface="华文楷体"/>
              </a:rPr>
              <a:t>1887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47399" y="3492792"/>
            <a:ext cx="4913909" cy="2223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533465" y="3788308"/>
            <a:ext cx="687070" cy="514984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1905</a:t>
            </a:r>
            <a:endParaRPr sz="2000">
              <a:latin typeface="华文楷体"/>
              <a:cs typeface="华文楷体"/>
            </a:endParaRPr>
          </a:p>
          <a:p>
            <a:pPr marL="24130">
              <a:lnSpc>
                <a:spcPct val="100000"/>
              </a:lnSpc>
              <a:spcBef>
                <a:spcPts val="200"/>
              </a:spcBef>
            </a:pPr>
            <a:r>
              <a:rPr dirty="0" sz="2000" spc="-5">
                <a:latin typeface="华文楷体"/>
                <a:cs typeface="华文楷体"/>
              </a:rPr>
              <a:t>191</a:t>
            </a:r>
            <a:r>
              <a:rPr dirty="0" sz="2000">
                <a:latin typeface="华文楷体"/>
                <a:cs typeface="华文楷体"/>
              </a:rPr>
              <a:t>0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8498" y="3791851"/>
            <a:ext cx="356870" cy="503555"/>
          </a:xfrm>
          <a:prstGeom prst="rect">
            <a:avLst/>
          </a:prstGeom>
        </p:spPr>
        <p:txBody>
          <a:bodyPr wrap="square" lIns="0" tIns="95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5">
                <a:latin typeface="华文楷体"/>
                <a:cs typeface="华文楷体"/>
              </a:rPr>
              <a:t>192</a:t>
            </a:r>
            <a:r>
              <a:rPr dirty="0" sz="2000">
                <a:latin typeface="华文楷体"/>
                <a:cs typeface="华文楷体"/>
              </a:rPr>
              <a:t>2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83791" y="3473196"/>
            <a:ext cx="9184005" cy="1152525"/>
          </a:xfrm>
          <a:custGeom>
            <a:avLst/>
            <a:gdLst/>
            <a:ahLst/>
            <a:cxnLst/>
            <a:rect l="l" t="t" r="r" b="b"/>
            <a:pathLst>
              <a:path w="9184005" h="1152525">
                <a:moveTo>
                  <a:pt x="8607552" y="1152143"/>
                </a:moveTo>
                <a:lnTo>
                  <a:pt x="8607552" y="864107"/>
                </a:lnTo>
                <a:lnTo>
                  <a:pt x="0" y="864107"/>
                </a:lnTo>
                <a:lnTo>
                  <a:pt x="0" y="288036"/>
                </a:lnTo>
                <a:lnTo>
                  <a:pt x="8607552" y="288036"/>
                </a:lnTo>
                <a:lnTo>
                  <a:pt x="8607552" y="0"/>
                </a:lnTo>
                <a:lnTo>
                  <a:pt x="9183624" y="576071"/>
                </a:lnTo>
                <a:lnTo>
                  <a:pt x="8607552" y="1152143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30902" y="3781691"/>
            <a:ext cx="4724400" cy="1852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00"/>
                </a:solidFill>
                <a:latin typeface="华文楷体"/>
                <a:cs typeface="华文楷体"/>
              </a:rPr>
              <a:t>粒子</a:t>
            </a:r>
            <a:r>
              <a:rPr dirty="0" sz="2800" spc="-5">
                <a:solidFill>
                  <a:srgbClr val="FFFF00"/>
                </a:solidFill>
                <a:latin typeface="华文楷体"/>
                <a:cs typeface="华文楷体"/>
              </a:rPr>
              <a:t>性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dirty="0" sz="2400">
                <a:latin typeface="华文楷体"/>
                <a:cs typeface="华文楷体"/>
              </a:rPr>
              <a:t>勒纳德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  <a:tabLst>
                <a:tab pos="1617345" algn="l"/>
                <a:tab pos="3186430" algn="l"/>
              </a:tabLst>
            </a:pPr>
            <a:r>
              <a:rPr dirty="0" baseline="1157" sz="3600">
                <a:latin typeface="华文楷体"/>
                <a:cs typeface="华文楷体"/>
              </a:rPr>
              <a:t>光电效应	</a:t>
            </a:r>
            <a:r>
              <a:rPr dirty="0" sz="2400">
                <a:latin typeface="华文楷体"/>
                <a:cs typeface="华文楷体"/>
              </a:rPr>
              <a:t>爱因斯坦	康普顿效应 </a:t>
            </a:r>
            <a:r>
              <a:rPr dirty="0" baseline="1157" sz="3600">
                <a:solidFill>
                  <a:srgbClr val="FF0000"/>
                </a:solidFill>
                <a:latin typeface="华文楷体"/>
                <a:cs typeface="华文楷体"/>
              </a:rPr>
              <a:t>实验规律	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光子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说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>
                <a:latin typeface="华文楷体"/>
                <a:cs typeface="华文楷体"/>
              </a:rPr>
              <a:t>光子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有动量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3791" y="2596895"/>
            <a:ext cx="9184005" cy="1152525"/>
          </a:xfrm>
          <a:custGeom>
            <a:avLst/>
            <a:gdLst/>
            <a:ahLst/>
            <a:cxnLst/>
            <a:rect l="l" t="t" r="r" b="b"/>
            <a:pathLst>
              <a:path w="9184005" h="1152525">
                <a:moveTo>
                  <a:pt x="8607552" y="1152143"/>
                </a:moveTo>
                <a:lnTo>
                  <a:pt x="8607552" y="864107"/>
                </a:lnTo>
                <a:lnTo>
                  <a:pt x="0" y="864107"/>
                </a:lnTo>
                <a:lnTo>
                  <a:pt x="0" y="288035"/>
                </a:lnTo>
                <a:lnTo>
                  <a:pt x="8607552" y="288035"/>
                </a:lnTo>
                <a:lnTo>
                  <a:pt x="8607552" y="0"/>
                </a:lnTo>
                <a:lnTo>
                  <a:pt x="9183624" y="576071"/>
                </a:lnTo>
                <a:lnTo>
                  <a:pt x="8607552" y="1152143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95456" y="1833245"/>
            <a:ext cx="1480820" cy="152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marR="240665" indent="-1524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麦克斯韦 </a:t>
            </a:r>
            <a:r>
              <a:rPr dirty="0" sz="2400">
                <a:solidFill>
                  <a:srgbClr val="1D41D4"/>
                </a:solidFill>
                <a:latin typeface="华文楷体"/>
                <a:cs typeface="华文楷体"/>
              </a:rPr>
              <a:t>电磁说</a:t>
            </a:r>
            <a:endParaRPr sz="2400">
              <a:latin typeface="华文楷体"/>
              <a:cs typeface="华文楷体"/>
            </a:endParaRPr>
          </a:p>
          <a:p>
            <a:pPr marL="401320">
              <a:lnSpc>
                <a:spcPct val="100000"/>
              </a:lnSpc>
              <a:spcBef>
                <a:spcPts val="2670"/>
              </a:spcBef>
            </a:pPr>
            <a:r>
              <a:rPr dirty="0" sz="2800">
                <a:solidFill>
                  <a:srgbClr val="0000FF"/>
                </a:solidFill>
                <a:latin typeface="华文楷体"/>
                <a:cs typeface="华文楷体"/>
              </a:rPr>
              <a:t>波动</a:t>
            </a:r>
            <a:r>
              <a:rPr dirty="0" sz="2800" spc="-5">
                <a:solidFill>
                  <a:srgbClr val="0000FF"/>
                </a:solidFill>
                <a:latin typeface="华文楷体"/>
                <a:cs typeface="华文楷体"/>
              </a:rPr>
              <a:t>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983723" y="2217420"/>
            <a:ext cx="1061085" cy="2658110"/>
          </a:xfrm>
          <a:custGeom>
            <a:avLst/>
            <a:gdLst/>
            <a:ahLst/>
            <a:cxnLst/>
            <a:rect l="l" t="t" r="r" b="b"/>
            <a:pathLst>
              <a:path w="1061084" h="2658110">
                <a:moveTo>
                  <a:pt x="0" y="2657855"/>
                </a:moveTo>
                <a:lnTo>
                  <a:pt x="0" y="0"/>
                </a:lnTo>
                <a:lnTo>
                  <a:pt x="1060703" y="1328927"/>
                </a:lnTo>
                <a:lnTo>
                  <a:pt x="0" y="2657855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964953" y="2919628"/>
            <a:ext cx="73596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FFFF"/>
                </a:solidFill>
                <a:latin typeface="华文楷体"/>
                <a:cs typeface="华文楷体"/>
              </a:rPr>
              <a:t>波</a:t>
            </a:r>
            <a:r>
              <a:rPr dirty="0" sz="2800" spc="-5">
                <a:solidFill>
                  <a:srgbClr val="FFFFFF"/>
                </a:solidFill>
                <a:latin typeface="华文楷体"/>
                <a:cs typeface="华文楷体"/>
              </a:rPr>
              <a:t>粒 </a:t>
            </a:r>
            <a:r>
              <a:rPr dirty="0" sz="2800">
                <a:solidFill>
                  <a:srgbClr val="FFFFFF"/>
                </a:solidFill>
                <a:latin typeface="华文楷体"/>
                <a:cs typeface="华文楷体"/>
              </a:rPr>
              <a:t>二</a:t>
            </a:r>
            <a:r>
              <a:rPr dirty="0" sz="2800" spc="-5">
                <a:solidFill>
                  <a:srgbClr val="FFFFFF"/>
                </a:solidFill>
                <a:latin typeface="华文楷体"/>
                <a:cs typeface="华文楷体"/>
              </a:rPr>
              <a:t>象 </a:t>
            </a:r>
            <a:r>
              <a:rPr dirty="0" sz="2800" spc="-5">
                <a:solidFill>
                  <a:srgbClr val="FFFFFF"/>
                </a:solidFill>
                <a:latin typeface="华文楷体"/>
                <a:cs typeface="华文楷体"/>
              </a:rPr>
              <a:t>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681545" y="848652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光的波粒二象性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7565" y="1356245"/>
            <a:ext cx="2952115" cy="0"/>
          </a:xfrm>
          <a:custGeom>
            <a:avLst/>
            <a:gdLst/>
            <a:ahLst/>
            <a:cxnLst/>
            <a:rect l="l" t="t" r="r" b="b"/>
            <a:pathLst>
              <a:path w="2952115" h="0">
                <a:moveTo>
                  <a:pt x="0" y="0"/>
                </a:moveTo>
                <a:lnTo>
                  <a:pt x="2952000" y="0"/>
                </a:lnTo>
              </a:path>
            </a:pathLst>
          </a:custGeom>
          <a:ln w="12700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6971" y="89763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6615" y="112166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/>
              <a:t>库布奇沙漠“光伏治沙</a:t>
            </a:r>
            <a:r>
              <a:rPr dirty="0" spc="-5"/>
              <a:t>”</a:t>
            </a:r>
          </a:p>
        </p:txBody>
      </p:sp>
      <p:sp>
        <p:nvSpPr>
          <p:cNvPr id="3" name="object 3"/>
          <p:cNvSpPr/>
          <p:nvPr/>
        </p:nvSpPr>
        <p:spPr>
          <a:xfrm>
            <a:off x="2598420" y="2058923"/>
            <a:ext cx="6900672" cy="3829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06419" y="5409482"/>
            <a:ext cx="3265804" cy="354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800" spc="-5">
                <a:latin typeface="Calibri"/>
                <a:cs typeface="Calibri"/>
              </a:rPr>
              <a:t>https://image</a:t>
            </a:r>
            <a:r>
              <a:rPr dirty="0" sz="2800" spc="-10">
                <a:latin typeface="Calibri"/>
                <a:cs typeface="Calibri"/>
              </a:rPr>
              <a:t>.</a:t>
            </a:r>
            <a:r>
              <a:rPr dirty="0" sz="2800" spc="-5">
                <a:latin typeface="Calibri"/>
                <a:cs typeface="Calibri"/>
              </a:rPr>
              <a:t>so</a:t>
            </a:r>
            <a:r>
              <a:rPr dirty="0" sz="2800" spc="-10">
                <a:latin typeface="Calibri"/>
                <a:cs typeface="Calibri"/>
              </a:rPr>
              <a:t>.</a:t>
            </a:r>
            <a:r>
              <a:rPr dirty="0" sz="2800" spc="-5">
                <a:latin typeface="Calibri"/>
                <a:cs typeface="Calibri"/>
              </a:rPr>
              <a:t>com/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8420" y="2029967"/>
            <a:ext cx="7339583" cy="388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97129" y="5424716"/>
            <a:ext cx="30905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https://image.so.com/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2025-04-20T14:27:24Z</dcterms:created>
  <dcterms:modified xsi:type="dcterms:W3CDTF">2025-04-20T14:27:24Z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