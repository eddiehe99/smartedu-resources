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19462" y="2420937"/>
            <a:ext cx="555307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190" y="1065847"/>
            <a:ext cx="11183619" cy="3225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9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10540">
              <a:lnSpc>
                <a:spcPct val="100000"/>
              </a:lnSpc>
              <a:spcBef>
                <a:spcPts val="105"/>
              </a:spcBef>
            </a:pPr>
            <a:r>
              <a:rPr dirty="0"/>
              <a:t>原子的核式结构模</a:t>
            </a:r>
            <a:r>
              <a:rPr dirty="0" spc="5"/>
              <a:t>型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41152" y="3585349"/>
          <a:ext cx="7404734" cy="85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7110"/>
                <a:gridCol w="615950"/>
                <a:gridCol w="3242944"/>
              </a:tblGrid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主讲人：王朝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祥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校：北京市第八十中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	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级：高二下学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期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84235" y="1693164"/>
            <a:ext cx="3671316" cy="2471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3527" y="1067435"/>
            <a:ext cx="11730355" cy="4472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635" marR="1332230">
              <a:lnSpc>
                <a:spcPct val="1458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1897</a:t>
            </a:r>
            <a:r>
              <a:rPr dirty="0" sz="2400">
                <a:latin typeface="微软雅黑"/>
                <a:cs typeface="微软雅黑"/>
              </a:rPr>
              <a:t>年，英国物理学家汤姆孙发现电子，认识到电子是原子的组成部分。 电子的发现，激发了人们探索原子内部结构的热情。</a:t>
            </a:r>
            <a:endParaRPr sz="2400">
              <a:latin typeface="微软雅黑"/>
              <a:cs typeface="微软雅黑"/>
            </a:endParaRPr>
          </a:p>
          <a:p>
            <a:pPr algn="just" marL="12700" marR="4394200" indent="609600">
              <a:lnSpc>
                <a:spcPct val="125000"/>
              </a:lnSpc>
              <a:spcBef>
                <a:spcPts val="690"/>
              </a:spcBef>
            </a:pPr>
            <a:r>
              <a:rPr dirty="0" sz="2400">
                <a:latin typeface="微软雅黑"/>
                <a:cs typeface="微软雅黑"/>
              </a:rPr>
              <a:t>通常情况下，物质是不带电的，原子呈电中性。既 然电子是带负电的，质量又很小，那么原子中一定还有 带正电的部分，它具有大部分的原子质量。</a:t>
            </a:r>
            <a:endParaRPr sz="2400">
              <a:latin typeface="微软雅黑"/>
              <a:cs typeface="微软雅黑"/>
            </a:endParaRPr>
          </a:p>
          <a:p>
            <a:pPr marL="672465">
              <a:lnSpc>
                <a:spcPct val="100000"/>
              </a:lnSpc>
              <a:spcBef>
                <a:spcPts val="844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原子内部的正负电荷是如何分布的呢？</a:t>
            </a:r>
            <a:endParaRPr sz="2400">
              <a:latin typeface="微软雅黑"/>
              <a:cs typeface="微软雅黑"/>
            </a:endParaRPr>
          </a:p>
          <a:p>
            <a:pPr marL="62865" marR="5080" indent="681355">
              <a:lnSpc>
                <a:spcPct val="125000"/>
              </a:lnSpc>
              <a:spcBef>
                <a:spcPts val="600"/>
              </a:spcBef>
            </a:pPr>
            <a:r>
              <a:rPr dirty="0" sz="2400">
                <a:latin typeface="微软雅黑"/>
                <a:cs typeface="微软雅黑"/>
              </a:rPr>
              <a:t>在</a:t>
            </a:r>
            <a:r>
              <a:rPr dirty="0" sz="2400">
                <a:latin typeface="Times New Roman"/>
                <a:cs typeface="Times New Roman"/>
              </a:rPr>
              <a:t>19</a:t>
            </a:r>
            <a:r>
              <a:rPr dirty="0" sz="2400">
                <a:latin typeface="微软雅黑"/>
                <a:cs typeface="微软雅黑"/>
              </a:rPr>
              <a:t>世纪末和</a:t>
            </a:r>
            <a:r>
              <a:rPr dirty="0" sz="2400">
                <a:latin typeface="Times New Roman"/>
                <a:cs typeface="Times New Roman"/>
              </a:rPr>
              <a:t>20</a:t>
            </a:r>
            <a:r>
              <a:rPr dirty="0" sz="2400">
                <a:latin typeface="微软雅黑"/>
                <a:cs typeface="微软雅黑"/>
              </a:rPr>
              <a:t>世纪初，科学家还无法通过实验手段来直接揭示原子的内部结构， 于是利用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假设</a:t>
            </a:r>
            <a:r>
              <a:rPr dirty="0" sz="2400">
                <a:latin typeface="微软雅黑"/>
                <a:cs typeface="微软雅黑"/>
              </a:rPr>
              <a:t>的方法，提出了许多原子结构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模型</a:t>
            </a:r>
            <a:r>
              <a:rPr dirty="0" sz="2400">
                <a:latin typeface="微软雅黑"/>
                <a:cs typeface="微软雅黑"/>
              </a:rPr>
              <a:t>，再通过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实验验证</a:t>
            </a:r>
            <a:r>
              <a:rPr dirty="0" sz="2400">
                <a:latin typeface="微软雅黑"/>
                <a:cs typeface="微软雅黑"/>
              </a:rPr>
              <a:t>和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理论分析</a:t>
            </a:r>
            <a:r>
              <a:rPr dirty="0" sz="2400">
                <a:latin typeface="微软雅黑"/>
                <a:cs typeface="微软雅黑"/>
              </a:rPr>
              <a:t>，一步 步接近原子结构的真实图景。其中较有影响的是汤姆孙提出的原子模型。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45423" y="1309116"/>
            <a:ext cx="2622804" cy="2634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723765" y="113030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1F5F"/>
                </a:solidFill>
                <a:latin typeface="微软雅黑"/>
                <a:cs typeface="微软雅黑"/>
              </a:rPr>
              <a:t>电子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077" y="883550"/>
            <a:ext cx="7179945" cy="3097530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800">
                <a:latin typeface="微软雅黑"/>
                <a:cs typeface="微软雅黑"/>
              </a:rPr>
              <a:t>一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汤姆孙的原子模</a:t>
            </a:r>
            <a:r>
              <a:rPr dirty="0" sz="2800" spc="-5">
                <a:latin typeface="微软雅黑"/>
                <a:cs typeface="微软雅黑"/>
              </a:rPr>
              <a:t>型</a:t>
            </a:r>
            <a:endParaRPr sz="2800">
              <a:latin typeface="微软雅黑"/>
              <a:cs typeface="微软雅黑"/>
            </a:endParaRPr>
          </a:p>
          <a:p>
            <a:pPr algn="just" marL="34925" marR="5080" indent="609600">
              <a:lnSpc>
                <a:spcPct val="125000"/>
              </a:lnSpc>
              <a:spcBef>
                <a:spcPts val="645"/>
              </a:spcBef>
            </a:pPr>
            <a:r>
              <a:rPr dirty="0" sz="2400" spc="40">
                <a:latin typeface="Times New Roman"/>
                <a:cs typeface="Times New Roman"/>
              </a:rPr>
              <a:t>1898</a:t>
            </a:r>
            <a:r>
              <a:rPr dirty="0" sz="2400" spc="40">
                <a:latin typeface="微软雅黑"/>
                <a:cs typeface="微软雅黑"/>
              </a:rPr>
              <a:t>年，</a:t>
            </a:r>
            <a:r>
              <a:rPr dirty="0" sz="2400" spc="45">
                <a:latin typeface="微软雅黑"/>
                <a:cs typeface="微软雅黑"/>
              </a:rPr>
              <a:t>汤姆孙提出“枣糕模型”。他认为，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 </a:t>
            </a:r>
            <a:r>
              <a:rPr dirty="0" sz="2400" spc="40" b="1">
                <a:solidFill>
                  <a:srgbClr val="001F5F"/>
                </a:solidFill>
                <a:latin typeface="微软雅黑"/>
                <a:cs typeface="微软雅黑"/>
              </a:rPr>
              <a:t>子是一个球体</a:t>
            </a:r>
            <a:r>
              <a:rPr dirty="0" sz="2400" spc="45" b="1">
                <a:solidFill>
                  <a:srgbClr val="001F5F"/>
                </a:solidFill>
                <a:latin typeface="微软雅黑"/>
                <a:cs typeface="微软雅黑"/>
              </a:rPr>
              <a:t>，正电荷弥漫性的均匀分布在整个球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体 内，电子镶嵌其中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algn="just" marL="34925" marR="5080" indent="609600">
              <a:lnSpc>
                <a:spcPct val="125000"/>
              </a:lnSpc>
              <a:spcBef>
                <a:spcPts val="600"/>
              </a:spcBef>
            </a:pPr>
            <a:r>
              <a:rPr dirty="0" sz="2400" spc="45">
                <a:latin typeface="微软雅黑"/>
                <a:cs typeface="微软雅黑"/>
              </a:rPr>
              <a:t>这个模型能够说明</a:t>
            </a:r>
            <a:r>
              <a:rPr dirty="0" sz="2400" spc="50">
                <a:latin typeface="微软雅黑"/>
                <a:cs typeface="微软雅黑"/>
              </a:rPr>
              <a:t>原子的稳定性，也能解释一</a:t>
            </a:r>
            <a:r>
              <a:rPr dirty="0" sz="2400">
                <a:latin typeface="微软雅黑"/>
                <a:cs typeface="微软雅黑"/>
              </a:rPr>
              <a:t>些 实验现象（如原子能够发光）。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937" y="4013834"/>
            <a:ext cx="113499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5659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德国物理学家勒纳德</a:t>
            </a:r>
            <a:r>
              <a:rPr dirty="0" sz="2400">
                <a:latin typeface="Times New Roman"/>
                <a:cs typeface="Times New Roman"/>
              </a:rPr>
              <a:t>1903</a:t>
            </a:r>
            <a:r>
              <a:rPr dirty="0" sz="2400">
                <a:latin typeface="微软雅黑"/>
                <a:cs typeface="微软雅黑"/>
              </a:rPr>
              <a:t>年通过实验发现：高速电子很容易穿透金属中的原子。 这说明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原子不是一个实心球体</a:t>
            </a:r>
            <a:r>
              <a:rPr dirty="0" sz="2400">
                <a:latin typeface="微软雅黑"/>
                <a:cs typeface="微软雅黑"/>
              </a:rPr>
              <a:t>，汤姆孙的模型可能不正确。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340" y="854112"/>
            <a:ext cx="11183620" cy="5006340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375"/>
              </a:spcBef>
            </a:pPr>
            <a:r>
              <a:rPr dirty="0" sz="2800">
                <a:latin typeface="微软雅黑"/>
                <a:cs typeface="微软雅黑"/>
              </a:rPr>
              <a:t>二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 spc="-5" b="1" i="1">
                <a:latin typeface="Times New Roman"/>
                <a:cs typeface="Times New Roman"/>
              </a:rPr>
              <a:t>α</a:t>
            </a:r>
            <a:r>
              <a:rPr dirty="0" sz="2800">
                <a:latin typeface="微软雅黑"/>
                <a:cs typeface="微软雅黑"/>
              </a:rPr>
              <a:t>粒子散射实</a:t>
            </a:r>
            <a:r>
              <a:rPr dirty="0" sz="2800" spc="-5">
                <a:latin typeface="微软雅黑"/>
                <a:cs typeface="微软雅黑"/>
              </a:rPr>
              <a:t>验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400" spc="-5">
                <a:latin typeface="微软雅黑"/>
                <a:cs typeface="微软雅黑"/>
              </a:rPr>
              <a:t>1.</a:t>
            </a:r>
            <a:r>
              <a:rPr dirty="0" sz="2400">
                <a:latin typeface="微软雅黑"/>
                <a:cs typeface="微软雅黑"/>
              </a:rPr>
              <a:t>实验原理</a:t>
            </a:r>
            <a:endParaRPr sz="2400">
              <a:latin typeface="微软雅黑"/>
              <a:cs typeface="微软雅黑"/>
            </a:endParaRPr>
          </a:p>
          <a:p>
            <a:pPr algn="just" marL="12700" marR="5080" indent="541020">
              <a:lnSpc>
                <a:spcPct val="125000"/>
              </a:lnSpc>
              <a:spcBef>
                <a:spcPts val="600"/>
              </a:spcBef>
            </a:pPr>
            <a:r>
              <a:rPr dirty="0" sz="2400" spc="30">
                <a:latin typeface="微软雅黑"/>
                <a:cs typeface="微软雅黑"/>
              </a:rPr>
              <a:t>20</a:t>
            </a:r>
            <a:r>
              <a:rPr dirty="0" sz="2400" spc="35">
                <a:latin typeface="微软雅黑"/>
                <a:cs typeface="微软雅黑"/>
              </a:rPr>
              <a:t>世纪初，为了探测原子的结构，发展了一种</a:t>
            </a:r>
            <a:r>
              <a:rPr dirty="0" sz="2400" spc="35" b="1">
                <a:solidFill>
                  <a:srgbClr val="001F5F"/>
                </a:solidFill>
                <a:latin typeface="微软雅黑"/>
                <a:cs typeface="微软雅黑"/>
              </a:rPr>
              <a:t>实验方法</a:t>
            </a:r>
            <a:r>
              <a:rPr dirty="0" sz="2400" spc="30">
                <a:latin typeface="微软雅黑"/>
                <a:cs typeface="微软雅黑"/>
              </a:rPr>
              <a:t>——</a:t>
            </a:r>
            <a:r>
              <a:rPr dirty="0" sz="2400" spc="35">
                <a:latin typeface="微软雅黑"/>
                <a:cs typeface="微软雅黑"/>
              </a:rPr>
              <a:t>散射实</a:t>
            </a:r>
            <a:r>
              <a:rPr dirty="0" sz="2400" spc="40">
                <a:latin typeface="微软雅黑"/>
                <a:cs typeface="微软雅黑"/>
              </a:rPr>
              <a:t>验：用已</a:t>
            </a:r>
            <a:r>
              <a:rPr dirty="0" sz="2400">
                <a:latin typeface="微软雅黑"/>
                <a:cs typeface="微软雅黑"/>
              </a:rPr>
              <a:t>知 </a:t>
            </a:r>
            <a:r>
              <a:rPr dirty="0" sz="2400" spc="40">
                <a:latin typeface="微软雅黑"/>
                <a:cs typeface="微软雅黑"/>
              </a:rPr>
              <a:t>的高速粒子轰击很薄的金属箔，粒子由于与金属内部</a:t>
            </a:r>
            <a:r>
              <a:rPr dirty="0" sz="2400" spc="45">
                <a:latin typeface="微软雅黑"/>
                <a:cs typeface="微软雅黑"/>
              </a:rPr>
              <a:t>的原子相互作用而发生偏转</a:t>
            </a:r>
            <a:r>
              <a:rPr dirty="0" sz="2400">
                <a:latin typeface="微软雅黑"/>
                <a:cs typeface="微软雅黑"/>
              </a:rPr>
              <a:t>， 通过观察这些粒子穿过箔片后的偏转情况，可以获得原子内部的信息。</a:t>
            </a:r>
            <a:endParaRPr sz="24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400" spc="5">
                <a:latin typeface="Times New Roman"/>
                <a:cs typeface="Times New Roman"/>
              </a:rPr>
              <a:t>1898</a:t>
            </a:r>
            <a:r>
              <a:rPr dirty="0" sz="2400" spc="5">
                <a:latin typeface="微软雅黑"/>
                <a:cs typeface="微软雅黑"/>
              </a:rPr>
              <a:t>年，汤姆孙的学生卢瑟福研究放射性时发现</a:t>
            </a:r>
            <a:r>
              <a:rPr dirty="0" sz="2400" spc="5" i="1">
                <a:latin typeface="Times New Roman"/>
                <a:cs typeface="Times New Roman"/>
              </a:rPr>
              <a:t>α</a:t>
            </a:r>
            <a:r>
              <a:rPr dirty="0" sz="2400" spc="5">
                <a:latin typeface="微软雅黑"/>
                <a:cs typeface="微软雅黑"/>
              </a:rPr>
              <a:t>射线、</a:t>
            </a:r>
            <a:r>
              <a:rPr dirty="0" sz="2400" i="1">
                <a:latin typeface="Times New Roman"/>
                <a:cs typeface="Times New Roman"/>
              </a:rPr>
              <a:t>β</a:t>
            </a:r>
            <a:r>
              <a:rPr dirty="0" sz="2400" spc="5">
                <a:latin typeface="微软雅黑"/>
                <a:cs typeface="微软雅黑"/>
              </a:rPr>
              <a:t>射线，并于</a:t>
            </a:r>
            <a:r>
              <a:rPr dirty="0" sz="2400" spc="5">
                <a:latin typeface="Times New Roman"/>
                <a:cs typeface="Times New Roman"/>
              </a:rPr>
              <a:t>1909</a:t>
            </a:r>
            <a:r>
              <a:rPr dirty="0" sz="2400" spc="10">
                <a:latin typeface="微软雅黑"/>
                <a:cs typeface="微软雅黑"/>
              </a:rPr>
              <a:t>年证</a:t>
            </a:r>
            <a:r>
              <a:rPr dirty="0" sz="2400">
                <a:latin typeface="微软雅黑"/>
                <a:cs typeface="微软雅黑"/>
              </a:rPr>
              <a:t>明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25000"/>
              </a:lnSpc>
            </a:pPr>
            <a:r>
              <a:rPr dirty="0" sz="2400" b="1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粒子就是氦的原子核，带</a:t>
            </a:r>
            <a:r>
              <a:rPr dirty="0" sz="2400" spc="5">
                <a:latin typeface="微软雅黑"/>
                <a:cs typeface="微软雅黑"/>
              </a:rPr>
              <a:t>两个单位的正电荷，其质量是电子质量的</a:t>
            </a:r>
            <a:r>
              <a:rPr dirty="0" sz="2400" spc="5">
                <a:latin typeface="Times New Roman"/>
                <a:cs typeface="Times New Roman"/>
              </a:rPr>
              <a:t>7300</a:t>
            </a:r>
            <a:r>
              <a:rPr dirty="0" sz="2400" spc="5">
                <a:latin typeface="微软雅黑"/>
                <a:cs typeface="微软雅黑"/>
              </a:rPr>
              <a:t>倍。某些</a:t>
            </a:r>
            <a:r>
              <a:rPr dirty="0" sz="2400">
                <a:latin typeface="微软雅黑"/>
                <a:cs typeface="微软雅黑"/>
              </a:rPr>
              <a:t>放 射性元素射出的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粒子具有很大的动能，可以当做轰击金属箔的“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炮弹</a:t>
            </a:r>
            <a:r>
              <a:rPr dirty="0" sz="2400">
                <a:latin typeface="微软雅黑"/>
                <a:cs typeface="微软雅黑"/>
              </a:rPr>
              <a:t>”。</a:t>
            </a:r>
            <a:endParaRPr sz="2400">
              <a:latin typeface="微软雅黑"/>
              <a:cs typeface="微软雅黑"/>
            </a:endParaRPr>
          </a:p>
          <a:p>
            <a:pPr marL="12700" marR="5080" indent="457200">
              <a:lnSpc>
                <a:spcPct val="125000"/>
              </a:lnSpc>
              <a:spcBef>
                <a:spcPts val="600"/>
              </a:spcBef>
            </a:pPr>
            <a:r>
              <a:rPr dirty="0" sz="2400" spc="35">
                <a:latin typeface="Times New Roman"/>
                <a:cs typeface="Times New Roman"/>
              </a:rPr>
              <a:t>1909</a:t>
            </a:r>
            <a:r>
              <a:rPr dirty="0" sz="2400" spc="35">
                <a:latin typeface="微软雅黑"/>
                <a:cs typeface="微软雅黑"/>
              </a:rPr>
              <a:t>年，卢瑟</a:t>
            </a:r>
            <a:r>
              <a:rPr dirty="0" sz="2400" spc="40">
                <a:latin typeface="微软雅黑"/>
                <a:cs typeface="微软雅黑"/>
              </a:rPr>
              <a:t>福指导他的学生盖革和马斯顿用</a:t>
            </a:r>
            <a:r>
              <a:rPr dirty="0" sz="2400" spc="40" i="1">
                <a:latin typeface="Times New Roman"/>
                <a:cs typeface="Times New Roman"/>
              </a:rPr>
              <a:t>α</a:t>
            </a:r>
            <a:r>
              <a:rPr dirty="0" sz="2400" spc="40">
                <a:latin typeface="微软雅黑"/>
                <a:cs typeface="微软雅黑"/>
              </a:rPr>
              <a:t>粒子轰击金箔，</a:t>
            </a:r>
            <a:r>
              <a:rPr dirty="0" sz="2400" spc="40" b="1">
                <a:solidFill>
                  <a:srgbClr val="001F5F"/>
                </a:solidFill>
                <a:latin typeface="微软雅黑"/>
                <a:cs typeface="微软雅黑"/>
              </a:rPr>
              <a:t>检验汤姆孙的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 子模型是否正确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48255" y="1350263"/>
            <a:ext cx="8894064" cy="41498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4340" y="854112"/>
            <a:ext cx="2855595" cy="1120140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375"/>
              </a:spcBef>
            </a:pPr>
            <a:r>
              <a:rPr dirty="0" sz="2800">
                <a:latin typeface="微软雅黑"/>
                <a:cs typeface="微软雅黑"/>
              </a:rPr>
              <a:t>二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 spc="-5" b="1" i="1">
                <a:latin typeface="Times New Roman"/>
                <a:cs typeface="Times New Roman"/>
              </a:rPr>
              <a:t>α</a:t>
            </a:r>
            <a:r>
              <a:rPr dirty="0" sz="2800">
                <a:latin typeface="微软雅黑"/>
                <a:cs typeface="微软雅黑"/>
              </a:rPr>
              <a:t>粒子散射实</a:t>
            </a:r>
            <a:r>
              <a:rPr dirty="0" sz="2800" spc="-5">
                <a:latin typeface="微软雅黑"/>
                <a:cs typeface="微软雅黑"/>
              </a:rPr>
              <a:t>验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400" spc="-5">
                <a:latin typeface="微软雅黑"/>
                <a:cs typeface="微软雅黑"/>
              </a:rPr>
              <a:t>2.</a:t>
            </a:r>
            <a:r>
              <a:rPr dirty="0" sz="2400">
                <a:latin typeface="微软雅黑"/>
                <a:cs typeface="微软雅黑"/>
              </a:rPr>
              <a:t>实验装置及操作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052" y="5264784"/>
            <a:ext cx="1138809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09600">
              <a:lnSpc>
                <a:spcPct val="125000"/>
              </a:lnSpc>
              <a:spcBef>
                <a:spcPts val="100"/>
              </a:spcBef>
            </a:pPr>
            <a:r>
              <a:rPr dirty="0" sz="2400" spc="50">
                <a:latin typeface="微软雅黑"/>
                <a:cs typeface="微软雅黑"/>
              </a:rPr>
              <a:t>整个装置置于真空中。放射</a:t>
            </a:r>
            <a:r>
              <a:rPr dirty="0" sz="2400" spc="55">
                <a:latin typeface="微软雅黑"/>
                <a:cs typeface="微软雅黑"/>
              </a:rPr>
              <a:t>源发出的</a:t>
            </a:r>
            <a:r>
              <a:rPr dirty="0" sz="2400" spc="55" i="1">
                <a:latin typeface="Times New Roman"/>
                <a:cs typeface="Times New Roman"/>
              </a:rPr>
              <a:t>α</a:t>
            </a:r>
            <a:r>
              <a:rPr dirty="0" sz="2400" spc="55">
                <a:latin typeface="微软雅黑"/>
                <a:cs typeface="微软雅黑"/>
              </a:rPr>
              <a:t>粒子轰击金箔，显微镜围绕金箔在圆周</a:t>
            </a:r>
            <a:r>
              <a:rPr dirty="0" sz="2400">
                <a:latin typeface="微软雅黑"/>
                <a:cs typeface="微软雅黑"/>
              </a:rPr>
              <a:t>上 </a:t>
            </a:r>
            <a:r>
              <a:rPr dirty="0" sz="2400" spc="50">
                <a:latin typeface="微软雅黑"/>
                <a:cs typeface="微软雅黑"/>
              </a:rPr>
              <a:t>转动，散射后的</a:t>
            </a:r>
            <a:r>
              <a:rPr dirty="0" sz="2400" spc="50" i="1">
                <a:latin typeface="Times New Roman"/>
                <a:cs typeface="Times New Roman"/>
              </a:rPr>
              <a:t>α</a:t>
            </a:r>
            <a:r>
              <a:rPr dirty="0" sz="2400" spc="50">
                <a:latin typeface="微软雅黑"/>
                <a:cs typeface="微软雅黑"/>
              </a:rPr>
              <a:t>粒子打在显微镜的荧光屏上有微弱的闪光，通过观察闪光就</a:t>
            </a:r>
            <a:r>
              <a:rPr dirty="0" sz="2400" spc="55">
                <a:latin typeface="微软雅黑"/>
                <a:cs typeface="微软雅黑"/>
              </a:rPr>
              <a:t>可以</a:t>
            </a:r>
            <a:r>
              <a:rPr dirty="0" sz="2400">
                <a:latin typeface="微软雅黑"/>
                <a:cs typeface="微软雅黑"/>
              </a:rPr>
              <a:t>记 录在相同时间内各方向散射的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粒子数。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4740" y="3911028"/>
            <a:ext cx="1826260" cy="746125"/>
          </a:xfrm>
          <a:custGeom>
            <a:avLst/>
            <a:gdLst/>
            <a:ahLst/>
            <a:cxnLst/>
            <a:rect l="l" t="t" r="r" b="b"/>
            <a:pathLst>
              <a:path w="1826260" h="746125">
                <a:moveTo>
                  <a:pt x="1826082" y="745921"/>
                </a:moveTo>
                <a:lnTo>
                  <a:pt x="0" y="745921"/>
                </a:lnTo>
                <a:lnTo>
                  <a:pt x="0" y="0"/>
                </a:lnTo>
                <a:lnTo>
                  <a:pt x="1826082" y="0"/>
                </a:lnTo>
                <a:lnTo>
                  <a:pt x="1826082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707821"/>
                </a:lnTo>
                <a:lnTo>
                  <a:pt x="19050" y="707821"/>
                </a:lnTo>
                <a:lnTo>
                  <a:pt x="38100" y="726871"/>
                </a:lnTo>
                <a:lnTo>
                  <a:pt x="1826082" y="726871"/>
                </a:lnTo>
                <a:lnTo>
                  <a:pt x="1826082" y="745921"/>
                </a:lnTo>
                <a:close/>
              </a:path>
              <a:path w="1826260" h="74612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826260" h="746125">
                <a:moveTo>
                  <a:pt x="1787982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787982" y="19050"/>
                </a:lnTo>
                <a:lnTo>
                  <a:pt x="1787982" y="38100"/>
                </a:lnTo>
                <a:close/>
              </a:path>
              <a:path w="1826260" h="746125">
                <a:moveTo>
                  <a:pt x="1787982" y="726871"/>
                </a:moveTo>
                <a:lnTo>
                  <a:pt x="1787982" y="19050"/>
                </a:lnTo>
                <a:lnTo>
                  <a:pt x="1807032" y="38100"/>
                </a:lnTo>
                <a:lnTo>
                  <a:pt x="1826082" y="38100"/>
                </a:lnTo>
                <a:lnTo>
                  <a:pt x="1826082" y="707821"/>
                </a:lnTo>
                <a:lnTo>
                  <a:pt x="1807032" y="707821"/>
                </a:lnTo>
                <a:lnTo>
                  <a:pt x="1787982" y="726871"/>
                </a:lnTo>
                <a:close/>
              </a:path>
              <a:path w="1826260" h="746125">
                <a:moveTo>
                  <a:pt x="1826082" y="38100"/>
                </a:moveTo>
                <a:lnTo>
                  <a:pt x="1807032" y="38100"/>
                </a:lnTo>
                <a:lnTo>
                  <a:pt x="1787982" y="19050"/>
                </a:lnTo>
                <a:lnTo>
                  <a:pt x="1826082" y="19050"/>
                </a:lnTo>
                <a:lnTo>
                  <a:pt x="1826082" y="38100"/>
                </a:lnTo>
                <a:close/>
              </a:path>
              <a:path w="1826260" h="746125">
                <a:moveTo>
                  <a:pt x="38100" y="726871"/>
                </a:moveTo>
                <a:lnTo>
                  <a:pt x="19050" y="707821"/>
                </a:lnTo>
                <a:lnTo>
                  <a:pt x="38100" y="707821"/>
                </a:lnTo>
                <a:lnTo>
                  <a:pt x="38100" y="726871"/>
                </a:lnTo>
                <a:close/>
              </a:path>
              <a:path w="1826260" h="746125">
                <a:moveTo>
                  <a:pt x="1787982" y="726871"/>
                </a:moveTo>
                <a:lnTo>
                  <a:pt x="38100" y="726871"/>
                </a:lnTo>
                <a:lnTo>
                  <a:pt x="38100" y="707821"/>
                </a:lnTo>
                <a:lnTo>
                  <a:pt x="1787982" y="707821"/>
                </a:lnTo>
                <a:lnTo>
                  <a:pt x="1787982" y="726871"/>
                </a:lnTo>
                <a:close/>
              </a:path>
              <a:path w="1826260" h="746125">
                <a:moveTo>
                  <a:pt x="1826082" y="726871"/>
                </a:moveTo>
                <a:lnTo>
                  <a:pt x="1787982" y="726871"/>
                </a:lnTo>
                <a:lnTo>
                  <a:pt x="1807032" y="707821"/>
                </a:lnTo>
                <a:lnTo>
                  <a:pt x="1826082" y="707821"/>
                </a:lnTo>
                <a:lnTo>
                  <a:pt x="1826082" y="726871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92530" y="3956113"/>
            <a:ext cx="163068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305" b="1">
                <a:latin typeface="微软雅黑"/>
                <a:cs typeface="微软雅黑"/>
              </a:rPr>
              <a:t>少数</a:t>
            </a:r>
            <a:r>
              <a:rPr dirty="0" sz="2000" b="1" i="1">
                <a:latin typeface="Times New Roman"/>
                <a:cs typeface="Times New Roman"/>
              </a:rPr>
              <a:t>α</a:t>
            </a:r>
            <a:r>
              <a:rPr dirty="0" sz="2000" spc="-295" b="1" i="1">
                <a:latin typeface="Times New Roman"/>
                <a:cs typeface="Times New Roman"/>
              </a:rPr>
              <a:t> </a:t>
            </a:r>
            <a:r>
              <a:rPr dirty="0" sz="2000" spc="305" b="1">
                <a:latin typeface="微软雅黑"/>
                <a:cs typeface="微软雅黑"/>
              </a:rPr>
              <a:t>粒</a:t>
            </a:r>
            <a:r>
              <a:rPr dirty="0" sz="2000" spc="310" b="1">
                <a:latin typeface="微软雅黑"/>
                <a:cs typeface="微软雅黑"/>
              </a:rPr>
              <a:t>子</a:t>
            </a:r>
            <a:r>
              <a:rPr dirty="0" sz="2000" spc="5" b="1">
                <a:latin typeface="微软雅黑"/>
                <a:cs typeface="微软雅黑"/>
              </a:rPr>
              <a:t>发 </a:t>
            </a:r>
            <a:r>
              <a:rPr dirty="0" sz="2000" b="1">
                <a:latin typeface="微软雅黑"/>
                <a:cs typeface="微软雅黑"/>
              </a:rPr>
              <a:t>生</a:t>
            </a: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大角度</a:t>
            </a:r>
            <a:r>
              <a:rPr dirty="0" sz="2000" b="1">
                <a:latin typeface="微软雅黑"/>
                <a:cs typeface="微软雅黑"/>
              </a:rPr>
              <a:t>偏</a:t>
            </a:r>
            <a:r>
              <a:rPr dirty="0" sz="2000" spc="5" b="1">
                <a:latin typeface="微软雅黑"/>
                <a:cs typeface="微软雅黑"/>
              </a:rPr>
              <a:t>转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47325" y="3324225"/>
            <a:ext cx="3545840" cy="438784"/>
          </a:xfrm>
          <a:custGeom>
            <a:avLst/>
            <a:gdLst/>
            <a:ahLst/>
            <a:cxnLst/>
            <a:rect l="l" t="t" r="r" b="b"/>
            <a:pathLst>
              <a:path w="3545840" h="438785">
                <a:moveTo>
                  <a:pt x="3545814" y="438175"/>
                </a:moveTo>
                <a:lnTo>
                  <a:pt x="0" y="438175"/>
                </a:lnTo>
                <a:lnTo>
                  <a:pt x="0" y="0"/>
                </a:lnTo>
                <a:lnTo>
                  <a:pt x="3545814" y="0"/>
                </a:lnTo>
                <a:lnTo>
                  <a:pt x="3545814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400075"/>
                </a:lnTo>
                <a:lnTo>
                  <a:pt x="19050" y="400075"/>
                </a:lnTo>
                <a:lnTo>
                  <a:pt x="38100" y="419125"/>
                </a:lnTo>
                <a:lnTo>
                  <a:pt x="3545814" y="419125"/>
                </a:lnTo>
                <a:lnTo>
                  <a:pt x="3545814" y="438175"/>
                </a:lnTo>
                <a:close/>
              </a:path>
              <a:path w="3545840" h="43878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3545840" h="438785">
                <a:moveTo>
                  <a:pt x="3507714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3507714" y="19050"/>
                </a:lnTo>
                <a:lnTo>
                  <a:pt x="3507714" y="38100"/>
                </a:lnTo>
                <a:close/>
              </a:path>
              <a:path w="3545840" h="438785">
                <a:moveTo>
                  <a:pt x="3507714" y="419125"/>
                </a:moveTo>
                <a:lnTo>
                  <a:pt x="3507714" y="19050"/>
                </a:lnTo>
                <a:lnTo>
                  <a:pt x="3526764" y="38100"/>
                </a:lnTo>
                <a:lnTo>
                  <a:pt x="3545814" y="38100"/>
                </a:lnTo>
                <a:lnTo>
                  <a:pt x="3545814" y="400075"/>
                </a:lnTo>
                <a:lnTo>
                  <a:pt x="3526764" y="400075"/>
                </a:lnTo>
                <a:lnTo>
                  <a:pt x="3507714" y="419125"/>
                </a:lnTo>
                <a:close/>
              </a:path>
              <a:path w="3545840" h="438785">
                <a:moveTo>
                  <a:pt x="3545814" y="38100"/>
                </a:moveTo>
                <a:lnTo>
                  <a:pt x="3526764" y="38100"/>
                </a:lnTo>
                <a:lnTo>
                  <a:pt x="3507714" y="19050"/>
                </a:lnTo>
                <a:lnTo>
                  <a:pt x="3545814" y="19050"/>
                </a:lnTo>
                <a:lnTo>
                  <a:pt x="3545814" y="38100"/>
                </a:lnTo>
                <a:close/>
              </a:path>
              <a:path w="3545840" h="438785">
                <a:moveTo>
                  <a:pt x="38100" y="419125"/>
                </a:moveTo>
                <a:lnTo>
                  <a:pt x="19050" y="400075"/>
                </a:lnTo>
                <a:lnTo>
                  <a:pt x="38100" y="400075"/>
                </a:lnTo>
                <a:lnTo>
                  <a:pt x="38100" y="419125"/>
                </a:lnTo>
                <a:close/>
              </a:path>
              <a:path w="3545840" h="438785">
                <a:moveTo>
                  <a:pt x="3507714" y="419125"/>
                </a:moveTo>
                <a:lnTo>
                  <a:pt x="38100" y="419125"/>
                </a:lnTo>
                <a:lnTo>
                  <a:pt x="38100" y="400075"/>
                </a:lnTo>
                <a:lnTo>
                  <a:pt x="3507714" y="400075"/>
                </a:lnTo>
                <a:lnTo>
                  <a:pt x="3507714" y="419125"/>
                </a:lnTo>
                <a:close/>
              </a:path>
              <a:path w="3545840" h="438785">
                <a:moveTo>
                  <a:pt x="3545814" y="419125"/>
                </a:moveTo>
                <a:lnTo>
                  <a:pt x="3507714" y="419125"/>
                </a:lnTo>
                <a:lnTo>
                  <a:pt x="3526764" y="400075"/>
                </a:lnTo>
                <a:lnTo>
                  <a:pt x="3545814" y="400075"/>
                </a:lnTo>
                <a:lnTo>
                  <a:pt x="3545814" y="419125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34340" y="885541"/>
            <a:ext cx="11305540" cy="281495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130"/>
              </a:spcBef>
            </a:pPr>
            <a:r>
              <a:rPr dirty="0" sz="2800">
                <a:latin typeface="微软雅黑"/>
                <a:cs typeface="微软雅黑"/>
              </a:rPr>
              <a:t>二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 spc="-5" b="1" i="1">
                <a:latin typeface="Times New Roman"/>
                <a:cs typeface="Times New Roman"/>
              </a:rPr>
              <a:t>α</a:t>
            </a:r>
            <a:r>
              <a:rPr dirty="0" sz="2800">
                <a:latin typeface="微软雅黑"/>
                <a:cs typeface="微软雅黑"/>
              </a:rPr>
              <a:t>粒子散射实</a:t>
            </a:r>
            <a:r>
              <a:rPr dirty="0" sz="2800" spc="-5">
                <a:latin typeface="微软雅黑"/>
                <a:cs typeface="微软雅黑"/>
              </a:rPr>
              <a:t>验</a:t>
            </a:r>
            <a:endParaRPr sz="2800">
              <a:latin typeface="微软雅黑"/>
              <a:cs typeface="微软雅黑"/>
            </a:endParaRPr>
          </a:p>
          <a:p>
            <a:pPr marL="264795" indent="-252095">
              <a:lnSpc>
                <a:spcPct val="100000"/>
              </a:lnSpc>
              <a:spcBef>
                <a:spcPts val="885"/>
              </a:spcBef>
              <a:buSzPct val="95833"/>
              <a:buAutoNum type="arabicPeriod" startAt="3"/>
              <a:tabLst>
                <a:tab pos="265430" algn="l"/>
              </a:tabLst>
            </a:pPr>
            <a:r>
              <a:rPr dirty="0" sz="2400">
                <a:latin typeface="微软雅黑"/>
                <a:cs typeface="微软雅黑"/>
              </a:rPr>
              <a:t>实验结果</a:t>
            </a:r>
            <a:endParaRPr sz="2400">
              <a:latin typeface="微软雅黑"/>
              <a:cs typeface="微软雅黑"/>
            </a:endParaRPr>
          </a:p>
          <a:p>
            <a:pPr lvl="1" marL="825500" indent="-431800">
              <a:lnSpc>
                <a:spcPct val="100000"/>
              </a:lnSpc>
              <a:spcBef>
                <a:spcPts val="495"/>
              </a:spcBef>
              <a:buFont typeface="Times New Roman"/>
              <a:buAutoNum type="arabicParenBoth"/>
              <a:tabLst>
                <a:tab pos="825500" algn="l"/>
              </a:tabLst>
            </a:pPr>
            <a:r>
              <a:rPr dirty="0" sz="2400">
                <a:latin typeface="微软雅黑"/>
                <a:cs typeface="微软雅黑"/>
              </a:rPr>
              <a:t>绝大多数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粒子穿过金箔后，基本上仍沿原来的方向前进；</a:t>
            </a:r>
            <a:endParaRPr sz="2400">
              <a:latin typeface="微软雅黑"/>
              <a:cs typeface="微软雅黑"/>
            </a:endParaRPr>
          </a:p>
          <a:p>
            <a:pPr lvl="1" marL="12700" marR="5080" indent="330200">
              <a:lnSpc>
                <a:spcPct val="133900"/>
              </a:lnSpc>
              <a:spcBef>
                <a:spcPts val="90"/>
              </a:spcBef>
              <a:buFont typeface="Times New Roman"/>
              <a:buAutoNum type="arabicParenBoth"/>
              <a:tabLst>
                <a:tab pos="779780" algn="l"/>
                <a:tab pos="10373995" algn="l"/>
              </a:tabLst>
            </a:pPr>
            <a:r>
              <a:rPr dirty="0" sz="2400" spc="10">
                <a:latin typeface="微软雅黑"/>
                <a:cs typeface="微软雅黑"/>
              </a:rPr>
              <a:t>少数</a:t>
            </a:r>
            <a:r>
              <a:rPr dirty="0" sz="2400" spc="10" i="1">
                <a:latin typeface="Times New Roman"/>
                <a:cs typeface="Times New Roman"/>
              </a:rPr>
              <a:t>α</a:t>
            </a:r>
            <a:r>
              <a:rPr dirty="0" sz="2400" spc="10">
                <a:latin typeface="微软雅黑"/>
                <a:cs typeface="微软雅黑"/>
              </a:rPr>
              <a:t>粒子（约占</a:t>
            </a:r>
            <a:r>
              <a:rPr dirty="0" sz="2400" spc="10">
                <a:latin typeface="Times New Roman"/>
                <a:cs typeface="Times New Roman"/>
              </a:rPr>
              <a:t>1</a:t>
            </a:r>
            <a:r>
              <a:rPr dirty="0" sz="2400" spc="5">
                <a:latin typeface="Times New Roman"/>
                <a:cs typeface="Times New Roman"/>
              </a:rPr>
              <a:t>/</a:t>
            </a:r>
            <a:r>
              <a:rPr dirty="0" sz="2400" spc="10">
                <a:latin typeface="Times New Roman"/>
                <a:cs typeface="Times New Roman"/>
              </a:rPr>
              <a:t>8000</a:t>
            </a:r>
            <a:r>
              <a:rPr dirty="0" sz="2400" spc="10">
                <a:latin typeface="微软雅黑"/>
                <a:cs typeface="微软雅黑"/>
              </a:rPr>
              <a:t>）发生了大角度偏转</a:t>
            </a:r>
            <a:r>
              <a:rPr dirty="0" sz="2400" spc="15">
                <a:latin typeface="微软雅黑"/>
                <a:cs typeface="微软雅黑"/>
              </a:rPr>
              <a:t>，偏转的角度甚至大于</a:t>
            </a:r>
            <a:r>
              <a:rPr dirty="0" sz="2400" spc="15">
                <a:latin typeface="Times New Roman"/>
                <a:cs typeface="Times New Roman"/>
              </a:rPr>
              <a:t>90</a:t>
            </a:r>
            <a:r>
              <a:rPr dirty="0" sz="2400">
                <a:latin typeface="Symbol"/>
                <a:cs typeface="Symbol"/>
              </a:rPr>
              <a:t>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15">
                <a:latin typeface="微软雅黑"/>
                <a:cs typeface="微软雅黑"/>
              </a:rPr>
              <a:t>，也</a:t>
            </a:r>
            <a:r>
              <a:rPr dirty="0" sz="2400">
                <a:latin typeface="微软雅黑"/>
                <a:cs typeface="微软雅黑"/>
              </a:rPr>
              <a:t>就 是说它们几乎被“撞了回来”。</a:t>
            </a:r>
            <a:endParaRPr sz="2400">
              <a:latin typeface="微软雅黑"/>
              <a:cs typeface="微软雅黑"/>
            </a:endParaRPr>
          </a:p>
          <a:p>
            <a:pPr marL="3423285">
              <a:lnSpc>
                <a:spcPct val="100000"/>
              </a:lnSpc>
              <a:spcBef>
                <a:spcPts val="229"/>
              </a:spcBef>
            </a:pPr>
            <a:r>
              <a:rPr dirty="0" sz="2000" b="1">
                <a:latin typeface="微软雅黑"/>
                <a:cs typeface="微软雅黑"/>
              </a:rPr>
              <a:t>不是电子造成</a:t>
            </a:r>
            <a:r>
              <a:rPr dirty="0" sz="2000" spc="5" b="1">
                <a:latin typeface="微软雅黑"/>
                <a:cs typeface="微软雅黑"/>
              </a:rPr>
              <a:t>的</a:t>
            </a:r>
            <a:r>
              <a:rPr dirty="0" sz="2000" spc="-15" b="1">
                <a:latin typeface="微软雅黑"/>
                <a:cs typeface="微软雅黑"/>
              </a:rPr>
              <a:t> </a:t>
            </a:r>
            <a:r>
              <a:rPr dirty="0" sz="2000" spc="-5" b="1">
                <a:latin typeface="微软雅黑"/>
                <a:cs typeface="微软雅黑"/>
              </a:rPr>
              <a:t>(</a:t>
            </a:r>
            <a:r>
              <a:rPr dirty="0" sz="2000" b="1">
                <a:latin typeface="微软雅黑"/>
                <a:cs typeface="微软雅黑"/>
              </a:rPr>
              <a:t>电子质量小)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63238" y="4090720"/>
            <a:ext cx="3529965" cy="438784"/>
          </a:xfrm>
          <a:custGeom>
            <a:avLst/>
            <a:gdLst/>
            <a:ahLst/>
            <a:cxnLst/>
            <a:rect l="l" t="t" r="r" b="b"/>
            <a:pathLst>
              <a:path w="3529965" h="438785">
                <a:moveTo>
                  <a:pt x="3529901" y="438175"/>
                </a:moveTo>
                <a:lnTo>
                  <a:pt x="0" y="438175"/>
                </a:lnTo>
                <a:lnTo>
                  <a:pt x="0" y="0"/>
                </a:lnTo>
                <a:lnTo>
                  <a:pt x="3529901" y="0"/>
                </a:lnTo>
                <a:lnTo>
                  <a:pt x="3529901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400075"/>
                </a:lnTo>
                <a:lnTo>
                  <a:pt x="19050" y="400075"/>
                </a:lnTo>
                <a:lnTo>
                  <a:pt x="38100" y="419125"/>
                </a:lnTo>
                <a:lnTo>
                  <a:pt x="3529901" y="419125"/>
                </a:lnTo>
                <a:lnTo>
                  <a:pt x="3529901" y="438175"/>
                </a:lnTo>
                <a:close/>
              </a:path>
              <a:path w="3529965" h="43878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3529965" h="438785">
                <a:moveTo>
                  <a:pt x="3491801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3491801" y="19050"/>
                </a:lnTo>
                <a:lnTo>
                  <a:pt x="3491801" y="38100"/>
                </a:lnTo>
                <a:close/>
              </a:path>
              <a:path w="3529965" h="438785">
                <a:moveTo>
                  <a:pt x="3491801" y="419125"/>
                </a:moveTo>
                <a:lnTo>
                  <a:pt x="3491801" y="19050"/>
                </a:lnTo>
                <a:lnTo>
                  <a:pt x="3510851" y="38100"/>
                </a:lnTo>
                <a:lnTo>
                  <a:pt x="3529901" y="38100"/>
                </a:lnTo>
                <a:lnTo>
                  <a:pt x="3529901" y="400075"/>
                </a:lnTo>
                <a:lnTo>
                  <a:pt x="3510851" y="400075"/>
                </a:lnTo>
                <a:lnTo>
                  <a:pt x="3491801" y="419125"/>
                </a:lnTo>
                <a:close/>
              </a:path>
              <a:path w="3529965" h="438785">
                <a:moveTo>
                  <a:pt x="3529901" y="38100"/>
                </a:moveTo>
                <a:lnTo>
                  <a:pt x="3510851" y="38100"/>
                </a:lnTo>
                <a:lnTo>
                  <a:pt x="3491801" y="19050"/>
                </a:lnTo>
                <a:lnTo>
                  <a:pt x="3529901" y="19050"/>
                </a:lnTo>
                <a:lnTo>
                  <a:pt x="3529901" y="38100"/>
                </a:lnTo>
                <a:close/>
              </a:path>
              <a:path w="3529965" h="438785">
                <a:moveTo>
                  <a:pt x="38100" y="419125"/>
                </a:moveTo>
                <a:lnTo>
                  <a:pt x="19050" y="400075"/>
                </a:lnTo>
                <a:lnTo>
                  <a:pt x="38100" y="400075"/>
                </a:lnTo>
                <a:lnTo>
                  <a:pt x="38100" y="419125"/>
                </a:lnTo>
                <a:close/>
              </a:path>
              <a:path w="3529965" h="438785">
                <a:moveTo>
                  <a:pt x="3491801" y="419125"/>
                </a:moveTo>
                <a:lnTo>
                  <a:pt x="38100" y="419125"/>
                </a:lnTo>
                <a:lnTo>
                  <a:pt x="38100" y="400075"/>
                </a:lnTo>
                <a:lnTo>
                  <a:pt x="3491801" y="400075"/>
                </a:lnTo>
                <a:lnTo>
                  <a:pt x="3491801" y="419125"/>
                </a:lnTo>
                <a:close/>
              </a:path>
              <a:path w="3529965" h="438785">
                <a:moveTo>
                  <a:pt x="3529901" y="419125"/>
                </a:moveTo>
                <a:lnTo>
                  <a:pt x="3491801" y="419125"/>
                </a:lnTo>
                <a:lnTo>
                  <a:pt x="3510851" y="400075"/>
                </a:lnTo>
                <a:lnTo>
                  <a:pt x="3529901" y="400075"/>
                </a:lnTo>
                <a:lnTo>
                  <a:pt x="3529901" y="419125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861028" y="4135805"/>
            <a:ext cx="231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微软雅黑"/>
                <a:cs typeface="微软雅黑"/>
              </a:rPr>
              <a:t>正电荷不是均匀分</a:t>
            </a:r>
            <a:r>
              <a:rPr dirty="0" sz="2000" spc="5" b="1">
                <a:latin typeface="微软雅黑"/>
                <a:cs typeface="微软雅黑"/>
              </a:rPr>
              <a:t>布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65512" y="4884508"/>
            <a:ext cx="3555365" cy="438784"/>
          </a:xfrm>
          <a:custGeom>
            <a:avLst/>
            <a:gdLst/>
            <a:ahLst/>
            <a:cxnLst/>
            <a:rect l="l" t="t" r="r" b="b"/>
            <a:pathLst>
              <a:path w="3555365" h="438785">
                <a:moveTo>
                  <a:pt x="3554933" y="438175"/>
                </a:moveTo>
                <a:lnTo>
                  <a:pt x="0" y="438175"/>
                </a:lnTo>
                <a:lnTo>
                  <a:pt x="0" y="0"/>
                </a:lnTo>
                <a:lnTo>
                  <a:pt x="3554933" y="0"/>
                </a:lnTo>
                <a:lnTo>
                  <a:pt x="3554933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400075"/>
                </a:lnTo>
                <a:lnTo>
                  <a:pt x="19050" y="400075"/>
                </a:lnTo>
                <a:lnTo>
                  <a:pt x="38100" y="419125"/>
                </a:lnTo>
                <a:lnTo>
                  <a:pt x="3554933" y="419125"/>
                </a:lnTo>
                <a:lnTo>
                  <a:pt x="3554933" y="438175"/>
                </a:lnTo>
                <a:close/>
              </a:path>
              <a:path w="3555365" h="43878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3555365" h="438785">
                <a:moveTo>
                  <a:pt x="3516833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3516833" y="19050"/>
                </a:lnTo>
                <a:lnTo>
                  <a:pt x="3516833" y="38100"/>
                </a:lnTo>
                <a:close/>
              </a:path>
              <a:path w="3555365" h="438785">
                <a:moveTo>
                  <a:pt x="3516833" y="419125"/>
                </a:moveTo>
                <a:lnTo>
                  <a:pt x="3516833" y="19050"/>
                </a:lnTo>
                <a:lnTo>
                  <a:pt x="3535883" y="38100"/>
                </a:lnTo>
                <a:lnTo>
                  <a:pt x="3554933" y="38100"/>
                </a:lnTo>
                <a:lnTo>
                  <a:pt x="3554933" y="400075"/>
                </a:lnTo>
                <a:lnTo>
                  <a:pt x="3535883" y="400075"/>
                </a:lnTo>
                <a:lnTo>
                  <a:pt x="3516833" y="419125"/>
                </a:lnTo>
                <a:close/>
              </a:path>
              <a:path w="3555365" h="438785">
                <a:moveTo>
                  <a:pt x="3554933" y="38100"/>
                </a:moveTo>
                <a:lnTo>
                  <a:pt x="3535883" y="38100"/>
                </a:lnTo>
                <a:lnTo>
                  <a:pt x="3516833" y="19050"/>
                </a:lnTo>
                <a:lnTo>
                  <a:pt x="3554933" y="19050"/>
                </a:lnTo>
                <a:lnTo>
                  <a:pt x="3554933" y="38100"/>
                </a:lnTo>
                <a:close/>
              </a:path>
              <a:path w="3555365" h="438785">
                <a:moveTo>
                  <a:pt x="38100" y="419125"/>
                </a:moveTo>
                <a:lnTo>
                  <a:pt x="19050" y="400075"/>
                </a:lnTo>
                <a:lnTo>
                  <a:pt x="38100" y="400075"/>
                </a:lnTo>
                <a:lnTo>
                  <a:pt x="38100" y="419125"/>
                </a:lnTo>
                <a:close/>
              </a:path>
              <a:path w="3555365" h="438785">
                <a:moveTo>
                  <a:pt x="3516833" y="419125"/>
                </a:moveTo>
                <a:lnTo>
                  <a:pt x="38100" y="419125"/>
                </a:lnTo>
                <a:lnTo>
                  <a:pt x="38100" y="400075"/>
                </a:lnTo>
                <a:lnTo>
                  <a:pt x="3516833" y="400075"/>
                </a:lnTo>
                <a:lnTo>
                  <a:pt x="3516833" y="419125"/>
                </a:lnTo>
                <a:close/>
              </a:path>
              <a:path w="3555365" h="438785">
                <a:moveTo>
                  <a:pt x="3554933" y="419125"/>
                </a:moveTo>
                <a:lnTo>
                  <a:pt x="3516833" y="419125"/>
                </a:lnTo>
                <a:lnTo>
                  <a:pt x="3535883" y="400075"/>
                </a:lnTo>
                <a:lnTo>
                  <a:pt x="3554933" y="400075"/>
                </a:lnTo>
                <a:lnTo>
                  <a:pt x="3554933" y="419125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863301" y="4929594"/>
            <a:ext cx="332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微软雅黑"/>
                <a:cs typeface="微软雅黑"/>
              </a:rPr>
              <a:t>带正电的物质质量大、体积</a:t>
            </a:r>
            <a:r>
              <a:rPr dirty="0" sz="2000" spc="5" b="1">
                <a:latin typeface="微软雅黑"/>
                <a:cs typeface="微软雅黑"/>
              </a:rPr>
              <a:t>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01772" y="4271289"/>
            <a:ext cx="1083310" cy="889635"/>
          </a:xfrm>
          <a:custGeom>
            <a:avLst/>
            <a:gdLst/>
            <a:ahLst/>
            <a:cxnLst/>
            <a:rect l="l" t="t" r="r" b="b"/>
            <a:pathLst>
              <a:path w="1083310" h="889635">
                <a:moveTo>
                  <a:pt x="528701" y="25400"/>
                </a:moveTo>
                <a:lnTo>
                  <a:pt x="0" y="25400"/>
                </a:lnTo>
                <a:lnTo>
                  <a:pt x="0" y="0"/>
                </a:lnTo>
                <a:lnTo>
                  <a:pt x="554101" y="0"/>
                </a:lnTo>
                <a:lnTo>
                  <a:pt x="554101" y="12700"/>
                </a:lnTo>
                <a:lnTo>
                  <a:pt x="528701" y="12700"/>
                </a:lnTo>
                <a:lnTo>
                  <a:pt x="528701" y="25400"/>
                </a:lnTo>
                <a:close/>
              </a:path>
              <a:path w="1083310" h="889635">
                <a:moveTo>
                  <a:pt x="1010609" y="845007"/>
                </a:moveTo>
                <a:lnTo>
                  <a:pt x="528701" y="845007"/>
                </a:lnTo>
                <a:lnTo>
                  <a:pt x="528701" y="12700"/>
                </a:lnTo>
                <a:lnTo>
                  <a:pt x="541401" y="25400"/>
                </a:lnTo>
                <a:lnTo>
                  <a:pt x="554101" y="25400"/>
                </a:lnTo>
                <a:lnTo>
                  <a:pt x="554101" y="819607"/>
                </a:lnTo>
                <a:lnTo>
                  <a:pt x="541401" y="819607"/>
                </a:lnTo>
                <a:lnTo>
                  <a:pt x="554101" y="832307"/>
                </a:lnTo>
                <a:lnTo>
                  <a:pt x="1032381" y="832307"/>
                </a:lnTo>
                <a:lnTo>
                  <a:pt x="1010609" y="845007"/>
                </a:lnTo>
                <a:close/>
              </a:path>
              <a:path w="1083310" h="889635">
                <a:moveTo>
                  <a:pt x="554101" y="25400"/>
                </a:moveTo>
                <a:lnTo>
                  <a:pt x="541401" y="25400"/>
                </a:lnTo>
                <a:lnTo>
                  <a:pt x="528701" y="12700"/>
                </a:lnTo>
                <a:lnTo>
                  <a:pt x="554101" y="12700"/>
                </a:lnTo>
                <a:lnTo>
                  <a:pt x="554101" y="25400"/>
                </a:lnTo>
                <a:close/>
              </a:path>
              <a:path w="1083310" h="889635">
                <a:moveTo>
                  <a:pt x="1032392" y="832300"/>
                </a:moveTo>
                <a:lnTo>
                  <a:pt x="974991" y="798817"/>
                </a:lnTo>
                <a:lnTo>
                  <a:pt x="968692" y="787793"/>
                </a:lnTo>
                <a:lnTo>
                  <a:pt x="968971" y="785152"/>
                </a:lnTo>
                <a:lnTo>
                  <a:pt x="980122" y="775220"/>
                </a:lnTo>
                <a:lnTo>
                  <a:pt x="982776" y="775220"/>
                </a:lnTo>
                <a:lnTo>
                  <a:pt x="985367" y="775792"/>
                </a:lnTo>
                <a:lnTo>
                  <a:pt x="987780" y="776884"/>
                </a:lnTo>
                <a:lnTo>
                  <a:pt x="1061018" y="819607"/>
                </a:lnTo>
                <a:lnTo>
                  <a:pt x="1057592" y="819607"/>
                </a:lnTo>
                <a:lnTo>
                  <a:pt x="1057592" y="821334"/>
                </a:lnTo>
                <a:lnTo>
                  <a:pt x="1051191" y="821334"/>
                </a:lnTo>
                <a:lnTo>
                  <a:pt x="1032392" y="832300"/>
                </a:lnTo>
                <a:close/>
              </a:path>
              <a:path w="1083310" h="889635">
                <a:moveTo>
                  <a:pt x="554101" y="832307"/>
                </a:moveTo>
                <a:lnTo>
                  <a:pt x="541401" y="819607"/>
                </a:lnTo>
                <a:lnTo>
                  <a:pt x="554101" y="819607"/>
                </a:lnTo>
                <a:lnTo>
                  <a:pt x="554101" y="832307"/>
                </a:lnTo>
                <a:close/>
              </a:path>
              <a:path w="1083310" h="889635">
                <a:moveTo>
                  <a:pt x="1032381" y="832307"/>
                </a:moveTo>
                <a:lnTo>
                  <a:pt x="554101" y="832307"/>
                </a:lnTo>
                <a:lnTo>
                  <a:pt x="554101" y="819607"/>
                </a:lnTo>
                <a:lnTo>
                  <a:pt x="1010631" y="819607"/>
                </a:lnTo>
                <a:lnTo>
                  <a:pt x="1032392" y="832300"/>
                </a:lnTo>
                <a:close/>
              </a:path>
              <a:path w="1083310" h="889635">
                <a:moveTo>
                  <a:pt x="1061013" y="845007"/>
                </a:moveTo>
                <a:lnTo>
                  <a:pt x="1057592" y="845007"/>
                </a:lnTo>
                <a:lnTo>
                  <a:pt x="1057592" y="819607"/>
                </a:lnTo>
                <a:lnTo>
                  <a:pt x="1061018" y="819607"/>
                </a:lnTo>
                <a:lnTo>
                  <a:pt x="1082789" y="832307"/>
                </a:lnTo>
                <a:lnTo>
                  <a:pt x="1061013" y="845007"/>
                </a:lnTo>
                <a:close/>
              </a:path>
              <a:path w="1083310" h="889635">
                <a:moveTo>
                  <a:pt x="1051191" y="843267"/>
                </a:moveTo>
                <a:lnTo>
                  <a:pt x="1032392" y="832300"/>
                </a:lnTo>
                <a:lnTo>
                  <a:pt x="1051191" y="821334"/>
                </a:lnTo>
                <a:lnTo>
                  <a:pt x="1051191" y="843267"/>
                </a:lnTo>
                <a:close/>
              </a:path>
              <a:path w="1083310" h="889635">
                <a:moveTo>
                  <a:pt x="1057592" y="843267"/>
                </a:moveTo>
                <a:lnTo>
                  <a:pt x="1051191" y="843267"/>
                </a:lnTo>
                <a:lnTo>
                  <a:pt x="1051191" y="821334"/>
                </a:lnTo>
                <a:lnTo>
                  <a:pt x="1057592" y="821334"/>
                </a:lnTo>
                <a:lnTo>
                  <a:pt x="1057592" y="843267"/>
                </a:lnTo>
                <a:close/>
              </a:path>
              <a:path w="1083310" h="889635">
                <a:moveTo>
                  <a:pt x="980122" y="889393"/>
                </a:moveTo>
                <a:lnTo>
                  <a:pt x="968692" y="876808"/>
                </a:lnTo>
                <a:lnTo>
                  <a:pt x="968959" y="874166"/>
                </a:lnTo>
                <a:lnTo>
                  <a:pt x="1032402" y="832307"/>
                </a:lnTo>
                <a:lnTo>
                  <a:pt x="1051191" y="843267"/>
                </a:lnTo>
                <a:lnTo>
                  <a:pt x="1057592" y="843267"/>
                </a:lnTo>
                <a:lnTo>
                  <a:pt x="1057592" y="845007"/>
                </a:lnTo>
                <a:lnTo>
                  <a:pt x="1061013" y="845007"/>
                </a:lnTo>
                <a:lnTo>
                  <a:pt x="987780" y="887717"/>
                </a:lnTo>
                <a:lnTo>
                  <a:pt x="985367" y="888809"/>
                </a:lnTo>
                <a:lnTo>
                  <a:pt x="982776" y="889380"/>
                </a:lnTo>
                <a:lnTo>
                  <a:pt x="980122" y="88939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17698" y="3486226"/>
            <a:ext cx="1049020" cy="812800"/>
          </a:xfrm>
          <a:custGeom>
            <a:avLst/>
            <a:gdLst/>
            <a:ahLst/>
            <a:cxnLst/>
            <a:rect l="l" t="t" r="r" b="b"/>
            <a:pathLst>
              <a:path w="1049020" h="812800">
                <a:moveTo>
                  <a:pt x="998256" y="57086"/>
                </a:moveTo>
                <a:lnTo>
                  <a:pt x="940866" y="23609"/>
                </a:lnTo>
                <a:lnTo>
                  <a:pt x="934567" y="12573"/>
                </a:lnTo>
                <a:lnTo>
                  <a:pt x="934859" y="9944"/>
                </a:lnTo>
                <a:lnTo>
                  <a:pt x="945997" y="0"/>
                </a:lnTo>
                <a:lnTo>
                  <a:pt x="948651" y="12"/>
                </a:lnTo>
                <a:lnTo>
                  <a:pt x="951255" y="571"/>
                </a:lnTo>
                <a:lnTo>
                  <a:pt x="953668" y="1663"/>
                </a:lnTo>
                <a:lnTo>
                  <a:pt x="1026906" y="44386"/>
                </a:lnTo>
                <a:lnTo>
                  <a:pt x="1023467" y="44386"/>
                </a:lnTo>
                <a:lnTo>
                  <a:pt x="1023467" y="46113"/>
                </a:lnTo>
                <a:lnTo>
                  <a:pt x="1017066" y="46113"/>
                </a:lnTo>
                <a:lnTo>
                  <a:pt x="998256" y="57086"/>
                </a:lnTo>
                <a:close/>
              </a:path>
              <a:path w="1049020" h="812800">
                <a:moveTo>
                  <a:pt x="511632" y="800036"/>
                </a:moveTo>
                <a:lnTo>
                  <a:pt x="511632" y="44386"/>
                </a:lnTo>
                <a:lnTo>
                  <a:pt x="976484" y="44386"/>
                </a:lnTo>
                <a:lnTo>
                  <a:pt x="998256" y="57086"/>
                </a:lnTo>
                <a:lnTo>
                  <a:pt x="537032" y="57086"/>
                </a:lnTo>
                <a:lnTo>
                  <a:pt x="524332" y="69786"/>
                </a:lnTo>
                <a:lnTo>
                  <a:pt x="537032" y="69786"/>
                </a:lnTo>
                <a:lnTo>
                  <a:pt x="537032" y="787336"/>
                </a:lnTo>
                <a:lnTo>
                  <a:pt x="524332" y="787336"/>
                </a:lnTo>
                <a:lnTo>
                  <a:pt x="511632" y="800036"/>
                </a:lnTo>
                <a:close/>
              </a:path>
              <a:path w="1049020" h="812800">
                <a:moveTo>
                  <a:pt x="1026906" y="69786"/>
                </a:moveTo>
                <a:lnTo>
                  <a:pt x="1023467" y="69786"/>
                </a:lnTo>
                <a:lnTo>
                  <a:pt x="1023467" y="44386"/>
                </a:lnTo>
                <a:lnTo>
                  <a:pt x="1026906" y="44386"/>
                </a:lnTo>
                <a:lnTo>
                  <a:pt x="1048677" y="57086"/>
                </a:lnTo>
                <a:lnTo>
                  <a:pt x="1026906" y="69786"/>
                </a:lnTo>
                <a:close/>
              </a:path>
              <a:path w="1049020" h="812800">
                <a:moveTo>
                  <a:pt x="1017066" y="68059"/>
                </a:moveTo>
                <a:lnTo>
                  <a:pt x="998256" y="57086"/>
                </a:lnTo>
                <a:lnTo>
                  <a:pt x="1017066" y="46113"/>
                </a:lnTo>
                <a:lnTo>
                  <a:pt x="1017066" y="68059"/>
                </a:lnTo>
                <a:close/>
              </a:path>
              <a:path w="1049020" h="812800">
                <a:moveTo>
                  <a:pt x="1023467" y="68059"/>
                </a:moveTo>
                <a:lnTo>
                  <a:pt x="1017066" y="68059"/>
                </a:lnTo>
                <a:lnTo>
                  <a:pt x="1017066" y="46113"/>
                </a:lnTo>
                <a:lnTo>
                  <a:pt x="1023467" y="46113"/>
                </a:lnTo>
                <a:lnTo>
                  <a:pt x="1023467" y="68059"/>
                </a:lnTo>
                <a:close/>
              </a:path>
              <a:path w="1049020" h="812800">
                <a:moveTo>
                  <a:pt x="537032" y="69786"/>
                </a:moveTo>
                <a:lnTo>
                  <a:pt x="524332" y="69786"/>
                </a:lnTo>
                <a:lnTo>
                  <a:pt x="537032" y="57086"/>
                </a:lnTo>
                <a:lnTo>
                  <a:pt x="537032" y="69786"/>
                </a:lnTo>
                <a:close/>
              </a:path>
              <a:path w="1049020" h="812800">
                <a:moveTo>
                  <a:pt x="976484" y="69786"/>
                </a:moveTo>
                <a:lnTo>
                  <a:pt x="537032" y="69786"/>
                </a:lnTo>
                <a:lnTo>
                  <a:pt x="537032" y="57086"/>
                </a:lnTo>
                <a:lnTo>
                  <a:pt x="998256" y="57086"/>
                </a:lnTo>
                <a:lnTo>
                  <a:pt x="976484" y="69786"/>
                </a:lnTo>
                <a:close/>
              </a:path>
              <a:path w="1049020" h="812800">
                <a:moveTo>
                  <a:pt x="945997" y="114173"/>
                </a:moveTo>
                <a:lnTo>
                  <a:pt x="934567" y="101587"/>
                </a:lnTo>
                <a:lnTo>
                  <a:pt x="934834" y="98945"/>
                </a:lnTo>
                <a:lnTo>
                  <a:pt x="998256" y="57086"/>
                </a:lnTo>
                <a:lnTo>
                  <a:pt x="1017066" y="68059"/>
                </a:lnTo>
                <a:lnTo>
                  <a:pt x="1023467" y="68059"/>
                </a:lnTo>
                <a:lnTo>
                  <a:pt x="1023467" y="69786"/>
                </a:lnTo>
                <a:lnTo>
                  <a:pt x="1026906" y="69786"/>
                </a:lnTo>
                <a:lnTo>
                  <a:pt x="953556" y="112560"/>
                </a:lnTo>
                <a:lnTo>
                  <a:pt x="951255" y="113601"/>
                </a:lnTo>
                <a:lnTo>
                  <a:pt x="948651" y="114160"/>
                </a:lnTo>
                <a:lnTo>
                  <a:pt x="945997" y="114173"/>
                </a:lnTo>
                <a:close/>
              </a:path>
              <a:path w="1049020" h="812800">
                <a:moveTo>
                  <a:pt x="537032" y="812736"/>
                </a:moveTo>
                <a:lnTo>
                  <a:pt x="0" y="812736"/>
                </a:lnTo>
                <a:lnTo>
                  <a:pt x="0" y="787336"/>
                </a:lnTo>
                <a:lnTo>
                  <a:pt x="511632" y="787336"/>
                </a:lnTo>
                <a:lnTo>
                  <a:pt x="511632" y="800036"/>
                </a:lnTo>
                <a:lnTo>
                  <a:pt x="537032" y="800036"/>
                </a:lnTo>
                <a:lnTo>
                  <a:pt x="537032" y="812736"/>
                </a:lnTo>
                <a:close/>
              </a:path>
              <a:path w="1049020" h="812800">
                <a:moveTo>
                  <a:pt x="537032" y="800036"/>
                </a:moveTo>
                <a:lnTo>
                  <a:pt x="511632" y="800036"/>
                </a:lnTo>
                <a:lnTo>
                  <a:pt x="524332" y="787336"/>
                </a:lnTo>
                <a:lnTo>
                  <a:pt x="537032" y="787336"/>
                </a:lnTo>
                <a:lnTo>
                  <a:pt x="537032" y="80003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70022" y="4227804"/>
            <a:ext cx="1010285" cy="114300"/>
          </a:xfrm>
          <a:custGeom>
            <a:avLst/>
            <a:gdLst/>
            <a:ahLst/>
            <a:cxnLst/>
            <a:rect l="l" t="t" r="r" b="b"/>
            <a:pathLst>
              <a:path w="1010285" h="114300">
                <a:moveTo>
                  <a:pt x="959595" y="57080"/>
                </a:moveTo>
                <a:lnTo>
                  <a:pt x="902195" y="23596"/>
                </a:lnTo>
                <a:lnTo>
                  <a:pt x="895896" y="12572"/>
                </a:lnTo>
                <a:lnTo>
                  <a:pt x="896188" y="9931"/>
                </a:lnTo>
                <a:lnTo>
                  <a:pt x="907326" y="0"/>
                </a:lnTo>
                <a:lnTo>
                  <a:pt x="909980" y="12"/>
                </a:lnTo>
                <a:lnTo>
                  <a:pt x="912571" y="571"/>
                </a:lnTo>
                <a:lnTo>
                  <a:pt x="914996" y="1663"/>
                </a:lnTo>
                <a:lnTo>
                  <a:pt x="988234" y="44386"/>
                </a:lnTo>
                <a:lnTo>
                  <a:pt x="984796" y="44386"/>
                </a:lnTo>
                <a:lnTo>
                  <a:pt x="984796" y="46113"/>
                </a:lnTo>
                <a:lnTo>
                  <a:pt x="978395" y="46113"/>
                </a:lnTo>
                <a:lnTo>
                  <a:pt x="959595" y="57080"/>
                </a:lnTo>
                <a:close/>
              </a:path>
              <a:path w="1010285" h="114300">
                <a:moveTo>
                  <a:pt x="937813" y="69786"/>
                </a:moveTo>
                <a:lnTo>
                  <a:pt x="0" y="69786"/>
                </a:lnTo>
                <a:lnTo>
                  <a:pt x="0" y="44386"/>
                </a:lnTo>
                <a:lnTo>
                  <a:pt x="937835" y="44386"/>
                </a:lnTo>
                <a:lnTo>
                  <a:pt x="959595" y="57080"/>
                </a:lnTo>
                <a:lnTo>
                  <a:pt x="937813" y="69786"/>
                </a:lnTo>
                <a:close/>
              </a:path>
              <a:path w="1010285" h="114300">
                <a:moveTo>
                  <a:pt x="988229" y="69786"/>
                </a:moveTo>
                <a:lnTo>
                  <a:pt x="984796" y="69786"/>
                </a:lnTo>
                <a:lnTo>
                  <a:pt x="984796" y="44386"/>
                </a:lnTo>
                <a:lnTo>
                  <a:pt x="988234" y="44386"/>
                </a:lnTo>
                <a:lnTo>
                  <a:pt x="1010005" y="57086"/>
                </a:lnTo>
                <a:lnTo>
                  <a:pt x="988229" y="69786"/>
                </a:lnTo>
                <a:close/>
              </a:path>
              <a:path w="1010285" h="114300">
                <a:moveTo>
                  <a:pt x="978395" y="68046"/>
                </a:moveTo>
                <a:lnTo>
                  <a:pt x="959595" y="57080"/>
                </a:lnTo>
                <a:lnTo>
                  <a:pt x="978395" y="46113"/>
                </a:lnTo>
                <a:lnTo>
                  <a:pt x="978395" y="68046"/>
                </a:lnTo>
                <a:close/>
              </a:path>
              <a:path w="1010285" h="114300">
                <a:moveTo>
                  <a:pt x="984796" y="68046"/>
                </a:moveTo>
                <a:lnTo>
                  <a:pt x="978395" y="68046"/>
                </a:lnTo>
                <a:lnTo>
                  <a:pt x="978395" y="46113"/>
                </a:lnTo>
                <a:lnTo>
                  <a:pt x="984796" y="46113"/>
                </a:lnTo>
                <a:lnTo>
                  <a:pt x="984796" y="68046"/>
                </a:lnTo>
                <a:close/>
              </a:path>
              <a:path w="1010285" h="114300">
                <a:moveTo>
                  <a:pt x="907326" y="114172"/>
                </a:moveTo>
                <a:lnTo>
                  <a:pt x="895896" y="101587"/>
                </a:lnTo>
                <a:lnTo>
                  <a:pt x="896162" y="98945"/>
                </a:lnTo>
                <a:lnTo>
                  <a:pt x="959606" y="57086"/>
                </a:lnTo>
                <a:lnTo>
                  <a:pt x="978395" y="68046"/>
                </a:lnTo>
                <a:lnTo>
                  <a:pt x="984796" y="68046"/>
                </a:lnTo>
                <a:lnTo>
                  <a:pt x="984796" y="69786"/>
                </a:lnTo>
                <a:lnTo>
                  <a:pt x="988229" y="69786"/>
                </a:lnTo>
                <a:lnTo>
                  <a:pt x="914996" y="112496"/>
                </a:lnTo>
                <a:lnTo>
                  <a:pt x="912571" y="113588"/>
                </a:lnTo>
                <a:lnTo>
                  <a:pt x="909980" y="114160"/>
                </a:lnTo>
                <a:lnTo>
                  <a:pt x="907326" y="114172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03681" y="4243717"/>
            <a:ext cx="1010285" cy="114300"/>
          </a:xfrm>
          <a:custGeom>
            <a:avLst/>
            <a:gdLst/>
            <a:ahLst/>
            <a:cxnLst/>
            <a:rect l="l" t="t" r="r" b="b"/>
            <a:pathLst>
              <a:path w="1010284" h="114300">
                <a:moveTo>
                  <a:pt x="959597" y="57086"/>
                </a:moveTo>
                <a:lnTo>
                  <a:pt x="902208" y="23609"/>
                </a:lnTo>
                <a:lnTo>
                  <a:pt x="895908" y="12585"/>
                </a:lnTo>
                <a:lnTo>
                  <a:pt x="896188" y="9944"/>
                </a:lnTo>
                <a:lnTo>
                  <a:pt x="907326" y="0"/>
                </a:lnTo>
                <a:lnTo>
                  <a:pt x="909980" y="12"/>
                </a:lnTo>
                <a:lnTo>
                  <a:pt x="912583" y="584"/>
                </a:lnTo>
                <a:lnTo>
                  <a:pt x="914996" y="1663"/>
                </a:lnTo>
                <a:lnTo>
                  <a:pt x="988234" y="44386"/>
                </a:lnTo>
                <a:lnTo>
                  <a:pt x="984796" y="44386"/>
                </a:lnTo>
                <a:lnTo>
                  <a:pt x="984796" y="46113"/>
                </a:lnTo>
                <a:lnTo>
                  <a:pt x="978408" y="46113"/>
                </a:lnTo>
                <a:lnTo>
                  <a:pt x="959597" y="57086"/>
                </a:lnTo>
                <a:close/>
              </a:path>
              <a:path w="1010284" h="114300">
                <a:moveTo>
                  <a:pt x="937826" y="69786"/>
                </a:moveTo>
                <a:lnTo>
                  <a:pt x="0" y="69786"/>
                </a:lnTo>
                <a:lnTo>
                  <a:pt x="0" y="44386"/>
                </a:lnTo>
                <a:lnTo>
                  <a:pt x="937826" y="44386"/>
                </a:lnTo>
                <a:lnTo>
                  <a:pt x="959597" y="57086"/>
                </a:lnTo>
                <a:lnTo>
                  <a:pt x="937826" y="69786"/>
                </a:lnTo>
                <a:close/>
              </a:path>
              <a:path w="1010284" h="114300">
                <a:moveTo>
                  <a:pt x="988234" y="69786"/>
                </a:moveTo>
                <a:lnTo>
                  <a:pt x="984808" y="69786"/>
                </a:lnTo>
                <a:lnTo>
                  <a:pt x="984796" y="44386"/>
                </a:lnTo>
                <a:lnTo>
                  <a:pt x="988234" y="44386"/>
                </a:lnTo>
                <a:lnTo>
                  <a:pt x="1010005" y="57086"/>
                </a:lnTo>
                <a:lnTo>
                  <a:pt x="988234" y="69786"/>
                </a:lnTo>
                <a:close/>
              </a:path>
              <a:path w="1010284" h="114300">
                <a:moveTo>
                  <a:pt x="978408" y="68059"/>
                </a:moveTo>
                <a:lnTo>
                  <a:pt x="959597" y="57086"/>
                </a:lnTo>
                <a:lnTo>
                  <a:pt x="978408" y="46113"/>
                </a:lnTo>
                <a:lnTo>
                  <a:pt x="978408" y="68059"/>
                </a:lnTo>
                <a:close/>
              </a:path>
              <a:path w="1010284" h="114300">
                <a:moveTo>
                  <a:pt x="984807" y="68059"/>
                </a:moveTo>
                <a:lnTo>
                  <a:pt x="978408" y="68059"/>
                </a:lnTo>
                <a:lnTo>
                  <a:pt x="978408" y="46113"/>
                </a:lnTo>
                <a:lnTo>
                  <a:pt x="984796" y="46113"/>
                </a:lnTo>
                <a:lnTo>
                  <a:pt x="984807" y="68059"/>
                </a:lnTo>
                <a:close/>
              </a:path>
              <a:path w="1010284" h="114300">
                <a:moveTo>
                  <a:pt x="907326" y="114173"/>
                </a:moveTo>
                <a:lnTo>
                  <a:pt x="895908" y="101600"/>
                </a:lnTo>
                <a:lnTo>
                  <a:pt x="896162" y="98958"/>
                </a:lnTo>
                <a:lnTo>
                  <a:pt x="959597" y="57086"/>
                </a:lnTo>
                <a:lnTo>
                  <a:pt x="978408" y="68059"/>
                </a:lnTo>
                <a:lnTo>
                  <a:pt x="984807" y="68059"/>
                </a:lnTo>
                <a:lnTo>
                  <a:pt x="984808" y="69786"/>
                </a:lnTo>
                <a:lnTo>
                  <a:pt x="988234" y="69786"/>
                </a:lnTo>
                <a:lnTo>
                  <a:pt x="914996" y="112509"/>
                </a:lnTo>
                <a:lnTo>
                  <a:pt x="912583" y="113601"/>
                </a:lnTo>
                <a:lnTo>
                  <a:pt x="909980" y="114160"/>
                </a:lnTo>
                <a:lnTo>
                  <a:pt x="907326" y="114173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304276" y="4059935"/>
            <a:ext cx="3078480" cy="399415"/>
          </a:xfrm>
          <a:custGeom>
            <a:avLst/>
            <a:gdLst/>
            <a:ahLst/>
            <a:cxnLst/>
            <a:rect l="l" t="t" r="r" b="b"/>
            <a:pathLst>
              <a:path w="3078479" h="399414">
                <a:moveTo>
                  <a:pt x="0" y="0"/>
                </a:moveTo>
                <a:lnTo>
                  <a:pt x="3078479" y="0"/>
                </a:lnTo>
                <a:lnTo>
                  <a:pt x="3078479" y="399288"/>
                </a:lnTo>
                <a:lnTo>
                  <a:pt x="0" y="399288"/>
                </a:lnTo>
                <a:lnTo>
                  <a:pt x="0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285530" y="4040695"/>
            <a:ext cx="3115945" cy="438784"/>
          </a:xfrm>
          <a:custGeom>
            <a:avLst/>
            <a:gdLst/>
            <a:ahLst/>
            <a:cxnLst/>
            <a:rect l="l" t="t" r="r" b="b"/>
            <a:pathLst>
              <a:path w="3115945" h="438785">
                <a:moveTo>
                  <a:pt x="3096844" y="438175"/>
                </a:moveTo>
                <a:lnTo>
                  <a:pt x="19050" y="438175"/>
                </a:lnTo>
                <a:lnTo>
                  <a:pt x="15748" y="437883"/>
                </a:lnTo>
                <a:lnTo>
                  <a:pt x="0" y="419125"/>
                </a:lnTo>
                <a:lnTo>
                  <a:pt x="0" y="19050"/>
                </a:lnTo>
                <a:lnTo>
                  <a:pt x="19050" y="0"/>
                </a:lnTo>
                <a:lnTo>
                  <a:pt x="3096844" y="0"/>
                </a:lnTo>
                <a:lnTo>
                  <a:pt x="3115894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400075"/>
                </a:lnTo>
                <a:lnTo>
                  <a:pt x="19050" y="400075"/>
                </a:lnTo>
                <a:lnTo>
                  <a:pt x="38100" y="419125"/>
                </a:lnTo>
                <a:lnTo>
                  <a:pt x="3115894" y="419125"/>
                </a:lnTo>
                <a:lnTo>
                  <a:pt x="3115602" y="422427"/>
                </a:lnTo>
                <a:lnTo>
                  <a:pt x="3100146" y="437883"/>
                </a:lnTo>
                <a:lnTo>
                  <a:pt x="3096844" y="438175"/>
                </a:lnTo>
                <a:close/>
              </a:path>
              <a:path w="3115945" h="43878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3115945" h="438785">
                <a:moveTo>
                  <a:pt x="3077794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3077794" y="19050"/>
                </a:lnTo>
                <a:lnTo>
                  <a:pt x="3077794" y="38100"/>
                </a:lnTo>
                <a:close/>
              </a:path>
              <a:path w="3115945" h="438785">
                <a:moveTo>
                  <a:pt x="3077794" y="419125"/>
                </a:moveTo>
                <a:lnTo>
                  <a:pt x="3077794" y="19050"/>
                </a:lnTo>
                <a:lnTo>
                  <a:pt x="3096844" y="38100"/>
                </a:lnTo>
                <a:lnTo>
                  <a:pt x="3115894" y="38100"/>
                </a:lnTo>
                <a:lnTo>
                  <a:pt x="3115894" y="400075"/>
                </a:lnTo>
                <a:lnTo>
                  <a:pt x="3096844" y="400075"/>
                </a:lnTo>
                <a:lnTo>
                  <a:pt x="3077794" y="419125"/>
                </a:lnTo>
                <a:close/>
              </a:path>
              <a:path w="3115945" h="438785">
                <a:moveTo>
                  <a:pt x="3115894" y="38100"/>
                </a:moveTo>
                <a:lnTo>
                  <a:pt x="3096844" y="38100"/>
                </a:lnTo>
                <a:lnTo>
                  <a:pt x="3077794" y="19050"/>
                </a:lnTo>
                <a:lnTo>
                  <a:pt x="3115894" y="19050"/>
                </a:lnTo>
                <a:lnTo>
                  <a:pt x="3115894" y="38100"/>
                </a:lnTo>
                <a:close/>
              </a:path>
              <a:path w="3115945" h="438785">
                <a:moveTo>
                  <a:pt x="38100" y="419125"/>
                </a:moveTo>
                <a:lnTo>
                  <a:pt x="19050" y="400075"/>
                </a:lnTo>
                <a:lnTo>
                  <a:pt x="38100" y="400075"/>
                </a:lnTo>
                <a:lnTo>
                  <a:pt x="38100" y="419125"/>
                </a:lnTo>
                <a:close/>
              </a:path>
              <a:path w="3115945" h="438785">
                <a:moveTo>
                  <a:pt x="3077794" y="419125"/>
                </a:moveTo>
                <a:lnTo>
                  <a:pt x="38100" y="419125"/>
                </a:lnTo>
                <a:lnTo>
                  <a:pt x="38100" y="400075"/>
                </a:lnTo>
                <a:lnTo>
                  <a:pt x="3077794" y="400075"/>
                </a:lnTo>
                <a:lnTo>
                  <a:pt x="3077794" y="419125"/>
                </a:lnTo>
                <a:close/>
              </a:path>
              <a:path w="3115945" h="438785">
                <a:moveTo>
                  <a:pt x="3115894" y="419125"/>
                </a:moveTo>
                <a:lnTo>
                  <a:pt x="3077794" y="419125"/>
                </a:lnTo>
                <a:lnTo>
                  <a:pt x="3096844" y="400075"/>
                </a:lnTo>
                <a:lnTo>
                  <a:pt x="3115894" y="400075"/>
                </a:lnTo>
                <a:lnTo>
                  <a:pt x="3115894" y="419125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304276" y="4085780"/>
            <a:ext cx="30784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微软雅黑"/>
                <a:cs typeface="微软雅黑"/>
              </a:rPr>
              <a:t>汤姆孙的原子模型不正</a:t>
            </a:r>
            <a:r>
              <a:rPr dirty="0" sz="2000" spc="5" b="1">
                <a:solidFill>
                  <a:srgbClr val="FFFFFF"/>
                </a:solidFill>
                <a:latin typeface="微软雅黑"/>
                <a:cs typeface="微软雅黑"/>
              </a:rPr>
              <a:t>确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83361" y="5537250"/>
            <a:ext cx="1826260" cy="746125"/>
          </a:xfrm>
          <a:custGeom>
            <a:avLst/>
            <a:gdLst/>
            <a:ahLst/>
            <a:cxnLst/>
            <a:rect l="l" t="t" r="r" b="b"/>
            <a:pathLst>
              <a:path w="1826260" h="746125">
                <a:moveTo>
                  <a:pt x="1826082" y="745921"/>
                </a:moveTo>
                <a:lnTo>
                  <a:pt x="0" y="745921"/>
                </a:lnTo>
                <a:lnTo>
                  <a:pt x="0" y="0"/>
                </a:lnTo>
                <a:lnTo>
                  <a:pt x="1826082" y="0"/>
                </a:lnTo>
                <a:lnTo>
                  <a:pt x="1826082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707821"/>
                </a:lnTo>
                <a:lnTo>
                  <a:pt x="19050" y="707821"/>
                </a:lnTo>
                <a:lnTo>
                  <a:pt x="38100" y="726871"/>
                </a:lnTo>
                <a:lnTo>
                  <a:pt x="1826082" y="726871"/>
                </a:lnTo>
                <a:lnTo>
                  <a:pt x="1826082" y="745921"/>
                </a:lnTo>
                <a:close/>
              </a:path>
              <a:path w="1826260" h="74612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1826260" h="746125">
                <a:moveTo>
                  <a:pt x="1787982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1787982" y="19050"/>
                </a:lnTo>
                <a:lnTo>
                  <a:pt x="1787982" y="38100"/>
                </a:lnTo>
                <a:close/>
              </a:path>
              <a:path w="1826260" h="746125">
                <a:moveTo>
                  <a:pt x="1787982" y="726871"/>
                </a:moveTo>
                <a:lnTo>
                  <a:pt x="1787982" y="19050"/>
                </a:lnTo>
                <a:lnTo>
                  <a:pt x="1807032" y="38100"/>
                </a:lnTo>
                <a:lnTo>
                  <a:pt x="1826082" y="38100"/>
                </a:lnTo>
                <a:lnTo>
                  <a:pt x="1826082" y="707821"/>
                </a:lnTo>
                <a:lnTo>
                  <a:pt x="1807032" y="707821"/>
                </a:lnTo>
                <a:lnTo>
                  <a:pt x="1787982" y="726871"/>
                </a:lnTo>
                <a:close/>
              </a:path>
              <a:path w="1826260" h="746125">
                <a:moveTo>
                  <a:pt x="1826082" y="38100"/>
                </a:moveTo>
                <a:lnTo>
                  <a:pt x="1807032" y="38100"/>
                </a:lnTo>
                <a:lnTo>
                  <a:pt x="1787982" y="19050"/>
                </a:lnTo>
                <a:lnTo>
                  <a:pt x="1826082" y="19050"/>
                </a:lnTo>
                <a:lnTo>
                  <a:pt x="1826082" y="38100"/>
                </a:lnTo>
                <a:close/>
              </a:path>
              <a:path w="1826260" h="746125">
                <a:moveTo>
                  <a:pt x="38100" y="726871"/>
                </a:moveTo>
                <a:lnTo>
                  <a:pt x="19050" y="707821"/>
                </a:lnTo>
                <a:lnTo>
                  <a:pt x="38100" y="707821"/>
                </a:lnTo>
                <a:lnTo>
                  <a:pt x="38100" y="726871"/>
                </a:lnTo>
                <a:close/>
              </a:path>
              <a:path w="1826260" h="746125">
                <a:moveTo>
                  <a:pt x="1787982" y="726871"/>
                </a:moveTo>
                <a:lnTo>
                  <a:pt x="38100" y="726871"/>
                </a:lnTo>
                <a:lnTo>
                  <a:pt x="38100" y="707821"/>
                </a:lnTo>
                <a:lnTo>
                  <a:pt x="1787982" y="707821"/>
                </a:lnTo>
                <a:lnTo>
                  <a:pt x="1787982" y="726871"/>
                </a:lnTo>
                <a:close/>
              </a:path>
              <a:path w="1826260" h="746125">
                <a:moveTo>
                  <a:pt x="1826082" y="726871"/>
                </a:moveTo>
                <a:lnTo>
                  <a:pt x="1787982" y="726871"/>
                </a:lnTo>
                <a:lnTo>
                  <a:pt x="1807032" y="707821"/>
                </a:lnTo>
                <a:lnTo>
                  <a:pt x="1826082" y="707821"/>
                </a:lnTo>
                <a:lnTo>
                  <a:pt x="1826082" y="726871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81151" y="5582335"/>
            <a:ext cx="163068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305" b="1">
                <a:latin typeface="微软雅黑"/>
                <a:cs typeface="微软雅黑"/>
              </a:rPr>
              <a:t>绝大多数</a:t>
            </a:r>
            <a:r>
              <a:rPr dirty="0" sz="2000" b="1" i="1">
                <a:latin typeface="Times New Roman"/>
                <a:cs typeface="Times New Roman"/>
              </a:rPr>
              <a:t>α</a:t>
            </a:r>
            <a:r>
              <a:rPr dirty="0" sz="2000" spc="-290" b="1" i="1">
                <a:latin typeface="Times New Roman"/>
                <a:cs typeface="Times New Roman"/>
              </a:rPr>
              <a:t> </a:t>
            </a:r>
            <a:r>
              <a:rPr dirty="0" sz="2000" spc="5" b="1">
                <a:latin typeface="微软雅黑"/>
                <a:cs typeface="微软雅黑"/>
              </a:rPr>
              <a:t>粒 </a:t>
            </a:r>
            <a:r>
              <a:rPr dirty="0" sz="2000" b="1">
                <a:latin typeface="微软雅黑"/>
                <a:cs typeface="微软雅黑"/>
              </a:rPr>
              <a:t>子</a:t>
            </a:r>
            <a:r>
              <a:rPr dirty="0" sz="2000" b="1">
                <a:solidFill>
                  <a:srgbClr val="FF0000"/>
                </a:solidFill>
                <a:latin typeface="微软雅黑"/>
                <a:cs typeface="微软雅黑"/>
              </a:rPr>
              <a:t>基本不偏</a:t>
            </a:r>
            <a:r>
              <a:rPr dirty="0" sz="2000" spc="5" b="1">
                <a:solidFill>
                  <a:srgbClr val="FF0000"/>
                </a:solidFill>
                <a:latin typeface="微软雅黑"/>
                <a:cs typeface="微软雅黑"/>
              </a:rPr>
              <a:t>转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04033" y="5853925"/>
            <a:ext cx="1024255" cy="114300"/>
          </a:xfrm>
          <a:custGeom>
            <a:avLst/>
            <a:gdLst/>
            <a:ahLst/>
            <a:cxnLst/>
            <a:rect l="l" t="t" r="r" b="b"/>
            <a:pathLst>
              <a:path w="1024254" h="114300">
                <a:moveTo>
                  <a:pt x="1001896" y="69850"/>
                </a:moveTo>
                <a:lnTo>
                  <a:pt x="998448" y="69850"/>
                </a:lnTo>
                <a:lnTo>
                  <a:pt x="998474" y="44450"/>
                </a:lnTo>
                <a:lnTo>
                  <a:pt x="951498" y="44409"/>
                </a:lnTo>
                <a:lnTo>
                  <a:pt x="915898" y="23596"/>
                </a:lnTo>
                <a:lnTo>
                  <a:pt x="909599" y="12572"/>
                </a:lnTo>
                <a:lnTo>
                  <a:pt x="909891" y="9931"/>
                </a:lnTo>
                <a:lnTo>
                  <a:pt x="921042" y="0"/>
                </a:lnTo>
                <a:lnTo>
                  <a:pt x="923696" y="12"/>
                </a:lnTo>
                <a:lnTo>
                  <a:pt x="926287" y="584"/>
                </a:lnTo>
                <a:lnTo>
                  <a:pt x="928712" y="1676"/>
                </a:lnTo>
                <a:lnTo>
                  <a:pt x="1023670" y="57175"/>
                </a:lnTo>
                <a:lnTo>
                  <a:pt x="1001896" y="69850"/>
                </a:lnTo>
                <a:close/>
              </a:path>
              <a:path w="1024254" h="114300">
                <a:moveTo>
                  <a:pt x="951482" y="69809"/>
                </a:moveTo>
                <a:lnTo>
                  <a:pt x="0" y="68986"/>
                </a:lnTo>
                <a:lnTo>
                  <a:pt x="25" y="43586"/>
                </a:lnTo>
                <a:lnTo>
                  <a:pt x="951498" y="44409"/>
                </a:lnTo>
                <a:lnTo>
                  <a:pt x="973259" y="57130"/>
                </a:lnTo>
                <a:lnTo>
                  <a:pt x="951482" y="69809"/>
                </a:lnTo>
                <a:close/>
              </a:path>
              <a:path w="1024254" h="114300">
                <a:moveTo>
                  <a:pt x="973259" y="57130"/>
                </a:moveTo>
                <a:lnTo>
                  <a:pt x="951498" y="44409"/>
                </a:lnTo>
                <a:lnTo>
                  <a:pt x="998474" y="44450"/>
                </a:lnTo>
                <a:lnTo>
                  <a:pt x="998472" y="46177"/>
                </a:lnTo>
                <a:lnTo>
                  <a:pt x="992073" y="46177"/>
                </a:lnTo>
                <a:lnTo>
                  <a:pt x="973259" y="57130"/>
                </a:lnTo>
                <a:close/>
              </a:path>
              <a:path w="1024254" h="114300">
                <a:moveTo>
                  <a:pt x="992060" y="68122"/>
                </a:moveTo>
                <a:lnTo>
                  <a:pt x="973259" y="57130"/>
                </a:lnTo>
                <a:lnTo>
                  <a:pt x="992073" y="46177"/>
                </a:lnTo>
                <a:lnTo>
                  <a:pt x="992060" y="68122"/>
                </a:lnTo>
                <a:close/>
              </a:path>
              <a:path w="1024254" h="114300">
                <a:moveTo>
                  <a:pt x="998450" y="68122"/>
                </a:moveTo>
                <a:lnTo>
                  <a:pt x="992060" y="68122"/>
                </a:lnTo>
                <a:lnTo>
                  <a:pt x="992073" y="46177"/>
                </a:lnTo>
                <a:lnTo>
                  <a:pt x="998472" y="46177"/>
                </a:lnTo>
                <a:lnTo>
                  <a:pt x="998450" y="68122"/>
                </a:lnTo>
                <a:close/>
              </a:path>
              <a:path w="1024254" h="114300">
                <a:moveTo>
                  <a:pt x="998448" y="69850"/>
                </a:moveTo>
                <a:lnTo>
                  <a:pt x="951482" y="69809"/>
                </a:lnTo>
                <a:lnTo>
                  <a:pt x="973259" y="57130"/>
                </a:lnTo>
                <a:lnTo>
                  <a:pt x="992060" y="68122"/>
                </a:lnTo>
                <a:lnTo>
                  <a:pt x="998450" y="68122"/>
                </a:lnTo>
                <a:lnTo>
                  <a:pt x="998448" y="69850"/>
                </a:lnTo>
                <a:close/>
              </a:path>
              <a:path w="1024254" h="114300">
                <a:moveTo>
                  <a:pt x="920940" y="114172"/>
                </a:moveTo>
                <a:lnTo>
                  <a:pt x="909523" y="101587"/>
                </a:lnTo>
                <a:lnTo>
                  <a:pt x="909789" y="98945"/>
                </a:lnTo>
                <a:lnTo>
                  <a:pt x="951482" y="69809"/>
                </a:lnTo>
                <a:lnTo>
                  <a:pt x="1001896" y="69850"/>
                </a:lnTo>
                <a:lnTo>
                  <a:pt x="928499" y="112560"/>
                </a:lnTo>
                <a:lnTo>
                  <a:pt x="926198" y="113601"/>
                </a:lnTo>
                <a:lnTo>
                  <a:pt x="923594" y="114160"/>
                </a:lnTo>
                <a:lnTo>
                  <a:pt x="920940" y="114172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26853" y="5678284"/>
            <a:ext cx="3607435" cy="438784"/>
          </a:xfrm>
          <a:custGeom>
            <a:avLst/>
            <a:gdLst/>
            <a:ahLst/>
            <a:cxnLst/>
            <a:rect l="l" t="t" r="r" b="b"/>
            <a:pathLst>
              <a:path w="3607434" h="438785">
                <a:moveTo>
                  <a:pt x="3607231" y="438175"/>
                </a:moveTo>
                <a:lnTo>
                  <a:pt x="0" y="438175"/>
                </a:lnTo>
                <a:lnTo>
                  <a:pt x="0" y="0"/>
                </a:lnTo>
                <a:lnTo>
                  <a:pt x="3607231" y="0"/>
                </a:lnTo>
                <a:lnTo>
                  <a:pt x="3607231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400075"/>
                </a:lnTo>
                <a:lnTo>
                  <a:pt x="19050" y="400075"/>
                </a:lnTo>
                <a:lnTo>
                  <a:pt x="38100" y="419125"/>
                </a:lnTo>
                <a:lnTo>
                  <a:pt x="3607231" y="419125"/>
                </a:lnTo>
                <a:lnTo>
                  <a:pt x="3607231" y="438175"/>
                </a:lnTo>
                <a:close/>
              </a:path>
              <a:path w="3607434" h="43878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3607434" h="438785">
                <a:moveTo>
                  <a:pt x="3569131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3569131" y="19050"/>
                </a:lnTo>
                <a:lnTo>
                  <a:pt x="3569131" y="38100"/>
                </a:lnTo>
                <a:close/>
              </a:path>
              <a:path w="3607434" h="438785">
                <a:moveTo>
                  <a:pt x="3569131" y="419125"/>
                </a:moveTo>
                <a:lnTo>
                  <a:pt x="3569131" y="19050"/>
                </a:lnTo>
                <a:lnTo>
                  <a:pt x="3588181" y="38100"/>
                </a:lnTo>
                <a:lnTo>
                  <a:pt x="3607231" y="38100"/>
                </a:lnTo>
                <a:lnTo>
                  <a:pt x="3607231" y="400075"/>
                </a:lnTo>
                <a:lnTo>
                  <a:pt x="3588181" y="400075"/>
                </a:lnTo>
                <a:lnTo>
                  <a:pt x="3569131" y="419125"/>
                </a:lnTo>
                <a:close/>
              </a:path>
              <a:path w="3607434" h="438785">
                <a:moveTo>
                  <a:pt x="3607231" y="38100"/>
                </a:moveTo>
                <a:lnTo>
                  <a:pt x="3588181" y="38100"/>
                </a:lnTo>
                <a:lnTo>
                  <a:pt x="3569131" y="19050"/>
                </a:lnTo>
                <a:lnTo>
                  <a:pt x="3607231" y="19050"/>
                </a:lnTo>
                <a:lnTo>
                  <a:pt x="3607231" y="38100"/>
                </a:lnTo>
                <a:close/>
              </a:path>
              <a:path w="3607434" h="438785">
                <a:moveTo>
                  <a:pt x="38100" y="419125"/>
                </a:moveTo>
                <a:lnTo>
                  <a:pt x="19050" y="400075"/>
                </a:lnTo>
                <a:lnTo>
                  <a:pt x="38100" y="400075"/>
                </a:lnTo>
                <a:lnTo>
                  <a:pt x="38100" y="419125"/>
                </a:lnTo>
                <a:close/>
              </a:path>
              <a:path w="3607434" h="438785">
                <a:moveTo>
                  <a:pt x="3569131" y="419125"/>
                </a:moveTo>
                <a:lnTo>
                  <a:pt x="38100" y="419125"/>
                </a:lnTo>
                <a:lnTo>
                  <a:pt x="38100" y="400075"/>
                </a:lnTo>
                <a:lnTo>
                  <a:pt x="3569131" y="400075"/>
                </a:lnTo>
                <a:lnTo>
                  <a:pt x="3569131" y="419125"/>
                </a:lnTo>
                <a:close/>
              </a:path>
              <a:path w="3607434" h="438785">
                <a:moveTo>
                  <a:pt x="3607231" y="419125"/>
                </a:moveTo>
                <a:lnTo>
                  <a:pt x="3569131" y="419125"/>
                </a:lnTo>
                <a:lnTo>
                  <a:pt x="3588181" y="400075"/>
                </a:lnTo>
                <a:lnTo>
                  <a:pt x="3607231" y="400075"/>
                </a:lnTo>
                <a:lnTo>
                  <a:pt x="3607231" y="419125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24643" y="5723369"/>
            <a:ext cx="282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微软雅黑"/>
                <a:cs typeface="微软雅黑"/>
              </a:rPr>
              <a:t>原子中的绝大部分是空</a:t>
            </a:r>
            <a:r>
              <a:rPr dirty="0" sz="2000" spc="5" b="1">
                <a:latin typeface="微软雅黑"/>
                <a:cs typeface="微软雅黑"/>
              </a:rPr>
              <a:t>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83183" y="4354067"/>
            <a:ext cx="891832" cy="1635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246859" y="4902695"/>
            <a:ext cx="3115945" cy="746125"/>
          </a:xfrm>
          <a:custGeom>
            <a:avLst/>
            <a:gdLst/>
            <a:ahLst/>
            <a:cxnLst/>
            <a:rect l="l" t="t" r="r" b="b"/>
            <a:pathLst>
              <a:path w="3115945" h="746125">
                <a:moveTo>
                  <a:pt x="3096844" y="745921"/>
                </a:moveTo>
                <a:lnTo>
                  <a:pt x="19050" y="745921"/>
                </a:lnTo>
                <a:lnTo>
                  <a:pt x="15735" y="745642"/>
                </a:lnTo>
                <a:lnTo>
                  <a:pt x="0" y="726871"/>
                </a:lnTo>
                <a:lnTo>
                  <a:pt x="0" y="19050"/>
                </a:lnTo>
                <a:lnTo>
                  <a:pt x="19050" y="0"/>
                </a:lnTo>
                <a:lnTo>
                  <a:pt x="3096844" y="0"/>
                </a:lnTo>
                <a:lnTo>
                  <a:pt x="3115894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707821"/>
                </a:lnTo>
                <a:lnTo>
                  <a:pt x="19050" y="707821"/>
                </a:lnTo>
                <a:lnTo>
                  <a:pt x="38100" y="726871"/>
                </a:lnTo>
                <a:lnTo>
                  <a:pt x="3115894" y="726871"/>
                </a:lnTo>
                <a:lnTo>
                  <a:pt x="3115602" y="730186"/>
                </a:lnTo>
                <a:lnTo>
                  <a:pt x="3100146" y="745642"/>
                </a:lnTo>
                <a:lnTo>
                  <a:pt x="3096844" y="745921"/>
                </a:lnTo>
                <a:close/>
              </a:path>
              <a:path w="3115945" h="746125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3115945" h="746125">
                <a:moveTo>
                  <a:pt x="3077794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3077794" y="19050"/>
                </a:lnTo>
                <a:lnTo>
                  <a:pt x="3077794" y="38100"/>
                </a:lnTo>
                <a:close/>
              </a:path>
              <a:path w="3115945" h="746125">
                <a:moveTo>
                  <a:pt x="3077794" y="726871"/>
                </a:moveTo>
                <a:lnTo>
                  <a:pt x="3077794" y="19050"/>
                </a:lnTo>
                <a:lnTo>
                  <a:pt x="3096844" y="38100"/>
                </a:lnTo>
                <a:lnTo>
                  <a:pt x="3115894" y="38100"/>
                </a:lnTo>
                <a:lnTo>
                  <a:pt x="3115894" y="707821"/>
                </a:lnTo>
                <a:lnTo>
                  <a:pt x="3096844" y="707821"/>
                </a:lnTo>
                <a:lnTo>
                  <a:pt x="3077794" y="726871"/>
                </a:lnTo>
                <a:close/>
              </a:path>
              <a:path w="3115945" h="746125">
                <a:moveTo>
                  <a:pt x="3115894" y="38100"/>
                </a:moveTo>
                <a:lnTo>
                  <a:pt x="3096844" y="38100"/>
                </a:lnTo>
                <a:lnTo>
                  <a:pt x="3077794" y="19050"/>
                </a:lnTo>
                <a:lnTo>
                  <a:pt x="3115894" y="19050"/>
                </a:lnTo>
                <a:lnTo>
                  <a:pt x="3115894" y="38100"/>
                </a:lnTo>
                <a:close/>
              </a:path>
              <a:path w="3115945" h="746125">
                <a:moveTo>
                  <a:pt x="38100" y="726871"/>
                </a:moveTo>
                <a:lnTo>
                  <a:pt x="19050" y="707821"/>
                </a:lnTo>
                <a:lnTo>
                  <a:pt x="38100" y="707821"/>
                </a:lnTo>
                <a:lnTo>
                  <a:pt x="38100" y="726871"/>
                </a:lnTo>
                <a:close/>
              </a:path>
              <a:path w="3115945" h="746125">
                <a:moveTo>
                  <a:pt x="3077794" y="726871"/>
                </a:moveTo>
                <a:lnTo>
                  <a:pt x="38100" y="726871"/>
                </a:lnTo>
                <a:lnTo>
                  <a:pt x="38100" y="707821"/>
                </a:lnTo>
                <a:lnTo>
                  <a:pt x="3077794" y="707821"/>
                </a:lnTo>
                <a:lnTo>
                  <a:pt x="3077794" y="726871"/>
                </a:lnTo>
                <a:close/>
              </a:path>
              <a:path w="3115945" h="746125">
                <a:moveTo>
                  <a:pt x="3115894" y="726871"/>
                </a:moveTo>
                <a:lnTo>
                  <a:pt x="3077794" y="726871"/>
                </a:lnTo>
                <a:lnTo>
                  <a:pt x="3096844" y="707821"/>
                </a:lnTo>
                <a:lnTo>
                  <a:pt x="3115894" y="707821"/>
                </a:lnTo>
                <a:lnTo>
                  <a:pt x="3115894" y="726871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266176" y="4920996"/>
            <a:ext cx="3077210" cy="345440"/>
          </a:xfrm>
          <a:prstGeom prst="rect">
            <a:avLst/>
          </a:prstGeom>
          <a:solidFill>
            <a:srgbClr val="6FAC46"/>
          </a:solidFill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sz="2000" b="1">
                <a:solidFill>
                  <a:srgbClr val="FFFFFF"/>
                </a:solidFill>
                <a:latin typeface="微软雅黑"/>
                <a:cs typeface="微软雅黑"/>
              </a:rPr>
              <a:t>原子中带正电部分的体</a:t>
            </a:r>
            <a:r>
              <a:rPr dirty="0" sz="2000" spc="5" b="1">
                <a:solidFill>
                  <a:srgbClr val="FFFFFF"/>
                </a:solidFill>
                <a:latin typeface="微软雅黑"/>
                <a:cs typeface="微软雅黑"/>
              </a:rPr>
              <a:t>积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66176" y="5266121"/>
            <a:ext cx="3077210" cy="363855"/>
          </a:xfrm>
          <a:prstGeom prst="rect">
            <a:avLst/>
          </a:prstGeom>
          <a:solidFill>
            <a:srgbClr val="6FAC46"/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2400"/>
              </a:lnSpc>
            </a:pPr>
            <a:r>
              <a:rPr dirty="0" sz="2000" b="1">
                <a:solidFill>
                  <a:srgbClr val="FFFFFF"/>
                </a:solidFill>
                <a:latin typeface="微软雅黑"/>
                <a:cs typeface="微软雅黑"/>
              </a:rPr>
              <a:t>很小，几乎占有全部质</a:t>
            </a:r>
            <a:r>
              <a:rPr dirty="0" sz="2000" spc="5" b="1">
                <a:solidFill>
                  <a:srgbClr val="FFFFFF"/>
                </a:solidFill>
                <a:latin typeface="微软雅黑"/>
                <a:cs typeface="微软雅黑"/>
              </a:rPr>
              <a:t>量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0589" y="6344259"/>
            <a:ext cx="40360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Times New Roman"/>
                <a:cs typeface="Times New Roman"/>
              </a:rPr>
              <a:t>(</a:t>
            </a:r>
            <a:r>
              <a:rPr dirty="0" sz="2000" b="1">
                <a:latin typeface="微软雅黑"/>
                <a:cs typeface="微软雅黑"/>
              </a:rPr>
              <a:t>金箔厚度约</a:t>
            </a:r>
            <a:r>
              <a:rPr dirty="0" sz="2000" spc="-5" b="1">
                <a:latin typeface="Times New Roman"/>
                <a:cs typeface="Times New Roman"/>
              </a:rPr>
              <a:t>1μ</a:t>
            </a:r>
            <a:r>
              <a:rPr dirty="0" sz="2000" spc="-10" b="1">
                <a:latin typeface="Times New Roman"/>
                <a:cs typeface="Times New Roman"/>
              </a:rPr>
              <a:t>m</a:t>
            </a:r>
            <a:r>
              <a:rPr dirty="0" sz="2000" b="1">
                <a:latin typeface="微软雅黑"/>
                <a:cs typeface="微软雅黑"/>
              </a:rPr>
              <a:t>、金原子直径约</a:t>
            </a:r>
            <a:r>
              <a:rPr dirty="0" sz="2000" spc="-5" b="1">
                <a:latin typeface="Times New Roman"/>
                <a:cs typeface="Times New Roman"/>
              </a:rPr>
              <a:t>3Å</a:t>
            </a:r>
            <a:r>
              <a:rPr dirty="0" sz="2000" b="1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340" y="854112"/>
            <a:ext cx="11358880" cy="1653539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375"/>
              </a:spcBef>
            </a:pPr>
            <a:r>
              <a:rPr dirty="0" sz="2800">
                <a:latin typeface="微软雅黑"/>
                <a:cs typeface="微软雅黑"/>
              </a:rPr>
              <a:t>二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 spc="-5" b="1" i="1">
                <a:latin typeface="Times New Roman"/>
                <a:cs typeface="Times New Roman"/>
              </a:rPr>
              <a:t>α</a:t>
            </a:r>
            <a:r>
              <a:rPr dirty="0" sz="2800">
                <a:latin typeface="微软雅黑"/>
                <a:cs typeface="微软雅黑"/>
              </a:rPr>
              <a:t>粒子散射实</a:t>
            </a:r>
            <a:r>
              <a:rPr dirty="0" sz="2800" spc="-5">
                <a:latin typeface="微软雅黑"/>
                <a:cs typeface="微软雅黑"/>
              </a:rPr>
              <a:t>验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400" spc="-5">
                <a:latin typeface="微软雅黑"/>
                <a:cs typeface="微软雅黑"/>
              </a:rPr>
              <a:t>4.</a:t>
            </a:r>
            <a:r>
              <a:rPr dirty="0" sz="2400">
                <a:latin typeface="微软雅黑"/>
                <a:cs typeface="微软雅黑"/>
              </a:rPr>
              <a:t>卢瑟福的原子模型</a:t>
            </a:r>
            <a:endParaRPr sz="2400">
              <a:latin typeface="微软雅黑"/>
              <a:cs typeface="微软雅黑"/>
            </a:endParaRPr>
          </a:p>
          <a:p>
            <a:pPr marL="373380">
              <a:lnSpc>
                <a:spcPct val="100000"/>
              </a:lnSpc>
              <a:spcBef>
                <a:spcPts val="1320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原子中带正电部分的体积很小，但几乎占有全部质量，电子在正电体的外面运动。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4567" y="5812231"/>
            <a:ext cx="3073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卢瑟福的核式结构模型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3032" y="5812231"/>
            <a:ext cx="2099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α</a:t>
            </a:r>
            <a:r>
              <a:rPr dirty="0" sz="2400" spc="-90" b="1" i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微软雅黑"/>
                <a:cs typeface="微软雅黑"/>
              </a:rPr>
              <a:t>粒子散射图景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05528" y="2676144"/>
            <a:ext cx="3447287" cy="3165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8076" y="2816351"/>
            <a:ext cx="3552444" cy="2999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243316" y="3112007"/>
            <a:ext cx="3302635" cy="2169160"/>
          </a:xfrm>
          <a:prstGeom prst="rect">
            <a:avLst/>
          </a:prstGeom>
          <a:solidFill>
            <a:srgbClr val="538235"/>
          </a:solidFill>
        </p:spPr>
        <p:txBody>
          <a:bodyPr wrap="square" lIns="0" tIns="24765" rIns="0" bIns="0" rtlCol="0" vert="horz">
            <a:spAutoFit/>
          </a:bodyPr>
          <a:lstStyle/>
          <a:p>
            <a:pPr algn="just" marL="90170" marR="83820" indent="381000">
              <a:lnSpc>
                <a:spcPct val="125000"/>
              </a:lnSpc>
              <a:spcBef>
                <a:spcPts val="195"/>
              </a:spcBef>
            </a:pPr>
            <a:r>
              <a:rPr dirty="0" sz="2200" spc="220" b="1">
                <a:solidFill>
                  <a:srgbClr val="FFFFFF"/>
                </a:solidFill>
                <a:latin typeface="微软雅黑"/>
                <a:cs typeface="微软雅黑"/>
              </a:rPr>
              <a:t>卢瑟福以核式</a:t>
            </a:r>
            <a:r>
              <a:rPr dirty="0" sz="2200" spc="225" b="1">
                <a:solidFill>
                  <a:srgbClr val="FFFFFF"/>
                </a:solidFill>
                <a:latin typeface="微软雅黑"/>
                <a:cs typeface="微软雅黑"/>
              </a:rPr>
              <a:t>结构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模 </a:t>
            </a:r>
            <a:r>
              <a:rPr dirty="0" sz="2200" spc="35" b="1">
                <a:solidFill>
                  <a:srgbClr val="FFFFFF"/>
                </a:solidFill>
                <a:latin typeface="微软雅黑"/>
                <a:cs typeface="微软雅黑"/>
              </a:rPr>
              <a:t>型为依据，利</a:t>
            </a:r>
            <a:r>
              <a:rPr dirty="0" sz="2200" spc="40" b="1">
                <a:solidFill>
                  <a:srgbClr val="FFFFFF"/>
                </a:solidFill>
                <a:latin typeface="微软雅黑"/>
                <a:cs typeface="微软雅黑"/>
              </a:rPr>
              <a:t>用经典力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学 </a:t>
            </a:r>
            <a:r>
              <a:rPr dirty="0" sz="2200" spc="35" b="1">
                <a:solidFill>
                  <a:srgbClr val="FFFFFF"/>
                </a:solidFill>
                <a:latin typeface="微软雅黑"/>
                <a:cs typeface="微软雅黑"/>
              </a:rPr>
              <a:t>计算了向各个</a:t>
            </a:r>
            <a:r>
              <a:rPr dirty="0" sz="2200" spc="40" b="1">
                <a:solidFill>
                  <a:srgbClr val="FFFFFF"/>
                </a:solidFill>
                <a:latin typeface="微软雅黑"/>
                <a:cs typeface="微软雅黑"/>
              </a:rPr>
              <a:t>方向散射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的</a:t>
            </a:r>
            <a:endParaRPr sz="2200">
              <a:latin typeface="微软雅黑"/>
              <a:cs typeface="微软雅黑"/>
            </a:endParaRPr>
          </a:p>
          <a:p>
            <a:pPr marL="90170" marR="83820">
              <a:lnSpc>
                <a:spcPct val="125000"/>
              </a:lnSpc>
            </a:pPr>
            <a:r>
              <a:rPr dirty="0" sz="2200" spc="130" b="1" i="1">
                <a:solidFill>
                  <a:srgbClr val="FFFFFF"/>
                </a:solidFill>
                <a:latin typeface="Times New Roman"/>
                <a:cs typeface="Times New Roman"/>
              </a:rPr>
              <a:t>α</a:t>
            </a:r>
            <a:r>
              <a:rPr dirty="0" sz="2200" spc="135" b="1">
                <a:solidFill>
                  <a:srgbClr val="FFFFFF"/>
                </a:solidFill>
                <a:latin typeface="微软雅黑"/>
                <a:cs typeface="微软雅黑"/>
              </a:rPr>
              <a:t>粒子的比例，结果</a:t>
            </a:r>
            <a:r>
              <a:rPr dirty="0" sz="2200" spc="140" b="1">
                <a:solidFill>
                  <a:srgbClr val="FFFFFF"/>
                </a:solidFill>
                <a:latin typeface="微软雅黑"/>
                <a:cs typeface="微软雅黑"/>
              </a:rPr>
              <a:t>与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实 </a:t>
            </a:r>
            <a:r>
              <a:rPr dirty="0" sz="2200" b="1">
                <a:solidFill>
                  <a:srgbClr val="FFFFFF"/>
                </a:solidFill>
                <a:latin typeface="微软雅黑"/>
                <a:cs typeface="微软雅黑"/>
              </a:rPr>
              <a:t>验数据符合得很好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94052" y="5281295"/>
            <a:ext cx="309816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微软雅黑"/>
                <a:cs typeface="微软雅黑"/>
              </a:rPr>
              <a:t>（模型与实验事实对照</a:t>
            </a:r>
            <a:r>
              <a:rPr dirty="0" sz="2200" spc="-5" b="1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88680" y="2074164"/>
            <a:ext cx="2907792" cy="26395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0515" y="837473"/>
            <a:ext cx="11034395" cy="4127500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marL="194945">
              <a:lnSpc>
                <a:spcPct val="100000"/>
              </a:lnSpc>
              <a:spcBef>
                <a:spcPts val="1505"/>
              </a:spcBef>
            </a:pPr>
            <a:r>
              <a:rPr dirty="0" sz="2800">
                <a:latin typeface="微软雅黑"/>
                <a:cs typeface="微软雅黑"/>
              </a:rPr>
              <a:t>三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原子核的电荷与尺</a:t>
            </a:r>
            <a:r>
              <a:rPr dirty="0" sz="2800" spc="-5">
                <a:latin typeface="微软雅黑"/>
                <a:cs typeface="微软雅黑"/>
              </a:rPr>
              <a:t>度</a:t>
            </a:r>
            <a:endParaRPr sz="2800">
              <a:latin typeface="微软雅黑"/>
              <a:cs typeface="微软雅黑"/>
            </a:endParaRPr>
          </a:p>
          <a:p>
            <a:pPr marL="12700" marR="5080" indent="609600">
              <a:lnSpc>
                <a:spcPct val="125000"/>
              </a:lnSpc>
              <a:spcBef>
                <a:spcPts val="495"/>
              </a:spcBef>
            </a:pPr>
            <a:r>
              <a:rPr dirty="0" sz="2400" spc="40">
                <a:latin typeface="微软雅黑"/>
                <a:cs typeface="微软雅黑"/>
              </a:rPr>
              <a:t>根据卢瑟福的核式结构模型</a:t>
            </a:r>
            <a:r>
              <a:rPr dirty="0" sz="2400" spc="45">
                <a:latin typeface="微软雅黑"/>
                <a:cs typeface="微软雅黑"/>
              </a:rPr>
              <a:t>和</a:t>
            </a:r>
            <a:r>
              <a:rPr dirty="0" sz="2400" spc="45" i="1">
                <a:latin typeface="Times New Roman"/>
                <a:cs typeface="Times New Roman"/>
              </a:rPr>
              <a:t>α</a:t>
            </a:r>
            <a:r>
              <a:rPr dirty="0" sz="2400" spc="45">
                <a:latin typeface="微软雅黑"/>
                <a:cs typeface="微软雅黑"/>
              </a:rPr>
              <a:t>粒子散射的实验数据，能确定各种元素</a:t>
            </a:r>
            <a:r>
              <a:rPr dirty="0" sz="2400" spc="45" b="1">
                <a:solidFill>
                  <a:srgbClr val="001F5F"/>
                </a:solidFill>
                <a:latin typeface="微软雅黑"/>
                <a:cs typeface="微软雅黑"/>
              </a:rPr>
              <a:t>原子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核 的电荷量</a:t>
            </a:r>
            <a:r>
              <a:rPr dirty="0" sz="2400" i="1">
                <a:latin typeface="Times New Roman"/>
                <a:cs typeface="Times New Roman"/>
              </a:rPr>
              <a:t>Q</a:t>
            </a:r>
            <a:r>
              <a:rPr dirty="0" sz="2400">
                <a:latin typeface="微软雅黑"/>
                <a:cs typeface="微软雅黑"/>
              </a:rPr>
              <a:t>，还可以估算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原子核的半径</a:t>
            </a:r>
            <a:r>
              <a:rPr dirty="0" sz="2400" spc="-5" i="1">
                <a:latin typeface="Times New Roman"/>
                <a:cs typeface="Times New Roman"/>
              </a:rPr>
              <a:t>R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423545" indent="-229235">
              <a:lnSpc>
                <a:spcPct val="100000"/>
              </a:lnSpc>
              <a:spcBef>
                <a:spcPts val="1355"/>
              </a:spcBef>
              <a:buSzPct val="95833"/>
              <a:buFont typeface="Times New Roman"/>
              <a:buAutoNum type="arabicPeriod"/>
              <a:tabLst>
                <a:tab pos="424180" algn="l"/>
              </a:tabLst>
            </a:pPr>
            <a:r>
              <a:rPr dirty="0" sz="2400">
                <a:latin typeface="微软雅黑"/>
                <a:cs typeface="微软雅黑"/>
              </a:rPr>
              <a:t>原子核电荷数的确定</a:t>
            </a:r>
            <a:r>
              <a:rPr dirty="0" sz="2400" spc="-5">
                <a:latin typeface="微软雅黑"/>
                <a:cs typeface="微软雅黑"/>
              </a:rPr>
              <a:t>：</a:t>
            </a:r>
            <a:r>
              <a:rPr dirty="0" sz="2400" spc="-5" i="1">
                <a:latin typeface="Times New Roman"/>
                <a:cs typeface="Times New Roman"/>
              </a:rPr>
              <a:t>Z</a:t>
            </a:r>
            <a:r>
              <a:rPr dirty="0" sz="2400" spc="-5">
                <a:latin typeface="Times New Roman"/>
                <a:cs typeface="Times New Roman"/>
              </a:rPr>
              <a:t>=</a:t>
            </a:r>
            <a:r>
              <a:rPr dirty="0" sz="2400" spc="-5" i="1">
                <a:latin typeface="Times New Roman"/>
                <a:cs typeface="Times New Roman"/>
              </a:rPr>
              <a:t>Q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 spc="-5" i="1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微软雅黑"/>
                <a:cs typeface="微软雅黑"/>
              </a:rPr>
              <a:t>；</a:t>
            </a:r>
            <a:endParaRPr sz="2400">
              <a:latin typeface="微软雅黑"/>
              <a:cs typeface="微软雅黑"/>
            </a:endParaRPr>
          </a:p>
          <a:p>
            <a:pPr marL="118110" marR="2748280" indent="337185">
              <a:lnSpc>
                <a:spcPct val="125000"/>
              </a:lnSpc>
              <a:spcBef>
                <a:spcPts val="620"/>
              </a:spcBef>
            </a:pPr>
            <a:r>
              <a:rPr dirty="0" sz="2200">
                <a:latin typeface="微软雅黑"/>
                <a:cs typeface="微软雅黑"/>
              </a:rPr>
              <a:t>对于中性原子而言，原子核的电荷数、核外电子数、原子序数</a:t>
            </a:r>
            <a:r>
              <a:rPr dirty="0" sz="2200" spc="-5">
                <a:latin typeface="微软雅黑"/>
                <a:cs typeface="微软雅黑"/>
              </a:rPr>
              <a:t>、 </a:t>
            </a:r>
            <a:r>
              <a:rPr dirty="0" sz="2200">
                <a:latin typeface="微软雅黑"/>
                <a:cs typeface="微软雅黑"/>
              </a:rPr>
              <a:t>核内质子数，都相等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  <a:p>
            <a:pPr marL="499745" indent="-229235">
              <a:lnSpc>
                <a:spcPct val="100000"/>
              </a:lnSpc>
              <a:spcBef>
                <a:spcPts val="1300"/>
              </a:spcBef>
              <a:buSzPct val="95833"/>
              <a:buFont typeface="Times New Roman"/>
              <a:buAutoNum type="arabicPeriod" startAt="2"/>
              <a:tabLst>
                <a:tab pos="500380" algn="l"/>
              </a:tabLst>
            </a:pPr>
            <a:r>
              <a:rPr dirty="0" sz="2400">
                <a:latin typeface="微软雅黑"/>
                <a:cs typeface="微软雅黑"/>
              </a:rPr>
              <a:t>核半径</a:t>
            </a:r>
            <a:r>
              <a:rPr dirty="0" sz="2400" spc="-5" i="1">
                <a:latin typeface="Times New Roman"/>
                <a:cs typeface="Times New Roman"/>
              </a:rPr>
              <a:t>R</a:t>
            </a:r>
            <a:r>
              <a:rPr dirty="0" sz="2400">
                <a:latin typeface="微软雅黑"/>
                <a:cs typeface="微软雅黑"/>
              </a:rPr>
              <a:t>的数量级为</a:t>
            </a:r>
            <a:r>
              <a:rPr dirty="0" sz="2400">
                <a:latin typeface="Times New Roman"/>
                <a:cs typeface="Times New Roman"/>
              </a:rPr>
              <a:t>10</a:t>
            </a:r>
            <a:r>
              <a:rPr dirty="0" baseline="21505" sz="2325">
                <a:latin typeface="Times New Roman"/>
                <a:cs typeface="Times New Roman"/>
              </a:rPr>
              <a:t>-15</a:t>
            </a:r>
            <a:r>
              <a:rPr dirty="0" sz="2400">
                <a:latin typeface="Times New Roman"/>
                <a:cs typeface="Times New Roman"/>
              </a:rPr>
              <a:t>m</a:t>
            </a:r>
            <a:r>
              <a:rPr dirty="0" sz="2400">
                <a:latin typeface="微软雅黑"/>
                <a:cs typeface="微软雅黑"/>
              </a:rPr>
              <a:t>，约为原子半径的十万分之一。</a:t>
            </a:r>
            <a:endParaRPr sz="2400">
              <a:latin typeface="微软雅黑"/>
              <a:cs typeface="微软雅黑"/>
            </a:endParaRPr>
          </a:p>
          <a:p>
            <a:pPr marL="4432300">
              <a:lnSpc>
                <a:spcPct val="100000"/>
              </a:lnSpc>
              <a:spcBef>
                <a:spcPts val="1320"/>
              </a:spcBef>
            </a:pP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原子内部是很“空旷”的</a:t>
            </a: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415" y="810199"/>
            <a:ext cx="11094085" cy="5417820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1720"/>
              </a:spcBef>
            </a:pPr>
            <a:r>
              <a:rPr dirty="0" sz="2800">
                <a:latin typeface="微软雅黑"/>
                <a:cs typeface="微软雅黑"/>
              </a:rPr>
              <a:t>四</a:t>
            </a:r>
            <a:r>
              <a:rPr dirty="0" sz="2800" spc="-5">
                <a:latin typeface="微软雅黑"/>
                <a:cs typeface="微软雅黑"/>
              </a:rPr>
              <a:t>.</a:t>
            </a:r>
            <a:r>
              <a:rPr dirty="0" sz="2800">
                <a:latin typeface="微软雅黑"/>
                <a:cs typeface="微软雅黑"/>
              </a:rPr>
              <a:t>原子的核式结构模型与经典理论的矛</a:t>
            </a:r>
            <a:r>
              <a:rPr dirty="0" sz="2800" spc="-5">
                <a:latin typeface="微软雅黑"/>
                <a:cs typeface="微软雅黑"/>
              </a:rPr>
              <a:t>盾</a:t>
            </a:r>
            <a:endParaRPr sz="2800">
              <a:latin typeface="微软雅黑"/>
              <a:cs typeface="微软雅黑"/>
            </a:endParaRPr>
          </a:p>
          <a:p>
            <a:pPr marL="12700" marR="5080" indent="558800">
              <a:lnSpc>
                <a:spcPct val="125000"/>
              </a:lnSpc>
              <a:spcBef>
                <a:spcPts val="615"/>
              </a:spcBef>
            </a:pPr>
            <a:r>
              <a:rPr dirty="0" sz="2200" spc="5">
                <a:latin typeface="微软雅黑"/>
                <a:cs typeface="微软雅黑"/>
              </a:rPr>
              <a:t>卢瑟福提出的核式结构模型，很好地解释了</a:t>
            </a:r>
            <a:r>
              <a:rPr dirty="0" sz="2200" i="1">
                <a:latin typeface="Times New Roman"/>
                <a:cs typeface="Times New Roman"/>
              </a:rPr>
              <a:t>α</a:t>
            </a:r>
            <a:r>
              <a:rPr dirty="0" sz="2200" spc="5">
                <a:latin typeface="微软雅黑"/>
                <a:cs typeface="微软雅黑"/>
              </a:rPr>
              <a:t>粒子散射实验，开辟了研究原</a:t>
            </a:r>
            <a:r>
              <a:rPr dirty="0" sz="2200" spc="10">
                <a:latin typeface="微软雅黑"/>
                <a:cs typeface="微软雅黑"/>
              </a:rPr>
              <a:t>子结构的</a:t>
            </a:r>
            <a:r>
              <a:rPr dirty="0" sz="2200" spc="-5">
                <a:latin typeface="微软雅黑"/>
                <a:cs typeface="微软雅黑"/>
              </a:rPr>
              <a:t>新 </a:t>
            </a:r>
            <a:r>
              <a:rPr dirty="0" sz="2200">
                <a:latin typeface="微软雅黑"/>
                <a:cs typeface="微软雅黑"/>
              </a:rPr>
              <a:t>思路，但它与经典理论存在矛盾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  <a:p>
            <a:pPr algn="just" marL="32384" marR="3490595" indent="558800">
              <a:lnSpc>
                <a:spcPts val="3300"/>
              </a:lnSpc>
              <a:spcBef>
                <a:spcPts val="180"/>
              </a:spcBef>
            </a:pPr>
            <a:r>
              <a:rPr dirty="0" sz="2200" spc="5">
                <a:latin typeface="微软雅黑"/>
                <a:cs typeface="微软雅黑"/>
              </a:rPr>
              <a:t>在核式结构模型中，电子绕原子核做圆</a:t>
            </a:r>
            <a:r>
              <a:rPr dirty="0" sz="2200" spc="10">
                <a:latin typeface="微软雅黑"/>
                <a:cs typeface="微软雅黑"/>
              </a:rPr>
              <a:t>周运动，电子具</a:t>
            </a:r>
            <a:r>
              <a:rPr dirty="0" sz="2200" spc="-5">
                <a:latin typeface="微软雅黑"/>
                <a:cs typeface="微软雅黑"/>
              </a:rPr>
              <a:t>有 </a:t>
            </a:r>
            <a:r>
              <a:rPr dirty="0" sz="2200" spc="5">
                <a:latin typeface="微软雅黑"/>
                <a:cs typeface="微软雅黑"/>
              </a:rPr>
              <a:t>加速度。按照经典电磁理论，带电粒子做加速运</a:t>
            </a:r>
            <a:r>
              <a:rPr dirty="0" sz="2200" spc="10">
                <a:latin typeface="微软雅黑"/>
                <a:cs typeface="微软雅黑"/>
              </a:rPr>
              <a:t>动时，要辐</a:t>
            </a:r>
            <a:r>
              <a:rPr dirty="0" sz="2200" spc="-5">
                <a:latin typeface="微软雅黑"/>
                <a:cs typeface="微软雅黑"/>
              </a:rPr>
              <a:t>射 </a:t>
            </a:r>
            <a:r>
              <a:rPr dirty="0" sz="2200" spc="5">
                <a:latin typeface="微软雅黑"/>
                <a:cs typeface="微软雅黑"/>
              </a:rPr>
              <a:t>电磁波、其能量减小，电子绕核运动的轨道半径</a:t>
            </a:r>
            <a:r>
              <a:rPr dirty="0" sz="2200" spc="10">
                <a:latin typeface="微软雅黑"/>
                <a:cs typeface="微软雅黑"/>
              </a:rPr>
              <a:t>会减小，最</a:t>
            </a:r>
            <a:r>
              <a:rPr dirty="0" sz="2200" spc="-5">
                <a:latin typeface="微软雅黑"/>
                <a:cs typeface="微软雅黑"/>
              </a:rPr>
              <a:t>后 </a:t>
            </a:r>
            <a:r>
              <a:rPr dirty="0" sz="2200">
                <a:latin typeface="微软雅黑"/>
                <a:cs typeface="微软雅黑"/>
              </a:rPr>
              <a:t>落入原子核内。（实验事实：</a:t>
            </a:r>
            <a:r>
              <a:rPr dirty="0" sz="2200" b="1">
                <a:solidFill>
                  <a:srgbClr val="001F5F"/>
                </a:solidFill>
                <a:latin typeface="微软雅黑"/>
                <a:cs typeface="微软雅黑"/>
              </a:rPr>
              <a:t>原子是个稳定的系统。</a:t>
            </a:r>
            <a:r>
              <a:rPr dirty="0" sz="2200" spc="-5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  <a:p>
            <a:pPr algn="just" marL="32384" marR="3490595" indent="558800">
              <a:lnSpc>
                <a:spcPct val="125000"/>
              </a:lnSpc>
              <a:spcBef>
                <a:spcPts val="380"/>
              </a:spcBef>
            </a:pPr>
            <a:r>
              <a:rPr dirty="0" sz="2200" spc="5">
                <a:latin typeface="微软雅黑"/>
                <a:cs typeface="微软雅黑"/>
              </a:rPr>
              <a:t>根据经典电磁理论，电子绕核运动所辐</a:t>
            </a:r>
            <a:r>
              <a:rPr dirty="0" sz="2200" spc="10">
                <a:latin typeface="微软雅黑"/>
                <a:cs typeface="微软雅黑"/>
              </a:rPr>
              <a:t>射的电磁波频率</a:t>
            </a:r>
            <a:r>
              <a:rPr dirty="0" sz="2200" spc="-5">
                <a:latin typeface="微软雅黑"/>
                <a:cs typeface="微软雅黑"/>
              </a:rPr>
              <a:t>应 </a:t>
            </a:r>
            <a:r>
              <a:rPr dirty="0" sz="2200" spc="5">
                <a:latin typeface="微软雅黑"/>
                <a:cs typeface="微软雅黑"/>
              </a:rPr>
              <a:t>当是连续分布的，即形成一个连续的频谱。（实</a:t>
            </a:r>
            <a:r>
              <a:rPr dirty="0" sz="2200" spc="10">
                <a:latin typeface="微软雅黑"/>
                <a:cs typeface="微软雅黑"/>
              </a:rPr>
              <a:t>验事实：</a:t>
            </a:r>
            <a:r>
              <a:rPr dirty="0" sz="2200" spc="10" b="1">
                <a:solidFill>
                  <a:srgbClr val="001F5F"/>
                </a:solidFill>
                <a:latin typeface="微软雅黑"/>
                <a:cs typeface="微软雅黑"/>
              </a:rPr>
              <a:t>原</a:t>
            </a:r>
            <a:r>
              <a:rPr dirty="0" sz="2200" spc="-5" b="1">
                <a:solidFill>
                  <a:srgbClr val="001F5F"/>
                </a:solidFill>
                <a:latin typeface="微软雅黑"/>
                <a:cs typeface="微软雅黑"/>
              </a:rPr>
              <a:t>子 </a:t>
            </a:r>
            <a:r>
              <a:rPr dirty="0" sz="2200" b="1">
                <a:solidFill>
                  <a:srgbClr val="001F5F"/>
                </a:solidFill>
                <a:latin typeface="微软雅黑"/>
                <a:cs typeface="微软雅黑"/>
              </a:rPr>
              <a:t>光谱是线状谱。</a:t>
            </a:r>
            <a:r>
              <a:rPr dirty="0" sz="2200" spc="-5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  <a:p>
            <a:pPr marL="32384" marR="3490595" indent="628650">
              <a:lnSpc>
                <a:spcPct val="125000"/>
              </a:lnSpc>
            </a:pPr>
            <a:r>
              <a:rPr dirty="0" sz="2200" spc="75">
                <a:latin typeface="微软雅黑"/>
                <a:cs typeface="微软雅黑"/>
              </a:rPr>
              <a:t>面对这些问题，</a:t>
            </a:r>
            <a:r>
              <a:rPr dirty="0" sz="2200" spc="80">
                <a:latin typeface="微软雅黑"/>
                <a:cs typeface="微软雅黑"/>
              </a:rPr>
              <a:t>卢瑟福的学生玻尔提出了新的原子结</a:t>
            </a:r>
            <a:r>
              <a:rPr dirty="0" sz="2200" spc="-5">
                <a:latin typeface="微软雅黑"/>
                <a:cs typeface="微软雅黑"/>
              </a:rPr>
              <a:t>构 </a:t>
            </a:r>
            <a:r>
              <a:rPr dirty="0" sz="2200">
                <a:latin typeface="微软雅黑"/>
                <a:cs typeface="微软雅黑"/>
              </a:rPr>
              <a:t>模型</a:t>
            </a:r>
            <a:r>
              <a:rPr dirty="0" sz="2200" spc="-5">
                <a:latin typeface="微软雅黑"/>
                <a:cs typeface="微软雅黑"/>
              </a:rPr>
              <a:t>。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80831" y="2033016"/>
            <a:ext cx="3621024" cy="41635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190" y="1113472"/>
            <a:ext cx="1106741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0">
              <a:lnSpc>
                <a:spcPct val="125000"/>
              </a:lnSpc>
              <a:spcBef>
                <a:spcPts val="100"/>
              </a:spcBef>
            </a:pPr>
            <a:r>
              <a:rPr dirty="0" sz="2400" spc="60">
                <a:latin typeface="微软雅黑"/>
                <a:cs typeface="微软雅黑"/>
              </a:rPr>
              <a:t>例题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1908</a:t>
            </a:r>
            <a:r>
              <a:rPr dirty="0" sz="2400" spc="60">
                <a:latin typeface="微软雅黑"/>
                <a:cs typeface="微软雅黑"/>
              </a:rPr>
              <a:t>年，卢瑟福的助手盖革在用闪烁法观</a:t>
            </a:r>
            <a:r>
              <a:rPr dirty="0" sz="2400" spc="65">
                <a:latin typeface="微软雅黑"/>
                <a:cs typeface="微软雅黑"/>
              </a:rPr>
              <a:t>察</a:t>
            </a:r>
            <a:r>
              <a:rPr dirty="0" sz="2400" spc="65" i="1">
                <a:latin typeface="Times New Roman"/>
                <a:cs typeface="Times New Roman"/>
              </a:rPr>
              <a:t>α</a:t>
            </a:r>
            <a:r>
              <a:rPr dirty="0" sz="2400" spc="65">
                <a:latin typeface="微软雅黑"/>
                <a:cs typeface="微软雅黑"/>
              </a:rPr>
              <a:t>粒子散射时，发现：在厚</a:t>
            </a:r>
            <a:r>
              <a:rPr dirty="0" sz="2400">
                <a:latin typeface="微软雅黑"/>
                <a:cs typeface="微软雅黑"/>
              </a:rPr>
              <a:t>度 相同的情况下，金箔的散射作用比铝箔强。请你分析原因。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50035" y="4407128"/>
            <a:ext cx="637540" cy="0"/>
          </a:xfrm>
          <a:custGeom>
            <a:avLst/>
            <a:gdLst/>
            <a:ahLst/>
            <a:cxnLst/>
            <a:rect l="l" t="t" r="r" b="b"/>
            <a:pathLst>
              <a:path w="637540" h="0">
                <a:moveTo>
                  <a:pt x="0" y="0"/>
                </a:moveTo>
                <a:lnTo>
                  <a:pt x="637222" y="0"/>
                </a:lnTo>
              </a:path>
            </a:pathLst>
          </a:custGeom>
          <a:ln w="240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5315" y="4191203"/>
            <a:ext cx="10362565" cy="14916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2834005">
              <a:lnSpc>
                <a:spcPct val="100000"/>
              </a:lnSpc>
              <a:spcBef>
                <a:spcPts val="90"/>
              </a:spcBef>
            </a:pPr>
            <a:r>
              <a:rPr dirty="0" baseline="-24531" sz="5775" spc="480" i="1">
                <a:latin typeface="Times New Roman"/>
                <a:cs typeface="Times New Roman"/>
              </a:rPr>
              <a:t>r</a:t>
            </a:r>
            <a:r>
              <a:rPr dirty="0" sz="2200" spc="1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答案：金的原子序数大，</a:t>
            </a:r>
            <a:r>
              <a:rPr dirty="0" sz="2400" i="1">
                <a:latin typeface="Times New Roman"/>
                <a:cs typeface="Times New Roman"/>
              </a:rPr>
              <a:t>r</a:t>
            </a:r>
            <a:r>
              <a:rPr dirty="0" sz="2400">
                <a:latin typeface="微软雅黑"/>
                <a:cs typeface="微软雅黑"/>
              </a:rPr>
              <a:t>一定时，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粒子与金核间的库仑斥力大，散射明显。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6669" y="4029379"/>
            <a:ext cx="1795780" cy="6108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850" spc="-10" i="1">
                <a:latin typeface="Times New Roman"/>
                <a:cs typeface="Times New Roman"/>
              </a:rPr>
              <a:t>F </a:t>
            </a:r>
            <a:r>
              <a:rPr dirty="0" sz="3850" spc="-10">
                <a:latin typeface="Symbol"/>
                <a:cs typeface="Symbol"/>
              </a:rPr>
              <a:t></a:t>
            </a:r>
            <a:r>
              <a:rPr dirty="0" sz="3850" spc="-10">
                <a:latin typeface="Times New Roman"/>
                <a:cs typeface="Times New Roman"/>
              </a:rPr>
              <a:t> </a:t>
            </a:r>
            <a:r>
              <a:rPr dirty="0" sz="3850" spc="-5" i="1">
                <a:latin typeface="Times New Roman"/>
                <a:cs typeface="Times New Roman"/>
              </a:rPr>
              <a:t>k</a:t>
            </a:r>
            <a:r>
              <a:rPr dirty="0" sz="3850" spc="140" i="1">
                <a:latin typeface="Times New Roman"/>
                <a:cs typeface="Times New Roman"/>
              </a:rPr>
              <a:t> </a:t>
            </a:r>
            <a:r>
              <a:rPr dirty="0" baseline="34632" sz="5775" spc="-22" i="1">
                <a:latin typeface="Times New Roman"/>
                <a:cs typeface="Times New Roman"/>
              </a:rPr>
              <a:t>Qq</a:t>
            </a:r>
            <a:endParaRPr baseline="34632" sz="57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652" y="1065847"/>
            <a:ext cx="11224895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4800">
              <a:lnSpc>
                <a:spcPct val="125000"/>
              </a:lnSpc>
              <a:spcBef>
                <a:spcPts val="100"/>
              </a:spcBef>
            </a:pPr>
            <a:r>
              <a:rPr dirty="0" sz="2400" spc="45">
                <a:latin typeface="微软雅黑"/>
                <a:cs typeface="微软雅黑"/>
              </a:rPr>
              <a:t>例题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45" i="1">
                <a:latin typeface="Times New Roman"/>
                <a:cs typeface="Times New Roman"/>
              </a:rPr>
              <a:t>α</a:t>
            </a:r>
            <a:r>
              <a:rPr dirty="0" sz="2400" spc="45">
                <a:latin typeface="微软雅黑"/>
                <a:cs typeface="微软雅黑"/>
              </a:rPr>
              <a:t>粒子散射实验的装置示</a:t>
            </a:r>
            <a:r>
              <a:rPr dirty="0" sz="2400" spc="50">
                <a:latin typeface="微软雅黑"/>
                <a:cs typeface="微软雅黑"/>
              </a:rPr>
              <a:t>意图如图所示，关于显微镜（含荧光屏）转动到</a:t>
            </a:r>
            <a:r>
              <a:rPr dirty="0" sz="2400">
                <a:latin typeface="微软雅黑"/>
                <a:cs typeface="微软雅黑"/>
              </a:rPr>
              <a:t>图 中</a:t>
            </a:r>
            <a:r>
              <a:rPr dirty="0" sz="2400" spc="-5" i="1">
                <a:latin typeface="Times New Roman"/>
                <a:cs typeface="Times New Roman"/>
              </a:rPr>
              <a:t>A</a:t>
            </a:r>
            <a:r>
              <a:rPr dirty="0" sz="2400">
                <a:latin typeface="微软雅黑"/>
                <a:cs typeface="微软雅黑"/>
              </a:rPr>
              <a:t>、</a:t>
            </a: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sz="2400">
                <a:latin typeface="微软雅黑"/>
                <a:cs typeface="微软雅黑"/>
              </a:rPr>
              <a:t>、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、</a:t>
            </a:r>
            <a:r>
              <a:rPr dirty="0" sz="2400" i="1">
                <a:latin typeface="Times New Roman"/>
                <a:cs typeface="Times New Roman"/>
              </a:rPr>
              <a:t>D</a:t>
            </a:r>
            <a:r>
              <a:rPr dirty="0" sz="2400">
                <a:latin typeface="微软雅黑"/>
                <a:cs typeface="微软雅黑"/>
              </a:rPr>
              <a:t>四个位置时所观察到的现象，下述说法中正确的是</a:t>
            </a:r>
            <a:endParaRPr sz="2400">
              <a:latin typeface="微软雅黑"/>
              <a:cs typeface="微软雅黑"/>
            </a:endParaRPr>
          </a:p>
          <a:p>
            <a:pPr marL="826135" indent="-525780">
              <a:lnSpc>
                <a:spcPct val="100000"/>
              </a:lnSpc>
              <a:spcBef>
                <a:spcPts val="72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放在</a:t>
            </a:r>
            <a:r>
              <a:rPr dirty="0" sz="2400" spc="-5" i="1">
                <a:latin typeface="Times New Roman"/>
                <a:cs typeface="Times New Roman"/>
              </a:rPr>
              <a:t>A</a:t>
            </a:r>
            <a:r>
              <a:rPr dirty="0" sz="2400">
                <a:latin typeface="微软雅黑"/>
                <a:cs typeface="微软雅黑"/>
              </a:rPr>
              <a:t>位置时，相同时间内观察到屏上的闪光次数最多</a:t>
            </a:r>
            <a:endParaRPr sz="2400">
              <a:latin typeface="微软雅黑"/>
              <a:cs typeface="微软雅黑"/>
            </a:endParaRPr>
          </a:p>
          <a:p>
            <a:pPr marL="826135" indent="-508634">
              <a:lnSpc>
                <a:spcPct val="100000"/>
              </a:lnSpc>
              <a:spcBef>
                <a:spcPts val="72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放在</a:t>
            </a: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sz="2400">
                <a:latin typeface="微软雅黑"/>
                <a:cs typeface="微软雅黑"/>
              </a:rPr>
              <a:t>位置时，相同时间内观察到屏上的闪光次数只比</a:t>
            </a:r>
            <a:r>
              <a:rPr dirty="0" sz="2400" spc="-5" i="1">
                <a:latin typeface="Times New Roman"/>
                <a:cs typeface="Times New Roman"/>
              </a:rPr>
              <a:t>A</a:t>
            </a:r>
            <a:r>
              <a:rPr dirty="0" sz="2400">
                <a:latin typeface="微软雅黑"/>
                <a:cs typeface="微软雅黑"/>
              </a:rPr>
              <a:t>位置稍少些</a:t>
            </a:r>
            <a:endParaRPr sz="2400">
              <a:latin typeface="微软雅黑"/>
              <a:cs typeface="微软雅黑"/>
            </a:endParaRPr>
          </a:p>
          <a:p>
            <a:pPr marL="826135" indent="-508634">
              <a:lnSpc>
                <a:spcPct val="100000"/>
              </a:lnSpc>
              <a:spcBef>
                <a:spcPts val="72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放在</a:t>
            </a: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sz="2400">
                <a:latin typeface="微软雅黑"/>
                <a:cs typeface="微软雅黑"/>
              </a:rPr>
              <a:t>位置时，相同时间内观察到屏上的闪光次数要比</a:t>
            </a:r>
            <a:r>
              <a:rPr dirty="0" sz="2400" spc="-5" i="1">
                <a:latin typeface="Times New Roman"/>
                <a:cs typeface="Times New Roman"/>
              </a:rPr>
              <a:t>A</a:t>
            </a:r>
            <a:r>
              <a:rPr dirty="0" sz="2400">
                <a:latin typeface="微软雅黑"/>
                <a:cs typeface="微软雅黑"/>
              </a:rPr>
              <a:t>位置少很多</a:t>
            </a:r>
            <a:endParaRPr sz="2400">
              <a:latin typeface="微软雅黑"/>
              <a:cs typeface="微软雅黑"/>
            </a:endParaRPr>
          </a:p>
          <a:p>
            <a:pPr marL="843280" indent="-525780">
              <a:lnSpc>
                <a:spcPct val="100000"/>
              </a:lnSpc>
              <a:spcBef>
                <a:spcPts val="720"/>
              </a:spcBef>
              <a:buSzPct val="95833"/>
              <a:buFont typeface="Times New Roman"/>
              <a:buAutoNum type="alphaUcPeriod"/>
              <a:tabLst>
                <a:tab pos="843280" algn="l"/>
              </a:tabLst>
            </a:pPr>
            <a:r>
              <a:rPr dirty="0" sz="2400">
                <a:latin typeface="微软雅黑"/>
                <a:cs typeface="微软雅黑"/>
              </a:rPr>
              <a:t>放在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、</a:t>
            </a:r>
            <a:r>
              <a:rPr dirty="0" sz="2400" i="1">
                <a:latin typeface="Times New Roman"/>
                <a:cs typeface="Times New Roman"/>
              </a:rPr>
              <a:t>D</a:t>
            </a:r>
            <a:r>
              <a:rPr dirty="0" sz="2400">
                <a:latin typeface="微软雅黑"/>
                <a:cs typeface="微软雅黑"/>
              </a:rPr>
              <a:t>位置时，屏上观察不到闪光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85759" y="3451859"/>
            <a:ext cx="3784092" cy="3012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35977" y="5622925"/>
            <a:ext cx="1363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答案：</a:t>
            </a:r>
            <a:r>
              <a:rPr dirty="0" sz="2400">
                <a:latin typeface="Times New Roman"/>
                <a:cs typeface="Times New Roman"/>
              </a:rPr>
              <a:t>AC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652" y="1004887"/>
            <a:ext cx="11216640" cy="26009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400">
                <a:latin typeface="微软雅黑"/>
                <a:cs typeface="微软雅黑"/>
              </a:rPr>
              <a:t>例题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>
                <a:latin typeface="微软雅黑"/>
                <a:cs typeface="微软雅黑"/>
              </a:rPr>
              <a:t>下列对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粒子散射实验的解释，正确的有</a:t>
            </a:r>
            <a:endParaRPr sz="2400">
              <a:latin typeface="微软雅黑"/>
              <a:cs typeface="微软雅黑"/>
            </a:endParaRPr>
          </a:p>
          <a:p>
            <a:pPr marL="826135" indent="-525780">
              <a:lnSpc>
                <a:spcPct val="100000"/>
              </a:lnSpc>
              <a:spcBef>
                <a:spcPts val="60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使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粒子产生偏转的主要原因是原子中电子对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粒子的作用力</a:t>
            </a:r>
            <a:endParaRPr sz="2400">
              <a:latin typeface="微软雅黑"/>
              <a:cs typeface="微软雅黑"/>
            </a:endParaRPr>
          </a:p>
          <a:p>
            <a:pPr marL="826135" indent="-508634">
              <a:lnSpc>
                <a:spcPct val="100000"/>
              </a:lnSpc>
              <a:spcBef>
                <a:spcPts val="60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使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粒子产生偏转的力是库仑力</a:t>
            </a:r>
            <a:endParaRPr sz="2400">
              <a:latin typeface="微软雅黑"/>
              <a:cs typeface="微软雅黑"/>
            </a:endParaRPr>
          </a:p>
          <a:p>
            <a:pPr marL="12700" marR="5080" indent="304800">
              <a:lnSpc>
                <a:spcPct val="100000"/>
              </a:lnSpc>
              <a:spcBef>
                <a:spcPts val="60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原子核很小，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粒子接近它的机会很小，所以绝大多数的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粒子仍沿原来的方向 前进</a:t>
            </a:r>
            <a:endParaRPr sz="2400">
              <a:latin typeface="微软雅黑"/>
              <a:cs typeface="微软雅黑"/>
            </a:endParaRPr>
          </a:p>
          <a:p>
            <a:pPr marL="843280" indent="-525780">
              <a:lnSpc>
                <a:spcPct val="100000"/>
              </a:lnSpc>
              <a:spcBef>
                <a:spcPts val="600"/>
              </a:spcBef>
              <a:buSzPct val="95833"/>
              <a:buFont typeface="Times New Roman"/>
              <a:buAutoNum type="alphaUcPeriod"/>
              <a:tabLst>
                <a:tab pos="843280" algn="l"/>
              </a:tabLst>
            </a:pPr>
            <a:r>
              <a:rPr dirty="0" sz="2400">
                <a:latin typeface="微软雅黑"/>
                <a:cs typeface="微软雅黑"/>
              </a:rPr>
              <a:t>能产生大角度偏转的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粒子是穿过原子时离原子核近的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977" y="5621985"/>
            <a:ext cx="156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答案：</a:t>
            </a:r>
            <a:r>
              <a:rPr dirty="0" sz="2400" spc="-5">
                <a:latin typeface="Times New Roman"/>
                <a:cs typeface="Times New Roman"/>
              </a:rPr>
              <a:t>BC</a:t>
            </a:r>
            <a:r>
              <a:rPr dirty="0" sz="240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8664" y="3685032"/>
            <a:ext cx="3227831" cy="2964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17180" y="2208276"/>
            <a:ext cx="3372612" cy="3136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04190" y="1065847"/>
            <a:ext cx="11067415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81000">
              <a:lnSpc>
                <a:spcPct val="125000"/>
              </a:lnSpc>
              <a:spcBef>
                <a:spcPts val="100"/>
              </a:spcBef>
            </a:pPr>
            <a:r>
              <a:rPr dirty="0" sz="2400" spc="65">
                <a:latin typeface="微软雅黑"/>
                <a:cs typeface="微软雅黑"/>
              </a:rPr>
              <a:t>例题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微软雅黑"/>
                <a:cs typeface="微软雅黑"/>
              </a:rPr>
              <a:t>根据</a:t>
            </a:r>
            <a:r>
              <a:rPr dirty="0" sz="2400" spc="65" i="1">
                <a:latin typeface="Times New Roman"/>
                <a:cs typeface="Times New Roman"/>
              </a:rPr>
              <a:t>α</a:t>
            </a:r>
            <a:r>
              <a:rPr dirty="0" sz="2400" spc="65">
                <a:latin typeface="微软雅黑"/>
                <a:cs typeface="微软雅黑"/>
              </a:rPr>
              <a:t>粒子散射实验，卢瑟福提出了原子的核式结构模型。图中虚</a:t>
            </a:r>
            <a:r>
              <a:rPr dirty="0" sz="2400" spc="70">
                <a:latin typeface="微软雅黑"/>
                <a:cs typeface="微软雅黑"/>
              </a:rPr>
              <a:t>线表</a:t>
            </a:r>
            <a:r>
              <a:rPr dirty="0" sz="2400">
                <a:latin typeface="微软雅黑"/>
                <a:cs typeface="微软雅黑"/>
              </a:rPr>
              <a:t>示 </a:t>
            </a:r>
            <a:r>
              <a:rPr dirty="0" sz="2400" spc="45">
                <a:latin typeface="微软雅黑"/>
                <a:cs typeface="微软雅黑"/>
              </a:rPr>
              <a:t>原子核所形成的电场的等势线，实线表示一个</a:t>
            </a:r>
            <a:r>
              <a:rPr dirty="0" sz="2400" spc="45" i="1">
                <a:latin typeface="Times New Roman"/>
                <a:cs typeface="Times New Roman"/>
              </a:rPr>
              <a:t>α</a:t>
            </a:r>
            <a:r>
              <a:rPr dirty="0" sz="2400" spc="45">
                <a:latin typeface="微软雅黑"/>
                <a:cs typeface="微软雅黑"/>
              </a:rPr>
              <a:t>粒子的运动轨迹。在</a:t>
            </a:r>
            <a:r>
              <a:rPr dirty="0" sz="2400" spc="45" i="1">
                <a:latin typeface="Times New Roman"/>
                <a:cs typeface="Times New Roman"/>
              </a:rPr>
              <a:t>α</a:t>
            </a:r>
            <a:r>
              <a:rPr dirty="0" sz="2400" spc="45">
                <a:latin typeface="微软雅黑"/>
                <a:cs typeface="微软雅黑"/>
              </a:rPr>
              <a:t>粒子从</a:t>
            </a:r>
            <a:r>
              <a:rPr dirty="0" sz="2400" spc="45" i="1">
                <a:latin typeface="Times New Roman"/>
                <a:cs typeface="Times New Roman"/>
              </a:rPr>
              <a:t>a</a:t>
            </a:r>
            <a:r>
              <a:rPr dirty="0" sz="2400" spc="50">
                <a:latin typeface="微软雅黑"/>
                <a:cs typeface="微软雅黑"/>
              </a:rPr>
              <a:t>运</a:t>
            </a:r>
            <a:r>
              <a:rPr dirty="0" sz="2400">
                <a:latin typeface="微软雅黑"/>
                <a:cs typeface="微软雅黑"/>
              </a:rPr>
              <a:t>动 到</a:t>
            </a:r>
            <a:r>
              <a:rPr dirty="0" sz="2400" i="1">
                <a:latin typeface="Times New Roman"/>
                <a:cs typeface="Times New Roman"/>
              </a:rPr>
              <a:t>b</a:t>
            </a:r>
            <a:r>
              <a:rPr dirty="0" sz="2400">
                <a:latin typeface="微软雅黑"/>
                <a:cs typeface="微软雅黑"/>
              </a:rPr>
              <a:t>、再运动到</a:t>
            </a:r>
            <a:r>
              <a:rPr dirty="0" sz="2400" spc="-5" i="1">
                <a:latin typeface="Times New Roman"/>
                <a:cs typeface="Times New Roman"/>
              </a:rPr>
              <a:t>c</a:t>
            </a:r>
            <a:r>
              <a:rPr dirty="0" sz="2400">
                <a:latin typeface="微软雅黑"/>
                <a:cs typeface="微软雅黑"/>
              </a:rPr>
              <a:t>的过程中，下列说法中正确的是</a:t>
            </a:r>
            <a:endParaRPr sz="2400">
              <a:latin typeface="微软雅黑"/>
              <a:cs typeface="微软雅黑"/>
            </a:endParaRPr>
          </a:p>
          <a:p>
            <a:pPr marL="826135" indent="-525780">
              <a:lnSpc>
                <a:spcPct val="100000"/>
              </a:lnSpc>
              <a:spcBef>
                <a:spcPts val="72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动能先增大，后减小</a:t>
            </a:r>
            <a:endParaRPr sz="2400">
              <a:latin typeface="微软雅黑"/>
              <a:cs typeface="微软雅黑"/>
            </a:endParaRPr>
          </a:p>
          <a:p>
            <a:pPr marL="826135" indent="-508634">
              <a:lnSpc>
                <a:spcPct val="100000"/>
              </a:lnSpc>
              <a:spcBef>
                <a:spcPts val="72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电势能先减小，后增大</a:t>
            </a:r>
            <a:endParaRPr sz="2400">
              <a:latin typeface="微软雅黑"/>
              <a:cs typeface="微软雅黑"/>
            </a:endParaRPr>
          </a:p>
          <a:p>
            <a:pPr marL="826135" indent="-508634">
              <a:lnSpc>
                <a:spcPct val="100000"/>
              </a:lnSpc>
              <a:spcBef>
                <a:spcPts val="720"/>
              </a:spcBef>
              <a:buSzPct val="95833"/>
              <a:buFont typeface="Times New Roman"/>
              <a:buAutoNum type="alphaUcPeriod"/>
              <a:tabLst>
                <a:tab pos="826135" algn="l"/>
              </a:tabLst>
            </a:pPr>
            <a:r>
              <a:rPr dirty="0" sz="2400">
                <a:latin typeface="微软雅黑"/>
                <a:cs typeface="微软雅黑"/>
              </a:rPr>
              <a:t>电场力先做负功，后做正功，总功等于零</a:t>
            </a:r>
            <a:endParaRPr sz="2400">
              <a:latin typeface="微软雅黑"/>
              <a:cs typeface="微软雅黑"/>
            </a:endParaRPr>
          </a:p>
          <a:p>
            <a:pPr marL="843280" indent="-525780">
              <a:lnSpc>
                <a:spcPct val="100000"/>
              </a:lnSpc>
              <a:spcBef>
                <a:spcPts val="720"/>
              </a:spcBef>
              <a:buSzPct val="95833"/>
              <a:buFont typeface="Times New Roman"/>
              <a:buAutoNum type="alphaUcPeriod"/>
              <a:tabLst>
                <a:tab pos="843280" algn="l"/>
              </a:tabLst>
            </a:pPr>
            <a:r>
              <a:rPr dirty="0" sz="2400">
                <a:latin typeface="微软雅黑"/>
                <a:cs typeface="微软雅黑"/>
              </a:rPr>
              <a:t>加速度先减小，后增大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977" y="5622925"/>
            <a:ext cx="1143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答案：</a:t>
            </a:r>
            <a:r>
              <a:rPr dirty="0" sz="240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8777" y="1145222"/>
            <a:ext cx="110775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0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例题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>
                <a:latin typeface="微软雅黑"/>
                <a:cs typeface="微软雅黑"/>
              </a:rPr>
              <a:t>在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粒子散射实验中，假定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粒子的初动能为</a:t>
            </a:r>
            <a:r>
              <a:rPr dirty="0" sz="2400" i="1">
                <a:latin typeface="Times New Roman"/>
                <a:cs typeface="Times New Roman"/>
              </a:rPr>
              <a:t>E</a:t>
            </a:r>
            <a:r>
              <a:rPr dirty="0" baseline="-17921" sz="2325">
                <a:latin typeface="Times New Roman"/>
                <a:cs typeface="Times New Roman"/>
              </a:rPr>
              <a:t>0</a:t>
            </a:r>
            <a:r>
              <a:rPr dirty="0" sz="2400">
                <a:latin typeface="微软雅黑"/>
                <a:cs typeface="微软雅黑"/>
              </a:rPr>
              <a:t>，试估算</a:t>
            </a:r>
            <a:r>
              <a:rPr dirty="0" sz="2400" i="1">
                <a:latin typeface="Times New Roman"/>
                <a:cs typeface="Times New Roman"/>
              </a:rPr>
              <a:t>α</a:t>
            </a:r>
            <a:r>
              <a:rPr dirty="0" sz="2400">
                <a:latin typeface="微软雅黑"/>
                <a:cs typeface="微软雅黑"/>
              </a:rPr>
              <a:t>粒子与金核（原子 序数为</a:t>
            </a:r>
            <a:r>
              <a:rPr dirty="0" sz="2400" i="1">
                <a:latin typeface="Times New Roman"/>
                <a:cs typeface="Times New Roman"/>
              </a:rPr>
              <a:t>Z</a:t>
            </a:r>
            <a:r>
              <a:rPr dirty="0" sz="2400">
                <a:latin typeface="微软雅黑"/>
                <a:cs typeface="微软雅黑"/>
              </a:rPr>
              <a:t>）正碰时的最小距离。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9777" y="215106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8978" y="1851228"/>
            <a:ext cx="445134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15" i="1">
                <a:latin typeface="Times New Roman"/>
                <a:cs typeface="Times New Roman"/>
              </a:rPr>
              <a:t>q</a:t>
            </a:r>
            <a:r>
              <a:rPr dirty="0" sz="2650" spc="-130" i="1">
                <a:latin typeface="Times New Roman"/>
                <a:cs typeface="Times New Roman"/>
              </a:rPr>
              <a:t> </a:t>
            </a:r>
            <a:r>
              <a:rPr dirty="0" sz="2650" spc="15" i="1">
                <a:latin typeface="Times New Roman"/>
                <a:cs typeface="Times New Roman"/>
              </a:rPr>
              <a:t>q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27708" y="2330906"/>
            <a:ext cx="15875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10" i="1">
                <a:latin typeface="Times New Roman"/>
                <a:cs typeface="Times New Roman"/>
              </a:rPr>
              <a:t>r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3577" y="2114486"/>
            <a:ext cx="758761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75220" algn="l"/>
              </a:tabLst>
            </a:pPr>
            <a:r>
              <a:rPr dirty="0" sz="2400">
                <a:latin typeface="微软雅黑"/>
                <a:cs typeface="微软雅黑"/>
              </a:rPr>
              <a:t>提示：两个点电荷组成的系统，电势能表达</a:t>
            </a:r>
            <a:r>
              <a:rPr dirty="0" sz="2400" spc="-114">
                <a:latin typeface="微软雅黑"/>
                <a:cs typeface="微软雅黑"/>
              </a:rPr>
              <a:t>式</a:t>
            </a:r>
            <a:r>
              <a:rPr dirty="0" baseline="8385" sz="3975" spc="67" i="1">
                <a:latin typeface="Times New Roman"/>
                <a:cs typeface="Times New Roman"/>
              </a:rPr>
              <a:t>E</a:t>
            </a:r>
            <a:r>
              <a:rPr dirty="0" baseline="-10752" sz="2325" i="1">
                <a:latin typeface="Times New Roman"/>
                <a:cs typeface="Times New Roman"/>
              </a:rPr>
              <a:t>P</a:t>
            </a:r>
            <a:r>
              <a:rPr dirty="0" baseline="-10752" sz="2325" i="1">
                <a:latin typeface="Times New Roman"/>
                <a:cs typeface="Times New Roman"/>
              </a:rPr>
              <a:t> </a:t>
            </a:r>
            <a:r>
              <a:rPr dirty="0" baseline="-10752" sz="2325" spc="217" i="1">
                <a:latin typeface="Times New Roman"/>
                <a:cs typeface="Times New Roman"/>
              </a:rPr>
              <a:t> </a:t>
            </a:r>
            <a:r>
              <a:rPr dirty="0" baseline="8385" sz="3975" spc="30">
                <a:latin typeface="Symbol"/>
                <a:cs typeface="Symbol"/>
              </a:rPr>
              <a:t></a:t>
            </a:r>
            <a:r>
              <a:rPr dirty="0" baseline="8385" sz="3975" spc="-22">
                <a:latin typeface="Times New Roman"/>
                <a:cs typeface="Times New Roman"/>
              </a:rPr>
              <a:t> </a:t>
            </a:r>
            <a:r>
              <a:rPr dirty="0" baseline="8385" sz="3975" spc="22" i="1">
                <a:latin typeface="Times New Roman"/>
                <a:cs typeface="Times New Roman"/>
              </a:rPr>
              <a:t>k</a:t>
            </a:r>
            <a:r>
              <a:rPr dirty="0" baseline="8385" sz="3975" spc="-150" i="1">
                <a:latin typeface="Times New Roman"/>
                <a:cs typeface="Times New Roman"/>
              </a:rPr>
              <a:t> </a:t>
            </a:r>
            <a:r>
              <a:rPr dirty="0" u="heavy" baseline="50179" sz="23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50179" sz="23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50179" sz="2325" spc="2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50179" sz="23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baseline="50179" sz="23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baseline="50179" sz="23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baseline="50179" sz="23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50182" y="5150484"/>
            <a:ext cx="888365" cy="0"/>
          </a:xfrm>
          <a:custGeom>
            <a:avLst/>
            <a:gdLst/>
            <a:ahLst/>
            <a:cxnLst/>
            <a:rect l="l" t="t" r="r" b="b"/>
            <a:pathLst>
              <a:path w="888364" h="0">
                <a:moveTo>
                  <a:pt x="0" y="0"/>
                </a:moveTo>
                <a:lnTo>
                  <a:pt x="888238" y="0"/>
                </a:lnTo>
              </a:path>
            </a:pathLst>
          </a:custGeom>
          <a:ln w="214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84950" y="5150484"/>
            <a:ext cx="1079500" cy="0"/>
          </a:xfrm>
          <a:custGeom>
            <a:avLst/>
            <a:gdLst/>
            <a:ahLst/>
            <a:cxnLst/>
            <a:rect l="l" t="t" r="r" b="b"/>
            <a:pathLst>
              <a:path w="1079500" h="0">
                <a:moveTo>
                  <a:pt x="0" y="0"/>
                </a:moveTo>
                <a:lnTo>
                  <a:pt x="1079233" y="0"/>
                </a:lnTo>
              </a:path>
            </a:pathLst>
          </a:custGeom>
          <a:ln w="214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29036" y="5447881"/>
            <a:ext cx="412115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spc="-15">
                <a:latin typeface="Times New Roman"/>
                <a:cs typeface="Times New Roman"/>
              </a:rPr>
              <a:t>m</a:t>
            </a:r>
            <a:r>
              <a:rPr dirty="0" sz="1950" spc="10">
                <a:latin typeface="Times New Roman"/>
                <a:cs typeface="Times New Roman"/>
              </a:rPr>
              <a:t>in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9480" y="5447881"/>
            <a:ext cx="15113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spc="10">
                <a:latin typeface="Times New Roman"/>
                <a:cs typeface="Times New Roman"/>
              </a:rPr>
              <a:t>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4609" y="4539741"/>
            <a:ext cx="869315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00">
                <a:latin typeface="Times New Roman"/>
                <a:cs typeface="Times New Roman"/>
              </a:rPr>
              <a:t>2</a:t>
            </a:r>
            <a:r>
              <a:rPr dirty="0" sz="3400" spc="-20" i="1">
                <a:latin typeface="Times New Roman"/>
                <a:cs typeface="Times New Roman"/>
              </a:rPr>
              <a:t>e</a:t>
            </a:r>
            <a:r>
              <a:rPr dirty="0" sz="3400" spc="25" i="1">
                <a:latin typeface="Times New Roman"/>
                <a:cs typeface="Times New Roman"/>
              </a:rPr>
              <a:t>Z</a:t>
            </a:r>
            <a:r>
              <a:rPr dirty="0" sz="3400" spc="5" i="1">
                <a:latin typeface="Times New Roman"/>
                <a:cs typeface="Times New Roman"/>
              </a:rPr>
              <a:t>e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9872" y="4539741"/>
            <a:ext cx="1015365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00" spc="55">
                <a:latin typeface="Times New Roman"/>
                <a:cs typeface="Times New Roman"/>
              </a:rPr>
              <a:t>2</a:t>
            </a:r>
            <a:r>
              <a:rPr dirty="0" sz="3400" spc="-20" i="1">
                <a:latin typeface="Times New Roman"/>
                <a:cs typeface="Times New Roman"/>
              </a:rPr>
              <a:t>k</a:t>
            </a:r>
            <a:r>
              <a:rPr dirty="0" sz="3400" spc="25" i="1">
                <a:latin typeface="Times New Roman"/>
                <a:cs typeface="Times New Roman"/>
              </a:rPr>
              <a:t>Z</a:t>
            </a:r>
            <a:r>
              <a:rPr dirty="0" sz="3400" spc="110" i="1">
                <a:latin typeface="Times New Roman"/>
                <a:cs typeface="Times New Roman"/>
              </a:rPr>
              <a:t>e</a:t>
            </a:r>
            <a:r>
              <a:rPr dirty="0" baseline="44159" sz="2925" spc="15">
                <a:latin typeface="Times New Roman"/>
                <a:cs typeface="Times New Roman"/>
              </a:rPr>
              <a:t>2</a:t>
            </a:r>
            <a:endParaRPr baseline="44159" sz="292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8406" y="5152796"/>
            <a:ext cx="290830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400" spc="10" i="1">
                <a:latin typeface="Times New Roman"/>
                <a:cs typeface="Times New Roman"/>
              </a:rPr>
              <a:t>E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6893" y="4813465"/>
            <a:ext cx="1518920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42290" algn="l"/>
                <a:tab pos="1336675" algn="l"/>
              </a:tabLst>
            </a:pPr>
            <a:r>
              <a:rPr dirty="0" sz="3400" spc="-25" i="1">
                <a:latin typeface="Times New Roman"/>
                <a:cs typeface="Times New Roman"/>
              </a:rPr>
              <a:t>E</a:t>
            </a:r>
            <a:r>
              <a:rPr dirty="0" baseline="-25641" sz="2925" spc="15">
                <a:latin typeface="Times New Roman"/>
                <a:cs typeface="Times New Roman"/>
              </a:rPr>
              <a:t>0</a:t>
            </a:r>
            <a:r>
              <a:rPr dirty="0" baseline="-25641" sz="2925">
                <a:latin typeface="Times New Roman"/>
                <a:cs typeface="Times New Roman"/>
              </a:rPr>
              <a:t>	</a:t>
            </a:r>
            <a:r>
              <a:rPr dirty="0" sz="3400" spc="5">
                <a:latin typeface="Symbol"/>
                <a:cs typeface="Symbol"/>
              </a:rPr>
              <a:t></a:t>
            </a:r>
            <a:r>
              <a:rPr dirty="0" sz="3400" spc="-55">
                <a:latin typeface="Times New Roman"/>
                <a:cs typeface="Times New Roman"/>
              </a:rPr>
              <a:t> </a:t>
            </a:r>
            <a:r>
              <a:rPr dirty="0" sz="3400" spc="5" i="1">
                <a:latin typeface="Times New Roman"/>
                <a:cs typeface="Times New Roman"/>
              </a:rPr>
              <a:t>k</a:t>
            </a:r>
            <a:r>
              <a:rPr dirty="0" sz="3400" i="1">
                <a:latin typeface="Times New Roman"/>
                <a:cs typeface="Times New Roman"/>
              </a:rPr>
              <a:t>	</a:t>
            </a:r>
            <a:r>
              <a:rPr dirty="0" baseline="-43300" sz="5100" spc="7" i="1">
                <a:latin typeface="Times New Roman"/>
                <a:cs typeface="Times New Roman"/>
              </a:rPr>
              <a:t>r</a:t>
            </a:r>
            <a:endParaRPr baseline="-43300" sz="5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27752" y="4813465"/>
            <a:ext cx="1463040" cy="546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211580" algn="l"/>
              </a:tabLst>
            </a:pPr>
            <a:r>
              <a:rPr dirty="0" sz="3400" spc="15">
                <a:latin typeface="Symbol"/>
                <a:cs typeface="Symbol"/>
              </a:rPr>
              <a:t></a:t>
            </a:r>
            <a:r>
              <a:rPr dirty="0" sz="3400" spc="-60">
                <a:latin typeface="Times New Roman"/>
                <a:cs typeface="Times New Roman"/>
              </a:rPr>
              <a:t> </a:t>
            </a:r>
            <a:r>
              <a:rPr dirty="0" sz="3400" spc="-320" i="1">
                <a:latin typeface="Times New Roman"/>
                <a:cs typeface="Times New Roman"/>
              </a:rPr>
              <a:t>r</a:t>
            </a:r>
            <a:r>
              <a:rPr dirty="0" baseline="-25641" sz="2925" spc="-22">
                <a:latin typeface="Times New Roman"/>
                <a:cs typeface="Times New Roman"/>
              </a:rPr>
              <a:t>m</a:t>
            </a:r>
            <a:r>
              <a:rPr dirty="0" baseline="-25641" sz="2925" spc="15">
                <a:latin typeface="Times New Roman"/>
                <a:cs typeface="Times New Roman"/>
              </a:rPr>
              <a:t>in</a:t>
            </a:r>
            <a:r>
              <a:rPr dirty="0" baseline="-25641" sz="2925">
                <a:latin typeface="Times New Roman"/>
                <a:cs typeface="Times New Roman"/>
              </a:rPr>
              <a:t>	</a:t>
            </a:r>
            <a:r>
              <a:rPr dirty="0" sz="3400" spc="5">
                <a:latin typeface="Symbol"/>
                <a:cs typeface="Symbol"/>
              </a:rPr>
              <a:t></a:t>
            </a:r>
            <a:endParaRPr sz="3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727" y="891592"/>
            <a:ext cx="4902835" cy="1271270"/>
          </a:xfrm>
          <a:prstGeom prst="rect">
            <a:avLst/>
          </a:prstGeom>
        </p:spPr>
        <p:txBody>
          <a:bodyPr wrap="square" lIns="0" tIns="189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dirty="0" sz="3200" b="1">
                <a:latin typeface="微软雅黑"/>
                <a:cs typeface="微软雅黑"/>
              </a:rPr>
              <a:t>总结：原子的核式结构模</a:t>
            </a:r>
            <a:r>
              <a:rPr dirty="0" sz="3200" spc="5" b="1">
                <a:latin typeface="微软雅黑"/>
                <a:cs typeface="微软雅黑"/>
              </a:rPr>
              <a:t>型</a:t>
            </a:r>
            <a:endParaRPr sz="3200">
              <a:latin typeface="微软雅黑"/>
              <a:cs typeface="微软雅黑"/>
            </a:endParaRPr>
          </a:p>
          <a:p>
            <a:pPr marL="546100">
              <a:lnSpc>
                <a:spcPct val="100000"/>
              </a:lnSpc>
              <a:spcBef>
                <a:spcPts val="1210"/>
              </a:spcBef>
            </a:pPr>
            <a:r>
              <a:rPr dirty="0" sz="2800" spc="-5">
                <a:latin typeface="Times New Roman"/>
                <a:cs typeface="Times New Roman"/>
              </a:rPr>
              <a:t>1.</a:t>
            </a:r>
            <a:r>
              <a:rPr dirty="0" sz="2800">
                <a:latin typeface="微软雅黑"/>
                <a:cs typeface="微软雅黑"/>
              </a:rPr>
              <a:t>原子的核式结构模</a:t>
            </a:r>
            <a:r>
              <a:rPr dirty="0" sz="2800" spc="-5">
                <a:latin typeface="微软雅黑"/>
                <a:cs typeface="微软雅黑"/>
              </a:rPr>
              <a:t>型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327" y="3114159"/>
            <a:ext cx="8966200" cy="985519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800" spc="-5">
                <a:latin typeface="Times New Roman"/>
                <a:cs typeface="Times New Roman"/>
              </a:rPr>
              <a:t>2. </a:t>
            </a:r>
            <a:r>
              <a:rPr dirty="0" sz="2800">
                <a:latin typeface="微软雅黑"/>
                <a:cs typeface="微软雅黑"/>
              </a:rPr>
              <a:t>体会科学探究的过</a:t>
            </a:r>
            <a:r>
              <a:rPr dirty="0" sz="2800" spc="-5">
                <a:latin typeface="微软雅黑"/>
                <a:cs typeface="微软雅黑"/>
              </a:rPr>
              <a:t>程</a:t>
            </a:r>
            <a:endParaRPr sz="2800">
              <a:latin typeface="微软雅黑"/>
              <a:cs typeface="微软雅黑"/>
            </a:endParaRPr>
          </a:p>
          <a:p>
            <a:pPr marL="215900">
              <a:lnSpc>
                <a:spcPct val="100000"/>
              </a:lnSpc>
              <a:spcBef>
                <a:spcPts val="610"/>
              </a:spcBef>
            </a:pPr>
            <a:r>
              <a:rPr dirty="0" sz="2400">
                <a:latin typeface="微软雅黑"/>
                <a:cs typeface="微软雅黑"/>
              </a:rPr>
              <a:t>提出问题、猜想与假设</a:t>
            </a:r>
            <a:r>
              <a:rPr dirty="0" sz="2400">
                <a:latin typeface="Times New Roman"/>
                <a:cs typeface="Times New Roman"/>
              </a:rPr>
              <a:t>(</a:t>
            </a:r>
            <a:r>
              <a:rPr dirty="0" sz="2400">
                <a:latin typeface="微软雅黑"/>
                <a:cs typeface="微软雅黑"/>
              </a:rPr>
              <a:t>模型建构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>
                <a:latin typeface="微软雅黑"/>
                <a:cs typeface="微软雅黑"/>
              </a:rPr>
              <a:t>、推理与论证、质疑与创新</a:t>
            </a:r>
            <a:r>
              <a:rPr dirty="0" sz="2400">
                <a:latin typeface="Times New Roman"/>
                <a:cs typeface="Times New Roman"/>
              </a:rPr>
              <a:t>……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4672" y="2375916"/>
            <a:ext cx="3030220" cy="768350"/>
          </a:xfrm>
          <a:prstGeom prst="rect">
            <a:avLst/>
          </a:prstGeom>
          <a:solidFill>
            <a:srgbClr val="538235"/>
          </a:solidFill>
        </p:spPr>
        <p:txBody>
          <a:bodyPr wrap="square" lIns="0" tIns="38735" rIns="0" bIns="0" rtlCol="0" vert="horz">
            <a:spAutoFit/>
          </a:bodyPr>
          <a:lstStyle/>
          <a:p>
            <a:pPr marL="815975">
              <a:lnSpc>
                <a:spcPct val="100000"/>
              </a:lnSpc>
              <a:spcBef>
                <a:spcPts val="305"/>
              </a:spcBef>
            </a:pPr>
            <a:r>
              <a:rPr dirty="0" sz="2200" b="1">
                <a:solidFill>
                  <a:srgbClr val="FFFFFF"/>
                </a:solidFill>
                <a:latin typeface="微软雅黑"/>
                <a:cs typeface="微软雅黑"/>
              </a:rPr>
              <a:t>电子的发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现</a:t>
            </a:r>
            <a:endParaRPr sz="2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r>
              <a:rPr dirty="0" sz="2200" b="1">
                <a:solidFill>
                  <a:srgbClr val="FFFFFF"/>
                </a:solidFill>
                <a:latin typeface="微软雅黑"/>
                <a:cs typeface="微软雅黑"/>
              </a:rPr>
              <a:t>（开启原子结构的研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究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3937" y="2738081"/>
            <a:ext cx="30416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34917" y="2700908"/>
            <a:ext cx="560070" cy="114300"/>
          </a:xfrm>
          <a:custGeom>
            <a:avLst/>
            <a:gdLst/>
            <a:ahLst/>
            <a:cxnLst/>
            <a:rect l="l" t="t" r="r" b="b"/>
            <a:pathLst>
              <a:path w="560070" h="114300">
                <a:moveTo>
                  <a:pt x="487441" y="44247"/>
                </a:moveTo>
                <a:lnTo>
                  <a:pt x="451713" y="23622"/>
                </a:lnTo>
                <a:lnTo>
                  <a:pt x="445363" y="12636"/>
                </a:lnTo>
                <a:lnTo>
                  <a:pt x="445643" y="9994"/>
                </a:lnTo>
                <a:lnTo>
                  <a:pt x="456730" y="0"/>
                </a:lnTo>
                <a:lnTo>
                  <a:pt x="459384" y="0"/>
                </a:lnTo>
                <a:lnTo>
                  <a:pt x="461987" y="546"/>
                </a:lnTo>
                <a:lnTo>
                  <a:pt x="464413" y="1625"/>
                </a:lnTo>
                <a:lnTo>
                  <a:pt x="537890" y="44030"/>
                </a:lnTo>
                <a:lnTo>
                  <a:pt x="534403" y="44030"/>
                </a:lnTo>
                <a:lnTo>
                  <a:pt x="487441" y="44247"/>
                </a:lnTo>
                <a:close/>
              </a:path>
              <a:path w="560070" h="114300">
                <a:moveTo>
                  <a:pt x="509258" y="56842"/>
                </a:moveTo>
                <a:lnTo>
                  <a:pt x="487441" y="44247"/>
                </a:lnTo>
                <a:lnTo>
                  <a:pt x="534403" y="44030"/>
                </a:lnTo>
                <a:lnTo>
                  <a:pt x="534412" y="45783"/>
                </a:lnTo>
                <a:lnTo>
                  <a:pt x="528015" y="45783"/>
                </a:lnTo>
                <a:lnTo>
                  <a:pt x="509258" y="56842"/>
                </a:lnTo>
                <a:close/>
              </a:path>
              <a:path w="560070" h="114300">
                <a:moveTo>
                  <a:pt x="457263" y="114173"/>
                </a:moveTo>
                <a:lnTo>
                  <a:pt x="445770" y="101638"/>
                </a:lnTo>
                <a:lnTo>
                  <a:pt x="446024" y="98996"/>
                </a:lnTo>
                <a:lnTo>
                  <a:pt x="487538" y="69647"/>
                </a:lnTo>
                <a:lnTo>
                  <a:pt x="534530" y="69430"/>
                </a:lnTo>
                <a:lnTo>
                  <a:pt x="534403" y="44030"/>
                </a:lnTo>
                <a:lnTo>
                  <a:pt x="537890" y="44030"/>
                </a:lnTo>
                <a:lnTo>
                  <a:pt x="559676" y="56603"/>
                </a:lnTo>
                <a:lnTo>
                  <a:pt x="464921" y="112471"/>
                </a:lnTo>
                <a:lnTo>
                  <a:pt x="462508" y="113576"/>
                </a:lnTo>
                <a:lnTo>
                  <a:pt x="459917" y="114147"/>
                </a:lnTo>
                <a:lnTo>
                  <a:pt x="457263" y="114173"/>
                </a:lnTo>
                <a:close/>
              </a:path>
              <a:path w="560070" h="114300">
                <a:moveTo>
                  <a:pt x="114" y="71894"/>
                </a:moveTo>
                <a:lnTo>
                  <a:pt x="0" y="46494"/>
                </a:lnTo>
                <a:lnTo>
                  <a:pt x="487441" y="44247"/>
                </a:lnTo>
                <a:lnTo>
                  <a:pt x="509258" y="56842"/>
                </a:lnTo>
                <a:lnTo>
                  <a:pt x="487538" y="69647"/>
                </a:lnTo>
                <a:lnTo>
                  <a:pt x="114" y="71894"/>
                </a:lnTo>
                <a:close/>
              </a:path>
              <a:path w="560070" h="114300">
                <a:moveTo>
                  <a:pt x="528116" y="67729"/>
                </a:moveTo>
                <a:lnTo>
                  <a:pt x="509258" y="56842"/>
                </a:lnTo>
                <a:lnTo>
                  <a:pt x="528015" y="45783"/>
                </a:lnTo>
                <a:lnTo>
                  <a:pt x="528116" y="67729"/>
                </a:lnTo>
                <a:close/>
              </a:path>
              <a:path w="560070" h="114300">
                <a:moveTo>
                  <a:pt x="534521" y="67729"/>
                </a:moveTo>
                <a:lnTo>
                  <a:pt x="528116" y="67729"/>
                </a:lnTo>
                <a:lnTo>
                  <a:pt x="528015" y="45783"/>
                </a:lnTo>
                <a:lnTo>
                  <a:pt x="534412" y="45783"/>
                </a:lnTo>
                <a:lnTo>
                  <a:pt x="534521" y="67729"/>
                </a:lnTo>
                <a:close/>
              </a:path>
              <a:path w="560070" h="114300">
                <a:moveTo>
                  <a:pt x="487538" y="69647"/>
                </a:moveTo>
                <a:lnTo>
                  <a:pt x="509258" y="56842"/>
                </a:lnTo>
                <a:lnTo>
                  <a:pt x="528116" y="67729"/>
                </a:lnTo>
                <a:lnTo>
                  <a:pt x="534521" y="67729"/>
                </a:lnTo>
                <a:lnTo>
                  <a:pt x="534530" y="69430"/>
                </a:lnTo>
                <a:lnTo>
                  <a:pt x="487538" y="6964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81500" y="2377439"/>
            <a:ext cx="2430780" cy="769620"/>
          </a:xfrm>
          <a:prstGeom prst="rect">
            <a:avLst/>
          </a:prstGeom>
          <a:solidFill>
            <a:srgbClr val="538235"/>
          </a:solidFill>
        </p:spPr>
        <p:txBody>
          <a:bodyPr wrap="square" lIns="0" tIns="39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2200" b="1">
                <a:solidFill>
                  <a:srgbClr val="FFFFFF"/>
                </a:solidFill>
                <a:latin typeface="微软雅黑"/>
                <a:cs typeface="微软雅黑"/>
              </a:rPr>
              <a:t>汤姆孙的原子模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型</a:t>
            </a:r>
            <a:endParaRPr sz="22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dirty="0" sz="2200" b="1">
                <a:solidFill>
                  <a:srgbClr val="FFFFFF"/>
                </a:solidFill>
                <a:latin typeface="微软雅黑"/>
                <a:cs typeface="微软雅黑"/>
              </a:rPr>
              <a:t>（枣糕模型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12470" y="2682506"/>
            <a:ext cx="1133475" cy="114300"/>
          </a:xfrm>
          <a:custGeom>
            <a:avLst/>
            <a:gdLst/>
            <a:ahLst/>
            <a:cxnLst/>
            <a:rect l="l" t="t" r="r" b="b"/>
            <a:pathLst>
              <a:path w="1133475" h="114300">
                <a:moveTo>
                  <a:pt x="1060714" y="43747"/>
                </a:moveTo>
                <a:lnTo>
                  <a:pt x="1024648" y="23761"/>
                </a:lnTo>
                <a:lnTo>
                  <a:pt x="1018108" y="12877"/>
                </a:lnTo>
                <a:lnTo>
                  <a:pt x="1018336" y="10236"/>
                </a:lnTo>
                <a:lnTo>
                  <a:pt x="1031913" y="0"/>
                </a:lnTo>
                <a:lnTo>
                  <a:pt x="1034516" y="507"/>
                </a:lnTo>
                <a:lnTo>
                  <a:pt x="1036955" y="1536"/>
                </a:lnTo>
                <a:lnTo>
                  <a:pt x="1111259" y="42710"/>
                </a:lnTo>
                <a:lnTo>
                  <a:pt x="1107694" y="42710"/>
                </a:lnTo>
                <a:lnTo>
                  <a:pt x="1060714" y="43747"/>
                </a:lnTo>
                <a:close/>
              </a:path>
              <a:path w="1133475" h="114300">
                <a:moveTo>
                  <a:pt x="1082764" y="55966"/>
                </a:moveTo>
                <a:lnTo>
                  <a:pt x="1060714" y="43747"/>
                </a:lnTo>
                <a:lnTo>
                  <a:pt x="1107694" y="42710"/>
                </a:lnTo>
                <a:lnTo>
                  <a:pt x="1107735" y="44576"/>
                </a:lnTo>
                <a:lnTo>
                  <a:pt x="1101331" y="44576"/>
                </a:lnTo>
                <a:lnTo>
                  <a:pt x="1082764" y="55966"/>
                </a:lnTo>
                <a:close/>
              </a:path>
              <a:path w="1133475" h="114300">
                <a:moveTo>
                  <a:pt x="1031773" y="114185"/>
                </a:moveTo>
                <a:lnTo>
                  <a:pt x="1020076" y="101866"/>
                </a:lnTo>
                <a:lnTo>
                  <a:pt x="1020279" y="99225"/>
                </a:lnTo>
                <a:lnTo>
                  <a:pt x="1061276" y="69146"/>
                </a:lnTo>
                <a:lnTo>
                  <a:pt x="1108252" y="68110"/>
                </a:lnTo>
                <a:lnTo>
                  <a:pt x="1107694" y="42710"/>
                </a:lnTo>
                <a:lnTo>
                  <a:pt x="1111259" y="42710"/>
                </a:lnTo>
                <a:lnTo>
                  <a:pt x="1133170" y="54851"/>
                </a:lnTo>
                <a:lnTo>
                  <a:pt x="1039406" y="112356"/>
                </a:lnTo>
                <a:lnTo>
                  <a:pt x="1037005" y="113499"/>
                </a:lnTo>
                <a:lnTo>
                  <a:pt x="1034427" y="114122"/>
                </a:lnTo>
                <a:lnTo>
                  <a:pt x="1031773" y="114185"/>
                </a:lnTo>
                <a:close/>
              </a:path>
              <a:path w="1133475" h="114300">
                <a:moveTo>
                  <a:pt x="558" y="92557"/>
                </a:moveTo>
                <a:lnTo>
                  <a:pt x="0" y="67170"/>
                </a:lnTo>
                <a:lnTo>
                  <a:pt x="1060714" y="43747"/>
                </a:lnTo>
                <a:lnTo>
                  <a:pt x="1082764" y="55966"/>
                </a:lnTo>
                <a:lnTo>
                  <a:pt x="1061276" y="69146"/>
                </a:lnTo>
                <a:lnTo>
                  <a:pt x="558" y="92557"/>
                </a:lnTo>
                <a:close/>
              </a:path>
              <a:path w="1133475" h="114300">
                <a:moveTo>
                  <a:pt x="1101813" y="66522"/>
                </a:moveTo>
                <a:lnTo>
                  <a:pt x="1082764" y="55966"/>
                </a:lnTo>
                <a:lnTo>
                  <a:pt x="1101331" y="44576"/>
                </a:lnTo>
                <a:lnTo>
                  <a:pt x="1101813" y="66522"/>
                </a:lnTo>
                <a:close/>
              </a:path>
              <a:path w="1133475" h="114300">
                <a:moveTo>
                  <a:pt x="1108217" y="66522"/>
                </a:moveTo>
                <a:lnTo>
                  <a:pt x="1101813" y="66522"/>
                </a:lnTo>
                <a:lnTo>
                  <a:pt x="1101331" y="44576"/>
                </a:lnTo>
                <a:lnTo>
                  <a:pt x="1107735" y="44576"/>
                </a:lnTo>
                <a:lnTo>
                  <a:pt x="1108217" y="66522"/>
                </a:lnTo>
                <a:close/>
              </a:path>
              <a:path w="1133475" h="114300">
                <a:moveTo>
                  <a:pt x="1061276" y="69146"/>
                </a:moveTo>
                <a:lnTo>
                  <a:pt x="1082764" y="55966"/>
                </a:lnTo>
                <a:lnTo>
                  <a:pt x="1101813" y="66522"/>
                </a:lnTo>
                <a:lnTo>
                  <a:pt x="1108217" y="66522"/>
                </a:lnTo>
                <a:lnTo>
                  <a:pt x="1108252" y="68110"/>
                </a:lnTo>
                <a:lnTo>
                  <a:pt x="1061276" y="6914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946135" y="2353055"/>
            <a:ext cx="2430780" cy="375285"/>
          </a:xfrm>
          <a:prstGeom prst="rect">
            <a:avLst/>
          </a:prstGeom>
          <a:solidFill>
            <a:srgbClr val="538235"/>
          </a:solidFill>
        </p:spPr>
        <p:txBody>
          <a:bodyPr wrap="square" lIns="0" tIns="3873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305"/>
              </a:spcBef>
            </a:pPr>
            <a:r>
              <a:rPr dirty="0" sz="2200" b="1">
                <a:solidFill>
                  <a:srgbClr val="FFFFFF"/>
                </a:solidFill>
                <a:latin typeface="微软雅黑"/>
                <a:cs typeface="微软雅黑"/>
              </a:rPr>
              <a:t>卢瑟福的原子模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型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46135" y="2728158"/>
            <a:ext cx="2430780" cy="394970"/>
          </a:xfrm>
          <a:prstGeom prst="rect">
            <a:avLst/>
          </a:prstGeom>
          <a:solidFill>
            <a:srgbClr val="538235"/>
          </a:solidFill>
        </p:spPr>
        <p:txBody>
          <a:bodyPr wrap="square" lIns="0" tIns="0" rIns="0" bIns="0" rtlCol="0" vert="horz">
            <a:spAutoFit/>
          </a:bodyPr>
          <a:lstStyle/>
          <a:p>
            <a:pPr marL="97155">
              <a:lnSpc>
                <a:spcPts val="2635"/>
              </a:lnSpc>
            </a:pPr>
            <a:r>
              <a:rPr dirty="0" sz="2200" b="1">
                <a:solidFill>
                  <a:srgbClr val="FFFFFF"/>
                </a:solidFill>
                <a:latin typeface="微软雅黑"/>
                <a:cs typeface="微软雅黑"/>
              </a:rPr>
              <a:t>（核式结构模型</a:t>
            </a:r>
            <a:r>
              <a:rPr dirty="0" sz="2200" spc="-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96842" y="2508605"/>
            <a:ext cx="58356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…</a:t>
            </a:r>
            <a:r>
              <a:rPr dirty="0" sz="2200" spc="-5" b="1">
                <a:latin typeface="Times New Roman"/>
                <a:cs typeface="Times New Roman"/>
              </a:rPr>
              <a:t>…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93737" y="2348230"/>
            <a:ext cx="737870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 i="1">
                <a:solidFill>
                  <a:srgbClr val="001F5F"/>
                </a:solidFill>
                <a:latin typeface="Times New Roman"/>
                <a:cs typeface="Times New Roman"/>
              </a:rPr>
              <a:t>α</a:t>
            </a:r>
            <a:r>
              <a:rPr dirty="0" sz="2200" b="1">
                <a:solidFill>
                  <a:srgbClr val="001F5F"/>
                </a:solidFill>
                <a:latin typeface="微软雅黑"/>
                <a:cs typeface="微软雅黑"/>
              </a:rPr>
              <a:t>粒</a:t>
            </a:r>
            <a:r>
              <a:rPr dirty="0" sz="2200" spc="-5" b="1">
                <a:solidFill>
                  <a:srgbClr val="001F5F"/>
                </a:solidFill>
                <a:latin typeface="微软雅黑"/>
                <a:cs typeface="微软雅黑"/>
              </a:rPr>
              <a:t>子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91159" y="2759710"/>
            <a:ext cx="114236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001F5F"/>
                </a:solidFill>
                <a:latin typeface="微软雅黑"/>
                <a:cs typeface="微软雅黑"/>
              </a:rPr>
              <a:t>散射实</a:t>
            </a:r>
            <a:r>
              <a:rPr dirty="0" sz="2200" spc="-5" b="1">
                <a:solidFill>
                  <a:srgbClr val="001F5F"/>
                </a:solidFill>
                <a:latin typeface="微软雅黑"/>
                <a:cs typeface="微软雅黑"/>
              </a:rPr>
              <a:t>验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01951" y="4142232"/>
            <a:ext cx="2820924" cy="259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40196" y="4090415"/>
            <a:ext cx="2909316" cy="2641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2025-04-20T14:29:00Z</dcterms:created>
  <dcterms:modified xsi:type="dcterms:W3CDTF">2025-04-20T14:29:00Z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