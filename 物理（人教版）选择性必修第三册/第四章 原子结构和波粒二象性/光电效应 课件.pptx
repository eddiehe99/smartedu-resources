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1840" y="-31432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1840" y="-31432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21839" y="3142248"/>
            <a:ext cx="5938520" cy="2372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jpg"/><Relationship Id="rId5" Type="http://schemas.openxmlformats.org/officeDocument/2006/relationships/image" Target="../media/image31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27.png"/><Relationship Id="rId5" Type="http://schemas.openxmlformats.org/officeDocument/2006/relationships/image" Target="../media/image46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7.jpg"/><Relationship Id="rId4" Type="http://schemas.openxmlformats.org/officeDocument/2006/relationships/image" Target="../media/image6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8.jp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jpg"/><Relationship Id="rId4" Type="http://schemas.openxmlformats.org/officeDocument/2006/relationships/image" Target="../media/image53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41152" y="2451931"/>
          <a:ext cx="7404734" cy="198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7110"/>
                <a:gridCol w="615950"/>
                <a:gridCol w="3242944"/>
              </a:tblGrid>
              <a:tr h="93588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4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光电效</a:t>
                      </a:r>
                      <a:r>
                        <a:rPr dirty="0" sz="4400" spc="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应</a:t>
                      </a:r>
                      <a:endParaRPr sz="4400">
                        <a:latin typeface="微软雅黑"/>
                        <a:cs typeface="微软雅黑"/>
                      </a:endParaRPr>
                    </a:p>
                  </a:txBody>
                  <a:tcPr marL="0" marR="0" marB="0" marT="3302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2376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主讲人：刘友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洪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93040"/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9304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校：北京市第八十中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93040"/>
                </a:tc>
              </a:tr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643890" algn="l"/>
                        </a:tabLst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	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级：高二下学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期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学习目标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37739" y="1677352"/>
            <a:ext cx="8141970" cy="2990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6705" indent="-294005">
              <a:lnSpc>
                <a:spcPct val="100000"/>
              </a:lnSpc>
              <a:spcBef>
                <a:spcPts val="95"/>
              </a:spcBef>
              <a:buSzPct val="96428"/>
              <a:buAutoNum type="arabicPeriod"/>
              <a:tabLst>
                <a:tab pos="307340" algn="l"/>
              </a:tabLst>
            </a:pPr>
            <a:r>
              <a:rPr dirty="0" sz="2800">
                <a:latin typeface="微软雅黑"/>
                <a:cs typeface="微软雅黑"/>
              </a:rPr>
              <a:t>知道光电效应现象并掌握其实验规</a:t>
            </a:r>
            <a:r>
              <a:rPr dirty="0" sz="2800" spc="-5">
                <a:latin typeface="微软雅黑"/>
                <a:cs typeface="微软雅黑"/>
              </a:rPr>
              <a:t>律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buFont typeface="΢"/>
              <a:buAutoNum type="arabicPeriod"/>
            </a:pPr>
            <a:endParaRPr sz="370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2385"/>
              </a:spcBef>
              <a:buSzPct val="96428"/>
              <a:buAutoNum type="arabicPeriod"/>
              <a:tabLst>
                <a:tab pos="307340" algn="l"/>
              </a:tabLst>
            </a:pPr>
            <a:r>
              <a:rPr dirty="0" sz="2800">
                <a:latin typeface="微软雅黑"/>
                <a:cs typeface="微软雅黑"/>
              </a:rPr>
              <a:t>理解光电效应与光的电磁理论间矛</a:t>
            </a:r>
            <a:r>
              <a:rPr dirty="0" sz="2800" spc="-5">
                <a:latin typeface="微软雅黑"/>
                <a:cs typeface="微软雅黑"/>
              </a:rPr>
              <a:t>盾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buFont typeface="΢"/>
              <a:buAutoNum type="arabicPeriod"/>
            </a:pPr>
            <a:endParaRPr sz="370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2375"/>
              </a:spcBef>
              <a:buSzPct val="96428"/>
              <a:buAutoNum type="arabicPeriod"/>
              <a:tabLst>
                <a:tab pos="307340" algn="l"/>
              </a:tabLst>
            </a:pPr>
            <a:r>
              <a:rPr dirty="0" sz="2800">
                <a:latin typeface="微软雅黑"/>
                <a:cs typeface="微软雅黑"/>
              </a:rPr>
              <a:t>理解并掌握爱因斯坦的光子说及对光电效应的解</a:t>
            </a:r>
            <a:r>
              <a:rPr dirty="0" sz="2800" spc="-5">
                <a:latin typeface="微软雅黑"/>
                <a:cs typeface="微软雅黑"/>
              </a:rPr>
              <a:t>释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463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光的本性认识过程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74862" y="2935287"/>
            <a:ext cx="9144000" cy="114300"/>
          </a:xfrm>
          <a:custGeom>
            <a:avLst/>
            <a:gdLst/>
            <a:ahLst/>
            <a:cxnLst/>
            <a:rect l="l" t="t" r="r" b="b"/>
            <a:pathLst>
              <a:path w="9144000" h="114300">
                <a:moveTo>
                  <a:pt x="9029700" y="114300"/>
                </a:moveTo>
                <a:lnTo>
                  <a:pt x="9029700" y="0"/>
                </a:lnTo>
                <a:lnTo>
                  <a:pt x="9105900" y="38100"/>
                </a:lnTo>
                <a:lnTo>
                  <a:pt x="9058275" y="38100"/>
                </a:lnTo>
                <a:lnTo>
                  <a:pt x="9058275" y="76200"/>
                </a:lnTo>
                <a:lnTo>
                  <a:pt x="9105900" y="76200"/>
                </a:lnTo>
                <a:lnTo>
                  <a:pt x="9029700" y="114300"/>
                </a:lnTo>
                <a:close/>
              </a:path>
              <a:path w="9144000" h="114300">
                <a:moveTo>
                  <a:pt x="9029700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9029700" y="38100"/>
                </a:lnTo>
                <a:lnTo>
                  <a:pt x="9029700" y="76200"/>
                </a:lnTo>
                <a:close/>
              </a:path>
              <a:path w="9144000" h="114300">
                <a:moveTo>
                  <a:pt x="9105900" y="76200"/>
                </a:moveTo>
                <a:lnTo>
                  <a:pt x="9058275" y="76200"/>
                </a:lnTo>
                <a:lnTo>
                  <a:pt x="9058275" y="38100"/>
                </a:lnTo>
                <a:lnTo>
                  <a:pt x="9105900" y="38100"/>
                </a:lnTo>
                <a:lnTo>
                  <a:pt x="9144000" y="57150"/>
                </a:lnTo>
                <a:lnTo>
                  <a:pt x="91059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74862" y="4203700"/>
            <a:ext cx="9144000" cy="114300"/>
          </a:xfrm>
          <a:custGeom>
            <a:avLst/>
            <a:gdLst/>
            <a:ahLst/>
            <a:cxnLst/>
            <a:rect l="l" t="t" r="r" b="b"/>
            <a:pathLst>
              <a:path w="9144000" h="114300">
                <a:moveTo>
                  <a:pt x="9029700" y="114300"/>
                </a:moveTo>
                <a:lnTo>
                  <a:pt x="9029700" y="0"/>
                </a:lnTo>
                <a:lnTo>
                  <a:pt x="9105900" y="38100"/>
                </a:lnTo>
                <a:lnTo>
                  <a:pt x="9058275" y="38100"/>
                </a:lnTo>
                <a:lnTo>
                  <a:pt x="9058275" y="76200"/>
                </a:lnTo>
                <a:lnTo>
                  <a:pt x="9105900" y="76200"/>
                </a:lnTo>
                <a:lnTo>
                  <a:pt x="9029700" y="114300"/>
                </a:lnTo>
                <a:close/>
              </a:path>
              <a:path w="9144000" h="114300">
                <a:moveTo>
                  <a:pt x="9029700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9029700" y="38100"/>
                </a:lnTo>
                <a:lnTo>
                  <a:pt x="9029700" y="76200"/>
                </a:lnTo>
                <a:close/>
              </a:path>
              <a:path w="9144000" h="114300">
                <a:moveTo>
                  <a:pt x="9105900" y="76200"/>
                </a:moveTo>
                <a:lnTo>
                  <a:pt x="9058275" y="76200"/>
                </a:lnTo>
                <a:lnTo>
                  <a:pt x="9058275" y="38100"/>
                </a:lnTo>
                <a:lnTo>
                  <a:pt x="9105900" y="38100"/>
                </a:lnTo>
                <a:lnTo>
                  <a:pt x="9144000" y="57150"/>
                </a:lnTo>
                <a:lnTo>
                  <a:pt x="91059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68587" y="410845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328862" y="4439285"/>
            <a:ext cx="788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牛</a:t>
            </a:r>
            <a:r>
              <a:rPr dirty="0" sz="2000" spc="5">
                <a:latin typeface="微软雅黑"/>
                <a:cs typeface="微软雅黑"/>
              </a:rPr>
              <a:t>顿 </a:t>
            </a:r>
            <a:r>
              <a:rPr dirty="0" sz="2000">
                <a:latin typeface="微软雅黑"/>
                <a:cs typeface="微软雅黑"/>
              </a:rPr>
              <a:t>微粒</a:t>
            </a:r>
            <a:r>
              <a:rPr dirty="0" sz="2000" spc="5">
                <a:latin typeface="微软雅黑"/>
                <a:cs typeface="微软雅黑"/>
              </a:rPr>
              <a:t>说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05490" y="3456939"/>
            <a:ext cx="7207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微软雅黑"/>
                <a:cs typeface="微软雅黑"/>
              </a:rPr>
              <a:t>T/</a:t>
            </a:r>
            <a:r>
              <a:rPr dirty="0" sz="2400" spc="-5" b="1">
                <a:latin typeface="微软雅黑"/>
                <a:cs typeface="微软雅黑"/>
              </a:rPr>
              <a:t>年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36862" y="2840037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466975" y="2058035"/>
            <a:ext cx="788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惠更</a:t>
            </a:r>
            <a:r>
              <a:rPr dirty="0" sz="2000">
                <a:latin typeface="微软雅黑"/>
                <a:cs typeface="微软雅黑"/>
              </a:rPr>
              <a:t>斯 </a:t>
            </a:r>
            <a:r>
              <a:rPr dirty="0" sz="2000">
                <a:latin typeface="微软雅黑"/>
                <a:cs typeface="微软雅黑"/>
              </a:rPr>
              <a:t>波动</a:t>
            </a:r>
            <a:r>
              <a:rPr dirty="0" sz="2000" spc="5">
                <a:latin typeface="微软雅黑"/>
                <a:cs typeface="微软雅黑"/>
              </a:rPr>
              <a:t>说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0602" y="3248660"/>
            <a:ext cx="975360" cy="882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Calibri"/>
                <a:cs typeface="Calibri"/>
              </a:rPr>
              <a:t>1690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800" spc="-5" b="1">
                <a:solidFill>
                  <a:srgbClr val="FF0000"/>
                </a:solidFill>
                <a:latin typeface="Calibri"/>
                <a:cs typeface="Calibri"/>
              </a:rPr>
              <a:t>1672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34125" y="2778125"/>
            <a:ext cx="0" cy="440055"/>
          </a:xfrm>
          <a:custGeom>
            <a:avLst/>
            <a:gdLst/>
            <a:ahLst/>
            <a:cxnLst/>
            <a:rect l="l" t="t" r="r" b="b"/>
            <a:pathLst>
              <a:path w="0" h="440055">
                <a:moveTo>
                  <a:pt x="0" y="0"/>
                </a:moveTo>
                <a:lnTo>
                  <a:pt x="0" y="43973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804217" y="2042160"/>
            <a:ext cx="1042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700" marR="5080" indent="-1270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麦克斯</a:t>
            </a:r>
            <a:r>
              <a:rPr dirty="0" sz="2000">
                <a:latin typeface="微软雅黑"/>
                <a:cs typeface="微软雅黑"/>
              </a:rPr>
              <a:t>韦 </a:t>
            </a:r>
            <a:r>
              <a:rPr dirty="0" sz="2000">
                <a:latin typeface="微软雅黑"/>
                <a:cs typeface="微软雅黑"/>
              </a:rPr>
              <a:t>电磁</a:t>
            </a:r>
            <a:r>
              <a:rPr dirty="0" sz="2000" spc="5">
                <a:latin typeface="微软雅黑"/>
                <a:cs typeface="微软雅黑"/>
              </a:rPr>
              <a:t>说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78052" y="3647122"/>
            <a:ext cx="74676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Calibri"/>
                <a:cs typeface="Calibri"/>
              </a:rPr>
              <a:t>1905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666037" y="40767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191057" y="4558347"/>
            <a:ext cx="1042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700" marR="5080" indent="-1270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爱因斯</a:t>
            </a:r>
            <a:r>
              <a:rPr dirty="0" sz="2000">
                <a:latin typeface="微软雅黑"/>
                <a:cs typeface="微软雅黑"/>
              </a:rPr>
              <a:t>坦 </a:t>
            </a:r>
            <a:r>
              <a:rPr dirty="0" sz="2000">
                <a:latin typeface="微软雅黑"/>
                <a:cs typeface="微软雅黑"/>
              </a:rPr>
              <a:t>光子</a:t>
            </a:r>
            <a:r>
              <a:rPr dirty="0" sz="2000" spc="5">
                <a:latin typeface="微软雅黑"/>
                <a:cs typeface="微软雅黑"/>
              </a:rPr>
              <a:t>说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81957" y="1838642"/>
            <a:ext cx="380365" cy="109156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800" spc="5" b="1">
                <a:solidFill>
                  <a:srgbClr val="CC3300"/>
                </a:solidFill>
                <a:latin typeface="微软雅黑"/>
                <a:cs typeface="微软雅黑"/>
              </a:rPr>
              <a:t>波动</a:t>
            </a:r>
            <a:r>
              <a:rPr dirty="0" sz="2800" b="1">
                <a:solidFill>
                  <a:srgbClr val="CC3300"/>
                </a:solidFill>
                <a:latin typeface="微软雅黑"/>
                <a:cs typeface="微软雅黑"/>
              </a:rPr>
              <a:t>性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81957" y="4345304"/>
            <a:ext cx="380365" cy="109156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800" spc="5" b="1">
                <a:solidFill>
                  <a:srgbClr val="CC3300"/>
                </a:solidFill>
                <a:latin typeface="微软雅黑"/>
                <a:cs typeface="微软雅黑"/>
              </a:rPr>
              <a:t>粒子</a:t>
            </a:r>
            <a:r>
              <a:rPr dirty="0" sz="2800" b="1">
                <a:solidFill>
                  <a:srgbClr val="CC3300"/>
                </a:solidFill>
                <a:latin typeface="微软雅黑"/>
                <a:cs typeface="微软雅黑"/>
              </a:rPr>
              <a:t>性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208462" y="2809875"/>
            <a:ext cx="0" cy="440055"/>
          </a:xfrm>
          <a:custGeom>
            <a:avLst/>
            <a:gdLst/>
            <a:ahLst/>
            <a:cxnLst/>
            <a:rect l="l" t="t" r="r" b="b"/>
            <a:pathLst>
              <a:path w="0" h="440055">
                <a:moveTo>
                  <a:pt x="0" y="0"/>
                </a:moveTo>
                <a:lnTo>
                  <a:pt x="0" y="43973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76244" y="1418844"/>
            <a:ext cx="1527810" cy="1379220"/>
          </a:xfrm>
          <a:custGeom>
            <a:avLst/>
            <a:gdLst/>
            <a:ahLst/>
            <a:cxnLst/>
            <a:rect l="l" t="t" r="r" b="b"/>
            <a:pathLst>
              <a:path w="1527810" h="1379220">
                <a:moveTo>
                  <a:pt x="1353311" y="1045463"/>
                </a:moveTo>
                <a:lnTo>
                  <a:pt x="173735" y="1045463"/>
                </a:lnTo>
                <a:lnTo>
                  <a:pt x="127757" y="1039028"/>
                </a:lnTo>
                <a:lnTo>
                  <a:pt x="86353" y="1021314"/>
                </a:lnTo>
                <a:lnTo>
                  <a:pt x="51277" y="994030"/>
                </a:lnTo>
                <a:lnTo>
                  <a:pt x="24121" y="958752"/>
                </a:lnTo>
                <a:lnTo>
                  <a:pt x="6596" y="917148"/>
                </a:lnTo>
                <a:lnTo>
                  <a:pt x="380" y="870864"/>
                </a:lnTo>
                <a:lnTo>
                  <a:pt x="0" y="870203"/>
                </a:lnTo>
                <a:lnTo>
                  <a:pt x="0" y="173735"/>
                </a:lnTo>
                <a:lnTo>
                  <a:pt x="6375" y="127762"/>
                </a:lnTo>
                <a:lnTo>
                  <a:pt x="24008" y="86371"/>
                </a:lnTo>
                <a:lnTo>
                  <a:pt x="51230" y="51230"/>
                </a:lnTo>
                <a:lnTo>
                  <a:pt x="86371" y="24008"/>
                </a:lnTo>
                <a:lnTo>
                  <a:pt x="127762" y="6375"/>
                </a:lnTo>
                <a:lnTo>
                  <a:pt x="173735" y="0"/>
                </a:lnTo>
                <a:lnTo>
                  <a:pt x="1353311" y="0"/>
                </a:lnTo>
                <a:lnTo>
                  <a:pt x="1399655" y="6375"/>
                </a:lnTo>
                <a:lnTo>
                  <a:pt x="1441269" y="24008"/>
                </a:lnTo>
                <a:lnTo>
                  <a:pt x="1476484" y="51230"/>
                </a:lnTo>
                <a:lnTo>
                  <a:pt x="1503632" y="86371"/>
                </a:lnTo>
                <a:lnTo>
                  <a:pt x="1521042" y="127762"/>
                </a:lnTo>
                <a:lnTo>
                  <a:pt x="1527047" y="173735"/>
                </a:lnTo>
                <a:lnTo>
                  <a:pt x="1527047" y="609599"/>
                </a:lnTo>
                <a:lnTo>
                  <a:pt x="1527554" y="870203"/>
                </a:lnTo>
                <a:lnTo>
                  <a:pt x="1527047" y="870203"/>
                </a:lnTo>
                <a:lnTo>
                  <a:pt x="1521042" y="916766"/>
                </a:lnTo>
                <a:lnTo>
                  <a:pt x="1503632" y="958556"/>
                </a:lnTo>
                <a:lnTo>
                  <a:pt x="1476484" y="993948"/>
                </a:lnTo>
                <a:lnTo>
                  <a:pt x="1441269" y="1021314"/>
                </a:lnTo>
                <a:lnTo>
                  <a:pt x="1399633" y="1039031"/>
                </a:lnTo>
                <a:lnTo>
                  <a:pt x="1353311" y="1045463"/>
                </a:lnTo>
                <a:close/>
              </a:path>
              <a:path w="1527810" h="1379220">
                <a:moveTo>
                  <a:pt x="1527555" y="870864"/>
                </a:moveTo>
                <a:lnTo>
                  <a:pt x="1527047" y="870203"/>
                </a:lnTo>
                <a:lnTo>
                  <a:pt x="1527554" y="870203"/>
                </a:lnTo>
                <a:lnTo>
                  <a:pt x="1527555" y="870864"/>
                </a:lnTo>
                <a:close/>
              </a:path>
              <a:path w="1527810" h="1379220">
                <a:moveTo>
                  <a:pt x="751331" y="1379219"/>
                </a:moveTo>
                <a:lnTo>
                  <a:pt x="254507" y="1045463"/>
                </a:lnTo>
                <a:lnTo>
                  <a:pt x="637031" y="1045463"/>
                </a:lnTo>
                <a:lnTo>
                  <a:pt x="751331" y="1379219"/>
                </a:lnTo>
                <a:close/>
              </a:path>
            </a:pathLst>
          </a:custGeom>
          <a:solidFill>
            <a:srgbClr val="D5DCE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71862" y="1414462"/>
            <a:ext cx="1536700" cy="1384300"/>
          </a:xfrm>
          <a:custGeom>
            <a:avLst/>
            <a:gdLst/>
            <a:ahLst/>
            <a:cxnLst/>
            <a:rect l="l" t="t" r="r" b="b"/>
            <a:pathLst>
              <a:path w="1536700" h="1384300">
                <a:moveTo>
                  <a:pt x="144602" y="12700"/>
                </a:moveTo>
                <a:lnTo>
                  <a:pt x="109232" y="12700"/>
                </a:lnTo>
                <a:lnTo>
                  <a:pt x="117360" y="0"/>
                </a:lnTo>
                <a:lnTo>
                  <a:pt x="153174" y="0"/>
                </a:lnTo>
                <a:lnTo>
                  <a:pt x="144602" y="12700"/>
                </a:lnTo>
                <a:close/>
              </a:path>
              <a:path w="1536700" h="1384300">
                <a:moveTo>
                  <a:pt x="1427467" y="12700"/>
                </a:moveTo>
                <a:lnTo>
                  <a:pt x="1392097" y="12700"/>
                </a:lnTo>
                <a:lnTo>
                  <a:pt x="1383525" y="0"/>
                </a:lnTo>
                <a:lnTo>
                  <a:pt x="1419339" y="0"/>
                </a:lnTo>
                <a:lnTo>
                  <a:pt x="1427467" y="12700"/>
                </a:lnTo>
                <a:close/>
              </a:path>
              <a:path w="1536700" h="1384300">
                <a:moveTo>
                  <a:pt x="105333" y="25400"/>
                </a:moveTo>
                <a:lnTo>
                  <a:pt x="86105" y="25400"/>
                </a:lnTo>
                <a:lnTo>
                  <a:pt x="93599" y="12700"/>
                </a:lnTo>
                <a:lnTo>
                  <a:pt x="113055" y="12700"/>
                </a:lnTo>
                <a:lnTo>
                  <a:pt x="105333" y="25400"/>
                </a:lnTo>
                <a:close/>
              </a:path>
              <a:path w="1536700" h="1384300">
                <a:moveTo>
                  <a:pt x="1450594" y="25400"/>
                </a:moveTo>
                <a:lnTo>
                  <a:pt x="1431366" y="25400"/>
                </a:lnTo>
                <a:lnTo>
                  <a:pt x="1423644" y="12700"/>
                </a:lnTo>
                <a:lnTo>
                  <a:pt x="1443101" y="12700"/>
                </a:lnTo>
                <a:lnTo>
                  <a:pt x="1450594" y="25400"/>
                </a:lnTo>
                <a:close/>
              </a:path>
              <a:path w="1536700" h="1384300">
                <a:moveTo>
                  <a:pt x="84086" y="38100"/>
                </a:moveTo>
                <a:lnTo>
                  <a:pt x="65087" y="38100"/>
                </a:lnTo>
                <a:lnTo>
                  <a:pt x="71843" y="25400"/>
                </a:lnTo>
                <a:lnTo>
                  <a:pt x="91147" y="25400"/>
                </a:lnTo>
                <a:lnTo>
                  <a:pt x="84086" y="38100"/>
                </a:lnTo>
                <a:close/>
              </a:path>
              <a:path w="1536700" h="1384300">
                <a:moveTo>
                  <a:pt x="1471612" y="38100"/>
                </a:moveTo>
                <a:lnTo>
                  <a:pt x="1452613" y="38100"/>
                </a:lnTo>
                <a:lnTo>
                  <a:pt x="1445552" y="25400"/>
                </a:lnTo>
                <a:lnTo>
                  <a:pt x="1464856" y="25400"/>
                </a:lnTo>
                <a:lnTo>
                  <a:pt x="1471612" y="38100"/>
                </a:lnTo>
                <a:close/>
              </a:path>
              <a:path w="1536700" h="1384300">
                <a:moveTo>
                  <a:pt x="64922" y="50800"/>
                </a:moveTo>
                <a:lnTo>
                  <a:pt x="52387" y="50800"/>
                </a:lnTo>
                <a:lnTo>
                  <a:pt x="58597" y="38100"/>
                </a:lnTo>
                <a:lnTo>
                  <a:pt x="71234" y="38100"/>
                </a:lnTo>
                <a:lnTo>
                  <a:pt x="64922" y="50800"/>
                </a:lnTo>
                <a:close/>
              </a:path>
              <a:path w="1536700" h="1384300">
                <a:moveTo>
                  <a:pt x="1484312" y="50800"/>
                </a:moveTo>
                <a:lnTo>
                  <a:pt x="1471777" y="50800"/>
                </a:lnTo>
                <a:lnTo>
                  <a:pt x="1465465" y="38100"/>
                </a:lnTo>
                <a:lnTo>
                  <a:pt x="1478102" y="38100"/>
                </a:lnTo>
                <a:lnTo>
                  <a:pt x="1484312" y="50800"/>
                </a:lnTo>
                <a:close/>
              </a:path>
              <a:path w="1536700" h="1384300">
                <a:moveTo>
                  <a:pt x="53428" y="63500"/>
                </a:moveTo>
                <a:lnTo>
                  <a:pt x="40843" y="63500"/>
                </a:lnTo>
                <a:lnTo>
                  <a:pt x="46456" y="50800"/>
                </a:lnTo>
                <a:lnTo>
                  <a:pt x="59194" y="50800"/>
                </a:lnTo>
                <a:lnTo>
                  <a:pt x="53428" y="63500"/>
                </a:lnTo>
                <a:close/>
              </a:path>
              <a:path w="1536700" h="1384300">
                <a:moveTo>
                  <a:pt x="1495856" y="63500"/>
                </a:moveTo>
                <a:lnTo>
                  <a:pt x="1483271" y="63500"/>
                </a:lnTo>
                <a:lnTo>
                  <a:pt x="1477505" y="50800"/>
                </a:lnTo>
                <a:lnTo>
                  <a:pt x="1490243" y="50800"/>
                </a:lnTo>
                <a:lnTo>
                  <a:pt x="1495856" y="63500"/>
                </a:lnTo>
                <a:close/>
              </a:path>
              <a:path w="1536700" h="1384300">
                <a:moveTo>
                  <a:pt x="43091" y="76200"/>
                </a:moveTo>
                <a:lnTo>
                  <a:pt x="30543" y="76200"/>
                </a:lnTo>
                <a:lnTo>
                  <a:pt x="35534" y="63500"/>
                </a:lnTo>
                <a:lnTo>
                  <a:pt x="48260" y="63500"/>
                </a:lnTo>
                <a:lnTo>
                  <a:pt x="43091" y="76200"/>
                </a:lnTo>
                <a:close/>
              </a:path>
              <a:path w="1536700" h="1384300">
                <a:moveTo>
                  <a:pt x="1506156" y="76200"/>
                </a:moveTo>
                <a:lnTo>
                  <a:pt x="1493608" y="76200"/>
                </a:lnTo>
                <a:lnTo>
                  <a:pt x="1488439" y="63500"/>
                </a:lnTo>
                <a:lnTo>
                  <a:pt x="1501165" y="63500"/>
                </a:lnTo>
                <a:lnTo>
                  <a:pt x="1506156" y="76200"/>
                </a:lnTo>
                <a:close/>
              </a:path>
              <a:path w="1536700" h="1384300">
                <a:moveTo>
                  <a:pt x="33972" y="88900"/>
                </a:moveTo>
                <a:lnTo>
                  <a:pt x="21589" y="88900"/>
                </a:lnTo>
                <a:lnTo>
                  <a:pt x="25895" y="76200"/>
                </a:lnTo>
                <a:lnTo>
                  <a:pt x="38506" y="76200"/>
                </a:lnTo>
                <a:lnTo>
                  <a:pt x="33972" y="88900"/>
                </a:lnTo>
                <a:close/>
              </a:path>
              <a:path w="1536700" h="1384300">
                <a:moveTo>
                  <a:pt x="1515110" y="88900"/>
                </a:moveTo>
                <a:lnTo>
                  <a:pt x="1502727" y="88900"/>
                </a:lnTo>
                <a:lnTo>
                  <a:pt x="1498193" y="76200"/>
                </a:lnTo>
                <a:lnTo>
                  <a:pt x="1510804" y="76200"/>
                </a:lnTo>
                <a:lnTo>
                  <a:pt x="1515110" y="88900"/>
                </a:lnTo>
                <a:close/>
              </a:path>
              <a:path w="1536700" h="1384300">
                <a:moveTo>
                  <a:pt x="19761" y="114300"/>
                </a:moveTo>
                <a:lnTo>
                  <a:pt x="10858" y="114300"/>
                </a:lnTo>
                <a:lnTo>
                  <a:pt x="14058" y="101600"/>
                </a:lnTo>
                <a:lnTo>
                  <a:pt x="17640" y="88900"/>
                </a:lnTo>
                <a:lnTo>
                  <a:pt x="30010" y="88900"/>
                </a:lnTo>
                <a:lnTo>
                  <a:pt x="26174" y="101600"/>
                </a:lnTo>
                <a:lnTo>
                  <a:pt x="22872" y="101600"/>
                </a:lnTo>
                <a:lnTo>
                  <a:pt x="19761" y="114300"/>
                </a:lnTo>
                <a:close/>
              </a:path>
              <a:path w="1536700" h="1384300">
                <a:moveTo>
                  <a:pt x="1525841" y="114300"/>
                </a:moveTo>
                <a:lnTo>
                  <a:pt x="1516938" y="114300"/>
                </a:lnTo>
                <a:lnTo>
                  <a:pt x="1513827" y="101600"/>
                </a:lnTo>
                <a:lnTo>
                  <a:pt x="1510525" y="101600"/>
                </a:lnTo>
                <a:lnTo>
                  <a:pt x="1506689" y="88900"/>
                </a:lnTo>
                <a:lnTo>
                  <a:pt x="1519059" y="88900"/>
                </a:lnTo>
                <a:lnTo>
                  <a:pt x="1522641" y="101600"/>
                </a:lnTo>
                <a:lnTo>
                  <a:pt x="1525841" y="114300"/>
                </a:lnTo>
                <a:close/>
              </a:path>
              <a:path w="1536700" h="1384300">
                <a:moveTo>
                  <a:pt x="12941" y="139700"/>
                </a:moveTo>
                <a:lnTo>
                  <a:pt x="3632" y="139700"/>
                </a:lnTo>
                <a:lnTo>
                  <a:pt x="5626" y="127000"/>
                </a:lnTo>
                <a:lnTo>
                  <a:pt x="8039" y="114300"/>
                </a:lnTo>
                <a:lnTo>
                  <a:pt x="19837" y="114300"/>
                </a:lnTo>
                <a:lnTo>
                  <a:pt x="17094" y="127000"/>
                </a:lnTo>
                <a:lnTo>
                  <a:pt x="14884" y="127000"/>
                </a:lnTo>
                <a:lnTo>
                  <a:pt x="12941" y="139700"/>
                </a:lnTo>
                <a:close/>
              </a:path>
              <a:path w="1536700" h="1384300">
                <a:moveTo>
                  <a:pt x="1533067" y="139700"/>
                </a:moveTo>
                <a:lnTo>
                  <a:pt x="1523758" y="139700"/>
                </a:lnTo>
                <a:lnTo>
                  <a:pt x="1521815" y="127000"/>
                </a:lnTo>
                <a:lnTo>
                  <a:pt x="1519605" y="127000"/>
                </a:lnTo>
                <a:lnTo>
                  <a:pt x="1516862" y="114300"/>
                </a:lnTo>
                <a:lnTo>
                  <a:pt x="1528660" y="114300"/>
                </a:lnTo>
                <a:lnTo>
                  <a:pt x="1531073" y="127000"/>
                </a:lnTo>
                <a:lnTo>
                  <a:pt x="1533067" y="139700"/>
                </a:lnTo>
                <a:close/>
              </a:path>
              <a:path w="1536700" h="1384300">
                <a:moveTo>
                  <a:pt x="12992" y="901700"/>
                </a:moveTo>
                <a:lnTo>
                  <a:pt x="2057" y="901700"/>
                </a:lnTo>
                <a:lnTo>
                  <a:pt x="927" y="889000"/>
                </a:lnTo>
                <a:lnTo>
                  <a:pt x="228" y="876300"/>
                </a:lnTo>
                <a:lnTo>
                  <a:pt x="0" y="863600"/>
                </a:lnTo>
                <a:lnTo>
                  <a:pt x="0" y="177800"/>
                </a:lnTo>
                <a:lnTo>
                  <a:pt x="228" y="165100"/>
                </a:lnTo>
                <a:lnTo>
                  <a:pt x="927" y="152400"/>
                </a:lnTo>
                <a:lnTo>
                  <a:pt x="2057" y="139700"/>
                </a:lnTo>
                <a:lnTo>
                  <a:pt x="12992" y="139700"/>
                </a:lnTo>
                <a:lnTo>
                  <a:pt x="11455" y="152400"/>
                </a:lnTo>
                <a:lnTo>
                  <a:pt x="10413" y="152400"/>
                </a:lnTo>
                <a:lnTo>
                  <a:pt x="9740" y="165100"/>
                </a:lnTo>
                <a:lnTo>
                  <a:pt x="9525" y="177800"/>
                </a:lnTo>
                <a:lnTo>
                  <a:pt x="9525" y="863600"/>
                </a:lnTo>
                <a:lnTo>
                  <a:pt x="9753" y="876300"/>
                </a:lnTo>
                <a:lnTo>
                  <a:pt x="10413" y="889000"/>
                </a:lnTo>
                <a:lnTo>
                  <a:pt x="11455" y="889000"/>
                </a:lnTo>
                <a:lnTo>
                  <a:pt x="12992" y="901700"/>
                </a:lnTo>
                <a:close/>
              </a:path>
              <a:path w="1536700" h="1384300">
                <a:moveTo>
                  <a:pt x="1534642" y="901700"/>
                </a:moveTo>
                <a:lnTo>
                  <a:pt x="1523707" y="901700"/>
                </a:lnTo>
                <a:lnTo>
                  <a:pt x="1525244" y="889000"/>
                </a:lnTo>
                <a:lnTo>
                  <a:pt x="1526286" y="889000"/>
                </a:lnTo>
                <a:lnTo>
                  <a:pt x="1526959" y="876300"/>
                </a:lnTo>
                <a:lnTo>
                  <a:pt x="1527175" y="863600"/>
                </a:lnTo>
                <a:lnTo>
                  <a:pt x="1527175" y="177800"/>
                </a:lnTo>
                <a:lnTo>
                  <a:pt x="1526946" y="165100"/>
                </a:lnTo>
                <a:lnTo>
                  <a:pt x="1526286" y="152400"/>
                </a:lnTo>
                <a:lnTo>
                  <a:pt x="1525244" y="152400"/>
                </a:lnTo>
                <a:lnTo>
                  <a:pt x="1523707" y="139700"/>
                </a:lnTo>
                <a:lnTo>
                  <a:pt x="1534642" y="139700"/>
                </a:lnTo>
                <a:lnTo>
                  <a:pt x="1535772" y="152400"/>
                </a:lnTo>
                <a:lnTo>
                  <a:pt x="1536471" y="165100"/>
                </a:lnTo>
                <a:lnTo>
                  <a:pt x="1536700" y="177800"/>
                </a:lnTo>
                <a:lnTo>
                  <a:pt x="1536700" y="863600"/>
                </a:lnTo>
                <a:lnTo>
                  <a:pt x="1536471" y="876300"/>
                </a:lnTo>
                <a:lnTo>
                  <a:pt x="1535772" y="889000"/>
                </a:lnTo>
                <a:lnTo>
                  <a:pt x="1534642" y="901700"/>
                </a:lnTo>
                <a:close/>
              </a:path>
              <a:path w="1536700" h="1384300">
                <a:moveTo>
                  <a:pt x="19837" y="927100"/>
                </a:moveTo>
                <a:lnTo>
                  <a:pt x="8039" y="927100"/>
                </a:lnTo>
                <a:lnTo>
                  <a:pt x="5626" y="914400"/>
                </a:lnTo>
                <a:lnTo>
                  <a:pt x="3632" y="901700"/>
                </a:lnTo>
                <a:lnTo>
                  <a:pt x="12941" y="901700"/>
                </a:lnTo>
                <a:lnTo>
                  <a:pt x="14884" y="914400"/>
                </a:lnTo>
                <a:lnTo>
                  <a:pt x="17094" y="914400"/>
                </a:lnTo>
                <a:lnTo>
                  <a:pt x="19837" y="927100"/>
                </a:lnTo>
                <a:close/>
              </a:path>
              <a:path w="1536700" h="1384300">
                <a:moveTo>
                  <a:pt x="1528660" y="927100"/>
                </a:moveTo>
                <a:lnTo>
                  <a:pt x="1516862" y="927100"/>
                </a:lnTo>
                <a:lnTo>
                  <a:pt x="1519605" y="914400"/>
                </a:lnTo>
                <a:lnTo>
                  <a:pt x="1521815" y="914400"/>
                </a:lnTo>
                <a:lnTo>
                  <a:pt x="1523758" y="901700"/>
                </a:lnTo>
                <a:lnTo>
                  <a:pt x="1533067" y="901700"/>
                </a:lnTo>
                <a:lnTo>
                  <a:pt x="1531073" y="914400"/>
                </a:lnTo>
                <a:lnTo>
                  <a:pt x="1528660" y="927100"/>
                </a:lnTo>
                <a:close/>
              </a:path>
              <a:path w="1536700" h="1384300">
                <a:moveTo>
                  <a:pt x="30010" y="952500"/>
                </a:moveTo>
                <a:lnTo>
                  <a:pt x="17640" y="952500"/>
                </a:lnTo>
                <a:lnTo>
                  <a:pt x="14058" y="939800"/>
                </a:lnTo>
                <a:lnTo>
                  <a:pt x="10858" y="927100"/>
                </a:lnTo>
                <a:lnTo>
                  <a:pt x="19761" y="927100"/>
                </a:lnTo>
                <a:lnTo>
                  <a:pt x="22872" y="939800"/>
                </a:lnTo>
                <a:lnTo>
                  <a:pt x="26174" y="939800"/>
                </a:lnTo>
                <a:lnTo>
                  <a:pt x="30010" y="952500"/>
                </a:lnTo>
                <a:close/>
              </a:path>
              <a:path w="1536700" h="1384300">
                <a:moveTo>
                  <a:pt x="1519059" y="952500"/>
                </a:moveTo>
                <a:lnTo>
                  <a:pt x="1506689" y="952500"/>
                </a:lnTo>
                <a:lnTo>
                  <a:pt x="1510525" y="939800"/>
                </a:lnTo>
                <a:lnTo>
                  <a:pt x="1513827" y="939800"/>
                </a:lnTo>
                <a:lnTo>
                  <a:pt x="1516938" y="927100"/>
                </a:lnTo>
                <a:lnTo>
                  <a:pt x="1525841" y="927100"/>
                </a:lnTo>
                <a:lnTo>
                  <a:pt x="1522641" y="939800"/>
                </a:lnTo>
                <a:lnTo>
                  <a:pt x="1519059" y="952500"/>
                </a:lnTo>
                <a:close/>
              </a:path>
              <a:path w="1536700" h="1384300">
                <a:moveTo>
                  <a:pt x="38506" y="965200"/>
                </a:moveTo>
                <a:lnTo>
                  <a:pt x="25895" y="965200"/>
                </a:lnTo>
                <a:lnTo>
                  <a:pt x="21589" y="952500"/>
                </a:lnTo>
                <a:lnTo>
                  <a:pt x="33972" y="952500"/>
                </a:lnTo>
                <a:lnTo>
                  <a:pt x="38506" y="965200"/>
                </a:lnTo>
                <a:close/>
              </a:path>
              <a:path w="1536700" h="1384300">
                <a:moveTo>
                  <a:pt x="1510804" y="965200"/>
                </a:moveTo>
                <a:lnTo>
                  <a:pt x="1498193" y="965200"/>
                </a:lnTo>
                <a:lnTo>
                  <a:pt x="1502727" y="952500"/>
                </a:lnTo>
                <a:lnTo>
                  <a:pt x="1515110" y="952500"/>
                </a:lnTo>
                <a:lnTo>
                  <a:pt x="1510804" y="965200"/>
                </a:lnTo>
                <a:close/>
              </a:path>
              <a:path w="1536700" h="1384300">
                <a:moveTo>
                  <a:pt x="48260" y="977900"/>
                </a:moveTo>
                <a:lnTo>
                  <a:pt x="35534" y="977900"/>
                </a:lnTo>
                <a:lnTo>
                  <a:pt x="30543" y="965200"/>
                </a:lnTo>
                <a:lnTo>
                  <a:pt x="43091" y="965200"/>
                </a:lnTo>
                <a:lnTo>
                  <a:pt x="48260" y="977900"/>
                </a:lnTo>
                <a:close/>
              </a:path>
              <a:path w="1536700" h="1384300">
                <a:moveTo>
                  <a:pt x="1501165" y="977900"/>
                </a:moveTo>
                <a:lnTo>
                  <a:pt x="1488439" y="977900"/>
                </a:lnTo>
                <a:lnTo>
                  <a:pt x="1493608" y="965200"/>
                </a:lnTo>
                <a:lnTo>
                  <a:pt x="1506156" y="965200"/>
                </a:lnTo>
                <a:lnTo>
                  <a:pt x="1501165" y="977900"/>
                </a:lnTo>
                <a:close/>
              </a:path>
              <a:path w="1536700" h="1384300">
                <a:moveTo>
                  <a:pt x="59194" y="990600"/>
                </a:moveTo>
                <a:lnTo>
                  <a:pt x="46456" y="990600"/>
                </a:lnTo>
                <a:lnTo>
                  <a:pt x="40843" y="977900"/>
                </a:lnTo>
                <a:lnTo>
                  <a:pt x="53428" y="977900"/>
                </a:lnTo>
                <a:lnTo>
                  <a:pt x="59194" y="990600"/>
                </a:lnTo>
                <a:close/>
              </a:path>
              <a:path w="1536700" h="1384300">
                <a:moveTo>
                  <a:pt x="1490243" y="990600"/>
                </a:moveTo>
                <a:lnTo>
                  <a:pt x="1477505" y="990600"/>
                </a:lnTo>
                <a:lnTo>
                  <a:pt x="1483271" y="977900"/>
                </a:lnTo>
                <a:lnTo>
                  <a:pt x="1495856" y="977900"/>
                </a:lnTo>
                <a:lnTo>
                  <a:pt x="1490243" y="990600"/>
                </a:lnTo>
                <a:close/>
              </a:path>
              <a:path w="1536700" h="1384300">
                <a:moveTo>
                  <a:pt x="71234" y="1003300"/>
                </a:moveTo>
                <a:lnTo>
                  <a:pt x="58597" y="1003300"/>
                </a:lnTo>
                <a:lnTo>
                  <a:pt x="52387" y="990600"/>
                </a:lnTo>
                <a:lnTo>
                  <a:pt x="64922" y="990600"/>
                </a:lnTo>
                <a:lnTo>
                  <a:pt x="71234" y="1003300"/>
                </a:lnTo>
                <a:close/>
              </a:path>
              <a:path w="1536700" h="1384300">
                <a:moveTo>
                  <a:pt x="1478102" y="1003300"/>
                </a:moveTo>
                <a:lnTo>
                  <a:pt x="1465465" y="1003300"/>
                </a:lnTo>
                <a:lnTo>
                  <a:pt x="1471777" y="990600"/>
                </a:lnTo>
                <a:lnTo>
                  <a:pt x="1484312" y="990600"/>
                </a:lnTo>
                <a:lnTo>
                  <a:pt x="1478102" y="1003300"/>
                </a:lnTo>
                <a:close/>
              </a:path>
              <a:path w="1536700" h="1384300">
                <a:moveTo>
                  <a:pt x="91147" y="1016000"/>
                </a:moveTo>
                <a:lnTo>
                  <a:pt x="71843" y="1016000"/>
                </a:lnTo>
                <a:lnTo>
                  <a:pt x="65087" y="1003300"/>
                </a:lnTo>
                <a:lnTo>
                  <a:pt x="84086" y="1003300"/>
                </a:lnTo>
                <a:lnTo>
                  <a:pt x="91147" y="1016000"/>
                </a:lnTo>
                <a:close/>
              </a:path>
              <a:path w="1536700" h="1384300">
                <a:moveTo>
                  <a:pt x="1464856" y="1016000"/>
                </a:moveTo>
                <a:lnTo>
                  <a:pt x="1445552" y="1016000"/>
                </a:lnTo>
                <a:lnTo>
                  <a:pt x="1452613" y="1003300"/>
                </a:lnTo>
                <a:lnTo>
                  <a:pt x="1471612" y="1003300"/>
                </a:lnTo>
                <a:lnTo>
                  <a:pt x="1464856" y="1016000"/>
                </a:lnTo>
                <a:close/>
              </a:path>
              <a:path w="1536700" h="1384300">
                <a:moveTo>
                  <a:pt x="113055" y="1028700"/>
                </a:moveTo>
                <a:lnTo>
                  <a:pt x="93599" y="1028700"/>
                </a:lnTo>
                <a:lnTo>
                  <a:pt x="86105" y="1016000"/>
                </a:lnTo>
                <a:lnTo>
                  <a:pt x="105333" y="1016000"/>
                </a:lnTo>
                <a:lnTo>
                  <a:pt x="113055" y="1028700"/>
                </a:lnTo>
                <a:close/>
              </a:path>
              <a:path w="1536700" h="1384300">
                <a:moveTo>
                  <a:pt x="1443101" y="1028700"/>
                </a:moveTo>
                <a:lnTo>
                  <a:pt x="1423644" y="1028700"/>
                </a:lnTo>
                <a:lnTo>
                  <a:pt x="1431366" y="1016000"/>
                </a:lnTo>
                <a:lnTo>
                  <a:pt x="1450594" y="1016000"/>
                </a:lnTo>
                <a:lnTo>
                  <a:pt x="1443101" y="1028700"/>
                </a:lnTo>
                <a:close/>
              </a:path>
              <a:path w="1536700" h="1384300">
                <a:moveTo>
                  <a:pt x="153174" y="1041400"/>
                </a:moveTo>
                <a:lnTo>
                  <a:pt x="117360" y="1041400"/>
                </a:lnTo>
                <a:lnTo>
                  <a:pt x="109232" y="1028700"/>
                </a:lnTo>
                <a:lnTo>
                  <a:pt x="144602" y="1028700"/>
                </a:lnTo>
                <a:lnTo>
                  <a:pt x="153174" y="1041400"/>
                </a:lnTo>
                <a:close/>
              </a:path>
              <a:path w="1536700" h="1384300">
                <a:moveTo>
                  <a:pt x="1419339" y="1041400"/>
                </a:moveTo>
                <a:lnTo>
                  <a:pt x="1383525" y="1041400"/>
                </a:lnTo>
                <a:lnTo>
                  <a:pt x="1392097" y="1028700"/>
                </a:lnTo>
                <a:lnTo>
                  <a:pt x="1427467" y="1028700"/>
                </a:lnTo>
                <a:lnTo>
                  <a:pt x="1419339" y="1041400"/>
                </a:lnTo>
                <a:close/>
              </a:path>
              <a:path w="1536700" h="1384300">
                <a:moveTo>
                  <a:pt x="259295" y="1054100"/>
                </a:moveTo>
                <a:lnTo>
                  <a:pt x="178790" y="1054100"/>
                </a:lnTo>
                <a:lnTo>
                  <a:pt x="169646" y="1041400"/>
                </a:lnTo>
                <a:lnTo>
                  <a:pt x="256628" y="1041400"/>
                </a:lnTo>
                <a:lnTo>
                  <a:pt x="259295" y="1054100"/>
                </a:lnTo>
                <a:close/>
              </a:path>
              <a:path w="1536700" h="1384300">
                <a:moveTo>
                  <a:pt x="747158" y="1372383"/>
                </a:moveTo>
                <a:lnTo>
                  <a:pt x="256628" y="1041400"/>
                </a:lnTo>
                <a:lnTo>
                  <a:pt x="260743" y="1041400"/>
                </a:lnTo>
                <a:lnTo>
                  <a:pt x="743536" y="1361750"/>
                </a:lnTo>
                <a:lnTo>
                  <a:pt x="747158" y="1372383"/>
                </a:lnTo>
                <a:close/>
              </a:path>
              <a:path w="1536700" h="1384300">
                <a:moveTo>
                  <a:pt x="764819" y="1384300"/>
                </a:moveTo>
                <a:lnTo>
                  <a:pt x="754967" y="1377652"/>
                </a:lnTo>
                <a:lnTo>
                  <a:pt x="758380" y="1371600"/>
                </a:lnTo>
                <a:lnTo>
                  <a:pt x="743536" y="1361750"/>
                </a:lnTo>
                <a:lnTo>
                  <a:pt x="634415" y="1041400"/>
                </a:lnTo>
                <a:lnTo>
                  <a:pt x="645591" y="1041400"/>
                </a:lnTo>
                <a:lnTo>
                  <a:pt x="641083" y="1054100"/>
                </a:lnTo>
                <a:lnTo>
                  <a:pt x="650007" y="1054100"/>
                </a:lnTo>
                <a:lnTo>
                  <a:pt x="764819" y="1384300"/>
                </a:lnTo>
                <a:close/>
              </a:path>
              <a:path w="1536700" h="1384300">
                <a:moveTo>
                  <a:pt x="650007" y="1054100"/>
                </a:moveTo>
                <a:lnTo>
                  <a:pt x="641083" y="1054100"/>
                </a:lnTo>
                <a:lnTo>
                  <a:pt x="645591" y="1041400"/>
                </a:lnTo>
                <a:lnTo>
                  <a:pt x="650007" y="1054100"/>
                </a:lnTo>
                <a:close/>
              </a:path>
              <a:path w="1536700" h="1384300">
                <a:moveTo>
                  <a:pt x="1357909" y="1054100"/>
                </a:moveTo>
                <a:lnTo>
                  <a:pt x="650007" y="1054100"/>
                </a:lnTo>
                <a:lnTo>
                  <a:pt x="645591" y="1041400"/>
                </a:lnTo>
                <a:lnTo>
                  <a:pt x="1367053" y="1041400"/>
                </a:lnTo>
                <a:lnTo>
                  <a:pt x="1357909" y="1054100"/>
                </a:lnTo>
                <a:close/>
              </a:path>
              <a:path w="1536700" h="1384300">
                <a:moveTo>
                  <a:pt x="754967" y="1377652"/>
                </a:moveTo>
                <a:lnTo>
                  <a:pt x="747158" y="1372383"/>
                </a:lnTo>
                <a:lnTo>
                  <a:pt x="743536" y="1361750"/>
                </a:lnTo>
                <a:lnTo>
                  <a:pt x="758380" y="1371600"/>
                </a:lnTo>
                <a:lnTo>
                  <a:pt x="754967" y="1377652"/>
                </a:lnTo>
                <a:close/>
              </a:path>
              <a:path w="1536700" h="1384300">
                <a:moveTo>
                  <a:pt x="751217" y="1384300"/>
                </a:moveTo>
                <a:lnTo>
                  <a:pt x="747158" y="1372383"/>
                </a:lnTo>
                <a:lnTo>
                  <a:pt x="754967" y="1377652"/>
                </a:lnTo>
                <a:lnTo>
                  <a:pt x="751217" y="138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688905" y="1496250"/>
            <a:ext cx="110299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微软雅黑"/>
                <a:cs typeface="微软雅黑"/>
              </a:rPr>
              <a:t>托马斯·</a:t>
            </a:r>
            <a:r>
              <a:rPr dirty="0" sz="2000">
                <a:latin typeface="微软雅黑"/>
                <a:cs typeface="微软雅黑"/>
              </a:rPr>
              <a:t>杨 </a:t>
            </a:r>
            <a:r>
              <a:rPr dirty="0" sz="2000">
                <a:latin typeface="微软雅黑"/>
                <a:cs typeface="微软雅黑"/>
              </a:rPr>
              <a:t>双缝干</a:t>
            </a:r>
            <a:r>
              <a:rPr dirty="0" sz="2000" spc="5">
                <a:latin typeface="微软雅黑"/>
                <a:cs typeface="微软雅黑"/>
              </a:rPr>
              <a:t>涉 </a:t>
            </a:r>
            <a:r>
              <a:rPr dirty="0" sz="2000">
                <a:latin typeface="微软雅黑"/>
                <a:cs typeface="微软雅黑"/>
              </a:rPr>
              <a:t>实</a:t>
            </a:r>
            <a:r>
              <a:rPr dirty="0" sz="2000" spc="5">
                <a:latin typeface="微软雅黑"/>
                <a:cs typeface="微软雅黑"/>
              </a:rPr>
              <a:t>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46662" y="2795587"/>
            <a:ext cx="0" cy="440055"/>
          </a:xfrm>
          <a:custGeom>
            <a:avLst/>
            <a:gdLst/>
            <a:ahLst/>
            <a:cxnLst/>
            <a:rect l="l" t="t" r="r" b="b"/>
            <a:pathLst>
              <a:path w="0" h="440055">
                <a:moveTo>
                  <a:pt x="0" y="0"/>
                </a:moveTo>
                <a:lnTo>
                  <a:pt x="0" y="43973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849052" y="3192462"/>
            <a:ext cx="1481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0265" algn="l"/>
              </a:tabLst>
            </a:pPr>
            <a:r>
              <a:rPr dirty="0" sz="2400" spc="-5" b="1">
                <a:latin typeface="Calibri"/>
                <a:cs typeface="Calibri"/>
              </a:rPr>
              <a:t>180</a:t>
            </a:r>
            <a:r>
              <a:rPr dirty="0" sz="2400" b="1">
                <a:latin typeface="Calibri"/>
                <a:cs typeface="Calibri"/>
              </a:rPr>
              <a:t>1	</a:t>
            </a:r>
            <a:r>
              <a:rPr dirty="0" sz="2400" spc="-5" b="1">
                <a:latin typeface="Calibri"/>
                <a:cs typeface="Calibri"/>
              </a:rPr>
              <a:t>181</a:t>
            </a:r>
            <a:r>
              <a:rPr dirty="0" sz="2400" b="1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56632" y="918972"/>
            <a:ext cx="1661795" cy="1887220"/>
          </a:xfrm>
          <a:custGeom>
            <a:avLst/>
            <a:gdLst/>
            <a:ahLst/>
            <a:cxnLst/>
            <a:rect l="l" t="t" r="r" b="b"/>
            <a:pathLst>
              <a:path w="1661795" h="1887220">
                <a:moveTo>
                  <a:pt x="1508760" y="914400"/>
                </a:moveTo>
                <a:lnTo>
                  <a:pt x="170687" y="914400"/>
                </a:lnTo>
                <a:lnTo>
                  <a:pt x="122666" y="906722"/>
                </a:lnTo>
                <a:lnTo>
                  <a:pt x="80915" y="885134"/>
                </a:lnTo>
                <a:lnTo>
                  <a:pt x="47987" y="852189"/>
                </a:lnTo>
                <a:lnTo>
                  <a:pt x="26371" y="810368"/>
                </a:lnTo>
                <a:lnTo>
                  <a:pt x="18605" y="762203"/>
                </a:lnTo>
                <a:lnTo>
                  <a:pt x="18287" y="762000"/>
                </a:lnTo>
                <a:lnTo>
                  <a:pt x="18287" y="152399"/>
                </a:lnTo>
                <a:lnTo>
                  <a:pt x="26209" y="104318"/>
                </a:lnTo>
                <a:lnTo>
                  <a:pt x="47918" y="62528"/>
                </a:lnTo>
                <a:lnTo>
                  <a:pt x="80907" y="29539"/>
                </a:lnTo>
                <a:lnTo>
                  <a:pt x="122667" y="7860"/>
                </a:lnTo>
                <a:lnTo>
                  <a:pt x="170687" y="0"/>
                </a:lnTo>
                <a:lnTo>
                  <a:pt x="1508760" y="0"/>
                </a:lnTo>
                <a:lnTo>
                  <a:pt x="1557176" y="7860"/>
                </a:lnTo>
                <a:lnTo>
                  <a:pt x="1599134" y="29539"/>
                </a:lnTo>
                <a:lnTo>
                  <a:pt x="1632123" y="62528"/>
                </a:lnTo>
                <a:lnTo>
                  <a:pt x="1653635" y="104318"/>
                </a:lnTo>
                <a:lnTo>
                  <a:pt x="1661160" y="152399"/>
                </a:lnTo>
                <a:lnTo>
                  <a:pt x="1661160" y="533399"/>
                </a:lnTo>
                <a:lnTo>
                  <a:pt x="1661667" y="762000"/>
                </a:lnTo>
                <a:lnTo>
                  <a:pt x="1661160" y="762000"/>
                </a:lnTo>
                <a:lnTo>
                  <a:pt x="1653635" y="810264"/>
                </a:lnTo>
                <a:lnTo>
                  <a:pt x="1632123" y="852145"/>
                </a:lnTo>
                <a:lnTo>
                  <a:pt x="1599109" y="885147"/>
                </a:lnTo>
                <a:lnTo>
                  <a:pt x="1557166" y="906724"/>
                </a:lnTo>
                <a:lnTo>
                  <a:pt x="1508760" y="914400"/>
                </a:lnTo>
                <a:close/>
              </a:path>
              <a:path w="1661795" h="1887220">
                <a:moveTo>
                  <a:pt x="1661667" y="762190"/>
                </a:moveTo>
                <a:lnTo>
                  <a:pt x="1661160" y="762000"/>
                </a:lnTo>
                <a:lnTo>
                  <a:pt x="1661667" y="762000"/>
                </a:lnTo>
                <a:lnTo>
                  <a:pt x="1661667" y="762190"/>
                </a:lnTo>
                <a:close/>
              </a:path>
              <a:path w="1661795" h="1887220">
                <a:moveTo>
                  <a:pt x="0" y="1886711"/>
                </a:moveTo>
                <a:lnTo>
                  <a:pt x="292607" y="914400"/>
                </a:lnTo>
                <a:lnTo>
                  <a:pt x="702563" y="914400"/>
                </a:lnTo>
                <a:lnTo>
                  <a:pt x="0" y="1886711"/>
                </a:lnTo>
                <a:close/>
              </a:path>
            </a:pathLst>
          </a:custGeom>
          <a:solidFill>
            <a:srgbClr val="C5D9F0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43513" y="914400"/>
            <a:ext cx="1679575" cy="1905000"/>
          </a:xfrm>
          <a:custGeom>
            <a:avLst/>
            <a:gdLst/>
            <a:ahLst/>
            <a:cxnLst/>
            <a:rect l="l" t="t" r="r" b="b"/>
            <a:pathLst>
              <a:path w="1679575" h="1905000">
                <a:moveTo>
                  <a:pt x="147104" y="12700"/>
                </a:moveTo>
                <a:lnTo>
                  <a:pt x="115976" y="12700"/>
                </a:lnTo>
                <a:lnTo>
                  <a:pt x="122948" y="0"/>
                </a:lnTo>
                <a:lnTo>
                  <a:pt x="154482" y="0"/>
                </a:lnTo>
                <a:lnTo>
                  <a:pt x="147104" y="12700"/>
                </a:lnTo>
                <a:close/>
              </a:path>
              <a:path w="1679575" h="1905000">
                <a:moveTo>
                  <a:pt x="1590535" y="12700"/>
                </a:moveTo>
                <a:lnTo>
                  <a:pt x="1559407" y="12700"/>
                </a:lnTo>
                <a:lnTo>
                  <a:pt x="1552028" y="0"/>
                </a:lnTo>
                <a:lnTo>
                  <a:pt x="1583563" y="0"/>
                </a:lnTo>
                <a:lnTo>
                  <a:pt x="1590535" y="12700"/>
                </a:lnTo>
                <a:close/>
              </a:path>
              <a:path w="1679575" h="1905000">
                <a:moveTo>
                  <a:pt x="113652" y="25400"/>
                </a:moveTo>
                <a:lnTo>
                  <a:pt x="96253" y="25400"/>
                </a:lnTo>
                <a:lnTo>
                  <a:pt x="102628" y="12700"/>
                </a:lnTo>
                <a:lnTo>
                  <a:pt x="120218" y="12700"/>
                </a:lnTo>
                <a:lnTo>
                  <a:pt x="113652" y="25400"/>
                </a:lnTo>
                <a:close/>
              </a:path>
              <a:path w="1679575" h="1905000">
                <a:moveTo>
                  <a:pt x="1610258" y="25400"/>
                </a:moveTo>
                <a:lnTo>
                  <a:pt x="1592859" y="25400"/>
                </a:lnTo>
                <a:lnTo>
                  <a:pt x="1586293" y="12700"/>
                </a:lnTo>
                <a:lnTo>
                  <a:pt x="1603883" y="12700"/>
                </a:lnTo>
                <a:lnTo>
                  <a:pt x="1610258" y="25400"/>
                </a:lnTo>
                <a:close/>
              </a:path>
              <a:path w="1679575" h="1905000">
                <a:moveTo>
                  <a:pt x="95694" y="38100"/>
                </a:moveTo>
                <a:lnTo>
                  <a:pt x="78447" y="38100"/>
                </a:lnTo>
                <a:lnTo>
                  <a:pt x="84150" y="25400"/>
                </a:lnTo>
                <a:lnTo>
                  <a:pt x="101676" y="25400"/>
                </a:lnTo>
                <a:lnTo>
                  <a:pt x="95694" y="38100"/>
                </a:lnTo>
                <a:close/>
              </a:path>
              <a:path w="1679575" h="1905000">
                <a:moveTo>
                  <a:pt x="1628063" y="38100"/>
                </a:moveTo>
                <a:lnTo>
                  <a:pt x="1610817" y="38100"/>
                </a:lnTo>
                <a:lnTo>
                  <a:pt x="1604835" y="25400"/>
                </a:lnTo>
                <a:lnTo>
                  <a:pt x="1622361" y="25400"/>
                </a:lnTo>
                <a:lnTo>
                  <a:pt x="1628063" y="38100"/>
                </a:lnTo>
                <a:close/>
              </a:path>
              <a:path w="1679575" h="1905000">
                <a:moveTo>
                  <a:pt x="79641" y="50800"/>
                </a:moveTo>
                <a:lnTo>
                  <a:pt x="67792" y="50800"/>
                </a:lnTo>
                <a:lnTo>
                  <a:pt x="72986" y="38100"/>
                </a:lnTo>
                <a:lnTo>
                  <a:pt x="84937" y="38100"/>
                </a:lnTo>
                <a:lnTo>
                  <a:pt x="79641" y="50800"/>
                </a:lnTo>
                <a:close/>
              </a:path>
              <a:path w="1679575" h="1905000">
                <a:moveTo>
                  <a:pt x="1638719" y="50800"/>
                </a:moveTo>
                <a:lnTo>
                  <a:pt x="1626869" y="50800"/>
                </a:lnTo>
                <a:lnTo>
                  <a:pt x="1621574" y="38100"/>
                </a:lnTo>
                <a:lnTo>
                  <a:pt x="1633524" y="38100"/>
                </a:lnTo>
                <a:lnTo>
                  <a:pt x="1638719" y="50800"/>
                </a:lnTo>
                <a:close/>
              </a:path>
              <a:path w="1679575" h="1905000">
                <a:moveTo>
                  <a:pt x="65747" y="63500"/>
                </a:moveTo>
                <a:lnTo>
                  <a:pt x="53809" y="63500"/>
                </a:lnTo>
                <a:lnTo>
                  <a:pt x="58178" y="50800"/>
                </a:lnTo>
                <a:lnTo>
                  <a:pt x="70269" y="50800"/>
                </a:lnTo>
                <a:lnTo>
                  <a:pt x="65747" y="63500"/>
                </a:lnTo>
                <a:close/>
              </a:path>
              <a:path w="1679575" h="1905000">
                <a:moveTo>
                  <a:pt x="1652701" y="63500"/>
                </a:moveTo>
                <a:lnTo>
                  <a:pt x="1640763" y="63500"/>
                </a:lnTo>
                <a:lnTo>
                  <a:pt x="1636242" y="50800"/>
                </a:lnTo>
                <a:lnTo>
                  <a:pt x="1648333" y="50800"/>
                </a:lnTo>
                <a:lnTo>
                  <a:pt x="1652701" y="63500"/>
                </a:lnTo>
                <a:close/>
              </a:path>
              <a:path w="1679575" h="1905000">
                <a:moveTo>
                  <a:pt x="50990" y="88900"/>
                </a:moveTo>
                <a:lnTo>
                  <a:pt x="42456" y="88900"/>
                </a:lnTo>
                <a:lnTo>
                  <a:pt x="45935" y="76200"/>
                </a:lnTo>
                <a:lnTo>
                  <a:pt x="49720" y="63500"/>
                </a:lnTo>
                <a:lnTo>
                  <a:pt x="61760" y="63500"/>
                </a:lnTo>
                <a:lnTo>
                  <a:pt x="57797" y="76200"/>
                </a:lnTo>
                <a:lnTo>
                  <a:pt x="54355" y="76200"/>
                </a:lnTo>
                <a:lnTo>
                  <a:pt x="50990" y="88900"/>
                </a:lnTo>
                <a:close/>
              </a:path>
              <a:path w="1679575" h="1905000">
                <a:moveTo>
                  <a:pt x="1664055" y="88900"/>
                </a:moveTo>
                <a:lnTo>
                  <a:pt x="1655521" y="88900"/>
                </a:lnTo>
                <a:lnTo>
                  <a:pt x="1652155" y="76200"/>
                </a:lnTo>
                <a:lnTo>
                  <a:pt x="1648714" y="76200"/>
                </a:lnTo>
                <a:lnTo>
                  <a:pt x="1644751" y="63500"/>
                </a:lnTo>
                <a:lnTo>
                  <a:pt x="1656791" y="63500"/>
                </a:lnTo>
                <a:lnTo>
                  <a:pt x="1660575" y="76200"/>
                </a:lnTo>
                <a:lnTo>
                  <a:pt x="1664055" y="88900"/>
                </a:lnTo>
                <a:close/>
              </a:path>
              <a:path w="1679575" h="1905000">
                <a:moveTo>
                  <a:pt x="45402" y="101600"/>
                </a:moveTo>
                <a:lnTo>
                  <a:pt x="36499" y="101600"/>
                </a:lnTo>
                <a:lnTo>
                  <a:pt x="39319" y="88900"/>
                </a:lnTo>
                <a:lnTo>
                  <a:pt x="48132" y="88900"/>
                </a:lnTo>
                <a:lnTo>
                  <a:pt x="45402" y="101600"/>
                </a:lnTo>
                <a:close/>
              </a:path>
              <a:path w="1679575" h="1905000">
                <a:moveTo>
                  <a:pt x="1670011" y="101600"/>
                </a:moveTo>
                <a:lnTo>
                  <a:pt x="1661109" y="101600"/>
                </a:lnTo>
                <a:lnTo>
                  <a:pt x="1658378" y="88900"/>
                </a:lnTo>
                <a:lnTo>
                  <a:pt x="1667192" y="88900"/>
                </a:lnTo>
                <a:lnTo>
                  <a:pt x="1670011" y="101600"/>
                </a:lnTo>
                <a:close/>
              </a:path>
              <a:path w="1679575" h="1905000">
                <a:moveTo>
                  <a:pt x="41109" y="114300"/>
                </a:moveTo>
                <a:lnTo>
                  <a:pt x="31915" y="114300"/>
                </a:lnTo>
                <a:lnTo>
                  <a:pt x="34023" y="101600"/>
                </a:lnTo>
                <a:lnTo>
                  <a:pt x="43154" y="101600"/>
                </a:lnTo>
                <a:lnTo>
                  <a:pt x="41109" y="114300"/>
                </a:lnTo>
                <a:close/>
              </a:path>
              <a:path w="1679575" h="1905000">
                <a:moveTo>
                  <a:pt x="1674596" y="114300"/>
                </a:moveTo>
                <a:lnTo>
                  <a:pt x="1665401" y="114300"/>
                </a:lnTo>
                <a:lnTo>
                  <a:pt x="1663357" y="101600"/>
                </a:lnTo>
                <a:lnTo>
                  <a:pt x="1672488" y="101600"/>
                </a:lnTo>
                <a:lnTo>
                  <a:pt x="1674596" y="114300"/>
                </a:lnTo>
                <a:close/>
              </a:path>
              <a:path w="1679575" h="1905000">
                <a:moveTo>
                  <a:pt x="37236" y="139700"/>
                </a:moveTo>
                <a:lnTo>
                  <a:pt x="27774" y="139700"/>
                </a:lnTo>
                <a:lnTo>
                  <a:pt x="28765" y="127000"/>
                </a:lnTo>
                <a:lnTo>
                  <a:pt x="30149" y="114300"/>
                </a:lnTo>
                <a:lnTo>
                  <a:pt x="41160" y="114300"/>
                </a:lnTo>
                <a:lnTo>
                  <a:pt x="39458" y="127000"/>
                </a:lnTo>
                <a:lnTo>
                  <a:pt x="38201" y="127000"/>
                </a:lnTo>
                <a:lnTo>
                  <a:pt x="37236" y="139700"/>
                </a:lnTo>
                <a:close/>
              </a:path>
              <a:path w="1679575" h="1905000">
                <a:moveTo>
                  <a:pt x="1678736" y="139700"/>
                </a:moveTo>
                <a:lnTo>
                  <a:pt x="1669275" y="139700"/>
                </a:lnTo>
                <a:lnTo>
                  <a:pt x="1668310" y="127000"/>
                </a:lnTo>
                <a:lnTo>
                  <a:pt x="1667052" y="127000"/>
                </a:lnTo>
                <a:lnTo>
                  <a:pt x="1665350" y="114300"/>
                </a:lnTo>
                <a:lnTo>
                  <a:pt x="1676361" y="114300"/>
                </a:lnTo>
                <a:lnTo>
                  <a:pt x="1677746" y="127000"/>
                </a:lnTo>
                <a:lnTo>
                  <a:pt x="1678736" y="139700"/>
                </a:lnTo>
                <a:close/>
              </a:path>
              <a:path w="1679575" h="1905000">
                <a:moveTo>
                  <a:pt x="37261" y="774700"/>
                </a:moveTo>
                <a:lnTo>
                  <a:pt x="27165" y="774700"/>
                </a:lnTo>
                <a:lnTo>
                  <a:pt x="26962" y="762000"/>
                </a:lnTo>
                <a:lnTo>
                  <a:pt x="26962" y="152400"/>
                </a:lnTo>
                <a:lnTo>
                  <a:pt x="27165" y="139700"/>
                </a:lnTo>
                <a:lnTo>
                  <a:pt x="36690" y="139700"/>
                </a:lnTo>
                <a:lnTo>
                  <a:pt x="36487" y="152400"/>
                </a:lnTo>
                <a:lnTo>
                  <a:pt x="36487" y="762000"/>
                </a:lnTo>
                <a:lnTo>
                  <a:pt x="36677" y="762000"/>
                </a:lnTo>
                <a:lnTo>
                  <a:pt x="37261" y="774700"/>
                </a:lnTo>
                <a:close/>
              </a:path>
              <a:path w="1679575" h="1905000">
                <a:moveTo>
                  <a:pt x="1679346" y="774700"/>
                </a:moveTo>
                <a:lnTo>
                  <a:pt x="1669249" y="774700"/>
                </a:lnTo>
                <a:lnTo>
                  <a:pt x="1669834" y="762000"/>
                </a:lnTo>
                <a:lnTo>
                  <a:pt x="1670024" y="762000"/>
                </a:lnTo>
                <a:lnTo>
                  <a:pt x="1670024" y="152400"/>
                </a:lnTo>
                <a:lnTo>
                  <a:pt x="1669821" y="139700"/>
                </a:lnTo>
                <a:lnTo>
                  <a:pt x="1679346" y="139700"/>
                </a:lnTo>
                <a:lnTo>
                  <a:pt x="1679549" y="152400"/>
                </a:lnTo>
                <a:lnTo>
                  <a:pt x="1679549" y="762000"/>
                </a:lnTo>
                <a:lnTo>
                  <a:pt x="1679346" y="774700"/>
                </a:lnTo>
                <a:close/>
              </a:path>
              <a:path w="1679575" h="1905000">
                <a:moveTo>
                  <a:pt x="38201" y="787400"/>
                </a:moveTo>
                <a:lnTo>
                  <a:pt x="28765" y="787400"/>
                </a:lnTo>
                <a:lnTo>
                  <a:pt x="27774" y="774700"/>
                </a:lnTo>
                <a:lnTo>
                  <a:pt x="37236" y="774700"/>
                </a:lnTo>
                <a:lnTo>
                  <a:pt x="38201" y="787400"/>
                </a:lnTo>
                <a:close/>
              </a:path>
              <a:path w="1679575" h="1905000">
                <a:moveTo>
                  <a:pt x="1677746" y="787400"/>
                </a:moveTo>
                <a:lnTo>
                  <a:pt x="1668310" y="787400"/>
                </a:lnTo>
                <a:lnTo>
                  <a:pt x="1669275" y="774700"/>
                </a:lnTo>
                <a:lnTo>
                  <a:pt x="1678736" y="774700"/>
                </a:lnTo>
                <a:lnTo>
                  <a:pt x="1677746" y="787400"/>
                </a:lnTo>
                <a:close/>
              </a:path>
              <a:path w="1679575" h="1905000">
                <a:moveTo>
                  <a:pt x="45478" y="812800"/>
                </a:moveTo>
                <a:lnTo>
                  <a:pt x="34023" y="812800"/>
                </a:lnTo>
                <a:lnTo>
                  <a:pt x="31915" y="800100"/>
                </a:lnTo>
                <a:lnTo>
                  <a:pt x="30149" y="787400"/>
                </a:lnTo>
                <a:lnTo>
                  <a:pt x="39458" y="787400"/>
                </a:lnTo>
                <a:lnTo>
                  <a:pt x="41160" y="800100"/>
                </a:lnTo>
                <a:lnTo>
                  <a:pt x="43091" y="800100"/>
                </a:lnTo>
                <a:lnTo>
                  <a:pt x="45478" y="812800"/>
                </a:lnTo>
                <a:close/>
              </a:path>
              <a:path w="1679575" h="1905000">
                <a:moveTo>
                  <a:pt x="1672488" y="812800"/>
                </a:moveTo>
                <a:lnTo>
                  <a:pt x="1661033" y="812800"/>
                </a:lnTo>
                <a:lnTo>
                  <a:pt x="1663420" y="800100"/>
                </a:lnTo>
                <a:lnTo>
                  <a:pt x="1665350" y="800100"/>
                </a:lnTo>
                <a:lnTo>
                  <a:pt x="1667052" y="787400"/>
                </a:lnTo>
                <a:lnTo>
                  <a:pt x="1676361" y="787400"/>
                </a:lnTo>
                <a:lnTo>
                  <a:pt x="1674596" y="800100"/>
                </a:lnTo>
                <a:lnTo>
                  <a:pt x="1672488" y="812800"/>
                </a:lnTo>
                <a:close/>
              </a:path>
              <a:path w="1679575" h="1905000">
                <a:moveTo>
                  <a:pt x="51092" y="825500"/>
                </a:moveTo>
                <a:lnTo>
                  <a:pt x="39319" y="825500"/>
                </a:lnTo>
                <a:lnTo>
                  <a:pt x="36499" y="812800"/>
                </a:lnTo>
                <a:lnTo>
                  <a:pt x="48044" y="812800"/>
                </a:lnTo>
                <a:lnTo>
                  <a:pt x="51092" y="825500"/>
                </a:lnTo>
                <a:close/>
              </a:path>
              <a:path w="1679575" h="1905000">
                <a:moveTo>
                  <a:pt x="1667192" y="825500"/>
                </a:moveTo>
                <a:lnTo>
                  <a:pt x="1655419" y="825500"/>
                </a:lnTo>
                <a:lnTo>
                  <a:pt x="1658467" y="812800"/>
                </a:lnTo>
                <a:lnTo>
                  <a:pt x="1670011" y="812800"/>
                </a:lnTo>
                <a:lnTo>
                  <a:pt x="1667192" y="825500"/>
                </a:lnTo>
                <a:close/>
              </a:path>
              <a:path w="1679575" h="1905000">
                <a:moveTo>
                  <a:pt x="57912" y="838200"/>
                </a:moveTo>
                <a:lnTo>
                  <a:pt x="45935" y="838200"/>
                </a:lnTo>
                <a:lnTo>
                  <a:pt x="42456" y="825500"/>
                </a:lnTo>
                <a:lnTo>
                  <a:pt x="54241" y="825500"/>
                </a:lnTo>
                <a:lnTo>
                  <a:pt x="57912" y="838200"/>
                </a:lnTo>
                <a:close/>
              </a:path>
              <a:path w="1679575" h="1905000">
                <a:moveTo>
                  <a:pt x="1660575" y="838200"/>
                </a:moveTo>
                <a:lnTo>
                  <a:pt x="1648599" y="838200"/>
                </a:lnTo>
                <a:lnTo>
                  <a:pt x="1652269" y="825500"/>
                </a:lnTo>
                <a:lnTo>
                  <a:pt x="1664055" y="825500"/>
                </a:lnTo>
                <a:lnTo>
                  <a:pt x="1660575" y="838200"/>
                </a:lnTo>
                <a:close/>
              </a:path>
              <a:path w="1679575" h="1905000">
                <a:moveTo>
                  <a:pt x="65887" y="850900"/>
                </a:moveTo>
                <a:lnTo>
                  <a:pt x="53809" y="850900"/>
                </a:lnTo>
                <a:lnTo>
                  <a:pt x="49720" y="838200"/>
                </a:lnTo>
                <a:lnTo>
                  <a:pt x="61633" y="838200"/>
                </a:lnTo>
                <a:lnTo>
                  <a:pt x="65887" y="850900"/>
                </a:lnTo>
                <a:close/>
              </a:path>
              <a:path w="1679575" h="1905000">
                <a:moveTo>
                  <a:pt x="1652701" y="850900"/>
                </a:moveTo>
                <a:lnTo>
                  <a:pt x="1640624" y="850900"/>
                </a:lnTo>
                <a:lnTo>
                  <a:pt x="1644878" y="838200"/>
                </a:lnTo>
                <a:lnTo>
                  <a:pt x="1656791" y="838200"/>
                </a:lnTo>
                <a:lnTo>
                  <a:pt x="1652701" y="850900"/>
                </a:lnTo>
                <a:close/>
              </a:path>
              <a:path w="1679575" h="1905000">
                <a:moveTo>
                  <a:pt x="74917" y="863600"/>
                </a:moveTo>
                <a:lnTo>
                  <a:pt x="62852" y="863600"/>
                </a:lnTo>
                <a:lnTo>
                  <a:pt x="58178" y="850900"/>
                </a:lnTo>
                <a:lnTo>
                  <a:pt x="70129" y="850900"/>
                </a:lnTo>
                <a:lnTo>
                  <a:pt x="74917" y="863600"/>
                </a:lnTo>
                <a:close/>
              </a:path>
              <a:path w="1679575" h="1905000">
                <a:moveTo>
                  <a:pt x="1643659" y="863600"/>
                </a:moveTo>
                <a:lnTo>
                  <a:pt x="1631594" y="863600"/>
                </a:lnTo>
                <a:lnTo>
                  <a:pt x="1636382" y="850900"/>
                </a:lnTo>
                <a:lnTo>
                  <a:pt x="1648333" y="850900"/>
                </a:lnTo>
                <a:lnTo>
                  <a:pt x="1643659" y="863600"/>
                </a:lnTo>
                <a:close/>
              </a:path>
              <a:path w="1679575" h="1905000">
                <a:moveTo>
                  <a:pt x="90297" y="876300"/>
                </a:moveTo>
                <a:lnTo>
                  <a:pt x="72986" y="876300"/>
                </a:lnTo>
                <a:lnTo>
                  <a:pt x="67792" y="863600"/>
                </a:lnTo>
                <a:lnTo>
                  <a:pt x="84772" y="863600"/>
                </a:lnTo>
                <a:lnTo>
                  <a:pt x="90297" y="876300"/>
                </a:lnTo>
                <a:close/>
              </a:path>
              <a:path w="1679575" h="1905000">
                <a:moveTo>
                  <a:pt x="1633524" y="876300"/>
                </a:moveTo>
                <a:lnTo>
                  <a:pt x="1616214" y="876300"/>
                </a:lnTo>
                <a:lnTo>
                  <a:pt x="1621739" y="863600"/>
                </a:lnTo>
                <a:lnTo>
                  <a:pt x="1638719" y="863600"/>
                </a:lnTo>
                <a:lnTo>
                  <a:pt x="1633524" y="876300"/>
                </a:lnTo>
                <a:close/>
              </a:path>
              <a:path w="1679575" h="1905000">
                <a:moveTo>
                  <a:pt x="101676" y="889000"/>
                </a:moveTo>
                <a:lnTo>
                  <a:pt x="90081" y="889000"/>
                </a:lnTo>
                <a:lnTo>
                  <a:pt x="84150" y="876300"/>
                </a:lnTo>
                <a:lnTo>
                  <a:pt x="95694" y="876300"/>
                </a:lnTo>
                <a:lnTo>
                  <a:pt x="101676" y="889000"/>
                </a:lnTo>
                <a:close/>
              </a:path>
              <a:path w="1679575" h="1905000">
                <a:moveTo>
                  <a:pt x="1616430" y="889000"/>
                </a:moveTo>
                <a:lnTo>
                  <a:pt x="1604835" y="889000"/>
                </a:lnTo>
                <a:lnTo>
                  <a:pt x="1610817" y="876300"/>
                </a:lnTo>
                <a:lnTo>
                  <a:pt x="1622361" y="876300"/>
                </a:lnTo>
                <a:lnTo>
                  <a:pt x="1616430" y="889000"/>
                </a:lnTo>
                <a:close/>
              </a:path>
              <a:path w="1679575" h="1905000">
                <a:moveTo>
                  <a:pt x="126758" y="901700"/>
                </a:moveTo>
                <a:lnTo>
                  <a:pt x="109207" y="901700"/>
                </a:lnTo>
                <a:lnTo>
                  <a:pt x="102628" y="889000"/>
                </a:lnTo>
                <a:lnTo>
                  <a:pt x="120014" y="889000"/>
                </a:lnTo>
                <a:lnTo>
                  <a:pt x="126758" y="901700"/>
                </a:lnTo>
                <a:close/>
              </a:path>
              <a:path w="1679575" h="1905000">
                <a:moveTo>
                  <a:pt x="1597304" y="901700"/>
                </a:moveTo>
                <a:lnTo>
                  <a:pt x="1579753" y="901700"/>
                </a:lnTo>
                <a:lnTo>
                  <a:pt x="1586496" y="889000"/>
                </a:lnTo>
                <a:lnTo>
                  <a:pt x="1603883" y="889000"/>
                </a:lnTo>
                <a:lnTo>
                  <a:pt x="1597304" y="901700"/>
                </a:lnTo>
                <a:close/>
              </a:path>
              <a:path w="1679575" h="1905000">
                <a:moveTo>
                  <a:pt x="184238" y="914400"/>
                </a:moveTo>
                <a:lnTo>
                  <a:pt x="137388" y="914400"/>
                </a:lnTo>
                <a:lnTo>
                  <a:pt x="130086" y="901700"/>
                </a:lnTo>
                <a:lnTo>
                  <a:pt x="176402" y="901700"/>
                </a:lnTo>
                <a:lnTo>
                  <a:pt x="184238" y="914400"/>
                </a:lnTo>
                <a:close/>
              </a:path>
              <a:path w="1679575" h="1905000">
                <a:moveTo>
                  <a:pt x="1569123" y="914400"/>
                </a:moveTo>
                <a:lnTo>
                  <a:pt x="1522272" y="914400"/>
                </a:lnTo>
                <a:lnTo>
                  <a:pt x="1530108" y="901700"/>
                </a:lnTo>
                <a:lnTo>
                  <a:pt x="1576425" y="901700"/>
                </a:lnTo>
                <a:lnTo>
                  <a:pt x="1569123" y="914400"/>
                </a:lnTo>
                <a:close/>
              </a:path>
              <a:path w="1679575" h="1905000">
                <a:moveTo>
                  <a:pt x="0" y="1905000"/>
                </a:moveTo>
                <a:lnTo>
                  <a:pt x="301002" y="914400"/>
                </a:lnTo>
                <a:lnTo>
                  <a:pt x="311975" y="914400"/>
                </a:lnTo>
                <a:lnTo>
                  <a:pt x="23319" y="1859794"/>
                </a:lnTo>
                <a:lnTo>
                  <a:pt x="8851" y="1879600"/>
                </a:lnTo>
                <a:lnTo>
                  <a:pt x="18466" y="1879600"/>
                </a:lnTo>
                <a:lnTo>
                  <a:pt x="0" y="1905000"/>
                </a:lnTo>
                <a:close/>
              </a:path>
              <a:path w="1679575" h="1905000">
                <a:moveTo>
                  <a:pt x="18466" y="1879600"/>
                </a:moveTo>
                <a:lnTo>
                  <a:pt x="17272" y="1879600"/>
                </a:lnTo>
                <a:lnTo>
                  <a:pt x="23319" y="1859794"/>
                </a:lnTo>
                <a:lnTo>
                  <a:pt x="713905" y="914400"/>
                </a:lnTo>
                <a:lnTo>
                  <a:pt x="720191" y="914400"/>
                </a:lnTo>
                <a:lnTo>
                  <a:pt x="18466" y="1879600"/>
                </a:lnTo>
                <a:close/>
              </a:path>
              <a:path w="1679575" h="1905000">
                <a:moveTo>
                  <a:pt x="17272" y="1879600"/>
                </a:moveTo>
                <a:lnTo>
                  <a:pt x="8851" y="1879600"/>
                </a:lnTo>
                <a:lnTo>
                  <a:pt x="23319" y="1859794"/>
                </a:lnTo>
                <a:lnTo>
                  <a:pt x="17272" y="1879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375783" y="989837"/>
            <a:ext cx="1042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菲涅</a:t>
            </a:r>
            <a:r>
              <a:rPr dirty="0" sz="2000" spc="5">
                <a:latin typeface="微软雅黑"/>
                <a:cs typeface="微软雅黑"/>
              </a:rPr>
              <a:t>耳 </a:t>
            </a:r>
            <a:r>
              <a:rPr dirty="0" sz="2000">
                <a:latin typeface="微软雅黑"/>
                <a:cs typeface="微软雅黑"/>
              </a:rPr>
              <a:t>衍射实</a:t>
            </a:r>
            <a:r>
              <a:rPr dirty="0" sz="2000" spc="5">
                <a:latin typeface="微软雅黑"/>
                <a:cs typeface="微软雅黑"/>
              </a:rPr>
              <a:t>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75487" y="1133855"/>
            <a:ext cx="1910080" cy="1603375"/>
          </a:xfrm>
          <a:custGeom>
            <a:avLst/>
            <a:gdLst/>
            <a:ahLst/>
            <a:cxnLst/>
            <a:rect l="l" t="t" r="r" b="b"/>
            <a:pathLst>
              <a:path w="1910079" h="1603375">
                <a:moveTo>
                  <a:pt x="1910016" y="762000"/>
                </a:moveTo>
                <a:lnTo>
                  <a:pt x="444" y="762000"/>
                </a:lnTo>
                <a:lnTo>
                  <a:pt x="444" y="152400"/>
                </a:lnTo>
                <a:lnTo>
                  <a:pt x="7999" y="104044"/>
                </a:lnTo>
                <a:lnTo>
                  <a:pt x="29526" y="62117"/>
                </a:lnTo>
                <a:lnTo>
                  <a:pt x="62515" y="29127"/>
                </a:lnTo>
                <a:lnTo>
                  <a:pt x="104458" y="7585"/>
                </a:lnTo>
                <a:lnTo>
                  <a:pt x="152844" y="0"/>
                </a:lnTo>
                <a:lnTo>
                  <a:pt x="1757616" y="0"/>
                </a:lnTo>
                <a:lnTo>
                  <a:pt x="1805667" y="7585"/>
                </a:lnTo>
                <a:lnTo>
                  <a:pt x="1847442" y="29127"/>
                </a:lnTo>
                <a:lnTo>
                  <a:pt x="1880431" y="62117"/>
                </a:lnTo>
                <a:lnTo>
                  <a:pt x="1902125" y="104044"/>
                </a:lnTo>
                <a:lnTo>
                  <a:pt x="1910016" y="152400"/>
                </a:lnTo>
                <a:lnTo>
                  <a:pt x="1910016" y="533400"/>
                </a:lnTo>
                <a:lnTo>
                  <a:pt x="1909762" y="761619"/>
                </a:lnTo>
                <a:lnTo>
                  <a:pt x="1910016" y="762000"/>
                </a:lnTo>
                <a:close/>
              </a:path>
              <a:path w="1910079" h="1603375">
                <a:moveTo>
                  <a:pt x="1757616" y="914400"/>
                </a:moveTo>
                <a:lnTo>
                  <a:pt x="152844" y="914400"/>
                </a:lnTo>
                <a:lnTo>
                  <a:pt x="104454" y="906445"/>
                </a:lnTo>
                <a:lnTo>
                  <a:pt x="62487" y="884699"/>
                </a:lnTo>
                <a:lnTo>
                  <a:pt x="29430" y="851652"/>
                </a:lnTo>
                <a:lnTo>
                  <a:pt x="7772" y="809795"/>
                </a:lnTo>
                <a:lnTo>
                  <a:pt x="0" y="761619"/>
                </a:lnTo>
                <a:lnTo>
                  <a:pt x="444" y="762000"/>
                </a:lnTo>
                <a:lnTo>
                  <a:pt x="1910016" y="762000"/>
                </a:lnTo>
                <a:lnTo>
                  <a:pt x="1902125" y="809990"/>
                </a:lnTo>
                <a:lnTo>
                  <a:pt x="1880431" y="851734"/>
                </a:lnTo>
                <a:lnTo>
                  <a:pt x="1847442" y="884723"/>
                </a:lnTo>
                <a:lnTo>
                  <a:pt x="1805667" y="906448"/>
                </a:lnTo>
                <a:lnTo>
                  <a:pt x="1757616" y="914400"/>
                </a:lnTo>
                <a:close/>
              </a:path>
              <a:path w="1910079" h="1603375">
                <a:moveTo>
                  <a:pt x="120840" y="1603248"/>
                </a:moveTo>
                <a:lnTo>
                  <a:pt x="318960" y="914400"/>
                </a:lnTo>
                <a:lnTo>
                  <a:pt x="795972" y="914400"/>
                </a:lnTo>
                <a:lnTo>
                  <a:pt x="120840" y="1603248"/>
                </a:lnTo>
                <a:close/>
              </a:path>
            </a:pathLst>
          </a:custGeom>
          <a:solidFill>
            <a:srgbClr val="D5DCE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070725" y="1128712"/>
            <a:ext cx="1919605" cy="1612900"/>
          </a:xfrm>
          <a:custGeom>
            <a:avLst/>
            <a:gdLst/>
            <a:ahLst/>
            <a:cxnLst/>
            <a:rect l="l" t="t" r="r" b="b"/>
            <a:pathLst>
              <a:path w="1919604" h="1612900">
                <a:moveTo>
                  <a:pt x="120142" y="12700"/>
                </a:moveTo>
                <a:lnTo>
                  <a:pt x="89014" y="12700"/>
                </a:lnTo>
                <a:lnTo>
                  <a:pt x="95986" y="0"/>
                </a:lnTo>
                <a:lnTo>
                  <a:pt x="127520" y="0"/>
                </a:lnTo>
                <a:lnTo>
                  <a:pt x="120142" y="12700"/>
                </a:lnTo>
                <a:close/>
              </a:path>
              <a:path w="1919604" h="1612900">
                <a:moveTo>
                  <a:pt x="1830273" y="12700"/>
                </a:moveTo>
                <a:lnTo>
                  <a:pt x="1799145" y="12700"/>
                </a:lnTo>
                <a:lnTo>
                  <a:pt x="1791766" y="0"/>
                </a:lnTo>
                <a:lnTo>
                  <a:pt x="1823300" y="0"/>
                </a:lnTo>
                <a:lnTo>
                  <a:pt x="1830273" y="12700"/>
                </a:lnTo>
                <a:close/>
              </a:path>
              <a:path w="1919604" h="1612900">
                <a:moveTo>
                  <a:pt x="86690" y="25400"/>
                </a:moveTo>
                <a:lnTo>
                  <a:pt x="69291" y="25400"/>
                </a:lnTo>
                <a:lnTo>
                  <a:pt x="75666" y="12700"/>
                </a:lnTo>
                <a:lnTo>
                  <a:pt x="93256" y="12700"/>
                </a:lnTo>
                <a:lnTo>
                  <a:pt x="86690" y="25400"/>
                </a:lnTo>
                <a:close/>
              </a:path>
              <a:path w="1919604" h="1612900">
                <a:moveTo>
                  <a:pt x="1849996" y="25400"/>
                </a:moveTo>
                <a:lnTo>
                  <a:pt x="1832597" y="25400"/>
                </a:lnTo>
                <a:lnTo>
                  <a:pt x="1826031" y="12700"/>
                </a:lnTo>
                <a:lnTo>
                  <a:pt x="1843620" y="12700"/>
                </a:lnTo>
                <a:lnTo>
                  <a:pt x="1849996" y="25400"/>
                </a:lnTo>
                <a:close/>
              </a:path>
              <a:path w="1919604" h="1612900">
                <a:moveTo>
                  <a:pt x="68732" y="38100"/>
                </a:moveTo>
                <a:lnTo>
                  <a:pt x="51485" y="38100"/>
                </a:lnTo>
                <a:lnTo>
                  <a:pt x="57188" y="25400"/>
                </a:lnTo>
                <a:lnTo>
                  <a:pt x="74714" y="25400"/>
                </a:lnTo>
                <a:lnTo>
                  <a:pt x="68732" y="38100"/>
                </a:lnTo>
                <a:close/>
              </a:path>
              <a:path w="1919604" h="1612900">
                <a:moveTo>
                  <a:pt x="1867801" y="38100"/>
                </a:moveTo>
                <a:lnTo>
                  <a:pt x="1850555" y="38100"/>
                </a:lnTo>
                <a:lnTo>
                  <a:pt x="1844573" y="25400"/>
                </a:lnTo>
                <a:lnTo>
                  <a:pt x="1862099" y="25400"/>
                </a:lnTo>
                <a:lnTo>
                  <a:pt x="1867801" y="38100"/>
                </a:lnTo>
                <a:close/>
              </a:path>
              <a:path w="1919604" h="1612900">
                <a:moveTo>
                  <a:pt x="52679" y="50800"/>
                </a:moveTo>
                <a:lnTo>
                  <a:pt x="40830" y="50800"/>
                </a:lnTo>
                <a:lnTo>
                  <a:pt x="46024" y="38100"/>
                </a:lnTo>
                <a:lnTo>
                  <a:pt x="57975" y="38100"/>
                </a:lnTo>
                <a:lnTo>
                  <a:pt x="52679" y="50800"/>
                </a:lnTo>
                <a:close/>
              </a:path>
              <a:path w="1919604" h="1612900">
                <a:moveTo>
                  <a:pt x="1878456" y="50800"/>
                </a:moveTo>
                <a:lnTo>
                  <a:pt x="1866607" y="50800"/>
                </a:lnTo>
                <a:lnTo>
                  <a:pt x="1861311" y="38100"/>
                </a:lnTo>
                <a:lnTo>
                  <a:pt x="1873262" y="38100"/>
                </a:lnTo>
                <a:lnTo>
                  <a:pt x="1878456" y="50800"/>
                </a:lnTo>
                <a:close/>
              </a:path>
              <a:path w="1919604" h="1612900">
                <a:moveTo>
                  <a:pt x="38785" y="63500"/>
                </a:moveTo>
                <a:lnTo>
                  <a:pt x="26847" y="63500"/>
                </a:lnTo>
                <a:lnTo>
                  <a:pt x="31216" y="50800"/>
                </a:lnTo>
                <a:lnTo>
                  <a:pt x="43306" y="50800"/>
                </a:lnTo>
                <a:lnTo>
                  <a:pt x="38785" y="63500"/>
                </a:lnTo>
                <a:close/>
              </a:path>
              <a:path w="1919604" h="1612900">
                <a:moveTo>
                  <a:pt x="1892439" y="63500"/>
                </a:moveTo>
                <a:lnTo>
                  <a:pt x="1880501" y="63500"/>
                </a:lnTo>
                <a:lnTo>
                  <a:pt x="1875980" y="50800"/>
                </a:lnTo>
                <a:lnTo>
                  <a:pt x="1888070" y="50800"/>
                </a:lnTo>
                <a:lnTo>
                  <a:pt x="1892439" y="63500"/>
                </a:lnTo>
                <a:close/>
              </a:path>
              <a:path w="1919604" h="1612900">
                <a:moveTo>
                  <a:pt x="24028" y="88900"/>
                </a:moveTo>
                <a:lnTo>
                  <a:pt x="15494" y="88900"/>
                </a:lnTo>
                <a:lnTo>
                  <a:pt x="18973" y="76200"/>
                </a:lnTo>
                <a:lnTo>
                  <a:pt x="22758" y="63500"/>
                </a:lnTo>
                <a:lnTo>
                  <a:pt x="34798" y="63500"/>
                </a:lnTo>
                <a:lnTo>
                  <a:pt x="30835" y="76200"/>
                </a:lnTo>
                <a:lnTo>
                  <a:pt x="27393" y="76200"/>
                </a:lnTo>
                <a:lnTo>
                  <a:pt x="24028" y="88900"/>
                </a:lnTo>
                <a:close/>
              </a:path>
              <a:path w="1919604" h="1612900">
                <a:moveTo>
                  <a:pt x="1903793" y="88900"/>
                </a:moveTo>
                <a:lnTo>
                  <a:pt x="1895259" y="88900"/>
                </a:lnTo>
                <a:lnTo>
                  <a:pt x="1891893" y="76200"/>
                </a:lnTo>
                <a:lnTo>
                  <a:pt x="1888451" y="76200"/>
                </a:lnTo>
                <a:lnTo>
                  <a:pt x="1884489" y="63500"/>
                </a:lnTo>
                <a:lnTo>
                  <a:pt x="1896529" y="63500"/>
                </a:lnTo>
                <a:lnTo>
                  <a:pt x="1900313" y="76200"/>
                </a:lnTo>
                <a:lnTo>
                  <a:pt x="1903793" y="88900"/>
                </a:lnTo>
                <a:close/>
              </a:path>
              <a:path w="1919604" h="1612900">
                <a:moveTo>
                  <a:pt x="18440" y="101600"/>
                </a:moveTo>
                <a:lnTo>
                  <a:pt x="9537" y="101600"/>
                </a:lnTo>
                <a:lnTo>
                  <a:pt x="12344" y="88900"/>
                </a:lnTo>
                <a:lnTo>
                  <a:pt x="21170" y="88900"/>
                </a:lnTo>
                <a:lnTo>
                  <a:pt x="18440" y="101600"/>
                </a:lnTo>
                <a:close/>
              </a:path>
              <a:path w="1919604" h="1612900">
                <a:moveTo>
                  <a:pt x="1909749" y="101600"/>
                </a:moveTo>
                <a:lnTo>
                  <a:pt x="1900847" y="101600"/>
                </a:lnTo>
                <a:lnTo>
                  <a:pt x="1898116" y="88900"/>
                </a:lnTo>
                <a:lnTo>
                  <a:pt x="1906930" y="88900"/>
                </a:lnTo>
                <a:lnTo>
                  <a:pt x="1909749" y="101600"/>
                </a:lnTo>
                <a:close/>
              </a:path>
              <a:path w="1919604" h="1612900">
                <a:moveTo>
                  <a:pt x="14147" y="114300"/>
                </a:moveTo>
                <a:lnTo>
                  <a:pt x="4940" y="114300"/>
                </a:lnTo>
                <a:lnTo>
                  <a:pt x="7061" y="101600"/>
                </a:lnTo>
                <a:lnTo>
                  <a:pt x="16192" y="101600"/>
                </a:lnTo>
                <a:lnTo>
                  <a:pt x="14147" y="114300"/>
                </a:lnTo>
                <a:close/>
              </a:path>
              <a:path w="1919604" h="1612900">
                <a:moveTo>
                  <a:pt x="1914334" y="114300"/>
                </a:moveTo>
                <a:lnTo>
                  <a:pt x="1905139" y="114300"/>
                </a:lnTo>
                <a:lnTo>
                  <a:pt x="1903095" y="101600"/>
                </a:lnTo>
                <a:lnTo>
                  <a:pt x="1912226" y="101600"/>
                </a:lnTo>
                <a:lnTo>
                  <a:pt x="1914334" y="114300"/>
                </a:lnTo>
                <a:close/>
              </a:path>
              <a:path w="1919604" h="1612900">
                <a:moveTo>
                  <a:pt x="10274" y="139700"/>
                </a:moveTo>
                <a:lnTo>
                  <a:pt x="812" y="139700"/>
                </a:lnTo>
                <a:lnTo>
                  <a:pt x="1803" y="127000"/>
                </a:lnTo>
                <a:lnTo>
                  <a:pt x="3187" y="114300"/>
                </a:lnTo>
                <a:lnTo>
                  <a:pt x="14198" y="114300"/>
                </a:lnTo>
                <a:lnTo>
                  <a:pt x="12496" y="127000"/>
                </a:lnTo>
                <a:lnTo>
                  <a:pt x="11239" y="127000"/>
                </a:lnTo>
                <a:lnTo>
                  <a:pt x="10274" y="139700"/>
                </a:lnTo>
                <a:close/>
              </a:path>
              <a:path w="1919604" h="1612900">
                <a:moveTo>
                  <a:pt x="1918474" y="139700"/>
                </a:moveTo>
                <a:lnTo>
                  <a:pt x="1909013" y="139700"/>
                </a:lnTo>
                <a:lnTo>
                  <a:pt x="1908048" y="127000"/>
                </a:lnTo>
                <a:lnTo>
                  <a:pt x="1906790" y="127000"/>
                </a:lnTo>
                <a:lnTo>
                  <a:pt x="1905088" y="114300"/>
                </a:lnTo>
                <a:lnTo>
                  <a:pt x="1916099" y="114300"/>
                </a:lnTo>
                <a:lnTo>
                  <a:pt x="1917484" y="127000"/>
                </a:lnTo>
                <a:lnTo>
                  <a:pt x="1918474" y="139700"/>
                </a:lnTo>
                <a:close/>
              </a:path>
              <a:path w="1919604" h="1612900">
                <a:moveTo>
                  <a:pt x="10299" y="774700"/>
                </a:moveTo>
                <a:lnTo>
                  <a:pt x="203" y="774700"/>
                </a:lnTo>
                <a:lnTo>
                  <a:pt x="0" y="762000"/>
                </a:lnTo>
                <a:lnTo>
                  <a:pt x="0" y="152400"/>
                </a:lnTo>
                <a:lnTo>
                  <a:pt x="203" y="139700"/>
                </a:lnTo>
                <a:lnTo>
                  <a:pt x="9728" y="139700"/>
                </a:lnTo>
                <a:lnTo>
                  <a:pt x="9525" y="152400"/>
                </a:lnTo>
                <a:lnTo>
                  <a:pt x="9525" y="762000"/>
                </a:lnTo>
                <a:lnTo>
                  <a:pt x="9715" y="762000"/>
                </a:lnTo>
                <a:lnTo>
                  <a:pt x="10299" y="774700"/>
                </a:lnTo>
                <a:close/>
              </a:path>
              <a:path w="1919604" h="1612900">
                <a:moveTo>
                  <a:pt x="1919084" y="774700"/>
                </a:moveTo>
                <a:lnTo>
                  <a:pt x="1908987" y="774700"/>
                </a:lnTo>
                <a:lnTo>
                  <a:pt x="1909572" y="762000"/>
                </a:lnTo>
                <a:lnTo>
                  <a:pt x="1909762" y="762000"/>
                </a:lnTo>
                <a:lnTo>
                  <a:pt x="1909762" y="152400"/>
                </a:lnTo>
                <a:lnTo>
                  <a:pt x="1909559" y="139700"/>
                </a:lnTo>
                <a:lnTo>
                  <a:pt x="1919084" y="139700"/>
                </a:lnTo>
                <a:lnTo>
                  <a:pt x="1919287" y="152400"/>
                </a:lnTo>
                <a:lnTo>
                  <a:pt x="1919287" y="762000"/>
                </a:lnTo>
                <a:lnTo>
                  <a:pt x="1919084" y="774700"/>
                </a:lnTo>
                <a:close/>
              </a:path>
              <a:path w="1919604" h="1612900">
                <a:moveTo>
                  <a:pt x="11239" y="787400"/>
                </a:moveTo>
                <a:lnTo>
                  <a:pt x="1803" y="787400"/>
                </a:lnTo>
                <a:lnTo>
                  <a:pt x="812" y="774700"/>
                </a:lnTo>
                <a:lnTo>
                  <a:pt x="10274" y="774700"/>
                </a:lnTo>
                <a:lnTo>
                  <a:pt x="11239" y="787400"/>
                </a:lnTo>
                <a:close/>
              </a:path>
              <a:path w="1919604" h="1612900">
                <a:moveTo>
                  <a:pt x="1917484" y="787400"/>
                </a:moveTo>
                <a:lnTo>
                  <a:pt x="1908048" y="787400"/>
                </a:lnTo>
                <a:lnTo>
                  <a:pt x="1909013" y="774700"/>
                </a:lnTo>
                <a:lnTo>
                  <a:pt x="1918474" y="774700"/>
                </a:lnTo>
                <a:lnTo>
                  <a:pt x="1917484" y="787400"/>
                </a:lnTo>
                <a:close/>
              </a:path>
              <a:path w="1919604" h="1612900">
                <a:moveTo>
                  <a:pt x="18516" y="812800"/>
                </a:moveTo>
                <a:lnTo>
                  <a:pt x="7061" y="812800"/>
                </a:lnTo>
                <a:lnTo>
                  <a:pt x="4940" y="800100"/>
                </a:lnTo>
                <a:lnTo>
                  <a:pt x="3187" y="787400"/>
                </a:lnTo>
                <a:lnTo>
                  <a:pt x="12496" y="787400"/>
                </a:lnTo>
                <a:lnTo>
                  <a:pt x="14198" y="800100"/>
                </a:lnTo>
                <a:lnTo>
                  <a:pt x="16128" y="800100"/>
                </a:lnTo>
                <a:lnTo>
                  <a:pt x="18516" y="812800"/>
                </a:lnTo>
                <a:close/>
              </a:path>
              <a:path w="1919604" h="1612900">
                <a:moveTo>
                  <a:pt x="1912226" y="812800"/>
                </a:moveTo>
                <a:lnTo>
                  <a:pt x="1900770" y="812800"/>
                </a:lnTo>
                <a:lnTo>
                  <a:pt x="1903158" y="800100"/>
                </a:lnTo>
                <a:lnTo>
                  <a:pt x="1905088" y="800100"/>
                </a:lnTo>
                <a:lnTo>
                  <a:pt x="1906790" y="787400"/>
                </a:lnTo>
                <a:lnTo>
                  <a:pt x="1916099" y="787400"/>
                </a:lnTo>
                <a:lnTo>
                  <a:pt x="1914334" y="800100"/>
                </a:lnTo>
                <a:lnTo>
                  <a:pt x="1912226" y="812800"/>
                </a:lnTo>
                <a:close/>
              </a:path>
              <a:path w="1919604" h="1612900">
                <a:moveTo>
                  <a:pt x="24129" y="825500"/>
                </a:moveTo>
                <a:lnTo>
                  <a:pt x="12344" y="825500"/>
                </a:lnTo>
                <a:lnTo>
                  <a:pt x="9537" y="812800"/>
                </a:lnTo>
                <a:lnTo>
                  <a:pt x="21081" y="812800"/>
                </a:lnTo>
                <a:lnTo>
                  <a:pt x="24129" y="825500"/>
                </a:lnTo>
                <a:close/>
              </a:path>
              <a:path w="1919604" h="1612900">
                <a:moveTo>
                  <a:pt x="1906930" y="825500"/>
                </a:moveTo>
                <a:lnTo>
                  <a:pt x="1895157" y="825500"/>
                </a:lnTo>
                <a:lnTo>
                  <a:pt x="1898205" y="812800"/>
                </a:lnTo>
                <a:lnTo>
                  <a:pt x="1909749" y="812800"/>
                </a:lnTo>
                <a:lnTo>
                  <a:pt x="1906930" y="825500"/>
                </a:lnTo>
                <a:close/>
              </a:path>
              <a:path w="1919604" h="1612900">
                <a:moveTo>
                  <a:pt x="30949" y="838200"/>
                </a:moveTo>
                <a:lnTo>
                  <a:pt x="18973" y="838200"/>
                </a:lnTo>
                <a:lnTo>
                  <a:pt x="15494" y="825500"/>
                </a:lnTo>
                <a:lnTo>
                  <a:pt x="27279" y="825500"/>
                </a:lnTo>
                <a:lnTo>
                  <a:pt x="30949" y="838200"/>
                </a:lnTo>
                <a:close/>
              </a:path>
              <a:path w="1919604" h="1612900">
                <a:moveTo>
                  <a:pt x="1900313" y="838200"/>
                </a:moveTo>
                <a:lnTo>
                  <a:pt x="1888337" y="838200"/>
                </a:lnTo>
                <a:lnTo>
                  <a:pt x="1892007" y="825500"/>
                </a:lnTo>
                <a:lnTo>
                  <a:pt x="1903793" y="825500"/>
                </a:lnTo>
                <a:lnTo>
                  <a:pt x="1900313" y="838200"/>
                </a:lnTo>
                <a:close/>
              </a:path>
              <a:path w="1919604" h="1612900">
                <a:moveTo>
                  <a:pt x="38925" y="850900"/>
                </a:moveTo>
                <a:lnTo>
                  <a:pt x="26847" y="850900"/>
                </a:lnTo>
                <a:lnTo>
                  <a:pt x="22758" y="838200"/>
                </a:lnTo>
                <a:lnTo>
                  <a:pt x="34671" y="838200"/>
                </a:lnTo>
                <a:lnTo>
                  <a:pt x="38925" y="850900"/>
                </a:lnTo>
                <a:close/>
              </a:path>
              <a:path w="1919604" h="1612900">
                <a:moveTo>
                  <a:pt x="1892439" y="850900"/>
                </a:moveTo>
                <a:lnTo>
                  <a:pt x="1880361" y="850900"/>
                </a:lnTo>
                <a:lnTo>
                  <a:pt x="1884616" y="838200"/>
                </a:lnTo>
                <a:lnTo>
                  <a:pt x="1896529" y="838200"/>
                </a:lnTo>
                <a:lnTo>
                  <a:pt x="1892439" y="850900"/>
                </a:lnTo>
                <a:close/>
              </a:path>
              <a:path w="1919604" h="1612900">
                <a:moveTo>
                  <a:pt x="47955" y="863600"/>
                </a:moveTo>
                <a:lnTo>
                  <a:pt x="35890" y="863600"/>
                </a:lnTo>
                <a:lnTo>
                  <a:pt x="31216" y="850900"/>
                </a:lnTo>
                <a:lnTo>
                  <a:pt x="43167" y="850900"/>
                </a:lnTo>
                <a:lnTo>
                  <a:pt x="47955" y="863600"/>
                </a:lnTo>
                <a:close/>
              </a:path>
              <a:path w="1919604" h="1612900">
                <a:moveTo>
                  <a:pt x="1883397" y="863600"/>
                </a:moveTo>
                <a:lnTo>
                  <a:pt x="1871332" y="863600"/>
                </a:lnTo>
                <a:lnTo>
                  <a:pt x="1876120" y="850900"/>
                </a:lnTo>
                <a:lnTo>
                  <a:pt x="1888070" y="850900"/>
                </a:lnTo>
                <a:lnTo>
                  <a:pt x="1883397" y="863600"/>
                </a:lnTo>
                <a:close/>
              </a:path>
              <a:path w="1919604" h="1612900">
                <a:moveTo>
                  <a:pt x="63334" y="876300"/>
                </a:moveTo>
                <a:lnTo>
                  <a:pt x="46024" y="876300"/>
                </a:lnTo>
                <a:lnTo>
                  <a:pt x="40830" y="863600"/>
                </a:lnTo>
                <a:lnTo>
                  <a:pt x="57810" y="863600"/>
                </a:lnTo>
                <a:lnTo>
                  <a:pt x="63334" y="876300"/>
                </a:lnTo>
                <a:close/>
              </a:path>
              <a:path w="1919604" h="1612900">
                <a:moveTo>
                  <a:pt x="1873262" y="876300"/>
                </a:moveTo>
                <a:lnTo>
                  <a:pt x="1855952" y="876300"/>
                </a:lnTo>
                <a:lnTo>
                  <a:pt x="1861477" y="863600"/>
                </a:lnTo>
                <a:lnTo>
                  <a:pt x="1878456" y="863600"/>
                </a:lnTo>
                <a:lnTo>
                  <a:pt x="1873262" y="876300"/>
                </a:lnTo>
                <a:close/>
              </a:path>
              <a:path w="1919604" h="1612900">
                <a:moveTo>
                  <a:pt x="74714" y="889000"/>
                </a:moveTo>
                <a:lnTo>
                  <a:pt x="63119" y="889000"/>
                </a:lnTo>
                <a:lnTo>
                  <a:pt x="57188" y="876300"/>
                </a:lnTo>
                <a:lnTo>
                  <a:pt x="68732" y="876300"/>
                </a:lnTo>
                <a:lnTo>
                  <a:pt x="74714" y="889000"/>
                </a:lnTo>
                <a:close/>
              </a:path>
              <a:path w="1919604" h="1612900">
                <a:moveTo>
                  <a:pt x="1856168" y="889000"/>
                </a:moveTo>
                <a:lnTo>
                  <a:pt x="1844573" y="889000"/>
                </a:lnTo>
                <a:lnTo>
                  <a:pt x="1850555" y="876300"/>
                </a:lnTo>
                <a:lnTo>
                  <a:pt x="1862099" y="876300"/>
                </a:lnTo>
                <a:lnTo>
                  <a:pt x="1856168" y="889000"/>
                </a:lnTo>
                <a:close/>
              </a:path>
              <a:path w="1919604" h="1612900">
                <a:moveTo>
                  <a:pt x="99796" y="901700"/>
                </a:moveTo>
                <a:lnTo>
                  <a:pt x="82245" y="901700"/>
                </a:lnTo>
                <a:lnTo>
                  <a:pt x="75666" y="889000"/>
                </a:lnTo>
                <a:lnTo>
                  <a:pt x="93052" y="889000"/>
                </a:lnTo>
                <a:lnTo>
                  <a:pt x="99796" y="901700"/>
                </a:lnTo>
                <a:close/>
              </a:path>
              <a:path w="1919604" h="1612900">
                <a:moveTo>
                  <a:pt x="1837042" y="901700"/>
                </a:moveTo>
                <a:lnTo>
                  <a:pt x="1819490" y="901700"/>
                </a:lnTo>
                <a:lnTo>
                  <a:pt x="1826234" y="889000"/>
                </a:lnTo>
                <a:lnTo>
                  <a:pt x="1843620" y="889000"/>
                </a:lnTo>
                <a:lnTo>
                  <a:pt x="1837042" y="901700"/>
                </a:lnTo>
                <a:close/>
              </a:path>
              <a:path w="1919604" h="1612900">
                <a:moveTo>
                  <a:pt x="157276" y="914400"/>
                </a:moveTo>
                <a:lnTo>
                  <a:pt x="110426" y="914400"/>
                </a:lnTo>
                <a:lnTo>
                  <a:pt x="103124" y="901700"/>
                </a:lnTo>
                <a:lnTo>
                  <a:pt x="149428" y="901700"/>
                </a:lnTo>
                <a:lnTo>
                  <a:pt x="157276" y="914400"/>
                </a:lnTo>
                <a:close/>
              </a:path>
              <a:path w="1919604" h="1612900">
                <a:moveTo>
                  <a:pt x="1808860" y="914400"/>
                </a:moveTo>
                <a:lnTo>
                  <a:pt x="1762010" y="914400"/>
                </a:lnTo>
                <a:lnTo>
                  <a:pt x="1769859" y="901700"/>
                </a:lnTo>
                <a:lnTo>
                  <a:pt x="1816163" y="901700"/>
                </a:lnTo>
                <a:lnTo>
                  <a:pt x="1808860" y="914400"/>
                </a:lnTo>
                <a:close/>
              </a:path>
              <a:path w="1919604" h="1612900">
                <a:moveTo>
                  <a:pt x="115633" y="1612900"/>
                </a:moveTo>
                <a:lnTo>
                  <a:pt x="318477" y="914400"/>
                </a:lnTo>
                <a:lnTo>
                  <a:pt x="329374" y="914400"/>
                </a:lnTo>
                <a:lnTo>
                  <a:pt x="133322" y="1588717"/>
                </a:lnTo>
                <a:lnTo>
                  <a:pt x="121996" y="1600200"/>
                </a:lnTo>
                <a:lnTo>
                  <a:pt x="128147" y="1600200"/>
                </a:lnTo>
                <a:lnTo>
                  <a:pt x="115633" y="1612900"/>
                </a:lnTo>
                <a:close/>
              </a:path>
              <a:path w="1919604" h="1612900">
                <a:moveTo>
                  <a:pt x="130753" y="1597555"/>
                </a:moveTo>
                <a:lnTo>
                  <a:pt x="133322" y="1588717"/>
                </a:lnTo>
                <a:lnTo>
                  <a:pt x="798499" y="914400"/>
                </a:lnTo>
                <a:lnTo>
                  <a:pt x="803897" y="914400"/>
                </a:lnTo>
                <a:lnTo>
                  <a:pt x="130753" y="1597555"/>
                </a:lnTo>
                <a:close/>
              </a:path>
              <a:path w="1919604" h="1612900">
                <a:moveTo>
                  <a:pt x="128147" y="1600200"/>
                </a:moveTo>
                <a:lnTo>
                  <a:pt x="121996" y="1600200"/>
                </a:lnTo>
                <a:lnTo>
                  <a:pt x="133322" y="1588717"/>
                </a:lnTo>
                <a:lnTo>
                  <a:pt x="130753" y="1597555"/>
                </a:lnTo>
                <a:lnTo>
                  <a:pt x="128147" y="1600200"/>
                </a:lnTo>
                <a:close/>
              </a:path>
              <a:path w="1919604" h="1612900">
                <a:moveTo>
                  <a:pt x="129984" y="1600200"/>
                </a:moveTo>
                <a:lnTo>
                  <a:pt x="128147" y="1600200"/>
                </a:lnTo>
                <a:lnTo>
                  <a:pt x="130753" y="1597555"/>
                </a:lnTo>
                <a:lnTo>
                  <a:pt x="129984" y="160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382370" y="1204137"/>
            <a:ext cx="1296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赫</a:t>
            </a:r>
            <a:r>
              <a:rPr dirty="0" sz="2000" spc="5">
                <a:latin typeface="微软雅黑"/>
                <a:cs typeface="微软雅黑"/>
              </a:rPr>
              <a:t>兹</a:t>
            </a:r>
            <a:endParaRPr sz="20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电磁波实</a:t>
            </a:r>
            <a:r>
              <a:rPr dirty="0" sz="2000" spc="5">
                <a:latin typeface="微软雅黑"/>
                <a:cs typeface="微软雅黑"/>
              </a:rPr>
              <a:t>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06782" y="3247072"/>
            <a:ext cx="14744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Calibri"/>
                <a:cs typeface="Calibri"/>
              </a:rPr>
              <a:t>1864</a:t>
            </a:r>
            <a:r>
              <a:rPr dirty="0" sz="2800" spc="16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baseline="-25462" sz="3600" spc="-7" b="1">
                <a:latin typeface="Calibri"/>
                <a:cs typeface="Calibri"/>
              </a:rPr>
              <a:t>1887</a:t>
            </a:r>
            <a:endParaRPr baseline="-25462" sz="36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197725" y="2735262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158037" y="3900487"/>
            <a:ext cx="0" cy="609600"/>
          </a:xfrm>
          <a:custGeom>
            <a:avLst/>
            <a:gdLst/>
            <a:ahLst/>
            <a:cxnLst/>
            <a:rect l="l" t="t" r="r" b="b"/>
            <a:pathLst>
              <a:path w="0" h="609600">
                <a:moveTo>
                  <a:pt x="0" y="0"/>
                </a:moveTo>
                <a:lnTo>
                  <a:pt x="0" y="60953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575047" y="4448555"/>
            <a:ext cx="2620010" cy="1414780"/>
          </a:xfrm>
          <a:custGeom>
            <a:avLst/>
            <a:gdLst/>
            <a:ahLst/>
            <a:cxnLst/>
            <a:rect l="l" t="t" r="r" b="b"/>
            <a:pathLst>
              <a:path w="2620009" h="1414779">
                <a:moveTo>
                  <a:pt x="1847088" y="342900"/>
                </a:moveTo>
                <a:lnTo>
                  <a:pt x="1292352" y="342900"/>
                </a:lnTo>
                <a:lnTo>
                  <a:pt x="2619755" y="0"/>
                </a:lnTo>
                <a:lnTo>
                  <a:pt x="1847088" y="342900"/>
                </a:lnTo>
                <a:close/>
              </a:path>
              <a:path w="2620009" h="1414779">
                <a:moveTo>
                  <a:pt x="2216277" y="521208"/>
                </a:moveTo>
                <a:lnTo>
                  <a:pt x="0" y="521208"/>
                </a:lnTo>
                <a:lnTo>
                  <a:pt x="6430" y="473739"/>
                </a:lnTo>
                <a:lnTo>
                  <a:pt x="24454" y="431091"/>
                </a:lnTo>
                <a:lnTo>
                  <a:pt x="52363" y="394973"/>
                </a:lnTo>
                <a:lnTo>
                  <a:pt x="88448" y="367094"/>
                </a:lnTo>
                <a:lnTo>
                  <a:pt x="130999" y="349167"/>
                </a:lnTo>
                <a:lnTo>
                  <a:pt x="178307" y="342900"/>
                </a:lnTo>
                <a:lnTo>
                  <a:pt x="2037587" y="342900"/>
                </a:lnTo>
                <a:lnTo>
                  <a:pt x="2085109" y="349167"/>
                </a:lnTo>
                <a:lnTo>
                  <a:pt x="2127800" y="367094"/>
                </a:lnTo>
                <a:lnTo>
                  <a:pt x="2163960" y="394973"/>
                </a:lnTo>
                <a:lnTo>
                  <a:pt x="2191893" y="431091"/>
                </a:lnTo>
                <a:lnTo>
                  <a:pt x="2209897" y="473739"/>
                </a:lnTo>
                <a:lnTo>
                  <a:pt x="2216277" y="521208"/>
                </a:lnTo>
                <a:close/>
              </a:path>
              <a:path w="2620009" h="1414779">
                <a:moveTo>
                  <a:pt x="2037587" y="1414272"/>
                </a:moveTo>
                <a:lnTo>
                  <a:pt x="178307" y="1414272"/>
                </a:lnTo>
                <a:lnTo>
                  <a:pt x="130999" y="1407815"/>
                </a:lnTo>
                <a:lnTo>
                  <a:pt x="88448" y="1389775"/>
                </a:lnTo>
                <a:lnTo>
                  <a:pt x="52363" y="1361860"/>
                </a:lnTo>
                <a:lnTo>
                  <a:pt x="24454" y="1325781"/>
                </a:lnTo>
                <a:lnTo>
                  <a:pt x="6430" y="1283245"/>
                </a:lnTo>
                <a:lnTo>
                  <a:pt x="0" y="1235964"/>
                </a:lnTo>
                <a:lnTo>
                  <a:pt x="126" y="521208"/>
                </a:lnTo>
                <a:lnTo>
                  <a:pt x="2215896" y="521208"/>
                </a:lnTo>
                <a:lnTo>
                  <a:pt x="2215896" y="1235964"/>
                </a:lnTo>
                <a:lnTo>
                  <a:pt x="2209677" y="1283245"/>
                </a:lnTo>
                <a:lnTo>
                  <a:pt x="2191780" y="1325781"/>
                </a:lnTo>
                <a:lnTo>
                  <a:pt x="2163913" y="1361860"/>
                </a:lnTo>
                <a:lnTo>
                  <a:pt x="2127786" y="1389775"/>
                </a:lnTo>
                <a:lnTo>
                  <a:pt x="2085108" y="1407815"/>
                </a:lnTo>
                <a:lnTo>
                  <a:pt x="2037587" y="1414272"/>
                </a:lnTo>
                <a:close/>
              </a:path>
            </a:pathLst>
          </a:custGeom>
          <a:solidFill>
            <a:srgbClr val="C5D9F0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570412" y="4434255"/>
            <a:ext cx="2660650" cy="1422400"/>
          </a:xfrm>
          <a:custGeom>
            <a:avLst/>
            <a:gdLst/>
            <a:ahLst/>
            <a:cxnLst/>
            <a:rect l="l" t="t" r="r" b="b"/>
            <a:pathLst>
              <a:path w="2660650" h="1422400">
                <a:moveTo>
                  <a:pt x="2574417" y="21415"/>
                </a:moveTo>
                <a:lnTo>
                  <a:pt x="2622181" y="0"/>
                </a:lnTo>
                <a:lnTo>
                  <a:pt x="2624359" y="8853"/>
                </a:lnTo>
                <a:lnTo>
                  <a:pt x="2574417" y="21415"/>
                </a:lnTo>
                <a:close/>
              </a:path>
              <a:path w="2660650" h="1422400">
                <a:moveTo>
                  <a:pt x="1853488" y="355600"/>
                </a:moveTo>
                <a:lnTo>
                  <a:pt x="1851931" y="345353"/>
                </a:lnTo>
                <a:lnTo>
                  <a:pt x="2551091" y="31874"/>
                </a:lnTo>
                <a:lnTo>
                  <a:pt x="2625305" y="12700"/>
                </a:lnTo>
                <a:lnTo>
                  <a:pt x="2624359" y="8853"/>
                </a:lnTo>
                <a:lnTo>
                  <a:pt x="2659557" y="0"/>
                </a:lnTo>
                <a:lnTo>
                  <a:pt x="2660637" y="0"/>
                </a:lnTo>
                <a:lnTo>
                  <a:pt x="1853488" y="355600"/>
                </a:lnTo>
                <a:close/>
              </a:path>
              <a:path w="2660650" h="1422400">
                <a:moveTo>
                  <a:pt x="2551091" y="31874"/>
                </a:moveTo>
                <a:lnTo>
                  <a:pt x="2574417" y="21415"/>
                </a:lnTo>
                <a:lnTo>
                  <a:pt x="2624359" y="8853"/>
                </a:lnTo>
                <a:lnTo>
                  <a:pt x="2625305" y="12700"/>
                </a:lnTo>
                <a:lnTo>
                  <a:pt x="2551091" y="31874"/>
                </a:lnTo>
                <a:close/>
              </a:path>
              <a:path w="2660650" h="1422400">
                <a:moveTo>
                  <a:pt x="1298117" y="355600"/>
                </a:moveTo>
                <a:lnTo>
                  <a:pt x="146392" y="355600"/>
                </a:lnTo>
                <a:lnTo>
                  <a:pt x="155409" y="342900"/>
                </a:lnTo>
                <a:lnTo>
                  <a:pt x="1296327" y="342900"/>
                </a:lnTo>
                <a:lnTo>
                  <a:pt x="2574417" y="21415"/>
                </a:lnTo>
                <a:lnTo>
                  <a:pt x="2551091" y="31874"/>
                </a:lnTo>
                <a:lnTo>
                  <a:pt x="1298117" y="355600"/>
                </a:lnTo>
                <a:close/>
              </a:path>
              <a:path w="2660650" h="1422400">
                <a:moveTo>
                  <a:pt x="1851931" y="345353"/>
                </a:moveTo>
                <a:lnTo>
                  <a:pt x="1851558" y="342900"/>
                </a:lnTo>
                <a:lnTo>
                  <a:pt x="1857404" y="342900"/>
                </a:lnTo>
                <a:lnTo>
                  <a:pt x="1851931" y="345353"/>
                </a:lnTo>
                <a:close/>
              </a:path>
              <a:path w="2660650" h="1422400">
                <a:moveTo>
                  <a:pt x="2079282" y="355600"/>
                </a:moveTo>
                <a:lnTo>
                  <a:pt x="1853488" y="355600"/>
                </a:lnTo>
                <a:lnTo>
                  <a:pt x="1882315" y="342900"/>
                </a:lnTo>
                <a:lnTo>
                  <a:pt x="2070252" y="342900"/>
                </a:lnTo>
                <a:lnTo>
                  <a:pt x="2079282" y="355600"/>
                </a:lnTo>
                <a:close/>
              </a:path>
              <a:path w="2660650" h="1422400">
                <a:moveTo>
                  <a:pt x="1853488" y="355600"/>
                </a:moveTo>
                <a:lnTo>
                  <a:pt x="1829079" y="355600"/>
                </a:lnTo>
                <a:lnTo>
                  <a:pt x="1851931" y="345353"/>
                </a:lnTo>
                <a:lnTo>
                  <a:pt x="1853488" y="355600"/>
                </a:lnTo>
                <a:close/>
              </a:path>
              <a:path w="2660650" h="1422400">
                <a:moveTo>
                  <a:pt x="131533" y="368300"/>
                </a:moveTo>
                <a:lnTo>
                  <a:pt x="103847" y="368300"/>
                </a:lnTo>
                <a:lnTo>
                  <a:pt x="111963" y="355600"/>
                </a:lnTo>
                <a:lnTo>
                  <a:pt x="140004" y="355600"/>
                </a:lnTo>
                <a:lnTo>
                  <a:pt x="131533" y="368300"/>
                </a:lnTo>
                <a:close/>
              </a:path>
              <a:path w="2660650" h="1422400">
                <a:moveTo>
                  <a:pt x="2121827" y="368300"/>
                </a:moveTo>
                <a:lnTo>
                  <a:pt x="2094141" y="368300"/>
                </a:lnTo>
                <a:lnTo>
                  <a:pt x="2085670" y="355600"/>
                </a:lnTo>
                <a:lnTo>
                  <a:pt x="2113711" y="355600"/>
                </a:lnTo>
                <a:lnTo>
                  <a:pt x="2121827" y="368300"/>
                </a:lnTo>
                <a:close/>
              </a:path>
              <a:path w="2660650" h="1422400">
                <a:moveTo>
                  <a:pt x="100380" y="381000"/>
                </a:moveTo>
                <a:lnTo>
                  <a:pt x="80822" y="381000"/>
                </a:lnTo>
                <a:lnTo>
                  <a:pt x="88264" y="368300"/>
                </a:lnTo>
                <a:lnTo>
                  <a:pt x="108089" y="368300"/>
                </a:lnTo>
                <a:lnTo>
                  <a:pt x="100380" y="381000"/>
                </a:lnTo>
                <a:close/>
              </a:path>
              <a:path w="2660650" h="1422400">
                <a:moveTo>
                  <a:pt x="2144852" y="381000"/>
                </a:moveTo>
                <a:lnTo>
                  <a:pt x="2125294" y="381000"/>
                </a:lnTo>
                <a:lnTo>
                  <a:pt x="2117585" y="368300"/>
                </a:lnTo>
                <a:lnTo>
                  <a:pt x="2137409" y="368300"/>
                </a:lnTo>
                <a:lnTo>
                  <a:pt x="2144852" y="381000"/>
                </a:lnTo>
                <a:close/>
              </a:path>
              <a:path w="2660650" h="1422400">
                <a:moveTo>
                  <a:pt x="79248" y="393700"/>
                </a:moveTo>
                <a:lnTo>
                  <a:pt x="66713" y="393700"/>
                </a:lnTo>
                <a:lnTo>
                  <a:pt x="73634" y="381000"/>
                </a:lnTo>
                <a:lnTo>
                  <a:pt x="86245" y="381000"/>
                </a:lnTo>
                <a:lnTo>
                  <a:pt x="79248" y="393700"/>
                </a:lnTo>
                <a:close/>
              </a:path>
              <a:path w="2660650" h="1422400">
                <a:moveTo>
                  <a:pt x="2158961" y="393700"/>
                </a:moveTo>
                <a:lnTo>
                  <a:pt x="2146427" y="393700"/>
                </a:lnTo>
                <a:lnTo>
                  <a:pt x="2139429" y="381000"/>
                </a:lnTo>
                <a:lnTo>
                  <a:pt x="2152040" y="381000"/>
                </a:lnTo>
                <a:lnTo>
                  <a:pt x="2158961" y="393700"/>
                </a:lnTo>
                <a:close/>
              </a:path>
              <a:path w="2660650" h="1422400">
                <a:moveTo>
                  <a:pt x="66382" y="406400"/>
                </a:moveTo>
                <a:lnTo>
                  <a:pt x="47625" y="406400"/>
                </a:lnTo>
                <a:lnTo>
                  <a:pt x="53695" y="393700"/>
                </a:lnTo>
                <a:lnTo>
                  <a:pt x="72859" y="393700"/>
                </a:lnTo>
                <a:lnTo>
                  <a:pt x="66382" y="406400"/>
                </a:lnTo>
                <a:close/>
              </a:path>
              <a:path w="2660650" h="1422400">
                <a:moveTo>
                  <a:pt x="2178050" y="406400"/>
                </a:moveTo>
                <a:lnTo>
                  <a:pt x="2159292" y="406400"/>
                </a:lnTo>
                <a:lnTo>
                  <a:pt x="2152815" y="393700"/>
                </a:lnTo>
                <a:lnTo>
                  <a:pt x="2171979" y="393700"/>
                </a:lnTo>
                <a:lnTo>
                  <a:pt x="2178050" y="406400"/>
                </a:lnTo>
                <a:close/>
              </a:path>
              <a:path w="2660650" h="1422400">
                <a:moveTo>
                  <a:pt x="39141" y="431800"/>
                </a:moveTo>
                <a:lnTo>
                  <a:pt x="31305" y="431800"/>
                </a:lnTo>
                <a:lnTo>
                  <a:pt x="36423" y="419100"/>
                </a:lnTo>
                <a:lnTo>
                  <a:pt x="41859" y="406400"/>
                </a:lnTo>
                <a:lnTo>
                  <a:pt x="54749" y="406400"/>
                </a:lnTo>
                <a:lnTo>
                  <a:pt x="49136" y="419100"/>
                </a:lnTo>
                <a:lnTo>
                  <a:pt x="44119" y="419100"/>
                </a:lnTo>
                <a:lnTo>
                  <a:pt x="39141" y="431800"/>
                </a:lnTo>
                <a:close/>
              </a:path>
              <a:path w="2660650" h="1422400">
                <a:moveTo>
                  <a:pt x="2194356" y="431800"/>
                </a:moveTo>
                <a:lnTo>
                  <a:pt x="2186533" y="431800"/>
                </a:lnTo>
                <a:lnTo>
                  <a:pt x="2181555" y="419100"/>
                </a:lnTo>
                <a:lnTo>
                  <a:pt x="2176538" y="419100"/>
                </a:lnTo>
                <a:lnTo>
                  <a:pt x="2170925" y="406400"/>
                </a:lnTo>
                <a:lnTo>
                  <a:pt x="2183815" y="406400"/>
                </a:lnTo>
                <a:lnTo>
                  <a:pt x="2189251" y="419100"/>
                </a:lnTo>
                <a:lnTo>
                  <a:pt x="2194356" y="431800"/>
                </a:lnTo>
                <a:close/>
              </a:path>
              <a:path w="2660650" h="1422400">
                <a:moveTo>
                  <a:pt x="34620" y="444500"/>
                </a:moveTo>
                <a:lnTo>
                  <a:pt x="22123" y="444500"/>
                </a:lnTo>
                <a:lnTo>
                  <a:pt x="26542" y="431800"/>
                </a:lnTo>
                <a:lnTo>
                  <a:pt x="39268" y="431800"/>
                </a:lnTo>
                <a:lnTo>
                  <a:pt x="34620" y="444500"/>
                </a:lnTo>
                <a:close/>
              </a:path>
              <a:path w="2660650" h="1422400">
                <a:moveTo>
                  <a:pt x="2203551" y="444500"/>
                </a:moveTo>
                <a:lnTo>
                  <a:pt x="2191054" y="444500"/>
                </a:lnTo>
                <a:lnTo>
                  <a:pt x="2186406" y="431800"/>
                </a:lnTo>
                <a:lnTo>
                  <a:pt x="2199131" y="431800"/>
                </a:lnTo>
                <a:lnTo>
                  <a:pt x="2203551" y="444500"/>
                </a:lnTo>
                <a:close/>
              </a:path>
              <a:path w="2660650" h="1422400">
                <a:moveTo>
                  <a:pt x="20027" y="469900"/>
                </a:moveTo>
                <a:lnTo>
                  <a:pt x="11125" y="469900"/>
                </a:lnTo>
                <a:lnTo>
                  <a:pt x="14401" y="457200"/>
                </a:lnTo>
                <a:lnTo>
                  <a:pt x="18084" y="444500"/>
                </a:lnTo>
                <a:lnTo>
                  <a:pt x="30556" y="444500"/>
                </a:lnTo>
                <a:lnTo>
                  <a:pt x="26606" y="457200"/>
                </a:lnTo>
                <a:lnTo>
                  <a:pt x="23228" y="457200"/>
                </a:lnTo>
                <a:lnTo>
                  <a:pt x="20027" y="469900"/>
                </a:lnTo>
                <a:close/>
              </a:path>
              <a:path w="2660650" h="1422400">
                <a:moveTo>
                  <a:pt x="2214549" y="469900"/>
                </a:moveTo>
                <a:lnTo>
                  <a:pt x="2205647" y="469900"/>
                </a:lnTo>
                <a:lnTo>
                  <a:pt x="2202446" y="457200"/>
                </a:lnTo>
                <a:lnTo>
                  <a:pt x="2199068" y="457200"/>
                </a:lnTo>
                <a:lnTo>
                  <a:pt x="2195118" y="444500"/>
                </a:lnTo>
                <a:lnTo>
                  <a:pt x="2207590" y="444500"/>
                </a:lnTo>
                <a:lnTo>
                  <a:pt x="2211260" y="457200"/>
                </a:lnTo>
                <a:lnTo>
                  <a:pt x="2214549" y="469900"/>
                </a:lnTo>
                <a:close/>
              </a:path>
              <a:path w="2660650" h="1422400">
                <a:moveTo>
                  <a:pt x="13030" y="495300"/>
                </a:moveTo>
                <a:lnTo>
                  <a:pt x="3721" y="495300"/>
                </a:lnTo>
                <a:lnTo>
                  <a:pt x="5765" y="482600"/>
                </a:lnTo>
                <a:lnTo>
                  <a:pt x="8242" y="469900"/>
                </a:lnTo>
                <a:lnTo>
                  <a:pt x="20104" y="469900"/>
                </a:lnTo>
                <a:lnTo>
                  <a:pt x="17297" y="482600"/>
                </a:lnTo>
                <a:lnTo>
                  <a:pt x="15024" y="482600"/>
                </a:lnTo>
                <a:lnTo>
                  <a:pt x="13030" y="495300"/>
                </a:lnTo>
                <a:close/>
              </a:path>
              <a:path w="2660650" h="1422400">
                <a:moveTo>
                  <a:pt x="2221953" y="495300"/>
                </a:moveTo>
                <a:lnTo>
                  <a:pt x="2212644" y="495300"/>
                </a:lnTo>
                <a:lnTo>
                  <a:pt x="2210650" y="482600"/>
                </a:lnTo>
                <a:lnTo>
                  <a:pt x="2208377" y="482600"/>
                </a:lnTo>
                <a:lnTo>
                  <a:pt x="2205570" y="469900"/>
                </a:lnTo>
                <a:lnTo>
                  <a:pt x="2217432" y="469900"/>
                </a:lnTo>
                <a:lnTo>
                  <a:pt x="2219909" y="482600"/>
                </a:lnTo>
                <a:lnTo>
                  <a:pt x="2221953" y="495300"/>
                </a:lnTo>
                <a:close/>
              </a:path>
              <a:path w="2660650" h="1422400">
                <a:moveTo>
                  <a:pt x="9753" y="1257300"/>
                </a:moveTo>
                <a:lnTo>
                  <a:pt x="241" y="1257300"/>
                </a:lnTo>
                <a:lnTo>
                  <a:pt x="0" y="1244600"/>
                </a:lnTo>
                <a:lnTo>
                  <a:pt x="0" y="533400"/>
                </a:lnTo>
                <a:lnTo>
                  <a:pt x="241" y="520700"/>
                </a:lnTo>
                <a:lnTo>
                  <a:pt x="939" y="508000"/>
                </a:lnTo>
                <a:lnTo>
                  <a:pt x="2108" y="495300"/>
                </a:lnTo>
                <a:lnTo>
                  <a:pt x="13080" y="495300"/>
                </a:lnTo>
                <a:lnTo>
                  <a:pt x="11506" y="508000"/>
                </a:lnTo>
                <a:lnTo>
                  <a:pt x="10426" y="508000"/>
                </a:lnTo>
                <a:lnTo>
                  <a:pt x="9740" y="520700"/>
                </a:lnTo>
                <a:lnTo>
                  <a:pt x="9525" y="533400"/>
                </a:lnTo>
                <a:lnTo>
                  <a:pt x="9525" y="1244600"/>
                </a:lnTo>
                <a:lnTo>
                  <a:pt x="9753" y="1257300"/>
                </a:lnTo>
                <a:close/>
              </a:path>
              <a:path w="2660650" h="1422400">
                <a:moveTo>
                  <a:pt x="2225433" y="1257300"/>
                </a:moveTo>
                <a:lnTo>
                  <a:pt x="2215921" y="1257300"/>
                </a:lnTo>
                <a:lnTo>
                  <a:pt x="2216150" y="1244600"/>
                </a:lnTo>
                <a:lnTo>
                  <a:pt x="2216150" y="533400"/>
                </a:lnTo>
                <a:lnTo>
                  <a:pt x="2215921" y="520700"/>
                </a:lnTo>
                <a:lnTo>
                  <a:pt x="2215235" y="508000"/>
                </a:lnTo>
                <a:lnTo>
                  <a:pt x="2214168" y="508000"/>
                </a:lnTo>
                <a:lnTo>
                  <a:pt x="2212594" y="495300"/>
                </a:lnTo>
                <a:lnTo>
                  <a:pt x="2223566" y="495300"/>
                </a:lnTo>
                <a:lnTo>
                  <a:pt x="2224735" y="508000"/>
                </a:lnTo>
                <a:lnTo>
                  <a:pt x="2225433" y="520700"/>
                </a:lnTo>
                <a:lnTo>
                  <a:pt x="2225675" y="533400"/>
                </a:lnTo>
                <a:lnTo>
                  <a:pt x="2225675" y="1244600"/>
                </a:lnTo>
                <a:lnTo>
                  <a:pt x="2225433" y="1257300"/>
                </a:lnTo>
                <a:close/>
              </a:path>
              <a:path w="2660650" h="1422400">
                <a:moveTo>
                  <a:pt x="17373" y="1295400"/>
                </a:moveTo>
                <a:lnTo>
                  <a:pt x="5765" y="1295400"/>
                </a:lnTo>
                <a:lnTo>
                  <a:pt x="3721" y="1282700"/>
                </a:lnTo>
                <a:lnTo>
                  <a:pt x="2108" y="1270000"/>
                </a:lnTo>
                <a:lnTo>
                  <a:pt x="939" y="1257300"/>
                </a:lnTo>
                <a:lnTo>
                  <a:pt x="10413" y="1257300"/>
                </a:lnTo>
                <a:lnTo>
                  <a:pt x="11544" y="1270000"/>
                </a:lnTo>
                <a:lnTo>
                  <a:pt x="13080" y="1282700"/>
                </a:lnTo>
                <a:lnTo>
                  <a:pt x="14960" y="1282700"/>
                </a:lnTo>
                <a:lnTo>
                  <a:pt x="17373" y="1295400"/>
                </a:lnTo>
                <a:close/>
              </a:path>
              <a:path w="2660650" h="1422400">
                <a:moveTo>
                  <a:pt x="2219909" y="1295400"/>
                </a:moveTo>
                <a:lnTo>
                  <a:pt x="2208301" y="1295400"/>
                </a:lnTo>
                <a:lnTo>
                  <a:pt x="2210714" y="1282700"/>
                </a:lnTo>
                <a:lnTo>
                  <a:pt x="2212594" y="1282700"/>
                </a:lnTo>
                <a:lnTo>
                  <a:pt x="2214168" y="1270000"/>
                </a:lnTo>
                <a:lnTo>
                  <a:pt x="2215260" y="1257300"/>
                </a:lnTo>
                <a:lnTo>
                  <a:pt x="2224735" y="1257300"/>
                </a:lnTo>
                <a:lnTo>
                  <a:pt x="2223566" y="1270000"/>
                </a:lnTo>
                <a:lnTo>
                  <a:pt x="2221953" y="1282700"/>
                </a:lnTo>
                <a:lnTo>
                  <a:pt x="2219909" y="1295400"/>
                </a:lnTo>
                <a:close/>
              </a:path>
              <a:path w="2660650" h="1422400">
                <a:moveTo>
                  <a:pt x="26708" y="1320800"/>
                </a:moveTo>
                <a:lnTo>
                  <a:pt x="14401" y="1320800"/>
                </a:lnTo>
                <a:lnTo>
                  <a:pt x="11125" y="1308100"/>
                </a:lnTo>
                <a:lnTo>
                  <a:pt x="8242" y="1295400"/>
                </a:lnTo>
                <a:lnTo>
                  <a:pt x="17297" y="1295400"/>
                </a:lnTo>
                <a:lnTo>
                  <a:pt x="20104" y="1308100"/>
                </a:lnTo>
                <a:lnTo>
                  <a:pt x="23139" y="1308100"/>
                </a:lnTo>
                <a:lnTo>
                  <a:pt x="26708" y="1320800"/>
                </a:lnTo>
                <a:close/>
              </a:path>
              <a:path w="2660650" h="1422400">
                <a:moveTo>
                  <a:pt x="2211260" y="1320800"/>
                </a:moveTo>
                <a:lnTo>
                  <a:pt x="2198966" y="1320800"/>
                </a:lnTo>
                <a:lnTo>
                  <a:pt x="2202535" y="1308100"/>
                </a:lnTo>
                <a:lnTo>
                  <a:pt x="2205570" y="1308100"/>
                </a:lnTo>
                <a:lnTo>
                  <a:pt x="2208377" y="1295400"/>
                </a:lnTo>
                <a:lnTo>
                  <a:pt x="2217432" y="1295400"/>
                </a:lnTo>
                <a:lnTo>
                  <a:pt x="2214549" y="1308100"/>
                </a:lnTo>
                <a:lnTo>
                  <a:pt x="2211260" y="1320800"/>
                </a:lnTo>
                <a:close/>
              </a:path>
              <a:path w="2660650" h="1422400">
                <a:moveTo>
                  <a:pt x="34747" y="1333500"/>
                </a:moveTo>
                <a:lnTo>
                  <a:pt x="22123" y="1333500"/>
                </a:lnTo>
                <a:lnTo>
                  <a:pt x="18084" y="1320800"/>
                </a:lnTo>
                <a:lnTo>
                  <a:pt x="30441" y="1320800"/>
                </a:lnTo>
                <a:lnTo>
                  <a:pt x="34747" y="1333500"/>
                </a:lnTo>
                <a:close/>
              </a:path>
              <a:path w="2660650" h="1422400">
                <a:moveTo>
                  <a:pt x="2203551" y="1333500"/>
                </a:moveTo>
                <a:lnTo>
                  <a:pt x="2190927" y="1333500"/>
                </a:lnTo>
                <a:lnTo>
                  <a:pt x="2195233" y="1320800"/>
                </a:lnTo>
                <a:lnTo>
                  <a:pt x="2207590" y="1320800"/>
                </a:lnTo>
                <a:lnTo>
                  <a:pt x="2203551" y="1333500"/>
                </a:lnTo>
                <a:close/>
              </a:path>
              <a:path w="2660650" h="1422400">
                <a:moveTo>
                  <a:pt x="49288" y="1358900"/>
                </a:moveTo>
                <a:lnTo>
                  <a:pt x="36423" y="1358900"/>
                </a:lnTo>
                <a:lnTo>
                  <a:pt x="31305" y="1346200"/>
                </a:lnTo>
                <a:lnTo>
                  <a:pt x="26542" y="1333500"/>
                </a:lnTo>
                <a:lnTo>
                  <a:pt x="34620" y="1333500"/>
                </a:lnTo>
                <a:lnTo>
                  <a:pt x="39268" y="1346200"/>
                </a:lnTo>
                <a:lnTo>
                  <a:pt x="43980" y="1346200"/>
                </a:lnTo>
                <a:lnTo>
                  <a:pt x="49288" y="1358900"/>
                </a:lnTo>
                <a:close/>
              </a:path>
              <a:path w="2660650" h="1422400">
                <a:moveTo>
                  <a:pt x="2189251" y="1358900"/>
                </a:moveTo>
                <a:lnTo>
                  <a:pt x="2176386" y="1358900"/>
                </a:lnTo>
                <a:lnTo>
                  <a:pt x="2181694" y="1346200"/>
                </a:lnTo>
                <a:lnTo>
                  <a:pt x="2186406" y="1346200"/>
                </a:lnTo>
                <a:lnTo>
                  <a:pt x="2191054" y="1333500"/>
                </a:lnTo>
                <a:lnTo>
                  <a:pt x="2199131" y="1333500"/>
                </a:lnTo>
                <a:lnTo>
                  <a:pt x="2194356" y="1346200"/>
                </a:lnTo>
                <a:lnTo>
                  <a:pt x="2189251" y="1358900"/>
                </a:lnTo>
                <a:close/>
              </a:path>
              <a:path w="2660650" h="1422400">
                <a:moveTo>
                  <a:pt x="60515" y="1371600"/>
                </a:moveTo>
                <a:lnTo>
                  <a:pt x="47625" y="1371600"/>
                </a:lnTo>
                <a:lnTo>
                  <a:pt x="41859" y="1358900"/>
                </a:lnTo>
                <a:lnTo>
                  <a:pt x="54597" y="1358900"/>
                </a:lnTo>
                <a:lnTo>
                  <a:pt x="60515" y="1371600"/>
                </a:lnTo>
                <a:close/>
              </a:path>
              <a:path w="2660650" h="1422400">
                <a:moveTo>
                  <a:pt x="2178050" y="1371600"/>
                </a:moveTo>
                <a:lnTo>
                  <a:pt x="2165159" y="1371600"/>
                </a:lnTo>
                <a:lnTo>
                  <a:pt x="2171077" y="1358900"/>
                </a:lnTo>
                <a:lnTo>
                  <a:pt x="2183815" y="1358900"/>
                </a:lnTo>
                <a:lnTo>
                  <a:pt x="2178050" y="1371600"/>
                </a:lnTo>
                <a:close/>
              </a:path>
              <a:path w="2660650" h="1422400">
                <a:moveTo>
                  <a:pt x="79438" y="1384300"/>
                </a:moveTo>
                <a:lnTo>
                  <a:pt x="60058" y="1384300"/>
                </a:lnTo>
                <a:lnTo>
                  <a:pt x="53695" y="1371600"/>
                </a:lnTo>
                <a:lnTo>
                  <a:pt x="72682" y="1371600"/>
                </a:lnTo>
                <a:lnTo>
                  <a:pt x="79438" y="1384300"/>
                </a:lnTo>
                <a:close/>
              </a:path>
              <a:path w="2660650" h="1422400">
                <a:moveTo>
                  <a:pt x="2165616" y="1384300"/>
                </a:moveTo>
                <a:lnTo>
                  <a:pt x="2146236" y="1384300"/>
                </a:lnTo>
                <a:lnTo>
                  <a:pt x="2152992" y="1371600"/>
                </a:lnTo>
                <a:lnTo>
                  <a:pt x="2171979" y="1371600"/>
                </a:lnTo>
                <a:lnTo>
                  <a:pt x="2165616" y="1384300"/>
                </a:lnTo>
                <a:close/>
              </a:path>
              <a:path w="2660650" h="1422400">
                <a:moveTo>
                  <a:pt x="93306" y="1397000"/>
                </a:moveTo>
                <a:lnTo>
                  <a:pt x="80822" y="1397000"/>
                </a:lnTo>
                <a:lnTo>
                  <a:pt x="73634" y="1384300"/>
                </a:lnTo>
                <a:lnTo>
                  <a:pt x="86055" y="1384300"/>
                </a:lnTo>
                <a:lnTo>
                  <a:pt x="93306" y="1397000"/>
                </a:lnTo>
                <a:close/>
              </a:path>
              <a:path w="2660650" h="1422400">
                <a:moveTo>
                  <a:pt x="2144852" y="1397000"/>
                </a:moveTo>
                <a:lnTo>
                  <a:pt x="2132368" y="1397000"/>
                </a:lnTo>
                <a:lnTo>
                  <a:pt x="2139619" y="1384300"/>
                </a:lnTo>
                <a:lnTo>
                  <a:pt x="2152040" y="1384300"/>
                </a:lnTo>
                <a:lnTo>
                  <a:pt x="2144852" y="1397000"/>
                </a:lnTo>
                <a:close/>
              </a:path>
              <a:path w="2660650" h="1422400">
                <a:moveTo>
                  <a:pt x="115785" y="1409700"/>
                </a:moveTo>
                <a:lnTo>
                  <a:pt x="95935" y="1409700"/>
                </a:lnTo>
                <a:lnTo>
                  <a:pt x="88264" y="1397000"/>
                </a:lnTo>
                <a:lnTo>
                  <a:pt x="107873" y="1397000"/>
                </a:lnTo>
                <a:lnTo>
                  <a:pt x="115785" y="1409700"/>
                </a:lnTo>
                <a:close/>
              </a:path>
              <a:path w="2660650" h="1422400">
                <a:moveTo>
                  <a:pt x="2129739" y="1409700"/>
                </a:moveTo>
                <a:lnTo>
                  <a:pt x="2109889" y="1409700"/>
                </a:lnTo>
                <a:lnTo>
                  <a:pt x="2117801" y="1397000"/>
                </a:lnTo>
                <a:lnTo>
                  <a:pt x="2137409" y="1397000"/>
                </a:lnTo>
                <a:lnTo>
                  <a:pt x="2129739" y="1409700"/>
                </a:lnTo>
                <a:close/>
              </a:path>
              <a:path w="2660650" h="1422400">
                <a:moveTo>
                  <a:pt x="165671" y="1422400"/>
                </a:moveTo>
                <a:lnTo>
                  <a:pt x="128816" y="1422400"/>
                </a:lnTo>
                <a:lnTo>
                  <a:pt x="120294" y="1409700"/>
                </a:lnTo>
                <a:lnTo>
                  <a:pt x="156730" y="1409700"/>
                </a:lnTo>
                <a:lnTo>
                  <a:pt x="165671" y="1422400"/>
                </a:lnTo>
                <a:close/>
              </a:path>
              <a:path w="2660650" h="1422400">
                <a:moveTo>
                  <a:pt x="2096858" y="1422400"/>
                </a:moveTo>
                <a:lnTo>
                  <a:pt x="2060003" y="1422400"/>
                </a:lnTo>
                <a:lnTo>
                  <a:pt x="2068944" y="1409700"/>
                </a:lnTo>
                <a:lnTo>
                  <a:pt x="2105380" y="1409700"/>
                </a:lnTo>
                <a:lnTo>
                  <a:pt x="2096858" y="1422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908143" y="4869535"/>
            <a:ext cx="1550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赫</a:t>
            </a:r>
            <a:r>
              <a:rPr dirty="0" sz="2000" spc="5">
                <a:latin typeface="微软雅黑"/>
                <a:cs typeface="微软雅黑"/>
              </a:rPr>
              <a:t>兹</a:t>
            </a:r>
            <a:endParaRPr sz="20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发现光电效</a:t>
            </a:r>
            <a:r>
              <a:rPr dirty="0" sz="2000" spc="5">
                <a:latin typeface="微软雅黑"/>
                <a:cs typeface="微软雅黑"/>
              </a:rPr>
              <a:t>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684462" y="14239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684462" y="16335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684462" y="18430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684462" y="20526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684462" y="22621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684462" y="24717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684462" y="26812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684462" y="28908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684462" y="31003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684462" y="33099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684462" y="35194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684462" y="37290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684462" y="39385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684462" y="41481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684462" y="43576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684462" y="45672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684462" y="47767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684462" y="49863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84462" y="51958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84462" y="54054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84462" y="56149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684462" y="58245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84462" y="60340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684462" y="62436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74937" y="6453187"/>
            <a:ext cx="19050" cy="76200"/>
          </a:xfrm>
          <a:custGeom>
            <a:avLst/>
            <a:gdLst/>
            <a:ahLst/>
            <a:cxnLst/>
            <a:rect l="l" t="t" r="r" b="b"/>
            <a:pathLst>
              <a:path w="19050" h="76200">
                <a:moveTo>
                  <a:pt x="19050" y="76200"/>
                </a:moveTo>
                <a:lnTo>
                  <a:pt x="0" y="76200"/>
                </a:lnTo>
                <a:lnTo>
                  <a:pt x="0" y="0"/>
                </a:lnTo>
                <a:lnTo>
                  <a:pt x="19050" y="0"/>
                </a:lnTo>
                <a:lnTo>
                  <a:pt x="19050" y="762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222750" y="14239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222750" y="16335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222750" y="18430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222750" y="20526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222750" y="22621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222750" y="24717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222750" y="26812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222750" y="28908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222750" y="31003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222750" y="33099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222750" y="35194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222750" y="37290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222750" y="39385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222750" y="41481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222750" y="43576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222750" y="45672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222750" y="47767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222750" y="49863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222750" y="51958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4222750" y="54054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222750" y="56149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222750" y="58245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222750" y="603408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222750" y="6243637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213225" y="6453187"/>
            <a:ext cx="19050" cy="76200"/>
          </a:xfrm>
          <a:custGeom>
            <a:avLst/>
            <a:gdLst/>
            <a:ahLst/>
            <a:cxnLst/>
            <a:rect l="l" t="t" r="r" b="b"/>
            <a:pathLst>
              <a:path w="19050" h="76200">
                <a:moveTo>
                  <a:pt x="19050" y="76200"/>
                </a:moveTo>
                <a:lnTo>
                  <a:pt x="0" y="76200"/>
                </a:lnTo>
                <a:lnTo>
                  <a:pt x="0" y="0"/>
                </a:lnTo>
                <a:lnTo>
                  <a:pt x="19050" y="0"/>
                </a:lnTo>
                <a:lnTo>
                  <a:pt x="19050" y="762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662237" y="6187109"/>
            <a:ext cx="1548130" cy="88265"/>
          </a:xfrm>
          <a:custGeom>
            <a:avLst/>
            <a:gdLst/>
            <a:ahLst/>
            <a:cxnLst/>
            <a:rect l="l" t="t" r="r" b="b"/>
            <a:pathLst>
              <a:path w="1548129" h="88264">
                <a:moveTo>
                  <a:pt x="1471929" y="76200"/>
                </a:moveTo>
                <a:lnTo>
                  <a:pt x="1471657" y="42866"/>
                </a:lnTo>
                <a:lnTo>
                  <a:pt x="1490700" y="42710"/>
                </a:lnTo>
                <a:lnTo>
                  <a:pt x="1490624" y="33185"/>
                </a:lnTo>
                <a:lnTo>
                  <a:pt x="1471578" y="33185"/>
                </a:lnTo>
                <a:lnTo>
                  <a:pt x="1471307" y="0"/>
                </a:lnTo>
                <a:lnTo>
                  <a:pt x="1539049" y="33185"/>
                </a:lnTo>
                <a:lnTo>
                  <a:pt x="1490624" y="33185"/>
                </a:lnTo>
                <a:lnTo>
                  <a:pt x="1539368" y="33341"/>
                </a:lnTo>
                <a:lnTo>
                  <a:pt x="1547812" y="37477"/>
                </a:lnTo>
                <a:lnTo>
                  <a:pt x="1471929" y="76200"/>
                </a:lnTo>
                <a:close/>
              </a:path>
              <a:path w="1548129" h="88264">
                <a:moveTo>
                  <a:pt x="76504" y="87655"/>
                </a:moveTo>
                <a:lnTo>
                  <a:pt x="0" y="50177"/>
                </a:lnTo>
                <a:lnTo>
                  <a:pt x="75882" y="11455"/>
                </a:lnTo>
                <a:lnTo>
                  <a:pt x="76154" y="44789"/>
                </a:lnTo>
                <a:lnTo>
                  <a:pt x="57111" y="44945"/>
                </a:lnTo>
                <a:lnTo>
                  <a:pt x="57188" y="54470"/>
                </a:lnTo>
                <a:lnTo>
                  <a:pt x="76233" y="54470"/>
                </a:lnTo>
                <a:lnTo>
                  <a:pt x="76504" y="87655"/>
                </a:lnTo>
                <a:close/>
              </a:path>
              <a:path w="1548129" h="88264">
                <a:moveTo>
                  <a:pt x="1471657" y="42866"/>
                </a:moveTo>
                <a:lnTo>
                  <a:pt x="1471579" y="33341"/>
                </a:lnTo>
                <a:lnTo>
                  <a:pt x="1490624" y="33185"/>
                </a:lnTo>
                <a:lnTo>
                  <a:pt x="1490700" y="42710"/>
                </a:lnTo>
                <a:lnTo>
                  <a:pt x="1471657" y="42866"/>
                </a:lnTo>
                <a:close/>
              </a:path>
              <a:path w="1548129" h="88264">
                <a:moveTo>
                  <a:pt x="76232" y="54314"/>
                </a:moveTo>
                <a:lnTo>
                  <a:pt x="76154" y="44789"/>
                </a:lnTo>
                <a:lnTo>
                  <a:pt x="1471579" y="33341"/>
                </a:lnTo>
                <a:lnTo>
                  <a:pt x="1471657" y="42866"/>
                </a:lnTo>
                <a:lnTo>
                  <a:pt x="76232" y="54314"/>
                </a:lnTo>
                <a:close/>
              </a:path>
              <a:path w="1548129" h="88264">
                <a:moveTo>
                  <a:pt x="57188" y="54470"/>
                </a:moveTo>
                <a:lnTo>
                  <a:pt x="57111" y="44945"/>
                </a:lnTo>
                <a:lnTo>
                  <a:pt x="76154" y="44789"/>
                </a:lnTo>
                <a:lnTo>
                  <a:pt x="76232" y="54314"/>
                </a:lnTo>
                <a:lnTo>
                  <a:pt x="57188" y="54470"/>
                </a:lnTo>
                <a:close/>
              </a:path>
              <a:path w="1548129" h="88264">
                <a:moveTo>
                  <a:pt x="76233" y="54470"/>
                </a:moveTo>
                <a:lnTo>
                  <a:pt x="57188" y="54470"/>
                </a:lnTo>
                <a:lnTo>
                  <a:pt x="76232" y="54314"/>
                </a:lnTo>
                <a:lnTo>
                  <a:pt x="76233" y="5447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2807652" y="5896609"/>
            <a:ext cx="1296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牛顿微粒</a:t>
            </a:r>
            <a:r>
              <a:rPr dirty="0" sz="2000">
                <a:latin typeface="微软雅黑"/>
                <a:cs typeface="微软雅黑"/>
              </a:rPr>
              <a:t>说 </a:t>
            </a:r>
            <a:r>
              <a:rPr dirty="0" sz="2000">
                <a:latin typeface="微软雅黑"/>
                <a:cs typeface="微软雅黑"/>
              </a:rPr>
              <a:t>占主导地</a:t>
            </a:r>
            <a:r>
              <a:rPr dirty="0" sz="2000" spc="5">
                <a:latin typeface="微软雅黑"/>
                <a:cs typeface="微软雅黑"/>
              </a:rPr>
              <a:t>位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7637462" y="1576387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637462" y="1890712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7637462" y="2205037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637462" y="2519362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637462" y="2833687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637462" y="3148012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7637462" y="3462337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637462" y="3776662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637462" y="4090987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7637462" y="4405312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7637462" y="4719637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7637462" y="5033962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7637462" y="5348287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7637462" y="5662612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7637462" y="5976937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7637462" y="6291262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7623175" y="6605587"/>
            <a:ext cx="28575" cy="76200"/>
          </a:xfrm>
          <a:custGeom>
            <a:avLst/>
            <a:gdLst/>
            <a:ahLst/>
            <a:cxnLst/>
            <a:rect l="l" t="t" r="r" b="b"/>
            <a:pathLst>
              <a:path w="28575" h="76200">
                <a:moveTo>
                  <a:pt x="28575" y="76200"/>
                </a:moveTo>
                <a:lnTo>
                  <a:pt x="0" y="76200"/>
                </a:lnTo>
                <a:lnTo>
                  <a:pt x="0" y="0"/>
                </a:lnTo>
                <a:lnTo>
                  <a:pt x="28575" y="0"/>
                </a:lnTo>
                <a:lnTo>
                  <a:pt x="28575" y="762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284662" y="6291262"/>
            <a:ext cx="3352800" cy="171450"/>
          </a:xfrm>
          <a:custGeom>
            <a:avLst/>
            <a:gdLst/>
            <a:ahLst/>
            <a:cxnLst/>
            <a:rect l="l" t="t" r="r" b="b"/>
            <a:pathLst>
              <a:path w="3352800" h="171450">
                <a:moveTo>
                  <a:pt x="152019" y="171450"/>
                </a:moveTo>
                <a:lnTo>
                  <a:pt x="148716" y="171145"/>
                </a:lnTo>
                <a:lnTo>
                  <a:pt x="145516" y="170268"/>
                </a:lnTo>
                <a:lnTo>
                  <a:pt x="142506" y="168859"/>
                </a:lnTo>
                <a:lnTo>
                  <a:pt x="0" y="85725"/>
                </a:lnTo>
                <a:lnTo>
                  <a:pt x="142506" y="2590"/>
                </a:lnTo>
                <a:lnTo>
                  <a:pt x="145516" y="1181"/>
                </a:lnTo>
                <a:lnTo>
                  <a:pt x="148716" y="304"/>
                </a:lnTo>
                <a:lnTo>
                  <a:pt x="152019" y="0"/>
                </a:lnTo>
                <a:lnTo>
                  <a:pt x="155333" y="279"/>
                </a:lnTo>
                <a:lnTo>
                  <a:pt x="171157" y="18961"/>
                </a:lnTo>
                <a:lnTo>
                  <a:pt x="170878" y="22275"/>
                </a:lnTo>
                <a:lnTo>
                  <a:pt x="108282" y="66675"/>
                </a:lnTo>
                <a:lnTo>
                  <a:pt x="37807" y="66675"/>
                </a:lnTo>
                <a:lnTo>
                  <a:pt x="37807" y="104775"/>
                </a:lnTo>
                <a:lnTo>
                  <a:pt x="108282" y="104775"/>
                </a:lnTo>
                <a:lnTo>
                  <a:pt x="161709" y="135940"/>
                </a:lnTo>
                <a:lnTo>
                  <a:pt x="171157" y="152488"/>
                </a:lnTo>
                <a:lnTo>
                  <a:pt x="170853" y="155790"/>
                </a:lnTo>
                <a:lnTo>
                  <a:pt x="155333" y="171170"/>
                </a:lnTo>
                <a:lnTo>
                  <a:pt x="152019" y="171450"/>
                </a:lnTo>
                <a:close/>
              </a:path>
              <a:path w="3352800" h="171450">
                <a:moveTo>
                  <a:pt x="3277175" y="85725"/>
                </a:moveTo>
                <a:lnTo>
                  <a:pt x="3191090" y="35509"/>
                </a:lnTo>
                <a:lnTo>
                  <a:pt x="3181642" y="18961"/>
                </a:lnTo>
                <a:lnTo>
                  <a:pt x="3181946" y="15659"/>
                </a:lnTo>
                <a:lnTo>
                  <a:pt x="3200780" y="0"/>
                </a:lnTo>
                <a:lnTo>
                  <a:pt x="3204082" y="304"/>
                </a:lnTo>
                <a:lnTo>
                  <a:pt x="3207283" y="1181"/>
                </a:lnTo>
                <a:lnTo>
                  <a:pt x="3210293" y="2590"/>
                </a:lnTo>
                <a:lnTo>
                  <a:pt x="3320144" y="66675"/>
                </a:lnTo>
                <a:lnTo>
                  <a:pt x="3314992" y="66675"/>
                </a:lnTo>
                <a:lnTo>
                  <a:pt x="3314992" y="69265"/>
                </a:lnTo>
                <a:lnTo>
                  <a:pt x="3305390" y="69265"/>
                </a:lnTo>
                <a:lnTo>
                  <a:pt x="3277175" y="85725"/>
                </a:lnTo>
                <a:close/>
              </a:path>
              <a:path w="3352800" h="171450">
                <a:moveTo>
                  <a:pt x="108282" y="104775"/>
                </a:moveTo>
                <a:lnTo>
                  <a:pt x="37807" y="104775"/>
                </a:lnTo>
                <a:lnTo>
                  <a:pt x="37807" y="66675"/>
                </a:lnTo>
                <a:lnTo>
                  <a:pt x="108282" y="66675"/>
                </a:lnTo>
                <a:lnTo>
                  <a:pt x="103840" y="69265"/>
                </a:lnTo>
                <a:lnTo>
                  <a:pt x="47409" y="69265"/>
                </a:lnTo>
                <a:lnTo>
                  <a:pt x="47409" y="102184"/>
                </a:lnTo>
                <a:lnTo>
                  <a:pt x="103840" y="102184"/>
                </a:lnTo>
                <a:lnTo>
                  <a:pt x="108282" y="104775"/>
                </a:lnTo>
                <a:close/>
              </a:path>
              <a:path w="3352800" h="171450">
                <a:moveTo>
                  <a:pt x="3244517" y="104775"/>
                </a:moveTo>
                <a:lnTo>
                  <a:pt x="108282" y="104775"/>
                </a:lnTo>
                <a:lnTo>
                  <a:pt x="75624" y="85725"/>
                </a:lnTo>
                <a:lnTo>
                  <a:pt x="108282" y="66675"/>
                </a:lnTo>
                <a:lnTo>
                  <a:pt x="3244517" y="66675"/>
                </a:lnTo>
                <a:lnTo>
                  <a:pt x="3277175" y="85725"/>
                </a:lnTo>
                <a:lnTo>
                  <a:pt x="3244517" y="104775"/>
                </a:lnTo>
                <a:close/>
              </a:path>
              <a:path w="3352800" h="171450">
                <a:moveTo>
                  <a:pt x="3320144" y="104775"/>
                </a:moveTo>
                <a:lnTo>
                  <a:pt x="3314992" y="104775"/>
                </a:lnTo>
                <a:lnTo>
                  <a:pt x="3314992" y="66675"/>
                </a:lnTo>
                <a:lnTo>
                  <a:pt x="3320144" y="66675"/>
                </a:lnTo>
                <a:lnTo>
                  <a:pt x="3352800" y="85725"/>
                </a:lnTo>
                <a:lnTo>
                  <a:pt x="3320144" y="104775"/>
                </a:lnTo>
                <a:close/>
              </a:path>
              <a:path w="3352800" h="171450">
                <a:moveTo>
                  <a:pt x="47409" y="102184"/>
                </a:moveTo>
                <a:lnTo>
                  <a:pt x="47409" y="69265"/>
                </a:lnTo>
                <a:lnTo>
                  <a:pt x="75624" y="85725"/>
                </a:lnTo>
                <a:lnTo>
                  <a:pt x="47409" y="102184"/>
                </a:lnTo>
                <a:close/>
              </a:path>
              <a:path w="3352800" h="171450">
                <a:moveTo>
                  <a:pt x="75624" y="85725"/>
                </a:moveTo>
                <a:lnTo>
                  <a:pt x="47409" y="69265"/>
                </a:lnTo>
                <a:lnTo>
                  <a:pt x="103840" y="69265"/>
                </a:lnTo>
                <a:lnTo>
                  <a:pt x="75624" y="85725"/>
                </a:lnTo>
                <a:close/>
              </a:path>
              <a:path w="3352800" h="171450">
                <a:moveTo>
                  <a:pt x="3305390" y="102184"/>
                </a:moveTo>
                <a:lnTo>
                  <a:pt x="3277175" y="85725"/>
                </a:lnTo>
                <a:lnTo>
                  <a:pt x="3305390" y="69265"/>
                </a:lnTo>
                <a:lnTo>
                  <a:pt x="3305390" y="102184"/>
                </a:lnTo>
                <a:close/>
              </a:path>
              <a:path w="3352800" h="171450">
                <a:moveTo>
                  <a:pt x="3314992" y="102184"/>
                </a:moveTo>
                <a:lnTo>
                  <a:pt x="3305390" y="102184"/>
                </a:lnTo>
                <a:lnTo>
                  <a:pt x="3305390" y="69265"/>
                </a:lnTo>
                <a:lnTo>
                  <a:pt x="3314992" y="69265"/>
                </a:lnTo>
                <a:lnTo>
                  <a:pt x="3314992" y="102184"/>
                </a:lnTo>
                <a:close/>
              </a:path>
              <a:path w="3352800" h="171450">
                <a:moveTo>
                  <a:pt x="103840" y="102184"/>
                </a:moveTo>
                <a:lnTo>
                  <a:pt x="47409" y="102184"/>
                </a:lnTo>
                <a:lnTo>
                  <a:pt x="75624" y="85725"/>
                </a:lnTo>
                <a:lnTo>
                  <a:pt x="103840" y="102184"/>
                </a:lnTo>
                <a:close/>
              </a:path>
              <a:path w="3352800" h="171450">
                <a:moveTo>
                  <a:pt x="3200780" y="171450"/>
                </a:moveTo>
                <a:lnTo>
                  <a:pt x="3181642" y="152488"/>
                </a:lnTo>
                <a:lnTo>
                  <a:pt x="3181921" y="149174"/>
                </a:lnTo>
                <a:lnTo>
                  <a:pt x="3277175" y="85725"/>
                </a:lnTo>
                <a:lnTo>
                  <a:pt x="3305390" y="102184"/>
                </a:lnTo>
                <a:lnTo>
                  <a:pt x="3314992" y="102184"/>
                </a:lnTo>
                <a:lnTo>
                  <a:pt x="3314992" y="104775"/>
                </a:lnTo>
                <a:lnTo>
                  <a:pt x="3320144" y="104775"/>
                </a:lnTo>
                <a:lnTo>
                  <a:pt x="3210293" y="168859"/>
                </a:lnTo>
                <a:lnTo>
                  <a:pt x="3207283" y="170268"/>
                </a:lnTo>
                <a:lnTo>
                  <a:pt x="3204082" y="171145"/>
                </a:lnTo>
                <a:lnTo>
                  <a:pt x="3200780" y="17145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 txBox="1"/>
          <p:nvPr/>
        </p:nvSpPr>
        <p:spPr>
          <a:xfrm>
            <a:off x="5203507" y="6068059"/>
            <a:ext cx="1042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波动</a:t>
            </a:r>
            <a:r>
              <a:rPr dirty="0" sz="2000" spc="5">
                <a:latin typeface="微软雅黑"/>
                <a:cs typeface="微软雅黑"/>
              </a:rPr>
              <a:t>说 </a:t>
            </a:r>
            <a:r>
              <a:rPr dirty="0" sz="2000">
                <a:latin typeface="微软雅黑"/>
                <a:cs typeface="微软雅黑"/>
              </a:rPr>
              <a:t>渐成真</a:t>
            </a:r>
            <a:r>
              <a:rPr dirty="0" sz="2000" spc="5">
                <a:latin typeface="微软雅黑"/>
                <a:cs typeface="微软雅黑"/>
              </a:rPr>
              <a:t>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319452" y="3451225"/>
            <a:ext cx="733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libri"/>
                <a:cs typeface="Calibri"/>
              </a:rPr>
              <a:t>………</a:t>
            </a:r>
            <a:r>
              <a:rPr dirty="0" sz="240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1590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光电效应的发现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98535" y="1830323"/>
            <a:ext cx="3680460" cy="2892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748789" y="1779587"/>
            <a:ext cx="57029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微软雅黑"/>
                <a:cs typeface="微软雅黑"/>
              </a:rPr>
              <a:t>1887年，赫兹在研究电磁波的实验中偶尔发现，</a:t>
            </a:r>
            <a:r>
              <a:rPr dirty="0" sz="2000">
                <a:latin typeface="微软雅黑"/>
                <a:cs typeface="微软雅黑"/>
              </a:rPr>
              <a:t>接 </a:t>
            </a:r>
            <a:r>
              <a:rPr dirty="0" sz="2000">
                <a:latin typeface="微软雅黑"/>
                <a:cs typeface="微软雅黑"/>
              </a:rPr>
              <a:t>收电路的间隙如果受到光照，就更容易产生电火</a:t>
            </a:r>
            <a:r>
              <a:rPr dirty="0" sz="2000" spc="5">
                <a:latin typeface="微软雅黑"/>
                <a:cs typeface="微软雅黑"/>
              </a:rPr>
              <a:t>花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8789" y="3767772"/>
            <a:ext cx="586803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德国物理学</a:t>
            </a:r>
            <a:r>
              <a:rPr dirty="0" sz="2000" spc="5">
                <a:latin typeface="微软雅黑"/>
                <a:cs typeface="微软雅黑"/>
              </a:rPr>
              <a:t>家</a:t>
            </a:r>
            <a:r>
              <a:rPr dirty="0" sz="2000" spc="-25">
                <a:latin typeface="微软雅黑"/>
                <a:cs typeface="微软雅黑"/>
              </a:rPr>
              <a:t> </a:t>
            </a:r>
            <a:r>
              <a:rPr dirty="0" sz="2000" spc="-175">
                <a:latin typeface="微软雅黑"/>
                <a:cs typeface="微软雅黑"/>
              </a:rPr>
              <a:t>P.</a:t>
            </a:r>
            <a:r>
              <a:rPr dirty="0" sz="2000" spc="-2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勒纳德</a:t>
            </a:r>
            <a:r>
              <a:rPr dirty="0" sz="2000" spc="-120">
                <a:latin typeface="微软雅黑"/>
                <a:cs typeface="微软雅黑"/>
              </a:rPr>
              <a:t>（P.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 spc="-10">
                <a:latin typeface="微软雅黑"/>
                <a:cs typeface="微软雅黑"/>
              </a:rPr>
              <a:t>Lenard）</a:t>
            </a:r>
            <a:r>
              <a:rPr dirty="0" sz="2000">
                <a:latin typeface="微软雅黑"/>
                <a:cs typeface="微软雅黑"/>
              </a:rPr>
              <a:t>、英国物理</a:t>
            </a:r>
            <a:r>
              <a:rPr dirty="0" sz="2000" spc="5">
                <a:latin typeface="微软雅黑"/>
                <a:cs typeface="微软雅黑"/>
              </a:rPr>
              <a:t>学 </a:t>
            </a:r>
            <a:r>
              <a:rPr dirty="0" sz="2000">
                <a:latin typeface="微软雅黑"/>
                <a:cs typeface="微软雅黑"/>
              </a:rPr>
              <a:t>家</a:t>
            </a:r>
            <a:r>
              <a:rPr dirty="0" sz="2000" spc="-60">
                <a:latin typeface="微软雅黑"/>
                <a:cs typeface="微软雅黑"/>
              </a:rPr>
              <a:t>J.</a:t>
            </a:r>
            <a:r>
              <a:rPr dirty="0" sz="2000" spc="-10">
                <a:latin typeface="微软雅黑"/>
                <a:cs typeface="微软雅黑"/>
              </a:rPr>
              <a:t> </a:t>
            </a:r>
            <a:r>
              <a:rPr dirty="0" sz="2000" spc="-60">
                <a:latin typeface="微软雅黑"/>
                <a:cs typeface="微软雅黑"/>
              </a:rPr>
              <a:t>J.</a:t>
            </a:r>
            <a:r>
              <a:rPr dirty="0" sz="2000" spc="-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汤姆孙</a:t>
            </a:r>
            <a:r>
              <a:rPr dirty="0" sz="2000" spc="-40">
                <a:latin typeface="微软雅黑"/>
                <a:cs typeface="微软雅黑"/>
              </a:rPr>
              <a:t>（J.</a:t>
            </a:r>
            <a:r>
              <a:rPr dirty="0" sz="2000" spc="-10">
                <a:latin typeface="微软雅黑"/>
                <a:cs typeface="微软雅黑"/>
              </a:rPr>
              <a:t> </a:t>
            </a:r>
            <a:r>
              <a:rPr dirty="0" sz="2000" spc="-60">
                <a:latin typeface="微软雅黑"/>
                <a:cs typeface="微软雅黑"/>
              </a:rPr>
              <a:t>J.</a:t>
            </a:r>
            <a:r>
              <a:rPr dirty="0" sz="2000" spc="-5">
                <a:latin typeface="微软雅黑"/>
                <a:cs typeface="微软雅黑"/>
              </a:rPr>
              <a:t> Thomson, 1856—1940）</a:t>
            </a:r>
            <a:r>
              <a:rPr dirty="0" sz="2000">
                <a:latin typeface="微软雅黑"/>
                <a:cs typeface="微软雅黑"/>
              </a:rPr>
              <a:t>等</a:t>
            </a:r>
            <a:r>
              <a:rPr dirty="0" sz="2000" spc="5">
                <a:latin typeface="微软雅黑"/>
                <a:cs typeface="微软雅黑"/>
              </a:rPr>
              <a:t>相 </a:t>
            </a:r>
            <a:r>
              <a:rPr dirty="0" sz="2000">
                <a:latin typeface="微软雅黑"/>
                <a:cs typeface="微软雅黑"/>
              </a:rPr>
              <a:t>继进行了实验研究，证实了这个现象，即照射到金</a:t>
            </a:r>
            <a:r>
              <a:rPr dirty="0" sz="2000">
                <a:latin typeface="微软雅黑"/>
                <a:cs typeface="微软雅黑"/>
              </a:rPr>
              <a:t>属 </a:t>
            </a:r>
            <a:r>
              <a:rPr dirty="0" sz="2000">
                <a:latin typeface="微软雅黑"/>
                <a:cs typeface="微软雅黑"/>
              </a:rPr>
              <a:t>表面的光，能使金属中的电子从表面逸</a:t>
            </a:r>
            <a:r>
              <a:rPr dirty="0" sz="2000" spc="5">
                <a:latin typeface="微软雅黑"/>
                <a:cs typeface="微软雅黑"/>
              </a:rPr>
              <a:t>出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8542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光电效应实验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27847" y="1223772"/>
            <a:ext cx="3659124" cy="2572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169477" y="1657350"/>
            <a:ext cx="8864600" cy="425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0495" marR="379158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93395" algn="l"/>
              </a:tabLst>
            </a:pPr>
            <a:r>
              <a:rPr dirty="0" sz="2400">
                <a:latin typeface="微软雅黑"/>
                <a:cs typeface="微软雅黑"/>
              </a:rPr>
              <a:t>把一块锌板连接在验电器上，并使 锌板带负电，验电器指针张开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΢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150495" marR="3791585">
              <a:lnSpc>
                <a:spcPct val="100000"/>
              </a:lnSpc>
              <a:buAutoNum type="arabicPeriod"/>
              <a:tabLst>
                <a:tab pos="493395" algn="l"/>
              </a:tabLst>
            </a:pPr>
            <a:r>
              <a:rPr dirty="0" sz="2400">
                <a:latin typeface="微软雅黑"/>
                <a:cs typeface="微软雅黑"/>
              </a:rPr>
              <a:t>用紫外线灯照射锌板，验电器指针 的张角逐渐减小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dirty="0" sz="2800">
                <a:solidFill>
                  <a:srgbClr val="FF0000"/>
                </a:solidFill>
                <a:latin typeface="微软雅黑"/>
                <a:cs typeface="微软雅黑"/>
              </a:rPr>
              <a:t>原因</a:t>
            </a:r>
            <a:r>
              <a:rPr dirty="0" sz="2800" spc="-5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  <a:p>
            <a:pPr algn="just" marL="12700" marR="5080">
              <a:lnSpc>
                <a:spcPct val="100000"/>
              </a:lnSpc>
              <a:spcBef>
                <a:spcPts val="1450"/>
              </a:spcBef>
            </a:pPr>
            <a:r>
              <a:rPr dirty="0" sz="2400">
                <a:latin typeface="微软雅黑"/>
                <a:cs typeface="微软雅黑"/>
              </a:rPr>
              <a:t>与验电器连接的锌板带负电，当光照射锌板时，锌板中的部分电子 吸收了光的能量后，从锌板表面逸出，锌板带的负电减少，所以验 电器指针的张角减小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106156" y="2153411"/>
            <a:ext cx="3659124" cy="2572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142489" y="4591050"/>
            <a:ext cx="3073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逸出的电子称为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光电子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74227" y="1624964"/>
            <a:ext cx="5511800" cy="1673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光电效</a:t>
            </a:r>
            <a:r>
              <a:rPr dirty="0" sz="2800" spc="-5">
                <a:latin typeface="微软雅黑"/>
                <a:cs typeface="微软雅黑"/>
              </a:rPr>
              <a:t>应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微软雅黑"/>
                <a:cs typeface="微软雅黑"/>
              </a:rPr>
              <a:t>当光线照射在金属表面时，金属中有电子 逸出的现象，称为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光电效应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光电效应的实验规律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258556" y="1324355"/>
            <a:ext cx="3581400" cy="3889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29981" y="1295780"/>
            <a:ext cx="3638550" cy="3946525"/>
          </a:xfrm>
          <a:custGeom>
            <a:avLst/>
            <a:gdLst/>
            <a:ahLst/>
            <a:cxnLst/>
            <a:rect l="l" t="t" r="r" b="b"/>
            <a:pathLst>
              <a:path w="3638550" h="3946525">
                <a:moveTo>
                  <a:pt x="3638550" y="3946398"/>
                </a:moveTo>
                <a:lnTo>
                  <a:pt x="0" y="3946398"/>
                </a:lnTo>
                <a:lnTo>
                  <a:pt x="0" y="0"/>
                </a:lnTo>
                <a:lnTo>
                  <a:pt x="3638550" y="0"/>
                </a:lnTo>
                <a:lnTo>
                  <a:pt x="36385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917823"/>
                </a:lnTo>
                <a:lnTo>
                  <a:pt x="14287" y="3917823"/>
                </a:lnTo>
                <a:lnTo>
                  <a:pt x="28575" y="3932110"/>
                </a:lnTo>
                <a:lnTo>
                  <a:pt x="3638550" y="3932110"/>
                </a:lnTo>
                <a:lnTo>
                  <a:pt x="3638550" y="3946398"/>
                </a:lnTo>
                <a:close/>
              </a:path>
              <a:path w="3638550" h="394652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3638550" h="3946525">
                <a:moveTo>
                  <a:pt x="36099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3609975" y="14287"/>
                </a:lnTo>
                <a:lnTo>
                  <a:pt x="3609975" y="28575"/>
                </a:lnTo>
                <a:close/>
              </a:path>
              <a:path w="3638550" h="3946525">
                <a:moveTo>
                  <a:pt x="3609975" y="3932110"/>
                </a:moveTo>
                <a:lnTo>
                  <a:pt x="3609975" y="14287"/>
                </a:lnTo>
                <a:lnTo>
                  <a:pt x="3624262" y="28575"/>
                </a:lnTo>
                <a:lnTo>
                  <a:pt x="3638550" y="28575"/>
                </a:lnTo>
                <a:lnTo>
                  <a:pt x="3638550" y="3917823"/>
                </a:lnTo>
                <a:lnTo>
                  <a:pt x="3624262" y="3917823"/>
                </a:lnTo>
                <a:lnTo>
                  <a:pt x="3609975" y="3932110"/>
                </a:lnTo>
                <a:close/>
              </a:path>
              <a:path w="3638550" h="3946525">
                <a:moveTo>
                  <a:pt x="3638550" y="28575"/>
                </a:moveTo>
                <a:lnTo>
                  <a:pt x="3624262" y="28575"/>
                </a:lnTo>
                <a:lnTo>
                  <a:pt x="3609975" y="14287"/>
                </a:lnTo>
                <a:lnTo>
                  <a:pt x="3638550" y="14287"/>
                </a:lnTo>
                <a:lnTo>
                  <a:pt x="3638550" y="28575"/>
                </a:lnTo>
                <a:close/>
              </a:path>
              <a:path w="3638550" h="3946525">
                <a:moveTo>
                  <a:pt x="28575" y="3932110"/>
                </a:moveTo>
                <a:lnTo>
                  <a:pt x="14287" y="3917823"/>
                </a:lnTo>
                <a:lnTo>
                  <a:pt x="28575" y="3917823"/>
                </a:lnTo>
                <a:lnTo>
                  <a:pt x="28575" y="3932110"/>
                </a:lnTo>
                <a:close/>
              </a:path>
              <a:path w="3638550" h="3946525">
                <a:moveTo>
                  <a:pt x="3609975" y="3932110"/>
                </a:moveTo>
                <a:lnTo>
                  <a:pt x="28575" y="3932110"/>
                </a:lnTo>
                <a:lnTo>
                  <a:pt x="28575" y="3917823"/>
                </a:lnTo>
                <a:lnTo>
                  <a:pt x="3609975" y="3917823"/>
                </a:lnTo>
                <a:lnTo>
                  <a:pt x="3609975" y="3932110"/>
                </a:lnTo>
                <a:close/>
              </a:path>
              <a:path w="3638550" h="3946525">
                <a:moveTo>
                  <a:pt x="3638550" y="3932110"/>
                </a:moveTo>
                <a:lnTo>
                  <a:pt x="3609975" y="3932110"/>
                </a:lnTo>
                <a:lnTo>
                  <a:pt x="3624262" y="3917823"/>
                </a:lnTo>
                <a:lnTo>
                  <a:pt x="3638550" y="3917823"/>
                </a:lnTo>
                <a:lnTo>
                  <a:pt x="3638550" y="393211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07539" y="1487487"/>
            <a:ext cx="5710555" cy="33261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阴极K和阳极A是密封在真空玻璃管中的两 个电极，K在受到光照时能够发射光电子。</a:t>
            </a:r>
            <a:endParaRPr sz="2400">
              <a:latin typeface="微软雅黑"/>
              <a:cs typeface="微软雅黑"/>
            </a:endParaRPr>
          </a:p>
          <a:p>
            <a:pPr marL="17145" marR="95250">
              <a:lnSpc>
                <a:spcPct val="100000"/>
              </a:lnSpc>
            </a:pPr>
            <a:r>
              <a:rPr dirty="0" sz="2400">
                <a:latin typeface="微软雅黑"/>
                <a:cs typeface="微软雅黑"/>
              </a:rPr>
              <a:t>K与A之间电压的大小可以调整，电源的正 负极也可以对调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2700" marR="99695">
              <a:lnSpc>
                <a:spcPct val="100000"/>
              </a:lnSpc>
              <a:spcBef>
                <a:spcPts val="2265"/>
              </a:spcBef>
            </a:pPr>
            <a:r>
              <a:rPr dirty="0" sz="2400">
                <a:latin typeface="微软雅黑"/>
                <a:cs typeface="微软雅黑"/>
              </a:rPr>
              <a:t>电源按图示极性连接时，在光电管中形成 向右的电场，阳极A吸收阴极K发出的光电 子，在电路中形成电流，称为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光电流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光电效应的实验规律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258556" y="1324355"/>
            <a:ext cx="3581400" cy="3889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29981" y="1295780"/>
            <a:ext cx="3638550" cy="3946525"/>
          </a:xfrm>
          <a:custGeom>
            <a:avLst/>
            <a:gdLst/>
            <a:ahLst/>
            <a:cxnLst/>
            <a:rect l="l" t="t" r="r" b="b"/>
            <a:pathLst>
              <a:path w="3638550" h="3946525">
                <a:moveTo>
                  <a:pt x="3638550" y="3946398"/>
                </a:moveTo>
                <a:lnTo>
                  <a:pt x="0" y="3946398"/>
                </a:lnTo>
                <a:lnTo>
                  <a:pt x="0" y="0"/>
                </a:lnTo>
                <a:lnTo>
                  <a:pt x="3638550" y="0"/>
                </a:lnTo>
                <a:lnTo>
                  <a:pt x="36385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917823"/>
                </a:lnTo>
                <a:lnTo>
                  <a:pt x="14287" y="3917823"/>
                </a:lnTo>
                <a:lnTo>
                  <a:pt x="28575" y="3932110"/>
                </a:lnTo>
                <a:lnTo>
                  <a:pt x="3638550" y="3932110"/>
                </a:lnTo>
                <a:lnTo>
                  <a:pt x="3638550" y="3946398"/>
                </a:lnTo>
                <a:close/>
              </a:path>
              <a:path w="3638550" h="394652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3638550" h="3946525">
                <a:moveTo>
                  <a:pt x="36099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3609975" y="14287"/>
                </a:lnTo>
                <a:lnTo>
                  <a:pt x="3609975" y="28575"/>
                </a:lnTo>
                <a:close/>
              </a:path>
              <a:path w="3638550" h="3946525">
                <a:moveTo>
                  <a:pt x="3609975" y="3932110"/>
                </a:moveTo>
                <a:lnTo>
                  <a:pt x="3609975" y="14287"/>
                </a:lnTo>
                <a:lnTo>
                  <a:pt x="3624262" y="28575"/>
                </a:lnTo>
                <a:lnTo>
                  <a:pt x="3638550" y="28575"/>
                </a:lnTo>
                <a:lnTo>
                  <a:pt x="3638550" y="3917823"/>
                </a:lnTo>
                <a:lnTo>
                  <a:pt x="3624262" y="3917823"/>
                </a:lnTo>
                <a:lnTo>
                  <a:pt x="3609975" y="3932110"/>
                </a:lnTo>
                <a:close/>
              </a:path>
              <a:path w="3638550" h="3946525">
                <a:moveTo>
                  <a:pt x="3638550" y="28575"/>
                </a:moveTo>
                <a:lnTo>
                  <a:pt x="3624262" y="28575"/>
                </a:lnTo>
                <a:lnTo>
                  <a:pt x="3609975" y="14287"/>
                </a:lnTo>
                <a:lnTo>
                  <a:pt x="3638550" y="14287"/>
                </a:lnTo>
                <a:lnTo>
                  <a:pt x="3638550" y="28575"/>
                </a:lnTo>
                <a:close/>
              </a:path>
              <a:path w="3638550" h="3946525">
                <a:moveTo>
                  <a:pt x="28575" y="3932110"/>
                </a:moveTo>
                <a:lnTo>
                  <a:pt x="14287" y="3917823"/>
                </a:lnTo>
                <a:lnTo>
                  <a:pt x="28575" y="3917823"/>
                </a:lnTo>
                <a:lnTo>
                  <a:pt x="28575" y="3932110"/>
                </a:lnTo>
                <a:close/>
              </a:path>
              <a:path w="3638550" h="3946525">
                <a:moveTo>
                  <a:pt x="3609975" y="3932110"/>
                </a:moveTo>
                <a:lnTo>
                  <a:pt x="28575" y="3932110"/>
                </a:lnTo>
                <a:lnTo>
                  <a:pt x="28575" y="3917823"/>
                </a:lnTo>
                <a:lnTo>
                  <a:pt x="3609975" y="3917823"/>
                </a:lnTo>
                <a:lnTo>
                  <a:pt x="3609975" y="3932110"/>
                </a:lnTo>
                <a:close/>
              </a:path>
              <a:path w="3638550" h="3946525">
                <a:moveTo>
                  <a:pt x="3638550" y="3932110"/>
                </a:moveTo>
                <a:lnTo>
                  <a:pt x="3609975" y="3932110"/>
                </a:lnTo>
                <a:lnTo>
                  <a:pt x="3624262" y="3917823"/>
                </a:lnTo>
                <a:lnTo>
                  <a:pt x="3638550" y="3917823"/>
                </a:lnTo>
                <a:lnTo>
                  <a:pt x="3638550" y="393211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12302" y="1207452"/>
            <a:ext cx="5868035" cy="1504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0005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一、存在着饱和电</a:t>
            </a:r>
            <a:r>
              <a:rPr dirty="0" sz="2800" spc="-5">
                <a:latin typeface="微软雅黑"/>
                <a:cs typeface="微软雅黑"/>
              </a:rPr>
              <a:t>流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在光照条件不变的情况下，将滑线变阻器的滑片从</a:t>
            </a:r>
            <a:r>
              <a:rPr dirty="0" sz="2000">
                <a:latin typeface="微软雅黑"/>
                <a:cs typeface="微软雅黑"/>
              </a:rPr>
              <a:t>左 </a:t>
            </a:r>
            <a:r>
              <a:rPr dirty="0" sz="2000">
                <a:latin typeface="微软雅黑"/>
                <a:cs typeface="微软雅黑"/>
              </a:rPr>
              <a:t>向右滑，电压表、电流表示数增</a:t>
            </a:r>
            <a:r>
              <a:rPr dirty="0" sz="2000" spc="5">
                <a:latin typeface="微软雅黑"/>
                <a:cs typeface="微软雅黑"/>
              </a:rPr>
              <a:t>加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1827" y="3570922"/>
            <a:ext cx="561403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随着所加电压的增大，光电流（电流表的示数）</a:t>
            </a:r>
            <a:r>
              <a:rPr dirty="0" sz="2000">
                <a:latin typeface="微软雅黑"/>
                <a:cs typeface="微软雅黑"/>
              </a:rPr>
              <a:t>趋 </a:t>
            </a:r>
            <a:r>
              <a:rPr dirty="0" sz="2000">
                <a:latin typeface="微软雅黑"/>
                <a:cs typeface="微软雅黑"/>
              </a:rPr>
              <a:t>于一个饱和值。也就是说，在电流较小时电流随</a:t>
            </a:r>
            <a:r>
              <a:rPr dirty="0" sz="2000">
                <a:latin typeface="微软雅黑"/>
                <a:cs typeface="微软雅黑"/>
              </a:rPr>
              <a:t>着 </a:t>
            </a:r>
            <a:r>
              <a:rPr dirty="0" sz="2000">
                <a:latin typeface="微软雅黑"/>
                <a:cs typeface="微软雅黑"/>
              </a:rPr>
              <a:t>电压的增大而增大；但当电流增大到一定值之后</a:t>
            </a:r>
            <a:r>
              <a:rPr dirty="0" sz="2000">
                <a:latin typeface="微软雅黑"/>
                <a:cs typeface="微软雅黑"/>
              </a:rPr>
              <a:t>， </a:t>
            </a:r>
            <a:r>
              <a:rPr dirty="0" sz="2000">
                <a:latin typeface="微软雅黑"/>
                <a:cs typeface="微软雅黑"/>
              </a:rPr>
              <a:t>即使电压再增大，电流也不会增大</a:t>
            </a:r>
            <a:r>
              <a:rPr dirty="0" sz="2000" spc="5">
                <a:latin typeface="微软雅黑"/>
                <a:cs typeface="微软雅黑"/>
              </a:rPr>
              <a:t>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4039" y="5707697"/>
            <a:ext cx="958532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0000"/>
                </a:solidFill>
                <a:latin typeface="微软雅黑"/>
                <a:cs typeface="微软雅黑"/>
              </a:rPr>
              <a:t>解释：</a:t>
            </a:r>
            <a:r>
              <a:rPr dirty="0" sz="2000" spc="-5">
                <a:latin typeface="微软雅黑"/>
                <a:cs typeface="微软雅黑"/>
              </a:rPr>
              <a:t>在一定的光照条件下，单位时间内阴极K发射的光电子的数目是一定的，电压</a:t>
            </a:r>
            <a:r>
              <a:rPr dirty="0" sz="2000">
                <a:latin typeface="微软雅黑"/>
                <a:cs typeface="微软雅黑"/>
              </a:rPr>
              <a:t>增 </a:t>
            </a:r>
            <a:r>
              <a:rPr dirty="0" sz="2000">
                <a:latin typeface="微软雅黑"/>
                <a:cs typeface="微软雅黑"/>
              </a:rPr>
              <a:t>加到一定值时，所有光电子都被阳</a:t>
            </a:r>
            <a:r>
              <a:rPr dirty="0" sz="2000" spc="5">
                <a:latin typeface="微软雅黑"/>
                <a:cs typeface="微软雅黑"/>
              </a:rPr>
              <a:t>极</a:t>
            </a:r>
            <a:r>
              <a:rPr dirty="0" sz="2000" spc="-4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A</a:t>
            </a:r>
            <a:r>
              <a:rPr dirty="0" sz="2000" spc="-4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吸收，这时即使再增大电压，电流也不会增</a:t>
            </a:r>
            <a:r>
              <a:rPr dirty="0" sz="2000" spc="5">
                <a:latin typeface="微软雅黑"/>
                <a:cs typeface="微软雅黑"/>
              </a:rPr>
              <a:t>大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光电效应的实验规律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258556" y="1324355"/>
            <a:ext cx="3581400" cy="3889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29981" y="1295780"/>
            <a:ext cx="3638550" cy="3946525"/>
          </a:xfrm>
          <a:custGeom>
            <a:avLst/>
            <a:gdLst/>
            <a:ahLst/>
            <a:cxnLst/>
            <a:rect l="l" t="t" r="r" b="b"/>
            <a:pathLst>
              <a:path w="3638550" h="3946525">
                <a:moveTo>
                  <a:pt x="3638550" y="3946398"/>
                </a:moveTo>
                <a:lnTo>
                  <a:pt x="0" y="3946398"/>
                </a:lnTo>
                <a:lnTo>
                  <a:pt x="0" y="0"/>
                </a:lnTo>
                <a:lnTo>
                  <a:pt x="3638550" y="0"/>
                </a:lnTo>
                <a:lnTo>
                  <a:pt x="36385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917823"/>
                </a:lnTo>
                <a:lnTo>
                  <a:pt x="14287" y="3917823"/>
                </a:lnTo>
                <a:lnTo>
                  <a:pt x="28575" y="3932110"/>
                </a:lnTo>
                <a:lnTo>
                  <a:pt x="3638550" y="3932110"/>
                </a:lnTo>
                <a:lnTo>
                  <a:pt x="3638550" y="3946398"/>
                </a:lnTo>
                <a:close/>
              </a:path>
              <a:path w="3638550" h="394652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3638550" h="3946525">
                <a:moveTo>
                  <a:pt x="36099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3609975" y="14287"/>
                </a:lnTo>
                <a:lnTo>
                  <a:pt x="3609975" y="28575"/>
                </a:lnTo>
                <a:close/>
              </a:path>
              <a:path w="3638550" h="3946525">
                <a:moveTo>
                  <a:pt x="3609975" y="3932110"/>
                </a:moveTo>
                <a:lnTo>
                  <a:pt x="3609975" y="14287"/>
                </a:lnTo>
                <a:lnTo>
                  <a:pt x="3624262" y="28575"/>
                </a:lnTo>
                <a:lnTo>
                  <a:pt x="3638550" y="28575"/>
                </a:lnTo>
                <a:lnTo>
                  <a:pt x="3638550" y="3917823"/>
                </a:lnTo>
                <a:lnTo>
                  <a:pt x="3624262" y="3917823"/>
                </a:lnTo>
                <a:lnTo>
                  <a:pt x="3609975" y="3932110"/>
                </a:lnTo>
                <a:close/>
              </a:path>
              <a:path w="3638550" h="3946525">
                <a:moveTo>
                  <a:pt x="3638550" y="28575"/>
                </a:moveTo>
                <a:lnTo>
                  <a:pt x="3624262" y="28575"/>
                </a:lnTo>
                <a:lnTo>
                  <a:pt x="3609975" y="14287"/>
                </a:lnTo>
                <a:lnTo>
                  <a:pt x="3638550" y="14287"/>
                </a:lnTo>
                <a:lnTo>
                  <a:pt x="3638550" y="28575"/>
                </a:lnTo>
                <a:close/>
              </a:path>
              <a:path w="3638550" h="3946525">
                <a:moveTo>
                  <a:pt x="28575" y="3932110"/>
                </a:moveTo>
                <a:lnTo>
                  <a:pt x="14287" y="3917823"/>
                </a:lnTo>
                <a:lnTo>
                  <a:pt x="28575" y="3917823"/>
                </a:lnTo>
                <a:lnTo>
                  <a:pt x="28575" y="3932110"/>
                </a:lnTo>
                <a:close/>
              </a:path>
              <a:path w="3638550" h="3946525">
                <a:moveTo>
                  <a:pt x="3609975" y="3932110"/>
                </a:moveTo>
                <a:lnTo>
                  <a:pt x="28575" y="3932110"/>
                </a:lnTo>
                <a:lnTo>
                  <a:pt x="28575" y="3917823"/>
                </a:lnTo>
                <a:lnTo>
                  <a:pt x="3609975" y="3917823"/>
                </a:lnTo>
                <a:lnTo>
                  <a:pt x="3609975" y="3932110"/>
                </a:lnTo>
                <a:close/>
              </a:path>
              <a:path w="3638550" h="3946525">
                <a:moveTo>
                  <a:pt x="3638550" y="3932110"/>
                </a:moveTo>
                <a:lnTo>
                  <a:pt x="3609975" y="3932110"/>
                </a:lnTo>
                <a:lnTo>
                  <a:pt x="3624262" y="3917823"/>
                </a:lnTo>
                <a:lnTo>
                  <a:pt x="3638550" y="3917823"/>
                </a:lnTo>
                <a:lnTo>
                  <a:pt x="3638550" y="393211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299652" y="1563052"/>
            <a:ext cx="3225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一、存在着饱和电</a:t>
            </a:r>
            <a:r>
              <a:rPr dirty="0" sz="2800" spc="-5">
                <a:latin typeface="微软雅黑"/>
                <a:cs typeface="微软雅黑"/>
              </a:rPr>
              <a:t>流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9139" y="2952750"/>
            <a:ext cx="581660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实验表明，在光的颜色不变的情况下，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入射 光越强，饱和电流越大</a:t>
            </a:r>
            <a:r>
              <a:rPr dirty="0" sz="2400">
                <a:latin typeface="微软雅黑"/>
                <a:cs typeface="微软雅黑"/>
              </a:rPr>
              <a:t>。这表明对于一定颜 色的光，入射光越强，单位时间内发射的光 电子数越多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光电效应的实验规律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53271" y="1370075"/>
            <a:ext cx="3291839" cy="3989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24696" y="1341500"/>
            <a:ext cx="3348990" cy="4047490"/>
          </a:xfrm>
          <a:custGeom>
            <a:avLst/>
            <a:gdLst/>
            <a:ahLst/>
            <a:cxnLst/>
            <a:rect l="l" t="t" r="r" b="b"/>
            <a:pathLst>
              <a:path w="3348990" h="4047490">
                <a:moveTo>
                  <a:pt x="3348989" y="4046982"/>
                </a:moveTo>
                <a:lnTo>
                  <a:pt x="0" y="4046982"/>
                </a:lnTo>
                <a:lnTo>
                  <a:pt x="0" y="0"/>
                </a:lnTo>
                <a:lnTo>
                  <a:pt x="3348989" y="0"/>
                </a:lnTo>
                <a:lnTo>
                  <a:pt x="3348989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4018407"/>
                </a:lnTo>
                <a:lnTo>
                  <a:pt x="14287" y="4018407"/>
                </a:lnTo>
                <a:lnTo>
                  <a:pt x="28575" y="4032694"/>
                </a:lnTo>
                <a:lnTo>
                  <a:pt x="3348989" y="4032694"/>
                </a:lnTo>
                <a:lnTo>
                  <a:pt x="3348989" y="4046982"/>
                </a:lnTo>
                <a:close/>
              </a:path>
              <a:path w="3348990" h="4047490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3348990" h="4047490">
                <a:moveTo>
                  <a:pt x="3320414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3320414" y="14287"/>
                </a:lnTo>
                <a:lnTo>
                  <a:pt x="3320414" y="28574"/>
                </a:lnTo>
                <a:close/>
              </a:path>
              <a:path w="3348990" h="4047490">
                <a:moveTo>
                  <a:pt x="3320414" y="4032694"/>
                </a:moveTo>
                <a:lnTo>
                  <a:pt x="3320414" y="14287"/>
                </a:lnTo>
                <a:lnTo>
                  <a:pt x="3334702" y="28574"/>
                </a:lnTo>
                <a:lnTo>
                  <a:pt x="3348989" y="28574"/>
                </a:lnTo>
                <a:lnTo>
                  <a:pt x="3348989" y="4018407"/>
                </a:lnTo>
                <a:lnTo>
                  <a:pt x="3334702" y="4018407"/>
                </a:lnTo>
                <a:lnTo>
                  <a:pt x="3320414" y="4032694"/>
                </a:lnTo>
                <a:close/>
              </a:path>
              <a:path w="3348990" h="4047490">
                <a:moveTo>
                  <a:pt x="3348989" y="28574"/>
                </a:moveTo>
                <a:lnTo>
                  <a:pt x="3334702" y="28574"/>
                </a:lnTo>
                <a:lnTo>
                  <a:pt x="3320414" y="14287"/>
                </a:lnTo>
                <a:lnTo>
                  <a:pt x="3348989" y="14287"/>
                </a:lnTo>
                <a:lnTo>
                  <a:pt x="3348989" y="28574"/>
                </a:lnTo>
                <a:close/>
              </a:path>
              <a:path w="3348990" h="4047490">
                <a:moveTo>
                  <a:pt x="28575" y="4032694"/>
                </a:moveTo>
                <a:lnTo>
                  <a:pt x="14287" y="4018407"/>
                </a:lnTo>
                <a:lnTo>
                  <a:pt x="28575" y="4018407"/>
                </a:lnTo>
                <a:lnTo>
                  <a:pt x="28575" y="4032694"/>
                </a:lnTo>
                <a:close/>
              </a:path>
              <a:path w="3348990" h="4047490">
                <a:moveTo>
                  <a:pt x="3320414" y="4032694"/>
                </a:moveTo>
                <a:lnTo>
                  <a:pt x="28575" y="4032694"/>
                </a:lnTo>
                <a:lnTo>
                  <a:pt x="28575" y="4018407"/>
                </a:lnTo>
                <a:lnTo>
                  <a:pt x="3320414" y="4018407"/>
                </a:lnTo>
                <a:lnTo>
                  <a:pt x="3320414" y="4032694"/>
                </a:lnTo>
                <a:close/>
              </a:path>
              <a:path w="3348990" h="4047490">
                <a:moveTo>
                  <a:pt x="3348989" y="4032694"/>
                </a:moveTo>
                <a:lnTo>
                  <a:pt x="3320414" y="4032694"/>
                </a:lnTo>
                <a:lnTo>
                  <a:pt x="3334702" y="4018407"/>
                </a:lnTo>
                <a:lnTo>
                  <a:pt x="3348989" y="4018407"/>
                </a:lnTo>
                <a:lnTo>
                  <a:pt x="3348989" y="4032694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206483" y="5373623"/>
            <a:ext cx="2577465" cy="944880"/>
          </a:xfrm>
          <a:custGeom>
            <a:avLst/>
            <a:gdLst/>
            <a:ahLst/>
            <a:cxnLst/>
            <a:rect l="l" t="t" r="r" b="b"/>
            <a:pathLst>
              <a:path w="2577465" h="944879">
                <a:moveTo>
                  <a:pt x="1499616" y="271272"/>
                </a:moveTo>
                <a:lnTo>
                  <a:pt x="1077468" y="271272"/>
                </a:lnTo>
                <a:lnTo>
                  <a:pt x="1289304" y="0"/>
                </a:lnTo>
                <a:lnTo>
                  <a:pt x="1499616" y="271272"/>
                </a:lnTo>
                <a:close/>
              </a:path>
              <a:path w="2577465" h="944879">
                <a:moveTo>
                  <a:pt x="1493520" y="440436"/>
                </a:moveTo>
                <a:lnTo>
                  <a:pt x="1083564" y="440436"/>
                </a:lnTo>
                <a:lnTo>
                  <a:pt x="1083564" y="271272"/>
                </a:lnTo>
                <a:lnTo>
                  <a:pt x="1493520" y="271272"/>
                </a:lnTo>
                <a:lnTo>
                  <a:pt x="1493520" y="440436"/>
                </a:lnTo>
                <a:close/>
              </a:path>
              <a:path w="2577465" h="944879">
                <a:moveTo>
                  <a:pt x="2577084" y="944879"/>
                </a:moveTo>
                <a:lnTo>
                  <a:pt x="0" y="944879"/>
                </a:lnTo>
                <a:lnTo>
                  <a:pt x="0" y="440436"/>
                </a:lnTo>
                <a:lnTo>
                  <a:pt x="2577084" y="440436"/>
                </a:lnTo>
                <a:lnTo>
                  <a:pt x="2577084" y="944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202343" y="5366219"/>
            <a:ext cx="2586355" cy="956944"/>
          </a:xfrm>
          <a:custGeom>
            <a:avLst/>
            <a:gdLst/>
            <a:ahLst/>
            <a:cxnLst/>
            <a:rect l="l" t="t" r="r" b="b"/>
            <a:pathLst>
              <a:path w="2586354" h="956945">
                <a:moveTo>
                  <a:pt x="1082890" y="283235"/>
                </a:moveTo>
                <a:lnTo>
                  <a:pt x="1071981" y="283235"/>
                </a:lnTo>
                <a:lnTo>
                  <a:pt x="1292986" y="0"/>
                </a:lnTo>
                <a:lnTo>
                  <a:pt x="1301310" y="10668"/>
                </a:lnTo>
                <a:lnTo>
                  <a:pt x="1289227" y="10668"/>
                </a:lnTo>
                <a:lnTo>
                  <a:pt x="1292986" y="15485"/>
                </a:lnTo>
                <a:lnTo>
                  <a:pt x="1091499" y="273710"/>
                </a:lnTo>
                <a:lnTo>
                  <a:pt x="1081747" y="273710"/>
                </a:lnTo>
                <a:lnTo>
                  <a:pt x="1084066" y="278472"/>
                </a:lnTo>
                <a:lnTo>
                  <a:pt x="1082890" y="278472"/>
                </a:lnTo>
                <a:lnTo>
                  <a:pt x="1082890" y="283235"/>
                </a:lnTo>
                <a:close/>
              </a:path>
              <a:path w="2586354" h="956945">
                <a:moveTo>
                  <a:pt x="1292986" y="15485"/>
                </a:moveTo>
                <a:lnTo>
                  <a:pt x="1289227" y="10668"/>
                </a:lnTo>
                <a:lnTo>
                  <a:pt x="1296746" y="10668"/>
                </a:lnTo>
                <a:lnTo>
                  <a:pt x="1292986" y="15485"/>
                </a:lnTo>
                <a:close/>
              </a:path>
              <a:path w="2586354" h="956945">
                <a:moveTo>
                  <a:pt x="1500329" y="281213"/>
                </a:moveTo>
                <a:lnTo>
                  <a:pt x="1292986" y="15485"/>
                </a:lnTo>
                <a:lnTo>
                  <a:pt x="1296746" y="10668"/>
                </a:lnTo>
                <a:lnTo>
                  <a:pt x="1301310" y="10668"/>
                </a:lnTo>
                <a:lnTo>
                  <a:pt x="1506547" y="273710"/>
                </a:lnTo>
                <a:lnTo>
                  <a:pt x="1504226" y="273710"/>
                </a:lnTo>
                <a:lnTo>
                  <a:pt x="1500780" y="280763"/>
                </a:lnTo>
                <a:lnTo>
                  <a:pt x="1500329" y="281213"/>
                </a:lnTo>
                <a:close/>
              </a:path>
              <a:path w="2586354" h="956945">
                <a:moveTo>
                  <a:pt x="1085639" y="281221"/>
                </a:moveTo>
                <a:lnTo>
                  <a:pt x="1085169" y="280738"/>
                </a:lnTo>
                <a:lnTo>
                  <a:pt x="1081747" y="273710"/>
                </a:lnTo>
                <a:lnTo>
                  <a:pt x="1091499" y="273710"/>
                </a:lnTo>
                <a:lnTo>
                  <a:pt x="1085639" y="281221"/>
                </a:lnTo>
                <a:close/>
              </a:path>
              <a:path w="2586354" h="956945">
                <a:moveTo>
                  <a:pt x="1092415" y="283235"/>
                </a:moveTo>
                <a:lnTo>
                  <a:pt x="1087653" y="283235"/>
                </a:lnTo>
                <a:lnTo>
                  <a:pt x="1085644" y="281213"/>
                </a:lnTo>
                <a:lnTo>
                  <a:pt x="1091499" y="273710"/>
                </a:lnTo>
                <a:lnTo>
                  <a:pt x="1092415" y="273710"/>
                </a:lnTo>
                <a:lnTo>
                  <a:pt x="1092415" y="283235"/>
                </a:lnTo>
                <a:close/>
              </a:path>
              <a:path w="2586354" h="956945">
                <a:moveTo>
                  <a:pt x="2576449" y="452247"/>
                </a:moveTo>
                <a:lnTo>
                  <a:pt x="1493545" y="452247"/>
                </a:lnTo>
                <a:lnTo>
                  <a:pt x="1493545" y="273710"/>
                </a:lnTo>
                <a:lnTo>
                  <a:pt x="1494474" y="273710"/>
                </a:lnTo>
                <a:lnTo>
                  <a:pt x="1500322" y="281221"/>
                </a:lnTo>
                <a:lnTo>
                  <a:pt x="1498307" y="283235"/>
                </a:lnTo>
                <a:lnTo>
                  <a:pt x="1503070" y="283235"/>
                </a:lnTo>
                <a:lnTo>
                  <a:pt x="1503070" y="442722"/>
                </a:lnTo>
                <a:lnTo>
                  <a:pt x="1498307" y="442722"/>
                </a:lnTo>
                <a:lnTo>
                  <a:pt x="1503070" y="447484"/>
                </a:lnTo>
                <a:lnTo>
                  <a:pt x="2576449" y="447484"/>
                </a:lnTo>
                <a:lnTo>
                  <a:pt x="2576449" y="452247"/>
                </a:lnTo>
                <a:close/>
              </a:path>
              <a:path w="2586354" h="956945">
                <a:moveTo>
                  <a:pt x="1500804" y="280738"/>
                </a:moveTo>
                <a:lnTo>
                  <a:pt x="1504226" y="273710"/>
                </a:lnTo>
                <a:lnTo>
                  <a:pt x="1506547" y="273710"/>
                </a:lnTo>
                <a:lnTo>
                  <a:pt x="1510263" y="278472"/>
                </a:lnTo>
                <a:lnTo>
                  <a:pt x="1503070" y="278472"/>
                </a:lnTo>
                <a:lnTo>
                  <a:pt x="1500804" y="280738"/>
                </a:lnTo>
                <a:close/>
              </a:path>
              <a:path w="2586354" h="956945">
                <a:moveTo>
                  <a:pt x="1082890" y="447484"/>
                </a:moveTo>
                <a:lnTo>
                  <a:pt x="1082890" y="278472"/>
                </a:lnTo>
                <a:lnTo>
                  <a:pt x="1085181" y="280763"/>
                </a:lnTo>
                <a:lnTo>
                  <a:pt x="1085494" y="281406"/>
                </a:lnTo>
                <a:lnTo>
                  <a:pt x="1085824" y="281406"/>
                </a:lnTo>
                <a:lnTo>
                  <a:pt x="1087653" y="283235"/>
                </a:lnTo>
                <a:lnTo>
                  <a:pt x="1092415" y="283235"/>
                </a:lnTo>
                <a:lnTo>
                  <a:pt x="1092415" y="442722"/>
                </a:lnTo>
                <a:lnTo>
                  <a:pt x="1087653" y="442722"/>
                </a:lnTo>
                <a:lnTo>
                  <a:pt x="1082890" y="447484"/>
                </a:lnTo>
                <a:close/>
              </a:path>
              <a:path w="2586354" h="956945">
                <a:moveTo>
                  <a:pt x="1085181" y="280763"/>
                </a:moveTo>
                <a:lnTo>
                  <a:pt x="1082890" y="278472"/>
                </a:lnTo>
                <a:lnTo>
                  <a:pt x="1084066" y="278472"/>
                </a:lnTo>
                <a:lnTo>
                  <a:pt x="1085181" y="280763"/>
                </a:lnTo>
                <a:close/>
              </a:path>
              <a:path w="2586354" h="956945">
                <a:moveTo>
                  <a:pt x="1503070" y="281406"/>
                </a:moveTo>
                <a:lnTo>
                  <a:pt x="1500479" y="281406"/>
                </a:lnTo>
                <a:lnTo>
                  <a:pt x="1500804" y="280738"/>
                </a:lnTo>
                <a:lnTo>
                  <a:pt x="1503070" y="278472"/>
                </a:lnTo>
                <a:lnTo>
                  <a:pt x="1503070" y="281406"/>
                </a:lnTo>
                <a:close/>
              </a:path>
              <a:path w="2586354" h="956945">
                <a:moveTo>
                  <a:pt x="1513979" y="283235"/>
                </a:moveTo>
                <a:lnTo>
                  <a:pt x="1503070" y="283235"/>
                </a:lnTo>
                <a:lnTo>
                  <a:pt x="1503070" y="278472"/>
                </a:lnTo>
                <a:lnTo>
                  <a:pt x="1510263" y="278472"/>
                </a:lnTo>
                <a:lnTo>
                  <a:pt x="1513979" y="283235"/>
                </a:lnTo>
                <a:close/>
              </a:path>
              <a:path w="2586354" h="956945">
                <a:moveTo>
                  <a:pt x="1500479" y="281406"/>
                </a:moveTo>
                <a:lnTo>
                  <a:pt x="1500329" y="281213"/>
                </a:lnTo>
                <a:lnTo>
                  <a:pt x="1500804" y="280738"/>
                </a:lnTo>
                <a:lnTo>
                  <a:pt x="1500479" y="281406"/>
                </a:lnTo>
                <a:close/>
              </a:path>
              <a:path w="2586354" h="956945">
                <a:moveTo>
                  <a:pt x="1085494" y="281406"/>
                </a:moveTo>
                <a:lnTo>
                  <a:pt x="1085181" y="280763"/>
                </a:lnTo>
                <a:lnTo>
                  <a:pt x="1085639" y="281221"/>
                </a:lnTo>
                <a:lnTo>
                  <a:pt x="1085494" y="281406"/>
                </a:lnTo>
                <a:close/>
              </a:path>
              <a:path w="2586354" h="956945">
                <a:moveTo>
                  <a:pt x="1503070" y="283235"/>
                </a:moveTo>
                <a:lnTo>
                  <a:pt x="1498307" y="283235"/>
                </a:lnTo>
                <a:lnTo>
                  <a:pt x="1500329" y="281213"/>
                </a:lnTo>
                <a:lnTo>
                  <a:pt x="1500479" y="281406"/>
                </a:lnTo>
                <a:lnTo>
                  <a:pt x="1503070" y="281406"/>
                </a:lnTo>
                <a:lnTo>
                  <a:pt x="1503070" y="283235"/>
                </a:lnTo>
                <a:close/>
              </a:path>
              <a:path w="2586354" h="956945">
                <a:moveTo>
                  <a:pt x="1085824" y="281406"/>
                </a:moveTo>
                <a:lnTo>
                  <a:pt x="1085494" y="281406"/>
                </a:lnTo>
                <a:lnTo>
                  <a:pt x="1085639" y="281221"/>
                </a:lnTo>
                <a:lnTo>
                  <a:pt x="1085824" y="281406"/>
                </a:lnTo>
                <a:close/>
              </a:path>
              <a:path w="2586354" h="956945">
                <a:moveTo>
                  <a:pt x="2585974" y="956792"/>
                </a:moveTo>
                <a:lnTo>
                  <a:pt x="0" y="956792"/>
                </a:lnTo>
                <a:lnTo>
                  <a:pt x="0" y="442722"/>
                </a:lnTo>
                <a:lnTo>
                  <a:pt x="1082890" y="442722"/>
                </a:lnTo>
                <a:lnTo>
                  <a:pt x="1082890" y="447484"/>
                </a:lnTo>
                <a:lnTo>
                  <a:pt x="9525" y="447484"/>
                </a:lnTo>
                <a:lnTo>
                  <a:pt x="4762" y="452247"/>
                </a:lnTo>
                <a:lnTo>
                  <a:pt x="9525" y="452247"/>
                </a:lnTo>
                <a:lnTo>
                  <a:pt x="9525" y="947267"/>
                </a:lnTo>
                <a:lnTo>
                  <a:pt x="4762" y="947267"/>
                </a:lnTo>
                <a:lnTo>
                  <a:pt x="9525" y="952030"/>
                </a:lnTo>
                <a:lnTo>
                  <a:pt x="2585974" y="952030"/>
                </a:lnTo>
                <a:lnTo>
                  <a:pt x="2585974" y="956792"/>
                </a:lnTo>
                <a:close/>
              </a:path>
              <a:path w="2586354" h="956945">
                <a:moveTo>
                  <a:pt x="1092415" y="452247"/>
                </a:moveTo>
                <a:lnTo>
                  <a:pt x="9525" y="452247"/>
                </a:lnTo>
                <a:lnTo>
                  <a:pt x="9525" y="447484"/>
                </a:lnTo>
                <a:lnTo>
                  <a:pt x="1082890" y="447484"/>
                </a:lnTo>
                <a:lnTo>
                  <a:pt x="1087653" y="442722"/>
                </a:lnTo>
                <a:lnTo>
                  <a:pt x="1092415" y="442722"/>
                </a:lnTo>
                <a:lnTo>
                  <a:pt x="1092415" y="452247"/>
                </a:lnTo>
                <a:close/>
              </a:path>
              <a:path w="2586354" h="956945">
                <a:moveTo>
                  <a:pt x="1503070" y="447484"/>
                </a:moveTo>
                <a:lnTo>
                  <a:pt x="1498307" y="442722"/>
                </a:lnTo>
                <a:lnTo>
                  <a:pt x="1503070" y="442722"/>
                </a:lnTo>
                <a:lnTo>
                  <a:pt x="1503070" y="447484"/>
                </a:lnTo>
                <a:close/>
              </a:path>
              <a:path w="2586354" h="956945">
                <a:moveTo>
                  <a:pt x="2585974" y="452247"/>
                </a:moveTo>
                <a:lnTo>
                  <a:pt x="2581211" y="452247"/>
                </a:lnTo>
                <a:lnTo>
                  <a:pt x="2576449" y="447484"/>
                </a:lnTo>
                <a:lnTo>
                  <a:pt x="1503070" y="447484"/>
                </a:lnTo>
                <a:lnTo>
                  <a:pt x="1503070" y="442722"/>
                </a:lnTo>
                <a:lnTo>
                  <a:pt x="2585974" y="442722"/>
                </a:lnTo>
                <a:lnTo>
                  <a:pt x="2585974" y="452247"/>
                </a:lnTo>
                <a:close/>
              </a:path>
              <a:path w="2586354" h="956945">
                <a:moveTo>
                  <a:pt x="9525" y="452247"/>
                </a:moveTo>
                <a:lnTo>
                  <a:pt x="4762" y="452247"/>
                </a:lnTo>
                <a:lnTo>
                  <a:pt x="9525" y="447484"/>
                </a:lnTo>
                <a:lnTo>
                  <a:pt x="9525" y="452247"/>
                </a:lnTo>
                <a:close/>
              </a:path>
              <a:path w="2586354" h="956945">
                <a:moveTo>
                  <a:pt x="2576449" y="952030"/>
                </a:moveTo>
                <a:lnTo>
                  <a:pt x="2576449" y="447484"/>
                </a:lnTo>
                <a:lnTo>
                  <a:pt x="2581211" y="452247"/>
                </a:lnTo>
                <a:lnTo>
                  <a:pt x="2585974" y="452247"/>
                </a:lnTo>
                <a:lnTo>
                  <a:pt x="2585974" y="947267"/>
                </a:lnTo>
                <a:lnTo>
                  <a:pt x="2581211" y="947267"/>
                </a:lnTo>
                <a:lnTo>
                  <a:pt x="2576449" y="952030"/>
                </a:lnTo>
                <a:close/>
              </a:path>
              <a:path w="2586354" h="956945">
                <a:moveTo>
                  <a:pt x="9525" y="952030"/>
                </a:moveTo>
                <a:lnTo>
                  <a:pt x="4762" y="947267"/>
                </a:lnTo>
                <a:lnTo>
                  <a:pt x="9525" y="947267"/>
                </a:lnTo>
                <a:lnTo>
                  <a:pt x="9525" y="952030"/>
                </a:lnTo>
                <a:close/>
              </a:path>
              <a:path w="2586354" h="956945">
                <a:moveTo>
                  <a:pt x="2576449" y="952030"/>
                </a:moveTo>
                <a:lnTo>
                  <a:pt x="9525" y="952030"/>
                </a:lnTo>
                <a:lnTo>
                  <a:pt x="9525" y="947267"/>
                </a:lnTo>
                <a:lnTo>
                  <a:pt x="2576449" y="947267"/>
                </a:lnTo>
                <a:lnTo>
                  <a:pt x="2576449" y="952030"/>
                </a:lnTo>
                <a:close/>
              </a:path>
              <a:path w="2586354" h="956945">
                <a:moveTo>
                  <a:pt x="2585974" y="952030"/>
                </a:moveTo>
                <a:lnTo>
                  <a:pt x="2576449" y="952030"/>
                </a:lnTo>
                <a:lnTo>
                  <a:pt x="2581211" y="947267"/>
                </a:lnTo>
                <a:lnTo>
                  <a:pt x="2585974" y="947267"/>
                </a:lnTo>
                <a:lnTo>
                  <a:pt x="2585974" y="9520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566630" y="5909500"/>
            <a:ext cx="185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微软雅黑"/>
                <a:cs typeface="微软雅黑"/>
              </a:rPr>
              <a:t>把电源正负极反接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501503" y="4652200"/>
            <a:ext cx="0" cy="616585"/>
          </a:xfrm>
          <a:custGeom>
            <a:avLst/>
            <a:gdLst/>
            <a:ahLst/>
            <a:cxnLst/>
            <a:rect l="l" t="t" r="r" b="b"/>
            <a:pathLst>
              <a:path w="0" h="616585">
                <a:moveTo>
                  <a:pt x="0" y="0"/>
                </a:moveTo>
                <a:lnTo>
                  <a:pt x="0" y="616203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430256" y="4652771"/>
            <a:ext cx="0" cy="615950"/>
          </a:xfrm>
          <a:custGeom>
            <a:avLst/>
            <a:gdLst/>
            <a:ahLst/>
            <a:cxnLst/>
            <a:rect l="l" t="t" r="r" b="b"/>
            <a:pathLst>
              <a:path w="0" h="615950">
                <a:moveTo>
                  <a:pt x="0" y="0"/>
                </a:moveTo>
                <a:lnTo>
                  <a:pt x="0" y="615696"/>
                </a:lnTo>
              </a:path>
            </a:pathLst>
          </a:custGeom>
          <a:ln w="6705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402633" y="4789131"/>
            <a:ext cx="0" cy="274320"/>
          </a:xfrm>
          <a:custGeom>
            <a:avLst/>
            <a:gdLst/>
            <a:ahLst/>
            <a:cxnLst/>
            <a:rect l="l" t="t" r="r" b="b"/>
            <a:pathLst>
              <a:path w="0" h="274320">
                <a:moveTo>
                  <a:pt x="0" y="0"/>
                </a:moveTo>
                <a:lnTo>
                  <a:pt x="0" y="273875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634489" y="1467802"/>
            <a:ext cx="7143115" cy="2558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二、存在着遏止电压和截止频率（极限频率</a:t>
            </a:r>
            <a:r>
              <a:rPr dirty="0" sz="2800" spc="-5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650">
              <a:latin typeface="Times New Roman"/>
              <a:cs typeface="Times New Roman"/>
            </a:endParaRPr>
          </a:p>
          <a:p>
            <a:pPr marL="12700" marR="831215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当滑线变阻器的滑片处于最左端，所加电压</a:t>
            </a:r>
            <a:r>
              <a:rPr dirty="0" sz="2000" i="1">
                <a:latin typeface="Times New Roman"/>
                <a:cs typeface="Times New Roman"/>
              </a:rPr>
              <a:t>U</a:t>
            </a:r>
            <a:r>
              <a:rPr dirty="0" sz="2000" spc="-215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为0</a:t>
            </a:r>
            <a:r>
              <a:rPr dirty="0" sz="2000" spc="-6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时，</a:t>
            </a:r>
            <a:r>
              <a:rPr dirty="0" sz="2000" spc="5">
                <a:latin typeface="微软雅黑"/>
                <a:cs typeface="微软雅黑"/>
              </a:rPr>
              <a:t>电 流</a:t>
            </a:r>
            <a:r>
              <a:rPr dirty="0" sz="2000" spc="-165">
                <a:latin typeface="微软雅黑"/>
                <a:cs typeface="微软雅黑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I</a:t>
            </a:r>
            <a:r>
              <a:rPr dirty="0" sz="2000" spc="-5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并不</a:t>
            </a:r>
            <a:r>
              <a:rPr dirty="0" sz="2000" spc="5">
                <a:latin typeface="微软雅黑"/>
                <a:cs typeface="微软雅黑"/>
              </a:rPr>
              <a:t>为</a:t>
            </a:r>
            <a:r>
              <a:rPr dirty="0" sz="2000" spc="-1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0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给</a:t>
            </a:r>
            <a:r>
              <a:rPr dirty="0" sz="2000" spc="-5">
                <a:latin typeface="微软雅黑"/>
                <a:cs typeface="微软雅黑"/>
              </a:rPr>
              <a:t>KA</a:t>
            </a:r>
            <a:r>
              <a:rPr dirty="0" sz="2000">
                <a:latin typeface="微软雅黑"/>
                <a:cs typeface="微软雅黑"/>
              </a:rPr>
              <a:t>两端施加反向电压，也就是阴极</a:t>
            </a:r>
            <a:r>
              <a:rPr dirty="0" sz="2000" spc="-5">
                <a:latin typeface="微软雅黑"/>
                <a:cs typeface="微软雅黑"/>
              </a:rPr>
              <a:t>K</a:t>
            </a:r>
            <a:r>
              <a:rPr dirty="0" sz="2000">
                <a:latin typeface="微软雅黑"/>
                <a:cs typeface="微软雅黑"/>
              </a:rPr>
              <a:t>接电源正极、阳</a:t>
            </a:r>
            <a:r>
              <a:rPr dirty="0" sz="2000" spc="5">
                <a:latin typeface="微软雅黑"/>
                <a:cs typeface="微软雅黑"/>
              </a:rPr>
              <a:t>极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latin typeface="微软雅黑"/>
                <a:cs typeface="微软雅黑"/>
              </a:rPr>
              <a:t>A</a:t>
            </a:r>
            <a:r>
              <a:rPr dirty="0" sz="2000">
                <a:latin typeface="微软雅黑"/>
                <a:cs typeface="微软雅黑"/>
              </a:rPr>
              <a:t>接电源负极，在光电管两极间形成使电子减速的电</a:t>
            </a:r>
            <a:r>
              <a:rPr dirty="0" sz="2000" spc="5">
                <a:latin typeface="微软雅黑"/>
                <a:cs typeface="微软雅黑"/>
              </a:rPr>
              <a:t>场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34489" y="4796472"/>
            <a:ext cx="63760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当滑片向右滑动时，电压表示数增加（反向电压增加）</a:t>
            </a:r>
            <a:r>
              <a:rPr dirty="0" sz="2000">
                <a:latin typeface="微软雅黑"/>
                <a:cs typeface="微软雅黑"/>
              </a:rPr>
              <a:t>， </a:t>
            </a:r>
            <a:r>
              <a:rPr dirty="0" sz="2000">
                <a:latin typeface="微软雅黑"/>
                <a:cs typeface="微软雅黑"/>
              </a:rPr>
              <a:t>光电流减小（电流表示数减小）。当反向电压增加到某</a:t>
            </a:r>
            <a:r>
              <a:rPr dirty="0" sz="2000">
                <a:latin typeface="微软雅黑"/>
                <a:cs typeface="微软雅黑"/>
              </a:rPr>
              <a:t>一 </a:t>
            </a:r>
            <a:r>
              <a:rPr dirty="0" sz="2000">
                <a:latin typeface="微软雅黑"/>
                <a:cs typeface="微软雅黑"/>
              </a:rPr>
              <a:t>个值</a:t>
            </a:r>
            <a:r>
              <a:rPr dirty="0" sz="2000" spc="-5" i="1">
                <a:latin typeface="Times New Roman"/>
                <a:cs typeface="Times New Roman"/>
              </a:rPr>
              <a:t>U</a:t>
            </a:r>
            <a:r>
              <a:rPr dirty="0" baseline="-17094" sz="1950" spc="-7">
                <a:latin typeface="Times New Roman"/>
                <a:cs typeface="Times New Roman"/>
              </a:rPr>
              <a:t>c</a:t>
            </a:r>
            <a:r>
              <a:rPr dirty="0" baseline="-17094" sz="1950" spc="37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时</a:t>
            </a:r>
            <a:r>
              <a:rPr dirty="0" sz="1600">
                <a:latin typeface="微软雅黑"/>
                <a:cs typeface="微软雅黑"/>
              </a:rPr>
              <a:t>，</a:t>
            </a:r>
            <a:r>
              <a:rPr dirty="0" sz="2000">
                <a:latin typeface="微软雅黑"/>
                <a:cs typeface="微软雅黑"/>
              </a:rPr>
              <a:t>光电流减小</a:t>
            </a:r>
            <a:r>
              <a:rPr dirty="0" sz="2000" spc="5">
                <a:latin typeface="微软雅黑"/>
                <a:cs typeface="微软雅黑"/>
              </a:rPr>
              <a:t>到</a:t>
            </a:r>
            <a:r>
              <a:rPr dirty="0" sz="2000" spc="-1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0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光电效应的实验规律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53271" y="1370075"/>
            <a:ext cx="3291839" cy="3989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24696" y="1341500"/>
            <a:ext cx="3348990" cy="4047490"/>
          </a:xfrm>
          <a:custGeom>
            <a:avLst/>
            <a:gdLst/>
            <a:ahLst/>
            <a:cxnLst/>
            <a:rect l="l" t="t" r="r" b="b"/>
            <a:pathLst>
              <a:path w="3348990" h="4047490">
                <a:moveTo>
                  <a:pt x="3348989" y="4046982"/>
                </a:moveTo>
                <a:lnTo>
                  <a:pt x="0" y="4046982"/>
                </a:lnTo>
                <a:lnTo>
                  <a:pt x="0" y="0"/>
                </a:lnTo>
                <a:lnTo>
                  <a:pt x="3348989" y="0"/>
                </a:lnTo>
                <a:lnTo>
                  <a:pt x="3348989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4018407"/>
                </a:lnTo>
                <a:lnTo>
                  <a:pt x="14287" y="4018407"/>
                </a:lnTo>
                <a:lnTo>
                  <a:pt x="28575" y="4032694"/>
                </a:lnTo>
                <a:lnTo>
                  <a:pt x="3348989" y="4032694"/>
                </a:lnTo>
                <a:lnTo>
                  <a:pt x="3348989" y="4046982"/>
                </a:lnTo>
                <a:close/>
              </a:path>
              <a:path w="3348990" h="4047490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3348990" h="4047490">
                <a:moveTo>
                  <a:pt x="3320414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3320414" y="14287"/>
                </a:lnTo>
                <a:lnTo>
                  <a:pt x="3320414" y="28574"/>
                </a:lnTo>
                <a:close/>
              </a:path>
              <a:path w="3348990" h="4047490">
                <a:moveTo>
                  <a:pt x="3320414" y="4032694"/>
                </a:moveTo>
                <a:lnTo>
                  <a:pt x="3320414" y="14287"/>
                </a:lnTo>
                <a:lnTo>
                  <a:pt x="3334702" y="28574"/>
                </a:lnTo>
                <a:lnTo>
                  <a:pt x="3348989" y="28574"/>
                </a:lnTo>
                <a:lnTo>
                  <a:pt x="3348989" y="4018407"/>
                </a:lnTo>
                <a:lnTo>
                  <a:pt x="3334702" y="4018407"/>
                </a:lnTo>
                <a:lnTo>
                  <a:pt x="3320414" y="4032694"/>
                </a:lnTo>
                <a:close/>
              </a:path>
              <a:path w="3348990" h="4047490">
                <a:moveTo>
                  <a:pt x="3348989" y="28574"/>
                </a:moveTo>
                <a:lnTo>
                  <a:pt x="3334702" y="28574"/>
                </a:lnTo>
                <a:lnTo>
                  <a:pt x="3320414" y="14287"/>
                </a:lnTo>
                <a:lnTo>
                  <a:pt x="3348989" y="14287"/>
                </a:lnTo>
                <a:lnTo>
                  <a:pt x="3348989" y="28574"/>
                </a:lnTo>
                <a:close/>
              </a:path>
              <a:path w="3348990" h="4047490">
                <a:moveTo>
                  <a:pt x="28575" y="4032694"/>
                </a:moveTo>
                <a:lnTo>
                  <a:pt x="14287" y="4018407"/>
                </a:lnTo>
                <a:lnTo>
                  <a:pt x="28575" y="4018407"/>
                </a:lnTo>
                <a:lnTo>
                  <a:pt x="28575" y="4032694"/>
                </a:lnTo>
                <a:close/>
              </a:path>
              <a:path w="3348990" h="4047490">
                <a:moveTo>
                  <a:pt x="3320414" y="4032694"/>
                </a:moveTo>
                <a:lnTo>
                  <a:pt x="28575" y="4032694"/>
                </a:lnTo>
                <a:lnTo>
                  <a:pt x="28575" y="4018407"/>
                </a:lnTo>
                <a:lnTo>
                  <a:pt x="3320414" y="4018407"/>
                </a:lnTo>
                <a:lnTo>
                  <a:pt x="3320414" y="4032694"/>
                </a:lnTo>
                <a:close/>
              </a:path>
              <a:path w="3348990" h="4047490">
                <a:moveTo>
                  <a:pt x="3348989" y="4032694"/>
                </a:moveTo>
                <a:lnTo>
                  <a:pt x="3320414" y="4032694"/>
                </a:lnTo>
                <a:lnTo>
                  <a:pt x="3334702" y="4018407"/>
                </a:lnTo>
                <a:lnTo>
                  <a:pt x="3348989" y="4018407"/>
                </a:lnTo>
                <a:lnTo>
                  <a:pt x="3348989" y="4032694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206483" y="5373623"/>
            <a:ext cx="2577465" cy="944880"/>
          </a:xfrm>
          <a:custGeom>
            <a:avLst/>
            <a:gdLst/>
            <a:ahLst/>
            <a:cxnLst/>
            <a:rect l="l" t="t" r="r" b="b"/>
            <a:pathLst>
              <a:path w="2577465" h="944879">
                <a:moveTo>
                  <a:pt x="1499616" y="271272"/>
                </a:moveTo>
                <a:lnTo>
                  <a:pt x="1077468" y="271272"/>
                </a:lnTo>
                <a:lnTo>
                  <a:pt x="1289304" y="0"/>
                </a:lnTo>
                <a:lnTo>
                  <a:pt x="1499616" y="271272"/>
                </a:lnTo>
                <a:close/>
              </a:path>
              <a:path w="2577465" h="944879">
                <a:moveTo>
                  <a:pt x="1493520" y="440436"/>
                </a:moveTo>
                <a:lnTo>
                  <a:pt x="1083564" y="440436"/>
                </a:lnTo>
                <a:lnTo>
                  <a:pt x="1083564" y="271272"/>
                </a:lnTo>
                <a:lnTo>
                  <a:pt x="1493520" y="271272"/>
                </a:lnTo>
                <a:lnTo>
                  <a:pt x="1493520" y="440436"/>
                </a:lnTo>
                <a:close/>
              </a:path>
              <a:path w="2577465" h="944879">
                <a:moveTo>
                  <a:pt x="2577084" y="944879"/>
                </a:moveTo>
                <a:lnTo>
                  <a:pt x="0" y="944879"/>
                </a:lnTo>
                <a:lnTo>
                  <a:pt x="0" y="440436"/>
                </a:lnTo>
                <a:lnTo>
                  <a:pt x="2577084" y="440436"/>
                </a:lnTo>
                <a:lnTo>
                  <a:pt x="2577084" y="944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202343" y="5366219"/>
            <a:ext cx="2586355" cy="956944"/>
          </a:xfrm>
          <a:custGeom>
            <a:avLst/>
            <a:gdLst/>
            <a:ahLst/>
            <a:cxnLst/>
            <a:rect l="l" t="t" r="r" b="b"/>
            <a:pathLst>
              <a:path w="2586354" h="956945">
                <a:moveTo>
                  <a:pt x="1082890" y="283235"/>
                </a:moveTo>
                <a:lnTo>
                  <a:pt x="1071981" y="283235"/>
                </a:lnTo>
                <a:lnTo>
                  <a:pt x="1292986" y="0"/>
                </a:lnTo>
                <a:lnTo>
                  <a:pt x="1301310" y="10668"/>
                </a:lnTo>
                <a:lnTo>
                  <a:pt x="1289227" y="10668"/>
                </a:lnTo>
                <a:lnTo>
                  <a:pt x="1292986" y="15485"/>
                </a:lnTo>
                <a:lnTo>
                  <a:pt x="1091499" y="273710"/>
                </a:lnTo>
                <a:lnTo>
                  <a:pt x="1081747" y="273710"/>
                </a:lnTo>
                <a:lnTo>
                  <a:pt x="1084066" y="278472"/>
                </a:lnTo>
                <a:lnTo>
                  <a:pt x="1082890" y="278472"/>
                </a:lnTo>
                <a:lnTo>
                  <a:pt x="1082890" y="283235"/>
                </a:lnTo>
                <a:close/>
              </a:path>
              <a:path w="2586354" h="956945">
                <a:moveTo>
                  <a:pt x="1292986" y="15485"/>
                </a:moveTo>
                <a:lnTo>
                  <a:pt x="1289227" y="10668"/>
                </a:lnTo>
                <a:lnTo>
                  <a:pt x="1296746" y="10668"/>
                </a:lnTo>
                <a:lnTo>
                  <a:pt x="1292986" y="15485"/>
                </a:lnTo>
                <a:close/>
              </a:path>
              <a:path w="2586354" h="956945">
                <a:moveTo>
                  <a:pt x="1500329" y="281213"/>
                </a:moveTo>
                <a:lnTo>
                  <a:pt x="1292986" y="15485"/>
                </a:lnTo>
                <a:lnTo>
                  <a:pt x="1296746" y="10668"/>
                </a:lnTo>
                <a:lnTo>
                  <a:pt x="1301310" y="10668"/>
                </a:lnTo>
                <a:lnTo>
                  <a:pt x="1506547" y="273710"/>
                </a:lnTo>
                <a:lnTo>
                  <a:pt x="1504226" y="273710"/>
                </a:lnTo>
                <a:lnTo>
                  <a:pt x="1500780" y="280763"/>
                </a:lnTo>
                <a:lnTo>
                  <a:pt x="1500329" y="281213"/>
                </a:lnTo>
                <a:close/>
              </a:path>
              <a:path w="2586354" h="956945">
                <a:moveTo>
                  <a:pt x="1085639" y="281221"/>
                </a:moveTo>
                <a:lnTo>
                  <a:pt x="1085169" y="280738"/>
                </a:lnTo>
                <a:lnTo>
                  <a:pt x="1081747" y="273710"/>
                </a:lnTo>
                <a:lnTo>
                  <a:pt x="1091499" y="273710"/>
                </a:lnTo>
                <a:lnTo>
                  <a:pt x="1085639" y="281221"/>
                </a:lnTo>
                <a:close/>
              </a:path>
              <a:path w="2586354" h="956945">
                <a:moveTo>
                  <a:pt x="1092415" y="283235"/>
                </a:moveTo>
                <a:lnTo>
                  <a:pt x="1087653" y="283235"/>
                </a:lnTo>
                <a:lnTo>
                  <a:pt x="1085644" y="281213"/>
                </a:lnTo>
                <a:lnTo>
                  <a:pt x="1091499" y="273710"/>
                </a:lnTo>
                <a:lnTo>
                  <a:pt x="1092415" y="273710"/>
                </a:lnTo>
                <a:lnTo>
                  <a:pt x="1092415" y="283235"/>
                </a:lnTo>
                <a:close/>
              </a:path>
              <a:path w="2586354" h="956945">
                <a:moveTo>
                  <a:pt x="2576449" y="452247"/>
                </a:moveTo>
                <a:lnTo>
                  <a:pt x="1493545" y="452247"/>
                </a:lnTo>
                <a:lnTo>
                  <a:pt x="1493545" y="273710"/>
                </a:lnTo>
                <a:lnTo>
                  <a:pt x="1494474" y="273710"/>
                </a:lnTo>
                <a:lnTo>
                  <a:pt x="1500322" y="281221"/>
                </a:lnTo>
                <a:lnTo>
                  <a:pt x="1498307" y="283235"/>
                </a:lnTo>
                <a:lnTo>
                  <a:pt x="1503070" y="283235"/>
                </a:lnTo>
                <a:lnTo>
                  <a:pt x="1503070" y="442722"/>
                </a:lnTo>
                <a:lnTo>
                  <a:pt x="1498307" y="442722"/>
                </a:lnTo>
                <a:lnTo>
                  <a:pt x="1503070" y="447484"/>
                </a:lnTo>
                <a:lnTo>
                  <a:pt x="2576449" y="447484"/>
                </a:lnTo>
                <a:lnTo>
                  <a:pt x="2576449" y="452247"/>
                </a:lnTo>
                <a:close/>
              </a:path>
              <a:path w="2586354" h="956945">
                <a:moveTo>
                  <a:pt x="1500804" y="280738"/>
                </a:moveTo>
                <a:lnTo>
                  <a:pt x="1504226" y="273710"/>
                </a:lnTo>
                <a:lnTo>
                  <a:pt x="1506547" y="273710"/>
                </a:lnTo>
                <a:lnTo>
                  <a:pt x="1510263" y="278472"/>
                </a:lnTo>
                <a:lnTo>
                  <a:pt x="1503070" y="278472"/>
                </a:lnTo>
                <a:lnTo>
                  <a:pt x="1500804" y="280738"/>
                </a:lnTo>
                <a:close/>
              </a:path>
              <a:path w="2586354" h="956945">
                <a:moveTo>
                  <a:pt x="1082890" y="447484"/>
                </a:moveTo>
                <a:lnTo>
                  <a:pt x="1082890" y="278472"/>
                </a:lnTo>
                <a:lnTo>
                  <a:pt x="1085181" y="280763"/>
                </a:lnTo>
                <a:lnTo>
                  <a:pt x="1085494" y="281406"/>
                </a:lnTo>
                <a:lnTo>
                  <a:pt x="1085824" y="281406"/>
                </a:lnTo>
                <a:lnTo>
                  <a:pt x="1087653" y="283235"/>
                </a:lnTo>
                <a:lnTo>
                  <a:pt x="1092415" y="283235"/>
                </a:lnTo>
                <a:lnTo>
                  <a:pt x="1092415" y="442722"/>
                </a:lnTo>
                <a:lnTo>
                  <a:pt x="1087653" y="442722"/>
                </a:lnTo>
                <a:lnTo>
                  <a:pt x="1082890" y="447484"/>
                </a:lnTo>
                <a:close/>
              </a:path>
              <a:path w="2586354" h="956945">
                <a:moveTo>
                  <a:pt x="1085181" y="280763"/>
                </a:moveTo>
                <a:lnTo>
                  <a:pt x="1082890" y="278472"/>
                </a:lnTo>
                <a:lnTo>
                  <a:pt x="1084066" y="278472"/>
                </a:lnTo>
                <a:lnTo>
                  <a:pt x="1085181" y="280763"/>
                </a:lnTo>
                <a:close/>
              </a:path>
              <a:path w="2586354" h="956945">
                <a:moveTo>
                  <a:pt x="1503070" y="281406"/>
                </a:moveTo>
                <a:lnTo>
                  <a:pt x="1500479" y="281406"/>
                </a:lnTo>
                <a:lnTo>
                  <a:pt x="1500804" y="280738"/>
                </a:lnTo>
                <a:lnTo>
                  <a:pt x="1503070" y="278472"/>
                </a:lnTo>
                <a:lnTo>
                  <a:pt x="1503070" y="281406"/>
                </a:lnTo>
                <a:close/>
              </a:path>
              <a:path w="2586354" h="956945">
                <a:moveTo>
                  <a:pt x="1513979" y="283235"/>
                </a:moveTo>
                <a:lnTo>
                  <a:pt x="1503070" y="283235"/>
                </a:lnTo>
                <a:lnTo>
                  <a:pt x="1503070" y="278472"/>
                </a:lnTo>
                <a:lnTo>
                  <a:pt x="1510263" y="278472"/>
                </a:lnTo>
                <a:lnTo>
                  <a:pt x="1513979" y="283235"/>
                </a:lnTo>
                <a:close/>
              </a:path>
              <a:path w="2586354" h="956945">
                <a:moveTo>
                  <a:pt x="1500479" y="281406"/>
                </a:moveTo>
                <a:lnTo>
                  <a:pt x="1500329" y="281213"/>
                </a:lnTo>
                <a:lnTo>
                  <a:pt x="1500804" y="280738"/>
                </a:lnTo>
                <a:lnTo>
                  <a:pt x="1500479" y="281406"/>
                </a:lnTo>
                <a:close/>
              </a:path>
              <a:path w="2586354" h="956945">
                <a:moveTo>
                  <a:pt x="1085494" y="281406"/>
                </a:moveTo>
                <a:lnTo>
                  <a:pt x="1085181" y="280763"/>
                </a:lnTo>
                <a:lnTo>
                  <a:pt x="1085639" y="281221"/>
                </a:lnTo>
                <a:lnTo>
                  <a:pt x="1085494" y="281406"/>
                </a:lnTo>
                <a:close/>
              </a:path>
              <a:path w="2586354" h="956945">
                <a:moveTo>
                  <a:pt x="1503070" y="283235"/>
                </a:moveTo>
                <a:lnTo>
                  <a:pt x="1498307" y="283235"/>
                </a:lnTo>
                <a:lnTo>
                  <a:pt x="1500329" y="281213"/>
                </a:lnTo>
                <a:lnTo>
                  <a:pt x="1500479" y="281406"/>
                </a:lnTo>
                <a:lnTo>
                  <a:pt x="1503070" y="281406"/>
                </a:lnTo>
                <a:lnTo>
                  <a:pt x="1503070" y="283235"/>
                </a:lnTo>
                <a:close/>
              </a:path>
              <a:path w="2586354" h="956945">
                <a:moveTo>
                  <a:pt x="1085824" y="281406"/>
                </a:moveTo>
                <a:lnTo>
                  <a:pt x="1085494" y="281406"/>
                </a:lnTo>
                <a:lnTo>
                  <a:pt x="1085639" y="281221"/>
                </a:lnTo>
                <a:lnTo>
                  <a:pt x="1085824" y="281406"/>
                </a:lnTo>
                <a:close/>
              </a:path>
              <a:path w="2586354" h="956945">
                <a:moveTo>
                  <a:pt x="2585974" y="956792"/>
                </a:moveTo>
                <a:lnTo>
                  <a:pt x="0" y="956792"/>
                </a:lnTo>
                <a:lnTo>
                  <a:pt x="0" y="442722"/>
                </a:lnTo>
                <a:lnTo>
                  <a:pt x="1082890" y="442722"/>
                </a:lnTo>
                <a:lnTo>
                  <a:pt x="1082890" y="447484"/>
                </a:lnTo>
                <a:lnTo>
                  <a:pt x="9525" y="447484"/>
                </a:lnTo>
                <a:lnTo>
                  <a:pt x="4762" y="452247"/>
                </a:lnTo>
                <a:lnTo>
                  <a:pt x="9525" y="452247"/>
                </a:lnTo>
                <a:lnTo>
                  <a:pt x="9525" y="947267"/>
                </a:lnTo>
                <a:lnTo>
                  <a:pt x="4762" y="947267"/>
                </a:lnTo>
                <a:lnTo>
                  <a:pt x="9525" y="952030"/>
                </a:lnTo>
                <a:lnTo>
                  <a:pt x="2585974" y="952030"/>
                </a:lnTo>
                <a:lnTo>
                  <a:pt x="2585974" y="956792"/>
                </a:lnTo>
                <a:close/>
              </a:path>
              <a:path w="2586354" h="956945">
                <a:moveTo>
                  <a:pt x="1092415" y="452247"/>
                </a:moveTo>
                <a:lnTo>
                  <a:pt x="9525" y="452247"/>
                </a:lnTo>
                <a:lnTo>
                  <a:pt x="9525" y="447484"/>
                </a:lnTo>
                <a:lnTo>
                  <a:pt x="1082890" y="447484"/>
                </a:lnTo>
                <a:lnTo>
                  <a:pt x="1087653" y="442722"/>
                </a:lnTo>
                <a:lnTo>
                  <a:pt x="1092415" y="442722"/>
                </a:lnTo>
                <a:lnTo>
                  <a:pt x="1092415" y="452247"/>
                </a:lnTo>
                <a:close/>
              </a:path>
              <a:path w="2586354" h="956945">
                <a:moveTo>
                  <a:pt x="1503070" y="447484"/>
                </a:moveTo>
                <a:lnTo>
                  <a:pt x="1498307" y="442722"/>
                </a:lnTo>
                <a:lnTo>
                  <a:pt x="1503070" y="442722"/>
                </a:lnTo>
                <a:lnTo>
                  <a:pt x="1503070" y="447484"/>
                </a:lnTo>
                <a:close/>
              </a:path>
              <a:path w="2586354" h="956945">
                <a:moveTo>
                  <a:pt x="2585974" y="452247"/>
                </a:moveTo>
                <a:lnTo>
                  <a:pt x="2581211" y="452247"/>
                </a:lnTo>
                <a:lnTo>
                  <a:pt x="2576449" y="447484"/>
                </a:lnTo>
                <a:lnTo>
                  <a:pt x="1503070" y="447484"/>
                </a:lnTo>
                <a:lnTo>
                  <a:pt x="1503070" y="442722"/>
                </a:lnTo>
                <a:lnTo>
                  <a:pt x="2585974" y="442722"/>
                </a:lnTo>
                <a:lnTo>
                  <a:pt x="2585974" y="452247"/>
                </a:lnTo>
                <a:close/>
              </a:path>
              <a:path w="2586354" h="956945">
                <a:moveTo>
                  <a:pt x="9525" y="452247"/>
                </a:moveTo>
                <a:lnTo>
                  <a:pt x="4762" y="452247"/>
                </a:lnTo>
                <a:lnTo>
                  <a:pt x="9525" y="447484"/>
                </a:lnTo>
                <a:lnTo>
                  <a:pt x="9525" y="452247"/>
                </a:lnTo>
                <a:close/>
              </a:path>
              <a:path w="2586354" h="956945">
                <a:moveTo>
                  <a:pt x="2576449" y="952030"/>
                </a:moveTo>
                <a:lnTo>
                  <a:pt x="2576449" y="447484"/>
                </a:lnTo>
                <a:lnTo>
                  <a:pt x="2581211" y="452247"/>
                </a:lnTo>
                <a:lnTo>
                  <a:pt x="2585974" y="452247"/>
                </a:lnTo>
                <a:lnTo>
                  <a:pt x="2585974" y="947267"/>
                </a:lnTo>
                <a:lnTo>
                  <a:pt x="2581211" y="947267"/>
                </a:lnTo>
                <a:lnTo>
                  <a:pt x="2576449" y="952030"/>
                </a:lnTo>
                <a:close/>
              </a:path>
              <a:path w="2586354" h="956945">
                <a:moveTo>
                  <a:pt x="9525" y="952030"/>
                </a:moveTo>
                <a:lnTo>
                  <a:pt x="4762" y="947267"/>
                </a:lnTo>
                <a:lnTo>
                  <a:pt x="9525" y="947267"/>
                </a:lnTo>
                <a:lnTo>
                  <a:pt x="9525" y="952030"/>
                </a:lnTo>
                <a:close/>
              </a:path>
              <a:path w="2586354" h="956945">
                <a:moveTo>
                  <a:pt x="2576449" y="952030"/>
                </a:moveTo>
                <a:lnTo>
                  <a:pt x="9525" y="952030"/>
                </a:lnTo>
                <a:lnTo>
                  <a:pt x="9525" y="947267"/>
                </a:lnTo>
                <a:lnTo>
                  <a:pt x="2576449" y="947267"/>
                </a:lnTo>
                <a:lnTo>
                  <a:pt x="2576449" y="952030"/>
                </a:lnTo>
                <a:close/>
              </a:path>
              <a:path w="2586354" h="956945">
                <a:moveTo>
                  <a:pt x="2585974" y="952030"/>
                </a:moveTo>
                <a:lnTo>
                  <a:pt x="2576449" y="952030"/>
                </a:lnTo>
                <a:lnTo>
                  <a:pt x="2581211" y="947267"/>
                </a:lnTo>
                <a:lnTo>
                  <a:pt x="2585974" y="947267"/>
                </a:lnTo>
                <a:lnTo>
                  <a:pt x="2585974" y="9520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566630" y="5909500"/>
            <a:ext cx="185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微软雅黑"/>
                <a:cs typeface="微软雅黑"/>
              </a:rPr>
              <a:t>把电源正负极反接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515155" y="4652200"/>
            <a:ext cx="0" cy="616585"/>
          </a:xfrm>
          <a:custGeom>
            <a:avLst/>
            <a:gdLst/>
            <a:ahLst/>
            <a:cxnLst/>
            <a:rect l="l" t="t" r="r" b="b"/>
            <a:pathLst>
              <a:path w="0" h="616585">
                <a:moveTo>
                  <a:pt x="0" y="0"/>
                </a:moveTo>
                <a:lnTo>
                  <a:pt x="0" y="616203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430256" y="4652771"/>
            <a:ext cx="0" cy="615950"/>
          </a:xfrm>
          <a:custGeom>
            <a:avLst/>
            <a:gdLst/>
            <a:ahLst/>
            <a:cxnLst/>
            <a:rect l="l" t="t" r="r" b="b"/>
            <a:pathLst>
              <a:path w="0" h="615950">
                <a:moveTo>
                  <a:pt x="0" y="0"/>
                </a:moveTo>
                <a:lnTo>
                  <a:pt x="0" y="615696"/>
                </a:lnTo>
              </a:path>
            </a:pathLst>
          </a:custGeom>
          <a:ln w="6705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402633" y="4789131"/>
            <a:ext cx="0" cy="274320"/>
          </a:xfrm>
          <a:custGeom>
            <a:avLst/>
            <a:gdLst/>
            <a:ahLst/>
            <a:cxnLst/>
            <a:rect l="l" t="t" r="r" b="b"/>
            <a:pathLst>
              <a:path w="0" h="274320">
                <a:moveTo>
                  <a:pt x="0" y="0"/>
                </a:moveTo>
                <a:lnTo>
                  <a:pt x="0" y="273875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640839" y="1467802"/>
            <a:ext cx="7136765" cy="1344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二、存在着遏止电压和截止频率（极限频率</a:t>
            </a:r>
            <a:r>
              <a:rPr dirty="0" sz="2800" spc="-5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使光电流减小</a:t>
            </a:r>
            <a:r>
              <a:rPr dirty="0" sz="2000" spc="5">
                <a:latin typeface="微软雅黑"/>
                <a:cs typeface="微软雅黑"/>
              </a:rPr>
              <a:t>到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0</a:t>
            </a:r>
            <a:r>
              <a:rPr dirty="0" sz="2000" spc="-1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的反向电</a:t>
            </a:r>
            <a:r>
              <a:rPr dirty="0" sz="2000" spc="5">
                <a:latin typeface="微软雅黑"/>
                <a:cs typeface="微软雅黑"/>
              </a:rPr>
              <a:t>压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U</a:t>
            </a:r>
            <a:r>
              <a:rPr dirty="0" baseline="-17094" sz="1950" spc="-7">
                <a:latin typeface="Times New Roman"/>
                <a:cs typeface="Times New Roman"/>
              </a:rPr>
              <a:t>c</a:t>
            </a:r>
            <a:r>
              <a:rPr dirty="0" baseline="-17094" sz="1950" spc="390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称为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遏止电压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14241" y="4387697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 h="0">
                <a:moveTo>
                  <a:pt x="0" y="0"/>
                </a:moveTo>
                <a:lnTo>
                  <a:pt x="158305" y="0"/>
                </a:lnTo>
              </a:path>
            </a:pathLst>
          </a:custGeom>
          <a:ln w="109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815194" y="4012336"/>
            <a:ext cx="15748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 marR="47625">
              <a:lnSpc>
                <a:spcPct val="107300"/>
              </a:lnSpc>
              <a:spcBef>
                <a:spcPts val="135"/>
              </a:spcBef>
            </a:pPr>
            <a:r>
              <a:rPr dirty="0"/>
              <a:t>遏止电压的存在意味着光电子具有最大的初速度</a:t>
            </a:r>
            <a:r>
              <a:rPr dirty="0" sz="2400" spc="-5" i="1">
                <a:latin typeface="Monotype Corsiva"/>
                <a:cs typeface="Monotype Corsiva"/>
              </a:rPr>
              <a:t>v</a:t>
            </a:r>
            <a:r>
              <a:rPr dirty="0" baseline="-17094" sz="1950" spc="-7">
                <a:latin typeface="Times New Roman"/>
                <a:cs typeface="Times New Roman"/>
              </a:rPr>
              <a:t>c</a:t>
            </a:r>
            <a:r>
              <a:rPr dirty="0" baseline="-17094" sz="1950" spc="254">
                <a:latin typeface="Times New Roman"/>
                <a:cs typeface="Times New Roman"/>
              </a:rPr>
              <a:t> </a:t>
            </a:r>
            <a:r>
              <a:rPr dirty="0" sz="2000" spc="5"/>
              <a:t>，  </a:t>
            </a:r>
            <a:r>
              <a:rPr dirty="0" sz="2000"/>
              <a:t>光电子具有最大初动</a:t>
            </a:r>
            <a:r>
              <a:rPr dirty="0" sz="2000" spc="5"/>
              <a:t>能</a:t>
            </a:r>
            <a:r>
              <a:rPr dirty="0" sz="2000" spc="-15"/>
              <a:t> </a:t>
            </a:r>
            <a:r>
              <a:rPr dirty="0" sz="2000" spc="-5" i="1">
                <a:latin typeface="Times New Roman"/>
                <a:cs typeface="Times New Roman"/>
              </a:rPr>
              <a:t>E</a:t>
            </a:r>
            <a:r>
              <a:rPr dirty="0" baseline="-17094" sz="1950" spc="-7">
                <a:latin typeface="Times New Roman"/>
                <a:cs typeface="Times New Roman"/>
              </a:rPr>
              <a:t>k</a:t>
            </a:r>
            <a:endParaRPr baseline="-17094" sz="1950">
              <a:latin typeface="Times New Roman"/>
              <a:cs typeface="Times New Roman"/>
            </a:endParaRPr>
          </a:p>
          <a:p>
            <a:pPr marL="1215390">
              <a:lnSpc>
                <a:spcPct val="100000"/>
              </a:lnSpc>
              <a:spcBef>
                <a:spcPts val="2095"/>
              </a:spcBef>
            </a:pPr>
            <a:r>
              <a:rPr dirty="0" sz="2050" spc="30" i="1">
                <a:latin typeface="Times New Roman"/>
                <a:cs typeface="Times New Roman"/>
              </a:rPr>
              <a:t>E</a:t>
            </a:r>
            <a:r>
              <a:rPr dirty="0" baseline="-23148" sz="1800" spc="7">
                <a:latin typeface="Times New Roman"/>
                <a:cs typeface="Times New Roman"/>
              </a:rPr>
              <a:t>K</a:t>
            </a:r>
            <a:r>
              <a:rPr dirty="0" baseline="-23148" sz="1800">
                <a:latin typeface="Times New Roman"/>
                <a:cs typeface="Times New Roman"/>
              </a:rPr>
              <a:t> </a:t>
            </a:r>
            <a:r>
              <a:rPr dirty="0" baseline="-23148" sz="1800" spc="195">
                <a:latin typeface="Times New Roman"/>
                <a:cs typeface="Times New Roman"/>
              </a:rPr>
              <a:t> </a:t>
            </a:r>
            <a:r>
              <a:rPr dirty="0" sz="2050" spc="10">
                <a:latin typeface="Symbol"/>
                <a:cs typeface="Symbol"/>
              </a:rPr>
              <a:t></a:t>
            </a:r>
            <a:r>
              <a:rPr dirty="0" sz="2050" spc="130">
                <a:latin typeface="Times New Roman"/>
                <a:cs typeface="Times New Roman"/>
              </a:rPr>
              <a:t> </a:t>
            </a:r>
            <a:r>
              <a:rPr dirty="0" baseline="-43360" sz="3075" spc="15">
                <a:latin typeface="Times New Roman"/>
                <a:cs typeface="Times New Roman"/>
              </a:rPr>
              <a:t>2</a:t>
            </a:r>
            <a:r>
              <a:rPr dirty="0" baseline="-43360" sz="3075" spc="-135">
                <a:latin typeface="Times New Roman"/>
                <a:cs typeface="Times New Roman"/>
              </a:rPr>
              <a:t> </a:t>
            </a:r>
            <a:r>
              <a:rPr dirty="0" sz="2050" spc="-30" i="1">
                <a:latin typeface="Times New Roman"/>
                <a:cs typeface="Times New Roman"/>
              </a:rPr>
              <a:t>m</a:t>
            </a:r>
            <a:r>
              <a:rPr dirty="0" baseline="-23148" sz="1800" spc="-240">
                <a:latin typeface="Times New Roman"/>
                <a:cs typeface="Times New Roman"/>
              </a:rPr>
              <a:t>e</a:t>
            </a:r>
            <a:r>
              <a:rPr dirty="0" baseline="-2314" sz="3600" spc="-7" b="1" i="1">
                <a:latin typeface="Monotype Corsiva"/>
                <a:cs typeface="Monotype Corsiva"/>
              </a:rPr>
              <a:t>v</a:t>
            </a:r>
            <a:r>
              <a:rPr dirty="0" baseline="-21367" sz="1950" spc="-7" b="1" i="1">
                <a:latin typeface="Times New Roman"/>
                <a:cs typeface="Times New Roman"/>
              </a:rPr>
              <a:t>c</a:t>
            </a:r>
            <a:r>
              <a:rPr dirty="0" baseline="16908" sz="1725" spc="22" b="1">
                <a:latin typeface="微软雅黑"/>
                <a:cs typeface="微软雅黑"/>
              </a:rPr>
              <a:t>2</a:t>
            </a:r>
            <a:endParaRPr baseline="16908" sz="1725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2970"/>
              </a:spcBef>
            </a:pPr>
            <a:r>
              <a:rPr dirty="0"/>
              <a:t>当</a:t>
            </a:r>
            <a:r>
              <a:rPr dirty="0" spc="-5"/>
              <a:t>AK</a:t>
            </a:r>
            <a:r>
              <a:rPr dirty="0"/>
              <a:t>间电压达到遏止电压</a:t>
            </a:r>
            <a:r>
              <a:rPr dirty="0" spc="-5" i="1">
                <a:latin typeface="Times New Roman"/>
                <a:cs typeface="Times New Roman"/>
              </a:rPr>
              <a:t>U</a:t>
            </a:r>
            <a:r>
              <a:rPr dirty="0" baseline="-17094" sz="1950" spc="-7">
                <a:latin typeface="Times New Roman"/>
                <a:cs typeface="Times New Roman"/>
              </a:rPr>
              <a:t>c</a:t>
            </a:r>
            <a:r>
              <a:rPr dirty="0" baseline="-17094" sz="1950" spc="262">
                <a:latin typeface="Times New Roman"/>
                <a:cs typeface="Times New Roman"/>
              </a:rPr>
              <a:t> </a:t>
            </a:r>
            <a:r>
              <a:rPr dirty="0" sz="2000"/>
              <a:t>时，从</a:t>
            </a:r>
            <a:r>
              <a:rPr dirty="0" sz="2000" spc="-5"/>
              <a:t>K</a:t>
            </a:r>
            <a:r>
              <a:rPr dirty="0" sz="2000"/>
              <a:t>逸出具有最大</a:t>
            </a:r>
            <a:r>
              <a:rPr dirty="0" sz="2000" spc="5"/>
              <a:t>初 </a:t>
            </a:r>
            <a:r>
              <a:rPr dirty="0" sz="2000"/>
              <a:t>动</a:t>
            </a:r>
            <a:r>
              <a:rPr dirty="0" sz="2000" spc="5"/>
              <a:t>能</a:t>
            </a:r>
            <a:r>
              <a:rPr dirty="0" sz="2000" spc="-15"/>
              <a:t> </a:t>
            </a:r>
            <a:r>
              <a:rPr dirty="0" sz="2000" spc="-5" i="1">
                <a:latin typeface="Times New Roman"/>
                <a:cs typeface="Times New Roman"/>
              </a:rPr>
              <a:t>E</a:t>
            </a:r>
            <a:r>
              <a:rPr dirty="0" baseline="-17094" sz="1950" spc="-7">
                <a:latin typeface="Times New Roman"/>
                <a:cs typeface="Times New Roman"/>
              </a:rPr>
              <a:t>K</a:t>
            </a:r>
            <a:r>
              <a:rPr dirty="0" sz="2000"/>
              <a:t>的光电子恰好到不了</a:t>
            </a:r>
            <a:r>
              <a:rPr dirty="0" sz="2000" spc="-10"/>
              <a:t>A</a:t>
            </a:r>
            <a:r>
              <a:rPr dirty="0" sz="2000" spc="5"/>
              <a:t>端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42053" y="6045809"/>
            <a:ext cx="9398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15638" y="5870575"/>
            <a:ext cx="5334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0">
                <a:latin typeface="Symbol"/>
                <a:cs typeface="Symbol"/>
              </a:rPr>
              <a:t></a:t>
            </a:r>
            <a:r>
              <a:rPr dirty="0" sz="2050" spc="-150">
                <a:latin typeface="Times New Roman"/>
                <a:cs typeface="Times New Roman"/>
              </a:rPr>
              <a:t> </a:t>
            </a:r>
            <a:r>
              <a:rPr dirty="0" sz="2050" spc="10" i="1">
                <a:latin typeface="Times New Roman"/>
                <a:cs typeface="Times New Roman"/>
              </a:rPr>
              <a:t>eU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33559" y="6038062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 h="0">
                <a:moveTo>
                  <a:pt x="0" y="0"/>
                </a:moveTo>
                <a:lnTo>
                  <a:pt x="158191" y="0"/>
                </a:lnTo>
              </a:path>
            </a:pathLst>
          </a:custGeom>
          <a:ln w="109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234499" y="5607484"/>
            <a:ext cx="161290" cy="76835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2050" spc="1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465"/>
              </a:spcBef>
            </a:pPr>
            <a:r>
              <a:rPr dirty="0" sz="2050" spc="10">
                <a:latin typeface="Times New Roman"/>
                <a:cs typeface="Times New Roman"/>
              </a:rPr>
              <a:t>2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24046" y="5828449"/>
            <a:ext cx="2159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5" i="1">
                <a:latin typeface="Times New Roman"/>
                <a:cs typeface="Times New Roman"/>
              </a:rPr>
              <a:t>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56977" y="5802058"/>
            <a:ext cx="160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Monotype Corsiva"/>
                <a:cs typeface="Monotype Corsiva"/>
              </a:rPr>
              <a:t>v</a:t>
            </a:r>
            <a:endParaRPr sz="2400">
              <a:latin typeface="Monotype Corsiva"/>
              <a:cs typeface="Monotype Corsiv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08819" y="5993091"/>
            <a:ext cx="2813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300" spc="-5" b="1" i="1">
                <a:latin typeface="Times New Roman"/>
                <a:cs typeface="Times New Roman"/>
              </a:rPr>
              <a:t>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64622" y="5901118"/>
            <a:ext cx="117475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5" b="1">
                <a:latin typeface="微软雅黑"/>
                <a:cs typeface="微软雅黑"/>
              </a:rPr>
              <a:t>2</a:t>
            </a:r>
            <a:endParaRPr sz="115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光电效应的实验规律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29752" y="5692775"/>
            <a:ext cx="916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光电子的最大初动能只与入射光的频率有关，而与入射光的强弱无关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40839" y="1467802"/>
            <a:ext cx="7136765" cy="197738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二、存在着遏止电压和截止频率（极限频率</a:t>
            </a:r>
            <a:r>
              <a:rPr dirty="0" sz="2800" spc="-5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150">
              <a:latin typeface="Times New Roman"/>
              <a:cs typeface="Times New Roman"/>
            </a:endParaRPr>
          </a:p>
          <a:p>
            <a:pPr algn="just" marL="433070" marR="1614805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实验表明，对于一定颜色（频率）的光，无</a:t>
            </a:r>
            <a:r>
              <a:rPr dirty="0" sz="2000">
                <a:latin typeface="微软雅黑"/>
                <a:cs typeface="微软雅黑"/>
              </a:rPr>
              <a:t>论 </a:t>
            </a:r>
            <a:r>
              <a:rPr dirty="0" sz="2000">
                <a:latin typeface="微软雅黑"/>
                <a:cs typeface="微软雅黑"/>
              </a:rPr>
              <a:t>光的强弱如何，遏止电压都是一样的，光的</a:t>
            </a:r>
            <a:r>
              <a:rPr dirty="0" sz="2000">
                <a:latin typeface="微软雅黑"/>
                <a:cs typeface="微软雅黑"/>
              </a:rPr>
              <a:t>频 </a:t>
            </a:r>
            <a:r>
              <a:rPr dirty="0" sz="2000" spc="5">
                <a:latin typeface="微软雅黑"/>
                <a:cs typeface="微软雅黑"/>
              </a:rPr>
              <a:t>率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 i="1">
                <a:latin typeface="Century Schoolbook"/>
                <a:cs typeface="Century Schoolbook"/>
              </a:rPr>
              <a:t>ν</a:t>
            </a:r>
            <a:r>
              <a:rPr dirty="0" sz="2000" spc="310" i="1">
                <a:latin typeface="Century Schoolbook"/>
                <a:cs typeface="Century Schoolbook"/>
              </a:rPr>
              <a:t> </a:t>
            </a:r>
            <a:r>
              <a:rPr dirty="0" sz="2000">
                <a:latin typeface="微软雅黑"/>
                <a:cs typeface="微软雅黑"/>
              </a:rPr>
              <a:t>改变时，遏止电</a:t>
            </a:r>
            <a:r>
              <a:rPr dirty="0" sz="2000" spc="5">
                <a:latin typeface="微软雅黑"/>
                <a:cs typeface="微软雅黑"/>
              </a:rPr>
              <a:t>压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U</a:t>
            </a:r>
            <a:r>
              <a:rPr dirty="0" baseline="-17094" sz="1950" spc="-7">
                <a:latin typeface="Times New Roman"/>
                <a:cs typeface="Times New Roman"/>
              </a:rPr>
              <a:t>c</a:t>
            </a:r>
            <a:r>
              <a:rPr dirty="0" baseline="-17094" sz="1950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也会改</a:t>
            </a:r>
            <a:r>
              <a:rPr dirty="0" sz="2000" spc="5">
                <a:latin typeface="微软雅黑"/>
                <a:cs typeface="微软雅黑"/>
              </a:rPr>
              <a:t>变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7384" y="4517681"/>
            <a:ext cx="9398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1960" y="4342447"/>
            <a:ext cx="5334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0">
                <a:latin typeface="Symbol"/>
                <a:cs typeface="Symbol"/>
              </a:rPr>
              <a:t></a:t>
            </a:r>
            <a:r>
              <a:rPr dirty="0" sz="2050" spc="-155">
                <a:latin typeface="Times New Roman"/>
                <a:cs typeface="Times New Roman"/>
              </a:rPr>
              <a:t> </a:t>
            </a:r>
            <a:r>
              <a:rPr dirty="0" sz="2050" spc="10" i="1">
                <a:latin typeface="Times New Roman"/>
                <a:cs typeface="Times New Roman"/>
              </a:rPr>
              <a:t>eU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19589" y="4509935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 h="0">
                <a:moveTo>
                  <a:pt x="0" y="0"/>
                </a:moveTo>
                <a:lnTo>
                  <a:pt x="158191" y="0"/>
                </a:lnTo>
              </a:path>
            </a:pathLst>
          </a:custGeom>
          <a:ln w="109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220529" y="4079356"/>
            <a:ext cx="161290" cy="76835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2050" spc="1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465"/>
              </a:spcBef>
            </a:pPr>
            <a:r>
              <a:rPr dirty="0" sz="2050" spc="10">
                <a:latin typeface="Times New Roman"/>
                <a:cs typeface="Times New Roman"/>
              </a:rPr>
              <a:t>2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10077" y="4300321"/>
            <a:ext cx="2159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5" i="1">
                <a:latin typeface="Times New Roman"/>
                <a:cs typeface="Times New Roman"/>
              </a:rPr>
              <a:t>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43884" y="4273295"/>
            <a:ext cx="160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Monotype Corsiva"/>
                <a:cs typeface="Monotype Corsiva"/>
              </a:rPr>
              <a:t>v</a:t>
            </a:r>
            <a:endParaRPr sz="2400">
              <a:latin typeface="Monotype Corsiva"/>
              <a:cs typeface="Monotype Corsiv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94849" y="4464964"/>
            <a:ext cx="28257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 spc="220">
                <a:latin typeface="Times New Roman"/>
                <a:cs typeface="Times New Roman"/>
              </a:rPr>
              <a:t> </a:t>
            </a:r>
            <a:r>
              <a:rPr dirty="0" sz="1300" spc="-5" b="1" i="1">
                <a:latin typeface="Times New Roman"/>
                <a:cs typeface="Times New Roman"/>
              </a:rPr>
              <a:t>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51528" y="4372355"/>
            <a:ext cx="117475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5" b="1">
                <a:latin typeface="微软雅黑"/>
                <a:cs typeface="微软雅黑"/>
              </a:rPr>
              <a:t>2</a:t>
            </a:r>
            <a:endParaRPr sz="115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73923" y="2598420"/>
            <a:ext cx="4255008" cy="21930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321418" y="3064395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63"/>
                </a:moveTo>
                <a:lnTo>
                  <a:pt x="0" y="12700"/>
                </a:lnTo>
                <a:lnTo>
                  <a:pt x="12" y="0"/>
                </a:lnTo>
                <a:lnTo>
                  <a:pt x="50812" y="63"/>
                </a:lnTo>
                <a:lnTo>
                  <a:pt x="50800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410318" y="3064510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63"/>
                </a:moveTo>
                <a:lnTo>
                  <a:pt x="0" y="12700"/>
                </a:lnTo>
                <a:lnTo>
                  <a:pt x="12" y="0"/>
                </a:lnTo>
                <a:lnTo>
                  <a:pt x="50812" y="63"/>
                </a:lnTo>
                <a:lnTo>
                  <a:pt x="50800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499218" y="3064624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63"/>
                </a:moveTo>
                <a:lnTo>
                  <a:pt x="0" y="12700"/>
                </a:lnTo>
                <a:lnTo>
                  <a:pt x="12" y="0"/>
                </a:lnTo>
                <a:lnTo>
                  <a:pt x="50812" y="63"/>
                </a:lnTo>
                <a:lnTo>
                  <a:pt x="50800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588118" y="3064738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63"/>
                </a:moveTo>
                <a:lnTo>
                  <a:pt x="0" y="12700"/>
                </a:lnTo>
                <a:lnTo>
                  <a:pt x="12" y="0"/>
                </a:lnTo>
                <a:lnTo>
                  <a:pt x="50812" y="63"/>
                </a:lnTo>
                <a:lnTo>
                  <a:pt x="50800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77018" y="3064852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765918" y="3064967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854818" y="3065094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63"/>
                </a:moveTo>
                <a:lnTo>
                  <a:pt x="0" y="12700"/>
                </a:lnTo>
                <a:lnTo>
                  <a:pt x="12" y="0"/>
                </a:lnTo>
                <a:lnTo>
                  <a:pt x="50812" y="63"/>
                </a:lnTo>
                <a:lnTo>
                  <a:pt x="50800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943718" y="3065208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63"/>
                </a:moveTo>
                <a:lnTo>
                  <a:pt x="0" y="12699"/>
                </a:lnTo>
                <a:lnTo>
                  <a:pt x="12" y="0"/>
                </a:lnTo>
                <a:lnTo>
                  <a:pt x="50812" y="63"/>
                </a:lnTo>
                <a:lnTo>
                  <a:pt x="50800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032618" y="3065322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787" y="12763"/>
                </a:moveTo>
                <a:lnTo>
                  <a:pt x="0" y="12699"/>
                </a:lnTo>
                <a:lnTo>
                  <a:pt x="12" y="0"/>
                </a:lnTo>
                <a:lnTo>
                  <a:pt x="50812" y="63"/>
                </a:lnTo>
                <a:lnTo>
                  <a:pt x="50787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121506" y="3065437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63"/>
                </a:moveTo>
                <a:lnTo>
                  <a:pt x="0" y="12700"/>
                </a:lnTo>
                <a:lnTo>
                  <a:pt x="25" y="0"/>
                </a:lnTo>
                <a:lnTo>
                  <a:pt x="50825" y="63"/>
                </a:lnTo>
                <a:lnTo>
                  <a:pt x="50800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210406" y="3065551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63"/>
                </a:moveTo>
                <a:lnTo>
                  <a:pt x="0" y="12700"/>
                </a:lnTo>
                <a:lnTo>
                  <a:pt x="25" y="0"/>
                </a:lnTo>
                <a:lnTo>
                  <a:pt x="50825" y="63"/>
                </a:lnTo>
                <a:lnTo>
                  <a:pt x="50800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299306" y="3065665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63"/>
                </a:moveTo>
                <a:lnTo>
                  <a:pt x="0" y="12700"/>
                </a:lnTo>
                <a:lnTo>
                  <a:pt x="25" y="0"/>
                </a:lnTo>
                <a:lnTo>
                  <a:pt x="50825" y="63"/>
                </a:lnTo>
                <a:lnTo>
                  <a:pt x="50800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388206" y="3065779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63"/>
                </a:moveTo>
                <a:lnTo>
                  <a:pt x="0" y="12700"/>
                </a:lnTo>
                <a:lnTo>
                  <a:pt x="25" y="0"/>
                </a:lnTo>
                <a:lnTo>
                  <a:pt x="50825" y="63"/>
                </a:lnTo>
                <a:lnTo>
                  <a:pt x="50800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0477106" y="3065894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63"/>
                </a:moveTo>
                <a:lnTo>
                  <a:pt x="0" y="12700"/>
                </a:lnTo>
                <a:lnTo>
                  <a:pt x="25" y="0"/>
                </a:lnTo>
                <a:lnTo>
                  <a:pt x="50825" y="63"/>
                </a:lnTo>
                <a:lnTo>
                  <a:pt x="50800" y="12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307766" y="4019740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396666" y="4019880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485566" y="4020019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574466" y="4020159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663366" y="4020299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752266" y="4020439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841166" y="4020578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930066" y="4020718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018966" y="4020858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0107866" y="4020997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0196766" y="4021137"/>
            <a:ext cx="51435" cy="13335"/>
          </a:xfrm>
          <a:custGeom>
            <a:avLst/>
            <a:gdLst/>
            <a:ahLst/>
            <a:cxnLst/>
            <a:rect l="l" t="t" r="r" b="b"/>
            <a:pathLst>
              <a:path w="51434" h="13335">
                <a:moveTo>
                  <a:pt x="50800" y="12776"/>
                </a:moveTo>
                <a:lnTo>
                  <a:pt x="0" y="12700"/>
                </a:lnTo>
                <a:lnTo>
                  <a:pt x="12" y="0"/>
                </a:lnTo>
                <a:lnTo>
                  <a:pt x="50812" y="76"/>
                </a:lnTo>
                <a:lnTo>
                  <a:pt x="50800" y="1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285666" y="4021277"/>
            <a:ext cx="32384" cy="13335"/>
          </a:xfrm>
          <a:custGeom>
            <a:avLst/>
            <a:gdLst/>
            <a:ahLst/>
            <a:cxnLst/>
            <a:rect l="l" t="t" r="r" b="b"/>
            <a:pathLst>
              <a:path w="32384" h="13335">
                <a:moveTo>
                  <a:pt x="32029" y="12750"/>
                </a:moveTo>
                <a:lnTo>
                  <a:pt x="0" y="12700"/>
                </a:lnTo>
                <a:lnTo>
                  <a:pt x="12" y="0"/>
                </a:lnTo>
                <a:lnTo>
                  <a:pt x="32054" y="50"/>
                </a:lnTo>
                <a:lnTo>
                  <a:pt x="32029" y="12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光电效应的实验规律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640839" y="1467802"/>
            <a:ext cx="9429750" cy="3928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二、存在着遏止电压和截止频率（极限频率</a:t>
            </a:r>
            <a:r>
              <a:rPr dirty="0" sz="2800" spc="-5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50">
              <a:latin typeface="Times New Roman"/>
              <a:cs typeface="Times New Roman"/>
            </a:endParaRPr>
          </a:p>
          <a:p>
            <a:pPr algn="just" marL="264795" marR="146050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当入射光的频率减小到某一数</a:t>
            </a:r>
            <a:r>
              <a:rPr dirty="0" sz="2000" spc="5">
                <a:latin typeface="微软雅黑"/>
                <a:cs typeface="微软雅黑"/>
              </a:rPr>
              <a:t>值</a:t>
            </a:r>
            <a:r>
              <a:rPr dirty="0" sz="2000" spc="-50">
                <a:latin typeface="微软雅黑"/>
                <a:cs typeface="微软雅黑"/>
              </a:rPr>
              <a:t> </a:t>
            </a:r>
            <a:r>
              <a:rPr dirty="0" sz="2000" i="1">
                <a:latin typeface="Century Schoolbook"/>
                <a:cs typeface="Century Schoolbook"/>
              </a:rPr>
              <a:t>ν</a:t>
            </a:r>
            <a:r>
              <a:rPr dirty="0" sz="2000" spc="-40" i="1">
                <a:latin typeface="Century Schoolbook"/>
                <a:cs typeface="Century Schoolbook"/>
              </a:rPr>
              <a:t> </a:t>
            </a:r>
            <a:r>
              <a:rPr dirty="0" baseline="-17094" sz="1950" spc="-7">
                <a:latin typeface="Times New Roman"/>
                <a:cs typeface="Times New Roman"/>
              </a:rPr>
              <a:t>c</a:t>
            </a:r>
            <a:r>
              <a:rPr dirty="0" baseline="-17094" sz="195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时，即使不施加反向电压也没有光电流，这</a:t>
            </a:r>
            <a:r>
              <a:rPr dirty="0" sz="2000" spc="5">
                <a:latin typeface="微软雅黑"/>
                <a:cs typeface="微软雅黑"/>
              </a:rPr>
              <a:t>表 </a:t>
            </a:r>
            <a:r>
              <a:rPr dirty="0" sz="2000">
                <a:latin typeface="微软雅黑"/>
                <a:cs typeface="微软雅黑"/>
              </a:rPr>
              <a:t>明已经没有光电子了</a:t>
            </a:r>
            <a:r>
              <a:rPr dirty="0" sz="2000" spc="5">
                <a:latin typeface="微软雅黑"/>
                <a:cs typeface="微软雅黑"/>
              </a:rPr>
              <a:t>。</a:t>
            </a:r>
            <a:r>
              <a:rPr dirty="0" sz="2000" spc="-20">
                <a:latin typeface="微软雅黑"/>
                <a:cs typeface="微软雅黑"/>
              </a:rPr>
              <a:t> </a:t>
            </a:r>
            <a:r>
              <a:rPr dirty="0" sz="2400" i="1">
                <a:latin typeface="Century Schoolbook"/>
                <a:cs typeface="Century Schoolbook"/>
              </a:rPr>
              <a:t>ν</a:t>
            </a:r>
            <a:r>
              <a:rPr dirty="0" sz="2400" spc="-15" i="1">
                <a:latin typeface="Century Schoolbook"/>
                <a:cs typeface="Century Schoolbook"/>
              </a:rPr>
              <a:t> </a:t>
            </a:r>
            <a:r>
              <a:rPr dirty="0" baseline="-17094" sz="1950" spc="-7">
                <a:latin typeface="Times New Roman"/>
                <a:cs typeface="Times New Roman"/>
              </a:rPr>
              <a:t>c </a:t>
            </a:r>
            <a:r>
              <a:rPr dirty="0" sz="2000">
                <a:latin typeface="微软雅黑"/>
                <a:cs typeface="微软雅黑"/>
              </a:rPr>
              <a:t>称为</a:t>
            </a:r>
            <a:r>
              <a:rPr dirty="0" sz="2000" b="1">
                <a:solidFill>
                  <a:srgbClr val="FF0000"/>
                </a:solidFill>
                <a:latin typeface="微软雅黑"/>
                <a:cs typeface="微软雅黑"/>
              </a:rPr>
              <a:t>截止频率</a:t>
            </a:r>
            <a:r>
              <a:rPr dirty="0" sz="2000" spc="-15">
                <a:latin typeface="微软雅黑"/>
                <a:cs typeface="微软雅黑"/>
              </a:rPr>
              <a:t>（cutoff</a:t>
            </a:r>
            <a:r>
              <a:rPr dirty="0" sz="2000" spc="-10">
                <a:latin typeface="微软雅黑"/>
                <a:cs typeface="微软雅黑"/>
              </a:rPr>
              <a:t> frequency）</a:t>
            </a:r>
            <a:r>
              <a:rPr dirty="0" sz="2000">
                <a:latin typeface="微软雅黑"/>
                <a:cs typeface="微软雅黑"/>
              </a:rPr>
              <a:t>或</a:t>
            </a:r>
            <a:r>
              <a:rPr dirty="0" sz="2000" b="1">
                <a:solidFill>
                  <a:srgbClr val="FF0000"/>
                </a:solidFill>
                <a:latin typeface="微软雅黑"/>
                <a:cs typeface="微软雅黑"/>
              </a:rPr>
              <a:t>极限频率</a:t>
            </a:r>
            <a:r>
              <a:rPr dirty="0" sz="2000">
                <a:latin typeface="微软雅黑"/>
                <a:cs typeface="微软雅黑"/>
              </a:rPr>
              <a:t>。这</a:t>
            </a:r>
            <a:r>
              <a:rPr dirty="0" sz="2000" spc="5">
                <a:latin typeface="微软雅黑"/>
                <a:cs typeface="微软雅黑"/>
              </a:rPr>
              <a:t>就 </a:t>
            </a:r>
            <a:r>
              <a:rPr dirty="0" sz="2000">
                <a:latin typeface="微软雅黑"/>
                <a:cs typeface="微软雅黑"/>
              </a:rPr>
              <a:t>是说，当入射光的频率低于极限频率时不发生光电效应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736600">
              <a:lnSpc>
                <a:spcPct val="100000"/>
              </a:lnSpc>
              <a:spcBef>
                <a:spcPts val="152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不同金属的极限频率不同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500">
              <a:latin typeface="Times New Roman"/>
              <a:cs typeface="Times New Roman"/>
            </a:endParaRPr>
          </a:p>
          <a:p>
            <a:pPr algn="just" marL="204470">
              <a:lnSpc>
                <a:spcPct val="100000"/>
              </a:lnSpc>
            </a:pPr>
            <a:r>
              <a:rPr dirty="0" sz="2400">
                <a:latin typeface="微软雅黑"/>
                <a:cs typeface="微软雅黑"/>
              </a:rPr>
              <a:t>当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入射光频</a:t>
            </a:r>
            <a:r>
              <a:rPr dirty="0" sz="2400" spc="-170" b="1">
                <a:solidFill>
                  <a:srgbClr val="FF0000"/>
                </a:solidFill>
                <a:latin typeface="微软雅黑"/>
                <a:cs typeface="微软雅黑"/>
              </a:rPr>
              <a:t>率</a:t>
            </a:r>
            <a:r>
              <a:rPr dirty="0" sz="2500" spc="-55" b="1" i="1">
                <a:solidFill>
                  <a:srgbClr val="FF0000"/>
                </a:solidFill>
                <a:latin typeface="Symbol"/>
                <a:cs typeface="Symbol"/>
              </a:rPr>
              <a:t></a:t>
            </a:r>
            <a:r>
              <a:rPr dirty="0" sz="2500" spc="42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大于金属的极限频率</a:t>
            </a:r>
            <a:r>
              <a:rPr dirty="0" sz="2400" spc="-180" b="1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2500" spc="-55" b="1" i="1">
                <a:solidFill>
                  <a:srgbClr val="FF0000"/>
                </a:solidFill>
                <a:latin typeface="Symbol"/>
                <a:cs typeface="Symbol"/>
              </a:rPr>
              <a:t></a:t>
            </a:r>
            <a:r>
              <a:rPr dirty="0" sz="2500" spc="-254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17921" sz="2325" spc="7" b="1">
                <a:solidFill>
                  <a:srgbClr val="FF0000"/>
                </a:solidFill>
                <a:latin typeface="微软雅黑"/>
                <a:cs typeface="微软雅黑"/>
              </a:rPr>
              <a:t>c</a:t>
            </a:r>
            <a:r>
              <a:rPr dirty="0" baseline="-17921" sz="2325" spc="359" b="1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时，电子才能逸出金属表面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光电效应的实验规律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54773" y="2887776"/>
            <a:ext cx="202565" cy="20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24280" y="2983204"/>
            <a:ext cx="141935" cy="1664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009139" y="1467802"/>
            <a:ext cx="8037830" cy="3632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三、具有瞬时</a:t>
            </a:r>
            <a:r>
              <a:rPr dirty="0" sz="2800" spc="-5">
                <a:latin typeface="微软雅黑"/>
                <a:cs typeface="微软雅黑"/>
              </a:rPr>
              <a:t>性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3700">
              <a:latin typeface="Times New Roman"/>
              <a:cs typeface="Times New Roman"/>
            </a:endParaRPr>
          </a:p>
          <a:p>
            <a:pPr marL="242570" marR="5080">
              <a:lnSpc>
                <a:spcPct val="100000"/>
              </a:lnSpc>
              <a:spcBef>
                <a:spcPts val="2320"/>
              </a:spcBef>
              <a:tabLst>
                <a:tab pos="5586095" algn="l"/>
              </a:tabLst>
            </a:pPr>
            <a:r>
              <a:rPr dirty="0" sz="2400">
                <a:latin typeface="微软雅黑"/>
                <a:cs typeface="微软雅黑"/>
              </a:rPr>
              <a:t>当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入射光的频率超过金属的极限频率	</a:t>
            </a:r>
            <a:r>
              <a:rPr dirty="0" sz="2400">
                <a:latin typeface="微软雅黑"/>
                <a:cs typeface="微软雅黑"/>
              </a:rPr>
              <a:t>时，无论入射光怎 样微弱，几乎在照到金属时立即产生光电流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00">
              <a:latin typeface="Times New Roman"/>
              <a:cs typeface="Times New Roman"/>
            </a:endParaRPr>
          </a:p>
          <a:p>
            <a:pPr marL="242570" marR="179070">
              <a:lnSpc>
                <a:spcPct val="100000"/>
              </a:lnSpc>
            </a:pPr>
            <a:r>
              <a:rPr dirty="0" sz="2400">
                <a:latin typeface="微软雅黑"/>
                <a:cs typeface="微软雅黑"/>
              </a:rPr>
              <a:t>精确测量表明产生电流的时间不超过10</a:t>
            </a:r>
            <a:r>
              <a:rPr dirty="0" baseline="21505" sz="2325">
                <a:latin typeface="微软雅黑"/>
                <a:cs typeface="微软雅黑"/>
              </a:rPr>
              <a:t>－9</a:t>
            </a:r>
            <a:r>
              <a:rPr dirty="0" baseline="21505" sz="2325" spc="240"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s，</a:t>
            </a:r>
            <a:r>
              <a:rPr dirty="0" sz="2400">
                <a:latin typeface="微软雅黑"/>
                <a:cs typeface="微软雅黑"/>
              </a:rPr>
              <a:t>即光电效应 几乎是瞬时发生的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858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3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33782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光电效应的实验规律总结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627062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51354" y="5434584"/>
            <a:ext cx="229006" cy="289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46159" y="5410758"/>
            <a:ext cx="1557451" cy="3544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80373" y="1481404"/>
            <a:ext cx="140754" cy="294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546159" y="1461160"/>
            <a:ext cx="1557743" cy="3577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47937" y="3472840"/>
            <a:ext cx="8432939" cy="305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59595" y="4725974"/>
            <a:ext cx="6897281" cy="3066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49181" y="1945055"/>
            <a:ext cx="8433181" cy="3046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51658" y="2248877"/>
            <a:ext cx="6647243" cy="3056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66530" y="2914523"/>
            <a:ext cx="203555" cy="29300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46159" y="2891891"/>
            <a:ext cx="1861350" cy="35714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70099" y="4197210"/>
            <a:ext cx="193433" cy="2968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46159" y="4173397"/>
            <a:ext cx="1561909" cy="35834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749423" y="6043739"/>
            <a:ext cx="7414462" cy="3042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138244" y="6060846"/>
            <a:ext cx="316382" cy="25496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422978" y="6067348"/>
            <a:ext cx="202133" cy="18446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579786" y="6047701"/>
            <a:ext cx="302958" cy="29751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5757" y="2221229"/>
            <a:ext cx="695960" cy="21590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光的电磁理论对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光电效应的解释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090102" y="1292860"/>
            <a:ext cx="891603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金属中原子外层的价电子会脱离原子而做无规则的热运动。但在温度不很高时</a:t>
            </a:r>
            <a:r>
              <a:rPr dirty="0" sz="2000">
                <a:latin typeface="微软雅黑"/>
                <a:cs typeface="微软雅黑"/>
              </a:rPr>
              <a:t>， </a:t>
            </a:r>
            <a:r>
              <a:rPr dirty="0" sz="2000">
                <a:latin typeface="微软雅黑"/>
                <a:cs typeface="微软雅黑"/>
              </a:rPr>
              <a:t>电子并不能大量逸出金属表面，这表明金属表面层内存在一种力，阻碍电子的</a:t>
            </a:r>
            <a:r>
              <a:rPr dirty="0" sz="2000">
                <a:latin typeface="微软雅黑"/>
                <a:cs typeface="微软雅黑"/>
              </a:rPr>
              <a:t>逃 </a:t>
            </a:r>
            <a:r>
              <a:rPr dirty="0" sz="2000">
                <a:latin typeface="微软雅黑"/>
                <a:cs typeface="微软雅黑"/>
              </a:rPr>
              <a:t>逸。电子要从金属中挣脱出来，必须克服这种阻碍做功。使电子脱离某种金属</a:t>
            </a:r>
            <a:r>
              <a:rPr dirty="0" sz="2000">
                <a:latin typeface="微软雅黑"/>
                <a:cs typeface="微软雅黑"/>
              </a:rPr>
              <a:t>所 </a:t>
            </a:r>
            <a:r>
              <a:rPr dirty="0" sz="2000">
                <a:latin typeface="微软雅黑"/>
                <a:cs typeface="微软雅黑"/>
              </a:rPr>
              <a:t>做功的最小值，叫做这种金属的逸出功</a:t>
            </a: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 spc="-5">
                <a:latin typeface="Arial"/>
                <a:cs typeface="Arial"/>
              </a:rPr>
              <a:t>work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function</a:t>
            </a:r>
            <a:r>
              <a:rPr dirty="0" sz="1800" spc="-5">
                <a:latin typeface="宋体"/>
                <a:cs typeface="宋体"/>
              </a:rPr>
              <a:t>），</a:t>
            </a:r>
            <a:r>
              <a:rPr dirty="0" sz="2000" spc="5">
                <a:latin typeface="微软雅黑"/>
                <a:cs typeface="微软雅黑"/>
              </a:rPr>
              <a:t>用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W</a:t>
            </a:r>
            <a:r>
              <a:rPr dirty="0" baseline="-17094" sz="1950" spc="-7">
                <a:latin typeface="Times New Roman"/>
                <a:cs typeface="Times New Roman"/>
              </a:rPr>
              <a:t>0</a:t>
            </a:r>
            <a:r>
              <a:rPr dirty="0" baseline="-17094" sz="1950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表示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89404" y="2772155"/>
            <a:ext cx="8724900" cy="175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226627" y="4926647"/>
            <a:ext cx="86620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当光照射金属表面时，电子吸收能量。若电子吸收的能量与原有的热运动能</a:t>
            </a:r>
            <a:r>
              <a:rPr dirty="0" sz="2000">
                <a:latin typeface="微软雅黑"/>
                <a:cs typeface="微软雅黑"/>
              </a:rPr>
              <a:t>量 </a:t>
            </a:r>
            <a:r>
              <a:rPr dirty="0" sz="2000">
                <a:latin typeface="微软雅黑"/>
                <a:cs typeface="微软雅黑"/>
              </a:rPr>
              <a:t>之和超过逸出功，电子就从表面逸出，这就是光电子。光越强，逸出的电子</a:t>
            </a:r>
            <a:r>
              <a:rPr dirty="0" sz="2000">
                <a:latin typeface="微软雅黑"/>
                <a:cs typeface="微软雅黑"/>
              </a:rPr>
              <a:t>数 </a:t>
            </a:r>
            <a:r>
              <a:rPr dirty="0" sz="2000">
                <a:latin typeface="微软雅黑"/>
                <a:cs typeface="微软雅黑"/>
              </a:rPr>
              <a:t>越多，光电流也就越大。这些结论与实验相符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30734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光电效应解释中的疑难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760537" y="1295400"/>
          <a:ext cx="10101580" cy="5243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7525"/>
                <a:gridCol w="4667250"/>
                <a:gridCol w="3603625"/>
              </a:tblGrid>
              <a:tr h="699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光的电磁理</a:t>
                      </a:r>
                      <a:r>
                        <a:rPr dirty="0" sz="2000" spc="5">
                          <a:latin typeface="微软雅黑"/>
                          <a:cs typeface="微软雅黑"/>
                        </a:rPr>
                        <a:t>论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5495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光电效应实验结</a:t>
                      </a:r>
                      <a:r>
                        <a:rPr dirty="0" sz="2000" spc="5">
                          <a:latin typeface="微软雅黑"/>
                          <a:cs typeface="微软雅黑"/>
                        </a:rPr>
                        <a:t>果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52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困难1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  <a:p>
                      <a:pPr algn="ctr" marR="7302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dirty="0" sz="200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极限频率</a:t>
                      </a:r>
                      <a:r>
                        <a:rPr dirty="0" sz="2000" spc="5">
                          <a:latin typeface="微软雅黑"/>
                          <a:cs typeface="微软雅黑"/>
                        </a:rPr>
                        <a:t>）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444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340360" marR="20383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dirty="0" sz="1800">
                          <a:latin typeface="微软雅黑"/>
                          <a:cs typeface="微软雅黑"/>
                        </a:rPr>
                        <a:t>光的能量由振幅决定，与光频率无关，只 要光足够强（不论入射光的频率多高）， 总可以使电子获得足够的能量从而逸出表 面，不应存在极限频率（截止频率）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2076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4490" marR="43751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dirty="0" sz="1800">
                          <a:latin typeface="微软雅黑"/>
                          <a:cs typeface="微软雅黑"/>
                        </a:rPr>
                        <a:t>如果</a:t>
                      </a:r>
                      <a:r>
                        <a:rPr dirty="0" sz="1800" spc="22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800">
                          <a:latin typeface="微软雅黑"/>
                          <a:cs typeface="微软雅黑"/>
                        </a:rPr>
                        <a:t>＜</a:t>
                      </a:r>
                      <a:r>
                        <a:rPr dirty="0" sz="1800" spc="22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baseline="-16908" sz="1725">
                          <a:latin typeface="微软雅黑"/>
                          <a:cs typeface="微软雅黑"/>
                        </a:rPr>
                        <a:t>c</a:t>
                      </a:r>
                      <a:r>
                        <a:rPr dirty="0" sz="1800">
                          <a:latin typeface="微软雅黑"/>
                          <a:cs typeface="微软雅黑"/>
                        </a:rPr>
                        <a:t>，无论光的强度有 多大，都不能发生光电效应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20764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30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困难2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000" spc="-5"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dirty="0" sz="2000" spc="-5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最大初动能</a:t>
                      </a:r>
                      <a:r>
                        <a:rPr dirty="0" sz="2000">
                          <a:latin typeface="微软雅黑"/>
                          <a:cs typeface="微软雅黑"/>
                        </a:rPr>
                        <a:t>）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190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 marR="432434">
                        <a:lnSpc>
                          <a:spcPct val="100000"/>
                        </a:lnSpc>
                        <a:spcBef>
                          <a:spcPts val="1885"/>
                        </a:spcBef>
                      </a:pPr>
                      <a:r>
                        <a:rPr dirty="0" sz="1800">
                          <a:latin typeface="微软雅黑"/>
                          <a:cs typeface="微软雅黑"/>
                        </a:rPr>
                        <a:t>光越强，光电子的初动能应该越大，所 以遏止电压</a:t>
                      </a:r>
                      <a:r>
                        <a:rPr dirty="0" sz="1800" spc="-3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800" spc="5" i="1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baseline="-16908" sz="1725" spc="7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baseline="-16908" sz="1725" spc="-22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微软雅黑"/>
                          <a:cs typeface="微软雅黑"/>
                        </a:rPr>
                        <a:t>应该与光的强弱有关，  光电子的最大初动能应该由光的强度来 决定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2393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364490" marR="488950">
                        <a:lnSpc>
                          <a:spcPct val="100000"/>
                        </a:lnSpc>
                        <a:spcBef>
                          <a:spcPts val="1885"/>
                        </a:spcBef>
                      </a:pPr>
                      <a:r>
                        <a:rPr dirty="0" sz="1800">
                          <a:latin typeface="微软雅黑"/>
                          <a:cs typeface="微软雅黑"/>
                        </a:rPr>
                        <a:t>光电子的最大初动能、遏止 电压都与光的强度无关，而 与频率有关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2393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3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困难3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dirty="0" sz="200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发生时间</a:t>
                      </a:r>
                      <a:r>
                        <a:rPr dirty="0" sz="2000" spc="5">
                          <a:latin typeface="微软雅黑"/>
                          <a:cs typeface="微软雅黑"/>
                        </a:rPr>
                        <a:t>）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635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340360" marR="432434">
                        <a:lnSpc>
                          <a:spcPct val="100200"/>
                        </a:lnSpc>
                        <a:spcBef>
                          <a:spcPts val="2130"/>
                        </a:spcBef>
                      </a:pPr>
                      <a:r>
                        <a:rPr dirty="0" sz="1800">
                          <a:latin typeface="微软雅黑"/>
                          <a:cs typeface="微软雅黑"/>
                        </a:rPr>
                        <a:t>如果光很弱，按经典电磁理论估算，电 子需要几分钟到十几分钟的时间才能获 得逸出表面所需的能量，这个时间远远 大于</a:t>
                      </a:r>
                      <a:r>
                        <a:rPr dirty="0" sz="1800" spc="-5">
                          <a:latin typeface="Ebrima"/>
                          <a:cs typeface="Ebrima"/>
                        </a:rPr>
                        <a:t>10 </a:t>
                      </a:r>
                      <a:r>
                        <a:rPr dirty="0" baseline="21739" sz="1725" spc="37">
                          <a:latin typeface="微软雅黑"/>
                          <a:cs typeface="微软雅黑"/>
                        </a:rPr>
                        <a:t>－</a:t>
                      </a:r>
                      <a:r>
                        <a:rPr dirty="0" baseline="21739" sz="1725" spc="-44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baseline="21739" sz="1725" spc="15">
                          <a:latin typeface="Ebrima"/>
                          <a:cs typeface="Ebrima"/>
                        </a:rPr>
                        <a:t>9</a:t>
                      </a:r>
                      <a:r>
                        <a:rPr dirty="0" baseline="21739" sz="1725">
                          <a:latin typeface="Ebrima"/>
                          <a:cs typeface="Ebrima"/>
                        </a:rPr>
                        <a:t> </a:t>
                      </a:r>
                      <a:r>
                        <a:rPr dirty="0" sz="1800">
                          <a:latin typeface="Ebrima"/>
                          <a:cs typeface="Ebrima"/>
                        </a:rPr>
                        <a:t>s</a:t>
                      </a:r>
                      <a:endParaRPr sz="1800">
                        <a:latin typeface="Ebrima"/>
                        <a:cs typeface="Ebrima"/>
                      </a:endParaRPr>
                    </a:p>
                  </a:txBody>
                  <a:tcPr marL="0" marR="0" marB="0" marT="2705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364490" marR="488950">
                        <a:lnSpc>
                          <a:spcPct val="100000"/>
                        </a:lnSpc>
                        <a:spcBef>
                          <a:spcPts val="2135"/>
                        </a:spcBef>
                      </a:pPr>
                      <a:r>
                        <a:rPr dirty="0" sz="1800">
                          <a:latin typeface="微软雅黑"/>
                          <a:cs typeface="微软雅黑"/>
                        </a:rPr>
                        <a:t>当入射光照射到光电管阴极 时，无论光强怎样，几乎瞬 间就产生了光电子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27114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9034284" y="2320239"/>
            <a:ext cx="156387" cy="163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365754" y="2320239"/>
            <a:ext cx="156387" cy="163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光子说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346692" y="981455"/>
            <a:ext cx="1837944" cy="29230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308592" y="943355"/>
            <a:ext cx="1914525" cy="2999740"/>
          </a:xfrm>
          <a:custGeom>
            <a:avLst/>
            <a:gdLst/>
            <a:ahLst/>
            <a:cxnLst/>
            <a:rect l="l" t="t" r="r" b="b"/>
            <a:pathLst>
              <a:path w="1914525" h="2999740">
                <a:moveTo>
                  <a:pt x="1914143" y="2999232"/>
                </a:moveTo>
                <a:lnTo>
                  <a:pt x="0" y="2999232"/>
                </a:lnTo>
                <a:lnTo>
                  <a:pt x="0" y="0"/>
                </a:lnTo>
                <a:lnTo>
                  <a:pt x="1914143" y="0"/>
                </a:lnTo>
                <a:lnTo>
                  <a:pt x="1914143" y="19050"/>
                </a:lnTo>
                <a:lnTo>
                  <a:pt x="38100" y="19050"/>
                </a:lnTo>
                <a:lnTo>
                  <a:pt x="19050" y="38099"/>
                </a:lnTo>
                <a:lnTo>
                  <a:pt x="38100" y="38099"/>
                </a:lnTo>
                <a:lnTo>
                  <a:pt x="38100" y="2961132"/>
                </a:lnTo>
                <a:lnTo>
                  <a:pt x="19050" y="2961132"/>
                </a:lnTo>
                <a:lnTo>
                  <a:pt x="38100" y="2980182"/>
                </a:lnTo>
                <a:lnTo>
                  <a:pt x="1914143" y="2980182"/>
                </a:lnTo>
                <a:lnTo>
                  <a:pt x="1914143" y="2999232"/>
                </a:lnTo>
                <a:close/>
              </a:path>
              <a:path w="1914525" h="2999740">
                <a:moveTo>
                  <a:pt x="38100" y="38099"/>
                </a:moveTo>
                <a:lnTo>
                  <a:pt x="19050" y="38099"/>
                </a:lnTo>
                <a:lnTo>
                  <a:pt x="38100" y="19050"/>
                </a:lnTo>
                <a:lnTo>
                  <a:pt x="38100" y="38099"/>
                </a:lnTo>
                <a:close/>
              </a:path>
              <a:path w="1914525" h="2999740">
                <a:moveTo>
                  <a:pt x="1876043" y="38099"/>
                </a:moveTo>
                <a:lnTo>
                  <a:pt x="38100" y="38099"/>
                </a:lnTo>
                <a:lnTo>
                  <a:pt x="38100" y="19050"/>
                </a:lnTo>
                <a:lnTo>
                  <a:pt x="1876043" y="19050"/>
                </a:lnTo>
                <a:lnTo>
                  <a:pt x="1876043" y="38099"/>
                </a:lnTo>
                <a:close/>
              </a:path>
              <a:path w="1914525" h="2999740">
                <a:moveTo>
                  <a:pt x="1876043" y="2980182"/>
                </a:moveTo>
                <a:lnTo>
                  <a:pt x="1876043" y="19050"/>
                </a:lnTo>
                <a:lnTo>
                  <a:pt x="1895093" y="38099"/>
                </a:lnTo>
                <a:lnTo>
                  <a:pt x="1914143" y="38099"/>
                </a:lnTo>
                <a:lnTo>
                  <a:pt x="1914143" y="2961132"/>
                </a:lnTo>
                <a:lnTo>
                  <a:pt x="1895093" y="2961132"/>
                </a:lnTo>
                <a:lnTo>
                  <a:pt x="1876043" y="2980182"/>
                </a:lnTo>
                <a:close/>
              </a:path>
              <a:path w="1914525" h="2999740">
                <a:moveTo>
                  <a:pt x="1914143" y="38099"/>
                </a:moveTo>
                <a:lnTo>
                  <a:pt x="1895093" y="38099"/>
                </a:lnTo>
                <a:lnTo>
                  <a:pt x="1876043" y="19050"/>
                </a:lnTo>
                <a:lnTo>
                  <a:pt x="1914143" y="19050"/>
                </a:lnTo>
                <a:lnTo>
                  <a:pt x="1914143" y="38099"/>
                </a:lnTo>
                <a:close/>
              </a:path>
              <a:path w="1914525" h="2999740">
                <a:moveTo>
                  <a:pt x="38100" y="2980182"/>
                </a:moveTo>
                <a:lnTo>
                  <a:pt x="19050" y="2961132"/>
                </a:lnTo>
                <a:lnTo>
                  <a:pt x="38100" y="2961132"/>
                </a:lnTo>
                <a:lnTo>
                  <a:pt x="38100" y="2980182"/>
                </a:lnTo>
                <a:close/>
              </a:path>
              <a:path w="1914525" h="2999740">
                <a:moveTo>
                  <a:pt x="1876043" y="2980182"/>
                </a:moveTo>
                <a:lnTo>
                  <a:pt x="38100" y="2980182"/>
                </a:lnTo>
                <a:lnTo>
                  <a:pt x="38100" y="2961132"/>
                </a:lnTo>
                <a:lnTo>
                  <a:pt x="1876043" y="2961132"/>
                </a:lnTo>
                <a:lnTo>
                  <a:pt x="1876043" y="2980182"/>
                </a:lnTo>
                <a:close/>
              </a:path>
              <a:path w="1914525" h="2999740">
                <a:moveTo>
                  <a:pt x="1914143" y="2980182"/>
                </a:moveTo>
                <a:lnTo>
                  <a:pt x="1876043" y="2980182"/>
                </a:lnTo>
                <a:lnTo>
                  <a:pt x="1895093" y="2961132"/>
                </a:lnTo>
                <a:lnTo>
                  <a:pt x="1914143" y="2961132"/>
                </a:lnTo>
                <a:lnTo>
                  <a:pt x="1914143" y="2980182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75904" y="3387852"/>
            <a:ext cx="1752600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366125" y="3378200"/>
            <a:ext cx="1771650" cy="576580"/>
          </a:xfrm>
          <a:custGeom>
            <a:avLst/>
            <a:gdLst/>
            <a:ahLst/>
            <a:cxnLst/>
            <a:rect l="l" t="t" r="r" b="b"/>
            <a:pathLst>
              <a:path w="1771650" h="576579">
                <a:moveTo>
                  <a:pt x="1771650" y="576262"/>
                </a:moveTo>
                <a:lnTo>
                  <a:pt x="0" y="576262"/>
                </a:lnTo>
                <a:lnTo>
                  <a:pt x="0" y="0"/>
                </a:lnTo>
                <a:lnTo>
                  <a:pt x="1771650" y="0"/>
                </a:lnTo>
                <a:lnTo>
                  <a:pt x="177165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557212"/>
                </a:lnTo>
                <a:lnTo>
                  <a:pt x="9525" y="557212"/>
                </a:lnTo>
                <a:lnTo>
                  <a:pt x="19050" y="566737"/>
                </a:lnTo>
                <a:lnTo>
                  <a:pt x="1771650" y="566737"/>
                </a:lnTo>
                <a:lnTo>
                  <a:pt x="1771650" y="576262"/>
                </a:lnTo>
                <a:close/>
              </a:path>
              <a:path w="1771650" h="57657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771650" h="576579">
                <a:moveTo>
                  <a:pt x="175260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752600" y="9525"/>
                </a:lnTo>
                <a:lnTo>
                  <a:pt x="1752600" y="19050"/>
                </a:lnTo>
                <a:close/>
              </a:path>
              <a:path w="1771650" h="576579">
                <a:moveTo>
                  <a:pt x="1752600" y="566737"/>
                </a:moveTo>
                <a:lnTo>
                  <a:pt x="1752600" y="9525"/>
                </a:lnTo>
                <a:lnTo>
                  <a:pt x="1762125" y="19050"/>
                </a:lnTo>
                <a:lnTo>
                  <a:pt x="1771650" y="19050"/>
                </a:lnTo>
                <a:lnTo>
                  <a:pt x="1771650" y="557212"/>
                </a:lnTo>
                <a:lnTo>
                  <a:pt x="1762125" y="557212"/>
                </a:lnTo>
                <a:lnTo>
                  <a:pt x="1752600" y="566737"/>
                </a:lnTo>
                <a:close/>
              </a:path>
              <a:path w="1771650" h="576579">
                <a:moveTo>
                  <a:pt x="1771650" y="19050"/>
                </a:moveTo>
                <a:lnTo>
                  <a:pt x="1762125" y="19050"/>
                </a:lnTo>
                <a:lnTo>
                  <a:pt x="1752600" y="9525"/>
                </a:lnTo>
                <a:lnTo>
                  <a:pt x="1771650" y="9525"/>
                </a:lnTo>
                <a:lnTo>
                  <a:pt x="1771650" y="19050"/>
                </a:lnTo>
                <a:close/>
              </a:path>
              <a:path w="1771650" h="576579">
                <a:moveTo>
                  <a:pt x="19050" y="566737"/>
                </a:moveTo>
                <a:lnTo>
                  <a:pt x="9525" y="557212"/>
                </a:lnTo>
                <a:lnTo>
                  <a:pt x="19050" y="557212"/>
                </a:lnTo>
                <a:lnTo>
                  <a:pt x="19050" y="566737"/>
                </a:lnTo>
                <a:close/>
              </a:path>
              <a:path w="1771650" h="576579">
                <a:moveTo>
                  <a:pt x="1752600" y="566737"/>
                </a:moveTo>
                <a:lnTo>
                  <a:pt x="19050" y="566737"/>
                </a:lnTo>
                <a:lnTo>
                  <a:pt x="19050" y="557212"/>
                </a:lnTo>
                <a:lnTo>
                  <a:pt x="1752600" y="557212"/>
                </a:lnTo>
                <a:lnTo>
                  <a:pt x="1752600" y="566737"/>
                </a:lnTo>
                <a:close/>
              </a:path>
              <a:path w="1771650" h="576579">
                <a:moveTo>
                  <a:pt x="1771650" y="566737"/>
                </a:moveTo>
                <a:lnTo>
                  <a:pt x="1752600" y="566737"/>
                </a:lnTo>
                <a:lnTo>
                  <a:pt x="1762125" y="557212"/>
                </a:lnTo>
                <a:lnTo>
                  <a:pt x="1771650" y="557212"/>
                </a:lnTo>
                <a:lnTo>
                  <a:pt x="1771650" y="566737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375904" y="3394709"/>
            <a:ext cx="1752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中宋"/>
                <a:cs typeface="华文中宋"/>
              </a:rPr>
              <a:t>普朗</a:t>
            </a:r>
            <a:r>
              <a:rPr dirty="0" sz="2800" spc="-10" b="1">
                <a:latin typeface="华文中宋"/>
                <a:cs typeface="华文中宋"/>
              </a:rPr>
              <a:t>克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23516" y="3685032"/>
            <a:ext cx="2286000" cy="2667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85416" y="3646932"/>
            <a:ext cx="2362200" cy="2743200"/>
          </a:xfrm>
          <a:custGeom>
            <a:avLst/>
            <a:gdLst/>
            <a:ahLst/>
            <a:cxnLst/>
            <a:rect l="l" t="t" r="r" b="b"/>
            <a:pathLst>
              <a:path w="2362200" h="2743200">
                <a:moveTo>
                  <a:pt x="2362199" y="2743200"/>
                </a:moveTo>
                <a:lnTo>
                  <a:pt x="0" y="2743200"/>
                </a:lnTo>
                <a:lnTo>
                  <a:pt x="0" y="0"/>
                </a:lnTo>
                <a:lnTo>
                  <a:pt x="2362199" y="0"/>
                </a:lnTo>
                <a:lnTo>
                  <a:pt x="2362199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2705100"/>
                </a:lnTo>
                <a:lnTo>
                  <a:pt x="19050" y="2705100"/>
                </a:lnTo>
                <a:lnTo>
                  <a:pt x="38100" y="2724150"/>
                </a:lnTo>
                <a:lnTo>
                  <a:pt x="2362199" y="2724149"/>
                </a:lnTo>
                <a:lnTo>
                  <a:pt x="2362199" y="2743200"/>
                </a:lnTo>
                <a:close/>
              </a:path>
              <a:path w="2362200" h="2743200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2362200" h="2743200">
                <a:moveTo>
                  <a:pt x="2324099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2324099" y="19050"/>
                </a:lnTo>
                <a:lnTo>
                  <a:pt x="2324099" y="38100"/>
                </a:lnTo>
                <a:close/>
              </a:path>
              <a:path w="2362200" h="2743200">
                <a:moveTo>
                  <a:pt x="2324099" y="2724150"/>
                </a:moveTo>
                <a:lnTo>
                  <a:pt x="2324099" y="19050"/>
                </a:lnTo>
                <a:lnTo>
                  <a:pt x="2343149" y="38100"/>
                </a:lnTo>
                <a:lnTo>
                  <a:pt x="2362199" y="38100"/>
                </a:lnTo>
                <a:lnTo>
                  <a:pt x="2362199" y="2705100"/>
                </a:lnTo>
                <a:lnTo>
                  <a:pt x="2343149" y="2705100"/>
                </a:lnTo>
                <a:lnTo>
                  <a:pt x="2324099" y="2724150"/>
                </a:lnTo>
                <a:close/>
              </a:path>
              <a:path w="2362200" h="2743200">
                <a:moveTo>
                  <a:pt x="2362199" y="38100"/>
                </a:moveTo>
                <a:lnTo>
                  <a:pt x="2343149" y="38100"/>
                </a:lnTo>
                <a:lnTo>
                  <a:pt x="2324099" y="19050"/>
                </a:lnTo>
                <a:lnTo>
                  <a:pt x="2362199" y="19050"/>
                </a:lnTo>
                <a:lnTo>
                  <a:pt x="2362199" y="38100"/>
                </a:lnTo>
                <a:close/>
              </a:path>
              <a:path w="2362200" h="2743200">
                <a:moveTo>
                  <a:pt x="38100" y="2724150"/>
                </a:moveTo>
                <a:lnTo>
                  <a:pt x="19050" y="2705100"/>
                </a:lnTo>
                <a:lnTo>
                  <a:pt x="38100" y="2705100"/>
                </a:lnTo>
                <a:lnTo>
                  <a:pt x="38100" y="2724150"/>
                </a:lnTo>
                <a:close/>
              </a:path>
              <a:path w="2362200" h="2743200">
                <a:moveTo>
                  <a:pt x="2324099" y="2724150"/>
                </a:moveTo>
                <a:lnTo>
                  <a:pt x="38100" y="2724150"/>
                </a:lnTo>
                <a:lnTo>
                  <a:pt x="38100" y="2705100"/>
                </a:lnTo>
                <a:lnTo>
                  <a:pt x="2324099" y="2705100"/>
                </a:lnTo>
                <a:lnTo>
                  <a:pt x="2324099" y="2724150"/>
                </a:lnTo>
                <a:close/>
              </a:path>
              <a:path w="2362200" h="2743200">
                <a:moveTo>
                  <a:pt x="2362199" y="2724149"/>
                </a:moveTo>
                <a:lnTo>
                  <a:pt x="2324099" y="2724150"/>
                </a:lnTo>
                <a:lnTo>
                  <a:pt x="2343149" y="2705100"/>
                </a:lnTo>
                <a:lnTo>
                  <a:pt x="2362199" y="2705100"/>
                </a:lnTo>
                <a:lnTo>
                  <a:pt x="2362199" y="2724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85259" y="5836920"/>
            <a:ext cx="1905000" cy="5577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78275" y="5830887"/>
            <a:ext cx="1917700" cy="570230"/>
          </a:xfrm>
          <a:custGeom>
            <a:avLst/>
            <a:gdLst/>
            <a:ahLst/>
            <a:cxnLst/>
            <a:rect l="l" t="t" r="r" b="b"/>
            <a:pathLst>
              <a:path w="1917700" h="570229">
                <a:moveTo>
                  <a:pt x="1917700" y="569912"/>
                </a:moveTo>
                <a:lnTo>
                  <a:pt x="0" y="569912"/>
                </a:lnTo>
                <a:lnTo>
                  <a:pt x="0" y="0"/>
                </a:lnTo>
                <a:lnTo>
                  <a:pt x="1917700" y="0"/>
                </a:lnTo>
                <a:lnTo>
                  <a:pt x="19177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57212"/>
                </a:lnTo>
                <a:lnTo>
                  <a:pt x="6350" y="557212"/>
                </a:lnTo>
                <a:lnTo>
                  <a:pt x="12700" y="563562"/>
                </a:lnTo>
                <a:lnTo>
                  <a:pt x="1917700" y="563562"/>
                </a:lnTo>
                <a:lnTo>
                  <a:pt x="1917700" y="569912"/>
                </a:lnTo>
                <a:close/>
              </a:path>
              <a:path w="1917700" h="57022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917700" h="570229">
                <a:moveTo>
                  <a:pt x="19050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905000" y="6350"/>
                </a:lnTo>
                <a:lnTo>
                  <a:pt x="1905000" y="12700"/>
                </a:lnTo>
                <a:close/>
              </a:path>
              <a:path w="1917700" h="570229">
                <a:moveTo>
                  <a:pt x="1905000" y="563562"/>
                </a:moveTo>
                <a:lnTo>
                  <a:pt x="1905000" y="6350"/>
                </a:lnTo>
                <a:lnTo>
                  <a:pt x="1911350" y="12700"/>
                </a:lnTo>
                <a:lnTo>
                  <a:pt x="1917700" y="12700"/>
                </a:lnTo>
                <a:lnTo>
                  <a:pt x="1917700" y="557212"/>
                </a:lnTo>
                <a:lnTo>
                  <a:pt x="1911350" y="557212"/>
                </a:lnTo>
                <a:lnTo>
                  <a:pt x="1905000" y="563562"/>
                </a:lnTo>
                <a:close/>
              </a:path>
              <a:path w="1917700" h="570229">
                <a:moveTo>
                  <a:pt x="1917700" y="12700"/>
                </a:moveTo>
                <a:lnTo>
                  <a:pt x="1911350" y="12700"/>
                </a:lnTo>
                <a:lnTo>
                  <a:pt x="1905000" y="6350"/>
                </a:lnTo>
                <a:lnTo>
                  <a:pt x="1917700" y="6350"/>
                </a:lnTo>
                <a:lnTo>
                  <a:pt x="1917700" y="12700"/>
                </a:lnTo>
                <a:close/>
              </a:path>
              <a:path w="1917700" h="570229">
                <a:moveTo>
                  <a:pt x="12700" y="563562"/>
                </a:moveTo>
                <a:lnTo>
                  <a:pt x="6350" y="557212"/>
                </a:lnTo>
                <a:lnTo>
                  <a:pt x="12700" y="557212"/>
                </a:lnTo>
                <a:lnTo>
                  <a:pt x="12700" y="563562"/>
                </a:lnTo>
                <a:close/>
              </a:path>
              <a:path w="1917700" h="570229">
                <a:moveTo>
                  <a:pt x="1905000" y="563562"/>
                </a:moveTo>
                <a:lnTo>
                  <a:pt x="12700" y="563562"/>
                </a:lnTo>
                <a:lnTo>
                  <a:pt x="12700" y="557212"/>
                </a:lnTo>
                <a:lnTo>
                  <a:pt x="1905000" y="557212"/>
                </a:lnTo>
                <a:lnTo>
                  <a:pt x="1905000" y="563562"/>
                </a:lnTo>
                <a:close/>
              </a:path>
              <a:path w="1917700" h="570229">
                <a:moveTo>
                  <a:pt x="1917700" y="563562"/>
                </a:moveTo>
                <a:lnTo>
                  <a:pt x="1905000" y="563562"/>
                </a:lnTo>
                <a:lnTo>
                  <a:pt x="1911350" y="557212"/>
                </a:lnTo>
                <a:lnTo>
                  <a:pt x="1917700" y="557212"/>
                </a:lnTo>
                <a:lnTo>
                  <a:pt x="1917700" y="563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985259" y="5844222"/>
            <a:ext cx="19050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中宋"/>
                <a:cs typeface="华文中宋"/>
              </a:rPr>
              <a:t>爱因斯</a:t>
            </a:r>
            <a:r>
              <a:rPr dirty="0" sz="2800" spc="-10" b="1">
                <a:latin typeface="华文中宋"/>
                <a:cs typeface="华文中宋"/>
              </a:rPr>
              <a:t>坦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94989" y="1478915"/>
            <a:ext cx="557974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普朗克的能量子假说是对经典物理学思想与观念的一次 突破，连普朗克本人都很犹豫，多数物理学家自然更难 接受。所以在开始的几年里它没有受到</a:t>
            </a:r>
            <a:r>
              <a:rPr dirty="0" sz="1800" spc="-10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重视，物理学界 几乎没有去讨论它。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89065" y="4553902"/>
            <a:ext cx="505460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最早认识到能量子意义的是年轻的爱因斯坦，他在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</a:pPr>
            <a:r>
              <a:rPr dirty="0" sz="1800" spc="-5">
                <a:latin typeface="微软雅黑"/>
                <a:cs typeface="微软雅黑"/>
              </a:rPr>
              <a:t>1905</a:t>
            </a:r>
            <a:r>
              <a:rPr dirty="0" sz="1800">
                <a:latin typeface="微软雅黑"/>
                <a:cs typeface="微软雅黑"/>
              </a:rPr>
              <a:t>年发表了《关于光的产生和转化的一个试探 性观点》一文。他表示，普朗克关于辐射问题的崭 新观点还不够彻底，仅仅认为电磁波在吸收和辐射 时才显示出不连续性，这还不够，实际上电磁辐射 本身就是不连续的。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光子说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00420" y="2848203"/>
            <a:ext cx="169379" cy="1776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747686" y="2782100"/>
            <a:ext cx="314769" cy="2438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41411" y="2782100"/>
            <a:ext cx="193941" cy="2434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402839" y="1451927"/>
            <a:ext cx="8154034" cy="1902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微软雅黑"/>
                <a:cs typeface="微软雅黑"/>
              </a:rPr>
              <a:t>1</a:t>
            </a: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、光</a:t>
            </a:r>
            <a:r>
              <a:rPr dirty="0" sz="2800" spc="-5" b="1">
                <a:solidFill>
                  <a:srgbClr val="FF0000"/>
                </a:solidFill>
                <a:latin typeface="微软雅黑"/>
                <a:cs typeface="微软雅黑"/>
              </a:rPr>
              <a:t>子</a:t>
            </a: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(</a:t>
            </a:r>
            <a:r>
              <a:rPr dirty="0" sz="2400">
                <a:latin typeface="微软雅黑"/>
                <a:cs typeface="微软雅黑"/>
              </a:rPr>
              <a:t>爱因斯坦于</a:t>
            </a:r>
            <a:r>
              <a:rPr dirty="0" sz="2400" spc="-5">
                <a:latin typeface="微软雅黑"/>
                <a:cs typeface="微软雅黑"/>
              </a:rPr>
              <a:t>1905</a:t>
            </a:r>
            <a:r>
              <a:rPr dirty="0" sz="2400">
                <a:latin typeface="微软雅黑"/>
                <a:cs typeface="微软雅黑"/>
              </a:rPr>
              <a:t>年提出)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6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3498850" algn="l"/>
                <a:tab pos="5691505" algn="l"/>
                <a:tab pos="6175375" algn="l"/>
              </a:tabLst>
            </a:pPr>
            <a:r>
              <a:rPr dirty="0" sz="2000">
                <a:latin typeface="微软雅黑"/>
                <a:cs typeface="微软雅黑"/>
              </a:rPr>
              <a:t>光不仅在发射和吸收时能量是一份一份的，而且光本身就是由一个个不</a:t>
            </a:r>
            <a:r>
              <a:rPr dirty="0" sz="2000">
                <a:latin typeface="微软雅黑"/>
                <a:cs typeface="微软雅黑"/>
              </a:rPr>
              <a:t>可 </a:t>
            </a:r>
            <a:r>
              <a:rPr dirty="0" sz="2000">
                <a:latin typeface="微软雅黑"/>
                <a:cs typeface="微软雅黑"/>
              </a:rPr>
              <a:t>分割的能量子组成的，频率</a:t>
            </a:r>
            <a:r>
              <a:rPr dirty="0" sz="2000" spc="5">
                <a:latin typeface="微软雅黑"/>
                <a:cs typeface="微软雅黑"/>
              </a:rPr>
              <a:t>为	</a:t>
            </a:r>
            <a:r>
              <a:rPr dirty="0" sz="2000">
                <a:latin typeface="微软雅黑"/>
                <a:cs typeface="微软雅黑"/>
              </a:rPr>
              <a:t>的光的能量子</a:t>
            </a:r>
            <a:r>
              <a:rPr dirty="0" sz="2000" spc="5">
                <a:latin typeface="微软雅黑"/>
                <a:cs typeface="微软雅黑"/>
              </a:rPr>
              <a:t>为	，	</a:t>
            </a:r>
            <a:r>
              <a:rPr dirty="0" sz="2000">
                <a:latin typeface="微软雅黑"/>
                <a:cs typeface="微软雅黑"/>
              </a:rPr>
              <a:t>为普朗克常量</a:t>
            </a:r>
            <a:r>
              <a:rPr dirty="0" sz="2000" spc="5">
                <a:latin typeface="微软雅黑"/>
                <a:cs typeface="微软雅黑"/>
              </a:rPr>
              <a:t>。 </a:t>
            </a:r>
            <a:r>
              <a:rPr dirty="0" sz="2000">
                <a:latin typeface="微软雅黑"/>
                <a:cs typeface="微软雅黑"/>
              </a:rPr>
              <a:t>这些能量子后来称为</a:t>
            </a:r>
            <a:r>
              <a:rPr dirty="0" sz="2000" b="1">
                <a:solidFill>
                  <a:srgbClr val="FF0000"/>
                </a:solidFill>
                <a:latin typeface="微软雅黑"/>
                <a:cs typeface="微软雅黑"/>
              </a:rPr>
              <a:t>光子</a:t>
            </a:r>
            <a:r>
              <a:rPr dirty="0" sz="2000" spc="-5">
                <a:latin typeface="微软雅黑"/>
                <a:cs typeface="微软雅黑"/>
              </a:rPr>
              <a:t>（</a:t>
            </a:r>
            <a:r>
              <a:rPr dirty="0" sz="2000" spc="-5">
                <a:latin typeface="Century Schoolbook"/>
                <a:cs typeface="Century Schoolbook"/>
              </a:rPr>
              <a:t>photon</a:t>
            </a:r>
            <a:r>
              <a:rPr dirty="0" sz="2000" spc="-5">
                <a:latin typeface="微软雅黑"/>
                <a:cs typeface="微软雅黑"/>
              </a:rPr>
              <a:t>）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79395" y="4840287"/>
            <a:ext cx="215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表示光的频率，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44000" y="4971821"/>
            <a:ext cx="221361" cy="2330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21478" y="4879289"/>
            <a:ext cx="255739" cy="3250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62418" y="4879289"/>
            <a:ext cx="255739" cy="32501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220334" y="3727234"/>
            <a:ext cx="5359400" cy="1504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36854">
              <a:lnSpc>
                <a:spcPct val="100000"/>
              </a:lnSpc>
              <a:spcBef>
                <a:spcPts val="130"/>
              </a:spcBef>
            </a:pPr>
            <a:r>
              <a:rPr dirty="0" sz="4000" spc="15" i="1">
                <a:latin typeface="Times New Roman"/>
                <a:cs typeface="Times New Roman"/>
              </a:rPr>
              <a:t>E</a:t>
            </a:r>
            <a:r>
              <a:rPr dirty="0" sz="4000" spc="120" i="1">
                <a:latin typeface="Times New Roman"/>
                <a:cs typeface="Times New Roman"/>
              </a:rPr>
              <a:t> </a:t>
            </a:r>
            <a:r>
              <a:rPr dirty="0" sz="4000" spc="15">
                <a:latin typeface="Symbol"/>
                <a:cs typeface="Symbol"/>
              </a:rPr>
              <a:t></a:t>
            </a:r>
            <a:endParaRPr sz="40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3934"/>
              </a:spcBef>
              <a:tabLst>
                <a:tab pos="2362835" algn="l"/>
              </a:tabLst>
            </a:pPr>
            <a:r>
              <a:rPr dirty="0" sz="2400">
                <a:latin typeface="微软雅黑"/>
                <a:cs typeface="微软雅黑"/>
              </a:rPr>
              <a:t>叫普朗克常量，	</a:t>
            </a:r>
            <a:r>
              <a:rPr dirty="0" sz="2400" spc="-5">
                <a:latin typeface="微软雅黑"/>
                <a:cs typeface="微软雅黑"/>
              </a:rPr>
              <a:t>＝6.63×10</a:t>
            </a:r>
            <a:r>
              <a:rPr dirty="0" baseline="21505" sz="2325" spc="-7">
                <a:latin typeface="微软雅黑"/>
                <a:cs typeface="微软雅黑"/>
              </a:rPr>
              <a:t>-34</a:t>
            </a:r>
            <a:r>
              <a:rPr dirty="0" sz="2400">
                <a:latin typeface="微软雅黑"/>
                <a:cs typeface="微软雅黑"/>
              </a:rPr>
              <a:t>焦耳</a:t>
            </a:r>
            <a:r>
              <a:rPr dirty="0" sz="2400" spc="-35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·</a:t>
            </a:r>
            <a:r>
              <a:rPr dirty="0" sz="2400" spc="-25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秒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13576" y="3888155"/>
            <a:ext cx="535546" cy="4072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光子说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653559" y="2356294"/>
            <a:ext cx="287489" cy="2233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46874" y="2632748"/>
            <a:ext cx="264553" cy="222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834639" y="4977427"/>
            <a:ext cx="344233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式</a:t>
            </a:r>
            <a:r>
              <a:rPr dirty="0" sz="2000" spc="5">
                <a:latin typeface="微软雅黑"/>
                <a:cs typeface="微软雅黑"/>
              </a:rPr>
              <a:t>中</a:t>
            </a:r>
            <a:r>
              <a:rPr dirty="0" sz="2000" spc="-190">
                <a:latin typeface="微软雅黑"/>
                <a:cs typeface="微软雅黑"/>
              </a:rPr>
              <a:t> </a:t>
            </a:r>
            <a:r>
              <a:rPr dirty="0" sz="2100" spc="-380" i="1">
                <a:latin typeface="Ebrima"/>
                <a:cs typeface="Ebrima"/>
              </a:rPr>
              <a:t>E</a:t>
            </a:r>
            <a:r>
              <a:rPr dirty="0" baseline="-17094" sz="1950" spc="-569">
                <a:latin typeface="微软雅黑"/>
                <a:cs typeface="微软雅黑"/>
              </a:rPr>
              <a:t>k </a:t>
            </a:r>
            <a:r>
              <a:rPr dirty="0" sz="2000">
                <a:latin typeface="微软雅黑"/>
                <a:cs typeface="微软雅黑"/>
              </a:rPr>
              <a:t>为光电子的最大初动</a:t>
            </a:r>
            <a:r>
              <a:rPr dirty="0" sz="2000" spc="5">
                <a:latin typeface="微软雅黑"/>
                <a:cs typeface="微软雅黑"/>
              </a:rPr>
              <a:t>能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3164" y="1451927"/>
            <a:ext cx="8707120" cy="2254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微软雅黑"/>
                <a:cs typeface="微软雅黑"/>
              </a:rPr>
              <a:t>2</a:t>
            </a: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、爱因斯坦光电效应方</a:t>
            </a:r>
            <a:r>
              <a:rPr dirty="0" sz="2800" spc="-5" b="1">
                <a:solidFill>
                  <a:srgbClr val="FF0000"/>
                </a:solidFill>
                <a:latin typeface="微软雅黑"/>
                <a:cs typeface="微软雅黑"/>
              </a:rPr>
              <a:t>程</a:t>
            </a:r>
            <a:endParaRPr sz="2800">
              <a:latin typeface="微软雅黑"/>
              <a:cs typeface="微软雅黑"/>
            </a:endParaRPr>
          </a:p>
          <a:p>
            <a:pPr marL="61594">
              <a:lnSpc>
                <a:spcPts val="2135"/>
              </a:lnSpc>
              <a:spcBef>
                <a:spcPts val="3320"/>
              </a:spcBef>
            </a:pPr>
            <a:r>
              <a:rPr dirty="0" sz="1800">
                <a:latin typeface="微软雅黑"/>
                <a:cs typeface="微软雅黑"/>
              </a:rPr>
              <a:t>按照爱因斯坦的理论，在光电效应中，金属中的电子吸收一个光子获得的能量是</a:t>
            </a:r>
            <a:endParaRPr sz="1800">
              <a:latin typeface="微软雅黑"/>
              <a:cs typeface="微软雅黑"/>
            </a:endParaRPr>
          </a:p>
          <a:p>
            <a:pPr marL="61594">
              <a:lnSpc>
                <a:spcPts val="2195"/>
              </a:lnSpc>
              <a:tabLst>
                <a:tab pos="4684395" algn="l"/>
              </a:tabLst>
            </a:pPr>
            <a:r>
              <a:rPr dirty="0" sz="1800">
                <a:latin typeface="微软雅黑"/>
                <a:cs typeface="微软雅黑"/>
              </a:rPr>
              <a:t>，这些能量的一部分用来克服金属的逸出功	</a:t>
            </a:r>
            <a:r>
              <a:rPr dirty="0" baseline="-16908" sz="1725">
                <a:latin typeface="微软雅黑"/>
                <a:cs typeface="微软雅黑"/>
              </a:rPr>
              <a:t>0</a:t>
            </a:r>
            <a:r>
              <a:rPr dirty="0" sz="1800">
                <a:latin typeface="微软雅黑"/>
                <a:cs typeface="微软雅黑"/>
              </a:rPr>
              <a:t>，剩下的表现为逸出后电子的初动能</a:t>
            </a:r>
            <a:r>
              <a:rPr dirty="0" sz="1800" spc="-175">
                <a:latin typeface="微软雅黑"/>
                <a:cs typeface="微软雅黑"/>
              </a:rPr>
              <a:t> </a:t>
            </a:r>
            <a:r>
              <a:rPr dirty="0" sz="1850" spc="-320" i="1">
                <a:latin typeface="Ebrima"/>
                <a:cs typeface="Ebrima"/>
              </a:rPr>
              <a:t>E</a:t>
            </a:r>
            <a:r>
              <a:rPr dirty="0" baseline="-16908" sz="1725" spc="-480">
                <a:latin typeface="微软雅黑"/>
                <a:cs typeface="微软雅黑"/>
              </a:rPr>
              <a:t>k</a:t>
            </a:r>
            <a:endParaRPr baseline="-16908" sz="1725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Times New Roman"/>
              <a:cs typeface="Times New Roman"/>
            </a:endParaRPr>
          </a:p>
          <a:p>
            <a:pPr marL="2386330">
              <a:lnSpc>
                <a:spcPct val="100000"/>
              </a:lnSpc>
              <a:tabLst>
                <a:tab pos="3267075" algn="l"/>
              </a:tabLst>
            </a:pPr>
            <a:r>
              <a:rPr dirty="0" sz="3400" spc="5">
                <a:latin typeface="Symbol"/>
                <a:cs typeface="Symbol"/>
              </a:rPr>
              <a:t></a:t>
            </a:r>
            <a:r>
              <a:rPr dirty="0" sz="3400" spc="60">
                <a:latin typeface="Times New Roman"/>
                <a:cs typeface="Times New Roman"/>
              </a:rPr>
              <a:t> </a:t>
            </a:r>
            <a:r>
              <a:rPr dirty="0" sz="3400" spc="25" i="1">
                <a:latin typeface="Times New Roman"/>
                <a:cs typeface="Times New Roman"/>
              </a:rPr>
              <a:t>E</a:t>
            </a:r>
            <a:r>
              <a:rPr dirty="0" baseline="-23611" sz="3000" spc="37">
                <a:latin typeface="Times New Roman"/>
                <a:cs typeface="Times New Roman"/>
              </a:rPr>
              <a:t>k	</a:t>
            </a:r>
            <a:r>
              <a:rPr dirty="0" sz="3400" spc="5">
                <a:latin typeface="Symbol"/>
                <a:cs typeface="Symbol"/>
              </a:rPr>
              <a:t></a:t>
            </a:r>
            <a:r>
              <a:rPr dirty="0" sz="3400" spc="-535">
                <a:latin typeface="Times New Roman"/>
                <a:cs typeface="Times New Roman"/>
              </a:rPr>
              <a:t> </a:t>
            </a:r>
            <a:r>
              <a:rPr dirty="0" sz="3400" spc="-50" i="1">
                <a:latin typeface="Times New Roman"/>
                <a:cs typeface="Times New Roman"/>
              </a:rPr>
              <a:t>W</a:t>
            </a:r>
            <a:r>
              <a:rPr dirty="0" baseline="-23611" sz="3000" spc="-75">
                <a:latin typeface="Times New Roman"/>
                <a:cs typeface="Times New Roman"/>
              </a:rPr>
              <a:t>0</a:t>
            </a:r>
            <a:endParaRPr baseline="-23611"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53001" y="3246805"/>
            <a:ext cx="535546" cy="407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228477" y="3845445"/>
            <a:ext cx="817244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68325" algn="l"/>
              </a:tabLst>
            </a:pPr>
            <a:r>
              <a:rPr dirty="0" sz="3400" spc="60" i="1">
                <a:latin typeface="Times New Roman"/>
                <a:cs typeface="Times New Roman"/>
              </a:rPr>
              <a:t>E</a:t>
            </a:r>
            <a:r>
              <a:rPr dirty="0" baseline="-23611" sz="3000" spc="-22">
                <a:latin typeface="Times New Roman"/>
                <a:cs typeface="Times New Roman"/>
              </a:rPr>
              <a:t>k</a:t>
            </a:r>
            <a:r>
              <a:rPr dirty="0" baseline="-23611" sz="3000">
                <a:latin typeface="Times New Roman"/>
                <a:cs typeface="Times New Roman"/>
              </a:rPr>
              <a:t>	</a:t>
            </a:r>
            <a:r>
              <a:rPr dirty="0" sz="3400" spc="-15">
                <a:latin typeface="Symbol"/>
                <a:cs typeface="Symbol"/>
              </a:rPr>
              <a:t></a:t>
            </a:r>
            <a:endParaRPr sz="3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08396" y="3869715"/>
            <a:ext cx="773430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400" spc="270">
                <a:latin typeface="Symbol"/>
                <a:cs typeface="Symbol"/>
              </a:rPr>
              <a:t></a:t>
            </a:r>
            <a:r>
              <a:rPr dirty="0" sz="3400" spc="-90" i="1">
                <a:latin typeface="Times New Roman"/>
                <a:cs typeface="Times New Roman"/>
              </a:rPr>
              <a:t>W</a:t>
            </a:r>
            <a:r>
              <a:rPr dirty="0" baseline="-23611" sz="3000" spc="-7">
                <a:latin typeface="Times New Roman"/>
                <a:cs typeface="Times New Roman"/>
              </a:rPr>
              <a:t>0</a:t>
            </a:r>
            <a:endParaRPr baseline="-23611" sz="3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42001" y="3945305"/>
            <a:ext cx="535546" cy="4072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73404" y="5151285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 h="0">
                <a:moveTo>
                  <a:pt x="0" y="0"/>
                </a:moveTo>
                <a:lnTo>
                  <a:pt x="158305" y="0"/>
                </a:lnTo>
              </a:path>
            </a:pathLst>
          </a:custGeom>
          <a:ln w="109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274356" y="4775923"/>
            <a:ext cx="15748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84149" y="4900218"/>
            <a:ext cx="1337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30" i="1">
                <a:latin typeface="Times New Roman"/>
                <a:cs typeface="Times New Roman"/>
              </a:rPr>
              <a:t>E</a:t>
            </a:r>
            <a:r>
              <a:rPr dirty="0" baseline="-23148" sz="1800" spc="7">
                <a:latin typeface="Times New Roman"/>
                <a:cs typeface="Times New Roman"/>
              </a:rPr>
              <a:t>K</a:t>
            </a:r>
            <a:r>
              <a:rPr dirty="0" baseline="-23148" sz="1800">
                <a:latin typeface="Times New Roman"/>
                <a:cs typeface="Times New Roman"/>
              </a:rPr>
              <a:t> </a:t>
            </a:r>
            <a:r>
              <a:rPr dirty="0" baseline="-23148" sz="1800" spc="195">
                <a:latin typeface="Times New Roman"/>
                <a:cs typeface="Times New Roman"/>
              </a:rPr>
              <a:t> </a:t>
            </a:r>
            <a:r>
              <a:rPr dirty="0" sz="2050" spc="10">
                <a:latin typeface="Symbol"/>
                <a:cs typeface="Symbol"/>
              </a:rPr>
              <a:t></a:t>
            </a:r>
            <a:r>
              <a:rPr dirty="0" sz="2050" spc="130">
                <a:latin typeface="Times New Roman"/>
                <a:cs typeface="Times New Roman"/>
              </a:rPr>
              <a:t> </a:t>
            </a:r>
            <a:r>
              <a:rPr dirty="0" baseline="-43360" sz="3075" spc="15">
                <a:latin typeface="Times New Roman"/>
                <a:cs typeface="Times New Roman"/>
              </a:rPr>
              <a:t>2</a:t>
            </a:r>
            <a:r>
              <a:rPr dirty="0" baseline="-43360" sz="3075" spc="-135">
                <a:latin typeface="Times New Roman"/>
                <a:cs typeface="Times New Roman"/>
              </a:rPr>
              <a:t> </a:t>
            </a:r>
            <a:r>
              <a:rPr dirty="0" sz="2050" spc="-30" i="1">
                <a:latin typeface="Times New Roman"/>
                <a:cs typeface="Times New Roman"/>
              </a:rPr>
              <a:t>m</a:t>
            </a:r>
            <a:r>
              <a:rPr dirty="0" baseline="-23148" sz="1800" spc="-240">
                <a:latin typeface="Times New Roman"/>
                <a:cs typeface="Times New Roman"/>
              </a:rPr>
              <a:t>e</a:t>
            </a:r>
            <a:r>
              <a:rPr dirty="0" baseline="-2314" sz="3600" spc="-7" b="1" i="1">
                <a:latin typeface="Monotype Corsiva"/>
                <a:cs typeface="Monotype Corsiva"/>
              </a:rPr>
              <a:t>v</a:t>
            </a:r>
            <a:r>
              <a:rPr dirty="0" baseline="-21367" sz="1950" spc="-7" b="1" i="1">
                <a:latin typeface="Times New Roman"/>
                <a:cs typeface="Times New Roman"/>
              </a:rPr>
              <a:t>c</a:t>
            </a:r>
            <a:r>
              <a:rPr dirty="0" baseline="16908" sz="1725" spc="22" b="1">
                <a:latin typeface="微软雅黑"/>
                <a:cs typeface="微软雅黑"/>
              </a:rPr>
              <a:t>2</a:t>
            </a:r>
            <a:endParaRPr baseline="16908" sz="1725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33782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光子说对光电效应的解释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88152" y="2882506"/>
            <a:ext cx="80327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45" i="1">
                <a:latin typeface="Times New Roman"/>
                <a:cs typeface="Times New Roman"/>
              </a:rPr>
              <a:t>E</a:t>
            </a:r>
            <a:r>
              <a:rPr dirty="0" baseline="-24691" sz="2025" spc="67">
                <a:latin typeface="Times New Roman"/>
                <a:cs typeface="Times New Roman"/>
              </a:rPr>
              <a:t>k </a:t>
            </a:r>
            <a:r>
              <a:rPr dirty="0" sz="2350" spc="35">
                <a:latin typeface="Symbol"/>
                <a:cs typeface="Symbol"/>
              </a:rPr>
              <a:t></a:t>
            </a:r>
            <a:r>
              <a:rPr dirty="0" sz="2350" spc="-65">
                <a:latin typeface="Times New Roman"/>
                <a:cs typeface="Times New Roman"/>
              </a:rPr>
              <a:t> </a:t>
            </a:r>
            <a:r>
              <a:rPr dirty="0" sz="2350" spc="30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6627" y="5602922"/>
            <a:ext cx="8562340" cy="63309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200"/>
              </a:spcBef>
              <a:tabLst>
                <a:tab pos="2960370" algn="l"/>
              </a:tabLst>
            </a:pPr>
            <a:r>
              <a:rPr dirty="0" sz="2000" spc="-5">
                <a:latin typeface="微软雅黑"/>
                <a:cs typeface="微软雅黑"/>
              </a:rPr>
              <a:t>3、对于同种颜色（频</a:t>
            </a:r>
            <a:r>
              <a:rPr dirty="0" sz="2000" spc="5">
                <a:latin typeface="微软雅黑"/>
                <a:cs typeface="微软雅黑"/>
              </a:rPr>
              <a:t>率</a:t>
            </a:r>
            <a:r>
              <a:rPr dirty="0" sz="2000">
                <a:latin typeface="微软雅黑"/>
                <a:cs typeface="微软雅黑"/>
              </a:rPr>
              <a:t>	</a:t>
            </a:r>
            <a:r>
              <a:rPr dirty="0" sz="2000">
                <a:latin typeface="微软雅黑"/>
                <a:cs typeface="微软雅黑"/>
              </a:rPr>
              <a:t>相同）的光，光较强时，包含的光子数较多，照</a:t>
            </a:r>
            <a:r>
              <a:rPr dirty="0" sz="2000">
                <a:latin typeface="微软雅黑"/>
                <a:cs typeface="微软雅黑"/>
              </a:rPr>
              <a:t>射 </a:t>
            </a:r>
            <a:r>
              <a:rPr dirty="0" sz="2000">
                <a:latin typeface="微软雅黑"/>
                <a:cs typeface="微软雅黑"/>
              </a:rPr>
              <a:t>金属时产生的光电子较多，因而饱和电流较</a:t>
            </a:r>
            <a:r>
              <a:rPr dirty="0" sz="2000" spc="5">
                <a:latin typeface="微软雅黑"/>
                <a:cs typeface="微软雅黑"/>
              </a:rPr>
              <a:t>大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86363" y="5732691"/>
            <a:ext cx="169379" cy="1776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875201" y="2266657"/>
            <a:ext cx="346710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10" i="1">
                <a:latin typeface="Times New Roman"/>
                <a:cs typeface="Times New Roman"/>
              </a:rPr>
              <a:t>E</a:t>
            </a:r>
            <a:r>
              <a:rPr dirty="0" sz="2400" spc="-335" i="1">
                <a:latin typeface="Times New Roman"/>
                <a:cs typeface="Times New Roman"/>
              </a:rPr>
              <a:t> </a:t>
            </a:r>
            <a:r>
              <a:rPr dirty="0" baseline="-23809" sz="2100" spc="7">
                <a:latin typeface="Times New Roman"/>
                <a:cs typeface="Times New Roman"/>
              </a:rPr>
              <a:t>k</a:t>
            </a:r>
            <a:endParaRPr baseline="-23809" sz="2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47159" y="2236114"/>
            <a:ext cx="14884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945" algn="l"/>
                <a:tab pos="857885" algn="l"/>
              </a:tabLst>
            </a:pPr>
            <a:r>
              <a:rPr dirty="0" baseline="3472" sz="3600" spc="15">
                <a:latin typeface="Symbol"/>
                <a:cs typeface="Symbol"/>
              </a:rPr>
              <a:t></a:t>
            </a:r>
            <a:r>
              <a:rPr dirty="0" baseline="3472" sz="3600" spc="15">
                <a:latin typeface="Times New Roman"/>
                <a:cs typeface="Times New Roman"/>
              </a:rPr>
              <a:t>	</a:t>
            </a:r>
            <a:r>
              <a:rPr dirty="0" baseline="-4960" sz="4200" spc="-7" i="1">
                <a:latin typeface="Century Schoolbook"/>
                <a:cs typeface="Century Schoolbook"/>
              </a:rPr>
              <a:t>hν	</a:t>
            </a:r>
            <a:r>
              <a:rPr dirty="0" sz="2400" spc="10">
                <a:latin typeface="Symbol"/>
                <a:cs typeface="Symbol"/>
              </a:rPr>
              <a:t>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15" i="1">
                <a:latin typeface="Times New Roman"/>
                <a:cs typeface="Times New Roman"/>
              </a:rPr>
              <a:t>W</a:t>
            </a:r>
            <a:r>
              <a:rPr dirty="0" sz="2400" spc="-490" i="1">
                <a:latin typeface="Times New Roman"/>
                <a:cs typeface="Times New Roman"/>
              </a:rPr>
              <a:t> </a:t>
            </a:r>
            <a:r>
              <a:rPr dirty="0" baseline="-23809" sz="2100" spc="7">
                <a:latin typeface="Times New Roman"/>
                <a:cs typeface="Times New Roman"/>
              </a:rPr>
              <a:t>0</a:t>
            </a:r>
            <a:endParaRPr baseline="-23809" sz="2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88512" y="1300797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有关，</a:t>
            </a:r>
            <a:r>
              <a:rPr dirty="0" sz="2000" spc="5">
                <a:latin typeface="微软雅黑"/>
                <a:cs typeface="微软雅黑"/>
              </a:rPr>
              <a:t>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499942" y="1430566"/>
            <a:ext cx="169379" cy="1776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226627" y="1262824"/>
            <a:ext cx="7228840" cy="69088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 marR="5080">
              <a:lnSpc>
                <a:spcPct val="72900"/>
              </a:lnSpc>
              <a:spcBef>
                <a:spcPts val="850"/>
              </a:spcBef>
              <a:tabLst>
                <a:tab pos="2772410" algn="l"/>
                <a:tab pos="5120005" algn="l"/>
              </a:tabLst>
            </a:pPr>
            <a:r>
              <a:rPr dirty="0" sz="2000" spc="-5">
                <a:latin typeface="微软雅黑"/>
                <a:cs typeface="微软雅黑"/>
              </a:rPr>
              <a:t>1</a:t>
            </a:r>
            <a:r>
              <a:rPr dirty="0" sz="2000">
                <a:latin typeface="微软雅黑"/>
                <a:cs typeface="微软雅黑"/>
              </a:rPr>
              <a:t>、爱因斯坦方程表明，光电子的最大初动</a:t>
            </a:r>
            <a:r>
              <a:rPr dirty="0" sz="2000" spc="5">
                <a:latin typeface="微软雅黑"/>
                <a:cs typeface="微软雅黑"/>
              </a:rPr>
              <a:t>能	</a:t>
            </a:r>
            <a:r>
              <a:rPr dirty="0" baseline="4830" sz="3450" spc="15" i="1">
                <a:latin typeface="Times New Roman"/>
                <a:cs typeface="Times New Roman"/>
              </a:rPr>
              <a:t>E</a:t>
            </a:r>
            <a:r>
              <a:rPr dirty="0" baseline="-16460" sz="2025" spc="15">
                <a:latin typeface="Times New Roman"/>
                <a:cs typeface="Times New Roman"/>
              </a:rPr>
              <a:t>k</a:t>
            </a:r>
            <a:r>
              <a:rPr dirty="0" baseline="-16460" sz="2025" spc="-67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与入射光的频</a:t>
            </a:r>
            <a:r>
              <a:rPr dirty="0" sz="2000" spc="5">
                <a:latin typeface="微软雅黑"/>
                <a:cs typeface="微软雅黑"/>
              </a:rPr>
              <a:t>率 </a:t>
            </a:r>
            <a:r>
              <a:rPr dirty="0" sz="2000">
                <a:latin typeface="微软雅黑"/>
                <a:cs typeface="微软雅黑"/>
              </a:rPr>
              <a:t>与光的强弱无关</a:t>
            </a:r>
            <a:r>
              <a:rPr dirty="0" sz="2000" spc="5">
                <a:latin typeface="微软雅黑"/>
                <a:cs typeface="微软雅黑"/>
              </a:rPr>
              <a:t>。</a:t>
            </a:r>
            <a:r>
              <a:rPr dirty="0" sz="2000" spc="-1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只</a:t>
            </a:r>
            <a:r>
              <a:rPr dirty="0" sz="2000" spc="5">
                <a:latin typeface="微软雅黑"/>
                <a:cs typeface="微软雅黑"/>
              </a:rPr>
              <a:t>有	</a:t>
            </a:r>
            <a:r>
              <a:rPr dirty="0" baseline="-4960" sz="4200" spc="-7" i="1">
                <a:latin typeface="Century Schoolbook"/>
                <a:cs typeface="Century Schoolbook"/>
              </a:rPr>
              <a:t>hν</a:t>
            </a:r>
            <a:r>
              <a:rPr dirty="0" baseline="-4960" sz="4200" spc="-217" i="1">
                <a:latin typeface="Century Schoolbook"/>
                <a:cs typeface="Century Schoolbook"/>
              </a:rPr>
              <a:t> </a:t>
            </a:r>
            <a:r>
              <a:rPr dirty="0" baseline="-3333" sz="3750" spc="-37">
                <a:latin typeface="Symbol"/>
                <a:cs typeface="Symbol"/>
              </a:rPr>
              <a:t></a:t>
            </a:r>
            <a:r>
              <a:rPr dirty="0" baseline="-3333" sz="3750" spc="-382">
                <a:latin typeface="Times New Roman"/>
                <a:cs typeface="Times New Roman"/>
              </a:rPr>
              <a:t> </a:t>
            </a:r>
            <a:r>
              <a:rPr dirty="0" baseline="-3333" sz="3750" spc="-67" i="1">
                <a:latin typeface="Times New Roman"/>
                <a:cs typeface="Times New Roman"/>
              </a:rPr>
              <a:t>W</a:t>
            </a:r>
            <a:r>
              <a:rPr dirty="0" baseline="-30651" sz="2175" spc="-67">
                <a:latin typeface="Times New Roman"/>
                <a:cs typeface="Times New Roman"/>
              </a:rPr>
              <a:t>0</a:t>
            </a:r>
            <a:r>
              <a:rPr dirty="0" baseline="-30651" sz="2175" spc="209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时，才有光电子逸</a:t>
            </a:r>
            <a:r>
              <a:rPr dirty="0" sz="2000" spc="5">
                <a:latin typeface="微软雅黑"/>
                <a:cs typeface="微软雅黑"/>
              </a:rPr>
              <a:t>出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72865" y="2838767"/>
            <a:ext cx="68453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Century Schoolbook"/>
                <a:cs typeface="Century Schoolbook"/>
              </a:rPr>
              <a:t>ν</a:t>
            </a:r>
            <a:r>
              <a:rPr dirty="0" sz="2500" spc="-5">
                <a:latin typeface="微软雅黑"/>
                <a:cs typeface="微软雅黑"/>
              </a:rPr>
              <a:t>=</a:t>
            </a:r>
            <a:r>
              <a:rPr dirty="0" sz="2800" spc="-5" i="1">
                <a:latin typeface="Century Schoolbook"/>
                <a:cs typeface="Century Schoolbook"/>
              </a:rPr>
              <a:t>ν</a:t>
            </a:r>
            <a:r>
              <a:rPr dirty="0" baseline="-17361" sz="2400" spc="15">
                <a:latin typeface="微软雅黑"/>
                <a:cs typeface="微软雅黑"/>
              </a:rPr>
              <a:t>c</a:t>
            </a:r>
            <a:endParaRPr baseline="-17361" sz="24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44530" y="3966362"/>
            <a:ext cx="386080" cy="0"/>
          </a:xfrm>
          <a:custGeom>
            <a:avLst/>
            <a:gdLst/>
            <a:ahLst/>
            <a:cxnLst/>
            <a:rect l="l" t="t" r="r" b="b"/>
            <a:pathLst>
              <a:path w="386079" h="0">
                <a:moveTo>
                  <a:pt x="0" y="0"/>
                </a:moveTo>
                <a:lnTo>
                  <a:pt x="385902" y="0"/>
                </a:lnTo>
              </a:path>
            </a:pathLst>
          </a:custGeom>
          <a:ln w="131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226627" y="3775529"/>
            <a:ext cx="8557260" cy="1355090"/>
          </a:xfrm>
          <a:prstGeom prst="rect">
            <a:avLst/>
          </a:prstGeom>
        </p:spPr>
        <p:txBody>
          <a:bodyPr wrap="square" lIns="0" tIns="200025" rIns="0" bIns="0" rtlCol="0" vert="horz">
            <a:spAutoFit/>
          </a:bodyPr>
          <a:lstStyle/>
          <a:p>
            <a:pPr marL="2332990">
              <a:lnSpc>
                <a:spcPct val="100000"/>
              </a:lnSpc>
              <a:spcBef>
                <a:spcPts val="1575"/>
              </a:spcBef>
            </a:pPr>
            <a:r>
              <a:rPr dirty="0" sz="2500" spc="-5" i="1">
                <a:latin typeface="Times New Roman"/>
                <a:cs typeface="Times New Roman"/>
              </a:rPr>
              <a:t>h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190"/>
              </a:spcBef>
            </a:pPr>
            <a:r>
              <a:rPr dirty="0" sz="2000" spc="-5">
                <a:latin typeface="微软雅黑"/>
                <a:cs typeface="微软雅黑"/>
              </a:rPr>
              <a:t>2、电子一次性吸收光子的全部能量，不需要积累能量的时间，光电流自然</a:t>
            </a:r>
            <a:r>
              <a:rPr dirty="0" sz="2000">
                <a:latin typeface="微软雅黑"/>
                <a:cs typeface="微软雅黑"/>
              </a:rPr>
              <a:t>几 </a:t>
            </a:r>
            <a:r>
              <a:rPr dirty="0" sz="2000">
                <a:latin typeface="微软雅黑"/>
                <a:cs typeface="微软雅黑"/>
              </a:rPr>
              <a:t>乎是瞬时产生</a:t>
            </a:r>
            <a:r>
              <a:rPr dirty="0" sz="2000" spc="5">
                <a:latin typeface="微软雅黑"/>
                <a:cs typeface="微软雅黑"/>
              </a:rPr>
              <a:t>的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68102" y="3684270"/>
            <a:ext cx="92836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i="1">
                <a:latin typeface="Century Schoolbook"/>
                <a:cs typeface="Century Schoolbook"/>
              </a:rPr>
              <a:t>ν</a:t>
            </a:r>
            <a:r>
              <a:rPr dirty="0" baseline="-17361" sz="2400">
                <a:latin typeface="微软雅黑"/>
                <a:cs typeface="微软雅黑"/>
              </a:rPr>
              <a:t>c </a:t>
            </a:r>
            <a:r>
              <a:rPr dirty="0" baseline="1111" sz="3750" spc="-7">
                <a:latin typeface="Symbol"/>
                <a:cs typeface="Symbol"/>
              </a:rPr>
              <a:t></a:t>
            </a:r>
            <a:r>
              <a:rPr dirty="0" baseline="1111" sz="3750" spc="-367">
                <a:latin typeface="Times New Roman"/>
                <a:cs typeface="Times New Roman"/>
              </a:rPr>
              <a:t> </a:t>
            </a:r>
            <a:r>
              <a:rPr dirty="0" baseline="35555" sz="3750" spc="-67" i="1">
                <a:latin typeface="Times New Roman"/>
                <a:cs typeface="Times New Roman"/>
              </a:rPr>
              <a:t>W</a:t>
            </a:r>
            <a:r>
              <a:rPr dirty="0" baseline="38314" sz="2175" spc="-67">
                <a:latin typeface="Times New Roman"/>
                <a:cs typeface="Times New Roman"/>
              </a:rPr>
              <a:t>0</a:t>
            </a:r>
            <a:endParaRPr baseline="38314" sz="21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5494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思考与讨论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39100" y="2429255"/>
            <a:ext cx="3209544" cy="3467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010525" y="2400680"/>
            <a:ext cx="3267075" cy="3524250"/>
          </a:xfrm>
          <a:custGeom>
            <a:avLst/>
            <a:gdLst/>
            <a:ahLst/>
            <a:cxnLst/>
            <a:rect l="l" t="t" r="r" b="b"/>
            <a:pathLst>
              <a:path w="3267075" h="3524250">
                <a:moveTo>
                  <a:pt x="3266694" y="3524250"/>
                </a:moveTo>
                <a:lnTo>
                  <a:pt x="0" y="3524250"/>
                </a:lnTo>
                <a:lnTo>
                  <a:pt x="0" y="0"/>
                </a:lnTo>
                <a:lnTo>
                  <a:pt x="3266694" y="0"/>
                </a:lnTo>
                <a:lnTo>
                  <a:pt x="3266694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495675"/>
                </a:lnTo>
                <a:lnTo>
                  <a:pt x="14287" y="3495675"/>
                </a:lnTo>
                <a:lnTo>
                  <a:pt x="28575" y="3509962"/>
                </a:lnTo>
                <a:lnTo>
                  <a:pt x="3266694" y="3509962"/>
                </a:lnTo>
                <a:lnTo>
                  <a:pt x="3266694" y="3524250"/>
                </a:lnTo>
                <a:close/>
              </a:path>
              <a:path w="3267075" h="352425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3267075" h="3524250">
                <a:moveTo>
                  <a:pt x="3238119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3238119" y="14287"/>
                </a:lnTo>
                <a:lnTo>
                  <a:pt x="3238119" y="28575"/>
                </a:lnTo>
                <a:close/>
              </a:path>
              <a:path w="3267075" h="3524250">
                <a:moveTo>
                  <a:pt x="3238119" y="3509962"/>
                </a:moveTo>
                <a:lnTo>
                  <a:pt x="3238119" y="14287"/>
                </a:lnTo>
                <a:lnTo>
                  <a:pt x="3252406" y="28575"/>
                </a:lnTo>
                <a:lnTo>
                  <a:pt x="3266694" y="28575"/>
                </a:lnTo>
                <a:lnTo>
                  <a:pt x="3266694" y="3495675"/>
                </a:lnTo>
                <a:lnTo>
                  <a:pt x="3252406" y="3495675"/>
                </a:lnTo>
                <a:lnTo>
                  <a:pt x="3238119" y="3509962"/>
                </a:lnTo>
                <a:close/>
              </a:path>
              <a:path w="3267075" h="3524250">
                <a:moveTo>
                  <a:pt x="3266694" y="28575"/>
                </a:moveTo>
                <a:lnTo>
                  <a:pt x="3252406" y="28575"/>
                </a:lnTo>
                <a:lnTo>
                  <a:pt x="3238119" y="14287"/>
                </a:lnTo>
                <a:lnTo>
                  <a:pt x="3266694" y="14287"/>
                </a:lnTo>
                <a:lnTo>
                  <a:pt x="3266694" y="28575"/>
                </a:lnTo>
                <a:close/>
              </a:path>
              <a:path w="3267075" h="3524250">
                <a:moveTo>
                  <a:pt x="28575" y="3509962"/>
                </a:moveTo>
                <a:lnTo>
                  <a:pt x="14287" y="3495675"/>
                </a:lnTo>
                <a:lnTo>
                  <a:pt x="28575" y="3495675"/>
                </a:lnTo>
                <a:lnTo>
                  <a:pt x="28575" y="3509962"/>
                </a:lnTo>
                <a:close/>
              </a:path>
              <a:path w="3267075" h="3524250">
                <a:moveTo>
                  <a:pt x="3238119" y="3509962"/>
                </a:moveTo>
                <a:lnTo>
                  <a:pt x="28575" y="3509962"/>
                </a:lnTo>
                <a:lnTo>
                  <a:pt x="28575" y="3495675"/>
                </a:lnTo>
                <a:lnTo>
                  <a:pt x="3238119" y="3495675"/>
                </a:lnTo>
                <a:lnTo>
                  <a:pt x="3238119" y="3509962"/>
                </a:lnTo>
                <a:close/>
              </a:path>
              <a:path w="3267075" h="3524250">
                <a:moveTo>
                  <a:pt x="3266694" y="3509962"/>
                </a:moveTo>
                <a:lnTo>
                  <a:pt x="3238119" y="3509962"/>
                </a:lnTo>
                <a:lnTo>
                  <a:pt x="3252406" y="3495675"/>
                </a:lnTo>
                <a:lnTo>
                  <a:pt x="3266694" y="3495675"/>
                </a:lnTo>
                <a:lnTo>
                  <a:pt x="3266694" y="3509962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854107" y="5281142"/>
            <a:ext cx="0" cy="535940"/>
          </a:xfrm>
          <a:custGeom>
            <a:avLst/>
            <a:gdLst/>
            <a:ahLst/>
            <a:cxnLst/>
            <a:rect l="l" t="t" r="r" b="b"/>
            <a:pathLst>
              <a:path w="0" h="535939">
                <a:moveTo>
                  <a:pt x="0" y="0"/>
                </a:moveTo>
                <a:lnTo>
                  <a:pt x="0" y="535495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771126" y="5280659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0"/>
                </a:moveTo>
                <a:lnTo>
                  <a:pt x="0" y="536448"/>
                </a:lnTo>
              </a:path>
            </a:pathLst>
          </a:custGeom>
          <a:ln w="6553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744417" y="5400141"/>
            <a:ext cx="0" cy="238125"/>
          </a:xfrm>
          <a:custGeom>
            <a:avLst/>
            <a:gdLst/>
            <a:ahLst/>
            <a:cxnLst/>
            <a:rect l="l" t="t" r="r" b="b"/>
            <a:pathLst>
              <a:path w="0" h="238125">
                <a:moveTo>
                  <a:pt x="0" y="0"/>
                </a:moveTo>
                <a:lnTo>
                  <a:pt x="0" y="237997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980564" y="1272222"/>
            <a:ext cx="8350884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45085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爱因斯坦光电效应方程给出了光电子的最大初动</a:t>
            </a:r>
            <a:r>
              <a:rPr dirty="0" sz="2000" spc="5">
                <a:latin typeface="微软雅黑"/>
                <a:cs typeface="微软雅黑"/>
              </a:rPr>
              <a:t>能</a:t>
            </a:r>
            <a:r>
              <a:rPr dirty="0" sz="2000" spc="-55">
                <a:latin typeface="微软雅黑"/>
                <a:cs typeface="微软雅黑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</a:t>
            </a:r>
            <a:r>
              <a:rPr dirty="0" sz="1200" spc="-5">
                <a:latin typeface="Arial"/>
                <a:cs typeface="Arial"/>
              </a:rPr>
              <a:t>k</a:t>
            </a:r>
            <a:r>
              <a:rPr dirty="0" sz="2000">
                <a:latin typeface="微软雅黑"/>
                <a:cs typeface="微软雅黑"/>
              </a:rPr>
              <a:t>与入射光的频</a:t>
            </a:r>
            <a:r>
              <a:rPr dirty="0" sz="2000" spc="5">
                <a:latin typeface="微软雅黑"/>
                <a:cs typeface="微软雅黑"/>
              </a:rPr>
              <a:t>率</a:t>
            </a:r>
            <a:r>
              <a:rPr dirty="0" sz="2000" spc="-55">
                <a:latin typeface="微软雅黑"/>
                <a:cs typeface="微软雅黑"/>
              </a:rPr>
              <a:t> </a:t>
            </a:r>
            <a:r>
              <a:rPr dirty="0" sz="2000" i="1">
                <a:latin typeface="Arial"/>
                <a:cs typeface="Arial"/>
              </a:rPr>
              <a:t>ν  </a:t>
            </a:r>
            <a:r>
              <a:rPr dirty="0" sz="2000">
                <a:latin typeface="微软雅黑"/>
                <a:cs typeface="微软雅黑"/>
              </a:rPr>
              <a:t>的关系。但是，很难直接测量光电子的动能，容易测量的是遏止电</a:t>
            </a:r>
            <a:r>
              <a:rPr dirty="0" sz="2000" spc="5">
                <a:latin typeface="微软雅黑"/>
                <a:cs typeface="微软雅黑"/>
              </a:rPr>
              <a:t>压</a:t>
            </a:r>
            <a:r>
              <a:rPr dirty="0" sz="2000" spc="-50">
                <a:latin typeface="微软雅黑"/>
                <a:cs typeface="微软雅黑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U</a:t>
            </a:r>
            <a:r>
              <a:rPr dirty="0" baseline="-17094" sz="1950" spc="-7">
                <a:latin typeface="Times New Roman"/>
                <a:cs typeface="Times New Roman"/>
              </a:rPr>
              <a:t>c</a:t>
            </a:r>
            <a:r>
              <a:rPr dirty="0" baseline="-17094" sz="1950" spc="-3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微软雅黑"/>
                <a:cs typeface="微软雅黑"/>
              </a:rPr>
              <a:t>。 </a:t>
            </a:r>
            <a:r>
              <a:rPr dirty="0" sz="2000">
                <a:latin typeface="微软雅黑"/>
                <a:cs typeface="微软雅黑"/>
              </a:rPr>
              <a:t>怎样得</a:t>
            </a:r>
            <a:r>
              <a:rPr dirty="0" sz="2000" spc="5">
                <a:latin typeface="微软雅黑"/>
                <a:cs typeface="微软雅黑"/>
              </a:rPr>
              <a:t>到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U</a:t>
            </a:r>
            <a:r>
              <a:rPr dirty="0" baseline="-17094" sz="1950" spc="-7">
                <a:latin typeface="Times New Roman"/>
                <a:cs typeface="Times New Roman"/>
              </a:rPr>
              <a:t>c</a:t>
            </a:r>
            <a:r>
              <a:rPr dirty="0" baseline="-17094" sz="1950" spc="345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微软雅黑"/>
                <a:cs typeface="微软雅黑"/>
              </a:rPr>
              <a:t>与</a:t>
            </a:r>
            <a:r>
              <a:rPr dirty="0" sz="2000" spc="-45">
                <a:latin typeface="微软雅黑"/>
                <a:cs typeface="微软雅黑"/>
              </a:rPr>
              <a:t> </a:t>
            </a:r>
            <a:r>
              <a:rPr dirty="0" sz="2000" i="1">
                <a:latin typeface="Arial"/>
                <a:cs typeface="Arial"/>
              </a:rPr>
              <a:t>ν</a:t>
            </a:r>
            <a:r>
              <a:rPr dirty="0" sz="2000" spc="-10" i="1">
                <a:latin typeface="Arial"/>
                <a:cs typeface="Arial"/>
              </a:rPr>
              <a:t> 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 i="1">
                <a:latin typeface="Times New Roman"/>
                <a:cs typeface="Times New Roman"/>
              </a:rPr>
              <a:t>W</a:t>
            </a:r>
            <a:r>
              <a:rPr dirty="0" baseline="-17094" sz="1950" spc="-7">
                <a:latin typeface="Arial"/>
                <a:cs typeface="Arial"/>
              </a:rPr>
              <a:t>0</a:t>
            </a:r>
            <a:r>
              <a:rPr dirty="0" baseline="-17094" sz="1950" spc="292">
                <a:latin typeface="Arial"/>
                <a:cs typeface="Arial"/>
              </a:rPr>
              <a:t> </a:t>
            </a:r>
            <a:r>
              <a:rPr dirty="0" sz="2000">
                <a:latin typeface="微软雅黑"/>
                <a:cs typeface="微软雅黑"/>
              </a:rPr>
              <a:t>的关系</a:t>
            </a:r>
            <a:r>
              <a:rPr dirty="0" sz="2000" spc="5"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20019" y="3872153"/>
            <a:ext cx="195580" cy="0"/>
          </a:xfrm>
          <a:custGeom>
            <a:avLst/>
            <a:gdLst/>
            <a:ahLst/>
            <a:cxnLst/>
            <a:rect l="l" t="t" r="r" b="b"/>
            <a:pathLst>
              <a:path w="195579" h="0">
                <a:moveTo>
                  <a:pt x="0" y="0"/>
                </a:moveTo>
                <a:lnTo>
                  <a:pt x="195478" y="0"/>
                </a:lnTo>
              </a:path>
            </a:pathLst>
          </a:custGeom>
          <a:ln w="13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524171" y="3409721"/>
            <a:ext cx="18923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10">
                <a:latin typeface="Times New Roman"/>
                <a:cs typeface="Times New Roman"/>
              </a:rPr>
              <a:t>1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5318" y="3614978"/>
            <a:ext cx="1598295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30" i="1">
                <a:latin typeface="Times New Roman"/>
                <a:cs typeface="Times New Roman"/>
              </a:rPr>
              <a:t>E</a:t>
            </a:r>
            <a:r>
              <a:rPr dirty="0" baseline="-24074" sz="2250">
                <a:latin typeface="Times New Roman"/>
                <a:cs typeface="Times New Roman"/>
              </a:rPr>
              <a:t>K </a:t>
            </a:r>
            <a:r>
              <a:rPr dirty="0" baseline="-24074" sz="2250" spc="225">
                <a:latin typeface="Times New Roman"/>
                <a:cs typeface="Times New Roman"/>
              </a:rPr>
              <a:t> </a:t>
            </a:r>
            <a:r>
              <a:rPr dirty="0" sz="2550" spc="10">
                <a:latin typeface="Symbol"/>
                <a:cs typeface="Symbol"/>
              </a:rPr>
              <a:t></a:t>
            </a:r>
            <a:r>
              <a:rPr dirty="0" sz="2550" spc="150">
                <a:latin typeface="Times New Roman"/>
                <a:cs typeface="Times New Roman"/>
              </a:rPr>
              <a:t> </a:t>
            </a:r>
            <a:r>
              <a:rPr dirty="0" baseline="-43572" sz="3825" spc="15">
                <a:latin typeface="Times New Roman"/>
                <a:cs typeface="Times New Roman"/>
              </a:rPr>
              <a:t>2</a:t>
            </a:r>
            <a:r>
              <a:rPr dirty="0" baseline="-43572" sz="3825" spc="-179">
                <a:latin typeface="Times New Roman"/>
                <a:cs typeface="Times New Roman"/>
              </a:rPr>
              <a:t> </a:t>
            </a:r>
            <a:r>
              <a:rPr dirty="0" sz="2550" spc="-45" i="1">
                <a:latin typeface="Times New Roman"/>
                <a:cs typeface="Times New Roman"/>
              </a:rPr>
              <a:t>m</a:t>
            </a:r>
            <a:r>
              <a:rPr dirty="0" baseline="-24074" sz="2250" spc="-44">
                <a:latin typeface="Times New Roman"/>
                <a:cs typeface="Times New Roman"/>
              </a:rPr>
              <a:t>e</a:t>
            </a:r>
            <a:r>
              <a:rPr dirty="0" baseline="-2314" sz="3600" spc="-7" b="1" i="1">
                <a:latin typeface="Monotype Corsiva"/>
                <a:cs typeface="Monotype Corsiva"/>
              </a:rPr>
              <a:t>v</a:t>
            </a:r>
            <a:r>
              <a:rPr dirty="0" baseline="-21367" sz="1950" spc="-7" b="1" i="1">
                <a:latin typeface="Times New Roman"/>
                <a:cs typeface="Times New Roman"/>
              </a:rPr>
              <a:t>c</a:t>
            </a:r>
            <a:r>
              <a:rPr dirty="0" baseline="16908" sz="1725" spc="22" b="1">
                <a:latin typeface="微软雅黑"/>
                <a:cs typeface="微软雅黑"/>
              </a:rPr>
              <a:t>2</a:t>
            </a:r>
            <a:endParaRPr baseline="16908" sz="1725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15876" y="2932264"/>
            <a:ext cx="110489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2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7092" y="2717088"/>
            <a:ext cx="650240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spc="40">
                <a:latin typeface="Symbol"/>
                <a:cs typeface="Symbol"/>
              </a:rPr>
              <a:t></a:t>
            </a:r>
            <a:r>
              <a:rPr dirty="0" sz="2500" spc="-200">
                <a:latin typeface="Times New Roman"/>
                <a:cs typeface="Times New Roman"/>
              </a:rPr>
              <a:t> </a:t>
            </a:r>
            <a:r>
              <a:rPr dirty="0" sz="2500" spc="35" i="1">
                <a:latin typeface="Times New Roman"/>
                <a:cs typeface="Times New Roman"/>
              </a:rPr>
              <a:t>eU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02075" y="2917075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 h="0">
                <a:moveTo>
                  <a:pt x="0" y="0"/>
                </a:moveTo>
                <a:lnTo>
                  <a:pt x="192252" y="0"/>
                </a:lnTo>
              </a:path>
            </a:pathLst>
          </a:custGeom>
          <a:ln w="133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260887" y="2877096"/>
            <a:ext cx="110489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Times New Roman"/>
                <a:cs typeface="Times New Roman"/>
              </a:rPr>
              <a:t>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05948" y="2388356"/>
            <a:ext cx="194310" cy="94297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550" spc="10">
                <a:latin typeface="Times New Roman"/>
                <a:cs typeface="Times New Roman"/>
              </a:rPr>
              <a:t>1</a:t>
            </a:r>
            <a:endParaRPr sz="255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550"/>
              </a:spcBef>
            </a:pPr>
            <a:r>
              <a:rPr dirty="0" sz="2550" spc="10">
                <a:latin typeface="Times New Roman"/>
                <a:cs typeface="Times New Roman"/>
              </a:rPr>
              <a:t>2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36314" y="2659722"/>
            <a:ext cx="26162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15" i="1">
                <a:latin typeface="Times New Roman"/>
                <a:cs typeface="Times New Roman"/>
              </a:rPr>
              <a:t>m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41253" y="2696883"/>
            <a:ext cx="160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Monotype Corsiva"/>
                <a:cs typeface="Monotype Corsiva"/>
              </a:rPr>
              <a:t>v</a:t>
            </a:r>
            <a:endParaRPr sz="2400">
              <a:latin typeface="Monotype Corsiva"/>
              <a:cs typeface="Monotype Corsiv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75873" y="2887383"/>
            <a:ext cx="9842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 b="1" i="1">
                <a:latin typeface="Times New Roman"/>
                <a:cs typeface="Times New Roman"/>
              </a:rPr>
              <a:t>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48898" y="2795943"/>
            <a:ext cx="117475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5" b="1">
                <a:latin typeface="微软雅黑"/>
                <a:cs typeface="微软雅黑"/>
              </a:rPr>
              <a:t>2</a:t>
            </a:r>
            <a:endParaRPr sz="115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25595" y="4674463"/>
            <a:ext cx="35369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190" i="1">
                <a:latin typeface="Times New Roman"/>
                <a:cs typeface="Times New Roman"/>
              </a:rPr>
              <a:t>E</a:t>
            </a:r>
            <a:r>
              <a:rPr dirty="0" baseline="-23297" sz="2325" spc="-7">
                <a:latin typeface="Times New Roman"/>
                <a:cs typeface="Times New Roman"/>
              </a:rPr>
              <a:t>k</a:t>
            </a:r>
            <a:endParaRPr baseline="-23297" sz="2325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94949" y="4674768"/>
            <a:ext cx="14878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1535" algn="l"/>
              </a:tabLst>
            </a:pPr>
            <a:r>
              <a:rPr dirty="0" baseline="3144" sz="3975">
                <a:latin typeface="Symbol"/>
                <a:cs typeface="Symbol"/>
              </a:rPr>
              <a:t></a:t>
            </a:r>
            <a:r>
              <a:rPr dirty="0" baseline="3144" sz="3975" spc="450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Century Schoolbook"/>
                <a:cs typeface="Century Schoolbook"/>
              </a:rPr>
              <a:t>hν	</a:t>
            </a:r>
            <a:r>
              <a:rPr dirty="0" sz="2650">
                <a:latin typeface="Symbol"/>
                <a:cs typeface="Symbol"/>
              </a:rPr>
              <a:t></a:t>
            </a:r>
            <a:r>
              <a:rPr dirty="0" sz="2650" spc="-385">
                <a:latin typeface="Times New Roman"/>
                <a:cs typeface="Times New Roman"/>
              </a:rPr>
              <a:t> </a:t>
            </a:r>
            <a:r>
              <a:rPr dirty="0" sz="2650" spc="55" i="1">
                <a:latin typeface="Times New Roman"/>
                <a:cs typeface="Times New Roman"/>
              </a:rPr>
              <a:t>W</a:t>
            </a:r>
            <a:r>
              <a:rPr dirty="0" baseline="-23297" sz="2325" spc="82">
                <a:latin typeface="Times New Roman"/>
                <a:cs typeface="Times New Roman"/>
              </a:rPr>
              <a:t>0</a:t>
            </a:r>
            <a:endParaRPr baseline="-23297" sz="2325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05313" y="5458663"/>
            <a:ext cx="189992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9475" algn="l"/>
              </a:tabLst>
            </a:pPr>
            <a:r>
              <a:rPr dirty="0" baseline="4629" sz="3600" spc="150" i="1">
                <a:latin typeface="Times New Roman"/>
                <a:cs typeface="Times New Roman"/>
              </a:rPr>
              <a:t>U</a:t>
            </a:r>
            <a:r>
              <a:rPr dirty="0" baseline="-15873" sz="2100" spc="150">
                <a:latin typeface="Times New Roman"/>
                <a:cs typeface="Times New Roman"/>
              </a:rPr>
              <a:t>c</a:t>
            </a:r>
            <a:r>
              <a:rPr dirty="0" baseline="4629" sz="3600" spc="150" i="1">
                <a:latin typeface="Times New Roman"/>
                <a:cs typeface="Times New Roman"/>
              </a:rPr>
              <a:t>e</a:t>
            </a:r>
            <a:r>
              <a:rPr dirty="0" baseline="4629" sz="3600" spc="-82" i="1">
                <a:latin typeface="Times New Roman"/>
                <a:cs typeface="Times New Roman"/>
              </a:rPr>
              <a:t> </a:t>
            </a:r>
            <a:r>
              <a:rPr dirty="0" baseline="4629" sz="3600" spc="15">
                <a:latin typeface="Symbol"/>
                <a:cs typeface="Symbol"/>
              </a:rPr>
              <a:t></a:t>
            </a:r>
            <a:r>
              <a:rPr dirty="0" baseline="4629" sz="3600" spc="15">
                <a:latin typeface="Times New Roman"/>
                <a:cs typeface="Times New Roman"/>
              </a:rPr>
              <a:t>	</a:t>
            </a:r>
            <a:r>
              <a:rPr dirty="0" baseline="1984" sz="4200" spc="-7" i="1">
                <a:latin typeface="Century Schoolbook"/>
                <a:cs typeface="Century Schoolbook"/>
              </a:rPr>
              <a:t>hν</a:t>
            </a:r>
            <a:r>
              <a:rPr dirty="0" baseline="1984" sz="4200" spc="-67" i="1">
                <a:latin typeface="Century Schoolbook"/>
                <a:cs typeface="Century Schoolbook"/>
              </a:rPr>
              <a:t> </a:t>
            </a:r>
            <a:r>
              <a:rPr dirty="0" sz="2400" spc="40">
                <a:latin typeface="Symbol"/>
                <a:cs typeface="Symbol"/>
              </a:rPr>
              <a:t></a:t>
            </a:r>
            <a:r>
              <a:rPr dirty="0" sz="2400" spc="40" i="1">
                <a:latin typeface="Times New Roman"/>
                <a:cs typeface="Times New Roman"/>
              </a:rPr>
              <a:t>W</a:t>
            </a:r>
            <a:r>
              <a:rPr dirty="0" baseline="-23809" sz="2100" spc="60">
                <a:latin typeface="Times New Roman"/>
                <a:cs typeface="Times New Roman"/>
              </a:rPr>
              <a:t>0</a:t>
            </a:r>
            <a:endParaRPr baseline="-23809"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3145" y="2285441"/>
            <a:ext cx="361607" cy="27735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071052" y="1268730"/>
            <a:ext cx="9170670" cy="3048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985" indent="53213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爱因斯坦提出光子说后，尽管他的论证清晰简明，但当时科学界的反应十分冷淡．量 子论的创始人普朗克也责怪爱因斯坦的光子说“走得太远”，美国实验物理学家密立根将自 己视为光的波动理论的捍卫者，并定下了工作目标：对爱因斯坦的光电效应方程进行彻底检 验，以扼制这种“不可思议的”、“大胆的”和“轻率的”光子说。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2700" marR="5080" indent="450850">
              <a:lnSpc>
                <a:spcPct val="150000"/>
              </a:lnSpc>
              <a:spcBef>
                <a:spcPts val="1605"/>
              </a:spcBef>
              <a:tabLst>
                <a:tab pos="7581265" algn="l"/>
              </a:tabLst>
            </a:pPr>
            <a:r>
              <a:rPr dirty="0" sz="1800">
                <a:latin typeface="微软雅黑"/>
                <a:cs typeface="微软雅黑"/>
              </a:rPr>
              <a:t>从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1907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年起，美国物理学家密立根</a:t>
            </a:r>
            <a:r>
              <a:rPr dirty="0" sz="1800" spc="-5">
                <a:latin typeface="微软雅黑"/>
                <a:cs typeface="微软雅黑"/>
              </a:rPr>
              <a:t>（R.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A.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Millikan,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1868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—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1953）</a:t>
            </a:r>
            <a:r>
              <a:rPr dirty="0" sz="1800">
                <a:latin typeface="微软雅黑"/>
                <a:cs typeface="微软雅黑"/>
              </a:rPr>
              <a:t>开始以精湛的技 术测量光电效应中几个重要的物理量。他的目的是：测量金属的遏止电压	</a:t>
            </a:r>
            <a:r>
              <a:rPr dirty="0" sz="1100">
                <a:latin typeface="微软雅黑"/>
                <a:cs typeface="微软雅黑"/>
              </a:rPr>
              <a:t>c</a:t>
            </a:r>
            <a:r>
              <a:rPr dirty="0" sz="1100" spc="15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与入射光的频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1052" y="4419610"/>
            <a:ext cx="2841625" cy="3136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55295" algn="l"/>
              </a:tabLst>
            </a:pPr>
            <a:r>
              <a:rPr dirty="0" sz="1800">
                <a:latin typeface="微软雅黑"/>
                <a:cs typeface="微软雅黑"/>
              </a:rPr>
              <a:t>率	</a:t>
            </a:r>
            <a:r>
              <a:rPr dirty="0" sz="1850" spc="-125" i="1">
                <a:latin typeface="微软雅黑"/>
                <a:cs typeface="微软雅黑"/>
              </a:rPr>
              <a:t>，</a:t>
            </a:r>
            <a:r>
              <a:rPr dirty="0" sz="1800">
                <a:latin typeface="微软雅黑"/>
                <a:cs typeface="微软雅黑"/>
              </a:rPr>
              <a:t>由此算出普朗克常量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94922" y="4431029"/>
            <a:ext cx="6015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6654" algn="l"/>
              </a:tabLst>
            </a:pPr>
            <a:r>
              <a:rPr dirty="0" sz="1800">
                <a:latin typeface="微软雅黑"/>
                <a:cs typeface="微软雅黑"/>
              </a:rPr>
              <a:t>，并与普朗克根据黑体辐射得出的	相比较，以检验爱因斯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71052" y="4840604"/>
            <a:ext cx="276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坦光电效应方程的正确性。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82264" y="4076090"/>
            <a:ext cx="228600" cy="2221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363292" y="4546866"/>
            <a:ext cx="156387" cy="1638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59515" y="4487354"/>
            <a:ext cx="178485" cy="2230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596159" y="4487354"/>
            <a:ext cx="178485" cy="2230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3145" y="2285441"/>
            <a:ext cx="361607" cy="27735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14372" y="1173480"/>
            <a:ext cx="8744712" cy="27904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8239" y="4180204"/>
            <a:ext cx="2820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思路：根据上一个思考</a:t>
            </a:r>
            <a:r>
              <a:rPr dirty="0" sz="2000" spc="5">
                <a:latin typeface="微软雅黑"/>
                <a:cs typeface="微软雅黑"/>
              </a:rPr>
              <a:t>题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0" y="3316223"/>
            <a:ext cx="2692907" cy="3259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115425" y="3287648"/>
            <a:ext cx="2750185" cy="3317240"/>
          </a:xfrm>
          <a:custGeom>
            <a:avLst/>
            <a:gdLst/>
            <a:ahLst/>
            <a:cxnLst/>
            <a:rect l="l" t="t" r="r" b="b"/>
            <a:pathLst>
              <a:path w="2750184" h="3317240">
                <a:moveTo>
                  <a:pt x="2750057" y="3316985"/>
                </a:moveTo>
                <a:lnTo>
                  <a:pt x="0" y="3316985"/>
                </a:lnTo>
                <a:lnTo>
                  <a:pt x="0" y="0"/>
                </a:lnTo>
                <a:lnTo>
                  <a:pt x="2750057" y="0"/>
                </a:lnTo>
                <a:lnTo>
                  <a:pt x="275005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288410"/>
                </a:lnTo>
                <a:lnTo>
                  <a:pt x="14287" y="3288410"/>
                </a:lnTo>
                <a:lnTo>
                  <a:pt x="28575" y="3302698"/>
                </a:lnTo>
                <a:lnTo>
                  <a:pt x="2750057" y="3302698"/>
                </a:lnTo>
                <a:lnTo>
                  <a:pt x="2750057" y="3316985"/>
                </a:lnTo>
                <a:close/>
              </a:path>
              <a:path w="2750184" h="331724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750184" h="3317240">
                <a:moveTo>
                  <a:pt x="272148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721482" y="14287"/>
                </a:lnTo>
                <a:lnTo>
                  <a:pt x="2721482" y="28575"/>
                </a:lnTo>
                <a:close/>
              </a:path>
              <a:path w="2750184" h="3317240">
                <a:moveTo>
                  <a:pt x="2721482" y="3302698"/>
                </a:moveTo>
                <a:lnTo>
                  <a:pt x="2721482" y="14287"/>
                </a:lnTo>
                <a:lnTo>
                  <a:pt x="2735770" y="28575"/>
                </a:lnTo>
                <a:lnTo>
                  <a:pt x="2750057" y="28575"/>
                </a:lnTo>
                <a:lnTo>
                  <a:pt x="2750057" y="3288410"/>
                </a:lnTo>
                <a:lnTo>
                  <a:pt x="2735770" y="3288410"/>
                </a:lnTo>
                <a:lnTo>
                  <a:pt x="2721482" y="3302698"/>
                </a:lnTo>
                <a:close/>
              </a:path>
              <a:path w="2750184" h="3317240">
                <a:moveTo>
                  <a:pt x="2750057" y="28575"/>
                </a:moveTo>
                <a:lnTo>
                  <a:pt x="2735770" y="28575"/>
                </a:lnTo>
                <a:lnTo>
                  <a:pt x="2721482" y="14287"/>
                </a:lnTo>
                <a:lnTo>
                  <a:pt x="2750057" y="14287"/>
                </a:lnTo>
                <a:lnTo>
                  <a:pt x="2750057" y="28575"/>
                </a:lnTo>
                <a:close/>
              </a:path>
              <a:path w="2750184" h="3317240">
                <a:moveTo>
                  <a:pt x="28575" y="3302698"/>
                </a:moveTo>
                <a:lnTo>
                  <a:pt x="14287" y="3288410"/>
                </a:lnTo>
                <a:lnTo>
                  <a:pt x="28575" y="3288410"/>
                </a:lnTo>
                <a:lnTo>
                  <a:pt x="28575" y="3302698"/>
                </a:lnTo>
                <a:close/>
              </a:path>
              <a:path w="2750184" h="3317240">
                <a:moveTo>
                  <a:pt x="2721482" y="3302698"/>
                </a:moveTo>
                <a:lnTo>
                  <a:pt x="28575" y="3302698"/>
                </a:lnTo>
                <a:lnTo>
                  <a:pt x="28575" y="3288410"/>
                </a:lnTo>
                <a:lnTo>
                  <a:pt x="2721482" y="3288410"/>
                </a:lnTo>
                <a:lnTo>
                  <a:pt x="2721482" y="3302698"/>
                </a:lnTo>
                <a:close/>
              </a:path>
              <a:path w="2750184" h="3317240">
                <a:moveTo>
                  <a:pt x="2750057" y="3302698"/>
                </a:moveTo>
                <a:lnTo>
                  <a:pt x="2721482" y="3302698"/>
                </a:lnTo>
                <a:lnTo>
                  <a:pt x="2735770" y="3288410"/>
                </a:lnTo>
                <a:lnTo>
                  <a:pt x="2750057" y="3288410"/>
                </a:lnTo>
                <a:lnTo>
                  <a:pt x="2750057" y="3302698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666386" y="5997473"/>
            <a:ext cx="0" cy="503555"/>
          </a:xfrm>
          <a:custGeom>
            <a:avLst/>
            <a:gdLst/>
            <a:ahLst/>
            <a:cxnLst/>
            <a:rect l="l" t="t" r="r" b="b"/>
            <a:pathLst>
              <a:path w="0" h="503554">
                <a:moveTo>
                  <a:pt x="0" y="0"/>
                </a:moveTo>
                <a:lnTo>
                  <a:pt x="0" y="503377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596371" y="5996940"/>
            <a:ext cx="0" cy="504825"/>
          </a:xfrm>
          <a:custGeom>
            <a:avLst/>
            <a:gdLst/>
            <a:ahLst/>
            <a:cxnLst/>
            <a:rect l="l" t="t" r="r" b="b"/>
            <a:pathLst>
              <a:path w="0" h="504825">
                <a:moveTo>
                  <a:pt x="0" y="0"/>
                </a:moveTo>
                <a:lnTo>
                  <a:pt x="0" y="504443"/>
                </a:lnTo>
              </a:path>
            </a:pathLst>
          </a:custGeom>
          <a:ln w="5486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574375" y="6109334"/>
            <a:ext cx="0" cy="224154"/>
          </a:xfrm>
          <a:custGeom>
            <a:avLst/>
            <a:gdLst/>
            <a:ahLst/>
            <a:cxnLst/>
            <a:rect l="l" t="t" r="r" b="b"/>
            <a:pathLst>
              <a:path w="0" h="224154">
                <a:moveTo>
                  <a:pt x="0" y="0"/>
                </a:moveTo>
                <a:lnTo>
                  <a:pt x="0" y="223723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480879" y="5775718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4" h="0">
                <a:moveTo>
                  <a:pt x="0" y="0"/>
                </a:moveTo>
                <a:lnTo>
                  <a:pt x="183172" y="0"/>
                </a:lnTo>
              </a:path>
            </a:pathLst>
          </a:custGeom>
          <a:ln w="125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483965" y="5352580"/>
            <a:ext cx="17716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15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1010" y="5521731"/>
            <a:ext cx="1489710" cy="405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50" spc="50" i="1">
                <a:latin typeface="Times New Roman"/>
                <a:cs typeface="Times New Roman"/>
              </a:rPr>
              <a:t>E</a:t>
            </a:r>
            <a:r>
              <a:rPr dirty="0" baseline="-24691" sz="2025" spc="37">
                <a:latin typeface="Times New Roman"/>
                <a:cs typeface="Times New Roman"/>
              </a:rPr>
              <a:t>K</a:t>
            </a:r>
            <a:r>
              <a:rPr dirty="0" baseline="-24691" sz="2025">
                <a:latin typeface="Times New Roman"/>
                <a:cs typeface="Times New Roman"/>
              </a:rPr>
              <a:t>  </a:t>
            </a:r>
            <a:r>
              <a:rPr dirty="0" baseline="-24691" sz="2025" spc="-240">
                <a:latin typeface="Times New Roman"/>
                <a:cs typeface="Times New Roman"/>
              </a:rPr>
              <a:t> </a:t>
            </a:r>
            <a:r>
              <a:rPr dirty="0" sz="2350" spc="15">
                <a:latin typeface="Symbol"/>
                <a:cs typeface="Symbol"/>
              </a:rPr>
              <a:t></a:t>
            </a:r>
            <a:r>
              <a:rPr dirty="0" sz="2350" spc="165">
                <a:latin typeface="Times New Roman"/>
                <a:cs typeface="Times New Roman"/>
              </a:rPr>
              <a:t> </a:t>
            </a:r>
            <a:r>
              <a:rPr dirty="0" baseline="-43735" sz="3525" spc="22">
                <a:latin typeface="Times New Roman"/>
                <a:cs typeface="Times New Roman"/>
              </a:rPr>
              <a:t>2</a:t>
            </a:r>
            <a:r>
              <a:rPr dirty="0" baseline="-43735" sz="3525" spc="-135">
                <a:latin typeface="Times New Roman"/>
                <a:cs typeface="Times New Roman"/>
              </a:rPr>
              <a:t> </a:t>
            </a:r>
            <a:r>
              <a:rPr dirty="0" sz="2350" spc="-15" i="1">
                <a:latin typeface="Times New Roman"/>
                <a:cs typeface="Times New Roman"/>
              </a:rPr>
              <a:t>m</a:t>
            </a:r>
            <a:r>
              <a:rPr dirty="0" baseline="-24691" sz="2025" spc="-405">
                <a:latin typeface="Times New Roman"/>
                <a:cs typeface="Times New Roman"/>
              </a:rPr>
              <a:t>e</a:t>
            </a:r>
            <a:r>
              <a:rPr dirty="0" baseline="-2222" sz="3750" b="1" i="1">
                <a:latin typeface="Monotype Corsiva"/>
                <a:cs typeface="Monotype Corsiva"/>
              </a:rPr>
              <a:t>v</a:t>
            </a:r>
            <a:r>
              <a:rPr dirty="0" baseline="-21367" sz="1950" spc="-7" b="1" i="1">
                <a:latin typeface="Times New Roman"/>
                <a:cs typeface="Times New Roman"/>
              </a:rPr>
              <a:t>c</a:t>
            </a:r>
            <a:r>
              <a:rPr dirty="0" baseline="16908" sz="1725" spc="22" b="1">
                <a:latin typeface="微软雅黑"/>
                <a:cs typeface="微软雅黑"/>
              </a:rPr>
              <a:t>2</a:t>
            </a:r>
            <a:endParaRPr baseline="16908" sz="1725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43374" y="5031447"/>
            <a:ext cx="10541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5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17025" y="4518804"/>
            <a:ext cx="183515" cy="89281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u="sng" sz="24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535"/>
              </a:spcBef>
            </a:pPr>
            <a:r>
              <a:rPr dirty="0" sz="2400" spc="5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22460" y="4784153"/>
            <a:ext cx="40449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1157" sz="3600" spc="-247" i="1">
                <a:latin typeface="Times New Roman"/>
                <a:cs typeface="Times New Roman"/>
              </a:rPr>
              <a:t>m</a:t>
            </a:r>
            <a:r>
              <a:rPr dirty="0" baseline="-21825" sz="2100" spc="-412">
                <a:latin typeface="Times New Roman"/>
                <a:cs typeface="Times New Roman"/>
              </a:rPr>
              <a:t>e</a:t>
            </a:r>
            <a:r>
              <a:rPr dirty="0" sz="2400" spc="-5" b="1" i="1">
                <a:latin typeface="Monotype Corsiva"/>
                <a:cs typeface="Monotype Corsiva"/>
              </a:rPr>
              <a:t>v</a:t>
            </a:r>
            <a:endParaRPr sz="2400">
              <a:latin typeface="Monotype Corsiva"/>
              <a:cs typeface="Monotype Corsiv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01796" y="4834318"/>
            <a:ext cx="972819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3540" algn="l"/>
              </a:tabLst>
            </a:pPr>
            <a:r>
              <a:rPr dirty="0" sz="1300" spc="-5" b="1" i="1">
                <a:latin typeface="Times New Roman"/>
                <a:cs typeface="Times New Roman"/>
              </a:rPr>
              <a:t>c	</a:t>
            </a:r>
            <a:r>
              <a:rPr dirty="0" baseline="1157" sz="3600" spc="15">
                <a:latin typeface="Symbol"/>
                <a:cs typeface="Symbol"/>
              </a:rPr>
              <a:t></a:t>
            </a:r>
            <a:r>
              <a:rPr dirty="0" baseline="1157" sz="3600" spc="-434">
                <a:latin typeface="Times New Roman"/>
                <a:cs typeface="Times New Roman"/>
              </a:rPr>
              <a:t> </a:t>
            </a:r>
            <a:r>
              <a:rPr dirty="0" baseline="1157" sz="3600" spc="7" i="1">
                <a:latin typeface="Times New Roman"/>
                <a:cs typeface="Times New Roman"/>
              </a:rPr>
              <a:t>eU</a:t>
            </a:r>
            <a:endParaRPr baseline="1157" sz="3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74821" y="4885652"/>
            <a:ext cx="117475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5" b="1">
                <a:latin typeface="微软雅黑"/>
                <a:cs typeface="微软雅黑"/>
              </a:rPr>
              <a:t>2</a:t>
            </a:r>
            <a:endParaRPr sz="115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75749" y="6352552"/>
            <a:ext cx="116839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15"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44584" y="6144285"/>
            <a:ext cx="21653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i="1">
                <a:latin typeface="Times New Roman"/>
                <a:cs typeface="Times New Roman"/>
              </a:rPr>
              <a:t>E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87316" y="6369418"/>
            <a:ext cx="116839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15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16541" y="6117983"/>
            <a:ext cx="13601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0040" algn="l"/>
                <a:tab pos="855980" algn="l"/>
              </a:tabLst>
            </a:pPr>
            <a:r>
              <a:rPr dirty="0" baseline="3401" sz="3675">
                <a:latin typeface="Symbol"/>
                <a:cs typeface="Symbol"/>
              </a:rPr>
              <a:t></a:t>
            </a:r>
            <a:r>
              <a:rPr dirty="0" baseline="3401" sz="3675">
                <a:latin typeface="Times New Roman"/>
                <a:cs typeface="Times New Roman"/>
              </a:rPr>
              <a:t>	</a:t>
            </a:r>
            <a:r>
              <a:rPr dirty="0" baseline="-3968" sz="4200" spc="-7" i="1">
                <a:latin typeface="Century Schoolbook"/>
                <a:cs typeface="Century Schoolbook"/>
              </a:rPr>
              <a:t>hν	</a:t>
            </a:r>
            <a:r>
              <a:rPr dirty="0" sz="2450">
                <a:latin typeface="Symbol"/>
                <a:cs typeface="Symbol"/>
              </a:rPr>
              <a:t></a:t>
            </a:r>
            <a:r>
              <a:rPr dirty="0" sz="2450" spc="-225">
                <a:latin typeface="Times New Roman"/>
                <a:cs typeface="Times New Roman"/>
              </a:rPr>
              <a:t> </a:t>
            </a:r>
            <a:r>
              <a:rPr dirty="0" sz="2450" spc="5" i="1">
                <a:latin typeface="Times New Roman"/>
                <a:cs typeface="Times New Roman"/>
              </a:rPr>
              <a:t>W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75412" y="5053990"/>
            <a:ext cx="10541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5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012214" y="5081561"/>
            <a:ext cx="11557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5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30340" y="4829403"/>
            <a:ext cx="18180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9475" algn="l"/>
              </a:tabLst>
            </a:pPr>
            <a:r>
              <a:rPr dirty="0" baseline="4629" sz="3600" spc="15" i="1">
                <a:latin typeface="Times New Roman"/>
                <a:cs typeface="Times New Roman"/>
              </a:rPr>
              <a:t>U</a:t>
            </a:r>
            <a:r>
              <a:rPr dirty="0" baseline="4629" sz="3600" spc="450" i="1">
                <a:latin typeface="Times New Roman"/>
                <a:cs typeface="Times New Roman"/>
              </a:rPr>
              <a:t> </a:t>
            </a:r>
            <a:r>
              <a:rPr dirty="0" baseline="4629" sz="3600" spc="7" i="1">
                <a:latin typeface="Times New Roman"/>
                <a:cs typeface="Times New Roman"/>
              </a:rPr>
              <a:t>e</a:t>
            </a:r>
            <a:r>
              <a:rPr dirty="0" baseline="4629" sz="3600" spc="-89" i="1">
                <a:latin typeface="Times New Roman"/>
                <a:cs typeface="Times New Roman"/>
              </a:rPr>
              <a:t> </a:t>
            </a:r>
            <a:r>
              <a:rPr dirty="0" baseline="4629" sz="3600" spc="15">
                <a:latin typeface="Symbol"/>
                <a:cs typeface="Symbol"/>
              </a:rPr>
              <a:t></a:t>
            </a:r>
            <a:r>
              <a:rPr dirty="0" baseline="4629" sz="3600" spc="15">
                <a:latin typeface="Times New Roman"/>
                <a:cs typeface="Times New Roman"/>
              </a:rPr>
              <a:t>	</a:t>
            </a:r>
            <a:r>
              <a:rPr dirty="0" sz="2800" spc="-5" i="1">
                <a:latin typeface="Century Schoolbook"/>
                <a:cs typeface="Century Schoolbook"/>
              </a:rPr>
              <a:t>hν</a:t>
            </a:r>
            <a:r>
              <a:rPr dirty="0" sz="2800" spc="-60" i="1">
                <a:latin typeface="Century Schoolbook"/>
                <a:cs typeface="Century Schoolbook"/>
              </a:rPr>
              <a:t> </a:t>
            </a:r>
            <a:r>
              <a:rPr dirty="0" sz="2400" spc="100">
                <a:latin typeface="Symbol"/>
                <a:cs typeface="Symbol"/>
              </a:rPr>
              <a:t></a:t>
            </a:r>
            <a:r>
              <a:rPr dirty="0" sz="2400" spc="100" i="1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741081" y="6032004"/>
            <a:ext cx="372110" cy="0"/>
          </a:xfrm>
          <a:custGeom>
            <a:avLst/>
            <a:gdLst/>
            <a:ahLst/>
            <a:cxnLst/>
            <a:rect l="l" t="t" r="r" b="b"/>
            <a:pathLst>
              <a:path w="372109" h="0">
                <a:moveTo>
                  <a:pt x="0" y="0"/>
                </a:moveTo>
                <a:lnTo>
                  <a:pt x="371678" y="0"/>
                </a:lnTo>
              </a:path>
            </a:pathLst>
          </a:custGeom>
          <a:ln w="127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846961" y="6028702"/>
            <a:ext cx="16192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5" i="1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01218" y="6028626"/>
            <a:ext cx="16192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5" i="1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46951" y="5993942"/>
            <a:ext cx="10541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5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01486" y="5741632"/>
            <a:ext cx="1879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0055" algn="l"/>
                <a:tab pos="1315085" algn="l"/>
              </a:tabLst>
            </a:pPr>
            <a:r>
              <a:rPr dirty="0" sz="2400" spc="10" i="1">
                <a:latin typeface="Times New Roman"/>
                <a:cs typeface="Times New Roman"/>
              </a:rPr>
              <a:t>U	</a:t>
            </a:r>
            <a:r>
              <a:rPr dirty="0" sz="2400" spc="10">
                <a:latin typeface="Symbol"/>
                <a:cs typeface="Symbol"/>
              </a:rPr>
              <a:t></a:t>
            </a:r>
            <a:r>
              <a:rPr dirty="0" baseline="34722" sz="3600" spc="232">
                <a:latin typeface="Times New Roman"/>
                <a:cs typeface="Times New Roman"/>
              </a:rPr>
              <a:t> </a:t>
            </a:r>
            <a:r>
              <a:rPr dirty="0" u="heavy" baseline="34722" sz="3600" spc="7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dirty="0" baseline="34722" sz="3600" spc="419" i="1">
                <a:latin typeface="Times New Roman"/>
                <a:cs typeface="Times New Roman"/>
              </a:rPr>
              <a:t> </a:t>
            </a:r>
            <a:r>
              <a:rPr dirty="0" baseline="-3968" sz="4200" spc="-7" i="1">
                <a:latin typeface="Century Schoolbook"/>
                <a:cs typeface="Century Schoolbook"/>
              </a:rPr>
              <a:t>ν	</a:t>
            </a:r>
            <a:r>
              <a:rPr dirty="0" sz="2400" spc="10">
                <a:latin typeface="Symbol"/>
                <a:cs typeface="Symbol"/>
              </a:rPr>
              <a:t></a:t>
            </a:r>
            <a:r>
              <a:rPr dirty="0" sz="2400" spc="-295">
                <a:latin typeface="Times New Roman"/>
                <a:cs typeface="Times New Roman"/>
              </a:rPr>
              <a:t> </a:t>
            </a:r>
            <a:r>
              <a:rPr dirty="0" baseline="35879" sz="3600" spc="-52" i="1">
                <a:latin typeface="Times New Roman"/>
                <a:cs typeface="Times New Roman"/>
              </a:rPr>
              <a:t>W</a:t>
            </a:r>
            <a:r>
              <a:rPr dirty="0" baseline="35714" sz="2100" spc="-52">
                <a:latin typeface="Times New Roman"/>
                <a:cs typeface="Times New Roman"/>
              </a:rPr>
              <a:t>0</a:t>
            </a:r>
            <a:endParaRPr baseline="35714"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3145" y="2285441"/>
            <a:ext cx="361607" cy="27735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74435" y="1048511"/>
            <a:ext cx="5928360" cy="2596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52027" y="4727892"/>
            <a:ext cx="24358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Arial"/>
                <a:cs typeface="Arial"/>
              </a:rPr>
              <a:t>ν </a:t>
            </a:r>
            <a:r>
              <a:rPr dirty="0" baseline="-17094" sz="1950" spc="-7">
                <a:latin typeface="Arial"/>
                <a:cs typeface="Arial"/>
              </a:rPr>
              <a:t>c </a:t>
            </a:r>
            <a:r>
              <a:rPr dirty="0" sz="2000" spc="5">
                <a:latin typeface="宋体"/>
                <a:cs typeface="宋体"/>
              </a:rPr>
              <a:t>＝ </a:t>
            </a:r>
            <a:r>
              <a:rPr dirty="0" sz="2000" spc="-5">
                <a:latin typeface="Arial"/>
                <a:cs typeface="Arial"/>
              </a:rPr>
              <a:t>4.27 </a:t>
            </a:r>
            <a:r>
              <a:rPr dirty="0" sz="2000" spc="5">
                <a:latin typeface="宋体"/>
                <a:cs typeface="宋体"/>
              </a:rPr>
              <a:t>×</a:t>
            </a:r>
            <a:r>
              <a:rPr dirty="0" sz="2000" spc="-605">
                <a:latin typeface="宋体"/>
                <a:cs typeface="宋体"/>
              </a:rPr>
              <a:t> </a:t>
            </a:r>
            <a:r>
              <a:rPr dirty="0" sz="2000" spc="-5">
                <a:latin typeface="Arial"/>
                <a:cs typeface="Arial"/>
              </a:rPr>
              <a:t>10</a:t>
            </a:r>
            <a:r>
              <a:rPr dirty="0" baseline="21367" sz="1950" spc="-7">
                <a:latin typeface="Arial"/>
                <a:cs typeface="Arial"/>
              </a:rPr>
              <a:t>14 </a:t>
            </a:r>
            <a:r>
              <a:rPr dirty="0" sz="2000">
                <a:latin typeface="Arial"/>
                <a:cs typeface="Arial"/>
              </a:rPr>
              <a:t>Hz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71064" y="3785235"/>
            <a:ext cx="2566035" cy="6394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dirty="0" sz="2000">
                <a:latin typeface="微软雅黑"/>
                <a:cs typeface="微软雅黑"/>
              </a:rPr>
              <a:t>入射光频率等于该金</a:t>
            </a:r>
            <a:r>
              <a:rPr dirty="0" sz="2000">
                <a:latin typeface="微软雅黑"/>
                <a:cs typeface="微软雅黑"/>
              </a:rPr>
              <a:t>属 </a:t>
            </a:r>
            <a:r>
              <a:rPr dirty="0" sz="2000">
                <a:latin typeface="微软雅黑"/>
                <a:cs typeface="微软雅黑"/>
              </a:rPr>
              <a:t>的极限频</a:t>
            </a:r>
            <a:r>
              <a:rPr dirty="0" sz="2000" spc="5">
                <a:latin typeface="微软雅黑"/>
                <a:cs typeface="微软雅黑"/>
              </a:rPr>
              <a:t>率</a:t>
            </a:r>
            <a:r>
              <a:rPr dirty="0" sz="2000" spc="-20">
                <a:latin typeface="微软雅黑"/>
                <a:cs typeface="微软雅黑"/>
              </a:rPr>
              <a:t> </a:t>
            </a:r>
            <a:r>
              <a:rPr dirty="0" sz="2000" i="1">
                <a:latin typeface="Arial"/>
                <a:cs typeface="Arial"/>
              </a:rPr>
              <a:t>ν</a:t>
            </a:r>
            <a:r>
              <a:rPr dirty="0" sz="2000" spc="-15" i="1">
                <a:latin typeface="Arial"/>
                <a:cs typeface="Arial"/>
              </a:rPr>
              <a:t> </a:t>
            </a:r>
            <a:r>
              <a:rPr dirty="0" baseline="-17094" sz="1950" spc="-7">
                <a:latin typeface="微软雅黑"/>
                <a:cs typeface="微软雅黑"/>
              </a:rPr>
              <a:t>c</a:t>
            </a:r>
            <a:endParaRPr baseline="-17094" sz="195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44123" y="2580817"/>
            <a:ext cx="11557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5"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67889" y="3172460"/>
            <a:ext cx="2566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即恰好没有光电子逸</a:t>
            </a:r>
            <a:r>
              <a:rPr dirty="0" sz="2000" spc="5">
                <a:latin typeface="微软雅黑"/>
                <a:cs typeface="微软雅黑"/>
              </a:rPr>
              <a:t>出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72639" y="1153160"/>
            <a:ext cx="6832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微软雅黑"/>
                <a:cs typeface="微软雅黑"/>
              </a:rPr>
              <a:t>（1</a:t>
            </a:r>
            <a:r>
              <a:rPr dirty="0" sz="2000" spc="5"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01677" y="3937635"/>
            <a:ext cx="576326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44830" marR="5080" indent="-53213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微软雅黑"/>
                <a:cs typeface="微软雅黑"/>
              </a:rPr>
              <a:t>（2）在图中选取两个与直线偏离最小的点，即表</a:t>
            </a:r>
            <a:r>
              <a:rPr dirty="0" sz="2000">
                <a:latin typeface="微软雅黑"/>
                <a:cs typeface="微软雅黑"/>
              </a:rPr>
              <a:t>中 </a:t>
            </a:r>
            <a:r>
              <a:rPr dirty="0" sz="2000" spc="5">
                <a:latin typeface="微软雅黑"/>
                <a:cs typeface="微软雅黑"/>
              </a:rPr>
              <a:t>第</a:t>
            </a:r>
            <a:r>
              <a:rPr dirty="0" sz="2000" spc="-3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1</a:t>
            </a:r>
            <a:r>
              <a:rPr dirty="0" sz="2000" spc="-2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列和</a:t>
            </a:r>
            <a:r>
              <a:rPr dirty="0" sz="2000" spc="5">
                <a:latin typeface="微软雅黑"/>
                <a:cs typeface="微软雅黑"/>
              </a:rPr>
              <a:t>第</a:t>
            </a:r>
            <a:r>
              <a:rPr dirty="0" sz="2000" spc="-3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5</a:t>
            </a:r>
            <a:r>
              <a:rPr dirty="0" sz="2000" spc="-2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列数据，由它们计算直线的斜</a:t>
            </a:r>
            <a:r>
              <a:rPr dirty="0" sz="2000" spc="5">
                <a:latin typeface="微软雅黑"/>
                <a:cs typeface="微软雅黑"/>
              </a:rPr>
              <a:t>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21298" y="5166969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 h="0">
                <a:moveTo>
                  <a:pt x="0" y="0"/>
                </a:moveTo>
                <a:lnTo>
                  <a:pt x="174510" y="0"/>
                </a:lnTo>
              </a:path>
            </a:pathLst>
          </a:custGeom>
          <a:ln w="117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94958" y="5166969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 h="0">
                <a:moveTo>
                  <a:pt x="0" y="0"/>
                </a:moveTo>
                <a:lnTo>
                  <a:pt x="533044" y="0"/>
                </a:lnTo>
              </a:path>
            </a:pathLst>
          </a:custGeom>
          <a:ln w="117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127163" y="5166969"/>
            <a:ext cx="1507490" cy="0"/>
          </a:xfrm>
          <a:custGeom>
            <a:avLst/>
            <a:gdLst/>
            <a:ahLst/>
            <a:cxnLst/>
            <a:rect l="l" t="t" r="r" b="b"/>
            <a:pathLst>
              <a:path w="1507490" h="0">
                <a:moveTo>
                  <a:pt x="0" y="0"/>
                </a:moveTo>
                <a:lnTo>
                  <a:pt x="1507490" y="0"/>
                </a:lnTo>
              </a:path>
            </a:pathLst>
          </a:custGeom>
          <a:ln w="117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824328" y="4942509"/>
            <a:ext cx="297878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86740" algn="l"/>
                <a:tab pos="2516505" algn="l"/>
              </a:tabLst>
            </a:pPr>
            <a:r>
              <a:rPr dirty="0" sz="2200" spc="10">
                <a:latin typeface="Times New Roman"/>
                <a:cs typeface="Times New Roman"/>
              </a:rPr>
              <a:t>10	</a:t>
            </a:r>
            <a:r>
              <a:rPr dirty="0" sz="2200" spc="15">
                <a:latin typeface="Times New Roman"/>
                <a:cs typeface="Times New Roman"/>
              </a:rPr>
              <a:t>V </a:t>
            </a:r>
            <a:r>
              <a:rPr dirty="0" sz="2200" spc="-220">
                <a:latin typeface="Symbol"/>
                <a:cs typeface="Symbol"/>
              </a:rPr>
              <a:t></a:t>
            </a:r>
            <a:r>
              <a:rPr dirty="0" sz="2200" spc="-220">
                <a:latin typeface="Times New Roman"/>
                <a:cs typeface="Times New Roman"/>
              </a:rPr>
              <a:t>s</a:t>
            </a:r>
            <a:r>
              <a:rPr dirty="0" sz="2200" spc="-295">
                <a:latin typeface="Times New Roman"/>
                <a:cs typeface="Times New Roman"/>
              </a:rPr>
              <a:t> </a:t>
            </a:r>
            <a:r>
              <a:rPr dirty="0" sz="2200" spc="10">
                <a:latin typeface="Symbol"/>
                <a:cs typeface="Symbol"/>
              </a:rPr>
              <a:t>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35">
                <a:latin typeface="Times New Roman"/>
                <a:cs typeface="Times New Roman"/>
              </a:rPr>
              <a:t>3.93</a:t>
            </a:r>
            <a:r>
              <a:rPr dirty="0" sz="2200" spc="35">
                <a:latin typeface="Symbol"/>
                <a:cs typeface="Symbol"/>
              </a:rPr>
              <a:t></a:t>
            </a:r>
            <a:r>
              <a:rPr dirty="0" sz="2200" spc="35">
                <a:latin typeface="Times New Roman"/>
                <a:cs typeface="Times New Roman"/>
              </a:rPr>
              <a:t>10	</a:t>
            </a:r>
            <a:r>
              <a:rPr dirty="0" sz="2200" spc="15">
                <a:latin typeface="Times New Roman"/>
                <a:cs typeface="Times New Roman"/>
              </a:rPr>
              <a:t>V</a:t>
            </a:r>
            <a:r>
              <a:rPr dirty="0" sz="2200" spc="-320">
                <a:latin typeface="Times New Roman"/>
                <a:cs typeface="Times New Roman"/>
              </a:rPr>
              <a:t> </a:t>
            </a:r>
            <a:r>
              <a:rPr dirty="0" sz="2200" spc="-220">
                <a:latin typeface="Symbol"/>
                <a:cs typeface="Symbol"/>
              </a:rPr>
              <a:t></a:t>
            </a:r>
            <a:r>
              <a:rPr dirty="0" sz="2200" spc="-22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16885" y="4934305"/>
            <a:ext cx="22040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2470" algn="l"/>
              </a:tabLst>
            </a:pPr>
            <a:r>
              <a:rPr dirty="0" sz="1300" spc="-75">
                <a:latin typeface="Symbol"/>
                <a:cs typeface="Symbol"/>
              </a:rPr>
              <a:t></a:t>
            </a:r>
            <a:r>
              <a:rPr dirty="0" sz="1300">
                <a:latin typeface="Times New Roman"/>
                <a:cs typeface="Times New Roman"/>
              </a:rPr>
              <a:t>14	</a:t>
            </a:r>
            <a:r>
              <a:rPr dirty="0" sz="1300" spc="-95">
                <a:latin typeface="Times New Roman"/>
                <a:cs typeface="Times New Roman"/>
              </a:rPr>
              <a:t>-</a:t>
            </a:r>
            <a:r>
              <a:rPr dirty="0" sz="1300">
                <a:latin typeface="Times New Roman"/>
                <a:cs typeface="Times New Roman"/>
              </a:rPr>
              <a:t>15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34265" y="5147607"/>
            <a:ext cx="280479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48005" algn="l"/>
                <a:tab pos="1307465" algn="l"/>
              </a:tabLst>
            </a:pPr>
            <a:r>
              <a:rPr dirty="0" sz="2200" spc="10" i="1">
                <a:latin typeface="Times New Roman"/>
                <a:cs typeface="Times New Roman"/>
              </a:rPr>
              <a:t>e	</a:t>
            </a:r>
            <a:r>
              <a:rPr dirty="0" sz="2200" spc="-114">
                <a:latin typeface="Symbol"/>
                <a:cs typeface="Symbol"/>
              </a:rPr>
              <a:t></a:t>
            </a:r>
            <a:r>
              <a:rPr dirty="0" sz="2350" spc="-114" i="1">
                <a:latin typeface="Symbol"/>
                <a:cs typeface="Symbol"/>
              </a:rPr>
              <a:t></a:t>
            </a:r>
            <a:r>
              <a:rPr dirty="0" sz="2350" spc="-114">
                <a:latin typeface="Times New Roman"/>
                <a:cs typeface="Times New Roman"/>
              </a:rPr>
              <a:t>	</a:t>
            </a:r>
            <a:r>
              <a:rPr dirty="0" sz="2200" spc="35">
                <a:latin typeface="Times New Roman"/>
                <a:cs typeface="Times New Roman"/>
              </a:rPr>
              <a:t>6.501</a:t>
            </a:r>
            <a:r>
              <a:rPr dirty="0" sz="2200" spc="35">
                <a:latin typeface="Symbol"/>
                <a:cs typeface="Symbol"/>
              </a:rPr>
              <a:t></a:t>
            </a:r>
            <a:r>
              <a:rPr dirty="0" sz="2200" spc="-305">
                <a:latin typeface="Times New Roman"/>
                <a:cs typeface="Times New Roman"/>
              </a:rPr>
              <a:t> </a:t>
            </a:r>
            <a:r>
              <a:rPr dirty="0" sz="2200" spc="5">
                <a:latin typeface="Times New Roman"/>
                <a:cs typeface="Times New Roman"/>
              </a:rPr>
              <a:t>5.644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27661" y="4765141"/>
            <a:ext cx="301498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 i="1">
                <a:latin typeface="Times New Roman"/>
                <a:cs typeface="Times New Roman"/>
              </a:rPr>
              <a:t>h </a:t>
            </a:r>
            <a:r>
              <a:rPr dirty="0" baseline="-35353" sz="3300" spc="15">
                <a:latin typeface="Symbol"/>
                <a:cs typeface="Symbol"/>
              </a:rPr>
              <a:t></a:t>
            </a:r>
            <a:r>
              <a:rPr dirty="0" baseline="-35353" sz="3300" spc="15">
                <a:latin typeface="Times New Roman"/>
                <a:cs typeface="Times New Roman"/>
              </a:rPr>
              <a:t> </a:t>
            </a:r>
            <a:r>
              <a:rPr dirty="0" sz="2200" spc="60">
                <a:latin typeface="Symbol"/>
                <a:cs typeface="Symbol"/>
              </a:rPr>
              <a:t></a:t>
            </a:r>
            <a:r>
              <a:rPr dirty="0" sz="2200" spc="60" i="1">
                <a:latin typeface="Times New Roman"/>
                <a:cs typeface="Times New Roman"/>
              </a:rPr>
              <a:t>U</a:t>
            </a:r>
            <a:r>
              <a:rPr dirty="0" baseline="-23504" sz="1950" spc="89">
                <a:latin typeface="Times New Roman"/>
                <a:cs typeface="Times New Roman"/>
              </a:rPr>
              <a:t>c </a:t>
            </a:r>
            <a:r>
              <a:rPr dirty="0" baseline="-35353" sz="3300" spc="15">
                <a:latin typeface="Symbol"/>
                <a:cs typeface="Symbol"/>
              </a:rPr>
              <a:t></a:t>
            </a:r>
            <a:r>
              <a:rPr dirty="0" baseline="-35353" sz="3300" spc="15">
                <a:latin typeface="Times New Roman"/>
                <a:cs typeface="Times New Roman"/>
              </a:rPr>
              <a:t> </a:t>
            </a:r>
            <a:r>
              <a:rPr dirty="0" sz="2200" spc="5">
                <a:latin typeface="Times New Roman"/>
                <a:cs typeface="Times New Roman"/>
              </a:rPr>
              <a:t>0.878 </a:t>
            </a:r>
            <a:r>
              <a:rPr dirty="0" sz="2200" spc="10">
                <a:latin typeface="Symbol"/>
                <a:cs typeface="Symbol"/>
              </a:rPr>
              <a:t>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 spc="5">
                <a:latin typeface="Times New Roman"/>
                <a:cs typeface="Times New Roman"/>
              </a:rPr>
              <a:t>0.541</a:t>
            </a:r>
            <a:r>
              <a:rPr dirty="0" sz="2200" spc="-345">
                <a:latin typeface="Times New Roman"/>
                <a:cs typeface="Times New Roman"/>
              </a:rPr>
              <a:t> </a:t>
            </a:r>
            <a:r>
              <a:rPr dirty="0" baseline="-35353" sz="3300" spc="15">
                <a:latin typeface="Symbol"/>
                <a:cs typeface="Symbol"/>
              </a:rPr>
              <a:t></a:t>
            </a:r>
            <a:endParaRPr baseline="-35353" sz="33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74002" y="5907747"/>
            <a:ext cx="229552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20">
                <a:latin typeface="Symbol"/>
                <a:cs typeface="Symbol"/>
              </a:rPr>
              <a:t></a:t>
            </a:r>
            <a:r>
              <a:rPr dirty="0" sz="2200" spc="-370">
                <a:latin typeface="Times New Roman"/>
                <a:cs typeface="Times New Roman"/>
              </a:rPr>
              <a:t> </a:t>
            </a:r>
            <a:r>
              <a:rPr dirty="0" sz="2200" spc="10" i="1">
                <a:latin typeface="Times New Roman"/>
                <a:cs typeface="Times New Roman"/>
              </a:rPr>
              <a:t>h</a:t>
            </a:r>
            <a:r>
              <a:rPr dirty="0" sz="2200" spc="-55" i="1">
                <a:latin typeface="Times New Roman"/>
                <a:cs typeface="Times New Roman"/>
              </a:rPr>
              <a:t> </a:t>
            </a:r>
            <a:r>
              <a:rPr dirty="0" sz="2200" spc="10">
                <a:latin typeface="Symbol"/>
                <a:cs typeface="Symbol"/>
              </a:rPr>
              <a:t>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35">
                <a:latin typeface="Times New Roman"/>
                <a:cs typeface="Times New Roman"/>
              </a:rPr>
              <a:t>6.30</a:t>
            </a:r>
            <a:r>
              <a:rPr dirty="0" sz="2200" spc="35">
                <a:latin typeface="Symbol"/>
                <a:cs typeface="Symbol"/>
              </a:rPr>
              <a:t></a:t>
            </a:r>
            <a:r>
              <a:rPr dirty="0" sz="2200" spc="35">
                <a:latin typeface="Times New Roman"/>
                <a:cs typeface="Times New Roman"/>
              </a:rPr>
              <a:t>10</a:t>
            </a:r>
            <a:r>
              <a:rPr dirty="0" baseline="42735" sz="1950" spc="52">
                <a:latin typeface="Times New Roman"/>
                <a:cs typeface="Times New Roman"/>
              </a:rPr>
              <a:t>-34</a:t>
            </a:r>
            <a:r>
              <a:rPr dirty="0" baseline="42735" sz="1950" spc="-127">
                <a:latin typeface="Times New Roman"/>
                <a:cs typeface="Times New Roman"/>
              </a:rPr>
              <a:t> </a:t>
            </a:r>
            <a:r>
              <a:rPr dirty="0" sz="2200" spc="10">
                <a:latin typeface="Times New Roman"/>
                <a:cs typeface="Times New Roman"/>
              </a:rPr>
              <a:t>J</a:t>
            </a:r>
            <a:r>
              <a:rPr dirty="0" sz="2200" spc="-250">
                <a:latin typeface="Times New Roman"/>
                <a:cs typeface="Times New Roman"/>
              </a:rPr>
              <a:t> </a:t>
            </a:r>
            <a:r>
              <a:rPr dirty="0" sz="2200" spc="-220">
                <a:latin typeface="Symbol"/>
                <a:cs typeface="Symbol"/>
              </a:rPr>
              <a:t></a:t>
            </a:r>
            <a:r>
              <a:rPr dirty="0" sz="2200" spc="-22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404937" y="5359400"/>
            <a:ext cx="4250055" cy="1148080"/>
          </a:xfrm>
          <a:custGeom>
            <a:avLst/>
            <a:gdLst/>
            <a:ahLst/>
            <a:cxnLst/>
            <a:rect l="l" t="t" r="r" b="b"/>
            <a:pathLst>
              <a:path w="4250055" h="1148079">
                <a:moveTo>
                  <a:pt x="4249737" y="1147762"/>
                </a:moveTo>
                <a:lnTo>
                  <a:pt x="0" y="1147762"/>
                </a:lnTo>
                <a:lnTo>
                  <a:pt x="0" y="0"/>
                </a:lnTo>
                <a:lnTo>
                  <a:pt x="4249737" y="0"/>
                </a:lnTo>
                <a:lnTo>
                  <a:pt x="42497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38237"/>
                </a:lnTo>
                <a:lnTo>
                  <a:pt x="4762" y="1138237"/>
                </a:lnTo>
                <a:lnTo>
                  <a:pt x="9525" y="1143000"/>
                </a:lnTo>
                <a:lnTo>
                  <a:pt x="4249737" y="1143000"/>
                </a:lnTo>
                <a:lnTo>
                  <a:pt x="4249737" y="1147762"/>
                </a:lnTo>
                <a:close/>
              </a:path>
              <a:path w="4250055" h="114807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250055" h="1148079">
                <a:moveTo>
                  <a:pt x="42402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240212" y="4762"/>
                </a:lnTo>
                <a:lnTo>
                  <a:pt x="4240212" y="9525"/>
                </a:lnTo>
                <a:close/>
              </a:path>
              <a:path w="4250055" h="1148079">
                <a:moveTo>
                  <a:pt x="4240212" y="1143000"/>
                </a:moveTo>
                <a:lnTo>
                  <a:pt x="4240212" y="4762"/>
                </a:lnTo>
                <a:lnTo>
                  <a:pt x="4244975" y="9525"/>
                </a:lnTo>
                <a:lnTo>
                  <a:pt x="4249737" y="9525"/>
                </a:lnTo>
                <a:lnTo>
                  <a:pt x="4249737" y="1138237"/>
                </a:lnTo>
                <a:lnTo>
                  <a:pt x="4244975" y="1138237"/>
                </a:lnTo>
                <a:lnTo>
                  <a:pt x="4240212" y="1143000"/>
                </a:lnTo>
                <a:close/>
              </a:path>
              <a:path w="4250055" h="1148079">
                <a:moveTo>
                  <a:pt x="4249737" y="9525"/>
                </a:moveTo>
                <a:lnTo>
                  <a:pt x="4244975" y="9525"/>
                </a:lnTo>
                <a:lnTo>
                  <a:pt x="4240212" y="4762"/>
                </a:lnTo>
                <a:lnTo>
                  <a:pt x="4249737" y="4762"/>
                </a:lnTo>
                <a:lnTo>
                  <a:pt x="4249737" y="9525"/>
                </a:lnTo>
                <a:close/>
              </a:path>
              <a:path w="4250055" h="1148079">
                <a:moveTo>
                  <a:pt x="9525" y="1143000"/>
                </a:moveTo>
                <a:lnTo>
                  <a:pt x="4762" y="1138237"/>
                </a:lnTo>
                <a:lnTo>
                  <a:pt x="9525" y="1138237"/>
                </a:lnTo>
                <a:lnTo>
                  <a:pt x="9525" y="1143000"/>
                </a:lnTo>
                <a:close/>
              </a:path>
              <a:path w="4250055" h="1148079">
                <a:moveTo>
                  <a:pt x="4240212" y="1143000"/>
                </a:moveTo>
                <a:lnTo>
                  <a:pt x="9525" y="1143000"/>
                </a:lnTo>
                <a:lnTo>
                  <a:pt x="9525" y="1138237"/>
                </a:lnTo>
                <a:lnTo>
                  <a:pt x="4240212" y="1138237"/>
                </a:lnTo>
                <a:lnTo>
                  <a:pt x="4240212" y="1143000"/>
                </a:lnTo>
                <a:close/>
              </a:path>
              <a:path w="4250055" h="1148079">
                <a:moveTo>
                  <a:pt x="4249737" y="1143000"/>
                </a:moveTo>
                <a:lnTo>
                  <a:pt x="4240212" y="1143000"/>
                </a:lnTo>
                <a:lnTo>
                  <a:pt x="4244975" y="1138237"/>
                </a:lnTo>
                <a:lnTo>
                  <a:pt x="4249737" y="1138237"/>
                </a:lnTo>
                <a:lnTo>
                  <a:pt x="4249737" y="1143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488439" y="5344604"/>
            <a:ext cx="3917950" cy="109347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40"/>
              </a:spcBef>
              <a:tabLst>
                <a:tab pos="527050" algn="l"/>
                <a:tab pos="1363980" algn="l"/>
              </a:tabLst>
            </a:pPr>
            <a:r>
              <a:rPr dirty="0" sz="2000">
                <a:latin typeface="微软雅黑"/>
                <a:cs typeface="微软雅黑"/>
              </a:rPr>
              <a:t>实验的结果是，这种方法得出的</a:t>
            </a:r>
            <a:r>
              <a:rPr dirty="0" sz="2000" spc="5">
                <a:latin typeface="微软雅黑"/>
                <a:cs typeface="微软雅黑"/>
              </a:rPr>
              <a:t>普 </a:t>
            </a:r>
            <a:r>
              <a:rPr dirty="0" sz="2000">
                <a:latin typeface="微软雅黑"/>
                <a:cs typeface="微软雅黑"/>
              </a:rPr>
              <a:t>朗克常</a:t>
            </a:r>
            <a:r>
              <a:rPr dirty="0" sz="2000" spc="5">
                <a:latin typeface="微软雅黑"/>
                <a:cs typeface="微软雅黑"/>
              </a:rPr>
              <a:t>量</a:t>
            </a:r>
            <a:r>
              <a:rPr dirty="0" sz="2000">
                <a:latin typeface="微软雅黑"/>
                <a:cs typeface="微软雅黑"/>
              </a:rPr>
              <a:t>	</a:t>
            </a:r>
            <a:r>
              <a:rPr dirty="0" sz="2000">
                <a:latin typeface="微软雅黑"/>
                <a:cs typeface="微软雅黑"/>
              </a:rPr>
              <a:t>与普朗克黑体辐射得</a:t>
            </a:r>
            <a:r>
              <a:rPr dirty="0" sz="2000">
                <a:latin typeface="微软雅黑"/>
                <a:cs typeface="微软雅黑"/>
              </a:rPr>
              <a:t>到 </a:t>
            </a:r>
            <a:r>
              <a:rPr dirty="0" sz="2000" spc="5">
                <a:latin typeface="微软雅黑"/>
                <a:cs typeface="微软雅黑"/>
              </a:rPr>
              <a:t>的	在</a:t>
            </a:r>
            <a:r>
              <a:rPr dirty="0" sz="2000" spc="-35">
                <a:latin typeface="微软雅黑"/>
                <a:cs typeface="微软雅黑"/>
              </a:rPr>
              <a:t> </a:t>
            </a:r>
            <a:r>
              <a:rPr dirty="0" sz="2000" spc="-5">
                <a:latin typeface="微软雅黑"/>
                <a:cs typeface="微软雅黑"/>
              </a:rPr>
              <a:t>0.5%</a:t>
            </a:r>
            <a:r>
              <a:rPr dirty="0" sz="2000" spc="-3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误差范围内是一致</a:t>
            </a:r>
            <a:r>
              <a:rPr dirty="0" sz="2000" spc="5">
                <a:latin typeface="微软雅黑"/>
                <a:cs typeface="微软雅黑"/>
              </a:rPr>
              <a:t>的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586177" y="5767590"/>
            <a:ext cx="224840" cy="2842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749247" y="6133350"/>
            <a:ext cx="224840" cy="2842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505756" y="1418729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 h="0">
                <a:moveTo>
                  <a:pt x="0" y="0"/>
                </a:moveTo>
                <a:lnTo>
                  <a:pt x="371678" y="0"/>
                </a:lnTo>
              </a:path>
            </a:pathLst>
          </a:custGeom>
          <a:ln w="127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611636" y="1415427"/>
            <a:ext cx="16192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5" i="1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650703" y="1418653"/>
            <a:ext cx="189865" cy="0"/>
          </a:xfrm>
          <a:custGeom>
            <a:avLst/>
            <a:gdLst/>
            <a:ahLst/>
            <a:cxnLst/>
            <a:rect l="l" t="t" r="r" b="b"/>
            <a:pathLst>
              <a:path w="189864" h="0">
                <a:moveTo>
                  <a:pt x="0" y="0"/>
                </a:moveTo>
                <a:lnTo>
                  <a:pt x="189674" y="0"/>
                </a:lnTo>
              </a:path>
            </a:pathLst>
          </a:custGeom>
          <a:ln w="127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665893" y="1415351"/>
            <a:ext cx="16192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5" i="1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11626" y="1380667"/>
            <a:ext cx="10541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5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66161" y="1128356"/>
            <a:ext cx="1879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0055" algn="l"/>
                <a:tab pos="1315085" algn="l"/>
              </a:tabLst>
            </a:pPr>
            <a:r>
              <a:rPr dirty="0" sz="2400" spc="10" i="1">
                <a:latin typeface="Times New Roman"/>
                <a:cs typeface="Times New Roman"/>
              </a:rPr>
              <a:t>U	</a:t>
            </a:r>
            <a:r>
              <a:rPr dirty="0" sz="2400" spc="10">
                <a:latin typeface="Symbol"/>
                <a:cs typeface="Symbol"/>
              </a:rPr>
              <a:t></a:t>
            </a:r>
            <a:r>
              <a:rPr dirty="0" sz="2400" spc="155">
                <a:latin typeface="Times New Roman"/>
                <a:cs typeface="Times New Roman"/>
              </a:rPr>
              <a:t> </a:t>
            </a:r>
            <a:r>
              <a:rPr dirty="0" baseline="34722" sz="3600" spc="7" i="1">
                <a:latin typeface="Times New Roman"/>
                <a:cs typeface="Times New Roman"/>
              </a:rPr>
              <a:t>h</a:t>
            </a:r>
            <a:r>
              <a:rPr dirty="0" baseline="34722" sz="3600" spc="419" i="1">
                <a:latin typeface="Times New Roman"/>
                <a:cs typeface="Times New Roman"/>
              </a:rPr>
              <a:t> </a:t>
            </a:r>
            <a:r>
              <a:rPr dirty="0" baseline="-3968" sz="4200" spc="-7" i="1">
                <a:latin typeface="Century Schoolbook"/>
                <a:cs typeface="Century Schoolbook"/>
              </a:rPr>
              <a:t>ν	</a:t>
            </a:r>
            <a:r>
              <a:rPr dirty="0" sz="2400" spc="10">
                <a:latin typeface="Symbol"/>
                <a:cs typeface="Symbol"/>
              </a:rPr>
              <a:t></a:t>
            </a:r>
            <a:r>
              <a:rPr dirty="0" sz="2400" spc="-295">
                <a:latin typeface="Times New Roman"/>
                <a:cs typeface="Times New Roman"/>
              </a:rPr>
              <a:t> </a:t>
            </a:r>
            <a:r>
              <a:rPr dirty="0" baseline="35879" sz="3600" spc="-52" i="1">
                <a:latin typeface="Times New Roman"/>
                <a:cs typeface="Times New Roman"/>
              </a:rPr>
              <a:t>W</a:t>
            </a:r>
            <a:r>
              <a:rPr dirty="0" baseline="35714" sz="2100" spc="-52">
                <a:latin typeface="Times New Roman"/>
                <a:cs typeface="Times New Roman"/>
              </a:rPr>
              <a:t>0</a:t>
            </a:r>
            <a:endParaRPr baseline="35714" sz="21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52836" y="2588285"/>
            <a:ext cx="10541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5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82556" y="2383548"/>
            <a:ext cx="187388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82675" algn="l"/>
                <a:tab pos="1473200" algn="l"/>
              </a:tabLst>
            </a:pPr>
            <a:r>
              <a:rPr dirty="0" sz="2400" spc="10">
                <a:latin typeface="Symbol"/>
                <a:cs typeface="Symbol"/>
              </a:rPr>
              <a:t>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5" i="1">
                <a:latin typeface="Times New Roman"/>
                <a:cs typeface="Times New Roman"/>
              </a:rPr>
              <a:t>eU	</a:t>
            </a:r>
            <a:r>
              <a:rPr dirty="0" baseline="1157" sz="3600" spc="15" i="1">
                <a:latin typeface="Times New Roman"/>
                <a:cs typeface="Times New Roman"/>
              </a:rPr>
              <a:t>E	</a:t>
            </a:r>
            <a:r>
              <a:rPr dirty="0" baseline="1157" sz="3600" spc="15">
                <a:latin typeface="Symbol"/>
                <a:cs typeface="Symbol"/>
              </a:rPr>
              <a:t></a:t>
            </a:r>
            <a:r>
              <a:rPr dirty="0" baseline="1157" sz="3600" spc="-247">
                <a:latin typeface="Times New Roman"/>
                <a:cs typeface="Times New Roman"/>
              </a:rPr>
              <a:t> </a:t>
            </a:r>
            <a:r>
              <a:rPr dirty="0" baseline="1157" sz="3600" spc="7">
                <a:latin typeface="Times New Roman"/>
                <a:cs typeface="Times New Roman"/>
              </a:rPr>
              <a:t>0</a:t>
            </a:r>
            <a:endParaRPr baseline="1157" sz="3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324404" y="2576614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 h="0">
                <a:moveTo>
                  <a:pt x="0" y="0"/>
                </a:moveTo>
                <a:lnTo>
                  <a:pt x="171437" y="0"/>
                </a:lnTo>
              </a:path>
            </a:pathLst>
          </a:custGeom>
          <a:ln w="123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330919" y="2574340"/>
            <a:ext cx="179070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5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26487" y="1763547"/>
            <a:ext cx="878205" cy="7715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120"/>
              </a:spcBef>
            </a:pPr>
            <a:r>
              <a:rPr dirty="0" sz="2400" spc="95" i="1">
                <a:latin typeface="Times New Roman"/>
                <a:cs typeface="Times New Roman"/>
              </a:rPr>
              <a:t>U</a:t>
            </a:r>
            <a:r>
              <a:rPr dirty="0" baseline="-23809" sz="2100" spc="142">
                <a:latin typeface="Times New Roman"/>
                <a:cs typeface="Times New Roman"/>
              </a:rPr>
              <a:t>c </a:t>
            </a:r>
            <a:r>
              <a:rPr dirty="0" sz="2400" spc="10">
                <a:latin typeface="Symbol"/>
                <a:cs typeface="Symbol"/>
              </a:rPr>
              <a:t>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5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2400" spc="5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31922" y="2340991"/>
            <a:ext cx="40449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1157" sz="3600" spc="277" i="1">
                <a:latin typeface="Times New Roman"/>
                <a:cs typeface="Times New Roman"/>
              </a:rPr>
              <a:t>m</a:t>
            </a:r>
            <a:r>
              <a:rPr dirty="0" sz="2400" spc="-5" b="1" i="1">
                <a:latin typeface="Monotype Corsiva"/>
                <a:cs typeface="Monotype Corsiva"/>
              </a:rPr>
              <a:t>v</a:t>
            </a:r>
            <a:endParaRPr sz="2400">
              <a:latin typeface="Monotype Corsiva"/>
              <a:cs typeface="Monotype Corsiv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732189" y="2519171"/>
            <a:ext cx="277495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-5952" sz="2100" spc="7">
                <a:latin typeface="Times New Roman"/>
                <a:cs typeface="Times New Roman"/>
              </a:rPr>
              <a:t>e</a:t>
            </a:r>
            <a:r>
              <a:rPr dirty="0" baseline="-5952" sz="2100" spc="509">
                <a:latin typeface="Times New Roman"/>
                <a:cs typeface="Times New Roman"/>
              </a:rPr>
              <a:t> </a:t>
            </a:r>
            <a:r>
              <a:rPr dirty="0" sz="1300" spc="-5" b="1" i="1">
                <a:latin typeface="Times New Roman"/>
                <a:cs typeface="Times New Roman"/>
              </a:rPr>
              <a:t>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84284" y="2442489"/>
            <a:ext cx="117475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5" b="1">
                <a:latin typeface="微软雅黑"/>
                <a:cs typeface="微软雅黑"/>
              </a:rPr>
              <a:t>2</a:t>
            </a:r>
            <a:endParaRPr sz="115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4326" y="2285441"/>
            <a:ext cx="358343" cy="15721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71102" y="1299210"/>
            <a:ext cx="8312784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密立根后来写道：“经过十年之久的实验</a:t>
            </a:r>
            <a:r>
              <a:rPr dirty="0" sz="2000" spc="-10">
                <a:latin typeface="微软雅黑"/>
                <a:cs typeface="微软雅黑"/>
              </a:rPr>
              <a:t>……</a:t>
            </a:r>
            <a:r>
              <a:rPr dirty="0" sz="2000">
                <a:latin typeface="微软雅黑"/>
                <a:cs typeface="微软雅黑"/>
              </a:rPr>
              <a:t>与我自己的预料相反，这项</a:t>
            </a:r>
            <a:r>
              <a:rPr dirty="0" sz="2000">
                <a:latin typeface="微软雅黑"/>
                <a:cs typeface="微软雅黑"/>
              </a:rPr>
              <a:t>工 </a:t>
            </a:r>
            <a:r>
              <a:rPr dirty="0" sz="2000">
                <a:latin typeface="微软雅黑"/>
                <a:cs typeface="微软雅黑"/>
              </a:rPr>
              <a:t>作终于成了爱因斯坦方程式在很小误差范围内的直接实验证据。</a:t>
            </a:r>
            <a:r>
              <a:rPr dirty="0" sz="2000" spc="5">
                <a:latin typeface="微软雅黑"/>
                <a:cs typeface="微软雅黑"/>
              </a:rPr>
              <a:t>”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0339" y="4614189"/>
            <a:ext cx="3642995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2000">
                <a:latin typeface="微软雅黑"/>
                <a:cs typeface="微软雅黑"/>
              </a:rPr>
              <a:t>爱因斯坦提出的光子假说成功</a:t>
            </a:r>
            <a:r>
              <a:rPr dirty="0" sz="2000" spc="5">
                <a:latin typeface="微软雅黑"/>
                <a:cs typeface="微软雅黑"/>
              </a:rPr>
              <a:t>地 </a:t>
            </a:r>
            <a:r>
              <a:rPr dirty="0" sz="2000" spc="-5">
                <a:latin typeface="微软雅黑"/>
                <a:cs typeface="微软雅黑"/>
              </a:rPr>
              <a:t>说明了光电效应的实验规律,荣</a:t>
            </a:r>
            <a:r>
              <a:rPr dirty="0" sz="2000" spc="5">
                <a:latin typeface="微软雅黑"/>
                <a:cs typeface="微软雅黑"/>
              </a:rPr>
              <a:t>获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000" spc="-5">
                <a:latin typeface="微软雅黑"/>
                <a:cs typeface="微软雅黑"/>
              </a:rPr>
              <a:t>1921</a:t>
            </a:r>
            <a:r>
              <a:rPr dirty="0" sz="2000">
                <a:latin typeface="微软雅黑"/>
                <a:cs typeface="微软雅黑"/>
              </a:rPr>
              <a:t>年诺贝尔物理学</a:t>
            </a:r>
            <a:r>
              <a:rPr dirty="0" sz="2000" spc="5">
                <a:latin typeface="微软雅黑"/>
                <a:cs typeface="微软雅黑"/>
              </a:rPr>
              <a:t>奖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57955" y="2183892"/>
            <a:ext cx="1766316" cy="21960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793735" y="4588764"/>
            <a:ext cx="4244340" cy="132461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005" rIns="0" bIns="0" rtlCol="0" vert="horz">
            <a:spAutoFit/>
          </a:bodyPr>
          <a:lstStyle/>
          <a:p>
            <a:pPr marL="90170" marR="246379">
              <a:lnSpc>
                <a:spcPct val="100000"/>
              </a:lnSpc>
              <a:spcBef>
                <a:spcPts val="315"/>
              </a:spcBef>
            </a:pPr>
            <a:r>
              <a:rPr dirty="0" sz="2000">
                <a:latin typeface="微软雅黑"/>
                <a:cs typeface="微软雅黑"/>
              </a:rPr>
              <a:t>密立根由于研究基本电荷和光电</a:t>
            </a:r>
            <a:r>
              <a:rPr dirty="0" sz="2000" spc="5">
                <a:latin typeface="微软雅黑"/>
                <a:cs typeface="微软雅黑"/>
              </a:rPr>
              <a:t>效 </a:t>
            </a:r>
            <a:r>
              <a:rPr dirty="0" sz="2000">
                <a:latin typeface="微软雅黑"/>
                <a:cs typeface="微软雅黑"/>
              </a:rPr>
              <a:t>应，特别是通过著名的油滴实验</a:t>
            </a:r>
            <a:r>
              <a:rPr dirty="0" sz="2000" spc="5">
                <a:latin typeface="微软雅黑"/>
                <a:cs typeface="微软雅黑"/>
              </a:rPr>
              <a:t>，  </a:t>
            </a:r>
            <a:r>
              <a:rPr dirty="0" sz="2000" spc="-5">
                <a:latin typeface="微软雅黑"/>
                <a:cs typeface="微软雅黑"/>
              </a:rPr>
              <a:t>证明电荷有最小单位。获得1923</a:t>
            </a:r>
            <a:r>
              <a:rPr dirty="0" sz="2000">
                <a:latin typeface="微软雅黑"/>
                <a:cs typeface="微软雅黑"/>
              </a:rPr>
              <a:t>年 </a:t>
            </a:r>
            <a:r>
              <a:rPr dirty="0" sz="2000">
                <a:latin typeface="微软雅黑"/>
                <a:cs typeface="微软雅黑"/>
              </a:rPr>
              <a:t>诺贝尔物理学</a:t>
            </a:r>
            <a:r>
              <a:rPr dirty="0" sz="2000" spc="5">
                <a:latin typeface="微软雅黑"/>
                <a:cs typeface="微软雅黑"/>
              </a:rPr>
              <a:t>奖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07907" y="2087879"/>
            <a:ext cx="1882140" cy="23210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39352" y="6147752"/>
            <a:ext cx="8813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latin typeface="微软雅黑"/>
                <a:cs typeface="微软雅黑"/>
              </a:rPr>
              <a:t>光子像其他粒子一样，也具有能量。光电效应显示了</a:t>
            </a: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光的粒子</a:t>
            </a:r>
            <a:r>
              <a:rPr dirty="0" sz="2800" spc="-5" b="1">
                <a:solidFill>
                  <a:srgbClr val="FF0000"/>
                </a:solidFill>
                <a:latin typeface="微软雅黑"/>
                <a:cs typeface="微软雅黑"/>
              </a:rPr>
              <a:t>性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39997" y="4691062"/>
            <a:ext cx="6652259" cy="2167255"/>
          </a:xfrm>
          <a:custGeom>
            <a:avLst/>
            <a:gdLst/>
            <a:ahLst/>
            <a:cxnLst/>
            <a:rect l="l" t="t" r="r" b="b"/>
            <a:pathLst>
              <a:path w="6652259" h="2167254">
                <a:moveTo>
                  <a:pt x="6652002" y="2166937"/>
                </a:moveTo>
                <a:lnTo>
                  <a:pt x="0" y="2166937"/>
                </a:lnTo>
                <a:lnTo>
                  <a:pt x="3085" y="2153033"/>
                </a:lnTo>
                <a:lnTo>
                  <a:pt x="16095" y="2104205"/>
                </a:lnTo>
                <a:lnTo>
                  <a:pt x="31917" y="2055671"/>
                </a:lnTo>
                <a:lnTo>
                  <a:pt x="50521" y="2007442"/>
                </a:lnTo>
                <a:lnTo>
                  <a:pt x="71879" y="1959528"/>
                </a:lnTo>
                <a:lnTo>
                  <a:pt x="95960" y="1911940"/>
                </a:lnTo>
                <a:lnTo>
                  <a:pt x="122737" y="1864687"/>
                </a:lnTo>
                <a:lnTo>
                  <a:pt x="152179" y="1817780"/>
                </a:lnTo>
                <a:lnTo>
                  <a:pt x="184258" y="1771229"/>
                </a:lnTo>
                <a:lnTo>
                  <a:pt x="218945" y="1725044"/>
                </a:lnTo>
                <a:lnTo>
                  <a:pt x="256211" y="1679236"/>
                </a:lnTo>
                <a:lnTo>
                  <a:pt x="296026" y="1633815"/>
                </a:lnTo>
                <a:lnTo>
                  <a:pt x="338361" y="1588790"/>
                </a:lnTo>
                <a:lnTo>
                  <a:pt x="383188" y="1544173"/>
                </a:lnTo>
                <a:lnTo>
                  <a:pt x="430477" y="1499974"/>
                </a:lnTo>
                <a:lnTo>
                  <a:pt x="480198" y="1456203"/>
                </a:lnTo>
                <a:lnTo>
                  <a:pt x="532324" y="1412869"/>
                </a:lnTo>
                <a:lnTo>
                  <a:pt x="586825" y="1369984"/>
                </a:lnTo>
                <a:lnTo>
                  <a:pt x="643671" y="1327558"/>
                </a:lnTo>
                <a:lnTo>
                  <a:pt x="702834" y="1285600"/>
                </a:lnTo>
                <a:lnTo>
                  <a:pt x="764285" y="1244122"/>
                </a:lnTo>
                <a:lnTo>
                  <a:pt x="827994" y="1203133"/>
                </a:lnTo>
                <a:lnTo>
                  <a:pt x="860686" y="1182825"/>
                </a:lnTo>
                <a:lnTo>
                  <a:pt x="893932" y="1162644"/>
                </a:lnTo>
                <a:lnTo>
                  <a:pt x="927728" y="1142589"/>
                </a:lnTo>
                <a:lnTo>
                  <a:pt x="962071" y="1122664"/>
                </a:lnTo>
                <a:lnTo>
                  <a:pt x="996956" y="1102869"/>
                </a:lnTo>
                <a:lnTo>
                  <a:pt x="1032380" y="1083205"/>
                </a:lnTo>
                <a:lnTo>
                  <a:pt x="1068340" y="1063673"/>
                </a:lnTo>
                <a:lnTo>
                  <a:pt x="1104832" y="1044276"/>
                </a:lnTo>
                <a:lnTo>
                  <a:pt x="1141852" y="1025013"/>
                </a:lnTo>
                <a:lnTo>
                  <a:pt x="1179397" y="1005887"/>
                </a:lnTo>
                <a:lnTo>
                  <a:pt x="1217462" y="986899"/>
                </a:lnTo>
                <a:lnTo>
                  <a:pt x="1256045" y="968050"/>
                </a:lnTo>
                <a:lnTo>
                  <a:pt x="1334748" y="930773"/>
                </a:lnTo>
                <a:lnTo>
                  <a:pt x="1415477" y="894068"/>
                </a:lnTo>
                <a:lnTo>
                  <a:pt x="1498202" y="857945"/>
                </a:lnTo>
                <a:lnTo>
                  <a:pt x="1582894" y="822413"/>
                </a:lnTo>
                <a:lnTo>
                  <a:pt x="1669525" y="787484"/>
                </a:lnTo>
                <a:lnTo>
                  <a:pt x="1758065" y="753167"/>
                </a:lnTo>
                <a:lnTo>
                  <a:pt x="1848485" y="719473"/>
                </a:lnTo>
                <a:lnTo>
                  <a:pt x="1940756" y="686411"/>
                </a:lnTo>
                <a:lnTo>
                  <a:pt x="2034849" y="653993"/>
                </a:lnTo>
                <a:lnTo>
                  <a:pt x="2179340" y="606594"/>
                </a:lnTo>
                <a:lnTo>
                  <a:pt x="2327767" y="560699"/>
                </a:lnTo>
                <a:lnTo>
                  <a:pt x="2480031" y="516345"/>
                </a:lnTo>
                <a:lnTo>
                  <a:pt x="2636034" y="473564"/>
                </a:lnTo>
                <a:lnTo>
                  <a:pt x="2795678" y="432391"/>
                </a:lnTo>
                <a:lnTo>
                  <a:pt x="2958864" y="392862"/>
                </a:lnTo>
                <a:lnTo>
                  <a:pt x="3181787" y="342772"/>
                </a:lnTo>
                <a:lnTo>
                  <a:pt x="3410600" y="295747"/>
                </a:lnTo>
                <a:lnTo>
                  <a:pt x="3645071" y="251869"/>
                </a:lnTo>
                <a:lnTo>
                  <a:pt x="3884966" y="211220"/>
                </a:lnTo>
                <a:lnTo>
                  <a:pt x="4130053" y="173881"/>
                </a:lnTo>
                <a:lnTo>
                  <a:pt x="4380098" y="139935"/>
                </a:lnTo>
                <a:lnTo>
                  <a:pt x="4634870" y="109464"/>
                </a:lnTo>
                <a:lnTo>
                  <a:pt x="4959627" y="76387"/>
                </a:lnTo>
                <a:lnTo>
                  <a:pt x="5290949" y="49027"/>
                </a:lnTo>
                <a:lnTo>
                  <a:pt x="5628383" y="27546"/>
                </a:lnTo>
                <a:lnTo>
                  <a:pt x="5971473" y="12103"/>
                </a:lnTo>
                <a:lnTo>
                  <a:pt x="6652002" y="0"/>
                </a:lnTo>
                <a:lnTo>
                  <a:pt x="6652002" y="216693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201737"/>
            <a:ext cx="6572884" cy="5656580"/>
          </a:xfrm>
          <a:custGeom>
            <a:avLst/>
            <a:gdLst/>
            <a:ahLst/>
            <a:cxnLst/>
            <a:rect l="l" t="t" r="r" b="b"/>
            <a:pathLst>
              <a:path w="6572884" h="5656580">
                <a:moveTo>
                  <a:pt x="6572781" y="5656262"/>
                </a:moveTo>
                <a:lnTo>
                  <a:pt x="0" y="5656262"/>
                </a:lnTo>
                <a:lnTo>
                  <a:pt x="0" y="0"/>
                </a:lnTo>
                <a:lnTo>
                  <a:pt x="670648" y="29971"/>
                </a:lnTo>
                <a:lnTo>
                  <a:pt x="772466" y="39831"/>
                </a:lnTo>
                <a:lnTo>
                  <a:pt x="873812" y="51056"/>
                </a:lnTo>
                <a:lnTo>
                  <a:pt x="974675" y="63637"/>
                </a:lnTo>
                <a:lnTo>
                  <a:pt x="1075041" y="77562"/>
                </a:lnTo>
                <a:lnTo>
                  <a:pt x="1174899" y="92821"/>
                </a:lnTo>
                <a:lnTo>
                  <a:pt x="1274238" y="109404"/>
                </a:lnTo>
                <a:lnTo>
                  <a:pt x="1373044" y="127299"/>
                </a:lnTo>
                <a:lnTo>
                  <a:pt x="1471306" y="146496"/>
                </a:lnTo>
                <a:lnTo>
                  <a:pt x="1569013" y="166984"/>
                </a:lnTo>
                <a:lnTo>
                  <a:pt x="1666151" y="188753"/>
                </a:lnTo>
                <a:lnTo>
                  <a:pt x="1762709" y="211792"/>
                </a:lnTo>
                <a:lnTo>
                  <a:pt x="1858675" y="236091"/>
                </a:lnTo>
                <a:lnTo>
                  <a:pt x="1954036" y="261638"/>
                </a:lnTo>
                <a:lnTo>
                  <a:pt x="2048781" y="288423"/>
                </a:lnTo>
                <a:lnTo>
                  <a:pt x="2142898" y="316435"/>
                </a:lnTo>
                <a:lnTo>
                  <a:pt x="2236375" y="345665"/>
                </a:lnTo>
                <a:lnTo>
                  <a:pt x="2329199" y="376100"/>
                </a:lnTo>
                <a:lnTo>
                  <a:pt x="2421359" y="407731"/>
                </a:lnTo>
                <a:lnTo>
                  <a:pt x="2512842" y="440547"/>
                </a:lnTo>
                <a:lnTo>
                  <a:pt x="2603637" y="474536"/>
                </a:lnTo>
                <a:lnTo>
                  <a:pt x="2693731" y="509689"/>
                </a:lnTo>
                <a:lnTo>
                  <a:pt x="2783113" y="545995"/>
                </a:lnTo>
                <a:lnTo>
                  <a:pt x="2871770" y="583444"/>
                </a:lnTo>
                <a:lnTo>
                  <a:pt x="2959690" y="622023"/>
                </a:lnTo>
                <a:lnTo>
                  <a:pt x="3046862" y="661724"/>
                </a:lnTo>
                <a:lnTo>
                  <a:pt x="3133273" y="702534"/>
                </a:lnTo>
                <a:lnTo>
                  <a:pt x="3218911" y="744445"/>
                </a:lnTo>
                <a:lnTo>
                  <a:pt x="3303764" y="787444"/>
                </a:lnTo>
                <a:lnTo>
                  <a:pt x="3387820" y="831521"/>
                </a:lnTo>
                <a:lnTo>
                  <a:pt x="3471068" y="876666"/>
                </a:lnTo>
                <a:lnTo>
                  <a:pt x="3553494" y="922868"/>
                </a:lnTo>
                <a:lnTo>
                  <a:pt x="3635088" y="970116"/>
                </a:lnTo>
                <a:lnTo>
                  <a:pt x="3715836" y="1018399"/>
                </a:lnTo>
                <a:lnTo>
                  <a:pt x="3795728" y="1067708"/>
                </a:lnTo>
                <a:lnTo>
                  <a:pt x="3874750" y="1118031"/>
                </a:lnTo>
                <a:lnTo>
                  <a:pt x="3913932" y="1143569"/>
                </a:lnTo>
                <a:lnTo>
                  <a:pt x="3952892" y="1169357"/>
                </a:lnTo>
                <a:lnTo>
                  <a:pt x="3991628" y="1195394"/>
                </a:lnTo>
                <a:lnTo>
                  <a:pt x="4030140" y="1221677"/>
                </a:lnTo>
                <a:lnTo>
                  <a:pt x="4068425" y="1248206"/>
                </a:lnTo>
                <a:lnTo>
                  <a:pt x="4106483" y="1274979"/>
                </a:lnTo>
                <a:lnTo>
                  <a:pt x="4144311" y="1301995"/>
                </a:lnTo>
                <a:lnTo>
                  <a:pt x="4181908" y="1329252"/>
                </a:lnTo>
                <a:lnTo>
                  <a:pt x="4219274" y="1356750"/>
                </a:lnTo>
                <a:lnTo>
                  <a:pt x="4256405" y="1384487"/>
                </a:lnTo>
                <a:lnTo>
                  <a:pt x="4293301" y="1412461"/>
                </a:lnTo>
                <a:lnTo>
                  <a:pt x="4329960" y="1440672"/>
                </a:lnTo>
                <a:lnTo>
                  <a:pt x="4366381" y="1469117"/>
                </a:lnTo>
                <a:lnTo>
                  <a:pt x="4402562" y="1497796"/>
                </a:lnTo>
                <a:lnTo>
                  <a:pt x="4438501" y="1526708"/>
                </a:lnTo>
                <a:lnTo>
                  <a:pt x="4474198" y="1555850"/>
                </a:lnTo>
                <a:lnTo>
                  <a:pt x="4509650" y="1585222"/>
                </a:lnTo>
                <a:lnTo>
                  <a:pt x="4544857" y="1614822"/>
                </a:lnTo>
                <a:lnTo>
                  <a:pt x="4579816" y="1644649"/>
                </a:lnTo>
                <a:lnTo>
                  <a:pt x="4614526" y="1674702"/>
                </a:lnTo>
                <a:lnTo>
                  <a:pt x="4648986" y="1704979"/>
                </a:lnTo>
                <a:lnTo>
                  <a:pt x="4683194" y="1735479"/>
                </a:lnTo>
                <a:lnTo>
                  <a:pt x="4717148" y="1766200"/>
                </a:lnTo>
                <a:lnTo>
                  <a:pt x="4750848" y="1797142"/>
                </a:lnTo>
                <a:lnTo>
                  <a:pt x="4784291" y="1828303"/>
                </a:lnTo>
                <a:lnTo>
                  <a:pt x="4817477" y="1859681"/>
                </a:lnTo>
                <a:lnTo>
                  <a:pt x="4850403" y="1891276"/>
                </a:lnTo>
                <a:lnTo>
                  <a:pt x="4883068" y="1923085"/>
                </a:lnTo>
                <a:lnTo>
                  <a:pt x="4915471" y="1955109"/>
                </a:lnTo>
                <a:lnTo>
                  <a:pt x="4947609" y="1987344"/>
                </a:lnTo>
                <a:lnTo>
                  <a:pt x="4979483" y="2019790"/>
                </a:lnTo>
                <a:lnTo>
                  <a:pt x="5011089" y="2052447"/>
                </a:lnTo>
                <a:lnTo>
                  <a:pt x="5042427" y="2085311"/>
                </a:lnTo>
                <a:lnTo>
                  <a:pt x="5073495" y="2118382"/>
                </a:lnTo>
                <a:lnTo>
                  <a:pt x="5104291" y="2151659"/>
                </a:lnTo>
                <a:lnTo>
                  <a:pt x="5134815" y="2185140"/>
                </a:lnTo>
                <a:lnTo>
                  <a:pt x="5165064" y="2218825"/>
                </a:lnTo>
                <a:lnTo>
                  <a:pt x="5195037" y="2252710"/>
                </a:lnTo>
                <a:lnTo>
                  <a:pt x="5224733" y="2286796"/>
                </a:lnTo>
                <a:lnTo>
                  <a:pt x="5254150" y="2321082"/>
                </a:lnTo>
                <a:lnTo>
                  <a:pt x="5283286" y="2355564"/>
                </a:lnTo>
                <a:lnTo>
                  <a:pt x="5312140" y="2390243"/>
                </a:lnTo>
                <a:lnTo>
                  <a:pt x="5340711" y="2425117"/>
                </a:lnTo>
                <a:lnTo>
                  <a:pt x="5368997" y="2460185"/>
                </a:lnTo>
                <a:lnTo>
                  <a:pt x="5396996" y="2495445"/>
                </a:lnTo>
                <a:lnTo>
                  <a:pt x="5424707" y="2530896"/>
                </a:lnTo>
                <a:lnTo>
                  <a:pt x="5452129" y="2566536"/>
                </a:lnTo>
                <a:lnTo>
                  <a:pt x="5479260" y="2602365"/>
                </a:lnTo>
                <a:lnTo>
                  <a:pt x="5506098" y="2638381"/>
                </a:lnTo>
                <a:lnTo>
                  <a:pt x="5532643" y="2674583"/>
                </a:lnTo>
                <a:lnTo>
                  <a:pt x="5558891" y="2710968"/>
                </a:lnTo>
                <a:lnTo>
                  <a:pt x="5584843" y="2747537"/>
                </a:lnTo>
                <a:lnTo>
                  <a:pt x="5610496" y="2784288"/>
                </a:lnTo>
                <a:lnTo>
                  <a:pt x="5635849" y="2821218"/>
                </a:lnTo>
                <a:lnTo>
                  <a:pt x="5660901" y="2858328"/>
                </a:lnTo>
                <a:lnTo>
                  <a:pt x="5685649" y="2895615"/>
                </a:lnTo>
                <a:lnTo>
                  <a:pt x="5710093" y="2933079"/>
                </a:lnTo>
                <a:lnTo>
                  <a:pt x="5734231" y="2970718"/>
                </a:lnTo>
                <a:lnTo>
                  <a:pt x="5758062" y="3008530"/>
                </a:lnTo>
                <a:lnTo>
                  <a:pt x="5781583" y="3046515"/>
                </a:lnTo>
                <a:lnTo>
                  <a:pt x="5804793" y="3084671"/>
                </a:lnTo>
                <a:lnTo>
                  <a:pt x="5827692" y="3122996"/>
                </a:lnTo>
                <a:lnTo>
                  <a:pt x="5850277" y="3161490"/>
                </a:lnTo>
                <a:lnTo>
                  <a:pt x="5872547" y="3200151"/>
                </a:lnTo>
                <a:lnTo>
                  <a:pt x="5894500" y="3238977"/>
                </a:lnTo>
                <a:lnTo>
                  <a:pt x="5916136" y="3277968"/>
                </a:lnTo>
                <a:lnTo>
                  <a:pt x="5937451" y="3317121"/>
                </a:lnTo>
                <a:lnTo>
                  <a:pt x="5958446" y="3356437"/>
                </a:lnTo>
                <a:lnTo>
                  <a:pt x="5979118" y="3395912"/>
                </a:lnTo>
                <a:lnTo>
                  <a:pt x="5999466" y="3435547"/>
                </a:lnTo>
                <a:lnTo>
                  <a:pt x="6019488" y="3475340"/>
                </a:lnTo>
                <a:lnTo>
                  <a:pt x="6039183" y="3515288"/>
                </a:lnTo>
                <a:lnTo>
                  <a:pt x="6058549" y="3555392"/>
                </a:lnTo>
                <a:lnTo>
                  <a:pt x="6077586" y="3595650"/>
                </a:lnTo>
                <a:lnTo>
                  <a:pt x="6096290" y="3636059"/>
                </a:lnTo>
                <a:lnTo>
                  <a:pt x="6114662" y="3676620"/>
                </a:lnTo>
                <a:lnTo>
                  <a:pt x="6132699" y="3717331"/>
                </a:lnTo>
                <a:lnTo>
                  <a:pt x="6150400" y="3758190"/>
                </a:lnTo>
                <a:lnTo>
                  <a:pt x="6167763" y="3799196"/>
                </a:lnTo>
                <a:lnTo>
                  <a:pt x="6184786" y="3840347"/>
                </a:lnTo>
                <a:lnTo>
                  <a:pt x="6201470" y="3881643"/>
                </a:lnTo>
                <a:lnTo>
                  <a:pt x="6217811" y="3923082"/>
                </a:lnTo>
                <a:lnTo>
                  <a:pt x="6233808" y="3964663"/>
                </a:lnTo>
                <a:lnTo>
                  <a:pt x="6249460" y="4006384"/>
                </a:lnTo>
                <a:lnTo>
                  <a:pt x="6264766" y="4048244"/>
                </a:lnTo>
                <a:lnTo>
                  <a:pt x="6279723" y="4090242"/>
                </a:lnTo>
                <a:lnTo>
                  <a:pt x="6294331" y="4132376"/>
                </a:lnTo>
                <a:lnTo>
                  <a:pt x="6308587" y="4174645"/>
                </a:lnTo>
                <a:lnTo>
                  <a:pt x="6322491" y="4217048"/>
                </a:lnTo>
                <a:lnTo>
                  <a:pt x="6336040" y="4259583"/>
                </a:lnTo>
                <a:lnTo>
                  <a:pt x="6349234" y="4302249"/>
                </a:lnTo>
                <a:lnTo>
                  <a:pt x="6362071" y="4345045"/>
                </a:lnTo>
                <a:lnTo>
                  <a:pt x="6374548" y="4387970"/>
                </a:lnTo>
                <a:lnTo>
                  <a:pt x="6386666" y="4431021"/>
                </a:lnTo>
                <a:lnTo>
                  <a:pt x="6398422" y="4474198"/>
                </a:lnTo>
                <a:lnTo>
                  <a:pt x="6409814" y="4517500"/>
                </a:lnTo>
                <a:lnTo>
                  <a:pt x="6420842" y="4560924"/>
                </a:lnTo>
                <a:lnTo>
                  <a:pt x="6431504" y="4604470"/>
                </a:lnTo>
                <a:lnTo>
                  <a:pt x="6441798" y="4648137"/>
                </a:lnTo>
                <a:lnTo>
                  <a:pt x="6451722" y="4691923"/>
                </a:lnTo>
                <a:lnTo>
                  <a:pt x="6461276" y="4735826"/>
                </a:lnTo>
                <a:lnTo>
                  <a:pt x="6470457" y="4779846"/>
                </a:lnTo>
                <a:lnTo>
                  <a:pt x="6479265" y="4823981"/>
                </a:lnTo>
                <a:lnTo>
                  <a:pt x="6487698" y="4868230"/>
                </a:lnTo>
                <a:lnTo>
                  <a:pt x="6495753" y="4912591"/>
                </a:lnTo>
                <a:lnTo>
                  <a:pt x="6503431" y="4957063"/>
                </a:lnTo>
                <a:lnTo>
                  <a:pt x="6510728" y="5001644"/>
                </a:lnTo>
                <a:lnTo>
                  <a:pt x="6517645" y="5046335"/>
                </a:lnTo>
                <a:lnTo>
                  <a:pt x="6524178" y="5091132"/>
                </a:lnTo>
                <a:lnTo>
                  <a:pt x="6530327" y="5136035"/>
                </a:lnTo>
                <a:lnTo>
                  <a:pt x="6536091" y="5181042"/>
                </a:lnTo>
                <a:lnTo>
                  <a:pt x="6541467" y="5226153"/>
                </a:lnTo>
                <a:lnTo>
                  <a:pt x="6546454" y="5271365"/>
                </a:lnTo>
                <a:lnTo>
                  <a:pt x="6551051" y="5316677"/>
                </a:lnTo>
                <a:lnTo>
                  <a:pt x="6555256" y="5362089"/>
                </a:lnTo>
                <a:lnTo>
                  <a:pt x="6559068" y="5407599"/>
                </a:lnTo>
                <a:lnTo>
                  <a:pt x="6562484" y="5453204"/>
                </a:lnTo>
                <a:lnTo>
                  <a:pt x="6565505" y="5498905"/>
                </a:lnTo>
                <a:lnTo>
                  <a:pt x="6568128" y="5544700"/>
                </a:lnTo>
                <a:lnTo>
                  <a:pt x="6570351" y="5590587"/>
                </a:lnTo>
                <a:lnTo>
                  <a:pt x="6572173" y="5636565"/>
                </a:lnTo>
                <a:lnTo>
                  <a:pt x="6572781" y="565626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09465" y="3116579"/>
            <a:ext cx="41554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2344" algn="l"/>
                <a:tab pos="1952625" algn="l"/>
                <a:tab pos="2922905" algn="l"/>
              </a:tabLst>
            </a:pPr>
            <a:r>
              <a:rPr dirty="0" sz="4800">
                <a:solidFill>
                  <a:srgbClr val="252525"/>
                </a:solidFill>
                <a:latin typeface="微软雅黑"/>
                <a:cs typeface="微软雅黑"/>
              </a:rPr>
              <a:t>感	谢	聆	听！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91282" y="1368818"/>
            <a:ext cx="1545361" cy="1541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15132" y="5434406"/>
            <a:ext cx="703986" cy="7023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78444" y="2946793"/>
            <a:ext cx="1208811" cy="12088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38045" y="4439043"/>
            <a:ext cx="941260" cy="9395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2025-04-20T14:25:05Z</dcterms:created>
  <dcterms:modified xsi:type="dcterms:W3CDTF">2025-04-20T14:25:05Z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