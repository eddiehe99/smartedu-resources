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1526" y="1002436"/>
            <a:ext cx="1076325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3005" y="1518233"/>
            <a:ext cx="10629900" cy="322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627" y="2525712"/>
            <a:ext cx="48291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21205" algn="l"/>
              </a:tabLst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物质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波</a:t>
            </a: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不确定关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系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spc="-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3-5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2308" y="711898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00"/>
                </a:solidFill>
                <a:latin typeface="华文楷体"/>
                <a:cs typeface="华文楷体"/>
              </a:rPr>
              <a:t>简单回</a:t>
            </a:r>
            <a:r>
              <a:rPr dirty="0" spc="-10">
                <a:solidFill>
                  <a:srgbClr val="000000"/>
                </a:solidFill>
                <a:latin typeface="华文楷体"/>
                <a:cs typeface="华文楷体"/>
              </a:rPr>
              <a:t>顾</a:t>
            </a:r>
          </a:p>
        </p:txBody>
      </p:sp>
      <p:sp>
        <p:nvSpPr>
          <p:cNvPr id="3" name="object 3"/>
          <p:cNvSpPr/>
          <p:nvPr/>
        </p:nvSpPr>
        <p:spPr>
          <a:xfrm>
            <a:off x="1714322" y="2354808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 h="0">
                <a:moveTo>
                  <a:pt x="0" y="0"/>
                </a:moveTo>
                <a:lnTo>
                  <a:pt x="17780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68947" y="2994888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 h="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12722" y="3187928"/>
            <a:ext cx="38506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2340" algn="l"/>
              </a:tabLst>
            </a:pPr>
            <a:r>
              <a:rPr dirty="0" sz="2800" b="1">
                <a:latin typeface="华文楷体"/>
                <a:cs typeface="华文楷体"/>
              </a:rPr>
              <a:t>量，公式</a:t>
            </a:r>
            <a:r>
              <a:rPr dirty="0" sz="2800" spc="-10" b="1">
                <a:latin typeface="华文楷体"/>
                <a:cs typeface="华文楷体"/>
              </a:rPr>
              <a:t>为</a:t>
            </a:r>
            <a:r>
              <a:rPr dirty="0" sz="2800" b="1">
                <a:latin typeface="华文楷体"/>
                <a:cs typeface="华文楷体"/>
              </a:rPr>
              <a:t>	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25182" y="4275048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 h="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50362" y="4915128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 h="0">
                <a:moveTo>
                  <a:pt x="0" y="0"/>
                </a:moveTo>
                <a:lnTo>
                  <a:pt x="1777999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98436" y="4915128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 h="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12722" y="1655260"/>
            <a:ext cx="8749030" cy="13512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120650">
              <a:lnSpc>
                <a:spcPct val="132800"/>
              </a:lnSpc>
              <a:spcBef>
                <a:spcPts val="215"/>
              </a:spcBef>
              <a:tabLst>
                <a:tab pos="5845175" algn="l"/>
                <a:tab pos="6210935" algn="l"/>
                <a:tab pos="6955790" algn="l"/>
              </a:tabLst>
            </a:pPr>
            <a:r>
              <a:rPr dirty="0" baseline="19900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爱因斯</a:t>
            </a:r>
            <a:r>
              <a:rPr dirty="0" baseline="19900" sz="5025" spc="-839" b="1" i="1">
                <a:solidFill>
                  <a:srgbClr val="000066"/>
                </a:solidFill>
                <a:latin typeface="华文楷体"/>
                <a:cs typeface="华文楷体"/>
              </a:rPr>
              <a:t>坦</a:t>
            </a:r>
            <a:r>
              <a:rPr dirty="0" sz="2800" b="1">
                <a:latin typeface="华文楷体"/>
                <a:cs typeface="华文楷体"/>
              </a:rPr>
              <a:t>提出了光子说，解释了光电效应；康普顿</a:t>
            </a:r>
            <a:r>
              <a:rPr dirty="0" sz="2800" spc="-10" b="1">
                <a:latin typeface="华文楷体"/>
                <a:cs typeface="华文楷体"/>
              </a:rPr>
              <a:t>效 </a:t>
            </a:r>
            <a:r>
              <a:rPr dirty="0" sz="2800" b="1">
                <a:latin typeface="华文楷体"/>
                <a:cs typeface="华文楷体"/>
              </a:rPr>
              <a:t>应表明，光子不仅有能量，公式</a:t>
            </a:r>
            <a:r>
              <a:rPr dirty="0" sz="2800" spc="-10" b="1">
                <a:latin typeface="华文楷体"/>
                <a:cs typeface="华文楷体"/>
              </a:rPr>
              <a:t>为</a:t>
            </a:r>
            <a:r>
              <a:rPr dirty="0" sz="2800" spc="-130" b="1">
                <a:latin typeface="华文楷体"/>
                <a:cs typeface="华文楷体"/>
              </a:rPr>
              <a:t> </a:t>
            </a:r>
            <a:r>
              <a:rPr dirty="0" baseline="16283" sz="4350" spc="15" i="1">
                <a:latin typeface="Times New Roman"/>
                <a:cs typeface="Times New Roman"/>
              </a:rPr>
              <a:t>E</a:t>
            </a:r>
            <a:r>
              <a:rPr dirty="0" baseline="16283" sz="4350" i="1">
                <a:latin typeface="Times New Roman"/>
                <a:cs typeface="Times New Roman"/>
              </a:rPr>
              <a:t>	</a:t>
            </a:r>
            <a:r>
              <a:rPr dirty="0" baseline="16283" sz="4350" spc="15">
                <a:latin typeface="Symbol"/>
                <a:cs typeface="Symbol"/>
              </a:rPr>
              <a:t></a:t>
            </a:r>
            <a:r>
              <a:rPr dirty="0" baseline="16283" sz="4350">
                <a:latin typeface="Times New Roman"/>
                <a:cs typeface="Times New Roman"/>
              </a:rPr>
              <a:t>	</a:t>
            </a:r>
            <a:r>
              <a:rPr dirty="0" baseline="16283" sz="4350" spc="60" i="1">
                <a:latin typeface="Times New Roman"/>
                <a:cs typeface="Times New Roman"/>
              </a:rPr>
              <a:t>h</a:t>
            </a:r>
            <a:r>
              <a:rPr dirty="0" baseline="15482" sz="4575" spc="-104" i="1">
                <a:latin typeface="Symbol"/>
                <a:cs typeface="Symbol"/>
              </a:rPr>
              <a:t></a:t>
            </a:r>
            <a:r>
              <a:rPr dirty="0" baseline="15482" sz="4575">
                <a:latin typeface="Times New Roman"/>
                <a:cs typeface="Times New Roman"/>
              </a:rPr>
              <a:t>	</a:t>
            </a:r>
            <a:r>
              <a:rPr dirty="0" sz="2800" b="1">
                <a:latin typeface="华文楷体"/>
                <a:cs typeface="华文楷体"/>
              </a:rPr>
              <a:t>；而且有</a:t>
            </a:r>
            <a:r>
              <a:rPr dirty="0" sz="2800" spc="-10" b="1">
                <a:latin typeface="华文楷体"/>
                <a:cs typeface="华文楷体"/>
              </a:rPr>
              <a:t>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0120" y="2871558"/>
            <a:ext cx="16446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150" spc="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21" y="3251817"/>
            <a:ext cx="1752600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15695" algn="l"/>
                <a:tab pos="1739264" algn="l"/>
              </a:tabLst>
            </a:pPr>
            <a:r>
              <a:rPr dirty="0" u="heavy" sz="2300" spc="-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300" spc="-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300" spc="-65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</a:t>
            </a:r>
            <a:r>
              <a:rPr dirty="0" u="heavy" sz="2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9436" y="3047377"/>
            <a:ext cx="52832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2585" algn="l"/>
              </a:tabLst>
            </a:pPr>
            <a:r>
              <a:rPr dirty="0" sz="2150" spc="20" i="1">
                <a:latin typeface="Times New Roman"/>
                <a:cs typeface="Times New Roman"/>
              </a:rPr>
              <a:t>P</a:t>
            </a:r>
            <a:r>
              <a:rPr dirty="0" sz="2150" spc="20" i="1">
                <a:latin typeface="Times New Roman"/>
                <a:cs typeface="Times New Roman"/>
              </a:rPr>
              <a:t>	</a:t>
            </a:r>
            <a:r>
              <a:rPr dirty="0" sz="2150" spc="2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2722" y="3755606"/>
            <a:ext cx="8749030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800" b="1">
                <a:latin typeface="华文楷体"/>
                <a:cs typeface="华文楷体"/>
              </a:rPr>
              <a:t>光具有波粒二象性，少量光子表现</a:t>
            </a:r>
            <a:r>
              <a:rPr dirty="0" sz="2800" spc="-10" b="1">
                <a:latin typeface="华文楷体"/>
                <a:cs typeface="华文楷体"/>
              </a:rPr>
              <a:t>出</a:t>
            </a:r>
            <a:r>
              <a:rPr dirty="0" sz="2800" spc="105" b="1">
                <a:latin typeface="华文楷体"/>
                <a:cs typeface="华文楷体"/>
              </a:rPr>
              <a:t> </a:t>
            </a:r>
            <a:r>
              <a:rPr dirty="0" baseline="16583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粒子</a:t>
            </a:r>
            <a:r>
              <a:rPr dirty="0" baseline="16583" sz="5025" spc="-225" b="1" i="1">
                <a:solidFill>
                  <a:srgbClr val="000066"/>
                </a:solidFill>
                <a:latin typeface="华文楷体"/>
                <a:cs typeface="华文楷体"/>
              </a:rPr>
              <a:t>性</a:t>
            </a:r>
            <a:r>
              <a:rPr dirty="0" baseline="16583" sz="5025" spc="-7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；大量</a:t>
            </a:r>
            <a:r>
              <a:rPr dirty="0" sz="2800" spc="-10" b="1">
                <a:latin typeface="华文楷体"/>
                <a:cs typeface="华文楷体"/>
              </a:rPr>
              <a:t>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2722" y="4395686"/>
            <a:ext cx="5008245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89405" algn="l"/>
                <a:tab pos="3215005" algn="l"/>
              </a:tabLst>
            </a:pPr>
            <a:r>
              <a:rPr dirty="0" sz="2800" b="1">
                <a:latin typeface="华文楷体"/>
                <a:cs typeface="华文楷体"/>
              </a:rPr>
              <a:t>子表现</a:t>
            </a:r>
            <a:r>
              <a:rPr dirty="0" sz="2800" spc="-10" b="1">
                <a:latin typeface="华文楷体"/>
                <a:cs typeface="华文楷体"/>
              </a:rPr>
              <a:t>出</a:t>
            </a:r>
            <a:r>
              <a:rPr dirty="0" sz="2800" b="1">
                <a:latin typeface="华文楷体"/>
                <a:cs typeface="华文楷体"/>
              </a:rPr>
              <a:t>	</a:t>
            </a:r>
            <a:r>
              <a:rPr dirty="0" baseline="19071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波动</a:t>
            </a:r>
            <a:r>
              <a:rPr dirty="0" baseline="19071" sz="5025" spc="-225" b="1" i="1">
                <a:solidFill>
                  <a:srgbClr val="000066"/>
                </a:solidFill>
                <a:latin typeface="华文楷体"/>
                <a:cs typeface="华文楷体"/>
              </a:rPr>
              <a:t>性</a:t>
            </a:r>
            <a:r>
              <a:rPr dirty="0" baseline="19071" sz="5025" b="1" i="1">
                <a:solidFill>
                  <a:srgbClr val="000066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latin typeface="华文楷体"/>
                <a:cs typeface="华文楷体"/>
              </a:rPr>
              <a:t>。光是一</a:t>
            </a:r>
            <a:r>
              <a:rPr dirty="0" sz="2800" spc="-10" b="1">
                <a:latin typeface="华文楷体"/>
                <a:cs typeface="华文楷体"/>
              </a:rPr>
              <a:t>种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3541" y="4252201"/>
            <a:ext cx="1831339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1485" b="1" i="1">
                <a:solidFill>
                  <a:srgbClr val="000066"/>
                </a:solidFill>
                <a:latin typeface="华文楷体"/>
                <a:cs typeface="华文楷体"/>
              </a:rPr>
              <a:t>概</a:t>
            </a:r>
            <a:r>
              <a:rPr dirty="0" sz="3350" spc="-150" b="1" i="1">
                <a:solidFill>
                  <a:srgbClr val="000066"/>
                </a:solidFill>
                <a:latin typeface="华文楷体"/>
                <a:cs typeface="华文楷体"/>
              </a:rPr>
              <a:t>率</a:t>
            </a:r>
            <a:r>
              <a:rPr dirty="0" sz="3350" spc="5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baseline="-22817" sz="4200" b="1">
                <a:latin typeface="华文楷体"/>
                <a:cs typeface="华文楷体"/>
              </a:rPr>
              <a:t>波</a:t>
            </a:r>
            <a:r>
              <a:rPr dirty="0" baseline="-22817" sz="4200" spc="-15" b="1">
                <a:latin typeface="华文楷体"/>
                <a:cs typeface="华文楷体"/>
              </a:rPr>
              <a:t>。</a:t>
            </a:r>
            <a:endParaRPr baseline="-22817" sz="42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92859" y="5076101"/>
            <a:ext cx="26162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你有什么启示</a:t>
            </a:r>
            <a:r>
              <a:rPr dirty="0" sz="3200" spc="-5" b="1">
                <a:solidFill>
                  <a:srgbClr val="C00000"/>
                </a:solidFill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34826" y="5037594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660066"/>
                </a:solidFill>
                <a:latin typeface="华文楷体"/>
                <a:cs typeface="华文楷体"/>
              </a:rPr>
              <a:t>逆向思</a:t>
            </a:r>
            <a:r>
              <a:rPr dirty="0" sz="4000" spc="-10" b="1">
                <a:solidFill>
                  <a:srgbClr val="660066"/>
                </a:solidFill>
                <a:latin typeface="华文楷体"/>
                <a:cs typeface="华文楷体"/>
              </a:rPr>
              <a:t>维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7915" y="5023739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660066"/>
                </a:solidFill>
                <a:latin typeface="华文楷体"/>
                <a:cs typeface="华文楷体"/>
              </a:rPr>
              <a:t>对称思</a:t>
            </a:r>
            <a:r>
              <a:rPr dirty="0" sz="4000" spc="-10" b="1">
                <a:solidFill>
                  <a:srgbClr val="660066"/>
                </a:solidFill>
                <a:latin typeface="华文楷体"/>
                <a:cs typeface="华文楷体"/>
              </a:rPr>
              <a:t>想</a:t>
            </a:r>
            <a:endParaRPr sz="4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952" y="1202436"/>
            <a:ext cx="2552700" cy="3247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04372" y="1074902"/>
            <a:ext cx="6191250" cy="3757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3189" marR="36195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路易·维克多·德布罗意</a:t>
            </a:r>
            <a:r>
              <a:rPr dirty="0" sz="2800" spc="-5" b="1">
                <a:latin typeface="华文楷体"/>
                <a:cs typeface="华文楷体"/>
              </a:rPr>
              <a:t>（Louis  Victor·Duc</a:t>
            </a:r>
            <a:r>
              <a:rPr dirty="0" sz="2800" spc="10" b="1">
                <a:latin typeface="华文楷体"/>
                <a:cs typeface="华文楷体"/>
              </a:rPr>
              <a:t> </a:t>
            </a:r>
            <a:r>
              <a:rPr dirty="0" sz="2800" spc="-5" b="1">
                <a:latin typeface="华文楷体"/>
                <a:cs typeface="华文楷体"/>
              </a:rPr>
              <a:t>de</a:t>
            </a:r>
            <a:r>
              <a:rPr dirty="0" sz="2800" spc="10" b="1">
                <a:latin typeface="华文楷体"/>
                <a:cs typeface="华文楷体"/>
              </a:rPr>
              <a:t> </a:t>
            </a:r>
            <a:r>
              <a:rPr dirty="0" sz="2800" spc="-5" b="1">
                <a:latin typeface="华文楷体"/>
                <a:cs typeface="华文楷体"/>
              </a:rPr>
              <a:t>Broglie，1892</a:t>
            </a:r>
            <a:r>
              <a:rPr dirty="0" sz="2800" b="1">
                <a:latin typeface="华文楷体"/>
                <a:cs typeface="华文楷体"/>
              </a:rPr>
              <a:t>年</a:t>
            </a:r>
            <a:r>
              <a:rPr dirty="0" sz="2800" spc="-5" b="1">
                <a:latin typeface="华文楷体"/>
                <a:cs typeface="华文楷体"/>
              </a:rPr>
              <a:t>8</a:t>
            </a:r>
            <a:r>
              <a:rPr dirty="0" sz="2800" b="1">
                <a:latin typeface="华文楷体"/>
                <a:cs typeface="华文楷体"/>
              </a:rPr>
              <a:t>月</a:t>
            </a:r>
            <a:r>
              <a:rPr dirty="0" sz="2800" spc="-5" b="1">
                <a:latin typeface="华文楷体"/>
                <a:cs typeface="华文楷体"/>
              </a:rPr>
              <a:t>15  </a:t>
            </a:r>
            <a:r>
              <a:rPr dirty="0" sz="2800" b="1">
                <a:latin typeface="华文楷体"/>
                <a:cs typeface="华文楷体"/>
              </a:rPr>
              <a:t>日-1987年</a:t>
            </a:r>
            <a:r>
              <a:rPr dirty="0" sz="2800" spc="-5" b="1">
                <a:latin typeface="华文楷体"/>
                <a:cs typeface="华文楷体"/>
              </a:rPr>
              <a:t>3</a:t>
            </a:r>
            <a:r>
              <a:rPr dirty="0" sz="2800" b="1">
                <a:latin typeface="华文楷体"/>
                <a:cs typeface="华文楷体"/>
              </a:rPr>
              <a:t>月</a:t>
            </a:r>
            <a:r>
              <a:rPr dirty="0" sz="2800" spc="-5" b="1">
                <a:latin typeface="华文楷体"/>
                <a:cs typeface="华文楷体"/>
              </a:rPr>
              <a:t>19</a:t>
            </a:r>
            <a:r>
              <a:rPr dirty="0" sz="2800" b="1">
                <a:latin typeface="华文楷体"/>
                <a:cs typeface="华文楷体"/>
              </a:rPr>
              <a:t>日），出生于法国</a:t>
            </a:r>
            <a:r>
              <a:rPr dirty="0" sz="2800" spc="-10" b="1">
                <a:latin typeface="华文楷体"/>
                <a:cs typeface="华文楷体"/>
              </a:rPr>
              <a:t>迪 </a:t>
            </a:r>
            <a:r>
              <a:rPr dirty="0" sz="2800" b="1">
                <a:latin typeface="华文楷体"/>
                <a:cs typeface="华文楷体"/>
              </a:rPr>
              <a:t>耶普，法国理论物理学家，物质波</a:t>
            </a:r>
            <a:r>
              <a:rPr dirty="0" sz="2800" spc="-10" b="1">
                <a:latin typeface="华文楷体"/>
                <a:cs typeface="华文楷体"/>
              </a:rPr>
              <a:t>理</a:t>
            </a:r>
            <a:endParaRPr sz="2800">
              <a:latin typeface="华文楷体"/>
              <a:cs typeface="华文楷体"/>
            </a:endParaRPr>
          </a:p>
          <a:p>
            <a:pPr marL="123189">
              <a:lnSpc>
                <a:spcPct val="100000"/>
              </a:lnSpc>
            </a:pPr>
            <a:r>
              <a:rPr dirty="0" sz="2800" b="1">
                <a:latin typeface="华文楷体"/>
                <a:cs typeface="华文楷体"/>
              </a:rPr>
              <a:t>论的创立者，量子力学的奠基人之一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just" marL="12700" marR="471805">
              <a:lnSpc>
                <a:spcPct val="99400"/>
              </a:lnSpc>
              <a:spcBef>
                <a:spcPts val="2565"/>
              </a:spcBef>
            </a:pPr>
            <a:r>
              <a:rPr dirty="0" sz="2800" b="1">
                <a:latin typeface="华文楷体"/>
                <a:cs typeface="华文楷体"/>
              </a:rPr>
              <a:t>他因“物质波”假说而荣获</a:t>
            </a:r>
            <a:r>
              <a:rPr dirty="0" sz="2800" spc="-5" b="1">
                <a:latin typeface="Times New Roman"/>
                <a:cs typeface="Times New Roman"/>
              </a:rPr>
              <a:t>1929</a:t>
            </a:r>
            <a:r>
              <a:rPr dirty="0" sz="2800" b="1">
                <a:latin typeface="华文楷体"/>
                <a:cs typeface="华文楷体"/>
              </a:rPr>
              <a:t>年</a:t>
            </a:r>
            <a:r>
              <a:rPr dirty="0" sz="2800" spc="-5" b="1">
                <a:latin typeface="华文楷体"/>
                <a:cs typeface="华文楷体"/>
              </a:rPr>
              <a:t>诺 </a:t>
            </a:r>
            <a:r>
              <a:rPr dirty="0" sz="2800" b="1">
                <a:latin typeface="华文楷体"/>
                <a:cs typeface="华文楷体"/>
              </a:rPr>
              <a:t>贝尔物理学奖，也是第一位凭学位</a:t>
            </a:r>
            <a:r>
              <a:rPr dirty="0" sz="2800" spc="-5" b="1">
                <a:latin typeface="华文楷体"/>
                <a:cs typeface="华文楷体"/>
              </a:rPr>
              <a:t>论 </a:t>
            </a:r>
            <a:r>
              <a:rPr dirty="0" sz="2800" b="1">
                <a:latin typeface="华文楷体"/>
                <a:cs typeface="华文楷体"/>
              </a:rPr>
              <a:t>文就获得诺奖的科学家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0061" y="698207"/>
            <a:ext cx="32302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一、德布罗意的假</a:t>
            </a:r>
            <a:r>
              <a:rPr dirty="0" sz="2800" spc="-10" b="1">
                <a:latin typeface="华文楷体"/>
                <a:cs typeface="华文楷体"/>
              </a:rPr>
              <a:t>设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061" y="3941787"/>
            <a:ext cx="7359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为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2561" y="3941787"/>
            <a:ext cx="66040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。上述关系称为德布罗意关系。两式中的</a:t>
            </a:r>
            <a:r>
              <a:rPr dirty="0" sz="2800" spc="-5" i="1"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3961" y="4380572"/>
            <a:ext cx="1511300" cy="0"/>
          </a:xfrm>
          <a:custGeom>
            <a:avLst/>
            <a:gdLst/>
            <a:ahLst/>
            <a:cxnLst/>
            <a:rect l="l" t="t" r="r" b="b"/>
            <a:pathLst>
              <a:path w="1511300" h="0">
                <a:moveTo>
                  <a:pt x="0" y="0"/>
                </a:moveTo>
                <a:lnTo>
                  <a:pt x="15113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0061" y="2578526"/>
            <a:ext cx="9043035" cy="1234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3799"/>
              </a:lnSpc>
              <a:spcBef>
                <a:spcPts val="90"/>
              </a:spcBef>
              <a:tabLst>
                <a:tab pos="1767205" algn="l"/>
              </a:tabLst>
            </a:pPr>
            <a:r>
              <a:rPr dirty="0" sz="2800" spc="-5">
                <a:latin typeface="Times New Roman"/>
                <a:cs typeface="Times New Roman"/>
              </a:rPr>
              <a:t>2</a:t>
            </a:r>
            <a:r>
              <a:rPr dirty="0" sz="2800" spc="-5">
                <a:latin typeface="华文楷体"/>
                <a:cs typeface="华文楷体"/>
              </a:rPr>
              <a:t>．</a:t>
            </a:r>
            <a:r>
              <a:rPr dirty="0" sz="2800">
                <a:latin typeface="华文楷体"/>
                <a:cs typeface="华文楷体"/>
              </a:rPr>
              <a:t>德布罗意关系：粒子能量</a:t>
            </a:r>
            <a:r>
              <a:rPr dirty="0" sz="2800" spc="-5" i="1">
                <a:latin typeface="Times New Roman"/>
                <a:cs typeface="Times New Roman"/>
              </a:rPr>
              <a:t>E</a:t>
            </a:r>
            <a:r>
              <a:rPr dirty="0" sz="2800">
                <a:latin typeface="华文楷体"/>
                <a:cs typeface="华文楷体"/>
              </a:rPr>
              <a:t>与相应的波的频</a:t>
            </a:r>
            <a:r>
              <a:rPr dirty="0" sz="2800" spc="80">
                <a:latin typeface="华文楷体"/>
                <a:cs typeface="华文楷体"/>
              </a:rPr>
              <a:t>率</a:t>
            </a:r>
            <a:r>
              <a:rPr dirty="0" baseline="2347" sz="5325" spc="300" i="1">
                <a:latin typeface="Symbol"/>
                <a:cs typeface="Symbol"/>
              </a:rPr>
              <a:t></a:t>
            </a:r>
            <a:r>
              <a:rPr dirty="0" sz="2800">
                <a:latin typeface="华文楷体"/>
                <a:cs typeface="华文楷体"/>
              </a:rPr>
              <a:t>之间</a:t>
            </a:r>
            <a:r>
              <a:rPr dirty="0" sz="2800" spc="-5">
                <a:latin typeface="华文楷体"/>
                <a:cs typeface="华文楷体"/>
              </a:rPr>
              <a:t>的 </a:t>
            </a:r>
            <a:r>
              <a:rPr dirty="0" sz="2800">
                <a:latin typeface="华文楷体"/>
                <a:cs typeface="华文楷体"/>
              </a:rPr>
              <a:t>关系为：</a:t>
            </a:r>
            <a:r>
              <a:rPr dirty="0" u="heavy" baseline="10912" sz="420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</a:t>
            </a:r>
            <a:r>
              <a:rPr dirty="0" u="heavy" baseline="9401" sz="4875" spc="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baseline="9401" sz="4875" spc="-1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9401" sz="4875" spc="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dirty="0" u="heavy" baseline="9401" sz="4875" spc="-3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9401" sz="4875" spc="-592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u="heavy" baseline="8986" sz="5100" spc="-592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</a:t>
            </a:r>
            <a:r>
              <a:rPr dirty="0" baseline="8986" sz="5100" spc="-457" i="1">
                <a:latin typeface="Times New Roman"/>
                <a:cs typeface="Times New Roman"/>
              </a:rPr>
              <a:t> </a:t>
            </a:r>
            <a:r>
              <a:rPr dirty="0" sz="2800">
                <a:latin typeface="华文楷体"/>
                <a:cs typeface="华文楷体"/>
              </a:rPr>
              <a:t>。动量</a:t>
            </a: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sz="2800">
                <a:latin typeface="华文楷体"/>
                <a:cs typeface="华文楷体"/>
              </a:rPr>
              <a:t>与相应波长</a:t>
            </a:r>
            <a:r>
              <a:rPr dirty="0" sz="2800" spc="-5" i="1">
                <a:latin typeface="Times New Roman"/>
                <a:cs typeface="Times New Roman"/>
              </a:rPr>
              <a:t>λ</a:t>
            </a:r>
            <a:r>
              <a:rPr dirty="0" sz="2800">
                <a:latin typeface="华文楷体"/>
                <a:cs typeface="华文楷体"/>
              </a:rPr>
              <a:t>之间的关</a:t>
            </a:r>
            <a:r>
              <a:rPr dirty="0" sz="2800" spc="-5"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00061" y="1270726"/>
            <a:ext cx="9092565" cy="1219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  <a:tabLst>
                <a:tab pos="5523865" algn="l"/>
              </a:tabLst>
            </a:pP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dirty="0" sz="2800" b="0">
                <a:solidFill>
                  <a:srgbClr val="000000"/>
                </a:solidFill>
                <a:latin typeface="华文楷体"/>
                <a:cs typeface="华文楷体"/>
              </a:rPr>
              <a:t>．德布罗意波：任何一</a:t>
            </a:r>
            <a:r>
              <a:rPr dirty="0" sz="2800" spc="-445" b="0">
                <a:solidFill>
                  <a:srgbClr val="000000"/>
                </a:solidFill>
                <a:latin typeface="华文楷体"/>
                <a:cs typeface="华文楷体"/>
              </a:rPr>
              <a:t>个</a:t>
            </a:r>
            <a:r>
              <a:rPr dirty="0" u="heavy" baseline="11608" sz="5025" spc="112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11608" sz="5025" spc="-2227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运</a:t>
            </a:r>
            <a:r>
              <a:rPr dirty="0" u="heavy" baseline="11608" sz="5025" spc="-225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动</a:t>
            </a:r>
            <a:r>
              <a:rPr dirty="0" baseline="11608" sz="5025" i="1">
                <a:solidFill>
                  <a:srgbClr val="000066"/>
                </a:solidFill>
                <a:latin typeface="华文楷体"/>
                <a:cs typeface="华文楷体"/>
              </a:rPr>
              <a:t>	</a:t>
            </a:r>
            <a:r>
              <a:rPr dirty="0" sz="2800" b="0">
                <a:solidFill>
                  <a:srgbClr val="000000"/>
                </a:solidFill>
                <a:latin typeface="华文楷体"/>
                <a:cs typeface="华文楷体"/>
              </a:rPr>
              <a:t>的物体都有一种波与</a:t>
            </a:r>
            <a:r>
              <a:rPr dirty="0" sz="2800" spc="-5" b="0">
                <a:solidFill>
                  <a:srgbClr val="000000"/>
                </a:solidFill>
                <a:latin typeface="华文楷体"/>
                <a:cs typeface="华文楷体"/>
              </a:rPr>
              <a:t>它 </a:t>
            </a:r>
            <a:r>
              <a:rPr dirty="0" sz="2800" b="0">
                <a:solidFill>
                  <a:srgbClr val="000000"/>
                </a:solidFill>
                <a:latin typeface="华文楷体"/>
                <a:cs typeface="华文楷体"/>
              </a:rPr>
              <a:t>相对应，这种波</a:t>
            </a:r>
            <a:r>
              <a:rPr dirty="0" sz="2800" spc="-445" b="0">
                <a:solidFill>
                  <a:srgbClr val="000000"/>
                </a:solidFill>
                <a:latin typeface="华文楷体"/>
                <a:cs typeface="华文楷体"/>
              </a:rPr>
              <a:t>叫</a:t>
            </a:r>
            <a:r>
              <a:rPr dirty="0" u="heavy" baseline="11904" sz="4200" spc="-637" b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9950" sz="5025" spc="-2227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物质</a:t>
            </a:r>
            <a:r>
              <a:rPr dirty="0" u="heavy" baseline="9950" sz="5025" spc="22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波</a:t>
            </a:r>
            <a:r>
              <a:rPr dirty="0" sz="2800" b="0">
                <a:solidFill>
                  <a:srgbClr val="000000"/>
                </a:solidFill>
                <a:latin typeface="华文楷体"/>
                <a:cs typeface="华文楷体"/>
              </a:rPr>
              <a:t>，也称为德布罗意波</a:t>
            </a:r>
            <a:r>
              <a:rPr dirty="0" sz="2800" spc="-5" b="0">
                <a:solidFill>
                  <a:srgbClr val="00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546" y="4102054"/>
            <a:ext cx="283210" cy="3702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spc="-55" i="1">
                <a:latin typeface="Symbol"/>
                <a:cs typeface="Symbol"/>
              </a:rPr>
              <a:t>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3305" y="3902468"/>
            <a:ext cx="80391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3375" algn="l"/>
                <a:tab pos="654050" algn="l"/>
              </a:tabLst>
            </a:pPr>
            <a:r>
              <a:rPr dirty="0" sz="2150" i="1">
                <a:latin typeface="Times New Roman"/>
                <a:cs typeface="Times New Roman"/>
              </a:rPr>
              <a:t>P	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u="heavy" baseline="34883" sz="32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endParaRPr baseline="34883" sz="32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0061" y="4284026"/>
            <a:ext cx="9359265" cy="129794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360"/>
              </a:spcBef>
            </a:pPr>
            <a:r>
              <a:rPr dirty="0" sz="2800" spc="-5">
                <a:latin typeface="华文楷体"/>
                <a:cs typeface="华文楷体"/>
              </a:rPr>
              <a:t>为</a:t>
            </a:r>
            <a:r>
              <a:rPr dirty="0" sz="2800" spc="265">
                <a:latin typeface="华文楷体"/>
                <a:cs typeface="华文楷体"/>
              </a:rPr>
              <a:t> </a:t>
            </a:r>
            <a:r>
              <a:rPr dirty="0" u="heavy" baseline="12437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普朗克常</a:t>
            </a:r>
            <a:r>
              <a:rPr dirty="0" u="heavy" baseline="12437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量</a:t>
            </a:r>
            <a:r>
              <a:rPr dirty="0" baseline="12437" sz="5025" spc="-412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>
                <a:latin typeface="华文楷体"/>
                <a:cs typeface="华文楷体"/>
              </a:rPr>
              <a:t>。通过普朗克常量</a:t>
            </a:r>
            <a:r>
              <a:rPr dirty="0" sz="2800" spc="440">
                <a:latin typeface="华文楷体"/>
                <a:cs typeface="华文楷体"/>
              </a:rPr>
              <a:t>把</a:t>
            </a:r>
            <a:r>
              <a:rPr dirty="0" u="heavy" baseline="12437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粒子</a:t>
            </a:r>
            <a:r>
              <a:rPr dirty="0" u="heavy" baseline="12437" sz="5025" spc="-509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性</a:t>
            </a:r>
            <a:r>
              <a:rPr dirty="0" sz="2800" spc="-690">
                <a:latin typeface="华文楷体"/>
                <a:cs typeface="华文楷体"/>
              </a:rPr>
              <a:t>和</a:t>
            </a:r>
            <a:r>
              <a:rPr dirty="0" baseline="9121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波</a:t>
            </a:r>
            <a:r>
              <a:rPr dirty="0" u="heavy" baseline="9121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动</a:t>
            </a:r>
            <a:r>
              <a:rPr dirty="0" u="heavy" baseline="9121" sz="5025" spc="-92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性</a:t>
            </a:r>
            <a:r>
              <a:rPr dirty="0" sz="2800" spc="-5">
                <a:latin typeface="华文楷体"/>
                <a:cs typeface="华文楷体"/>
              </a:rPr>
              <a:t>联 </a:t>
            </a:r>
            <a:r>
              <a:rPr dirty="0" sz="2800">
                <a:latin typeface="华文楷体"/>
                <a:cs typeface="华文楷体"/>
              </a:rPr>
              <a:t>系起来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0307" y="5400637"/>
            <a:ext cx="23374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华文楷体"/>
                <a:cs typeface="华文楷体"/>
              </a:rPr>
              <a:t>关系同样正确</a:t>
            </a:r>
            <a:r>
              <a:rPr dirty="0" sz="2600" spc="5">
                <a:latin typeface="华文楷体"/>
                <a:cs typeface="华文楷体"/>
              </a:rPr>
              <a:t>。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32206" y="5808941"/>
            <a:ext cx="1320800" cy="0"/>
          </a:xfrm>
          <a:custGeom>
            <a:avLst/>
            <a:gdLst/>
            <a:ahLst/>
            <a:cxnLst/>
            <a:rect l="l" t="t" r="r" b="b"/>
            <a:pathLst>
              <a:path w="1320800" h="0">
                <a:moveTo>
                  <a:pt x="0" y="0"/>
                </a:moveTo>
                <a:lnTo>
                  <a:pt x="1320799" y="0"/>
                </a:lnTo>
              </a:path>
            </a:pathLst>
          </a:custGeom>
          <a:ln w="167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6907" y="333408"/>
            <a:ext cx="10065385" cy="4895850"/>
          </a:xfrm>
          <a:prstGeom prst="rect">
            <a:avLst/>
          </a:prstGeom>
        </p:spPr>
        <p:txBody>
          <a:bodyPr wrap="square" lIns="0" tIns="2533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z="3000" b="1">
                <a:latin typeface="华文楷体"/>
                <a:cs typeface="华文楷体"/>
              </a:rPr>
              <a:t>二、德布罗意假说的实验探</a:t>
            </a:r>
            <a:r>
              <a:rPr dirty="0" sz="3000" spc="-5" b="1">
                <a:latin typeface="华文楷体"/>
                <a:cs typeface="华文楷体"/>
              </a:rPr>
              <a:t>索</a:t>
            </a:r>
            <a:endParaRPr sz="3000">
              <a:latin typeface="华文楷体"/>
              <a:cs typeface="华文楷体"/>
            </a:endParaRPr>
          </a:p>
          <a:p>
            <a:pPr marL="499745" indent="-487045">
              <a:lnSpc>
                <a:spcPct val="100000"/>
              </a:lnSpc>
              <a:spcBef>
                <a:spcPts val="1650"/>
              </a:spcBef>
              <a:buSzPct val="96153"/>
              <a:buAutoNum type="arabicPeriod"/>
              <a:tabLst>
                <a:tab pos="499745" algn="l"/>
              </a:tabLst>
            </a:pPr>
            <a:r>
              <a:rPr dirty="0" sz="2600" b="1">
                <a:latin typeface="华文楷体"/>
                <a:cs typeface="华文楷体"/>
              </a:rPr>
              <a:t>实验探究思路</a:t>
            </a:r>
            <a:endParaRPr sz="2600">
              <a:latin typeface="华文楷体"/>
              <a:cs typeface="华文楷体"/>
            </a:endParaRPr>
          </a:p>
          <a:p>
            <a:pPr marL="457200" marR="5080" indent="635">
              <a:lnSpc>
                <a:spcPct val="142500"/>
              </a:lnSpc>
              <a:spcBef>
                <a:spcPts val="465"/>
              </a:spcBef>
            </a:pPr>
            <a:r>
              <a:rPr dirty="0" sz="2600" spc="5">
                <a:latin typeface="华文楷体"/>
                <a:cs typeface="华文楷体"/>
              </a:rPr>
              <a:t>干涉、衍射是波特有的现象。如果实物粒子具有波动性，则在</a:t>
            </a:r>
            <a:r>
              <a:rPr dirty="0" sz="2600" spc="10">
                <a:latin typeface="华文楷体"/>
                <a:cs typeface="华文楷体"/>
              </a:rPr>
              <a:t>一</a:t>
            </a:r>
            <a:r>
              <a:rPr dirty="0" sz="2600">
                <a:latin typeface="华文楷体"/>
                <a:cs typeface="华文楷体"/>
              </a:rPr>
              <a:t>定 </a:t>
            </a:r>
            <a:r>
              <a:rPr dirty="0" sz="2600">
                <a:latin typeface="华文楷体"/>
                <a:cs typeface="华文楷体"/>
              </a:rPr>
              <a:t>条件下，也应该能发生干涉和衍射现象</a:t>
            </a:r>
            <a:r>
              <a:rPr dirty="0" sz="2600" spc="5">
                <a:latin typeface="华文楷体"/>
                <a:cs typeface="华文楷体"/>
              </a:rPr>
              <a:t>。</a:t>
            </a:r>
            <a:endParaRPr sz="2600">
              <a:latin typeface="华文楷体"/>
              <a:cs typeface="华文楷体"/>
            </a:endParaRPr>
          </a:p>
          <a:p>
            <a:pPr marL="499745" indent="-487045">
              <a:lnSpc>
                <a:spcPct val="100000"/>
              </a:lnSpc>
              <a:spcBef>
                <a:spcPts val="1560"/>
              </a:spcBef>
              <a:buSzPct val="96153"/>
              <a:buAutoNum type="arabicPeriod" startAt="2"/>
              <a:tabLst>
                <a:tab pos="499745" algn="l"/>
              </a:tabLst>
            </a:pPr>
            <a:r>
              <a:rPr dirty="0" sz="2600" b="1">
                <a:latin typeface="华文楷体"/>
                <a:cs typeface="华文楷体"/>
              </a:rPr>
              <a:t>实验验证</a:t>
            </a:r>
            <a:endParaRPr sz="2600">
              <a:latin typeface="华文楷体"/>
              <a:cs typeface="华文楷体"/>
            </a:endParaRPr>
          </a:p>
          <a:p>
            <a:pPr marL="457200" marR="5080" indent="-28575">
              <a:lnSpc>
                <a:spcPct val="116399"/>
              </a:lnSpc>
              <a:spcBef>
                <a:spcPts val="155"/>
              </a:spcBef>
            </a:pPr>
            <a:r>
              <a:rPr dirty="0" sz="2600" spc="-5">
                <a:latin typeface="华文楷体"/>
                <a:cs typeface="华文楷体"/>
              </a:rPr>
              <a:t>1927</a:t>
            </a:r>
            <a:r>
              <a:rPr dirty="0" sz="2600">
                <a:latin typeface="华文楷体"/>
                <a:cs typeface="华文楷体"/>
              </a:rPr>
              <a:t>年戴维孙和汤姆孙分别利用晶体做</a:t>
            </a:r>
            <a:r>
              <a:rPr dirty="0" sz="2600" spc="5">
                <a:latin typeface="华文楷体"/>
                <a:cs typeface="华文楷体"/>
              </a:rPr>
              <a:t>了</a:t>
            </a:r>
            <a:r>
              <a:rPr dirty="0" sz="2600" spc="170">
                <a:latin typeface="华文楷体"/>
                <a:cs typeface="华文楷体"/>
              </a:rPr>
              <a:t> </a:t>
            </a:r>
            <a:r>
              <a:rPr dirty="0" u="heavy" baseline="17412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电子束衍</a:t>
            </a:r>
            <a:r>
              <a:rPr dirty="0" u="heavy" baseline="17412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射</a:t>
            </a:r>
            <a:r>
              <a:rPr dirty="0" baseline="17412" sz="5025" spc="-254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600" spc="5">
                <a:latin typeface="华文楷体"/>
                <a:cs typeface="华文楷体"/>
              </a:rPr>
              <a:t>的实验，  </a:t>
            </a:r>
            <a:r>
              <a:rPr dirty="0" sz="2600">
                <a:latin typeface="华文楷体"/>
                <a:cs typeface="华文楷体"/>
              </a:rPr>
              <a:t>得到了电子</a:t>
            </a:r>
            <a:r>
              <a:rPr dirty="0" sz="2600" spc="-445">
                <a:latin typeface="华文楷体"/>
                <a:cs typeface="华文楷体"/>
              </a:rPr>
              <a:t>的</a:t>
            </a:r>
            <a:r>
              <a:rPr dirty="0" u="heavy" baseline="17094" sz="3900" spc="-615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13266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衍射图</a:t>
            </a:r>
            <a:r>
              <a:rPr dirty="0" u="heavy" baseline="13266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样</a:t>
            </a:r>
            <a:r>
              <a:rPr dirty="0" baseline="13266" sz="5025" spc="517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600">
                <a:latin typeface="华文楷体"/>
                <a:cs typeface="华文楷体"/>
              </a:rPr>
              <a:t>，证实了电子的波动性</a:t>
            </a:r>
            <a:r>
              <a:rPr dirty="0" sz="2600" spc="5">
                <a:latin typeface="华文楷体"/>
                <a:cs typeface="华文楷体"/>
              </a:rPr>
              <a:t>。</a:t>
            </a:r>
            <a:endParaRPr sz="2600">
              <a:latin typeface="华文楷体"/>
              <a:cs typeface="华文楷体"/>
            </a:endParaRPr>
          </a:p>
          <a:p>
            <a:pPr marL="511809">
              <a:lnSpc>
                <a:spcPct val="100000"/>
              </a:lnSpc>
              <a:spcBef>
                <a:spcPts val="1410"/>
              </a:spcBef>
            </a:pPr>
            <a:r>
              <a:rPr dirty="0" sz="2600" spc="85">
                <a:latin typeface="华文楷体"/>
                <a:cs typeface="华文楷体"/>
              </a:rPr>
              <a:t>人们陆续证实了质子、中子以及原子、分子的波动</a:t>
            </a:r>
            <a:r>
              <a:rPr dirty="0" sz="2600" spc="90">
                <a:latin typeface="华文楷体"/>
                <a:cs typeface="华文楷体"/>
              </a:rPr>
              <a:t>性。对于这</a:t>
            </a:r>
            <a:r>
              <a:rPr dirty="0" sz="2600" spc="5">
                <a:latin typeface="华文楷体"/>
                <a:cs typeface="华文楷体"/>
              </a:rPr>
              <a:t>些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407" y="5316599"/>
            <a:ext cx="5144135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00">
                <a:latin typeface="华文楷体"/>
                <a:cs typeface="华文楷体"/>
              </a:rPr>
              <a:t>粒子，德布罗意给出</a:t>
            </a:r>
            <a:r>
              <a:rPr dirty="0" sz="2600" spc="5">
                <a:latin typeface="华文楷体"/>
                <a:cs typeface="华文楷体"/>
              </a:rPr>
              <a:t>的</a:t>
            </a:r>
            <a:r>
              <a:rPr dirty="0" u="heavy" baseline="10683" sz="3900" spc="52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8960" sz="4650" spc="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baseline="8960" sz="4650" spc="-1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8960" sz="4650" spc="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dirty="0" u="heavy" baseline="8960" sz="4650" spc="-35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8960" sz="4650" spc="-569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u="heavy" baseline="8547" sz="4875" spc="-569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</a:t>
            </a:r>
            <a:r>
              <a:rPr dirty="0" baseline="8547" sz="4875" spc="-195" i="1">
                <a:latin typeface="Times New Roman"/>
                <a:cs typeface="Times New Roman"/>
              </a:rPr>
              <a:t> </a:t>
            </a:r>
            <a:r>
              <a:rPr dirty="0" sz="2600" spc="5">
                <a:latin typeface="华文楷体"/>
                <a:cs typeface="华文楷体"/>
              </a:rPr>
              <a:t>和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694" y="5503017"/>
            <a:ext cx="283210" cy="3702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spc="-55" i="1">
                <a:latin typeface="Symbol"/>
                <a:cs typeface="Symbol"/>
              </a:rPr>
              <a:t>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2666" y="5302859"/>
            <a:ext cx="80454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3375" algn="l"/>
                <a:tab pos="654685" algn="l"/>
              </a:tabLst>
            </a:pPr>
            <a:r>
              <a:rPr dirty="0" sz="2150" i="1">
                <a:latin typeface="Times New Roman"/>
                <a:cs typeface="Times New Roman"/>
              </a:rPr>
              <a:t>P	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u="heavy" baseline="34883" sz="32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endParaRPr baseline="34883" sz="32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8618" y="487591"/>
            <a:ext cx="383730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  <a:latin typeface="华文楷体"/>
                <a:cs typeface="华文楷体"/>
              </a:rPr>
              <a:t>如何理解德布罗意波</a:t>
            </a:r>
            <a:r>
              <a:rPr dirty="0" sz="3200" spc="-5">
                <a:solidFill>
                  <a:srgbClr val="000000"/>
                </a:solidFill>
                <a:latin typeface="华文楷体"/>
                <a:cs typeface="华文楷体"/>
              </a:rPr>
              <a:t>?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24528" y="562453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7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47428" y="5624538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 h="0">
                <a:moveTo>
                  <a:pt x="0" y="0"/>
                </a:moveTo>
                <a:lnTo>
                  <a:pt x="115570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22628" y="1133056"/>
            <a:ext cx="9803765" cy="4520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5875">
              <a:lnSpc>
                <a:spcPct val="150000"/>
              </a:lnSpc>
              <a:spcBef>
                <a:spcPts val="100"/>
              </a:spcBef>
              <a:buSzPct val="96428"/>
              <a:buAutoNum type="arabicPlain"/>
              <a:tabLst>
                <a:tab pos="890905" algn="l"/>
              </a:tabLst>
            </a:pPr>
            <a:r>
              <a:rPr dirty="0" sz="2800">
                <a:latin typeface="华文楷体"/>
                <a:cs typeface="华文楷体"/>
              </a:rPr>
              <a:t>任何运动着的物体，小到电子、质子，大到行星、太阳</a:t>
            </a:r>
            <a:r>
              <a:rPr dirty="0" sz="2800" spc="-5"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都有一种波与它相对应，这种波即物质波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just" marL="12700" marR="15875">
              <a:lnSpc>
                <a:spcPct val="150000"/>
              </a:lnSpc>
              <a:buSzPct val="96428"/>
              <a:buAutoNum type="arabicPlain"/>
              <a:tabLst>
                <a:tab pos="890905" algn="l"/>
              </a:tabLst>
            </a:pPr>
            <a:r>
              <a:rPr dirty="0" sz="2800">
                <a:latin typeface="华文楷体"/>
                <a:cs typeface="华文楷体"/>
              </a:rPr>
              <a:t>宏观物体的质量比微观粒子大得多，运动时的动量很大</a:t>
            </a:r>
            <a:r>
              <a:rPr dirty="0" sz="2800" spc="-5"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对应的德布罗意波的波长就很小，不易观察到它的波动性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just" marL="12700" marR="5080">
              <a:lnSpc>
                <a:spcPct val="129500"/>
              </a:lnSpc>
              <a:spcBef>
                <a:spcPts val="690"/>
              </a:spcBef>
              <a:buSzPct val="96428"/>
              <a:buAutoNum type="arabicPlain"/>
              <a:tabLst>
                <a:tab pos="890905" algn="l"/>
              </a:tabLst>
            </a:pPr>
            <a:r>
              <a:rPr dirty="0" sz="2800">
                <a:latin typeface="华文楷体"/>
                <a:cs typeface="华文楷体"/>
              </a:rPr>
              <a:t>德布罗意假说是光的波粒二象性的推广，即光子和实物</a:t>
            </a:r>
            <a:r>
              <a:rPr dirty="0" sz="2800" spc="-5">
                <a:latin typeface="华文楷体"/>
                <a:cs typeface="华文楷体"/>
              </a:rPr>
              <a:t>粒 </a:t>
            </a:r>
            <a:r>
              <a:rPr dirty="0" sz="2800">
                <a:latin typeface="华文楷体"/>
                <a:cs typeface="华文楷体"/>
              </a:rPr>
              <a:t>子都既具有粒子性，又具</a:t>
            </a:r>
            <a:r>
              <a:rPr dirty="0" sz="2800" spc="-5">
                <a:latin typeface="华文楷体"/>
                <a:cs typeface="华文楷体"/>
              </a:rPr>
              <a:t>有</a:t>
            </a:r>
            <a:r>
              <a:rPr dirty="0" baseline="9920" sz="4200" spc="232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u="heavy" baseline="8291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波动</a:t>
            </a:r>
            <a:r>
              <a:rPr dirty="0" u="heavy" baseline="8291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性</a:t>
            </a:r>
            <a:r>
              <a:rPr dirty="0" baseline="8291" sz="5025" spc="-112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>
                <a:latin typeface="华文楷体"/>
                <a:cs typeface="华文楷体"/>
              </a:rPr>
              <a:t>，即具有波粒二象性。</a:t>
            </a:r>
            <a:r>
              <a:rPr dirty="0" sz="2800" spc="-5">
                <a:latin typeface="华文楷体"/>
                <a:cs typeface="华文楷体"/>
              </a:rPr>
              <a:t>与 </a:t>
            </a:r>
            <a:r>
              <a:rPr dirty="0" sz="2800">
                <a:latin typeface="华文楷体"/>
                <a:cs typeface="华文楷体"/>
              </a:rPr>
              <a:t>光子对应的波</a:t>
            </a:r>
            <a:r>
              <a:rPr dirty="0" sz="2800" spc="65">
                <a:latin typeface="华文楷体"/>
                <a:cs typeface="华文楷体"/>
              </a:rPr>
              <a:t>是</a:t>
            </a:r>
            <a:r>
              <a:rPr dirty="0" baseline="14925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电</a:t>
            </a:r>
            <a:r>
              <a:rPr dirty="0" baseline="14925" sz="5025" spc="-225" b="1" i="1">
                <a:solidFill>
                  <a:srgbClr val="000066"/>
                </a:solidFill>
                <a:latin typeface="华文楷体"/>
                <a:cs typeface="华文楷体"/>
              </a:rPr>
              <a:t>磁</a:t>
            </a:r>
            <a:r>
              <a:rPr dirty="0" baseline="14925" sz="5025" spc="630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>
                <a:latin typeface="华文楷体"/>
                <a:cs typeface="华文楷体"/>
              </a:rPr>
              <a:t>波，与实物粒子对应的波</a:t>
            </a:r>
            <a:r>
              <a:rPr dirty="0" sz="2800" spc="-5">
                <a:latin typeface="华文楷体"/>
                <a:cs typeface="华文楷体"/>
              </a:rPr>
              <a:t>是</a:t>
            </a:r>
            <a:r>
              <a:rPr dirty="0" sz="2800" spc="80">
                <a:latin typeface="华文楷体"/>
                <a:cs typeface="华文楷体"/>
              </a:rPr>
              <a:t> </a:t>
            </a:r>
            <a:r>
              <a:rPr dirty="0" baseline="15754" sz="5025" spc="-2227" b="1" i="1">
                <a:solidFill>
                  <a:srgbClr val="000066"/>
                </a:solidFill>
                <a:latin typeface="华文楷体"/>
                <a:cs typeface="华文楷体"/>
              </a:rPr>
              <a:t>物</a:t>
            </a:r>
            <a:r>
              <a:rPr dirty="0" baseline="15754" sz="5025" spc="622" b="1" i="1">
                <a:solidFill>
                  <a:srgbClr val="000066"/>
                </a:solidFill>
                <a:latin typeface="华文楷体"/>
                <a:cs typeface="华文楷体"/>
              </a:rPr>
              <a:t>质</a:t>
            </a:r>
            <a:r>
              <a:rPr dirty="0" sz="2800">
                <a:latin typeface="华文楷体"/>
                <a:cs typeface="华文楷体"/>
              </a:rPr>
              <a:t>波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6736" y="2887979"/>
            <a:ext cx="2680716" cy="3268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4948" y="258965"/>
            <a:ext cx="9732010" cy="510667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dirty="0" sz="2800" b="1">
                <a:latin typeface="华文楷体"/>
                <a:cs typeface="华文楷体"/>
              </a:rPr>
              <a:t>德布罗意波的统计解</a:t>
            </a:r>
            <a:r>
              <a:rPr dirty="0" sz="2800" spc="-10" b="1">
                <a:latin typeface="华文楷体"/>
                <a:cs typeface="华文楷体"/>
              </a:rPr>
              <a:t>释</a:t>
            </a:r>
            <a:endParaRPr sz="2800">
              <a:latin typeface="华文楷体"/>
              <a:cs typeface="华文楷体"/>
            </a:endParaRPr>
          </a:p>
          <a:p>
            <a:pPr algn="just" marL="101600" marR="5080" indent="723900">
              <a:lnSpc>
                <a:spcPct val="128299"/>
              </a:lnSpc>
              <a:spcBef>
                <a:spcPts val="715"/>
              </a:spcBef>
            </a:pPr>
            <a:r>
              <a:rPr dirty="0" sz="2800" spc="-5" b="1">
                <a:latin typeface="Times New Roman"/>
                <a:cs typeface="Times New Roman"/>
              </a:rPr>
              <a:t>1926</a:t>
            </a:r>
            <a:r>
              <a:rPr dirty="0" sz="2800" b="1">
                <a:latin typeface="华文楷体"/>
                <a:cs typeface="华文楷体"/>
              </a:rPr>
              <a:t>年，德国物理学玻</a:t>
            </a:r>
            <a:r>
              <a:rPr dirty="0" sz="2800" spc="-10" b="1">
                <a:latin typeface="华文楷体"/>
                <a:cs typeface="华文楷体"/>
              </a:rPr>
              <a:t>恩</a:t>
            </a:r>
            <a:r>
              <a:rPr dirty="0" sz="2800" b="1">
                <a:latin typeface="华文楷体"/>
                <a:cs typeface="华文楷体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(Born , 1882--1972)</a:t>
            </a:r>
            <a:r>
              <a:rPr dirty="0" sz="2800" spc="2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提出了概</a:t>
            </a:r>
            <a:r>
              <a:rPr dirty="0" sz="2800" spc="-10" b="1">
                <a:latin typeface="华文楷体"/>
                <a:cs typeface="华文楷体"/>
              </a:rPr>
              <a:t>率 </a:t>
            </a:r>
            <a:r>
              <a:rPr dirty="0" sz="2800" b="1">
                <a:latin typeface="华文楷体"/>
                <a:cs typeface="华文楷体"/>
              </a:rPr>
              <a:t>波，认为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个别微观粒子</a:t>
            </a:r>
            <a:r>
              <a:rPr dirty="0" sz="2800" b="1">
                <a:latin typeface="华文楷体"/>
                <a:cs typeface="华文楷体"/>
              </a:rPr>
              <a:t>在何处出现有一定的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偶然性</a:t>
            </a:r>
            <a:r>
              <a:rPr dirty="0" sz="2800" b="1">
                <a:latin typeface="华文楷体"/>
                <a:cs typeface="华文楷体"/>
              </a:rPr>
              <a:t>，但是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大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量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粒子</a:t>
            </a:r>
            <a:r>
              <a:rPr dirty="0" sz="2800" b="1">
                <a:latin typeface="华文楷体"/>
                <a:cs typeface="华文楷体"/>
              </a:rPr>
              <a:t>在空间何处出现的空间分布却服从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一定的统计规律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00">
              <a:latin typeface="Times New Roman"/>
              <a:cs typeface="Times New Roman"/>
            </a:endParaRPr>
          </a:p>
          <a:p>
            <a:pPr algn="just" marL="3867785" marR="994410">
              <a:lnSpc>
                <a:spcPct val="100000"/>
              </a:lnSpc>
            </a:pPr>
            <a:r>
              <a:rPr dirty="0" sz="2800" spc="65" b="1">
                <a:solidFill>
                  <a:srgbClr val="000099"/>
                </a:solidFill>
                <a:latin typeface="华文楷体"/>
                <a:cs typeface="华文楷体"/>
              </a:rPr>
              <a:t>玻恩</a:t>
            </a:r>
            <a:r>
              <a:rPr dirty="0" sz="2800" spc="40" b="1">
                <a:solidFill>
                  <a:srgbClr val="000099"/>
                </a:solidFill>
                <a:latin typeface="Times New Roman"/>
                <a:cs typeface="Times New Roman"/>
              </a:rPr>
              <a:t>(M.</a:t>
            </a:r>
            <a:r>
              <a:rPr dirty="0" sz="2800" spc="9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50" b="1">
                <a:solidFill>
                  <a:srgbClr val="000099"/>
                </a:solidFill>
                <a:latin typeface="Times New Roman"/>
                <a:cs typeface="Times New Roman"/>
              </a:rPr>
              <a:t>Born.</a:t>
            </a:r>
            <a:r>
              <a:rPr dirty="0" sz="2800" spc="10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65" b="1">
                <a:solidFill>
                  <a:srgbClr val="000099"/>
                </a:solidFill>
                <a:latin typeface="Times New Roman"/>
                <a:cs typeface="Times New Roman"/>
              </a:rPr>
              <a:t>1882-1970)</a:t>
            </a:r>
            <a:r>
              <a:rPr dirty="0" sz="2800" spc="70" b="1">
                <a:solidFill>
                  <a:srgbClr val="000099"/>
                </a:solidFill>
                <a:latin typeface="华文楷体"/>
                <a:cs typeface="华文楷体"/>
              </a:rPr>
              <a:t>德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国 </a:t>
            </a:r>
            <a:r>
              <a:rPr dirty="0" sz="2800" spc="75" b="1">
                <a:solidFill>
                  <a:srgbClr val="000099"/>
                </a:solidFill>
                <a:latin typeface="华文楷体"/>
                <a:cs typeface="华文楷体"/>
              </a:rPr>
              <a:t>物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理</a:t>
            </a:r>
            <a:r>
              <a:rPr dirty="0" sz="2800" spc="90" b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sz="2800" spc="75" b="1">
                <a:solidFill>
                  <a:srgbClr val="000099"/>
                </a:solidFill>
                <a:latin typeface="华文楷体"/>
                <a:cs typeface="华文楷体"/>
              </a:rPr>
              <a:t>学家。</a:t>
            </a:r>
            <a:r>
              <a:rPr dirty="0" sz="2800" spc="70" b="1">
                <a:solidFill>
                  <a:srgbClr val="000099"/>
                </a:solidFill>
                <a:latin typeface="Times New Roman"/>
                <a:cs typeface="Times New Roman"/>
              </a:rPr>
              <a:t>1926</a:t>
            </a:r>
            <a:r>
              <a:rPr dirty="0" sz="2800" spc="75" b="1">
                <a:solidFill>
                  <a:srgbClr val="000099"/>
                </a:solidFill>
                <a:latin typeface="华文楷体"/>
                <a:cs typeface="华文楷体"/>
              </a:rPr>
              <a:t>年提出波</a:t>
            </a:r>
            <a:r>
              <a:rPr dirty="0" sz="2800" spc="80" b="1">
                <a:solidFill>
                  <a:srgbClr val="000099"/>
                </a:solidFill>
                <a:latin typeface="华文楷体"/>
                <a:cs typeface="华文楷体"/>
              </a:rPr>
              <a:t>函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数 的 统 计 意 义 。 为 此 与 博</a:t>
            </a:r>
            <a:r>
              <a:rPr dirty="0" sz="2800" spc="490" b="1">
                <a:solidFill>
                  <a:srgbClr val="000099"/>
                </a:solidFill>
                <a:latin typeface="华文楷体"/>
                <a:cs typeface="华文楷体"/>
              </a:rPr>
              <a:t> 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波 </a:t>
            </a:r>
            <a:r>
              <a:rPr dirty="0" sz="2800" spc="-60" b="1">
                <a:solidFill>
                  <a:srgbClr val="000099"/>
                </a:solidFill>
                <a:latin typeface="Times New Roman"/>
                <a:cs typeface="Times New Roman"/>
              </a:rPr>
              <a:t>(W.W.G</a:t>
            </a:r>
            <a:r>
              <a:rPr dirty="0" sz="2800" spc="4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25" b="1">
                <a:solidFill>
                  <a:srgbClr val="000099"/>
                </a:solidFill>
                <a:latin typeface="Times New Roman"/>
                <a:cs typeface="Times New Roman"/>
              </a:rPr>
              <a:t>Bothe.</a:t>
            </a:r>
            <a:r>
              <a:rPr dirty="0" sz="2800" spc="35" b="1">
                <a:solidFill>
                  <a:srgbClr val="000099"/>
                </a:solidFill>
                <a:latin typeface="Times New Roman"/>
                <a:cs typeface="Times New Roman"/>
              </a:rPr>
              <a:t> 1891-1957)</a:t>
            </a:r>
            <a:r>
              <a:rPr dirty="0" sz="2800" spc="40" b="1">
                <a:solidFill>
                  <a:srgbClr val="000099"/>
                </a:solidFill>
                <a:latin typeface="华文楷体"/>
                <a:cs typeface="华文楷体"/>
              </a:rPr>
              <a:t>共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享</a:t>
            </a:r>
            <a:endParaRPr sz="2800">
              <a:latin typeface="华文楷体"/>
              <a:cs typeface="华文楷体"/>
            </a:endParaRPr>
          </a:p>
          <a:p>
            <a:pPr algn="just" marL="3867785">
              <a:lnSpc>
                <a:spcPct val="100000"/>
              </a:lnSpc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1954</a:t>
            </a:r>
            <a:r>
              <a:rPr dirty="0" sz="2800" b="1">
                <a:solidFill>
                  <a:srgbClr val="000099"/>
                </a:solidFill>
                <a:latin typeface="华文楷体"/>
                <a:cs typeface="华文楷体"/>
              </a:rPr>
              <a:t>年诺贝尔物理学奖</a:t>
            </a:r>
            <a:r>
              <a:rPr dirty="0" sz="2800" spc="-10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917" y="724674"/>
            <a:ext cx="2313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华文楷体"/>
                <a:cs typeface="华文楷体"/>
              </a:rPr>
              <a:t>三、概率</a:t>
            </a:r>
            <a:r>
              <a:rPr dirty="0" sz="3600" spc="-5">
                <a:solidFill>
                  <a:srgbClr val="000000"/>
                </a:solidFill>
                <a:latin typeface="华文楷体"/>
                <a:cs typeface="华文楷体"/>
              </a:rPr>
              <a:t>波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1628" y="1311693"/>
            <a:ext cx="10186035" cy="4072254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3200" b="1">
                <a:latin typeface="华文楷体"/>
                <a:cs typeface="华文楷体"/>
              </a:rPr>
              <a:t>经典波动与德布罗意波</a:t>
            </a:r>
            <a:r>
              <a:rPr dirty="0" sz="3200" spc="-5" b="1">
                <a:latin typeface="华文楷体"/>
                <a:cs typeface="华文楷体"/>
              </a:rPr>
              <a:t>(</a:t>
            </a:r>
            <a:r>
              <a:rPr dirty="0" sz="3200" b="1">
                <a:latin typeface="华文楷体"/>
                <a:cs typeface="华文楷体"/>
              </a:rPr>
              <a:t>物质波</a:t>
            </a:r>
            <a:r>
              <a:rPr dirty="0" sz="3200" spc="-5" b="1">
                <a:latin typeface="华文楷体"/>
                <a:cs typeface="华文楷体"/>
              </a:rPr>
              <a:t>)</a:t>
            </a:r>
            <a:r>
              <a:rPr dirty="0" sz="3200" b="1">
                <a:latin typeface="华文楷体"/>
                <a:cs typeface="华文楷体"/>
              </a:rPr>
              <a:t>的区别</a:t>
            </a:r>
            <a:endParaRPr sz="3200">
              <a:latin typeface="华文楷体"/>
              <a:cs typeface="华文楷体"/>
            </a:endParaRPr>
          </a:p>
          <a:p>
            <a:pPr marL="12700" marR="173990">
              <a:lnSpc>
                <a:spcPts val="3460"/>
              </a:lnSpc>
              <a:spcBef>
                <a:spcPts val="1970"/>
              </a:spcBef>
            </a:pPr>
            <a:r>
              <a:rPr dirty="0" sz="3200" spc="-5">
                <a:latin typeface="华文楷体"/>
                <a:cs typeface="华文楷体"/>
              </a:rPr>
              <a:t>经典的波动(如机械波、电磁波等)：可以测出的、实际</a:t>
            </a:r>
            <a:r>
              <a:rPr dirty="0" sz="3200">
                <a:latin typeface="华文楷体"/>
                <a:cs typeface="华文楷体"/>
              </a:rPr>
              <a:t>存 </a:t>
            </a:r>
            <a:r>
              <a:rPr dirty="0" sz="3200">
                <a:latin typeface="华文楷体"/>
                <a:cs typeface="华文楷体"/>
              </a:rPr>
              <a:t>在于空间的一种波动</a:t>
            </a:r>
            <a:r>
              <a:rPr dirty="0" sz="3200" spc="5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marL="12700" marR="174625">
              <a:lnSpc>
                <a:spcPts val="3460"/>
              </a:lnSpc>
              <a:spcBef>
                <a:spcPts val="1910"/>
              </a:spcBef>
            </a:pPr>
            <a:r>
              <a:rPr dirty="0" sz="3200" spc="-5">
                <a:latin typeface="华文楷体"/>
                <a:cs typeface="华文楷体"/>
              </a:rPr>
              <a:t>而德布罗意波(物质波)：一种概率波。是为了描述微观</a:t>
            </a:r>
            <a:r>
              <a:rPr dirty="0" sz="3200">
                <a:latin typeface="华文楷体"/>
                <a:cs typeface="华文楷体"/>
              </a:rPr>
              <a:t>粒 </a:t>
            </a:r>
            <a:r>
              <a:rPr dirty="0" sz="3200">
                <a:latin typeface="华文楷体"/>
                <a:cs typeface="华文楷体"/>
              </a:rPr>
              <a:t>子的波动性而引入的一种方法</a:t>
            </a:r>
            <a:r>
              <a:rPr dirty="0" sz="3200" spc="5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marL="12700" marR="5080">
              <a:lnSpc>
                <a:spcPts val="3450"/>
              </a:lnSpc>
              <a:spcBef>
                <a:spcPts val="1920"/>
              </a:spcBef>
            </a:pPr>
            <a:r>
              <a:rPr dirty="0" sz="3200">
                <a:latin typeface="华文楷体"/>
                <a:cs typeface="华文楷体"/>
              </a:rPr>
              <a:t>粒子在空间各处出现的概率受波动规律支配，不要以宏</a:t>
            </a:r>
            <a:r>
              <a:rPr dirty="0" sz="3200">
                <a:latin typeface="华文楷体"/>
                <a:cs typeface="华文楷体"/>
              </a:rPr>
              <a:t>观 </a:t>
            </a:r>
            <a:r>
              <a:rPr dirty="0" sz="3200">
                <a:latin typeface="华文楷体"/>
                <a:cs typeface="华文楷体"/>
              </a:rPr>
              <a:t>观点中的波来理解德布罗意波</a:t>
            </a:r>
            <a:r>
              <a:rPr dirty="0" sz="3200" spc="5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117" y="1015619"/>
            <a:ext cx="2313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33CC"/>
                </a:solidFill>
                <a:latin typeface="华文楷体"/>
                <a:cs typeface="华文楷体"/>
              </a:rPr>
              <a:t>特别提醒</a:t>
            </a:r>
            <a:r>
              <a:rPr dirty="0" sz="3600" spc="-5">
                <a:solidFill>
                  <a:srgbClr val="0033CC"/>
                </a:solidFill>
                <a:latin typeface="华文楷体"/>
                <a:cs typeface="华文楷体"/>
              </a:rPr>
              <a:t>：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9605" y="1802891"/>
            <a:ext cx="9000490" cy="3368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9900"/>
              </a:lnSpc>
              <a:spcBef>
                <a:spcPts val="95"/>
              </a:spcBef>
              <a:buSzPct val="96875"/>
              <a:buAutoNum type="arabicParenBoth"/>
              <a:tabLst>
                <a:tab pos="441959" algn="l"/>
              </a:tabLst>
            </a:pPr>
            <a:r>
              <a:rPr dirty="0" sz="3200">
                <a:latin typeface="华文楷体"/>
                <a:cs typeface="华文楷体"/>
              </a:rPr>
              <a:t>在</a:t>
            </a:r>
            <a:r>
              <a:rPr dirty="0" sz="3200">
                <a:latin typeface="华文楷体"/>
                <a:cs typeface="华文楷体"/>
              </a:rPr>
              <a:t>宏观现象中，波与粒子是对立的概念，而在微 </a:t>
            </a:r>
            <a:r>
              <a:rPr dirty="0" sz="3200">
                <a:latin typeface="华文楷体"/>
                <a:cs typeface="华文楷体"/>
              </a:rPr>
              <a:t>观世界中，波与粒子可以统一</a:t>
            </a:r>
            <a:r>
              <a:rPr dirty="0" sz="3200" spc="5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  <a:p>
            <a:pPr algn="just" marL="12700" marR="17780">
              <a:lnSpc>
                <a:spcPct val="109900"/>
              </a:lnSpc>
              <a:spcBef>
                <a:spcPts val="1000"/>
              </a:spcBef>
              <a:buSzPct val="96875"/>
              <a:buAutoNum type="arabicParenBoth"/>
              <a:tabLst>
                <a:tab pos="441959" algn="l"/>
              </a:tabLst>
            </a:pPr>
            <a:r>
              <a:rPr dirty="0" sz="3200">
                <a:latin typeface="华文楷体"/>
                <a:cs typeface="华文楷体"/>
              </a:rPr>
              <a:t>这里所说的粒子性和波动性，既不是宏观观念</a:t>
            </a:r>
            <a:r>
              <a:rPr dirty="0" sz="3200">
                <a:latin typeface="华文楷体"/>
                <a:cs typeface="华文楷体"/>
              </a:rPr>
              <a:t>的 </a:t>
            </a:r>
            <a:r>
              <a:rPr dirty="0" sz="3200">
                <a:latin typeface="华文楷体"/>
                <a:cs typeface="华文楷体"/>
              </a:rPr>
              <a:t>波，也不是宏观观念的粒子，光具有波粒二象性</a:t>
            </a:r>
            <a:r>
              <a:rPr dirty="0" sz="3200" spc="5">
                <a:latin typeface="华文楷体"/>
                <a:cs typeface="华文楷体"/>
              </a:rPr>
              <a:t>是 </a:t>
            </a:r>
            <a:r>
              <a:rPr dirty="0" sz="3200">
                <a:latin typeface="华文楷体"/>
                <a:cs typeface="华文楷体"/>
              </a:rPr>
              <a:t>指光在传播过程中及与物质作用时分别表现出波</a:t>
            </a:r>
            <a:r>
              <a:rPr dirty="0" sz="3200" spc="5">
                <a:latin typeface="华文楷体"/>
                <a:cs typeface="华文楷体"/>
              </a:rPr>
              <a:t>和 </a:t>
            </a:r>
            <a:r>
              <a:rPr dirty="0" sz="3200">
                <a:latin typeface="华文楷体"/>
                <a:cs typeface="华文楷体"/>
              </a:rPr>
              <a:t>粒子的特性</a:t>
            </a:r>
            <a:r>
              <a:rPr dirty="0" sz="3200" spc="5">
                <a:latin typeface="华文楷体"/>
                <a:cs typeface="华文楷体"/>
              </a:rPr>
              <a:t>。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2971" y="997394"/>
            <a:ext cx="2313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华文楷体"/>
                <a:cs typeface="华文楷体"/>
              </a:rPr>
              <a:t>四、电子</a:t>
            </a:r>
            <a:r>
              <a:rPr dirty="0" sz="3600" spc="-5">
                <a:solidFill>
                  <a:srgbClr val="000000"/>
                </a:solidFill>
                <a:latin typeface="华文楷体"/>
                <a:cs typeface="华文楷体"/>
              </a:rPr>
              <a:t>云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7471" y="1758632"/>
            <a:ext cx="8964930" cy="295973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 indent="1905">
              <a:lnSpc>
                <a:spcPct val="122400"/>
              </a:lnSpc>
              <a:spcBef>
                <a:spcPts val="430"/>
              </a:spcBef>
            </a:pPr>
            <a:r>
              <a:rPr dirty="0" sz="2800" spc="15">
                <a:latin typeface="华文楷体"/>
                <a:cs typeface="华文楷体"/>
              </a:rPr>
              <a:t>为了形象描述电子的分布情况，人们在原子核</a:t>
            </a:r>
            <a:r>
              <a:rPr dirty="0" sz="2800" spc="20">
                <a:latin typeface="华文楷体"/>
                <a:cs typeface="华文楷体"/>
              </a:rPr>
              <a:t>周围画一</a:t>
            </a:r>
            <a:r>
              <a:rPr dirty="0" sz="2800" spc="-5">
                <a:latin typeface="华文楷体"/>
                <a:cs typeface="华文楷体"/>
              </a:rPr>
              <a:t>些 </a:t>
            </a:r>
            <a:r>
              <a:rPr dirty="0" sz="2800" spc="15">
                <a:latin typeface="华文楷体"/>
                <a:cs typeface="华文楷体"/>
              </a:rPr>
              <a:t>疏密不同的点，若某一空间范围内电子</a:t>
            </a:r>
            <a:r>
              <a:rPr dirty="0" sz="2800" spc="20">
                <a:latin typeface="华文楷体"/>
                <a:cs typeface="华文楷体"/>
              </a:rPr>
              <a:t>出现的概率大，</a:t>
            </a:r>
            <a:r>
              <a:rPr dirty="0" sz="2800" spc="-5">
                <a:latin typeface="华文楷体"/>
                <a:cs typeface="华文楷体"/>
              </a:rPr>
              <a:t>则 </a:t>
            </a:r>
            <a:r>
              <a:rPr dirty="0" sz="2800" spc="10">
                <a:latin typeface="华文楷体"/>
                <a:cs typeface="华文楷体"/>
              </a:rPr>
              <a:t>这里的点</a:t>
            </a:r>
            <a:r>
              <a:rPr dirty="0" sz="2800" spc="-434">
                <a:latin typeface="华文楷体"/>
                <a:cs typeface="华文楷体"/>
              </a:rPr>
              <a:t>就</a:t>
            </a:r>
            <a:r>
              <a:rPr dirty="0" u="heavy" baseline="11904" sz="4200" spc="-307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9950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密</a:t>
            </a:r>
            <a:r>
              <a:rPr dirty="0" u="heavy" baseline="9950" sz="5025" spc="-869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集</a:t>
            </a:r>
            <a:r>
              <a:rPr dirty="0" sz="2800" spc="10">
                <a:latin typeface="华文楷体"/>
                <a:cs typeface="华文楷体"/>
              </a:rPr>
              <a:t>；若某</a:t>
            </a:r>
            <a:r>
              <a:rPr dirty="0" sz="2800" spc="15">
                <a:latin typeface="华文楷体"/>
                <a:cs typeface="华文楷体"/>
              </a:rPr>
              <a:t>一空间的范围内电子出现的概</a:t>
            </a:r>
            <a:r>
              <a:rPr dirty="0" sz="2800" spc="-5">
                <a:latin typeface="华文楷体"/>
                <a:cs typeface="华文楷体"/>
              </a:rPr>
              <a:t>率 </a:t>
            </a:r>
            <a:r>
              <a:rPr dirty="0" sz="2800" spc="20">
                <a:latin typeface="华文楷体"/>
                <a:cs typeface="华文楷体"/>
              </a:rPr>
              <a:t>小，则这里的点</a:t>
            </a:r>
            <a:r>
              <a:rPr dirty="0" sz="2800" spc="-425">
                <a:latin typeface="华文楷体"/>
                <a:cs typeface="华文楷体"/>
              </a:rPr>
              <a:t>就</a:t>
            </a:r>
            <a:r>
              <a:rPr dirty="0" u="heavy" baseline="10912" sz="4200" spc="-405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9121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稀</a:t>
            </a:r>
            <a:r>
              <a:rPr dirty="0" u="heavy" baseline="9121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疏</a:t>
            </a:r>
            <a:r>
              <a:rPr dirty="0" u="heavy" baseline="9121" sz="5025" spc="660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sz="2800" spc="25">
                <a:latin typeface="华文楷体"/>
                <a:cs typeface="华文楷体"/>
              </a:rPr>
              <a:t>。这种用点</a:t>
            </a:r>
            <a:r>
              <a:rPr dirty="0" sz="2800" spc="-200">
                <a:latin typeface="华文楷体"/>
                <a:cs typeface="华文楷体"/>
              </a:rPr>
              <a:t>的</a:t>
            </a:r>
            <a:r>
              <a:rPr dirty="0" u="heavy" baseline="11904" sz="4200" spc="22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9950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疏</a:t>
            </a:r>
            <a:r>
              <a:rPr dirty="0" u="heavy" baseline="9950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密</a:t>
            </a:r>
            <a:r>
              <a:rPr dirty="0" baseline="9950" sz="5025" spc="-75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 spc="25">
                <a:latin typeface="华文楷体"/>
                <a:cs typeface="华文楷体"/>
              </a:rPr>
              <a:t>表示</a:t>
            </a:r>
            <a:r>
              <a:rPr dirty="0" sz="2800" spc="-5">
                <a:latin typeface="华文楷体"/>
                <a:cs typeface="华文楷体"/>
              </a:rPr>
              <a:t>的 </a:t>
            </a:r>
            <a:r>
              <a:rPr dirty="0" sz="2800">
                <a:latin typeface="华文楷体"/>
                <a:cs typeface="华文楷体"/>
              </a:rPr>
              <a:t>电子出现</a:t>
            </a:r>
            <a:r>
              <a:rPr dirty="0" sz="2800" spc="-445">
                <a:latin typeface="华文楷体"/>
                <a:cs typeface="华文楷体"/>
              </a:rPr>
              <a:t>的</a:t>
            </a:r>
            <a:r>
              <a:rPr dirty="0" u="heavy" baseline="14880" sz="4200" spc="-45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12437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概</a:t>
            </a:r>
            <a:r>
              <a:rPr dirty="0" u="heavy" baseline="12437" sz="5025" spc="-60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率</a:t>
            </a:r>
            <a:r>
              <a:rPr dirty="0" sz="2800">
                <a:latin typeface="华文楷体"/>
                <a:cs typeface="华文楷体"/>
              </a:rPr>
              <a:t>分布，称为电子云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3362" y="558419"/>
            <a:ext cx="32296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华文楷体"/>
                <a:cs typeface="华文楷体"/>
              </a:rPr>
              <a:t>五、不确定关</a:t>
            </a:r>
            <a:r>
              <a:rPr dirty="0" sz="3600" spc="-5">
                <a:solidFill>
                  <a:srgbClr val="000000"/>
                </a:solidFill>
                <a:latin typeface="华文楷体"/>
                <a:cs typeface="华文楷体"/>
              </a:rPr>
              <a:t>系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3935" y="2974848"/>
            <a:ext cx="2139695" cy="3162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7317" y="1351559"/>
            <a:ext cx="9011920" cy="4758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6360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经典力学：</a:t>
            </a:r>
            <a:r>
              <a:rPr dirty="0" sz="2800" b="1">
                <a:latin typeface="华文楷体"/>
                <a:cs typeface="华文楷体"/>
              </a:rPr>
              <a:t>运动物体有完全确定的位置、动量、能量等</a:t>
            </a:r>
            <a:r>
              <a:rPr dirty="0" sz="2800" spc="-5" b="1">
                <a:latin typeface="华文楷体"/>
                <a:cs typeface="华文楷体"/>
              </a:rPr>
              <a:t>。 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微观粒子：</a:t>
            </a:r>
            <a:r>
              <a:rPr dirty="0" sz="2800" b="1">
                <a:latin typeface="华文楷体"/>
                <a:cs typeface="华文楷体"/>
              </a:rPr>
              <a:t>位置、动量等具有不确定量（概率）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3101975" marR="508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沃纳</a:t>
            </a:r>
            <a:r>
              <a:rPr dirty="0" sz="2800" spc="-10">
                <a:solidFill>
                  <a:srgbClr val="000099"/>
                </a:solidFill>
                <a:latin typeface="Times New Roman"/>
                <a:cs typeface="Times New Roman"/>
              </a:rPr>
              <a:t>·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卡尔</a:t>
            </a:r>
            <a:r>
              <a:rPr dirty="0" sz="2800" spc="-10">
                <a:solidFill>
                  <a:srgbClr val="000099"/>
                </a:solidFill>
                <a:latin typeface="Times New Roman"/>
                <a:cs typeface="Times New Roman"/>
              </a:rPr>
              <a:t>·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海森堡（德文原名：</a:t>
            </a:r>
            <a:r>
              <a:rPr dirty="0" sz="2800" spc="-225">
                <a:solidFill>
                  <a:srgbClr val="000099"/>
                </a:solidFill>
                <a:latin typeface="Times New Roman"/>
                <a:cs typeface="Times New Roman"/>
              </a:rPr>
              <a:t>W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dirty="0" sz="2800" spc="-10">
                <a:solidFill>
                  <a:srgbClr val="000099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ner  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Karl </a:t>
            </a:r>
            <a:r>
              <a:rPr dirty="0" sz="2800" spc="-10">
                <a:solidFill>
                  <a:srgbClr val="000099"/>
                </a:solidFill>
                <a:latin typeface="Times New Roman"/>
                <a:cs typeface="Times New Roman"/>
              </a:rPr>
              <a:t>Heisenberg</a:t>
            </a:r>
            <a:r>
              <a:rPr dirty="0" sz="2800" spc="-10">
                <a:solidFill>
                  <a:srgbClr val="000099"/>
                </a:solidFill>
                <a:latin typeface="华文楷体"/>
                <a:cs typeface="华文楷体"/>
              </a:rPr>
              <a:t>，</a:t>
            </a:r>
            <a:r>
              <a:rPr dirty="0" sz="2800" spc="-10">
                <a:solidFill>
                  <a:srgbClr val="000099"/>
                </a:solidFill>
                <a:latin typeface="Times New Roman"/>
                <a:cs typeface="Times New Roman"/>
              </a:rPr>
              <a:t>1901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年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12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月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5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日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—</a:t>
            </a:r>
            <a:endParaRPr sz="2800">
              <a:latin typeface="Times New Roman"/>
              <a:cs typeface="Times New Roman"/>
            </a:endParaRPr>
          </a:p>
          <a:p>
            <a:pPr algn="just" marL="3101975" marR="212725">
              <a:lnSpc>
                <a:spcPct val="99700"/>
              </a:lnSpc>
              <a:spcBef>
                <a:spcPts val="10"/>
              </a:spcBef>
            </a:pP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1976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年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月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日），男，德国著名物</a:t>
            </a:r>
            <a:r>
              <a:rPr dirty="0" sz="2800" spc="-5">
                <a:solidFill>
                  <a:srgbClr val="000099"/>
                </a:solidFill>
                <a:latin typeface="华文楷体"/>
                <a:cs typeface="华文楷体"/>
              </a:rPr>
              <a:t>理 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学家，量子力学的主要创始人，量</a:t>
            </a:r>
            <a:r>
              <a:rPr dirty="0" sz="2800" spc="-5">
                <a:solidFill>
                  <a:srgbClr val="000099"/>
                </a:solidFill>
                <a:latin typeface="华文楷体"/>
                <a:cs typeface="华文楷体"/>
              </a:rPr>
              <a:t>子 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力学矩阵形式的创建人，哥本哈根</a:t>
            </a:r>
            <a:r>
              <a:rPr dirty="0" sz="2800" spc="-5">
                <a:solidFill>
                  <a:srgbClr val="000099"/>
                </a:solidFill>
                <a:latin typeface="华文楷体"/>
                <a:cs typeface="华文楷体"/>
              </a:rPr>
              <a:t>学 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派的代表人物，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1932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年诺贝尔物理</a:t>
            </a:r>
            <a:r>
              <a:rPr dirty="0" sz="2800" spc="-5">
                <a:solidFill>
                  <a:srgbClr val="000099"/>
                </a:solidFill>
                <a:latin typeface="华文楷体"/>
                <a:cs typeface="华文楷体"/>
              </a:rPr>
              <a:t>学 </a:t>
            </a:r>
            <a:r>
              <a:rPr dirty="0" sz="2800">
                <a:solidFill>
                  <a:srgbClr val="000099"/>
                </a:solidFill>
                <a:latin typeface="华文楷体"/>
                <a:cs typeface="华文楷体"/>
              </a:rPr>
              <a:t>奖获得者</a:t>
            </a:r>
            <a:r>
              <a:rPr dirty="0" sz="2800" spc="-5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63" y="1612417"/>
            <a:ext cx="101720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45">
                <a:latin typeface="华文楷体"/>
                <a:cs typeface="华文楷体"/>
              </a:rPr>
              <a:t>（</a:t>
            </a:r>
            <a:r>
              <a:rPr dirty="0" sz="2800" spc="40">
                <a:latin typeface="Times New Roman"/>
                <a:cs typeface="Times New Roman"/>
              </a:rPr>
              <a:t>1</a:t>
            </a:r>
            <a:r>
              <a:rPr dirty="0" sz="2800" spc="45">
                <a:latin typeface="华文楷体"/>
                <a:cs typeface="华文楷体"/>
              </a:rPr>
              <a:t>）微观粒子运动的位</a:t>
            </a:r>
            <a:r>
              <a:rPr dirty="0" sz="2800" spc="50">
                <a:latin typeface="华文楷体"/>
                <a:cs typeface="华文楷体"/>
              </a:rPr>
              <a:t>置不确定量</a:t>
            </a:r>
            <a:r>
              <a:rPr dirty="0" sz="2800" spc="45">
                <a:latin typeface="Times New Roman"/>
                <a:cs typeface="Times New Roman"/>
              </a:rPr>
              <a:t>Δ</a:t>
            </a:r>
            <a:r>
              <a:rPr dirty="0" sz="2800" spc="45" i="1">
                <a:latin typeface="Times New Roman"/>
                <a:cs typeface="Times New Roman"/>
              </a:rPr>
              <a:t>x</a:t>
            </a:r>
            <a:r>
              <a:rPr dirty="0" sz="2800" spc="50">
                <a:latin typeface="华文楷体"/>
                <a:cs typeface="华文楷体"/>
              </a:rPr>
              <a:t>和动量的不确定量</a:t>
            </a:r>
            <a:r>
              <a:rPr dirty="0" sz="2800" spc="45">
                <a:latin typeface="Times New Roman"/>
                <a:cs typeface="Times New Roman"/>
              </a:rPr>
              <a:t>Δ</a:t>
            </a:r>
            <a:r>
              <a:rPr dirty="0" sz="2800" spc="45" i="1">
                <a:latin typeface="Times New Roman"/>
                <a:cs typeface="Times New Roman"/>
              </a:rPr>
              <a:t>p</a:t>
            </a:r>
            <a:r>
              <a:rPr dirty="0" baseline="-16975" sz="2700" spc="89" i="1">
                <a:latin typeface="Times New Roman"/>
                <a:cs typeface="Times New Roman"/>
              </a:rPr>
              <a:t>x</a:t>
            </a:r>
            <a:r>
              <a:rPr dirty="0" sz="2800" spc="50">
                <a:latin typeface="华文楷体"/>
                <a:cs typeface="华文楷体"/>
              </a:rPr>
              <a:t>的</a:t>
            </a:r>
            <a:r>
              <a:rPr dirty="0" sz="2800" spc="-5">
                <a:latin typeface="华文楷体"/>
                <a:cs typeface="华文楷体"/>
              </a:rPr>
              <a:t>关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63" y="2252497"/>
            <a:ext cx="28771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系式为</a:t>
            </a:r>
            <a:r>
              <a:rPr dirty="0" sz="2800">
                <a:latin typeface="Times New Roman"/>
                <a:cs typeface="Times New Roman"/>
              </a:rPr>
              <a:t>Δ</a:t>
            </a:r>
            <a:r>
              <a:rPr dirty="0" sz="2800" i="1">
                <a:latin typeface="Times New Roman"/>
                <a:cs typeface="Times New Roman"/>
              </a:rPr>
              <a:t>x</a:t>
            </a:r>
            <a:r>
              <a:rPr dirty="0" sz="2800">
                <a:latin typeface="Times New Roman"/>
                <a:cs typeface="Times New Roman"/>
              </a:rPr>
              <a:t>Δ</a:t>
            </a:r>
            <a:r>
              <a:rPr dirty="0" sz="2800" i="1">
                <a:latin typeface="Times New Roman"/>
                <a:cs typeface="Times New Roman"/>
              </a:rPr>
              <a:t>p</a:t>
            </a:r>
            <a:r>
              <a:rPr dirty="0" baseline="-16975" sz="2700" i="1">
                <a:latin typeface="Times New Roman"/>
                <a:cs typeface="Times New Roman"/>
              </a:rPr>
              <a:t>x</a:t>
            </a:r>
            <a:r>
              <a:rPr dirty="0" sz="2800">
                <a:latin typeface="宋体"/>
                <a:cs typeface="宋体"/>
              </a:rPr>
              <a:t>≥   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2083" y="2452573"/>
            <a:ext cx="500380" cy="560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0" spc="60" b="1">
                <a:latin typeface="Times New Roman"/>
                <a:cs typeface="Times New Roman"/>
              </a:rPr>
              <a:t>4</a:t>
            </a:r>
            <a:r>
              <a:rPr dirty="0" sz="3500" spc="10" b="1">
                <a:latin typeface="Times New Roman"/>
                <a:cs typeface="Times New Roman"/>
              </a:rPr>
              <a:t>π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7559" y="2465285"/>
            <a:ext cx="459740" cy="0"/>
          </a:xfrm>
          <a:custGeom>
            <a:avLst/>
            <a:gdLst/>
            <a:ahLst/>
            <a:cxnLst/>
            <a:rect l="l" t="t" r="r" b="b"/>
            <a:pathLst>
              <a:path w="459739" h="0">
                <a:moveTo>
                  <a:pt x="0" y="0"/>
                </a:moveTo>
                <a:lnTo>
                  <a:pt x="459739" y="0"/>
                </a:lnTo>
              </a:path>
            </a:pathLst>
          </a:custGeom>
          <a:ln w="127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14254" y="2161629"/>
            <a:ext cx="7650480" cy="560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30158" sz="5250" spc="15" b="1" i="1">
                <a:latin typeface="Times New Roman"/>
                <a:cs typeface="Times New Roman"/>
              </a:rPr>
              <a:t>h</a:t>
            </a:r>
            <a:r>
              <a:rPr dirty="0" baseline="30158" sz="5250" spc="-375" b="1" i="1">
                <a:latin typeface="Times New Roman"/>
                <a:cs typeface="Times New Roman"/>
              </a:rPr>
              <a:t> </a:t>
            </a:r>
            <a:r>
              <a:rPr dirty="0" sz="2800">
                <a:latin typeface="华文楷体"/>
                <a:cs typeface="华文楷体"/>
              </a:rPr>
              <a:t>，其中</a:t>
            </a:r>
            <a:r>
              <a:rPr dirty="0" sz="2800" spc="-5" i="1">
                <a:latin typeface="Times New Roman"/>
                <a:cs typeface="Times New Roman"/>
              </a:rPr>
              <a:t>h</a:t>
            </a:r>
            <a:r>
              <a:rPr dirty="0" sz="2800" spc="-445">
                <a:latin typeface="华文楷体"/>
                <a:cs typeface="华文楷体"/>
              </a:rPr>
              <a:t>是</a:t>
            </a:r>
            <a:r>
              <a:rPr dirty="0" u="heavy" baseline="13888" sz="4200" spc="-315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11608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普朗克常</a:t>
            </a:r>
            <a:r>
              <a:rPr dirty="0" u="heavy" baseline="11608" sz="5025" spc="412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量</a:t>
            </a:r>
            <a:r>
              <a:rPr dirty="0" sz="2800" spc="5">
                <a:latin typeface="华文楷体"/>
                <a:cs typeface="华文楷体"/>
              </a:rPr>
              <a:t>，这个关系式叫不</a:t>
            </a:r>
            <a:r>
              <a:rPr dirty="0" sz="2800" spc="-5">
                <a:latin typeface="华文楷体"/>
                <a:cs typeface="华文楷体"/>
              </a:rPr>
              <a:t>确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2263" y="2668295"/>
            <a:ext cx="10172065" cy="3230880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800">
                <a:latin typeface="华文楷体"/>
                <a:cs typeface="华文楷体"/>
              </a:rPr>
              <a:t>定关系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2800" spc="70">
                <a:latin typeface="华文楷体"/>
                <a:cs typeface="华文楷体"/>
              </a:rPr>
              <a:t>（</a:t>
            </a:r>
            <a:r>
              <a:rPr dirty="0" sz="2800" spc="65">
                <a:latin typeface="Times New Roman"/>
                <a:cs typeface="Times New Roman"/>
              </a:rPr>
              <a:t>2</a:t>
            </a:r>
            <a:r>
              <a:rPr dirty="0" sz="2800" spc="70">
                <a:latin typeface="华文楷体"/>
                <a:cs typeface="华文楷体"/>
              </a:rPr>
              <a:t>）不确定关系告诉我们，如果要更准确地确定粒子的位</a:t>
            </a:r>
            <a:r>
              <a:rPr dirty="0" sz="2800" spc="75">
                <a:latin typeface="华文楷体"/>
                <a:cs typeface="华文楷体"/>
              </a:rPr>
              <a:t>置</a:t>
            </a:r>
            <a:r>
              <a:rPr dirty="0" sz="2800" spc="65">
                <a:latin typeface="Times New Roman"/>
                <a:cs typeface="Times New Roman"/>
              </a:rPr>
              <a:t>(</a:t>
            </a:r>
            <a:r>
              <a:rPr dirty="0" sz="2800" spc="-5">
                <a:latin typeface="华文楷体"/>
                <a:cs typeface="华文楷体"/>
              </a:rPr>
              <a:t>即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800" spc="-5">
                <a:latin typeface="Times New Roman"/>
                <a:cs typeface="Times New Roman"/>
              </a:rPr>
              <a:t>Δ</a:t>
            </a:r>
            <a:r>
              <a:rPr dirty="0" sz="2800" spc="-5" i="1">
                <a:latin typeface="Times New Roman"/>
                <a:cs typeface="Times New Roman"/>
              </a:rPr>
              <a:t>x</a:t>
            </a:r>
            <a:r>
              <a:rPr dirty="0" sz="2800">
                <a:latin typeface="华文楷体"/>
                <a:cs typeface="华文楷体"/>
              </a:rPr>
              <a:t>更小</a:t>
            </a:r>
            <a:r>
              <a:rPr dirty="0" sz="2800" spc="-5">
                <a:latin typeface="Times New Roman"/>
                <a:cs typeface="Times New Roman"/>
              </a:rPr>
              <a:t>)</a:t>
            </a:r>
            <a:r>
              <a:rPr dirty="0" sz="2800" spc="-5">
                <a:latin typeface="华文楷体"/>
                <a:cs typeface="华文楷体"/>
              </a:rPr>
              <a:t>，</a:t>
            </a:r>
            <a:r>
              <a:rPr dirty="0" sz="2800">
                <a:latin typeface="华文楷体"/>
                <a:cs typeface="华文楷体"/>
              </a:rPr>
              <a:t>那么动量的测量一定</a:t>
            </a:r>
            <a:r>
              <a:rPr dirty="0" sz="2800" spc="-445">
                <a:latin typeface="华文楷体"/>
                <a:cs typeface="华文楷体"/>
              </a:rPr>
              <a:t>会</a:t>
            </a:r>
            <a:r>
              <a:rPr dirty="0" u="heavy" baseline="12896" sz="4200" spc="-66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10779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更不准</a:t>
            </a:r>
            <a:r>
              <a:rPr dirty="0" u="heavy" baseline="10779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确</a:t>
            </a:r>
            <a:r>
              <a:rPr dirty="0" baseline="10779" sz="5025" spc="104" b="1" i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</a:t>
            </a:r>
            <a:r>
              <a:rPr dirty="0" sz="2800" spc="5">
                <a:latin typeface="华文楷体"/>
                <a:cs typeface="华文楷体"/>
              </a:rPr>
              <a:t>即</a:t>
            </a:r>
            <a:r>
              <a:rPr dirty="0" sz="2800" spc="5">
                <a:latin typeface="Times New Roman"/>
                <a:cs typeface="Times New Roman"/>
              </a:rPr>
              <a:t>Δ</a:t>
            </a:r>
            <a:r>
              <a:rPr dirty="0" sz="2800" spc="5" i="1">
                <a:latin typeface="Times New Roman"/>
                <a:cs typeface="Times New Roman"/>
              </a:rPr>
              <a:t>p</a:t>
            </a:r>
            <a:r>
              <a:rPr dirty="0" baseline="-16975" sz="2700" spc="7" i="1">
                <a:latin typeface="Times New Roman"/>
                <a:cs typeface="Times New Roman"/>
              </a:rPr>
              <a:t>x</a:t>
            </a:r>
            <a:r>
              <a:rPr dirty="0" sz="2800" spc="5">
                <a:latin typeface="华文楷体"/>
                <a:cs typeface="华文楷体"/>
              </a:rPr>
              <a:t>更大</a:t>
            </a:r>
            <a:r>
              <a:rPr dirty="0" sz="2800">
                <a:latin typeface="Times New Roman"/>
                <a:cs typeface="Times New Roman"/>
              </a:rPr>
              <a:t>)</a:t>
            </a:r>
            <a:r>
              <a:rPr dirty="0" sz="2800">
                <a:latin typeface="华文楷体"/>
                <a:cs typeface="华文楷体"/>
              </a:rPr>
              <a:t>，</a:t>
            </a:r>
            <a:r>
              <a:rPr dirty="0" sz="2800" spc="5">
                <a:latin typeface="华文楷体"/>
                <a:cs typeface="华文楷体"/>
              </a:rPr>
              <a:t>也</a:t>
            </a:r>
            <a:r>
              <a:rPr dirty="0" sz="2800" spc="-5">
                <a:latin typeface="华文楷体"/>
                <a:cs typeface="华文楷体"/>
              </a:rPr>
              <a:t>就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ts val="5000"/>
              </a:lnSpc>
              <a:spcBef>
                <a:spcPts val="370"/>
              </a:spcBef>
              <a:tabLst>
                <a:tab pos="7474584" algn="l"/>
                <a:tab pos="8387715" algn="l"/>
              </a:tabLst>
            </a:pPr>
            <a:r>
              <a:rPr dirty="0" sz="2800" spc="40">
                <a:latin typeface="华文楷体"/>
                <a:cs typeface="华文楷体"/>
              </a:rPr>
              <a:t>是说，不可能同时准确地知道粒子</a:t>
            </a:r>
            <a:r>
              <a:rPr dirty="0" sz="2800" spc="-405">
                <a:latin typeface="华文楷体"/>
                <a:cs typeface="华文楷体"/>
              </a:rPr>
              <a:t>的</a:t>
            </a:r>
            <a:r>
              <a:rPr dirty="0" u="heavy" baseline="7936" sz="4200" spc="-607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7936" sz="4200" spc="-195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6633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位</a:t>
            </a:r>
            <a:r>
              <a:rPr dirty="0" u="heavy" baseline="6633" sz="5025" spc="-22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置	</a:t>
            </a:r>
            <a:r>
              <a:rPr dirty="0" sz="2800" spc="-185">
                <a:latin typeface="华文楷体"/>
                <a:cs typeface="华文楷体"/>
              </a:rPr>
              <a:t>和</a:t>
            </a:r>
            <a:r>
              <a:rPr dirty="0" u="heavy" baseline="5952" sz="4200" spc="-277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</a:t>
            </a:r>
            <a:r>
              <a:rPr dirty="0" u="heavy" baseline="4975" sz="5025" spc="-2227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动</a:t>
            </a:r>
            <a:r>
              <a:rPr dirty="0" u="heavy" baseline="4975" sz="5025" spc="615" b="1" i="1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量</a:t>
            </a:r>
            <a:r>
              <a:rPr dirty="0" sz="2800" spc="45">
                <a:latin typeface="华文楷体"/>
                <a:cs typeface="华文楷体"/>
              </a:rPr>
              <a:t>，</a:t>
            </a:r>
            <a:r>
              <a:rPr dirty="0" sz="2800" spc="-5">
                <a:latin typeface="华文楷体"/>
                <a:cs typeface="华文楷体"/>
              </a:rPr>
              <a:t>也 </a:t>
            </a:r>
            <a:r>
              <a:rPr dirty="0" sz="2800">
                <a:latin typeface="华文楷体"/>
                <a:cs typeface="华文楷体"/>
              </a:rPr>
              <a:t>不可能用</a:t>
            </a:r>
            <a:r>
              <a:rPr dirty="0" sz="2800">
                <a:latin typeface="宋体"/>
                <a:cs typeface="宋体"/>
              </a:rPr>
              <a:t>“</a:t>
            </a:r>
            <a:r>
              <a:rPr dirty="0" sz="2800">
                <a:latin typeface="华文楷体"/>
                <a:cs typeface="华文楷体"/>
              </a:rPr>
              <a:t>轨迹</a:t>
            </a:r>
            <a:r>
              <a:rPr dirty="0" sz="2800">
                <a:latin typeface="宋体"/>
                <a:cs typeface="宋体"/>
              </a:rPr>
              <a:t>”</a:t>
            </a:r>
            <a:r>
              <a:rPr dirty="0" sz="2800">
                <a:latin typeface="华文楷体"/>
                <a:cs typeface="华文楷体"/>
              </a:rPr>
              <a:t>来描述粒子的运动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53235" y="652106"/>
            <a:ext cx="43129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华文楷体"/>
                <a:cs typeface="华文楷体"/>
              </a:rPr>
              <a:t>如何理解不确定关系</a:t>
            </a:r>
            <a:r>
              <a:rPr dirty="0" sz="3600" spc="-5">
                <a:solidFill>
                  <a:srgbClr val="000000"/>
                </a:solidFill>
                <a:latin typeface="华文楷体"/>
                <a:cs typeface="华文楷体"/>
              </a:rPr>
              <a:t>?</a:t>
            </a:r>
            <a:endParaRPr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684" y="490994"/>
            <a:ext cx="925703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52169" algn="l"/>
              </a:tabLst>
            </a:pPr>
            <a:r>
              <a:rPr dirty="0" sz="4400">
                <a:solidFill>
                  <a:srgbClr val="000000"/>
                </a:solidFill>
                <a:latin typeface="华文楷体"/>
                <a:cs typeface="华文楷体"/>
              </a:rPr>
              <a:t>小</a:t>
            </a:r>
            <a:r>
              <a:rPr dirty="0" sz="4400">
                <a:solidFill>
                  <a:srgbClr val="000000"/>
                </a:solidFill>
                <a:latin typeface="华文楷体"/>
                <a:cs typeface="华文楷体"/>
              </a:rPr>
              <a:t>	</a:t>
            </a:r>
            <a:r>
              <a:rPr dirty="0" sz="4400">
                <a:solidFill>
                  <a:srgbClr val="000000"/>
                </a:solidFill>
                <a:latin typeface="华文楷体"/>
                <a:cs typeface="华文楷体"/>
              </a:rPr>
              <a:t>结：关于波粒二象性和不确定关系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5251" y="1714043"/>
            <a:ext cx="7827009" cy="3865879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latin typeface="宋体"/>
                <a:cs typeface="宋体"/>
              </a:rPr>
              <a:t>光子和实物粒子，都同时具有波粒二象性</a:t>
            </a:r>
            <a:r>
              <a:rPr dirty="0" sz="2400" spc="-10" b="1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latin typeface="宋体"/>
                <a:cs typeface="宋体"/>
              </a:rPr>
              <a:t>概率波体现了波粒二象性的和谐统一</a:t>
            </a:r>
            <a:r>
              <a:rPr dirty="0" sz="2400" spc="-10" b="1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latin typeface="宋体"/>
                <a:cs typeface="宋体"/>
              </a:rPr>
              <a:t>微观粒子的坐标和动量不能同时测准</a:t>
            </a:r>
            <a:r>
              <a:rPr dirty="0" sz="2400" spc="-10" b="1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latin typeface="宋体"/>
                <a:cs typeface="宋体"/>
              </a:rPr>
              <a:t>当不确定关系施加的限制可以忽略时，则可以用经典</a:t>
            </a:r>
            <a:r>
              <a:rPr dirty="0" sz="2400" spc="-10" b="1">
                <a:latin typeface="宋体"/>
                <a:cs typeface="宋体"/>
              </a:rPr>
              <a:t>理 </a:t>
            </a:r>
            <a:r>
              <a:rPr dirty="0" sz="2400" b="1">
                <a:latin typeface="宋体"/>
                <a:cs typeface="宋体"/>
              </a:rPr>
              <a:t>论来研究粒子的运动</a:t>
            </a:r>
            <a:r>
              <a:rPr dirty="0" sz="2400" spc="-10" b="1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latin typeface="宋体"/>
                <a:cs typeface="宋体"/>
              </a:rPr>
              <a:t>当不确定关系施加的限制不可以忽略时，那只能用量</a:t>
            </a:r>
            <a:r>
              <a:rPr dirty="0" sz="2400" spc="-10" b="1">
                <a:latin typeface="宋体"/>
                <a:cs typeface="宋体"/>
              </a:rPr>
              <a:t>子 </a:t>
            </a:r>
            <a:r>
              <a:rPr dirty="0" sz="2400" b="1">
                <a:latin typeface="宋体"/>
                <a:cs typeface="宋体"/>
              </a:rPr>
              <a:t>力学理论来处理问题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3005" y="1092276"/>
            <a:ext cx="779208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3605" algn="l"/>
              </a:tabLst>
            </a:pPr>
            <a:r>
              <a:rPr dirty="0" sz="2800" b="1">
                <a:solidFill>
                  <a:srgbClr val="0000FF"/>
                </a:solidFill>
                <a:latin typeface="黑体"/>
                <a:cs typeface="黑体"/>
              </a:rPr>
              <a:t>例</a:t>
            </a:r>
            <a:r>
              <a:rPr dirty="0" sz="2800" spc="-5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latin typeface="华文楷体"/>
                <a:cs typeface="华文楷体"/>
              </a:rPr>
              <a:t>下列关于德布罗意波的认识，正确的说法是</a:t>
            </a:r>
            <a:r>
              <a:rPr dirty="0" sz="2800" spc="-5">
                <a:latin typeface="Times New Roman"/>
                <a:cs typeface="Times New Roman"/>
              </a:rPr>
              <a:t>(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6060" rIns="0" bIns="0" rtlCol="0" vert="horz">
            <a:spAutoFit/>
          </a:bodyPr>
          <a:lstStyle/>
          <a:p>
            <a:pPr marL="535940" indent="-523240">
              <a:lnSpc>
                <a:spcPct val="100000"/>
              </a:lnSpc>
              <a:spcBef>
                <a:spcPts val="1780"/>
              </a:spcBef>
              <a:buFont typeface="Times New Roman"/>
              <a:buAutoNum type="alphaUcPeriod"/>
              <a:tabLst>
                <a:tab pos="535305" algn="l"/>
                <a:tab pos="535940" algn="l"/>
              </a:tabLst>
            </a:pPr>
            <a:r>
              <a:rPr dirty="0"/>
              <a:t>物质波是一种概率波，机械波不是概率</a:t>
            </a:r>
            <a:r>
              <a:rPr dirty="0" spc="-5"/>
              <a:t>波</a:t>
            </a:r>
          </a:p>
          <a:p>
            <a:pPr marL="516890" indent="-504190">
              <a:lnSpc>
                <a:spcPct val="100000"/>
              </a:lnSpc>
              <a:spcBef>
                <a:spcPts val="1680"/>
              </a:spcBef>
              <a:buFont typeface="Times New Roman"/>
              <a:buAutoNum type="alphaUcPeriod"/>
              <a:tabLst>
                <a:tab pos="516255" algn="l"/>
                <a:tab pos="516890" algn="l"/>
              </a:tabLst>
            </a:pPr>
            <a:r>
              <a:rPr dirty="0"/>
              <a:t>电子绕核运动时，边运动边振动，体现波动</a:t>
            </a:r>
            <a:r>
              <a:rPr dirty="0" spc="-5"/>
              <a:t>性</a:t>
            </a:r>
          </a:p>
          <a:p>
            <a:pPr marL="516890" indent="-504190">
              <a:lnSpc>
                <a:spcPct val="100000"/>
              </a:lnSpc>
              <a:spcBef>
                <a:spcPts val="1680"/>
              </a:spcBef>
              <a:buFont typeface="Times New Roman"/>
              <a:buAutoNum type="alphaUcPeriod"/>
              <a:tabLst>
                <a:tab pos="516255" algn="l"/>
                <a:tab pos="516890" algn="l"/>
              </a:tabLst>
            </a:pPr>
            <a:r>
              <a:rPr dirty="0"/>
              <a:t>电子的衍射证实了物质波的假设是正确</a:t>
            </a:r>
            <a:r>
              <a:rPr dirty="0" spc="-5"/>
              <a:t>的</a:t>
            </a:r>
          </a:p>
          <a:p>
            <a:pPr marL="12700" marR="5080">
              <a:lnSpc>
                <a:spcPct val="148800"/>
              </a:lnSpc>
              <a:spcBef>
                <a:spcPts val="40"/>
              </a:spcBef>
              <a:buFont typeface="Times New Roman"/>
              <a:buAutoNum type="alphaUcPeriod"/>
              <a:tabLst>
                <a:tab pos="467995" algn="l"/>
              </a:tabLst>
            </a:pPr>
            <a:r>
              <a:rPr dirty="0" spc="55"/>
              <a:t>宏观物体运动时，看不到它的衍射或干涉现象</a:t>
            </a:r>
            <a:r>
              <a:rPr dirty="0" spc="60"/>
              <a:t>，所以宏观物体</a:t>
            </a:r>
            <a:r>
              <a:rPr dirty="0" spc="-5"/>
              <a:t>不 </a:t>
            </a:r>
            <a:r>
              <a:rPr dirty="0"/>
              <a:t>具有波动</a:t>
            </a:r>
            <a:r>
              <a:rPr dirty="0" spc="-5"/>
              <a:t>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44244" algn="l"/>
              </a:tabLst>
            </a:pPr>
            <a:r>
              <a:rPr dirty="0" spc="-5"/>
              <a:t>AC</a:t>
            </a:r>
            <a:r>
              <a:rPr dirty="0" spc="-5"/>
              <a:t>	</a:t>
            </a:r>
            <a:r>
              <a:rPr dirty="0" baseline="9920" sz="4200" spc="-7" b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endParaRPr baseline="9920"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107" y="735558"/>
            <a:ext cx="10201910" cy="243205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274320">
              <a:lnSpc>
                <a:spcPct val="109900"/>
              </a:lnSpc>
              <a:spcBef>
                <a:spcPts val="60"/>
              </a:spcBef>
            </a:pPr>
            <a:r>
              <a:rPr dirty="0" sz="2400" spc="-10" b="1">
                <a:solidFill>
                  <a:srgbClr val="0000FF"/>
                </a:solidFill>
                <a:latin typeface="黑体"/>
                <a:cs typeface="黑体"/>
              </a:rPr>
              <a:t>例</a:t>
            </a:r>
            <a:r>
              <a:rPr dirty="0" sz="2400" spc="-605" b="1">
                <a:solidFill>
                  <a:srgbClr val="0000FF"/>
                </a:solidFill>
                <a:latin typeface="黑体"/>
                <a:cs typeface="黑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400" spc="59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利用金属晶格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华文楷体"/>
                <a:cs typeface="华文楷体"/>
              </a:rPr>
              <a:t>大小约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baseline="21505" sz="2325" b="1">
                <a:latin typeface="华文楷体"/>
                <a:cs typeface="华文楷体"/>
              </a:rPr>
              <a:t>－</a:t>
            </a:r>
            <a:r>
              <a:rPr dirty="0" baseline="21505" sz="2325" b="1">
                <a:latin typeface="Times New Roman"/>
                <a:cs typeface="Times New Roman"/>
              </a:rPr>
              <a:t>10</a:t>
            </a:r>
            <a:r>
              <a:rPr dirty="0" baseline="21505" sz="2325" spc="322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m)</a:t>
            </a:r>
            <a:r>
              <a:rPr dirty="0" sz="2400" b="1">
                <a:latin typeface="华文楷体"/>
                <a:cs typeface="华文楷体"/>
              </a:rPr>
              <a:t>作为障碍物观察电子的衍射图样，方</a:t>
            </a:r>
            <a:r>
              <a:rPr dirty="0" sz="2400" spc="-5" b="1">
                <a:latin typeface="华文楷体"/>
                <a:cs typeface="华文楷体"/>
              </a:rPr>
              <a:t>法 </a:t>
            </a:r>
            <a:r>
              <a:rPr dirty="0" sz="2400" b="1">
                <a:latin typeface="华文楷体"/>
                <a:cs typeface="华文楷体"/>
              </a:rPr>
              <a:t>是让电子通过电场加速后，让电子束照射到金属晶格上，从而得到电子</a:t>
            </a:r>
            <a:r>
              <a:rPr dirty="0" sz="2400" spc="-5" b="1">
                <a:latin typeface="华文楷体"/>
                <a:cs typeface="华文楷体"/>
              </a:rPr>
              <a:t>的 </a:t>
            </a:r>
            <a:r>
              <a:rPr dirty="0" sz="2400" b="1">
                <a:latin typeface="华文楷体"/>
                <a:cs typeface="华文楷体"/>
              </a:rPr>
              <a:t>衍射图样。已知电子质量为</a:t>
            </a:r>
            <a:r>
              <a:rPr dirty="0" sz="2400" spc="-5" b="1" i="1">
                <a:latin typeface="Times New Roman"/>
                <a:cs typeface="Times New Roman"/>
              </a:rPr>
              <a:t>m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电荷量为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初速度为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华文楷体"/>
                <a:cs typeface="华文楷体"/>
              </a:rPr>
              <a:t>，加速电压为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sz="2400" b="1">
                <a:latin typeface="华文楷体"/>
                <a:cs typeface="华文楷体"/>
              </a:rPr>
              <a:t>，</a:t>
            </a:r>
            <a:r>
              <a:rPr dirty="0" sz="2400" spc="-5" b="1">
                <a:latin typeface="华文楷体"/>
                <a:cs typeface="华文楷体"/>
              </a:rPr>
              <a:t>普 </a:t>
            </a:r>
            <a:r>
              <a:rPr dirty="0" sz="2400" b="1">
                <a:latin typeface="华文楷体"/>
                <a:cs typeface="华文楷体"/>
              </a:rPr>
              <a:t>朗克常量为</a:t>
            </a:r>
            <a:r>
              <a:rPr dirty="0" sz="2400" b="1" i="1">
                <a:latin typeface="Times New Roman"/>
                <a:cs typeface="Times New Roman"/>
              </a:rPr>
              <a:t>h</a:t>
            </a:r>
            <a:r>
              <a:rPr dirty="0" sz="2400" b="1">
                <a:latin typeface="华文楷体"/>
                <a:cs typeface="华文楷体"/>
              </a:rPr>
              <a:t>，试推导加速后电子的德布罗意波长表达式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9900"/>
              </a:lnSpc>
            </a:pPr>
            <a:r>
              <a:rPr dirty="0" sz="2400" b="1">
                <a:latin typeface="华文楷体"/>
                <a:cs typeface="华文楷体"/>
              </a:rPr>
              <a:t>若电子电量</a:t>
            </a:r>
            <a:r>
              <a:rPr dirty="0" sz="2400" b="1" i="1">
                <a:latin typeface="Times New Roman"/>
                <a:cs typeface="Times New Roman"/>
              </a:rPr>
              <a:t>e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 1.60</a:t>
            </a:r>
            <a:r>
              <a:rPr dirty="0" sz="2400" b="1">
                <a:latin typeface="华文楷体"/>
                <a:cs typeface="华文楷体"/>
              </a:rPr>
              <a:t>×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baseline="21505" sz="2325" b="1">
                <a:latin typeface="华文楷体"/>
                <a:cs typeface="华文楷体"/>
              </a:rPr>
              <a:t>－</a:t>
            </a:r>
            <a:r>
              <a:rPr dirty="0" baseline="21505" sz="2325" b="1">
                <a:latin typeface="Times New Roman"/>
                <a:cs typeface="Times New Roman"/>
              </a:rPr>
              <a:t>19</a:t>
            </a:r>
            <a:r>
              <a:rPr dirty="0" baseline="21505" sz="2325" spc="3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华文楷体"/>
                <a:cs typeface="华文楷体"/>
              </a:rPr>
              <a:t>，质量</a:t>
            </a:r>
            <a:r>
              <a:rPr dirty="0" sz="2400" b="1" i="1">
                <a:latin typeface="Times New Roman"/>
                <a:cs typeface="Times New Roman"/>
              </a:rPr>
              <a:t>m</a:t>
            </a:r>
            <a:r>
              <a:rPr dirty="0" sz="2400" b="1">
                <a:latin typeface="华文楷体"/>
                <a:cs typeface="华文楷体"/>
              </a:rPr>
              <a:t>＝</a:t>
            </a:r>
            <a:r>
              <a:rPr dirty="0" sz="2400" b="1">
                <a:latin typeface="Times New Roman"/>
                <a:cs typeface="Times New Roman"/>
              </a:rPr>
              <a:t>9.1</a:t>
            </a:r>
            <a:r>
              <a:rPr dirty="0" sz="2400" b="1">
                <a:latin typeface="华文楷体"/>
                <a:cs typeface="华文楷体"/>
              </a:rPr>
              <a:t>×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baseline="21505" sz="2325" b="1">
                <a:latin typeface="华文楷体"/>
                <a:cs typeface="华文楷体"/>
              </a:rPr>
              <a:t>－</a:t>
            </a:r>
            <a:r>
              <a:rPr dirty="0" baseline="21505" sz="2325" b="1">
                <a:latin typeface="Times New Roman"/>
                <a:cs typeface="Times New Roman"/>
              </a:rPr>
              <a:t>31</a:t>
            </a:r>
            <a:r>
              <a:rPr dirty="0" baseline="21505" sz="2325" spc="3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kg</a:t>
            </a:r>
            <a:r>
              <a:rPr dirty="0" sz="2400" b="1">
                <a:latin typeface="华文楷体"/>
                <a:cs typeface="华文楷体"/>
              </a:rPr>
              <a:t>，加速电压</a:t>
            </a:r>
            <a:r>
              <a:rPr dirty="0" sz="2400" b="1" i="1">
                <a:latin typeface="Times New Roman"/>
                <a:cs typeface="Times New Roman"/>
              </a:rPr>
              <a:t>U</a:t>
            </a:r>
            <a:r>
              <a:rPr dirty="0" sz="2400" b="1">
                <a:latin typeface="华文楷体"/>
                <a:cs typeface="华文楷体"/>
              </a:rPr>
              <a:t>＝</a:t>
            </a:r>
            <a:r>
              <a:rPr dirty="0" sz="2400" b="1">
                <a:latin typeface="Times New Roman"/>
                <a:cs typeface="Times New Roman"/>
              </a:rPr>
              <a:t>300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V</a:t>
            </a:r>
            <a:r>
              <a:rPr dirty="0" sz="2400" spc="-5" b="1">
                <a:latin typeface="华文楷体"/>
                <a:cs typeface="华文楷体"/>
              </a:rPr>
              <a:t>，  </a:t>
            </a:r>
            <a:r>
              <a:rPr dirty="0" sz="2400" b="1">
                <a:latin typeface="华文楷体"/>
                <a:cs typeface="华文楷体"/>
              </a:rPr>
              <a:t>普朗克常量</a:t>
            </a:r>
            <a:r>
              <a:rPr dirty="0" sz="2400" b="1" i="1">
                <a:latin typeface="Times New Roman"/>
                <a:cs typeface="Times New Roman"/>
              </a:rPr>
              <a:t>h</a:t>
            </a:r>
            <a:r>
              <a:rPr dirty="0" sz="2400" spc="-5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 6.63</a:t>
            </a:r>
            <a:r>
              <a:rPr dirty="0" sz="2400" b="1">
                <a:latin typeface="华文楷体"/>
                <a:cs typeface="华文楷体"/>
              </a:rPr>
              <a:t>×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baseline="21505" sz="2325" b="1">
                <a:latin typeface="华文楷体"/>
                <a:cs typeface="华文楷体"/>
              </a:rPr>
              <a:t>－</a:t>
            </a:r>
            <a:r>
              <a:rPr dirty="0" baseline="21505" sz="2325" b="1">
                <a:latin typeface="Times New Roman"/>
                <a:cs typeface="Times New Roman"/>
              </a:rPr>
              <a:t>34</a:t>
            </a:r>
            <a:r>
              <a:rPr dirty="0" baseline="21505" sz="2325" spc="322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J·s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则电子束能不能发生明显衍射现象</a:t>
            </a:r>
            <a:r>
              <a:rPr dirty="0" sz="2400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65828" y="430463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70" h="25400">
                <a:moveTo>
                  <a:pt x="0" y="25107"/>
                </a:moveTo>
                <a:lnTo>
                  <a:pt x="38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04766" y="4304639"/>
            <a:ext cx="93345" cy="181610"/>
          </a:xfrm>
          <a:custGeom>
            <a:avLst/>
            <a:gdLst/>
            <a:ahLst/>
            <a:cxnLst/>
            <a:rect l="l" t="t" r="r" b="b"/>
            <a:pathLst>
              <a:path w="93345" h="181610">
                <a:moveTo>
                  <a:pt x="0" y="0"/>
                </a:moveTo>
                <a:lnTo>
                  <a:pt x="92862" y="1815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97629" y="4005262"/>
            <a:ext cx="102235" cy="481330"/>
          </a:xfrm>
          <a:custGeom>
            <a:avLst/>
            <a:gdLst/>
            <a:ahLst/>
            <a:cxnLst/>
            <a:rect l="l" t="t" r="r" b="b"/>
            <a:pathLst>
              <a:path w="102235" h="481329">
                <a:moveTo>
                  <a:pt x="0" y="480936"/>
                </a:moveTo>
                <a:lnTo>
                  <a:pt x="1018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62831" y="3996575"/>
            <a:ext cx="1195705" cy="490220"/>
          </a:xfrm>
          <a:custGeom>
            <a:avLst/>
            <a:gdLst/>
            <a:ahLst/>
            <a:cxnLst/>
            <a:rect l="l" t="t" r="r" b="b"/>
            <a:pathLst>
              <a:path w="1195704" h="490220">
                <a:moveTo>
                  <a:pt x="153783" y="447128"/>
                </a:moveTo>
                <a:lnTo>
                  <a:pt x="134797" y="447128"/>
                </a:lnTo>
                <a:lnTo>
                  <a:pt x="229654" y="0"/>
                </a:lnTo>
                <a:lnTo>
                  <a:pt x="1195209" y="0"/>
                </a:lnTo>
                <a:lnTo>
                  <a:pt x="1195209" y="18351"/>
                </a:lnTo>
                <a:lnTo>
                  <a:pt x="244627" y="18351"/>
                </a:lnTo>
                <a:lnTo>
                  <a:pt x="153783" y="447128"/>
                </a:lnTo>
                <a:close/>
              </a:path>
              <a:path w="1195704" h="490220">
                <a:moveTo>
                  <a:pt x="6985" y="338010"/>
                </a:moveTo>
                <a:lnTo>
                  <a:pt x="0" y="328345"/>
                </a:lnTo>
                <a:lnTo>
                  <a:pt x="52920" y="294551"/>
                </a:lnTo>
                <a:lnTo>
                  <a:pt x="67430" y="321589"/>
                </a:lnTo>
                <a:lnTo>
                  <a:pt x="31953" y="321589"/>
                </a:lnTo>
                <a:lnTo>
                  <a:pt x="6985" y="338010"/>
                </a:lnTo>
                <a:close/>
              </a:path>
              <a:path w="1195704" h="490220">
                <a:moveTo>
                  <a:pt x="144779" y="489623"/>
                </a:moveTo>
                <a:lnTo>
                  <a:pt x="125806" y="489623"/>
                </a:lnTo>
                <a:lnTo>
                  <a:pt x="31953" y="321589"/>
                </a:lnTo>
                <a:lnTo>
                  <a:pt x="67430" y="321589"/>
                </a:lnTo>
                <a:lnTo>
                  <a:pt x="134797" y="447128"/>
                </a:lnTo>
                <a:lnTo>
                  <a:pt x="153783" y="447128"/>
                </a:lnTo>
                <a:lnTo>
                  <a:pt x="144779" y="489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16690" y="4231220"/>
            <a:ext cx="16891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 i="1"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4532" y="3979252"/>
            <a:ext cx="325437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0855" algn="l"/>
                <a:tab pos="1652905" algn="l"/>
                <a:tab pos="2541270" algn="l"/>
              </a:tabLst>
            </a:pPr>
            <a:r>
              <a:rPr dirty="0" sz="2900" spc="65" i="1">
                <a:latin typeface="Times New Roman"/>
                <a:cs typeface="Times New Roman"/>
              </a:rPr>
              <a:t>E</a:t>
            </a:r>
            <a:r>
              <a:rPr dirty="0" baseline="-25252" sz="2475" spc="22" i="1">
                <a:latin typeface="Times New Roman"/>
                <a:cs typeface="Times New Roman"/>
              </a:rPr>
              <a:t>k</a:t>
            </a:r>
            <a:r>
              <a:rPr dirty="0" baseline="-25252" sz="2475" i="1">
                <a:latin typeface="Times New Roman"/>
                <a:cs typeface="Times New Roman"/>
              </a:rPr>
              <a:t>	</a:t>
            </a:r>
            <a:r>
              <a:rPr dirty="0" sz="2900" spc="10">
                <a:latin typeface="Symbol"/>
                <a:cs typeface="Symbol"/>
              </a:rPr>
              <a:t>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30" i="1">
                <a:latin typeface="Times New Roman"/>
                <a:cs typeface="Times New Roman"/>
              </a:rPr>
              <a:t>e</a:t>
            </a:r>
            <a:r>
              <a:rPr dirty="0" sz="2900" spc="10" i="1">
                <a:latin typeface="Times New Roman"/>
                <a:cs typeface="Times New Roman"/>
              </a:rPr>
              <a:t>U</a:t>
            </a:r>
            <a:r>
              <a:rPr dirty="0" sz="2900" i="1">
                <a:latin typeface="Times New Roman"/>
                <a:cs typeface="Times New Roman"/>
              </a:rPr>
              <a:t>	</a:t>
            </a:r>
            <a:r>
              <a:rPr dirty="0" sz="2900" spc="10" i="1">
                <a:latin typeface="Times New Roman"/>
                <a:cs typeface="Times New Roman"/>
              </a:rPr>
              <a:t>P</a:t>
            </a:r>
            <a:r>
              <a:rPr dirty="0" sz="2900" spc="85" i="1">
                <a:latin typeface="Times New Roman"/>
                <a:cs typeface="Times New Roman"/>
              </a:rPr>
              <a:t> </a:t>
            </a:r>
            <a:r>
              <a:rPr dirty="0" sz="2900" spc="1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00">
                <a:latin typeface="Times New Roman"/>
                <a:cs typeface="Times New Roman"/>
              </a:rPr>
              <a:t>2</a:t>
            </a:r>
            <a:r>
              <a:rPr dirty="0" sz="2900" spc="70" i="1">
                <a:latin typeface="Times New Roman"/>
                <a:cs typeface="Times New Roman"/>
              </a:rPr>
              <a:t>m</a:t>
            </a:r>
            <a:r>
              <a:rPr dirty="0" sz="2900" spc="10" i="1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84035" y="4224604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 h="0">
                <a:moveTo>
                  <a:pt x="0" y="0"/>
                </a:moveTo>
                <a:lnTo>
                  <a:pt x="363372" y="0"/>
                </a:lnTo>
              </a:path>
            </a:pathLst>
          </a:custGeom>
          <a:ln w="207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19082" y="4523384"/>
            <a:ext cx="47625" cy="21590"/>
          </a:xfrm>
          <a:custGeom>
            <a:avLst/>
            <a:gdLst/>
            <a:ahLst/>
            <a:cxnLst/>
            <a:rect l="l" t="t" r="r" b="b"/>
            <a:pathLst>
              <a:path w="47625" h="21589">
                <a:moveTo>
                  <a:pt x="0" y="21272"/>
                </a:moveTo>
                <a:lnTo>
                  <a:pt x="475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066631" y="4523384"/>
            <a:ext cx="113664" cy="147955"/>
          </a:xfrm>
          <a:custGeom>
            <a:avLst/>
            <a:gdLst/>
            <a:ahLst/>
            <a:cxnLst/>
            <a:rect l="l" t="t" r="r" b="b"/>
            <a:pathLst>
              <a:path w="113665" h="147954">
                <a:moveTo>
                  <a:pt x="0" y="0"/>
                </a:moveTo>
                <a:lnTo>
                  <a:pt x="113398" y="14794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80029" y="4279709"/>
            <a:ext cx="124460" cy="391795"/>
          </a:xfrm>
          <a:custGeom>
            <a:avLst/>
            <a:gdLst/>
            <a:ahLst/>
            <a:cxnLst/>
            <a:rect l="l" t="t" r="r" b="b"/>
            <a:pathLst>
              <a:path w="124459" h="391795">
                <a:moveTo>
                  <a:pt x="0" y="391617"/>
                </a:moveTo>
                <a:lnTo>
                  <a:pt x="1243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304401" y="4279709"/>
            <a:ext cx="1221105" cy="0"/>
          </a:xfrm>
          <a:custGeom>
            <a:avLst/>
            <a:gdLst/>
            <a:ahLst/>
            <a:cxnLst/>
            <a:rect l="l" t="t" r="r" b="b"/>
            <a:pathLst>
              <a:path w="1221104" h="0">
                <a:moveTo>
                  <a:pt x="0" y="0"/>
                </a:moveTo>
                <a:lnTo>
                  <a:pt x="12205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015424" y="4271009"/>
            <a:ext cx="1510030" cy="400685"/>
          </a:xfrm>
          <a:custGeom>
            <a:avLst/>
            <a:gdLst/>
            <a:ahLst/>
            <a:cxnLst/>
            <a:rect l="l" t="t" r="r" b="b"/>
            <a:pathLst>
              <a:path w="1510029" h="400685">
                <a:moveTo>
                  <a:pt x="189022" y="361632"/>
                </a:moveTo>
                <a:lnTo>
                  <a:pt x="165823" y="361632"/>
                </a:lnTo>
                <a:lnTo>
                  <a:pt x="280441" y="0"/>
                </a:lnTo>
                <a:lnTo>
                  <a:pt x="1509547" y="0"/>
                </a:lnTo>
                <a:lnTo>
                  <a:pt x="1509547" y="18376"/>
                </a:lnTo>
                <a:lnTo>
                  <a:pt x="297510" y="18376"/>
                </a:lnTo>
                <a:lnTo>
                  <a:pt x="189022" y="361632"/>
                </a:lnTo>
                <a:close/>
              </a:path>
              <a:path w="1510029" h="400685">
                <a:moveTo>
                  <a:pt x="7315" y="279450"/>
                </a:moveTo>
                <a:lnTo>
                  <a:pt x="0" y="268808"/>
                </a:lnTo>
                <a:lnTo>
                  <a:pt x="64617" y="240766"/>
                </a:lnTo>
                <a:lnTo>
                  <a:pt x="84046" y="263969"/>
                </a:lnTo>
                <a:lnTo>
                  <a:pt x="39014" y="263969"/>
                </a:lnTo>
                <a:lnTo>
                  <a:pt x="7315" y="279450"/>
                </a:lnTo>
                <a:close/>
              </a:path>
              <a:path w="1510029" h="400685">
                <a:moveTo>
                  <a:pt x="176796" y="400316"/>
                </a:moveTo>
                <a:lnTo>
                  <a:pt x="153631" y="400316"/>
                </a:lnTo>
                <a:lnTo>
                  <a:pt x="39014" y="263969"/>
                </a:lnTo>
                <a:lnTo>
                  <a:pt x="84046" y="263969"/>
                </a:lnTo>
                <a:lnTo>
                  <a:pt x="165823" y="361632"/>
                </a:lnTo>
                <a:lnTo>
                  <a:pt x="189022" y="361632"/>
                </a:lnTo>
                <a:lnTo>
                  <a:pt x="176796" y="40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78836" y="4224604"/>
            <a:ext cx="1583055" cy="0"/>
          </a:xfrm>
          <a:custGeom>
            <a:avLst/>
            <a:gdLst/>
            <a:ahLst/>
            <a:cxnLst/>
            <a:rect l="l" t="t" r="r" b="b"/>
            <a:pathLst>
              <a:path w="1583054" h="0">
                <a:moveTo>
                  <a:pt x="0" y="0"/>
                </a:moveTo>
                <a:lnTo>
                  <a:pt x="1582712" y="0"/>
                </a:lnTo>
              </a:path>
            </a:pathLst>
          </a:custGeom>
          <a:ln w="207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605073" y="3701059"/>
            <a:ext cx="21082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5" i="1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7677" y="4225137"/>
            <a:ext cx="25209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10" i="1">
                <a:latin typeface="Times New Roman"/>
                <a:cs typeface="Times New Roman"/>
              </a:rPr>
              <a:t>P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2440" y="4254144"/>
            <a:ext cx="107632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5">
                <a:latin typeface="Times New Roman"/>
                <a:cs typeface="Times New Roman"/>
              </a:rPr>
              <a:t>2</a:t>
            </a:r>
            <a:r>
              <a:rPr dirty="0" sz="2900" spc="-315">
                <a:latin typeface="Times New Roman"/>
                <a:cs typeface="Times New Roman"/>
              </a:rPr>
              <a:t> </a:t>
            </a:r>
            <a:r>
              <a:rPr dirty="0" sz="2900" spc="10" i="1">
                <a:latin typeface="Times New Roman"/>
                <a:cs typeface="Times New Roman"/>
              </a:rPr>
              <a:t>m</a:t>
            </a:r>
            <a:r>
              <a:rPr dirty="0" sz="2900" spc="-215" i="1">
                <a:latin typeface="Times New Roman"/>
                <a:cs typeface="Times New Roman"/>
              </a:rPr>
              <a:t> </a:t>
            </a:r>
            <a:r>
              <a:rPr dirty="0" sz="2900" spc="5" i="1">
                <a:latin typeface="Times New Roman"/>
                <a:cs typeface="Times New Roman"/>
              </a:rPr>
              <a:t>e</a:t>
            </a:r>
            <a:r>
              <a:rPr dirty="0" sz="2900" spc="-430" i="1">
                <a:latin typeface="Times New Roman"/>
                <a:cs typeface="Times New Roman"/>
              </a:rPr>
              <a:t> </a:t>
            </a:r>
            <a:r>
              <a:rPr dirty="0" sz="2900" spc="10" i="1">
                <a:latin typeface="Times New Roman"/>
                <a:cs typeface="Times New Roman"/>
              </a:rPr>
              <a:t>U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6361" y="3915519"/>
            <a:ext cx="294576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36294" algn="l"/>
                <a:tab pos="1616710" algn="l"/>
              </a:tabLst>
            </a:pPr>
            <a:r>
              <a:rPr dirty="0" sz="3050" spc="-75" i="1">
                <a:latin typeface="Symbol"/>
                <a:cs typeface="Symbol"/>
              </a:rPr>
              <a:t></a:t>
            </a:r>
            <a:r>
              <a:rPr dirty="0" sz="3050" spc="-220" i="1">
                <a:latin typeface="Times New Roman"/>
                <a:cs typeface="Times New Roman"/>
              </a:rPr>
              <a:t> </a:t>
            </a:r>
            <a:r>
              <a:rPr dirty="0" sz="2900" spc="10">
                <a:latin typeface="Symbol"/>
                <a:cs typeface="Symbol"/>
              </a:rPr>
              <a:t></a:t>
            </a:r>
            <a:r>
              <a:rPr dirty="0" sz="2900" spc="10">
                <a:latin typeface="Times New Roman"/>
                <a:cs typeface="Times New Roman"/>
              </a:rPr>
              <a:t>	</a:t>
            </a:r>
            <a:r>
              <a:rPr dirty="0" baseline="35440" sz="4350" spc="7" i="1">
                <a:latin typeface="Times New Roman"/>
                <a:cs typeface="Times New Roman"/>
              </a:rPr>
              <a:t>h	</a:t>
            </a:r>
            <a:r>
              <a:rPr dirty="0" sz="2900" spc="15">
                <a:latin typeface="宋体"/>
                <a:cs typeface="宋体"/>
              </a:rPr>
              <a:t>得</a:t>
            </a:r>
            <a:r>
              <a:rPr dirty="0" sz="2900" spc="-780">
                <a:latin typeface="宋体"/>
                <a:cs typeface="宋体"/>
              </a:rPr>
              <a:t> </a:t>
            </a:r>
            <a:r>
              <a:rPr dirty="0" sz="2900" spc="-615">
                <a:latin typeface="宋体"/>
                <a:cs typeface="宋体"/>
              </a:rPr>
              <a:t>：</a:t>
            </a:r>
            <a:r>
              <a:rPr dirty="0" sz="3050" spc="-615" i="1">
                <a:latin typeface="Symbol"/>
                <a:cs typeface="Symbol"/>
              </a:rPr>
              <a:t></a:t>
            </a:r>
            <a:r>
              <a:rPr dirty="0" sz="3050" spc="-615" i="1">
                <a:latin typeface="Times New Roman"/>
                <a:cs typeface="Times New Roman"/>
              </a:rPr>
              <a:t> </a:t>
            </a:r>
            <a:r>
              <a:rPr dirty="0" sz="2900" spc="1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7548" y="5012626"/>
            <a:ext cx="7440295" cy="8731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320"/>
              </a:lnSpc>
              <a:spcBef>
                <a:spcPts val="235"/>
              </a:spcBef>
            </a:pPr>
            <a:r>
              <a:rPr dirty="0" sz="2800" b="1">
                <a:latin typeface="华文楷体"/>
                <a:cs typeface="华文楷体"/>
              </a:rPr>
              <a:t>代入数据解得</a:t>
            </a:r>
            <a:r>
              <a:rPr dirty="0" sz="2800" spc="-10" b="1">
                <a:latin typeface="华文楷体"/>
                <a:cs typeface="华文楷体"/>
              </a:rPr>
              <a:t>：</a:t>
            </a:r>
            <a:r>
              <a:rPr dirty="0" sz="2800" spc="-15" b="1">
                <a:latin typeface="华文楷体"/>
                <a:cs typeface="华文楷体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λ</a:t>
            </a:r>
            <a:r>
              <a:rPr dirty="0" sz="2800" b="1">
                <a:latin typeface="华文楷体"/>
                <a:cs typeface="华文楷体"/>
              </a:rPr>
              <a:t>＝</a:t>
            </a:r>
            <a:r>
              <a:rPr dirty="0" sz="2800" b="1">
                <a:latin typeface="Times New Roman"/>
                <a:cs typeface="Times New Roman"/>
              </a:rPr>
              <a:t>0.71</a:t>
            </a:r>
            <a:r>
              <a:rPr dirty="0" sz="2800" b="1">
                <a:latin typeface="华文楷体"/>
                <a:cs typeface="华文楷体"/>
              </a:rPr>
              <a:t>×</a:t>
            </a:r>
            <a:r>
              <a:rPr dirty="0" sz="2800" b="1">
                <a:latin typeface="Times New Roman"/>
                <a:cs typeface="Times New Roman"/>
              </a:rPr>
              <a:t>10</a:t>
            </a:r>
            <a:r>
              <a:rPr dirty="0" baseline="21604" sz="2700" b="1">
                <a:latin typeface="华文楷体"/>
                <a:cs typeface="华文楷体"/>
              </a:rPr>
              <a:t>－</a:t>
            </a:r>
            <a:r>
              <a:rPr dirty="0" baseline="21604" sz="2700" b="1">
                <a:latin typeface="Times New Roman"/>
                <a:cs typeface="Times New Roman"/>
              </a:rPr>
              <a:t>10</a:t>
            </a:r>
            <a:r>
              <a:rPr dirty="0" baseline="21604" sz="2700" spc="3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</a:t>
            </a:r>
            <a:r>
              <a:rPr dirty="0" sz="2800" spc="-5" b="1">
                <a:latin typeface="华文楷体"/>
                <a:cs typeface="华文楷体"/>
              </a:rPr>
              <a:t>，</a:t>
            </a:r>
            <a:r>
              <a:rPr dirty="0" sz="2800" b="1">
                <a:latin typeface="华文楷体"/>
                <a:cs typeface="华文楷体"/>
              </a:rPr>
              <a:t>与金属晶</a:t>
            </a:r>
            <a:r>
              <a:rPr dirty="0" sz="2800" spc="-10" b="1">
                <a:latin typeface="华文楷体"/>
                <a:cs typeface="华文楷体"/>
              </a:rPr>
              <a:t>格 </a:t>
            </a:r>
            <a:r>
              <a:rPr dirty="0" sz="2800" b="1">
                <a:latin typeface="华文楷体"/>
                <a:cs typeface="华文楷体"/>
              </a:rPr>
              <a:t>差不多，所以能发生明显的衍射现象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9719" y="3223894"/>
            <a:ext cx="384111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29230" algn="l"/>
                <a:tab pos="3827779" algn="l"/>
              </a:tabLst>
            </a:pPr>
            <a:r>
              <a:rPr dirty="0" sz="4400" b="1">
                <a:solidFill>
                  <a:srgbClr val="000099"/>
                </a:solidFill>
                <a:latin typeface="华文楷体"/>
                <a:cs typeface="华文楷体"/>
              </a:rPr>
              <a:t>提示：</a:t>
            </a:r>
            <a:r>
              <a:rPr dirty="0" sz="4400" b="1">
                <a:solidFill>
                  <a:srgbClr val="000099"/>
                </a:solidFill>
                <a:latin typeface="华文楷体"/>
                <a:cs typeface="华文楷体"/>
              </a:rPr>
              <a:t>	</a:t>
            </a:r>
            <a:r>
              <a:rPr dirty="0" u="sng" sz="4400" b="1">
                <a:solidFill>
                  <a:srgbClr val="00009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400" b="1">
                <a:solidFill>
                  <a:srgbClr val="00009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2025-04-20T14:30:42Z</dcterms:created>
  <dcterms:modified xsi:type="dcterms:W3CDTF">2025-04-20T14:30:42Z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