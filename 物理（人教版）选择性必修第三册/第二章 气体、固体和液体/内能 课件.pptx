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8127" y="101917"/>
            <a:ext cx="2058670" cy="63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4299" y="1124115"/>
            <a:ext cx="8215401" cy="4598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88665" y="2517139"/>
            <a:ext cx="3986529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1845" algn="l"/>
                <a:tab pos="2207895" algn="l"/>
              </a:tabLst>
            </a:pPr>
            <a:r>
              <a:rPr dirty="0" sz="2800" spc="-5">
                <a:solidFill>
                  <a:srgbClr val="000000"/>
                </a:solidFill>
                <a:latin typeface="微软雅黑"/>
                <a:cs typeface="微软雅黑"/>
              </a:rPr>
              <a:t>物	理	选 修 3 –</a:t>
            </a:r>
            <a:r>
              <a:rPr dirty="0" sz="2800" spc="-70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800" spc="-5">
                <a:solidFill>
                  <a:srgbClr val="000000"/>
                </a:solidFill>
                <a:latin typeface="微软雅黑"/>
                <a:cs typeface="微软雅黑"/>
              </a:rPr>
              <a:t>3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02125" y="3365500"/>
            <a:ext cx="13239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03605" algn="l"/>
              </a:tabLst>
            </a:pPr>
            <a:r>
              <a:rPr dirty="0" sz="3200" spc="5" b="1">
                <a:latin typeface="微软雅黑"/>
                <a:cs typeface="微软雅黑"/>
              </a:rPr>
              <a:t>内</a:t>
            </a:r>
            <a:r>
              <a:rPr dirty="0" sz="3200" spc="5" b="1">
                <a:latin typeface="微软雅黑"/>
                <a:cs typeface="微软雅黑"/>
              </a:rPr>
              <a:t>	</a:t>
            </a:r>
            <a:r>
              <a:rPr dirty="0" sz="3200" spc="5" b="1">
                <a:latin typeface="微软雅黑"/>
                <a:cs typeface="微软雅黑"/>
              </a:rPr>
              <a:t>能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8836" y="4817338"/>
            <a:ext cx="3309620" cy="93726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2400" b="1">
                <a:latin typeface="华文楷体"/>
                <a:cs typeface="华文楷体"/>
              </a:rPr>
              <a:t>主讲人：赵贺</a:t>
            </a:r>
            <a:r>
              <a:rPr dirty="0" sz="2400" spc="-5" b="1">
                <a:latin typeface="华文楷体"/>
                <a:cs typeface="华文楷体"/>
              </a:rPr>
              <a:t>林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548005" algn="l"/>
              </a:tabLst>
            </a:pPr>
            <a:r>
              <a:rPr dirty="0" sz="2400" spc="-5" b="1">
                <a:latin typeface="华文楷体"/>
                <a:cs typeface="华文楷体"/>
              </a:rPr>
              <a:t>学</a:t>
            </a:r>
            <a:r>
              <a:rPr dirty="0" sz="2400" spc="-5" b="1">
                <a:latin typeface="华文楷体"/>
                <a:cs typeface="华文楷体"/>
              </a:rPr>
              <a:t>	</a:t>
            </a:r>
            <a:r>
              <a:rPr dirty="0" sz="2400" b="1">
                <a:latin typeface="华文楷体"/>
                <a:cs typeface="华文楷体"/>
              </a:rPr>
              <a:t>科：物理（人教版</a:t>
            </a:r>
            <a:r>
              <a:rPr dirty="0" sz="2400" spc="-5" b="1"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01031" y="4817338"/>
            <a:ext cx="3697604" cy="937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715">
              <a:lnSpc>
                <a:spcPct val="124700"/>
              </a:lnSpc>
              <a:spcBef>
                <a:spcPts val="95"/>
              </a:spcBef>
              <a:tabLst>
                <a:tab pos="624840" algn="l"/>
              </a:tabLst>
            </a:pPr>
            <a:r>
              <a:rPr dirty="0" sz="2400" spc="-5" b="1">
                <a:latin typeface="华文楷体"/>
                <a:cs typeface="华文楷体"/>
              </a:rPr>
              <a:t>学</a:t>
            </a:r>
            <a:r>
              <a:rPr dirty="0" sz="2400" spc="-5" b="1">
                <a:latin typeface="华文楷体"/>
                <a:cs typeface="华文楷体"/>
              </a:rPr>
              <a:t>	</a:t>
            </a:r>
            <a:r>
              <a:rPr dirty="0" sz="2400" spc="-565" b="1">
                <a:latin typeface="华文楷体"/>
                <a:cs typeface="华文楷体"/>
              </a:rPr>
              <a:t> </a:t>
            </a:r>
            <a:r>
              <a:rPr dirty="0" sz="2400" b="1">
                <a:latin typeface="华文楷体"/>
                <a:cs typeface="华文楷体"/>
              </a:rPr>
              <a:t>校：北京市第八十中</a:t>
            </a:r>
            <a:r>
              <a:rPr dirty="0" sz="2400" spc="-5" b="1">
                <a:latin typeface="华文楷体"/>
                <a:cs typeface="华文楷体"/>
              </a:rPr>
              <a:t>学 </a:t>
            </a:r>
            <a:r>
              <a:rPr dirty="0" sz="2400" spc="-5" b="1">
                <a:latin typeface="华文楷体"/>
                <a:cs typeface="华文楷体"/>
              </a:rPr>
              <a:t>年	</a:t>
            </a:r>
            <a:r>
              <a:rPr dirty="0" sz="2400" b="1">
                <a:latin typeface="华文楷体"/>
                <a:cs typeface="华文楷体"/>
              </a:rPr>
              <a:t>级：高二下学</a:t>
            </a:r>
            <a:r>
              <a:rPr dirty="0" sz="2400" spc="-5" b="1">
                <a:latin typeface="华文楷体"/>
                <a:cs typeface="华文楷体"/>
              </a:rPr>
              <a:t>期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140" y="723313"/>
            <a:ext cx="8540750" cy="558419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2664460">
              <a:lnSpc>
                <a:spcPct val="100000"/>
              </a:lnSpc>
              <a:spcBef>
                <a:spcPts val="715"/>
              </a:spcBef>
            </a:pPr>
            <a:r>
              <a:rPr dirty="0" sz="3200">
                <a:latin typeface="黑体"/>
                <a:cs typeface="黑体"/>
              </a:rPr>
              <a:t>一、分子的动</a:t>
            </a:r>
            <a:r>
              <a:rPr dirty="0" sz="3200" spc="5">
                <a:latin typeface="黑体"/>
                <a:cs typeface="黑体"/>
              </a:rPr>
              <a:t>能</a:t>
            </a:r>
            <a:endParaRPr sz="3200">
              <a:latin typeface="黑体"/>
              <a:cs typeface="黑体"/>
            </a:endParaRPr>
          </a:p>
          <a:p>
            <a:pPr marL="603250" indent="-457834">
              <a:lnSpc>
                <a:spcPct val="100000"/>
              </a:lnSpc>
              <a:spcBef>
                <a:spcPts val="455"/>
              </a:spcBef>
              <a:buSzPct val="95833"/>
              <a:buFont typeface="Times New Roman"/>
              <a:buAutoNum type="arabicPeriod"/>
              <a:tabLst>
                <a:tab pos="603885" algn="l"/>
              </a:tabLst>
            </a:pPr>
            <a:r>
              <a:rPr dirty="0" sz="2400" b="1">
                <a:latin typeface="宋体"/>
                <a:cs typeface="宋体"/>
              </a:rPr>
              <a:t>分子动能</a:t>
            </a:r>
            <a:r>
              <a:rPr dirty="0" sz="2400" spc="-10" b="1">
                <a:latin typeface="宋体"/>
                <a:cs typeface="宋体"/>
              </a:rPr>
              <a:t>：</a:t>
            </a:r>
            <a:endParaRPr sz="2400">
              <a:latin typeface="宋体"/>
              <a:cs typeface="宋体"/>
            </a:endParaRPr>
          </a:p>
          <a:p>
            <a:pPr marL="145415">
              <a:lnSpc>
                <a:spcPct val="100000"/>
              </a:lnSpc>
              <a:spcBef>
                <a:spcPts val="1305"/>
              </a:spcBef>
            </a:pPr>
            <a:r>
              <a:rPr dirty="0" sz="2400">
                <a:latin typeface="宋体"/>
                <a:cs typeface="宋体"/>
              </a:rPr>
              <a:t>    做热运动的分子具有的动能，叫分子动能。</a:t>
            </a:r>
            <a:endParaRPr sz="2400">
              <a:latin typeface="宋体"/>
              <a:cs typeface="宋体"/>
            </a:endParaRPr>
          </a:p>
          <a:p>
            <a:pPr marL="605155" indent="-459740">
              <a:lnSpc>
                <a:spcPct val="100000"/>
              </a:lnSpc>
              <a:spcBef>
                <a:spcPts val="1295"/>
              </a:spcBef>
              <a:buSzPct val="95833"/>
              <a:buAutoNum type="arabicPeriod" startAt="2"/>
              <a:tabLst>
                <a:tab pos="605790" algn="l"/>
              </a:tabLst>
            </a:pPr>
            <a:r>
              <a:rPr dirty="0" sz="2400" b="1">
                <a:latin typeface="宋体"/>
                <a:cs typeface="宋体"/>
              </a:rPr>
              <a:t>分子热运动的平均动能</a:t>
            </a:r>
            <a:r>
              <a:rPr dirty="0" sz="2400">
                <a:latin typeface="宋体"/>
                <a:cs typeface="宋体"/>
              </a:rPr>
              <a:t>：</a:t>
            </a:r>
            <a:endParaRPr sz="2400">
              <a:latin typeface="宋体"/>
              <a:cs typeface="宋体"/>
            </a:endParaRPr>
          </a:p>
          <a:p>
            <a:pPr marL="602615" marR="5080" indent="-457200">
              <a:lnSpc>
                <a:spcPct val="125299"/>
              </a:lnSpc>
              <a:spcBef>
                <a:spcPts val="555"/>
              </a:spcBef>
            </a:pPr>
            <a:r>
              <a:rPr dirty="0" sz="2400">
                <a:latin typeface="宋体"/>
                <a:cs typeface="宋体"/>
              </a:rPr>
              <a:t>   系统中所有分子动能的平均值叫做分子热运动的平均动能。 反映的是组成系统的大量分子整体表现出来的热学性质。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200" b="1">
                <a:latin typeface="宋体"/>
                <a:cs typeface="宋体"/>
              </a:rPr>
              <a:t>３．温度与分子热运动的平均动能的关系</a:t>
            </a:r>
            <a:r>
              <a:rPr dirty="0" sz="2200" spc="-15" b="1">
                <a:latin typeface="宋体"/>
                <a:cs typeface="宋体"/>
              </a:rPr>
              <a:t> </a:t>
            </a:r>
            <a:endParaRPr sz="2200">
              <a:latin typeface="宋体"/>
              <a:cs typeface="宋体"/>
            </a:endParaRPr>
          </a:p>
          <a:p>
            <a:pPr lvl="1" marL="990600" indent="-698500">
              <a:lnSpc>
                <a:spcPct val="100000"/>
              </a:lnSpc>
              <a:spcBef>
                <a:spcPts val="1185"/>
              </a:spcBef>
              <a:buSzPct val="95454"/>
              <a:buAutoNum type="arabicPlain"/>
              <a:tabLst>
                <a:tab pos="990600" algn="l"/>
              </a:tabLst>
            </a:pPr>
            <a:r>
              <a:rPr dirty="0" sz="2200">
                <a:latin typeface="宋体"/>
                <a:cs typeface="宋体"/>
              </a:rPr>
              <a:t>宏观角度看温度的含义：表示物体的冷热程度</a:t>
            </a:r>
            <a:r>
              <a:rPr dirty="0" sz="2200" spc="-5"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  <a:p>
            <a:pPr lvl="1" marL="469900" marR="165735" indent="-177800">
              <a:lnSpc>
                <a:spcPct val="125200"/>
              </a:lnSpc>
              <a:spcBef>
                <a:spcPts val="520"/>
              </a:spcBef>
              <a:buSzPct val="95454"/>
              <a:buAutoNum type="arabicPlain"/>
              <a:tabLst>
                <a:tab pos="1002030" algn="l"/>
              </a:tabLst>
            </a:pPr>
            <a:r>
              <a:rPr dirty="0" sz="2200" spc="30">
                <a:latin typeface="宋体"/>
                <a:cs typeface="宋体"/>
              </a:rPr>
              <a:t>微观角度（即从分子动理论的观点来</a:t>
            </a:r>
            <a:r>
              <a:rPr dirty="0" sz="2200" spc="35">
                <a:latin typeface="宋体"/>
                <a:cs typeface="宋体"/>
              </a:rPr>
              <a:t>看）：物体温度越高</a:t>
            </a:r>
            <a:r>
              <a:rPr dirty="0" sz="2200" spc="-5">
                <a:latin typeface="宋体"/>
                <a:cs typeface="宋体"/>
              </a:rPr>
              <a:t>， </a:t>
            </a:r>
            <a:r>
              <a:rPr dirty="0" sz="2200">
                <a:latin typeface="宋体"/>
                <a:cs typeface="宋体"/>
              </a:rPr>
              <a:t>分子热运动越剧烈，物体分子热运动的平均动能越大</a:t>
            </a:r>
            <a:r>
              <a:rPr dirty="0" sz="2200" spc="-5"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  <a:p>
            <a:pPr marL="641350">
              <a:lnSpc>
                <a:spcPct val="100000"/>
              </a:lnSpc>
              <a:spcBef>
                <a:spcPts val="1180"/>
              </a:spcBef>
            </a:pPr>
            <a:r>
              <a:rPr dirty="0" sz="2200" b="1">
                <a:solidFill>
                  <a:srgbClr val="FF0000"/>
                </a:solidFill>
                <a:latin typeface="宋体"/>
                <a:cs typeface="宋体"/>
              </a:rPr>
              <a:t>物质的温度是它的分子热运动的平均动能的标志</a:t>
            </a:r>
            <a:r>
              <a:rPr dirty="0" sz="2200" spc="-15" b="1">
                <a:solidFill>
                  <a:srgbClr val="FF0000"/>
                </a:solidFill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286" y="1689379"/>
            <a:ext cx="7332345" cy="25869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algn="just" marL="241300" marR="5080" indent="-228600">
              <a:lnSpc>
                <a:spcPct val="140000"/>
              </a:lnSpc>
              <a:spcBef>
                <a:spcPts val="105"/>
              </a:spcBef>
            </a:pPr>
            <a:r>
              <a:rPr dirty="0" sz="2400" spc="45" b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dirty="0" sz="2400" spc="45" b="0">
                <a:solidFill>
                  <a:srgbClr val="000000"/>
                </a:solidFill>
                <a:latin typeface="宋体"/>
                <a:cs typeface="宋体"/>
              </a:rPr>
              <a:t>．温</a:t>
            </a:r>
            <a:r>
              <a:rPr dirty="0" sz="2400" spc="50" b="0">
                <a:solidFill>
                  <a:srgbClr val="000000"/>
                </a:solidFill>
                <a:latin typeface="宋体"/>
                <a:cs typeface="宋体"/>
              </a:rPr>
              <a:t>度反映的是大量分子热运动的平均动能的大小</a:t>
            </a:r>
            <a:r>
              <a:rPr dirty="0" sz="2400" b="0">
                <a:solidFill>
                  <a:srgbClr val="000000"/>
                </a:solidFill>
                <a:latin typeface="宋体"/>
                <a:cs typeface="宋体"/>
              </a:rPr>
              <a:t>， </a:t>
            </a:r>
            <a:r>
              <a:rPr dirty="0" sz="2400" spc="20" b="0">
                <a:solidFill>
                  <a:srgbClr val="000000"/>
                </a:solidFill>
                <a:latin typeface="宋体"/>
                <a:cs typeface="宋体"/>
              </a:rPr>
              <a:t>可以作</a:t>
            </a:r>
            <a:r>
              <a:rPr dirty="0" sz="2400" spc="25" b="0">
                <a:solidFill>
                  <a:srgbClr val="000000"/>
                </a:solidFill>
                <a:latin typeface="宋体"/>
                <a:cs typeface="宋体"/>
              </a:rPr>
              <a:t>为物体分子热运动的平均动能的标志，但不</a:t>
            </a:r>
            <a:r>
              <a:rPr dirty="0" sz="2400" b="0">
                <a:solidFill>
                  <a:srgbClr val="000000"/>
                </a:solidFill>
                <a:latin typeface="宋体"/>
                <a:cs typeface="宋体"/>
              </a:rPr>
              <a:t>能 </a:t>
            </a:r>
            <a:r>
              <a:rPr dirty="0" sz="2400" spc="20" b="0">
                <a:solidFill>
                  <a:srgbClr val="000000"/>
                </a:solidFill>
                <a:latin typeface="宋体"/>
                <a:cs typeface="宋体"/>
              </a:rPr>
              <a:t>反映个</a:t>
            </a:r>
            <a:r>
              <a:rPr dirty="0" sz="2400" spc="25" b="0">
                <a:solidFill>
                  <a:srgbClr val="000000"/>
                </a:solidFill>
                <a:latin typeface="宋体"/>
                <a:cs typeface="宋体"/>
              </a:rPr>
              <a:t>别分子的动能大小。物体处于某一温度时，</a:t>
            </a:r>
            <a:r>
              <a:rPr dirty="0" sz="2400" b="0">
                <a:solidFill>
                  <a:srgbClr val="000000"/>
                </a:solidFill>
                <a:latin typeface="宋体"/>
                <a:cs typeface="宋体"/>
              </a:rPr>
              <a:t>各 </a:t>
            </a:r>
            <a:r>
              <a:rPr dirty="0" sz="2400" spc="20" b="0">
                <a:solidFill>
                  <a:srgbClr val="000000"/>
                </a:solidFill>
                <a:latin typeface="宋体"/>
                <a:cs typeface="宋体"/>
              </a:rPr>
              <a:t>个分子</a:t>
            </a:r>
            <a:r>
              <a:rPr dirty="0" sz="2400" spc="25" b="0">
                <a:solidFill>
                  <a:srgbClr val="000000"/>
                </a:solidFill>
                <a:latin typeface="宋体"/>
                <a:cs typeface="宋体"/>
              </a:rPr>
              <a:t>的动能不尽相同，离开了大量分子来说温度</a:t>
            </a:r>
            <a:r>
              <a:rPr dirty="0" sz="2400" b="0">
                <a:solidFill>
                  <a:srgbClr val="000000"/>
                </a:solidFill>
                <a:latin typeface="宋体"/>
                <a:cs typeface="宋体"/>
              </a:rPr>
              <a:t>是 没有意义的。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8286" y="4524019"/>
            <a:ext cx="7493000" cy="1541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2．相同温度下，不同物质分子热运动的平均动能相同。</a:t>
            </a:r>
            <a:endParaRPr sz="2400">
              <a:latin typeface="宋体"/>
              <a:cs typeface="宋体"/>
            </a:endParaRPr>
          </a:p>
          <a:p>
            <a:pPr marL="241300" marR="166370" indent="-228600">
              <a:lnSpc>
                <a:spcPct val="139900"/>
              </a:lnSpc>
              <a:spcBef>
                <a:spcPts val="1000"/>
              </a:spcBef>
            </a:pPr>
            <a:r>
              <a:rPr dirty="0" sz="2400">
                <a:latin typeface="宋体"/>
                <a:cs typeface="宋体"/>
              </a:rPr>
              <a:t>  </a:t>
            </a:r>
            <a:r>
              <a:rPr dirty="0" sz="2400" spc="110">
                <a:latin typeface="宋体"/>
                <a:cs typeface="宋体"/>
              </a:rPr>
              <a:t>但由于不同物质分子质量不同，所以</a:t>
            </a:r>
            <a:r>
              <a:rPr dirty="0" sz="2400" spc="114">
                <a:latin typeface="宋体"/>
                <a:cs typeface="宋体"/>
              </a:rPr>
              <a:t>分子热运动</a:t>
            </a:r>
            <a:r>
              <a:rPr dirty="0" sz="2400">
                <a:latin typeface="宋体"/>
                <a:cs typeface="宋体"/>
              </a:rPr>
              <a:t>的 平均速率不同。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4239" y="1042669"/>
            <a:ext cx="91757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宋体"/>
                <a:cs typeface="宋体"/>
              </a:rPr>
              <a:t>说</a:t>
            </a:r>
            <a:r>
              <a:rPr dirty="0" sz="2800" spc="-85" b="1">
                <a:latin typeface="宋体"/>
                <a:cs typeface="宋体"/>
              </a:rPr>
              <a:t> </a:t>
            </a:r>
            <a:r>
              <a:rPr dirty="0" sz="2800" spc="-20" b="1">
                <a:latin typeface="宋体"/>
                <a:cs typeface="宋体"/>
              </a:rPr>
              <a:t>明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500" y="2419781"/>
            <a:ext cx="57150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宋体"/>
                <a:cs typeface="宋体"/>
              </a:rPr>
              <a:t>地面上的物体，与地球相互作用    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97687" y="2339339"/>
            <a:ext cx="145288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宋体"/>
                <a:cs typeface="宋体"/>
              </a:rPr>
              <a:t>重力势</a:t>
            </a:r>
            <a:r>
              <a:rPr dirty="0" sz="2800" spc="-20" b="1">
                <a:latin typeface="宋体"/>
                <a:cs typeface="宋体"/>
              </a:rPr>
              <a:t>能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7500" y="3447414"/>
            <a:ext cx="5003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宋体"/>
                <a:cs typeface="宋体"/>
              </a:rPr>
              <a:t>发生弹性形变的弹簧</a:t>
            </a:r>
            <a:r>
              <a:rPr dirty="0" sz="2800" spc="-5">
                <a:latin typeface="宋体"/>
                <a:cs typeface="宋体"/>
              </a:rPr>
              <a:t>,</a:t>
            </a:r>
            <a:r>
              <a:rPr dirty="0" sz="2800" spc="-95">
                <a:latin typeface="宋体"/>
                <a:cs typeface="宋体"/>
              </a:rPr>
              <a:t> </a:t>
            </a:r>
            <a:r>
              <a:rPr dirty="0" sz="2800">
                <a:latin typeface="宋体"/>
                <a:cs typeface="宋体"/>
              </a:rPr>
              <a:t>相互作</a:t>
            </a:r>
            <a:r>
              <a:rPr dirty="0" sz="2800" spc="-5">
                <a:latin typeface="宋体"/>
                <a:cs typeface="宋体"/>
              </a:rPr>
              <a:t>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8850" y="4422139"/>
            <a:ext cx="3225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宋体"/>
                <a:cs typeface="宋体"/>
              </a:rPr>
              <a:t>分子间存在相互作</a:t>
            </a:r>
            <a:r>
              <a:rPr dirty="0" sz="2800" spc="-5">
                <a:latin typeface="宋体"/>
                <a:cs typeface="宋体"/>
              </a:rPr>
              <a:t>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10287" y="3423323"/>
            <a:ext cx="1851025" cy="1450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68350" marR="5080">
              <a:lnSpc>
                <a:spcPct val="125000"/>
              </a:lnSpc>
              <a:spcBef>
                <a:spcPts val="100"/>
              </a:spcBef>
            </a:pPr>
            <a:r>
              <a:rPr dirty="0" sz="2800" b="1">
                <a:latin typeface="宋体"/>
                <a:cs typeface="宋体"/>
              </a:rPr>
              <a:t>弹性</a:t>
            </a:r>
            <a:r>
              <a:rPr dirty="0" sz="2800" spc="-15" b="1">
                <a:latin typeface="宋体"/>
                <a:cs typeface="宋体"/>
              </a:rPr>
              <a:t>势 </a:t>
            </a:r>
            <a:r>
              <a:rPr dirty="0" sz="2800" spc="-20" b="1">
                <a:latin typeface="宋体"/>
                <a:cs typeface="宋体"/>
              </a:rPr>
              <a:t>能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ts val="2820"/>
              </a:lnSpc>
            </a:pPr>
            <a:r>
              <a:rPr dirty="0" sz="2800" b="1">
                <a:solidFill>
                  <a:srgbClr val="FF0000"/>
                </a:solidFill>
                <a:latin typeface="宋体"/>
                <a:cs typeface="宋体"/>
              </a:rPr>
              <a:t>分子势</a:t>
            </a:r>
            <a:r>
              <a:rPr dirty="0" sz="2800" spc="-20" b="1">
                <a:solidFill>
                  <a:srgbClr val="FF0000"/>
                </a:solidFill>
                <a:latin typeface="宋体"/>
                <a:cs typeface="宋体"/>
              </a:rPr>
              <a:t>能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8487" y="5389879"/>
            <a:ext cx="779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仿宋"/>
                <a:cs typeface="仿宋"/>
              </a:rPr>
              <a:t>*</a:t>
            </a:r>
            <a:r>
              <a:rPr dirty="0" sz="2400">
                <a:latin typeface="宋体"/>
                <a:cs typeface="宋体"/>
              </a:rPr>
              <a:t>可以证明，分子力做功与路径无关，因而存在分子势能</a:t>
            </a:r>
            <a:r>
              <a:rPr dirty="0" sz="2400">
                <a:latin typeface="楷体"/>
                <a:cs typeface="楷体"/>
              </a:rPr>
              <a:t>。</a:t>
            </a:r>
            <a:endParaRPr sz="2400">
              <a:latin typeface="楷体"/>
              <a:cs typeface="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52515" y="2514600"/>
            <a:ext cx="1048512" cy="2346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498591" y="3625596"/>
            <a:ext cx="1176528" cy="2346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684776" y="4507991"/>
            <a:ext cx="1092708" cy="2423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08940" y="1066076"/>
            <a:ext cx="8247380" cy="87820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000000"/>
                </a:solidFill>
                <a:latin typeface="宋体"/>
                <a:cs typeface="宋体"/>
              </a:rPr>
              <a:t>请思考</a:t>
            </a:r>
            <a:r>
              <a:rPr dirty="0" sz="2800" spc="-20">
                <a:solidFill>
                  <a:srgbClr val="000000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800">
                <a:solidFill>
                  <a:srgbClr val="FF0000"/>
                </a:solidFill>
                <a:latin typeface="宋体"/>
                <a:cs typeface="宋体"/>
              </a:rPr>
              <a:t>  </a:t>
            </a:r>
            <a:r>
              <a:rPr dirty="0" sz="2800">
                <a:solidFill>
                  <a:srgbClr val="000000"/>
                </a:solidFill>
                <a:latin typeface="宋体"/>
                <a:cs typeface="宋体"/>
              </a:rPr>
              <a:t>除了分子具有动能之外，分子间还存在什么能量</a:t>
            </a:r>
            <a:r>
              <a:rPr dirty="0" sz="2800" spc="-20">
                <a:solidFill>
                  <a:srgbClr val="000000"/>
                </a:solidFill>
                <a:latin typeface="宋体"/>
                <a:cs typeface="宋体"/>
              </a:rPr>
              <a:t>？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2287" y="1178852"/>
            <a:ext cx="7887970" cy="236474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940"/>
              </a:spcBef>
            </a:pPr>
            <a:r>
              <a:rPr dirty="0" sz="2800" b="1">
                <a:latin typeface="宋体"/>
                <a:cs typeface="宋体"/>
              </a:rPr>
              <a:t>（一）分子势能</a:t>
            </a:r>
            <a:r>
              <a:rPr dirty="0" sz="2800" spc="-20" b="1"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226695" marR="541020">
              <a:lnSpc>
                <a:spcPct val="129299"/>
              </a:lnSpc>
              <a:spcBef>
                <a:spcPts val="395"/>
              </a:spcBef>
            </a:pPr>
            <a:r>
              <a:rPr dirty="0" sz="2800" spc="-5">
                <a:latin typeface="宋体"/>
                <a:cs typeface="宋体"/>
              </a:rPr>
              <a:t>    </a:t>
            </a:r>
            <a:r>
              <a:rPr dirty="0" sz="2400" spc="-5">
                <a:latin typeface="宋体"/>
                <a:cs typeface="宋体"/>
              </a:rPr>
              <a:t>相互作用的分子组成的系统具有分子势能，由分 子间的相互位置所决定。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800" b="1">
                <a:solidFill>
                  <a:srgbClr val="FF0000"/>
                </a:solidFill>
                <a:latin typeface="宋体"/>
                <a:cs typeface="宋体"/>
              </a:rPr>
              <a:t>思考：分子力做功跟分子势能变化之间有何关系</a:t>
            </a:r>
            <a:r>
              <a:rPr dirty="0" sz="2800" spc="-20" b="1">
                <a:solidFill>
                  <a:srgbClr val="FF0000"/>
                </a:solidFill>
                <a:latin typeface="宋体"/>
                <a:cs typeface="宋体"/>
              </a:rPr>
              <a:t>？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8787" y="4139552"/>
            <a:ext cx="3402329" cy="1802764"/>
          </a:xfrm>
          <a:custGeom>
            <a:avLst/>
            <a:gdLst/>
            <a:ahLst/>
            <a:cxnLst/>
            <a:rect l="l" t="t" r="r" b="b"/>
            <a:pathLst>
              <a:path w="3402329" h="1802764">
                <a:moveTo>
                  <a:pt x="3402012" y="1802231"/>
                </a:moveTo>
                <a:lnTo>
                  <a:pt x="0" y="1802231"/>
                </a:lnTo>
                <a:lnTo>
                  <a:pt x="0" y="0"/>
                </a:lnTo>
                <a:lnTo>
                  <a:pt x="3402012" y="0"/>
                </a:lnTo>
                <a:lnTo>
                  <a:pt x="3402012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783181"/>
                </a:lnTo>
                <a:lnTo>
                  <a:pt x="9525" y="1783181"/>
                </a:lnTo>
                <a:lnTo>
                  <a:pt x="19050" y="1792706"/>
                </a:lnTo>
                <a:lnTo>
                  <a:pt x="3402012" y="1792706"/>
                </a:lnTo>
                <a:lnTo>
                  <a:pt x="3402012" y="1802231"/>
                </a:lnTo>
                <a:close/>
              </a:path>
              <a:path w="3402329" h="1802764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3402329" h="1802764">
                <a:moveTo>
                  <a:pt x="3382962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3382962" y="9525"/>
                </a:lnTo>
                <a:lnTo>
                  <a:pt x="3382962" y="19050"/>
                </a:lnTo>
                <a:close/>
              </a:path>
              <a:path w="3402329" h="1802764">
                <a:moveTo>
                  <a:pt x="3382962" y="1792706"/>
                </a:moveTo>
                <a:lnTo>
                  <a:pt x="3382962" y="9525"/>
                </a:lnTo>
                <a:lnTo>
                  <a:pt x="3392487" y="19050"/>
                </a:lnTo>
                <a:lnTo>
                  <a:pt x="3402012" y="19050"/>
                </a:lnTo>
                <a:lnTo>
                  <a:pt x="3402012" y="1783181"/>
                </a:lnTo>
                <a:lnTo>
                  <a:pt x="3392487" y="1783181"/>
                </a:lnTo>
                <a:lnTo>
                  <a:pt x="3382962" y="1792706"/>
                </a:lnTo>
                <a:close/>
              </a:path>
              <a:path w="3402329" h="1802764">
                <a:moveTo>
                  <a:pt x="3402012" y="19050"/>
                </a:moveTo>
                <a:lnTo>
                  <a:pt x="3392487" y="19050"/>
                </a:lnTo>
                <a:lnTo>
                  <a:pt x="3382962" y="9525"/>
                </a:lnTo>
                <a:lnTo>
                  <a:pt x="3402012" y="9525"/>
                </a:lnTo>
                <a:lnTo>
                  <a:pt x="3402012" y="19050"/>
                </a:lnTo>
                <a:close/>
              </a:path>
              <a:path w="3402329" h="1802764">
                <a:moveTo>
                  <a:pt x="19050" y="1792706"/>
                </a:moveTo>
                <a:lnTo>
                  <a:pt x="9525" y="1783181"/>
                </a:lnTo>
                <a:lnTo>
                  <a:pt x="19050" y="1783181"/>
                </a:lnTo>
                <a:lnTo>
                  <a:pt x="19050" y="1792706"/>
                </a:lnTo>
                <a:close/>
              </a:path>
              <a:path w="3402329" h="1802764">
                <a:moveTo>
                  <a:pt x="3382962" y="1792706"/>
                </a:moveTo>
                <a:lnTo>
                  <a:pt x="19050" y="1792706"/>
                </a:lnTo>
                <a:lnTo>
                  <a:pt x="19050" y="1783181"/>
                </a:lnTo>
                <a:lnTo>
                  <a:pt x="3382962" y="1783181"/>
                </a:lnTo>
                <a:lnTo>
                  <a:pt x="3382962" y="1792706"/>
                </a:lnTo>
                <a:close/>
              </a:path>
              <a:path w="3402329" h="1802764">
                <a:moveTo>
                  <a:pt x="3402012" y="1792706"/>
                </a:moveTo>
                <a:lnTo>
                  <a:pt x="3382962" y="1792706"/>
                </a:lnTo>
                <a:lnTo>
                  <a:pt x="3392487" y="1783181"/>
                </a:lnTo>
                <a:lnTo>
                  <a:pt x="3402012" y="1783181"/>
                </a:lnTo>
                <a:lnTo>
                  <a:pt x="3402012" y="17927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55612" y="4103992"/>
            <a:ext cx="3378200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重力做功与重力势能的变 化之间的关系</a:t>
            </a:r>
            <a:endParaRPr sz="2400">
              <a:latin typeface="宋体"/>
              <a:cs typeface="宋体"/>
            </a:endParaRPr>
          </a:p>
          <a:p>
            <a:pPr marL="12700" marR="5080">
              <a:lnSpc>
                <a:spcPct val="125000"/>
              </a:lnSpc>
            </a:pPr>
            <a:r>
              <a:rPr dirty="0" sz="2400">
                <a:latin typeface="宋体"/>
                <a:cs typeface="宋体"/>
              </a:rPr>
              <a:t>弹簧弹力做功与弹性势能 变化之间的关系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62156" y="4142727"/>
            <a:ext cx="3703954" cy="1796414"/>
          </a:xfrm>
          <a:custGeom>
            <a:avLst/>
            <a:gdLst/>
            <a:ahLst/>
            <a:cxnLst/>
            <a:rect l="l" t="t" r="r" b="b"/>
            <a:pathLst>
              <a:path w="3703954" h="1796414">
                <a:moveTo>
                  <a:pt x="3703637" y="1795881"/>
                </a:moveTo>
                <a:lnTo>
                  <a:pt x="0" y="1795881"/>
                </a:lnTo>
                <a:lnTo>
                  <a:pt x="0" y="0"/>
                </a:lnTo>
                <a:lnTo>
                  <a:pt x="3703637" y="0"/>
                </a:lnTo>
                <a:lnTo>
                  <a:pt x="3703637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1783181"/>
                </a:lnTo>
                <a:lnTo>
                  <a:pt x="6350" y="1783181"/>
                </a:lnTo>
                <a:lnTo>
                  <a:pt x="12700" y="1789531"/>
                </a:lnTo>
                <a:lnTo>
                  <a:pt x="3703637" y="1789531"/>
                </a:lnTo>
                <a:lnTo>
                  <a:pt x="3703637" y="1795881"/>
                </a:lnTo>
                <a:close/>
              </a:path>
              <a:path w="3703954" h="1796414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3703954" h="1796414">
                <a:moveTo>
                  <a:pt x="3690937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3690937" y="6350"/>
                </a:lnTo>
                <a:lnTo>
                  <a:pt x="3690937" y="12700"/>
                </a:lnTo>
                <a:close/>
              </a:path>
              <a:path w="3703954" h="1796414">
                <a:moveTo>
                  <a:pt x="3690937" y="1789531"/>
                </a:moveTo>
                <a:lnTo>
                  <a:pt x="3690937" y="6350"/>
                </a:lnTo>
                <a:lnTo>
                  <a:pt x="3697287" y="12700"/>
                </a:lnTo>
                <a:lnTo>
                  <a:pt x="3703637" y="12700"/>
                </a:lnTo>
                <a:lnTo>
                  <a:pt x="3703637" y="1783181"/>
                </a:lnTo>
                <a:lnTo>
                  <a:pt x="3697287" y="1783181"/>
                </a:lnTo>
                <a:lnTo>
                  <a:pt x="3690937" y="1789531"/>
                </a:lnTo>
                <a:close/>
              </a:path>
              <a:path w="3703954" h="1796414">
                <a:moveTo>
                  <a:pt x="3703637" y="12700"/>
                </a:moveTo>
                <a:lnTo>
                  <a:pt x="3697287" y="12700"/>
                </a:lnTo>
                <a:lnTo>
                  <a:pt x="3690937" y="6350"/>
                </a:lnTo>
                <a:lnTo>
                  <a:pt x="3703637" y="6350"/>
                </a:lnTo>
                <a:lnTo>
                  <a:pt x="3703637" y="12700"/>
                </a:lnTo>
                <a:close/>
              </a:path>
              <a:path w="3703954" h="1796414">
                <a:moveTo>
                  <a:pt x="12700" y="1789531"/>
                </a:moveTo>
                <a:lnTo>
                  <a:pt x="6350" y="1783181"/>
                </a:lnTo>
                <a:lnTo>
                  <a:pt x="12700" y="1783181"/>
                </a:lnTo>
                <a:lnTo>
                  <a:pt x="12700" y="1789531"/>
                </a:lnTo>
                <a:close/>
              </a:path>
              <a:path w="3703954" h="1796414">
                <a:moveTo>
                  <a:pt x="3690937" y="1789531"/>
                </a:moveTo>
                <a:lnTo>
                  <a:pt x="12700" y="1789531"/>
                </a:lnTo>
                <a:lnTo>
                  <a:pt x="12700" y="1783181"/>
                </a:lnTo>
                <a:lnTo>
                  <a:pt x="3690937" y="1783181"/>
                </a:lnTo>
                <a:lnTo>
                  <a:pt x="3690937" y="1789531"/>
                </a:lnTo>
                <a:close/>
              </a:path>
              <a:path w="3703954" h="1796414">
                <a:moveTo>
                  <a:pt x="3703637" y="1789531"/>
                </a:moveTo>
                <a:lnTo>
                  <a:pt x="3690937" y="1789531"/>
                </a:lnTo>
                <a:lnTo>
                  <a:pt x="3697287" y="1783181"/>
                </a:lnTo>
                <a:lnTo>
                  <a:pt x="3703637" y="1783181"/>
                </a:lnTo>
                <a:lnTo>
                  <a:pt x="3703637" y="1789531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355806" y="4103992"/>
            <a:ext cx="3683000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分子力做正功时，分子势能 减少</a:t>
            </a:r>
            <a:endParaRPr sz="2400">
              <a:latin typeface="宋体"/>
              <a:cs typeface="宋体"/>
            </a:endParaRPr>
          </a:p>
          <a:p>
            <a:pPr marL="12700" marR="5080">
              <a:lnSpc>
                <a:spcPct val="125000"/>
              </a:lnSpc>
            </a:pPr>
            <a:r>
              <a:rPr dirty="0" sz="2400">
                <a:latin typeface="宋体"/>
                <a:cs typeface="宋体"/>
              </a:rPr>
              <a:t>分子力做负功时，分子势能 增加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352569" y="4295305"/>
            <a:ext cx="305180" cy="3152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363846" y="4669002"/>
            <a:ext cx="294208" cy="2865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472345" y="589572"/>
            <a:ext cx="26676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5" b="0">
                <a:solidFill>
                  <a:srgbClr val="000000"/>
                </a:solidFill>
                <a:latin typeface="黑体"/>
                <a:cs typeface="黑体"/>
              </a:rPr>
              <a:t>二</a:t>
            </a:r>
            <a:r>
              <a:rPr dirty="0" sz="3200" spc="-100" b="0">
                <a:solidFill>
                  <a:srgbClr val="000000"/>
                </a:solidFill>
                <a:latin typeface="黑体"/>
                <a:cs typeface="黑体"/>
              </a:rPr>
              <a:t> </a:t>
            </a:r>
            <a:r>
              <a:rPr dirty="0" sz="3200" b="0">
                <a:solidFill>
                  <a:srgbClr val="000000"/>
                </a:solidFill>
                <a:latin typeface="黑体"/>
                <a:cs typeface="黑体"/>
              </a:rPr>
              <a:t>、分子势</a:t>
            </a:r>
            <a:r>
              <a:rPr dirty="0" sz="3200" spc="5" b="0">
                <a:solidFill>
                  <a:srgbClr val="000000"/>
                </a:solidFill>
                <a:latin typeface="黑体"/>
                <a:cs typeface="黑体"/>
              </a:rPr>
              <a:t>能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95928" y="4940808"/>
            <a:ext cx="1296924" cy="3931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4313" y="1676324"/>
            <a:ext cx="7645400" cy="38658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  假定两个分子的距离为无穷远时它们的分子势能为0。 当使一个分子固定，另一个分子从无穷远逐渐向它靠近， 直到相距很近。</a:t>
            </a:r>
            <a:endParaRPr sz="2400">
              <a:latin typeface="宋体"/>
              <a:cs typeface="宋体"/>
            </a:endParaRPr>
          </a:p>
          <a:p>
            <a:pPr marL="775335" indent="-762635">
              <a:lnSpc>
                <a:spcPct val="100000"/>
              </a:lnSpc>
              <a:spcBef>
                <a:spcPts val="1440"/>
              </a:spcBef>
              <a:buSzPct val="95833"/>
              <a:buAutoNum type="arabicPlain"/>
              <a:tabLst>
                <a:tab pos="775335" algn="l"/>
              </a:tabLst>
            </a:pPr>
            <a:r>
              <a:rPr dirty="0" sz="2400">
                <a:latin typeface="宋体"/>
                <a:cs typeface="宋体"/>
              </a:rPr>
              <a:t>在这个过程中，分子间作用力做正功还是做负功？</a:t>
            </a:r>
            <a:endParaRPr sz="2400">
              <a:latin typeface="宋体"/>
              <a:cs typeface="宋体"/>
            </a:endParaRPr>
          </a:p>
          <a:p>
            <a:pPr marL="775335" indent="-762635">
              <a:lnSpc>
                <a:spcPct val="100000"/>
              </a:lnSpc>
              <a:spcBef>
                <a:spcPts val="1440"/>
              </a:spcBef>
              <a:buSzPct val="95833"/>
              <a:buAutoNum type="arabicPlain"/>
              <a:tabLst>
                <a:tab pos="775335" algn="l"/>
              </a:tabLst>
            </a:pPr>
            <a:r>
              <a:rPr dirty="0" sz="2400">
                <a:latin typeface="宋体"/>
                <a:cs typeface="宋体"/>
              </a:rPr>
              <a:t>分子势能怎样变化？分子势能何时最低？</a:t>
            </a:r>
            <a:endParaRPr sz="2400">
              <a:latin typeface="宋体"/>
              <a:cs typeface="宋体"/>
            </a:endParaRPr>
          </a:p>
          <a:p>
            <a:pPr marL="12700" marR="318770">
              <a:lnSpc>
                <a:spcPts val="4330"/>
              </a:lnSpc>
              <a:spcBef>
                <a:spcPts val="365"/>
              </a:spcBef>
              <a:buSzPct val="95833"/>
              <a:buAutoNum type="arabicPlain"/>
              <a:tabLst>
                <a:tab pos="775335" algn="l"/>
              </a:tabLst>
            </a:pPr>
            <a:r>
              <a:rPr dirty="0" sz="2400">
                <a:latin typeface="宋体"/>
                <a:cs typeface="宋体"/>
              </a:rPr>
              <a:t>画出分子势能</a:t>
            </a:r>
            <a:r>
              <a:rPr dirty="0" sz="2400" i="1">
                <a:latin typeface="Times New Roman"/>
                <a:cs typeface="Times New Roman"/>
              </a:rPr>
              <a:t>E</a:t>
            </a:r>
            <a:r>
              <a:rPr dirty="0" baseline="-17921" sz="2325">
                <a:latin typeface="Times New Roman"/>
                <a:cs typeface="Times New Roman"/>
              </a:rPr>
              <a:t>P</a:t>
            </a:r>
            <a:r>
              <a:rPr dirty="0" sz="2400">
                <a:latin typeface="宋体"/>
                <a:cs typeface="宋体"/>
              </a:rPr>
              <a:t>与分子间距</a:t>
            </a:r>
            <a:r>
              <a:rPr dirty="0" sz="2400" spc="-110">
                <a:latin typeface="宋体"/>
                <a:cs typeface="宋体"/>
              </a:rPr>
              <a:t>离</a:t>
            </a:r>
            <a:r>
              <a:rPr dirty="0" sz="2500" spc="-710" i="1">
                <a:latin typeface="宋体"/>
                <a:cs typeface="宋体"/>
              </a:rPr>
              <a:t>r</a:t>
            </a:r>
            <a:r>
              <a:rPr dirty="0" sz="2400">
                <a:latin typeface="宋体"/>
                <a:cs typeface="宋体"/>
              </a:rPr>
              <a:t>关系的曲线，要求 表现出势能变化的大致趋势。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2263" y="1028090"/>
            <a:ext cx="645795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000000"/>
                </a:solidFill>
                <a:latin typeface="宋体"/>
                <a:cs typeface="宋体"/>
              </a:rPr>
              <a:t>（二）分子势能随分子间距离变化的特</a:t>
            </a:r>
            <a:r>
              <a:rPr dirty="0" sz="2800" spc="-20">
                <a:solidFill>
                  <a:srgbClr val="000000"/>
                </a:solidFill>
                <a:latin typeface="宋体"/>
                <a:cs typeface="宋体"/>
              </a:rPr>
              <a:t>点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0295" y="4071238"/>
            <a:ext cx="4347845" cy="20027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9690">
              <a:lnSpc>
                <a:spcPct val="1288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宋体"/>
                <a:cs typeface="宋体"/>
              </a:rPr>
              <a:t>注意</a:t>
            </a: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dirty="0" baseline="-17921" sz="2325" b="1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dirty="0" sz="2400" b="1">
                <a:solidFill>
                  <a:srgbClr val="FF0000"/>
                </a:solidFill>
                <a:latin typeface="宋体"/>
                <a:cs typeface="宋体"/>
              </a:rPr>
              <a:t>的位置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：</a:t>
            </a:r>
            <a:r>
              <a:rPr dirty="0" sz="2400">
                <a:latin typeface="宋体"/>
                <a:cs typeface="宋体"/>
              </a:rPr>
              <a:t>此位置分子间引 力与斥力平衡；分子势能最低。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>
              <a:latin typeface="Times New Roman"/>
              <a:cs typeface="Times New Roman"/>
            </a:endParaRPr>
          </a:p>
          <a:p>
            <a:pPr marL="67310" marR="5080">
              <a:lnSpc>
                <a:spcPct val="100000"/>
              </a:lnSpc>
            </a:pPr>
            <a:r>
              <a:rPr dirty="0" sz="2400">
                <a:latin typeface="宋体"/>
                <a:cs typeface="宋体"/>
              </a:rPr>
              <a:t>分子势能与分子力（引力与斥力 的合力）随距离变化的图像比较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33983" y="760476"/>
            <a:ext cx="7466076" cy="10088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70483" y="696976"/>
            <a:ext cx="7593330" cy="1136015"/>
          </a:xfrm>
          <a:custGeom>
            <a:avLst/>
            <a:gdLst/>
            <a:ahLst/>
            <a:cxnLst/>
            <a:rect l="l" t="t" r="r" b="b"/>
            <a:pathLst>
              <a:path w="7593330" h="1136014">
                <a:moveTo>
                  <a:pt x="7561326" y="1135888"/>
                </a:moveTo>
                <a:lnTo>
                  <a:pt x="31750" y="1135888"/>
                </a:lnTo>
                <a:lnTo>
                  <a:pt x="27609" y="1135621"/>
                </a:lnTo>
                <a:lnTo>
                  <a:pt x="266" y="1108278"/>
                </a:lnTo>
                <a:lnTo>
                  <a:pt x="0" y="1104138"/>
                </a:lnTo>
                <a:lnTo>
                  <a:pt x="0" y="31750"/>
                </a:lnTo>
                <a:lnTo>
                  <a:pt x="23533" y="1079"/>
                </a:lnTo>
                <a:lnTo>
                  <a:pt x="31750" y="0"/>
                </a:lnTo>
                <a:lnTo>
                  <a:pt x="7561326" y="0"/>
                </a:lnTo>
                <a:lnTo>
                  <a:pt x="7591996" y="23533"/>
                </a:lnTo>
                <a:lnTo>
                  <a:pt x="7593076" y="31750"/>
                </a:lnTo>
                <a:lnTo>
                  <a:pt x="63500" y="31750"/>
                </a:lnTo>
                <a:lnTo>
                  <a:pt x="31750" y="63499"/>
                </a:lnTo>
                <a:lnTo>
                  <a:pt x="63500" y="63499"/>
                </a:lnTo>
                <a:lnTo>
                  <a:pt x="63500" y="1072388"/>
                </a:lnTo>
                <a:lnTo>
                  <a:pt x="31750" y="1072388"/>
                </a:lnTo>
                <a:lnTo>
                  <a:pt x="63500" y="1104138"/>
                </a:lnTo>
                <a:lnTo>
                  <a:pt x="7593076" y="1104138"/>
                </a:lnTo>
                <a:lnTo>
                  <a:pt x="7592809" y="1108278"/>
                </a:lnTo>
                <a:lnTo>
                  <a:pt x="7565466" y="1135621"/>
                </a:lnTo>
                <a:lnTo>
                  <a:pt x="7561326" y="1135888"/>
                </a:lnTo>
                <a:close/>
              </a:path>
              <a:path w="7593330" h="1136014">
                <a:moveTo>
                  <a:pt x="63500" y="63499"/>
                </a:moveTo>
                <a:lnTo>
                  <a:pt x="31750" y="63499"/>
                </a:lnTo>
                <a:lnTo>
                  <a:pt x="63500" y="31750"/>
                </a:lnTo>
                <a:lnTo>
                  <a:pt x="63500" y="63499"/>
                </a:lnTo>
                <a:close/>
              </a:path>
              <a:path w="7593330" h="1136014">
                <a:moveTo>
                  <a:pt x="7529576" y="63499"/>
                </a:moveTo>
                <a:lnTo>
                  <a:pt x="63500" y="63499"/>
                </a:lnTo>
                <a:lnTo>
                  <a:pt x="63500" y="31750"/>
                </a:lnTo>
                <a:lnTo>
                  <a:pt x="7529576" y="31750"/>
                </a:lnTo>
                <a:lnTo>
                  <a:pt x="7529576" y="63499"/>
                </a:lnTo>
                <a:close/>
              </a:path>
              <a:path w="7593330" h="1136014">
                <a:moveTo>
                  <a:pt x="7529576" y="1104138"/>
                </a:moveTo>
                <a:lnTo>
                  <a:pt x="7529576" y="31750"/>
                </a:lnTo>
                <a:lnTo>
                  <a:pt x="7561326" y="63499"/>
                </a:lnTo>
                <a:lnTo>
                  <a:pt x="7593076" y="63499"/>
                </a:lnTo>
                <a:lnTo>
                  <a:pt x="7593076" y="1072388"/>
                </a:lnTo>
                <a:lnTo>
                  <a:pt x="7561326" y="1072388"/>
                </a:lnTo>
                <a:lnTo>
                  <a:pt x="7529576" y="1104138"/>
                </a:lnTo>
                <a:close/>
              </a:path>
              <a:path w="7593330" h="1136014">
                <a:moveTo>
                  <a:pt x="7593076" y="63499"/>
                </a:moveTo>
                <a:lnTo>
                  <a:pt x="7561326" y="63499"/>
                </a:lnTo>
                <a:lnTo>
                  <a:pt x="7529576" y="31750"/>
                </a:lnTo>
                <a:lnTo>
                  <a:pt x="7593076" y="31750"/>
                </a:lnTo>
                <a:lnTo>
                  <a:pt x="7593076" y="63499"/>
                </a:lnTo>
                <a:close/>
              </a:path>
              <a:path w="7593330" h="1136014">
                <a:moveTo>
                  <a:pt x="63500" y="1104138"/>
                </a:moveTo>
                <a:lnTo>
                  <a:pt x="31750" y="1072388"/>
                </a:lnTo>
                <a:lnTo>
                  <a:pt x="63500" y="1072388"/>
                </a:lnTo>
                <a:lnTo>
                  <a:pt x="63500" y="1104138"/>
                </a:lnTo>
                <a:close/>
              </a:path>
              <a:path w="7593330" h="1136014">
                <a:moveTo>
                  <a:pt x="7529576" y="1104138"/>
                </a:moveTo>
                <a:lnTo>
                  <a:pt x="63500" y="1104138"/>
                </a:lnTo>
                <a:lnTo>
                  <a:pt x="63500" y="1072388"/>
                </a:lnTo>
                <a:lnTo>
                  <a:pt x="7529576" y="1072388"/>
                </a:lnTo>
                <a:lnTo>
                  <a:pt x="7529576" y="1104138"/>
                </a:lnTo>
                <a:close/>
              </a:path>
              <a:path w="7593330" h="1136014">
                <a:moveTo>
                  <a:pt x="7593076" y="1104138"/>
                </a:moveTo>
                <a:lnTo>
                  <a:pt x="7529576" y="1104138"/>
                </a:lnTo>
                <a:lnTo>
                  <a:pt x="7561326" y="1072388"/>
                </a:lnTo>
                <a:lnTo>
                  <a:pt x="7593076" y="1072388"/>
                </a:lnTo>
                <a:lnTo>
                  <a:pt x="7593076" y="1104138"/>
                </a:lnTo>
                <a:close/>
              </a:path>
            </a:pathLst>
          </a:custGeom>
          <a:solidFill>
            <a:srgbClr val="FFFFFF">
              <a:alpha val="1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87196" y="2421635"/>
            <a:ext cx="3276600" cy="9692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87196" y="3195827"/>
            <a:ext cx="2735579" cy="9022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87196" y="1769364"/>
            <a:ext cx="3470148" cy="8702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94054" y="2626474"/>
            <a:ext cx="254000" cy="48387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800" spc="10" b="1">
                <a:latin typeface="宋体"/>
                <a:cs typeface="宋体"/>
              </a:rPr>
              <a:t>类</a:t>
            </a:r>
            <a:r>
              <a:rPr dirty="0" sz="1800" b="1">
                <a:latin typeface="宋体"/>
                <a:cs typeface="宋体"/>
              </a:rPr>
              <a:t>比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48071" y="1994446"/>
            <a:ext cx="3845052" cy="45176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084571" y="1437639"/>
            <a:ext cx="3972560" cy="5138420"/>
          </a:xfrm>
          <a:custGeom>
            <a:avLst/>
            <a:gdLst/>
            <a:ahLst/>
            <a:cxnLst/>
            <a:rect l="l" t="t" r="r" b="b"/>
            <a:pathLst>
              <a:path w="3972559" h="5138420">
                <a:moveTo>
                  <a:pt x="3940302" y="5137912"/>
                </a:moveTo>
                <a:lnTo>
                  <a:pt x="31750" y="5137912"/>
                </a:lnTo>
                <a:lnTo>
                  <a:pt x="27609" y="5137645"/>
                </a:lnTo>
                <a:lnTo>
                  <a:pt x="266" y="5110302"/>
                </a:lnTo>
                <a:lnTo>
                  <a:pt x="0" y="5106162"/>
                </a:lnTo>
                <a:lnTo>
                  <a:pt x="0" y="31750"/>
                </a:lnTo>
                <a:lnTo>
                  <a:pt x="23533" y="1079"/>
                </a:lnTo>
                <a:lnTo>
                  <a:pt x="31750" y="0"/>
                </a:lnTo>
                <a:lnTo>
                  <a:pt x="3940302" y="0"/>
                </a:lnTo>
                <a:lnTo>
                  <a:pt x="3970972" y="23533"/>
                </a:lnTo>
                <a:lnTo>
                  <a:pt x="3972052" y="31750"/>
                </a:lnTo>
                <a:lnTo>
                  <a:pt x="63500" y="31750"/>
                </a:lnTo>
                <a:lnTo>
                  <a:pt x="31750" y="63500"/>
                </a:lnTo>
                <a:lnTo>
                  <a:pt x="63500" y="63500"/>
                </a:lnTo>
                <a:lnTo>
                  <a:pt x="63500" y="5074412"/>
                </a:lnTo>
                <a:lnTo>
                  <a:pt x="31750" y="5074412"/>
                </a:lnTo>
                <a:lnTo>
                  <a:pt x="63500" y="5106162"/>
                </a:lnTo>
                <a:lnTo>
                  <a:pt x="3972052" y="5106162"/>
                </a:lnTo>
                <a:lnTo>
                  <a:pt x="3971785" y="5110302"/>
                </a:lnTo>
                <a:lnTo>
                  <a:pt x="3944442" y="5137645"/>
                </a:lnTo>
                <a:lnTo>
                  <a:pt x="3940302" y="5137912"/>
                </a:lnTo>
                <a:close/>
              </a:path>
              <a:path w="3972559" h="5138420">
                <a:moveTo>
                  <a:pt x="63500" y="63500"/>
                </a:moveTo>
                <a:lnTo>
                  <a:pt x="31750" y="63500"/>
                </a:lnTo>
                <a:lnTo>
                  <a:pt x="63500" y="31750"/>
                </a:lnTo>
                <a:lnTo>
                  <a:pt x="63500" y="63500"/>
                </a:lnTo>
                <a:close/>
              </a:path>
              <a:path w="3972559" h="5138420">
                <a:moveTo>
                  <a:pt x="3908552" y="63500"/>
                </a:moveTo>
                <a:lnTo>
                  <a:pt x="63500" y="63500"/>
                </a:lnTo>
                <a:lnTo>
                  <a:pt x="63500" y="31750"/>
                </a:lnTo>
                <a:lnTo>
                  <a:pt x="3908552" y="31750"/>
                </a:lnTo>
                <a:lnTo>
                  <a:pt x="3908552" y="63500"/>
                </a:lnTo>
                <a:close/>
              </a:path>
              <a:path w="3972559" h="5138420">
                <a:moveTo>
                  <a:pt x="3908552" y="5106162"/>
                </a:moveTo>
                <a:lnTo>
                  <a:pt x="3908552" y="31750"/>
                </a:lnTo>
                <a:lnTo>
                  <a:pt x="3940302" y="63500"/>
                </a:lnTo>
                <a:lnTo>
                  <a:pt x="3972052" y="63500"/>
                </a:lnTo>
                <a:lnTo>
                  <a:pt x="3972052" y="5074412"/>
                </a:lnTo>
                <a:lnTo>
                  <a:pt x="3940302" y="5074412"/>
                </a:lnTo>
                <a:lnTo>
                  <a:pt x="3908552" y="5106162"/>
                </a:lnTo>
                <a:close/>
              </a:path>
              <a:path w="3972559" h="5138420">
                <a:moveTo>
                  <a:pt x="3972052" y="63500"/>
                </a:moveTo>
                <a:lnTo>
                  <a:pt x="3940302" y="63500"/>
                </a:lnTo>
                <a:lnTo>
                  <a:pt x="3908552" y="31750"/>
                </a:lnTo>
                <a:lnTo>
                  <a:pt x="3972052" y="31750"/>
                </a:lnTo>
                <a:lnTo>
                  <a:pt x="3972052" y="63500"/>
                </a:lnTo>
                <a:close/>
              </a:path>
              <a:path w="3972559" h="5138420">
                <a:moveTo>
                  <a:pt x="63500" y="5106162"/>
                </a:moveTo>
                <a:lnTo>
                  <a:pt x="31750" y="5074412"/>
                </a:lnTo>
                <a:lnTo>
                  <a:pt x="63500" y="5074412"/>
                </a:lnTo>
                <a:lnTo>
                  <a:pt x="63500" y="5106162"/>
                </a:lnTo>
                <a:close/>
              </a:path>
              <a:path w="3972559" h="5138420">
                <a:moveTo>
                  <a:pt x="3908552" y="5106162"/>
                </a:moveTo>
                <a:lnTo>
                  <a:pt x="63500" y="5106162"/>
                </a:lnTo>
                <a:lnTo>
                  <a:pt x="63500" y="5074412"/>
                </a:lnTo>
                <a:lnTo>
                  <a:pt x="3908552" y="5074412"/>
                </a:lnTo>
                <a:lnTo>
                  <a:pt x="3908552" y="5106162"/>
                </a:lnTo>
                <a:close/>
              </a:path>
              <a:path w="3972559" h="5138420">
                <a:moveTo>
                  <a:pt x="3972052" y="5106162"/>
                </a:moveTo>
                <a:lnTo>
                  <a:pt x="3908552" y="5106162"/>
                </a:lnTo>
                <a:lnTo>
                  <a:pt x="3940302" y="5074412"/>
                </a:lnTo>
                <a:lnTo>
                  <a:pt x="3972052" y="5074412"/>
                </a:lnTo>
                <a:lnTo>
                  <a:pt x="3972052" y="5106162"/>
                </a:lnTo>
                <a:close/>
              </a:path>
            </a:pathLst>
          </a:custGeom>
          <a:solidFill>
            <a:srgbClr val="FFFFFF">
              <a:alpha val="1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665976" y="2641092"/>
            <a:ext cx="521207" cy="42824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743700" y="4623815"/>
            <a:ext cx="521207" cy="4282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77" y="1159548"/>
            <a:ext cx="431292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000000"/>
                </a:solidFill>
                <a:latin typeface="宋体"/>
                <a:cs typeface="宋体"/>
              </a:rPr>
              <a:t>（三）决定分子势能的因</a:t>
            </a:r>
            <a:r>
              <a:rPr dirty="0" sz="2800" spc="-20">
                <a:solidFill>
                  <a:srgbClr val="000000"/>
                </a:solidFill>
                <a:latin typeface="宋体"/>
                <a:cs typeface="宋体"/>
              </a:rPr>
              <a:t>素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6277" y="2243493"/>
            <a:ext cx="8204200" cy="11804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10668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宋体"/>
                <a:cs typeface="宋体"/>
              </a:rPr>
              <a:t>（1）</a:t>
            </a:r>
            <a:r>
              <a:rPr dirty="0" sz="2800">
                <a:latin typeface="宋体"/>
                <a:cs typeface="宋体"/>
              </a:rPr>
              <a:t>从宏观上看：分子势能跟物体的体积有关</a:t>
            </a:r>
            <a:r>
              <a:rPr dirty="0" sz="2800" spc="-5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2250"/>
              </a:spcBef>
            </a:pPr>
            <a:r>
              <a:rPr dirty="0" sz="2800" spc="-5">
                <a:latin typeface="宋体"/>
                <a:cs typeface="宋体"/>
              </a:rPr>
              <a:t> </a:t>
            </a:r>
            <a:r>
              <a:rPr dirty="0" sz="2800" spc="-5">
                <a:latin typeface="宋体"/>
                <a:cs typeface="宋体"/>
              </a:rPr>
              <a:t>（2）</a:t>
            </a:r>
            <a:r>
              <a:rPr dirty="0" sz="2800">
                <a:latin typeface="宋体"/>
                <a:cs typeface="宋体"/>
              </a:rPr>
              <a:t>从微观上看：分子势能跟分子间距</a:t>
            </a:r>
            <a:r>
              <a:rPr dirty="0" sz="2800" spc="-130">
                <a:latin typeface="宋体"/>
                <a:cs typeface="宋体"/>
              </a:rPr>
              <a:t>离</a:t>
            </a:r>
            <a:r>
              <a:rPr dirty="0" sz="2900" spc="-825" i="1">
                <a:latin typeface="宋体"/>
                <a:cs typeface="宋体"/>
              </a:rPr>
              <a:t>r</a:t>
            </a:r>
            <a:r>
              <a:rPr dirty="0" sz="2800">
                <a:latin typeface="宋体"/>
                <a:cs typeface="宋体"/>
              </a:rPr>
              <a:t>有关。 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8534" y="845984"/>
            <a:ext cx="288226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000000"/>
                </a:solidFill>
                <a:latin typeface="黑体"/>
                <a:cs typeface="黑体"/>
              </a:rPr>
              <a:t>三、物体的内</a:t>
            </a:r>
            <a:r>
              <a:rPr dirty="0" sz="3200" spc="-10">
                <a:solidFill>
                  <a:srgbClr val="000000"/>
                </a:solidFill>
                <a:latin typeface="黑体"/>
                <a:cs typeface="黑体"/>
              </a:rPr>
              <a:t>能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8612" y="1413408"/>
            <a:ext cx="8636000" cy="414020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472440" indent="-459740">
              <a:lnSpc>
                <a:spcPct val="100000"/>
              </a:lnSpc>
              <a:spcBef>
                <a:spcPts val="820"/>
              </a:spcBef>
              <a:buSzPct val="95833"/>
              <a:buAutoNum type="arabicPeriod"/>
              <a:tabLst>
                <a:tab pos="472440" algn="l"/>
              </a:tabLst>
            </a:pPr>
            <a:r>
              <a:rPr dirty="0" sz="2400" b="1">
                <a:latin typeface="宋体"/>
                <a:cs typeface="宋体"/>
              </a:rPr>
              <a:t>物体的内</a:t>
            </a:r>
            <a:r>
              <a:rPr dirty="0" sz="2400" spc="-10" b="1">
                <a:latin typeface="宋体"/>
                <a:cs typeface="宋体"/>
              </a:rPr>
              <a:t>能</a:t>
            </a:r>
            <a:endParaRPr sz="2400">
              <a:latin typeface="宋体"/>
              <a:cs typeface="宋体"/>
            </a:endParaRPr>
          </a:p>
          <a:p>
            <a:pPr marL="12700" marR="374015">
              <a:lnSpc>
                <a:spcPct val="125000"/>
              </a:lnSpc>
            </a:pPr>
            <a:r>
              <a:rPr dirty="0" sz="2400" b="1">
                <a:latin typeface="宋体"/>
                <a:cs typeface="宋体"/>
              </a:rPr>
              <a:t>  </a:t>
            </a:r>
            <a:r>
              <a:rPr dirty="0" sz="2400">
                <a:latin typeface="宋体"/>
                <a:cs typeface="宋体"/>
              </a:rPr>
              <a:t>物体中所有分子的热运</a:t>
            </a:r>
            <a:r>
              <a:rPr dirty="0" sz="2400" spc="5">
                <a:latin typeface="宋体"/>
                <a:cs typeface="宋体"/>
              </a:rPr>
              <a:t>动动能与分子势能的总和，叫做物</a:t>
            </a:r>
            <a:r>
              <a:rPr dirty="0" sz="2400">
                <a:latin typeface="宋体"/>
                <a:cs typeface="宋体"/>
              </a:rPr>
              <a:t>体 的内能。</a:t>
            </a:r>
            <a:endParaRPr sz="2400">
              <a:latin typeface="宋体"/>
              <a:cs typeface="宋体"/>
            </a:endParaRPr>
          </a:p>
          <a:p>
            <a:pPr marL="472440" indent="-459740">
              <a:lnSpc>
                <a:spcPct val="100000"/>
              </a:lnSpc>
              <a:spcBef>
                <a:spcPts val="720"/>
              </a:spcBef>
              <a:buSzPct val="95833"/>
              <a:buAutoNum type="arabicPeriod" startAt="2"/>
              <a:tabLst>
                <a:tab pos="472440" algn="l"/>
              </a:tabLst>
            </a:pPr>
            <a:r>
              <a:rPr dirty="0" sz="2400" b="1">
                <a:latin typeface="宋体"/>
                <a:cs typeface="宋体"/>
              </a:rPr>
              <a:t>任何物体都具有内</a:t>
            </a:r>
            <a:r>
              <a:rPr dirty="0" sz="2400" spc="-10" b="1">
                <a:latin typeface="宋体"/>
                <a:cs typeface="宋体"/>
              </a:rPr>
              <a:t>能</a:t>
            </a:r>
            <a:endParaRPr sz="2400">
              <a:latin typeface="宋体"/>
              <a:cs typeface="宋体"/>
            </a:endParaRPr>
          </a:p>
          <a:p>
            <a:pPr marL="85725">
              <a:lnSpc>
                <a:spcPct val="100000"/>
              </a:lnSpc>
              <a:spcBef>
                <a:spcPts val="720"/>
              </a:spcBef>
            </a:pPr>
            <a:r>
              <a:rPr dirty="0" sz="2400" b="1">
                <a:latin typeface="宋体"/>
                <a:cs typeface="宋体"/>
              </a:rPr>
              <a:t>  </a:t>
            </a:r>
            <a:r>
              <a:rPr dirty="0" sz="2400">
                <a:latin typeface="宋体"/>
                <a:cs typeface="宋体"/>
              </a:rPr>
              <a:t>因为组成任何物体的分子，都在不停地做着无规则的热运动。</a:t>
            </a:r>
            <a:endParaRPr sz="2400">
              <a:latin typeface="宋体"/>
              <a:cs typeface="宋体"/>
            </a:endParaRPr>
          </a:p>
          <a:p>
            <a:pPr marL="472440" indent="-459740">
              <a:lnSpc>
                <a:spcPct val="100000"/>
              </a:lnSpc>
              <a:spcBef>
                <a:spcPts val="720"/>
              </a:spcBef>
              <a:buSzPct val="95833"/>
              <a:buAutoNum type="arabicPeriod" startAt="3"/>
              <a:tabLst>
                <a:tab pos="472440" algn="l"/>
              </a:tabLst>
            </a:pPr>
            <a:r>
              <a:rPr dirty="0" sz="2400" b="1">
                <a:latin typeface="宋体"/>
                <a:cs typeface="宋体"/>
              </a:rPr>
              <a:t>决定物体内能的因</a:t>
            </a:r>
            <a:r>
              <a:rPr dirty="0" sz="2400" spc="-10" b="1">
                <a:latin typeface="宋体"/>
                <a:cs typeface="宋体"/>
              </a:rPr>
              <a:t>素</a:t>
            </a:r>
            <a:endParaRPr sz="2400">
              <a:latin typeface="宋体"/>
              <a:cs typeface="宋体"/>
            </a:endParaRPr>
          </a:p>
          <a:p>
            <a:pPr marL="12700" marR="374015" indent="304800">
              <a:lnSpc>
                <a:spcPct val="125000"/>
              </a:lnSpc>
            </a:pPr>
            <a:r>
              <a:rPr dirty="0" sz="2400" spc="50">
                <a:latin typeface="宋体"/>
                <a:cs typeface="宋体"/>
              </a:rPr>
              <a:t>（1）从微观上看：物体的内能与组</a:t>
            </a:r>
            <a:r>
              <a:rPr dirty="0" sz="2400" spc="55">
                <a:latin typeface="宋体"/>
                <a:cs typeface="宋体"/>
              </a:rPr>
              <a:t>成物体的分子总数，</a:t>
            </a:r>
            <a:r>
              <a:rPr dirty="0" sz="2400">
                <a:latin typeface="宋体"/>
                <a:cs typeface="宋体"/>
              </a:rPr>
              <a:t>分 子热运动的平均动能和分子间的距离三个因素有关。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400">
                <a:latin typeface="宋体"/>
                <a:cs typeface="宋体"/>
              </a:rPr>
              <a:t>（2）从宏观上看：物体的内能与温度和体积有关。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7537" y="985812"/>
            <a:ext cx="451548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000000"/>
                </a:solidFill>
                <a:latin typeface="黑体"/>
                <a:cs typeface="黑体"/>
              </a:rPr>
              <a:t>四、物体的内能与机械</a:t>
            </a:r>
            <a:r>
              <a:rPr dirty="0" sz="3200" spc="-10">
                <a:solidFill>
                  <a:srgbClr val="000000"/>
                </a:solidFill>
                <a:latin typeface="黑体"/>
                <a:cs typeface="黑体"/>
              </a:rPr>
              <a:t>能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304" y="1780819"/>
            <a:ext cx="7035800" cy="2768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41300" marR="5080" indent="-228600">
              <a:lnSpc>
                <a:spcPct val="150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    组成物体的分子在做无规则的热运动，具有热运 动的动能，它是物体内能的一部分；物体的内能与 温度和体积有关。</a:t>
            </a:r>
            <a:endParaRPr sz="2400">
              <a:latin typeface="宋体"/>
              <a:cs typeface="宋体"/>
            </a:endParaRPr>
          </a:p>
          <a:p>
            <a:pPr algn="just" marL="241300" marR="5080" indent="-228600">
              <a:lnSpc>
                <a:spcPct val="150000"/>
              </a:lnSpc>
            </a:pPr>
            <a:r>
              <a:rPr dirty="0" sz="2400">
                <a:latin typeface="宋体"/>
                <a:cs typeface="宋体"/>
              </a:rPr>
              <a:t>    物体的机械能与物体的机械运动有关，是由物体 的机械运动决定的。    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63" y="959980"/>
            <a:ext cx="1045844" cy="3314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000000"/>
                </a:solidFill>
                <a:latin typeface="宋体"/>
                <a:cs typeface="宋体"/>
              </a:rPr>
              <a:t>课堂练</a:t>
            </a:r>
            <a:r>
              <a:rPr dirty="0" sz="2000" spc="-5">
                <a:solidFill>
                  <a:srgbClr val="000000"/>
                </a:solidFill>
                <a:latin typeface="宋体"/>
                <a:cs typeface="宋体"/>
              </a:rPr>
              <a:t>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6277" y="1470177"/>
            <a:ext cx="7950200" cy="276860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2400">
                <a:latin typeface="宋体"/>
                <a:cs typeface="宋体"/>
              </a:rPr>
              <a:t>1.</a:t>
            </a:r>
            <a:r>
              <a:rPr dirty="0" sz="2400" spc="-5">
                <a:latin typeface="宋体"/>
                <a:cs typeface="宋体"/>
              </a:rPr>
              <a:t> </a:t>
            </a:r>
            <a:r>
              <a:rPr dirty="0" sz="2400">
                <a:latin typeface="宋体"/>
                <a:cs typeface="宋体"/>
              </a:rPr>
              <a:t>物体的内能是（</a:t>
            </a:r>
            <a:r>
              <a:rPr dirty="0" sz="2400" spc="-625">
                <a:latin typeface="宋体"/>
                <a:cs typeface="宋体"/>
              </a:rPr>
              <a:t> </a:t>
            </a:r>
            <a:r>
              <a:rPr dirty="0" baseline="1157" sz="3600" spc="-885" b="1">
                <a:solidFill>
                  <a:srgbClr val="FF0000"/>
                </a:solidFill>
                <a:latin typeface="宋体"/>
                <a:cs typeface="宋体"/>
              </a:rPr>
              <a:t>C</a:t>
            </a:r>
            <a:r>
              <a:rPr dirty="0" sz="2400" spc="-55" b="1">
                <a:latin typeface="宋体"/>
                <a:cs typeface="宋体"/>
              </a:rPr>
              <a:t> </a:t>
            </a:r>
            <a:r>
              <a:rPr dirty="0" sz="2400">
                <a:latin typeface="宋体"/>
                <a:cs typeface="宋体"/>
              </a:rPr>
              <a:t>）      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宋体"/>
                <a:cs typeface="宋体"/>
              </a:rPr>
              <a:t>  A.物体的动能与势能总和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宋体"/>
                <a:cs typeface="宋体"/>
              </a:rPr>
              <a:t>  B.物体的动能、势能以及物体内分子的动能和势能的总和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宋体"/>
                <a:cs typeface="宋体"/>
              </a:rPr>
              <a:t>  C.物体中所有分子的热运动动能与分子势能的总和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宋体"/>
                <a:cs typeface="宋体"/>
              </a:rPr>
              <a:t>  D.</a:t>
            </a:r>
            <a:r>
              <a:rPr dirty="0" sz="2400" spc="-10">
                <a:latin typeface="宋体"/>
                <a:cs typeface="宋体"/>
              </a:rPr>
              <a:t> </a:t>
            </a:r>
            <a:r>
              <a:rPr dirty="0" sz="2400">
                <a:latin typeface="宋体"/>
                <a:cs typeface="宋体"/>
              </a:rPr>
              <a:t>物体内所有分子的热运动的动能总和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116" y="759929"/>
            <a:ext cx="1045844" cy="3314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000000"/>
                </a:solidFill>
                <a:latin typeface="宋体"/>
                <a:cs typeface="宋体"/>
              </a:rPr>
              <a:t>课堂练</a:t>
            </a:r>
            <a:r>
              <a:rPr dirty="0" sz="2000" spc="-5">
                <a:solidFill>
                  <a:srgbClr val="000000"/>
                </a:solidFill>
                <a:latin typeface="宋体"/>
                <a:cs typeface="宋体"/>
              </a:rPr>
              <a:t>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64490" marR="5080">
              <a:lnSpc>
                <a:spcPct val="125000"/>
              </a:lnSpc>
              <a:spcBef>
                <a:spcPts val="100"/>
              </a:spcBef>
              <a:buFont typeface="Times New Roman"/>
              <a:buAutoNum type="arabicPeriod" startAt="2"/>
              <a:tabLst>
                <a:tab pos="669925" algn="l"/>
              </a:tabLst>
            </a:pPr>
            <a:r>
              <a:rPr dirty="0"/>
              <a:t>根据分子动理论，物质分子间距离为</a:t>
            </a:r>
            <a:r>
              <a:rPr dirty="0" i="1">
                <a:latin typeface="Times New Roman"/>
                <a:cs typeface="Times New Roman"/>
              </a:rPr>
              <a:t>r</a:t>
            </a:r>
            <a:r>
              <a:rPr dirty="0" baseline="-17921" sz="2325" spc="7">
                <a:latin typeface="Times New Roman"/>
                <a:cs typeface="Times New Roman"/>
              </a:rPr>
              <a:t>0</a:t>
            </a:r>
            <a:r>
              <a:rPr dirty="0" sz="2400" spc="5"/>
              <a:t>时分子所受到的引 力与斥力相等，以下关于分子势能的说法正确的是</a:t>
            </a:r>
            <a:r>
              <a:rPr dirty="0" sz="2400" spc="20"/>
              <a:t>（</a:t>
            </a:r>
            <a:r>
              <a:rPr dirty="0" baseline="5787" sz="3600" spc="3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dirty="0" sz="2400" spc="20"/>
              <a:t>）</a:t>
            </a:r>
            <a:endParaRPr sz="2400">
              <a:latin typeface="Times New Roman"/>
              <a:cs typeface="Times New Roman"/>
            </a:endParaRPr>
          </a:p>
          <a:p>
            <a:pPr lvl="1" marL="364490" marR="172085" indent="287655">
              <a:lnSpc>
                <a:spcPts val="3610"/>
              </a:lnSpc>
              <a:spcBef>
                <a:spcPts val="229"/>
              </a:spcBef>
              <a:buFont typeface="Times New Roman"/>
              <a:buAutoNum type="alphaUcPeriod"/>
              <a:tabLst>
                <a:tab pos="1025525" algn="l"/>
              </a:tabLst>
            </a:pPr>
            <a:r>
              <a:rPr dirty="0" sz="2400">
                <a:latin typeface="宋体"/>
                <a:cs typeface="宋体"/>
              </a:rPr>
              <a:t>分子间距离越大，分子势能越大，分子距离越小，分 子势能越小</a:t>
            </a:r>
            <a:endParaRPr sz="2400">
              <a:latin typeface="宋体"/>
              <a:cs typeface="宋体"/>
            </a:endParaRPr>
          </a:p>
          <a:p>
            <a:pPr lvl="1" marL="1024890" indent="-355600">
              <a:lnSpc>
                <a:spcPct val="100000"/>
              </a:lnSpc>
              <a:spcBef>
                <a:spcPts val="470"/>
              </a:spcBef>
              <a:buFont typeface="Times New Roman"/>
              <a:buAutoNum type="alphaUcPeriod"/>
              <a:tabLst>
                <a:tab pos="1025525" algn="l"/>
              </a:tabLst>
            </a:pPr>
            <a:r>
              <a:rPr dirty="0" sz="2400">
                <a:latin typeface="宋体"/>
                <a:cs typeface="宋体"/>
              </a:rPr>
              <a:t>分子间距离越大，分子势能越小，分子距离越小，分</a:t>
            </a:r>
            <a:endParaRPr sz="2400">
              <a:latin typeface="宋体"/>
              <a:cs typeface="宋体"/>
            </a:endParaRPr>
          </a:p>
          <a:p>
            <a:pPr marL="364490">
              <a:lnSpc>
                <a:spcPct val="100000"/>
              </a:lnSpc>
              <a:spcBef>
                <a:spcPts val="730"/>
              </a:spcBef>
            </a:pPr>
            <a:r>
              <a:rPr dirty="0"/>
              <a:t>子势能越大</a:t>
            </a:r>
          </a:p>
          <a:p>
            <a:pPr lvl="1" marL="364490" marR="182880" indent="304800">
              <a:lnSpc>
                <a:spcPts val="3610"/>
              </a:lnSpc>
              <a:spcBef>
                <a:spcPts val="220"/>
              </a:spcBef>
              <a:buFont typeface="Times New Roman"/>
              <a:buAutoNum type="alphaUcPeriod" startAt="3"/>
              <a:tabLst>
                <a:tab pos="1025525" algn="l"/>
              </a:tabLst>
            </a:pPr>
            <a:r>
              <a:rPr dirty="0" sz="2400">
                <a:latin typeface="宋体"/>
                <a:cs typeface="宋体"/>
              </a:rPr>
              <a:t>当分子间距离为</a:t>
            </a:r>
            <a:r>
              <a:rPr dirty="0" sz="2400" i="1">
                <a:latin typeface="Times New Roman"/>
                <a:cs typeface="Times New Roman"/>
              </a:rPr>
              <a:t>r</a:t>
            </a:r>
            <a:r>
              <a:rPr dirty="0" baseline="-17921" sz="2325">
                <a:latin typeface="Times New Roman"/>
                <a:cs typeface="Times New Roman"/>
              </a:rPr>
              <a:t>0</a:t>
            </a:r>
            <a:r>
              <a:rPr dirty="0" baseline="-17921" sz="2325" spc="172">
                <a:latin typeface="Times New Roman"/>
                <a:cs typeface="Times New Roman"/>
              </a:rPr>
              <a:t> </a:t>
            </a:r>
            <a:r>
              <a:rPr dirty="0" sz="2400">
                <a:latin typeface="宋体"/>
                <a:cs typeface="宋体"/>
              </a:rPr>
              <a:t>时，分子具有最大势能，距离增大 或减小时势能都变小</a:t>
            </a:r>
            <a:endParaRPr sz="2400">
              <a:latin typeface="宋体"/>
              <a:cs typeface="宋体"/>
            </a:endParaRPr>
          </a:p>
          <a:p>
            <a:pPr lvl="1" marL="1042035" indent="-372745">
              <a:lnSpc>
                <a:spcPct val="100000"/>
              </a:lnSpc>
              <a:spcBef>
                <a:spcPts val="470"/>
              </a:spcBef>
              <a:buFont typeface="Times New Roman"/>
              <a:buAutoNum type="alphaUcPeriod" startAt="3"/>
              <a:tabLst>
                <a:tab pos="1042669" algn="l"/>
              </a:tabLst>
            </a:pPr>
            <a:r>
              <a:rPr dirty="0" sz="2400">
                <a:latin typeface="宋体"/>
                <a:cs typeface="宋体"/>
              </a:rPr>
              <a:t>当分子间距离为</a:t>
            </a:r>
            <a:r>
              <a:rPr dirty="0" sz="2400" i="1">
                <a:latin typeface="Times New Roman"/>
                <a:cs typeface="Times New Roman"/>
              </a:rPr>
              <a:t>r</a:t>
            </a:r>
            <a:r>
              <a:rPr dirty="0" baseline="-16129" sz="2325">
                <a:latin typeface="Times New Roman"/>
                <a:cs typeface="Times New Roman"/>
              </a:rPr>
              <a:t>0</a:t>
            </a:r>
            <a:r>
              <a:rPr dirty="0" baseline="-16129" sz="2325" spc="270">
                <a:latin typeface="Times New Roman"/>
                <a:cs typeface="Times New Roman"/>
              </a:rPr>
              <a:t> </a:t>
            </a:r>
            <a:r>
              <a:rPr dirty="0" sz="2400">
                <a:latin typeface="宋体"/>
                <a:cs typeface="宋体"/>
              </a:rPr>
              <a:t>时，分子具有最小势能，距离增大</a:t>
            </a:r>
            <a:endParaRPr sz="2400">
              <a:latin typeface="宋体"/>
              <a:cs typeface="宋体"/>
            </a:endParaRPr>
          </a:p>
          <a:p>
            <a:pPr marL="364490">
              <a:lnSpc>
                <a:spcPct val="100000"/>
              </a:lnSpc>
              <a:spcBef>
                <a:spcPts val="730"/>
              </a:spcBef>
            </a:pPr>
            <a:r>
              <a:rPr dirty="0"/>
              <a:t>或减小时势能都变大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2600" y="187324"/>
            <a:ext cx="314579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345">
                <a:solidFill>
                  <a:srgbClr val="000066"/>
                </a:solidFill>
                <a:latin typeface="黑体"/>
                <a:cs typeface="黑体"/>
              </a:rPr>
              <a:t>物体的内能</a:t>
            </a:r>
            <a:r>
              <a:rPr dirty="0" sz="3200" spc="350">
                <a:solidFill>
                  <a:srgbClr val="000066"/>
                </a:solidFill>
                <a:latin typeface="黑体"/>
                <a:cs typeface="黑体"/>
              </a:rPr>
              <a:t>小</a:t>
            </a:r>
            <a:r>
              <a:rPr dirty="0" sz="3200" spc="-10">
                <a:solidFill>
                  <a:srgbClr val="000066"/>
                </a:solidFill>
                <a:latin typeface="黑体"/>
                <a:cs typeface="黑体"/>
              </a:rPr>
              <a:t>结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07539" y="767034"/>
            <a:ext cx="6121400" cy="154559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29870" indent="-217170">
              <a:lnSpc>
                <a:spcPct val="100000"/>
              </a:lnSpc>
              <a:spcBef>
                <a:spcPts val="700"/>
              </a:spcBef>
              <a:buSzPct val="112500"/>
              <a:buFont typeface="Comic Sans MS"/>
              <a:buChar char="•"/>
              <a:tabLst>
                <a:tab pos="230504" algn="l"/>
              </a:tabLst>
            </a:pPr>
            <a:r>
              <a:rPr dirty="0" sz="2400">
                <a:latin typeface="宋体"/>
                <a:cs typeface="宋体"/>
              </a:rPr>
              <a:t>做热运动的分子具有的能量</a:t>
            </a:r>
            <a:endParaRPr sz="2400">
              <a:latin typeface="宋体"/>
              <a:cs typeface="宋体"/>
            </a:endParaRPr>
          </a:p>
          <a:p>
            <a:pPr marL="229870" indent="-217170">
              <a:lnSpc>
                <a:spcPct val="100000"/>
              </a:lnSpc>
              <a:spcBef>
                <a:spcPts val="1080"/>
              </a:spcBef>
              <a:buSzPct val="112500"/>
              <a:buFont typeface="Comic Sans MS"/>
              <a:buChar char="•"/>
              <a:tabLst>
                <a:tab pos="230504" algn="l"/>
              </a:tabLst>
            </a:pPr>
            <a:r>
              <a:rPr dirty="0" sz="2400">
                <a:latin typeface="宋体"/>
                <a:cs typeface="宋体"/>
              </a:rPr>
              <a:t>同一温度下各个分子的动能有大有</a:t>
            </a:r>
            <a:r>
              <a:rPr dirty="0" sz="2800" spc="-5">
                <a:latin typeface="宋体"/>
                <a:cs typeface="宋体"/>
              </a:rPr>
              <a:t>小</a:t>
            </a:r>
            <a:endParaRPr sz="2800">
              <a:latin typeface="宋体"/>
              <a:cs typeface="宋体"/>
            </a:endParaRPr>
          </a:p>
          <a:p>
            <a:pPr marL="165735" indent="-153035">
              <a:lnSpc>
                <a:spcPct val="100000"/>
              </a:lnSpc>
              <a:spcBef>
                <a:spcPts val="685"/>
              </a:spcBef>
              <a:buSzPct val="95833"/>
              <a:buChar char="•"/>
              <a:tabLst>
                <a:tab pos="165735" algn="l"/>
              </a:tabLst>
            </a:pPr>
            <a:r>
              <a:rPr dirty="0" sz="2400">
                <a:latin typeface="宋体"/>
                <a:cs typeface="宋体"/>
              </a:rPr>
              <a:t>温度是物质的分子热运动的平均动能的标志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8637" y="1196975"/>
            <a:ext cx="1031240" cy="965200"/>
          </a:xfrm>
          <a:custGeom>
            <a:avLst/>
            <a:gdLst/>
            <a:ahLst/>
            <a:cxnLst/>
            <a:rect l="l" t="t" r="r" b="b"/>
            <a:pathLst>
              <a:path w="1031240" h="965200">
                <a:moveTo>
                  <a:pt x="1031074" y="965200"/>
                </a:moveTo>
                <a:lnTo>
                  <a:pt x="0" y="965200"/>
                </a:lnTo>
                <a:lnTo>
                  <a:pt x="0" y="0"/>
                </a:lnTo>
                <a:lnTo>
                  <a:pt x="1031074" y="0"/>
                </a:lnTo>
                <a:lnTo>
                  <a:pt x="1031074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55675"/>
                </a:lnTo>
                <a:lnTo>
                  <a:pt x="4762" y="955675"/>
                </a:lnTo>
                <a:lnTo>
                  <a:pt x="9525" y="960437"/>
                </a:lnTo>
                <a:lnTo>
                  <a:pt x="1031074" y="960437"/>
                </a:lnTo>
                <a:lnTo>
                  <a:pt x="1031074" y="965200"/>
                </a:lnTo>
                <a:close/>
              </a:path>
              <a:path w="1031240" h="96520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31240" h="965200">
                <a:moveTo>
                  <a:pt x="1021549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21549" y="4762"/>
                </a:lnTo>
                <a:lnTo>
                  <a:pt x="1021549" y="9525"/>
                </a:lnTo>
                <a:close/>
              </a:path>
              <a:path w="1031240" h="965200">
                <a:moveTo>
                  <a:pt x="1021549" y="960437"/>
                </a:moveTo>
                <a:lnTo>
                  <a:pt x="1021549" y="4762"/>
                </a:lnTo>
                <a:lnTo>
                  <a:pt x="1026312" y="9525"/>
                </a:lnTo>
                <a:lnTo>
                  <a:pt x="1031074" y="9525"/>
                </a:lnTo>
                <a:lnTo>
                  <a:pt x="1031074" y="955675"/>
                </a:lnTo>
                <a:lnTo>
                  <a:pt x="1026312" y="955675"/>
                </a:lnTo>
                <a:lnTo>
                  <a:pt x="1021549" y="960437"/>
                </a:lnTo>
                <a:close/>
              </a:path>
              <a:path w="1031240" h="965200">
                <a:moveTo>
                  <a:pt x="1031074" y="9525"/>
                </a:moveTo>
                <a:lnTo>
                  <a:pt x="1026312" y="9525"/>
                </a:lnTo>
                <a:lnTo>
                  <a:pt x="1021549" y="4762"/>
                </a:lnTo>
                <a:lnTo>
                  <a:pt x="1031074" y="4762"/>
                </a:lnTo>
                <a:lnTo>
                  <a:pt x="1031074" y="9525"/>
                </a:lnTo>
                <a:close/>
              </a:path>
              <a:path w="1031240" h="965200">
                <a:moveTo>
                  <a:pt x="9525" y="960437"/>
                </a:moveTo>
                <a:lnTo>
                  <a:pt x="4762" y="955675"/>
                </a:lnTo>
                <a:lnTo>
                  <a:pt x="9525" y="955675"/>
                </a:lnTo>
                <a:lnTo>
                  <a:pt x="9525" y="960437"/>
                </a:lnTo>
                <a:close/>
              </a:path>
              <a:path w="1031240" h="965200">
                <a:moveTo>
                  <a:pt x="1021549" y="960437"/>
                </a:moveTo>
                <a:lnTo>
                  <a:pt x="9525" y="960437"/>
                </a:lnTo>
                <a:lnTo>
                  <a:pt x="9525" y="955675"/>
                </a:lnTo>
                <a:lnTo>
                  <a:pt x="1021549" y="955675"/>
                </a:lnTo>
                <a:lnTo>
                  <a:pt x="1021549" y="960437"/>
                </a:lnTo>
                <a:close/>
              </a:path>
              <a:path w="1031240" h="965200">
                <a:moveTo>
                  <a:pt x="1031074" y="960437"/>
                </a:moveTo>
                <a:lnTo>
                  <a:pt x="1021549" y="960437"/>
                </a:lnTo>
                <a:lnTo>
                  <a:pt x="1026312" y="955675"/>
                </a:lnTo>
                <a:lnTo>
                  <a:pt x="1031074" y="955675"/>
                </a:lnTo>
                <a:lnTo>
                  <a:pt x="1031074" y="960437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33400" y="1202436"/>
            <a:ext cx="1021080" cy="465455"/>
          </a:xfrm>
          <a:prstGeom prst="rect">
            <a:avLst/>
          </a:prstGeom>
          <a:solidFill>
            <a:srgbClr val="008000"/>
          </a:solidFill>
        </p:spPr>
        <p:txBody>
          <a:bodyPr wrap="square" lIns="0" tIns="1841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45"/>
              </a:spcBef>
            </a:pPr>
            <a:r>
              <a:rPr dirty="0" sz="2800" spc="-10" b="1">
                <a:solidFill>
                  <a:srgbClr val="FFFF00"/>
                </a:solidFill>
                <a:latin typeface="华文中宋"/>
                <a:cs typeface="华文中宋"/>
              </a:rPr>
              <a:t>分</a:t>
            </a:r>
            <a:r>
              <a:rPr dirty="0" sz="2800" spc="40" b="1">
                <a:solidFill>
                  <a:srgbClr val="FFFF00"/>
                </a:solidFill>
                <a:latin typeface="华文中宋"/>
                <a:cs typeface="华文中宋"/>
              </a:rPr>
              <a:t> </a:t>
            </a:r>
            <a:r>
              <a:rPr dirty="0" sz="2800" spc="-10" b="1">
                <a:solidFill>
                  <a:srgbClr val="FFFF00"/>
                </a:solidFill>
                <a:latin typeface="华文中宋"/>
                <a:cs typeface="华文中宋"/>
              </a:rPr>
              <a:t>子</a:t>
            </a:r>
            <a:endParaRPr sz="2800">
              <a:latin typeface="华文中宋"/>
              <a:cs typeface="华文中宋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3400" y="1667461"/>
            <a:ext cx="1021080" cy="490855"/>
          </a:xfrm>
          <a:prstGeom prst="rect">
            <a:avLst/>
          </a:prstGeom>
          <a:solidFill>
            <a:srgbClr val="008000"/>
          </a:solidFill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3204"/>
              </a:lnSpc>
            </a:pPr>
            <a:r>
              <a:rPr dirty="0" sz="2800" spc="-10" b="1">
                <a:solidFill>
                  <a:srgbClr val="FFFF00"/>
                </a:solidFill>
                <a:latin typeface="华文中宋"/>
                <a:cs typeface="华文中宋"/>
              </a:rPr>
              <a:t>动</a:t>
            </a:r>
            <a:r>
              <a:rPr dirty="0" sz="2800" spc="40" b="1">
                <a:solidFill>
                  <a:srgbClr val="FFFF00"/>
                </a:solidFill>
                <a:latin typeface="华文中宋"/>
                <a:cs typeface="华文中宋"/>
              </a:rPr>
              <a:t> </a:t>
            </a:r>
            <a:r>
              <a:rPr dirty="0" sz="2800" spc="-10" b="1">
                <a:solidFill>
                  <a:srgbClr val="FFFF00"/>
                </a:solidFill>
                <a:latin typeface="华文中宋"/>
                <a:cs typeface="华文中宋"/>
              </a:rPr>
              <a:t>能</a:t>
            </a:r>
            <a:endParaRPr sz="2800">
              <a:latin typeface="华文中宋"/>
              <a:cs typeface="华文中宋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14563" y="1047762"/>
            <a:ext cx="176783" cy="12560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001202" y="2621597"/>
            <a:ext cx="6643370" cy="74739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 marR="5080">
              <a:lnSpc>
                <a:spcPts val="2810"/>
              </a:lnSpc>
              <a:spcBef>
                <a:spcPts val="250"/>
              </a:spcBef>
              <a:buSzPct val="112500"/>
              <a:buFont typeface="Comic Sans MS"/>
              <a:buChar char="•"/>
              <a:tabLst>
                <a:tab pos="230504" algn="l"/>
              </a:tabLst>
            </a:pPr>
            <a:r>
              <a:rPr dirty="0" sz="2400">
                <a:latin typeface="宋体"/>
                <a:cs typeface="宋体"/>
              </a:rPr>
              <a:t>分子间由于存在相互作用力而具有的、由分子间 相互位置决定的能量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4837" y="3213100"/>
            <a:ext cx="922655" cy="965200"/>
          </a:xfrm>
          <a:custGeom>
            <a:avLst/>
            <a:gdLst/>
            <a:ahLst/>
            <a:cxnLst/>
            <a:rect l="l" t="t" r="r" b="b"/>
            <a:pathLst>
              <a:path w="922655" h="965200">
                <a:moveTo>
                  <a:pt x="922426" y="965200"/>
                </a:moveTo>
                <a:lnTo>
                  <a:pt x="0" y="965200"/>
                </a:lnTo>
                <a:lnTo>
                  <a:pt x="0" y="0"/>
                </a:lnTo>
                <a:lnTo>
                  <a:pt x="922426" y="0"/>
                </a:lnTo>
                <a:lnTo>
                  <a:pt x="922426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55675"/>
                </a:lnTo>
                <a:lnTo>
                  <a:pt x="4762" y="955675"/>
                </a:lnTo>
                <a:lnTo>
                  <a:pt x="9525" y="960437"/>
                </a:lnTo>
                <a:lnTo>
                  <a:pt x="922426" y="960437"/>
                </a:lnTo>
                <a:lnTo>
                  <a:pt x="922426" y="965200"/>
                </a:lnTo>
                <a:close/>
              </a:path>
              <a:path w="922655" h="96520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922655" h="965200">
                <a:moveTo>
                  <a:pt x="912901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912901" y="4762"/>
                </a:lnTo>
                <a:lnTo>
                  <a:pt x="912901" y="9525"/>
                </a:lnTo>
                <a:close/>
              </a:path>
              <a:path w="922655" h="965200">
                <a:moveTo>
                  <a:pt x="912901" y="960437"/>
                </a:moveTo>
                <a:lnTo>
                  <a:pt x="912901" y="4762"/>
                </a:lnTo>
                <a:lnTo>
                  <a:pt x="917663" y="9525"/>
                </a:lnTo>
                <a:lnTo>
                  <a:pt x="922426" y="9525"/>
                </a:lnTo>
                <a:lnTo>
                  <a:pt x="922426" y="955675"/>
                </a:lnTo>
                <a:lnTo>
                  <a:pt x="917663" y="955675"/>
                </a:lnTo>
                <a:lnTo>
                  <a:pt x="912901" y="960437"/>
                </a:lnTo>
                <a:close/>
              </a:path>
              <a:path w="922655" h="965200">
                <a:moveTo>
                  <a:pt x="922426" y="9525"/>
                </a:moveTo>
                <a:lnTo>
                  <a:pt x="917663" y="9525"/>
                </a:lnTo>
                <a:lnTo>
                  <a:pt x="912901" y="4762"/>
                </a:lnTo>
                <a:lnTo>
                  <a:pt x="922426" y="4762"/>
                </a:lnTo>
                <a:lnTo>
                  <a:pt x="922426" y="9525"/>
                </a:lnTo>
                <a:close/>
              </a:path>
              <a:path w="922655" h="965200">
                <a:moveTo>
                  <a:pt x="9525" y="960437"/>
                </a:moveTo>
                <a:lnTo>
                  <a:pt x="4762" y="955675"/>
                </a:lnTo>
                <a:lnTo>
                  <a:pt x="9525" y="955675"/>
                </a:lnTo>
                <a:lnTo>
                  <a:pt x="9525" y="960437"/>
                </a:lnTo>
                <a:close/>
              </a:path>
              <a:path w="922655" h="965200">
                <a:moveTo>
                  <a:pt x="912901" y="960437"/>
                </a:moveTo>
                <a:lnTo>
                  <a:pt x="9525" y="960437"/>
                </a:lnTo>
                <a:lnTo>
                  <a:pt x="9525" y="955675"/>
                </a:lnTo>
                <a:lnTo>
                  <a:pt x="912901" y="955675"/>
                </a:lnTo>
                <a:lnTo>
                  <a:pt x="912901" y="960437"/>
                </a:lnTo>
                <a:close/>
              </a:path>
              <a:path w="922655" h="965200">
                <a:moveTo>
                  <a:pt x="922426" y="960437"/>
                </a:moveTo>
                <a:lnTo>
                  <a:pt x="912901" y="960437"/>
                </a:lnTo>
                <a:lnTo>
                  <a:pt x="917663" y="955675"/>
                </a:lnTo>
                <a:lnTo>
                  <a:pt x="922426" y="955675"/>
                </a:lnTo>
                <a:lnTo>
                  <a:pt x="922426" y="960437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09600" y="3217164"/>
            <a:ext cx="913130" cy="466725"/>
          </a:xfrm>
          <a:prstGeom prst="rect">
            <a:avLst/>
          </a:prstGeom>
          <a:solidFill>
            <a:srgbClr val="008000"/>
          </a:solidFill>
        </p:spPr>
        <p:txBody>
          <a:bodyPr wrap="square" lIns="0" tIns="1968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55"/>
              </a:spcBef>
            </a:pPr>
            <a:r>
              <a:rPr dirty="0" sz="2800" spc="135" b="1">
                <a:solidFill>
                  <a:srgbClr val="FFFF00"/>
                </a:solidFill>
                <a:latin typeface="华文中宋"/>
                <a:cs typeface="华文中宋"/>
              </a:rPr>
              <a:t>分</a:t>
            </a:r>
            <a:r>
              <a:rPr dirty="0" sz="2800" spc="-10" b="1">
                <a:solidFill>
                  <a:srgbClr val="FFFF00"/>
                </a:solidFill>
                <a:latin typeface="华文中宋"/>
                <a:cs typeface="华文中宋"/>
              </a:rPr>
              <a:t>子</a:t>
            </a:r>
            <a:endParaRPr sz="2800">
              <a:latin typeface="华文中宋"/>
              <a:cs typeface="华文中宋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9600" y="3683587"/>
            <a:ext cx="913130" cy="490855"/>
          </a:xfrm>
          <a:prstGeom prst="rect">
            <a:avLst/>
          </a:prstGeom>
          <a:solidFill>
            <a:srgbClr val="008000"/>
          </a:solidFill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3204"/>
              </a:lnSpc>
            </a:pPr>
            <a:r>
              <a:rPr dirty="0" sz="2800" spc="135" b="1">
                <a:solidFill>
                  <a:srgbClr val="FFFF00"/>
                </a:solidFill>
                <a:latin typeface="华文中宋"/>
                <a:cs typeface="华文中宋"/>
              </a:rPr>
              <a:t>势</a:t>
            </a:r>
            <a:r>
              <a:rPr dirty="0" sz="2800" spc="-10" b="1">
                <a:solidFill>
                  <a:srgbClr val="FFFF00"/>
                </a:solidFill>
                <a:latin typeface="华文中宋"/>
                <a:cs typeface="华文中宋"/>
              </a:rPr>
              <a:t>能</a:t>
            </a:r>
            <a:endParaRPr sz="2800">
              <a:latin typeface="华文中宋"/>
              <a:cs typeface="华文中宋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74368" y="2724162"/>
            <a:ext cx="229870" cy="2006600"/>
          </a:xfrm>
          <a:custGeom>
            <a:avLst/>
            <a:gdLst/>
            <a:ahLst/>
            <a:cxnLst/>
            <a:rect l="l" t="t" r="r" b="b"/>
            <a:pathLst>
              <a:path w="229869" h="2006600">
                <a:moveTo>
                  <a:pt x="224307" y="38100"/>
                </a:moveTo>
                <a:lnTo>
                  <a:pt x="147142" y="38100"/>
                </a:lnTo>
                <a:lnTo>
                  <a:pt x="151714" y="25400"/>
                </a:lnTo>
                <a:lnTo>
                  <a:pt x="162242" y="25400"/>
                </a:lnTo>
                <a:lnTo>
                  <a:pt x="166649" y="12700"/>
                </a:lnTo>
                <a:lnTo>
                  <a:pt x="178600" y="12700"/>
                </a:lnTo>
                <a:lnTo>
                  <a:pt x="183388" y="0"/>
                </a:lnTo>
                <a:lnTo>
                  <a:pt x="228333" y="0"/>
                </a:lnTo>
                <a:lnTo>
                  <a:pt x="229730" y="25400"/>
                </a:lnTo>
                <a:lnTo>
                  <a:pt x="224307" y="38100"/>
                </a:lnTo>
                <a:close/>
              </a:path>
              <a:path w="229869" h="2006600">
                <a:moveTo>
                  <a:pt x="190157" y="50800"/>
                </a:moveTo>
                <a:lnTo>
                  <a:pt x="139128" y="50800"/>
                </a:lnTo>
                <a:lnTo>
                  <a:pt x="142786" y="38100"/>
                </a:lnTo>
                <a:lnTo>
                  <a:pt x="194690" y="38100"/>
                </a:lnTo>
                <a:lnTo>
                  <a:pt x="190157" y="50800"/>
                </a:lnTo>
                <a:close/>
              </a:path>
              <a:path w="229869" h="2006600">
                <a:moveTo>
                  <a:pt x="176326" y="63500"/>
                </a:moveTo>
                <a:lnTo>
                  <a:pt x="131406" y="63500"/>
                </a:lnTo>
                <a:lnTo>
                  <a:pt x="134721" y="50800"/>
                </a:lnTo>
                <a:lnTo>
                  <a:pt x="180301" y="50800"/>
                </a:lnTo>
                <a:lnTo>
                  <a:pt x="176326" y="63500"/>
                </a:lnTo>
                <a:close/>
              </a:path>
              <a:path w="229869" h="2006600">
                <a:moveTo>
                  <a:pt x="166954" y="76200"/>
                </a:moveTo>
                <a:lnTo>
                  <a:pt x="124269" y="76200"/>
                </a:lnTo>
                <a:lnTo>
                  <a:pt x="127889" y="63500"/>
                </a:lnTo>
                <a:lnTo>
                  <a:pt x="170446" y="63500"/>
                </a:lnTo>
                <a:lnTo>
                  <a:pt x="166954" y="76200"/>
                </a:lnTo>
                <a:close/>
              </a:path>
              <a:path w="229869" h="2006600">
                <a:moveTo>
                  <a:pt x="158775" y="88900"/>
                </a:moveTo>
                <a:lnTo>
                  <a:pt x="118706" y="88900"/>
                </a:lnTo>
                <a:lnTo>
                  <a:pt x="121246" y="76200"/>
                </a:lnTo>
                <a:lnTo>
                  <a:pt x="161709" y="76200"/>
                </a:lnTo>
                <a:lnTo>
                  <a:pt x="158775" y="88900"/>
                </a:lnTo>
                <a:close/>
              </a:path>
              <a:path w="229869" h="2006600">
                <a:moveTo>
                  <a:pt x="161353" y="88900"/>
                </a:moveTo>
                <a:lnTo>
                  <a:pt x="161709" y="76200"/>
                </a:lnTo>
                <a:lnTo>
                  <a:pt x="164477" y="76200"/>
                </a:lnTo>
                <a:lnTo>
                  <a:pt x="161353" y="88900"/>
                </a:lnTo>
                <a:close/>
              </a:path>
              <a:path w="229869" h="2006600">
                <a:moveTo>
                  <a:pt x="154114" y="101600"/>
                </a:moveTo>
                <a:lnTo>
                  <a:pt x="113791" y="101600"/>
                </a:lnTo>
                <a:lnTo>
                  <a:pt x="115900" y="88900"/>
                </a:lnTo>
                <a:lnTo>
                  <a:pt x="156641" y="88900"/>
                </a:lnTo>
                <a:lnTo>
                  <a:pt x="154114" y="101600"/>
                </a:lnTo>
                <a:close/>
              </a:path>
              <a:path w="229869" h="2006600">
                <a:moveTo>
                  <a:pt x="146977" y="127000"/>
                </a:moveTo>
                <a:lnTo>
                  <a:pt x="108318" y="127000"/>
                </a:lnTo>
                <a:lnTo>
                  <a:pt x="109880" y="114300"/>
                </a:lnTo>
                <a:lnTo>
                  <a:pt x="111709" y="101600"/>
                </a:lnTo>
                <a:lnTo>
                  <a:pt x="152260" y="101600"/>
                </a:lnTo>
                <a:lnTo>
                  <a:pt x="150152" y="114300"/>
                </a:lnTo>
                <a:lnTo>
                  <a:pt x="148640" y="114300"/>
                </a:lnTo>
                <a:lnTo>
                  <a:pt x="146977" y="127000"/>
                </a:lnTo>
                <a:close/>
              </a:path>
              <a:path w="229869" h="2006600">
                <a:moveTo>
                  <a:pt x="143217" y="152400"/>
                </a:moveTo>
                <a:lnTo>
                  <a:pt x="105257" y="152400"/>
                </a:lnTo>
                <a:lnTo>
                  <a:pt x="105930" y="139700"/>
                </a:lnTo>
                <a:lnTo>
                  <a:pt x="107022" y="127000"/>
                </a:lnTo>
                <a:lnTo>
                  <a:pt x="145821" y="127000"/>
                </a:lnTo>
                <a:lnTo>
                  <a:pt x="144653" y="139700"/>
                </a:lnTo>
                <a:lnTo>
                  <a:pt x="143890" y="139700"/>
                </a:lnTo>
                <a:lnTo>
                  <a:pt x="143217" y="152400"/>
                </a:lnTo>
                <a:close/>
              </a:path>
              <a:path w="229869" h="2006600">
                <a:moveTo>
                  <a:pt x="142582" y="863600"/>
                </a:moveTo>
                <a:lnTo>
                  <a:pt x="104508" y="863600"/>
                </a:lnTo>
                <a:lnTo>
                  <a:pt x="104647" y="850900"/>
                </a:lnTo>
                <a:lnTo>
                  <a:pt x="104647" y="165100"/>
                </a:lnTo>
                <a:lnTo>
                  <a:pt x="104813" y="152400"/>
                </a:lnTo>
                <a:lnTo>
                  <a:pt x="142875" y="152400"/>
                </a:lnTo>
                <a:lnTo>
                  <a:pt x="142747" y="165100"/>
                </a:lnTo>
                <a:lnTo>
                  <a:pt x="142747" y="850900"/>
                </a:lnTo>
                <a:lnTo>
                  <a:pt x="142582" y="863600"/>
                </a:lnTo>
                <a:close/>
              </a:path>
              <a:path w="229869" h="2006600">
                <a:moveTo>
                  <a:pt x="140373" y="889000"/>
                </a:moveTo>
                <a:lnTo>
                  <a:pt x="101574" y="889000"/>
                </a:lnTo>
                <a:lnTo>
                  <a:pt x="102743" y="876300"/>
                </a:lnTo>
                <a:lnTo>
                  <a:pt x="103505" y="876300"/>
                </a:lnTo>
                <a:lnTo>
                  <a:pt x="104178" y="863600"/>
                </a:lnTo>
                <a:lnTo>
                  <a:pt x="142176" y="863600"/>
                </a:lnTo>
                <a:lnTo>
                  <a:pt x="141465" y="876300"/>
                </a:lnTo>
                <a:lnTo>
                  <a:pt x="140373" y="889000"/>
                </a:lnTo>
                <a:close/>
              </a:path>
              <a:path w="229869" h="2006600">
                <a:moveTo>
                  <a:pt x="135686" y="914400"/>
                </a:moveTo>
                <a:lnTo>
                  <a:pt x="95122" y="914400"/>
                </a:lnTo>
                <a:lnTo>
                  <a:pt x="97243" y="901700"/>
                </a:lnTo>
                <a:lnTo>
                  <a:pt x="98755" y="901700"/>
                </a:lnTo>
                <a:lnTo>
                  <a:pt x="100418" y="889000"/>
                </a:lnTo>
                <a:lnTo>
                  <a:pt x="139077" y="889000"/>
                </a:lnTo>
                <a:lnTo>
                  <a:pt x="137655" y="901700"/>
                </a:lnTo>
                <a:lnTo>
                  <a:pt x="135686" y="914400"/>
                </a:lnTo>
                <a:close/>
              </a:path>
              <a:path w="229869" h="2006600">
                <a:moveTo>
                  <a:pt x="131495" y="927100"/>
                </a:moveTo>
                <a:lnTo>
                  <a:pt x="90741" y="927100"/>
                </a:lnTo>
                <a:lnTo>
                  <a:pt x="93281" y="914400"/>
                </a:lnTo>
                <a:lnTo>
                  <a:pt x="133603" y="914400"/>
                </a:lnTo>
                <a:lnTo>
                  <a:pt x="131495" y="927100"/>
                </a:lnTo>
                <a:close/>
              </a:path>
              <a:path w="229869" h="2006600">
                <a:moveTo>
                  <a:pt x="85674" y="939800"/>
                </a:moveTo>
                <a:lnTo>
                  <a:pt x="82905" y="939800"/>
                </a:lnTo>
                <a:lnTo>
                  <a:pt x="86042" y="927100"/>
                </a:lnTo>
                <a:lnTo>
                  <a:pt x="85674" y="939800"/>
                </a:lnTo>
                <a:close/>
              </a:path>
              <a:path w="229869" h="2006600">
                <a:moveTo>
                  <a:pt x="126149" y="939800"/>
                </a:moveTo>
                <a:lnTo>
                  <a:pt x="85674" y="939800"/>
                </a:lnTo>
                <a:lnTo>
                  <a:pt x="88620" y="927100"/>
                </a:lnTo>
                <a:lnTo>
                  <a:pt x="128943" y="927100"/>
                </a:lnTo>
                <a:lnTo>
                  <a:pt x="126149" y="939800"/>
                </a:lnTo>
                <a:close/>
              </a:path>
              <a:path w="229869" h="2006600">
                <a:moveTo>
                  <a:pt x="119507" y="952500"/>
                </a:moveTo>
                <a:lnTo>
                  <a:pt x="76949" y="952500"/>
                </a:lnTo>
                <a:lnTo>
                  <a:pt x="80429" y="939800"/>
                </a:lnTo>
                <a:lnTo>
                  <a:pt x="122796" y="939800"/>
                </a:lnTo>
                <a:lnTo>
                  <a:pt x="119507" y="952500"/>
                </a:lnTo>
                <a:close/>
              </a:path>
              <a:path w="229869" h="2006600">
                <a:moveTo>
                  <a:pt x="112674" y="965200"/>
                </a:moveTo>
                <a:lnTo>
                  <a:pt x="67094" y="965200"/>
                </a:lnTo>
                <a:lnTo>
                  <a:pt x="71069" y="952500"/>
                </a:lnTo>
                <a:lnTo>
                  <a:pt x="116382" y="952500"/>
                </a:lnTo>
                <a:lnTo>
                  <a:pt x="112674" y="965200"/>
                </a:lnTo>
                <a:close/>
              </a:path>
              <a:path w="229869" h="2006600">
                <a:moveTo>
                  <a:pt x="104597" y="977900"/>
                </a:moveTo>
                <a:lnTo>
                  <a:pt x="52692" y="977900"/>
                </a:lnTo>
                <a:lnTo>
                  <a:pt x="57238" y="965200"/>
                </a:lnTo>
                <a:lnTo>
                  <a:pt x="108254" y="965200"/>
                </a:lnTo>
                <a:lnTo>
                  <a:pt x="104597" y="977900"/>
                </a:lnTo>
                <a:close/>
              </a:path>
              <a:path w="229869" h="2006600">
                <a:moveTo>
                  <a:pt x="19062" y="1016000"/>
                </a:moveTo>
                <a:lnTo>
                  <a:pt x="1219" y="1016000"/>
                </a:lnTo>
                <a:lnTo>
                  <a:pt x="0" y="1003300"/>
                </a:lnTo>
                <a:lnTo>
                  <a:pt x="1219" y="990600"/>
                </a:lnTo>
                <a:lnTo>
                  <a:pt x="14262" y="990600"/>
                </a:lnTo>
                <a:lnTo>
                  <a:pt x="17665" y="977900"/>
                </a:lnTo>
                <a:lnTo>
                  <a:pt x="19062" y="977900"/>
                </a:lnTo>
                <a:lnTo>
                  <a:pt x="19062" y="1016000"/>
                </a:lnTo>
                <a:close/>
              </a:path>
              <a:path w="229869" h="2006600">
                <a:moveTo>
                  <a:pt x="64008" y="1016000"/>
                </a:moveTo>
                <a:lnTo>
                  <a:pt x="19062" y="1016000"/>
                </a:lnTo>
                <a:lnTo>
                  <a:pt x="19062" y="977900"/>
                </a:lnTo>
                <a:lnTo>
                  <a:pt x="24472" y="990600"/>
                </a:lnTo>
                <a:lnTo>
                  <a:pt x="64008" y="990600"/>
                </a:lnTo>
                <a:lnTo>
                  <a:pt x="68795" y="1003300"/>
                </a:lnTo>
                <a:lnTo>
                  <a:pt x="64008" y="1016000"/>
                </a:lnTo>
                <a:close/>
              </a:path>
              <a:path w="229869" h="2006600">
                <a:moveTo>
                  <a:pt x="95681" y="990600"/>
                </a:moveTo>
                <a:lnTo>
                  <a:pt x="24472" y="990600"/>
                </a:lnTo>
                <a:lnTo>
                  <a:pt x="19062" y="977900"/>
                </a:lnTo>
                <a:lnTo>
                  <a:pt x="99656" y="977900"/>
                </a:lnTo>
                <a:lnTo>
                  <a:pt x="95681" y="990600"/>
                </a:lnTo>
                <a:close/>
              </a:path>
              <a:path w="229869" h="2006600">
                <a:moveTo>
                  <a:pt x="85153" y="1016000"/>
                </a:moveTo>
                <a:lnTo>
                  <a:pt x="64008" y="1016000"/>
                </a:lnTo>
                <a:lnTo>
                  <a:pt x="68795" y="1003300"/>
                </a:lnTo>
                <a:lnTo>
                  <a:pt x="64008" y="990600"/>
                </a:lnTo>
                <a:lnTo>
                  <a:pt x="85153" y="990600"/>
                </a:lnTo>
                <a:lnTo>
                  <a:pt x="80746" y="1003300"/>
                </a:lnTo>
                <a:lnTo>
                  <a:pt x="85153" y="1016000"/>
                </a:lnTo>
                <a:close/>
              </a:path>
              <a:path w="229869" h="2006600">
                <a:moveTo>
                  <a:pt x="99656" y="1028700"/>
                </a:moveTo>
                <a:lnTo>
                  <a:pt x="23088" y="1028700"/>
                </a:lnTo>
                <a:lnTo>
                  <a:pt x="17665" y="1016000"/>
                </a:lnTo>
                <a:lnTo>
                  <a:pt x="95681" y="1016000"/>
                </a:lnTo>
                <a:lnTo>
                  <a:pt x="99656" y="1028700"/>
                </a:lnTo>
                <a:close/>
              </a:path>
              <a:path w="229869" h="2006600">
                <a:moveTo>
                  <a:pt x="108254" y="1041400"/>
                </a:moveTo>
                <a:lnTo>
                  <a:pt x="57238" y="1041400"/>
                </a:lnTo>
                <a:lnTo>
                  <a:pt x="52692" y="1028700"/>
                </a:lnTo>
                <a:lnTo>
                  <a:pt x="104597" y="1028700"/>
                </a:lnTo>
                <a:lnTo>
                  <a:pt x="108254" y="1041400"/>
                </a:lnTo>
                <a:close/>
              </a:path>
              <a:path w="229869" h="2006600">
                <a:moveTo>
                  <a:pt x="116382" y="1054100"/>
                </a:moveTo>
                <a:lnTo>
                  <a:pt x="71069" y="1054100"/>
                </a:lnTo>
                <a:lnTo>
                  <a:pt x="67094" y="1041400"/>
                </a:lnTo>
                <a:lnTo>
                  <a:pt x="112674" y="1041400"/>
                </a:lnTo>
                <a:lnTo>
                  <a:pt x="116382" y="1054100"/>
                </a:lnTo>
                <a:close/>
              </a:path>
              <a:path w="229869" h="2006600">
                <a:moveTo>
                  <a:pt x="122796" y="1066800"/>
                </a:moveTo>
                <a:lnTo>
                  <a:pt x="80429" y="1066800"/>
                </a:lnTo>
                <a:lnTo>
                  <a:pt x="76949" y="1054100"/>
                </a:lnTo>
                <a:lnTo>
                  <a:pt x="119507" y="1054100"/>
                </a:lnTo>
                <a:lnTo>
                  <a:pt x="122796" y="1066800"/>
                </a:lnTo>
                <a:close/>
              </a:path>
              <a:path w="229869" h="2006600">
                <a:moveTo>
                  <a:pt x="86042" y="1079500"/>
                </a:moveTo>
                <a:lnTo>
                  <a:pt x="82905" y="1066800"/>
                </a:lnTo>
                <a:lnTo>
                  <a:pt x="85674" y="1066800"/>
                </a:lnTo>
                <a:lnTo>
                  <a:pt x="86042" y="1079500"/>
                </a:lnTo>
                <a:close/>
              </a:path>
              <a:path w="229869" h="2006600">
                <a:moveTo>
                  <a:pt x="128943" y="1079500"/>
                </a:moveTo>
                <a:lnTo>
                  <a:pt x="88620" y="1079500"/>
                </a:lnTo>
                <a:lnTo>
                  <a:pt x="85674" y="1066800"/>
                </a:lnTo>
                <a:lnTo>
                  <a:pt x="126149" y="1066800"/>
                </a:lnTo>
                <a:lnTo>
                  <a:pt x="128943" y="1079500"/>
                </a:lnTo>
                <a:close/>
              </a:path>
              <a:path w="229869" h="2006600">
                <a:moveTo>
                  <a:pt x="133603" y="1092200"/>
                </a:moveTo>
                <a:lnTo>
                  <a:pt x="93281" y="1092200"/>
                </a:lnTo>
                <a:lnTo>
                  <a:pt x="90741" y="1079500"/>
                </a:lnTo>
                <a:lnTo>
                  <a:pt x="131495" y="1079500"/>
                </a:lnTo>
                <a:lnTo>
                  <a:pt x="133603" y="1092200"/>
                </a:lnTo>
                <a:close/>
              </a:path>
              <a:path w="229869" h="2006600">
                <a:moveTo>
                  <a:pt x="139077" y="1117600"/>
                </a:moveTo>
                <a:lnTo>
                  <a:pt x="100418" y="1117600"/>
                </a:lnTo>
                <a:lnTo>
                  <a:pt x="98755" y="1104900"/>
                </a:lnTo>
                <a:lnTo>
                  <a:pt x="97243" y="1104900"/>
                </a:lnTo>
                <a:lnTo>
                  <a:pt x="95122" y="1092200"/>
                </a:lnTo>
                <a:lnTo>
                  <a:pt x="135686" y="1092200"/>
                </a:lnTo>
                <a:lnTo>
                  <a:pt x="137655" y="1104900"/>
                </a:lnTo>
                <a:lnTo>
                  <a:pt x="139077" y="1117600"/>
                </a:lnTo>
                <a:close/>
              </a:path>
              <a:path w="229869" h="2006600">
                <a:moveTo>
                  <a:pt x="142176" y="1143000"/>
                </a:moveTo>
                <a:lnTo>
                  <a:pt x="104178" y="1143000"/>
                </a:lnTo>
                <a:lnTo>
                  <a:pt x="103505" y="1130300"/>
                </a:lnTo>
                <a:lnTo>
                  <a:pt x="102743" y="1130300"/>
                </a:lnTo>
                <a:lnTo>
                  <a:pt x="101574" y="1117600"/>
                </a:lnTo>
                <a:lnTo>
                  <a:pt x="140373" y="1117600"/>
                </a:lnTo>
                <a:lnTo>
                  <a:pt x="141465" y="1130300"/>
                </a:lnTo>
                <a:lnTo>
                  <a:pt x="142176" y="1143000"/>
                </a:lnTo>
                <a:close/>
              </a:path>
              <a:path w="229869" h="2006600">
                <a:moveTo>
                  <a:pt x="142875" y="1854200"/>
                </a:moveTo>
                <a:lnTo>
                  <a:pt x="104787" y="1854200"/>
                </a:lnTo>
                <a:lnTo>
                  <a:pt x="104647" y="1841500"/>
                </a:lnTo>
                <a:lnTo>
                  <a:pt x="104647" y="1155700"/>
                </a:lnTo>
                <a:lnTo>
                  <a:pt x="104508" y="1143000"/>
                </a:lnTo>
                <a:lnTo>
                  <a:pt x="142608" y="1143000"/>
                </a:lnTo>
                <a:lnTo>
                  <a:pt x="142747" y="1155700"/>
                </a:lnTo>
                <a:lnTo>
                  <a:pt x="142747" y="1841500"/>
                </a:lnTo>
                <a:lnTo>
                  <a:pt x="142875" y="1854200"/>
                </a:lnTo>
                <a:close/>
              </a:path>
              <a:path w="229869" h="2006600">
                <a:moveTo>
                  <a:pt x="145821" y="1879600"/>
                </a:moveTo>
                <a:lnTo>
                  <a:pt x="107022" y="1879600"/>
                </a:lnTo>
                <a:lnTo>
                  <a:pt x="105930" y="1866900"/>
                </a:lnTo>
                <a:lnTo>
                  <a:pt x="105257" y="1854200"/>
                </a:lnTo>
                <a:lnTo>
                  <a:pt x="143217" y="1854200"/>
                </a:lnTo>
                <a:lnTo>
                  <a:pt x="143890" y="1866900"/>
                </a:lnTo>
                <a:lnTo>
                  <a:pt x="144653" y="1866900"/>
                </a:lnTo>
                <a:lnTo>
                  <a:pt x="145821" y="1879600"/>
                </a:lnTo>
                <a:close/>
              </a:path>
              <a:path w="229869" h="2006600">
                <a:moveTo>
                  <a:pt x="152260" y="1905000"/>
                </a:moveTo>
                <a:lnTo>
                  <a:pt x="111709" y="1905000"/>
                </a:lnTo>
                <a:lnTo>
                  <a:pt x="109880" y="1892300"/>
                </a:lnTo>
                <a:lnTo>
                  <a:pt x="108318" y="1879600"/>
                </a:lnTo>
                <a:lnTo>
                  <a:pt x="146977" y="1879600"/>
                </a:lnTo>
                <a:lnTo>
                  <a:pt x="148640" y="1892300"/>
                </a:lnTo>
                <a:lnTo>
                  <a:pt x="150152" y="1892300"/>
                </a:lnTo>
                <a:lnTo>
                  <a:pt x="152260" y="1905000"/>
                </a:lnTo>
                <a:close/>
              </a:path>
              <a:path w="229869" h="2006600">
                <a:moveTo>
                  <a:pt x="156641" y="1917700"/>
                </a:moveTo>
                <a:lnTo>
                  <a:pt x="115900" y="1917700"/>
                </a:lnTo>
                <a:lnTo>
                  <a:pt x="113791" y="1905000"/>
                </a:lnTo>
                <a:lnTo>
                  <a:pt x="154114" y="1905000"/>
                </a:lnTo>
                <a:lnTo>
                  <a:pt x="156641" y="1917700"/>
                </a:lnTo>
                <a:close/>
              </a:path>
              <a:path w="229869" h="2006600">
                <a:moveTo>
                  <a:pt x="161709" y="1930400"/>
                </a:moveTo>
                <a:lnTo>
                  <a:pt x="121246" y="1930400"/>
                </a:lnTo>
                <a:lnTo>
                  <a:pt x="118706" y="1917700"/>
                </a:lnTo>
                <a:lnTo>
                  <a:pt x="158775" y="1917700"/>
                </a:lnTo>
                <a:lnTo>
                  <a:pt x="161709" y="1930400"/>
                </a:lnTo>
                <a:close/>
              </a:path>
              <a:path w="229869" h="2006600">
                <a:moveTo>
                  <a:pt x="164477" y="1930400"/>
                </a:moveTo>
                <a:lnTo>
                  <a:pt x="161709" y="1930400"/>
                </a:lnTo>
                <a:lnTo>
                  <a:pt x="161353" y="1917700"/>
                </a:lnTo>
                <a:lnTo>
                  <a:pt x="164477" y="1930400"/>
                </a:lnTo>
                <a:close/>
              </a:path>
              <a:path w="229869" h="2006600">
                <a:moveTo>
                  <a:pt x="170446" y="1943100"/>
                </a:moveTo>
                <a:lnTo>
                  <a:pt x="127889" y="1943100"/>
                </a:lnTo>
                <a:lnTo>
                  <a:pt x="124269" y="1930400"/>
                </a:lnTo>
                <a:lnTo>
                  <a:pt x="166954" y="1930400"/>
                </a:lnTo>
                <a:lnTo>
                  <a:pt x="170446" y="1943100"/>
                </a:lnTo>
                <a:close/>
              </a:path>
              <a:path w="229869" h="2006600">
                <a:moveTo>
                  <a:pt x="180301" y="1955800"/>
                </a:moveTo>
                <a:lnTo>
                  <a:pt x="134721" y="1955800"/>
                </a:lnTo>
                <a:lnTo>
                  <a:pt x="131406" y="1943100"/>
                </a:lnTo>
                <a:lnTo>
                  <a:pt x="176326" y="1943100"/>
                </a:lnTo>
                <a:lnTo>
                  <a:pt x="180301" y="1955800"/>
                </a:lnTo>
                <a:close/>
              </a:path>
              <a:path w="229869" h="2006600">
                <a:moveTo>
                  <a:pt x="194690" y="1968500"/>
                </a:moveTo>
                <a:lnTo>
                  <a:pt x="142786" y="1968500"/>
                </a:lnTo>
                <a:lnTo>
                  <a:pt x="139128" y="1955800"/>
                </a:lnTo>
                <a:lnTo>
                  <a:pt x="190157" y="1955800"/>
                </a:lnTo>
                <a:lnTo>
                  <a:pt x="194690" y="1968500"/>
                </a:lnTo>
                <a:close/>
              </a:path>
              <a:path w="229869" h="2006600">
                <a:moveTo>
                  <a:pt x="228333" y="2006600"/>
                </a:moveTo>
                <a:lnTo>
                  <a:pt x="183388" y="2006600"/>
                </a:lnTo>
                <a:lnTo>
                  <a:pt x="178600" y="1993900"/>
                </a:lnTo>
                <a:lnTo>
                  <a:pt x="166649" y="1993900"/>
                </a:lnTo>
                <a:lnTo>
                  <a:pt x="162242" y="1981200"/>
                </a:lnTo>
                <a:lnTo>
                  <a:pt x="151714" y="1981200"/>
                </a:lnTo>
                <a:lnTo>
                  <a:pt x="147142" y="1968500"/>
                </a:lnTo>
                <a:lnTo>
                  <a:pt x="229730" y="1968500"/>
                </a:lnTo>
                <a:lnTo>
                  <a:pt x="228333" y="2006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907539" y="3683014"/>
            <a:ext cx="6604000" cy="259588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88925" indent="-182880">
              <a:lnSpc>
                <a:spcPct val="100000"/>
              </a:lnSpc>
              <a:spcBef>
                <a:spcPts val="120"/>
              </a:spcBef>
              <a:buFont typeface="Times New Roman"/>
              <a:buChar char="•"/>
              <a:tabLst>
                <a:tab pos="289560" algn="l"/>
              </a:tabLst>
            </a:pPr>
            <a:r>
              <a:rPr dirty="0" sz="2400" i="1">
                <a:latin typeface="Times New Roman"/>
                <a:cs typeface="Times New Roman"/>
              </a:rPr>
              <a:t>r</a:t>
            </a:r>
            <a:r>
              <a:rPr dirty="0" sz="2400">
                <a:latin typeface="宋体"/>
                <a:cs typeface="宋体"/>
              </a:rPr>
              <a:t>＜</a:t>
            </a:r>
            <a:r>
              <a:rPr dirty="0" sz="2400" i="1">
                <a:latin typeface="Times New Roman"/>
                <a:cs typeface="Times New Roman"/>
              </a:rPr>
              <a:t>r</a:t>
            </a:r>
            <a:r>
              <a:rPr dirty="0" baseline="-17921" sz="2325">
                <a:latin typeface="Times New Roman"/>
                <a:cs typeface="Times New Roman"/>
              </a:rPr>
              <a:t>0</a:t>
            </a:r>
            <a:r>
              <a:rPr dirty="0" sz="2400">
                <a:latin typeface="华文中宋"/>
                <a:cs typeface="华文中宋"/>
              </a:rPr>
              <a:t>时</a:t>
            </a:r>
            <a:r>
              <a:rPr dirty="0" sz="2400" spc="-280">
                <a:latin typeface="华文中宋"/>
                <a:cs typeface="华文中宋"/>
              </a:rPr>
              <a:t>，</a:t>
            </a:r>
            <a:r>
              <a:rPr dirty="0" sz="2400" spc="-280" i="1">
                <a:latin typeface="Times New Roman"/>
                <a:cs typeface="Times New Roman"/>
              </a:rPr>
              <a:t>r</a:t>
            </a:r>
            <a:r>
              <a:rPr dirty="0" sz="2400" spc="-280">
                <a:latin typeface="Times New Roman"/>
                <a:cs typeface="Times New Roman"/>
              </a:rPr>
              <a:t>↓→</a:t>
            </a:r>
            <a:r>
              <a:rPr dirty="0" sz="2500" spc="-280" i="1">
                <a:latin typeface="华文中宋"/>
                <a:cs typeface="华文中宋"/>
              </a:rPr>
              <a:t>Ｅ</a:t>
            </a:r>
            <a:r>
              <a:rPr dirty="0" baseline="-17921" sz="2325" spc="-419">
                <a:latin typeface="Times New Roman"/>
                <a:cs typeface="Times New Roman"/>
              </a:rPr>
              <a:t>P</a:t>
            </a:r>
            <a:r>
              <a:rPr dirty="0" sz="2400" spc="-280">
                <a:latin typeface="Times New Roman"/>
                <a:cs typeface="Times New Roman"/>
              </a:rPr>
              <a:t>↑</a:t>
            </a:r>
            <a:r>
              <a:rPr dirty="0" sz="2400" spc="-280">
                <a:latin typeface="华文中宋"/>
                <a:cs typeface="华文中宋"/>
              </a:rPr>
              <a:t>；</a:t>
            </a:r>
            <a:r>
              <a:rPr dirty="0" sz="2500" spc="-280" i="1">
                <a:latin typeface="华文中宋"/>
                <a:cs typeface="华文中宋"/>
              </a:rPr>
              <a:t>ｒ</a:t>
            </a:r>
            <a:r>
              <a:rPr dirty="0" sz="2400" spc="-280">
                <a:latin typeface="宋体"/>
                <a:cs typeface="宋体"/>
              </a:rPr>
              <a:t>＞</a:t>
            </a:r>
            <a:r>
              <a:rPr dirty="0" sz="2500" spc="-280" i="1">
                <a:latin typeface="华文中宋"/>
                <a:cs typeface="华文中宋"/>
              </a:rPr>
              <a:t>ｒ</a:t>
            </a:r>
            <a:r>
              <a:rPr dirty="0" baseline="-17921" sz="2325" spc="-419">
                <a:latin typeface="Times New Roman"/>
                <a:cs typeface="Times New Roman"/>
              </a:rPr>
              <a:t>0</a:t>
            </a:r>
            <a:r>
              <a:rPr dirty="0" sz="2400">
                <a:latin typeface="华文中宋"/>
                <a:cs typeface="华文中宋"/>
              </a:rPr>
              <a:t>时</a:t>
            </a:r>
            <a:r>
              <a:rPr dirty="0" sz="2400" spc="-140">
                <a:latin typeface="华文中宋"/>
                <a:cs typeface="华文中宋"/>
              </a:rPr>
              <a:t>，</a:t>
            </a:r>
            <a:r>
              <a:rPr dirty="0" sz="2400" spc="-140" i="1">
                <a:latin typeface="Times New Roman"/>
                <a:cs typeface="Times New Roman"/>
              </a:rPr>
              <a:t>r</a:t>
            </a:r>
            <a:r>
              <a:rPr dirty="0" sz="2400" spc="-140">
                <a:latin typeface="Times New Roman"/>
                <a:cs typeface="Times New Roman"/>
              </a:rPr>
              <a:t>↑→</a:t>
            </a:r>
            <a:r>
              <a:rPr dirty="0" sz="2500" spc="-140" i="1">
                <a:latin typeface="华文中宋"/>
                <a:cs typeface="华文中宋"/>
              </a:rPr>
              <a:t>Ｅ</a:t>
            </a:r>
            <a:r>
              <a:rPr dirty="0" baseline="-17921" sz="2325" spc="-209">
                <a:latin typeface="Times New Roman"/>
                <a:cs typeface="Times New Roman"/>
              </a:rPr>
              <a:t>P</a:t>
            </a:r>
            <a:r>
              <a:rPr dirty="0" sz="2400" spc="-140">
                <a:latin typeface="Times New Roman"/>
                <a:cs typeface="Times New Roman"/>
              </a:rPr>
              <a:t>↑</a:t>
            </a:r>
            <a:r>
              <a:rPr dirty="0" sz="2400" spc="-140">
                <a:latin typeface="华文中宋"/>
                <a:cs typeface="华文中宋"/>
              </a:rPr>
              <a:t>；</a:t>
            </a:r>
            <a:endParaRPr sz="2400">
              <a:latin typeface="华文中宋"/>
              <a:cs typeface="华文中宋"/>
            </a:endParaRPr>
          </a:p>
          <a:p>
            <a:pPr marL="74930">
              <a:lnSpc>
                <a:spcPct val="100000"/>
              </a:lnSpc>
              <a:spcBef>
                <a:spcPts val="165"/>
              </a:spcBef>
            </a:pPr>
            <a:r>
              <a:rPr dirty="0" sz="2500" spc="-500" i="1">
                <a:latin typeface="华文中宋"/>
                <a:cs typeface="华文中宋"/>
              </a:rPr>
              <a:t>ｒ</a:t>
            </a:r>
            <a:r>
              <a:rPr dirty="0" sz="2400" spc="-500">
                <a:latin typeface="华文中宋"/>
                <a:cs typeface="华文中宋"/>
              </a:rPr>
              <a:t>＝</a:t>
            </a:r>
            <a:r>
              <a:rPr dirty="0" sz="2500" spc="-500" i="1">
                <a:latin typeface="华文中宋"/>
                <a:cs typeface="华文中宋"/>
              </a:rPr>
              <a:t>ｒ</a:t>
            </a:r>
            <a:r>
              <a:rPr dirty="0" baseline="-17921" sz="2325" spc="-750">
                <a:latin typeface="Times New Roman"/>
                <a:cs typeface="Times New Roman"/>
              </a:rPr>
              <a:t>0</a:t>
            </a:r>
            <a:r>
              <a:rPr dirty="0" sz="2400">
                <a:latin typeface="华文中宋"/>
                <a:cs typeface="华文中宋"/>
              </a:rPr>
              <a:t>时</a:t>
            </a:r>
            <a:r>
              <a:rPr dirty="0" sz="2400" spc="-375">
                <a:latin typeface="华文中宋"/>
                <a:cs typeface="华文中宋"/>
              </a:rPr>
              <a:t>，</a:t>
            </a:r>
            <a:r>
              <a:rPr dirty="0" sz="2500" spc="-375" i="1">
                <a:latin typeface="华文中宋"/>
                <a:cs typeface="华文中宋"/>
              </a:rPr>
              <a:t>Ｅ</a:t>
            </a:r>
            <a:r>
              <a:rPr dirty="0" baseline="-17921" sz="2325" spc="-562">
                <a:latin typeface="Times New Roman"/>
                <a:cs typeface="Times New Roman"/>
              </a:rPr>
              <a:t>P</a:t>
            </a:r>
            <a:r>
              <a:rPr dirty="0" sz="2400">
                <a:latin typeface="华文中宋"/>
                <a:cs typeface="华文中宋"/>
              </a:rPr>
              <a:t>最低。</a:t>
            </a:r>
            <a:endParaRPr sz="2400">
              <a:latin typeface="华文中宋"/>
              <a:cs typeface="华文中宋"/>
            </a:endParaRPr>
          </a:p>
          <a:p>
            <a:pPr marL="106045">
              <a:lnSpc>
                <a:spcPct val="100000"/>
              </a:lnSpc>
              <a:spcBef>
                <a:spcPts val="265"/>
              </a:spcBef>
            </a:pPr>
            <a:r>
              <a:rPr dirty="0" sz="2400">
                <a:latin typeface="华文中宋"/>
                <a:cs typeface="华文中宋"/>
              </a:rPr>
              <a:t>（由分子力做功与分子势能变化的关系讨论）</a:t>
            </a:r>
            <a:endParaRPr sz="2400">
              <a:latin typeface="华文中宋"/>
              <a:cs typeface="华文中宋"/>
            </a:endParaRPr>
          </a:p>
          <a:p>
            <a:pPr marL="190500" indent="-177800">
              <a:lnSpc>
                <a:spcPct val="100000"/>
              </a:lnSpc>
              <a:spcBef>
                <a:spcPts val="1970"/>
              </a:spcBef>
              <a:buSzPct val="112500"/>
              <a:buChar char="•"/>
              <a:tabLst>
                <a:tab pos="191135" algn="l"/>
              </a:tabLst>
            </a:pPr>
            <a:r>
              <a:rPr dirty="0" sz="2400">
                <a:latin typeface="宋体"/>
                <a:cs typeface="宋体"/>
              </a:rPr>
              <a:t>物体中所有分子的热运动动能与分子势能的总和</a:t>
            </a:r>
            <a:endParaRPr sz="2400">
              <a:latin typeface="宋体"/>
              <a:cs typeface="宋体"/>
            </a:endParaRPr>
          </a:p>
          <a:p>
            <a:pPr marL="229870" indent="-217170">
              <a:lnSpc>
                <a:spcPct val="100000"/>
              </a:lnSpc>
              <a:spcBef>
                <a:spcPts val="2220"/>
              </a:spcBef>
              <a:buSzPct val="112500"/>
              <a:buFont typeface="Comic Sans MS"/>
              <a:buChar char="•"/>
              <a:tabLst>
                <a:tab pos="230504" algn="l"/>
              </a:tabLst>
            </a:pPr>
            <a:r>
              <a:rPr dirty="0" sz="2400">
                <a:latin typeface="宋体"/>
                <a:cs typeface="宋体"/>
              </a:rPr>
              <a:t>物体的内能与温度和体积有关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79450" y="5241925"/>
            <a:ext cx="973455" cy="965200"/>
          </a:xfrm>
          <a:custGeom>
            <a:avLst/>
            <a:gdLst/>
            <a:ahLst/>
            <a:cxnLst/>
            <a:rect l="l" t="t" r="r" b="b"/>
            <a:pathLst>
              <a:path w="973455" h="965200">
                <a:moveTo>
                  <a:pt x="973137" y="965200"/>
                </a:moveTo>
                <a:lnTo>
                  <a:pt x="0" y="965200"/>
                </a:lnTo>
                <a:lnTo>
                  <a:pt x="0" y="0"/>
                </a:lnTo>
                <a:lnTo>
                  <a:pt x="973137" y="0"/>
                </a:lnTo>
                <a:lnTo>
                  <a:pt x="9731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55675"/>
                </a:lnTo>
                <a:lnTo>
                  <a:pt x="4762" y="955675"/>
                </a:lnTo>
                <a:lnTo>
                  <a:pt x="9525" y="960437"/>
                </a:lnTo>
                <a:lnTo>
                  <a:pt x="973137" y="960437"/>
                </a:lnTo>
                <a:lnTo>
                  <a:pt x="973137" y="965200"/>
                </a:lnTo>
                <a:close/>
              </a:path>
              <a:path w="973455" h="96520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973455" h="965200">
                <a:moveTo>
                  <a:pt x="9636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963612" y="4762"/>
                </a:lnTo>
                <a:lnTo>
                  <a:pt x="963612" y="9525"/>
                </a:lnTo>
                <a:close/>
              </a:path>
              <a:path w="973455" h="965200">
                <a:moveTo>
                  <a:pt x="963612" y="960437"/>
                </a:moveTo>
                <a:lnTo>
                  <a:pt x="963612" y="4762"/>
                </a:lnTo>
                <a:lnTo>
                  <a:pt x="968375" y="9525"/>
                </a:lnTo>
                <a:lnTo>
                  <a:pt x="973137" y="9525"/>
                </a:lnTo>
                <a:lnTo>
                  <a:pt x="973137" y="955675"/>
                </a:lnTo>
                <a:lnTo>
                  <a:pt x="968375" y="955675"/>
                </a:lnTo>
                <a:lnTo>
                  <a:pt x="963612" y="960437"/>
                </a:lnTo>
                <a:close/>
              </a:path>
              <a:path w="973455" h="965200">
                <a:moveTo>
                  <a:pt x="973137" y="9525"/>
                </a:moveTo>
                <a:lnTo>
                  <a:pt x="968375" y="9525"/>
                </a:lnTo>
                <a:lnTo>
                  <a:pt x="963612" y="4762"/>
                </a:lnTo>
                <a:lnTo>
                  <a:pt x="973137" y="4762"/>
                </a:lnTo>
                <a:lnTo>
                  <a:pt x="973137" y="9525"/>
                </a:lnTo>
                <a:close/>
              </a:path>
              <a:path w="973455" h="965200">
                <a:moveTo>
                  <a:pt x="9525" y="960437"/>
                </a:moveTo>
                <a:lnTo>
                  <a:pt x="4762" y="955675"/>
                </a:lnTo>
                <a:lnTo>
                  <a:pt x="9525" y="955675"/>
                </a:lnTo>
                <a:lnTo>
                  <a:pt x="9525" y="960437"/>
                </a:lnTo>
                <a:close/>
              </a:path>
              <a:path w="973455" h="965200">
                <a:moveTo>
                  <a:pt x="963612" y="960437"/>
                </a:moveTo>
                <a:lnTo>
                  <a:pt x="9525" y="960437"/>
                </a:lnTo>
                <a:lnTo>
                  <a:pt x="9525" y="955675"/>
                </a:lnTo>
                <a:lnTo>
                  <a:pt x="963612" y="955675"/>
                </a:lnTo>
                <a:lnTo>
                  <a:pt x="963612" y="960437"/>
                </a:lnTo>
                <a:close/>
              </a:path>
              <a:path w="973455" h="965200">
                <a:moveTo>
                  <a:pt x="973137" y="960437"/>
                </a:moveTo>
                <a:lnTo>
                  <a:pt x="963612" y="960437"/>
                </a:lnTo>
                <a:lnTo>
                  <a:pt x="968375" y="955675"/>
                </a:lnTo>
                <a:lnTo>
                  <a:pt x="973137" y="955675"/>
                </a:lnTo>
                <a:lnTo>
                  <a:pt x="973137" y="960437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84276" y="5247132"/>
            <a:ext cx="963294" cy="465455"/>
          </a:xfrm>
          <a:prstGeom prst="rect">
            <a:avLst/>
          </a:prstGeom>
          <a:solidFill>
            <a:srgbClr val="008000"/>
          </a:solidFill>
        </p:spPr>
        <p:txBody>
          <a:bodyPr wrap="square" lIns="0" tIns="1841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145"/>
              </a:spcBef>
            </a:pPr>
            <a:r>
              <a:rPr dirty="0" sz="2800" spc="535" b="1">
                <a:solidFill>
                  <a:srgbClr val="FFFF00"/>
                </a:solidFill>
                <a:latin typeface="华文中宋"/>
                <a:cs typeface="华文中宋"/>
              </a:rPr>
              <a:t>物</a:t>
            </a:r>
            <a:r>
              <a:rPr dirty="0" sz="2800" spc="-10" b="1">
                <a:solidFill>
                  <a:srgbClr val="FFFF00"/>
                </a:solidFill>
                <a:latin typeface="华文中宋"/>
                <a:cs typeface="华文中宋"/>
              </a:rPr>
              <a:t>体</a:t>
            </a:r>
            <a:endParaRPr sz="2800">
              <a:latin typeface="华文中宋"/>
              <a:cs typeface="华文中宋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4276" y="5712412"/>
            <a:ext cx="963294" cy="490855"/>
          </a:xfrm>
          <a:prstGeom prst="rect">
            <a:avLst/>
          </a:prstGeom>
          <a:solidFill>
            <a:srgbClr val="008000"/>
          </a:solidFill>
        </p:spPr>
        <p:txBody>
          <a:bodyPr wrap="square" lIns="0" tIns="0" rIns="0" bIns="0" rtlCol="0" vert="horz">
            <a:spAutoFit/>
          </a:bodyPr>
          <a:lstStyle/>
          <a:p>
            <a:pPr marL="90805">
              <a:lnSpc>
                <a:spcPts val="3204"/>
              </a:lnSpc>
            </a:pPr>
            <a:r>
              <a:rPr dirty="0" sz="2800" spc="535" b="1">
                <a:solidFill>
                  <a:srgbClr val="FFFF00"/>
                </a:solidFill>
                <a:latin typeface="华文中宋"/>
                <a:cs typeface="华文中宋"/>
              </a:rPr>
              <a:t>内</a:t>
            </a:r>
            <a:r>
              <a:rPr dirty="0" sz="2800" spc="-10" b="1">
                <a:solidFill>
                  <a:srgbClr val="FFFF00"/>
                </a:solidFill>
                <a:latin typeface="华文中宋"/>
                <a:cs typeface="华文中宋"/>
              </a:rPr>
              <a:t>能</a:t>
            </a:r>
            <a:endParaRPr sz="2800">
              <a:latin typeface="华文中宋"/>
              <a:cs typeface="华文中宋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744738" y="5281625"/>
            <a:ext cx="99148" cy="8293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317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390" y="1697227"/>
            <a:ext cx="2680970" cy="155702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b="1">
                <a:latin typeface="华文楷体"/>
                <a:cs typeface="华文楷体"/>
              </a:rPr>
              <a:t>作</a:t>
            </a:r>
            <a:r>
              <a:rPr dirty="0" sz="2800" spc="-10" b="1">
                <a:latin typeface="华文楷体"/>
                <a:cs typeface="华文楷体"/>
              </a:rPr>
              <a:t>业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2800" spc="-5" i="1">
                <a:latin typeface="华文楷体"/>
                <a:cs typeface="华文楷体"/>
              </a:rPr>
              <a:t>1</a:t>
            </a:r>
            <a:r>
              <a:rPr dirty="0" sz="2800" i="1">
                <a:latin typeface="华文楷体"/>
                <a:cs typeface="华文楷体"/>
              </a:rPr>
              <a:t>、完成课堂练</a:t>
            </a:r>
            <a:r>
              <a:rPr dirty="0" sz="2800" spc="-5" i="1">
                <a:latin typeface="华文楷体"/>
                <a:cs typeface="华文楷体"/>
              </a:rPr>
              <a:t>习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2800" spc="-5" i="1">
                <a:latin typeface="华文楷体"/>
                <a:cs typeface="华文楷体"/>
              </a:rPr>
              <a:t>2</a:t>
            </a:r>
            <a:r>
              <a:rPr dirty="0" sz="2800" i="1">
                <a:latin typeface="华文楷体"/>
                <a:cs typeface="华文楷体"/>
              </a:rPr>
              <a:t>、完成课后作</a:t>
            </a:r>
            <a:r>
              <a:rPr dirty="0" sz="2800" spc="-5" i="1">
                <a:latin typeface="华文楷体"/>
                <a:cs typeface="华文楷体"/>
              </a:rPr>
              <a:t>业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2025-04-20T13:52:26Z</dcterms:created>
  <dcterms:modified xsi:type="dcterms:W3CDTF">2025-04-20T13:52:26Z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