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1787" y="650519"/>
            <a:ext cx="594042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0000"/>
                </a:solidFill>
                <a:latin typeface="方正舒体"/>
                <a:cs typeface="方正舒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34389" y="4588509"/>
            <a:ext cx="747522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590" y="988694"/>
            <a:ext cx="7375525" cy="1032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2680" y="1964816"/>
            <a:ext cx="6440170" cy="29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8.jp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5529" y="486409"/>
            <a:ext cx="34671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solidFill>
                  <a:srgbClr val="003300"/>
                </a:solidFill>
                <a:latin typeface="方正舒体"/>
                <a:cs typeface="方正舒体"/>
              </a:rPr>
              <a:t>分子动理</a:t>
            </a:r>
            <a:r>
              <a:rPr dirty="0" sz="5400" spc="-25" b="1">
                <a:solidFill>
                  <a:srgbClr val="003300"/>
                </a:solidFill>
                <a:latin typeface="方正舒体"/>
                <a:cs typeface="方正舒体"/>
              </a:rPr>
              <a:t>论</a:t>
            </a:r>
            <a:endParaRPr sz="5400">
              <a:latin typeface="方正舒体"/>
              <a:cs typeface="方正舒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3930" y="276669"/>
            <a:ext cx="1653539" cy="11950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9405" marR="5080" indent="-307340">
              <a:lnSpc>
                <a:spcPct val="119900"/>
              </a:lnSpc>
              <a:spcBef>
                <a:spcPts val="100"/>
              </a:spcBef>
              <a:tabLst>
                <a:tab pos="925830" algn="l"/>
              </a:tabLst>
            </a:pPr>
            <a:r>
              <a:rPr dirty="0">
                <a:solidFill>
                  <a:srgbClr val="001514"/>
                </a:solidFill>
                <a:latin typeface="华文行楷"/>
                <a:cs typeface="华文行楷"/>
              </a:rPr>
              <a:t>高二物理 </a:t>
            </a:r>
            <a:r>
              <a:rPr dirty="0">
                <a:solidFill>
                  <a:srgbClr val="001514"/>
                </a:solidFill>
                <a:latin typeface="华文行楷"/>
                <a:cs typeface="华文行楷"/>
              </a:rPr>
              <a:t>热	学</a:t>
            </a:r>
          </a:p>
        </p:txBody>
      </p:sp>
      <p:sp>
        <p:nvSpPr>
          <p:cNvPr id="4" name="object 4"/>
          <p:cNvSpPr/>
          <p:nvPr/>
        </p:nvSpPr>
        <p:spPr>
          <a:xfrm>
            <a:off x="2893377" y="3818572"/>
            <a:ext cx="3653701" cy="492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88945" y="4633798"/>
            <a:ext cx="4121404" cy="405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77656" y="5369280"/>
            <a:ext cx="5147195" cy="4483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78927" y="2671292"/>
            <a:ext cx="717461" cy="5568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51569" y="2577579"/>
            <a:ext cx="4445546" cy="7633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2100" y="620268"/>
            <a:ext cx="6105144" cy="4591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70355" y="882649"/>
            <a:ext cx="614426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6980" marR="5080" indent="-1224280">
              <a:lnSpc>
                <a:spcPct val="150000"/>
              </a:lnSpc>
              <a:spcBef>
                <a:spcPts val="100"/>
              </a:spcBef>
            </a:pPr>
            <a:r>
              <a:rPr dirty="0" sz="4800" b="1">
                <a:solidFill>
                  <a:srgbClr val="FF0000"/>
                </a:solidFill>
                <a:latin typeface="方正姚体"/>
                <a:cs typeface="方正姚体"/>
              </a:rPr>
              <a:t>预防新型冠状病毒肺</a:t>
            </a:r>
            <a:r>
              <a:rPr dirty="0" sz="4800" spc="-15" b="1">
                <a:solidFill>
                  <a:srgbClr val="FF0000"/>
                </a:solidFill>
                <a:latin typeface="方正姚体"/>
                <a:cs typeface="方正姚体"/>
              </a:rPr>
              <a:t>炎 </a:t>
            </a:r>
            <a:r>
              <a:rPr dirty="0" sz="4800" b="1">
                <a:solidFill>
                  <a:srgbClr val="FF0000"/>
                </a:solidFill>
                <a:latin typeface="方正姚体"/>
                <a:cs typeface="方正姚体"/>
              </a:rPr>
              <a:t>减少人员聚</a:t>
            </a:r>
            <a:r>
              <a:rPr dirty="0" sz="4800" spc="-20" b="1">
                <a:solidFill>
                  <a:srgbClr val="FF0000"/>
                </a:solidFill>
                <a:latin typeface="方正姚体"/>
                <a:cs typeface="方正姚体"/>
              </a:rPr>
              <a:t>集</a:t>
            </a:r>
            <a:endParaRPr sz="4800">
              <a:latin typeface="方正姚体"/>
              <a:cs typeface="方正姚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6775" y="3442970"/>
            <a:ext cx="24714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0000"/>
                </a:solidFill>
                <a:latin typeface="方正姚体"/>
                <a:cs typeface="方正姚体"/>
              </a:rPr>
              <a:t>佩戴口</a:t>
            </a:r>
            <a:r>
              <a:rPr dirty="0" sz="4800" spc="-20" b="1">
                <a:solidFill>
                  <a:srgbClr val="FF0000"/>
                </a:solidFill>
                <a:latin typeface="方正姚体"/>
                <a:cs typeface="方正姚体"/>
              </a:rPr>
              <a:t>罩</a:t>
            </a:r>
            <a:endParaRPr sz="4800">
              <a:latin typeface="方正姚体"/>
              <a:cs typeface="方正姚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483" y="5235676"/>
            <a:ext cx="5687326" cy="8531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7627" y="836612"/>
            <a:ext cx="33915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CC0000"/>
                </a:solidFill>
                <a:latin typeface="宋体"/>
                <a:cs typeface="宋体"/>
              </a:rPr>
              <a:t>一、扩散现</a:t>
            </a:r>
            <a:r>
              <a:rPr dirty="0" sz="4400" spc="-15">
                <a:solidFill>
                  <a:srgbClr val="CC0000"/>
                </a:solidFill>
                <a:latin typeface="宋体"/>
                <a:cs typeface="宋体"/>
              </a:rPr>
              <a:t>象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0652" y="1852294"/>
            <a:ext cx="6002655" cy="3098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你能否举几个扩散现象的例子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  <a:p>
            <a:pPr algn="just" marL="52069" marR="5080" indent="-40005">
              <a:lnSpc>
                <a:spcPct val="176400"/>
              </a:lnSpc>
              <a:spcBef>
                <a:spcPts val="25"/>
              </a:spcBef>
            </a:pP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扩散现象能在气体中进行的例子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?  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扩散现象能在液体中进行的例子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?  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扩散现象能在固体间发生吗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389" y="841692"/>
            <a:ext cx="34677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0000"/>
                </a:solidFill>
                <a:latin typeface="宋体"/>
                <a:cs typeface="宋体"/>
              </a:rPr>
              <a:t>什么是扩散现象</a:t>
            </a:r>
            <a:r>
              <a:rPr dirty="0" sz="360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4376" y="1559953"/>
            <a:ext cx="6972515" cy="441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49718" y="2047633"/>
            <a:ext cx="1385150" cy="441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4376" y="4584141"/>
            <a:ext cx="6970928" cy="441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2731" y="5071821"/>
            <a:ext cx="7372883" cy="4428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7968" y="5559501"/>
            <a:ext cx="6316560" cy="4396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76756" y="3288741"/>
            <a:ext cx="7369708" cy="4412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34389" y="2570479"/>
            <a:ext cx="7599680" cy="18694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扩散现象的剧烈程度与什么因素有关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</a:pP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扩散现象的微观机理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5910" y="3750602"/>
            <a:ext cx="176237" cy="377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0529" y="3778961"/>
            <a:ext cx="238417" cy="339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03348" y="3718636"/>
            <a:ext cx="6099543" cy="441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89927" y="501015"/>
            <a:ext cx="7369175" cy="112077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60"/>
              </a:spcBef>
            </a:pP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扩散现象能够说明物质分子的哪些</a:t>
            </a:r>
            <a:r>
              <a:rPr dirty="0" sz="3600" spc="-15" b="1">
                <a:solidFill>
                  <a:srgbClr val="FF0000"/>
                </a:solidFill>
                <a:latin typeface="宋体"/>
                <a:cs typeface="宋体"/>
              </a:rPr>
              <a:t>特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征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3682" y="2004987"/>
            <a:ext cx="176237" cy="3779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25167" y="2033346"/>
            <a:ext cx="210235" cy="3396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61121" y="1973021"/>
            <a:ext cx="6107480" cy="4412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1293" y="2477211"/>
            <a:ext cx="6966165" cy="4412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46531" y="2967748"/>
            <a:ext cx="1639150" cy="4348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34389" y="4588509"/>
            <a:ext cx="7369175" cy="11207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59"/>
              </a:spcBef>
            </a:pP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物理学史上有没有对分子做无规则</a:t>
            </a:r>
            <a:r>
              <a:rPr dirty="0" sz="3600" spc="-15" b="1">
                <a:solidFill>
                  <a:srgbClr val="FF0000"/>
                </a:solidFill>
                <a:latin typeface="宋体"/>
                <a:cs typeface="宋体"/>
              </a:rPr>
              <a:t>运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动的更有力的实验证明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827" y="549274"/>
            <a:ext cx="33915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CC0000"/>
                </a:solidFill>
                <a:latin typeface="宋体"/>
                <a:cs typeface="宋体"/>
              </a:rPr>
              <a:t>二、布朗运</a:t>
            </a:r>
            <a:r>
              <a:rPr dirty="0" sz="4400" spc="-15">
                <a:solidFill>
                  <a:srgbClr val="CC0000"/>
                </a:solidFill>
                <a:latin typeface="宋体"/>
                <a:cs typeface="宋体"/>
              </a:rPr>
              <a:t>动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056" y="5014988"/>
            <a:ext cx="5745695" cy="441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61631" y="5019751"/>
            <a:ext cx="815238" cy="418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4168" y="5506796"/>
            <a:ext cx="3382225" cy="4380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74908" y="5506796"/>
            <a:ext cx="3805135" cy="4396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90993" y="5994476"/>
            <a:ext cx="3050120" cy="4412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16623" y="1341119"/>
            <a:ext cx="1761744" cy="2095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235065" y="3516312"/>
            <a:ext cx="2326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黑体"/>
                <a:cs typeface="黑体"/>
              </a:rPr>
              <a:t>布朗</a:t>
            </a:r>
            <a:r>
              <a:rPr dirty="0" sz="2400" spc="-5" b="1">
                <a:latin typeface="黑体"/>
                <a:cs typeface="黑体"/>
              </a:rPr>
              <a:t>(1773-1858)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952" y="1409382"/>
            <a:ext cx="4923790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000066"/>
                </a:solidFill>
                <a:latin typeface="Times New Roman"/>
                <a:cs typeface="Times New Roman"/>
              </a:rPr>
              <a:t>1827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年英国植物学家布朗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用 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显微镜观察悬浮在水中的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花 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粉，发现花粉颗粒在水中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不 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停地做无规则运动，后来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把 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这种悬浮在液体或气体中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的 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小颗粒的无规则运动叫做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布 </a:t>
            </a:r>
            <a:r>
              <a:rPr dirty="0" sz="3200" b="1">
                <a:solidFill>
                  <a:srgbClr val="000066"/>
                </a:solidFill>
                <a:latin typeface="宋体"/>
                <a:cs typeface="宋体"/>
              </a:rPr>
              <a:t>朗运动</a:t>
            </a:r>
            <a:r>
              <a:rPr dirty="0" sz="3200" spc="-10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169" y="1458912"/>
            <a:ext cx="451421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0000"/>
                </a:solidFill>
                <a:latin typeface="宋体"/>
                <a:cs typeface="宋体"/>
              </a:rPr>
              <a:t>布朗运动的特点</a:t>
            </a:r>
            <a:r>
              <a:rPr dirty="0" sz="4400" spc="-15" b="1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62897" y="2561247"/>
            <a:ext cx="176237" cy="377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64382" y="2589606"/>
            <a:ext cx="210235" cy="339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00336" y="2529281"/>
            <a:ext cx="2008555" cy="4396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62897" y="3243237"/>
            <a:ext cx="176237" cy="3779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7517" y="3271596"/>
            <a:ext cx="238417" cy="3396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0336" y="3211271"/>
            <a:ext cx="2014118" cy="4396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62897" y="3925227"/>
            <a:ext cx="176237" cy="3779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44151" y="3953586"/>
            <a:ext cx="238226" cy="3453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00336" y="3894848"/>
            <a:ext cx="3379063" cy="4396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62897" y="4607217"/>
            <a:ext cx="176237" cy="3779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47720" y="4635576"/>
            <a:ext cx="241592" cy="33962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00336" y="4575251"/>
            <a:ext cx="3230295" cy="4412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79364" y="405384"/>
            <a:ext cx="2737485" cy="1221105"/>
          </a:xfrm>
          <a:custGeom>
            <a:avLst/>
            <a:gdLst/>
            <a:ahLst/>
            <a:cxnLst/>
            <a:rect l="l" t="t" r="r" b="b"/>
            <a:pathLst>
              <a:path w="2737484" h="1221105">
                <a:moveTo>
                  <a:pt x="2534412" y="819911"/>
                </a:moveTo>
                <a:lnTo>
                  <a:pt x="2534412" y="102107"/>
                </a:lnTo>
                <a:lnTo>
                  <a:pt x="377951" y="102107"/>
                </a:lnTo>
                <a:lnTo>
                  <a:pt x="377951" y="0"/>
                </a:lnTo>
                <a:lnTo>
                  <a:pt x="2737104" y="0"/>
                </a:lnTo>
                <a:lnTo>
                  <a:pt x="2737104" y="815339"/>
                </a:lnTo>
                <a:lnTo>
                  <a:pt x="2662911" y="815788"/>
                </a:lnTo>
                <a:lnTo>
                  <a:pt x="2598062" y="817211"/>
                </a:lnTo>
                <a:lnTo>
                  <a:pt x="2552061" y="818842"/>
                </a:lnTo>
                <a:lnTo>
                  <a:pt x="2534412" y="819911"/>
                </a:lnTo>
                <a:close/>
              </a:path>
              <a:path w="2737484" h="1221105">
                <a:moveTo>
                  <a:pt x="2356104" y="926591"/>
                </a:moveTo>
                <a:lnTo>
                  <a:pt x="2356104" y="207263"/>
                </a:lnTo>
                <a:lnTo>
                  <a:pt x="195072" y="207263"/>
                </a:lnTo>
                <a:lnTo>
                  <a:pt x="195072" y="102107"/>
                </a:lnTo>
                <a:lnTo>
                  <a:pt x="2534412" y="102107"/>
                </a:lnTo>
                <a:lnTo>
                  <a:pt x="2534412" y="920495"/>
                </a:lnTo>
                <a:lnTo>
                  <a:pt x="2469294" y="921302"/>
                </a:lnTo>
                <a:lnTo>
                  <a:pt x="2412315" y="923267"/>
                </a:lnTo>
                <a:lnTo>
                  <a:pt x="2371807" y="925371"/>
                </a:lnTo>
                <a:lnTo>
                  <a:pt x="2356104" y="926591"/>
                </a:lnTo>
                <a:close/>
              </a:path>
              <a:path w="2737484" h="1221105">
                <a:moveTo>
                  <a:pt x="602707" y="1220527"/>
                </a:moveTo>
                <a:lnTo>
                  <a:pt x="557182" y="1220439"/>
                </a:lnTo>
                <a:lnTo>
                  <a:pt x="510088" y="1219663"/>
                </a:lnTo>
                <a:lnTo>
                  <a:pt x="461331" y="1218168"/>
                </a:lnTo>
                <a:lnTo>
                  <a:pt x="410816" y="1215922"/>
                </a:lnTo>
                <a:lnTo>
                  <a:pt x="358447" y="1212894"/>
                </a:lnTo>
                <a:lnTo>
                  <a:pt x="304130" y="1209052"/>
                </a:lnTo>
                <a:lnTo>
                  <a:pt x="247770" y="1204364"/>
                </a:lnTo>
                <a:lnTo>
                  <a:pt x="189272" y="1198800"/>
                </a:lnTo>
                <a:lnTo>
                  <a:pt x="128541" y="1192326"/>
                </a:lnTo>
                <a:lnTo>
                  <a:pt x="65482" y="1184913"/>
                </a:lnTo>
                <a:lnTo>
                  <a:pt x="0" y="1176527"/>
                </a:lnTo>
                <a:lnTo>
                  <a:pt x="0" y="207263"/>
                </a:lnTo>
                <a:lnTo>
                  <a:pt x="2356104" y="207263"/>
                </a:lnTo>
                <a:lnTo>
                  <a:pt x="2356104" y="1021079"/>
                </a:lnTo>
                <a:lnTo>
                  <a:pt x="2290706" y="1021384"/>
                </a:lnTo>
                <a:lnTo>
                  <a:pt x="2227728" y="1022327"/>
                </a:lnTo>
                <a:lnTo>
                  <a:pt x="2167075" y="1023875"/>
                </a:lnTo>
                <a:lnTo>
                  <a:pt x="2108652" y="1025997"/>
                </a:lnTo>
                <a:lnTo>
                  <a:pt x="2052364" y="1028663"/>
                </a:lnTo>
                <a:lnTo>
                  <a:pt x="1998115" y="1031840"/>
                </a:lnTo>
                <a:lnTo>
                  <a:pt x="1945812" y="1035496"/>
                </a:lnTo>
                <a:lnTo>
                  <a:pt x="1895358" y="1039601"/>
                </a:lnTo>
                <a:lnTo>
                  <a:pt x="1846660" y="1044122"/>
                </a:lnTo>
                <a:lnTo>
                  <a:pt x="1799621" y="1049028"/>
                </a:lnTo>
                <a:lnTo>
                  <a:pt x="1754148" y="1054288"/>
                </a:lnTo>
                <a:lnTo>
                  <a:pt x="1710145" y="1059870"/>
                </a:lnTo>
                <a:lnTo>
                  <a:pt x="1667517" y="1065742"/>
                </a:lnTo>
                <a:lnTo>
                  <a:pt x="1626169" y="1071873"/>
                </a:lnTo>
                <a:lnTo>
                  <a:pt x="1546935" y="1084785"/>
                </a:lnTo>
                <a:lnTo>
                  <a:pt x="1471683" y="1098354"/>
                </a:lnTo>
                <a:lnTo>
                  <a:pt x="1128556" y="1167215"/>
                </a:lnTo>
                <a:lnTo>
                  <a:pt x="1061241" y="1179424"/>
                </a:lnTo>
                <a:lnTo>
                  <a:pt x="992589" y="1190523"/>
                </a:lnTo>
                <a:lnTo>
                  <a:pt x="921842" y="1200258"/>
                </a:lnTo>
                <a:lnTo>
                  <a:pt x="848240" y="1208379"/>
                </a:lnTo>
                <a:lnTo>
                  <a:pt x="810131" y="1211755"/>
                </a:lnTo>
                <a:lnTo>
                  <a:pt x="771024" y="1214633"/>
                </a:lnTo>
                <a:lnTo>
                  <a:pt x="730822" y="1216980"/>
                </a:lnTo>
                <a:lnTo>
                  <a:pt x="689432" y="1218766"/>
                </a:lnTo>
                <a:lnTo>
                  <a:pt x="646759" y="1219959"/>
                </a:lnTo>
                <a:lnTo>
                  <a:pt x="602707" y="1220527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67362" y="392112"/>
            <a:ext cx="2762250" cy="1245870"/>
          </a:xfrm>
          <a:custGeom>
            <a:avLst/>
            <a:gdLst/>
            <a:ahLst/>
            <a:cxnLst/>
            <a:rect l="l" t="t" r="r" b="b"/>
            <a:pathLst>
              <a:path w="2762250" h="1245870">
                <a:moveTo>
                  <a:pt x="401967" y="114300"/>
                </a:moveTo>
                <a:lnTo>
                  <a:pt x="376567" y="114300"/>
                </a:lnTo>
                <a:lnTo>
                  <a:pt x="376567" y="12700"/>
                </a:lnTo>
                <a:lnTo>
                  <a:pt x="384403" y="0"/>
                </a:lnTo>
                <a:lnTo>
                  <a:pt x="2754414" y="0"/>
                </a:lnTo>
                <a:lnTo>
                  <a:pt x="2762250" y="12700"/>
                </a:lnTo>
                <a:lnTo>
                  <a:pt x="401967" y="12700"/>
                </a:lnTo>
                <a:lnTo>
                  <a:pt x="389267" y="25399"/>
                </a:lnTo>
                <a:lnTo>
                  <a:pt x="401967" y="25399"/>
                </a:lnTo>
                <a:lnTo>
                  <a:pt x="401967" y="114300"/>
                </a:lnTo>
                <a:close/>
              </a:path>
              <a:path w="2762250" h="1245870">
                <a:moveTo>
                  <a:pt x="401967" y="25399"/>
                </a:moveTo>
                <a:lnTo>
                  <a:pt x="389267" y="25399"/>
                </a:lnTo>
                <a:lnTo>
                  <a:pt x="401967" y="12700"/>
                </a:lnTo>
                <a:lnTo>
                  <a:pt x="401967" y="25399"/>
                </a:lnTo>
                <a:close/>
              </a:path>
              <a:path w="2762250" h="1245870">
                <a:moveTo>
                  <a:pt x="2736850" y="25399"/>
                </a:moveTo>
                <a:lnTo>
                  <a:pt x="401967" y="25399"/>
                </a:lnTo>
                <a:lnTo>
                  <a:pt x="401967" y="12700"/>
                </a:lnTo>
                <a:lnTo>
                  <a:pt x="2736850" y="12700"/>
                </a:lnTo>
                <a:lnTo>
                  <a:pt x="2736850" y="25399"/>
                </a:lnTo>
                <a:close/>
              </a:path>
              <a:path w="2762250" h="1245870">
                <a:moveTo>
                  <a:pt x="2736850" y="828040"/>
                </a:moveTo>
                <a:lnTo>
                  <a:pt x="2736850" y="12700"/>
                </a:lnTo>
                <a:lnTo>
                  <a:pt x="2749550" y="25399"/>
                </a:lnTo>
                <a:lnTo>
                  <a:pt x="2762250" y="25399"/>
                </a:lnTo>
                <a:lnTo>
                  <a:pt x="2762250" y="815340"/>
                </a:lnTo>
                <a:lnTo>
                  <a:pt x="2749486" y="815340"/>
                </a:lnTo>
                <a:lnTo>
                  <a:pt x="2736850" y="828040"/>
                </a:lnTo>
                <a:close/>
              </a:path>
              <a:path w="2762250" h="1245870">
                <a:moveTo>
                  <a:pt x="2762250" y="25399"/>
                </a:moveTo>
                <a:lnTo>
                  <a:pt x="2749550" y="25399"/>
                </a:lnTo>
                <a:lnTo>
                  <a:pt x="2736850" y="12700"/>
                </a:lnTo>
                <a:lnTo>
                  <a:pt x="2762250" y="12700"/>
                </a:lnTo>
                <a:lnTo>
                  <a:pt x="2762250" y="25399"/>
                </a:lnTo>
                <a:close/>
              </a:path>
              <a:path w="2762250" h="1245870">
                <a:moveTo>
                  <a:pt x="219519" y="219709"/>
                </a:moveTo>
                <a:lnTo>
                  <a:pt x="194119" y="219709"/>
                </a:lnTo>
                <a:lnTo>
                  <a:pt x="194119" y="114300"/>
                </a:lnTo>
                <a:lnTo>
                  <a:pt x="201955" y="102870"/>
                </a:lnTo>
                <a:lnTo>
                  <a:pt x="204330" y="102870"/>
                </a:lnTo>
                <a:lnTo>
                  <a:pt x="206819" y="101600"/>
                </a:lnTo>
                <a:lnTo>
                  <a:pt x="376567" y="101600"/>
                </a:lnTo>
                <a:lnTo>
                  <a:pt x="376567" y="114300"/>
                </a:lnTo>
                <a:lnTo>
                  <a:pt x="219519" y="114300"/>
                </a:lnTo>
                <a:lnTo>
                  <a:pt x="206819" y="127000"/>
                </a:lnTo>
                <a:lnTo>
                  <a:pt x="219519" y="127000"/>
                </a:lnTo>
                <a:lnTo>
                  <a:pt x="219519" y="219709"/>
                </a:lnTo>
                <a:close/>
              </a:path>
              <a:path w="2762250" h="1245870">
                <a:moveTo>
                  <a:pt x="2559519" y="127000"/>
                </a:moveTo>
                <a:lnTo>
                  <a:pt x="2546819" y="127000"/>
                </a:lnTo>
                <a:lnTo>
                  <a:pt x="2534119" y="114300"/>
                </a:lnTo>
                <a:lnTo>
                  <a:pt x="401967" y="114300"/>
                </a:lnTo>
                <a:lnTo>
                  <a:pt x="401967" y="101600"/>
                </a:lnTo>
                <a:lnTo>
                  <a:pt x="2546819" y="101600"/>
                </a:lnTo>
                <a:lnTo>
                  <a:pt x="2549296" y="102870"/>
                </a:lnTo>
                <a:lnTo>
                  <a:pt x="2551683" y="102870"/>
                </a:lnTo>
                <a:lnTo>
                  <a:pt x="2559519" y="114300"/>
                </a:lnTo>
                <a:lnTo>
                  <a:pt x="2559519" y="127000"/>
                </a:lnTo>
                <a:close/>
              </a:path>
              <a:path w="2762250" h="1245870">
                <a:moveTo>
                  <a:pt x="219519" y="127000"/>
                </a:moveTo>
                <a:lnTo>
                  <a:pt x="206819" y="127000"/>
                </a:lnTo>
                <a:lnTo>
                  <a:pt x="219519" y="114300"/>
                </a:lnTo>
                <a:lnTo>
                  <a:pt x="219519" y="127000"/>
                </a:lnTo>
                <a:close/>
              </a:path>
              <a:path w="2762250" h="1245870">
                <a:moveTo>
                  <a:pt x="2534119" y="127000"/>
                </a:moveTo>
                <a:lnTo>
                  <a:pt x="219519" y="127000"/>
                </a:lnTo>
                <a:lnTo>
                  <a:pt x="219519" y="114300"/>
                </a:lnTo>
                <a:lnTo>
                  <a:pt x="2534119" y="114300"/>
                </a:lnTo>
                <a:lnTo>
                  <a:pt x="2534119" y="127000"/>
                </a:lnTo>
                <a:close/>
              </a:path>
              <a:path w="2762250" h="1245870">
                <a:moveTo>
                  <a:pt x="2534119" y="933450"/>
                </a:moveTo>
                <a:lnTo>
                  <a:pt x="2534119" y="114300"/>
                </a:lnTo>
                <a:lnTo>
                  <a:pt x="2546819" y="127000"/>
                </a:lnTo>
                <a:lnTo>
                  <a:pt x="2559519" y="127000"/>
                </a:lnTo>
                <a:lnTo>
                  <a:pt x="2559519" y="818189"/>
                </a:lnTo>
                <a:lnTo>
                  <a:pt x="2546337" y="819150"/>
                </a:lnTo>
                <a:lnTo>
                  <a:pt x="2547302" y="844550"/>
                </a:lnTo>
                <a:lnTo>
                  <a:pt x="2559519" y="844550"/>
                </a:lnTo>
                <a:lnTo>
                  <a:pt x="2559519" y="920750"/>
                </a:lnTo>
                <a:lnTo>
                  <a:pt x="2546730" y="920750"/>
                </a:lnTo>
                <a:lnTo>
                  <a:pt x="2534119" y="933450"/>
                </a:lnTo>
                <a:close/>
              </a:path>
              <a:path w="2762250" h="1245870">
                <a:moveTo>
                  <a:pt x="641642" y="1245870"/>
                </a:moveTo>
                <a:lnTo>
                  <a:pt x="527519" y="1245870"/>
                </a:lnTo>
                <a:lnTo>
                  <a:pt x="487286" y="1244600"/>
                </a:lnTo>
                <a:lnTo>
                  <a:pt x="445884" y="1242060"/>
                </a:lnTo>
                <a:lnTo>
                  <a:pt x="403237" y="1240789"/>
                </a:lnTo>
                <a:lnTo>
                  <a:pt x="359155" y="1238250"/>
                </a:lnTo>
                <a:lnTo>
                  <a:pt x="219075" y="1226820"/>
                </a:lnTo>
                <a:lnTo>
                  <a:pt x="169443" y="1221740"/>
                </a:lnTo>
                <a:lnTo>
                  <a:pt x="11074" y="1202690"/>
                </a:lnTo>
                <a:lnTo>
                  <a:pt x="0" y="1189990"/>
                </a:lnTo>
                <a:lnTo>
                  <a:pt x="0" y="219709"/>
                </a:lnTo>
                <a:lnTo>
                  <a:pt x="7835" y="208279"/>
                </a:lnTo>
                <a:lnTo>
                  <a:pt x="10223" y="208279"/>
                </a:lnTo>
                <a:lnTo>
                  <a:pt x="12700" y="207009"/>
                </a:lnTo>
                <a:lnTo>
                  <a:pt x="194119" y="207009"/>
                </a:lnTo>
                <a:lnTo>
                  <a:pt x="194119" y="219709"/>
                </a:lnTo>
                <a:lnTo>
                  <a:pt x="25400" y="219709"/>
                </a:lnTo>
                <a:lnTo>
                  <a:pt x="12700" y="232409"/>
                </a:lnTo>
                <a:lnTo>
                  <a:pt x="25400" y="232409"/>
                </a:lnTo>
                <a:lnTo>
                  <a:pt x="25400" y="1177290"/>
                </a:lnTo>
                <a:lnTo>
                  <a:pt x="14325" y="1177290"/>
                </a:lnTo>
                <a:lnTo>
                  <a:pt x="25400" y="1189990"/>
                </a:lnTo>
                <a:lnTo>
                  <a:pt x="121170" y="1189990"/>
                </a:lnTo>
                <a:lnTo>
                  <a:pt x="172250" y="1196340"/>
                </a:lnTo>
                <a:lnTo>
                  <a:pt x="221653" y="1201420"/>
                </a:lnTo>
                <a:lnTo>
                  <a:pt x="269532" y="1205230"/>
                </a:lnTo>
                <a:lnTo>
                  <a:pt x="315963" y="1209040"/>
                </a:lnTo>
                <a:lnTo>
                  <a:pt x="360984" y="1212850"/>
                </a:lnTo>
                <a:lnTo>
                  <a:pt x="360845" y="1212850"/>
                </a:lnTo>
                <a:lnTo>
                  <a:pt x="404647" y="1215390"/>
                </a:lnTo>
                <a:lnTo>
                  <a:pt x="404507" y="1215390"/>
                </a:lnTo>
                <a:lnTo>
                  <a:pt x="447014" y="1217930"/>
                </a:lnTo>
                <a:lnTo>
                  <a:pt x="446874" y="1217930"/>
                </a:lnTo>
                <a:lnTo>
                  <a:pt x="488137" y="1219200"/>
                </a:lnTo>
                <a:lnTo>
                  <a:pt x="487984" y="1219200"/>
                </a:lnTo>
                <a:lnTo>
                  <a:pt x="528065" y="1220470"/>
                </a:lnTo>
                <a:lnTo>
                  <a:pt x="976710" y="1220470"/>
                </a:lnTo>
                <a:lnTo>
                  <a:pt x="907059" y="1229360"/>
                </a:lnTo>
                <a:lnTo>
                  <a:pt x="876325" y="1231900"/>
                </a:lnTo>
                <a:lnTo>
                  <a:pt x="844994" y="1235710"/>
                </a:lnTo>
                <a:lnTo>
                  <a:pt x="780326" y="1240789"/>
                </a:lnTo>
                <a:lnTo>
                  <a:pt x="641642" y="1245870"/>
                </a:lnTo>
                <a:close/>
              </a:path>
              <a:path w="2762250" h="1245870">
                <a:moveTo>
                  <a:pt x="2381504" y="232409"/>
                </a:moveTo>
                <a:lnTo>
                  <a:pt x="2368804" y="232409"/>
                </a:lnTo>
                <a:lnTo>
                  <a:pt x="2356104" y="219709"/>
                </a:lnTo>
                <a:lnTo>
                  <a:pt x="219519" y="219709"/>
                </a:lnTo>
                <a:lnTo>
                  <a:pt x="219519" y="207009"/>
                </a:lnTo>
                <a:lnTo>
                  <a:pt x="2368804" y="207009"/>
                </a:lnTo>
                <a:lnTo>
                  <a:pt x="2371280" y="208279"/>
                </a:lnTo>
                <a:lnTo>
                  <a:pt x="2373655" y="208279"/>
                </a:lnTo>
                <a:lnTo>
                  <a:pt x="2381504" y="219709"/>
                </a:lnTo>
                <a:lnTo>
                  <a:pt x="2381504" y="232409"/>
                </a:lnTo>
                <a:close/>
              </a:path>
              <a:path w="2762250" h="1245870">
                <a:moveTo>
                  <a:pt x="25400" y="232409"/>
                </a:moveTo>
                <a:lnTo>
                  <a:pt x="12700" y="232409"/>
                </a:lnTo>
                <a:lnTo>
                  <a:pt x="25400" y="219709"/>
                </a:lnTo>
                <a:lnTo>
                  <a:pt x="25400" y="232409"/>
                </a:lnTo>
                <a:close/>
              </a:path>
              <a:path w="2762250" h="1245870">
                <a:moveTo>
                  <a:pt x="2356104" y="232409"/>
                </a:moveTo>
                <a:lnTo>
                  <a:pt x="25400" y="232409"/>
                </a:lnTo>
                <a:lnTo>
                  <a:pt x="25400" y="219709"/>
                </a:lnTo>
                <a:lnTo>
                  <a:pt x="2356104" y="219709"/>
                </a:lnTo>
                <a:lnTo>
                  <a:pt x="2356104" y="232409"/>
                </a:lnTo>
                <a:close/>
              </a:path>
              <a:path w="2762250" h="1245870">
                <a:moveTo>
                  <a:pt x="2356104" y="1033780"/>
                </a:moveTo>
                <a:lnTo>
                  <a:pt x="2356104" y="219709"/>
                </a:lnTo>
                <a:lnTo>
                  <a:pt x="2368804" y="232409"/>
                </a:lnTo>
                <a:lnTo>
                  <a:pt x="2381504" y="232409"/>
                </a:lnTo>
                <a:lnTo>
                  <a:pt x="2381504" y="924714"/>
                </a:lnTo>
                <a:lnTo>
                  <a:pt x="2368067" y="925830"/>
                </a:lnTo>
                <a:lnTo>
                  <a:pt x="2369527" y="951230"/>
                </a:lnTo>
                <a:lnTo>
                  <a:pt x="2381504" y="951230"/>
                </a:lnTo>
                <a:lnTo>
                  <a:pt x="2381504" y="1021080"/>
                </a:lnTo>
                <a:lnTo>
                  <a:pt x="2368740" y="1021080"/>
                </a:lnTo>
                <a:lnTo>
                  <a:pt x="2356104" y="1033780"/>
                </a:lnTo>
                <a:close/>
              </a:path>
              <a:path w="2762250" h="1245870">
                <a:moveTo>
                  <a:pt x="2559519" y="843659"/>
                </a:moveTo>
                <a:lnTo>
                  <a:pt x="2559519" y="818189"/>
                </a:lnTo>
                <a:lnTo>
                  <a:pt x="2563761" y="817880"/>
                </a:lnTo>
                <a:lnTo>
                  <a:pt x="2609773" y="816610"/>
                </a:lnTo>
                <a:lnTo>
                  <a:pt x="2640609" y="816610"/>
                </a:lnTo>
                <a:lnTo>
                  <a:pt x="2674861" y="815340"/>
                </a:lnTo>
                <a:lnTo>
                  <a:pt x="2736850" y="815340"/>
                </a:lnTo>
                <a:lnTo>
                  <a:pt x="2736850" y="828040"/>
                </a:lnTo>
                <a:lnTo>
                  <a:pt x="2762250" y="828040"/>
                </a:lnTo>
                <a:lnTo>
                  <a:pt x="2762008" y="830580"/>
                </a:lnTo>
                <a:lnTo>
                  <a:pt x="2761284" y="831850"/>
                </a:lnTo>
                <a:lnTo>
                  <a:pt x="2760116" y="834390"/>
                </a:lnTo>
                <a:lnTo>
                  <a:pt x="2758554" y="836930"/>
                </a:lnTo>
                <a:lnTo>
                  <a:pt x="2756636" y="838200"/>
                </a:lnTo>
                <a:lnTo>
                  <a:pt x="2754452" y="839469"/>
                </a:lnTo>
                <a:lnTo>
                  <a:pt x="2752077" y="839469"/>
                </a:lnTo>
                <a:lnTo>
                  <a:pt x="2749613" y="840740"/>
                </a:lnTo>
                <a:lnTo>
                  <a:pt x="2675356" y="840740"/>
                </a:lnTo>
                <a:lnTo>
                  <a:pt x="2641117" y="842010"/>
                </a:lnTo>
                <a:lnTo>
                  <a:pt x="2610573" y="842010"/>
                </a:lnTo>
                <a:lnTo>
                  <a:pt x="2564650" y="843280"/>
                </a:lnTo>
                <a:lnTo>
                  <a:pt x="2559519" y="843659"/>
                </a:lnTo>
                <a:close/>
              </a:path>
              <a:path w="2762250" h="1245870">
                <a:moveTo>
                  <a:pt x="2762250" y="828040"/>
                </a:moveTo>
                <a:lnTo>
                  <a:pt x="2736850" y="828040"/>
                </a:lnTo>
                <a:lnTo>
                  <a:pt x="2749486" y="815340"/>
                </a:lnTo>
                <a:lnTo>
                  <a:pt x="2762250" y="815340"/>
                </a:lnTo>
                <a:lnTo>
                  <a:pt x="2762250" y="828040"/>
                </a:lnTo>
                <a:close/>
              </a:path>
              <a:path w="2762250" h="1245870">
                <a:moveTo>
                  <a:pt x="2547302" y="844550"/>
                </a:moveTo>
                <a:lnTo>
                  <a:pt x="2546337" y="819150"/>
                </a:lnTo>
                <a:lnTo>
                  <a:pt x="2559519" y="818189"/>
                </a:lnTo>
                <a:lnTo>
                  <a:pt x="2559519" y="843659"/>
                </a:lnTo>
                <a:lnTo>
                  <a:pt x="2547302" y="844550"/>
                </a:lnTo>
                <a:close/>
              </a:path>
              <a:path w="2762250" h="1245870">
                <a:moveTo>
                  <a:pt x="2559519" y="844550"/>
                </a:moveTo>
                <a:lnTo>
                  <a:pt x="2547302" y="844550"/>
                </a:lnTo>
                <a:lnTo>
                  <a:pt x="2559519" y="843659"/>
                </a:lnTo>
                <a:lnTo>
                  <a:pt x="2559519" y="844550"/>
                </a:lnTo>
                <a:close/>
              </a:path>
              <a:path w="2762250" h="1245870">
                <a:moveTo>
                  <a:pt x="2381504" y="950236"/>
                </a:moveTo>
                <a:lnTo>
                  <a:pt x="2381504" y="924714"/>
                </a:lnTo>
                <a:lnTo>
                  <a:pt x="2383370" y="924560"/>
                </a:lnTo>
                <a:lnTo>
                  <a:pt x="2423960" y="923290"/>
                </a:lnTo>
                <a:lnTo>
                  <a:pt x="2481097" y="920750"/>
                </a:lnTo>
                <a:lnTo>
                  <a:pt x="2534119" y="920750"/>
                </a:lnTo>
                <a:lnTo>
                  <a:pt x="2534119" y="933450"/>
                </a:lnTo>
                <a:lnTo>
                  <a:pt x="2559519" y="933450"/>
                </a:lnTo>
                <a:lnTo>
                  <a:pt x="2559278" y="935990"/>
                </a:lnTo>
                <a:lnTo>
                  <a:pt x="2558567" y="937260"/>
                </a:lnTo>
                <a:lnTo>
                  <a:pt x="2557399" y="939800"/>
                </a:lnTo>
                <a:lnTo>
                  <a:pt x="2555836" y="942340"/>
                </a:lnTo>
                <a:lnTo>
                  <a:pt x="2553919" y="943610"/>
                </a:lnTo>
                <a:lnTo>
                  <a:pt x="2551747" y="944880"/>
                </a:lnTo>
                <a:lnTo>
                  <a:pt x="2549372" y="944880"/>
                </a:lnTo>
                <a:lnTo>
                  <a:pt x="2546908" y="946150"/>
                </a:lnTo>
                <a:lnTo>
                  <a:pt x="2481859" y="946150"/>
                </a:lnTo>
                <a:lnTo>
                  <a:pt x="2451785" y="947419"/>
                </a:lnTo>
                <a:lnTo>
                  <a:pt x="2424938" y="948690"/>
                </a:lnTo>
                <a:lnTo>
                  <a:pt x="2384717" y="949960"/>
                </a:lnTo>
                <a:lnTo>
                  <a:pt x="2381504" y="950236"/>
                </a:lnTo>
                <a:close/>
              </a:path>
              <a:path w="2762250" h="1245870">
                <a:moveTo>
                  <a:pt x="2559519" y="933450"/>
                </a:moveTo>
                <a:lnTo>
                  <a:pt x="2534119" y="933450"/>
                </a:lnTo>
                <a:lnTo>
                  <a:pt x="2546730" y="920750"/>
                </a:lnTo>
                <a:lnTo>
                  <a:pt x="2559519" y="920750"/>
                </a:lnTo>
                <a:lnTo>
                  <a:pt x="2559519" y="933450"/>
                </a:lnTo>
                <a:close/>
              </a:path>
              <a:path w="2762250" h="1245870">
                <a:moveTo>
                  <a:pt x="2369527" y="951230"/>
                </a:moveTo>
                <a:lnTo>
                  <a:pt x="2368067" y="925830"/>
                </a:lnTo>
                <a:lnTo>
                  <a:pt x="2381504" y="924714"/>
                </a:lnTo>
                <a:lnTo>
                  <a:pt x="2381504" y="950236"/>
                </a:lnTo>
                <a:lnTo>
                  <a:pt x="2369527" y="951230"/>
                </a:lnTo>
                <a:close/>
              </a:path>
              <a:path w="2762250" h="1245870">
                <a:moveTo>
                  <a:pt x="2381504" y="951230"/>
                </a:moveTo>
                <a:lnTo>
                  <a:pt x="2369527" y="951230"/>
                </a:lnTo>
                <a:lnTo>
                  <a:pt x="2381504" y="950236"/>
                </a:lnTo>
                <a:lnTo>
                  <a:pt x="2381504" y="951230"/>
                </a:lnTo>
                <a:close/>
              </a:path>
              <a:path w="2762250" h="1245870">
                <a:moveTo>
                  <a:pt x="976710" y="1220470"/>
                </a:moveTo>
                <a:lnTo>
                  <a:pt x="641108" y="1220470"/>
                </a:lnTo>
                <a:lnTo>
                  <a:pt x="676986" y="1219200"/>
                </a:lnTo>
                <a:lnTo>
                  <a:pt x="676821" y="1219200"/>
                </a:lnTo>
                <a:lnTo>
                  <a:pt x="711771" y="1217930"/>
                </a:lnTo>
                <a:lnTo>
                  <a:pt x="711619" y="1217930"/>
                </a:lnTo>
                <a:lnTo>
                  <a:pt x="745705" y="1216660"/>
                </a:lnTo>
                <a:lnTo>
                  <a:pt x="745553" y="1216660"/>
                </a:lnTo>
                <a:lnTo>
                  <a:pt x="778827" y="1215390"/>
                </a:lnTo>
                <a:lnTo>
                  <a:pt x="778675" y="1215390"/>
                </a:lnTo>
                <a:lnTo>
                  <a:pt x="811199" y="1212850"/>
                </a:lnTo>
                <a:lnTo>
                  <a:pt x="811047" y="1212850"/>
                </a:lnTo>
                <a:lnTo>
                  <a:pt x="842873" y="1210310"/>
                </a:lnTo>
                <a:lnTo>
                  <a:pt x="842721" y="1210310"/>
                </a:lnTo>
                <a:lnTo>
                  <a:pt x="873899" y="1206500"/>
                </a:lnTo>
                <a:lnTo>
                  <a:pt x="873747" y="1206500"/>
                </a:lnTo>
                <a:lnTo>
                  <a:pt x="904328" y="1203960"/>
                </a:lnTo>
                <a:lnTo>
                  <a:pt x="904189" y="1203960"/>
                </a:lnTo>
                <a:lnTo>
                  <a:pt x="934237" y="1200150"/>
                </a:lnTo>
                <a:lnTo>
                  <a:pt x="934097" y="1200150"/>
                </a:lnTo>
                <a:lnTo>
                  <a:pt x="963650" y="1196340"/>
                </a:lnTo>
                <a:lnTo>
                  <a:pt x="992657" y="1192530"/>
                </a:lnTo>
                <a:lnTo>
                  <a:pt x="1021283" y="1187450"/>
                </a:lnTo>
                <a:lnTo>
                  <a:pt x="1021156" y="1187450"/>
                </a:lnTo>
                <a:lnTo>
                  <a:pt x="1049591" y="1183640"/>
                </a:lnTo>
                <a:lnTo>
                  <a:pt x="1077645" y="1178560"/>
                </a:lnTo>
                <a:lnTo>
                  <a:pt x="1105496" y="1173480"/>
                </a:lnTo>
                <a:lnTo>
                  <a:pt x="1133182" y="1168400"/>
                </a:lnTo>
                <a:lnTo>
                  <a:pt x="1160779" y="1163320"/>
                </a:lnTo>
                <a:lnTo>
                  <a:pt x="1188339" y="1158240"/>
                </a:lnTo>
                <a:lnTo>
                  <a:pt x="1243571" y="1146810"/>
                </a:lnTo>
                <a:lnTo>
                  <a:pt x="1355826" y="1122680"/>
                </a:lnTo>
                <a:lnTo>
                  <a:pt x="1473555" y="1099820"/>
                </a:lnTo>
                <a:lnTo>
                  <a:pt x="1504213" y="1094740"/>
                </a:lnTo>
                <a:lnTo>
                  <a:pt x="1535468" y="1088390"/>
                </a:lnTo>
                <a:lnTo>
                  <a:pt x="1567383" y="1083310"/>
                </a:lnTo>
                <a:lnTo>
                  <a:pt x="1600009" y="1076960"/>
                </a:lnTo>
                <a:lnTo>
                  <a:pt x="1702650" y="1061720"/>
                </a:lnTo>
                <a:lnTo>
                  <a:pt x="1738629" y="1057910"/>
                </a:lnTo>
                <a:lnTo>
                  <a:pt x="1775586" y="1052830"/>
                </a:lnTo>
                <a:lnTo>
                  <a:pt x="1813559" y="1049020"/>
                </a:lnTo>
                <a:lnTo>
                  <a:pt x="1852625" y="1043940"/>
                </a:lnTo>
                <a:lnTo>
                  <a:pt x="1892820" y="1040130"/>
                </a:lnTo>
                <a:lnTo>
                  <a:pt x="1934197" y="1037590"/>
                </a:lnTo>
                <a:lnTo>
                  <a:pt x="1976818" y="1033780"/>
                </a:lnTo>
                <a:lnTo>
                  <a:pt x="2160663" y="1023619"/>
                </a:lnTo>
                <a:lnTo>
                  <a:pt x="2261476" y="1021080"/>
                </a:lnTo>
                <a:lnTo>
                  <a:pt x="2356104" y="1021080"/>
                </a:lnTo>
                <a:lnTo>
                  <a:pt x="2356104" y="1033780"/>
                </a:lnTo>
                <a:lnTo>
                  <a:pt x="2381504" y="1033780"/>
                </a:lnTo>
                <a:lnTo>
                  <a:pt x="2381250" y="1036319"/>
                </a:lnTo>
                <a:lnTo>
                  <a:pt x="2380538" y="1037590"/>
                </a:lnTo>
                <a:lnTo>
                  <a:pt x="2379370" y="1040130"/>
                </a:lnTo>
                <a:lnTo>
                  <a:pt x="2377795" y="1042669"/>
                </a:lnTo>
                <a:lnTo>
                  <a:pt x="2375877" y="1043940"/>
                </a:lnTo>
                <a:lnTo>
                  <a:pt x="2373693" y="1045210"/>
                </a:lnTo>
                <a:lnTo>
                  <a:pt x="2371318" y="1045210"/>
                </a:lnTo>
                <a:lnTo>
                  <a:pt x="2368854" y="1046480"/>
                </a:lnTo>
                <a:lnTo>
                  <a:pt x="2262009" y="1046480"/>
                </a:lnTo>
                <a:lnTo>
                  <a:pt x="2210930" y="1047750"/>
                </a:lnTo>
                <a:lnTo>
                  <a:pt x="2161540" y="1049020"/>
                </a:lnTo>
                <a:lnTo>
                  <a:pt x="2113648" y="1051560"/>
                </a:lnTo>
                <a:lnTo>
                  <a:pt x="2067217" y="1054100"/>
                </a:lnTo>
                <a:lnTo>
                  <a:pt x="2022195" y="1056640"/>
                </a:lnTo>
                <a:lnTo>
                  <a:pt x="1978520" y="1059180"/>
                </a:lnTo>
                <a:lnTo>
                  <a:pt x="1936140" y="1061720"/>
                </a:lnTo>
                <a:lnTo>
                  <a:pt x="1894992" y="1065530"/>
                </a:lnTo>
                <a:lnTo>
                  <a:pt x="1855038" y="1069340"/>
                </a:lnTo>
                <a:lnTo>
                  <a:pt x="1816214" y="1073150"/>
                </a:lnTo>
                <a:lnTo>
                  <a:pt x="1778469" y="1078230"/>
                </a:lnTo>
                <a:lnTo>
                  <a:pt x="1741741" y="1082040"/>
                </a:lnTo>
                <a:lnTo>
                  <a:pt x="1705991" y="1087120"/>
                </a:lnTo>
                <a:lnTo>
                  <a:pt x="1671142" y="1092200"/>
                </a:lnTo>
                <a:lnTo>
                  <a:pt x="1637169" y="1097280"/>
                </a:lnTo>
                <a:lnTo>
                  <a:pt x="1603984" y="1102360"/>
                </a:lnTo>
                <a:lnTo>
                  <a:pt x="1571561" y="1107440"/>
                </a:lnTo>
                <a:lnTo>
                  <a:pt x="1539824" y="1113790"/>
                </a:lnTo>
                <a:lnTo>
                  <a:pt x="1508721" y="1118870"/>
                </a:lnTo>
                <a:lnTo>
                  <a:pt x="1478216" y="1125220"/>
                </a:lnTo>
                <a:lnTo>
                  <a:pt x="1418704" y="1136650"/>
                </a:lnTo>
                <a:lnTo>
                  <a:pt x="1360919" y="1148080"/>
                </a:lnTo>
                <a:lnTo>
                  <a:pt x="1211593" y="1178583"/>
                </a:lnTo>
                <a:lnTo>
                  <a:pt x="1193253" y="1182370"/>
                </a:lnTo>
                <a:lnTo>
                  <a:pt x="1165567" y="1187450"/>
                </a:lnTo>
                <a:lnTo>
                  <a:pt x="1137818" y="1193800"/>
                </a:lnTo>
                <a:lnTo>
                  <a:pt x="1081913" y="1203960"/>
                </a:lnTo>
                <a:lnTo>
                  <a:pt x="1053642" y="1207770"/>
                </a:lnTo>
                <a:lnTo>
                  <a:pt x="996226" y="1217930"/>
                </a:lnTo>
                <a:lnTo>
                  <a:pt x="976710" y="1220470"/>
                </a:lnTo>
                <a:close/>
              </a:path>
              <a:path w="2762250" h="1245870">
                <a:moveTo>
                  <a:pt x="2381504" y="1033780"/>
                </a:moveTo>
                <a:lnTo>
                  <a:pt x="2356104" y="1033780"/>
                </a:lnTo>
                <a:lnTo>
                  <a:pt x="2368740" y="1021080"/>
                </a:lnTo>
                <a:lnTo>
                  <a:pt x="2381504" y="1021080"/>
                </a:lnTo>
                <a:lnTo>
                  <a:pt x="2381504" y="1033780"/>
                </a:lnTo>
                <a:close/>
              </a:path>
              <a:path w="2762250" h="1245870">
                <a:moveTo>
                  <a:pt x="25400" y="1189990"/>
                </a:moveTo>
                <a:lnTo>
                  <a:pt x="14325" y="1177290"/>
                </a:lnTo>
                <a:lnTo>
                  <a:pt x="25399" y="1178583"/>
                </a:lnTo>
                <a:lnTo>
                  <a:pt x="25400" y="1189990"/>
                </a:lnTo>
                <a:close/>
              </a:path>
              <a:path w="2762250" h="1245870">
                <a:moveTo>
                  <a:pt x="25400" y="1178583"/>
                </a:moveTo>
                <a:lnTo>
                  <a:pt x="14325" y="1177290"/>
                </a:lnTo>
                <a:lnTo>
                  <a:pt x="25400" y="1177290"/>
                </a:lnTo>
                <a:lnTo>
                  <a:pt x="25400" y="1178583"/>
                </a:lnTo>
                <a:close/>
              </a:path>
              <a:path w="2762250" h="1245870">
                <a:moveTo>
                  <a:pt x="121285" y="1189990"/>
                </a:moveTo>
                <a:lnTo>
                  <a:pt x="25400" y="1189990"/>
                </a:lnTo>
                <a:lnTo>
                  <a:pt x="25400" y="1178583"/>
                </a:lnTo>
                <a:lnTo>
                  <a:pt x="68694" y="1183640"/>
                </a:lnTo>
                <a:lnTo>
                  <a:pt x="121285" y="1189990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384675">
              <a:lnSpc>
                <a:spcPct val="100000"/>
              </a:lnSpc>
              <a:spcBef>
                <a:spcPts val="100"/>
              </a:spcBef>
              <a:tabLst>
                <a:tab pos="5241290" algn="l"/>
              </a:tabLst>
            </a:pPr>
            <a:r>
              <a:rPr dirty="0"/>
              <a:t>观	察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37627" y="5307647"/>
            <a:ext cx="64509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布朗运动究竟是怎样产生的呢</a:t>
            </a:r>
            <a:r>
              <a:rPr dirty="0" sz="3600" spc="-15" b="1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6189" y="409257"/>
            <a:ext cx="461708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990033"/>
                </a:solidFill>
              </a:rPr>
              <a:t>关于布朗运动的争</a:t>
            </a:r>
            <a:r>
              <a:rPr dirty="0" sz="4000" spc="-25">
                <a:solidFill>
                  <a:srgbClr val="990033"/>
                </a:solidFill>
              </a:rPr>
              <a:t>论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9927" y="1209039"/>
            <a:ext cx="8032750" cy="4973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12800">
              <a:lnSpc>
                <a:spcPct val="100000"/>
              </a:lnSpc>
              <a:spcBef>
                <a:spcPts val="95"/>
              </a:spcBef>
            </a:pPr>
            <a:r>
              <a:rPr dirty="0" sz="2800" spc="195" b="1">
                <a:solidFill>
                  <a:srgbClr val="FF0066"/>
                </a:solidFill>
                <a:latin typeface="宋体"/>
                <a:cs typeface="宋体"/>
              </a:rPr>
              <a:t>布朗</a:t>
            </a:r>
            <a:r>
              <a:rPr dirty="0" sz="2800" spc="200" b="1">
                <a:solidFill>
                  <a:srgbClr val="FF0066"/>
                </a:solidFill>
                <a:latin typeface="宋体"/>
                <a:cs typeface="宋体"/>
              </a:rPr>
              <a:t>运动是不是由外界因素影响产生的</a:t>
            </a:r>
            <a:r>
              <a:rPr dirty="0" sz="2800" spc="-20" b="1">
                <a:solidFill>
                  <a:srgbClr val="FF0066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marL="12700" marR="348615">
              <a:lnSpc>
                <a:spcPct val="100000"/>
              </a:lnSpc>
              <a:spcBef>
                <a:spcPts val="10"/>
              </a:spcBef>
            </a:pPr>
            <a:r>
              <a:rPr dirty="0" sz="2800" spc="60" b="1">
                <a:latin typeface="宋体"/>
                <a:cs typeface="宋体"/>
              </a:rPr>
              <a:t>（所谓外界因素的影响，</a:t>
            </a:r>
            <a:r>
              <a:rPr dirty="0" sz="2800" spc="65" b="1">
                <a:latin typeface="宋体"/>
                <a:cs typeface="宋体"/>
              </a:rPr>
              <a:t>是指存在温度差、压</a:t>
            </a:r>
            <a:r>
              <a:rPr dirty="0" sz="2800" spc="-15" b="1">
                <a:latin typeface="宋体"/>
                <a:cs typeface="宋体"/>
              </a:rPr>
              <a:t>强 </a:t>
            </a:r>
            <a:r>
              <a:rPr dirty="0" sz="2800" b="1">
                <a:latin typeface="宋体"/>
                <a:cs typeface="宋体"/>
              </a:rPr>
              <a:t>差、液体振动等等。</a:t>
            </a:r>
            <a:r>
              <a:rPr dirty="0" sz="2800" spc="-20" b="1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algn="just" marL="85725" marR="132715" indent="533400">
              <a:lnSpc>
                <a:spcPct val="100099"/>
              </a:lnSpc>
              <a:spcBef>
                <a:spcPts val="1245"/>
              </a:spcBef>
            </a:pPr>
            <a:r>
              <a:rPr dirty="0" sz="2800" spc="20" b="1">
                <a:solidFill>
                  <a:srgbClr val="000066"/>
                </a:solidFill>
                <a:latin typeface="Times New Roman"/>
                <a:cs typeface="Times New Roman"/>
              </a:rPr>
              <a:t>1.</a:t>
            </a:r>
            <a:r>
              <a:rPr dirty="0" sz="2800" spc="6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 spc="45" b="1">
                <a:solidFill>
                  <a:srgbClr val="000066"/>
                </a:solidFill>
                <a:latin typeface="宋体"/>
                <a:cs typeface="宋体"/>
              </a:rPr>
              <a:t>若液体两端有温</a:t>
            </a:r>
            <a:r>
              <a:rPr dirty="0" sz="2800" spc="50" b="1">
                <a:solidFill>
                  <a:srgbClr val="000066"/>
                </a:solidFill>
                <a:latin typeface="宋体"/>
                <a:cs typeface="宋体"/>
              </a:rPr>
              <a:t>度差，液体是怎样传递热</a:t>
            </a:r>
            <a:r>
              <a:rPr dirty="0" sz="2800" spc="-20" b="1">
                <a:solidFill>
                  <a:srgbClr val="000066"/>
                </a:solidFill>
                <a:latin typeface="宋体"/>
                <a:cs typeface="宋体"/>
              </a:rPr>
              <a:t>量 </a:t>
            </a:r>
            <a:r>
              <a:rPr dirty="0" sz="2800" spc="114" b="1">
                <a:solidFill>
                  <a:srgbClr val="000066"/>
                </a:solidFill>
                <a:latin typeface="宋体"/>
                <a:cs typeface="宋体"/>
              </a:rPr>
              <a:t>的？液体中的</a:t>
            </a:r>
            <a:r>
              <a:rPr dirty="0" sz="2800" spc="120" b="1">
                <a:solidFill>
                  <a:srgbClr val="000066"/>
                </a:solidFill>
                <a:latin typeface="宋体"/>
                <a:cs typeface="宋体"/>
              </a:rPr>
              <a:t>悬浮颗粒将做定向移动，还是无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规 </a:t>
            </a:r>
            <a:r>
              <a:rPr dirty="0" sz="2800" spc="114" b="1">
                <a:solidFill>
                  <a:srgbClr val="000066"/>
                </a:solidFill>
                <a:latin typeface="宋体"/>
                <a:cs typeface="宋体"/>
              </a:rPr>
              <a:t>则运动？温度</a:t>
            </a:r>
            <a:r>
              <a:rPr dirty="0" sz="2800" spc="120" b="1">
                <a:solidFill>
                  <a:srgbClr val="000066"/>
                </a:solidFill>
                <a:latin typeface="宋体"/>
                <a:cs typeface="宋体"/>
              </a:rPr>
              <a:t>差这样的外界因素是不是产生布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朗 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运动的原因呢</a:t>
            </a:r>
            <a:r>
              <a:rPr dirty="0" sz="2800" spc="-20" b="1">
                <a:solidFill>
                  <a:srgbClr val="000066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algn="just" marL="156845" marR="5080" indent="355600">
              <a:lnSpc>
                <a:spcPct val="100000"/>
              </a:lnSpc>
              <a:spcBef>
                <a:spcPts val="735"/>
              </a:spcBef>
            </a:pP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液体存在着温度差时，液体依靠对流传递热量</a:t>
            </a:r>
            <a:r>
              <a:rPr dirty="0" sz="2800" spc="-20" b="1">
                <a:solidFill>
                  <a:srgbClr val="000066"/>
                </a:solidFill>
                <a:latin typeface="宋体"/>
                <a:cs typeface="宋体"/>
              </a:rPr>
              <a:t>，  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这样悬浮颗粒将随液体有定向移动。但布朗运动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对 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不同颗粒运动情况不相同，因此液体的温度差不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可 </a:t>
            </a:r>
            <a:r>
              <a:rPr dirty="0" sz="2800" b="1">
                <a:solidFill>
                  <a:srgbClr val="000066"/>
                </a:solidFill>
                <a:latin typeface="宋体"/>
                <a:cs typeface="宋体"/>
              </a:rPr>
              <a:t>能产生布朗运动</a:t>
            </a:r>
            <a:r>
              <a:rPr dirty="0" sz="2800" spc="-20" b="1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4752" y="1904555"/>
            <a:ext cx="7172959" cy="211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1200">
              <a:lnSpc>
                <a:spcPct val="130200"/>
              </a:lnSpc>
              <a:spcBef>
                <a:spcPts val="100"/>
              </a:spcBef>
            </a:pPr>
            <a:r>
              <a:rPr dirty="0" sz="2800" b="1">
                <a:latin typeface="宋体"/>
                <a:cs typeface="宋体"/>
              </a:rPr>
              <a:t>因此，推理得出外界因素的影响不是</a:t>
            </a:r>
            <a:r>
              <a:rPr dirty="0" sz="2800" spc="-20" b="1">
                <a:latin typeface="宋体"/>
                <a:cs typeface="宋体"/>
              </a:rPr>
              <a:t>产 </a:t>
            </a:r>
            <a:r>
              <a:rPr dirty="0" sz="2800" b="1">
                <a:latin typeface="宋体"/>
                <a:cs typeface="宋体"/>
              </a:rPr>
              <a:t>生布朗运动的原因，</a:t>
            </a:r>
            <a:r>
              <a:rPr dirty="0" sz="2800" b="1">
                <a:solidFill>
                  <a:srgbClr val="FF0066"/>
                </a:solidFill>
                <a:latin typeface="宋体"/>
                <a:cs typeface="宋体"/>
              </a:rPr>
              <a:t>只能是液体内部造成的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55575" marR="342265" indent="444500">
              <a:lnSpc>
                <a:spcPct val="101000"/>
              </a:lnSpc>
              <a:spcBef>
                <a:spcPts val="434"/>
              </a:spcBef>
            </a:pPr>
            <a:r>
              <a:rPr dirty="0" sz="2800" b="1">
                <a:latin typeface="宋体"/>
                <a:cs typeface="宋体"/>
              </a:rPr>
              <a:t>直到</a:t>
            </a:r>
            <a:r>
              <a:rPr dirty="0" sz="2800" spc="-5" b="1">
                <a:latin typeface="Times New Roman"/>
                <a:cs typeface="Times New Roman"/>
              </a:rPr>
              <a:t>1905</a:t>
            </a:r>
            <a:r>
              <a:rPr dirty="0" sz="2800" b="1">
                <a:latin typeface="宋体"/>
                <a:cs typeface="宋体"/>
              </a:rPr>
              <a:t>年，</a:t>
            </a:r>
            <a:r>
              <a:rPr dirty="0" sz="3200" b="1">
                <a:solidFill>
                  <a:srgbClr val="FF0066"/>
                </a:solidFill>
                <a:latin typeface="宋体"/>
                <a:cs typeface="宋体"/>
              </a:rPr>
              <a:t>爱因斯坦</a:t>
            </a:r>
            <a:r>
              <a:rPr dirty="0" sz="2400" b="1">
                <a:latin typeface="宋体"/>
                <a:cs typeface="宋体"/>
              </a:rPr>
              <a:t>才</a:t>
            </a:r>
            <a:r>
              <a:rPr dirty="0" sz="2800" b="1">
                <a:latin typeface="宋体"/>
                <a:cs typeface="宋体"/>
              </a:rPr>
              <a:t>从理论上解</a:t>
            </a:r>
            <a:r>
              <a:rPr dirty="0" sz="2800" spc="-15" b="1">
                <a:latin typeface="宋体"/>
                <a:cs typeface="宋体"/>
              </a:rPr>
              <a:t>释 </a:t>
            </a:r>
            <a:r>
              <a:rPr dirty="0" sz="2800" b="1">
                <a:latin typeface="宋体"/>
                <a:cs typeface="宋体"/>
              </a:rPr>
              <a:t>了布朗运动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21727" y="561339"/>
            <a:ext cx="7280275" cy="130619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466725">
              <a:lnSpc>
                <a:spcPct val="100099"/>
              </a:lnSpc>
              <a:spcBef>
                <a:spcPts val="90"/>
              </a:spcBef>
            </a:pPr>
            <a:r>
              <a:rPr dirty="0" sz="2800" spc="-5">
                <a:solidFill>
                  <a:srgbClr val="000066"/>
                </a:solidFill>
                <a:latin typeface="Times New Roman"/>
                <a:cs typeface="Times New Roman"/>
              </a:rPr>
              <a:t>2.</a:t>
            </a:r>
            <a:r>
              <a:rPr dirty="0" sz="2800" spc="-25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0066"/>
                </a:solidFill>
                <a:latin typeface="宋体"/>
                <a:cs typeface="宋体"/>
              </a:rPr>
              <a:t>又如液体的压强差或振动等都只能使液</a:t>
            </a:r>
            <a:r>
              <a:rPr dirty="0" sz="2800" spc="-20">
                <a:solidFill>
                  <a:srgbClr val="000066"/>
                </a:solidFill>
                <a:latin typeface="宋体"/>
                <a:cs typeface="宋体"/>
              </a:rPr>
              <a:t>体 </a:t>
            </a:r>
            <a:r>
              <a:rPr dirty="0" sz="2800">
                <a:solidFill>
                  <a:srgbClr val="000066"/>
                </a:solidFill>
                <a:latin typeface="宋体"/>
                <a:cs typeface="宋体"/>
              </a:rPr>
              <a:t>具有单向运动，悬浮在液体中的小颗粒的定</a:t>
            </a:r>
            <a:r>
              <a:rPr dirty="0" sz="2800" spc="-20">
                <a:solidFill>
                  <a:srgbClr val="000066"/>
                </a:solidFill>
                <a:latin typeface="宋体"/>
                <a:cs typeface="宋体"/>
              </a:rPr>
              <a:t>向 </a:t>
            </a:r>
            <a:r>
              <a:rPr dirty="0" sz="2800">
                <a:solidFill>
                  <a:srgbClr val="000066"/>
                </a:solidFill>
                <a:latin typeface="宋体"/>
                <a:cs typeface="宋体"/>
              </a:rPr>
              <a:t>移动不是布朗运动</a:t>
            </a:r>
            <a:r>
              <a:rPr dirty="0" sz="2800" spc="-20">
                <a:solidFill>
                  <a:srgbClr val="000066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5981" y="4223461"/>
            <a:ext cx="6966165" cy="442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27493" y="4714633"/>
            <a:ext cx="7776425" cy="4396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6381" y="5202313"/>
            <a:ext cx="7543063" cy="4396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292" y="404812"/>
            <a:ext cx="563689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0000"/>
                </a:solidFill>
                <a:latin typeface="宋体"/>
                <a:cs typeface="宋体"/>
              </a:rPr>
              <a:t>布朗运动的微观解释</a:t>
            </a:r>
            <a:r>
              <a:rPr dirty="0" sz="4400" spc="-15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7206" y="1415173"/>
            <a:ext cx="6969340" cy="441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2368" y="1906346"/>
            <a:ext cx="7781188" cy="4396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6018" y="2392438"/>
            <a:ext cx="7512900" cy="441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7768" y="2881706"/>
            <a:ext cx="3838155" cy="438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15197" y="3632492"/>
            <a:ext cx="176237" cy="3779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16682" y="3660851"/>
            <a:ext cx="210235" cy="3396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52623" y="3600526"/>
            <a:ext cx="2825165" cy="4412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15197" y="4217327"/>
            <a:ext cx="176237" cy="3779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99817" y="4245686"/>
            <a:ext cx="238417" cy="3396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52623" y="4185361"/>
            <a:ext cx="2830728" cy="4412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15197" y="4802161"/>
            <a:ext cx="176237" cy="37796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96451" y="4830521"/>
            <a:ext cx="238226" cy="3453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52623" y="4771783"/>
            <a:ext cx="4195673" cy="43963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15197" y="5386997"/>
            <a:ext cx="176237" cy="37796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00020" y="5415356"/>
            <a:ext cx="241592" cy="3396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52623" y="5355031"/>
            <a:ext cx="4046905" cy="4412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049" y="566191"/>
            <a:ext cx="7505141" cy="596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490" y="1423670"/>
            <a:ext cx="75939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1.</a:t>
            </a:r>
            <a:r>
              <a:rPr dirty="0" sz="36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是谁的运动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r>
              <a:rPr dirty="0" sz="36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不是谁的运动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r>
              <a:rPr dirty="0" sz="36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说明</a:t>
            </a:r>
            <a:r>
              <a:rPr dirty="0" sz="3600" spc="-15" b="1">
                <a:solidFill>
                  <a:srgbClr val="FF0000"/>
                </a:solidFill>
                <a:latin typeface="宋体"/>
                <a:cs typeface="宋体"/>
              </a:rPr>
              <a:t>了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谁的运动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952" y="4805045"/>
            <a:ext cx="62204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dirty="0" sz="3600" spc="-8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600" b="1">
                <a:solidFill>
                  <a:srgbClr val="FF0000"/>
                </a:solidFill>
                <a:latin typeface="宋体"/>
                <a:cs typeface="宋体"/>
              </a:rPr>
              <a:t>布朗运动能在气体中发生吗</a:t>
            </a:r>
            <a:r>
              <a:rPr dirty="0" sz="36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2281" y="5666816"/>
            <a:ext cx="3704488" cy="441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08613" y="5676341"/>
            <a:ext cx="420585" cy="423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16918" y="5666816"/>
            <a:ext cx="2239860" cy="438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47851" y="2785503"/>
            <a:ext cx="3687025" cy="4380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47851" y="3273183"/>
            <a:ext cx="7376058" cy="4380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8268" y="3762451"/>
            <a:ext cx="2055393" cy="4364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46263" y="4248543"/>
            <a:ext cx="6546748" cy="4396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1639" y="908303"/>
            <a:ext cx="5812536" cy="4105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86243" y="5090553"/>
            <a:ext cx="7376058" cy="441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9043" y="5574741"/>
            <a:ext cx="832065" cy="441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36331" y="5635066"/>
            <a:ext cx="449948" cy="3453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50466" y="5574741"/>
            <a:ext cx="6561035" cy="4412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618" y="6069088"/>
            <a:ext cx="2206523" cy="4348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7052" y="267970"/>
            <a:ext cx="74834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0000"/>
                </a:solidFill>
                <a:latin typeface="Times New Roman"/>
                <a:cs typeface="Times New Roman"/>
              </a:rPr>
              <a:t>3.</a:t>
            </a:r>
            <a:r>
              <a:rPr dirty="0" sz="3600">
                <a:solidFill>
                  <a:srgbClr val="FF0000"/>
                </a:solidFill>
                <a:latin typeface="宋体"/>
                <a:cs typeface="宋体"/>
              </a:rPr>
              <a:t>下图是布朗粒子的实际运动轨迹吗</a:t>
            </a:r>
            <a:r>
              <a:rPr dirty="0" sz="360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9006" y="1702511"/>
            <a:ext cx="1662963" cy="441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33813" y="1704098"/>
            <a:ext cx="5331358" cy="441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90993" y="2192096"/>
            <a:ext cx="7785950" cy="441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0993" y="2681363"/>
            <a:ext cx="4683340" cy="438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2031" y="3433203"/>
            <a:ext cx="6559448" cy="4412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64018" y="3920883"/>
            <a:ext cx="6314973" cy="4396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73631" y="4728286"/>
            <a:ext cx="6924890" cy="4396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35456" y="5217871"/>
            <a:ext cx="4098505" cy="4380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55742" y="5465521"/>
            <a:ext cx="153162" cy="1522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34389" y="549274"/>
            <a:ext cx="22688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CC0000"/>
                </a:solidFill>
                <a:latin typeface="宋体"/>
                <a:cs typeface="宋体"/>
              </a:rPr>
              <a:t>三、小</a:t>
            </a:r>
            <a:r>
              <a:rPr dirty="0" sz="4400" spc="-15">
                <a:solidFill>
                  <a:srgbClr val="CC0000"/>
                </a:solidFill>
                <a:latin typeface="宋体"/>
                <a:cs typeface="宋体"/>
              </a:rPr>
              <a:t>结</a:t>
            </a:r>
            <a:endParaRPr sz="4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827" y="2401887"/>
            <a:ext cx="7807959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6F2F9F"/>
                </a:solidFill>
                <a:latin typeface="华文行楷"/>
                <a:cs typeface="华文行楷"/>
              </a:rPr>
              <a:t>有时在较暗的房间里可以观察到射</a:t>
            </a:r>
            <a:r>
              <a:rPr dirty="0" sz="3600" spc="-5" b="1">
                <a:solidFill>
                  <a:srgbClr val="6F2F9F"/>
                </a:solidFill>
                <a:latin typeface="华文行楷"/>
                <a:cs typeface="华文行楷"/>
              </a:rPr>
              <a:t>入 </a:t>
            </a:r>
            <a:r>
              <a:rPr dirty="0" sz="3600" b="1">
                <a:solidFill>
                  <a:srgbClr val="6F2F9F"/>
                </a:solidFill>
                <a:latin typeface="华文行楷"/>
                <a:cs typeface="华文行楷"/>
              </a:rPr>
              <a:t>屋内的阳光中有悬浮在空气里的小</a:t>
            </a:r>
            <a:r>
              <a:rPr dirty="0" sz="3600" spc="-5" b="1">
                <a:solidFill>
                  <a:srgbClr val="6F2F9F"/>
                </a:solidFill>
                <a:latin typeface="华文行楷"/>
                <a:cs typeface="华文行楷"/>
              </a:rPr>
              <a:t>颗 </a:t>
            </a:r>
            <a:r>
              <a:rPr dirty="0" sz="3600" b="1">
                <a:solidFill>
                  <a:srgbClr val="6F2F9F"/>
                </a:solidFill>
                <a:latin typeface="华文行楷"/>
                <a:cs typeface="华文行楷"/>
              </a:rPr>
              <a:t>粒在飞舞，这是布朗运动吗？为什么</a:t>
            </a:r>
            <a:r>
              <a:rPr dirty="0" sz="3600" spc="-5" b="1">
                <a:solidFill>
                  <a:srgbClr val="6F2F9F"/>
                </a:solidFill>
                <a:latin typeface="华文行楷"/>
                <a:cs typeface="华文行楷"/>
              </a:rPr>
              <a:t>？</a:t>
            </a:r>
            <a:endParaRPr sz="3600">
              <a:latin typeface="华文行楷"/>
              <a:cs typeface="华文行楷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1961" y="611682"/>
            <a:ext cx="3053511" cy="14768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32813" y="723646"/>
            <a:ext cx="13970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660066"/>
                </a:solidFill>
                <a:latin typeface="方正舒体"/>
                <a:cs typeface="方正舒体"/>
              </a:rPr>
              <a:t>思考</a:t>
            </a:r>
            <a:endParaRPr sz="54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6969" y="1349057"/>
            <a:ext cx="432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latin typeface="思源黑体 CN"/>
                <a:cs typeface="思源黑体 CN"/>
              </a:rPr>
              <a:t>）</a:t>
            </a:r>
            <a:endParaRPr sz="3200">
              <a:latin typeface="思源黑体 CN"/>
              <a:cs typeface="思源黑体 C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490" y="1121219"/>
            <a:ext cx="7847965" cy="4094479"/>
          </a:xfrm>
          <a:prstGeom prst="rect">
            <a:avLst/>
          </a:prstGeom>
        </p:spPr>
        <p:txBody>
          <a:bodyPr wrap="square" lIns="0" tIns="240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3200" spc="-5" b="1">
                <a:latin typeface="Times New Roman"/>
                <a:cs typeface="Times New Roman"/>
              </a:rPr>
              <a:t>1.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spc="15" b="1">
                <a:latin typeface="思源黑体 CN"/>
                <a:cs typeface="思源黑体 CN"/>
              </a:rPr>
              <a:t>关于布朗运动，如下说法正确的是</a:t>
            </a:r>
            <a:r>
              <a:rPr dirty="0" sz="3200" spc="5" b="1">
                <a:latin typeface="思源黑体 CN"/>
                <a:cs typeface="思源黑体 CN"/>
              </a:rPr>
              <a:t>（</a:t>
            </a:r>
            <a:endParaRPr sz="3200">
              <a:latin typeface="思源黑体 CN"/>
              <a:cs typeface="思源黑体 CN"/>
            </a:endParaRPr>
          </a:p>
          <a:p>
            <a:pPr marL="509270" indent="-496570">
              <a:lnSpc>
                <a:spcPct val="100000"/>
              </a:lnSpc>
              <a:spcBef>
                <a:spcPts val="1800"/>
              </a:spcBef>
              <a:buFont typeface="Times New Roman"/>
              <a:buAutoNum type="alphaUcPeriod"/>
              <a:tabLst>
                <a:tab pos="509270" algn="l"/>
              </a:tabLst>
            </a:pPr>
            <a:r>
              <a:rPr dirty="0" sz="3200" spc="15" b="1">
                <a:latin typeface="思源黑体 CN"/>
                <a:cs typeface="思源黑体 CN"/>
              </a:rPr>
              <a:t>布朗运动是花粉分子无规则运</a:t>
            </a:r>
            <a:r>
              <a:rPr dirty="0" sz="3200" spc="5" b="1">
                <a:latin typeface="思源黑体 CN"/>
                <a:cs typeface="思源黑体 CN"/>
              </a:rPr>
              <a:t>动</a:t>
            </a:r>
            <a:endParaRPr sz="3200">
              <a:latin typeface="思源黑体 CN"/>
              <a:cs typeface="思源黑体 CN"/>
            </a:endParaRPr>
          </a:p>
          <a:p>
            <a:pPr marL="355600" marR="5080" indent="-342900">
              <a:lnSpc>
                <a:spcPct val="100400"/>
              </a:lnSpc>
              <a:spcBef>
                <a:spcPts val="1785"/>
              </a:spcBef>
              <a:buFont typeface="Times New Roman"/>
              <a:buAutoNum type="alphaUcPeriod"/>
              <a:tabLst>
                <a:tab pos="487045" algn="l"/>
              </a:tabLst>
            </a:pPr>
            <a:r>
              <a:rPr dirty="0" sz="3200" spc="15" b="1">
                <a:latin typeface="思源黑体 CN"/>
                <a:cs typeface="思源黑体 CN"/>
              </a:rPr>
              <a:t>布朗运动是由于花粉微粒内部分子间的</a:t>
            </a:r>
            <a:r>
              <a:rPr dirty="0" sz="3200" b="1">
                <a:latin typeface="思源黑体 CN"/>
                <a:cs typeface="思源黑体 CN"/>
              </a:rPr>
              <a:t>碰 </a:t>
            </a:r>
            <a:r>
              <a:rPr dirty="0" sz="3200" spc="15" b="1">
                <a:latin typeface="思源黑体 CN"/>
                <a:cs typeface="思源黑体 CN"/>
              </a:rPr>
              <a:t>撞引起</a:t>
            </a:r>
            <a:r>
              <a:rPr dirty="0" sz="3200" spc="5" b="1">
                <a:latin typeface="思源黑体 CN"/>
                <a:cs typeface="思源黑体 CN"/>
              </a:rPr>
              <a:t>的</a:t>
            </a:r>
            <a:endParaRPr sz="3200">
              <a:latin typeface="思源黑体 CN"/>
              <a:cs typeface="思源黑体 CN"/>
            </a:endParaRPr>
          </a:p>
          <a:p>
            <a:pPr marL="509270" indent="-496570">
              <a:lnSpc>
                <a:spcPct val="100000"/>
              </a:lnSpc>
              <a:spcBef>
                <a:spcPts val="1785"/>
              </a:spcBef>
              <a:buFont typeface="Times New Roman"/>
              <a:buAutoNum type="alphaUcPeriod"/>
              <a:tabLst>
                <a:tab pos="509270" algn="l"/>
              </a:tabLst>
            </a:pPr>
            <a:r>
              <a:rPr dirty="0" sz="3200" spc="15" b="1">
                <a:latin typeface="思源黑体 CN"/>
                <a:cs typeface="思源黑体 CN"/>
              </a:rPr>
              <a:t>温度越高，布朗运动越明</a:t>
            </a:r>
            <a:r>
              <a:rPr dirty="0" sz="3200" spc="5" b="1">
                <a:latin typeface="思源黑体 CN"/>
                <a:cs typeface="思源黑体 CN"/>
              </a:rPr>
              <a:t>显</a:t>
            </a:r>
            <a:endParaRPr sz="3200">
              <a:latin typeface="思源黑体 CN"/>
              <a:cs typeface="思源黑体 CN"/>
            </a:endParaRPr>
          </a:p>
          <a:p>
            <a:pPr marL="509270" indent="-496570">
              <a:lnSpc>
                <a:spcPct val="100000"/>
              </a:lnSpc>
              <a:spcBef>
                <a:spcPts val="1800"/>
              </a:spcBef>
              <a:buFont typeface="Times New Roman"/>
              <a:buAutoNum type="alphaUcPeriod"/>
              <a:tabLst>
                <a:tab pos="509270" algn="l"/>
              </a:tabLst>
            </a:pPr>
            <a:r>
              <a:rPr dirty="0" sz="3200" spc="15" b="1">
                <a:latin typeface="思源黑体 CN"/>
                <a:cs typeface="思源黑体 CN"/>
              </a:rPr>
              <a:t>布朗运动是分子运动的间接结</a:t>
            </a:r>
            <a:r>
              <a:rPr dirty="0" sz="3200" spc="5" b="1">
                <a:latin typeface="思源黑体 CN"/>
                <a:cs typeface="思源黑体 CN"/>
              </a:rPr>
              <a:t>果</a:t>
            </a:r>
            <a:endParaRPr sz="3200">
              <a:latin typeface="思源黑体 CN"/>
              <a:cs typeface="思源黑体 C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03604" y="1369326"/>
            <a:ext cx="836409" cy="461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4715" y="188976"/>
            <a:ext cx="2449195" cy="647700"/>
          </a:xfrm>
          <a:custGeom>
            <a:avLst/>
            <a:gdLst/>
            <a:ahLst/>
            <a:cxnLst/>
            <a:rect l="l" t="t" r="r" b="b"/>
            <a:pathLst>
              <a:path w="2449195" h="647700">
                <a:moveTo>
                  <a:pt x="2124456" y="647700"/>
                </a:moveTo>
                <a:lnTo>
                  <a:pt x="0" y="647700"/>
                </a:lnTo>
                <a:lnTo>
                  <a:pt x="0" y="0"/>
                </a:lnTo>
                <a:lnTo>
                  <a:pt x="2124456" y="0"/>
                </a:lnTo>
                <a:lnTo>
                  <a:pt x="2449067" y="323088"/>
                </a:lnTo>
                <a:lnTo>
                  <a:pt x="2124456" y="647700"/>
                </a:lnTo>
                <a:close/>
              </a:path>
            </a:pathLst>
          </a:custGeom>
          <a:solidFill>
            <a:srgbClr val="E1A9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2587" y="176212"/>
            <a:ext cx="2473325" cy="673100"/>
          </a:xfrm>
          <a:custGeom>
            <a:avLst/>
            <a:gdLst/>
            <a:ahLst/>
            <a:cxnLst/>
            <a:rect l="l" t="t" r="r" b="b"/>
            <a:pathLst>
              <a:path w="2473325" h="673100">
                <a:moveTo>
                  <a:pt x="2136775" y="673100"/>
                </a:moveTo>
                <a:lnTo>
                  <a:pt x="12700" y="673100"/>
                </a:lnTo>
                <a:lnTo>
                  <a:pt x="10223" y="672858"/>
                </a:lnTo>
                <a:lnTo>
                  <a:pt x="0" y="660400"/>
                </a:lnTo>
                <a:lnTo>
                  <a:pt x="0" y="12700"/>
                </a:lnTo>
                <a:lnTo>
                  <a:pt x="12700" y="0"/>
                </a:lnTo>
                <a:lnTo>
                  <a:pt x="2136775" y="0"/>
                </a:lnTo>
                <a:lnTo>
                  <a:pt x="215473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647700"/>
                </a:lnTo>
                <a:lnTo>
                  <a:pt x="12700" y="647700"/>
                </a:lnTo>
                <a:lnTo>
                  <a:pt x="25400" y="660400"/>
                </a:lnTo>
                <a:lnTo>
                  <a:pt x="2154732" y="660400"/>
                </a:lnTo>
                <a:lnTo>
                  <a:pt x="2145753" y="669378"/>
                </a:lnTo>
                <a:lnTo>
                  <a:pt x="2143836" y="670953"/>
                </a:lnTo>
                <a:lnTo>
                  <a:pt x="2141639" y="672134"/>
                </a:lnTo>
                <a:lnTo>
                  <a:pt x="2139251" y="672858"/>
                </a:lnTo>
                <a:lnTo>
                  <a:pt x="2136775" y="673100"/>
                </a:lnTo>
                <a:close/>
              </a:path>
              <a:path w="2473325" h="6731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473325" h="673100">
                <a:moveTo>
                  <a:pt x="2131517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154732" y="12700"/>
                </a:lnTo>
                <a:lnTo>
                  <a:pt x="2163711" y="21678"/>
                </a:lnTo>
                <a:lnTo>
                  <a:pt x="2127796" y="21678"/>
                </a:lnTo>
                <a:lnTo>
                  <a:pt x="2131517" y="25400"/>
                </a:lnTo>
                <a:close/>
              </a:path>
              <a:path w="2473325" h="673100">
                <a:moveTo>
                  <a:pt x="2442667" y="336550"/>
                </a:moveTo>
                <a:lnTo>
                  <a:pt x="2127796" y="21678"/>
                </a:lnTo>
                <a:lnTo>
                  <a:pt x="2136775" y="25400"/>
                </a:lnTo>
                <a:lnTo>
                  <a:pt x="2167432" y="25400"/>
                </a:lnTo>
                <a:lnTo>
                  <a:pt x="2469603" y="327571"/>
                </a:lnTo>
                <a:lnTo>
                  <a:pt x="2451646" y="327571"/>
                </a:lnTo>
                <a:lnTo>
                  <a:pt x="2442667" y="336550"/>
                </a:lnTo>
                <a:close/>
              </a:path>
              <a:path w="2473325" h="673100">
                <a:moveTo>
                  <a:pt x="2167432" y="25400"/>
                </a:moveTo>
                <a:lnTo>
                  <a:pt x="2136775" y="25400"/>
                </a:lnTo>
                <a:lnTo>
                  <a:pt x="2127796" y="21678"/>
                </a:lnTo>
                <a:lnTo>
                  <a:pt x="2163711" y="21678"/>
                </a:lnTo>
                <a:lnTo>
                  <a:pt x="2167432" y="25400"/>
                </a:lnTo>
                <a:close/>
              </a:path>
              <a:path w="2473325" h="673100">
                <a:moveTo>
                  <a:pt x="2451646" y="345528"/>
                </a:moveTo>
                <a:lnTo>
                  <a:pt x="2442667" y="336550"/>
                </a:lnTo>
                <a:lnTo>
                  <a:pt x="2451646" y="327571"/>
                </a:lnTo>
                <a:lnTo>
                  <a:pt x="2451646" y="345528"/>
                </a:lnTo>
                <a:close/>
              </a:path>
              <a:path w="2473325" h="673100">
                <a:moveTo>
                  <a:pt x="2469603" y="345528"/>
                </a:moveTo>
                <a:lnTo>
                  <a:pt x="2451646" y="345528"/>
                </a:lnTo>
                <a:lnTo>
                  <a:pt x="2451646" y="327571"/>
                </a:lnTo>
                <a:lnTo>
                  <a:pt x="2469603" y="327571"/>
                </a:lnTo>
                <a:lnTo>
                  <a:pt x="2471178" y="329488"/>
                </a:lnTo>
                <a:lnTo>
                  <a:pt x="2472359" y="331685"/>
                </a:lnTo>
                <a:lnTo>
                  <a:pt x="2473083" y="334073"/>
                </a:lnTo>
                <a:lnTo>
                  <a:pt x="2473325" y="336550"/>
                </a:lnTo>
                <a:lnTo>
                  <a:pt x="2473083" y="339026"/>
                </a:lnTo>
                <a:lnTo>
                  <a:pt x="2472359" y="341414"/>
                </a:lnTo>
                <a:lnTo>
                  <a:pt x="2471178" y="343611"/>
                </a:lnTo>
                <a:lnTo>
                  <a:pt x="2469603" y="345528"/>
                </a:lnTo>
                <a:close/>
              </a:path>
              <a:path w="2473325" h="673100">
                <a:moveTo>
                  <a:pt x="2127796" y="651421"/>
                </a:moveTo>
                <a:lnTo>
                  <a:pt x="2442667" y="336550"/>
                </a:lnTo>
                <a:lnTo>
                  <a:pt x="2451646" y="345528"/>
                </a:lnTo>
                <a:lnTo>
                  <a:pt x="2469603" y="345528"/>
                </a:lnTo>
                <a:lnTo>
                  <a:pt x="2167432" y="647700"/>
                </a:lnTo>
                <a:lnTo>
                  <a:pt x="2136775" y="647700"/>
                </a:lnTo>
                <a:lnTo>
                  <a:pt x="2127796" y="651421"/>
                </a:lnTo>
                <a:close/>
              </a:path>
              <a:path w="2473325" h="673100">
                <a:moveTo>
                  <a:pt x="25400" y="660400"/>
                </a:moveTo>
                <a:lnTo>
                  <a:pt x="12700" y="647700"/>
                </a:lnTo>
                <a:lnTo>
                  <a:pt x="25400" y="647700"/>
                </a:lnTo>
                <a:lnTo>
                  <a:pt x="25400" y="660400"/>
                </a:lnTo>
                <a:close/>
              </a:path>
              <a:path w="2473325" h="673100">
                <a:moveTo>
                  <a:pt x="2154732" y="660400"/>
                </a:moveTo>
                <a:lnTo>
                  <a:pt x="25400" y="660400"/>
                </a:lnTo>
                <a:lnTo>
                  <a:pt x="25400" y="647700"/>
                </a:lnTo>
                <a:lnTo>
                  <a:pt x="2131517" y="647700"/>
                </a:lnTo>
                <a:lnTo>
                  <a:pt x="2127796" y="651421"/>
                </a:lnTo>
                <a:lnTo>
                  <a:pt x="2163711" y="651421"/>
                </a:lnTo>
                <a:lnTo>
                  <a:pt x="2154732" y="660400"/>
                </a:lnTo>
                <a:close/>
              </a:path>
              <a:path w="2473325" h="673100">
                <a:moveTo>
                  <a:pt x="2163711" y="651421"/>
                </a:moveTo>
                <a:lnTo>
                  <a:pt x="2127796" y="651421"/>
                </a:lnTo>
                <a:lnTo>
                  <a:pt x="2136775" y="647700"/>
                </a:lnTo>
                <a:lnTo>
                  <a:pt x="2167432" y="647700"/>
                </a:lnTo>
                <a:lnTo>
                  <a:pt x="2163711" y="651421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1187" y="142557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solidFill>
                  <a:srgbClr val="000066"/>
                </a:solidFill>
                <a:latin typeface="华文行楷"/>
                <a:cs typeface="华文行楷"/>
              </a:rPr>
              <a:t>课堂练习</a:t>
            </a:r>
            <a:endParaRPr sz="36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90" y="915669"/>
            <a:ext cx="69615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1665" algn="l"/>
              </a:tabLst>
            </a:pPr>
            <a:r>
              <a:rPr dirty="0" spc="-5">
                <a:latin typeface="Times New Roman"/>
                <a:cs typeface="Times New Roman"/>
              </a:rPr>
              <a:t>2.	“</a:t>
            </a:r>
            <a:r>
              <a:rPr dirty="0"/>
              <a:t>布朗运动”是说明分子运动的重</a:t>
            </a:r>
            <a:r>
              <a:rPr dirty="0" spc="-10"/>
              <a:t>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490" y="958751"/>
            <a:ext cx="7058659" cy="3884929"/>
          </a:xfrm>
          <a:prstGeom prst="rect">
            <a:avLst/>
          </a:prstGeom>
        </p:spPr>
        <p:txBody>
          <a:bodyPr wrap="square" lIns="0" tIns="305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dirty="0" sz="3200" b="1">
                <a:latin typeface="黑体"/>
                <a:cs typeface="黑体"/>
              </a:rPr>
              <a:t>实验事实。则布朗运动是指</a:t>
            </a:r>
            <a:r>
              <a:rPr dirty="0" sz="3200" spc="-10" b="1">
                <a:latin typeface="黑体"/>
                <a:cs typeface="黑体"/>
              </a:rPr>
              <a:t>（</a:t>
            </a:r>
            <a:r>
              <a:rPr dirty="0" sz="3200" spc="245" b="1">
                <a:latin typeface="黑体"/>
                <a:cs typeface="黑体"/>
              </a:rPr>
              <a:t> </a:t>
            </a:r>
            <a:r>
              <a:rPr dirty="0" baseline="-8838" sz="6600" b="1">
                <a:solidFill>
                  <a:srgbClr val="CC3300"/>
                </a:solidFill>
                <a:latin typeface="Times New Roman"/>
                <a:cs typeface="Times New Roman"/>
              </a:rPr>
              <a:t>C</a:t>
            </a:r>
            <a:r>
              <a:rPr dirty="0" baseline="-8838" sz="6600" spc="359" b="1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黑体"/>
                <a:cs typeface="黑体"/>
              </a:rPr>
              <a:t>）</a:t>
            </a:r>
            <a:endParaRPr sz="3200">
              <a:latin typeface="黑体"/>
              <a:cs typeface="黑体"/>
            </a:endParaRPr>
          </a:p>
          <a:p>
            <a:pPr marL="732790">
              <a:lnSpc>
                <a:spcPct val="100000"/>
              </a:lnSpc>
              <a:spcBef>
                <a:spcPts val="1680"/>
              </a:spcBef>
            </a:pPr>
            <a:r>
              <a:rPr dirty="0" sz="3200" b="1">
                <a:latin typeface="Times New Roman"/>
                <a:cs typeface="Times New Roman"/>
              </a:rPr>
              <a:t>A</a:t>
            </a:r>
            <a:r>
              <a:rPr dirty="0" sz="3200" spc="-19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.</a:t>
            </a:r>
            <a:r>
              <a:rPr dirty="0" sz="3200" spc="-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液体分子的运</a:t>
            </a:r>
            <a:r>
              <a:rPr dirty="0" sz="3200" spc="-10" b="1">
                <a:latin typeface="黑体"/>
                <a:cs typeface="黑体"/>
              </a:rPr>
              <a:t>动</a:t>
            </a:r>
            <a:endParaRPr sz="3200">
              <a:latin typeface="黑体"/>
              <a:cs typeface="黑体"/>
            </a:endParaRPr>
          </a:p>
          <a:p>
            <a:pPr algn="just" marL="732790" marR="5080">
              <a:lnSpc>
                <a:spcPct val="150000"/>
              </a:lnSpc>
            </a:pPr>
            <a:r>
              <a:rPr dirty="0" sz="3200" b="1">
                <a:latin typeface="Times New Roman"/>
                <a:cs typeface="Times New Roman"/>
              </a:rPr>
              <a:t>B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.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悬浮在液体中的固体分子的运</a:t>
            </a:r>
            <a:r>
              <a:rPr dirty="0" sz="3200" spc="-10" b="1">
                <a:latin typeface="黑体"/>
                <a:cs typeface="黑体"/>
              </a:rPr>
              <a:t>动 </a:t>
            </a:r>
            <a:r>
              <a:rPr dirty="0" sz="3200" b="1">
                <a:latin typeface="Times New Roman"/>
                <a:cs typeface="Times New Roman"/>
              </a:rPr>
              <a:t>C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.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悬浮在液体中的固体颗粒的运</a:t>
            </a:r>
            <a:r>
              <a:rPr dirty="0" sz="3200" spc="-10" b="1">
                <a:latin typeface="黑体"/>
                <a:cs typeface="黑体"/>
              </a:rPr>
              <a:t>动 </a:t>
            </a:r>
            <a:r>
              <a:rPr dirty="0" sz="3200" b="1">
                <a:latin typeface="Times New Roman"/>
                <a:cs typeface="Times New Roman"/>
              </a:rPr>
              <a:t>D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.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液体分子和固体分子的共同运</a:t>
            </a:r>
            <a:r>
              <a:rPr dirty="0" sz="3200" spc="-10" b="1">
                <a:latin typeface="黑体"/>
                <a:cs typeface="黑体"/>
              </a:rPr>
              <a:t>动</a:t>
            </a:r>
            <a:endParaRPr sz="3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6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>
                <a:latin typeface="Times New Roman"/>
                <a:cs typeface="Times New Roman"/>
              </a:rPr>
              <a:t>A</a:t>
            </a:r>
            <a:r>
              <a:rPr dirty="0" spc="-19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/>
              <a:t>将香水瓶打开后能闻到香</a:t>
            </a:r>
            <a:r>
              <a:rPr dirty="0" spc="-10"/>
              <a:t>味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>
                <a:latin typeface="Times New Roman"/>
                <a:cs typeface="Times New Roman"/>
              </a:rPr>
              <a:t>B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/>
              <a:t>汽车开过后</a:t>
            </a:r>
            <a:r>
              <a:rPr dirty="0" spc="-5">
                <a:latin typeface="Times New Roman"/>
                <a:cs typeface="Times New Roman"/>
              </a:rPr>
              <a:t>,</a:t>
            </a:r>
            <a:r>
              <a:rPr dirty="0"/>
              <a:t>公路上尘土飞</a:t>
            </a:r>
            <a:r>
              <a:rPr dirty="0" spc="-10"/>
              <a:t>扬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>
                <a:latin typeface="Times New Roman"/>
                <a:cs typeface="Times New Roman"/>
              </a:rPr>
              <a:t>C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/>
              <a:t>洒在地上的水</a:t>
            </a:r>
            <a:r>
              <a:rPr dirty="0" spc="-5">
                <a:latin typeface="Times New Roman"/>
                <a:cs typeface="Times New Roman"/>
              </a:rPr>
              <a:t>,</a:t>
            </a:r>
            <a:r>
              <a:rPr dirty="0"/>
              <a:t>过一段时间就干</a:t>
            </a:r>
            <a:r>
              <a:rPr dirty="0" spc="-10"/>
              <a:t>了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>
                <a:latin typeface="Times New Roman"/>
                <a:cs typeface="Times New Roman"/>
              </a:rPr>
              <a:t>D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/>
              <a:t>悬浮在水中的花粉做无规则运</a:t>
            </a:r>
            <a:r>
              <a:rPr dirty="0" spc="-10"/>
              <a:t>动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905" rIns="0" bIns="0" rtlCol="0" vert="horz">
            <a:spAutoFit/>
          </a:bodyPr>
          <a:lstStyle/>
          <a:p>
            <a:pPr marL="12700" marR="5080" indent="615315">
              <a:lnSpc>
                <a:spcPct val="76200"/>
              </a:lnSpc>
              <a:spcBef>
                <a:spcPts val="1015"/>
              </a:spcBef>
              <a:tabLst>
                <a:tab pos="1137285" algn="l"/>
                <a:tab pos="3575685" algn="l"/>
              </a:tabLst>
            </a:pPr>
            <a:r>
              <a:rPr dirty="0" spc="-5">
                <a:latin typeface="Times New Roman"/>
                <a:cs typeface="Times New Roman"/>
              </a:rPr>
              <a:t>3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/>
              <a:t>下列现象中</a:t>
            </a:r>
            <a:r>
              <a:rPr dirty="0" spc="-5">
                <a:latin typeface="Times New Roman"/>
                <a:cs typeface="Times New Roman"/>
              </a:rPr>
              <a:t>,</a:t>
            </a:r>
            <a:r>
              <a:rPr dirty="0"/>
              <a:t>能说明分子是不断运</a:t>
            </a:r>
            <a:r>
              <a:rPr dirty="0" spc="-10"/>
              <a:t>动 </a:t>
            </a:r>
            <a:r>
              <a:rPr dirty="0"/>
              <a:t>着的是</a:t>
            </a:r>
            <a:r>
              <a:rPr dirty="0" spc="-10"/>
              <a:t>（</a:t>
            </a:r>
            <a:r>
              <a:rPr dirty="0" spc="114"/>
              <a:t> </a:t>
            </a:r>
            <a:r>
              <a:rPr dirty="0" baseline="-3787" sz="6600">
                <a:solidFill>
                  <a:srgbClr val="FF0000"/>
                </a:solidFill>
                <a:latin typeface="Times New Roman"/>
                <a:cs typeface="Times New Roman"/>
              </a:rPr>
              <a:t>A C</a:t>
            </a:r>
            <a:r>
              <a:rPr dirty="0" baseline="-3787" sz="6600" spc="7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3787" sz="6600">
                <a:solidFill>
                  <a:srgbClr val="FF0000"/>
                </a:solidFill>
                <a:latin typeface="Times New Roman"/>
                <a:cs typeface="Times New Roman"/>
              </a:rPr>
              <a:t>D	</a:t>
            </a:r>
            <a:r>
              <a:rPr dirty="0" sz="3200" spc="-10"/>
              <a:t>）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2025-04-20T13:34:13Z</dcterms:created>
  <dcterms:modified xsi:type="dcterms:W3CDTF">2025-04-20T13:34:13Z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