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91084" y="2546604"/>
            <a:ext cx="437515" cy="474345"/>
          </a:xfrm>
          <a:custGeom>
            <a:avLst/>
            <a:gdLst/>
            <a:ahLst/>
            <a:cxnLst/>
            <a:rect l="l" t="t" r="r" b="b"/>
            <a:pathLst>
              <a:path w="437515" h="474344">
                <a:moveTo>
                  <a:pt x="0" y="0"/>
                </a:moveTo>
                <a:lnTo>
                  <a:pt x="437388" y="0"/>
                </a:lnTo>
                <a:lnTo>
                  <a:pt x="437388" y="473964"/>
                </a:lnTo>
                <a:lnTo>
                  <a:pt x="0" y="473964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673608" y="2546604"/>
            <a:ext cx="327660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414527" y="2968751"/>
            <a:ext cx="422275" cy="474345"/>
          </a:xfrm>
          <a:custGeom>
            <a:avLst/>
            <a:gdLst/>
            <a:ahLst/>
            <a:cxnLst/>
            <a:rect l="l" t="t" r="r" b="b"/>
            <a:pathLst>
              <a:path w="422275" h="474345">
                <a:moveTo>
                  <a:pt x="0" y="0"/>
                </a:moveTo>
                <a:lnTo>
                  <a:pt x="422147" y="0"/>
                </a:lnTo>
                <a:lnTo>
                  <a:pt x="422147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784859" y="2968751"/>
            <a:ext cx="367284" cy="4739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0" y="2895600"/>
            <a:ext cx="560832" cy="42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51509" y="24384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315468" y="3261359"/>
            <a:ext cx="8692896" cy="548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316177" y="2623096"/>
            <a:ext cx="463435" cy="4654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884349" y="2559088"/>
            <a:ext cx="6630606" cy="6282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7576" y="1098803"/>
            <a:ext cx="437515" cy="474345"/>
          </a:xfrm>
          <a:custGeom>
            <a:avLst/>
            <a:gdLst/>
            <a:ahLst/>
            <a:cxnLst/>
            <a:rect l="l" t="t" r="r" b="b"/>
            <a:pathLst>
              <a:path w="437515" h="474344">
                <a:moveTo>
                  <a:pt x="0" y="0"/>
                </a:moveTo>
                <a:lnTo>
                  <a:pt x="437387" y="0"/>
                </a:lnTo>
                <a:lnTo>
                  <a:pt x="437387" y="473964"/>
                </a:lnTo>
                <a:lnTo>
                  <a:pt x="0" y="473964"/>
                </a:lnTo>
                <a:lnTo>
                  <a:pt x="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00100" y="1098803"/>
            <a:ext cx="329184" cy="4739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41019" y="1520952"/>
            <a:ext cx="422275" cy="474345"/>
          </a:xfrm>
          <a:custGeom>
            <a:avLst/>
            <a:gdLst/>
            <a:ahLst/>
            <a:cxnLst/>
            <a:rect l="l" t="t" r="r" b="b"/>
            <a:pathLst>
              <a:path w="422275" h="474344">
                <a:moveTo>
                  <a:pt x="0" y="0"/>
                </a:moveTo>
                <a:lnTo>
                  <a:pt x="422148" y="0"/>
                </a:lnTo>
                <a:lnTo>
                  <a:pt x="422148" y="473964"/>
                </a:lnTo>
                <a:lnTo>
                  <a:pt x="0" y="473964"/>
                </a:lnTo>
                <a:lnTo>
                  <a:pt x="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15" y="1121727"/>
            <a:ext cx="4490720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9802" y="1545145"/>
            <a:ext cx="7870190" cy="4027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13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Relationship Id="rId17" Type="http://schemas.openxmlformats.org/officeDocument/2006/relationships/image" Target="../media/image62.png"/><Relationship Id="rId18" Type="http://schemas.openxmlformats.org/officeDocument/2006/relationships/image" Target="../media/image6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13.png"/><Relationship Id="rId4" Type="http://schemas.openxmlformats.org/officeDocument/2006/relationships/image" Target="../media/image6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8796" y="468833"/>
            <a:ext cx="34671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b="1">
                <a:solidFill>
                  <a:srgbClr val="003300"/>
                </a:solidFill>
                <a:latin typeface="方正舒体"/>
                <a:cs typeface="方正舒体"/>
              </a:rPr>
              <a:t>分子动理</a:t>
            </a:r>
            <a:r>
              <a:rPr dirty="0" sz="5400" spc="-25" b="1">
                <a:solidFill>
                  <a:srgbClr val="003300"/>
                </a:solidFill>
                <a:latin typeface="方正舒体"/>
                <a:cs typeface="方正舒体"/>
              </a:rPr>
              <a:t>论</a:t>
            </a:r>
            <a:endParaRPr sz="5400">
              <a:latin typeface="方正舒体"/>
              <a:cs typeface="方正舒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63930" y="275996"/>
            <a:ext cx="1653539" cy="11950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9405" marR="5080" indent="-307340">
              <a:lnSpc>
                <a:spcPct val="119900"/>
              </a:lnSpc>
              <a:spcBef>
                <a:spcPts val="100"/>
              </a:spcBef>
              <a:tabLst>
                <a:tab pos="925830" algn="l"/>
              </a:tabLst>
            </a:pPr>
            <a:r>
              <a:rPr dirty="0" sz="3200">
                <a:solidFill>
                  <a:srgbClr val="001514"/>
                </a:solidFill>
                <a:latin typeface="华文行楷"/>
                <a:cs typeface="华文行楷"/>
              </a:rPr>
              <a:t>高二物理 </a:t>
            </a:r>
            <a:r>
              <a:rPr dirty="0" sz="3200">
                <a:solidFill>
                  <a:srgbClr val="001514"/>
                </a:solidFill>
                <a:latin typeface="华文行楷"/>
                <a:cs typeface="华文行楷"/>
              </a:rPr>
              <a:t>热	学</a:t>
            </a:r>
            <a:endParaRPr sz="3200">
              <a:latin typeface="华文行楷"/>
              <a:cs typeface="华文行楷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93377" y="3818572"/>
            <a:ext cx="3653701" cy="492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688945" y="4633798"/>
            <a:ext cx="4121404" cy="405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77656" y="5371261"/>
            <a:ext cx="2083955" cy="3962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40415" y="5369280"/>
            <a:ext cx="3084448" cy="4483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677" y="844867"/>
            <a:ext cx="394144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333399"/>
                </a:solidFill>
                <a:latin typeface="华文行楷"/>
                <a:cs typeface="华文行楷"/>
              </a:rPr>
              <a:t>分子和分子学说</a:t>
            </a:r>
            <a:endParaRPr sz="4400">
              <a:latin typeface="华文行楷"/>
              <a:cs typeface="华文行楷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427" y="2027237"/>
            <a:ext cx="7445375" cy="26574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41605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 b="1">
                <a:latin typeface="宋体"/>
                <a:cs typeface="宋体"/>
              </a:rPr>
              <a:t>分子是能单独存在、并保持纯物质的</a:t>
            </a:r>
            <a:r>
              <a:rPr dirty="0" sz="3200" spc="-10" b="1">
                <a:latin typeface="宋体"/>
                <a:cs typeface="宋体"/>
              </a:rPr>
              <a:t>化 </a:t>
            </a:r>
            <a:r>
              <a:rPr dirty="0" sz="3200" b="1">
                <a:latin typeface="宋体"/>
                <a:cs typeface="宋体"/>
              </a:rPr>
              <a:t>学性质的最小粒子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418465">
              <a:lnSpc>
                <a:spcPct val="100000"/>
              </a:lnSpc>
              <a:spcBef>
                <a:spcPts val="570"/>
              </a:spcBef>
            </a:pPr>
            <a:r>
              <a:rPr dirty="0" sz="3200" b="1">
                <a:solidFill>
                  <a:srgbClr val="0000CC"/>
                </a:solidFill>
                <a:latin typeface="华文行楷"/>
                <a:cs typeface="华文行楷"/>
              </a:rPr>
              <a:t>可以是分子、原子或离子。</a:t>
            </a:r>
            <a:endParaRPr sz="3200">
              <a:latin typeface="华文行楷"/>
              <a:cs typeface="华文行楷"/>
            </a:endParaRPr>
          </a:p>
          <a:p>
            <a:pPr marL="355600" marR="5080" indent="-342900">
              <a:lnSpc>
                <a:spcPct val="100000"/>
              </a:lnSpc>
              <a:spcBef>
                <a:spcPts val="944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 b="1">
                <a:latin typeface="宋体"/>
                <a:cs typeface="宋体"/>
              </a:rPr>
              <a:t>分子的概念最早是由意大利的阿莫迪欧</a:t>
            </a:r>
            <a:r>
              <a:rPr dirty="0" sz="3200" b="1">
                <a:latin typeface="Times New Roman"/>
                <a:cs typeface="Times New Roman"/>
              </a:rPr>
              <a:t>· </a:t>
            </a:r>
            <a:r>
              <a:rPr dirty="0" sz="3200" b="1">
                <a:latin typeface="宋体"/>
                <a:cs typeface="宋体"/>
              </a:rPr>
              <a:t>阿伏加德罗提出，于</a:t>
            </a:r>
            <a:r>
              <a:rPr dirty="0" sz="3200" spc="-5" b="1">
                <a:latin typeface="Times New Roman"/>
                <a:cs typeface="Times New Roman"/>
              </a:rPr>
              <a:t>1811</a:t>
            </a:r>
            <a:r>
              <a:rPr dirty="0" sz="3200" b="1">
                <a:latin typeface="宋体"/>
                <a:cs typeface="宋体"/>
              </a:rPr>
              <a:t>年发表</a:t>
            </a:r>
            <a:r>
              <a:rPr dirty="0" sz="3200" spc="-10" b="1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36077" y="292099"/>
            <a:ext cx="395287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latin typeface="黑体"/>
                <a:cs typeface="黑体"/>
              </a:rPr>
              <a:t>一、分子的大</a:t>
            </a:r>
            <a:r>
              <a:rPr dirty="0" sz="4400" spc="-15">
                <a:latin typeface="黑体"/>
                <a:cs typeface="黑体"/>
              </a:rPr>
              <a:t>小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1139" y="5423534"/>
            <a:ext cx="649160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 b="1">
                <a:latin typeface="黑体"/>
                <a:cs typeface="黑体"/>
              </a:rPr>
              <a:t>放大上亿倍的蛋白质分子结构模</a:t>
            </a:r>
            <a:r>
              <a:rPr dirty="0" sz="3200" spc="-10" b="1">
                <a:latin typeface="黑体"/>
                <a:cs typeface="黑体"/>
              </a:rPr>
              <a:t>型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09800" y="1371600"/>
            <a:ext cx="5181600" cy="41056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5102" y="364807"/>
            <a:ext cx="639762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Times New Roman"/>
                <a:cs typeface="Times New Roman"/>
              </a:rPr>
              <a:t>1</a:t>
            </a:r>
            <a:r>
              <a:rPr dirty="0" sz="4000">
                <a:latin typeface="黑体"/>
                <a:cs typeface="黑体"/>
              </a:rPr>
              <a:t>．分子大小的估测</a:t>
            </a:r>
            <a:r>
              <a:rPr dirty="0" sz="4000">
                <a:latin typeface="Times New Roman"/>
                <a:cs typeface="Times New Roman"/>
              </a:rPr>
              <a:t>——</a:t>
            </a:r>
            <a:r>
              <a:rPr dirty="0" sz="4000">
                <a:latin typeface="黑体"/>
                <a:cs typeface="黑体"/>
              </a:rPr>
              <a:t>单</a:t>
            </a:r>
            <a:r>
              <a:rPr dirty="0" sz="4000" spc="-25">
                <a:latin typeface="黑体"/>
                <a:cs typeface="黑体"/>
              </a:rPr>
              <a:t>分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0902" y="661183"/>
            <a:ext cx="7873365" cy="2875280"/>
          </a:xfrm>
          <a:prstGeom prst="rect">
            <a:avLst/>
          </a:prstGeom>
        </p:spPr>
        <p:txBody>
          <a:bodyPr wrap="square" lIns="0" tIns="327025" rIns="0" bIns="0" rtlCol="0" vert="horz">
            <a:spAutoFit/>
          </a:bodyPr>
          <a:lstStyle/>
          <a:p>
            <a:pPr marL="596900">
              <a:lnSpc>
                <a:spcPct val="100000"/>
              </a:lnSpc>
              <a:spcBef>
                <a:spcPts val="2575"/>
              </a:spcBef>
            </a:pPr>
            <a:r>
              <a:rPr dirty="0" sz="4000" b="1">
                <a:latin typeface="黑体"/>
                <a:cs typeface="黑体"/>
              </a:rPr>
              <a:t>子油膜</a:t>
            </a:r>
            <a:r>
              <a:rPr dirty="0" sz="4000" spc="-25" b="1">
                <a:latin typeface="黑体"/>
                <a:cs typeface="黑体"/>
              </a:rPr>
              <a:t>法</a:t>
            </a:r>
            <a:endParaRPr sz="4000">
              <a:latin typeface="黑体"/>
              <a:cs typeface="黑体"/>
            </a:endParaRPr>
          </a:p>
          <a:p>
            <a:pPr algn="just" marL="355600" marR="5080" indent="-342900">
              <a:lnSpc>
                <a:spcPct val="99900"/>
              </a:lnSpc>
              <a:spcBef>
                <a:spcPts val="173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dirty="0" sz="2800" b="1">
                <a:latin typeface="黑体"/>
                <a:cs typeface="黑体"/>
              </a:rPr>
              <a:t>单分子油膜法粗测分子直径的原理，类似于取</a:t>
            </a:r>
            <a:r>
              <a:rPr dirty="0" sz="2800" spc="-15" b="1">
                <a:latin typeface="黑体"/>
                <a:cs typeface="黑体"/>
              </a:rPr>
              <a:t>一 </a:t>
            </a:r>
            <a:r>
              <a:rPr dirty="0" sz="2800" b="1">
                <a:latin typeface="黑体"/>
                <a:cs typeface="黑体"/>
              </a:rPr>
              <a:t>定量的小米，测出它的体积</a:t>
            </a:r>
            <a:r>
              <a:rPr dirty="0" sz="2800" b="1">
                <a:latin typeface="Times New Roman"/>
                <a:cs typeface="Times New Roman"/>
              </a:rPr>
              <a:t>V</a:t>
            </a:r>
            <a:r>
              <a:rPr dirty="0" sz="2800" b="1">
                <a:latin typeface="黑体"/>
                <a:cs typeface="黑体"/>
              </a:rPr>
              <a:t>，然后把它平摊</a:t>
            </a:r>
            <a:r>
              <a:rPr dirty="0" sz="2800" spc="-20" b="1">
                <a:latin typeface="黑体"/>
                <a:cs typeface="黑体"/>
              </a:rPr>
              <a:t>在 </a:t>
            </a:r>
            <a:r>
              <a:rPr dirty="0" sz="2800" b="1">
                <a:latin typeface="黑体"/>
                <a:cs typeface="黑体"/>
              </a:rPr>
              <a:t>桌面上，上下不重叠，一粒紧挨一粒，量出这</a:t>
            </a:r>
            <a:r>
              <a:rPr dirty="0" sz="2800" spc="-15" b="1">
                <a:latin typeface="黑体"/>
                <a:cs typeface="黑体"/>
              </a:rPr>
              <a:t>些 </a:t>
            </a:r>
            <a:r>
              <a:rPr dirty="0" sz="2800" b="1">
                <a:latin typeface="黑体"/>
                <a:cs typeface="黑体"/>
              </a:rPr>
              <a:t>米粒占据桌面的面积</a:t>
            </a:r>
            <a:r>
              <a:rPr dirty="0" sz="2800" b="1">
                <a:latin typeface="Times New Roman"/>
                <a:cs typeface="Times New Roman"/>
              </a:rPr>
              <a:t>S</a:t>
            </a:r>
            <a:r>
              <a:rPr dirty="0" sz="2800" b="1">
                <a:latin typeface="黑体"/>
                <a:cs typeface="黑体"/>
              </a:rPr>
              <a:t>，从而计算出米粒的直</a:t>
            </a:r>
            <a:r>
              <a:rPr dirty="0" sz="2800" spc="-20" b="1">
                <a:latin typeface="黑体"/>
                <a:cs typeface="黑体"/>
              </a:rPr>
              <a:t>径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26952" y="4078008"/>
            <a:ext cx="387350" cy="0"/>
          </a:xfrm>
          <a:custGeom>
            <a:avLst/>
            <a:gdLst/>
            <a:ahLst/>
            <a:cxnLst/>
            <a:rect l="l" t="t" r="r" b="b"/>
            <a:pathLst>
              <a:path w="387350" h="0">
                <a:moveTo>
                  <a:pt x="0" y="0"/>
                </a:moveTo>
                <a:lnTo>
                  <a:pt x="387057" y="0"/>
                </a:lnTo>
              </a:path>
            </a:pathLst>
          </a:custGeom>
          <a:ln w="17551">
            <a:solidFill>
              <a:srgbClr val="0066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871402" y="4074579"/>
            <a:ext cx="19875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10" i="1">
                <a:solidFill>
                  <a:srgbClr val="0066FF"/>
                </a:solidFill>
                <a:latin typeface="Times New Roman"/>
                <a:cs typeface="Times New Roman"/>
              </a:rPr>
              <a:t>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03763" y="3805923"/>
            <a:ext cx="19875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 spc="10" i="1">
                <a:solidFill>
                  <a:srgbClr val="0066FF"/>
                </a:solidFill>
                <a:latin typeface="Times New Roman"/>
                <a:cs typeface="Times New Roman"/>
              </a:rPr>
              <a:t>d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16805" y="3589210"/>
            <a:ext cx="621665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96875" algn="l"/>
              </a:tabLst>
            </a:pPr>
            <a:r>
              <a:rPr dirty="0" baseline="-34979" sz="4050" spc="15">
                <a:solidFill>
                  <a:srgbClr val="0066FF"/>
                </a:solidFill>
                <a:latin typeface="Symbol"/>
                <a:cs typeface="Symbol"/>
              </a:rPr>
              <a:t></a:t>
            </a:r>
            <a:r>
              <a:rPr dirty="0" baseline="-34979" sz="4050" spc="15">
                <a:solidFill>
                  <a:srgbClr val="0066FF"/>
                </a:solidFill>
                <a:latin typeface="Times New Roman"/>
                <a:cs typeface="Times New Roman"/>
              </a:rPr>
              <a:t>	</a:t>
            </a:r>
            <a:r>
              <a:rPr dirty="0" sz="2700" spc="15" i="1">
                <a:solidFill>
                  <a:srgbClr val="0066FF"/>
                </a:solidFill>
                <a:latin typeface="Times New Roman"/>
                <a:cs typeface="Times New Roman"/>
              </a:rPr>
              <a:t>V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22014" y="3600450"/>
            <a:ext cx="1409700" cy="927100"/>
          </a:xfrm>
          <a:custGeom>
            <a:avLst/>
            <a:gdLst/>
            <a:ahLst/>
            <a:cxnLst/>
            <a:rect l="l" t="t" r="r" b="b"/>
            <a:pathLst>
              <a:path w="1409700" h="927100">
                <a:moveTo>
                  <a:pt x="19050" y="917066"/>
                </a:moveTo>
                <a:lnTo>
                  <a:pt x="0" y="917066"/>
                </a:lnTo>
                <a:lnTo>
                  <a:pt x="0" y="764666"/>
                </a:lnTo>
                <a:lnTo>
                  <a:pt x="19050" y="764666"/>
                </a:lnTo>
                <a:lnTo>
                  <a:pt x="19050" y="917066"/>
                </a:lnTo>
                <a:close/>
              </a:path>
              <a:path w="1409700" h="927100">
                <a:moveTo>
                  <a:pt x="19050" y="707516"/>
                </a:moveTo>
                <a:lnTo>
                  <a:pt x="0" y="707516"/>
                </a:lnTo>
                <a:lnTo>
                  <a:pt x="0" y="555116"/>
                </a:lnTo>
                <a:lnTo>
                  <a:pt x="19050" y="555116"/>
                </a:lnTo>
                <a:lnTo>
                  <a:pt x="19050" y="707516"/>
                </a:lnTo>
                <a:close/>
              </a:path>
              <a:path w="1409700" h="927100">
                <a:moveTo>
                  <a:pt x="19050" y="497966"/>
                </a:moveTo>
                <a:lnTo>
                  <a:pt x="0" y="497966"/>
                </a:lnTo>
                <a:lnTo>
                  <a:pt x="0" y="345566"/>
                </a:lnTo>
                <a:lnTo>
                  <a:pt x="19050" y="345566"/>
                </a:lnTo>
                <a:lnTo>
                  <a:pt x="19050" y="497966"/>
                </a:lnTo>
                <a:close/>
              </a:path>
              <a:path w="1409700" h="927100">
                <a:moveTo>
                  <a:pt x="19050" y="288416"/>
                </a:moveTo>
                <a:lnTo>
                  <a:pt x="0" y="288416"/>
                </a:lnTo>
                <a:lnTo>
                  <a:pt x="0" y="136016"/>
                </a:lnTo>
                <a:lnTo>
                  <a:pt x="19050" y="136016"/>
                </a:lnTo>
                <a:lnTo>
                  <a:pt x="19050" y="288416"/>
                </a:lnTo>
                <a:close/>
              </a:path>
              <a:path w="1409700" h="927100">
                <a:moveTo>
                  <a:pt x="19050" y="78866"/>
                </a:moveTo>
                <a:lnTo>
                  <a:pt x="0" y="78866"/>
                </a:lnTo>
                <a:lnTo>
                  <a:pt x="0" y="0"/>
                </a:lnTo>
                <a:lnTo>
                  <a:pt x="92583" y="0"/>
                </a:lnTo>
                <a:lnTo>
                  <a:pt x="92583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78866"/>
                </a:lnTo>
                <a:close/>
              </a:path>
              <a:path w="1409700" h="92710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409700" h="927100">
                <a:moveTo>
                  <a:pt x="92583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92583" y="9525"/>
                </a:lnTo>
                <a:lnTo>
                  <a:pt x="92583" y="19050"/>
                </a:lnTo>
                <a:close/>
              </a:path>
              <a:path w="1409700" h="927100">
                <a:moveTo>
                  <a:pt x="302133" y="19050"/>
                </a:moveTo>
                <a:lnTo>
                  <a:pt x="149733" y="19050"/>
                </a:lnTo>
                <a:lnTo>
                  <a:pt x="149733" y="0"/>
                </a:lnTo>
                <a:lnTo>
                  <a:pt x="302133" y="0"/>
                </a:lnTo>
                <a:lnTo>
                  <a:pt x="302133" y="19050"/>
                </a:lnTo>
                <a:close/>
              </a:path>
              <a:path w="1409700" h="927100">
                <a:moveTo>
                  <a:pt x="511683" y="19050"/>
                </a:moveTo>
                <a:lnTo>
                  <a:pt x="359283" y="19050"/>
                </a:lnTo>
                <a:lnTo>
                  <a:pt x="359283" y="0"/>
                </a:lnTo>
                <a:lnTo>
                  <a:pt x="511683" y="0"/>
                </a:lnTo>
                <a:lnTo>
                  <a:pt x="511683" y="19050"/>
                </a:lnTo>
                <a:close/>
              </a:path>
              <a:path w="1409700" h="927100">
                <a:moveTo>
                  <a:pt x="721233" y="19050"/>
                </a:moveTo>
                <a:lnTo>
                  <a:pt x="568833" y="19050"/>
                </a:lnTo>
                <a:lnTo>
                  <a:pt x="568833" y="0"/>
                </a:lnTo>
                <a:lnTo>
                  <a:pt x="721233" y="0"/>
                </a:lnTo>
                <a:lnTo>
                  <a:pt x="721233" y="19050"/>
                </a:lnTo>
                <a:close/>
              </a:path>
              <a:path w="1409700" h="927100">
                <a:moveTo>
                  <a:pt x="930783" y="19050"/>
                </a:moveTo>
                <a:lnTo>
                  <a:pt x="778383" y="19050"/>
                </a:lnTo>
                <a:lnTo>
                  <a:pt x="778383" y="0"/>
                </a:lnTo>
                <a:lnTo>
                  <a:pt x="930783" y="0"/>
                </a:lnTo>
                <a:lnTo>
                  <a:pt x="930783" y="19050"/>
                </a:lnTo>
                <a:close/>
              </a:path>
              <a:path w="1409700" h="927100">
                <a:moveTo>
                  <a:pt x="1140333" y="19050"/>
                </a:moveTo>
                <a:lnTo>
                  <a:pt x="987933" y="19050"/>
                </a:lnTo>
                <a:lnTo>
                  <a:pt x="987933" y="0"/>
                </a:lnTo>
                <a:lnTo>
                  <a:pt x="1140333" y="0"/>
                </a:lnTo>
                <a:lnTo>
                  <a:pt x="1140333" y="19050"/>
                </a:lnTo>
                <a:close/>
              </a:path>
              <a:path w="1409700" h="927100">
                <a:moveTo>
                  <a:pt x="1349883" y="19050"/>
                </a:moveTo>
                <a:lnTo>
                  <a:pt x="1197483" y="19050"/>
                </a:lnTo>
                <a:lnTo>
                  <a:pt x="1197483" y="0"/>
                </a:lnTo>
                <a:lnTo>
                  <a:pt x="1349883" y="0"/>
                </a:lnTo>
                <a:lnTo>
                  <a:pt x="1349883" y="19050"/>
                </a:lnTo>
                <a:close/>
              </a:path>
              <a:path w="1409700" h="927100">
                <a:moveTo>
                  <a:pt x="1409700" y="168783"/>
                </a:moveTo>
                <a:lnTo>
                  <a:pt x="1390650" y="168783"/>
                </a:lnTo>
                <a:lnTo>
                  <a:pt x="1390650" y="16383"/>
                </a:lnTo>
                <a:lnTo>
                  <a:pt x="1409700" y="16383"/>
                </a:lnTo>
                <a:lnTo>
                  <a:pt x="1409700" y="168783"/>
                </a:lnTo>
                <a:close/>
              </a:path>
              <a:path w="1409700" h="927100">
                <a:moveTo>
                  <a:pt x="1409700" y="378333"/>
                </a:moveTo>
                <a:lnTo>
                  <a:pt x="1390650" y="378333"/>
                </a:lnTo>
                <a:lnTo>
                  <a:pt x="1390650" y="225933"/>
                </a:lnTo>
                <a:lnTo>
                  <a:pt x="1409700" y="225933"/>
                </a:lnTo>
                <a:lnTo>
                  <a:pt x="1409700" y="378333"/>
                </a:lnTo>
                <a:close/>
              </a:path>
              <a:path w="1409700" h="927100">
                <a:moveTo>
                  <a:pt x="1409700" y="587883"/>
                </a:moveTo>
                <a:lnTo>
                  <a:pt x="1390650" y="587883"/>
                </a:lnTo>
                <a:lnTo>
                  <a:pt x="1390650" y="435483"/>
                </a:lnTo>
                <a:lnTo>
                  <a:pt x="1409700" y="435483"/>
                </a:lnTo>
                <a:lnTo>
                  <a:pt x="1409700" y="587883"/>
                </a:lnTo>
                <a:close/>
              </a:path>
              <a:path w="1409700" h="927100">
                <a:moveTo>
                  <a:pt x="1409700" y="797433"/>
                </a:moveTo>
                <a:lnTo>
                  <a:pt x="1390650" y="797433"/>
                </a:lnTo>
                <a:lnTo>
                  <a:pt x="1390650" y="645033"/>
                </a:lnTo>
                <a:lnTo>
                  <a:pt x="1409700" y="645033"/>
                </a:lnTo>
                <a:lnTo>
                  <a:pt x="1409700" y="797433"/>
                </a:lnTo>
                <a:close/>
              </a:path>
              <a:path w="1409700" h="927100">
                <a:moveTo>
                  <a:pt x="1390650" y="917066"/>
                </a:moveTo>
                <a:lnTo>
                  <a:pt x="1390650" y="854583"/>
                </a:lnTo>
                <a:lnTo>
                  <a:pt x="1409700" y="854583"/>
                </a:lnTo>
                <a:lnTo>
                  <a:pt x="1409700" y="907541"/>
                </a:lnTo>
                <a:lnTo>
                  <a:pt x="1400175" y="907541"/>
                </a:lnTo>
                <a:lnTo>
                  <a:pt x="1390650" y="917066"/>
                </a:lnTo>
                <a:close/>
              </a:path>
              <a:path w="1409700" h="927100">
                <a:moveTo>
                  <a:pt x="1409700" y="926591"/>
                </a:moveTo>
                <a:lnTo>
                  <a:pt x="1310259" y="926591"/>
                </a:lnTo>
                <a:lnTo>
                  <a:pt x="1310259" y="907541"/>
                </a:lnTo>
                <a:lnTo>
                  <a:pt x="1390650" y="907541"/>
                </a:lnTo>
                <a:lnTo>
                  <a:pt x="1390650" y="917066"/>
                </a:lnTo>
                <a:lnTo>
                  <a:pt x="1409700" y="917066"/>
                </a:lnTo>
                <a:lnTo>
                  <a:pt x="1409700" y="926591"/>
                </a:lnTo>
                <a:close/>
              </a:path>
              <a:path w="1409700" h="927100">
                <a:moveTo>
                  <a:pt x="1409700" y="917066"/>
                </a:moveTo>
                <a:lnTo>
                  <a:pt x="1390650" y="917066"/>
                </a:lnTo>
                <a:lnTo>
                  <a:pt x="1400175" y="907541"/>
                </a:lnTo>
                <a:lnTo>
                  <a:pt x="1409700" y="907541"/>
                </a:lnTo>
                <a:lnTo>
                  <a:pt x="1409700" y="917066"/>
                </a:lnTo>
                <a:close/>
              </a:path>
              <a:path w="1409700" h="927100">
                <a:moveTo>
                  <a:pt x="1253109" y="926591"/>
                </a:moveTo>
                <a:lnTo>
                  <a:pt x="1100709" y="926591"/>
                </a:lnTo>
                <a:lnTo>
                  <a:pt x="1100709" y="907541"/>
                </a:lnTo>
                <a:lnTo>
                  <a:pt x="1253109" y="907541"/>
                </a:lnTo>
                <a:lnTo>
                  <a:pt x="1253109" y="926591"/>
                </a:lnTo>
                <a:close/>
              </a:path>
              <a:path w="1409700" h="927100">
                <a:moveTo>
                  <a:pt x="1043559" y="926591"/>
                </a:moveTo>
                <a:lnTo>
                  <a:pt x="891159" y="926591"/>
                </a:lnTo>
                <a:lnTo>
                  <a:pt x="891159" y="907541"/>
                </a:lnTo>
                <a:lnTo>
                  <a:pt x="1043559" y="907541"/>
                </a:lnTo>
                <a:lnTo>
                  <a:pt x="1043559" y="926591"/>
                </a:lnTo>
                <a:close/>
              </a:path>
              <a:path w="1409700" h="927100">
                <a:moveTo>
                  <a:pt x="834009" y="926591"/>
                </a:moveTo>
                <a:lnTo>
                  <a:pt x="681609" y="926591"/>
                </a:lnTo>
                <a:lnTo>
                  <a:pt x="681609" y="907541"/>
                </a:lnTo>
                <a:lnTo>
                  <a:pt x="834009" y="907541"/>
                </a:lnTo>
                <a:lnTo>
                  <a:pt x="834009" y="926591"/>
                </a:lnTo>
                <a:close/>
              </a:path>
              <a:path w="1409700" h="927100">
                <a:moveTo>
                  <a:pt x="624459" y="926591"/>
                </a:moveTo>
                <a:lnTo>
                  <a:pt x="472059" y="926591"/>
                </a:lnTo>
                <a:lnTo>
                  <a:pt x="472059" y="907541"/>
                </a:lnTo>
                <a:lnTo>
                  <a:pt x="624459" y="907541"/>
                </a:lnTo>
                <a:lnTo>
                  <a:pt x="624459" y="926591"/>
                </a:lnTo>
                <a:close/>
              </a:path>
              <a:path w="1409700" h="927100">
                <a:moveTo>
                  <a:pt x="414909" y="926591"/>
                </a:moveTo>
                <a:lnTo>
                  <a:pt x="262509" y="926591"/>
                </a:lnTo>
                <a:lnTo>
                  <a:pt x="262509" y="907541"/>
                </a:lnTo>
                <a:lnTo>
                  <a:pt x="414909" y="907541"/>
                </a:lnTo>
                <a:lnTo>
                  <a:pt x="414909" y="926591"/>
                </a:lnTo>
                <a:close/>
              </a:path>
              <a:path w="1409700" h="927100">
                <a:moveTo>
                  <a:pt x="205359" y="926591"/>
                </a:moveTo>
                <a:lnTo>
                  <a:pt x="52959" y="926591"/>
                </a:lnTo>
                <a:lnTo>
                  <a:pt x="52959" y="907541"/>
                </a:lnTo>
                <a:lnTo>
                  <a:pt x="205359" y="907541"/>
                </a:lnTo>
                <a:lnTo>
                  <a:pt x="205359" y="926591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50863" y="4955070"/>
            <a:ext cx="1291254" cy="4512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85388" y="4955070"/>
            <a:ext cx="878509" cy="45121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23588" y="4955070"/>
            <a:ext cx="1740941" cy="45121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93100" y="5406288"/>
            <a:ext cx="4748530" cy="0"/>
          </a:xfrm>
          <a:custGeom>
            <a:avLst/>
            <a:gdLst/>
            <a:ahLst/>
            <a:cxnLst/>
            <a:rect l="l" t="t" r="r" b="b"/>
            <a:pathLst>
              <a:path w="4748530" h="0">
                <a:moveTo>
                  <a:pt x="0" y="0"/>
                </a:moveTo>
                <a:lnTo>
                  <a:pt x="474808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844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510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177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844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0511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177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844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2511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178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844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511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5178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5845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6511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7178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845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8512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9178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9845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512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1179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1845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2512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3179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3846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4512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5179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5846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6513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7179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7846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8513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9180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9846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0513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1180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1847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2513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3180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3847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4514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5180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5847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6514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7181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7847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8514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9181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9848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0514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1181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1848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2515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3181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3848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4515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5182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5848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6515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7182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7849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8515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9182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9849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05160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11827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184950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6251625" y="5582018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318300" y="5582018"/>
            <a:ext cx="31750" cy="9525"/>
          </a:xfrm>
          <a:custGeom>
            <a:avLst/>
            <a:gdLst/>
            <a:ahLst/>
            <a:cxnLst/>
            <a:rect l="l" t="t" r="r" b="b"/>
            <a:pathLst>
              <a:path w="31750" h="9525">
                <a:moveTo>
                  <a:pt x="31572" y="9525"/>
                </a:moveTo>
                <a:lnTo>
                  <a:pt x="0" y="9525"/>
                </a:lnTo>
                <a:lnTo>
                  <a:pt x="0" y="0"/>
                </a:lnTo>
                <a:lnTo>
                  <a:pt x="31572" y="0"/>
                </a:lnTo>
                <a:lnTo>
                  <a:pt x="31572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27888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28554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9221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9888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0555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1221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1888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2555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3222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3888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4555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5222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5889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6555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7222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7889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8556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9222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9889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0556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1223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1889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2556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3223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43890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4556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5223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5890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6557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7223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7890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8557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9224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98908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05575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5122430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189105" y="6123470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25148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25815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6482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7149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7815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28482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9149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29816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0482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1149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31816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2483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3149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3816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4483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5150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5816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6483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37150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7817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38483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39150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39817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40484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1150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1817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42484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43151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43817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44484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45151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45818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6484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7151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7818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48485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49151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49818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50485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51152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51818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524855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531522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5381904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5448579" y="630396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 txBox="1"/>
          <p:nvPr/>
        </p:nvSpPr>
        <p:spPr>
          <a:xfrm>
            <a:off x="6428613" y="3975734"/>
            <a:ext cx="145288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黑体"/>
                <a:cs typeface="黑体"/>
              </a:rPr>
              <a:t>油酸分</a:t>
            </a:r>
            <a:r>
              <a:rPr dirty="0" sz="2800" spc="-20" b="1">
                <a:latin typeface="黑体"/>
                <a:cs typeface="黑体"/>
              </a:rPr>
              <a:t>子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5521452" y="4276344"/>
            <a:ext cx="859790" cy="597535"/>
          </a:xfrm>
          <a:custGeom>
            <a:avLst/>
            <a:gdLst/>
            <a:ahLst/>
            <a:cxnLst/>
            <a:rect l="l" t="t" r="r" b="b"/>
            <a:pathLst>
              <a:path w="859789" h="597535">
                <a:moveTo>
                  <a:pt x="343120" y="422147"/>
                </a:moveTo>
                <a:lnTo>
                  <a:pt x="181356" y="422147"/>
                </a:lnTo>
                <a:lnTo>
                  <a:pt x="809244" y="0"/>
                </a:lnTo>
                <a:lnTo>
                  <a:pt x="859536" y="76200"/>
                </a:lnTo>
                <a:lnTo>
                  <a:pt x="343120" y="422147"/>
                </a:lnTo>
                <a:close/>
              </a:path>
              <a:path w="859789" h="597535">
                <a:moveTo>
                  <a:pt x="0" y="597407"/>
                </a:moveTo>
                <a:lnTo>
                  <a:pt x="156972" y="384047"/>
                </a:lnTo>
                <a:lnTo>
                  <a:pt x="181356" y="422147"/>
                </a:lnTo>
                <a:lnTo>
                  <a:pt x="343120" y="422147"/>
                </a:lnTo>
                <a:lnTo>
                  <a:pt x="231648" y="496823"/>
                </a:lnTo>
                <a:lnTo>
                  <a:pt x="256032" y="533400"/>
                </a:lnTo>
                <a:lnTo>
                  <a:pt x="0" y="597407"/>
                </a:lnTo>
                <a:close/>
              </a:path>
            </a:pathLst>
          </a:custGeom>
          <a:solidFill>
            <a:srgbClr val="00E3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5510212" y="4270451"/>
            <a:ext cx="878205" cy="611505"/>
          </a:xfrm>
          <a:custGeom>
            <a:avLst/>
            <a:gdLst/>
            <a:ahLst/>
            <a:cxnLst/>
            <a:rect l="l" t="t" r="r" b="b"/>
            <a:pathLst>
              <a:path w="878204" h="611504">
                <a:moveTo>
                  <a:pt x="205129" y="424929"/>
                </a:moveTo>
                <a:lnTo>
                  <a:pt x="196570" y="424929"/>
                </a:lnTo>
                <a:lnTo>
                  <a:pt x="193919" y="420972"/>
                </a:lnTo>
                <a:lnTo>
                  <a:pt x="822159" y="0"/>
                </a:lnTo>
                <a:lnTo>
                  <a:pt x="828363" y="9258"/>
                </a:lnTo>
                <a:lnTo>
                  <a:pt x="816889" y="9258"/>
                </a:lnTo>
                <a:lnTo>
                  <a:pt x="819544" y="13220"/>
                </a:lnTo>
                <a:lnTo>
                  <a:pt x="205129" y="424929"/>
                </a:lnTo>
                <a:close/>
              </a:path>
              <a:path w="878204" h="611504">
                <a:moveTo>
                  <a:pt x="819544" y="13220"/>
                </a:moveTo>
                <a:lnTo>
                  <a:pt x="816889" y="9258"/>
                </a:lnTo>
                <a:lnTo>
                  <a:pt x="823506" y="10566"/>
                </a:lnTo>
                <a:lnTo>
                  <a:pt x="819544" y="13220"/>
                </a:lnTo>
                <a:close/>
              </a:path>
              <a:path w="878204" h="611504">
                <a:moveTo>
                  <a:pt x="864481" y="80273"/>
                </a:moveTo>
                <a:lnTo>
                  <a:pt x="819544" y="13220"/>
                </a:lnTo>
                <a:lnTo>
                  <a:pt x="823506" y="10566"/>
                </a:lnTo>
                <a:lnTo>
                  <a:pt x="816889" y="9258"/>
                </a:lnTo>
                <a:lnTo>
                  <a:pt x="828363" y="9258"/>
                </a:lnTo>
                <a:lnTo>
                  <a:pt x="874173" y="77622"/>
                </a:lnTo>
                <a:lnTo>
                  <a:pt x="868438" y="77622"/>
                </a:lnTo>
                <a:lnTo>
                  <a:pt x="864481" y="80273"/>
                </a:lnTo>
                <a:close/>
              </a:path>
              <a:path w="878204" h="611504">
                <a:moveTo>
                  <a:pt x="867130" y="84226"/>
                </a:moveTo>
                <a:lnTo>
                  <a:pt x="864481" y="80273"/>
                </a:lnTo>
                <a:lnTo>
                  <a:pt x="868438" y="77622"/>
                </a:lnTo>
                <a:lnTo>
                  <a:pt x="867130" y="84226"/>
                </a:lnTo>
                <a:close/>
              </a:path>
              <a:path w="878204" h="611504">
                <a:moveTo>
                  <a:pt x="875687" y="84226"/>
                </a:moveTo>
                <a:lnTo>
                  <a:pt x="867130" y="84226"/>
                </a:lnTo>
                <a:lnTo>
                  <a:pt x="868438" y="77622"/>
                </a:lnTo>
                <a:lnTo>
                  <a:pt x="874173" y="77622"/>
                </a:lnTo>
                <a:lnTo>
                  <a:pt x="877697" y="82880"/>
                </a:lnTo>
                <a:lnTo>
                  <a:pt x="875687" y="84226"/>
                </a:lnTo>
                <a:close/>
              </a:path>
              <a:path w="878204" h="611504">
                <a:moveTo>
                  <a:pt x="260232" y="537031"/>
                </a:moveTo>
                <a:lnTo>
                  <a:pt x="236245" y="501243"/>
                </a:lnTo>
                <a:lnTo>
                  <a:pt x="864481" y="80273"/>
                </a:lnTo>
                <a:lnTo>
                  <a:pt x="867130" y="84226"/>
                </a:lnTo>
                <a:lnTo>
                  <a:pt x="875687" y="84226"/>
                </a:lnTo>
                <a:lnTo>
                  <a:pt x="255359" y="499897"/>
                </a:lnTo>
                <a:lnTo>
                  <a:pt x="246811" y="499897"/>
                </a:lnTo>
                <a:lnTo>
                  <a:pt x="245503" y="506501"/>
                </a:lnTo>
                <a:lnTo>
                  <a:pt x="251237" y="506501"/>
                </a:lnTo>
                <a:lnTo>
                  <a:pt x="270610" y="535406"/>
                </a:lnTo>
                <a:lnTo>
                  <a:pt x="266826" y="535406"/>
                </a:lnTo>
                <a:lnTo>
                  <a:pt x="260232" y="537031"/>
                </a:lnTo>
                <a:close/>
              </a:path>
              <a:path w="878204" h="611504">
                <a:moveTo>
                  <a:pt x="0" y="610971"/>
                </a:moveTo>
                <a:lnTo>
                  <a:pt x="167678" y="381800"/>
                </a:lnTo>
                <a:lnTo>
                  <a:pt x="175011" y="392747"/>
                </a:lnTo>
                <a:lnTo>
                  <a:pt x="163550" y="392747"/>
                </a:lnTo>
                <a:lnTo>
                  <a:pt x="167335" y="398397"/>
                </a:lnTo>
                <a:lnTo>
                  <a:pt x="23145" y="595458"/>
                </a:lnTo>
                <a:lnTo>
                  <a:pt x="10439" y="598589"/>
                </a:lnTo>
                <a:lnTo>
                  <a:pt x="15417" y="606018"/>
                </a:lnTo>
                <a:lnTo>
                  <a:pt x="20098" y="606018"/>
                </a:lnTo>
                <a:lnTo>
                  <a:pt x="0" y="610971"/>
                </a:lnTo>
                <a:close/>
              </a:path>
              <a:path w="878204" h="611504">
                <a:moveTo>
                  <a:pt x="167335" y="398397"/>
                </a:moveTo>
                <a:lnTo>
                  <a:pt x="163550" y="392747"/>
                </a:lnTo>
                <a:lnTo>
                  <a:pt x="171348" y="392912"/>
                </a:lnTo>
                <a:lnTo>
                  <a:pt x="167335" y="398397"/>
                </a:lnTo>
                <a:close/>
              </a:path>
              <a:path w="878204" h="611504">
                <a:moveTo>
                  <a:pt x="191312" y="434187"/>
                </a:moveTo>
                <a:lnTo>
                  <a:pt x="167335" y="398397"/>
                </a:lnTo>
                <a:lnTo>
                  <a:pt x="171348" y="392912"/>
                </a:lnTo>
                <a:lnTo>
                  <a:pt x="163550" y="392747"/>
                </a:lnTo>
                <a:lnTo>
                  <a:pt x="175011" y="392747"/>
                </a:lnTo>
                <a:lnTo>
                  <a:pt x="193919" y="420972"/>
                </a:lnTo>
                <a:lnTo>
                  <a:pt x="189966" y="423621"/>
                </a:lnTo>
                <a:lnTo>
                  <a:pt x="196570" y="424929"/>
                </a:lnTo>
                <a:lnTo>
                  <a:pt x="205129" y="424929"/>
                </a:lnTo>
                <a:lnTo>
                  <a:pt x="191312" y="434187"/>
                </a:lnTo>
                <a:close/>
              </a:path>
              <a:path w="878204" h="611504">
                <a:moveTo>
                  <a:pt x="196570" y="424929"/>
                </a:moveTo>
                <a:lnTo>
                  <a:pt x="189966" y="423621"/>
                </a:lnTo>
                <a:lnTo>
                  <a:pt x="193919" y="420972"/>
                </a:lnTo>
                <a:lnTo>
                  <a:pt x="196570" y="424929"/>
                </a:lnTo>
                <a:close/>
              </a:path>
              <a:path w="878204" h="611504">
                <a:moveTo>
                  <a:pt x="245503" y="506501"/>
                </a:moveTo>
                <a:lnTo>
                  <a:pt x="246811" y="499897"/>
                </a:lnTo>
                <a:lnTo>
                  <a:pt x="249460" y="503849"/>
                </a:lnTo>
                <a:lnTo>
                  <a:pt x="245503" y="506501"/>
                </a:lnTo>
                <a:close/>
              </a:path>
              <a:path w="878204" h="611504">
                <a:moveTo>
                  <a:pt x="249460" y="503849"/>
                </a:moveTo>
                <a:lnTo>
                  <a:pt x="246811" y="499897"/>
                </a:lnTo>
                <a:lnTo>
                  <a:pt x="255359" y="499897"/>
                </a:lnTo>
                <a:lnTo>
                  <a:pt x="249460" y="503849"/>
                </a:lnTo>
                <a:close/>
              </a:path>
              <a:path w="878204" h="611504">
                <a:moveTo>
                  <a:pt x="251237" y="506501"/>
                </a:moveTo>
                <a:lnTo>
                  <a:pt x="245503" y="506501"/>
                </a:lnTo>
                <a:lnTo>
                  <a:pt x="249460" y="503849"/>
                </a:lnTo>
                <a:lnTo>
                  <a:pt x="251237" y="506501"/>
                </a:lnTo>
                <a:close/>
              </a:path>
              <a:path w="878204" h="611504">
                <a:moveTo>
                  <a:pt x="264020" y="542683"/>
                </a:moveTo>
                <a:lnTo>
                  <a:pt x="260232" y="537031"/>
                </a:lnTo>
                <a:lnTo>
                  <a:pt x="266826" y="535406"/>
                </a:lnTo>
                <a:lnTo>
                  <a:pt x="264020" y="542683"/>
                </a:lnTo>
                <a:close/>
              </a:path>
              <a:path w="878204" h="611504">
                <a:moveTo>
                  <a:pt x="275487" y="542683"/>
                </a:moveTo>
                <a:lnTo>
                  <a:pt x="264020" y="542683"/>
                </a:lnTo>
                <a:lnTo>
                  <a:pt x="266826" y="535406"/>
                </a:lnTo>
                <a:lnTo>
                  <a:pt x="270610" y="535406"/>
                </a:lnTo>
                <a:lnTo>
                  <a:pt x="275487" y="542683"/>
                </a:lnTo>
                <a:close/>
              </a:path>
              <a:path w="878204" h="611504">
                <a:moveTo>
                  <a:pt x="20098" y="606018"/>
                </a:moveTo>
                <a:lnTo>
                  <a:pt x="15417" y="606018"/>
                </a:lnTo>
                <a:lnTo>
                  <a:pt x="23145" y="595458"/>
                </a:lnTo>
                <a:lnTo>
                  <a:pt x="260232" y="537031"/>
                </a:lnTo>
                <a:lnTo>
                  <a:pt x="264020" y="542683"/>
                </a:lnTo>
                <a:lnTo>
                  <a:pt x="275487" y="542683"/>
                </a:lnTo>
                <a:lnTo>
                  <a:pt x="275716" y="543026"/>
                </a:lnTo>
                <a:lnTo>
                  <a:pt x="20098" y="606018"/>
                </a:lnTo>
                <a:close/>
              </a:path>
              <a:path w="878204" h="611504">
                <a:moveTo>
                  <a:pt x="15417" y="606018"/>
                </a:moveTo>
                <a:lnTo>
                  <a:pt x="10439" y="598589"/>
                </a:lnTo>
                <a:lnTo>
                  <a:pt x="23145" y="595458"/>
                </a:lnTo>
                <a:lnTo>
                  <a:pt x="15417" y="6060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1601787" y="4955070"/>
            <a:ext cx="1004569" cy="0"/>
          </a:xfrm>
          <a:custGeom>
            <a:avLst/>
            <a:gdLst/>
            <a:ahLst/>
            <a:cxnLst/>
            <a:rect l="l" t="t" r="r" b="b"/>
            <a:pathLst>
              <a:path w="1004569" h="0">
                <a:moveTo>
                  <a:pt x="0" y="0"/>
                </a:moveTo>
                <a:lnTo>
                  <a:pt x="100440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 txBox="1"/>
          <p:nvPr/>
        </p:nvSpPr>
        <p:spPr>
          <a:xfrm>
            <a:off x="1720481" y="4930203"/>
            <a:ext cx="4347210" cy="1063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 marL="428625">
              <a:lnSpc>
                <a:spcPct val="100000"/>
              </a:lnSpc>
              <a:tabLst>
                <a:tab pos="2711450" algn="l"/>
                <a:tab pos="4333875" algn="l"/>
              </a:tabLst>
            </a:pPr>
            <a:r>
              <a:rPr dirty="0" u="sng" sz="2400">
                <a:solidFill>
                  <a:srgbClr val="9933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pc="235">
                <a:solidFill>
                  <a:srgbClr val="9933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400" strike="sngStrike">
                <a:solidFill>
                  <a:srgbClr val="9933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sng" sz="2400" strike="sngStrike">
                <a:solidFill>
                  <a:srgbClr val="993300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水	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3" name="object 173"/>
          <p:cNvSpPr/>
          <p:nvPr/>
        </p:nvSpPr>
        <p:spPr>
          <a:xfrm>
            <a:off x="1837613" y="5406288"/>
            <a:ext cx="76200" cy="541655"/>
          </a:xfrm>
          <a:custGeom>
            <a:avLst/>
            <a:gdLst/>
            <a:ahLst/>
            <a:cxnLst/>
            <a:rect l="l" t="t" r="r" b="b"/>
            <a:pathLst>
              <a:path w="76200" h="541654">
                <a:moveTo>
                  <a:pt x="28575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28575" y="57150"/>
                </a:lnTo>
                <a:lnTo>
                  <a:pt x="28575" y="76200"/>
                </a:lnTo>
                <a:close/>
              </a:path>
              <a:path w="76200" h="541654">
                <a:moveTo>
                  <a:pt x="47625" y="541464"/>
                </a:moveTo>
                <a:lnTo>
                  <a:pt x="28575" y="541464"/>
                </a:lnTo>
                <a:lnTo>
                  <a:pt x="28575" y="57150"/>
                </a:lnTo>
                <a:lnTo>
                  <a:pt x="47625" y="57150"/>
                </a:lnTo>
                <a:lnTo>
                  <a:pt x="47625" y="541464"/>
                </a:lnTo>
                <a:close/>
              </a:path>
              <a:path w="76200" h="541654">
                <a:moveTo>
                  <a:pt x="76200" y="76200"/>
                </a:moveTo>
                <a:lnTo>
                  <a:pt x="47625" y="76200"/>
                </a:lnTo>
                <a:lnTo>
                  <a:pt x="47625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1837613" y="4503864"/>
            <a:ext cx="76200" cy="451484"/>
          </a:xfrm>
          <a:custGeom>
            <a:avLst/>
            <a:gdLst/>
            <a:ahLst/>
            <a:cxnLst/>
            <a:rect l="l" t="t" r="r" b="b"/>
            <a:pathLst>
              <a:path w="76200" h="451485">
                <a:moveTo>
                  <a:pt x="47625" y="394055"/>
                </a:moveTo>
                <a:lnTo>
                  <a:pt x="28575" y="394055"/>
                </a:lnTo>
                <a:lnTo>
                  <a:pt x="28575" y="0"/>
                </a:lnTo>
                <a:lnTo>
                  <a:pt x="47625" y="0"/>
                </a:lnTo>
                <a:lnTo>
                  <a:pt x="47625" y="394055"/>
                </a:lnTo>
                <a:close/>
              </a:path>
              <a:path w="76200" h="451485">
                <a:moveTo>
                  <a:pt x="38100" y="451205"/>
                </a:moveTo>
                <a:lnTo>
                  <a:pt x="0" y="375005"/>
                </a:lnTo>
                <a:lnTo>
                  <a:pt x="28575" y="375005"/>
                </a:lnTo>
                <a:lnTo>
                  <a:pt x="28575" y="394055"/>
                </a:lnTo>
                <a:lnTo>
                  <a:pt x="66675" y="394055"/>
                </a:lnTo>
                <a:lnTo>
                  <a:pt x="38100" y="451205"/>
                </a:lnTo>
                <a:close/>
              </a:path>
              <a:path w="76200" h="451485">
                <a:moveTo>
                  <a:pt x="66675" y="394055"/>
                </a:moveTo>
                <a:lnTo>
                  <a:pt x="47625" y="394055"/>
                </a:lnTo>
                <a:lnTo>
                  <a:pt x="47625" y="375005"/>
                </a:lnTo>
                <a:lnTo>
                  <a:pt x="76200" y="375005"/>
                </a:lnTo>
                <a:lnTo>
                  <a:pt x="66675" y="3940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24977" y="556577"/>
            <a:ext cx="59918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黑体"/>
                <a:cs typeface="黑体"/>
              </a:rPr>
              <a:t>用单分子油膜法测得分子直</a:t>
            </a:r>
            <a:r>
              <a:rPr dirty="0" sz="3600" spc="-15" b="1">
                <a:latin typeface="黑体"/>
                <a:cs typeface="黑体"/>
              </a:rPr>
              <a:t>径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4977" y="1105217"/>
            <a:ext cx="231902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黑体"/>
                <a:cs typeface="黑体"/>
              </a:rPr>
              <a:t>的数量级</a:t>
            </a:r>
            <a:r>
              <a:rPr dirty="0" sz="3600" spc="-15" b="1">
                <a:latin typeface="黑体"/>
                <a:cs typeface="黑体"/>
              </a:rPr>
              <a:t>为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362075" y="2289175"/>
            <a:ext cx="6816725" cy="1641475"/>
          </a:xfrm>
          <a:custGeom>
            <a:avLst/>
            <a:gdLst/>
            <a:ahLst/>
            <a:cxnLst/>
            <a:rect l="l" t="t" r="r" b="b"/>
            <a:pathLst>
              <a:path w="6816725" h="1641475">
                <a:moveTo>
                  <a:pt x="6816725" y="1641475"/>
                </a:moveTo>
                <a:lnTo>
                  <a:pt x="0" y="1641475"/>
                </a:lnTo>
                <a:lnTo>
                  <a:pt x="0" y="0"/>
                </a:lnTo>
                <a:lnTo>
                  <a:pt x="6816725" y="0"/>
                </a:lnTo>
                <a:lnTo>
                  <a:pt x="681672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612900"/>
                </a:lnTo>
                <a:lnTo>
                  <a:pt x="14287" y="1612900"/>
                </a:lnTo>
                <a:lnTo>
                  <a:pt x="28575" y="1627187"/>
                </a:lnTo>
                <a:lnTo>
                  <a:pt x="6816725" y="1627187"/>
                </a:lnTo>
                <a:lnTo>
                  <a:pt x="6816725" y="1641475"/>
                </a:lnTo>
                <a:close/>
              </a:path>
              <a:path w="6816725" h="164147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816725" h="1641475">
                <a:moveTo>
                  <a:pt x="678815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788150" y="14287"/>
                </a:lnTo>
                <a:lnTo>
                  <a:pt x="6788150" y="28575"/>
                </a:lnTo>
                <a:close/>
              </a:path>
              <a:path w="6816725" h="1641475">
                <a:moveTo>
                  <a:pt x="6788150" y="1627187"/>
                </a:moveTo>
                <a:lnTo>
                  <a:pt x="6788150" y="14287"/>
                </a:lnTo>
                <a:lnTo>
                  <a:pt x="6802437" y="28575"/>
                </a:lnTo>
                <a:lnTo>
                  <a:pt x="6816725" y="28575"/>
                </a:lnTo>
                <a:lnTo>
                  <a:pt x="6816725" y="1612900"/>
                </a:lnTo>
                <a:lnTo>
                  <a:pt x="6802437" y="1612900"/>
                </a:lnTo>
                <a:lnTo>
                  <a:pt x="6788150" y="1627187"/>
                </a:lnTo>
                <a:close/>
              </a:path>
              <a:path w="6816725" h="1641475">
                <a:moveTo>
                  <a:pt x="6816725" y="28575"/>
                </a:moveTo>
                <a:lnTo>
                  <a:pt x="6802437" y="28575"/>
                </a:lnTo>
                <a:lnTo>
                  <a:pt x="6788150" y="14287"/>
                </a:lnTo>
                <a:lnTo>
                  <a:pt x="6816725" y="14287"/>
                </a:lnTo>
                <a:lnTo>
                  <a:pt x="6816725" y="28575"/>
                </a:lnTo>
                <a:close/>
              </a:path>
              <a:path w="6816725" h="1641475">
                <a:moveTo>
                  <a:pt x="28575" y="1627187"/>
                </a:moveTo>
                <a:lnTo>
                  <a:pt x="14287" y="1612900"/>
                </a:lnTo>
                <a:lnTo>
                  <a:pt x="28575" y="1612900"/>
                </a:lnTo>
                <a:lnTo>
                  <a:pt x="28575" y="1627187"/>
                </a:lnTo>
                <a:close/>
              </a:path>
              <a:path w="6816725" h="1641475">
                <a:moveTo>
                  <a:pt x="6788150" y="1627187"/>
                </a:moveTo>
                <a:lnTo>
                  <a:pt x="28575" y="1627187"/>
                </a:lnTo>
                <a:lnTo>
                  <a:pt x="28575" y="1612900"/>
                </a:lnTo>
                <a:lnTo>
                  <a:pt x="6788150" y="1612900"/>
                </a:lnTo>
                <a:lnTo>
                  <a:pt x="6788150" y="1627187"/>
                </a:lnTo>
                <a:close/>
              </a:path>
              <a:path w="6816725" h="1641475">
                <a:moveTo>
                  <a:pt x="6816725" y="1627187"/>
                </a:moveTo>
                <a:lnTo>
                  <a:pt x="6788150" y="1627187"/>
                </a:lnTo>
                <a:lnTo>
                  <a:pt x="6802437" y="1612900"/>
                </a:lnTo>
                <a:lnTo>
                  <a:pt x="6816725" y="1612900"/>
                </a:lnTo>
                <a:lnTo>
                  <a:pt x="6816725" y="1627187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55102" y="2312987"/>
            <a:ext cx="649160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 b="1">
                <a:latin typeface="黑体"/>
                <a:cs typeface="黑体"/>
              </a:rPr>
              <a:t>利用现代技术，使用不同的方法</a:t>
            </a:r>
            <a:r>
              <a:rPr dirty="0" sz="3200" spc="-10" b="1">
                <a:latin typeface="黑体"/>
                <a:cs typeface="黑体"/>
              </a:rPr>
              <a:t>测 </a:t>
            </a:r>
            <a:r>
              <a:rPr dirty="0" sz="3200" b="1">
                <a:latin typeface="黑体"/>
                <a:cs typeface="黑体"/>
              </a:rPr>
              <a:t>出的分子大小并不完全相同，但</a:t>
            </a:r>
            <a:r>
              <a:rPr dirty="0" sz="3200" spc="-10" b="1">
                <a:latin typeface="黑体"/>
                <a:cs typeface="黑体"/>
              </a:rPr>
              <a:t>数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98002" y="3288347"/>
            <a:ext cx="36988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量级是一样的，均</a:t>
            </a:r>
            <a:r>
              <a:rPr dirty="0" sz="3200" spc="-10" b="1">
                <a:latin typeface="黑体"/>
                <a:cs typeface="黑体"/>
              </a:rPr>
              <a:t>为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450702" y="915936"/>
            <a:ext cx="1808480" cy="7105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24691" sz="6750" spc="-15" b="0">
                <a:solidFill>
                  <a:srgbClr val="0066FF"/>
                </a:solidFill>
                <a:latin typeface="Times New Roman"/>
                <a:cs typeface="Times New Roman"/>
              </a:rPr>
              <a:t>10 </a:t>
            </a:r>
            <a:r>
              <a:rPr dirty="0" sz="2600" spc="70" b="0">
                <a:solidFill>
                  <a:srgbClr val="0066FF"/>
                </a:solidFill>
                <a:latin typeface="Symbol"/>
                <a:cs typeface="Symbol"/>
              </a:rPr>
              <a:t></a:t>
            </a:r>
            <a:r>
              <a:rPr dirty="0" sz="2600" spc="70" b="0">
                <a:solidFill>
                  <a:srgbClr val="0066FF"/>
                </a:solidFill>
                <a:latin typeface="Times New Roman"/>
                <a:cs typeface="Times New Roman"/>
              </a:rPr>
              <a:t>10</a:t>
            </a:r>
            <a:r>
              <a:rPr dirty="0" sz="2600" spc="-50" b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dirty="0" baseline="-24691" sz="6750" spc="-15" b="0">
                <a:solidFill>
                  <a:srgbClr val="0066FF"/>
                </a:solidFill>
                <a:latin typeface="Times New Roman"/>
                <a:cs typeface="Times New Roman"/>
              </a:rPr>
              <a:t>m</a:t>
            </a:r>
            <a:endParaRPr baseline="-24691" sz="67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26839" y="1124330"/>
            <a:ext cx="2015489" cy="973455"/>
          </a:xfrm>
          <a:custGeom>
            <a:avLst/>
            <a:gdLst/>
            <a:ahLst/>
            <a:cxnLst/>
            <a:rect l="l" t="t" r="r" b="b"/>
            <a:pathLst>
              <a:path w="2015489" h="973455">
                <a:moveTo>
                  <a:pt x="2015489" y="973074"/>
                </a:moveTo>
                <a:lnTo>
                  <a:pt x="0" y="973074"/>
                </a:lnTo>
                <a:lnTo>
                  <a:pt x="0" y="0"/>
                </a:lnTo>
                <a:lnTo>
                  <a:pt x="2015489" y="0"/>
                </a:lnTo>
                <a:lnTo>
                  <a:pt x="201548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963549"/>
                </a:lnTo>
                <a:lnTo>
                  <a:pt x="4762" y="963549"/>
                </a:lnTo>
                <a:lnTo>
                  <a:pt x="9525" y="968311"/>
                </a:lnTo>
                <a:lnTo>
                  <a:pt x="2015489" y="968311"/>
                </a:lnTo>
                <a:lnTo>
                  <a:pt x="2015489" y="973074"/>
                </a:lnTo>
                <a:close/>
              </a:path>
              <a:path w="2015489" h="97345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015489" h="973455">
                <a:moveTo>
                  <a:pt x="200596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005964" y="4762"/>
                </a:lnTo>
                <a:lnTo>
                  <a:pt x="2005964" y="9525"/>
                </a:lnTo>
                <a:close/>
              </a:path>
              <a:path w="2015489" h="973455">
                <a:moveTo>
                  <a:pt x="2005964" y="968311"/>
                </a:moveTo>
                <a:lnTo>
                  <a:pt x="2005964" y="4762"/>
                </a:lnTo>
                <a:lnTo>
                  <a:pt x="2010727" y="9525"/>
                </a:lnTo>
                <a:lnTo>
                  <a:pt x="2015489" y="9525"/>
                </a:lnTo>
                <a:lnTo>
                  <a:pt x="2015489" y="963549"/>
                </a:lnTo>
                <a:lnTo>
                  <a:pt x="2010727" y="963549"/>
                </a:lnTo>
                <a:lnTo>
                  <a:pt x="2005964" y="968311"/>
                </a:lnTo>
                <a:close/>
              </a:path>
              <a:path w="2015489" h="973455">
                <a:moveTo>
                  <a:pt x="2015489" y="9525"/>
                </a:moveTo>
                <a:lnTo>
                  <a:pt x="2010727" y="9525"/>
                </a:lnTo>
                <a:lnTo>
                  <a:pt x="2005964" y="4762"/>
                </a:lnTo>
                <a:lnTo>
                  <a:pt x="2015489" y="4762"/>
                </a:lnTo>
                <a:lnTo>
                  <a:pt x="2015489" y="9525"/>
                </a:lnTo>
                <a:close/>
              </a:path>
              <a:path w="2015489" h="973455">
                <a:moveTo>
                  <a:pt x="9525" y="968311"/>
                </a:moveTo>
                <a:lnTo>
                  <a:pt x="4762" y="963549"/>
                </a:lnTo>
                <a:lnTo>
                  <a:pt x="9525" y="963549"/>
                </a:lnTo>
                <a:lnTo>
                  <a:pt x="9525" y="968311"/>
                </a:lnTo>
                <a:close/>
              </a:path>
              <a:path w="2015489" h="973455">
                <a:moveTo>
                  <a:pt x="2005964" y="968311"/>
                </a:moveTo>
                <a:lnTo>
                  <a:pt x="9525" y="968311"/>
                </a:lnTo>
                <a:lnTo>
                  <a:pt x="9525" y="963549"/>
                </a:lnTo>
                <a:lnTo>
                  <a:pt x="2005964" y="963549"/>
                </a:lnTo>
                <a:lnTo>
                  <a:pt x="2005964" y="968311"/>
                </a:lnTo>
                <a:close/>
              </a:path>
              <a:path w="2015489" h="973455">
                <a:moveTo>
                  <a:pt x="2015489" y="968311"/>
                </a:moveTo>
                <a:lnTo>
                  <a:pt x="2005964" y="968311"/>
                </a:lnTo>
                <a:lnTo>
                  <a:pt x="2010727" y="963549"/>
                </a:lnTo>
                <a:lnTo>
                  <a:pt x="2015489" y="963549"/>
                </a:lnTo>
                <a:lnTo>
                  <a:pt x="2015489" y="968311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67984" y="3429000"/>
            <a:ext cx="1828800" cy="913130"/>
          </a:xfrm>
          <a:custGeom>
            <a:avLst/>
            <a:gdLst/>
            <a:ahLst/>
            <a:cxnLst/>
            <a:rect l="l" t="t" r="r" b="b"/>
            <a:pathLst>
              <a:path w="1828800" h="913129">
                <a:moveTo>
                  <a:pt x="0" y="0"/>
                </a:moveTo>
                <a:lnTo>
                  <a:pt x="1828800" y="0"/>
                </a:lnTo>
                <a:lnTo>
                  <a:pt x="1828800" y="912876"/>
                </a:lnTo>
                <a:lnTo>
                  <a:pt x="0" y="912876"/>
                </a:lnTo>
                <a:lnTo>
                  <a:pt x="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967984" y="3219653"/>
            <a:ext cx="1828800" cy="681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 baseline="-25193" sz="645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r>
              <a:rPr dirty="0" baseline="-25193" sz="6450" spc="-644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500" spc="35">
                <a:solidFill>
                  <a:srgbClr val="FF0000"/>
                </a:solidFill>
                <a:latin typeface="Symbol"/>
                <a:cs typeface="Symbol"/>
              </a:rPr>
              <a:t></a:t>
            </a:r>
            <a:r>
              <a:rPr dirty="0" sz="2500" spc="35">
                <a:solidFill>
                  <a:srgbClr val="FF0000"/>
                </a:solidFill>
                <a:latin typeface="Times New Roman"/>
                <a:cs typeface="Times New Roman"/>
              </a:rPr>
              <a:t>10 </a:t>
            </a:r>
            <a:r>
              <a:rPr dirty="0" baseline="-25193" sz="645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endParaRPr baseline="-25193" sz="6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48934" y="3409950"/>
            <a:ext cx="1866900" cy="951230"/>
          </a:xfrm>
          <a:custGeom>
            <a:avLst/>
            <a:gdLst/>
            <a:ahLst/>
            <a:cxnLst/>
            <a:rect l="l" t="t" r="r" b="b"/>
            <a:pathLst>
              <a:path w="1866900" h="951229">
                <a:moveTo>
                  <a:pt x="19050" y="941451"/>
                </a:moveTo>
                <a:lnTo>
                  <a:pt x="0" y="941451"/>
                </a:lnTo>
                <a:lnTo>
                  <a:pt x="0" y="922401"/>
                </a:lnTo>
                <a:lnTo>
                  <a:pt x="19050" y="922401"/>
                </a:lnTo>
                <a:lnTo>
                  <a:pt x="19050" y="941451"/>
                </a:lnTo>
                <a:close/>
              </a:path>
              <a:path w="1866900" h="951229">
                <a:moveTo>
                  <a:pt x="19050" y="903351"/>
                </a:moveTo>
                <a:lnTo>
                  <a:pt x="0" y="903351"/>
                </a:lnTo>
                <a:lnTo>
                  <a:pt x="0" y="884301"/>
                </a:lnTo>
                <a:lnTo>
                  <a:pt x="19050" y="884301"/>
                </a:lnTo>
                <a:lnTo>
                  <a:pt x="19050" y="903351"/>
                </a:lnTo>
                <a:close/>
              </a:path>
              <a:path w="1866900" h="951229">
                <a:moveTo>
                  <a:pt x="19050" y="865251"/>
                </a:moveTo>
                <a:lnTo>
                  <a:pt x="0" y="865251"/>
                </a:lnTo>
                <a:lnTo>
                  <a:pt x="0" y="846201"/>
                </a:lnTo>
                <a:lnTo>
                  <a:pt x="19050" y="846201"/>
                </a:lnTo>
                <a:lnTo>
                  <a:pt x="19050" y="865251"/>
                </a:lnTo>
                <a:close/>
              </a:path>
              <a:path w="1866900" h="951229">
                <a:moveTo>
                  <a:pt x="19050" y="827151"/>
                </a:moveTo>
                <a:lnTo>
                  <a:pt x="0" y="827151"/>
                </a:lnTo>
                <a:lnTo>
                  <a:pt x="0" y="808101"/>
                </a:lnTo>
                <a:lnTo>
                  <a:pt x="19050" y="808101"/>
                </a:lnTo>
                <a:lnTo>
                  <a:pt x="19050" y="827151"/>
                </a:lnTo>
                <a:close/>
              </a:path>
              <a:path w="1866900" h="951229">
                <a:moveTo>
                  <a:pt x="19050" y="789051"/>
                </a:moveTo>
                <a:lnTo>
                  <a:pt x="0" y="789051"/>
                </a:lnTo>
                <a:lnTo>
                  <a:pt x="0" y="770001"/>
                </a:lnTo>
                <a:lnTo>
                  <a:pt x="19050" y="770001"/>
                </a:lnTo>
                <a:lnTo>
                  <a:pt x="19050" y="789051"/>
                </a:lnTo>
                <a:close/>
              </a:path>
              <a:path w="1866900" h="951229">
                <a:moveTo>
                  <a:pt x="19050" y="750951"/>
                </a:moveTo>
                <a:lnTo>
                  <a:pt x="0" y="750951"/>
                </a:lnTo>
                <a:lnTo>
                  <a:pt x="0" y="731901"/>
                </a:lnTo>
                <a:lnTo>
                  <a:pt x="19050" y="731901"/>
                </a:lnTo>
                <a:lnTo>
                  <a:pt x="19050" y="750951"/>
                </a:lnTo>
                <a:close/>
              </a:path>
              <a:path w="1866900" h="951229">
                <a:moveTo>
                  <a:pt x="19050" y="712851"/>
                </a:moveTo>
                <a:lnTo>
                  <a:pt x="0" y="712851"/>
                </a:lnTo>
                <a:lnTo>
                  <a:pt x="0" y="693801"/>
                </a:lnTo>
                <a:lnTo>
                  <a:pt x="19050" y="693801"/>
                </a:lnTo>
                <a:lnTo>
                  <a:pt x="19050" y="712851"/>
                </a:lnTo>
                <a:close/>
              </a:path>
              <a:path w="1866900" h="951229">
                <a:moveTo>
                  <a:pt x="19050" y="674751"/>
                </a:moveTo>
                <a:lnTo>
                  <a:pt x="0" y="674751"/>
                </a:lnTo>
                <a:lnTo>
                  <a:pt x="0" y="655701"/>
                </a:lnTo>
                <a:lnTo>
                  <a:pt x="19050" y="655701"/>
                </a:lnTo>
                <a:lnTo>
                  <a:pt x="19050" y="674751"/>
                </a:lnTo>
                <a:close/>
              </a:path>
              <a:path w="1866900" h="951229">
                <a:moveTo>
                  <a:pt x="19050" y="636651"/>
                </a:moveTo>
                <a:lnTo>
                  <a:pt x="0" y="636651"/>
                </a:lnTo>
                <a:lnTo>
                  <a:pt x="0" y="617601"/>
                </a:lnTo>
                <a:lnTo>
                  <a:pt x="19050" y="617601"/>
                </a:lnTo>
                <a:lnTo>
                  <a:pt x="19050" y="636651"/>
                </a:lnTo>
                <a:close/>
              </a:path>
              <a:path w="1866900" h="951229">
                <a:moveTo>
                  <a:pt x="19050" y="598551"/>
                </a:moveTo>
                <a:lnTo>
                  <a:pt x="0" y="598551"/>
                </a:lnTo>
                <a:lnTo>
                  <a:pt x="0" y="579501"/>
                </a:lnTo>
                <a:lnTo>
                  <a:pt x="19050" y="579501"/>
                </a:lnTo>
                <a:lnTo>
                  <a:pt x="19050" y="598551"/>
                </a:lnTo>
                <a:close/>
              </a:path>
              <a:path w="1866900" h="951229">
                <a:moveTo>
                  <a:pt x="19050" y="560451"/>
                </a:moveTo>
                <a:lnTo>
                  <a:pt x="0" y="560451"/>
                </a:lnTo>
                <a:lnTo>
                  <a:pt x="0" y="541401"/>
                </a:lnTo>
                <a:lnTo>
                  <a:pt x="19050" y="541401"/>
                </a:lnTo>
                <a:lnTo>
                  <a:pt x="19050" y="560451"/>
                </a:lnTo>
                <a:close/>
              </a:path>
              <a:path w="1866900" h="951229">
                <a:moveTo>
                  <a:pt x="19050" y="522350"/>
                </a:moveTo>
                <a:lnTo>
                  <a:pt x="0" y="522350"/>
                </a:lnTo>
                <a:lnTo>
                  <a:pt x="0" y="503300"/>
                </a:lnTo>
                <a:lnTo>
                  <a:pt x="19050" y="503300"/>
                </a:lnTo>
                <a:lnTo>
                  <a:pt x="19050" y="522350"/>
                </a:lnTo>
                <a:close/>
              </a:path>
              <a:path w="1866900" h="951229">
                <a:moveTo>
                  <a:pt x="19050" y="484250"/>
                </a:moveTo>
                <a:lnTo>
                  <a:pt x="0" y="484250"/>
                </a:lnTo>
                <a:lnTo>
                  <a:pt x="0" y="465200"/>
                </a:lnTo>
                <a:lnTo>
                  <a:pt x="19050" y="465200"/>
                </a:lnTo>
                <a:lnTo>
                  <a:pt x="19050" y="484250"/>
                </a:lnTo>
                <a:close/>
              </a:path>
              <a:path w="1866900" h="951229">
                <a:moveTo>
                  <a:pt x="19050" y="446150"/>
                </a:moveTo>
                <a:lnTo>
                  <a:pt x="0" y="446150"/>
                </a:lnTo>
                <a:lnTo>
                  <a:pt x="0" y="427100"/>
                </a:lnTo>
                <a:lnTo>
                  <a:pt x="19050" y="427100"/>
                </a:lnTo>
                <a:lnTo>
                  <a:pt x="19050" y="446150"/>
                </a:lnTo>
                <a:close/>
              </a:path>
              <a:path w="1866900" h="951229">
                <a:moveTo>
                  <a:pt x="19050" y="408050"/>
                </a:moveTo>
                <a:lnTo>
                  <a:pt x="0" y="408050"/>
                </a:lnTo>
                <a:lnTo>
                  <a:pt x="0" y="389000"/>
                </a:lnTo>
                <a:lnTo>
                  <a:pt x="19050" y="389000"/>
                </a:lnTo>
                <a:lnTo>
                  <a:pt x="19050" y="408050"/>
                </a:lnTo>
                <a:close/>
              </a:path>
              <a:path w="1866900" h="951229">
                <a:moveTo>
                  <a:pt x="19050" y="369950"/>
                </a:moveTo>
                <a:lnTo>
                  <a:pt x="0" y="369950"/>
                </a:lnTo>
                <a:lnTo>
                  <a:pt x="0" y="350900"/>
                </a:lnTo>
                <a:lnTo>
                  <a:pt x="19050" y="350900"/>
                </a:lnTo>
                <a:lnTo>
                  <a:pt x="19050" y="369950"/>
                </a:lnTo>
                <a:close/>
              </a:path>
              <a:path w="1866900" h="951229">
                <a:moveTo>
                  <a:pt x="19050" y="331850"/>
                </a:moveTo>
                <a:lnTo>
                  <a:pt x="0" y="331850"/>
                </a:lnTo>
                <a:lnTo>
                  <a:pt x="0" y="312800"/>
                </a:lnTo>
                <a:lnTo>
                  <a:pt x="19050" y="312800"/>
                </a:lnTo>
                <a:lnTo>
                  <a:pt x="19050" y="331850"/>
                </a:lnTo>
                <a:close/>
              </a:path>
              <a:path w="1866900" h="951229">
                <a:moveTo>
                  <a:pt x="19050" y="293750"/>
                </a:moveTo>
                <a:lnTo>
                  <a:pt x="0" y="293750"/>
                </a:lnTo>
                <a:lnTo>
                  <a:pt x="0" y="274700"/>
                </a:lnTo>
                <a:lnTo>
                  <a:pt x="19050" y="274700"/>
                </a:lnTo>
                <a:lnTo>
                  <a:pt x="19050" y="293750"/>
                </a:lnTo>
                <a:close/>
              </a:path>
              <a:path w="1866900" h="951229">
                <a:moveTo>
                  <a:pt x="19050" y="255650"/>
                </a:moveTo>
                <a:lnTo>
                  <a:pt x="0" y="255650"/>
                </a:lnTo>
                <a:lnTo>
                  <a:pt x="0" y="236600"/>
                </a:lnTo>
                <a:lnTo>
                  <a:pt x="19050" y="236600"/>
                </a:lnTo>
                <a:lnTo>
                  <a:pt x="19050" y="255650"/>
                </a:lnTo>
                <a:close/>
              </a:path>
              <a:path w="1866900" h="951229">
                <a:moveTo>
                  <a:pt x="19050" y="217550"/>
                </a:moveTo>
                <a:lnTo>
                  <a:pt x="0" y="217550"/>
                </a:lnTo>
                <a:lnTo>
                  <a:pt x="0" y="198500"/>
                </a:lnTo>
                <a:lnTo>
                  <a:pt x="19050" y="198500"/>
                </a:lnTo>
                <a:lnTo>
                  <a:pt x="19050" y="217550"/>
                </a:lnTo>
                <a:close/>
              </a:path>
              <a:path w="1866900" h="951229">
                <a:moveTo>
                  <a:pt x="19050" y="179450"/>
                </a:moveTo>
                <a:lnTo>
                  <a:pt x="0" y="179450"/>
                </a:lnTo>
                <a:lnTo>
                  <a:pt x="0" y="160400"/>
                </a:lnTo>
                <a:lnTo>
                  <a:pt x="19050" y="160400"/>
                </a:lnTo>
                <a:lnTo>
                  <a:pt x="19050" y="179450"/>
                </a:lnTo>
                <a:close/>
              </a:path>
              <a:path w="1866900" h="951229">
                <a:moveTo>
                  <a:pt x="19050" y="141350"/>
                </a:moveTo>
                <a:lnTo>
                  <a:pt x="0" y="141350"/>
                </a:lnTo>
                <a:lnTo>
                  <a:pt x="0" y="122300"/>
                </a:lnTo>
                <a:lnTo>
                  <a:pt x="19050" y="122300"/>
                </a:lnTo>
                <a:lnTo>
                  <a:pt x="19050" y="141350"/>
                </a:lnTo>
                <a:close/>
              </a:path>
              <a:path w="1866900" h="951229">
                <a:moveTo>
                  <a:pt x="19050" y="103250"/>
                </a:moveTo>
                <a:lnTo>
                  <a:pt x="0" y="103250"/>
                </a:lnTo>
                <a:lnTo>
                  <a:pt x="0" y="84200"/>
                </a:lnTo>
                <a:lnTo>
                  <a:pt x="19050" y="84200"/>
                </a:lnTo>
                <a:lnTo>
                  <a:pt x="19050" y="103250"/>
                </a:lnTo>
                <a:close/>
              </a:path>
              <a:path w="1866900" h="951229">
                <a:moveTo>
                  <a:pt x="19050" y="65150"/>
                </a:moveTo>
                <a:lnTo>
                  <a:pt x="0" y="65150"/>
                </a:lnTo>
                <a:lnTo>
                  <a:pt x="0" y="46100"/>
                </a:lnTo>
                <a:lnTo>
                  <a:pt x="19050" y="46100"/>
                </a:lnTo>
                <a:lnTo>
                  <a:pt x="19050" y="65150"/>
                </a:lnTo>
                <a:close/>
              </a:path>
              <a:path w="1866900" h="951229">
                <a:moveTo>
                  <a:pt x="19050" y="27050"/>
                </a:moveTo>
                <a:lnTo>
                  <a:pt x="0" y="27050"/>
                </a:lnTo>
                <a:lnTo>
                  <a:pt x="0" y="0"/>
                </a:lnTo>
                <a:lnTo>
                  <a:pt x="11049" y="0"/>
                </a:lnTo>
                <a:lnTo>
                  <a:pt x="11049" y="17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7050"/>
                </a:lnTo>
                <a:close/>
              </a:path>
              <a:path w="1866900" h="951229">
                <a:moveTo>
                  <a:pt x="19050" y="19050"/>
                </a:moveTo>
                <a:lnTo>
                  <a:pt x="11049" y="19050"/>
                </a:lnTo>
                <a:lnTo>
                  <a:pt x="11049" y="17525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866900" h="951229">
                <a:moveTo>
                  <a:pt x="11049" y="19050"/>
                </a:moveTo>
                <a:lnTo>
                  <a:pt x="9525" y="19050"/>
                </a:lnTo>
                <a:lnTo>
                  <a:pt x="11049" y="17525"/>
                </a:lnTo>
                <a:lnTo>
                  <a:pt x="11049" y="19050"/>
                </a:lnTo>
                <a:close/>
              </a:path>
              <a:path w="1866900" h="951229">
                <a:moveTo>
                  <a:pt x="49149" y="19050"/>
                </a:moveTo>
                <a:lnTo>
                  <a:pt x="30099" y="19050"/>
                </a:lnTo>
                <a:lnTo>
                  <a:pt x="30099" y="0"/>
                </a:lnTo>
                <a:lnTo>
                  <a:pt x="49149" y="0"/>
                </a:lnTo>
                <a:lnTo>
                  <a:pt x="49149" y="19050"/>
                </a:lnTo>
                <a:close/>
              </a:path>
              <a:path w="1866900" h="951229">
                <a:moveTo>
                  <a:pt x="87249" y="19050"/>
                </a:moveTo>
                <a:lnTo>
                  <a:pt x="68199" y="19050"/>
                </a:lnTo>
                <a:lnTo>
                  <a:pt x="68199" y="0"/>
                </a:lnTo>
                <a:lnTo>
                  <a:pt x="87249" y="0"/>
                </a:lnTo>
                <a:lnTo>
                  <a:pt x="87249" y="19050"/>
                </a:lnTo>
                <a:close/>
              </a:path>
              <a:path w="1866900" h="951229">
                <a:moveTo>
                  <a:pt x="125349" y="19050"/>
                </a:moveTo>
                <a:lnTo>
                  <a:pt x="106299" y="19050"/>
                </a:lnTo>
                <a:lnTo>
                  <a:pt x="106299" y="0"/>
                </a:lnTo>
                <a:lnTo>
                  <a:pt x="125349" y="0"/>
                </a:lnTo>
                <a:lnTo>
                  <a:pt x="125349" y="19050"/>
                </a:lnTo>
                <a:close/>
              </a:path>
              <a:path w="1866900" h="951229">
                <a:moveTo>
                  <a:pt x="163449" y="19050"/>
                </a:moveTo>
                <a:lnTo>
                  <a:pt x="144399" y="19050"/>
                </a:lnTo>
                <a:lnTo>
                  <a:pt x="144399" y="0"/>
                </a:lnTo>
                <a:lnTo>
                  <a:pt x="163449" y="0"/>
                </a:lnTo>
                <a:lnTo>
                  <a:pt x="163449" y="19050"/>
                </a:lnTo>
                <a:close/>
              </a:path>
              <a:path w="1866900" h="951229">
                <a:moveTo>
                  <a:pt x="201549" y="19050"/>
                </a:moveTo>
                <a:lnTo>
                  <a:pt x="182499" y="19050"/>
                </a:lnTo>
                <a:lnTo>
                  <a:pt x="182499" y="0"/>
                </a:lnTo>
                <a:lnTo>
                  <a:pt x="201549" y="0"/>
                </a:lnTo>
                <a:lnTo>
                  <a:pt x="201549" y="19050"/>
                </a:lnTo>
                <a:close/>
              </a:path>
              <a:path w="1866900" h="951229">
                <a:moveTo>
                  <a:pt x="239649" y="19050"/>
                </a:moveTo>
                <a:lnTo>
                  <a:pt x="220599" y="19050"/>
                </a:lnTo>
                <a:lnTo>
                  <a:pt x="220599" y="0"/>
                </a:lnTo>
                <a:lnTo>
                  <a:pt x="239649" y="0"/>
                </a:lnTo>
                <a:lnTo>
                  <a:pt x="239649" y="19050"/>
                </a:lnTo>
                <a:close/>
              </a:path>
              <a:path w="1866900" h="951229">
                <a:moveTo>
                  <a:pt x="277749" y="19050"/>
                </a:moveTo>
                <a:lnTo>
                  <a:pt x="258699" y="19050"/>
                </a:lnTo>
                <a:lnTo>
                  <a:pt x="258699" y="0"/>
                </a:lnTo>
                <a:lnTo>
                  <a:pt x="277749" y="0"/>
                </a:lnTo>
                <a:lnTo>
                  <a:pt x="277749" y="19050"/>
                </a:lnTo>
                <a:close/>
              </a:path>
              <a:path w="1866900" h="951229">
                <a:moveTo>
                  <a:pt x="315849" y="19050"/>
                </a:moveTo>
                <a:lnTo>
                  <a:pt x="296799" y="19050"/>
                </a:lnTo>
                <a:lnTo>
                  <a:pt x="296799" y="0"/>
                </a:lnTo>
                <a:lnTo>
                  <a:pt x="315849" y="0"/>
                </a:lnTo>
                <a:lnTo>
                  <a:pt x="315849" y="19050"/>
                </a:lnTo>
                <a:close/>
              </a:path>
              <a:path w="1866900" h="951229">
                <a:moveTo>
                  <a:pt x="353949" y="19050"/>
                </a:moveTo>
                <a:lnTo>
                  <a:pt x="334899" y="19050"/>
                </a:lnTo>
                <a:lnTo>
                  <a:pt x="334899" y="0"/>
                </a:lnTo>
                <a:lnTo>
                  <a:pt x="353949" y="0"/>
                </a:lnTo>
                <a:lnTo>
                  <a:pt x="353949" y="19050"/>
                </a:lnTo>
                <a:close/>
              </a:path>
              <a:path w="1866900" h="951229">
                <a:moveTo>
                  <a:pt x="392049" y="19050"/>
                </a:moveTo>
                <a:lnTo>
                  <a:pt x="372999" y="19050"/>
                </a:lnTo>
                <a:lnTo>
                  <a:pt x="372999" y="0"/>
                </a:lnTo>
                <a:lnTo>
                  <a:pt x="392049" y="0"/>
                </a:lnTo>
                <a:lnTo>
                  <a:pt x="392049" y="19050"/>
                </a:lnTo>
                <a:close/>
              </a:path>
              <a:path w="1866900" h="951229">
                <a:moveTo>
                  <a:pt x="430149" y="19050"/>
                </a:moveTo>
                <a:lnTo>
                  <a:pt x="411099" y="19050"/>
                </a:lnTo>
                <a:lnTo>
                  <a:pt x="411099" y="0"/>
                </a:lnTo>
                <a:lnTo>
                  <a:pt x="430149" y="0"/>
                </a:lnTo>
                <a:lnTo>
                  <a:pt x="430149" y="19050"/>
                </a:lnTo>
                <a:close/>
              </a:path>
              <a:path w="1866900" h="951229">
                <a:moveTo>
                  <a:pt x="468249" y="19050"/>
                </a:moveTo>
                <a:lnTo>
                  <a:pt x="449199" y="19050"/>
                </a:lnTo>
                <a:lnTo>
                  <a:pt x="449199" y="0"/>
                </a:lnTo>
                <a:lnTo>
                  <a:pt x="468249" y="0"/>
                </a:lnTo>
                <a:lnTo>
                  <a:pt x="468249" y="19050"/>
                </a:lnTo>
                <a:close/>
              </a:path>
              <a:path w="1866900" h="951229">
                <a:moveTo>
                  <a:pt x="506349" y="19050"/>
                </a:moveTo>
                <a:lnTo>
                  <a:pt x="487299" y="19050"/>
                </a:lnTo>
                <a:lnTo>
                  <a:pt x="487299" y="0"/>
                </a:lnTo>
                <a:lnTo>
                  <a:pt x="506349" y="0"/>
                </a:lnTo>
                <a:lnTo>
                  <a:pt x="506349" y="19050"/>
                </a:lnTo>
                <a:close/>
              </a:path>
              <a:path w="1866900" h="951229">
                <a:moveTo>
                  <a:pt x="544449" y="19050"/>
                </a:moveTo>
                <a:lnTo>
                  <a:pt x="525399" y="19050"/>
                </a:lnTo>
                <a:lnTo>
                  <a:pt x="525399" y="0"/>
                </a:lnTo>
                <a:lnTo>
                  <a:pt x="544449" y="0"/>
                </a:lnTo>
                <a:lnTo>
                  <a:pt x="544449" y="19050"/>
                </a:lnTo>
                <a:close/>
              </a:path>
              <a:path w="1866900" h="951229">
                <a:moveTo>
                  <a:pt x="582548" y="19050"/>
                </a:moveTo>
                <a:lnTo>
                  <a:pt x="563498" y="19050"/>
                </a:lnTo>
                <a:lnTo>
                  <a:pt x="563498" y="0"/>
                </a:lnTo>
                <a:lnTo>
                  <a:pt x="582548" y="0"/>
                </a:lnTo>
                <a:lnTo>
                  <a:pt x="582548" y="19050"/>
                </a:lnTo>
                <a:close/>
              </a:path>
              <a:path w="1866900" h="951229">
                <a:moveTo>
                  <a:pt x="620648" y="19050"/>
                </a:moveTo>
                <a:lnTo>
                  <a:pt x="601598" y="19050"/>
                </a:lnTo>
                <a:lnTo>
                  <a:pt x="601598" y="0"/>
                </a:lnTo>
                <a:lnTo>
                  <a:pt x="620648" y="0"/>
                </a:lnTo>
                <a:lnTo>
                  <a:pt x="620648" y="19050"/>
                </a:lnTo>
                <a:close/>
              </a:path>
              <a:path w="1866900" h="951229">
                <a:moveTo>
                  <a:pt x="658748" y="19050"/>
                </a:moveTo>
                <a:lnTo>
                  <a:pt x="639698" y="19050"/>
                </a:lnTo>
                <a:lnTo>
                  <a:pt x="639698" y="0"/>
                </a:lnTo>
                <a:lnTo>
                  <a:pt x="658748" y="0"/>
                </a:lnTo>
                <a:lnTo>
                  <a:pt x="658748" y="19050"/>
                </a:lnTo>
                <a:close/>
              </a:path>
              <a:path w="1866900" h="951229">
                <a:moveTo>
                  <a:pt x="696848" y="19050"/>
                </a:moveTo>
                <a:lnTo>
                  <a:pt x="677798" y="19050"/>
                </a:lnTo>
                <a:lnTo>
                  <a:pt x="677798" y="0"/>
                </a:lnTo>
                <a:lnTo>
                  <a:pt x="696848" y="0"/>
                </a:lnTo>
                <a:lnTo>
                  <a:pt x="696848" y="19050"/>
                </a:lnTo>
                <a:close/>
              </a:path>
              <a:path w="1866900" h="951229">
                <a:moveTo>
                  <a:pt x="734948" y="19050"/>
                </a:moveTo>
                <a:lnTo>
                  <a:pt x="715898" y="19050"/>
                </a:lnTo>
                <a:lnTo>
                  <a:pt x="715898" y="0"/>
                </a:lnTo>
                <a:lnTo>
                  <a:pt x="734948" y="0"/>
                </a:lnTo>
                <a:lnTo>
                  <a:pt x="734948" y="19050"/>
                </a:lnTo>
                <a:close/>
              </a:path>
              <a:path w="1866900" h="951229">
                <a:moveTo>
                  <a:pt x="773048" y="19050"/>
                </a:moveTo>
                <a:lnTo>
                  <a:pt x="753998" y="19050"/>
                </a:lnTo>
                <a:lnTo>
                  <a:pt x="753998" y="0"/>
                </a:lnTo>
                <a:lnTo>
                  <a:pt x="773048" y="0"/>
                </a:lnTo>
                <a:lnTo>
                  <a:pt x="773048" y="19050"/>
                </a:lnTo>
                <a:close/>
              </a:path>
              <a:path w="1866900" h="951229">
                <a:moveTo>
                  <a:pt x="811148" y="19050"/>
                </a:moveTo>
                <a:lnTo>
                  <a:pt x="792098" y="19050"/>
                </a:lnTo>
                <a:lnTo>
                  <a:pt x="792098" y="0"/>
                </a:lnTo>
                <a:lnTo>
                  <a:pt x="811148" y="0"/>
                </a:lnTo>
                <a:lnTo>
                  <a:pt x="811148" y="19050"/>
                </a:lnTo>
                <a:close/>
              </a:path>
              <a:path w="1866900" h="951229">
                <a:moveTo>
                  <a:pt x="849248" y="19050"/>
                </a:moveTo>
                <a:lnTo>
                  <a:pt x="830198" y="19050"/>
                </a:lnTo>
                <a:lnTo>
                  <a:pt x="830198" y="0"/>
                </a:lnTo>
                <a:lnTo>
                  <a:pt x="849248" y="0"/>
                </a:lnTo>
                <a:lnTo>
                  <a:pt x="849248" y="19050"/>
                </a:lnTo>
                <a:close/>
              </a:path>
              <a:path w="1866900" h="951229">
                <a:moveTo>
                  <a:pt x="887348" y="19050"/>
                </a:moveTo>
                <a:lnTo>
                  <a:pt x="868298" y="19050"/>
                </a:lnTo>
                <a:lnTo>
                  <a:pt x="868298" y="0"/>
                </a:lnTo>
                <a:lnTo>
                  <a:pt x="887348" y="0"/>
                </a:lnTo>
                <a:lnTo>
                  <a:pt x="887348" y="19050"/>
                </a:lnTo>
                <a:close/>
              </a:path>
              <a:path w="1866900" h="951229">
                <a:moveTo>
                  <a:pt x="925448" y="19050"/>
                </a:moveTo>
                <a:lnTo>
                  <a:pt x="906398" y="19050"/>
                </a:lnTo>
                <a:lnTo>
                  <a:pt x="906398" y="0"/>
                </a:lnTo>
                <a:lnTo>
                  <a:pt x="925448" y="0"/>
                </a:lnTo>
                <a:lnTo>
                  <a:pt x="925448" y="19050"/>
                </a:lnTo>
                <a:close/>
              </a:path>
              <a:path w="1866900" h="951229">
                <a:moveTo>
                  <a:pt x="963548" y="19050"/>
                </a:moveTo>
                <a:lnTo>
                  <a:pt x="944498" y="19050"/>
                </a:lnTo>
                <a:lnTo>
                  <a:pt x="944498" y="0"/>
                </a:lnTo>
                <a:lnTo>
                  <a:pt x="963548" y="0"/>
                </a:lnTo>
                <a:lnTo>
                  <a:pt x="963548" y="19050"/>
                </a:lnTo>
                <a:close/>
              </a:path>
              <a:path w="1866900" h="951229">
                <a:moveTo>
                  <a:pt x="1001648" y="19050"/>
                </a:moveTo>
                <a:lnTo>
                  <a:pt x="982598" y="19050"/>
                </a:lnTo>
                <a:lnTo>
                  <a:pt x="982598" y="0"/>
                </a:lnTo>
                <a:lnTo>
                  <a:pt x="1001648" y="0"/>
                </a:lnTo>
                <a:lnTo>
                  <a:pt x="1001648" y="19050"/>
                </a:lnTo>
                <a:close/>
              </a:path>
              <a:path w="1866900" h="951229">
                <a:moveTo>
                  <a:pt x="1039748" y="19050"/>
                </a:moveTo>
                <a:lnTo>
                  <a:pt x="1020698" y="19050"/>
                </a:lnTo>
                <a:lnTo>
                  <a:pt x="1020698" y="0"/>
                </a:lnTo>
                <a:lnTo>
                  <a:pt x="1039748" y="0"/>
                </a:lnTo>
                <a:lnTo>
                  <a:pt x="1039748" y="19050"/>
                </a:lnTo>
                <a:close/>
              </a:path>
              <a:path w="1866900" h="951229">
                <a:moveTo>
                  <a:pt x="1077848" y="19050"/>
                </a:moveTo>
                <a:lnTo>
                  <a:pt x="1058798" y="19050"/>
                </a:lnTo>
                <a:lnTo>
                  <a:pt x="1058798" y="0"/>
                </a:lnTo>
                <a:lnTo>
                  <a:pt x="1077848" y="0"/>
                </a:lnTo>
                <a:lnTo>
                  <a:pt x="1077848" y="19050"/>
                </a:lnTo>
                <a:close/>
              </a:path>
              <a:path w="1866900" h="951229">
                <a:moveTo>
                  <a:pt x="1115948" y="19050"/>
                </a:moveTo>
                <a:lnTo>
                  <a:pt x="1096898" y="19050"/>
                </a:lnTo>
                <a:lnTo>
                  <a:pt x="1096898" y="0"/>
                </a:lnTo>
                <a:lnTo>
                  <a:pt x="1115948" y="0"/>
                </a:lnTo>
                <a:lnTo>
                  <a:pt x="1115948" y="19050"/>
                </a:lnTo>
                <a:close/>
              </a:path>
              <a:path w="1866900" h="951229">
                <a:moveTo>
                  <a:pt x="1154048" y="19050"/>
                </a:moveTo>
                <a:lnTo>
                  <a:pt x="1134998" y="19050"/>
                </a:lnTo>
                <a:lnTo>
                  <a:pt x="1134998" y="0"/>
                </a:lnTo>
                <a:lnTo>
                  <a:pt x="1154048" y="0"/>
                </a:lnTo>
                <a:lnTo>
                  <a:pt x="1154048" y="19050"/>
                </a:lnTo>
                <a:close/>
              </a:path>
              <a:path w="1866900" h="951229">
                <a:moveTo>
                  <a:pt x="1192148" y="19050"/>
                </a:moveTo>
                <a:lnTo>
                  <a:pt x="1173098" y="19050"/>
                </a:lnTo>
                <a:lnTo>
                  <a:pt x="1173098" y="0"/>
                </a:lnTo>
                <a:lnTo>
                  <a:pt x="1192148" y="0"/>
                </a:lnTo>
                <a:lnTo>
                  <a:pt x="1192148" y="19050"/>
                </a:lnTo>
                <a:close/>
              </a:path>
              <a:path w="1866900" h="951229">
                <a:moveTo>
                  <a:pt x="1230248" y="19050"/>
                </a:moveTo>
                <a:lnTo>
                  <a:pt x="1211198" y="19050"/>
                </a:lnTo>
                <a:lnTo>
                  <a:pt x="1211198" y="0"/>
                </a:lnTo>
                <a:lnTo>
                  <a:pt x="1230248" y="0"/>
                </a:lnTo>
                <a:lnTo>
                  <a:pt x="1230248" y="19050"/>
                </a:lnTo>
                <a:close/>
              </a:path>
              <a:path w="1866900" h="951229">
                <a:moveTo>
                  <a:pt x="1268348" y="19050"/>
                </a:moveTo>
                <a:lnTo>
                  <a:pt x="1249298" y="19050"/>
                </a:lnTo>
                <a:lnTo>
                  <a:pt x="1249298" y="0"/>
                </a:lnTo>
                <a:lnTo>
                  <a:pt x="1268348" y="0"/>
                </a:lnTo>
                <a:lnTo>
                  <a:pt x="1268348" y="19050"/>
                </a:lnTo>
                <a:close/>
              </a:path>
              <a:path w="1866900" h="951229">
                <a:moveTo>
                  <a:pt x="1306448" y="19050"/>
                </a:moveTo>
                <a:lnTo>
                  <a:pt x="1287398" y="19050"/>
                </a:lnTo>
                <a:lnTo>
                  <a:pt x="1287398" y="0"/>
                </a:lnTo>
                <a:lnTo>
                  <a:pt x="1306448" y="0"/>
                </a:lnTo>
                <a:lnTo>
                  <a:pt x="1306448" y="19050"/>
                </a:lnTo>
                <a:close/>
              </a:path>
              <a:path w="1866900" h="951229">
                <a:moveTo>
                  <a:pt x="1344548" y="19050"/>
                </a:moveTo>
                <a:lnTo>
                  <a:pt x="1325498" y="19050"/>
                </a:lnTo>
                <a:lnTo>
                  <a:pt x="1325498" y="0"/>
                </a:lnTo>
                <a:lnTo>
                  <a:pt x="1344548" y="0"/>
                </a:lnTo>
                <a:lnTo>
                  <a:pt x="1344548" y="19050"/>
                </a:lnTo>
                <a:close/>
              </a:path>
              <a:path w="1866900" h="951229">
                <a:moveTo>
                  <a:pt x="1382648" y="19050"/>
                </a:moveTo>
                <a:lnTo>
                  <a:pt x="1363598" y="19050"/>
                </a:lnTo>
                <a:lnTo>
                  <a:pt x="1363598" y="0"/>
                </a:lnTo>
                <a:lnTo>
                  <a:pt x="1382648" y="0"/>
                </a:lnTo>
                <a:lnTo>
                  <a:pt x="1382648" y="19050"/>
                </a:lnTo>
                <a:close/>
              </a:path>
              <a:path w="1866900" h="951229">
                <a:moveTo>
                  <a:pt x="1420748" y="19050"/>
                </a:moveTo>
                <a:lnTo>
                  <a:pt x="1401698" y="19050"/>
                </a:lnTo>
                <a:lnTo>
                  <a:pt x="1401698" y="0"/>
                </a:lnTo>
                <a:lnTo>
                  <a:pt x="1420748" y="0"/>
                </a:lnTo>
                <a:lnTo>
                  <a:pt x="1420748" y="19050"/>
                </a:lnTo>
                <a:close/>
              </a:path>
              <a:path w="1866900" h="951229">
                <a:moveTo>
                  <a:pt x="1458848" y="19050"/>
                </a:moveTo>
                <a:lnTo>
                  <a:pt x="1439798" y="19050"/>
                </a:lnTo>
                <a:lnTo>
                  <a:pt x="1439798" y="0"/>
                </a:lnTo>
                <a:lnTo>
                  <a:pt x="1458848" y="0"/>
                </a:lnTo>
                <a:lnTo>
                  <a:pt x="1458848" y="19050"/>
                </a:lnTo>
                <a:close/>
              </a:path>
              <a:path w="1866900" h="951229">
                <a:moveTo>
                  <a:pt x="1496948" y="19050"/>
                </a:moveTo>
                <a:lnTo>
                  <a:pt x="1477898" y="19050"/>
                </a:lnTo>
                <a:lnTo>
                  <a:pt x="1477898" y="0"/>
                </a:lnTo>
                <a:lnTo>
                  <a:pt x="1496948" y="0"/>
                </a:lnTo>
                <a:lnTo>
                  <a:pt x="1496948" y="19050"/>
                </a:lnTo>
                <a:close/>
              </a:path>
              <a:path w="1866900" h="951229">
                <a:moveTo>
                  <a:pt x="1535048" y="19050"/>
                </a:moveTo>
                <a:lnTo>
                  <a:pt x="1515998" y="19050"/>
                </a:lnTo>
                <a:lnTo>
                  <a:pt x="1515998" y="0"/>
                </a:lnTo>
                <a:lnTo>
                  <a:pt x="1535048" y="0"/>
                </a:lnTo>
                <a:lnTo>
                  <a:pt x="1535048" y="19050"/>
                </a:lnTo>
                <a:close/>
              </a:path>
              <a:path w="1866900" h="951229">
                <a:moveTo>
                  <a:pt x="1573148" y="19050"/>
                </a:moveTo>
                <a:lnTo>
                  <a:pt x="1554098" y="19050"/>
                </a:lnTo>
                <a:lnTo>
                  <a:pt x="1554098" y="0"/>
                </a:lnTo>
                <a:lnTo>
                  <a:pt x="1573148" y="0"/>
                </a:lnTo>
                <a:lnTo>
                  <a:pt x="1573148" y="19050"/>
                </a:lnTo>
                <a:close/>
              </a:path>
              <a:path w="1866900" h="951229">
                <a:moveTo>
                  <a:pt x="1611248" y="19050"/>
                </a:moveTo>
                <a:lnTo>
                  <a:pt x="1592198" y="19050"/>
                </a:lnTo>
                <a:lnTo>
                  <a:pt x="1592198" y="0"/>
                </a:lnTo>
                <a:lnTo>
                  <a:pt x="1611248" y="0"/>
                </a:lnTo>
                <a:lnTo>
                  <a:pt x="1611248" y="19050"/>
                </a:lnTo>
                <a:close/>
              </a:path>
              <a:path w="1866900" h="951229">
                <a:moveTo>
                  <a:pt x="1649348" y="19050"/>
                </a:moveTo>
                <a:lnTo>
                  <a:pt x="1630298" y="19050"/>
                </a:lnTo>
                <a:lnTo>
                  <a:pt x="1630298" y="0"/>
                </a:lnTo>
                <a:lnTo>
                  <a:pt x="1649348" y="0"/>
                </a:lnTo>
                <a:lnTo>
                  <a:pt x="1649348" y="19050"/>
                </a:lnTo>
                <a:close/>
              </a:path>
              <a:path w="1866900" h="951229">
                <a:moveTo>
                  <a:pt x="1687448" y="19050"/>
                </a:moveTo>
                <a:lnTo>
                  <a:pt x="1668398" y="19050"/>
                </a:lnTo>
                <a:lnTo>
                  <a:pt x="1668398" y="0"/>
                </a:lnTo>
                <a:lnTo>
                  <a:pt x="1687448" y="0"/>
                </a:lnTo>
                <a:lnTo>
                  <a:pt x="1687448" y="19050"/>
                </a:lnTo>
                <a:close/>
              </a:path>
              <a:path w="1866900" h="951229">
                <a:moveTo>
                  <a:pt x="1725548" y="19050"/>
                </a:moveTo>
                <a:lnTo>
                  <a:pt x="1706498" y="19050"/>
                </a:lnTo>
                <a:lnTo>
                  <a:pt x="1706498" y="0"/>
                </a:lnTo>
                <a:lnTo>
                  <a:pt x="1725548" y="0"/>
                </a:lnTo>
                <a:lnTo>
                  <a:pt x="1725548" y="19050"/>
                </a:lnTo>
                <a:close/>
              </a:path>
              <a:path w="1866900" h="951229">
                <a:moveTo>
                  <a:pt x="1763648" y="19050"/>
                </a:moveTo>
                <a:lnTo>
                  <a:pt x="1744598" y="19050"/>
                </a:lnTo>
                <a:lnTo>
                  <a:pt x="1744598" y="0"/>
                </a:lnTo>
                <a:lnTo>
                  <a:pt x="1763648" y="0"/>
                </a:lnTo>
                <a:lnTo>
                  <a:pt x="1763648" y="19050"/>
                </a:lnTo>
                <a:close/>
              </a:path>
              <a:path w="1866900" h="951229">
                <a:moveTo>
                  <a:pt x="1801748" y="19050"/>
                </a:moveTo>
                <a:lnTo>
                  <a:pt x="1782698" y="19050"/>
                </a:lnTo>
                <a:lnTo>
                  <a:pt x="1782698" y="0"/>
                </a:lnTo>
                <a:lnTo>
                  <a:pt x="1801748" y="0"/>
                </a:lnTo>
                <a:lnTo>
                  <a:pt x="1801748" y="19050"/>
                </a:lnTo>
                <a:close/>
              </a:path>
              <a:path w="1866900" h="951229">
                <a:moveTo>
                  <a:pt x="1839848" y="19050"/>
                </a:moveTo>
                <a:lnTo>
                  <a:pt x="1820798" y="19050"/>
                </a:lnTo>
                <a:lnTo>
                  <a:pt x="1820798" y="0"/>
                </a:lnTo>
                <a:lnTo>
                  <a:pt x="1839848" y="0"/>
                </a:lnTo>
                <a:lnTo>
                  <a:pt x="1839848" y="19050"/>
                </a:lnTo>
                <a:close/>
              </a:path>
              <a:path w="1866900" h="951229">
                <a:moveTo>
                  <a:pt x="1866899" y="30099"/>
                </a:moveTo>
                <a:lnTo>
                  <a:pt x="1847849" y="30099"/>
                </a:lnTo>
                <a:lnTo>
                  <a:pt x="1847849" y="11049"/>
                </a:lnTo>
                <a:lnTo>
                  <a:pt x="1866899" y="11049"/>
                </a:lnTo>
                <a:lnTo>
                  <a:pt x="1866899" y="30099"/>
                </a:lnTo>
                <a:close/>
              </a:path>
              <a:path w="1866900" h="951229">
                <a:moveTo>
                  <a:pt x="1866899" y="68199"/>
                </a:moveTo>
                <a:lnTo>
                  <a:pt x="1847849" y="68199"/>
                </a:lnTo>
                <a:lnTo>
                  <a:pt x="1847849" y="49149"/>
                </a:lnTo>
                <a:lnTo>
                  <a:pt x="1866899" y="49149"/>
                </a:lnTo>
                <a:lnTo>
                  <a:pt x="1866899" y="68199"/>
                </a:lnTo>
                <a:close/>
              </a:path>
              <a:path w="1866900" h="951229">
                <a:moveTo>
                  <a:pt x="1866899" y="106299"/>
                </a:moveTo>
                <a:lnTo>
                  <a:pt x="1847849" y="106299"/>
                </a:lnTo>
                <a:lnTo>
                  <a:pt x="1847849" y="87249"/>
                </a:lnTo>
                <a:lnTo>
                  <a:pt x="1866899" y="87249"/>
                </a:lnTo>
                <a:lnTo>
                  <a:pt x="1866899" y="106299"/>
                </a:lnTo>
                <a:close/>
              </a:path>
              <a:path w="1866900" h="951229">
                <a:moveTo>
                  <a:pt x="1866899" y="144399"/>
                </a:moveTo>
                <a:lnTo>
                  <a:pt x="1847849" y="144399"/>
                </a:lnTo>
                <a:lnTo>
                  <a:pt x="1847849" y="125349"/>
                </a:lnTo>
                <a:lnTo>
                  <a:pt x="1866899" y="125349"/>
                </a:lnTo>
                <a:lnTo>
                  <a:pt x="1866899" y="144399"/>
                </a:lnTo>
                <a:close/>
              </a:path>
              <a:path w="1866900" h="951229">
                <a:moveTo>
                  <a:pt x="1866899" y="182499"/>
                </a:moveTo>
                <a:lnTo>
                  <a:pt x="1847849" y="182499"/>
                </a:lnTo>
                <a:lnTo>
                  <a:pt x="1847849" y="163449"/>
                </a:lnTo>
                <a:lnTo>
                  <a:pt x="1866899" y="163449"/>
                </a:lnTo>
                <a:lnTo>
                  <a:pt x="1866899" y="182499"/>
                </a:lnTo>
                <a:close/>
              </a:path>
              <a:path w="1866900" h="951229">
                <a:moveTo>
                  <a:pt x="1866899" y="220599"/>
                </a:moveTo>
                <a:lnTo>
                  <a:pt x="1847849" y="220599"/>
                </a:lnTo>
                <a:lnTo>
                  <a:pt x="1847849" y="201549"/>
                </a:lnTo>
                <a:lnTo>
                  <a:pt x="1866899" y="201549"/>
                </a:lnTo>
                <a:lnTo>
                  <a:pt x="1866899" y="220599"/>
                </a:lnTo>
                <a:close/>
              </a:path>
              <a:path w="1866900" h="951229">
                <a:moveTo>
                  <a:pt x="1866899" y="258699"/>
                </a:moveTo>
                <a:lnTo>
                  <a:pt x="1847849" y="258699"/>
                </a:lnTo>
                <a:lnTo>
                  <a:pt x="1847849" y="239649"/>
                </a:lnTo>
                <a:lnTo>
                  <a:pt x="1866899" y="239649"/>
                </a:lnTo>
                <a:lnTo>
                  <a:pt x="1866899" y="258699"/>
                </a:lnTo>
                <a:close/>
              </a:path>
              <a:path w="1866900" h="951229">
                <a:moveTo>
                  <a:pt x="1866899" y="296799"/>
                </a:moveTo>
                <a:lnTo>
                  <a:pt x="1847849" y="296799"/>
                </a:lnTo>
                <a:lnTo>
                  <a:pt x="1847849" y="277749"/>
                </a:lnTo>
                <a:lnTo>
                  <a:pt x="1866899" y="277749"/>
                </a:lnTo>
                <a:lnTo>
                  <a:pt x="1866899" y="296799"/>
                </a:lnTo>
                <a:close/>
              </a:path>
              <a:path w="1866900" h="951229">
                <a:moveTo>
                  <a:pt x="1866899" y="334899"/>
                </a:moveTo>
                <a:lnTo>
                  <a:pt x="1847849" y="334899"/>
                </a:lnTo>
                <a:lnTo>
                  <a:pt x="1847849" y="315849"/>
                </a:lnTo>
                <a:lnTo>
                  <a:pt x="1866899" y="315849"/>
                </a:lnTo>
                <a:lnTo>
                  <a:pt x="1866899" y="334899"/>
                </a:lnTo>
                <a:close/>
              </a:path>
              <a:path w="1866900" h="951229">
                <a:moveTo>
                  <a:pt x="1866899" y="372999"/>
                </a:moveTo>
                <a:lnTo>
                  <a:pt x="1847849" y="372999"/>
                </a:lnTo>
                <a:lnTo>
                  <a:pt x="1847849" y="353949"/>
                </a:lnTo>
                <a:lnTo>
                  <a:pt x="1866899" y="353949"/>
                </a:lnTo>
                <a:lnTo>
                  <a:pt x="1866899" y="372999"/>
                </a:lnTo>
                <a:close/>
              </a:path>
              <a:path w="1866900" h="951229">
                <a:moveTo>
                  <a:pt x="1866899" y="411099"/>
                </a:moveTo>
                <a:lnTo>
                  <a:pt x="1847849" y="411099"/>
                </a:lnTo>
                <a:lnTo>
                  <a:pt x="1847849" y="392049"/>
                </a:lnTo>
                <a:lnTo>
                  <a:pt x="1866899" y="392049"/>
                </a:lnTo>
                <a:lnTo>
                  <a:pt x="1866899" y="411099"/>
                </a:lnTo>
                <a:close/>
              </a:path>
              <a:path w="1866900" h="951229">
                <a:moveTo>
                  <a:pt x="1866899" y="449199"/>
                </a:moveTo>
                <a:lnTo>
                  <a:pt x="1847849" y="449199"/>
                </a:lnTo>
                <a:lnTo>
                  <a:pt x="1847849" y="430149"/>
                </a:lnTo>
                <a:lnTo>
                  <a:pt x="1866899" y="430149"/>
                </a:lnTo>
                <a:lnTo>
                  <a:pt x="1866899" y="449199"/>
                </a:lnTo>
                <a:close/>
              </a:path>
              <a:path w="1866900" h="951229">
                <a:moveTo>
                  <a:pt x="1866899" y="487299"/>
                </a:moveTo>
                <a:lnTo>
                  <a:pt x="1847849" y="487299"/>
                </a:lnTo>
                <a:lnTo>
                  <a:pt x="1847849" y="468249"/>
                </a:lnTo>
                <a:lnTo>
                  <a:pt x="1866899" y="468249"/>
                </a:lnTo>
                <a:lnTo>
                  <a:pt x="1866899" y="487299"/>
                </a:lnTo>
                <a:close/>
              </a:path>
              <a:path w="1866900" h="951229">
                <a:moveTo>
                  <a:pt x="1866899" y="525399"/>
                </a:moveTo>
                <a:lnTo>
                  <a:pt x="1847849" y="525399"/>
                </a:lnTo>
                <a:lnTo>
                  <a:pt x="1847849" y="506349"/>
                </a:lnTo>
                <a:lnTo>
                  <a:pt x="1866899" y="506349"/>
                </a:lnTo>
                <a:lnTo>
                  <a:pt x="1866899" y="525399"/>
                </a:lnTo>
                <a:close/>
              </a:path>
              <a:path w="1866900" h="951229">
                <a:moveTo>
                  <a:pt x="1866899" y="563499"/>
                </a:moveTo>
                <a:lnTo>
                  <a:pt x="1847849" y="563499"/>
                </a:lnTo>
                <a:lnTo>
                  <a:pt x="1847849" y="544449"/>
                </a:lnTo>
                <a:lnTo>
                  <a:pt x="1866899" y="544449"/>
                </a:lnTo>
                <a:lnTo>
                  <a:pt x="1866899" y="563499"/>
                </a:lnTo>
                <a:close/>
              </a:path>
              <a:path w="1866900" h="951229">
                <a:moveTo>
                  <a:pt x="1866899" y="601599"/>
                </a:moveTo>
                <a:lnTo>
                  <a:pt x="1847849" y="601599"/>
                </a:lnTo>
                <a:lnTo>
                  <a:pt x="1847849" y="582549"/>
                </a:lnTo>
                <a:lnTo>
                  <a:pt x="1866899" y="582549"/>
                </a:lnTo>
                <a:lnTo>
                  <a:pt x="1866899" y="601599"/>
                </a:lnTo>
                <a:close/>
              </a:path>
              <a:path w="1866900" h="951229">
                <a:moveTo>
                  <a:pt x="1866899" y="639699"/>
                </a:moveTo>
                <a:lnTo>
                  <a:pt x="1847849" y="639699"/>
                </a:lnTo>
                <a:lnTo>
                  <a:pt x="1847849" y="620649"/>
                </a:lnTo>
                <a:lnTo>
                  <a:pt x="1866899" y="620649"/>
                </a:lnTo>
                <a:lnTo>
                  <a:pt x="1866899" y="639699"/>
                </a:lnTo>
                <a:close/>
              </a:path>
              <a:path w="1866900" h="951229">
                <a:moveTo>
                  <a:pt x="1866899" y="677799"/>
                </a:moveTo>
                <a:lnTo>
                  <a:pt x="1847849" y="677799"/>
                </a:lnTo>
                <a:lnTo>
                  <a:pt x="1847849" y="658749"/>
                </a:lnTo>
                <a:lnTo>
                  <a:pt x="1866899" y="658749"/>
                </a:lnTo>
                <a:lnTo>
                  <a:pt x="1866899" y="677799"/>
                </a:lnTo>
                <a:close/>
              </a:path>
              <a:path w="1866900" h="951229">
                <a:moveTo>
                  <a:pt x="1866899" y="715899"/>
                </a:moveTo>
                <a:lnTo>
                  <a:pt x="1847849" y="715899"/>
                </a:lnTo>
                <a:lnTo>
                  <a:pt x="1847849" y="696849"/>
                </a:lnTo>
                <a:lnTo>
                  <a:pt x="1866899" y="696849"/>
                </a:lnTo>
                <a:lnTo>
                  <a:pt x="1866899" y="715899"/>
                </a:lnTo>
                <a:close/>
              </a:path>
              <a:path w="1866900" h="951229">
                <a:moveTo>
                  <a:pt x="1866899" y="753999"/>
                </a:moveTo>
                <a:lnTo>
                  <a:pt x="1847849" y="753999"/>
                </a:lnTo>
                <a:lnTo>
                  <a:pt x="1847849" y="734949"/>
                </a:lnTo>
                <a:lnTo>
                  <a:pt x="1866899" y="734949"/>
                </a:lnTo>
                <a:lnTo>
                  <a:pt x="1866899" y="753999"/>
                </a:lnTo>
                <a:close/>
              </a:path>
              <a:path w="1866900" h="951229">
                <a:moveTo>
                  <a:pt x="1866899" y="792099"/>
                </a:moveTo>
                <a:lnTo>
                  <a:pt x="1847849" y="792099"/>
                </a:lnTo>
                <a:lnTo>
                  <a:pt x="1847849" y="773049"/>
                </a:lnTo>
                <a:lnTo>
                  <a:pt x="1866899" y="773049"/>
                </a:lnTo>
                <a:lnTo>
                  <a:pt x="1866899" y="792099"/>
                </a:lnTo>
                <a:close/>
              </a:path>
              <a:path w="1866900" h="951229">
                <a:moveTo>
                  <a:pt x="1866899" y="830199"/>
                </a:moveTo>
                <a:lnTo>
                  <a:pt x="1847849" y="830199"/>
                </a:lnTo>
                <a:lnTo>
                  <a:pt x="1847849" y="811149"/>
                </a:lnTo>
                <a:lnTo>
                  <a:pt x="1866899" y="811149"/>
                </a:lnTo>
                <a:lnTo>
                  <a:pt x="1866899" y="830199"/>
                </a:lnTo>
                <a:close/>
              </a:path>
              <a:path w="1866900" h="951229">
                <a:moveTo>
                  <a:pt x="1866899" y="868299"/>
                </a:moveTo>
                <a:lnTo>
                  <a:pt x="1847849" y="868299"/>
                </a:lnTo>
                <a:lnTo>
                  <a:pt x="1847849" y="849249"/>
                </a:lnTo>
                <a:lnTo>
                  <a:pt x="1866899" y="849249"/>
                </a:lnTo>
                <a:lnTo>
                  <a:pt x="1866899" y="868299"/>
                </a:lnTo>
                <a:close/>
              </a:path>
              <a:path w="1866900" h="951229">
                <a:moveTo>
                  <a:pt x="1866899" y="906399"/>
                </a:moveTo>
                <a:lnTo>
                  <a:pt x="1847849" y="906399"/>
                </a:lnTo>
                <a:lnTo>
                  <a:pt x="1847849" y="887349"/>
                </a:lnTo>
                <a:lnTo>
                  <a:pt x="1866899" y="887349"/>
                </a:lnTo>
                <a:lnTo>
                  <a:pt x="1866899" y="906399"/>
                </a:lnTo>
                <a:close/>
              </a:path>
              <a:path w="1866900" h="951229">
                <a:moveTo>
                  <a:pt x="1847849" y="941451"/>
                </a:moveTo>
                <a:lnTo>
                  <a:pt x="1847849" y="925449"/>
                </a:lnTo>
                <a:lnTo>
                  <a:pt x="1866899" y="925449"/>
                </a:lnTo>
                <a:lnTo>
                  <a:pt x="1866899" y="931926"/>
                </a:lnTo>
                <a:lnTo>
                  <a:pt x="1854326" y="931926"/>
                </a:lnTo>
                <a:lnTo>
                  <a:pt x="1854326" y="934974"/>
                </a:lnTo>
                <a:lnTo>
                  <a:pt x="1847849" y="941451"/>
                </a:lnTo>
                <a:close/>
              </a:path>
              <a:path w="1866900" h="951229">
                <a:moveTo>
                  <a:pt x="1854326" y="934974"/>
                </a:moveTo>
                <a:lnTo>
                  <a:pt x="1854326" y="931926"/>
                </a:lnTo>
                <a:lnTo>
                  <a:pt x="1857374" y="931926"/>
                </a:lnTo>
                <a:lnTo>
                  <a:pt x="1854326" y="934974"/>
                </a:lnTo>
                <a:close/>
              </a:path>
              <a:path w="1866900" h="951229">
                <a:moveTo>
                  <a:pt x="1866899" y="950976"/>
                </a:moveTo>
                <a:lnTo>
                  <a:pt x="1854326" y="950976"/>
                </a:lnTo>
                <a:lnTo>
                  <a:pt x="1854326" y="934974"/>
                </a:lnTo>
                <a:lnTo>
                  <a:pt x="1857374" y="931926"/>
                </a:lnTo>
                <a:lnTo>
                  <a:pt x="1866899" y="931926"/>
                </a:lnTo>
                <a:lnTo>
                  <a:pt x="1866899" y="950976"/>
                </a:lnTo>
                <a:close/>
              </a:path>
              <a:path w="1866900" h="951229">
                <a:moveTo>
                  <a:pt x="1835276" y="950976"/>
                </a:moveTo>
                <a:lnTo>
                  <a:pt x="1816226" y="950976"/>
                </a:lnTo>
                <a:lnTo>
                  <a:pt x="1816226" y="931926"/>
                </a:lnTo>
                <a:lnTo>
                  <a:pt x="1835276" y="931926"/>
                </a:lnTo>
                <a:lnTo>
                  <a:pt x="1835276" y="950976"/>
                </a:lnTo>
                <a:close/>
              </a:path>
              <a:path w="1866900" h="951229">
                <a:moveTo>
                  <a:pt x="1797176" y="950976"/>
                </a:moveTo>
                <a:lnTo>
                  <a:pt x="1778126" y="950976"/>
                </a:lnTo>
                <a:lnTo>
                  <a:pt x="1778126" y="931926"/>
                </a:lnTo>
                <a:lnTo>
                  <a:pt x="1797176" y="931926"/>
                </a:lnTo>
                <a:lnTo>
                  <a:pt x="1797176" y="950976"/>
                </a:lnTo>
                <a:close/>
              </a:path>
              <a:path w="1866900" h="951229">
                <a:moveTo>
                  <a:pt x="1759076" y="950976"/>
                </a:moveTo>
                <a:lnTo>
                  <a:pt x="1740026" y="950976"/>
                </a:lnTo>
                <a:lnTo>
                  <a:pt x="1740026" y="931926"/>
                </a:lnTo>
                <a:lnTo>
                  <a:pt x="1759076" y="931926"/>
                </a:lnTo>
                <a:lnTo>
                  <a:pt x="1759076" y="950976"/>
                </a:lnTo>
                <a:close/>
              </a:path>
              <a:path w="1866900" h="951229">
                <a:moveTo>
                  <a:pt x="1720976" y="950976"/>
                </a:moveTo>
                <a:lnTo>
                  <a:pt x="1701926" y="950976"/>
                </a:lnTo>
                <a:lnTo>
                  <a:pt x="1701926" y="931926"/>
                </a:lnTo>
                <a:lnTo>
                  <a:pt x="1720976" y="931926"/>
                </a:lnTo>
                <a:lnTo>
                  <a:pt x="1720976" y="950976"/>
                </a:lnTo>
                <a:close/>
              </a:path>
              <a:path w="1866900" h="951229">
                <a:moveTo>
                  <a:pt x="1682876" y="950976"/>
                </a:moveTo>
                <a:lnTo>
                  <a:pt x="1663826" y="950976"/>
                </a:lnTo>
                <a:lnTo>
                  <a:pt x="1663826" y="931926"/>
                </a:lnTo>
                <a:lnTo>
                  <a:pt x="1682876" y="931926"/>
                </a:lnTo>
                <a:lnTo>
                  <a:pt x="1682876" y="950976"/>
                </a:lnTo>
                <a:close/>
              </a:path>
              <a:path w="1866900" h="951229">
                <a:moveTo>
                  <a:pt x="1644776" y="950976"/>
                </a:moveTo>
                <a:lnTo>
                  <a:pt x="1625726" y="950976"/>
                </a:lnTo>
                <a:lnTo>
                  <a:pt x="1625726" y="931926"/>
                </a:lnTo>
                <a:lnTo>
                  <a:pt x="1644776" y="931926"/>
                </a:lnTo>
                <a:lnTo>
                  <a:pt x="1644776" y="950976"/>
                </a:lnTo>
                <a:close/>
              </a:path>
              <a:path w="1866900" h="951229">
                <a:moveTo>
                  <a:pt x="1606676" y="950976"/>
                </a:moveTo>
                <a:lnTo>
                  <a:pt x="1587626" y="950976"/>
                </a:lnTo>
                <a:lnTo>
                  <a:pt x="1587626" y="931926"/>
                </a:lnTo>
                <a:lnTo>
                  <a:pt x="1606676" y="931926"/>
                </a:lnTo>
                <a:lnTo>
                  <a:pt x="1606676" y="950976"/>
                </a:lnTo>
                <a:close/>
              </a:path>
              <a:path w="1866900" h="951229">
                <a:moveTo>
                  <a:pt x="1568576" y="950976"/>
                </a:moveTo>
                <a:lnTo>
                  <a:pt x="1549526" y="950976"/>
                </a:lnTo>
                <a:lnTo>
                  <a:pt x="1549526" y="931926"/>
                </a:lnTo>
                <a:lnTo>
                  <a:pt x="1568576" y="931926"/>
                </a:lnTo>
                <a:lnTo>
                  <a:pt x="1568576" y="950976"/>
                </a:lnTo>
                <a:close/>
              </a:path>
              <a:path w="1866900" h="951229">
                <a:moveTo>
                  <a:pt x="1530476" y="950976"/>
                </a:moveTo>
                <a:lnTo>
                  <a:pt x="1511426" y="950976"/>
                </a:lnTo>
                <a:lnTo>
                  <a:pt x="1511426" y="931926"/>
                </a:lnTo>
                <a:lnTo>
                  <a:pt x="1530476" y="931926"/>
                </a:lnTo>
                <a:lnTo>
                  <a:pt x="1530476" y="950976"/>
                </a:lnTo>
                <a:close/>
              </a:path>
              <a:path w="1866900" h="951229">
                <a:moveTo>
                  <a:pt x="1492376" y="950976"/>
                </a:moveTo>
                <a:lnTo>
                  <a:pt x="1473326" y="950976"/>
                </a:lnTo>
                <a:lnTo>
                  <a:pt x="1473326" y="931926"/>
                </a:lnTo>
                <a:lnTo>
                  <a:pt x="1492376" y="931926"/>
                </a:lnTo>
                <a:lnTo>
                  <a:pt x="1492376" y="950976"/>
                </a:lnTo>
                <a:close/>
              </a:path>
              <a:path w="1866900" h="951229">
                <a:moveTo>
                  <a:pt x="1454276" y="950976"/>
                </a:moveTo>
                <a:lnTo>
                  <a:pt x="1435226" y="950976"/>
                </a:lnTo>
                <a:lnTo>
                  <a:pt x="1435226" y="931926"/>
                </a:lnTo>
                <a:lnTo>
                  <a:pt x="1454276" y="931926"/>
                </a:lnTo>
                <a:lnTo>
                  <a:pt x="1454276" y="950976"/>
                </a:lnTo>
                <a:close/>
              </a:path>
              <a:path w="1866900" h="951229">
                <a:moveTo>
                  <a:pt x="1416176" y="950976"/>
                </a:moveTo>
                <a:lnTo>
                  <a:pt x="1397126" y="950976"/>
                </a:lnTo>
                <a:lnTo>
                  <a:pt x="1397126" y="931926"/>
                </a:lnTo>
                <a:lnTo>
                  <a:pt x="1416176" y="931926"/>
                </a:lnTo>
                <a:lnTo>
                  <a:pt x="1416176" y="950976"/>
                </a:lnTo>
                <a:close/>
              </a:path>
              <a:path w="1866900" h="951229">
                <a:moveTo>
                  <a:pt x="1378076" y="950976"/>
                </a:moveTo>
                <a:lnTo>
                  <a:pt x="1359026" y="950976"/>
                </a:lnTo>
                <a:lnTo>
                  <a:pt x="1359026" y="931926"/>
                </a:lnTo>
                <a:lnTo>
                  <a:pt x="1378076" y="931926"/>
                </a:lnTo>
                <a:lnTo>
                  <a:pt x="1378076" y="950976"/>
                </a:lnTo>
                <a:close/>
              </a:path>
              <a:path w="1866900" h="951229">
                <a:moveTo>
                  <a:pt x="1339976" y="950976"/>
                </a:moveTo>
                <a:lnTo>
                  <a:pt x="1320926" y="950976"/>
                </a:lnTo>
                <a:lnTo>
                  <a:pt x="1320926" y="931926"/>
                </a:lnTo>
                <a:lnTo>
                  <a:pt x="1339976" y="931926"/>
                </a:lnTo>
                <a:lnTo>
                  <a:pt x="1339976" y="950976"/>
                </a:lnTo>
                <a:close/>
              </a:path>
              <a:path w="1866900" h="951229">
                <a:moveTo>
                  <a:pt x="1301876" y="950976"/>
                </a:moveTo>
                <a:lnTo>
                  <a:pt x="1282826" y="950976"/>
                </a:lnTo>
                <a:lnTo>
                  <a:pt x="1282826" y="931926"/>
                </a:lnTo>
                <a:lnTo>
                  <a:pt x="1301876" y="931926"/>
                </a:lnTo>
                <a:lnTo>
                  <a:pt x="1301876" y="950976"/>
                </a:lnTo>
                <a:close/>
              </a:path>
              <a:path w="1866900" h="951229">
                <a:moveTo>
                  <a:pt x="1263776" y="950976"/>
                </a:moveTo>
                <a:lnTo>
                  <a:pt x="1244726" y="950976"/>
                </a:lnTo>
                <a:lnTo>
                  <a:pt x="1244726" y="931926"/>
                </a:lnTo>
                <a:lnTo>
                  <a:pt x="1263776" y="931926"/>
                </a:lnTo>
                <a:lnTo>
                  <a:pt x="1263776" y="950976"/>
                </a:lnTo>
                <a:close/>
              </a:path>
              <a:path w="1866900" h="951229">
                <a:moveTo>
                  <a:pt x="1225676" y="950976"/>
                </a:moveTo>
                <a:lnTo>
                  <a:pt x="1206626" y="950976"/>
                </a:lnTo>
                <a:lnTo>
                  <a:pt x="1206626" y="931926"/>
                </a:lnTo>
                <a:lnTo>
                  <a:pt x="1225676" y="931926"/>
                </a:lnTo>
                <a:lnTo>
                  <a:pt x="1225676" y="950976"/>
                </a:lnTo>
                <a:close/>
              </a:path>
              <a:path w="1866900" h="951229">
                <a:moveTo>
                  <a:pt x="1187576" y="950976"/>
                </a:moveTo>
                <a:lnTo>
                  <a:pt x="1168526" y="950976"/>
                </a:lnTo>
                <a:lnTo>
                  <a:pt x="1168526" y="931926"/>
                </a:lnTo>
                <a:lnTo>
                  <a:pt x="1187576" y="931926"/>
                </a:lnTo>
                <a:lnTo>
                  <a:pt x="1187576" y="950976"/>
                </a:lnTo>
                <a:close/>
              </a:path>
              <a:path w="1866900" h="951229">
                <a:moveTo>
                  <a:pt x="1149476" y="950976"/>
                </a:moveTo>
                <a:lnTo>
                  <a:pt x="1130426" y="950976"/>
                </a:lnTo>
                <a:lnTo>
                  <a:pt x="1130426" y="931926"/>
                </a:lnTo>
                <a:lnTo>
                  <a:pt x="1149476" y="931926"/>
                </a:lnTo>
                <a:lnTo>
                  <a:pt x="1149476" y="950976"/>
                </a:lnTo>
                <a:close/>
              </a:path>
              <a:path w="1866900" h="951229">
                <a:moveTo>
                  <a:pt x="1111376" y="950976"/>
                </a:moveTo>
                <a:lnTo>
                  <a:pt x="1092326" y="950976"/>
                </a:lnTo>
                <a:lnTo>
                  <a:pt x="1092326" y="931926"/>
                </a:lnTo>
                <a:lnTo>
                  <a:pt x="1111376" y="931926"/>
                </a:lnTo>
                <a:lnTo>
                  <a:pt x="1111376" y="950976"/>
                </a:lnTo>
                <a:close/>
              </a:path>
              <a:path w="1866900" h="951229">
                <a:moveTo>
                  <a:pt x="1073276" y="950976"/>
                </a:moveTo>
                <a:lnTo>
                  <a:pt x="1054226" y="950976"/>
                </a:lnTo>
                <a:lnTo>
                  <a:pt x="1054226" y="931926"/>
                </a:lnTo>
                <a:lnTo>
                  <a:pt x="1073276" y="931926"/>
                </a:lnTo>
                <a:lnTo>
                  <a:pt x="1073276" y="950976"/>
                </a:lnTo>
                <a:close/>
              </a:path>
              <a:path w="1866900" h="951229">
                <a:moveTo>
                  <a:pt x="1035176" y="950976"/>
                </a:moveTo>
                <a:lnTo>
                  <a:pt x="1016126" y="950976"/>
                </a:lnTo>
                <a:lnTo>
                  <a:pt x="1016126" y="931926"/>
                </a:lnTo>
                <a:lnTo>
                  <a:pt x="1035176" y="931926"/>
                </a:lnTo>
                <a:lnTo>
                  <a:pt x="1035176" y="950976"/>
                </a:lnTo>
                <a:close/>
              </a:path>
              <a:path w="1866900" h="951229">
                <a:moveTo>
                  <a:pt x="997076" y="950976"/>
                </a:moveTo>
                <a:lnTo>
                  <a:pt x="978026" y="950976"/>
                </a:lnTo>
                <a:lnTo>
                  <a:pt x="978026" y="931926"/>
                </a:lnTo>
                <a:lnTo>
                  <a:pt x="997076" y="931926"/>
                </a:lnTo>
                <a:lnTo>
                  <a:pt x="997076" y="950976"/>
                </a:lnTo>
                <a:close/>
              </a:path>
              <a:path w="1866900" h="951229">
                <a:moveTo>
                  <a:pt x="958976" y="950976"/>
                </a:moveTo>
                <a:lnTo>
                  <a:pt x="939926" y="950976"/>
                </a:lnTo>
                <a:lnTo>
                  <a:pt x="939926" y="931926"/>
                </a:lnTo>
                <a:lnTo>
                  <a:pt x="958976" y="931926"/>
                </a:lnTo>
                <a:lnTo>
                  <a:pt x="958976" y="950976"/>
                </a:lnTo>
                <a:close/>
              </a:path>
              <a:path w="1866900" h="951229">
                <a:moveTo>
                  <a:pt x="920876" y="950976"/>
                </a:moveTo>
                <a:lnTo>
                  <a:pt x="901826" y="950976"/>
                </a:lnTo>
                <a:lnTo>
                  <a:pt x="901826" y="931926"/>
                </a:lnTo>
                <a:lnTo>
                  <a:pt x="920876" y="931926"/>
                </a:lnTo>
                <a:lnTo>
                  <a:pt x="920876" y="950976"/>
                </a:lnTo>
                <a:close/>
              </a:path>
              <a:path w="1866900" h="951229">
                <a:moveTo>
                  <a:pt x="882776" y="950976"/>
                </a:moveTo>
                <a:lnTo>
                  <a:pt x="863726" y="950976"/>
                </a:lnTo>
                <a:lnTo>
                  <a:pt x="863726" y="931926"/>
                </a:lnTo>
                <a:lnTo>
                  <a:pt x="882776" y="931926"/>
                </a:lnTo>
                <a:lnTo>
                  <a:pt x="882776" y="950976"/>
                </a:lnTo>
                <a:close/>
              </a:path>
              <a:path w="1866900" h="951229">
                <a:moveTo>
                  <a:pt x="844676" y="950976"/>
                </a:moveTo>
                <a:lnTo>
                  <a:pt x="825626" y="950976"/>
                </a:lnTo>
                <a:lnTo>
                  <a:pt x="825626" y="931926"/>
                </a:lnTo>
                <a:lnTo>
                  <a:pt x="844676" y="931926"/>
                </a:lnTo>
                <a:lnTo>
                  <a:pt x="844676" y="950976"/>
                </a:lnTo>
                <a:close/>
              </a:path>
              <a:path w="1866900" h="951229">
                <a:moveTo>
                  <a:pt x="806576" y="950976"/>
                </a:moveTo>
                <a:lnTo>
                  <a:pt x="787526" y="950976"/>
                </a:lnTo>
                <a:lnTo>
                  <a:pt x="787526" y="931926"/>
                </a:lnTo>
                <a:lnTo>
                  <a:pt x="806576" y="931926"/>
                </a:lnTo>
                <a:lnTo>
                  <a:pt x="806576" y="950976"/>
                </a:lnTo>
                <a:close/>
              </a:path>
              <a:path w="1866900" h="951229">
                <a:moveTo>
                  <a:pt x="768476" y="950976"/>
                </a:moveTo>
                <a:lnTo>
                  <a:pt x="749426" y="950976"/>
                </a:lnTo>
                <a:lnTo>
                  <a:pt x="749426" y="931926"/>
                </a:lnTo>
                <a:lnTo>
                  <a:pt x="768476" y="931926"/>
                </a:lnTo>
                <a:lnTo>
                  <a:pt x="768476" y="950976"/>
                </a:lnTo>
                <a:close/>
              </a:path>
              <a:path w="1866900" h="951229">
                <a:moveTo>
                  <a:pt x="730376" y="950976"/>
                </a:moveTo>
                <a:lnTo>
                  <a:pt x="711326" y="950976"/>
                </a:lnTo>
                <a:lnTo>
                  <a:pt x="711326" y="931926"/>
                </a:lnTo>
                <a:lnTo>
                  <a:pt x="730376" y="931926"/>
                </a:lnTo>
                <a:lnTo>
                  <a:pt x="730376" y="950976"/>
                </a:lnTo>
                <a:close/>
              </a:path>
              <a:path w="1866900" h="951229">
                <a:moveTo>
                  <a:pt x="692276" y="950976"/>
                </a:moveTo>
                <a:lnTo>
                  <a:pt x="673226" y="950976"/>
                </a:lnTo>
                <a:lnTo>
                  <a:pt x="673226" y="931926"/>
                </a:lnTo>
                <a:lnTo>
                  <a:pt x="692276" y="931926"/>
                </a:lnTo>
                <a:lnTo>
                  <a:pt x="692276" y="950976"/>
                </a:lnTo>
                <a:close/>
              </a:path>
              <a:path w="1866900" h="951229">
                <a:moveTo>
                  <a:pt x="654176" y="950976"/>
                </a:moveTo>
                <a:lnTo>
                  <a:pt x="635126" y="950976"/>
                </a:lnTo>
                <a:lnTo>
                  <a:pt x="635126" y="931926"/>
                </a:lnTo>
                <a:lnTo>
                  <a:pt x="654176" y="931926"/>
                </a:lnTo>
                <a:lnTo>
                  <a:pt x="654176" y="950976"/>
                </a:lnTo>
                <a:close/>
              </a:path>
              <a:path w="1866900" h="951229">
                <a:moveTo>
                  <a:pt x="616076" y="950976"/>
                </a:moveTo>
                <a:lnTo>
                  <a:pt x="597026" y="950976"/>
                </a:lnTo>
                <a:lnTo>
                  <a:pt x="597026" y="931926"/>
                </a:lnTo>
                <a:lnTo>
                  <a:pt x="616076" y="931926"/>
                </a:lnTo>
                <a:lnTo>
                  <a:pt x="616076" y="950976"/>
                </a:lnTo>
                <a:close/>
              </a:path>
              <a:path w="1866900" h="951229">
                <a:moveTo>
                  <a:pt x="577976" y="950976"/>
                </a:moveTo>
                <a:lnTo>
                  <a:pt x="558926" y="950976"/>
                </a:lnTo>
                <a:lnTo>
                  <a:pt x="558926" y="931926"/>
                </a:lnTo>
                <a:lnTo>
                  <a:pt x="577976" y="931926"/>
                </a:lnTo>
                <a:lnTo>
                  <a:pt x="577976" y="950976"/>
                </a:lnTo>
                <a:close/>
              </a:path>
              <a:path w="1866900" h="951229">
                <a:moveTo>
                  <a:pt x="539876" y="950976"/>
                </a:moveTo>
                <a:lnTo>
                  <a:pt x="520826" y="950976"/>
                </a:lnTo>
                <a:lnTo>
                  <a:pt x="520826" y="931926"/>
                </a:lnTo>
                <a:lnTo>
                  <a:pt x="539876" y="931926"/>
                </a:lnTo>
                <a:lnTo>
                  <a:pt x="539876" y="950976"/>
                </a:lnTo>
                <a:close/>
              </a:path>
              <a:path w="1866900" h="951229">
                <a:moveTo>
                  <a:pt x="501776" y="950976"/>
                </a:moveTo>
                <a:lnTo>
                  <a:pt x="482726" y="950976"/>
                </a:lnTo>
                <a:lnTo>
                  <a:pt x="482726" y="931926"/>
                </a:lnTo>
                <a:lnTo>
                  <a:pt x="501776" y="931926"/>
                </a:lnTo>
                <a:lnTo>
                  <a:pt x="501776" y="950976"/>
                </a:lnTo>
                <a:close/>
              </a:path>
              <a:path w="1866900" h="951229">
                <a:moveTo>
                  <a:pt x="463676" y="950976"/>
                </a:moveTo>
                <a:lnTo>
                  <a:pt x="444626" y="950976"/>
                </a:lnTo>
                <a:lnTo>
                  <a:pt x="444626" y="931926"/>
                </a:lnTo>
                <a:lnTo>
                  <a:pt x="463676" y="931926"/>
                </a:lnTo>
                <a:lnTo>
                  <a:pt x="463676" y="950976"/>
                </a:lnTo>
                <a:close/>
              </a:path>
              <a:path w="1866900" h="951229">
                <a:moveTo>
                  <a:pt x="425576" y="950976"/>
                </a:moveTo>
                <a:lnTo>
                  <a:pt x="406526" y="950976"/>
                </a:lnTo>
                <a:lnTo>
                  <a:pt x="406526" y="931926"/>
                </a:lnTo>
                <a:lnTo>
                  <a:pt x="425576" y="931926"/>
                </a:lnTo>
                <a:lnTo>
                  <a:pt x="425576" y="950976"/>
                </a:lnTo>
                <a:close/>
              </a:path>
              <a:path w="1866900" h="951229">
                <a:moveTo>
                  <a:pt x="387476" y="950976"/>
                </a:moveTo>
                <a:lnTo>
                  <a:pt x="368426" y="950976"/>
                </a:lnTo>
                <a:lnTo>
                  <a:pt x="368426" y="931926"/>
                </a:lnTo>
                <a:lnTo>
                  <a:pt x="387476" y="931926"/>
                </a:lnTo>
                <a:lnTo>
                  <a:pt x="387476" y="950976"/>
                </a:lnTo>
                <a:close/>
              </a:path>
              <a:path w="1866900" h="951229">
                <a:moveTo>
                  <a:pt x="349376" y="950976"/>
                </a:moveTo>
                <a:lnTo>
                  <a:pt x="330326" y="950976"/>
                </a:lnTo>
                <a:lnTo>
                  <a:pt x="330326" y="931926"/>
                </a:lnTo>
                <a:lnTo>
                  <a:pt x="349376" y="931926"/>
                </a:lnTo>
                <a:lnTo>
                  <a:pt x="349376" y="950976"/>
                </a:lnTo>
                <a:close/>
              </a:path>
              <a:path w="1866900" h="951229">
                <a:moveTo>
                  <a:pt x="311276" y="950976"/>
                </a:moveTo>
                <a:lnTo>
                  <a:pt x="292226" y="950976"/>
                </a:lnTo>
                <a:lnTo>
                  <a:pt x="292226" y="931926"/>
                </a:lnTo>
                <a:lnTo>
                  <a:pt x="311276" y="931926"/>
                </a:lnTo>
                <a:lnTo>
                  <a:pt x="311276" y="950976"/>
                </a:lnTo>
                <a:close/>
              </a:path>
              <a:path w="1866900" h="951229">
                <a:moveTo>
                  <a:pt x="273176" y="950976"/>
                </a:moveTo>
                <a:lnTo>
                  <a:pt x="254126" y="950976"/>
                </a:lnTo>
                <a:lnTo>
                  <a:pt x="254126" y="931926"/>
                </a:lnTo>
                <a:lnTo>
                  <a:pt x="273176" y="931926"/>
                </a:lnTo>
                <a:lnTo>
                  <a:pt x="273176" y="950976"/>
                </a:lnTo>
                <a:close/>
              </a:path>
              <a:path w="1866900" h="951229">
                <a:moveTo>
                  <a:pt x="235076" y="950976"/>
                </a:moveTo>
                <a:lnTo>
                  <a:pt x="216026" y="950976"/>
                </a:lnTo>
                <a:lnTo>
                  <a:pt x="216026" y="931926"/>
                </a:lnTo>
                <a:lnTo>
                  <a:pt x="235076" y="931926"/>
                </a:lnTo>
                <a:lnTo>
                  <a:pt x="235076" y="950976"/>
                </a:lnTo>
                <a:close/>
              </a:path>
              <a:path w="1866900" h="951229">
                <a:moveTo>
                  <a:pt x="196976" y="950976"/>
                </a:moveTo>
                <a:lnTo>
                  <a:pt x="177926" y="950976"/>
                </a:lnTo>
                <a:lnTo>
                  <a:pt x="177926" y="931926"/>
                </a:lnTo>
                <a:lnTo>
                  <a:pt x="196976" y="931926"/>
                </a:lnTo>
                <a:lnTo>
                  <a:pt x="196976" y="950976"/>
                </a:lnTo>
                <a:close/>
              </a:path>
              <a:path w="1866900" h="951229">
                <a:moveTo>
                  <a:pt x="158876" y="950976"/>
                </a:moveTo>
                <a:lnTo>
                  <a:pt x="139826" y="950976"/>
                </a:lnTo>
                <a:lnTo>
                  <a:pt x="139826" y="931926"/>
                </a:lnTo>
                <a:lnTo>
                  <a:pt x="158876" y="931926"/>
                </a:lnTo>
                <a:lnTo>
                  <a:pt x="158876" y="950976"/>
                </a:lnTo>
                <a:close/>
              </a:path>
              <a:path w="1866900" h="951229">
                <a:moveTo>
                  <a:pt x="120776" y="950976"/>
                </a:moveTo>
                <a:lnTo>
                  <a:pt x="101726" y="950976"/>
                </a:lnTo>
                <a:lnTo>
                  <a:pt x="101726" y="931926"/>
                </a:lnTo>
                <a:lnTo>
                  <a:pt x="120776" y="931926"/>
                </a:lnTo>
                <a:lnTo>
                  <a:pt x="120776" y="950976"/>
                </a:lnTo>
                <a:close/>
              </a:path>
              <a:path w="1866900" h="951229">
                <a:moveTo>
                  <a:pt x="82676" y="950976"/>
                </a:moveTo>
                <a:lnTo>
                  <a:pt x="63626" y="950976"/>
                </a:lnTo>
                <a:lnTo>
                  <a:pt x="63626" y="931926"/>
                </a:lnTo>
                <a:lnTo>
                  <a:pt x="82676" y="931926"/>
                </a:lnTo>
                <a:lnTo>
                  <a:pt x="82676" y="950976"/>
                </a:lnTo>
                <a:close/>
              </a:path>
              <a:path w="1866900" h="951229">
                <a:moveTo>
                  <a:pt x="44576" y="950976"/>
                </a:moveTo>
                <a:lnTo>
                  <a:pt x="25526" y="950976"/>
                </a:lnTo>
                <a:lnTo>
                  <a:pt x="25526" y="931926"/>
                </a:lnTo>
                <a:lnTo>
                  <a:pt x="44576" y="931926"/>
                </a:lnTo>
                <a:lnTo>
                  <a:pt x="44576" y="95097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58127" y="4473575"/>
            <a:ext cx="864362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Times New Roman"/>
              <a:buChar char="•"/>
              <a:tabLst>
                <a:tab pos="355600" algn="l"/>
              </a:tabLst>
            </a:pPr>
            <a:r>
              <a:rPr dirty="0" sz="3200" spc="45" b="1">
                <a:latin typeface="黑体"/>
                <a:cs typeface="黑体"/>
              </a:rPr>
              <a:t>注意：除一些有机物质的大分子外，</a:t>
            </a:r>
            <a:r>
              <a:rPr dirty="0" sz="3200" spc="50" b="1">
                <a:latin typeface="黑体"/>
                <a:cs typeface="黑体"/>
              </a:rPr>
              <a:t>一般分</a:t>
            </a:r>
            <a:r>
              <a:rPr dirty="0" sz="3200" spc="-10" b="1">
                <a:latin typeface="黑体"/>
                <a:cs typeface="黑体"/>
              </a:rPr>
              <a:t>子 </a:t>
            </a:r>
            <a:r>
              <a:rPr dirty="0" sz="3200" spc="45" b="1">
                <a:latin typeface="黑体"/>
                <a:cs typeface="黑体"/>
              </a:rPr>
              <a:t>的直径数量级为上面数值，以后无特</a:t>
            </a:r>
            <a:r>
              <a:rPr dirty="0" sz="3200" spc="50" b="1">
                <a:latin typeface="黑体"/>
                <a:cs typeface="黑体"/>
              </a:rPr>
              <a:t>别说明</a:t>
            </a:r>
            <a:r>
              <a:rPr dirty="0" sz="3200" spc="-10" b="1">
                <a:latin typeface="黑体"/>
                <a:cs typeface="黑体"/>
              </a:rPr>
              <a:t>， </a:t>
            </a:r>
            <a:r>
              <a:rPr dirty="0" sz="3200" b="1">
                <a:latin typeface="黑体"/>
                <a:cs typeface="黑体"/>
              </a:rPr>
              <a:t>我们就以上面数值作为分子直径的数量级</a:t>
            </a:r>
            <a:r>
              <a:rPr dirty="0" sz="3200" spc="-10" b="1">
                <a:latin typeface="黑体"/>
                <a:cs typeface="黑体"/>
              </a:rPr>
              <a:t>．</a:t>
            </a:r>
            <a:endParaRPr sz="3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61427" y="1831149"/>
            <a:ext cx="7308215" cy="285305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 b="1">
                <a:latin typeface="华文行楷"/>
                <a:cs typeface="华文行楷"/>
              </a:rPr>
              <a:t>物质的量是物理学中七个物理量之一</a:t>
            </a:r>
            <a:endParaRPr sz="3200">
              <a:latin typeface="华文行楷"/>
              <a:cs typeface="华文行楷"/>
            </a:endParaRPr>
          </a:p>
          <a:p>
            <a:pPr marL="355600" marR="46990" indent="774700">
              <a:lnSpc>
                <a:spcPct val="100000"/>
              </a:lnSpc>
              <a:spcBef>
                <a:spcPts val="1150"/>
              </a:spcBef>
            </a:pP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它表示含有一定数目粒子的集体</a:t>
            </a:r>
            <a:r>
              <a:rPr dirty="0" sz="3200" spc="-10" b="1">
                <a:solidFill>
                  <a:srgbClr val="0000CC"/>
                </a:solidFill>
                <a:latin typeface="宋体"/>
                <a:cs typeface="宋体"/>
              </a:rPr>
              <a:t>， </a:t>
            </a: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符号为</a:t>
            </a:r>
            <a:r>
              <a:rPr dirty="0" sz="3200" spc="-5" b="1">
                <a:solidFill>
                  <a:srgbClr val="0000CC"/>
                </a:solidFill>
                <a:latin typeface="Times New Roman"/>
                <a:cs typeface="Times New Roman"/>
              </a:rPr>
              <a:t>n</a:t>
            </a:r>
            <a:r>
              <a:rPr dirty="0" sz="3200" spc="-10" b="1">
                <a:solidFill>
                  <a:srgbClr val="0000CC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355600" marR="5080" indent="-342900">
              <a:lnSpc>
                <a:spcPts val="3829"/>
              </a:lnSpc>
              <a:spcBef>
                <a:spcPts val="91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物质的量的单位为</a:t>
            </a:r>
            <a:r>
              <a:rPr dirty="0" sz="3200" b="1">
                <a:solidFill>
                  <a:srgbClr val="FF0000"/>
                </a:solidFill>
                <a:latin typeface="宋体"/>
                <a:cs typeface="宋体"/>
              </a:rPr>
              <a:t>摩尔</a:t>
            </a: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，简称摩，符</a:t>
            </a:r>
            <a:r>
              <a:rPr dirty="0" sz="3200" spc="-10" b="1">
                <a:solidFill>
                  <a:srgbClr val="0000CC"/>
                </a:solidFill>
                <a:latin typeface="宋体"/>
                <a:cs typeface="宋体"/>
              </a:rPr>
              <a:t>号 </a:t>
            </a:r>
            <a:r>
              <a:rPr dirty="0" sz="3200" b="1">
                <a:solidFill>
                  <a:srgbClr val="0000CC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0000CC"/>
                </a:solidFill>
                <a:latin typeface="Times New Roman"/>
                <a:cs typeface="Times New Roman"/>
              </a:rPr>
              <a:t>mol</a:t>
            </a:r>
            <a:r>
              <a:rPr dirty="0" sz="3200" spc="-10" b="1">
                <a:solidFill>
                  <a:srgbClr val="0000CC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9677" y="979805"/>
            <a:ext cx="512762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黑体"/>
                <a:cs typeface="黑体"/>
              </a:rPr>
              <a:t>二、物质的量及其单</a:t>
            </a:r>
            <a:r>
              <a:rPr dirty="0" sz="4000" spc="-25">
                <a:latin typeface="黑体"/>
                <a:cs typeface="黑体"/>
              </a:rPr>
              <a:t>位</a:t>
            </a:r>
            <a:endParaRPr sz="4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90039" y="986789"/>
            <a:ext cx="461708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黑体"/>
                <a:cs typeface="黑体"/>
              </a:rPr>
              <a:t>三、阿伏加德罗常</a:t>
            </a:r>
            <a:r>
              <a:rPr dirty="0" sz="4000" spc="-25">
                <a:latin typeface="黑体"/>
                <a:cs typeface="黑体"/>
              </a:rPr>
              <a:t>数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5714" y="1861819"/>
            <a:ext cx="6899909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4965" marR="5080" indent="-3429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Times New Roman"/>
                <a:cs typeface="Times New Roman"/>
              </a:rPr>
              <a:t>1</a:t>
            </a:r>
            <a:r>
              <a:rPr dirty="0" sz="3200" b="1">
                <a:latin typeface="黑体"/>
                <a:cs typeface="黑体"/>
              </a:rPr>
              <a:t>．阿伏加德罗常数</a:t>
            </a:r>
            <a:r>
              <a:rPr dirty="0" sz="3200" b="1" i="1">
                <a:latin typeface="Times New Roman"/>
                <a:cs typeface="Times New Roman"/>
              </a:rPr>
              <a:t>N</a:t>
            </a:r>
            <a:r>
              <a:rPr dirty="0" baseline="-17615" sz="3075" b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黑体"/>
                <a:cs typeface="黑体"/>
              </a:rPr>
              <a:t>：</a:t>
            </a:r>
            <a:r>
              <a:rPr dirty="0" sz="3200" b="1">
                <a:latin typeface="Times New Roman"/>
                <a:cs typeface="Times New Roman"/>
              </a:rPr>
              <a:t>1</a:t>
            </a:r>
            <a:r>
              <a:rPr dirty="0" sz="3200" b="1">
                <a:latin typeface="黑体"/>
                <a:cs typeface="黑体"/>
              </a:rPr>
              <a:t>摩尔</a:t>
            </a:r>
            <a:r>
              <a:rPr dirty="0" sz="3200" spc="-5" b="1">
                <a:latin typeface="黑体"/>
                <a:cs typeface="黑体"/>
              </a:rPr>
              <a:t>（</a:t>
            </a:r>
            <a:r>
              <a:rPr dirty="0" sz="3200" spc="-5" b="1">
                <a:latin typeface="Times New Roman"/>
                <a:cs typeface="Times New Roman"/>
              </a:rPr>
              <a:t>mol</a:t>
            </a:r>
            <a:r>
              <a:rPr dirty="0" sz="3200" spc="-5" b="1">
                <a:latin typeface="黑体"/>
                <a:cs typeface="黑体"/>
              </a:rPr>
              <a:t>）  </a:t>
            </a:r>
            <a:r>
              <a:rPr dirty="0" sz="3200" b="1">
                <a:latin typeface="黑体"/>
                <a:cs typeface="黑体"/>
              </a:rPr>
              <a:t>任何物质所含的微粒数叫做阿伏加</a:t>
            </a:r>
            <a:r>
              <a:rPr dirty="0" sz="3200" spc="-10" b="1">
                <a:latin typeface="黑体"/>
                <a:cs typeface="黑体"/>
              </a:rPr>
              <a:t>德 </a:t>
            </a:r>
            <a:r>
              <a:rPr dirty="0" sz="3200" b="1">
                <a:latin typeface="黑体"/>
                <a:cs typeface="黑体"/>
              </a:rPr>
              <a:t>罗常数</a:t>
            </a:r>
            <a:r>
              <a:rPr dirty="0" sz="3200" b="1">
                <a:latin typeface="Times New Roman"/>
                <a:cs typeface="Times New Roman"/>
              </a:rPr>
              <a:t>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27960" y="3518915"/>
            <a:ext cx="4495800" cy="774700"/>
          </a:xfrm>
          <a:custGeom>
            <a:avLst/>
            <a:gdLst/>
            <a:ahLst/>
            <a:cxnLst/>
            <a:rect l="l" t="t" r="r" b="b"/>
            <a:pathLst>
              <a:path w="4495800" h="774700">
                <a:moveTo>
                  <a:pt x="0" y="0"/>
                </a:moveTo>
                <a:lnTo>
                  <a:pt x="4495799" y="0"/>
                </a:lnTo>
                <a:lnTo>
                  <a:pt x="4495799" y="774191"/>
                </a:lnTo>
                <a:lnTo>
                  <a:pt x="0" y="774191"/>
                </a:lnTo>
                <a:lnTo>
                  <a:pt x="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692775" y="3532212"/>
            <a:ext cx="1457325" cy="3498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1148715" algn="l"/>
              </a:tabLst>
            </a:pPr>
            <a:r>
              <a:rPr dirty="0" sz="2100" spc="10">
                <a:solidFill>
                  <a:srgbClr val="993300"/>
                </a:solidFill>
                <a:latin typeface="Times New Roman"/>
                <a:cs typeface="Times New Roman"/>
              </a:rPr>
              <a:t>23</a:t>
            </a:r>
            <a:r>
              <a:rPr dirty="0" sz="2100" spc="10">
                <a:solidFill>
                  <a:srgbClr val="993300"/>
                </a:solidFill>
                <a:latin typeface="Times New Roman"/>
                <a:cs typeface="Times New Roman"/>
              </a:rPr>
              <a:t>	</a:t>
            </a:r>
            <a:r>
              <a:rPr dirty="0" sz="2100" spc="105">
                <a:solidFill>
                  <a:srgbClr val="993300"/>
                </a:solidFill>
                <a:latin typeface="Symbol"/>
                <a:cs typeface="Symbol"/>
              </a:rPr>
              <a:t></a:t>
            </a:r>
            <a:r>
              <a:rPr dirty="0" sz="2100" spc="10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27743" y="3547211"/>
            <a:ext cx="3949700" cy="581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33425" algn="l"/>
                <a:tab pos="3213735" algn="l"/>
              </a:tabLst>
            </a:pPr>
            <a:r>
              <a:rPr dirty="0" sz="3650" spc="-5" i="1">
                <a:solidFill>
                  <a:srgbClr val="993300"/>
                </a:solidFill>
                <a:latin typeface="Times New Roman"/>
                <a:cs typeface="Times New Roman"/>
              </a:rPr>
              <a:t>N</a:t>
            </a:r>
            <a:r>
              <a:rPr dirty="0" sz="3650" spc="-254" i="1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baseline="-23809" sz="3150" spc="22" i="1">
                <a:solidFill>
                  <a:srgbClr val="993300"/>
                </a:solidFill>
                <a:latin typeface="Times New Roman"/>
                <a:cs typeface="Times New Roman"/>
              </a:rPr>
              <a:t>A</a:t>
            </a:r>
            <a:r>
              <a:rPr dirty="0" baseline="-23809" sz="3150" i="1">
                <a:solidFill>
                  <a:srgbClr val="993300"/>
                </a:solidFill>
                <a:latin typeface="Times New Roman"/>
                <a:cs typeface="Times New Roman"/>
              </a:rPr>
              <a:t>	</a:t>
            </a:r>
            <a:r>
              <a:rPr dirty="0" sz="3650" spc="-5">
                <a:solidFill>
                  <a:srgbClr val="993300"/>
                </a:solidFill>
                <a:latin typeface="Symbol"/>
                <a:cs typeface="Symbol"/>
              </a:rPr>
              <a:t></a:t>
            </a:r>
            <a:r>
              <a:rPr dirty="0" sz="3650" spc="125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3650" spc="155">
                <a:solidFill>
                  <a:srgbClr val="993300"/>
                </a:solidFill>
                <a:latin typeface="Times New Roman"/>
                <a:cs typeface="Times New Roman"/>
              </a:rPr>
              <a:t>6</a:t>
            </a:r>
            <a:r>
              <a:rPr dirty="0" sz="3650" spc="75">
                <a:solidFill>
                  <a:srgbClr val="993300"/>
                </a:solidFill>
                <a:latin typeface="Times New Roman"/>
                <a:cs typeface="Times New Roman"/>
              </a:rPr>
              <a:t>.</a:t>
            </a:r>
            <a:r>
              <a:rPr dirty="0" sz="3650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r>
              <a:rPr dirty="0" sz="3650" spc="-5">
                <a:solidFill>
                  <a:srgbClr val="993300"/>
                </a:solidFill>
                <a:latin typeface="Times New Roman"/>
                <a:cs typeface="Times New Roman"/>
              </a:rPr>
              <a:t>2</a:t>
            </a:r>
            <a:r>
              <a:rPr dirty="0" sz="3650" spc="-225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dirty="0" sz="3650" spc="285">
                <a:solidFill>
                  <a:srgbClr val="993300"/>
                </a:solidFill>
                <a:latin typeface="Symbol"/>
                <a:cs typeface="Symbol"/>
              </a:rPr>
              <a:t></a:t>
            </a:r>
            <a:r>
              <a:rPr dirty="0" sz="3650">
                <a:solidFill>
                  <a:srgbClr val="993300"/>
                </a:solidFill>
                <a:latin typeface="Times New Roman"/>
                <a:cs typeface="Times New Roman"/>
              </a:rPr>
              <a:t>1</a:t>
            </a:r>
            <a:r>
              <a:rPr dirty="0" sz="3650" spc="-5">
                <a:solidFill>
                  <a:srgbClr val="993300"/>
                </a:solidFill>
                <a:latin typeface="Times New Roman"/>
                <a:cs typeface="Times New Roman"/>
              </a:rPr>
              <a:t>0</a:t>
            </a:r>
            <a:r>
              <a:rPr dirty="0" sz="3650">
                <a:solidFill>
                  <a:srgbClr val="993300"/>
                </a:solidFill>
                <a:latin typeface="Times New Roman"/>
                <a:cs typeface="Times New Roman"/>
              </a:rPr>
              <a:t>	</a:t>
            </a:r>
            <a:r>
              <a:rPr dirty="0" sz="3650">
                <a:solidFill>
                  <a:srgbClr val="993300"/>
                </a:solidFill>
                <a:latin typeface="Times New Roman"/>
                <a:cs typeface="Times New Roman"/>
              </a:rPr>
              <a:t>mo</a:t>
            </a:r>
            <a:r>
              <a:rPr dirty="0" sz="3650" spc="-5">
                <a:solidFill>
                  <a:srgbClr val="993300"/>
                </a:solidFill>
                <a:latin typeface="Times New Roman"/>
                <a:cs typeface="Times New Roman"/>
              </a:rPr>
              <a:t>l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699385" y="3490340"/>
            <a:ext cx="4552950" cy="831850"/>
          </a:xfrm>
          <a:custGeom>
            <a:avLst/>
            <a:gdLst/>
            <a:ahLst/>
            <a:cxnLst/>
            <a:rect l="l" t="t" r="r" b="b"/>
            <a:pathLst>
              <a:path w="4552950" h="831850">
                <a:moveTo>
                  <a:pt x="14287" y="817054"/>
                </a:moveTo>
                <a:lnTo>
                  <a:pt x="0" y="817054"/>
                </a:lnTo>
                <a:lnTo>
                  <a:pt x="0" y="702754"/>
                </a:lnTo>
                <a:lnTo>
                  <a:pt x="28575" y="702754"/>
                </a:lnTo>
                <a:lnTo>
                  <a:pt x="28575" y="802767"/>
                </a:lnTo>
                <a:lnTo>
                  <a:pt x="14287" y="802767"/>
                </a:lnTo>
                <a:lnTo>
                  <a:pt x="14287" y="817054"/>
                </a:lnTo>
                <a:close/>
              </a:path>
              <a:path w="4552950" h="831850">
                <a:moveTo>
                  <a:pt x="67246" y="831342"/>
                </a:moveTo>
                <a:lnTo>
                  <a:pt x="14287" y="831342"/>
                </a:lnTo>
                <a:lnTo>
                  <a:pt x="14287" y="802767"/>
                </a:lnTo>
                <a:lnTo>
                  <a:pt x="28575" y="802767"/>
                </a:lnTo>
                <a:lnTo>
                  <a:pt x="28575" y="817054"/>
                </a:lnTo>
                <a:lnTo>
                  <a:pt x="67246" y="817054"/>
                </a:lnTo>
                <a:lnTo>
                  <a:pt x="67246" y="831342"/>
                </a:lnTo>
                <a:close/>
              </a:path>
              <a:path w="4552950" h="831850">
                <a:moveTo>
                  <a:pt x="67246" y="817054"/>
                </a:moveTo>
                <a:lnTo>
                  <a:pt x="28575" y="817054"/>
                </a:lnTo>
                <a:lnTo>
                  <a:pt x="28575" y="802767"/>
                </a:lnTo>
                <a:lnTo>
                  <a:pt x="67246" y="802767"/>
                </a:lnTo>
                <a:lnTo>
                  <a:pt x="67246" y="817054"/>
                </a:lnTo>
                <a:close/>
              </a:path>
              <a:path w="4552950" h="831850">
                <a:moveTo>
                  <a:pt x="28575" y="617029"/>
                </a:moveTo>
                <a:lnTo>
                  <a:pt x="0" y="617029"/>
                </a:lnTo>
                <a:lnTo>
                  <a:pt x="0" y="502729"/>
                </a:lnTo>
                <a:lnTo>
                  <a:pt x="28575" y="502729"/>
                </a:lnTo>
                <a:lnTo>
                  <a:pt x="28575" y="617029"/>
                </a:lnTo>
                <a:close/>
              </a:path>
              <a:path w="4552950" h="831850">
                <a:moveTo>
                  <a:pt x="28575" y="417004"/>
                </a:moveTo>
                <a:lnTo>
                  <a:pt x="0" y="417004"/>
                </a:lnTo>
                <a:lnTo>
                  <a:pt x="0" y="302704"/>
                </a:lnTo>
                <a:lnTo>
                  <a:pt x="28575" y="302704"/>
                </a:lnTo>
                <a:lnTo>
                  <a:pt x="28575" y="417004"/>
                </a:lnTo>
                <a:close/>
              </a:path>
              <a:path w="4552950" h="831850">
                <a:moveTo>
                  <a:pt x="28575" y="216979"/>
                </a:moveTo>
                <a:lnTo>
                  <a:pt x="0" y="216979"/>
                </a:lnTo>
                <a:lnTo>
                  <a:pt x="0" y="102679"/>
                </a:lnTo>
                <a:lnTo>
                  <a:pt x="28575" y="102679"/>
                </a:lnTo>
                <a:lnTo>
                  <a:pt x="28575" y="216979"/>
                </a:lnTo>
                <a:close/>
              </a:path>
              <a:path w="4552950" h="831850">
                <a:moveTo>
                  <a:pt x="25907" y="16954"/>
                </a:moveTo>
                <a:lnTo>
                  <a:pt x="0" y="16954"/>
                </a:lnTo>
                <a:lnTo>
                  <a:pt x="0" y="0"/>
                </a:lnTo>
                <a:lnTo>
                  <a:pt x="125920" y="0"/>
                </a:lnTo>
                <a:lnTo>
                  <a:pt x="125920" y="14287"/>
                </a:lnTo>
                <a:lnTo>
                  <a:pt x="28575" y="14287"/>
                </a:lnTo>
                <a:lnTo>
                  <a:pt x="25907" y="16954"/>
                </a:lnTo>
                <a:close/>
              </a:path>
              <a:path w="4552950" h="83185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4552950" h="831850">
                <a:moveTo>
                  <a:pt x="12592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25920" y="14287"/>
                </a:lnTo>
                <a:lnTo>
                  <a:pt x="125920" y="28575"/>
                </a:lnTo>
                <a:close/>
              </a:path>
              <a:path w="4552950" h="831850">
                <a:moveTo>
                  <a:pt x="325945" y="28575"/>
                </a:moveTo>
                <a:lnTo>
                  <a:pt x="211645" y="28575"/>
                </a:lnTo>
                <a:lnTo>
                  <a:pt x="211645" y="0"/>
                </a:lnTo>
                <a:lnTo>
                  <a:pt x="325945" y="0"/>
                </a:lnTo>
                <a:lnTo>
                  <a:pt x="325945" y="28575"/>
                </a:lnTo>
                <a:close/>
              </a:path>
              <a:path w="4552950" h="831850">
                <a:moveTo>
                  <a:pt x="525970" y="28575"/>
                </a:moveTo>
                <a:lnTo>
                  <a:pt x="411670" y="28575"/>
                </a:lnTo>
                <a:lnTo>
                  <a:pt x="411670" y="0"/>
                </a:lnTo>
                <a:lnTo>
                  <a:pt x="525970" y="0"/>
                </a:lnTo>
                <a:lnTo>
                  <a:pt x="525970" y="28575"/>
                </a:lnTo>
                <a:close/>
              </a:path>
              <a:path w="4552950" h="831850">
                <a:moveTo>
                  <a:pt x="725995" y="28575"/>
                </a:moveTo>
                <a:lnTo>
                  <a:pt x="611695" y="28575"/>
                </a:lnTo>
                <a:lnTo>
                  <a:pt x="611695" y="0"/>
                </a:lnTo>
                <a:lnTo>
                  <a:pt x="725995" y="0"/>
                </a:lnTo>
                <a:lnTo>
                  <a:pt x="725995" y="28575"/>
                </a:lnTo>
                <a:close/>
              </a:path>
              <a:path w="4552950" h="831850">
                <a:moveTo>
                  <a:pt x="926020" y="28575"/>
                </a:moveTo>
                <a:lnTo>
                  <a:pt x="811720" y="28575"/>
                </a:lnTo>
                <a:lnTo>
                  <a:pt x="811720" y="0"/>
                </a:lnTo>
                <a:lnTo>
                  <a:pt x="926020" y="0"/>
                </a:lnTo>
                <a:lnTo>
                  <a:pt x="926020" y="28575"/>
                </a:lnTo>
                <a:close/>
              </a:path>
              <a:path w="4552950" h="831850">
                <a:moveTo>
                  <a:pt x="1126045" y="28575"/>
                </a:moveTo>
                <a:lnTo>
                  <a:pt x="1011745" y="28575"/>
                </a:lnTo>
                <a:lnTo>
                  <a:pt x="1011745" y="0"/>
                </a:lnTo>
                <a:lnTo>
                  <a:pt x="1126045" y="0"/>
                </a:lnTo>
                <a:lnTo>
                  <a:pt x="1126045" y="28575"/>
                </a:lnTo>
                <a:close/>
              </a:path>
              <a:path w="4552950" h="831850">
                <a:moveTo>
                  <a:pt x="1326070" y="28575"/>
                </a:moveTo>
                <a:lnTo>
                  <a:pt x="1211770" y="28575"/>
                </a:lnTo>
                <a:lnTo>
                  <a:pt x="1211770" y="0"/>
                </a:lnTo>
                <a:lnTo>
                  <a:pt x="1326070" y="0"/>
                </a:lnTo>
                <a:lnTo>
                  <a:pt x="1326070" y="28575"/>
                </a:lnTo>
                <a:close/>
              </a:path>
              <a:path w="4552950" h="831850">
                <a:moveTo>
                  <a:pt x="1526095" y="28575"/>
                </a:moveTo>
                <a:lnTo>
                  <a:pt x="1411795" y="28575"/>
                </a:lnTo>
                <a:lnTo>
                  <a:pt x="1411795" y="0"/>
                </a:lnTo>
                <a:lnTo>
                  <a:pt x="1526095" y="0"/>
                </a:lnTo>
                <a:lnTo>
                  <a:pt x="1526095" y="28575"/>
                </a:lnTo>
                <a:close/>
              </a:path>
              <a:path w="4552950" h="831850">
                <a:moveTo>
                  <a:pt x="1726120" y="28575"/>
                </a:moveTo>
                <a:lnTo>
                  <a:pt x="1611820" y="28575"/>
                </a:lnTo>
                <a:lnTo>
                  <a:pt x="1611820" y="0"/>
                </a:lnTo>
                <a:lnTo>
                  <a:pt x="1726120" y="0"/>
                </a:lnTo>
                <a:lnTo>
                  <a:pt x="1726120" y="28575"/>
                </a:lnTo>
                <a:close/>
              </a:path>
              <a:path w="4552950" h="831850">
                <a:moveTo>
                  <a:pt x="1926145" y="28575"/>
                </a:moveTo>
                <a:lnTo>
                  <a:pt x="1811845" y="28575"/>
                </a:lnTo>
                <a:lnTo>
                  <a:pt x="1811845" y="0"/>
                </a:lnTo>
                <a:lnTo>
                  <a:pt x="1926145" y="0"/>
                </a:lnTo>
                <a:lnTo>
                  <a:pt x="1926145" y="28575"/>
                </a:lnTo>
                <a:close/>
              </a:path>
              <a:path w="4552950" h="831850">
                <a:moveTo>
                  <a:pt x="2126170" y="28575"/>
                </a:moveTo>
                <a:lnTo>
                  <a:pt x="2011870" y="28575"/>
                </a:lnTo>
                <a:lnTo>
                  <a:pt x="2011870" y="0"/>
                </a:lnTo>
                <a:lnTo>
                  <a:pt x="2126170" y="0"/>
                </a:lnTo>
                <a:lnTo>
                  <a:pt x="2126170" y="28575"/>
                </a:lnTo>
                <a:close/>
              </a:path>
              <a:path w="4552950" h="831850">
                <a:moveTo>
                  <a:pt x="2326195" y="28575"/>
                </a:moveTo>
                <a:lnTo>
                  <a:pt x="2211895" y="28575"/>
                </a:lnTo>
                <a:lnTo>
                  <a:pt x="2211895" y="0"/>
                </a:lnTo>
                <a:lnTo>
                  <a:pt x="2326195" y="0"/>
                </a:lnTo>
                <a:lnTo>
                  <a:pt x="2326195" y="28575"/>
                </a:lnTo>
                <a:close/>
              </a:path>
              <a:path w="4552950" h="831850">
                <a:moveTo>
                  <a:pt x="2526220" y="28575"/>
                </a:moveTo>
                <a:lnTo>
                  <a:pt x="2411920" y="28575"/>
                </a:lnTo>
                <a:lnTo>
                  <a:pt x="2411920" y="0"/>
                </a:lnTo>
                <a:lnTo>
                  <a:pt x="2526220" y="0"/>
                </a:lnTo>
                <a:lnTo>
                  <a:pt x="2526220" y="28575"/>
                </a:lnTo>
                <a:close/>
              </a:path>
              <a:path w="4552950" h="831850">
                <a:moveTo>
                  <a:pt x="2726245" y="28575"/>
                </a:moveTo>
                <a:lnTo>
                  <a:pt x="2611945" y="28575"/>
                </a:lnTo>
                <a:lnTo>
                  <a:pt x="2611945" y="0"/>
                </a:lnTo>
                <a:lnTo>
                  <a:pt x="2726245" y="0"/>
                </a:lnTo>
                <a:lnTo>
                  <a:pt x="2726245" y="28575"/>
                </a:lnTo>
                <a:close/>
              </a:path>
              <a:path w="4552950" h="831850">
                <a:moveTo>
                  <a:pt x="2926270" y="28575"/>
                </a:moveTo>
                <a:lnTo>
                  <a:pt x="2811970" y="28575"/>
                </a:lnTo>
                <a:lnTo>
                  <a:pt x="2811970" y="0"/>
                </a:lnTo>
                <a:lnTo>
                  <a:pt x="2926270" y="0"/>
                </a:lnTo>
                <a:lnTo>
                  <a:pt x="2926270" y="28575"/>
                </a:lnTo>
                <a:close/>
              </a:path>
              <a:path w="4552950" h="831850">
                <a:moveTo>
                  <a:pt x="3126295" y="28575"/>
                </a:moveTo>
                <a:lnTo>
                  <a:pt x="3011995" y="28575"/>
                </a:lnTo>
                <a:lnTo>
                  <a:pt x="3011995" y="0"/>
                </a:lnTo>
                <a:lnTo>
                  <a:pt x="3126295" y="0"/>
                </a:lnTo>
                <a:lnTo>
                  <a:pt x="3126295" y="28575"/>
                </a:lnTo>
                <a:close/>
              </a:path>
              <a:path w="4552950" h="831850">
                <a:moveTo>
                  <a:pt x="3326320" y="28575"/>
                </a:moveTo>
                <a:lnTo>
                  <a:pt x="3212020" y="28575"/>
                </a:lnTo>
                <a:lnTo>
                  <a:pt x="3212020" y="0"/>
                </a:lnTo>
                <a:lnTo>
                  <a:pt x="3326320" y="0"/>
                </a:lnTo>
                <a:lnTo>
                  <a:pt x="3326320" y="28575"/>
                </a:lnTo>
                <a:close/>
              </a:path>
              <a:path w="4552950" h="831850">
                <a:moveTo>
                  <a:pt x="3526345" y="28575"/>
                </a:moveTo>
                <a:lnTo>
                  <a:pt x="3412045" y="28575"/>
                </a:lnTo>
                <a:lnTo>
                  <a:pt x="3412045" y="0"/>
                </a:lnTo>
                <a:lnTo>
                  <a:pt x="3526345" y="0"/>
                </a:lnTo>
                <a:lnTo>
                  <a:pt x="3526345" y="28575"/>
                </a:lnTo>
                <a:close/>
              </a:path>
              <a:path w="4552950" h="831850">
                <a:moveTo>
                  <a:pt x="3726370" y="28575"/>
                </a:moveTo>
                <a:lnTo>
                  <a:pt x="3612070" y="28575"/>
                </a:lnTo>
                <a:lnTo>
                  <a:pt x="3612070" y="0"/>
                </a:lnTo>
                <a:lnTo>
                  <a:pt x="3726370" y="0"/>
                </a:lnTo>
                <a:lnTo>
                  <a:pt x="3726370" y="28575"/>
                </a:lnTo>
                <a:close/>
              </a:path>
              <a:path w="4552950" h="831850">
                <a:moveTo>
                  <a:pt x="3926395" y="28575"/>
                </a:moveTo>
                <a:lnTo>
                  <a:pt x="3812095" y="28575"/>
                </a:lnTo>
                <a:lnTo>
                  <a:pt x="3812095" y="0"/>
                </a:lnTo>
                <a:lnTo>
                  <a:pt x="3926395" y="0"/>
                </a:lnTo>
                <a:lnTo>
                  <a:pt x="3926395" y="28575"/>
                </a:lnTo>
                <a:close/>
              </a:path>
              <a:path w="4552950" h="831850">
                <a:moveTo>
                  <a:pt x="4126420" y="28575"/>
                </a:moveTo>
                <a:lnTo>
                  <a:pt x="4012120" y="28575"/>
                </a:lnTo>
                <a:lnTo>
                  <a:pt x="4012120" y="0"/>
                </a:lnTo>
                <a:lnTo>
                  <a:pt x="4126420" y="0"/>
                </a:lnTo>
                <a:lnTo>
                  <a:pt x="4126420" y="28575"/>
                </a:lnTo>
                <a:close/>
              </a:path>
              <a:path w="4552950" h="831850">
                <a:moveTo>
                  <a:pt x="4326445" y="28575"/>
                </a:moveTo>
                <a:lnTo>
                  <a:pt x="4212145" y="28575"/>
                </a:lnTo>
                <a:lnTo>
                  <a:pt x="4212145" y="0"/>
                </a:lnTo>
                <a:lnTo>
                  <a:pt x="4326445" y="0"/>
                </a:lnTo>
                <a:lnTo>
                  <a:pt x="4326445" y="28575"/>
                </a:lnTo>
                <a:close/>
              </a:path>
              <a:path w="4552950" h="831850">
                <a:moveTo>
                  <a:pt x="4526470" y="28575"/>
                </a:moveTo>
                <a:lnTo>
                  <a:pt x="4412170" y="28575"/>
                </a:lnTo>
                <a:lnTo>
                  <a:pt x="4412170" y="0"/>
                </a:lnTo>
                <a:lnTo>
                  <a:pt x="4526470" y="0"/>
                </a:lnTo>
                <a:lnTo>
                  <a:pt x="4526470" y="28575"/>
                </a:lnTo>
                <a:close/>
              </a:path>
              <a:path w="4552950" h="831850">
                <a:moveTo>
                  <a:pt x="4552949" y="202120"/>
                </a:moveTo>
                <a:lnTo>
                  <a:pt x="4524374" y="202120"/>
                </a:lnTo>
                <a:lnTo>
                  <a:pt x="4524374" y="87820"/>
                </a:lnTo>
                <a:lnTo>
                  <a:pt x="4552949" y="87820"/>
                </a:lnTo>
                <a:lnTo>
                  <a:pt x="4552949" y="202120"/>
                </a:lnTo>
                <a:close/>
              </a:path>
              <a:path w="4552950" h="831850">
                <a:moveTo>
                  <a:pt x="4552949" y="402145"/>
                </a:moveTo>
                <a:lnTo>
                  <a:pt x="4524374" y="402145"/>
                </a:lnTo>
                <a:lnTo>
                  <a:pt x="4524374" y="287845"/>
                </a:lnTo>
                <a:lnTo>
                  <a:pt x="4552949" y="287845"/>
                </a:lnTo>
                <a:lnTo>
                  <a:pt x="4552949" y="402145"/>
                </a:lnTo>
                <a:close/>
              </a:path>
              <a:path w="4552950" h="831850">
                <a:moveTo>
                  <a:pt x="4552949" y="602170"/>
                </a:moveTo>
                <a:lnTo>
                  <a:pt x="4524374" y="602170"/>
                </a:lnTo>
                <a:lnTo>
                  <a:pt x="4524374" y="487870"/>
                </a:lnTo>
                <a:lnTo>
                  <a:pt x="4552949" y="487870"/>
                </a:lnTo>
                <a:lnTo>
                  <a:pt x="4552949" y="602170"/>
                </a:lnTo>
                <a:close/>
              </a:path>
              <a:path w="4552950" h="831850">
                <a:moveTo>
                  <a:pt x="4552949" y="802195"/>
                </a:moveTo>
                <a:lnTo>
                  <a:pt x="4524374" y="802195"/>
                </a:lnTo>
                <a:lnTo>
                  <a:pt x="4524374" y="687895"/>
                </a:lnTo>
                <a:lnTo>
                  <a:pt x="4552949" y="687895"/>
                </a:lnTo>
                <a:lnTo>
                  <a:pt x="4552949" y="802195"/>
                </a:lnTo>
                <a:close/>
              </a:path>
              <a:path w="4552950" h="831850">
                <a:moveTo>
                  <a:pt x="4467796" y="831342"/>
                </a:moveTo>
                <a:lnTo>
                  <a:pt x="4353496" y="831342"/>
                </a:lnTo>
                <a:lnTo>
                  <a:pt x="4353496" y="802767"/>
                </a:lnTo>
                <a:lnTo>
                  <a:pt x="4467796" y="802767"/>
                </a:lnTo>
                <a:lnTo>
                  <a:pt x="4467796" y="831342"/>
                </a:lnTo>
                <a:close/>
              </a:path>
              <a:path w="4552950" h="831850">
                <a:moveTo>
                  <a:pt x="4267771" y="831342"/>
                </a:moveTo>
                <a:lnTo>
                  <a:pt x="4153471" y="831342"/>
                </a:lnTo>
                <a:lnTo>
                  <a:pt x="4153471" y="802767"/>
                </a:lnTo>
                <a:lnTo>
                  <a:pt x="4267771" y="802767"/>
                </a:lnTo>
                <a:lnTo>
                  <a:pt x="4267771" y="831342"/>
                </a:lnTo>
                <a:close/>
              </a:path>
              <a:path w="4552950" h="831850">
                <a:moveTo>
                  <a:pt x="4067746" y="831342"/>
                </a:moveTo>
                <a:lnTo>
                  <a:pt x="3953446" y="831342"/>
                </a:lnTo>
                <a:lnTo>
                  <a:pt x="3953446" y="802767"/>
                </a:lnTo>
                <a:lnTo>
                  <a:pt x="4067746" y="802767"/>
                </a:lnTo>
                <a:lnTo>
                  <a:pt x="4067746" y="831342"/>
                </a:lnTo>
                <a:close/>
              </a:path>
              <a:path w="4552950" h="831850">
                <a:moveTo>
                  <a:pt x="3867721" y="831342"/>
                </a:moveTo>
                <a:lnTo>
                  <a:pt x="3753421" y="831342"/>
                </a:lnTo>
                <a:lnTo>
                  <a:pt x="3753421" y="802767"/>
                </a:lnTo>
                <a:lnTo>
                  <a:pt x="3867721" y="802767"/>
                </a:lnTo>
                <a:lnTo>
                  <a:pt x="3867721" y="831342"/>
                </a:lnTo>
                <a:close/>
              </a:path>
              <a:path w="4552950" h="831850">
                <a:moveTo>
                  <a:pt x="3667696" y="831342"/>
                </a:moveTo>
                <a:lnTo>
                  <a:pt x="3553396" y="831342"/>
                </a:lnTo>
                <a:lnTo>
                  <a:pt x="3553396" y="802767"/>
                </a:lnTo>
                <a:lnTo>
                  <a:pt x="3667696" y="802767"/>
                </a:lnTo>
                <a:lnTo>
                  <a:pt x="3667696" y="831342"/>
                </a:lnTo>
                <a:close/>
              </a:path>
              <a:path w="4552950" h="831850">
                <a:moveTo>
                  <a:pt x="3467671" y="831342"/>
                </a:moveTo>
                <a:lnTo>
                  <a:pt x="3353371" y="831342"/>
                </a:lnTo>
                <a:lnTo>
                  <a:pt x="3353371" y="802767"/>
                </a:lnTo>
                <a:lnTo>
                  <a:pt x="3467671" y="802767"/>
                </a:lnTo>
                <a:lnTo>
                  <a:pt x="3467671" y="831342"/>
                </a:lnTo>
                <a:close/>
              </a:path>
              <a:path w="4552950" h="831850">
                <a:moveTo>
                  <a:pt x="3267646" y="831342"/>
                </a:moveTo>
                <a:lnTo>
                  <a:pt x="3153346" y="831342"/>
                </a:lnTo>
                <a:lnTo>
                  <a:pt x="3153346" y="802767"/>
                </a:lnTo>
                <a:lnTo>
                  <a:pt x="3267646" y="802767"/>
                </a:lnTo>
                <a:lnTo>
                  <a:pt x="3267646" y="831342"/>
                </a:lnTo>
                <a:close/>
              </a:path>
              <a:path w="4552950" h="831850">
                <a:moveTo>
                  <a:pt x="3067621" y="831342"/>
                </a:moveTo>
                <a:lnTo>
                  <a:pt x="2953321" y="831342"/>
                </a:lnTo>
                <a:lnTo>
                  <a:pt x="2953321" y="802767"/>
                </a:lnTo>
                <a:lnTo>
                  <a:pt x="3067621" y="802767"/>
                </a:lnTo>
                <a:lnTo>
                  <a:pt x="3067621" y="831342"/>
                </a:lnTo>
                <a:close/>
              </a:path>
              <a:path w="4552950" h="831850">
                <a:moveTo>
                  <a:pt x="2867596" y="831342"/>
                </a:moveTo>
                <a:lnTo>
                  <a:pt x="2753296" y="831342"/>
                </a:lnTo>
                <a:lnTo>
                  <a:pt x="2753296" y="802767"/>
                </a:lnTo>
                <a:lnTo>
                  <a:pt x="2867596" y="802767"/>
                </a:lnTo>
                <a:lnTo>
                  <a:pt x="2867596" y="831342"/>
                </a:lnTo>
                <a:close/>
              </a:path>
              <a:path w="4552950" h="831850">
                <a:moveTo>
                  <a:pt x="2667571" y="831342"/>
                </a:moveTo>
                <a:lnTo>
                  <a:pt x="2553271" y="831342"/>
                </a:lnTo>
                <a:lnTo>
                  <a:pt x="2553271" y="802767"/>
                </a:lnTo>
                <a:lnTo>
                  <a:pt x="2667571" y="802767"/>
                </a:lnTo>
                <a:lnTo>
                  <a:pt x="2667571" y="831342"/>
                </a:lnTo>
                <a:close/>
              </a:path>
              <a:path w="4552950" h="831850">
                <a:moveTo>
                  <a:pt x="2467546" y="831342"/>
                </a:moveTo>
                <a:lnTo>
                  <a:pt x="2353246" y="831342"/>
                </a:lnTo>
                <a:lnTo>
                  <a:pt x="2353246" y="802767"/>
                </a:lnTo>
                <a:lnTo>
                  <a:pt x="2467546" y="802767"/>
                </a:lnTo>
                <a:lnTo>
                  <a:pt x="2467546" y="831342"/>
                </a:lnTo>
                <a:close/>
              </a:path>
              <a:path w="4552950" h="831850">
                <a:moveTo>
                  <a:pt x="2267521" y="831342"/>
                </a:moveTo>
                <a:lnTo>
                  <a:pt x="2153221" y="831342"/>
                </a:lnTo>
                <a:lnTo>
                  <a:pt x="2153221" y="802767"/>
                </a:lnTo>
                <a:lnTo>
                  <a:pt x="2267521" y="802767"/>
                </a:lnTo>
                <a:lnTo>
                  <a:pt x="2267521" y="831342"/>
                </a:lnTo>
                <a:close/>
              </a:path>
              <a:path w="4552950" h="831850">
                <a:moveTo>
                  <a:pt x="2067496" y="831342"/>
                </a:moveTo>
                <a:lnTo>
                  <a:pt x="1953196" y="831342"/>
                </a:lnTo>
                <a:lnTo>
                  <a:pt x="1953196" y="802767"/>
                </a:lnTo>
                <a:lnTo>
                  <a:pt x="2067496" y="802767"/>
                </a:lnTo>
                <a:lnTo>
                  <a:pt x="2067496" y="831342"/>
                </a:lnTo>
                <a:close/>
              </a:path>
              <a:path w="4552950" h="831850">
                <a:moveTo>
                  <a:pt x="1867471" y="831342"/>
                </a:moveTo>
                <a:lnTo>
                  <a:pt x="1753171" y="831342"/>
                </a:lnTo>
                <a:lnTo>
                  <a:pt x="1753171" y="802767"/>
                </a:lnTo>
                <a:lnTo>
                  <a:pt x="1867471" y="802767"/>
                </a:lnTo>
                <a:lnTo>
                  <a:pt x="1867471" y="831342"/>
                </a:lnTo>
                <a:close/>
              </a:path>
              <a:path w="4552950" h="831850">
                <a:moveTo>
                  <a:pt x="1667446" y="831342"/>
                </a:moveTo>
                <a:lnTo>
                  <a:pt x="1553146" y="831342"/>
                </a:lnTo>
                <a:lnTo>
                  <a:pt x="1553146" y="802767"/>
                </a:lnTo>
                <a:lnTo>
                  <a:pt x="1667446" y="802767"/>
                </a:lnTo>
                <a:lnTo>
                  <a:pt x="1667446" y="831342"/>
                </a:lnTo>
                <a:close/>
              </a:path>
              <a:path w="4552950" h="831850">
                <a:moveTo>
                  <a:pt x="1467421" y="831342"/>
                </a:moveTo>
                <a:lnTo>
                  <a:pt x="1353121" y="831342"/>
                </a:lnTo>
                <a:lnTo>
                  <a:pt x="1353121" y="802767"/>
                </a:lnTo>
                <a:lnTo>
                  <a:pt x="1467421" y="802767"/>
                </a:lnTo>
                <a:lnTo>
                  <a:pt x="1467421" y="831342"/>
                </a:lnTo>
                <a:close/>
              </a:path>
              <a:path w="4552950" h="831850">
                <a:moveTo>
                  <a:pt x="1267396" y="831342"/>
                </a:moveTo>
                <a:lnTo>
                  <a:pt x="1153096" y="831342"/>
                </a:lnTo>
                <a:lnTo>
                  <a:pt x="1153096" y="802767"/>
                </a:lnTo>
                <a:lnTo>
                  <a:pt x="1267396" y="802767"/>
                </a:lnTo>
                <a:lnTo>
                  <a:pt x="1267396" y="831342"/>
                </a:lnTo>
                <a:close/>
              </a:path>
              <a:path w="4552950" h="831850">
                <a:moveTo>
                  <a:pt x="1067371" y="831342"/>
                </a:moveTo>
                <a:lnTo>
                  <a:pt x="953071" y="831342"/>
                </a:lnTo>
                <a:lnTo>
                  <a:pt x="953071" y="802767"/>
                </a:lnTo>
                <a:lnTo>
                  <a:pt x="1067371" y="802767"/>
                </a:lnTo>
                <a:lnTo>
                  <a:pt x="1067371" y="831342"/>
                </a:lnTo>
                <a:close/>
              </a:path>
              <a:path w="4552950" h="831850">
                <a:moveTo>
                  <a:pt x="867346" y="831342"/>
                </a:moveTo>
                <a:lnTo>
                  <a:pt x="753046" y="831342"/>
                </a:lnTo>
                <a:lnTo>
                  <a:pt x="753046" y="802767"/>
                </a:lnTo>
                <a:lnTo>
                  <a:pt x="867346" y="802767"/>
                </a:lnTo>
                <a:lnTo>
                  <a:pt x="867346" y="831342"/>
                </a:lnTo>
                <a:close/>
              </a:path>
              <a:path w="4552950" h="831850">
                <a:moveTo>
                  <a:pt x="667321" y="831342"/>
                </a:moveTo>
                <a:lnTo>
                  <a:pt x="553021" y="831342"/>
                </a:lnTo>
                <a:lnTo>
                  <a:pt x="553021" y="802767"/>
                </a:lnTo>
                <a:lnTo>
                  <a:pt x="667321" y="802767"/>
                </a:lnTo>
                <a:lnTo>
                  <a:pt x="667321" y="831342"/>
                </a:lnTo>
                <a:close/>
              </a:path>
              <a:path w="4552950" h="831850">
                <a:moveTo>
                  <a:pt x="467296" y="831342"/>
                </a:moveTo>
                <a:lnTo>
                  <a:pt x="352996" y="831342"/>
                </a:lnTo>
                <a:lnTo>
                  <a:pt x="352996" y="802767"/>
                </a:lnTo>
                <a:lnTo>
                  <a:pt x="467296" y="802767"/>
                </a:lnTo>
                <a:lnTo>
                  <a:pt x="467296" y="831342"/>
                </a:lnTo>
                <a:close/>
              </a:path>
              <a:path w="4552950" h="831850">
                <a:moveTo>
                  <a:pt x="267271" y="831342"/>
                </a:moveTo>
                <a:lnTo>
                  <a:pt x="152971" y="831342"/>
                </a:lnTo>
                <a:lnTo>
                  <a:pt x="152971" y="802767"/>
                </a:lnTo>
                <a:lnTo>
                  <a:pt x="267271" y="802767"/>
                </a:lnTo>
                <a:lnTo>
                  <a:pt x="267271" y="83134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94739" y="4562157"/>
            <a:ext cx="7168515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latin typeface="Times New Roman"/>
                <a:cs typeface="Times New Roman"/>
              </a:rPr>
              <a:t>2</a:t>
            </a:r>
            <a:r>
              <a:rPr dirty="0" sz="3200" b="1">
                <a:latin typeface="黑体"/>
                <a:cs typeface="黑体"/>
              </a:rPr>
              <a:t>．阿伏加德罗常数是联系微观世界和</a:t>
            </a:r>
            <a:r>
              <a:rPr dirty="0" sz="3200" spc="-10" b="1">
                <a:latin typeface="黑体"/>
                <a:cs typeface="黑体"/>
              </a:rPr>
              <a:t>宏 </a:t>
            </a:r>
            <a:r>
              <a:rPr dirty="0" sz="3200" b="1">
                <a:latin typeface="黑体"/>
                <a:cs typeface="黑体"/>
              </a:rPr>
              <a:t>观世界的桥梁</a:t>
            </a:r>
            <a:r>
              <a:rPr dirty="0" sz="3200" spc="-10" b="1">
                <a:latin typeface="黑体"/>
                <a:cs typeface="黑体"/>
              </a:rPr>
              <a:t>．</a:t>
            </a:r>
            <a:endParaRPr sz="32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75714" y="601662"/>
            <a:ext cx="728408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（</a:t>
            </a:r>
            <a:r>
              <a:rPr dirty="0" sz="3600">
                <a:latin typeface="Times New Roman"/>
                <a:cs typeface="Times New Roman"/>
              </a:rPr>
              <a:t>1</a:t>
            </a:r>
            <a:r>
              <a:rPr dirty="0" sz="3600">
                <a:latin typeface="黑体"/>
                <a:cs typeface="黑体"/>
              </a:rPr>
              <a:t>）已知物质的摩尔质量</a:t>
            </a:r>
            <a:r>
              <a:rPr dirty="0" sz="3600" spc="-5" i="1">
                <a:latin typeface="Times New Roman"/>
                <a:cs typeface="Times New Roman"/>
              </a:rPr>
              <a:t>M</a:t>
            </a:r>
            <a:r>
              <a:rPr dirty="0" baseline="-16548" sz="3525" spc="-22" i="1">
                <a:latin typeface="Times New Roman"/>
                <a:cs typeface="Times New Roman"/>
              </a:rPr>
              <a:t>A</a:t>
            </a:r>
            <a:r>
              <a:rPr dirty="0" sz="3600">
                <a:latin typeface="黑体"/>
                <a:cs typeface="黑体"/>
              </a:rPr>
              <a:t>，可</a:t>
            </a:r>
            <a:r>
              <a:rPr dirty="0" sz="3600" spc="-15">
                <a:latin typeface="黑体"/>
                <a:cs typeface="黑体"/>
              </a:rPr>
              <a:t>求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75714" y="1150302"/>
            <a:ext cx="28251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黑体"/>
                <a:cs typeface="黑体"/>
              </a:rPr>
              <a:t>出分子质量</a:t>
            </a:r>
            <a:r>
              <a:rPr dirty="0" sz="3600" spc="-5" b="1" i="1">
                <a:latin typeface="Times New Roman"/>
                <a:cs typeface="Times New Roman"/>
              </a:rPr>
              <a:t>m</a:t>
            </a:r>
            <a:r>
              <a:rPr dirty="0" baseline="-16548" sz="3525" spc="-7" b="1" i="1">
                <a:latin typeface="Times New Roman"/>
                <a:cs typeface="Times New Roman"/>
              </a:rPr>
              <a:t>0</a:t>
            </a:r>
            <a:endParaRPr baseline="-16548" sz="35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96460" y="2522854"/>
            <a:ext cx="708660" cy="0"/>
          </a:xfrm>
          <a:custGeom>
            <a:avLst/>
            <a:gdLst/>
            <a:ahLst/>
            <a:cxnLst/>
            <a:rect l="l" t="t" r="r" b="b"/>
            <a:pathLst>
              <a:path w="708660" h="0">
                <a:moveTo>
                  <a:pt x="0" y="0"/>
                </a:moveTo>
                <a:lnTo>
                  <a:pt x="708609" y="0"/>
                </a:lnTo>
              </a:path>
            </a:pathLst>
          </a:custGeom>
          <a:ln w="17424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82945" y="2522854"/>
            <a:ext cx="835660" cy="0"/>
          </a:xfrm>
          <a:custGeom>
            <a:avLst/>
            <a:gdLst/>
            <a:ahLst/>
            <a:cxnLst/>
            <a:rect l="l" t="t" r="r" b="b"/>
            <a:pathLst>
              <a:path w="835660" h="0">
                <a:moveTo>
                  <a:pt x="0" y="0"/>
                </a:moveTo>
                <a:lnTo>
                  <a:pt x="835101" y="0"/>
                </a:lnTo>
              </a:path>
            </a:pathLst>
          </a:custGeom>
          <a:ln w="17424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827676" y="2781630"/>
            <a:ext cx="1412875" cy="295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61745" algn="l"/>
              </a:tabLst>
            </a:pPr>
            <a:r>
              <a:rPr dirty="0" sz="1750" spc="10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r>
              <a:rPr dirty="0" sz="1750" spc="10" i="1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dirty="0" sz="1750" spc="10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77461" y="2524480"/>
            <a:ext cx="153225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61745" algn="l"/>
              </a:tabLst>
            </a:pPr>
            <a:r>
              <a:rPr dirty="0" sz="3000" spc="20" i="1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dirty="0" sz="3000" spc="20" i="1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dirty="0" sz="3000" spc="20" i="1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12794" y="2222525"/>
            <a:ext cx="30416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000" spc="20" i="1">
                <a:solidFill>
                  <a:srgbClr val="CC3300"/>
                </a:solidFill>
                <a:latin typeface="Times New Roman"/>
                <a:cs typeface="Times New Roman"/>
              </a:rPr>
              <a:t>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5366" y="1958610"/>
            <a:ext cx="2285365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8305" algn="l"/>
                <a:tab pos="1198880" algn="l"/>
                <a:tab pos="1574165" algn="l"/>
              </a:tabLst>
            </a:pPr>
            <a:r>
              <a:rPr dirty="0" baseline="-35185" sz="4500" spc="22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baseline="-35185" sz="4500" spc="22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dirty="0" sz="3000" spc="25" i="1">
                <a:solidFill>
                  <a:srgbClr val="CC3300"/>
                </a:solidFill>
                <a:latin typeface="Times New Roman"/>
                <a:cs typeface="Times New Roman"/>
              </a:rPr>
              <a:t>M</a:t>
            </a:r>
            <a:r>
              <a:rPr dirty="0" sz="3000" spc="254" i="1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baseline="-23809" sz="2625" spc="15" i="1">
                <a:solidFill>
                  <a:srgbClr val="CC3300"/>
                </a:solidFill>
                <a:latin typeface="Times New Roman"/>
                <a:cs typeface="Times New Roman"/>
              </a:rPr>
              <a:t>A	</a:t>
            </a:r>
            <a:r>
              <a:rPr dirty="0" baseline="-35185" sz="4500" spc="22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baseline="-35185" sz="4500" spc="22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dirty="0" sz="3200" spc="-130" i="1">
                <a:solidFill>
                  <a:srgbClr val="CC3300"/>
                </a:solidFill>
                <a:latin typeface="Symbol"/>
                <a:cs typeface="Symbol"/>
              </a:rPr>
              <a:t></a:t>
            </a:r>
            <a:r>
              <a:rPr dirty="0" sz="3000" spc="-130" i="1">
                <a:solidFill>
                  <a:srgbClr val="CC3300"/>
                </a:solidFill>
                <a:latin typeface="Times New Roman"/>
                <a:cs typeface="Times New Roman"/>
              </a:rPr>
              <a:t>V</a:t>
            </a:r>
            <a:r>
              <a:rPr dirty="0" baseline="-23809" sz="2625" spc="-195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endParaRPr baseline="-23809" sz="262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30206" y="2479675"/>
            <a:ext cx="137795" cy="295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5">
                <a:solidFill>
                  <a:srgbClr val="CC3300"/>
                </a:solidFill>
                <a:latin typeface="Times New Roman"/>
                <a:cs typeface="Times New Roman"/>
              </a:rPr>
              <a:t>0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28796" y="1914525"/>
            <a:ext cx="3206115" cy="1217295"/>
          </a:xfrm>
          <a:custGeom>
            <a:avLst/>
            <a:gdLst/>
            <a:ahLst/>
            <a:cxnLst/>
            <a:rect l="l" t="t" r="r" b="b"/>
            <a:pathLst>
              <a:path w="3206115" h="1217295">
                <a:moveTo>
                  <a:pt x="28575" y="1202626"/>
                </a:moveTo>
                <a:lnTo>
                  <a:pt x="0" y="1202626"/>
                </a:lnTo>
                <a:lnTo>
                  <a:pt x="0" y="1174051"/>
                </a:lnTo>
                <a:lnTo>
                  <a:pt x="28575" y="1174051"/>
                </a:lnTo>
                <a:lnTo>
                  <a:pt x="28575" y="1202626"/>
                </a:lnTo>
                <a:close/>
              </a:path>
              <a:path w="3206115" h="1217295">
                <a:moveTo>
                  <a:pt x="28575" y="1145476"/>
                </a:moveTo>
                <a:lnTo>
                  <a:pt x="0" y="1145476"/>
                </a:lnTo>
                <a:lnTo>
                  <a:pt x="0" y="1116901"/>
                </a:lnTo>
                <a:lnTo>
                  <a:pt x="28575" y="1116901"/>
                </a:lnTo>
                <a:lnTo>
                  <a:pt x="28575" y="1145476"/>
                </a:lnTo>
                <a:close/>
              </a:path>
              <a:path w="3206115" h="1217295">
                <a:moveTo>
                  <a:pt x="28575" y="1088326"/>
                </a:moveTo>
                <a:lnTo>
                  <a:pt x="0" y="1088326"/>
                </a:lnTo>
                <a:lnTo>
                  <a:pt x="0" y="1059751"/>
                </a:lnTo>
                <a:lnTo>
                  <a:pt x="28575" y="1059751"/>
                </a:lnTo>
                <a:lnTo>
                  <a:pt x="28575" y="1088326"/>
                </a:lnTo>
                <a:close/>
              </a:path>
              <a:path w="3206115" h="1217295">
                <a:moveTo>
                  <a:pt x="28575" y="1031176"/>
                </a:moveTo>
                <a:lnTo>
                  <a:pt x="0" y="1031176"/>
                </a:lnTo>
                <a:lnTo>
                  <a:pt x="0" y="1002601"/>
                </a:lnTo>
                <a:lnTo>
                  <a:pt x="28575" y="1002601"/>
                </a:lnTo>
                <a:lnTo>
                  <a:pt x="28575" y="1031176"/>
                </a:lnTo>
                <a:close/>
              </a:path>
              <a:path w="3206115" h="1217295">
                <a:moveTo>
                  <a:pt x="28575" y="974026"/>
                </a:moveTo>
                <a:lnTo>
                  <a:pt x="0" y="974026"/>
                </a:lnTo>
                <a:lnTo>
                  <a:pt x="0" y="945451"/>
                </a:lnTo>
                <a:lnTo>
                  <a:pt x="28575" y="945451"/>
                </a:lnTo>
                <a:lnTo>
                  <a:pt x="28575" y="974026"/>
                </a:lnTo>
                <a:close/>
              </a:path>
              <a:path w="3206115" h="1217295">
                <a:moveTo>
                  <a:pt x="28575" y="916876"/>
                </a:moveTo>
                <a:lnTo>
                  <a:pt x="0" y="916876"/>
                </a:lnTo>
                <a:lnTo>
                  <a:pt x="0" y="888301"/>
                </a:lnTo>
                <a:lnTo>
                  <a:pt x="28575" y="888301"/>
                </a:lnTo>
                <a:lnTo>
                  <a:pt x="28575" y="916876"/>
                </a:lnTo>
                <a:close/>
              </a:path>
              <a:path w="3206115" h="1217295">
                <a:moveTo>
                  <a:pt x="28575" y="859726"/>
                </a:moveTo>
                <a:lnTo>
                  <a:pt x="0" y="859726"/>
                </a:lnTo>
                <a:lnTo>
                  <a:pt x="0" y="831151"/>
                </a:lnTo>
                <a:lnTo>
                  <a:pt x="28575" y="831151"/>
                </a:lnTo>
                <a:lnTo>
                  <a:pt x="28575" y="859726"/>
                </a:lnTo>
                <a:close/>
              </a:path>
              <a:path w="3206115" h="1217295">
                <a:moveTo>
                  <a:pt x="28575" y="802576"/>
                </a:moveTo>
                <a:lnTo>
                  <a:pt x="0" y="802576"/>
                </a:lnTo>
                <a:lnTo>
                  <a:pt x="0" y="774001"/>
                </a:lnTo>
                <a:lnTo>
                  <a:pt x="28575" y="774001"/>
                </a:lnTo>
                <a:lnTo>
                  <a:pt x="28575" y="802576"/>
                </a:lnTo>
                <a:close/>
              </a:path>
              <a:path w="3206115" h="1217295">
                <a:moveTo>
                  <a:pt x="28575" y="745426"/>
                </a:moveTo>
                <a:lnTo>
                  <a:pt x="0" y="745426"/>
                </a:lnTo>
                <a:lnTo>
                  <a:pt x="0" y="716851"/>
                </a:lnTo>
                <a:lnTo>
                  <a:pt x="28575" y="716851"/>
                </a:lnTo>
                <a:lnTo>
                  <a:pt x="28575" y="745426"/>
                </a:lnTo>
                <a:close/>
              </a:path>
              <a:path w="3206115" h="1217295">
                <a:moveTo>
                  <a:pt x="28575" y="688276"/>
                </a:moveTo>
                <a:lnTo>
                  <a:pt x="0" y="688276"/>
                </a:lnTo>
                <a:lnTo>
                  <a:pt x="0" y="659701"/>
                </a:lnTo>
                <a:lnTo>
                  <a:pt x="28575" y="659701"/>
                </a:lnTo>
                <a:lnTo>
                  <a:pt x="28575" y="688276"/>
                </a:lnTo>
                <a:close/>
              </a:path>
              <a:path w="3206115" h="1217295">
                <a:moveTo>
                  <a:pt x="28575" y="631126"/>
                </a:moveTo>
                <a:lnTo>
                  <a:pt x="0" y="631126"/>
                </a:lnTo>
                <a:lnTo>
                  <a:pt x="0" y="602551"/>
                </a:lnTo>
                <a:lnTo>
                  <a:pt x="28575" y="602551"/>
                </a:lnTo>
                <a:lnTo>
                  <a:pt x="28575" y="631126"/>
                </a:lnTo>
                <a:close/>
              </a:path>
              <a:path w="3206115" h="1217295">
                <a:moveTo>
                  <a:pt x="28575" y="573976"/>
                </a:moveTo>
                <a:lnTo>
                  <a:pt x="0" y="573976"/>
                </a:lnTo>
                <a:lnTo>
                  <a:pt x="0" y="545401"/>
                </a:lnTo>
                <a:lnTo>
                  <a:pt x="28575" y="545401"/>
                </a:lnTo>
                <a:lnTo>
                  <a:pt x="28575" y="573976"/>
                </a:lnTo>
                <a:close/>
              </a:path>
              <a:path w="3206115" h="1217295">
                <a:moveTo>
                  <a:pt x="28575" y="516826"/>
                </a:moveTo>
                <a:lnTo>
                  <a:pt x="0" y="516826"/>
                </a:lnTo>
                <a:lnTo>
                  <a:pt x="0" y="488251"/>
                </a:lnTo>
                <a:lnTo>
                  <a:pt x="28575" y="488251"/>
                </a:lnTo>
                <a:lnTo>
                  <a:pt x="28575" y="516826"/>
                </a:lnTo>
                <a:close/>
              </a:path>
              <a:path w="3206115" h="1217295">
                <a:moveTo>
                  <a:pt x="28575" y="459676"/>
                </a:moveTo>
                <a:lnTo>
                  <a:pt x="0" y="459676"/>
                </a:lnTo>
                <a:lnTo>
                  <a:pt x="0" y="431101"/>
                </a:lnTo>
                <a:lnTo>
                  <a:pt x="28575" y="431101"/>
                </a:lnTo>
                <a:lnTo>
                  <a:pt x="28575" y="459676"/>
                </a:lnTo>
                <a:close/>
              </a:path>
              <a:path w="3206115" h="1217295">
                <a:moveTo>
                  <a:pt x="28575" y="402526"/>
                </a:moveTo>
                <a:lnTo>
                  <a:pt x="0" y="402526"/>
                </a:lnTo>
                <a:lnTo>
                  <a:pt x="0" y="373951"/>
                </a:lnTo>
                <a:lnTo>
                  <a:pt x="28575" y="373951"/>
                </a:lnTo>
                <a:lnTo>
                  <a:pt x="28575" y="402526"/>
                </a:lnTo>
                <a:close/>
              </a:path>
              <a:path w="3206115" h="1217295">
                <a:moveTo>
                  <a:pt x="28575" y="345376"/>
                </a:moveTo>
                <a:lnTo>
                  <a:pt x="0" y="345376"/>
                </a:lnTo>
                <a:lnTo>
                  <a:pt x="0" y="316801"/>
                </a:lnTo>
                <a:lnTo>
                  <a:pt x="28575" y="316801"/>
                </a:lnTo>
                <a:lnTo>
                  <a:pt x="28575" y="345376"/>
                </a:lnTo>
                <a:close/>
              </a:path>
              <a:path w="3206115" h="1217295">
                <a:moveTo>
                  <a:pt x="28575" y="288226"/>
                </a:moveTo>
                <a:lnTo>
                  <a:pt x="0" y="288226"/>
                </a:lnTo>
                <a:lnTo>
                  <a:pt x="0" y="259651"/>
                </a:lnTo>
                <a:lnTo>
                  <a:pt x="28575" y="259651"/>
                </a:lnTo>
                <a:lnTo>
                  <a:pt x="28575" y="288226"/>
                </a:lnTo>
                <a:close/>
              </a:path>
              <a:path w="3206115" h="1217295">
                <a:moveTo>
                  <a:pt x="28575" y="231076"/>
                </a:moveTo>
                <a:lnTo>
                  <a:pt x="0" y="231076"/>
                </a:lnTo>
                <a:lnTo>
                  <a:pt x="0" y="202501"/>
                </a:lnTo>
                <a:lnTo>
                  <a:pt x="28575" y="202501"/>
                </a:lnTo>
                <a:lnTo>
                  <a:pt x="28575" y="231076"/>
                </a:lnTo>
                <a:close/>
              </a:path>
              <a:path w="3206115" h="1217295">
                <a:moveTo>
                  <a:pt x="28575" y="173926"/>
                </a:moveTo>
                <a:lnTo>
                  <a:pt x="0" y="173926"/>
                </a:lnTo>
                <a:lnTo>
                  <a:pt x="0" y="145351"/>
                </a:lnTo>
                <a:lnTo>
                  <a:pt x="28575" y="145351"/>
                </a:lnTo>
                <a:lnTo>
                  <a:pt x="28575" y="173926"/>
                </a:lnTo>
                <a:close/>
              </a:path>
              <a:path w="3206115" h="1217295">
                <a:moveTo>
                  <a:pt x="28575" y="116776"/>
                </a:moveTo>
                <a:lnTo>
                  <a:pt x="0" y="116776"/>
                </a:lnTo>
                <a:lnTo>
                  <a:pt x="0" y="88201"/>
                </a:lnTo>
                <a:lnTo>
                  <a:pt x="28575" y="88201"/>
                </a:lnTo>
                <a:lnTo>
                  <a:pt x="28575" y="116776"/>
                </a:lnTo>
                <a:close/>
              </a:path>
              <a:path w="3206115" h="1217295">
                <a:moveTo>
                  <a:pt x="28575" y="59626"/>
                </a:moveTo>
                <a:lnTo>
                  <a:pt x="0" y="59626"/>
                </a:lnTo>
                <a:lnTo>
                  <a:pt x="0" y="31051"/>
                </a:lnTo>
                <a:lnTo>
                  <a:pt x="28575" y="31051"/>
                </a:lnTo>
                <a:lnTo>
                  <a:pt x="28575" y="59626"/>
                </a:lnTo>
                <a:close/>
              </a:path>
              <a:path w="3206115" h="1217295">
                <a:moveTo>
                  <a:pt x="54673" y="28575"/>
                </a:moveTo>
                <a:lnTo>
                  <a:pt x="26098" y="28575"/>
                </a:lnTo>
                <a:lnTo>
                  <a:pt x="26098" y="0"/>
                </a:lnTo>
                <a:lnTo>
                  <a:pt x="54673" y="0"/>
                </a:lnTo>
                <a:lnTo>
                  <a:pt x="54673" y="28575"/>
                </a:lnTo>
                <a:close/>
              </a:path>
              <a:path w="3206115" h="1217295">
                <a:moveTo>
                  <a:pt x="111823" y="28575"/>
                </a:moveTo>
                <a:lnTo>
                  <a:pt x="83248" y="28575"/>
                </a:lnTo>
                <a:lnTo>
                  <a:pt x="83248" y="0"/>
                </a:lnTo>
                <a:lnTo>
                  <a:pt x="111823" y="0"/>
                </a:lnTo>
                <a:lnTo>
                  <a:pt x="111823" y="28575"/>
                </a:lnTo>
                <a:close/>
              </a:path>
              <a:path w="3206115" h="1217295">
                <a:moveTo>
                  <a:pt x="168973" y="28575"/>
                </a:moveTo>
                <a:lnTo>
                  <a:pt x="140398" y="28575"/>
                </a:lnTo>
                <a:lnTo>
                  <a:pt x="140398" y="0"/>
                </a:lnTo>
                <a:lnTo>
                  <a:pt x="168973" y="0"/>
                </a:lnTo>
                <a:lnTo>
                  <a:pt x="168973" y="28575"/>
                </a:lnTo>
                <a:close/>
              </a:path>
              <a:path w="3206115" h="1217295">
                <a:moveTo>
                  <a:pt x="226123" y="28575"/>
                </a:moveTo>
                <a:lnTo>
                  <a:pt x="197548" y="28575"/>
                </a:lnTo>
                <a:lnTo>
                  <a:pt x="197548" y="0"/>
                </a:lnTo>
                <a:lnTo>
                  <a:pt x="226123" y="0"/>
                </a:lnTo>
                <a:lnTo>
                  <a:pt x="226123" y="28575"/>
                </a:lnTo>
                <a:close/>
              </a:path>
              <a:path w="3206115" h="1217295">
                <a:moveTo>
                  <a:pt x="283273" y="28575"/>
                </a:moveTo>
                <a:lnTo>
                  <a:pt x="254698" y="28575"/>
                </a:lnTo>
                <a:lnTo>
                  <a:pt x="254698" y="0"/>
                </a:lnTo>
                <a:lnTo>
                  <a:pt x="283273" y="0"/>
                </a:lnTo>
                <a:lnTo>
                  <a:pt x="283273" y="28575"/>
                </a:lnTo>
                <a:close/>
              </a:path>
              <a:path w="3206115" h="1217295">
                <a:moveTo>
                  <a:pt x="340423" y="28575"/>
                </a:moveTo>
                <a:lnTo>
                  <a:pt x="311848" y="28575"/>
                </a:lnTo>
                <a:lnTo>
                  <a:pt x="311848" y="0"/>
                </a:lnTo>
                <a:lnTo>
                  <a:pt x="340423" y="0"/>
                </a:lnTo>
                <a:lnTo>
                  <a:pt x="340423" y="28575"/>
                </a:lnTo>
                <a:close/>
              </a:path>
              <a:path w="3206115" h="1217295">
                <a:moveTo>
                  <a:pt x="397573" y="28575"/>
                </a:moveTo>
                <a:lnTo>
                  <a:pt x="368998" y="28575"/>
                </a:lnTo>
                <a:lnTo>
                  <a:pt x="368998" y="0"/>
                </a:lnTo>
                <a:lnTo>
                  <a:pt x="397573" y="0"/>
                </a:lnTo>
                <a:lnTo>
                  <a:pt x="397573" y="28575"/>
                </a:lnTo>
                <a:close/>
              </a:path>
              <a:path w="3206115" h="1217295">
                <a:moveTo>
                  <a:pt x="454723" y="28575"/>
                </a:moveTo>
                <a:lnTo>
                  <a:pt x="426148" y="28575"/>
                </a:lnTo>
                <a:lnTo>
                  <a:pt x="426148" y="0"/>
                </a:lnTo>
                <a:lnTo>
                  <a:pt x="454723" y="0"/>
                </a:lnTo>
                <a:lnTo>
                  <a:pt x="454723" y="28575"/>
                </a:lnTo>
                <a:close/>
              </a:path>
              <a:path w="3206115" h="1217295">
                <a:moveTo>
                  <a:pt x="511873" y="28575"/>
                </a:moveTo>
                <a:lnTo>
                  <a:pt x="483298" y="28575"/>
                </a:lnTo>
                <a:lnTo>
                  <a:pt x="483298" y="0"/>
                </a:lnTo>
                <a:lnTo>
                  <a:pt x="511873" y="0"/>
                </a:lnTo>
                <a:lnTo>
                  <a:pt x="511873" y="28575"/>
                </a:lnTo>
                <a:close/>
              </a:path>
              <a:path w="3206115" h="1217295">
                <a:moveTo>
                  <a:pt x="569023" y="28575"/>
                </a:moveTo>
                <a:lnTo>
                  <a:pt x="540448" y="28575"/>
                </a:lnTo>
                <a:lnTo>
                  <a:pt x="540448" y="0"/>
                </a:lnTo>
                <a:lnTo>
                  <a:pt x="569023" y="0"/>
                </a:lnTo>
                <a:lnTo>
                  <a:pt x="569023" y="28575"/>
                </a:lnTo>
                <a:close/>
              </a:path>
              <a:path w="3206115" h="1217295">
                <a:moveTo>
                  <a:pt x="626173" y="28575"/>
                </a:moveTo>
                <a:lnTo>
                  <a:pt x="597598" y="28575"/>
                </a:lnTo>
                <a:lnTo>
                  <a:pt x="597598" y="0"/>
                </a:lnTo>
                <a:lnTo>
                  <a:pt x="626173" y="0"/>
                </a:lnTo>
                <a:lnTo>
                  <a:pt x="626173" y="28575"/>
                </a:lnTo>
                <a:close/>
              </a:path>
              <a:path w="3206115" h="1217295">
                <a:moveTo>
                  <a:pt x="683323" y="28575"/>
                </a:moveTo>
                <a:lnTo>
                  <a:pt x="654748" y="28575"/>
                </a:lnTo>
                <a:lnTo>
                  <a:pt x="654748" y="0"/>
                </a:lnTo>
                <a:lnTo>
                  <a:pt x="683323" y="0"/>
                </a:lnTo>
                <a:lnTo>
                  <a:pt x="683323" y="28575"/>
                </a:lnTo>
                <a:close/>
              </a:path>
              <a:path w="3206115" h="1217295">
                <a:moveTo>
                  <a:pt x="740473" y="28575"/>
                </a:moveTo>
                <a:lnTo>
                  <a:pt x="711898" y="28575"/>
                </a:lnTo>
                <a:lnTo>
                  <a:pt x="711898" y="0"/>
                </a:lnTo>
                <a:lnTo>
                  <a:pt x="740473" y="0"/>
                </a:lnTo>
                <a:lnTo>
                  <a:pt x="740473" y="28575"/>
                </a:lnTo>
                <a:close/>
              </a:path>
              <a:path w="3206115" h="1217295">
                <a:moveTo>
                  <a:pt x="797623" y="28575"/>
                </a:moveTo>
                <a:lnTo>
                  <a:pt x="769048" y="28575"/>
                </a:lnTo>
                <a:lnTo>
                  <a:pt x="769048" y="0"/>
                </a:lnTo>
                <a:lnTo>
                  <a:pt x="797623" y="0"/>
                </a:lnTo>
                <a:lnTo>
                  <a:pt x="797623" y="28575"/>
                </a:lnTo>
                <a:close/>
              </a:path>
              <a:path w="3206115" h="1217295">
                <a:moveTo>
                  <a:pt x="854773" y="28575"/>
                </a:moveTo>
                <a:lnTo>
                  <a:pt x="826198" y="28575"/>
                </a:lnTo>
                <a:lnTo>
                  <a:pt x="826198" y="0"/>
                </a:lnTo>
                <a:lnTo>
                  <a:pt x="854773" y="0"/>
                </a:lnTo>
                <a:lnTo>
                  <a:pt x="854773" y="28575"/>
                </a:lnTo>
                <a:close/>
              </a:path>
              <a:path w="3206115" h="1217295">
                <a:moveTo>
                  <a:pt x="911923" y="28575"/>
                </a:moveTo>
                <a:lnTo>
                  <a:pt x="883348" y="28575"/>
                </a:lnTo>
                <a:lnTo>
                  <a:pt x="883348" y="0"/>
                </a:lnTo>
                <a:lnTo>
                  <a:pt x="911923" y="0"/>
                </a:lnTo>
                <a:lnTo>
                  <a:pt x="911923" y="28575"/>
                </a:lnTo>
                <a:close/>
              </a:path>
              <a:path w="3206115" h="1217295">
                <a:moveTo>
                  <a:pt x="969073" y="28575"/>
                </a:moveTo>
                <a:lnTo>
                  <a:pt x="940498" y="28575"/>
                </a:lnTo>
                <a:lnTo>
                  <a:pt x="940498" y="0"/>
                </a:lnTo>
                <a:lnTo>
                  <a:pt x="969073" y="0"/>
                </a:lnTo>
                <a:lnTo>
                  <a:pt x="969073" y="28575"/>
                </a:lnTo>
                <a:close/>
              </a:path>
              <a:path w="3206115" h="1217295">
                <a:moveTo>
                  <a:pt x="1026223" y="28575"/>
                </a:moveTo>
                <a:lnTo>
                  <a:pt x="997648" y="28575"/>
                </a:lnTo>
                <a:lnTo>
                  <a:pt x="997648" y="0"/>
                </a:lnTo>
                <a:lnTo>
                  <a:pt x="1026223" y="0"/>
                </a:lnTo>
                <a:lnTo>
                  <a:pt x="1026223" y="28575"/>
                </a:lnTo>
                <a:close/>
              </a:path>
              <a:path w="3206115" h="1217295">
                <a:moveTo>
                  <a:pt x="1083373" y="28575"/>
                </a:moveTo>
                <a:lnTo>
                  <a:pt x="1054798" y="28575"/>
                </a:lnTo>
                <a:lnTo>
                  <a:pt x="1054798" y="0"/>
                </a:lnTo>
                <a:lnTo>
                  <a:pt x="1083373" y="0"/>
                </a:lnTo>
                <a:lnTo>
                  <a:pt x="1083373" y="28575"/>
                </a:lnTo>
                <a:close/>
              </a:path>
              <a:path w="3206115" h="1217295">
                <a:moveTo>
                  <a:pt x="1140523" y="28575"/>
                </a:moveTo>
                <a:lnTo>
                  <a:pt x="1111948" y="28575"/>
                </a:lnTo>
                <a:lnTo>
                  <a:pt x="1111948" y="0"/>
                </a:lnTo>
                <a:lnTo>
                  <a:pt x="1140523" y="0"/>
                </a:lnTo>
                <a:lnTo>
                  <a:pt x="1140523" y="28575"/>
                </a:lnTo>
                <a:close/>
              </a:path>
              <a:path w="3206115" h="1217295">
                <a:moveTo>
                  <a:pt x="1197673" y="28575"/>
                </a:moveTo>
                <a:lnTo>
                  <a:pt x="1169098" y="28575"/>
                </a:lnTo>
                <a:lnTo>
                  <a:pt x="1169098" y="0"/>
                </a:lnTo>
                <a:lnTo>
                  <a:pt x="1197673" y="0"/>
                </a:lnTo>
                <a:lnTo>
                  <a:pt x="1197673" y="28575"/>
                </a:lnTo>
                <a:close/>
              </a:path>
              <a:path w="3206115" h="1217295">
                <a:moveTo>
                  <a:pt x="1254823" y="28575"/>
                </a:moveTo>
                <a:lnTo>
                  <a:pt x="1226248" y="28575"/>
                </a:lnTo>
                <a:lnTo>
                  <a:pt x="1226248" y="0"/>
                </a:lnTo>
                <a:lnTo>
                  <a:pt x="1254823" y="0"/>
                </a:lnTo>
                <a:lnTo>
                  <a:pt x="1254823" y="28575"/>
                </a:lnTo>
                <a:close/>
              </a:path>
              <a:path w="3206115" h="1217295">
                <a:moveTo>
                  <a:pt x="1311973" y="28575"/>
                </a:moveTo>
                <a:lnTo>
                  <a:pt x="1283398" y="28575"/>
                </a:lnTo>
                <a:lnTo>
                  <a:pt x="1283398" y="0"/>
                </a:lnTo>
                <a:lnTo>
                  <a:pt x="1311973" y="0"/>
                </a:lnTo>
                <a:lnTo>
                  <a:pt x="1311973" y="28575"/>
                </a:lnTo>
                <a:close/>
              </a:path>
              <a:path w="3206115" h="1217295">
                <a:moveTo>
                  <a:pt x="1369123" y="28575"/>
                </a:moveTo>
                <a:lnTo>
                  <a:pt x="1340548" y="28575"/>
                </a:lnTo>
                <a:lnTo>
                  <a:pt x="1340548" y="0"/>
                </a:lnTo>
                <a:lnTo>
                  <a:pt x="1369123" y="0"/>
                </a:lnTo>
                <a:lnTo>
                  <a:pt x="1369123" y="28575"/>
                </a:lnTo>
                <a:close/>
              </a:path>
              <a:path w="3206115" h="1217295">
                <a:moveTo>
                  <a:pt x="1426273" y="28575"/>
                </a:moveTo>
                <a:lnTo>
                  <a:pt x="1397698" y="28575"/>
                </a:lnTo>
                <a:lnTo>
                  <a:pt x="1397698" y="0"/>
                </a:lnTo>
                <a:lnTo>
                  <a:pt x="1426273" y="0"/>
                </a:lnTo>
                <a:lnTo>
                  <a:pt x="1426273" y="28575"/>
                </a:lnTo>
                <a:close/>
              </a:path>
              <a:path w="3206115" h="1217295">
                <a:moveTo>
                  <a:pt x="1483423" y="28575"/>
                </a:moveTo>
                <a:lnTo>
                  <a:pt x="1454848" y="28575"/>
                </a:lnTo>
                <a:lnTo>
                  <a:pt x="1454848" y="0"/>
                </a:lnTo>
                <a:lnTo>
                  <a:pt x="1483423" y="0"/>
                </a:lnTo>
                <a:lnTo>
                  <a:pt x="1483423" y="28575"/>
                </a:lnTo>
                <a:close/>
              </a:path>
              <a:path w="3206115" h="1217295">
                <a:moveTo>
                  <a:pt x="1540573" y="28575"/>
                </a:moveTo>
                <a:lnTo>
                  <a:pt x="1511998" y="28575"/>
                </a:lnTo>
                <a:lnTo>
                  <a:pt x="1511998" y="0"/>
                </a:lnTo>
                <a:lnTo>
                  <a:pt x="1540573" y="0"/>
                </a:lnTo>
                <a:lnTo>
                  <a:pt x="1540573" y="28575"/>
                </a:lnTo>
                <a:close/>
              </a:path>
              <a:path w="3206115" h="1217295">
                <a:moveTo>
                  <a:pt x="1597723" y="28575"/>
                </a:moveTo>
                <a:lnTo>
                  <a:pt x="1569148" y="28575"/>
                </a:lnTo>
                <a:lnTo>
                  <a:pt x="1569148" y="0"/>
                </a:lnTo>
                <a:lnTo>
                  <a:pt x="1597723" y="0"/>
                </a:lnTo>
                <a:lnTo>
                  <a:pt x="1597723" y="28575"/>
                </a:lnTo>
                <a:close/>
              </a:path>
              <a:path w="3206115" h="1217295">
                <a:moveTo>
                  <a:pt x="1654873" y="28575"/>
                </a:moveTo>
                <a:lnTo>
                  <a:pt x="1626298" y="28575"/>
                </a:lnTo>
                <a:lnTo>
                  <a:pt x="1626298" y="0"/>
                </a:lnTo>
                <a:lnTo>
                  <a:pt x="1654873" y="0"/>
                </a:lnTo>
                <a:lnTo>
                  <a:pt x="1654873" y="28575"/>
                </a:lnTo>
                <a:close/>
              </a:path>
              <a:path w="3206115" h="1217295">
                <a:moveTo>
                  <a:pt x="1712023" y="28575"/>
                </a:moveTo>
                <a:lnTo>
                  <a:pt x="1683448" y="28575"/>
                </a:lnTo>
                <a:lnTo>
                  <a:pt x="1683448" y="0"/>
                </a:lnTo>
                <a:lnTo>
                  <a:pt x="1712023" y="0"/>
                </a:lnTo>
                <a:lnTo>
                  <a:pt x="1712023" y="28575"/>
                </a:lnTo>
                <a:close/>
              </a:path>
              <a:path w="3206115" h="1217295">
                <a:moveTo>
                  <a:pt x="1769173" y="28575"/>
                </a:moveTo>
                <a:lnTo>
                  <a:pt x="1740598" y="28575"/>
                </a:lnTo>
                <a:lnTo>
                  <a:pt x="1740598" y="0"/>
                </a:lnTo>
                <a:lnTo>
                  <a:pt x="1769173" y="0"/>
                </a:lnTo>
                <a:lnTo>
                  <a:pt x="1769173" y="28575"/>
                </a:lnTo>
                <a:close/>
              </a:path>
              <a:path w="3206115" h="1217295">
                <a:moveTo>
                  <a:pt x="1826323" y="28575"/>
                </a:moveTo>
                <a:lnTo>
                  <a:pt x="1797748" y="28575"/>
                </a:lnTo>
                <a:lnTo>
                  <a:pt x="1797748" y="0"/>
                </a:lnTo>
                <a:lnTo>
                  <a:pt x="1826323" y="0"/>
                </a:lnTo>
                <a:lnTo>
                  <a:pt x="1826323" y="28575"/>
                </a:lnTo>
                <a:close/>
              </a:path>
              <a:path w="3206115" h="1217295">
                <a:moveTo>
                  <a:pt x="1883473" y="28575"/>
                </a:moveTo>
                <a:lnTo>
                  <a:pt x="1854898" y="28575"/>
                </a:lnTo>
                <a:lnTo>
                  <a:pt x="1854898" y="0"/>
                </a:lnTo>
                <a:lnTo>
                  <a:pt x="1883473" y="0"/>
                </a:lnTo>
                <a:lnTo>
                  <a:pt x="1883473" y="28575"/>
                </a:lnTo>
                <a:close/>
              </a:path>
              <a:path w="3206115" h="1217295">
                <a:moveTo>
                  <a:pt x="1940623" y="28575"/>
                </a:moveTo>
                <a:lnTo>
                  <a:pt x="1912048" y="28575"/>
                </a:lnTo>
                <a:lnTo>
                  <a:pt x="1912048" y="0"/>
                </a:lnTo>
                <a:lnTo>
                  <a:pt x="1940623" y="0"/>
                </a:lnTo>
                <a:lnTo>
                  <a:pt x="1940623" y="28575"/>
                </a:lnTo>
                <a:close/>
              </a:path>
              <a:path w="3206115" h="1217295">
                <a:moveTo>
                  <a:pt x="1997773" y="28575"/>
                </a:moveTo>
                <a:lnTo>
                  <a:pt x="1969198" y="28575"/>
                </a:lnTo>
                <a:lnTo>
                  <a:pt x="1969198" y="0"/>
                </a:lnTo>
                <a:lnTo>
                  <a:pt x="1997773" y="0"/>
                </a:lnTo>
                <a:lnTo>
                  <a:pt x="1997773" y="28575"/>
                </a:lnTo>
                <a:close/>
              </a:path>
              <a:path w="3206115" h="1217295">
                <a:moveTo>
                  <a:pt x="2054923" y="28575"/>
                </a:moveTo>
                <a:lnTo>
                  <a:pt x="2026348" y="28575"/>
                </a:lnTo>
                <a:lnTo>
                  <a:pt x="2026348" y="0"/>
                </a:lnTo>
                <a:lnTo>
                  <a:pt x="2054923" y="0"/>
                </a:lnTo>
                <a:lnTo>
                  <a:pt x="2054923" y="28575"/>
                </a:lnTo>
                <a:close/>
              </a:path>
              <a:path w="3206115" h="1217295">
                <a:moveTo>
                  <a:pt x="2112073" y="28575"/>
                </a:moveTo>
                <a:lnTo>
                  <a:pt x="2083498" y="28575"/>
                </a:lnTo>
                <a:lnTo>
                  <a:pt x="2083498" y="0"/>
                </a:lnTo>
                <a:lnTo>
                  <a:pt x="2112073" y="0"/>
                </a:lnTo>
                <a:lnTo>
                  <a:pt x="2112073" y="28575"/>
                </a:lnTo>
                <a:close/>
              </a:path>
              <a:path w="3206115" h="1217295">
                <a:moveTo>
                  <a:pt x="2169223" y="28575"/>
                </a:moveTo>
                <a:lnTo>
                  <a:pt x="2140648" y="28575"/>
                </a:lnTo>
                <a:lnTo>
                  <a:pt x="2140648" y="0"/>
                </a:lnTo>
                <a:lnTo>
                  <a:pt x="2169223" y="0"/>
                </a:lnTo>
                <a:lnTo>
                  <a:pt x="2169223" y="28575"/>
                </a:lnTo>
                <a:close/>
              </a:path>
              <a:path w="3206115" h="1217295">
                <a:moveTo>
                  <a:pt x="2226373" y="28575"/>
                </a:moveTo>
                <a:lnTo>
                  <a:pt x="2197798" y="28575"/>
                </a:lnTo>
                <a:lnTo>
                  <a:pt x="2197798" y="0"/>
                </a:lnTo>
                <a:lnTo>
                  <a:pt x="2226373" y="0"/>
                </a:lnTo>
                <a:lnTo>
                  <a:pt x="2226373" y="28575"/>
                </a:lnTo>
                <a:close/>
              </a:path>
              <a:path w="3206115" h="1217295">
                <a:moveTo>
                  <a:pt x="2283523" y="28575"/>
                </a:moveTo>
                <a:lnTo>
                  <a:pt x="2254948" y="28575"/>
                </a:lnTo>
                <a:lnTo>
                  <a:pt x="2254948" y="0"/>
                </a:lnTo>
                <a:lnTo>
                  <a:pt x="2283523" y="0"/>
                </a:lnTo>
                <a:lnTo>
                  <a:pt x="2283523" y="28575"/>
                </a:lnTo>
                <a:close/>
              </a:path>
              <a:path w="3206115" h="1217295">
                <a:moveTo>
                  <a:pt x="2340673" y="28575"/>
                </a:moveTo>
                <a:lnTo>
                  <a:pt x="2312098" y="28575"/>
                </a:lnTo>
                <a:lnTo>
                  <a:pt x="2312098" y="0"/>
                </a:lnTo>
                <a:lnTo>
                  <a:pt x="2340673" y="0"/>
                </a:lnTo>
                <a:lnTo>
                  <a:pt x="2340673" y="28575"/>
                </a:lnTo>
                <a:close/>
              </a:path>
              <a:path w="3206115" h="1217295">
                <a:moveTo>
                  <a:pt x="2397823" y="28575"/>
                </a:moveTo>
                <a:lnTo>
                  <a:pt x="2369248" y="28575"/>
                </a:lnTo>
                <a:lnTo>
                  <a:pt x="2369248" y="0"/>
                </a:lnTo>
                <a:lnTo>
                  <a:pt x="2397823" y="0"/>
                </a:lnTo>
                <a:lnTo>
                  <a:pt x="2397823" y="28575"/>
                </a:lnTo>
                <a:close/>
              </a:path>
              <a:path w="3206115" h="1217295">
                <a:moveTo>
                  <a:pt x="2454973" y="28575"/>
                </a:moveTo>
                <a:lnTo>
                  <a:pt x="2426398" y="28575"/>
                </a:lnTo>
                <a:lnTo>
                  <a:pt x="2426398" y="0"/>
                </a:lnTo>
                <a:lnTo>
                  <a:pt x="2454973" y="0"/>
                </a:lnTo>
                <a:lnTo>
                  <a:pt x="2454973" y="28575"/>
                </a:lnTo>
                <a:close/>
              </a:path>
              <a:path w="3206115" h="1217295">
                <a:moveTo>
                  <a:pt x="2512123" y="28575"/>
                </a:moveTo>
                <a:lnTo>
                  <a:pt x="2483548" y="28575"/>
                </a:lnTo>
                <a:lnTo>
                  <a:pt x="2483548" y="0"/>
                </a:lnTo>
                <a:lnTo>
                  <a:pt x="2512123" y="0"/>
                </a:lnTo>
                <a:lnTo>
                  <a:pt x="2512123" y="28575"/>
                </a:lnTo>
                <a:close/>
              </a:path>
              <a:path w="3206115" h="1217295">
                <a:moveTo>
                  <a:pt x="2569273" y="28575"/>
                </a:moveTo>
                <a:lnTo>
                  <a:pt x="2540698" y="28575"/>
                </a:lnTo>
                <a:lnTo>
                  <a:pt x="2540698" y="0"/>
                </a:lnTo>
                <a:lnTo>
                  <a:pt x="2569273" y="0"/>
                </a:lnTo>
                <a:lnTo>
                  <a:pt x="2569273" y="28575"/>
                </a:lnTo>
                <a:close/>
              </a:path>
              <a:path w="3206115" h="1217295">
                <a:moveTo>
                  <a:pt x="2626423" y="28575"/>
                </a:moveTo>
                <a:lnTo>
                  <a:pt x="2597848" y="28575"/>
                </a:lnTo>
                <a:lnTo>
                  <a:pt x="2597848" y="0"/>
                </a:lnTo>
                <a:lnTo>
                  <a:pt x="2626423" y="0"/>
                </a:lnTo>
                <a:lnTo>
                  <a:pt x="2626423" y="28575"/>
                </a:lnTo>
                <a:close/>
              </a:path>
              <a:path w="3206115" h="1217295">
                <a:moveTo>
                  <a:pt x="2683573" y="28575"/>
                </a:moveTo>
                <a:lnTo>
                  <a:pt x="2654998" y="28575"/>
                </a:lnTo>
                <a:lnTo>
                  <a:pt x="2654998" y="0"/>
                </a:lnTo>
                <a:lnTo>
                  <a:pt x="2683573" y="0"/>
                </a:lnTo>
                <a:lnTo>
                  <a:pt x="2683573" y="28575"/>
                </a:lnTo>
                <a:close/>
              </a:path>
              <a:path w="3206115" h="1217295">
                <a:moveTo>
                  <a:pt x="2740723" y="28575"/>
                </a:moveTo>
                <a:lnTo>
                  <a:pt x="2712148" y="28575"/>
                </a:lnTo>
                <a:lnTo>
                  <a:pt x="2712148" y="0"/>
                </a:lnTo>
                <a:lnTo>
                  <a:pt x="2740723" y="0"/>
                </a:lnTo>
                <a:lnTo>
                  <a:pt x="2740723" y="28575"/>
                </a:lnTo>
                <a:close/>
              </a:path>
              <a:path w="3206115" h="1217295">
                <a:moveTo>
                  <a:pt x="2797873" y="28575"/>
                </a:moveTo>
                <a:lnTo>
                  <a:pt x="2769298" y="28575"/>
                </a:lnTo>
                <a:lnTo>
                  <a:pt x="2769298" y="0"/>
                </a:lnTo>
                <a:lnTo>
                  <a:pt x="2797873" y="0"/>
                </a:lnTo>
                <a:lnTo>
                  <a:pt x="2797873" y="28575"/>
                </a:lnTo>
                <a:close/>
              </a:path>
              <a:path w="3206115" h="1217295">
                <a:moveTo>
                  <a:pt x="2855023" y="28575"/>
                </a:moveTo>
                <a:lnTo>
                  <a:pt x="2826448" y="28575"/>
                </a:lnTo>
                <a:lnTo>
                  <a:pt x="2826448" y="0"/>
                </a:lnTo>
                <a:lnTo>
                  <a:pt x="2855023" y="0"/>
                </a:lnTo>
                <a:lnTo>
                  <a:pt x="2855023" y="28575"/>
                </a:lnTo>
                <a:close/>
              </a:path>
              <a:path w="3206115" h="1217295">
                <a:moveTo>
                  <a:pt x="2912173" y="28575"/>
                </a:moveTo>
                <a:lnTo>
                  <a:pt x="2883598" y="28575"/>
                </a:lnTo>
                <a:lnTo>
                  <a:pt x="2883598" y="0"/>
                </a:lnTo>
                <a:lnTo>
                  <a:pt x="2912173" y="0"/>
                </a:lnTo>
                <a:lnTo>
                  <a:pt x="2912173" y="28575"/>
                </a:lnTo>
                <a:close/>
              </a:path>
              <a:path w="3206115" h="1217295">
                <a:moveTo>
                  <a:pt x="2969323" y="28575"/>
                </a:moveTo>
                <a:lnTo>
                  <a:pt x="2940748" y="28575"/>
                </a:lnTo>
                <a:lnTo>
                  <a:pt x="2940748" y="0"/>
                </a:lnTo>
                <a:lnTo>
                  <a:pt x="2969323" y="0"/>
                </a:lnTo>
                <a:lnTo>
                  <a:pt x="2969323" y="28575"/>
                </a:lnTo>
                <a:close/>
              </a:path>
              <a:path w="3206115" h="1217295">
                <a:moveTo>
                  <a:pt x="3026473" y="28575"/>
                </a:moveTo>
                <a:lnTo>
                  <a:pt x="2997898" y="28575"/>
                </a:lnTo>
                <a:lnTo>
                  <a:pt x="2997898" y="0"/>
                </a:lnTo>
                <a:lnTo>
                  <a:pt x="3026473" y="0"/>
                </a:lnTo>
                <a:lnTo>
                  <a:pt x="3026473" y="28575"/>
                </a:lnTo>
                <a:close/>
              </a:path>
              <a:path w="3206115" h="1217295">
                <a:moveTo>
                  <a:pt x="3083623" y="28575"/>
                </a:moveTo>
                <a:lnTo>
                  <a:pt x="3055048" y="28575"/>
                </a:lnTo>
                <a:lnTo>
                  <a:pt x="3055048" y="0"/>
                </a:lnTo>
                <a:lnTo>
                  <a:pt x="3083623" y="0"/>
                </a:lnTo>
                <a:lnTo>
                  <a:pt x="3083623" y="28575"/>
                </a:lnTo>
                <a:close/>
              </a:path>
              <a:path w="3206115" h="1217295">
                <a:moveTo>
                  <a:pt x="3140773" y="28575"/>
                </a:moveTo>
                <a:lnTo>
                  <a:pt x="3112198" y="28575"/>
                </a:lnTo>
                <a:lnTo>
                  <a:pt x="3112198" y="0"/>
                </a:lnTo>
                <a:lnTo>
                  <a:pt x="3140773" y="0"/>
                </a:lnTo>
                <a:lnTo>
                  <a:pt x="3140773" y="28575"/>
                </a:lnTo>
                <a:close/>
              </a:path>
              <a:path w="3206115" h="1217295">
                <a:moveTo>
                  <a:pt x="3177158" y="28575"/>
                </a:moveTo>
                <a:lnTo>
                  <a:pt x="3169348" y="28575"/>
                </a:lnTo>
                <a:lnTo>
                  <a:pt x="3169348" y="0"/>
                </a:lnTo>
                <a:lnTo>
                  <a:pt x="3205733" y="0"/>
                </a:lnTo>
                <a:lnTo>
                  <a:pt x="3205733" y="14287"/>
                </a:lnTo>
                <a:lnTo>
                  <a:pt x="3177158" y="14287"/>
                </a:lnTo>
                <a:lnTo>
                  <a:pt x="3177158" y="28575"/>
                </a:lnTo>
                <a:close/>
              </a:path>
              <a:path w="3206115" h="1217295">
                <a:moveTo>
                  <a:pt x="3191446" y="28575"/>
                </a:moveTo>
                <a:lnTo>
                  <a:pt x="3177158" y="28575"/>
                </a:lnTo>
                <a:lnTo>
                  <a:pt x="3177158" y="14287"/>
                </a:lnTo>
                <a:lnTo>
                  <a:pt x="3191446" y="28575"/>
                </a:lnTo>
                <a:close/>
              </a:path>
              <a:path w="3206115" h="1217295">
                <a:moveTo>
                  <a:pt x="3205733" y="20764"/>
                </a:moveTo>
                <a:lnTo>
                  <a:pt x="3183635" y="20764"/>
                </a:lnTo>
                <a:lnTo>
                  <a:pt x="3177158" y="14287"/>
                </a:lnTo>
                <a:lnTo>
                  <a:pt x="3205733" y="14287"/>
                </a:lnTo>
                <a:lnTo>
                  <a:pt x="3205733" y="20764"/>
                </a:lnTo>
                <a:close/>
              </a:path>
              <a:path w="3206115" h="1217295">
                <a:moveTo>
                  <a:pt x="3205733" y="77914"/>
                </a:moveTo>
                <a:lnTo>
                  <a:pt x="3177158" y="77914"/>
                </a:lnTo>
                <a:lnTo>
                  <a:pt x="3177158" y="49339"/>
                </a:lnTo>
                <a:lnTo>
                  <a:pt x="3205733" y="49339"/>
                </a:lnTo>
                <a:lnTo>
                  <a:pt x="3205733" y="77914"/>
                </a:lnTo>
                <a:close/>
              </a:path>
              <a:path w="3206115" h="1217295">
                <a:moveTo>
                  <a:pt x="3205733" y="135064"/>
                </a:moveTo>
                <a:lnTo>
                  <a:pt x="3177158" y="135064"/>
                </a:lnTo>
                <a:lnTo>
                  <a:pt x="3177158" y="106489"/>
                </a:lnTo>
                <a:lnTo>
                  <a:pt x="3205733" y="106489"/>
                </a:lnTo>
                <a:lnTo>
                  <a:pt x="3205733" y="135064"/>
                </a:lnTo>
                <a:close/>
              </a:path>
              <a:path w="3206115" h="1217295">
                <a:moveTo>
                  <a:pt x="3205733" y="192214"/>
                </a:moveTo>
                <a:lnTo>
                  <a:pt x="3177158" y="192214"/>
                </a:lnTo>
                <a:lnTo>
                  <a:pt x="3177158" y="163639"/>
                </a:lnTo>
                <a:lnTo>
                  <a:pt x="3205733" y="163639"/>
                </a:lnTo>
                <a:lnTo>
                  <a:pt x="3205733" y="192214"/>
                </a:lnTo>
                <a:close/>
              </a:path>
              <a:path w="3206115" h="1217295">
                <a:moveTo>
                  <a:pt x="3205733" y="249364"/>
                </a:moveTo>
                <a:lnTo>
                  <a:pt x="3177158" y="249364"/>
                </a:lnTo>
                <a:lnTo>
                  <a:pt x="3177158" y="220789"/>
                </a:lnTo>
                <a:lnTo>
                  <a:pt x="3205733" y="220789"/>
                </a:lnTo>
                <a:lnTo>
                  <a:pt x="3205733" y="249364"/>
                </a:lnTo>
                <a:close/>
              </a:path>
              <a:path w="3206115" h="1217295">
                <a:moveTo>
                  <a:pt x="3205733" y="306514"/>
                </a:moveTo>
                <a:lnTo>
                  <a:pt x="3177158" y="306514"/>
                </a:lnTo>
                <a:lnTo>
                  <a:pt x="3177158" y="277939"/>
                </a:lnTo>
                <a:lnTo>
                  <a:pt x="3205733" y="277939"/>
                </a:lnTo>
                <a:lnTo>
                  <a:pt x="3205733" y="306514"/>
                </a:lnTo>
                <a:close/>
              </a:path>
              <a:path w="3206115" h="1217295">
                <a:moveTo>
                  <a:pt x="3205733" y="363664"/>
                </a:moveTo>
                <a:lnTo>
                  <a:pt x="3177158" y="363664"/>
                </a:lnTo>
                <a:lnTo>
                  <a:pt x="3177158" y="335089"/>
                </a:lnTo>
                <a:lnTo>
                  <a:pt x="3205733" y="335089"/>
                </a:lnTo>
                <a:lnTo>
                  <a:pt x="3205733" y="363664"/>
                </a:lnTo>
                <a:close/>
              </a:path>
              <a:path w="3206115" h="1217295">
                <a:moveTo>
                  <a:pt x="3205733" y="420814"/>
                </a:moveTo>
                <a:lnTo>
                  <a:pt x="3177158" y="420814"/>
                </a:lnTo>
                <a:lnTo>
                  <a:pt x="3177158" y="392239"/>
                </a:lnTo>
                <a:lnTo>
                  <a:pt x="3205733" y="392239"/>
                </a:lnTo>
                <a:lnTo>
                  <a:pt x="3205733" y="420814"/>
                </a:lnTo>
                <a:close/>
              </a:path>
              <a:path w="3206115" h="1217295">
                <a:moveTo>
                  <a:pt x="3205733" y="477964"/>
                </a:moveTo>
                <a:lnTo>
                  <a:pt x="3177158" y="477964"/>
                </a:lnTo>
                <a:lnTo>
                  <a:pt x="3177158" y="449389"/>
                </a:lnTo>
                <a:lnTo>
                  <a:pt x="3205733" y="449389"/>
                </a:lnTo>
                <a:lnTo>
                  <a:pt x="3205733" y="477964"/>
                </a:lnTo>
                <a:close/>
              </a:path>
              <a:path w="3206115" h="1217295">
                <a:moveTo>
                  <a:pt x="3205733" y="535114"/>
                </a:moveTo>
                <a:lnTo>
                  <a:pt x="3177158" y="535114"/>
                </a:lnTo>
                <a:lnTo>
                  <a:pt x="3177158" y="506539"/>
                </a:lnTo>
                <a:lnTo>
                  <a:pt x="3205733" y="506539"/>
                </a:lnTo>
                <a:lnTo>
                  <a:pt x="3205733" y="535114"/>
                </a:lnTo>
                <a:close/>
              </a:path>
              <a:path w="3206115" h="1217295">
                <a:moveTo>
                  <a:pt x="3205733" y="592264"/>
                </a:moveTo>
                <a:lnTo>
                  <a:pt x="3177158" y="592264"/>
                </a:lnTo>
                <a:lnTo>
                  <a:pt x="3177158" y="563689"/>
                </a:lnTo>
                <a:lnTo>
                  <a:pt x="3205733" y="563689"/>
                </a:lnTo>
                <a:lnTo>
                  <a:pt x="3205733" y="592264"/>
                </a:lnTo>
                <a:close/>
              </a:path>
              <a:path w="3206115" h="1217295">
                <a:moveTo>
                  <a:pt x="3205733" y="649414"/>
                </a:moveTo>
                <a:lnTo>
                  <a:pt x="3177158" y="649414"/>
                </a:lnTo>
                <a:lnTo>
                  <a:pt x="3177158" y="620839"/>
                </a:lnTo>
                <a:lnTo>
                  <a:pt x="3205733" y="620839"/>
                </a:lnTo>
                <a:lnTo>
                  <a:pt x="3205733" y="649414"/>
                </a:lnTo>
                <a:close/>
              </a:path>
              <a:path w="3206115" h="1217295">
                <a:moveTo>
                  <a:pt x="3205733" y="706564"/>
                </a:moveTo>
                <a:lnTo>
                  <a:pt x="3177158" y="706564"/>
                </a:lnTo>
                <a:lnTo>
                  <a:pt x="3177158" y="677989"/>
                </a:lnTo>
                <a:lnTo>
                  <a:pt x="3205733" y="677989"/>
                </a:lnTo>
                <a:lnTo>
                  <a:pt x="3205733" y="706564"/>
                </a:lnTo>
                <a:close/>
              </a:path>
              <a:path w="3206115" h="1217295">
                <a:moveTo>
                  <a:pt x="3205733" y="763714"/>
                </a:moveTo>
                <a:lnTo>
                  <a:pt x="3177158" y="763714"/>
                </a:lnTo>
                <a:lnTo>
                  <a:pt x="3177158" y="735139"/>
                </a:lnTo>
                <a:lnTo>
                  <a:pt x="3205733" y="735139"/>
                </a:lnTo>
                <a:lnTo>
                  <a:pt x="3205733" y="763714"/>
                </a:lnTo>
                <a:close/>
              </a:path>
              <a:path w="3206115" h="1217295">
                <a:moveTo>
                  <a:pt x="3205733" y="820864"/>
                </a:moveTo>
                <a:lnTo>
                  <a:pt x="3177158" y="820864"/>
                </a:lnTo>
                <a:lnTo>
                  <a:pt x="3177158" y="792289"/>
                </a:lnTo>
                <a:lnTo>
                  <a:pt x="3205733" y="792289"/>
                </a:lnTo>
                <a:lnTo>
                  <a:pt x="3205733" y="820864"/>
                </a:lnTo>
                <a:close/>
              </a:path>
              <a:path w="3206115" h="1217295">
                <a:moveTo>
                  <a:pt x="3205733" y="878014"/>
                </a:moveTo>
                <a:lnTo>
                  <a:pt x="3177158" y="878014"/>
                </a:lnTo>
                <a:lnTo>
                  <a:pt x="3177158" y="849439"/>
                </a:lnTo>
                <a:lnTo>
                  <a:pt x="3205733" y="849439"/>
                </a:lnTo>
                <a:lnTo>
                  <a:pt x="3205733" y="878014"/>
                </a:lnTo>
                <a:close/>
              </a:path>
              <a:path w="3206115" h="1217295">
                <a:moveTo>
                  <a:pt x="3205733" y="935164"/>
                </a:moveTo>
                <a:lnTo>
                  <a:pt x="3177158" y="935164"/>
                </a:lnTo>
                <a:lnTo>
                  <a:pt x="3177158" y="906589"/>
                </a:lnTo>
                <a:lnTo>
                  <a:pt x="3205733" y="906589"/>
                </a:lnTo>
                <a:lnTo>
                  <a:pt x="3205733" y="935164"/>
                </a:lnTo>
                <a:close/>
              </a:path>
              <a:path w="3206115" h="1217295">
                <a:moveTo>
                  <a:pt x="3205733" y="992314"/>
                </a:moveTo>
                <a:lnTo>
                  <a:pt x="3177158" y="992314"/>
                </a:lnTo>
                <a:lnTo>
                  <a:pt x="3177158" y="963739"/>
                </a:lnTo>
                <a:lnTo>
                  <a:pt x="3205733" y="963739"/>
                </a:lnTo>
                <a:lnTo>
                  <a:pt x="3205733" y="992314"/>
                </a:lnTo>
                <a:close/>
              </a:path>
              <a:path w="3206115" h="1217295">
                <a:moveTo>
                  <a:pt x="3205733" y="1049464"/>
                </a:moveTo>
                <a:lnTo>
                  <a:pt x="3177158" y="1049464"/>
                </a:lnTo>
                <a:lnTo>
                  <a:pt x="3177158" y="1020889"/>
                </a:lnTo>
                <a:lnTo>
                  <a:pt x="3205733" y="1020889"/>
                </a:lnTo>
                <a:lnTo>
                  <a:pt x="3205733" y="1049464"/>
                </a:lnTo>
                <a:close/>
              </a:path>
              <a:path w="3206115" h="1217295">
                <a:moveTo>
                  <a:pt x="3205733" y="1106614"/>
                </a:moveTo>
                <a:lnTo>
                  <a:pt x="3177158" y="1106614"/>
                </a:lnTo>
                <a:lnTo>
                  <a:pt x="3177158" y="1078039"/>
                </a:lnTo>
                <a:lnTo>
                  <a:pt x="3205733" y="1078039"/>
                </a:lnTo>
                <a:lnTo>
                  <a:pt x="3205733" y="1106614"/>
                </a:lnTo>
                <a:close/>
              </a:path>
              <a:path w="3206115" h="1217295">
                <a:moveTo>
                  <a:pt x="3205733" y="1163764"/>
                </a:moveTo>
                <a:lnTo>
                  <a:pt x="3177158" y="1163764"/>
                </a:lnTo>
                <a:lnTo>
                  <a:pt x="3177158" y="1135189"/>
                </a:lnTo>
                <a:lnTo>
                  <a:pt x="3205733" y="1135189"/>
                </a:lnTo>
                <a:lnTo>
                  <a:pt x="3205733" y="1163764"/>
                </a:lnTo>
                <a:close/>
              </a:path>
              <a:path w="3206115" h="1217295">
                <a:moveTo>
                  <a:pt x="3205733" y="1216914"/>
                </a:moveTo>
                <a:lnTo>
                  <a:pt x="3173158" y="1216914"/>
                </a:lnTo>
                <a:lnTo>
                  <a:pt x="3173158" y="1188339"/>
                </a:lnTo>
                <a:lnTo>
                  <a:pt x="3177158" y="1188339"/>
                </a:lnTo>
                <a:lnTo>
                  <a:pt x="3177158" y="1202626"/>
                </a:lnTo>
                <a:lnTo>
                  <a:pt x="3205733" y="1202626"/>
                </a:lnTo>
                <a:lnTo>
                  <a:pt x="3205733" y="1216914"/>
                </a:lnTo>
                <a:close/>
              </a:path>
              <a:path w="3206115" h="1217295">
                <a:moveTo>
                  <a:pt x="3177158" y="1202626"/>
                </a:moveTo>
                <a:lnTo>
                  <a:pt x="3177158" y="1188339"/>
                </a:lnTo>
                <a:lnTo>
                  <a:pt x="3191446" y="1188339"/>
                </a:lnTo>
                <a:lnTo>
                  <a:pt x="3177158" y="1202626"/>
                </a:lnTo>
                <a:close/>
              </a:path>
              <a:path w="3206115" h="1217295">
                <a:moveTo>
                  <a:pt x="3205733" y="1202626"/>
                </a:moveTo>
                <a:lnTo>
                  <a:pt x="3177158" y="1202626"/>
                </a:lnTo>
                <a:lnTo>
                  <a:pt x="3187445" y="1192339"/>
                </a:lnTo>
                <a:lnTo>
                  <a:pt x="3205733" y="1192339"/>
                </a:lnTo>
                <a:lnTo>
                  <a:pt x="3205733" y="1202626"/>
                </a:lnTo>
                <a:close/>
              </a:path>
              <a:path w="3206115" h="1217295">
                <a:moveTo>
                  <a:pt x="3144583" y="1216914"/>
                </a:moveTo>
                <a:lnTo>
                  <a:pt x="3116008" y="1216914"/>
                </a:lnTo>
                <a:lnTo>
                  <a:pt x="3116008" y="1188339"/>
                </a:lnTo>
                <a:lnTo>
                  <a:pt x="3144583" y="1188339"/>
                </a:lnTo>
                <a:lnTo>
                  <a:pt x="3144583" y="1216914"/>
                </a:lnTo>
                <a:close/>
              </a:path>
              <a:path w="3206115" h="1217295">
                <a:moveTo>
                  <a:pt x="3087433" y="1216914"/>
                </a:moveTo>
                <a:lnTo>
                  <a:pt x="3058858" y="1216914"/>
                </a:lnTo>
                <a:lnTo>
                  <a:pt x="3058858" y="1188339"/>
                </a:lnTo>
                <a:lnTo>
                  <a:pt x="3087433" y="1188339"/>
                </a:lnTo>
                <a:lnTo>
                  <a:pt x="3087433" y="1216914"/>
                </a:lnTo>
                <a:close/>
              </a:path>
              <a:path w="3206115" h="1217295">
                <a:moveTo>
                  <a:pt x="3030283" y="1216914"/>
                </a:moveTo>
                <a:lnTo>
                  <a:pt x="3001708" y="1216914"/>
                </a:lnTo>
                <a:lnTo>
                  <a:pt x="3001708" y="1188339"/>
                </a:lnTo>
                <a:lnTo>
                  <a:pt x="3030283" y="1188339"/>
                </a:lnTo>
                <a:lnTo>
                  <a:pt x="3030283" y="1216914"/>
                </a:lnTo>
                <a:close/>
              </a:path>
              <a:path w="3206115" h="1217295">
                <a:moveTo>
                  <a:pt x="2973133" y="1216914"/>
                </a:moveTo>
                <a:lnTo>
                  <a:pt x="2944558" y="1216914"/>
                </a:lnTo>
                <a:lnTo>
                  <a:pt x="2944558" y="1188339"/>
                </a:lnTo>
                <a:lnTo>
                  <a:pt x="2973133" y="1188339"/>
                </a:lnTo>
                <a:lnTo>
                  <a:pt x="2973133" y="1216914"/>
                </a:lnTo>
                <a:close/>
              </a:path>
              <a:path w="3206115" h="1217295">
                <a:moveTo>
                  <a:pt x="2915983" y="1216914"/>
                </a:moveTo>
                <a:lnTo>
                  <a:pt x="2887408" y="1216914"/>
                </a:lnTo>
                <a:lnTo>
                  <a:pt x="2887408" y="1188339"/>
                </a:lnTo>
                <a:lnTo>
                  <a:pt x="2915983" y="1188339"/>
                </a:lnTo>
                <a:lnTo>
                  <a:pt x="2915983" y="1216914"/>
                </a:lnTo>
                <a:close/>
              </a:path>
              <a:path w="3206115" h="1217295">
                <a:moveTo>
                  <a:pt x="2858833" y="1216914"/>
                </a:moveTo>
                <a:lnTo>
                  <a:pt x="2830258" y="1216914"/>
                </a:lnTo>
                <a:lnTo>
                  <a:pt x="2830258" y="1188339"/>
                </a:lnTo>
                <a:lnTo>
                  <a:pt x="2858833" y="1188339"/>
                </a:lnTo>
                <a:lnTo>
                  <a:pt x="2858833" y="1216914"/>
                </a:lnTo>
                <a:close/>
              </a:path>
              <a:path w="3206115" h="1217295">
                <a:moveTo>
                  <a:pt x="2801683" y="1216914"/>
                </a:moveTo>
                <a:lnTo>
                  <a:pt x="2773108" y="1216914"/>
                </a:lnTo>
                <a:lnTo>
                  <a:pt x="2773108" y="1188339"/>
                </a:lnTo>
                <a:lnTo>
                  <a:pt x="2801683" y="1188339"/>
                </a:lnTo>
                <a:lnTo>
                  <a:pt x="2801683" y="1216914"/>
                </a:lnTo>
                <a:close/>
              </a:path>
              <a:path w="3206115" h="1217295">
                <a:moveTo>
                  <a:pt x="2744533" y="1216914"/>
                </a:moveTo>
                <a:lnTo>
                  <a:pt x="2715958" y="1216914"/>
                </a:lnTo>
                <a:lnTo>
                  <a:pt x="2715958" y="1188339"/>
                </a:lnTo>
                <a:lnTo>
                  <a:pt x="2744533" y="1188339"/>
                </a:lnTo>
                <a:lnTo>
                  <a:pt x="2744533" y="1216914"/>
                </a:lnTo>
                <a:close/>
              </a:path>
              <a:path w="3206115" h="1217295">
                <a:moveTo>
                  <a:pt x="2687383" y="1216914"/>
                </a:moveTo>
                <a:lnTo>
                  <a:pt x="2658808" y="1216914"/>
                </a:lnTo>
                <a:lnTo>
                  <a:pt x="2658808" y="1188339"/>
                </a:lnTo>
                <a:lnTo>
                  <a:pt x="2687383" y="1188339"/>
                </a:lnTo>
                <a:lnTo>
                  <a:pt x="2687383" y="1216914"/>
                </a:lnTo>
                <a:close/>
              </a:path>
              <a:path w="3206115" h="1217295">
                <a:moveTo>
                  <a:pt x="2630233" y="1216914"/>
                </a:moveTo>
                <a:lnTo>
                  <a:pt x="2601658" y="1216914"/>
                </a:lnTo>
                <a:lnTo>
                  <a:pt x="2601658" y="1188339"/>
                </a:lnTo>
                <a:lnTo>
                  <a:pt x="2630233" y="1188339"/>
                </a:lnTo>
                <a:lnTo>
                  <a:pt x="2630233" y="1216914"/>
                </a:lnTo>
                <a:close/>
              </a:path>
              <a:path w="3206115" h="1217295">
                <a:moveTo>
                  <a:pt x="2573083" y="1216914"/>
                </a:moveTo>
                <a:lnTo>
                  <a:pt x="2544508" y="1216914"/>
                </a:lnTo>
                <a:lnTo>
                  <a:pt x="2544508" y="1188339"/>
                </a:lnTo>
                <a:lnTo>
                  <a:pt x="2573083" y="1188339"/>
                </a:lnTo>
                <a:lnTo>
                  <a:pt x="2573083" y="1216914"/>
                </a:lnTo>
                <a:close/>
              </a:path>
              <a:path w="3206115" h="1217295">
                <a:moveTo>
                  <a:pt x="2515933" y="1216914"/>
                </a:moveTo>
                <a:lnTo>
                  <a:pt x="2487358" y="1216914"/>
                </a:lnTo>
                <a:lnTo>
                  <a:pt x="2487358" y="1188339"/>
                </a:lnTo>
                <a:lnTo>
                  <a:pt x="2515933" y="1188339"/>
                </a:lnTo>
                <a:lnTo>
                  <a:pt x="2515933" y="1216914"/>
                </a:lnTo>
                <a:close/>
              </a:path>
              <a:path w="3206115" h="1217295">
                <a:moveTo>
                  <a:pt x="2458783" y="1216914"/>
                </a:moveTo>
                <a:lnTo>
                  <a:pt x="2430208" y="1216914"/>
                </a:lnTo>
                <a:lnTo>
                  <a:pt x="2430208" y="1188339"/>
                </a:lnTo>
                <a:lnTo>
                  <a:pt x="2458783" y="1188339"/>
                </a:lnTo>
                <a:lnTo>
                  <a:pt x="2458783" y="1216914"/>
                </a:lnTo>
                <a:close/>
              </a:path>
              <a:path w="3206115" h="1217295">
                <a:moveTo>
                  <a:pt x="2401633" y="1216914"/>
                </a:moveTo>
                <a:lnTo>
                  <a:pt x="2373058" y="1216914"/>
                </a:lnTo>
                <a:lnTo>
                  <a:pt x="2373058" y="1188339"/>
                </a:lnTo>
                <a:lnTo>
                  <a:pt x="2401633" y="1188339"/>
                </a:lnTo>
                <a:lnTo>
                  <a:pt x="2401633" y="1216914"/>
                </a:lnTo>
                <a:close/>
              </a:path>
              <a:path w="3206115" h="1217295">
                <a:moveTo>
                  <a:pt x="2344483" y="1216914"/>
                </a:moveTo>
                <a:lnTo>
                  <a:pt x="2315908" y="1216914"/>
                </a:lnTo>
                <a:lnTo>
                  <a:pt x="2315908" y="1188339"/>
                </a:lnTo>
                <a:lnTo>
                  <a:pt x="2344483" y="1188339"/>
                </a:lnTo>
                <a:lnTo>
                  <a:pt x="2344483" y="1216914"/>
                </a:lnTo>
                <a:close/>
              </a:path>
              <a:path w="3206115" h="1217295">
                <a:moveTo>
                  <a:pt x="2287333" y="1216914"/>
                </a:moveTo>
                <a:lnTo>
                  <a:pt x="2258758" y="1216914"/>
                </a:lnTo>
                <a:lnTo>
                  <a:pt x="2258758" y="1188339"/>
                </a:lnTo>
                <a:lnTo>
                  <a:pt x="2287333" y="1188339"/>
                </a:lnTo>
                <a:lnTo>
                  <a:pt x="2287333" y="1216914"/>
                </a:lnTo>
                <a:close/>
              </a:path>
              <a:path w="3206115" h="1217295">
                <a:moveTo>
                  <a:pt x="2230183" y="1216914"/>
                </a:moveTo>
                <a:lnTo>
                  <a:pt x="2201608" y="1216914"/>
                </a:lnTo>
                <a:lnTo>
                  <a:pt x="2201608" y="1188339"/>
                </a:lnTo>
                <a:lnTo>
                  <a:pt x="2230183" y="1188339"/>
                </a:lnTo>
                <a:lnTo>
                  <a:pt x="2230183" y="1216914"/>
                </a:lnTo>
                <a:close/>
              </a:path>
              <a:path w="3206115" h="1217295">
                <a:moveTo>
                  <a:pt x="2173033" y="1216914"/>
                </a:moveTo>
                <a:lnTo>
                  <a:pt x="2144458" y="1216914"/>
                </a:lnTo>
                <a:lnTo>
                  <a:pt x="2144458" y="1188339"/>
                </a:lnTo>
                <a:lnTo>
                  <a:pt x="2173033" y="1188339"/>
                </a:lnTo>
                <a:lnTo>
                  <a:pt x="2173033" y="1216914"/>
                </a:lnTo>
                <a:close/>
              </a:path>
              <a:path w="3206115" h="1217295">
                <a:moveTo>
                  <a:pt x="2115883" y="1216914"/>
                </a:moveTo>
                <a:lnTo>
                  <a:pt x="2087308" y="1216914"/>
                </a:lnTo>
                <a:lnTo>
                  <a:pt x="2087308" y="1188339"/>
                </a:lnTo>
                <a:lnTo>
                  <a:pt x="2115883" y="1188339"/>
                </a:lnTo>
                <a:lnTo>
                  <a:pt x="2115883" y="1216914"/>
                </a:lnTo>
                <a:close/>
              </a:path>
              <a:path w="3206115" h="1217295">
                <a:moveTo>
                  <a:pt x="2058733" y="1216914"/>
                </a:moveTo>
                <a:lnTo>
                  <a:pt x="2030158" y="1216914"/>
                </a:lnTo>
                <a:lnTo>
                  <a:pt x="2030158" y="1188339"/>
                </a:lnTo>
                <a:lnTo>
                  <a:pt x="2058733" y="1188339"/>
                </a:lnTo>
                <a:lnTo>
                  <a:pt x="2058733" y="1216914"/>
                </a:lnTo>
                <a:close/>
              </a:path>
              <a:path w="3206115" h="1217295">
                <a:moveTo>
                  <a:pt x="2001583" y="1216914"/>
                </a:moveTo>
                <a:lnTo>
                  <a:pt x="1973008" y="1216914"/>
                </a:lnTo>
                <a:lnTo>
                  <a:pt x="1973008" y="1188339"/>
                </a:lnTo>
                <a:lnTo>
                  <a:pt x="2001583" y="1188339"/>
                </a:lnTo>
                <a:lnTo>
                  <a:pt x="2001583" y="1216914"/>
                </a:lnTo>
                <a:close/>
              </a:path>
              <a:path w="3206115" h="1217295">
                <a:moveTo>
                  <a:pt x="1944433" y="1216914"/>
                </a:moveTo>
                <a:lnTo>
                  <a:pt x="1915858" y="1216914"/>
                </a:lnTo>
                <a:lnTo>
                  <a:pt x="1915858" y="1188339"/>
                </a:lnTo>
                <a:lnTo>
                  <a:pt x="1944433" y="1188339"/>
                </a:lnTo>
                <a:lnTo>
                  <a:pt x="1944433" y="1216914"/>
                </a:lnTo>
                <a:close/>
              </a:path>
              <a:path w="3206115" h="1217295">
                <a:moveTo>
                  <a:pt x="1887283" y="1216914"/>
                </a:moveTo>
                <a:lnTo>
                  <a:pt x="1858708" y="1216914"/>
                </a:lnTo>
                <a:lnTo>
                  <a:pt x="1858708" y="1188339"/>
                </a:lnTo>
                <a:lnTo>
                  <a:pt x="1887283" y="1188339"/>
                </a:lnTo>
                <a:lnTo>
                  <a:pt x="1887283" y="1216914"/>
                </a:lnTo>
                <a:close/>
              </a:path>
              <a:path w="3206115" h="1217295">
                <a:moveTo>
                  <a:pt x="1830133" y="1216914"/>
                </a:moveTo>
                <a:lnTo>
                  <a:pt x="1801558" y="1216914"/>
                </a:lnTo>
                <a:lnTo>
                  <a:pt x="1801558" y="1188339"/>
                </a:lnTo>
                <a:lnTo>
                  <a:pt x="1830133" y="1188339"/>
                </a:lnTo>
                <a:lnTo>
                  <a:pt x="1830133" y="1216914"/>
                </a:lnTo>
                <a:close/>
              </a:path>
              <a:path w="3206115" h="1217295">
                <a:moveTo>
                  <a:pt x="1772983" y="1216914"/>
                </a:moveTo>
                <a:lnTo>
                  <a:pt x="1744408" y="1216914"/>
                </a:lnTo>
                <a:lnTo>
                  <a:pt x="1744408" y="1188339"/>
                </a:lnTo>
                <a:lnTo>
                  <a:pt x="1772983" y="1188339"/>
                </a:lnTo>
                <a:lnTo>
                  <a:pt x="1772983" y="1216914"/>
                </a:lnTo>
                <a:close/>
              </a:path>
              <a:path w="3206115" h="1217295">
                <a:moveTo>
                  <a:pt x="1715833" y="1216914"/>
                </a:moveTo>
                <a:lnTo>
                  <a:pt x="1687258" y="1216914"/>
                </a:lnTo>
                <a:lnTo>
                  <a:pt x="1687258" y="1188339"/>
                </a:lnTo>
                <a:lnTo>
                  <a:pt x="1715833" y="1188339"/>
                </a:lnTo>
                <a:lnTo>
                  <a:pt x="1715833" y="1216914"/>
                </a:lnTo>
                <a:close/>
              </a:path>
              <a:path w="3206115" h="1217295">
                <a:moveTo>
                  <a:pt x="1658683" y="1216914"/>
                </a:moveTo>
                <a:lnTo>
                  <a:pt x="1630108" y="1216914"/>
                </a:lnTo>
                <a:lnTo>
                  <a:pt x="1630108" y="1188339"/>
                </a:lnTo>
                <a:lnTo>
                  <a:pt x="1658683" y="1188339"/>
                </a:lnTo>
                <a:lnTo>
                  <a:pt x="1658683" y="1216914"/>
                </a:lnTo>
                <a:close/>
              </a:path>
              <a:path w="3206115" h="1217295">
                <a:moveTo>
                  <a:pt x="1601533" y="1216914"/>
                </a:moveTo>
                <a:lnTo>
                  <a:pt x="1572958" y="1216914"/>
                </a:lnTo>
                <a:lnTo>
                  <a:pt x="1572958" y="1188339"/>
                </a:lnTo>
                <a:lnTo>
                  <a:pt x="1601533" y="1188339"/>
                </a:lnTo>
                <a:lnTo>
                  <a:pt x="1601533" y="1216914"/>
                </a:lnTo>
                <a:close/>
              </a:path>
              <a:path w="3206115" h="1217295">
                <a:moveTo>
                  <a:pt x="1544383" y="1216914"/>
                </a:moveTo>
                <a:lnTo>
                  <a:pt x="1515808" y="1216914"/>
                </a:lnTo>
                <a:lnTo>
                  <a:pt x="1515808" y="1188339"/>
                </a:lnTo>
                <a:lnTo>
                  <a:pt x="1544383" y="1188339"/>
                </a:lnTo>
                <a:lnTo>
                  <a:pt x="1544383" y="1216914"/>
                </a:lnTo>
                <a:close/>
              </a:path>
              <a:path w="3206115" h="1217295">
                <a:moveTo>
                  <a:pt x="1487233" y="1216914"/>
                </a:moveTo>
                <a:lnTo>
                  <a:pt x="1458658" y="1216914"/>
                </a:lnTo>
                <a:lnTo>
                  <a:pt x="1458658" y="1188339"/>
                </a:lnTo>
                <a:lnTo>
                  <a:pt x="1487233" y="1188339"/>
                </a:lnTo>
                <a:lnTo>
                  <a:pt x="1487233" y="1216914"/>
                </a:lnTo>
                <a:close/>
              </a:path>
              <a:path w="3206115" h="1217295">
                <a:moveTo>
                  <a:pt x="1430083" y="1216914"/>
                </a:moveTo>
                <a:lnTo>
                  <a:pt x="1401508" y="1216914"/>
                </a:lnTo>
                <a:lnTo>
                  <a:pt x="1401508" y="1188339"/>
                </a:lnTo>
                <a:lnTo>
                  <a:pt x="1430083" y="1188339"/>
                </a:lnTo>
                <a:lnTo>
                  <a:pt x="1430083" y="1216914"/>
                </a:lnTo>
                <a:close/>
              </a:path>
              <a:path w="3206115" h="1217295">
                <a:moveTo>
                  <a:pt x="1372933" y="1216914"/>
                </a:moveTo>
                <a:lnTo>
                  <a:pt x="1344358" y="1216914"/>
                </a:lnTo>
                <a:lnTo>
                  <a:pt x="1344358" y="1188339"/>
                </a:lnTo>
                <a:lnTo>
                  <a:pt x="1372933" y="1188339"/>
                </a:lnTo>
                <a:lnTo>
                  <a:pt x="1372933" y="1216914"/>
                </a:lnTo>
                <a:close/>
              </a:path>
              <a:path w="3206115" h="1217295">
                <a:moveTo>
                  <a:pt x="1315783" y="1216914"/>
                </a:moveTo>
                <a:lnTo>
                  <a:pt x="1287208" y="1216914"/>
                </a:lnTo>
                <a:lnTo>
                  <a:pt x="1287208" y="1188339"/>
                </a:lnTo>
                <a:lnTo>
                  <a:pt x="1315783" y="1188339"/>
                </a:lnTo>
                <a:lnTo>
                  <a:pt x="1315783" y="1216914"/>
                </a:lnTo>
                <a:close/>
              </a:path>
              <a:path w="3206115" h="1217295">
                <a:moveTo>
                  <a:pt x="1258633" y="1216914"/>
                </a:moveTo>
                <a:lnTo>
                  <a:pt x="1230058" y="1216914"/>
                </a:lnTo>
                <a:lnTo>
                  <a:pt x="1230058" y="1188339"/>
                </a:lnTo>
                <a:lnTo>
                  <a:pt x="1258633" y="1188339"/>
                </a:lnTo>
                <a:lnTo>
                  <a:pt x="1258633" y="1216914"/>
                </a:lnTo>
                <a:close/>
              </a:path>
              <a:path w="3206115" h="1217295">
                <a:moveTo>
                  <a:pt x="1201483" y="1216914"/>
                </a:moveTo>
                <a:lnTo>
                  <a:pt x="1172908" y="1216914"/>
                </a:lnTo>
                <a:lnTo>
                  <a:pt x="1172908" y="1188339"/>
                </a:lnTo>
                <a:lnTo>
                  <a:pt x="1201483" y="1188339"/>
                </a:lnTo>
                <a:lnTo>
                  <a:pt x="1201483" y="1216914"/>
                </a:lnTo>
                <a:close/>
              </a:path>
              <a:path w="3206115" h="1217295">
                <a:moveTo>
                  <a:pt x="1144333" y="1216914"/>
                </a:moveTo>
                <a:lnTo>
                  <a:pt x="1115758" y="1216914"/>
                </a:lnTo>
                <a:lnTo>
                  <a:pt x="1115758" y="1188339"/>
                </a:lnTo>
                <a:lnTo>
                  <a:pt x="1144333" y="1188339"/>
                </a:lnTo>
                <a:lnTo>
                  <a:pt x="1144333" y="1216914"/>
                </a:lnTo>
                <a:close/>
              </a:path>
              <a:path w="3206115" h="1217295">
                <a:moveTo>
                  <a:pt x="1087183" y="1216914"/>
                </a:moveTo>
                <a:lnTo>
                  <a:pt x="1058608" y="1216914"/>
                </a:lnTo>
                <a:lnTo>
                  <a:pt x="1058608" y="1188339"/>
                </a:lnTo>
                <a:lnTo>
                  <a:pt x="1087183" y="1188339"/>
                </a:lnTo>
                <a:lnTo>
                  <a:pt x="1087183" y="1216914"/>
                </a:lnTo>
                <a:close/>
              </a:path>
              <a:path w="3206115" h="1217295">
                <a:moveTo>
                  <a:pt x="1030033" y="1216914"/>
                </a:moveTo>
                <a:lnTo>
                  <a:pt x="1001458" y="1216914"/>
                </a:lnTo>
                <a:lnTo>
                  <a:pt x="1001458" y="1188339"/>
                </a:lnTo>
                <a:lnTo>
                  <a:pt x="1030033" y="1188339"/>
                </a:lnTo>
                <a:lnTo>
                  <a:pt x="1030033" y="1216914"/>
                </a:lnTo>
                <a:close/>
              </a:path>
              <a:path w="3206115" h="1217295">
                <a:moveTo>
                  <a:pt x="972883" y="1216914"/>
                </a:moveTo>
                <a:lnTo>
                  <a:pt x="944308" y="1216914"/>
                </a:lnTo>
                <a:lnTo>
                  <a:pt x="944308" y="1188339"/>
                </a:lnTo>
                <a:lnTo>
                  <a:pt x="972883" y="1188339"/>
                </a:lnTo>
                <a:lnTo>
                  <a:pt x="972883" y="1216914"/>
                </a:lnTo>
                <a:close/>
              </a:path>
              <a:path w="3206115" h="1217295">
                <a:moveTo>
                  <a:pt x="915733" y="1216914"/>
                </a:moveTo>
                <a:lnTo>
                  <a:pt x="887158" y="1216914"/>
                </a:lnTo>
                <a:lnTo>
                  <a:pt x="887158" y="1188339"/>
                </a:lnTo>
                <a:lnTo>
                  <a:pt x="915733" y="1188339"/>
                </a:lnTo>
                <a:lnTo>
                  <a:pt x="915733" y="1216914"/>
                </a:lnTo>
                <a:close/>
              </a:path>
              <a:path w="3206115" h="1217295">
                <a:moveTo>
                  <a:pt x="858583" y="1216914"/>
                </a:moveTo>
                <a:lnTo>
                  <a:pt x="830008" y="1216914"/>
                </a:lnTo>
                <a:lnTo>
                  <a:pt x="830008" y="1188339"/>
                </a:lnTo>
                <a:lnTo>
                  <a:pt x="858583" y="1188339"/>
                </a:lnTo>
                <a:lnTo>
                  <a:pt x="858583" y="1216914"/>
                </a:lnTo>
                <a:close/>
              </a:path>
              <a:path w="3206115" h="1217295">
                <a:moveTo>
                  <a:pt x="801433" y="1216914"/>
                </a:moveTo>
                <a:lnTo>
                  <a:pt x="772858" y="1216914"/>
                </a:lnTo>
                <a:lnTo>
                  <a:pt x="772858" y="1188339"/>
                </a:lnTo>
                <a:lnTo>
                  <a:pt x="801433" y="1188339"/>
                </a:lnTo>
                <a:lnTo>
                  <a:pt x="801433" y="1216914"/>
                </a:lnTo>
                <a:close/>
              </a:path>
              <a:path w="3206115" h="1217295">
                <a:moveTo>
                  <a:pt x="744283" y="1216914"/>
                </a:moveTo>
                <a:lnTo>
                  <a:pt x="715708" y="1216914"/>
                </a:lnTo>
                <a:lnTo>
                  <a:pt x="715708" y="1188339"/>
                </a:lnTo>
                <a:lnTo>
                  <a:pt x="744283" y="1188339"/>
                </a:lnTo>
                <a:lnTo>
                  <a:pt x="744283" y="1216914"/>
                </a:lnTo>
                <a:close/>
              </a:path>
              <a:path w="3206115" h="1217295">
                <a:moveTo>
                  <a:pt x="687133" y="1216914"/>
                </a:moveTo>
                <a:lnTo>
                  <a:pt x="658558" y="1216914"/>
                </a:lnTo>
                <a:lnTo>
                  <a:pt x="658558" y="1188339"/>
                </a:lnTo>
                <a:lnTo>
                  <a:pt x="687133" y="1188339"/>
                </a:lnTo>
                <a:lnTo>
                  <a:pt x="687133" y="1216914"/>
                </a:lnTo>
                <a:close/>
              </a:path>
              <a:path w="3206115" h="1217295">
                <a:moveTo>
                  <a:pt x="629983" y="1216914"/>
                </a:moveTo>
                <a:lnTo>
                  <a:pt x="601408" y="1216914"/>
                </a:lnTo>
                <a:lnTo>
                  <a:pt x="601408" y="1188339"/>
                </a:lnTo>
                <a:lnTo>
                  <a:pt x="629983" y="1188339"/>
                </a:lnTo>
                <a:lnTo>
                  <a:pt x="629983" y="1216914"/>
                </a:lnTo>
                <a:close/>
              </a:path>
              <a:path w="3206115" h="1217295">
                <a:moveTo>
                  <a:pt x="572833" y="1216914"/>
                </a:moveTo>
                <a:lnTo>
                  <a:pt x="544258" y="1216914"/>
                </a:lnTo>
                <a:lnTo>
                  <a:pt x="544258" y="1188339"/>
                </a:lnTo>
                <a:lnTo>
                  <a:pt x="572833" y="1188339"/>
                </a:lnTo>
                <a:lnTo>
                  <a:pt x="572833" y="1216914"/>
                </a:lnTo>
                <a:close/>
              </a:path>
              <a:path w="3206115" h="1217295">
                <a:moveTo>
                  <a:pt x="515683" y="1216914"/>
                </a:moveTo>
                <a:lnTo>
                  <a:pt x="487108" y="1216914"/>
                </a:lnTo>
                <a:lnTo>
                  <a:pt x="487108" y="1188339"/>
                </a:lnTo>
                <a:lnTo>
                  <a:pt x="515683" y="1188339"/>
                </a:lnTo>
                <a:lnTo>
                  <a:pt x="515683" y="1216914"/>
                </a:lnTo>
                <a:close/>
              </a:path>
              <a:path w="3206115" h="1217295">
                <a:moveTo>
                  <a:pt x="458533" y="1216914"/>
                </a:moveTo>
                <a:lnTo>
                  <a:pt x="429958" y="1216914"/>
                </a:lnTo>
                <a:lnTo>
                  <a:pt x="429958" y="1188339"/>
                </a:lnTo>
                <a:lnTo>
                  <a:pt x="458533" y="1188339"/>
                </a:lnTo>
                <a:lnTo>
                  <a:pt x="458533" y="1216914"/>
                </a:lnTo>
                <a:close/>
              </a:path>
              <a:path w="3206115" h="1217295">
                <a:moveTo>
                  <a:pt x="401383" y="1216914"/>
                </a:moveTo>
                <a:lnTo>
                  <a:pt x="372808" y="1216914"/>
                </a:lnTo>
                <a:lnTo>
                  <a:pt x="372808" y="1188339"/>
                </a:lnTo>
                <a:lnTo>
                  <a:pt x="401383" y="1188339"/>
                </a:lnTo>
                <a:lnTo>
                  <a:pt x="401383" y="1216914"/>
                </a:lnTo>
                <a:close/>
              </a:path>
              <a:path w="3206115" h="1217295">
                <a:moveTo>
                  <a:pt x="344233" y="1216914"/>
                </a:moveTo>
                <a:lnTo>
                  <a:pt x="315658" y="1216914"/>
                </a:lnTo>
                <a:lnTo>
                  <a:pt x="315658" y="1188339"/>
                </a:lnTo>
                <a:lnTo>
                  <a:pt x="344233" y="1188339"/>
                </a:lnTo>
                <a:lnTo>
                  <a:pt x="344233" y="1216914"/>
                </a:lnTo>
                <a:close/>
              </a:path>
              <a:path w="3206115" h="1217295">
                <a:moveTo>
                  <a:pt x="287083" y="1216914"/>
                </a:moveTo>
                <a:lnTo>
                  <a:pt x="258508" y="1216914"/>
                </a:lnTo>
                <a:lnTo>
                  <a:pt x="258508" y="1188339"/>
                </a:lnTo>
                <a:lnTo>
                  <a:pt x="287083" y="1188339"/>
                </a:lnTo>
                <a:lnTo>
                  <a:pt x="287083" y="1216914"/>
                </a:lnTo>
                <a:close/>
              </a:path>
              <a:path w="3206115" h="1217295">
                <a:moveTo>
                  <a:pt x="229933" y="1216914"/>
                </a:moveTo>
                <a:lnTo>
                  <a:pt x="201358" y="1216914"/>
                </a:lnTo>
                <a:lnTo>
                  <a:pt x="201358" y="1188339"/>
                </a:lnTo>
                <a:lnTo>
                  <a:pt x="229933" y="1188339"/>
                </a:lnTo>
                <a:lnTo>
                  <a:pt x="229933" y="1216914"/>
                </a:lnTo>
                <a:close/>
              </a:path>
              <a:path w="3206115" h="1217295">
                <a:moveTo>
                  <a:pt x="172783" y="1216914"/>
                </a:moveTo>
                <a:lnTo>
                  <a:pt x="144208" y="1216914"/>
                </a:lnTo>
                <a:lnTo>
                  <a:pt x="144208" y="1188339"/>
                </a:lnTo>
                <a:lnTo>
                  <a:pt x="172783" y="1188339"/>
                </a:lnTo>
                <a:lnTo>
                  <a:pt x="172783" y="1216914"/>
                </a:lnTo>
                <a:close/>
              </a:path>
              <a:path w="3206115" h="1217295">
                <a:moveTo>
                  <a:pt x="115633" y="1216914"/>
                </a:moveTo>
                <a:lnTo>
                  <a:pt x="87058" y="1216914"/>
                </a:lnTo>
                <a:lnTo>
                  <a:pt x="87058" y="1188339"/>
                </a:lnTo>
                <a:lnTo>
                  <a:pt x="115633" y="1188339"/>
                </a:lnTo>
                <a:lnTo>
                  <a:pt x="115633" y="1216914"/>
                </a:lnTo>
                <a:close/>
              </a:path>
              <a:path w="3206115" h="1217295">
                <a:moveTo>
                  <a:pt x="58483" y="1216914"/>
                </a:moveTo>
                <a:lnTo>
                  <a:pt x="29908" y="1216914"/>
                </a:lnTo>
                <a:lnTo>
                  <a:pt x="29908" y="1188339"/>
                </a:lnTo>
                <a:lnTo>
                  <a:pt x="58483" y="1188339"/>
                </a:lnTo>
                <a:lnTo>
                  <a:pt x="58483" y="1216914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10540" y="3008503"/>
            <a:ext cx="7976870" cy="2780030"/>
          </a:xfrm>
          <a:prstGeom prst="rect">
            <a:avLst/>
          </a:prstGeom>
        </p:spPr>
        <p:txBody>
          <a:bodyPr wrap="square" lIns="0" tIns="178435" rIns="0" bIns="0" rtlCol="0" vert="horz">
            <a:spAutoFit/>
          </a:bodyPr>
          <a:lstStyle/>
          <a:p>
            <a:pPr marL="461645">
              <a:lnSpc>
                <a:spcPct val="100000"/>
              </a:lnSpc>
              <a:spcBef>
                <a:spcPts val="1405"/>
              </a:spcBef>
            </a:pPr>
            <a:r>
              <a:rPr dirty="0" sz="3200" b="1">
                <a:latin typeface="黑体"/>
                <a:cs typeface="黑体"/>
              </a:rPr>
              <a:t>（其</a:t>
            </a:r>
            <a:r>
              <a:rPr dirty="0" sz="3200" spc="-145" b="1">
                <a:latin typeface="黑体"/>
                <a:cs typeface="黑体"/>
              </a:rPr>
              <a:t>中</a:t>
            </a:r>
            <a:r>
              <a:rPr dirty="0" sz="3350" spc="-340" b="1" i="1">
                <a:latin typeface="黑体"/>
                <a:cs typeface="黑体"/>
              </a:rPr>
              <a:t>，</a:t>
            </a:r>
            <a:r>
              <a:rPr dirty="0" sz="3200" spc="-340" b="1" i="1">
                <a:latin typeface="Times New Roman"/>
                <a:cs typeface="Times New Roman"/>
              </a:rPr>
              <a:t>V</a:t>
            </a:r>
            <a:r>
              <a:rPr dirty="0" baseline="-17615" sz="3075" spc="-509" b="1">
                <a:latin typeface="Times New Roman"/>
                <a:cs typeface="Times New Roman"/>
              </a:rPr>
              <a:t>A</a:t>
            </a:r>
            <a:r>
              <a:rPr dirty="0" sz="3200" b="1">
                <a:latin typeface="黑体"/>
                <a:cs typeface="黑体"/>
              </a:rPr>
              <a:t>为摩尔体积</a:t>
            </a:r>
            <a:r>
              <a:rPr dirty="0" sz="3200" spc="-155" b="1">
                <a:latin typeface="Times New Roman"/>
                <a:cs typeface="Times New Roman"/>
              </a:rPr>
              <a:t>,</a:t>
            </a:r>
            <a:r>
              <a:rPr dirty="0" sz="3350" spc="-155" b="1" i="1">
                <a:latin typeface="Symbol"/>
                <a:cs typeface="Symbol"/>
              </a:rPr>
              <a:t></a:t>
            </a:r>
            <a:r>
              <a:rPr dirty="0" sz="3350" spc="-434" b="1" i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黑体"/>
                <a:cs typeface="黑体"/>
              </a:rPr>
              <a:t>为物质的密度</a:t>
            </a:r>
            <a:r>
              <a:rPr dirty="0" sz="3200" spc="-10" b="1">
                <a:latin typeface="黑体"/>
                <a:cs typeface="黑体"/>
              </a:rPr>
              <a:t>）</a:t>
            </a:r>
            <a:endParaRPr sz="3200">
              <a:latin typeface="黑体"/>
              <a:cs typeface="黑体"/>
            </a:endParaRPr>
          </a:p>
          <a:p>
            <a:pPr marL="355600" marR="586740" indent="-342900">
              <a:lnSpc>
                <a:spcPct val="100000"/>
              </a:lnSpc>
              <a:spcBef>
                <a:spcPts val="1235"/>
              </a:spcBef>
            </a:pPr>
            <a:r>
              <a:rPr dirty="0" sz="3200" b="1">
                <a:latin typeface="黑体"/>
                <a:cs typeface="黑体"/>
              </a:rPr>
              <a:t>（</a:t>
            </a:r>
            <a:r>
              <a:rPr dirty="0" sz="3200" spc="-5" b="1">
                <a:latin typeface="Times New Roman"/>
                <a:cs typeface="Times New Roman"/>
              </a:rPr>
              <a:t>2</a:t>
            </a:r>
            <a:r>
              <a:rPr dirty="0" sz="3200" b="1">
                <a:latin typeface="黑体"/>
                <a:cs typeface="黑体"/>
              </a:rPr>
              <a:t>）已知物质的量（摩尔数）</a:t>
            </a:r>
            <a:r>
              <a:rPr dirty="0" sz="3200" spc="-5" b="1" i="1">
                <a:latin typeface="Times New Roman"/>
                <a:cs typeface="Times New Roman"/>
              </a:rPr>
              <a:t>n</a:t>
            </a:r>
            <a:r>
              <a:rPr dirty="0" sz="3200" b="1">
                <a:latin typeface="黑体"/>
                <a:cs typeface="黑体"/>
              </a:rPr>
              <a:t>，可求</a:t>
            </a:r>
            <a:r>
              <a:rPr dirty="0" sz="3200" spc="-10" b="1">
                <a:latin typeface="黑体"/>
                <a:cs typeface="黑体"/>
              </a:rPr>
              <a:t>出 </a:t>
            </a:r>
            <a:r>
              <a:rPr dirty="0" sz="3200" b="1">
                <a:latin typeface="黑体"/>
                <a:cs typeface="黑体"/>
              </a:rPr>
              <a:t>物体所含分子的数目</a:t>
            </a:r>
            <a:r>
              <a:rPr dirty="0" sz="3200" spc="-5" b="1" i="1">
                <a:latin typeface="Times New Roman"/>
                <a:cs typeface="Times New Roman"/>
              </a:rPr>
              <a:t>N</a:t>
            </a:r>
            <a:r>
              <a:rPr dirty="0" sz="3200" spc="-5" b="1">
                <a:latin typeface="黑体"/>
                <a:cs typeface="黑体"/>
              </a:rPr>
              <a:t>．</a:t>
            </a:r>
            <a:endParaRPr sz="3200">
              <a:latin typeface="黑体"/>
              <a:cs typeface="黑体"/>
            </a:endParaRPr>
          </a:p>
          <a:p>
            <a:pPr algn="ctr" marR="33655">
              <a:lnSpc>
                <a:spcPct val="100000"/>
              </a:lnSpc>
              <a:spcBef>
                <a:spcPts val="1450"/>
              </a:spcBef>
            </a:pPr>
            <a:r>
              <a:rPr dirty="0" sz="5000" spc="-10" i="1">
                <a:solidFill>
                  <a:srgbClr val="CC3300"/>
                </a:solidFill>
                <a:latin typeface="Times New Roman"/>
                <a:cs typeface="Times New Roman"/>
              </a:rPr>
              <a:t>N </a:t>
            </a:r>
            <a:r>
              <a:rPr dirty="0" sz="5000" spc="-5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sz="5000" spc="335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5000" spc="185" i="1">
                <a:solidFill>
                  <a:srgbClr val="CC3300"/>
                </a:solidFill>
                <a:latin typeface="Times New Roman"/>
                <a:cs typeface="Times New Roman"/>
              </a:rPr>
              <a:t>nN</a:t>
            </a:r>
            <a:r>
              <a:rPr dirty="0" baseline="-23946" sz="4350" spc="277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endParaRPr baseline="-23946" sz="4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275714" y="736282"/>
            <a:ext cx="6915150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（</a:t>
            </a:r>
            <a:r>
              <a:rPr dirty="0" sz="3200" b="1">
                <a:latin typeface="Times New Roman"/>
                <a:cs typeface="Times New Roman"/>
              </a:rPr>
              <a:t>3</a:t>
            </a:r>
            <a:r>
              <a:rPr dirty="0" sz="3200" b="1">
                <a:latin typeface="黑体"/>
                <a:cs typeface="黑体"/>
              </a:rPr>
              <a:t>）已知物质的摩尔体积</a:t>
            </a:r>
            <a:r>
              <a:rPr dirty="0" sz="3200" spc="5" b="1" i="1">
                <a:latin typeface="Times New Roman"/>
                <a:cs typeface="Times New Roman"/>
              </a:rPr>
              <a:t>V</a:t>
            </a:r>
            <a:r>
              <a:rPr dirty="0" baseline="-17615" sz="3075" spc="7" b="1">
                <a:latin typeface="Times New Roman"/>
                <a:cs typeface="Times New Roman"/>
              </a:rPr>
              <a:t>A</a:t>
            </a:r>
            <a:r>
              <a:rPr dirty="0" baseline="-17615" sz="3075" spc="345" b="1">
                <a:latin typeface="Times New Roman"/>
                <a:cs typeface="Times New Roman"/>
              </a:rPr>
              <a:t> </a:t>
            </a:r>
            <a:r>
              <a:rPr dirty="0" sz="3200" b="1">
                <a:latin typeface="黑体"/>
                <a:cs typeface="黑体"/>
              </a:rPr>
              <a:t>，可求</a:t>
            </a:r>
            <a:r>
              <a:rPr dirty="0" sz="3200" spc="-10" b="1">
                <a:latin typeface="黑体"/>
                <a:cs typeface="黑体"/>
              </a:rPr>
              <a:t>出 </a:t>
            </a:r>
            <a:r>
              <a:rPr dirty="0" sz="3200" b="1">
                <a:latin typeface="黑体"/>
                <a:cs typeface="黑体"/>
              </a:rPr>
              <a:t>每个分子占有的空间体</a:t>
            </a:r>
            <a:r>
              <a:rPr dirty="0" sz="3200" spc="-10" b="1">
                <a:latin typeface="黑体"/>
                <a:cs typeface="黑体"/>
              </a:rPr>
              <a:t>积</a:t>
            </a:r>
            <a:r>
              <a:rPr dirty="0" sz="3200" spc="-810" b="1">
                <a:latin typeface="黑体"/>
                <a:cs typeface="黑体"/>
              </a:rPr>
              <a:t> </a:t>
            </a:r>
            <a:r>
              <a:rPr dirty="0" sz="3200" spc="5" b="1" i="1">
                <a:latin typeface="Times New Roman"/>
                <a:cs typeface="Times New Roman"/>
              </a:rPr>
              <a:t>V</a:t>
            </a:r>
            <a:r>
              <a:rPr dirty="0" baseline="-17615" sz="3075" spc="7" b="1">
                <a:latin typeface="Times New Roman"/>
                <a:cs typeface="Times New Roman"/>
              </a:rPr>
              <a:t>0</a:t>
            </a:r>
            <a:endParaRPr baseline="-17615" sz="3075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89211" y="2791777"/>
            <a:ext cx="579755" cy="0"/>
          </a:xfrm>
          <a:custGeom>
            <a:avLst/>
            <a:gdLst/>
            <a:ahLst/>
            <a:cxnLst/>
            <a:rect l="l" t="t" r="r" b="b"/>
            <a:pathLst>
              <a:path w="579754" h="0">
                <a:moveTo>
                  <a:pt x="0" y="0"/>
                </a:moveTo>
                <a:lnTo>
                  <a:pt x="579424" y="0"/>
                </a:lnTo>
              </a:path>
            </a:pathLst>
          </a:custGeom>
          <a:ln w="17348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349383" y="3070707"/>
            <a:ext cx="175260" cy="315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spc="15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24339" y="2794114"/>
            <a:ext cx="30543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30" i="1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2264" y="2469502"/>
            <a:ext cx="28194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30" i="1">
                <a:solidFill>
                  <a:srgbClr val="CC3300"/>
                </a:solidFill>
                <a:latin typeface="Times New Roman"/>
                <a:cs typeface="Times New Roman"/>
              </a:rPr>
              <a:t>V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3860" y="2207653"/>
            <a:ext cx="80581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-35042" sz="4875" spc="37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baseline="-35042" sz="4875" spc="232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3250" spc="60" i="1">
                <a:solidFill>
                  <a:srgbClr val="CC3300"/>
                </a:solidFill>
                <a:latin typeface="Times New Roman"/>
                <a:cs typeface="Times New Roman"/>
              </a:rPr>
              <a:t>V</a:t>
            </a:r>
            <a:r>
              <a:rPr dirty="0" baseline="-23391" sz="2850" spc="89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endParaRPr baseline="-23391" sz="28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5773" y="2746108"/>
            <a:ext cx="147955" cy="315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00" spc="10">
                <a:solidFill>
                  <a:srgbClr val="CC3300"/>
                </a:solidFill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03430" y="2079536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61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04725" y="2146198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23" y="38277"/>
                </a:moveTo>
                <a:lnTo>
                  <a:pt x="0" y="177"/>
                </a:lnTo>
                <a:lnTo>
                  <a:pt x="9512" y="0"/>
                </a:lnTo>
                <a:lnTo>
                  <a:pt x="10248" y="38087"/>
                </a:lnTo>
                <a:lnTo>
                  <a:pt x="723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06008" y="2212860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48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07290" y="2279523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61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08573" y="2346185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61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09856" y="2412847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61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811151" y="2479509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23" y="38277"/>
                </a:moveTo>
                <a:lnTo>
                  <a:pt x="0" y="177"/>
                </a:lnTo>
                <a:lnTo>
                  <a:pt x="9512" y="0"/>
                </a:lnTo>
                <a:lnTo>
                  <a:pt x="10248" y="38087"/>
                </a:lnTo>
                <a:lnTo>
                  <a:pt x="723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812434" y="2546172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48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13717" y="2612834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61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814999" y="2679496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61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16282" y="2746159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61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17577" y="2812821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23" y="38277"/>
                </a:moveTo>
                <a:lnTo>
                  <a:pt x="0" y="177"/>
                </a:lnTo>
                <a:lnTo>
                  <a:pt x="9525" y="0"/>
                </a:lnTo>
                <a:lnTo>
                  <a:pt x="10248" y="38087"/>
                </a:lnTo>
                <a:lnTo>
                  <a:pt x="723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18860" y="2879483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61" y="38087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20143" y="2946145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61" y="38099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821426" y="3012808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61" y="38099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22708" y="3079470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61" y="38100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24004" y="3146132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48" y="38100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825286" y="3212795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61" y="38100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826569" y="3279457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61" y="38100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827852" y="3346119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61" y="38100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29147" y="3412781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23" y="38277"/>
                </a:moveTo>
                <a:lnTo>
                  <a:pt x="0" y="190"/>
                </a:lnTo>
                <a:lnTo>
                  <a:pt x="9512" y="0"/>
                </a:lnTo>
                <a:lnTo>
                  <a:pt x="10248" y="38100"/>
                </a:lnTo>
                <a:lnTo>
                  <a:pt x="723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30430" y="3479444"/>
            <a:ext cx="10795" cy="38735"/>
          </a:xfrm>
          <a:custGeom>
            <a:avLst/>
            <a:gdLst/>
            <a:ahLst/>
            <a:cxnLst/>
            <a:rect l="l" t="t" r="r" b="b"/>
            <a:pathLst>
              <a:path w="10795" h="38735">
                <a:moveTo>
                  <a:pt x="736" y="38277"/>
                </a:moveTo>
                <a:lnTo>
                  <a:pt x="0" y="190"/>
                </a:lnTo>
                <a:lnTo>
                  <a:pt x="9525" y="0"/>
                </a:lnTo>
                <a:lnTo>
                  <a:pt x="10248" y="38100"/>
                </a:lnTo>
                <a:lnTo>
                  <a:pt x="736" y="38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83060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9728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96395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03063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09730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16398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23065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29733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36400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43068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49735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099" y="9525"/>
                </a:moveTo>
                <a:lnTo>
                  <a:pt x="0" y="9525"/>
                </a:lnTo>
                <a:lnTo>
                  <a:pt x="0" y="0"/>
                </a:lnTo>
                <a:lnTo>
                  <a:pt x="38099" y="0"/>
                </a:lnTo>
                <a:lnTo>
                  <a:pt x="38099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56403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63070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69738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76405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83073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89740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96408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03075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09743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16410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23078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29745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36413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430808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497483" y="3538753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525"/>
                </a:moveTo>
                <a:lnTo>
                  <a:pt x="0" y="9525"/>
                </a:lnTo>
                <a:lnTo>
                  <a:pt x="0" y="0"/>
                </a:lnTo>
                <a:lnTo>
                  <a:pt x="38100" y="0"/>
                </a:lnTo>
                <a:lnTo>
                  <a:pt x="38100" y="9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289384" y="3529101"/>
            <a:ext cx="544830" cy="535305"/>
          </a:xfrm>
          <a:custGeom>
            <a:avLst/>
            <a:gdLst/>
            <a:ahLst/>
            <a:cxnLst/>
            <a:rect l="l" t="t" r="r" b="b"/>
            <a:pathLst>
              <a:path w="544829" h="535304">
                <a:moveTo>
                  <a:pt x="517372" y="33502"/>
                </a:moveTo>
                <a:lnTo>
                  <a:pt x="510705" y="26708"/>
                </a:lnTo>
                <a:lnTo>
                  <a:pt x="537883" y="0"/>
                </a:lnTo>
                <a:lnTo>
                  <a:pt x="544563" y="6807"/>
                </a:lnTo>
                <a:lnTo>
                  <a:pt x="517372" y="33502"/>
                </a:lnTo>
                <a:close/>
              </a:path>
              <a:path w="544829" h="535304">
                <a:moveTo>
                  <a:pt x="469811" y="80225"/>
                </a:moveTo>
                <a:lnTo>
                  <a:pt x="463130" y="73431"/>
                </a:lnTo>
                <a:lnTo>
                  <a:pt x="490321" y="46723"/>
                </a:lnTo>
                <a:lnTo>
                  <a:pt x="496989" y="53517"/>
                </a:lnTo>
                <a:lnTo>
                  <a:pt x="469811" y="80225"/>
                </a:lnTo>
                <a:close/>
              </a:path>
              <a:path w="544829" h="535304">
                <a:moveTo>
                  <a:pt x="422249" y="126936"/>
                </a:moveTo>
                <a:lnTo>
                  <a:pt x="415569" y="120141"/>
                </a:lnTo>
                <a:lnTo>
                  <a:pt x="442747" y="93446"/>
                </a:lnTo>
                <a:lnTo>
                  <a:pt x="449427" y="100241"/>
                </a:lnTo>
                <a:lnTo>
                  <a:pt x="422249" y="126936"/>
                </a:lnTo>
                <a:close/>
              </a:path>
              <a:path w="544829" h="535304">
                <a:moveTo>
                  <a:pt x="374675" y="173659"/>
                </a:moveTo>
                <a:lnTo>
                  <a:pt x="368007" y="166865"/>
                </a:lnTo>
                <a:lnTo>
                  <a:pt x="395185" y="140169"/>
                </a:lnTo>
                <a:lnTo>
                  <a:pt x="401853" y="146964"/>
                </a:lnTo>
                <a:lnTo>
                  <a:pt x="374675" y="173659"/>
                </a:lnTo>
                <a:close/>
              </a:path>
              <a:path w="544829" h="535304">
                <a:moveTo>
                  <a:pt x="327113" y="220383"/>
                </a:moveTo>
                <a:lnTo>
                  <a:pt x="320433" y="213588"/>
                </a:lnTo>
                <a:lnTo>
                  <a:pt x="347611" y="186893"/>
                </a:lnTo>
                <a:lnTo>
                  <a:pt x="354291" y="193687"/>
                </a:lnTo>
                <a:lnTo>
                  <a:pt x="327113" y="220383"/>
                </a:lnTo>
                <a:close/>
              </a:path>
              <a:path w="544829" h="535304">
                <a:moveTo>
                  <a:pt x="279539" y="267106"/>
                </a:moveTo>
                <a:lnTo>
                  <a:pt x="272872" y="260311"/>
                </a:lnTo>
                <a:lnTo>
                  <a:pt x="300050" y="233616"/>
                </a:lnTo>
                <a:lnTo>
                  <a:pt x="306717" y="240411"/>
                </a:lnTo>
                <a:lnTo>
                  <a:pt x="279539" y="267106"/>
                </a:lnTo>
                <a:close/>
              </a:path>
              <a:path w="544829" h="535304">
                <a:moveTo>
                  <a:pt x="231978" y="313829"/>
                </a:moveTo>
                <a:lnTo>
                  <a:pt x="225297" y="307035"/>
                </a:lnTo>
                <a:lnTo>
                  <a:pt x="252475" y="280339"/>
                </a:lnTo>
                <a:lnTo>
                  <a:pt x="259156" y="287134"/>
                </a:lnTo>
                <a:lnTo>
                  <a:pt x="231978" y="313829"/>
                </a:lnTo>
                <a:close/>
              </a:path>
              <a:path w="544829" h="535304">
                <a:moveTo>
                  <a:pt x="184403" y="360552"/>
                </a:moveTo>
                <a:lnTo>
                  <a:pt x="177736" y="353758"/>
                </a:lnTo>
                <a:lnTo>
                  <a:pt x="204914" y="327063"/>
                </a:lnTo>
                <a:lnTo>
                  <a:pt x="211594" y="333857"/>
                </a:lnTo>
                <a:lnTo>
                  <a:pt x="184403" y="360552"/>
                </a:lnTo>
                <a:close/>
              </a:path>
              <a:path w="544829" h="535304">
                <a:moveTo>
                  <a:pt x="136842" y="407276"/>
                </a:moveTo>
                <a:lnTo>
                  <a:pt x="130162" y="400481"/>
                </a:lnTo>
                <a:lnTo>
                  <a:pt x="157352" y="373773"/>
                </a:lnTo>
                <a:lnTo>
                  <a:pt x="164020" y="380568"/>
                </a:lnTo>
                <a:lnTo>
                  <a:pt x="136842" y="407276"/>
                </a:lnTo>
                <a:close/>
              </a:path>
              <a:path w="544829" h="535304">
                <a:moveTo>
                  <a:pt x="89268" y="453999"/>
                </a:moveTo>
                <a:lnTo>
                  <a:pt x="82600" y="447192"/>
                </a:lnTo>
                <a:lnTo>
                  <a:pt x="109778" y="420497"/>
                </a:lnTo>
                <a:lnTo>
                  <a:pt x="116458" y="427291"/>
                </a:lnTo>
                <a:lnTo>
                  <a:pt x="89268" y="453999"/>
                </a:lnTo>
                <a:close/>
              </a:path>
              <a:path w="544829" h="535304">
                <a:moveTo>
                  <a:pt x="41706" y="500710"/>
                </a:moveTo>
                <a:lnTo>
                  <a:pt x="35026" y="493915"/>
                </a:lnTo>
                <a:lnTo>
                  <a:pt x="62217" y="467220"/>
                </a:lnTo>
                <a:lnTo>
                  <a:pt x="68884" y="474014"/>
                </a:lnTo>
                <a:lnTo>
                  <a:pt x="41706" y="500710"/>
                </a:lnTo>
                <a:close/>
              </a:path>
              <a:path w="544829" h="535304">
                <a:moveTo>
                  <a:pt x="6680" y="535127"/>
                </a:moveTo>
                <a:lnTo>
                  <a:pt x="0" y="528320"/>
                </a:lnTo>
                <a:lnTo>
                  <a:pt x="14643" y="513943"/>
                </a:lnTo>
                <a:lnTo>
                  <a:pt x="21323" y="520738"/>
                </a:lnTo>
                <a:lnTo>
                  <a:pt x="6680" y="535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696711" y="2343785"/>
            <a:ext cx="1613077" cy="15849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287962" y="2074862"/>
            <a:ext cx="2295525" cy="1990725"/>
          </a:xfrm>
          <a:custGeom>
            <a:avLst/>
            <a:gdLst/>
            <a:ahLst/>
            <a:cxnLst/>
            <a:rect l="l" t="t" r="r" b="b"/>
            <a:pathLst>
              <a:path w="2295525" h="1990725">
                <a:moveTo>
                  <a:pt x="1797430" y="1990725"/>
                </a:moveTo>
                <a:lnTo>
                  <a:pt x="0" y="1990725"/>
                </a:lnTo>
                <a:lnTo>
                  <a:pt x="0" y="498094"/>
                </a:lnTo>
                <a:lnTo>
                  <a:pt x="498094" y="0"/>
                </a:lnTo>
                <a:lnTo>
                  <a:pt x="2295525" y="0"/>
                </a:lnTo>
                <a:lnTo>
                  <a:pt x="2295525" y="1397"/>
                </a:lnTo>
                <a:lnTo>
                  <a:pt x="2287397" y="1397"/>
                </a:lnTo>
                <a:lnTo>
                  <a:pt x="2280666" y="8127"/>
                </a:lnTo>
                <a:lnTo>
                  <a:pt x="503427" y="8127"/>
                </a:lnTo>
                <a:lnTo>
                  <a:pt x="500062" y="9525"/>
                </a:lnTo>
                <a:lnTo>
                  <a:pt x="502030" y="9525"/>
                </a:lnTo>
                <a:lnTo>
                  <a:pt x="16255" y="495300"/>
                </a:lnTo>
                <a:lnTo>
                  <a:pt x="4762" y="495300"/>
                </a:lnTo>
                <a:lnTo>
                  <a:pt x="4762" y="504825"/>
                </a:lnTo>
                <a:lnTo>
                  <a:pt x="9525" y="504825"/>
                </a:lnTo>
                <a:lnTo>
                  <a:pt x="9525" y="1981200"/>
                </a:lnTo>
                <a:lnTo>
                  <a:pt x="4762" y="1981200"/>
                </a:lnTo>
                <a:lnTo>
                  <a:pt x="9525" y="1985962"/>
                </a:lnTo>
                <a:lnTo>
                  <a:pt x="1802193" y="1985962"/>
                </a:lnTo>
                <a:lnTo>
                  <a:pt x="1797430" y="1990725"/>
                </a:lnTo>
                <a:close/>
              </a:path>
              <a:path w="2295525" h="1990725">
                <a:moveTo>
                  <a:pt x="1792097" y="496697"/>
                </a:moveTo>
                <a:lnTo>
                  <a:pt x="2287397" y="1397"/>
                </a:lnTo>
                <a:lnTo>
                  <a:pt x="2290762" y="4762"/>
                </a:lnTo>
                <a:lnTo>
                  <a:pt x="2286000" y="4762"/>
                </a:lnTo>
                <a:lnTo>
                  <a:pt x="2286000" y="16255"/>
                </a:lnTo>
                <a:lnTo>
                  <a:pt x="1806955" y="495300"/>
                </a:lnTo>
                <a:lnTo>
                  <a:pt x="1795462" y="495300"/>
                </a:lnTo>
                <a:lnTo>
                  <a:pt x="1792097" y="496697"/>
                </a:lnTo>
                <a:close/>
              </a:path>
              <a:path w="2295525" h="1990725">
                <a:moveTo>
                  <a:pt x="2286000" y="1488694"/>
                </a:moveTo>
                <a:lnTo>
                  <a:pt x="2286000" y="16255"/>
                </a:lnTo>
                <a:lnTo>
                  <a:pt x="2294128" y="8127"/>
                </a:lnTo>
                <a:lnTo>
                  <a:pt x="2287397" y="1397"/>
                </a:lnTo>
                <a:lnTo>
                  <a:pt x="2295525" y="1397"/>
                </a:lnTo>
                <a:lnTo>
                  <a:pt x="2295525" y="1487297"/>
                </a:lnTo>
                <a:lnTo>
                  <a:pt x="2287397" y="1487297"/>
                </a:lnTo>
                <a:lnTo>
                  <a:pt x="2286000" y="1488694"/>
                </a:lnTo>
                <a:close/>
              </a:path>
              <a:path w="2295525" h="1990725">
                <a:moveTo>
                  <a:pt x="2286000" y="16255"/>
                </a:moveTo>
                <a:lnTo>
                  <a:pt x="2286000" y="4762"/>
                </a:lnTo>
                <a:lnTo>
                  <a:pt x="2290762" y="9525"/>
                </a:lnTo>
                <a:lnTo>
                  <a:pt x="2292730" y="9525"/>
                </a:lnTo>
                <a:lnTo>
                  <a:pt x="2286000" y="16255"/>
                </a:lnTo>
                <a:close/>
              </a:path>
              <a:path w="2295525" h="1990725">
                <a:moveTo>
                  <a:pt x="2292730" y="9525"/>
                </a:moveTo>
                <a:lnTo>
                  <a:pt x="2290762" y="9525"/>
                </a:lnTo>
                <a:lnTo>
                  <a:pt x="2286000" y="4762"/>
                </a:lnTo>
                <a:lnTo>
                  <a:pt x="2290762" y="4762"/>
                </a:lnTo>
                <a:lnTo>
                  <a:pt x="2294128" y="8127"/>
                </a:lnTo>
                <a:lnTo>
                  <a:pt x="2292730" y="9525"/>
                </a:lnTo>
                <a:close/>
              </a:path>
              <a:path w="2295525" h="1990725">
                <a:moveTo>
                  <a:pt x="502030" y="9525"/>
                </a:moveTo>
                <a:lnTo>
                  <a:pt x="500062" y="9525"/>
                </a:lnTo>
                <a:lnTo>
                  <a:pt x="503427" y="8127"/>
                </a:lnTo>
                <a:lnTo>
                  <a:pt x="502030" y="9525"/>
                </a:lnTo>
                <a:close/>
              </a:path>
              <a:path w="2295525" h="1990725">
                <a:moveTo>
                  <a:pt x="2279269" y="9525"/>
                </a:moveTo>
                <a:lnTo>
                  <a:pt x="502030" y="9525"/>
                </a:lnTo>
                <a:lnTo>
                  <a:pt x="503427" y="8127"/>
                </a:lnTo>
                <a:lnTo>
                  <a:pt x="2280666" y="8127"/>
                </a:lnTo>
                <a:lnTo>
                  <a:pt x="2279269" y="9525"/>
                </a:lnTo>
                <a:close/>
              </a:path>
              <a:path w="2295525" h="1990725">
                <a:moveTo>
                  <a:pt x="9525" y="504825"/>
                </a:moveTo>
                <a:lnTo>
                  <a:pt x="4762" y="504825"/>
                </a:lnTo>
                <a:lnTo>
                  <a:pt x="4762" y="495300"/>
                </a:lnTo>
                <a:lnTo>
                  <a:pt x="16255" y="495300"/>
                </a:lnTo>
                <a:lnTo>
                  <a:pt x="11493" y="500062"/>
                </a:lnTo>
                <a:lnTo>
                  <a:pt x="9525" y="500062"/>
                </a:lnTo>
                <a:lnTo>
                  <a:pt x="8127" y="503427"/>
                </a:lnTo>
                <a:lnTo>
                  <a:pt x="9525" y="503427"/>
                </a:lnTo>
                <a:lnTo>
                  <a:pt x="9525" y="504825"/>
                </a:lnTo>
                <a:close/>
              </a:path>
              <a:path w="2295525" h="1990725">
                <a:moveTo>
                  <a:pt x="1790700" y="504825"/>
                </a:moveTo>
                <a:lnTo>
                  <a:pt x="9525" y="504825"/>
                </a:lnTo>
                <a:lnTo>
                  <a:pt x="9525" y="502030"/>
                </a:lnTo>
                <a:lnTo>
                  <a:pt x="16255" y="495300"/>
                </a:lnTo>
                <a:lnTo>
                  <a:pt x="1793494" y="495300"/>
                </a:lnTo>
                <a:lnTo>
                  <a:pt x="1792097" y="496697"/>
                </a:lnTo>
                <a:lnTo>
                  <a:pt x="1805558" y="496697"/>
                </a:lnTo>
                <a:lnTo>
                  <a:pt x="1802193" y="500062"/>
                </a:lnTo>
                <a:lnTo>
                  <a:pt x="1790700" y="500062"/>
                </a:lnTo>
                <a:lnTo>
                  <a:pt x="1790700" y="504825"/>
                </a:lnTo>
                <a:close/>
              </a:path>
              <a:path w="2295525" h="1990725">
                <a:moveTo>
                  <a:pt x="1805558" y="496697"/>
                </a:moveTo>
                <a:lnTo>
                  <a:pt x="1792097" y="496697"/>
                </a:lnTo>
                <a:lnTo>
                  <a:pt x="1795462" y="495300"/>
                </a:lnTo>
                <a:lnTo>
                  <a:pt x="1806955" y="495300"/>
                </a:lnTo>
                <a:lnTo>
                  <a:pt x="1805558" y="496697"/>
                </a:lnTo>
                <a:close/>
              </a:path>
              <a:path w="2295525" h="1990725">
                <a:moveTo>
                  <a:pt x="8127" y="503427"/>
                </a:moveTo>
                <a:lnTo>
                  <a:pt x="9525" y="500062"/>
                </a:lnTo>
                <a:lnTo>
                  <a:pt x="9525" y="502030"/>
                </a:lnTo>
                <a:lnTo>
                  <a:pt x="8127" y="503427"/>
                </a:lnTo>
                <a:close/>
              </a:path>
              <a:path w="2295525" h="1990725">
                <a:moveTo>
                  <a:pt x="9525" y="502030"/>
                </a:moveTo>
                <a:lnTo>
                  <a:pt x="9525" y="500062"/>
                </a:lnTo>
                <a:lnTo>
                  <a:pt x="11493" y="500062"/>
                </a:lnTo>
                <a:lnTo>
                  <a:pt x="9525" y="502030"/>
                </a:lnTo>
                <a:close/>
              </a:path>
              <a:path w="2295525" h="1990725">
                <a:moveTo>
                  <a:pt x="1800225" y="1985962"/>
                </a:moveTo>
                <a:lnTo>
                  <a:pt x="1790700" y="1985962"/>
                </a:lnTo>
                <a:lnTo>
                  <a:pt x="1790700" y="500062"/>
                </a:lnTo>
                <a:lnTo>
                  <a:pt x="1800225" y="500062"/>
                </a:lnTo>
                <a:lnTo>
                  <a:pt x="1800225" y="502030"/>
                </a:lnTo>
                <a:lnTo>
                  <a:pt x="1797430" y="504825"/>
                </a:lnTo>
                <a:lnTo>
                  <a:pt x="1800225" y="504825"/>
                </a:lnTo>
                <a:lnTo>
                  <a:pt x="1800225" y="1974469"/>
                </a:lnTo>
                <a:lnTo>
                  <a:pt x="1792097" y="1982597"/>
                </a:lnTo>
                <a:lnTo>
                  <a:pt x="1800225" y="1982597"/>
                </a:lnTo>
                <a:lnTo>
                  <a:pt x="1800225" y="1985962"/>
                </a:lnTo>
                <a:close/>
              </a:path>
              <a:path w="2295525" h="1990725">
                <a:moveTo>
                  <a:pt x="1800225" y="502030"/>
                </a:moveTo>
                <a:lnTo>
                  <a:pt x="1800225" y="500062"/>
                </a:lnTo>
                <a:lnTo>
                  <a:pt x="1802193" y="500062"/>
                </a:lnTo>
                <a:lnTo>
                  <a:pt x="1800225" y="502030"/>
                </a:lnTo>
                <a:close/>
              </a:path>
              <a:path w="2295525" h="1990725">
                <a:moveTo>
                  <a:pt x="9525" y="503427"/>
                </a:moveTo>
                <a:lnTo>
                  <a:pt x="8127" y="503427"/>
                </a:lnTo>
                <a:lnTo>
                  <a:pt x="9525" y="502030"/>
                </a:lnTo>
                <a:lnTo>
                  <a:pt x="9525" y="503427"/>
                </a:lnTo>
                <a:close/>
              </a:path>
              <a:path w="2295525" h="1990725">
                <a:moveTo>
                  <a:pt x="1800225" y="504825"/>
                </a:moveTo>
                <a:lnTo>
                  <a:pt x="1797430" y="504825"/>
                </a:lnTo>
                <a:lnTo>
                  <a:pt x="1800225" y="502030"/>
                </a:lnTo>
                <a:lnTo>
                  <a:pt x="1800225" y="504825"/>
                </a:lnTo>
                <a:close/>
              </a:path>
              <a:path w="2295525" h="1990725">
                <a:moveTo>
                  <a:pt x="2286000" y="1490662"/>
                </a:moveTo>
                <a:lnTo>
                  <a:pt x="2286000" y="1488694"/>
                </a:lnTo>
                <a:lnTo>
                  <a:pt x="2287397" y="1487297"/>
                </a:lnTo>
                <a:lnTo>
                  <a:pt x="2286000" y="1490662"/>
                </a:lnTo>
                <a:close/>
              </a:path>
              <a:path w="2295525" h="1990725">
                <a:moveTo>
                  <a:pt x="2295525" y="1490662"/>
                </a:moveTo>
                <a:lnTo>
                  <a:pt x="2286000" y="1490662"/>
                </a:lnTo>
                <a:lnTo>
                  <a:pt x="2287397" y="1487297"/>
                </a:lnTo>
                <a:lnTo>
                  <a:pt x="2295525" y="1487297"/>
                </a:lnTo>
                <a:lnTo>
                  <a:pt x="2295525" y="1490662"/>
                </a:lnTo>
                <a:close/>
              </a:path>
              <a:path w="2295525" h="1990725">
                <a:moveTo>
                  <a:pt x="1802193" y="1985962"/>
                </a:moveTo>
                <a:lnTo>
                  <a:pt x="1800225" y="1985962"/>
                </a:lnTo>
                <a:lnTo>
                  <a:pt x="1800225" y="1974469"/>
                </a:lnTo>
                <a:lnTo>
                  <a:pt x="2286000" y="1488694"/>
                </a:lnTo>
                <a:lnTo>
                  <a:pt x="2286000" y="1490662"/>
                </a:lnTo>
                <a:lnTo>
                  <a:pt x="2295525" y="1490662"/>
                </a:lnTo>
                <a:lnTo>
                  <a:pt x="2295525" y="1492630"/>
                </a:lnTo>
                <a:lnTo>
                  <a:pt x="1802193" y="1985962"/>
                </a:lnTo>
                <a:close/>
              </a:path>
              <a:path w="2295525" h="1990725">
                <a:moveTo>
                  <a:pt x="1792097" y="1982597"/>
                </a:moveTo>
                <a:lnTo>
                  <a:pt x="1800225" y="1974469"/>
                </a:lnTo>
                <a:lnTo>
                  <a:pt x="1800225" y="1981200"/>
                </a:lnTo>
                <a:lnTo>
                  <a:pt x="1795462" y="1981200"/>
                </a:lnTo>
                <a:lnTo>
                  <a:pt x="1792097" y="1982597"/>
                </a:lnTo>
                <a:close/>
              </a:path>
              <a:path w="2295525" h="1990725">
                <a:moveTo>
                  <a:pt x="9525" y="1985962"/>
                </a:moveTo>
                <a:lnTo>
                  <a:pt x="4762" y="1981200"/>
                </a:lnTo>
                <a:lnTo>
                  <a:pt x="9525" y="1981200"/>
                </a:lnTo>
                <a:lnTo>
                  <a:pt x="9525" y="1985962"/>
                </a:lnTo>
                <a:close/>
              </a:path>
              <a:path w="2295525" h="1990725">
                <a:moveTo>
                  <a:pt x="1790700" y="1985962"/>
                </a:moveTo>
                <a:lnTo>
                  <a:pt x="9525" y="1985962"/>
                </a:lnTo>
                <a:lnTo>
                  <a:pt x="9525" y="1981200"/>
                </a:lnTo>
                <a:lnTo>
                  <a:pt x="1790700" y="1981200"/>
                </a:lnTo>
                <a:lnTo>
                  <a:pt x="1790700" y="1985962"/>
                </a:lnTo>
                <a:close/>
              </a:path>
              <a:path w="2295525" h="1990725">
                <a:moveTo>
                  <a:pt x="1800225" y="1982597"/>
                </a:moveTo>
                <a:lnTo>
                  <a:pt x="1792097" y="1982597"/>
                </a:lnTo>
                <a:lnTo>
                  <a:pt x="1795462" y="1981200"/>
                </a:lnTo>
                <a:lnTo>
                  <a:pt x="1800225" y="1981200"/>
                </a:lnTo>
                <a:lnTo>
                  <a:pt x="1800225" y="198259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839874" y="4196473"/>
            <a:ext cx="1378064" cy="4554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236175" y="4196486"/>
            <a:ext cx="2254046" cy="4746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481485" y="4231220"/>
            <a:ext cx="218592" cy="3699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1275714" y="4083367"/>
            <a:ext cx="2329180" cy="1932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 i="1">
                <a:solidFill>
                  <a:srgbClr val="FF0066"/>
                </a:solidFill>
                <a:latin typeface="Times New Roman"/>
                <a:cs typeface="Times New Roman"/>
              </a:rPr>
              <a:t>V</a:t>
            </a:r>
            <a:r>
              <a:rPr dirty="0" baseline="-16548" sz="3525" spc="-7" b="1">
                <a:solidFill>
                  <a:srgbClr val="FF0066"/>
                </a:solidFill>
                <a:latin typeface="Times New Roman"/>
                <a:cs typeface="Times New Roman"/>
              </a:rPr>
              <a:t>0</a:t>
            </a:r>
            <a:endParaRPr baseline="-16548" sz="352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5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3600" b="1" i="1">
                <a:solidFill>
                  <a:srgbClr val="FF0066"/>
                </a:solidFill>
                <a:latin typeface="Times New Roman"/>
                <a:cs typeface="Times New Roman"/>
              </a:rPr>
              <a:t>V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300441" y="4827142"/>
            <a:ext cx="5402795" cy="4956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656825" y="5690489"/>
            <a:ext cx="312407" cy="17019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033710" y="5582653"/>
            <a:ext cx="1957349" cy="38474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51812" y="1006525"/>
            <a:ext cx="5065153" cy="5918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87277" y="2059304"/>
            <a:ext cx="4787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i="1">
                <a:solidFill>
                  <a:srgbClr val="FF0066"/>
                </a:solidFill>
                <a:latin typeface="Times New Roman"/>
                <a:cs typeface="Times New Roman"/>
              </a:rPr>
              <a:t>V</a:t>
            </a:r>
            <a:r>
              <a:rPr dirty="0" baseline="-16548" sz="3525" spc="-7">
                <a:solidFill>
                  <a:srgbClr val="FF0066"/>
                </a:solidFill>
                <a:latin typeface="Times New Roman"/>
                <a:cs typeface="Times New Roman"/>
              </a:rPr>
              <a:t>0</a:t>
            </a:r>
            <a:endParaRPr baseline="-16548" sz="35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6667" y="2059304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solidFill>
                  <a:srgbClr val="FF0066"/>
                </a:solidFill>
                <a:latin typeface="Times New Roman"/>
                <a:cs typeface="Times New Roman"/>
              </a:rPr>
              <a:t>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78508" y="2172423"/>
            <a:ext cx="3637991" cy="47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05043" y="2172423"/>
            <a:ext cx="2220683" cy="4746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65168" y="3308222"/>
            <a:ext cx="241935" cy="0"/>
          </a:xfrm>
          <a:custGeom>
            <a:avLst/>
            <a:gdLst/>
            <a:ahLst/>
            <a:cxnLst/>
            <a:rect l="l" t="t" r="r" b="b"/>
            <a:pathLst>
              <a:path w="241935" h="0">
                <a:moveTo>
                  <a:pt x="0" y="0"/>
                </a:moveTo>
                <a:lnTo>
                  <a:pt x="241401" y="0"/>
                </a:lnTo>
              </a:path>
            </a:pathLst>
          </a:custGeom>
          <a:ln w="20624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560902" y="3268154"/>
            <a:ext cx="146685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">
                <a:solidFill>
                  <a:srgbClr val="CC3300"/>
                </a:solidFill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72038" y="3310978"/>
            <a:ext cx="23558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250" spc="25">
                <a:solidFill>
                  <a:srgbClr val="CC3300"/>
                </a:solidFill>
                <a:latin typeface="Times New Roman"/>
                <a:cs typeface="Times New Roman"/>
              </a:rPr>
              <a:t>6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22751" y="2964137"/>
            <a:ext cx="1866264" cy="549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09270" algn="l"/>
              </a:tabLst>
            </a:pPr>
            <a:r>
              <a:rPr dirty="0" sz="3250" spc="30" i="1">
                <a:solidFill>
                  <a:srgbClr val="CC3300"/>
                </a:solidFill>
                <a:latin typeface="Times New Roman"/>
                <a:cs typeface="Times New Roman"/>
              </a:rPr>
              <a:t>V	</a:t>
            </a:r>
            <a:r>
              <a:rPr dirty="0" sz="3250" spc="25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sz="3250" spc="25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baseline="35042" sz="4875" spc="52">
                <a:solidFill>
                  <a:srgbClr val="CC3300"/>
                </a:solidFill>
                <a:latin typeface="Times New Roman"/>
                <a:cs typeface="Times New Roman"/>
              </a:rPr>
              <a:t>1</a:t>
            </a:r>
            <a:r>
              <a:rPr dirty="0" sz="3400" spc="35" i="1">
                <a:solidFill>
                  <a:srgbClr val="CC3300"/>
                </a:solidFill>
                <a:latin typeface="Symbol"/>
                <a:cs typeface="Symbol"/>
              </a:rPr>
              <a:t></a:t>
            </a:r>
            <a:r>
              <a:rPr dirty="0" sz="3250" spc="35" i="1">
                <a:solidFill>
                  <a:srgbClr val="CC3300"/>
                </a:solidFill>
                <a:latin typeface="Times New Roman"/>
                <a:cs typeface="Times New Roman"/>
              </a:rPr>
              <a:t>d</a:t>
            </a:r>
            <a:r>
              <a:rPr dirty="0" sz="3250" spc="-440" i="1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baseline="43543" sz="2775" spc="37">
                <a:solidFill>
                  <a:srgbClr val="CC3300"/>
                </a:solidFill>
                <a:latin typeface="Times New Roman"/>
                <a:cs typeface="Times New Roman"/>
              </a:rPr>
              <a:t>3</a:t>
            </a:r>
            <a:endParaRPr baseline="43543" sz="277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92165" y="3769042"/>
            <a:ext cx="4787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 i="1">
                <a:solidFill>
                  <a:srgbClr val="FF0066"/>
                </a:solidFill>
                <a:latin typeface="Times New Roman"/>
                <a:cs typeface="Times New Roman"/>
              </a:rPr>
              <a:t>V</a:t>
            </a:r>
            <a:r>
              <a:rPr dirty="0" baseline="-16548" sz="3525" spc="-7" b="1">
                <a:solidFill>
                  <a:srgbClr val="FF0066"/>
                </a:solidFill>
                <a:latin typeface="Times New Roman"/>
                <a:cs typeface="Times New Roman"/>
              </a:rPr>
              <a:t>0</a:t>
            </a:r>
            <a:endParaRPr baseline="-16548" sz="3525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41445" y="4426902"/>
            <a:ext cx="2540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 i="1">
                <a:solidFill>
                  <a:srgbClr val="FF0066"/>
                </a:solidFill>
                <a:latin typeface="Times New Roman"/>
                <a:cs typeface="Times New Roman"/>
              </a:rPr>
              <a:t>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68526" y="3882161"/>
            <a:ext cx="4552861" cy="4746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09931" y="3898163"/>
            <a:ext cx="364451" cy="4270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716620" y="4540021"/>
            <a:ext cx="2179523" cy="4828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251005" y="4832464"/>
            <a:ext cx="146685" cy="3130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5">
                <a:solidFill>
                  <a:srgbClr val="CC3300"/>
                </a:solidFill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12804" y="4550371"/>
            <a:ext cx="1063625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09270" algn="l"/>
              </a:tabLst>
            </a:pPr>
            <a:r>
              <a:rPr dirty="0" sz="3250" spc="30" i="1">
                <a:solidFill>
                  <a:srgbClr val="CC3300"/>
                </a:solidFill>
                <a:latin typeface="Times New Roman"/>
                <a:cs typeface="Times New Roman"/>
              </a:rPr>
              <a:t>V	</a:t>
            </a:r>
            <a:r>
              <a:rPr dirty="0" sz="3250" spc="25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sz="3250" spc="-515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3250" spc="120" i="1">
                <a:solidFill>
                  <a:srgbClr val="CC3300"/>
                </a:solidFill>
                <a:latin typeface="Times New Roman"/>
                <a:cs typeface="Times New Roman"/>
              </a:rPr>
              <a:t>l</a:t>
            </a:r>
            <a:r>
              <a:rPr dirty="0" baseline="43543" sz="2775" spc="179">
                <a:solidFill>
                  <a:srgbClr val="CC3300"/>
                </a:solidFill>
                <a:latin typeface="Times New Roman"/>
                <a:cs typeface="Times New Roman"/>
              </a:rPr>
              <a:t>3</a:t>
            </a:r>
            <a:endParaRPr baseline="43543" sz="27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36077" y="696277"/>
            <a:ext cx="156718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1330" b="1">
                <a:solidFill>
                  <a:srgbClr val="333399"/>
                </a:solidFill>
                <a:latin typeface="华文隶书"/>
                <a:cs typeface="华文隶书"/>
              </a:rPr>
              <a:t>整</a:t>
            </a:r>
            <a:r>
              <a:rPr dirty="0" sz="5400" spc="-10" b="1">
                <a:solidFill>
                  <a:srgbClr val="333399"/>
                </a:solidFill>
                <a:latin typeface="华文隶书"/>
                <a:cs typeface="华文隶书"/>
              </a:rPr>
              <a:t>合</a:t>
            </a:r>
            <a:endParaRPr sz="5400">
              <a:latin typeface="华文隶书"/>
              <a:cs typeface="华文隶书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41958" y="2122932"/>
            <a:ext cx="265468" cy="2654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27936" y="1925307"/>
            <a:ext cx="5475376" cy="5690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2383" y="3167888"/>
            <a:ext cx="1673301" cy="5970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27783" y="3340557"/>
            <a:ext cx="372973" cy="2461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82200" y="2862173"/>
            <a:ext cx="821194" cy="4737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12249" y="3612705"/>
            <a:ext cx="1799145" cy="4956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62262" y="3473450"/>
            <a:ext cx="1754505" cy="0"/>
          </a:xfrm>
          <a:custGeom>
            <a:avLst/>
            <a:gdLst/>
            <a:ahLst/>
            <a:cxnLst/>
            <a:rect l="l" t="t" r="r" b="b"/>
            <a:pathLst>
              <a:path w="1754504" h="0">
                <a:moveTo>
                  <a:pt x="0" y="0"/>
                </a:moveTo>
                <a:lnTo>
                  <a:pt x="1754187" y="0"/>
                </a:lnTo>
              </a:path>
            </a:pathLst>
          </a:custGeom>
          <a:ln w="38100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43765" y="2886862"/>
            <a:ext cx="885647" cy="43439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298262" y="3612705"/>
            <a:ext cx="1840738" cy="49566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46687" y="3473450"/>
            <a:ext cx="1755775" cy="0"/>
          </a:xfrm>
          <a:custGeom>
            <a:avLst/>
            <a:gdLst/>
            <a:ahLst/>
            <a:cxnLst/>
            <a:rect l="l" t="t" r="r" b="b"/>
            <a:pathLst>
              <a:path w="1755775" h="0">
                <a:moveTo>
                  <a:pt x="0" y="0"/>
                </a:moveTo>
                <a:lnTo>
                  <a:pt x="1755775" y="0"/>
                </a:lnTo>
              </a:path>
            </a:pathLst>
          </a:custGeom>
          <a:ln w="38100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406990" y="4257128"/>
            <a:ext cx="1332331" cy="4746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18028" y="4979898"/>
            <a:ext cx="3157943" cy="5231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19273" y="4860925"/>
            <a:ext cx="3223260" cy="0"/>
          </a:xfrm>
          <a:custGeom>
            <a:avLst/>
            <a:gdLst/>
            <a:ahLst/>
            <a:cxnLst/>
            <a:rect l="l" t="t" r="r" b="b"/>
            <a:pathLst>
              <a:path w="3223260" h="0">
                <a:moveTo>
                  <a:pt x="0" y="0"/>
                </a:moveTo>
                <a:lnTo>
                  <a:pt x="3222802" y="0"/>
                </a:lnTo>
              </a:path>
            </a:pathLst>
          </a:custGeom>
          <a:ln w="53975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74057" y="3393617"/>
            <a:ext cx="312318" cy="2085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983232" y="4773155"/>
            <a:ext cx="312318" cy="20854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36077" y="696277"/>
            <a:ext cx="156718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1330" b="1">
                <a:solidFill>
                  <a:srgbClr val="333399"/>
                </a:solidFill>
                <a:latin typeface="华文隶书"/>
                <a:cs typeface="华文隶书"/>
              </a:rPr>
              <a:t>整</a:t>
            </a:r>
            <a:r>
              <a:rPr dirty="0" sz="5400" spc="-10" b="1">
                <a:solidFill>
                  <a:srgbClr val="333399"/>
                </a:solidFill>
                <a:latin typeface="华文隶书"/>
                <a:cs typeface="华文隶书"/>
              </a:rPr>
              <a:t>合</a:t>
            </a:r>
            <a:endParaRPr sz="5400">
              <a:latin typeface="华文隶书"/>
              <a:cs typeface="华文隶书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41958" y="2167382"/>
            <a:ext cx="265468" cy="2654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727936" y="1969757"/>
            <a:ext cx="5475376" cy="5690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3722" y="3181299"/>
            <a:ext cx="1037386" cy="5903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50936" y="3387394"/>
            <a:ext cx="318706" cy="2149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86900" y="2862173"/>
            <a:ext cx="821194" cy="4737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73552" y="3607587"/>
            <a:ext cx="885647" cy="4343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366962" y="3473450"/>
            <a:ext cx="1755775" cy="0"/>
          </a:xfrm>
          <a:custGeom>
            <a:avLst/>
            <a:gdLst/>
            <a:ahLst/>
            <a:cxnLst/>
            <a:rect l="l" t="t" r="r" b="b"/>
            <a:pathLst>
              <a:path w="1755775" h="0">
                <a:moveTo>
                  <a:pt x="0" y="0"/>
                </a:moveTo>
                <a:lnTo>
                  <a:pt x="1755775" y="0"/>
                </a:lnTo>
              </a:path>
            </a:pathLst>
          </a:custGeom>
          <a:ln w="38100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58512" y="2847530"/>
            <a:ext cx="1799145" cy="4956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02962" y="3612705"/>
            <a:ext cx="1840738" cy="49566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51387" y="3473450"/>
            <a:ext cx="1755775" cy="0"/>
          </a:xfrm>
          <a:custGeom>
            <a:avLst/>
            <a:gdLst/>
            <a:ahLst/>
            <a:cxnLst/>
            <a:rect l="l" t="t" r="r" b="b"/>
            <a:pathLst>
              <a:path w="1755775" h="0">
                <a:moveTo>
                  <a:pt x="0" y="0"/>
                </a:moveTo>
                <a:lnTo>
                  <a:pt x="1755775" y="0"/>
                </a:lnTo>
              </a:path>
            </a:pathLst>
          </a:custGeom>
          <a:ln w="38100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11690" y="4257128"/>
            <a:ext cx="1755241" cy="4746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03983" y="5000485"/>
            <a:ext cx="4037596" cy="48056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23986" y="4860925"/>
            <a:ext cx="4034154" cy="0"/>
          </a:xfrm>
          <a:custGeom>
            <a:avLst/>
            <a:gdLst/>
            <a:ahLst/>
            <a:cxnLst/>
            <a:rect l="l" t="t" r="r" b="b"/>
            <a:pathLst>
              <a:path w="4034154" h="0">
                <a:moveTo>
                  <a:pt x="0" y="0"/>
                </a:moveTo>
                <a:lnTo>
                  <a:pt x="4033989" y="0"/>
                </a:lnTo>
              </a:path>
            </a:pathLst>
          </a:custGeom>
          <a:ln w="53975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78757" y="3393617"/>
            <a:ext cx="312318" cy="2085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87932" y="4773155"/>
            <a:ext cx="312318" cy="20854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92837" y="4806950"/>
            <a:ext cx="358775" cy="0"/>
          </a:xfrm>
          <a:custGeom>
            <a:avLst/>
            <a:gdLst/>
            <a:ahLst/>
            <a:cxnLst/>
            <a:rect l="l" t="t" r="r" b="b"/>
            <a:pathLst>
              <a:path w="358775" h="0">
                <a:moveTo>
                  <a:pt x="0" y="0"/>
                </a:moveTo>
                <a:lnTo>
                  <a:pt x="358775" y="0"/>
                </a:lnTo>
              </a:path>
            </a:pathLst>
          </a:custGeom>
          <a:ln w="38100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192837" y="4941887"/>
            <a:ext cx="358775" cy="0"/>
          </a:xfrm>
          <a:custGeom>
            <a:avLst/>
            <a:gdLst/>
            <a:ahLst/>
            <a:cxnLst/>
            <a:rect l="l" t="t" r="r" b="b"/>
            <a:pathLst>
              <a:path w="358775" h="0">
                <a:moveTo>
                  <a:pt x="0" y="0"/>
                </a:moveTo>
                <a:lnTo>
                  <a:pt x="358775" y="0"/>
                </a:lnTo>
              </a:path>
            </a:pathLst>
          </a:custGeom>
          <a:ln w="38100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46736" y="4679060"/>
            <a:ext cx="255904" cy="363855"/>
          </a:xfrm>
          <a:custGeom>
            <a:avLst/>
            <a:gdLst/>
            <a:ahLst/>
            <a:cxnLst/>
            <a:rect l="l" t="t" r="r" b="b"/>
            <a:pathLst>
              <a:path w="255904" h="363854">
                <a:moveTo>
                  <a:pt x="31902" y="363727"/>
                </a:moveTo>
                <a:lnTo>
                  <a:pt x="0" y="342900"/>
                </a:lnTo>
                <a:lnTo>
                  <a:pt x="223837" y="0"/>
                </a:lnTo>
                <a:lnTo>
                  <a:pt x="255739" y="20827"/>
                </a:lnTo>
                <a:lnTo>
                  <a:pt x="31902" y="363727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42100" y="4868862"/>
            <a:ext cx="2205355" cy="0"/>
          </a:xfrm>
          <a:custGeom>
            <a:avLst/>
            <a:gdLst/>
            <a:ahLst/>
            <a:cxnLst/>
            <a:rect l="l" t="t" r="r" b="b"/>
            <a:pathLst>
              <a:path w="2205354" h="0">
                <a:moveTo>
                  <a:pt x="0" y="0"/>
                </a:moveTo>
                <a:lnTo>
                  <a:pt x="2205037" y="0"/>
                </a:lnTo>
              </a:path>
            </a:pathLst>
          </a:custGeom>
          <a:ln w="38100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826466" y="4257128"/>
            <a:ext cx="1755241" cy="47462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72503" y="5022303"/>
            <a:ext cx="1796846" cy="47462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0000"/>
                </a:solidFill>
              </a:rPr>
              <a:t>例</a:t>
            </a:r>
            <a:r>
              <a:rPr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>
                <a:solidFill>
                  <a:srgbClr val="FF0000"/>
                </a:solidFill>
              </a:rPr>
              <a:t>：</a:t>
            </a:r>
            <a:r>
              <a:rPr dirty="0"/>
              <a:t>下列叙述中正确的是</a:t>
            </a:r>
            <a:r>
              <a:rPr dirty="0" spc="-20"/>
              <a:t>：</a:t>
            </a:r>
          </a:p>
        </p:txBody>
      </p:sp>
      <p:sp>
        <p:nvSpPr>
          <p:cNvPr id="7" name="object 7"/>
          <p:cNvSpPr/>
          <p:nvPr/>
        </p:nvSpPr>
        <p:spPr>
          <a:xfrm>
            <a:off x="823912" y="3595687"/>
            <a:ext cx="7431405" cy="509905"/>
          </a:xfrm>
          <a:custGeom>
            <a:avLst/>
            <a:gdLst/>
            <a:ahLst/>
            <a:cxnLst/>
            <a:rect l="l" t="t" r="r" b="b"/>
            <a:pathLst>
              <a:path w="7431405" h="509904">
                <a:moveTo>
                  <a:pt x="7431087" y="509587"/>
                </a:moveTo>
                <a:lnTo>
                  <a:pt x="0" y="509587"/>
                </a:lnTo>
                <a:lnTo>
                  <a:pt x="0" y="0"/>
                </a:lnTo>
                <a:lnTo>
                  <a:pt x="7431087" y="0"/>
                </a:lnTo>
                <a:lnTo>
                  <a:pt x="7431087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484187"/>
                </a:lnTo>
                <a:lnTo>
                  <a:pt x="12700" y="484187"/>
                </a:lnTo>
                <a:lnTo>
                  <a:pt x="25400" y="496887"/>
                </a:lnTo>
                <a:lnTo>
                  <a:pt x="7431087" y="496887"/>
                </a:lnTo>
                <a:lnTo>
                  <a:pt x="7431087" y="509587"/>
                </a:lnTo>
                <a:close/>
              </a:path>
              <a:path w="7431405" h="509904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7431405" h="509904">
                <a:moveTo>
                  <a:pt x="7405687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7405687" y="12700"/>
                </a:lnTo>
                <a:lnTo>
                  <a:pt x="7405687" y="25400"/>
                </a:lnTo>
                <a:close/>
              </a:path>
              <a:path w="7431405" h="509904">
                <a:moveTo>
                  <a:pt x="7405687" y="496887"/>
                </a:moveTo>
                <a:lnTo>
                  <a:pt x="7405687" y="12700"/>
                </a:lnTo>
                <a:lnTo>
                  <a:pt x="7418387" y="25400"/>
                </a:lnTo>
                <a:lnTo>
                  <a:pt x="7431087" y="25400"/>
                </a:lnTo>
                <a:lnTo>
                  <a:pt x="7431087" y="484187"/>
                </a:lnTo>
                <a:lnTo>
                  <a:pt x="7418387" y="484187"/>
                </a:lnTo>
                <a:lnTo>
                  <a:pt x="7405687" y="496887"/>
                </a:lnTo>
                <a:close/>
              </a:path>
              <a:path w="7431405" h="509904">
                <a:moveTo>
                  <a:pt x="7431087" y="25400"/>
                </a:moveTo>
                <a:lnTo>
                  <a:pt x="7418387" y="25400"/>
                </a:lnTo>
                <a:lnTo>
                  <a:pt x="7405687" y="12700"/>
                </a:lnTo>
                <a:lnTo>
                  <a:pt x="7431087" y="12700"/>
                </a:lnTo>
                <a:lnTo>
                  <a:pt x="7431087" y="25400"/>
                </a:lnTo>
                <a:close/>
              </a:path>
              <a:path w="7431405" h="509904">
                <a:moveTo>
                  <a:pt x="25400" y="496887"/>
                </a:moveTo>
                <a:lnTo>
                  <a:pt x="12700" y="484187"/>
                </a:lnTo>
                <a:lnTo>
                  <a:pt x="25400" y="484187"/>
                </a:lnTo>
                <a:lnTo>
                  <a:pt x="25400" y="496887"/>
                </a:lnTo>
                <a:close/>
              </a:path>
              <a:path w="7431405" h="509904">
                <a:moveTo>
                  <a:pt x="7405687" y="496887"/>
                </a:moveTo>
                <a:lnTo>
                  <a:pt x="25400" y="496887"/>
                </a:lnTo>
                <a:lnTo>
                  <a:pt x="25400" y="484187"/>
                </a:lnTo>
                <a:lnTo>
                  <a:pt x="7405687" y="484187"/>
                </a:lnTo>
                <a:lnTo>
                  <a:pt x="7405687" y="496887"/>
                </a:lnTo>
                <a:close/>
              </a:path>
              <a:path w="7431405" h="509904">
                <a:moveTo>
                  <a:pt x="7431087" y="496887"/>
                </a:moveTo>
                <a:lnTo>
                  <a:pt x="7405687" y="496887"/>
                </a:lnTo>
                <a:lnTo>
                  <a:pt x="7418387" y="484187"/>
                </a:lnTo>
                <a:lnTo>
                  <a:pt x="7431087" y="484187"/>
                </a:lnTo>
                <a:lnTo>
                  <a:pt x="7431087" y="49688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8600" rIns="0" bIns="0" rtlCol="0" vert="horz">
            <a:spAutoFit/>
          </a:bodyPr>
          <a:lstStyle/>
          <a:p>
            <a:pPr marL="534035" indent="-434340">
              <a:lnSpc>
                <a:spcPct val="100000"/>
              </a:lnSpc>
              <a:spcBef>
                <a:spcPts val="1800"/>
              </a:spcBef>
              <a:buAutoNum type="alphaUcPeriod"/>
              <a:tabLst>
                <a:tab pos="534670" algn="l"/>
              </a:tabLst>
            </a:pPr>
            <a:r>
              <a:rPr dirty="0" spc="-5">
                <a:latin typeface="Times New Roman"/>
                <a:cs typeface="Times New Roman"/>
              </a:rPr>
              <a:t>1cm</a:t>
            </a:r>
            <a:r>
              <a:rPr dirty="0" baseline="21604" sz="2700" spc="-7">
                <a:latin typeface="Times New Roman"/>
                <a:cs typeface="Times New Roman"/>
              </a:rPr>
              <a:t>3</a:t>
            </a:r>
            <a:r>
              <a:rPr dirty="0" sz="2800"/>
              <a:t>的氧气中所含有的氧分子数为</a:t>
            </a:r>
            <a:r>
              <a:rPr dirty="0" sz="2800">
                <a:latin typeface="Times New Roman"/>
                <a:cs typeface="Times New Roman"/>
              </a:rPr>
              <a:t>6.02</a:t>
            </a:r>
            <a:r>
              <a:rPr dirty="0" sz="2800"/>
              <a:t>×</a:t>
            </a:r>
            <a:r>
              <a:rPr dirty="0" sz="2800">
                <a:latin typeface="Times New Roman"/>
                <a:cs typeface="Times New Roman"/>
              </a:rPr>
              <a:t>10</a:t>
            </a:r>
            <a:r>
              <a:rPr dirty="0" baseline="21604" sz="2700">
                <a:latin typeface="Times New Roman"/>
                <a:cs typeface="Times New Roman"/>
              </a:rPr>
              <a:t>23</a:t>
            </a:r>
            <a:r>
              <a:rPr dirty="0" sz="2800" spc="-20"/>
              <a:t>个</a:t>
            </a:r>
            <a:endParaRPr sz="2800">
              <a:latin typeface="Times New Roman"/>
              <a:cs typeface="Times New Roman"/>
            </a:endParaRPr>
          </a:p>
          <a:p>
            <a:pPr marL="514984" indent="-415290">
              <a:lnSpc>
                <a:spcPct val="100000"/>
              </a:lnSpc>
              <a:spcBef>
                <a:spcPts val="1700"/>
              </a:spcBef>
              <a:buAutoNum type="alphaUcPeriod"/>
              <a:tabLst>
                <a:tab pos="515620" algn="l"/>
              </a:tabLst>
            </a:pPr>
            <a:r>
              <a:rPr dirty="0" spc="-5">
                <a:latin typeface="Times New Roman"/>
                <a:cs typeface="Times New Roman"/>
              </a:rPr>
              <a:t>1</a:t>
            </a:r>
            <a:r>
              <a:rPr dirty="0"/>
              <a:t>克氧气中所含有的氧分子数为</a:t>
            </a:r>
            <a:r>
              <a:rPr dirty="0" spc="-5">
                <a:latin typeface="Times New Roman"/>
                <a:cs typeface="Times New Roman"/>
              </a:rPr>
              <a:t>6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5">
                <a:latin typeface="Arial"/>
                <a:cs typeface="Arial"/>
              </a:rPr>
              <a:t>.02 </a:t>
            </a:r>
            <a:r>
              <a:rPr dirty="0"/>
              <a:t>×</a:t>
            </a:r>
            <a:r>
              <a:rPr dirty="0">
                <a:latin typeface="Times New Roman"/>
                <a:cs typeface="Times New Roman"/>
              </a:rPr>
              <a:t>10</a:t>
            </a:r>
            <a:r>
              <a:rPr dirty="0" baseline="21604" sz="2700">
                <a:latin typeface="Times New Roman"/>
                <a:cs typeface="Times New Roman"/>
              </a:rPr>
              <a:t>23</a:t>
            </a:r>
            <a:r>
              <a:rPr dirty="0" sz="2800"/>
              <a:t>个</a:t>
            </a:r>
            <a:r>
              <a:rPr dirty="0" sz="2800" spc="-20"/>
              <a:t>；</a:t>
            </a:r>
            <a:endParaRPr sz="2800">
              <a:latin typeface="Times New Roman"/>
              <a:cs typeface="Times New Roman"/>
            </a:endParaRPr>
          </a:p>
          <a:p>
            <a:pPr marL="534035" indent="-434340">
              <a:lnSpc>
                <a:spcPct val="100000"/>
              </a:lnSpc>
              <a:spcBef>
                <a:spcPts val="1680"/>
              </a:spcBef>
              <a:buAutoNum type="alphaUcPeriod"/>
              <a:tabLst>
                <a:tab pos="534670" algn="l"/>
              </a:tabLst>
            </a:pPr>
            <a:r>
              <a:rPr dirty="0" spc="-5">
                <a:latin typeface="Times New Roman"/>
                <a:cs typeface="Times New Roman"/>
              </a:rPr>
              <a:t>1</a:t>
            </a:r>
            <a:r>
              <a:rPr dirty="0"/>
              <a:t>升氧气中含氧分子数是</a:t>
            </a:r>
            <a:r>
              <a:rPr dirty="0" spc="-5">
                <a:latin typeface="Times New Roman"/>
                <a:cs typeface="Times New Roman"/>
              </a:rPr>
              <a:t>6 </a:t>
            </a:r>
            <a:r>
              <a:rPr dirty="0" spc="-5">
                <a:latin typeface="Arial"/>
                <a:cs typeface="Arial"/>
              </a:rPr>
              <a:t>.02</a:t>
            </a:r>
            <a:r>
              <a:rPr dirty="0">
                <a:latin typeface="Arial"/>
                <a:cs typeface="Arial"/>
              </a:rPr>
              <a:t> </a:t>
            </a:r>
            <a:r>
              <a:rPr dirty="0"/>
              <a:t>×</a:t>
            </a:r>
            <a:r>
              <a:rPr dirty="0">
                <a:latin typeface="Times New Roman"/>
                <a:cs typeface="Times New Roman"/>
              </a:rPr>
              <a:t>10</a:t>
            </a:r>
            <a:r>
              <a:rPr dirty="0" baseline="21604" sz="2700">
                <a:latin typeface="Times New Roman"/>
                <a:cs typeface="Times New Roman"/>
              </a:rPr>
              <a:t>23</a:t>
            </a:r>
            <a:r>
              <a:rPr dirty="0" sz="2800"/>
              <a:t>个</a:t>
            </a:r>
            <a:r>
              <a:rPr dirty="0" sz="2800" spc="-20"/>
              <a:t>；</a:t>
            </a:r>
            <a:endParaRPr sz="2800">
              <a:latin typeface="Times New Roman"/>
              <a:cs typeface="Times New Roman"/>
            </a:endParaRPr>
          </a:p>
          <a:p>
            <a:pPr marL="534035" indent="-434340">
              <a:lnSpc>
                <a:spcPct val="100000"/>
              </a:lnSpc>
              <a:spcBef>
                <a:spcPts val="1680"/>
              </a:spcBef>
              <a:buAutoNum type="alphaUcPeriod"/>
              <a:tabLst>
                <a:tab pos="534670" algn="l"/>
              </a:tabLst>
            </a:pPr>
            <a:r>
              <a:rPr dirty="0" spc="-5">
                <a:latin typeface="Times New Roman"/>
                <a:cs typeface="Times New Roman"/>
              </a:rPr>
              <a:t>1</a:t>
            </a:r>
            <a:r>
              <a:rPr dirty="0"/>
              <a:t>摩氧气中所含有的氧分子数是</a:t>
            </a:r>
            <a:r>
              <a:rPr dirty="0" spc="-5">
                <a:latin typeface="Times New Roman"/>
                <a:cs typeface="Times New Roman"/>
              </a:rPr>
              <a:t>6 </a:t>
            </a:r>
            <a:r>
              <a:rPr dirty="0" spc="-5">
                <a:latin typeface="Arial"/>
                <a:cs typeface="Arial"/>
              </a:rPr>
              <a:t>.02</a:t>
            </a:r>
            <a:r>
              <a:rPr dirty="0">
                <a:latin typeface="Arial"/>
                <a:cs typeface="Arial"/>
              </a:rPr>
              <a:t> </a:t>
            </a:r>
            <a:r>
              <a:rPr dirty="0"/>
              <a:t>×</a:t>
            </a:r>
            <a:r>
              <a:rPr dirty="0">
                <a:latin typeface="Times New Roman"/>
                <a:cs typeface="Times New Roman"/>
              </a:rPr>
              <a:t>10</a:t>
            </a:r>
            <a:r>
              <a:rPr dirty="0" baseline="21604" sz="2700">
                <a:latin typeface="Times New Roman"/>
                <a:cs typeface="Times New Roman"/>
              </a:rPr>
              <a:t>23</a:t>
            </a:r>
            <a:endParaRPr baseline="21604" sz="27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1670"/>
              </a:spcBef>
            </a:pPr>
            <a:r>
              <a:rPr dirty="0" sz="3600">
                <a:solidFill>
                  <a:srgbClr val="FF0000"/>
                </a:solidFill>
              </a:rPr>
              <a:t>摩尔质量</a:t>
            </a:r>
            <a:r>
              <a:rPr dirty="0" sz="3600" spc="-5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3600">
                <a:solidFill>
                  <a:srgbClr val="FF0000"/>
                </a:solidFill>
              </a:rPr>
              <a:t>分子</a:t>
            </a:r>
            <a:r>
              <a:rPr dirty="0" sz="3600" spc="-15">
                <a:solidFill>
                  <a:srgbClr val="FF0000"/>
                </a:solidFill>
              </a:rPr>
              <a:t>量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dirty="0" sz="3600">
                <a:solidFill>
                  <a:srgbClr val="FF0000"/>
                </a:solidFill>
              </a:rPr>
              <a:t>摩尔体积</a:t>
            </a:r>
            <a:r>
              <a:rPr dirty="0" sz="3600" spc="-5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3600">
                <a:solidFill>
                  <a:srgbClr val="FF0000"/>
                </a:solidFill>
              </a:rPr>
              <a:t>摩尔质量</a:t>
            </a:r>
            <a:r>
              <a:rPr dirty="0" sz="3600" spc="-5">
                <a:solidFill>
                  <a:srgbClr val="FF0000"/>
                </a:solidFill>
                <a:latin typeface="Times New Roman"/>
                <a:cs typeface="Times New Roman"/>
              </a:rPr>
              <a:t>/</a:t>
            </a:r>
            <a:r>
              <a:rPr dirty="0" sz="3600">
                <a:solidFill>
                  <a:srgbClr val="FF0000"/>
                </a:solidFill>
              </a:rPr>
              <a:t>密</a:t>
            </a:r>
            <a:r>
              <a:rPr dirty="0" sz="3600" spc="-15">
                <a:solidFill>
                  <a:srgbClr val="FF0000"/>
                </a:solidFill>
              </a:rPr>
              <a:t>度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10652" y="1111250"/>
            <a:ext cx="187706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333399"/>
                </a:solidFill>
              </a:rPr>
              <a:t>例题</a:t>
            </a:r>
            <a:r>
              <a:rPr dirty="0" sz="4000" spc="-5">
                <a:solidFill>
                  <a:srgbClr val="333399"/>
                </a:solidFill>
                <a:latin typeface="Tahoma"/>
                <a:cs typeface="Tahoma"/>
              </a:rPr>
              <a:t>2</a:t>
            </a:r>
            <a:r>
              <a:rPr dirty="0" sz="4000" spc="-25">
                <a:solidFill>
                  <a:srgbClr val="333399"/>
                </a:solidFill>
              </a:rPr>
              <a:t>：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5332" y="1944814"/>
            <a:ext cx="7560945" cy="2757170"/>
          </a:xfrm>
          <a:prstGeom prst="rect">
            <a:avLst/>
          </a:prstGeom>
        </p:spPr>
        <p:txBody>
          <a:bodyPr wrap="square" lIns="0" tIns="184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50"/>
              </a:spcBef>
              <a:tabLst>
                <a:tab pos="4808220" algn="l"/>
              </a:tabLst>
            </a:pPr>
            <a:r>
              <a:rPr dirty="0" sz="2800" b="1">
                <a:latin typeface="黑体"/>
                <a:cs typeface="黑体"/>
              </a:rPr>
              <a:t>已知空气的摩尔质量是，</a:t>
            </a:r>
            <a:r>
              <a:rPr dirty="0" sz="2800" b="1" i="1">
                <a:latin typeface="Times New Roman"/>
                <a:cs typeface="Times New Roman"/>
              </a:rPr>
              <a:t>M</a:t>
            </a:r>
            <a:r>
              <a:rPr dirty="0" baseline="-16975" sz="2700" b="1">
                <a:latin typeface="Times New Roman"/>
                <a:cs typeface="Times New Roman"/>
              </a:rPr>
              <a:t>A</a:t>
            </a:r>
            <a:r>
              <a:rPr dirty="0" sz="2800" b="1">
                <a:latin typeface="Times New Roman"/>
                <a:cs typeface="Times New Roman"/>
              </a:rPr>
              <a:t>=	</a:t>
            </a:r>
            <a:r>
              <a:rPr dirty="0" sz="2800" spc="-5" b="1">
                <a:latin typeface="Times New Roman"/>
                <a:cs typeface="Times New Roman"/>
              </a:rPr>
              <a:t>29</a:t>
            </a:r>
            <a:r>
              <a:rPr dirty="0" sz="2800" spc="-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黑体"/>
                <a:cs typeface="黑体"/>
              </a:rPr>
              <a:t>×</a:t>
            </a:r>
            <a:r>
              <a:rPr dirty="0" sz="2800" b="1">
                <a:latin typeface="Times New Roman"/>
                <a:cs typeface="Times New Roman"/>
              </a:rPr>
              <a:t>10</a:t>
            </a:r>
            <a:r>
              <a:rPr dirty="0" baseline="21604" sz="2700" b="1">
                <a:latin typeface="宋体"/>
                <a:cs typeface="宋体"/>
              </a:rPr>
              <a:t>-</a:t>
            </a:r>
            <a:r>
              <a:rPr dirty="0" baseline="21604" sz="2700" b="1">
                <a:latin typeface="Times New Roman"/>
                <a:cs typeface="Times New Roman"/>
              </a:rPr>
              <a:t>3</a:t>
            </a:r>
            <a:r>
              <a:rPr dirty="0" sz="2800" b="1">
                <a:latin typeface="Times New Roman"/>
                <a:cs typeface="Times New Roman"/>
              </a:rPr>
              <a:t>kg/mol</a:t>
            </a:r>
            <a:endParaRPr sz="2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9900"/>
              </a:lnSpc>
              <a:spcBef>
                <a:spcPts val="680"/>
              </a:spcBef>
            </a:pPr>
            <a:r>
              <a:rPr dirty="0" sz="2800" b="1">
                <a:latin typeface="黑体"/>
                <a:cs typeface="黑体"/>
              </a:rPr>
              <a:t>则空气中气体分子的平均质量多大？成年人做</a:t>
            </a:r>
            <a:r>
              <a:rPr dirty="0" sz="2800" spc="-20" b="1">
                <a:latin typeface="黑体"/>
                <a:cs typeface="黑体"/>
              </a:rPr>
              <a:t>一 </a:t>
            </a:r>
            <a:r>
              <a:rPr dirty="0" sz="2800" b="1">
                <a:latin typeface="黑体"/>
                <a:cs typeface="黑体"/>
              </a:rPr>
              <a:t>次深呼吸，约吸入</a:t>
            </a:r>
            <a:r>
              <a:rPr dirty="0" sz="2800" spc="-5" b="1">
                <a:latin typeface="Times New Roman"/>
                <a:cs typeface="Times New Roman"/>
              </a:rPr>
              <a:t>450cm</a:t>
            </a:r>
            <a:r>
              <a:rPr dirty="0" baseline="21604" sz="2700" spc="-7" b="1">
                <a:latin typeface="Times New Roman"/>
                <a:cs typeface="Times New Roman"/>
              </a:rPr>
              <a:t>3</a:t>
            </a:r>
            <a:r>
              <a:rPr dirty="0" sz="2800" b="1">
                <a:latin typeface="黑体"/>
                <a:cs typeface="黑体"/>
              </a:rPr>
              <a:t>的空气，则做一次深</a:t>
            </a:r>
            <a:r>
              <a:rPr dirty="0" sz="2800" spc="-20" b="1">
                <a:latin typeface="黑体"/>
                <a:cs typeface="黑体"/>
              </a:rPr>
              <a:t>呼 </a:t>
            </a:r>
            <a:r>
              <a:rPr dirty="0" sz="2800" b="1">
                <a:latin typeface="黑体"/>
                <a:cs typeface="黑体"/>
              </a:rPr>
              <a:t>吸所吸入的空气质量是多少？所吸入的气体分</a:t>
            </a:r>
            <a:r>
              <a:rPr dirty="0" sz="2800" spc="-20" b="1">
                <a:latin typeface="黑体"/>
                <a:cs typeface="黑体"/>
              </a:rPr>
              <a:t>子 </a:t>
            </a:r>
            <a:r>
              <a:rPr dirty="0" sz="2800" b="1">
                <a:latin typeface="黑体"/>
                <a:cs typeface="黑体"/>
              </a:rPr>
              <a:t>数量是多少？（按标准状况估算</a:t>
            </a:r>
            <a:r>
              <a:rPr dirty="0" sz="2800" spc="-20" b="1">
                <a:latin typeface="黑体"/>
                <a:cs typeface="黑体"/>
              </a:rPr>
              <a:t>）</a:t>
            </a:r>
            <a:endParaRPr sz="2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80527" y="334327"/>
            <a:ext cx="14027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黑体"/>
                <a:cs typeface="黑体"/>
              </a:rPr>
              <a:t>解</a:t>
            </a:r>
            <a:r>
              <a:rPr dirty="0" sz="3600" spc="-15">
                <a:latin typeface="黑体"/>
                <a:cs typeface="黑体"/>
              </a:rPr>
              <a:t>析</a:t>
            </a:r>
            <a:r>
              <a:rPr dirty="0" sz="3600" spc="-80">
                <a:latin typeface="黑体"/>
                <a:cs typeface="黑体"/>
              </a:rPr>
              <a:t> </a:t>
            </a:r>
            <a:r>
              <a:rPr dirty="0" sz="3600" spc="-15">
                <a:latin typeface="黑体"/>
                <a:cs typeface="黑体"/>
              </a:rPr>
              <a:t>: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50402" y="1148397"/>
            <a:ext cx="533209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latin typeface="黑体"/>
                <a:cs typeface="黑体"/>
              </a:rPr>
              <a:t>１．空气分子的平均质量为</a:t>
            </a:r>
            <a:r>
              <a:rPr dirty="0" sz="3200" spc="-10" b="1">
                <a:latin typeface="黑体"/>
                <a:cs typeface="黑体"/>
              </a:rPr>
              <a:t>：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7747" y="2290762"/>
            <a:ext cx="1448435" cy="0"/>
          </a:xfrm>
          <a:custGeom>
            <a:avLst/>
            <a:gdLst/>
            <a:ahLst/>
            <a:cxnLst/>
            <a:rect l="l" t="t" r="r" b="b"/>
            <a:pathLst>
              <a:path w="1448435" h="0">
                <a:moveTo>
                  <a:pt x="0" y="0"/>
                </a:moveTo>
                <a:lnTo>
                  <a:pt x="1447901" y="0"/>
                </a:lnTo>
              </a:path>
            </a:pathLst>
          </a:custGeom>
          <a:ln w="13893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522878" y="2286749"/>
            <a:ext cx="140144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30">
                <a:solidFill>
                  <a:srgbClr val="CC3300"/>
                </a:solidFill>
                <a:latin typeface="Times New Roman"/>
                <a:cs typeface="Times New Roman"/>
              </a:rPr>
              <a:t>6.02</a:t>
            </a:r>
            <a:r>
              <a:rPr dirty="0" sz="2550" spc="-32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550" spc="75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550" spc="75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baseline="42592" sz="2250" spc="112">
                <a:solidFill>
                  <a:srgbClr val="CC3300"/>
                </a:solidFill>
                <a:latin typeface="Times New Roman"/>
                <a:cs typeface="Times New Roman"/>
              </a:rPr>
              <a:t>23</a:t>
            </a:r>
            <a:endParaRPr baseline="42592" sz="2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45992" y="1786559"/>
            <a:ext cx="116459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5">
                <a:solidFill>
                  <a:srgbClr val="CC3300"/>
                </a:solidFill>
                <a:latin typeface="Times New Roman"/>
                <a:cs typeface="Times New Roman"/>
              </a:rPr>
              <a:t>29</a:t>
            </a:r>
            <a:r>
              <a:rPr dirty="0" sz="2550" spc="-305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550" spc="55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550" spc="55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sz="2550" spc="-43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baseline="42592" sz="2250" spc="60">
                <a:solidFill>
                  <a:srgbClr val="CC3300"/>
                </a:solidFill>
                <a:latin typeface="Symbol"/>
                <a:cs typeface="Symbol"/>
              </a:rPr>
              <a:t></a:t>
            </a:r>
            <a:r>
              <a:rPr dirty="0" baseline="42592" sz="2250" spc="60">
                <a:solidFill>
                  <a:srgbClr val="CC3300"/>
                </a:solidFill>
                <a:latin typeface="Times New Roman"/>
                <a:cs typeface="Times New Roman"/>
              </a:rPr>
              <a:t>3</a:t>
            </a:r>
            <a:endParaRPr baseline="42592"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2048" y="2033270"/>
            <a:ext cx="398145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824355" algn="l"/>
              </a:tabLst>
            </a:pPr>
            <a:r>
              <a:rPr dirty="0" sz="2550" spc="10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sz="2550" spc="1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dirty="0" sz="2550" spc="10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sz="2550" spc="2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550" spc="30">
                <a:solidFill>
                  <a:srgbClr val="CC3300"/>
                </a:solidFill>
                <a:latin typeface="Times New Roman"/>
                <a:cs typeface="Times New Roman"/>
              </a:rPr>
              <a:t>4.82</a:t>
            </a:r>
            <a:r>
              <a:rPr dirty="0" sz="2550" spc="-275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550" spc="55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550" spc="55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sz="2550" spc="-409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baseline="42592" sz="2250" spc="60">
                <a:solidFill>
                  <a:srgbClr val="CC3300"/>
                </a:solidFill>
                <a:latin typeface="Symbol"/>
                <a:cs typeface="Symbol"/>
              </a:rPr>
              <a:t></a:t>
            </a:r>
            <a:r>
              <a:rPr dirty="0" baseline="42592" sz="2250" spc="60">
                <a:solidFill>
                  <a:srgbClr val="CC3300"/>
                </a:solidFill>
                <a:latin typeface="Times New Roman"/>
                <a:cs typeface="Times New Roman"/>
              </a:rPr>
              <a:t>26</a:t>
            </a:r>
            <a:r>
              <a:rPr dirty="0" baseline="42592" sz="2250" spc="37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550" spc="5">
                <a:solidFill>
                  <a:srgbClr val="CC3300"/>
                </a:solidFill>
                <a:latin typeface="Times New Roman"/>
                <a:cs typeface="Times New Roman"/>
              </a:rPr>
              <a:t>kg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9440" y="2504008"/>
            <a:ext cx="14224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i="1">
                <a:solidFill>
                  <a:srgbClr val="CC3300"/>
                </a:solidFill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72702" y="2286749"/>
            <a:ext cx="24384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5" i="1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9877" y="1828800"/>
            <a:ext cx="29781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5" i="1">
                <a:solidFill>
                  <a:srgbClr val="CC3300"/>
                </a:solidFill>
                <a:latin typeface="Times New Roman"/>
                <a:cs typeface="Times New Roman"/>
              </a:rPr>
              <a:t>M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01824" y="1909914"/>
            <a:ext cx="111188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982344" algn="l"/>
              </a:tabLst>
            </a:pPr>
            <a:r>
              <a:rPr dirty="0" baseline="-20697" sz="3825" spc="22" i="1">
                <a:solidFill>
                  <a:srgbClr val="CC3300"/>
                </a:solidFill>
                <a:latin typeface="Times New Roman"/>
                <a:cs typeface="Times New Roman"/>
              </a:rPr>
              <a:t>m</a:t>
            </a:r>
            <a:r>
              <a:rPr dirty="0" baseline="-20697" sz="3825" spc="112" i="1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baseline="-20697" sz="3825" spc="15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baseline="-20697" sz="3825" spc="15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u="heavy" sz="1500">
                <a:solidFill>
                  <a:srgbClr val="CC33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heavy" sz="1500" i="1">
                <a:solidFill>
                  <a:srgbClr val="CC3300"/>
                </a:solidFill>
                <a:uFill>
                  <a:solidFill>
                    <a:srgbClr val="CC3300"/>
                  </a:solidFill>
                </a:uFill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0902" y="2721610"/>
            <a:ext cx="73526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黑体"/>
                <a:cs typeface="黑体"/>
              </a:rPr>
              <a:t>2．成年人做一次深呼吸所吸入的空气质量为</a:t>
            </a:r>
            <a:r>
              <a:rPr dirty="0" sz="2800" spc="-20" b="1">
                <a:latin typeface="黑体"/>
                <a:cs typeface="黑体"/>
              </a:rPr>
              <a:t>：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49360" y="3889375"/>
            <a:ext cx="1602105" cy="0"/>
          </a:xfrm>
          <a:custGeom>
            <a:avLst/>
            <a:gdLst/>
            <a:ahLst/>
            <a:cxnLst/>
            <a:rect l="l" t="t" r="r" b="b"/>
            <a:pathLst>
              <a:path w="1602104" h="0">
                <a:moveTo>
                  <a:pt x="0" y="0"/>
                </a:moveTo>
                <a:lnTo>
                  <a:pt x="1601558" y="0"/>
                </a:lnTo>
              </a:path>
            </a:pathLst>
          </a:custGeom>
          <a:ln w="15621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990759" y="3596233"/>
            <a:ext cx="4084320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950" spc="-35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950" spc="70">
                <a:solidFill>
                  <a:srgbClr val="CC3300"/>
                </a:solidFill>
                <a:latin typeface="Times New Roman"/>
                <a:cs typeface="Times New Roman"/>
              </a:rPr>
              <a:t>29</a:t>
            </a:r>
            <a:r>
              <a:rPr dirty="0" sz="2950" spc="70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950" spc="70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baseline="44117" sz="2550" spc="104">
                <a:solidFill>
                  <a:srgbClr val="CC3300"/>
                </a:solidFill>
                <a:latin typeface="Symbol"/>
                <a:cs typeface="Symbol"/>
              </a:rPr>
              <a:t></a:t>
            </a:r>
            <a:r>
              <a:rPr dirty="0" baseline="44117" sz="2550" spc="104">
                <a:solidFill>
                  <a:srgbClr val="CC3300"/>
                </a:solidFill>
                <a:latin typeface="Times New Roman"/>
                <a:cs typeface="Times New Roman"/>
              </a:rPr>
              <a:t>3</a:t>
            </a:r>
            <a:r>
              <a:rPr dirty="0" baseline="44117" sz="2550" spc="-172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950" spc="5">
                <a:solidFill>
                  <a:srgbClr val="CC3300"/>
                </a:solidFill>
                <a:latin typeface="Times New Roman"/>
                <a:cs typeface="Times New Roman"/>
              </a:rPr>
              <a:t>kg</a:t>
            </a:r>
            <a:r>
              <a:rPr dirty="0" sz="2950" spc="-35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sz="2950" spc="-165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950" spc="60">
                <a:solidFill>
                  <a:srgbClr val="CC3300"/>
                </a:solidFill>
                <a:latin typeface="Times New Roman"/>
                <a:cs typeface="Times New Roman"/>
              </a:rPr>
              <a:t>5.8</a:t>
            </a:r>
            <a:r>
              <a:rPr dirty="0" sz="2950" spc="60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950" spc="60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baseline="44117" sz="2550" spc="89">
                <a:solidFill>
                  <a:srgbClr val="CC3300"/>
                </a:solidFill>
                <a:latin typeface="Symbol"/>
                <a:cs typeface="Symbol"/>
              </a:rPr>
              <a:t></a:t>
            </a:r>
            <a:r>
              <a:rPr dirty="0" baseline="44117" sz="2550" spc="89">
                <a:solidFill>
                  <a:srgbClr val="CC3300"/>
                </a:solidFill>
                <a:latin typeface="Times New Roman"/>
                <a:cs typeface="Times New Roman"/>
              </a:rPr>
              <a:t>4</a:t>
            </a:r>
            <a:r>
              <a:rPr dirty="0" baseline="44117" sz="2550" spc="-89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950" spc="5">
                <a:solidFill>
                  <a:srgbClr val="CC3300"/>
                </a:solidFill>
                <a:latin typeface="Times New Roman"/>
                <a:cs typeface="Times New Roman"/>
              </a:rPr>
              <a:t>kg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61958" y="3180379"/>
            <a:ext cx="1553845" cy="1186180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125"/>
              </a:spcBef>
            </a:pPr>
            <a:r>
              <a:rPr dirty="0" sz="2950" spc="65">
                <a:solidFill>
                  <a:srgbClr val="CC3300"/>
                </a:solidFill>
                <a:latin typeface="Times New Roman"/>
                <a:cs typeface="Times New Roman"/>
              </a:rPr>
              <a:t>450</a:t>
            </a:r>
            <a:r>
              <a:rPr dirty="0" sz="2950" spc="65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950" spc="65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baseline="44117" sz="2550" spc="97">
                <a:solidFill>
                  <a:srgbClr val="CC3300"/>
                </a:solidFill>
                <a:latin typeface="Symbol"/>
                <a:cs typeface="Symbol"/>
              </a:rPr>
              <a:t></a:t>
            </a:r>
            <a:r>
              <a:rPr dirty="0" baseline="44117" sz="2550" spc="97">
                <a:solidFill>
                  <a:srgbClr val="CC3300"/>
                </a:solidFill>
                <a:latin typeface="Times New Roman"/>
                <a:cs typeface="Times New Roman"/>
              </a:rPr>
              <a:t>6</a:t>
            </a:r>
            <a:endParaRPr baseline="44117"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2950" spc="-5">
                <a:solidFill>
                  <a:srgbClr val="CC3300"/>
                </a:solidFill>
                <a:latin typeface="Times New Roman"/>
                <a:cs typeface="Times New Roman"/>
              </a:rPr>
              <a:t>22.4</a:t>
            </a:r>
            <a:r>
              <a:rPr dirty="0" sz="2950" spc="-52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950" spc="45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950" spc="45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baseline="44117" sz="2550" spc="67">
                <a:solidFill>
                  <a:srgbClr val="CC3300"/>
                </a:solidFill>
                <a:latin typeface="Symbol"/>
                <a:cs typeface="Symbol"/>
              </a:rPr>
              <a:t></a:t>
            </a:r>
            <a:r>
              <a:rPr dirty="0" baseline="44117" sz="2550" spc="67">
                <a:solidFill>
                  <a:srgbClr val="CC3300"/>
                </a:solidFill>
                <a:latin typeface="Times New Roman"/>
                <a:cs typeface="Times New Roman"/>
              </a:rPr>
              <a:t>3</a:t>
            </a:r>
            <a:endParaRPr baseline="44117" sz="2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01076" y="3596233"/>
            <a:ext cx="669925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-10" i="1">
                <a:solidFill>
                  <a:srgbClr val="CC3300"/>
                </a:solidFill>
                <a:latin typeface="Times New Roman"/>
                <a:cs typeface="Times New Roman"/>
              </a:rPr>
              <a:t>m</a:t>
            </a:r>
            <a:r>
              <a:rPr dirty="0" baseline="2824" sz="4425" spc="-15">
                <a:solidFill>
                  <a:srgbClr val="CC3300"/>
                </a:solidFill>
                <a:latin typeface="Symbol"/>
                <a:cs typeface="Symbol"/>
              </a:rPr>
              <a:t></a:t>
            </a:r>
            <a:r>
              <a:rPr dirty="0" baseline="2824" sz="4425" spc="-33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0777" y="4386897"/>
            <a:ext cx="395541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黑体"/>
                <a:cs typeface="黑体"/>
              </a:rPr>
              <a:t>３．所吸入的分子数为</a:t>
            </a:r>
            <a:r>
              <a:rPr dirty="0" sz="2800" spc="-20" b="1">
                <a:latin typeface="黑体"/>
                <a:cs typeface="黑体"/>
              </a:rPr>
              <a:t>：</a:t>
            </a:r>
            <a:endParaRPr sz="2800">
              <a:latin typeface="黑体"/>
              <a:cs typeface="黑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250579" y="5459095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 h="0">
                <a:moveTo>
                  <a:pt x="0" y="0"/>
                </a:moveTo>
                <a:lnTo>
                  <a:pt x="410971" y="0"/>
                </a:lnTo>
              </a:path>
            </a:pathLst>
          </a:custGeom>
          <a:ln w="18681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78645" y="5459095"/>
            <a:ext cx="2195195" cy="0"/>
          </a:xfrm>
          <a:custGeom>
            <a:avLst/>
            <a:gdLst/>
            <a:ahLst/>
            <a:cxnLst/>
            <a:rect l="l" t="t" r="r" b="b"/>
            <a:pathLst>
              <a:path w="2195195" h="0">
                <a:moveTo>
                  <a:pt x="0" y="0"/>
                </a:moveTo>
                <a:lnTo>
                  <a:pt x="2194915" y="0"/>
                </a:lnTo>
              </a:path>
            </a:pathLst>
          </a:custGeom>
          <a:ln w="18681">
            <a:solidFill>
              <a:srgbClr val="CC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262416" y="4927727"/>
            <a:ext cx="396875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2923" sz="4275" spc="232" i="1">
                <a:solidFill>
                  <a:srgbClr val="CC3300"/>
                </a:solidFill>
                <a:latin typeface="Times New Roman"/>
                <a:cs typeface="Times New Roman"/>
              </a:rPr>
              <a:t>m</a:t>
            </a:r>
            <a:r>
              <a:rPr dirty="0" sz="2850" spc="-5">
                <a:solidFill>
                  <a:srgbClr val="CC3300"/>
                </a:solidFill>
                <a:latin typeface="Symbol"/>
                <a:cs typeface="Symbol"/>
              </a:rPr>
              <a:t>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32483" y="5177154"/>
            <a:ext cx="1444625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5130" algn="l"/>
                <a:tab pos="1233170" algn="l"/>
              </a:tabLst>
            </a:pPr>
            <a:r>
              <a:rPr dirty="0" sz="2850" spc="-10" i="1">
                <a:solidFill>
                  <a:srgbClr val="CC3300"/>
                </a:solidFill>
                <a:latin typeface="Times New Roman"/>
                <a:cs typeface="Times New Roman"/>
              </a:rPr>
              <a:t>N</a:t>
            </a:r>
            <a:r>
              <a:rPr dirty="0" sz="2850" spc="-10" i="1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dirty="0" sz="2850" spc="-5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sz="2850" spc="-5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dirty="0" sz="2850" spc="-5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endParaRPr sz="28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05354" y="5460593"/>
            <a:ext cx="2940685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97560" algn="l"/>
              </a:tabLst>
            </a:pPr>
            <a:r>
              <a:rPr dirty="0" sz="2850" spc="-10" i="1">
                <a:solidFill>
                  <a:srgbClr val="CC3300"/>
                </a:solidFill>
                <a:latin typeface="Times New Roman"/>
                <a:cs typeface="Times New Roman"/>
              </a:rPr>
              <a:t>m	</a:t>
            </a:r>
            <a:r>
              <a:rPr dirty="0" sz="2850" spc="70">
                <a:solidFill>
                  <a:srgbClr val="CC3300"/>
                </a:solidFill>
                <a:latin typeface="Times New Roman"/>
                <a:cs typeface="Times New Roman"/>
              </a:rPr>
              <a:t>4.82</a:t>
            </a:r>
            <a:r>
              <a:rPr dirty="0" sz="2850" spc="-415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850" spc="105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850" spc="105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baseline="43771" sz="2475" spc="157">
                <a:solidFill>
                  <a:srgbClr val="CC3300"/>
                </a:solidFill>
                <a:latin typeface="Symbol"/>
                <a:cs typeface="Symbol"/>
              </a:rPr>
              <a:t></a:t>
            </a:r>
            <a:r>
              <a:rPr dirty="0" baseline="43771" sz="2475" spc="157">
                <a:solidFill>
                  <a:srgbClr val="CC3300"/>
                </a:solidFill>
                <a:latin typeface="Times New Roman"/>
                <a:cs typeface="Times New Roman"/>
              </a:rPr>
              <a:t>26 </a:t>
            </a:r>
            <a:r>
              <a:rPr dirty="0" sz="2850" spc="55">
                <a:solidFill>
                  <a:srgbClr val="CC3300"/>
                </a:solidFill>
                <a:latin typeface="Times New Roman"/>
                <a:cs typeface="Times New Roman"/>
              </a:rPr>
              <a:t>kg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02939" y="4947577"/>
            <a:ext cx="1917700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50" spc="55">
                <a:solidFill>
                  <a:srgbClr val="CC3300"/>
                </a:solidFill>
                <a:latin typeface="Times New Roman"/>
                <a:cs typeface="Times New Roman"/>
              </a:rPr>
              <a:t>5.8</a:t>
            </a:r>
            <a:r>
              <a:rPr dirty="0" sz="2850" spc="-47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850" spc="90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850" spc="90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baseline="43771" sz="2475" spc="135">
                <a:solidFill>
                  <a:srgbClr val="CC3300"/>
                </a:solidFill>
                <a:latin typeface="宋体"/>
                <a:cs typeface="宋体"/>
              </a:rPr>
              <a:t>－</a:t>
            </a:r>
            <a:r>
              <a:rPr dirty="0" baseline="43771" sz="2475" spc="135">
                <a:solidFill>
                  <a:srgbClr val="CC3300"/>
                </a:solidFill>
                <a:latin typeface="Times New Roman"/>
                <a:cs typeface="Times New Roman"/>
              </a:rPr>
              <a:t>4 </a:t>
            </a:r>
            <a:r>
              <a:rPr dirty="0" sz="2850" spc="55">
                <a:solidFill>
                  <a:srgbClr val="CC3300"/>
                </a:solidFill>
                <a:latin typeface="Times New Roman"/>
                <a:cs typeface="Times New Roman"/>
              </a:rPr>
              <a:t>kg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65127" y="5177154"/>
            <a:ext cx="2364105" cy="458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850" spc="-5">
                <a:solidFill>
                  <a:srgbClr val="CC3300"/>
                </a:solidFill>
                <a:latin typeface="Symbol"/>
                <a:cs typeface="Symbol"/>
              </a:rPr>
              <a:t></a:t>
            </a:r>
            <a:r>
              <a:rPr dirty="0" sz="2850" spc="-229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850" spc="55">
                <a:solidFill>
                  <a:srgbClr val="CC3300"/>
                </a:solidFill>
                <a:latin typeface="Times New Roman"/>
                <a:cs typeface="Times New Roman"/>
              </a:rPr>
              <a:t>1.2</a:t>
            </a:r>
            <a:r>
              <a:rPr dirty="0" sz="2850" spc="-32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850" spc="114">
                <a:solidFill>
                  <a:srgbClr val="CC3300"/>
                </a:solidFill>
                <a:latin typeface="Symbol"/>
                <a:cs typeface="Symbol"/>
              </a:rPr>
              <a:t></a:t>
            </a:r>
            <a:r>
              <a:rPr dirty="0" sz="2850" spc="114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dirty="0" baseline="43771" sz="2475" spc="172">
                <a:solidFill>
                  <a:srgbClr val="CC3300"/>
                </a:solidFill>
                <a:latin typeface="Times New Roman"/>
                <a:cs typeface="Times New Roman"/>
              </a:rPr>
              <a:t>22</a:t>
            </a:r>
            <a:r>
              <a:rPr dirty="0" baseline="43771" sz="2475" spc="-22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dirty="0" sz="2850" spc="110">
                <a:solidFill>
                  <a:srgbClr val="CC3300"/>
                </a:solidFill>
                <a:latin typeface="Times New Roman"/>
                <a:cs typeface="Times New Roman"/>
              </a:rPr>
              <a:t>(</a:t>
            </a:r>
            <a:r>
              <a:rPr dirty="0" sz="2850" spc="235">
                <a:solidFill>
                  <a:srgbClr val="CC3300"/>
                </a:solidFill>
                <a:latin typeface="宋体"/>
                <a:cs typeface="宋体"/>
              </a:rPr>
              <a:t>个</a:t>
            </a:r>
            <a:r>
              <a:rPr dirty="0" sz="2850" spc="-5">
                <a:solidFill>
                  <a:srgbClr val="CC3300"/>
                </a:solidFill>
                <a:latin typeface="Times New Roman"/>
                <a:cs typeface="Times New Roman"/>
              </a:rPr>
              <a:t>)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4739" y="5967729"/>
            <a:ext cx="3449954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方正舒体"/>
                <a:cs typeface="方正舒体"/>
              </a:rPr>
              <a:t>有没有其他解法</a:t>
            </a:r>
            <a:r>
              <a:rPr dirty="0" sz="3600" spc="-15" b="1">
                <a:solidFill>
                  <a:srgbClr val="FF0000"/>
                </a:solidFill>
                <a:latin typeface="方正舒体"/>
                <a:cs typeface="方正舒体"/>
              </a:rPr>
              <a:t>?</a:t>
            </a:r>
            <a:endParaRPr sz="3600">
              <a:latin typeface="方正舒体"/>
              <a:cs typeface="方正舒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2" y="1520952"/>
            <a:ext cx="368808" cy="4739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492" y="1447800"/>
            <a:ext cx="560832" cy="42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8001" y="990600"/>
            <a:ext cx="0" cy="1053465"/>
          </a:xfrm>
          <a:custGeom>
            <a:avLst/>
            <a:gdLst/>
            <a:ahLst/>
            <a:cxnLst/>
            <a:rect l="l" t="t" r="r" b="b"/>
            <a:pathLst>
              <a:path w="0" h="1053464">
                <a:moveTo>
                  <a:pt x="0" y="0"/>
                </a:moveTo>
                <a:lnTo>
                  <a:pt x="0" y="1053084"/>
                </a:lnTo>
              </a:path>
            </a:pathLst>
          </a:custGeom>
          <a:ln w="32004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3483" y="1781555"/>
            <a:ext cx="8226552" cy="320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255581" y="572452"/>
            <a:ext cx="1921510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6175" algn="l"/>
              </a:tabLst>
            </a:pPr>
            <a:r>
              <a:rPr dirty="0" sz="6000" b="0">
                <a:solidFill>
                  <a:srgbClr val="C00000"/>
                </a:solidFill>
                <a:latin typeface="华文隶书"/>
                <a:cs typeface="华文隶书"/>
              </a:rPr>
              <a:t>小	结</a:t>
            </a:r>
            <a:endParaRPr sz="6000">
              <a:latin typeface="华文隶书"/>
              <a:cs typeface="华文隶书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0313" y="2316543"/>
            <a:ext cx="7847965" cy="395097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4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>
                <a:solidFill>
                  <a:srgbClr val="FF0000"/>
                </a:solidFill>
                <a:latin typeface="华文隶书"/>
                <a:cs typeface="华文隶书"/>
              </a:rPr>
              <a:t>分子大小：</a:t>
            </a:r>
            <a:r>
              <a:rPr dirty="0" sz="3200">
                <a:latin typeface="华文隶书"/>
                <a:cs typeface="华文隶书"/>
              </a:rPr>
              <a:t>数量级</a:t>
            </a:r>
            <a:r>
              <a:rPr dirty="0" sz="3200">
                <a:latin typeface="Times New Roman"/>
                <a:cs typeface="Times New Roman"/>
              </a:rPr>
              <a:t>10</a:t>
            </a:r>
            <a:r>
              <a:rPr dirty="0" baseline="21680" sz="3075">
                <a:latin typeface="Times New Roman"/>
                <a:cs typeface="Times New Roman"/>
              </a:rPr>
              <a:t>-10</a:t>
            </a:r>
            <a:r>
              <a:rPr dirty="0" sz="3200">
                <a:latin typeface="Times New Roman"/>
                <a:cs typeface="Times New Roman"/>
              </a:rPr>
              <a:t>m</a:t>
            </a:r>
            <a:r>
              <a:rPr dirty="0" sz="3200">
                <a:latin typeface="华文隶书"/>
                <a:cs typeface="华文隶书"/>
              </a:rPr>
              <a:t>，油膜法实</a:t>
            </a:r>
            <a:r>
              <a:rPr dirty="0" sz="3200" spc="5">
                <a:latin typeface="华文隶书"/>
                <a:cs typeface="华文隶书"/>
              </a:rPr>
              <a:t>验</a:t>
            </a:r>
            <a:endParaRPr sz="3200">
              <a:latin typeface="华文隶书"/>
              <a:cs typeface="华文隶书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>
                <a:solidFill>
                  <a:srgbClr val="FF0000"/>
                </a:solidFill>
                <a:latin typeface="华文隶书"/>
                <a:cs typeface="华文隶书"/>
              </a:rPr>
              <a:t>物质的量：</a:t>
            </a:r>
            <a:r>
              <a:rPr dirty="0" sz="3200">
                <a:latin typeface="华文隶书"/>
                <a:cs typeface="华文隶书"/>
              </a:rPr>
              <a:t>摩尔</a:t>
            </a:r>
            <a:r>
              <a:rPr dirty="0" sz="3200" spc="5">
                <a:latin typeface="华文隶书"/>
                <a:cs typeface="华文隶书"/>
              </a:rPr>
              <a:t>数</a:t>
            </a:r>
            <a:endParaRPr sz="3200">
              <a:latin typeface="华文隶书"/>
              <a:cs typeface="华文隶书"/>
            </a:endParaRPr>
          </a:p>
          <a:p>
            <a:pPr marL="355600" indent="-342900">
              <a:lnSpc>
                <a:spcPct val="100000"/>
              </a:lnSpc>
              <a:spcBef>
                <a:spcPts val="98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>
                <a:solidFill>
                  <a:srgbClr val="FF0000"/>
                </a:solidFill>
                <a:latin typeface="华文隶书"/>
                <a:cs typeface="华文隶书"/>
              </a:rPr>
              <a:t>阿伏加德罗常数</a:t>
            </a:r>
            <a:r>
              <a:rPr dirty="0" sz="3200" spc="5">
                <a:solidFill>
                  <a:srgbClr val="FF0000"/>
                </a:solidFill>
                <a:latin typeface="华文隶书"/>
                <a:cs typeface="华文隶书"/>
              </a:rPr>
              <a:t>：</a:t>
            </a:r>
            <a:r>
              <a:rPr dirty="0" sz="3200">
                <a:solidFill>
                  <a:srgbClr val="FF0000"/>
                </a:solidFill>
                <a:latin typeface="华文隶书"/>
                <a:cs typeface="华文隶书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N</a:t>
            </a:r>
            <a:r>
              <a:rPr dirty="0" baseline="-17615" sz="3075">
                <a:latin typeface="Times New Roman"/>
                <a:cs typeface="Times New Roman"/>
              </a:rPr>
              <a:t>A</a:t>
            </a:r>
            <a:r>
              <a:rPr dirty="0" sz="3200">
                <a:latin typeface="Times New Roman"/>
                <a:cs typeface="Times New Roman"/>
              </a:rPr>
              <a:t>=6.02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b="1">
                <a:latin typeface="黑体"/>
                <a:cs typeface="黑体"/>
              </a:rPr>
              <a:t>×</a:t>
            </a:r>
            <a:r>
              <a:rPr dirty="0" sz="3200">
                <a:latin typeface="Times New Roman"/>
                <a:cs typeface="Times New Roman"/>
              </a:rPr>
              <a:t>10</a:t>
            </a:r>
            <a:r>
              <a:rPr dirty="0" baseline="21680" sz="3075">
                <a:latin typeface="Times New Roman"/>
                <a:cs typeface="Times New Roman"/>
              </a:rPr>
              <a:t>23</a:t>
            </a:r>
            <a:r>
              <a:rPr dirty="0" sz="3200">
                <a:latin typeface="Times New Roman"/>
                <a:cs typeface="Times New Roman"/>
              </a:rPr>
              <a:t>mol</a:t>
            </a:r>
            <a:r>
              <a:rPr dirty="0" baseline="21680" sz="3075">
                <a:latin typeface="Times New Roman"/>
                <a:cs typeface="Times New Roman"/>
              </a:rPr>
              <a:t>-1</a:t>
            </a:r>
            <a:endParaRPr baseline="21680" sz="3075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dirty="0" sz="3200">
                <a:solidFill>
                  <a:srgbClr val="FF0000"/>
                </a:solidFill>
                <a:latin typeface="华文隶书"/>
                <a:cs typeface="华文隶书"/>
              </a:rPr>
              <a:t>宏观量与微观量的关系</a:t>
            </a:r>
            <a:r>
              <a:rPr dirty="0" sz="3200" spc="5">
                <a:solidFill>
                  <a:srgbClr val="FF0000"/>
                </a:solidFill>
                <a:latin typeface="华文隶书"/>
                <a:cs typeface="华文隶书"/>
              </a:rPr>
              <a:t>：</a:t>
            </a:r>
            <a:endParaRPr sz="3200">
              <a:latin typeface="华文隶书"/>
              <a:cs typeface="华文隶书"/>
            </a:endParaRPr>
          </a:p>
          <a:p>
            <a:pPr marL="367665" marR="665480" indent="50800">
              <a:lnSpc>
                <a:spcPct val="121900"/>
              </a:lnSpc>
              <a:spcBef>
                <a:spcPts val="705"/>
              </a:spcBef>
            </a:pPr>
            <a:r>
              <a:rPr dirty="0" sz="2800">
                <a:latin typeface="华文隶书"/>
                <a:cs typeface="华文隶书"/>
              </a:rPr>
              <a:t>质量、摩尔质量、体积、摩尔体积、密度</a:t>
            </a:r>
            <a:r>
              <a:rPr dirty="0" sz="2800" spc="-5">
                <a:latin typeface="Times New Roman"/>
                <a:cs typeface="Times New Roman"/>
              </a:rPr>
              <a:t>… </a:t>
            </a:r>
            <a:r>
              <a:rPr dirty="0" sz="2800">
                <a:latin typeface="华文隶书"/>
                <a:cs typeface="华文隶书"/>
              </a:rPr>
              <a:t>阿伏加德罗常</a:t>
            </a:r>
            <a:r>
              <a:rPr dirty="0" sz="2800" spc="-5">
                <a:latin typeface="华文隶书"/>
                <a:cs typeface="华文隶书"/>
              </a:rPr>
              <a:t>数</a:t>
            </a:r>
            <a:endParaRPr sz="2800">
              <a:latin typeface="华文隶书"/>
              <a:cs typeface="华文隶书"/>
            </a:endParaRPr>
          </a:p>
          <a:p>
            <a:pPr marL="367665">
              <a:lnSpc>
                <a:spcPct val="100000"/>
              </a:lnSpc>
              <a:spcBef>
                <a:spcPts val="670"/>
              </a:spcBef>
            </a:pPr>
            <a:r>
              <a:rPr dirty="0" sz="2800">
                <a:latin typeface="华文隶书"/>
                <a:cs typeface="华文隶书"/>
              </a:rPr>
              <a:t>分子个数、分子质量、分子体积（占有的空间</a:t>
            </a:r>
            <a:r>
              <a:rPr dirty="0" sz="2800" spc="-5">
                <a:latin typeface="华文隶书"/>
                <a:cs typeface="华文隶书"/>
              </a:rPr>
              <a:t>）</a:t>
            </a:r>
            <a:endParaRPr sz="2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2025-04-20T13:33:12Z</dcterms:created>
  <dcterms:modified xsi:type="dcterms:W3CDTF">2025-04-20T13:33:12Z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