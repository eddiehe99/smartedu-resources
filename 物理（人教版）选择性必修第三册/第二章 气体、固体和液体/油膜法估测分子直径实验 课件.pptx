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565" y="-32156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304" y="1298600"/>
            <a:ext cx="7620634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5107" y="2464447"/>
            <a:ext cx="132969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  <a:latin typeface="微软雅黑"/>
                <a:cs typeface="微软雅黑"/>
              </a:rPr>
              <a:t>选修</a:t>
            </a:r>
            <a:r>
              <a:rPr dirty="0" sz="2800" spc="-5">
                <a:solidFill>
                  <a:srgbClr val="000000"/>
                </a:solidFill>
                <a:latin typeface="微软雅黑"/>
                <a:cs typeface="微软雅黑"/>
              </a:rPr>
              <a:t>3</a:t>
            </a:r>
            <a:r>
              <a:rPr dirty="0" sz="2800" spc="-10">
                <a:solidFill>
                  <a:srgbClr val="000000"/>
                </a:solidFill>
                <a:latin typeface="微软雅黑"/>
                <a:cs typeface="微软雅黑"/>
              </a:rPr>
              <a:t>-</a:t>
            </a:r>
            <a:r>
              <a:rPr dirty="0" sz="2800" spc="-5">
                <a:solidFill>
                  <a:srgbClr val="000000"/>
                </a:solidFill>
                <a:latin typeface="微软雅黑"/>
                <a:cs typeface="微软雅黑"/>
              </a:rPr>
              <a:t>3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6522" y="3231527"/>
            <a:ext cx="361187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97000" algn="l"/>
              </a:tabLst>
            </a:pPr>
            <a:r>
              <a:rPr dirty="0" sz="2800" b="1">
                <a:latin typeface="微软雅黑"/>
                <a:cs typeface="微软雅黑"/>
              </a:rPr>
              <a:t>第一</a:t>
            </a:r>
            <a:r>
              <a:rPr dirty="0" sz="2800" spc="-5" b="1">
                <a:latin typeface="微软雅黑"/>
                <a:cs typeface="微软雅黑"/>
              </a:rPr>
              <a:t>章	分 子 动 理</a:t>
            </a:r>
            <a:r>
              <a:rPr dirty="0" sz="2800" spc="-65" b="1">
                <a:latin typeface="微软雅黑"/>
                <a:cs typeface="微软雅黑"/>
              </a:rPr>
              <a:t> </a:t>
            </a:r>
            <a:r>
              <a:rPr dirty="0" sz="2800" spc="-5" b="1">
                <a:latin typeface="微软雅黑"/>
                <a:cs typeface="微软雅黑"/>
              </a:rPr>
              <a:t>论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193" y="4889347"/>
            <a:ext cx="216281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9535" marR="5080" indent="-76835">
              <a:lnSpc>
                <a:spcPct val="124700"/>
              </a:lnSpc>
              <a:spcBef>
                <a:spcPts val="95"/>
              </a:spcBef>
              <a:tabLst>
                <a:tab pos="701675" algn="l"/>
                <a:tab pos="1771650" algn="l"/>
              </a:tabLst>
            </a:pPr>
            <a:r>
              <a:rPr dirty="0" sz="2400" b="1">
                <a:latin typeface="华文楷体"/>
                <a:cs typeface="华文楷体"/>
              </a:rPr>
              <a:t>主讲人：赵贺</a:t>
            </a:r>
            <a:r>
              <a:rPr dirty="0" sz="2400" spc="-5" b="1">
                <a:latin typeface="华文楷体"/>
                <a:cs typeface="华文楷体"/>
              </a:rPr>
              <a:t>林 </a:t>
            </a:r>
            <a:r>
              <a:rPr dirty="0" sz="2400" spc="-5" b="1">
                <a:latin typeface="华文楷体"/>
                <a:cs typeface="华文楷体"/>
              </a:rPr>
              <a:t>学	</a:t>
            </a:r>
            <a:r>
              <a:rPr dirty="0" sz="2400" b="1">
                <a:latin typeface="华文楷体"/>
                <a:cs typeface="华文楷体"/>
              </a:rPr>
              <a:t>科：</a:t>
            </a:r>
            <a:r>
              <a:rPr dirty="0" sz="2400" spc="-5" b="1">
                <a:latin typeface="华文楷体"/>
                <a:cs typeface="华文楷体"/>
              </a:rPr>
              <a:t>物	理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9103" y="4889347"/>
            <a:ext cx="369189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 marR="5080" indent="-3810">
              <a:lnSpc>
                <a:spcPct val="124700"/>
              </a:lnSpc>
              <a:spcBef>
                <a:spcPts val="95"/>
              </a:spcBef>
              <a:tabLst>
                <a:tab pos="624840" algn="l"/>
                <a:tab pos="705485" algn="l"/>
              </a:tabLst>
            </a:pPr>
            <a:r>
              <a:rPr dirty="0" sz="2400" spc="-5" b="1">
                <a:latin typeface="华文楷体"/>
                <a:cs typeface="华文楷体"/>
              </a:rPr>
              <a:t>学</a:t>
            </a:r>
            <a:r>
              <a:rPr dirty="0" sz="2400" spc="-5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latin typeface="华文楷体"/>
                <a:cs typeface="华文楷体"/>
              </a:rPr>
              <a:t>学 </a:t>
            </a:r>
            <a:r>
              <a:rPr dirty="0" sz="2400" spc="-5" b="1">
                <a:latin typeface="华文楷体"/>
                <a:cs typeface="华文楷体"/>
              </a:rPr>
              <a:t>年		</a:t>
            </a:r>
            <a:r>
              <a:rPr dirty="0" sz="2400" b="1"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879" y="2170859"/>
            <a:ext cx="8076565" cy="390271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1245"/>
              </a:spcBef>
            </a:pPr>
            <a:r>
              <a:rPr dirty="0" sz="3400">
                <a:solidFill>
                  <a:srgbClr val="000099"/>
                </a:solidFill>
                <a:latin typeface="黑体"/>
                <a:cs typeface="黑体"/>
              </a:rPr>
              <a:t>一、实验目</a:t>
            </a:r>
            <a:r>
              <a:rPr dirty="0" sz="3400" spc="-5">
                <a:solidFill>
                  <a:srgbClr val="000099"/>
                </a:solidFill>
                <a:latin typeface="黑体"/>
                <a:cs typeface="黑体"/>
              </a:rPr>
              <a:t>的</a:t>
            </a:r>
            <a:endParaRPr sz="3400">
              <a:latin typeface="黑体"/>
              <a:cs typeface="黑体"/>
            </a:endParaRPr>
          </a:p>
          <a:p>
            <a:pPr marL="241300" marR="360680" indent="-228600">
              <a:lnSpc>
                <a:spcPct val="125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宋体"/>
                <a:cs typeface="宋体"/>
              </a:rPr>
              <a:t>通过估测油酸分子的大小，加深对分子大小数</a:t>
            </a:r>
            <a:r>
              <a:rPr dirty="0" sz="2800" spc="-5">
                <a:latin typeface="宋体"/>
                <a:cs typeface="宋体"/>
              </a:rPr>
              <a:t>量 </a:t>
            </a:r>
            <a:r>
              <a:rPr dirty="0" sz="2800">
                <a:latin typeface="宋体"/>
                <a:cs typeface="宋体"/>
              </a:rPr>
              <a:t>级的认识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宋体"/>
                <a:cs typeface="宋体"/>
              </a:rPr>
              <a:t>学会模型法、估算法等科学方法的应用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 marR="5080" indent="-228600">
              <a:lnSpc>
                <a:spcPct val="125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宋体"/>
                <a:cs typeface="宋体"/>
              </a:rPr>
              <a:t>体验科学探究过程，体验实验方法的巧妙运用</a:t>
            </a:r>
            <a:r>
              <a:rPr dirty="0" sz="2800" spc="-5">
                <a:latin typeface="宋体"/>
                <a:cs typeface="宋体"/>
              </a:rPr>
              <a:t>。 </a:t>
            </a:r>
            <a:r>
              <a:rPr dirty="0" sz="2800">
                <a:latin typeface="宋体"/>
                <a:cs typeface="宋体"/>
              </a:rPr>
              <a:t>把宏观和微观两个领域联系起来，用宏观的方法</a:t>
            </a:r>
            <a:r>
              <a:rPr dirty="0" sz="2800" spc="-5">
                <a:latin typeface="宋体"/>
                <a:cs typeface="宋体"/>
              </a:rPr>
              <a:t>， </a:t>
            </a:r>
            <a:r>
              <a:rPr dirty="0" sz="2800">
                <a:latin typeface="宋体"/>
                <a:cs typeface="宋体"/>
              </a:rPr>
              <a:t>测定非常微小的分子的大小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4260" y="1629879"/>
            <a:ext cx="500608" cy="5374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9736" y="1615097"/>
            <a:ext cx="4706391" cy="560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16929" y="1617205"/>
            <a:ext cx="1525181" cy="5522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301" y="1615097"/>
            <a:ext cx="30479" cy="304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444589"/>
            <a:ext cx="7654290" cy="4140200"/>
          </a:xfrm>
          <a:prstGeom prst="rect">
            <a:avLst/>
          </a:prstGeom>
        </p:spPr>
        <p:txBody>
          <a:bodyPr wrap="square" lIns="0" tIns="297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2800">
                <a:solidFill>
                  <a:srgbClr val="000099"/>
                </a:solidFill>
                <a:latin typeface="黑体"/>
                <a:cs typeface="黑体"/>
              </a:rPr>
              <a:t>二、</a:t>
            </a:r>
            <a:r>
              <a:rPr dirty="0" sz="3400">
                <a:solidFill>
                  <a:srgbClr val="000099"/>
                </a:solidFill>
                <a:latin typeface="黑体"/>
                <a:cs typeface="黑体"/>
              </a:rPr>
              <a:t>实验原</a:t>
            </a:r>
            <a:r>
              <a:rPr dirty="0" sz="3400" spc="-5">
                <a:solidFill>
                  <a:srgbClr val="000099"/>
                </a:solidFill>
                <a:latin typeface="黑体"/>
                <a:cs typeface="黑体"/>
              </a:rPr>
              <a:t>理</a:t>
            </a:r>
            <a:endParaRPr sz="3400">
              <a:latin typeface="黑体"/>
              <a:cs typeface="黑体"/>
            </a:endParaRPr>
          </a:p>
          <a:p>
            <a:pPr algn="just" marL="12700" marR="5080">
              <a:lnSpc>
                <a:spcPct val="125000"/>
              </a:lnSpc>
              <a:spcBef>
                <a:spcPts val="869"/>
              </a:spcBef>
            </a:pPr>
            <a:r>
              <a:rPr dirty="0" sz="2400">
                <a:latin typeface="宋体"/>
                <a:cs typeface="宋体"/>
              </a:rPr>
              <a:t>  实验采用使油酸在水面上形成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一层单分子油膜</a:t>
            </a:r>
            <a:r>
              <a:rPr dirty="0" sz="2400">
                <a:latin typeface="宋体"/>
                <a:cs typeface="宋体"/>
              </a:rPr>
              <a:t>的方法估 测分子的大小。</a:t>
            </a:r>
            <a:endParaRPr sz="2400">
              <a:latin typeface="宋体"/>
              <a:cs typeface="宋体"/>
            </a:endParaRPr>
          </a:p>
          <a:p>
            <a:pPr algn="just" marL="12700" marR="13970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  当把一滴用酒精稀释过的油酸酒精溶液滴在水面上时， 油酸就在水面上散开，其中的酒精溶于水，并很快挥发， 在水面上形成如图所示形状的一层纯油酸薄膜。</a:t>
            </a:r>
            <a:endParaRPr sz="2400">
              <a:latin typeface="宋体"/>
              <a:cs typeface="宋体"/>
            </a:endParaRPr>
          </a:p>
          <a:p>
            <a:pPr algn="just" marL="12700" marR="13970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  如果算出一定体积的油酸在水面上形成的单分子油膜的 面积，即可算出油酸分子的大小。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76" y="4634484"/>
            <a:ext cx="7632192" cy="2042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984412"/>
            <a:ext cx="764540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2400">
                <a:latin typeface="宋体"/>
                <a:cs typeface="宋体"/>
              </a:rPr>
              <a:t>  </a:t>
            </a:r>
            <a:r>
              <a:rPr dirty="0" sz="2400" spc="-110">
                <a:latin typeface="宋体"/>
                <a:cs typeface="宋体"/>
              </a:rPr>
              <a:t>用</a:t>
            </a:r>
            <a:r>
              <a:rPr dirty="0" sz="2500" spc="-710" i="1">
                <a:latin typeface="宋体"/>
                <a:cs typeface="宋体"/>
              </a:rPr>
              <a:t>V</a:t>
            </a:r>
            <a:r>
              <a:rPr dirty="0" sz="2400">
                <a:latin typeface="宋体"/>
                <a:cs typeface="宋体"/>
              </a:rPr>
              <a:t>表示一滴油酸酒精溶液中所含油酸的体积，</a:t>
            </a:r>
            <a:r>
              <a:rPr dirty="0" sz="2400" spc="-110">
                <a:latin typeface="宋体"/>
                <a:cs typeface="宋体"/>
              </a:rPr>
              <a:t>用</a:t>
            </a:r>
            <a:r>
              <a:rPr dirty="0" sz="2500" spc="-710" i="1">
                <a:latin typeface="宋体"/>
                <a:cs typeface="宋体"/>
              </a:rPr>
              <a:t>S</a:t>
            </a:r>
            <a:r>
              <a:rPr dirty="0" sz="2400">
                <a:latin typeface="宋体"/>
                <a:cs typeface="宋体"/>
              </a:rPr>
              <a:t>表示 单分子油膜的面积，</a:t>
            </a:r>
            <a:r>
              <a:rPr dirty="0" sz="2400" spc="-110">
                <a:latin typeface="宋体"/>
                <a:cs typeface="宋体"/>
              </a:rPr>
              <a:t>用</a:t>
            </a:r>
            <a:r>
              <a:rPr dirty="0" sz="2500" spc="-819" i="1">
                <a:latin typeface="宋体"/>
                <a:cs typeface="宋体"/>
              </a:rPr>
              <a:t>d</a:t>
            </a:r>
            <a:r>
              <a:rPr dirty="0" sz="2500" spc="-725" i="1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表示分子的直径，如图所示，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304" y="2246286"/>
            <a:ext cx="1374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则</a:t>
            </a:r>
            <a:r>
              <a:rPr dirty="0" sz="2400" spc="105">
                <a:latin typeface="宋体"/>
                <a:cs typeface="宋体"/>
              </a:rPr>
              <a:t>：</a:t>
            </a:r>
            <a:r>
              <a:rPr dirty="0" sz="2400" spc="105" i="1">
                <a:latin typeface="Cambria Math"/>
                <a:cs typeface="Cambria Math"/>
              </a:rPr>
              <a:t>d</a:t>
            </a:r>
            <a:r>
              <a:rPr dirty="0" sz="2400" spc="95" i="1">
                <a:latin typeface="Cambria Math"/>
                <a:cs typeface="Cambria Math"/>
              </a:rPr>
              <a:t> </a:t>
            </a:r>
            <a:r>
              <a:rPr dirty="0" sz="2400" i="1">
                <a:latin typeface="Cambria Math"/>
                <a:cs typeface="Cambria Math"/>
              </a:rPr>
              <a:t>=</a:t>
            </a:r>
            <a:r>
              <a:rPr dirty="0" sz="2400" spc="95" i="1">
                <a:latin typeface="Cambria Math"/>
                <a:cs typeface="Cambria Math"/>
              </a:rPr>
              <a:t> </a:t>
            </a:r>
            <a:r>
              <a:rPr dirty="0" baseline="44444" sz="2625" spc="112" i="1">
                <a:latin typeface="Cambria Math"/>
                <a:cs typeface="Cambria Math"/>
              </a:rPr>
              <a:t>V</a:t>
            </a:r>
            <a:endParaRPr baseline="44444" sz="262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8964" y="247673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 h="0">
                <a:moveTo>
                  <a:pt x="0" y="0"/>
                </a:moveTo>
                <a:lnTo>
                  <a:pt x="144144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75154" y="2482506"/>
            <a:ext cx="15176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240" i="1">
                <a:latin typeface="Cambria Math"/>
                <a:cs typeface="Cambria Math"/>
              </a:rPr>
              <a:t>s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8827" y="2763011"/>
            <a:ext cx="3456432" cy="3415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506721" y="2589186"/>
            <a:ext cx="3696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楷体"/>
                <a:cs typeface="楷体"/>
              </a:rPr>
              <a:t>如何测算出油膜的面积呢</a:t>
            </a:r>
            <a:r>
              <a:rPr dirty="0" sz="2400" spc="-10" b="1">
                <a:solidFill>
                  <a:srgbClr val="FF0000"/>
                </a:solidFill>
                <a:latin typeface="楷体"/>
                <a:cs typeface="楷体"/>
              </a:rPr>
              <a:t>？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0695" y="3497833"/>
            <a:ext cx="42926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用彩笔画出油膜扩散的边界线， 在坐标纸上，数出边界线内小方 格子总数（采用四舍五入的办 法），则油膜面积</a:t>
            </a:r>
            <a:r>
              <a:rPr dirty="0" sz="2400" spc="-5">
                <a:latin typeface="华文楷体"/>
                <a:cs typeface="华文楷体"/>
              </a:rPr>
              <a:t>=</a:t>
            </a:r>
            <a:r>
              <a:rPr dirty="0" sz="2400">
                <a:latin typeface="华文楷体"/>
                <a:cs typeface="华文楷体"/>
              </a:rPr>
              <a:t>格子总数×  每个小格子的面积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915411" y="5228844"/>
            <a:ext cx="4788408" cy="1168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8286" y="898555"/>
            <a:ext cx="8015605" cy="4483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800"/>
              </a:spcBef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问题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r>
              <a:rPr dirty="0" sz="2800" spc="-76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实验为什么采用油酸溶液</a:t>
            </a:r>
            <a:r>
              <a:rPr dirty="0" sz="2800" spc="-20" b="1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241300" marR="204470" indent="-228600">
              <a:lnSpc>
                <a:spcPts val="3000"/>
              </a:lnSpc>
              <a:spcBef>
                <a:spcPts val="1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000">
                <a:latin typeface="宋体"/>
                <a:cs typeface="宋体"/>
              </a:rPr>
              <a:t>油酸的化学分子式是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baseline="-21367" sz="1950" spc="-7">
                <a:latin typeface="华文楷体"/>
                <a:cs typeface="华文楷体"/>
              </a:rPr>
              <a:t>17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baseline="-21367" sz="1950" spc="-7">
                <a:latin typeface="华文楷体"/>
                <a:cs typeface="华文楷体"/>
              </a:rPr>
              <a:t>33</a:t>
            </a:r>
            <a:r>
              <a:rPr dirty="0" sz="2000" spc="-5">
                <a:latin typeface="华文楷体"/>
                <a:cs typeface="华文楷体"/>
              </a:rPr>
              <a:t>COOH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它的一个分子可以设想为两</a:t>
            </a:r>
            <a:r>
              <a:rPr dirty="0" sz="2000" spc="5">
                <a:latin typeface="宋体"/>
                <a:cs typeface="宋体"/>
              </a:rPr>
              <a:t>部 </a:t>
            </a:r>
            <a:r>
              <a:rPr dirty="0" sz="2000">
                <a:latin typeface="宋体"/>
                <a:cs typeface="宋体"/>
              </a:rPr>
              <a:t>分组成：一部分是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baseline="-21367" sz="1950" spc="-7">
                <a:latin typeface="华文楷体"/>
                <a:cs typeface="华文楷体"/>
              </a:rPr>
              <a:t>17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baseline="-21367" sz="1950" spc="-7">
                <a:latin typeface="华文楷体"/>
                <a:cs typeface="华文楷体"/>
              </a:rPr>
              <a:t>33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>
                <a:latin typeface="宋体"/>
                <a:cs typeface="宋体"/>
              </a:rPr>
              <a:t>，它不受水的吸引；另一部分是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sz="2000" spc="-10">
                <a:latin typeface="华文楷体"/>
                <a:cs typeface="华文楷体"/>
              </a:rPr>
              <a:t>OO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sz="2000">
                <a:latin typeface="宋体"/>
                <a:cs typeface="宋体"/>
              </a:rPr>
              <a:t>， </a:t>
            </a:r>
            <a:r>
              <a:rPr dirty="0" sz="2000">
                <a:latin typeface="宋体"/>
                <a:cs typeface="宋体"/>
              </a:rPr>
              <a:t>它对水有很强的亲和力。这样，当油酸在水面上时，其中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baseline="-21367" sz="1950" spc="-7">
                <a:latin typeface="华文楷体"/>
                <a:cs typeface="华文楷体"/>
              </a:rPr>
              <a:t>17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baseline="-21367" sz="1950" spc="-7">
                <a:latin typeface="华文楷体"/>
                <a:cs typeface="华文楷体"/>
              </a:rPr>
              <a:t>33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 spc="5">
                <a:latin typeface="宋体"/>
                <a:cs typeface="宋体"/>
              </a:rPr>
              <a:t>部</a:t>
            </a:r>
            <a:endParaRPr sz="2000">
              <a:latin typeface="宋体"/>
              <a:cs typeface="宋体"/>
            </a:endParaRPr>
          </a:p>
          <a:p>
            <a:pPr marL="241300" marR="5080">
              <a:lnSpc>
                <a:spcPts val="3000"/>
              </a:lnSpc>
            </a:pPr>
            <a:r>
              <a:rPr dirty="0" sz="2000">
                <a:latin typeface="宋体"/>
                <a:cs typeface="宋体"/>
              </a:rPr>
              <a:t>分露出水面，另一部分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sz="2000" spc="-10">
                <a:latin typeface="华文楷体"/>
                <a:cs typeface="华文楷体"/>
              </a:rPr>
              <a:t>OO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sz="2000">
                <a:latin typeface="宋体"/>
                <a:cs typeface="宋体"/>
              </a:rPr>
              <a:t>则浸在水中，油酸分子直立在水面上</a:t>
            </a:r>
            <a:r>
              <a:rPr dirty="0" sz="2000">
                <a:latin typeface="宋体"/>
                <a:cs typeface="宋体"/>
              </a:rPr>
              <a:t>。 </a:t>
            </a:r>
            <a:r>
              <a:rPr dirty="0" sz="2000">
                <a:latin typeface="宋体"/>
                <a:cs typeface="宋体"/>
              </a:rPr>
              <a:t>所以能形成一个单分子层油膜，其中</a:t>
            </a:r>
            <a:r>
              <a:rPr dirty="0" sz="2000" spc="-5">
                <a:latin typeface="华文楷体"/>
                <a:cs typeface="华文楷体"/>
              </a:rPr>
              <a:t>C</a:t>
            </a:r>
            <a:r>
              <a:rPr dirty="0" baseline="-21367" sz="1950" spc="-7">
                <a:latin typeface="华文楷体"/>
                <a:cs typeface="华文楷体"/>
              </a:rPr>
              <a:t>17</a:t>
            </a:r>
            <a:r>
              <a:rPr dirty="0" sz="2000" spc="-5">
                <a:latin typeface="华文楷体"/>
                <a:cs typeface="华文楷体"/>
              </a:rPr>
              <a:t>H</a:t>
            </a:r>
            <a:r>
              <a:rPr dirty="0" baseline="-21367" sz="1950" spc="-7">
                <a:latin typeface="华文楷体"/>
                <a:cs typeface="华文楷体"/>
              </a:rPr>
              <a:t>33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>
                <a:latin typeface="宋体"/>
                <a:cs typeface="宋体"/>
              </a:rPr>
              <a:t>冒出水面，而</a:t>
            </a:r>
            <a:r>
              <a:rPr dirty="0" sz="2000" spc="-5">
                <a:latin typeface="Courier New"/>
                <a:cs typeface="Courier New"/>
              </a:rPr>
              <a:t>—</a:t>
            </a:r>
            <a:r>
              <a:rPr dirty="0" sz="2000" spc="-5">
                <a:latin typeface="华文楷体"/>
                <a:cs typeface="华文楷体"/>
              </a:rPr>
              <a:t>COOH</a:t>
            </a:r>
            <a:endParaRPr sz="2000">
              <a:latin typeface="华文楷体"/>
              <a:cs typeface="华文楷体"/>
            </a:endParaRPr>
          </a:p>
          <a:p>
            <a:pPr marL="241300" marR="400050">
              <a:lnSpc>
                <a:spcPts val="3000"/>
              </a:lnSpc>
              <a:spcBef>
                <a:spcPts val="125"/>
              </a:spcBef>
            </a:pPr>
            <a:r>
              <a:rPr dirty="0" sz="2000">
                <a:latin typeface="宋体"/>
                <a:cs typeface="宋体"/>
              </a:rPr>
              <a:t>部分在水中。如下图所示，估算油酸分子的大小只需求出这层油</a:t>
            </a:r>
            <a:r>
              <a:rPr dirty="0" sz="2000">
                <a:latin typeface="宋体"/>
                <a:cs typeface="宋体"/>
              </a:rPr>
              <a:t>膜 </a:t>
            </a:r>
            <a:r>
              <a:rPr dirty="0" sz="2000">
                <a:latin typeface="宋体"/>
                <a:cs typeface="宋体"/>
              </a:rPr>
              <a:t>的厚度即可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marL="241300" marR="400050" indent="-228600">
              <a:lnSpc>
                <a:spcPct val="125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宋体"/>
                <a:cs typeface="宋体"/>
              </a:rPr>
              <a:t>用酒精稀释过的油酸溶液滴在水面上时，其中的酒精会溶于水，</a:t>
            </a:r>
            <a:r>
              <a:rPr dirty="0" sz="2000">
                <a:latin typeface="宋体"/>
                <a:cs typeface="宋体"/>
              </a:rPr>
              <a:t>并 </a:t>
            </a:r>
            <a:r>
              <a:rPr dirty="0" sz="2000">
                <a:latin typeface="宋体"/>
                <a:cs typeface="宋体"/>
              </a:rPr>
              <a:t>很快挥发，油酸在水面上散开，并形成单分子油膜，其厚度可视</a:t>
            </a:r>
            <a:r>
              <a:rPr dirty="0" sz="2000">
                <a:latin typeface="宋体"/>
                <a:cs typeface="宋体"/>
              </a:rPr>
              <a:t>为 </a:t>
            </a:r>
            <a:r>
              <a:rPr dirty="0" sz="2000">
                <a:latin typeface="宋体"/>
                <a:cs typeface="宋体"/>
              </a:rPr>
              <a:t>油酸分子直径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1306474"/>
            <a:ext cx="7314565" cy="2550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solidFill>
                  <a:srgbClr val="000099"/>
                </a:solidFill>
                <a:latin typeface="黑体"/>
                <a:cs typeface="黑体"/>
              </a:rPr>
              <a:t>三、实验器</a:t>
            </a:r>
            <a:r>
              <a:rPr dirty="0" sz="3400" spc="-5">
                <a:solidFill>
                  <a:srgbClr val="000099"/>
                </a:solidFill>
                <a:latin typeface="黑体"/>
                <a:cs typeface="黑体"/>
              </a:rPr>
              <a:t>材</a:t>
            </a:r>
            <a:endParaRPr sz="3400">
              <a:latin typeface="黑体"/>
              <a:cs typeface="黑体"/>
            </a:endParaRPr>
          </a:p>
          <a:p>
            <a:pPr algn="just" marL="12700" marR="5080">
              <a:lnSpc>
                <a:spcPct val="150000"/>
              </a:lnSpc>
              <a:spcBef>
                <a:spcPts val="685"/>
              </a:spcBef>
            </a:pPr>
            <a:r>
              <a:rPr dirty="0" sz="2800">
                <a:latin typeface="宋体"/>
                <a:cs typeface="宋体"/>
              </a:rPr>
              <a:t>配制好的油酸酒精溶液、浅盘、痱子粉</a:t>
            </a:r>
            <a:r>
              <a:rPr dirty="0" sz="2800" spc="-5">
                <a:latin typeface="宋体"/>
                <a:cs typeface="宋体"/>
              </a:rPr>
              <a:t>(</a:t>
            </a:r>
            <a:r>
              <a:rPr dirty="0" sz="2800">
                <a:latin typeface="宋体"/>
                <a:cs typeface="宋体"/>
              </a:rPr>
              <a:t>或石</a:t>
            </a:r>
            <a:r>
              <a:rPr dirty="0" sz="2800" spc="-5">
                <a:latin typeface="宋体"/>
                <a:cs typeface="宋体"/>
              </a:rPr>
              <a:t>膏 </a:t>
            </a:r>
            <a:r>
              <a:rPr dirty="0" sz="2800">
                <a:latin typeface="宋体"/>
                <a:cs typeface="宋体"/>
              </a:rPr>
              <a:t>粉</a:t>
            </a:r>
            <a:r>
              <a:rPr dirty="0" sz="2800" spc="-5">
                <a:latin typeface="宋体"/>
                <a:cs typeface="宋体"/>
              </a:rPr>
              <a:t>)</a:t>
            </a:r>
            <a:r>
              <a:rPr dirty="0" sz="2800">
                <a:latin typeface="宋体"/>
                <a:cs typeface="宋体"/>
              </a:rPr>
              <a:t>、注射器</a:t>
            </a:r>
            <a:r>
              <a:rPr dirty="0" sz="2800" spc="-5">
                <a:latin typeface="宋体"/>
                <a:cs typeface="宋体"/>
              </a:rPr>
              <a:t>(</a:t>
            </a:r>
            <a:r>
              <a:rPr dirty="0" sz="2800">
                <a:latin typeface="宋体"/>
                <a:cs typeface="宋体"/>
              </a:rPr>
              <a:t>或滴管</a:t>
            </a:r>
            <a:r>
              <a:rPr dirty="0" sz="2800" spc="-5">
                <a:latin typeface="宋体"/>
                <a:cs typeface="宋体"/>
              </a:rPr>
              <a:t>)</a:t>
            </a:r>
            <a:r>
              <a:rPr dirty="0" sz="2800">
                <a:latin typeface="宋体"/>
                <a:cs typeface="宋体"/>
              </a:rPr>
              <a:t>、量筒、玻璃板、彩笔</a:t>
            </a:r>
            <a:r>
              <a:rPr dirty="0" sz="2800" spc="-5">
                <a:latin typeface="宋体"/>
                <a:cs typeface="宋体"/>
              </a:rPr>
              <a:t>、 </a:t>
            </a:r>
            <a:r>
              <a:rPr dirty="0" sz="2800">
                <a:latin typeface="宋体"/>
                <a:cs typeface="宋体"/>
              </a:rPr>
              <a:t>坐标</a:t>
            </a:r>
            <a:r>
              <a:rPr dirty="0" sz="2800" spc="-5">
                <a:latin typeface="宋体"/>
                <a:cs typeface="宋体"/>
              </a:rPr>
              <a:t>纸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875" y="1250505"/>
            <a:ext cx="8067675" cy="3366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08660">
              <a:lnSpc>
                <a:spcPct val="100000"/>
              </a:lnSpc>
              <a:spcBef>
                <a:spcPts val="125"/>
              </a:spcBef>
            </a:pPr>
            <a:r>
              <a:rPr dirty="0" sz="2700" spc="50" b="1">
                <a:solidFill>
                  <a:srgbClr val="4AACC5"/>
                </a:solidFill>
                <a:latin typeface="微软雅黑"/>
                <a:cs typeface="微软雅黑"/>
              </a:rPr>
              <a:t>四</a:t>
            </a:r>
            <a:r>
              <a:rPr dirty="0" sz="2700" spc="35" b="1">
                <a:solidFill>
                  <a:srgbClr val="4AACC5"/>
                </a:solidFill>
                <a:latin typeface="微软雅黑"/>
                <a:cs typeface="微软雅黑"/>
              </a:rPr>
              <a:t>、实验</a:t>
            </a:r>
            <a:r>
              <a:rPr dirty="0" sz="2700" spc="45" b="1">
                <a:solidFill>
                  <a:srgbClr val="4AACC5"/>
                </a:solidFill>
                <a:latin typeface="微软雅黑"/>
                <a:cs typeface="微软雅黑"/>
              </a:rPr>
              <a:t>步</a:t>
            </a:r>
            <a:r>
              <a:rPr dirty="0" sz="2700" spc="25" b="1">
                <a:solidFill>
                  <a:srgbClr val="4AACC5"/>
                </a:solidFill>
                <a:latin typeface="微软雅黑"/>
                <a:cs typeface="微软雅黑"/>
              </a:rPr>
              <a:t>骤</a:t>
            </a:r>
            <a:endParaRPr sz="2700">
              <a:latin typeface="微软雅黑"/>
              <a:cs typeface="微软雅黑"/>
            </a:endParaRPr>
          </a:p>
          <a:p>
            <a:pPr marL="610235">
              <a:lnSpc>
                <a:spcPct val="100000"/>
              </a:lnSpc>
              <a:spcBef>
                <a:spcPts val="2030"/>
              </a:spcBef>
            </a:pPr>
            <a:r>
              <a:rPr dirty="0" sz="2350" spc="-5" b="1">
                <a:solidFill>
                  <a:srgbClr val="FF0000"/>
                </a:solidFill>
                <a:latin typeface="宋体"/>
                <a:cs typeface="宋体"/>
              </a:rPr>
              <a:t>(</a:t>
            </a:r>
            <a:r>
              <a:rPr dirty="0" sz="2350" spc="-10" b="1">
                <a:solidFill>
                  <a:srgbClr val="FF0000"/>
                </a:solidFill>
                <a:latin typeface="宋体"/>
                <a:cs typeface="宋体"/>
              </a:rPr>
              <a:t>一</a:t>
            </a:r>
            <a:r>
              <a:rPr dirty="0" sz="2350" spc="-5" b="1">
                <a:solidFill>
                  <a:srgbClr val="FF0000"/>
                </a:solidFill>
                <a:latin typeface="宋体"/>
                <a:cs typeface="宋体"/>
              </a:rPr>
              <a:t>)</a:t>
            </a:r>
            <a:r>
              <a:rPr dirty="0" sz="2350" spc="-10" b="1">
                <a:solidFill>
                  <a:srgbClr val="FF0000"/>
                </a:solidFill>
                <a:latin typeface="宋体"/>
                <a:cs typeface="宋体"/>
              </a:rPr>
              <a:t>如</a:t>
            </a:r>
            <a:r>
              <a:rPr dirty="0" sz="2350" spc="-5" b="1">
                <a:solidFill>
                  <a:srgbClr val="FF0000"/>
                </a:solidFill>
                <a:latin typeface="宋体"/>
                <a:cs typeface="宋体"/>
              </a:rPr>
              <a:t>何</a:t>
            </a:r>
            <a:r>
              <a:rPr dirty="0" sz="2350" spc="-20" b="1">
                <a:solidFill>
                  <a:srgbClr val="FF0000"/>
                </a:solidFill>
                <a:latin typeface="宋体"/>
                <a:cs typeface="宋体"/>
              </a:rPr>
              <a:t>测</a:t>
            </a:r>
            <a:r>
              <a:rPr dirty="0" sz="2350" spc="-10" b="1">
                <a:solidFill>
                  <a:srgbClr val="FF0000"/>
                </a:solidFill>
                <a:latin typeface="宋体"/>
                <a:cs typeface="宋体"/>
              </a:rPr>
              <a:t>出一滴酒</a:t>
            </a:r>
            <a:r>
              <a:rPr dirty="0" sz="2350" spc="-20" b="1">
                <a:solidFill>
                  <a:srgbClr val="FF0000"/>
                </a:solidFill>
                <a:latin typeface="宋体"/>
                <a:cs typeface="宋体"/>
              </a:rPr>
              <a:t>精</a:t>
            </a:r>
            <a:r>
              <a:rPr dirty="0" sz="2350" spc="-10" b="1">
                <a:solidFill>
                  <a:srgbClr val="FF0000"/>
                </a:solidFill>
                <a:latin typeface="宋体"/>
                <a:cs typeface="宋体"/>
              </a:rPr>
              <a:t>溶液中油</a:t>
            </a:r>
            <a:r>
              <a:rPr dirty="0" sz="2350" spc="-20" b="1">
                <a:solidFill>
                  <a:srgbClr val="FF0000"/>
                </a:solidFill>
                <a:latin typeface="宋体"/>
                <a:cs typeface="宋体"/>
              </a:rPr>
              <a:t>酸</a:t>
            </a:r>
            <a:r>
              <a:rPr dirty="0" sz="2350" spc="-10" b="1">
                <a:solidFill>
                  <a:srgbClr val="FF0000"/>
                </a:solidFill>
                <a:latin typeface="宋体"/>
                <a:cs typeface="宋体"/>
              </a:rPr>
              <a:t>的体</a:t>
            </a:r>
            <a:r>
              <a:rPr dirty="0" sz="2350" spc="20" b="1">
                <a:solidFill>
                  <a:srgbClr val="FF0000"/>
                </a:solidFill>
                <a:latin typeface="宋体"/>
                <a:cs typeface="宋体"/>
              </a:rPr>
              <a:t>积</a:t>
            </a:r>
            <a:r>
              <a:rPr dirty="0" sz="2350" spc="-20" b="1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r>
              <a:rPr dirty="0" sz="2350" spc="-3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endParaRPr sz="2350">
              <a:latin typeface="宋体"/>
              <a:cs typeface="宋体"/>
            </a:endParaRPr>
          </a:p>
          <a:p>
            <a:pPr marL="12700" marR="5080" indent="597535">
              <a:lnSpc>
                <a:spcPct val="161300"/>
              </a:lnSpc>
              <a:buSzPct val="95744"/>
              <a:buAutoNum type="arabicPeriod"/>
              <a:tabLst>
                <a:tab pos="1059180" algn="l"/>
              </a:tabLst>
            </a:pPr>
            <a:r>
              <a:rPr dirty="0" sz="2350" spc="-20" b="1">
                <a:latin typeface="宋体"/>
                <a:cs typeface="宋体"/>
              </a:rPr>
              <a:t>取</a:t>
            </a:r>
            <a:r>
              <a:rPr dirty="0" sz="2350" spc="-585" b="1">
                <a:latin typeface="宋体"/>
                <a:cs typeface="宋体"/>
              </a:rPr>
              <a:t> </a:t>
            </a:r>
            <a:r>
              <a:rPr dirty="0" sz="2350" spc="-15" b="1">
                <a:latin typeface="宋体"/>
                <a:cs typeface="宋体"/>
              </a:rPr>
              <a:t>1</a:t>
            </a:r>
            <a:r>
              <a:rPr dirty="0" sz="2350" spc="-590" b="1">
                <a:latin typeface="宋体"/>
                <a:cs typeface="宋体"/>
              </a:rPr>
              <a:t> </a:t>
            </a:r>
            <a:r>
              <a:rPr dirty="0" sz="2350" spc="-10" b="1">
                <a:latin typeface="宋体"/>
                <a:cs typeface="宋体"/>
              </a:rPr>
              <a:t>毫</a:t>
            </a:r>
            <a:r>
              <a:rPr dirty="0" sz="2350" spc="-5" b="1">
                <a:latin typeface="宋体"/>
                <a:cs typeface="宋体"/>
              </a:rPr>
              <a:t>升</a:t>
            </a:r>
            <a:r>
              <a:rPr dirty="0" sz="2350" spc="-5" b="1">
                <a:latin typeface="宋体"/>
                <a:cs typeface="宋体"/>
              </a:rPr>
              <a:t>(1c</a:t>
            </a:r>
            <a:r>
              <a:rPr dirty="0" sz="2350" spc="-10" b="1">
                <a:latin typeface="宋体"/>
                <a:cs typeface="宋体"/>
              </a:rPr>
              <a:t>m</a:t>
            </a:r>
            <a:r>
              <a:rPr dirty="0" baseline="55555" sz="1725" spc="22" b="1">
                <a:latin typeface="宋体"/>
                <a:cs typeface="宋体"/>
              </a:rPr>
              <a:t>3</a:t>
            </a:r>
            <a:r>
              <a:rPr dirty="0" sz="2350" spc="-5" b="1">
                <a:latin typeface="宋体"/>
                <a:cs typeface="宋体"/>
              </a:rPr>
              <a:t>)</a:t>
            </a:r>
            <a:r>
              <a:rPr dirty="0" sz="2350" spc="-20" b="1">
                <a:latin typeface="宋体"/>
                <a:cs typeface="宋体"/>
              </a:rPr>
              <a:t>的</a:t>
            </a:r>
            <a:r>
              <a:rPr dirty="0" sz="2350" spc="-10" b="1">
                <a:latin typeface="宋体"/>
                <a:cs typeface="宋体"/>
              </a:rPr>
              <a:t>油酸溶于</a:t>
            </a:r>
            <a:r>
              <a:rPr dirty="0" sz="2350" spc="-20" b="1">
                <a:latin typeface="宋体"/>
                <a:cs typeface="宋体"/>
              </a:rPr>
              <a:t>酒</a:t>
            </a:r>
            <a:r>
              <a:rPr dirty="0" sz="2350" spc="-10" b="1">
                <a:latin typeface="宋体"/>
                <a:cs typeface="宋体"/>
              </a:rPr>
              <a:t>精中</a:t>
            </a:r>
            <a:r>
              <a:rPr dirty="0" sz="2350" spc="-420" b="1">
                <a:latin typeface="宋体"/>
                <a:cs typeface="宋体"/>
              </a:rPr>
              <a:t>，</a:t>
            </a:r>
            <a:r>
              <a:rPr dirty="0" sz="2350" spc="-10" b="1">
                <a:latin typeface="宋体"/>
                <a:cs typeface="宋体"/>
              </a:rPr>
              <a:t>制</a:t>
            </a:r>
            <a:r>
              <a:rPr dirty="0" sz="2350" spc="-20" b="1">
                <a:latin typeface="宋体"/>
                <a:cs typeface="宋体"/>
              </a:rPr>
              <a:t>成</a:t>
            </a:r>
            <a:r>
              <a:rPr dirty="0" sz="2350" spc="-560" b="1">
                <a:latin typeface="宋体"/>
                <a:cs typeface="宋体"/>
              </a:rPr>
              <a:t> </a:t>
            </a:r>
            <a:r>
              <a:rPr dirty="0" sz="2350" spc="-5" b="1">
                <a:latin typeface="宋体"/>
                <a:cs typeface="宋体"/>
              </a:rPr>
              <a:t>20</a:t>
            </a:r>
            <a:r>
              <a:rPr dirty="0" sz="2350" spc="-15" b="1">
                <a:latin typeface="宋体"/>
                <a:cs typeface="宋体"/>
              </a:rPr>
              <a:t>0</a:t>
            </a:r>
            <a:r>
              <a:rPr dirty="0" sz="2350" spc="-585" b="1">
                <a:latin typeface="宋体"/>
                <a:cs typeface="宋体"/>
              </a:rPr>
              <a:t> </a:t>
            </a:r>
            <a:r>
              <a:rPr dirty="0" sz="2350" spc="-10" b="1">
                <a:latin typeface="宋体"/>
                <a:cs typeface="宋体"/>
              </a:rPr>
              <a:t>毫</a:t>
            </a:r>
            <a:r>
              <a:rPr dirty="0" sz="2350" spc="-15" b="1">
                <a:latin typeface="宋体"/>
                <a:cs typeface="宋体"/>
              </a:rPr>
              <a:t>升</a:t>
            </a:r>
            <a:r>
              <a:rPr dirty="0" sz="2350" spc="-15" b="1">
                <a:latin typeface="宋体"/>
                <a:cs typeface="宋体"/>
              </a:rPr>
              <a:t>的 </a:t>
            </a:r>
            <a:r>
              <a:rPr dirty="0" sz="2350" spc="-20" b="1">
                <a:latin typeface="宋体"/>
                <a:cs typeface="宋体"/>
              </a:rPr>
              <a:t>油</a:t>
            </a:r>
            <a:r>
              <a:rPr dirty="0" sz="2350" spc="-10" b="1">
                <a:latin typeface="宋体"/>
                <a:cs typeface="宋体"/>
              </a:rPr>
              <a:t>酸酒精溶液。</a:t>
            </a:r>
            <a:r>
              <a:rPr dirty="0" sz="2350" spc="-15" b="1">
                <a:latin typeface="宋体"/>
                <a:cs typeface="宋体"/>
              </a:rPr>
              <a:t> </a:t>
            </a:r>
            <a:endParaRPr sz="2350">
              <a:latin typeface="宋体"/>
              <a:cs typeface="宋体"/>
            </a:endParaRPr>
          </a:p>
          <a:p>
            <a:pPr marL="12700" marR="6985" indent="597535">
              <a:lnSpc>
                <a:spcPts val="4550"/>
              </a:lnSpc>
              <a:spcBef>
                <a:spcPts val="440"/>
              </a:spcBef>
              <a:buSzPct val="95744"/>
              <a:buAutoNum type="arabicPeriod"/>
              <a:tabLst>
                <a:tab pos="1059815" algn="l"/>
              </a:tabLst>
            </a:pPr>
            <a:r>
              <a:rPr dirty="0" sz="2350" spc="-10" b="1">
                <a:latin typeface="宋体"/>
                <a:cs typeface="宋体"/>
              </a:rPr>
              <a:t>用滴</a:t>
            </a:r>
            <a:r>
              <a:rPr dirty="0" sz="2350" b="1">
                <a:latin typeface="宋体"/>
                <a:cs typeface="宋体"/>
              </a:rPr>
              <a:t>管</a:t>
            </a:r>
            <a:r>
              <a:rPr dirty="0" sz="2350" spc="-15" b="1">
                <a:latin typeface="宋体"/>
                <a:cs typeface="宋体"/>
              </a:rPr>
              <a:t>(</a:t>
            </a:r>
            <a:r>
              <a:rPr dirty="0" sz="2350" spc="-10" b="1">
                <a:latin typeface="宋体"/>
                <a:cs typeface="宋体"/>
              </a:rPr>
              <a:t>或注射</a:t>
            </a:r>
            <a:r>
              <a:rPr dirty="0" sz="2350" b="1">
                <a:latin typeface="宋体"/>
                <a:cs typeface="宋体"/>
              </a:rPr>
              <a:t>器</a:t>
            </a:r>
            <a:r>
              <a:rPr dirty="0" sz="2350" spc="-15" b="1">
                <a:latin typeface="宋体"/>
                <a:cs typeface="宋体"/>
              </a:rPr>
              <a:t>)</a:t>
            </a:r>
            <a:r>
              <a:rPr dirty="0" sz="2350" spc="-10" b="1">
                <a:latin typeface="宋体"/>
                <a:cs typeface="宋体"/>
              </a:rPr>
              <a:t>向量筒中</a:t>
            </a:r>
            <a:r>
              <a:rPr dirty="0" sz="2350" spc="-20" b="1">
                <a:latin typeface="宋体"/>
                <a:cs typeface="宋体"/>
              </a:rPr>
              <a:t>滴入</a:t>
            </a:r>
            <a:r>
              <a:rPr dirty="0" sz="2350" spc="-229" b="1">
                <a:latin typeface="宋体"/>
                <a:cs typeface="宋体"/>
              </a:rPr>
              <a:t> </a:t>
            </a:r>
            <a:r>
              <a:rPr dirty="0" sz="2450" spc="-65" b="1" i="1">
                <a:latin typeface="宋体"/>
                <a:cs typeface="宋体"/>
              </a:rPr>
              <a:t>n</a:t>
            </a:r>
            <a:r>
              <a:rPr dirty="0" sz="2450" spc="-815" b="1" i="1">
                <a:latin typeface="宋体"/>
                <a:cs typeface="宋体"/>
              </a:rPr>
              <a:t> </a:t>
            </a:r>
            <a:r>
              <a:rPr dirty="0" sz="2350" spc="-10" b="1">
                <a:latin typeface="宋体"/>
                <a:cs typeface="宋体"/>
              </a:rPr>
              <a:t>滴</a:t>
            </a:r>
            <a:r>
              <a:rPr dirty="0" sz="2350" spc="-20" b="1">
                <a:latin typeface="宋体"/>
                <a:cs typeface="宋体"/>
              </a:rPr>
              <a:t>配</a:t>
            </a:r>
            <a:r>
              <a:rPr dirty="0" sz="2350" spc="-10" b="1">
                <a:latin typeface="宋体"/>
                <a:cs typeface="宋体"/>
              </a:rPr>
              <a:t>制好的油</a:t>
            </a:r>
            <a:r>
              <a:rPr dirty="0" sz="2350" spc="-20" b="1">
                <a:latin typeface="宋体"/>
                <a:cs typeface="宋体"/>
              </a:rPr>
              <a:t>酸酒 </a:t>
            </a:r>
            <a:r>
              <a:rPr dirty="0" sz="2350" spc="-10" b="1">
                <a:latin typeface="宋体"/>
                <a:cs typeface="宋体"/>
              </a:rPr>
              <a:t>精溶液</a:t>
            </a:r>
            <a:r>
              <a:rPr dirty="0" sz="2350" spc="-105" b="1">
                <a:latin typeface="宋体"/>
                <a:cs typeface="宋体"/>
              </a:rPr>
              <a:t>，</a:t>
            </a:r>
            <a:r>
              <a:rPr dirty="0" sz="2350" spc="-20" b="1">
                <a:latin typeface="宋体"/>
                <a:cs typeface="宋体"/>
              </a:rPr>
              <a:t>使</a:t>
            </a:r>
            <a:r>
              <a:rPr dirty="0" sz="2350" spc="-10" b="1">
                <a:latin typeface="宋体"/>
                <a:cs typeface="宋体"/>
              </a:rPr>
              <a:t>这些溶液</a:t>
            </a:r>
            <a:r>
              <a:rPr dirty="0" sz="2350" spc="-20" b="1">
                <a:latin typeface="宋体"/>
                <a:cs typeface="宋体"/>
              </a:rPr>
              <a:t>的</a:t>
            </a:r>
            <a:r>
              <a:rPr dirty="0" sz="2350" spc="-10" b="1">
                <a:latin typeface="宋体"/>
                <a:cs typeface="宋体"/>
              </a:rPr>
              <a:t>体积恰</a:t>
            </a:r>
            <a:r>
              <a:rPr dirty="0" sz="2350" spc="-20" b="1">
                <a:latin typeface="宋体"/>
                <a:cs typeface="宋体"/>
              </a:rPr>
              <a:t>好为</a:t>
            </a:r>
            <a:r>
              <a:rPr dirty="0" sz="2350" spc="-585" b="1">
                <a:latin typeface="宋体"/>
                <a:cs typeface="宋体"/>
              </a:rPr>
              <a:t> </a:t>
            </a:r>
            <a:r>
              <a:rPr dirty="0" sz="2350" spc="-5" b="1">
                <a:latin typeface="宋体"/>
                <a:cs typeface="宋体"/>
              </a:rPr>
              <a:t>1</a:t>
            </a:r>
            <a:r>
              <a:rPr dirty="0" sz="2350" spc="-630" b="1">
                <a:latin typeface="宋体"/>
                <a:cs typeface="宋体"/>
              </a:rPr>
              <a:t> </a:t>
            </a:r>
            <a:r>
              <a:rPr dirty="0" sz="2350" spc="-40" b="1">
                <a:latin typeface="宋体"/>
                <a:cs typeface="宋体"/>
              </a:rPr>
              <a:t>mL，</a:t>
            </a:r>
            <a:r>
              <a:rPr dirty="0" sz="2350" spc="-20" b="1">
                <a:latin typeface="宋体"/>
                <a:cs typeface="宋体"/>
              </a:rPr>
              <a:t>算</a:t>
            </a:r>
            <a:r>
              <a:rPr dirty="0" sz="2350" spc="-10" b="1">
                <a:latin typeface="宋体"/>
                <a:cs typeface="宋体"/>
              </a:rPr>
              <a:t>出每滴油</a:t>
            </a:r>
            <a:r>
              <a:rPr dirty="0" sz="2350" spc="-20" b="1">
                <a:latin typeface="宋体"/>
                <a:cs typeface="宋体"/>
              </a:rPr>
              <a:t>酸</a:t>
            </a:r>
            <a:r>
              <a:rPr dirty="0" sz="2350" spc="-10" b="1">
                <a:latin typeface="宋体"/>
                <a:cs typeface="宋体"/>
              </a:rPr>
              <a:t>酒精</a:t>
            </a:r>
            <a:r>
              <a:rPr dirty="0" sz="2350" spc="-20" b="1">
                <a:latin typeface="宋体"/>
                <a:cs typeface="宋体"/>
              </a:rPr>
              <a:t>溶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7940" y="4811305"/>
            <a:ext cx="173990" cy="382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5" b="1">
                <a:latin typeface="宋体"/>
                <a:cs typeface="宋体"/>
              </a:rPr>
              <a:t>1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4367" y="5183578"/>
            <a:ext cx="270510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65" b="1" i="1">
                <a:latin typeface="宋体"/>
                <a:cs typeface="宋体"/>
              </a:rPr>
              <a:t>n</a:t>
            </a:r>
            <a:endParaRPr sz="24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30640" y="5205831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 h="0">
                <a:moveTo>
                  <a:pt x="0" y="0"/>
                </a:moveTo>
                <a:lnTo>
                  <a:pt x="150253" y="0"/>
                </a:lnTo>
              </a:path>
            </a:pathLst>
          </a:custGeom>
          <a:ln w="89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23875" y="5009854"/>
            <a:ext cx="286702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0" b="1">
                <a:latin typeface="宋体"/>
                <a:cs typeface="宋体"/>
              </a:rPr>
              <a:t>液的体</a:t>
            </a:r>
            <a:r>
              <a:rPr dirty="0" sz="2350" spc="-20" b="1">
                <a:latin typeface="宋体"/>
                <a:cs typeface="宋体"/>
              </a:rPr>
              <a:t>积</a:t>
            </a:r>
            <a:r>
              <a:rPr dirty="0" sz="2350" spc="-685" b="1">
                <a:latin typeface="宋体"/>
                <a:cs typeface="宋体"/>
              </a:rPr>
              <a:t> </a:t>
            </a:r>
            <a:r>
              <a:rPr dirty="0" sz="2450" spc="-710" b="1" i="1">
                <a:latin typeface="宋体"/>
                <a:cs typeface="宋体"/>
              </a:rPr>
              <a:t>V</a:t>
            </a:r>
            <a:r>
              <a:rPr dirty="0" baseline="-7246" sz="1725" spc="7" b="1">
                <a:latin typeface="宋体"/>
                <a:cs typeface="宋体"/>
              </a:rPr>
              <a:t>0</a:t>
            </a:r>
            <a:r>
              <a:rPr dirty="0" sz="2350" spc="-20" b="1">
                <a:latin typeface="宋体"/>
                <a:cs typeface="宋体"/>
              </a:rPr>
              <a:t>＝</a:t>
            </a:r>
            <a:r>
              <a:rPr dirty="0" sz="2350" spc="10" b="1">
                <a:latin typeface="宋体"/>
                <a:cs typeface="宋体"/>
              </a:rPr>
              <a:t> </a:t>
            </a:r>
            <a:r>
              <a:rPr dirty="0" sz="2350" spc="-5" b="1">
                <a:latin typeface="宋体"/>
                <a:cs typeface="宋体"/>
              </a:rPr>
              <a:t> mL</a:t>
            </a:r>
            <a:r>
              <a:rPr dirty="0" sz="2350" spc="-20" b="1">
                <a:latin typeface="宋体"/>
                <a:cs typeface="宋体"/>
              </a:rPr>
              <a:t>。</a:t>
            </a:r>
            <a:r>
              <a:rPr dirty="0" sz="2350" spc="-15" b="1">
                <a:latin typeface="宋体"/>
                <a:cs typeface="宋体"/>
              </a:rPr>
              <a:t> </a:t>
            </a:r>
            <a:endParaRPr sz="23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741209"/>
            <a:ext cx="7838440" cy="552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黑体"/>
                <a:cs typeface="黑体"/>
              </a:rPr>
              <a:t>（二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0000"/>
                </a:solidFill>
                <a:latin typeface="黑体"/>
                <a:cs typeface="黑体"/>
              </a:rPr>
              <a:t>如何形成单分子油膜并测出其面积</a:t>
            </a:r>
            <a:r>
              <a:rPr dirty="0" sz="2800" spc="-2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2800">
              <a:latin typeface="黑体"/>
              <a:cs typeface="黑体"/>
            </a:endParaRPr>
          </a:p>
          <a:p>
            <a:pPr marL="12700" marR="5080">
              <a:lnSpc>
                <a:spcPct val="150000"/>
              </a:lnSpc>
              <a:spcBef>
                <a:spcPts val="2385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往边长约为30</a:t>
            </a:r>
            <a:r>
              <a:rPr dirty="0" sz="2400" spc="-30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cm～40</a:t>
            </a:r>
            <a:r>
              <a:rPr dirty="0" sz="2400" spc="-25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cm的浅盘中倒入约2</a:t>
            </a:r>
            <a:r>
              <a:rPr dirty="0" sz="2400" spc="-30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cm深的水</a:t>
            </a:r>
            <a:r>
              <a:rPr dirty="0" sz="2400" spc="-10" b="1">
                <a:latin typeface="宋体"/>
                <a:cs typeface="宋体"/>
              </a:rPr>
              <a:t>， </a:t>
            </a:r>
            <a:r>
              <a:rPr dirty="0" sz="2400" b="1">
                <a:latin typeface="宋体"/>
                <a:cs typeface="宋体"/>
              </a:rPr>
              <a:t>然后将痱子粉或石膏粉均匀地撒在水面上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319405">
              <a:lnSpc>
                <a:spcPct val="150000"/>
              </a:lnSpc>
              <a:spcBef>
                <a:spcPts val="1000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用滴管</a:t>
            </a:r>
            <a:r>
              <a:rPr dirty="0" sz="2400" b="1">
                <a:latin typeface="宋体"/>
                <a:cs typeface="宋体"/>
              </a:rPr>
              <a:t>(</a:t>
            </a:r>
            <a:r>
              <a:rPr dirty="0" sz="2400" b="1">
                <a:latin typeface="宋体"/>
                <a:cs typeface="宋体"/>
              </a:rPr>
              <a:t>或注射器</a:t>
            </a:r>
            <a:r>
              <a:rPr dirty="0" sz="2400" b="1">
                <a:latin typeface="宋体"/>
                <a:cs typeface="宋体"/>
              </a:rPr>
              <a:t>)</a:t>
            </a:r>
            <a:r>
              <a:rPr dirty="0" sz="2400" b="1">
                <a:latin typeface="宋体"/>
                <a:cs typeface="宋体"/>
              </a:rPr>
              <a:t>向水面上滴入一滴配制好的油酸</a:t>
            </a:r>
            <a:r>
              <a:rPr dirty="0" sz="2400" spc="-10" b="1">
                <a:latin typeface="宋体"/>
                <a:cs typeface="宋体"/>
              </a:rPr>
              <a:t>酒 </a:t>
            </a:r>
            <a:r>
              <a:rPr dirty="0" sz="2400" b="1">
                <a:latin typeface="宋体"/>
                <a:cs typeface="宋体"/>
              </a:rPr>
              <a:t>精溶液，油酸就在水面上慢慢散开，形成单分子油膜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320675">
              <a:lnSpc>
                <a:spcPct val="150000"/>
              </a:lnSpc>
              <a:spcBef>
                <a:spcPts val="1000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待油酸薄膜形状稳定后，将一块较大的玻璃板盖在</a:t>
            </a:r>
            <a:r>
              <a:rPr dirty="0" sz="2400" spc="-10" b="1">
                <a:latin typeface="宋体"/>
                <a:cs typeface="宋体"/>
              </a:rPr>
              <a:t>浅 </a:t>
            </a:r>
            <a:r>
              <a:rPr dirty="0" sz="2400" b="1">
                <a:latin typeface="宋体"/>
                <a:cs typeface="宋体"/>
              </a:rPr>
              <a:t>盘上，用彩笔将油酸薄膜的形状画在玻璃板上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320675">
              <a:lnSpc>
                <a:spcPct val="150000"/>
              </a:lnSpc>
              <a:spcBef>
                <a:spcPts val="1000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将画有油酸薄膜轮廓的玻璃板放在坐标纸上，算出</a:t>
            </a:r>
            <a:r>
              <a:rPr dirty="0" sz="2400" spc="-10" b="1">
                <a:latin typeface="宋体"/>
                <a:cs typeface="宋体"/>
              </a:rPr>
              <a:t>油 </a:t>
            </a:r>
            <a:r>
              <a:rPr dirty="0" sz="2400" b="1">
                <a:latin typeface="宋体"/>
                <a:cs typeface="宋体"/>
              </a:rPr>
              <a:t>酸薄膜的面积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7602" y="1280642"/>
            <a:ext cx="7087870" cy="153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 sz="2450" spc="-5" b="1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2450" spc="20" b="1">
                <a:solidFill>
                  <a:srgbClr val="FF0000"/>
                </a:solidFill>
                <a:latin typeface="微软雅黑"/>
                <a:cs typeface="微软雅黑"/>
              </a:rPr>
              <a:t>三</a:t>
            </a:r>
            <a:r>
              <a:rPr dirty="0" sz="2450" spc="-15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dirty="0" sz="2450" spc="10" b="1">
                <a:solidFill>
                  <a:srgbClr val="FF0000"/>
                </a:solidFill>
                <a:latin typeface="微软雅黑"/>
                <a:cs typeface="微软雅黑"/>
              </a:rPr>
              <a:t>数</a:t>
            </a:r>
            <a:r>
              <a:rPr dirty="0" sz="2450" b="1">
                <a:solidFill>
                  <a:srgbClr val="FF0000"/>
                </a:solidFill>
                <a:latin typeface="微软雅黑"/>
                <a:cs typeface="微软雅黑"/>
              </a:rPr>
              <a:t>据处理</a:t>
            </a:r>
            <a:endParaRPr sz="2450">
              <a:latin typeface="微软雅黑"/>
              <a:cs typeface="微软雅黑"/>
            </a:endParaRPr>
          </a:p>
          <a:p>
            <a:pPr marL="12700" marR="5080" indent="576580">
              <a:lnSpc>
                <a:spcPct val="163100"/>
              </a:lnSpc>
              <a:spcBef>
                <a:spcPts val="130"/>
              </a:spcBef>
            </a:pPr>
            <a:r>
              <a:rPr dirty="0" sz="2250" spc="5" b="1">
                <a:latin typeface="Times New Roman"/>
                <a:cs typeface="Times New Roman"/>
              </a:rPr>
              <a:t>7</a:t>
            </a:r>
            <a:r>
              <a:rPr dirty="0" sz="2250" spc="20" b="1">
                <a:latin typeface="微软雅黑"/>
                <a:cs typeface="微软雅黑"/>
              </a:rPr>
              <a:t>．</a:t>
            </a:r>
            <a:r>
              <a:rPr dirty="0" sz="2250" spc="10" b="1">
                <a:latin typeface="宋体"/>
                <a:cs typeface="宋体"/>
              </a:rPr>
              <a:t>据油酸酒精溶液的浓度，算出一滴溶液中</a:t>
            </a:r>
            <a:r>
              <a:rPr dirty="0" sz="2250" b="1">
                <a:latin typeface="宋体"/>
                <a:cs typeface="宋体"/>
              </a:rPr>
              <a:t>纯油酸 </a:t>
            </a:r>
            <a:r>
              <a:rPr dirty="0" sz="2250" spc="10" b="1">
                <a:latin typeface="宋体"/>
                <a:cs typeface="宋体"/>
              </a:rPr>
              <a:t>的体</a:t>
            </a:r>
            <a:r>
              <a:rPr dirty="0" sz="2250" b="1">
                <a:latin typeface="宋体"/>
                <a:cs typeface="宋体"/>
              </a:rPr>
              <a:t>积</a:t>
            </a:r>
            <a:r>
              <a:rPr dirty="0" sz="2250" spc="-580" b="1">
                <a:latin typeface="宋体"/>
                <a:cs typeface="宋体"/>
              </a:rPr>
              <a:t> </a:t>
            </a:r>
            <a:r>
              <a:rPr dirty="0" sz="2250" spc="-210" b="1" i="1">
                <a:latin typeface="Times New Roman"/>
                <a:cs typeface="Times New Roman"/>
              </a:rPr>
              <a:t>V</a:t>
            </a:r>
            <a:r>
              <a:rPr dirty="0" sz="2250" spc="-210" b="1">
                <a:latin typeface="宋体"/>
                <a:cs typeface="宋体"/>
              </a:rPr>
              <a:t>，</a:t>
            </a:r>
            <a:r>
              <a:rPr dirty="0" sz="2250" spc="10" b="1">
                <a:latin typeface="宋体"/>
                <a:cs typeface="宋体"/>
              </a:rPr>
              <a:t>据一滴油</a:t>
            </a:r>
            <a:r>
              <a:rPr dirty="0" sz="2250" b="1">
                <a:latin typeface="宋体"/>
                <a:cs typeface="宋体"/>
              </a:rPr>
              <a:t>酸</a:t>
            </a:r>
            <a:r>
              <a:rPr dirty="0" sz="2250" spc="10" b="1">
                <a:latin typeface="宋体"/>
                <a:cs typeface="宋体"/>
              </a:rPr>
              <a:t>的体</a:t>
            </a:r>
            <a:r>
              <a:rPr dirty="0" sz="2250" b="1">
                <a:latin typeface="宋体"/>
                <a:cs typeface="宋体"/>
              </a:rPr>
              <a:t>积</a:t>
            </a:r>
            <a:r>
              <a:rPr dirty="0" sz="2250" spc="-570" b="1">
                <a:latin typeface="宋体"/>
                <a:cs typeface="宋体"/>
              </a:rPr>
              <a:t> </a:t>
            </a:r>
            <a:r>
              <a:rPr dirty="0" sz="2250" spc="5" b="1" i="1">
                <a:latin typeface="Times New Roman"/>
                <a:cs typeface="Times New Roman"/>
              </a:rPr>
              <a:t>V</a:t>
            </a:r>
            <a:r>
              <a:rPr dirty="0" sz="2250" spc="-25" b="1" i="1">
                <a:latin typeface="Times New Roman"/>
                <a:cs typeface="Times New Roman"/>
              </a:rPr>
              <a:t> </a:t>
            </a:r>
            <a:r>
              <a:rPr dirty="0" sz="2250" spc="10" b="1">
                <a:latin typeface="宋体"/>
                <a:cs typeface="宋体"/>
              </a:rPr>
              <a:t>和薄膜的</a:t>
            </a:r>
            <a:r>
              <a:rPr dirty="0" sz="2250" b="1">
                <a:latin typeface="宋体"/>
                <a:cs typeface="宋体"/>
              </a:rPr>
              <a:t>面积</a:t>
            </a:r>
            <a:r>
              <a:rPr dirty="0" sz="2250" spc="-570" b="1">
                <a:latin typeface="宋体"/>
                <a:cs typeface="宋体"/>
              </a:rPr>
              <a:t> </a:t>
            </a:r>
            <a:r>
              <a:rPr dirty="0" sz="2250" spc="-204" b="1" i="1">
                <a:latin typeface="Times New Roman"/>
                <a:cs typeface="Times New Roman"/>
              </a:rPr>
              <a:t>S</a:t>
            </a:r>
            <a:r>
              <a:rPr dirty="0" sz="2250" spc="-204" b="1">
                <a:latin typeface="宋体"/>
                <a:cs typeface="宋体"/>
              </a:rPr>
              <a:t>，</a:t>
            </a:r>
            <a:r>
              <a:rPr dirty="0" sz="2250" spc="10" b="1">
                <a:latin typeface="宋体"/>
                <a:cs typeface="宋体"/>
              </a:rPr>
              <a:t>算</a:t>
            </a:r>
            <a:r>
              <a:rPr dirty="0" sz="2250" b="1">
                <a:latin typeface="宋体"/>
                <a:cs typeface="宋体"/>
              </a:rPr>
              <a:t>出油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71176" y="2978073"/>
            <a:ext cx="21717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sng" sz="2250" spc="5" b="1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7602" y="3170173"/>
            <a:ext cx="7091045" cy="2174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10" b="1">
                <a:latin typeface="宋体"/>
                <a:cs typeface="宋体"/>
              </a:rPr>
              <a:t>酸薄膜的</a:t>
            </a:r>
            <a:r>
              <a:rPr dirty="0" sz="2250" b="1">
                <a:latin typeface="宋体"/>
                <a:cs typeface="宋体"/>
              </a:rPr>
              <a:t>厚度</a:t>
            </a:r>
            <a:r>
              <a:rPr dirty="0" sz="2250" spc="-560" b="1">
                <a:latin typeface="宋体"/>
                <a:cs typeface="宋体"/>
              </a:rPr>
              <a:t> </a:t>
            </a:r>
            <a:r>
              <a:rPr dirty="0" sz="2250" spc="65" b="1" i="1">
                <a:latin typeface="Times New Roman"/>
                <a:cs typeface="Times New Roman"/>
              </a:rPr>
              <a:t>d</a:t>
            </a:r>
            <a:r>
              <a:rPr dirty="0" sz="2250" spc="65" b="1">
                <a:latin typeface="宋体"/>
                <a:cs typeface="宋体"/>
              </a:rPr>
              <a:t>＝</a:t>
            </a:r>
            <a:r>
              <a:rPr dirty="0" baseline="-27160" sz="3375" spc="97" b="1" i="1">
                <a:latin typeface="Times New Roman"/>
                <a:cs typeface="Times New Roman"/>
              </a:rPr>
              <a:t>S</a:t>
            </a:r>
            <a:r>
              <a:rPr dirty="0" sz="2250" spc="65" b="1">
                <a:latin typeface="宋体"/>
                <a:cs typeface="宋体"/>
              </a:rPr>
              <a:t>，</a:t>
            </a:r>
            <a:r>
              <a:rPr dirty="0" sz="2250" b="1">
                <a:latin typeface="宋体"/>
                <a:cs typeface="宋体"/>
              </a:rPr>
              <a:t>即</a:t>
            </a:r>
            <a:r>
              <a:rPr dirty="0" sz="2250" spc="10" b="1">
                <a:latin typeface="宋体"/>
                <a:cs typeface="宋体"/>
              </a:rPr>
              <a:t>为油酸分</a:t>
            </a:r>
            <a:r>
              <a:rPr dirty="0" sz="2250" b="1">
                <a:latin typeface="宋体"/>
                <a:cs typeface="宋体"/>
              </a:rPr>
              <a:t>子</a:t>
            </a:r>
            <a:r>
              <a:rPr dirty="0" sz="2250" spc="10" b="1">
                <a:latin typeface="宋体"/>
                <a:cs typeface="宋体"/>
              </a:rPr>
              <a:t>的直</a:t>
            </a:r>
            <a:r>
              <a:rPr dirty="0" sz="2250" spc="15" b="1">
                <a:latin typeface="宋体"/>
                <a:cs typeface="宋体"/>
              </a:rPr>
              <a:t>径</a:t>
            </a:r>
            <a:r>
              <a:rPr dirty="0" sz="2250" b="1">
                <a:latin typeface="宋体"/>
                <a:cs typeface="宋体"/>
              </a:rPr>
              <a:t>。</a:t>
            </a:r>
            <a:endParaRPr sz="2250">
              <a:latin typeface="宋体"/>
              <a:cs typeface="宋体"/>
            </a:endParaRPr>
          </a:p>
          <a:p>
            <a:pPr algn="just" marL="12700" marR="5080" indent="576580">
              <a:lnSpc>
                <a:spcPct val="162600"/>
              </a:lnSpc>
              <a:spcBef>
                <a:spcPts val="1040"/>
              </a:spcBef>
            </a:pPr>
            <a:r>
              <a:rPr dirty="0" sz="2250" spc="5" b="1">
                <a:latin typeface="Times New Roman"/>
                <a:cs typeface="Times New Roman"/>
              </a:rPr>
              <a:t>*</a:t>
            </a:r>
            <a:r>
              <a:rPr dirty="0" sz="2250" spc="10" b="1">
                <a:latin typeface="宋体"/>
                <a:cs typeface="宋体"/>
              </a:rPr>
              <a:t>比较算出的分子直径，看其数量</a:t>
            </a:r>
            <a:r>
              <a:rPr dirty="0" sz="2250" spc="15" b="1">
                <a:latin typeface="宋体"/>
                <a:cs typeface="宋体"/>
              </a:rPr>
              <a:t>级</a:t>
            </a:r>
            <a:r>
              <a:rPr dirty="0" sz="2250" b="1">
                <a:latin typeface="Times New Roman"/>
                <a:cs typeface="Times New Roman"/>
              </a:rPr>
              <a:t>(</a:t>
            </a:r>
            <a:r>
              <a:rPr dirty="0" sz="2250" spc="10" b="1">
                <a:latin typeface="宋体"/>
                <a:cs typeface="宋体"/>
              </a:rPr>
              <a:t>单位</a:t>
            </a:r>
            <a:r>
              <a:rPr dirty="0" sz="2250" b="1">
                <a:latin typeface="宋体"/>
                <a:cs typeface="宋体"/>
              </a:rPr>
              <a:t>为</a:t>
            </a:r>
            <a:r>
              <a:rPr dirty="0" sz="2250" spc="-60" b="1">
                <a:latin typeface="宋体"/>
                <a:cs typeface="宋体"/>
              </a:rPr>
              <a:t> </a:t>
            </a:r>
            <a:r>
              <a:rPr dirty="0" sz="2250" spc="5" b="1">
                <a:latin typeface="Times New Roman"/>
                <a:cs typeface="Times New Roman"/>
              </a:rPr>
              <a:t>m)</a:t>
            </a:r>
            <a:r>
              <a:rPr dirty="0" sz="2250" spc="10" b="1">
                <a:latin typeface="宋体"/>
                <a:cs typeface="宋体"/>
              </a:rPr>
              <a:t>是</a:t>
            </a:r>
            <a:r>
              <a:rPr dirty="0" sz="2250" b="1">
                <a:latin typeface="宋体"/>
                <a:cs typeface="宋体"/>
              </a:rPr>
              <a:t>否 </a:t>
            </a:r>
            <a:r>
              <a:rPr dirty="0" sz="2250" b="1">
                <a:latin typeface="宋体"/>
                <a:cs typeface="宋体"/>
              </a:rPr>
              <a:t>为</a:t>
            </a:r>
            <a:r>
              <a:rPr dirty="0" sz="2250" spc="-560" b="1">
                <a:latin typeface="宋体"/>
                <a:cs typeface="宋体"/>
              </a:rPr>
              <a:t> </a:t>
            </a:r>
            <a:r>
              <a:rPr dirty="0" sz="2250" spc="5" b="1">
                <a:latin typeface="Times New Roman"/>
                <a:cs typeface="Times New Roman"/>
              </a:rPr>
              <a:t>10</a:t>
            </a:r>
            <a:r>
              <a:rPr dirty="0" baseline="58080" sz="1650" spc="52" b="1">
                <a:latin typeface="宋体"/>
                <a:cs typeface="宋体"/>
              </a:rPr>
              <a:t>－</a:t>
            </a:r>
            <a:r>
              <a:rPr dirty="0" baseline="40229" sz="2175" spc="7" b="1">
                <a:latin typeface="Times New Roman"/>
                <a:cs typeface="Times New Roman"/>
              </a:rPr>
              <a:t>9</a:t>
            </a:r>
            <a:r>
              <a:rPr dirty="0" sz="2250" b="1">
                <a:latin typeface="宋体"/>
                <a:cs typeface="宋体"/>
              </a:rPr>
              <a:t>，</a:t>
            </a:r>
            <a:r>
              <a:rPr dirty="0" sz="2250" spc="-320" b="1">
                <a:latin typeface="宋体"/>
                <a:cs typeface="宋体"/>
              </a:rPr>
              <a:t> </a:t>
            </a:r>
            <a:r>
              <a:rPr dirty="0" sz="2250" spc="-10" b="1">
                <a:latin typeface="Times New Roman"/>
                <a:cs typeface="Times New Roman"/>
              </a:rPr>
              <a:t>(</a:t>
            </a:r>
            <a:r>
              <a:rPr dirty="0" sz="2250" spc="10" b="1">
                <a:latin typeface="宋体"/>
                <a:cs typeface="宋体"/>
              </a:rPr>
              <a:t>油酸分子</a:t>
            </a:r>
            <a:r>
              <a:rPr dirty="0" sz="2250" b="1">
                <a:latin typeface="宋体"/>
                <a:cs typeface="宋体"/>
              </a:rPr>
              <a:t>为</a:t>
            </a:r>
            <a:r>
              <a:rPr dirty="0" sz="2250" spc="10" b="1">
                <a:latin typeface="宋体"/>
                <a:cs typeface="宋体"/>
              </a:rPr>
              <a:t>大分子</a:t>
            </a:r>
            <a:r>
              <a:rPr dirty="0" sz="2250" spc="-320" b="1">
                <a:latin typeface="宋体"/>
                <a:cs typeface="宋体"/>
              </a:rPr>
              <a:t>，</a:t>
            </a:r>
            <a:r>
              <a:rPr dirty="0" sz="2250" b="1">
                <a:latin typeface="宋体"/>
                <a:cs typeface="宋体"/>
              </a:rPr>
              <a:t>直</a:t>
            </a:r>
            <a:r>
              <a:rPr dirty="0" sz="2250" spc="10" b="1">
                <a:latin typeface="宋体"/>
                <a:cs typeface="宋体"/>
              </a:rPr>
              <a:t>径数量</a:t>
            </a:r>
            <a:r>
              <a:rPr dirty="0" sz="2250" b="1">
                <a:latin typeface="宋体"/>
                <a:cs typeface="宋体"/>
              </a:rPr>
              <a:t>级为</a:t>
            </a:r>
            <a:r>
              <a:rPr dirty="0" sz="2250" spc="-550" b="1">
                <a:latin typeface="宋体"/>
                <a:cs typeface="宋体"/>
              </a:rPr>
              <a:t> </a:t>
            </a:r>
            <a:r>
              <a:rPr dirty="0" sz="2250" spc="5" b="1">
                <a:latin typeface="Times New Roman"/>
                <a:cs typeface="Times New Roman"/>
              </a:rPr>
              <a:t>10</a:t>
            </a:r>
            <a:r>
              <a:rPr dirty="0" baseline="58080" sz="1650" spc="52" b="1">
                <a:latin typeface="宋体"/>
                <a:cs typeface="宋体"/>
              </a:rPr>
              <a:t>－</a:t>
            </a:r>
            <a:r>
              <a:rPr dirty="0" baseline="40229" sz="2175" spc="7" b="1">
                <a:latin typeface="Times New Roman"/>
                <a:cs typeface="Times New Roman"/>
              </a:rPr>
              <a:t>9</a:t>
            </a:r>
            <a:r>
              <a:rPr dirty="0" sz="2250" b="1">
                <a:latin typeface="Times New Roman"/>
                <a:cs typeface="Times New Roman"/>
              </a:rPr>
              <a:t>)</a:t>
            </a:r>
            <a:r>
              <a:rPr dirty="0" sz="2250" b="1">
                <a:latin typeface="Times New Roman"/>
                <a:cs typeface="Times New Roman"/>
              </a:rPr>
              <a:t> </a:t>
            </a:r>
            <a:r>
              <a:rPr dirty="0" sz="2250" spc="1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宋体"/>
                <a:cs typeface="宋体"/>
              </a:rPr>
              <a:t>若不 是</a:t>
            </a:r>
            <a:r>
              <a:rPr dirty="0" sz="2250" spc="-560" b="1">
                <a:latin typeface="宋体"/>
                <a:cs typeface="宋体"/>
              </a:rPr>
              <a:t> </a:t>
            </a:r>
            <a:r>
              <a:rPr dirty="0" sz="2250" spc="5" b="1">
                <a:latin typeface="Times New Roman"/>
                <a:cs typeface="Times New Roman"/>
              </a:rPr>
              <a:t>10</a:t>
            </a:r>
            <a:r>
              <a:rPr dirty="0" baseline="58080" sz="1650" spc="52" b="1">
                <a:latin typeface="宋体"/>
                <a:cs typeface="宋体"/>
              </a:rPr>
              <a:t>－</a:t>
            </a:r>
            <a:r>
              <a:rPr dirty="0" baseline="40229" sz="2175" b="1">
                <a:latin typeface="Times New Roman"/>
                <a:cs typeface="Times New Roman"/>
              </a:rPr>
              <a:t>9</a:t>
            </a:r>
            <a:r>
              <a:rPr dirty="0" baseline="40229" sz="2175" spc="7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宋体"/>
                <a:cs typeface="宋体"/>
              </a:rPr>
              <a:t>须</a:t>
            </a:r>
            <a:r>
              <a:rPr dirty="0" sz="2250" spc="10" b="1">
                <a:latin typeface="宋体"/>
                <a:cs typeface="宋体"/>
              </a:rPr>
              <a:t>重做实验</a:t>
            </a:r>
            <a:r>
              <a:rPr dirty="0" sz="2250" b="1">
                <a:latin typeface="宋体"/>
                <a:cs typeface="宋体"/>
              </a:rPr>
              <a:t>。</a:t>
            </a:r>
            <a:endParaRPr sz="22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295" y="1623085"/>
            <a:ext cx="67798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99"/>
                </a:solidFill>
                <a:latin typeface="华文楷体"/>
                <a:cs typeface="华文楷体"/>
              </a:rPr>
              <a:t>根据上面记录的数据，完成以下表格内容</a:t>
            </a:r>
            <a:r>
              <a:rPr dirty="0" sz="2800" spc="-5" b="1">
                <a:solidFill>
                  <a:srgbClr val="000099"/>
                </a:solidFill>
                <a:latin typeface="Segoe UI Black"/>
                <a:cs typeface="Segoe UI Black"/>
              </a:rPr>
              <a:t>.</a:t>
            </a:r>
            <a:endParaRPr sz="2800">
              <a:latin typeface="Segoe UI Black"/>
              <a:cs typeface="Segoe UI Black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182" y="2558554"/>
          <a:ext cx="7653020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050"/>
                <a:gridCol w="2988945"/>
                <a:gridCol w="2168525"/>
                <a:gridCol w="1441450"/>
              </a:tblGrid>
              <a:tr h="1243329">
                <a:tc>
                  <a:txBody>
                    <a:bodyPr/>
                    <a:lstStyle/>
                    <a:p>
                      <a:pPr marL="160655" marR="155575">
                        <a:lnSpc>
                          <a:spcPct val="119900"/>
                        </a:lnSpc>
                        <a:spcBef>
                          <a:spcPts val="200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实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验 </a:t>
                      </a:r>
                      <a:r>
                        <a:rPr dirty="0" sz="2800" spc="10" b="1">
                          <a:latin typeface="华文楷体"/>
                          <a:cs typeface="华文楷体"/>
                        </a:rPr>
                        <a:t>次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 marR="193675" indent="-65405">
                        <a:lnSpc>
                          <a:spcPct val="119900"/>
                        </a:lnSpc>
                        <a:spcBef>
                          <a:spcPts val="200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量筒内增加</a:t>
                      </a:r>
                      <a:r>
                        <a:rPr dirty="0" sz="2800" spc="5" b="1">
                          <a:latin typeface="华文楷体"/>
                          <a:cs typeface="华文楷体"/>
                        </a:rPr>
                        <a:t>1</a:t>
                      </a:r>
                      <a:r>
                        <a:rPr dirty="0" sz="2800" spc="10" b="1">
                          <a:latin typeface="华文楷体"/>
                          <a:cs typeface="华文楷体"/>
                        </a:rPr>
                        <a:t>m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L 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溶液时的滴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1475" marR="366395">
                        <a:lnSpc>
                          <a:spcPct val="119900"/>
                        </a:lnSpc>
                        <a:spcBef>
                          <a:spcPts val="200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轮廓内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的 </a:t>
                      </a:r>
                      <a:r>
                        <a:rPr dirty="0" sz="2800" spc="10" b="1">
                          <a:latin typeface="华文楷体"/>
                          <a:cs typeface="华文楷体"/>
                        </a:rPr>
                        <a:t>小格子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5134" indent="-264160">
                        <a:lnSpc>
                          <a:spcPts val="3360"/>
                        </a:lnSpc>
                        <a:spcBef>
                          <a:spcPts val="1315"/>
                        </a:spcBef>
                      </a:pPr>
                      <a:r>
                        <a:rPr dirty="0" sz="2800" b="1">
                          <a:latin typeface="华文楷体"/>
                          <a:cs typeface="华文楷体"/>
                        </a:rPr>
                        <a:t>轮廓</a:t>
                      </a:r>
                      <a:r>
                        <a:rPr dirty="0" sz="2800" spc="-10" b="1">
                          <a:latin typeface="华文楷体"/>
                          <a:cs typeface="华文楷体"/>
                        </a:rPr>
                        <a:t>的 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面</a:t>
                      </a:r>
                      <a:r>
                        <a:rPr dirty="0" sz="2800" spc="-285" b="1">
                          <a:latin typeface="华文楷体"/>
                          <a:cs typeface="华文楷体"/>
                        </a:rPr>
                        <a:t>积</a:t>
                      </a:r>
                      <a:r>
                        <a:rPr dirty="0" sz="2900" spc="-55" b="1" i="1">
                          <a:latin typeface="华文楷体"/>
                          <a:cs typeface="华文楷体"/>
                        </a:rPr>
                        <a:t>S</a:t>
                      </a:r>
                      <a:endParaRPr sz="2900">
                        <a:latin typeface="华文楷体"/>
                        <a:cs typeface="华文楷体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5205" y="1838477"/>
          <a:ext cx="7849870" cy="293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9540"/>
                <a:gridCol w="2733675"/>
                <a:gridCol w="2203450"/>
                <a:gridCol w="1494155"/>
              </a:tblGrid>
              <a:tr h="1466850">
                <a:tc>
                  <a:txBody>
                    <a:bodyPr/>
                    <a:lstStyle/>
                    <a:p>
                      <a:pPr marL="342900" marR="337820">
                        <a:lnSpc>
                          <a:spcPct val="119900"/>
                        </a:lnSpc>
                        <a:spcBef>
                          <a:spcPts val="1080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实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验 </a:t>
                      </a:r>
                      <a:r>
                        <a:rPr dirty="0" sz="2800" spc="10" b="1">
                          <a:latin typeface="华文楷体"/>
                          <a:cs typeface="华文楷体"/>
                        </a:rPr>
                        <a:t>次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数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0" marR="292735" indent="-591820">
                        <a:lnSpc>
                          <a:spcPct val="117000"/>
                        </a:lnSpc>
                        <a:spcBef>
                          <a:spcPts val="1175"/>
                        </a:spcBef>
                      </a:pPr>
                      <a:r>
                        <a:rPr dirty="0" sz="2800" spc="10" b="1">
                          <a:latin typeface="华文楷体"/>
                          <a:cs typeface="华文楷体"/>
                        </a:rPr>
                        <a:t>一滴纯油酸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的 </a:t>
                      </a:r>
                      <a:r>
                        <a:rPr dirty="0" sz="2800" b="1">
                          <a:latin typeface="华文楷体"/>
                          <a:cs typeface="华文楷体"/>
                        </a:rPr>
                        <a:t>体</a:t>
                      </a:r>
                      <a:r>
                        <a:rPr dirty="0" sz="2800" spc="-285" b="1">
                          <a:latin typeface="华文楷体"/>
                          <a:cs typeface="华文楷体"/>
                        </a:rPr>
                        <a:t>积</a:t>
                      </a:r>
                      <a:r>
                        <a:rPr dirty="0" sz="2900" spc="-75" b="1" i="1">
                          <a:latin typeface="华文楷体"/>
                          <a:cs typeface="华文楷体"/>
                        </a:rPr>
                        <a:t>V</a:t>
                      </a:r>
                      <a:endParaRPr sz="2900">
                        <a:latin typeface="华文楷体"/>
                        <a:cs typeface="华文楷体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dirty="0" sz="2800" b="1">
                          <a:latin typeface="楷体"/>
                          <a:cs typeface="楷体"/>
                        </a:rPr>
                        <a:t>分子的大</a:t>
                      </a:r>
                      <a:r>
                        <a:rPr dirty="0" sz="2800" spc="-20" b="1">
                          <a:latin typeface="楷体"/>
                          <a:cs typeface="楷体"/>
                        </a:rPr>
                        <a:t>小</a:t>
                      </a:r>
                      <a:endParaRPr sz="2800">
                        <a:latin typeface="楷体"/>
                        <a:cs typeface="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2800" b="1">
                          <a:latin typeface="楷体"/>
                          <a:cs typeface="楷体"/>
                        </a:rPr>
                        <a:t>(单</a:t>
                      </a:r>
                      <a:r>
                        <a:rPr dirty="0" sz="2800" spc="-20" b="1">
                          <a:latin typeface="楷体"/>
                          <a:cs typeface="楷体"/>
                        </a:rPr>
                        <a:t>位</a:t>
                      </a:r>
                      <a:r>
                        <a:rPr dirty="0" sz="2800" spc="-5" b="1">
                          <a:latin typeface="楷体"/>
                          <a:cs typeface="楷体"/>
                        </a:rPr>
                        <a:t> </a:t>
                      </a:r>
                      <a:r>
                        <a:rPr dirty="0" sz="2800" spc="-15" b="1">
                          <a:latin typeface="楷体"/>
                          <a:cs typeface="楷体"/>
                        </a:rPr>
                        <a:t>m</a:t>
                      </a:r>
                      <a:r>
                        <a:rPr dirty="0" sz="2800" spc="-5" b="1">
                          <a:latin typeface="楷体"/>
                          <a:cs typeface="楷体"/>
                        </a:rPr>
                        <a:t> </a:t>
                      </a:r>
                      <a:r>
                        <a:rPr dirty="0" sz="2800" spc="-15" b="1">
                          <a:latin typeface="楷体"/>
                          <a:cs typeface="楷体"/>
                        </a:rPr>
                        <a:t>)</a:t>
                      </a:r>
                      <a:endParaRPr sz="2800">
                        <a:latin typeface="楷体"/>
                        <a:cs typeface="楷体"/>
                      </a:endParaRPr>
                    </a:p>
                  </a:txBody>
                  <a:tcPr marL="0" marR="0" marB="0" marT="2438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475"/>
                        </a:spcBef>
                      </a:pPr>
                      <a:r>
                        <a:rPr dirty="0" sz="3200" b="1">
                          <a:latin typeface="华文楷体"/>
                          <a:cs typeface="华文楷体"/>
                        </a:rPr>
                        <a:t>平均值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B="0" marT="4413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296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3200" b="1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3200" b="1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313" y="1318539"/>
            <a:ext cx="7675880" cy="4070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5B9BD4"/>
                </a:solidFill>
                <a:latin typeface="黑体"/>
                <a:cs typeface="黑体"/>
              </a:rPr>
              <a:t>五、实验注意事</a:t>
            </a:r>
            <a:r>
              <a:rPr dirty="0" sz="2800" spc="-20" b="1">
                <a:solidFill>
                  <a:srgbClr val="5B9BD4"/>
                </a:solidFill>
                <a:latin typeface="黑体"/>
                <a:cs typeface="黑体"/>
              </a:rPr>
              <a:t>项</a:t>
            </a:r>
            <a:endParaRPr sz="2800">
              <a:latin typeface="黑体"/>
              <a:cs typeface="黑体"/>
            </a:endParaRPr>
          </a:p>
          <a:p>
            <a:pPr marL="12700" marR="5080">
              <a:lnSpc>
                <a:spcPct val="150000"/>
              </a:lnSpc>
              <a:spcBef>
                <a:spcPts val="725"/>
              </a:spcBef>
              <a:buSzPct val="95833"/>
              <a:buAutoNum type="arabicPeriod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实验前，必须将所有的实验用具擦洗干净，实验时</a:t>
            </a:r>
            <a:r>
              <a:rPr dirty="0" sz="2400" spc="-10" b="1">
                <a:latin typeface="宋体"/>
                <a:cs typeface="宋体"/>
              </a:rPr>
              <a:t>，  </a:t>
            </a:r>
            <a:r>
              <a:rPr dirty="0" sz="2400" b="1">
                <a:latin typeface="宋体"/>
                <a:cs typeface="宋体"/>
              </a:rPr>
              <a:t>吸取油酸、酒精和溶液的移液管要分别专用，不能混用</a:t>
            </a:r>
            <a:r>
              <a:rPr dirty="0" sz="2400" spc="-10" b="1">
                <a:latin typeface="宋体"/>
                <a:cs typeface="宋体"/>
              </a:rPr>
              <a:t>， </a:t>
            </a:r>
            <a:r>
              <a:rPr dirty="0" sz="2400" b="1">
                <a:latin typeface="宋体"/>
                <a:cs typeface="宋体"/>
              </a:rPr>
              <a:t>否则会增大实验误差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"/>
              <a:buAutoNum type="arabicPeriod"/>
            </a:pPr>
            <a:endParaRPr sz="21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buSzPct val="95833"/>
              <a:buAutoNum type="arabicPeriod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痱子粉和油酸的用量都不要太大，否则不易成功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44800"/>
              </a:lnSpc>
              <a:spcBef>
                <a:spcPts val="1150"/>
              </a:spcBef>
              <a:buSzPct val="95833"/>
              <a:buAutoNum type="arabicPeriod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浅盘中的水离盘口面的距离应较小，并要水平放置</a:t>
            </a:r>
            <a:r>
              <a:rPr dirty="0" sz="2400" spc="-10" b="1">
                <a:latin typeface="宋体"/>
                <a:cs typeface="宋体"/>
              </a:rPr>
              <a:t>，  </a:t>
            </a:r>
            <a:r>
              <a:rPr dirty="0" sz="2400" b="1">
                <a:latin typeface="宋体"/>
                <a:cs typeface="宋体"/>
              </a:rPr>
              <a:t>以便准确地画出薄膜的形状，画线时视线应与板面垂直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27" y="2035175"/>
            <a:ext cx="7675880" cy="283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0"/>
              </a:spcBef>
              <a:buSzPct val="95833"/>
              <a:buAutoNum type="arabicPeriod" startAt="4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在水面撒痱子粉后，不要再触动盘中的水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"/>
              <a:buAutoNum type="arabicPeriod" startAt="4"/>
            </a:pPr>
            <a:endParaRPr sz="21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buSzPct val="95833"/>
              <a:buAutoNum type="arabicPeriod" startAt="4"/>
              <a:tabLst>
                <a:tab pos="320040" algn="l"/>
              </a:tabLst>
            </a:pPr>
            <a:r>
              <a:rPr dirty="0" sz="2400" b="1">
                <a:latin typeface="宋体"/>
                <a:cs typeface="宋体"/>
              </a:rPr>
              <a:t>滴管靠近液面中心处，轻轻滴下一滴油酸溶液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1000"/>
              </a:spcBef>
              <a:buSzPct val="95833"/>
              <a:buAutoNum type="arabicPeriod" startAt="4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利用坐标纸求油膜面积时，以边长1</a:t>
            </a:r>
            <a:r>
              <a:rPr dirty="0" sz="2400" spc="-45" b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cm的正方形为</a:t>
            </a:r>
            <a:r>
              <a:rPr dirty="0" sz="2400" spc="-10" b="1">
                <a:latin typeface="宋体"/>
                <a:cs typeface="宋体"/>
              </a:rPr>
              <a:t>单 </a:t>
            </a:r>
            <a:r>
              <a:rPr dirty="0" sz="2400" b="1">
                <a:latin typeface="宋体"/>
                <a:cs typeface="宋体"/>
              </a:rPr>
              <a:t>位，计算轮廓内正方形的个数，不足半格的舍去，多于</a:t>
            </a:r>
            <a:r>
              <a:rPr dirty="0" sz="2400" spc="-10" b="1">
                <a:latin typeface="宋体"/>
                <a:cs typeface="宋体"/>
              </a:rPr>
              <a:t>半 </a:t>
            </a:r>
            <a:r>
              <a:rPr dirty="0" sz="2400" b="1">
                <a:latin typeface="宋体"/>
                <a:cs typeface="宋体"/>
              </a:rPr>
              <a:t>格的算一个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652" y="1249438"/>
            <a:ext cx="7251700" cy="2131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8970">
              <a:lnSpc>
                <a:spcPct val="100000"/>
              </a:lnSpc>
              <a:spcBef>
                <a:spcPts val="95"/>
              </a:spcBef>
            </a:pPr>
            <a:r>
              <a:rPr dirty="0" sz="2500" spc="10" b="1">
                <a:solidFill>
                  <a:srgbClr val="4F81BC"/>
                </a:solidFill>
                <a:latin typeface="微软雅黑"/>
                <a:cs typeface="微软雅黑"/>
              </a:rPr>
              <a:t>六</a:t>
            </a:r>
            <a:r>
              <a:rPr dirty="0" sz="2500" spc="5" b="1">
                <a:solidFill>
                  <a:srgbClr val="4F81BC"/>
                </a:solidFill>
                <a:latin typeface="微软雅黑"/>
                <a:cs typeface="微软雅黑"/>
              </a:rPr>
              <a:t>、</a:t>
            </a:r>
            <a:r>
              <a:rPr dirty="0" sz="2500" spc="-5" b="1">
                <a:solidFill>
                  <a:srgbClr val="4F81BC"/>
                </a:solidFill>
                <a:latin typeface="微软雅黑"/>
                <a:cs typeface="微软雅黑"/>
              </a:rPr>
              <a:t>误差</a:t>
            </a:r>
            <a:r>
              <a:rPr dirty="0" sz="2500" spc="5" b="1">
                <a:solidFill>
                  <a:srgbClr val="4F81BC"/>
                </a:solidFill>
                <a:latin typeface="微软雅黑"/>
                <a:cs typeface="微软雅黑"/>
              </a:rPr>
              <a:t>分</a:t>
            </a:r>
            <a:r>
              <a:rPr dirty="0" sz="2500" spc="-5" b="1">
                <a:solidFill>
                  <a:srgbClr val="4F81BC"/>
                </a:solidFill>
                <a:latin typeface="微软雅黑"/>
                <a:cs typeface="微软雅黑"/>
              </a:rPr>
              <a:t>析</a:t>
            </a:r>
            <a:endParaRPr sz="2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dirty="0" sz="2300" b="1">
                <a:latin typeface="宋体"/>
                <a:cs typeface="宋体"/>
              </a:rPr>
              <a:t>用油膜法</a:t>
            </a:r>
            <a:r>
              <a:rPr dirty="0" sz="2300" spc="-10" b="1">
                <a:latin typeface="宋体"/>
                <a:cs typeface="宋体"/>
              </a:rPr>
              <a:t>估</a:t>
            </a:r>
            <a:r>
              <a:rPr dirty="0" sz="2300" b="1">
                <a:latin typeface="宋体"/>
                <a:cs typeface="宋体"/>
              </a:rPr>
              <a:t>测分子直</a:t>
            </a:r>
            <a:r>
              <a:rPr dirty="0" sz="2300" spc="-10" b="1">
                <a:latin typeface="宋体"/>
                <a:cs typeface="宋体"/>
              </a:rPr>
              <a:t>径</a:t>
            </a:r>
            <a:r>
              <a:rPr dirty="0" sz="2300" b="1">
                <a:latin typeface="宋体"/>
                <a:cs typeface="宋体"/>
              </a:rPr>
              <a:t>，实验误</a:t>
            </a:r>
            <a:r>
              <a:rPr dirty="0" sz="2300" spc="-10" b="1">
                <a:latin typeface="宋体"/>
                <a:cs typeface="宋体"/>
              </a:rPr>
              <a:t>差</a:t>
            </a:r>
            <a:r>
              <a:rPr dirty="0" sz="2300" b="1">
                <a:latin typeface="宋体"/>
                <a:cs typeface="宋体"/>
              </a:rPr>
              <a:t>通常来自</a:t>
            </a:r>
            <a:r>
              <a:rPr dirty="0" sz="2300" spc="-10" b="1">
                <a:latin typeface="宋体"/>
                <a:cs typeface="宋体"/>
              </a:rPr>
              <a:t>三</a:t>
            </a:r>
            <a:r>
              <a:rPr dirty="0" sz="2300" b="1">
                <a:latin typeface="宋体"/>
                <a:cs typeface="宋体"/>
              </a:rPr>
              <a:t>个方面</a:t>
            </a:r>
            <a:r>
              <a:rPr dirty="0" sz="2300" spc="-10" b="1">
                <a:latin typeface="宋体"/>
                <a:cs typeface="宋体"/>
              </a:rPr>
              <a:t>：</a:t>
            </a:r>
            <a:endParaRPr sz="2300">
              <a:latin typeface="宋体"/>
              <a:cs typeface="宋体"/>
            </a:endParaRPr>
          </a:p>
          <a:p>
            <a:pPr marL="600710">
              <a:lnSpc>
                <a:spcPct val="100000"/>
              </a:lnSpc>
              <a:spcBef>
                <a:spcPts val="1730"/>
              </a:spcBef>
            </a:pPr>
            <a:r>
              <a:rPr dirty="0" sz="2300" b="1">
                <a:latin typeface="宋体"/>
                <a:cs typeface="宋体"/>
              </a:rPr>
              <a:t>1．形成</a:t>
            </a:r>
            <a:r>
              <a:rPr dirty="0" sz="2300" spc="-10" b="1">
                <a:latin typeface="宋体"/>
                <a:cs typeface="宋体"/>
              </a:rPr>
              <a:t>单</a:t>
            </a:r>
            <a:r>
              <a:rPr dirty="0" sz="2300" b="1">
                <a:latin typeface="宋体"/>
                <a:cs typeface="宋体"/>
              </a:rPr>
              <a:t>分子油</a:t>
            </a:r>
            <a:r>
              <a:rPr dirty="0" sz="2300" spc="25" b="1">
                <a:latin typeface="宋体"/>
                <a:cs typeface="宋体"/>
              </a:rPr>
              <a:t>膜</a:t>
            </a:r>
            <a:r>
              <a:rPr dirty="0" sz="2300" spc="-10" b="1">
                <a:latin typeface="宋体"/>
                <a:cs typeface="宋体"/>
              </a:rPr>
              <a:t> </a:t>
            </a:r>
            <a:endParaRPr sz="2300">
              <a:latin typeface="宋体"/>
              <a:cs typeface="宋体"/>
            </a:endParaRPr>
          </a:p>
          <a:p>
            <a:pPr marL="597535">
              <a:lnSpc>
                <a:spcPct val="100000"/>
              </a:lnSpc>
              <a:spcBef>
                <a:spcPts val="1714"/>
              </a:spcBef>
            </a:pPr>
            <a:r>
              <a:rPr dirty="0" sz="2300">
                <a:latin typeface="宋体"/>
                <a:cs typeface="宋体"/>
              </a:rPr>
              <a:t>只有形成单分子油膜</a:t>
            </a:r>
            <a:r>
              <a:rPr dirty="0" sz="2300" spc="-610">
                <a:latin typeface="宋体"/>
                <a:cs typeface="宋体"/>
              </a:rPr>
              <a:t>，</a:t>
            </a:r>
            <a:r>
              <a:rPr dirty="0" sz="2300">
                <a:latin typeface="宋体"/>
                <a:cs typeface="宋体"/>
              </a:rPr>
              <a:t>才能用油膜的厚度代表分子的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4482" y="3556938"/>
            <a:ext cx="265430" cy="3937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50" i="1">
                <a:latin typeface="宋体"/>
                <a:cs typeface="宋体"/>
              </a:rPr>
              <a:t>V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4482" y="3938382"/>
            <a:ext cx="265430" cy="3937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50" i="1">
                <a:latin typeface="宋体"/>
                <a:cs typeface="宋体"/>
              </a:rPr>
              <a:t>S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30398" y="3959783"/>
            <a:ext cx="146685" cy="0"/>
          </a:xfrm>
          <a:custGeom>
            <a:avLst/>
            <a:gdLst/>
            <a:ahLst/>
            <a:cxnLst/>
            <a:rect l="l" t="t" r="r" b="b"/>
            <a:pathLst>
              <a:path w="146685" h="0">
                <a:moveTo>
                  <a:pt x="0" y="0"/>
                </a:moveTo>
                <a:lnTo>
                  <a:pt x="146329" y="0"/>
                </a:lnTo>
              </a:path>
            </a:pathLst>
          </a:custGeom>
          <a:ln w="8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8652" y="3767389"/>
            <a:ext cx="7256145" cy="3937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20">
                <a:latin typeface="宋体"/>
                <a:cs typeface="宋体"/>
              </a:rPr>
              <a:t>直径，</a:t>
            </a:r>
            <a:r>
              <a:rPr dirty="0" sz="2300">
                <a:latin typeface="宋体"/>
                <a:cs typeface="宋体"/>
              </a:rPr>
              <a:t>即</a:t>
            </a:r>
            <a:r>
              <a:rPr dirty="0" sz="2300" spc="-80">
                <a:latin typeface="宋体"/>
                <a:cs typeface="宋体"/>
              </a:rPr>
              <a:t> </a:t>
            </a:r>
            <a:r>
              <a:rPr dirty="0" sz="2400" spc="-790" i="1">
                <a:latin typeface="宋体"/>
                <a:cs typeface="宋体"/>
              </a:rPr>
              <a:t>d</a:t>
            </a:r>
            <a:r>
              <a:rPr dirty="0" sz="2400" spc="-675" i="1">
                <a:latin typeface="宋体"/>
                <a:cs typeface="宋体"/>
              </a:rPr>
              <a:t> </a:t>
            </a:r>
            <a:r>
              <a:rPr dirty="0" sz="2300" spc="25">
                <a:latin typeface="宋体"/>
                <a:cs typeface="宋体"/>
              </a:rPr>
              <a:t>＝</a:t>
            </a:r>
            <a:r>
              <a:rPr dirty="0" sz="2300" spc="1160">
                <a:latin typeface="宋体"/>
                <a:cs typeface="宋体"/>
              </a:rPr>
              <a:t> </a:t>
            </a:r>
            <a:r>
              <a:rPr dirty="0" sz="2300" spc="25">
                <a:latin typeface="宋体"/>
                <a:cs typeface="宋体"/>
              </a:rPr>
              <a:t>。</a:t>
            </a:r>
            <a:r>
              <a:rPr dirty="0" sz="2300" spc="10">
                <a:latin typeface="宋体"/>
                <a:cs typeface="宋体"/>
              </a:rPr>
              <a:t> 要</a:t>
            </a:r>
            <a:r>
              <a:rPr dirty="0" sz="2300" spc="20">
                <a:latin typeface="宋体"/>
                <a:cs typeface="宋体"/>
              </a:rPr>
              <a:t>求使用的</a:t>
            </a:r>
            <a:r>
              <a:rPr dirty="0" sz="2300" spc="10">
                <a:latin typeface="宋体"/>
                <a:cs typeface="宋体"/>
              </a:rPr>
              <a:t>酒</a:t>
            </a:r>
            <a:r>
              <a:rPr dirty="0" sz="2300" spc="20">
                <a:latin typeface="宋体"/>
                <a:cs typeface="宋体"/>
              </a:rPr>
              <a:t>精的浓度</a:t>
            </a:r>
            <a:r>
              <a:rPr dirty="0" sz="2300" spc="10">
                <a:latin typeface="宋体"/>
                <a:cs typeface="宋体"/>
              </a:rPr>
              <a:t>、</a:t>
            </a:r>
            <a:r>
              <a:rPr dirty="0" sz="2300" spc="20">
                <a:latin typeface="宋体"/>
                <a:cs typeface="宋体"/>
              </a:rPr>
              <a:t>痱子粉</a:t>
            </a:r>
            <a:r>
              <a:rPr dirty="0" sz="2300">
                <a:latin typeface="宋体"/>
                <a:cs typeface="宋体"/>
              </a:rPr>
              <a:t>的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52" y="4531855"/>
            <a:ext cx="19278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宋体"/>
                <a:cs typeface="宋体"/>
              </a:rPr>
              <a:t>用量适宜</a:t>
            </a:r>
            <a:r>
              <a:rPr dirty="0" sz="2300" spc="20">
                <a:latin typeface="宋体"/>
                <a:cs typeface="宋体"/>
              </a:rPr>
              <a:t>等</a:t>
            </a:r>
            <a:r>
              <a:rPr dirty="0" sz="2300">
                <a:latin typeface="宋体"/>
                <a:cs typeface="宋体"/>
              </a:rPr>
              <a:t>。 </a:t>
            </a:r>
            <a:endParaRPr sz="2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640" y="719057"/>
            <a:ext cx="7950200" cy="4671695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900"/>
              </a:spcBef>
              <a:buSzPct val="95833"/>
              <a:buAutoNum type="arabicPeriod" startAt="2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油滴的体</a:t>
            </a:r>
            <a:r>
              <a:rPr dirty="0" sz="2400" spc="-110" b="1">
                <a:latin typeface="宋体"/>
                <a:cs typeface="宋体"/>
              </a:rPr>
              <a:t>积</a:t>
            </a:r>
            <a:r>
              <a:rPr dirty="0" sz="2500" spc="-819" b="1" i="1">
                <a:latin typeface="宋体"/>
                <a:cs typeface="宋体"/>
              </a:rPr>
              <a:t>V</a:t>
            </a:r>
            <a:r>
              <a:rPr dirty="0" sz="2500" spc="-715" b="1" i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的测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  <a:p>
            <a:pPr algn="just" marL="12700" marR="309880">
              <a:lnSpc>
                <a:spcPct val="125000"/>
              </a:lnSpc>
              <a:spcBef>
                <a:spcPts val="980"/>
              </a:spcBef>
            </a:pPr>
            <a:r>
              <a:rPr dirty="0" sz="2400">
                <a:latin typeface="宋体"/>
                <a:cs typeface="宋体"/>
              </a:rPr>
              <a:t>  用累积法测油滴的体积。先测出1</a:t>
            </a:r>
            <a:r>
              <a:rPr dirty="0" sz="2400" spc="-10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mL油酸酒精溶液的滴 数，从而计算出一滴油酸酒精溶液的体积。再利用油酸的 浓度计算出油滴的体积。</a:t>
            </a:r>
            <a:endParaRPr sz="2400">
              <a:latin typeface="宋体"/>
              <a:cs typeface="宋体"/>
            </a:endParaRPr>
          </a:p>
          <a:p>
            <a:pPr marL="472440" indent="-459740">
              <a:lnSpc>
                <a:spcPct val="100000"/>
              </a:lnSpc>
              <a:spcBef>
                <a:spcPts val="1620"/>
              </a:spcBef>
              <a:buSzPct val="95833"/>
              <a:buAutoNum type="arabicPeriod" startAt="3"/>
              <a:tabLst>
                <a:tab pos="472440" algn="l"/>
              </a:tabLst>
            </a:pPr>
            <a:r>
              <a:rPr dirty="0" sz="2400" b="1">
                <a:latin typeface="宋体"/>
                <a:cs typeface="宋体"/>
              </a:rPr>
              <a:t>油膜的面</a:t>
            </a:r>
            <a:r>
              <a:rPr dirty="0" sz="2400" spc="-110" b="1">
                <a:latin typeface="宋体"/>
                <a:cs typeface="宋体"/>
              </a:rPr>
              <a:t>积</a:t>
            </a:r>
            <a:r>
              <a:rPr dirty="0" sz="2500" spc="-819" b="1" i="1">
                <a:latin typeface="宋体"/>
                <a:cs typeface="宋体"/>
              </a:rPr>
              <a:t>S</a:t>
            </a:r>
            <a:r>
              <a:rPr dirty="0" sz="2500" spc="-805" b="1" i="1">
                <a:latin typeface="宋体"/>
                <a:cs typeface="宋体"/>
              </a:rPr>
              <a:t> </a:t>
            </a:r>
            <a:r>
              <a:rPr dirty="0" sz="2400" b="1">
                <a:latin typeface="宋体"/>
                <a:cs typeface="宋体"/>
              </a:rPr>
              <a:t>的测</a:t>
            </a:r>
            <a:r>
              <a:rPr dirty="0" sz="2400" spc="-10" b="1">
                <a:latin typeface="宋体"/>
                <a:cs typeface="宋体"/>
              </a:rPr>
              <a:t>量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25000"/>
              </a:lnSpc>
              <a:spcBef>
                <a:spcPts val="980"/>
              </a:spcBef>
            </a:pPr>
            <a:r>
              <a:rPr dirty="0" sz="2400">
                <a:latin typeface="宋体"/>
                <a:cs typeface="宋体"/>
              </a:rPr>
              <a:t>  用坐标纸，测出形状不规则油膜的面积。数出不规则图 形的轮廓包围的方格数，计算方格数时，不足半格的舍去， 多于半格的算一个。方格边长的单位越小，这种方法求出 的面积越精确。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2654452"/>
            <a:ext cx="5085715" cy="111125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3148965" algn="l"/>
              </a:tabLst>
            </a:pPr>
            <a:r>
              <a:rPr dirty="0" sz="2600">
                <a:latin typeface="宋体"/>
                <a:cs typeface="宋体"/>
              </a:rPr>
              <a:t>一滴溶液的体积为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	</a:t>
            </a:r>
            <a:r>
              <a:rPr dirty="0" sz="2600">
                <a:latin typeface="宋体"/>
                <a:cs typeface="宋体"/>
              </a:rPr>
              <a:t>mL，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4634865" algn="l"/>
              </a:tabLst>
            </a:pPr>
            <a:r>
              <a:rPr dirty="0" sz="2600">
                <a:latin typeface="宋体"/>
                <a:cs typeface="宋体"/>
              </a:rPr>
              <a:t>一滴溶液中纯油酸体积为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600" spc="-5">
                <a:latin typeface="宋体"/>
                <a:cs typeface="宋体"/>
              </a:rPr>
              <a:t>cm</a:t>
            </a:r>
            <a:r>
              <a:rPr dirty="0" baseline="21241" sz="2550" spc="-7">
                <a:latin typeface="宋体"/>
                <a:cs typeface="宋体"/>
              </a:rPr>
              <a:t>3</a:t>
            </a:r>
            <a:endParaRPr baseline="21241" sz="25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417" y="3886225"/>
            <a:ext cx="7635875" cy="179768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7305" marR="5080">
              <a:lnSpc>
                <a:spcPts val="3279"/>
              </a:lnSpc>
              <a:spcBef>
                <a:spcPts val="80"/>
              </a:spcBef>
            </a:pPr>
            <a:r>
              <a:rPr dirty="0" sz="2600">
                <a:latin typeface="宋体"/>
                <a:cs typeface="宋体"/>
              </a:rPr>
              <a:t>若实验中测得结果如下表所示，请根据所给数据填</a:t>
            </a:r>
            <a:r>
              <a:rPr dirty="0" sz="2600">
                <a:latin typeface="宋体"/>
                <a:cs typeface="宋体"/>
              </a:rPr>
              <a:t>写 </a:t>
            </a:r>
            <a:r>
              <a:rPr dirty="0" sz="2600">
                <a:latin typeface="宋体"/>
                <a:cs typeface="宋体"/>
              </a:rPr>
              <a:t>出空白处的数值，并与公认的油酸分子长度</a:t>
            </a:r>
            <a:r>
              <a:rPr dirty="0" sz="2600" spc="5">
                <a:latin typeface="宋体"/>
                <a:cs typeface="宋体"/>
              </a:rPr>
              <a:t>值</a:t>
            </a:r>
            <a:endParaRPr sz="2600">
              <a:latin typeface="宋体"/>
              <a:cs typeface="宋体"/>
            </a:endParaRPr>
          </a:p>
          <a:p>
            <a:pPr marL="27305" marR="71755" indent="-15240">
              <a:lnSpc>
                <a:spcPct val="104200"/>
              </a:lnSpc>
              <a:spcBef>
                <a:spcPts val="775"/>
              </a:spcBef>
            </a:pPr>
            <a:r>
              <a:rPr dirty="0" sz="2700" spc="-65" i="1">
                <a:latin typeface="宋体"/>
                <a:cs typeface="宋体"/>
              </a:rPr>
              <a:t>L</a:t>
            </a:r>
            <a:r>
              <a:rPr dirty="0" baseline="-21241" sz="2550" spc="-97">
                <a:latin typeface="宋体"/>
                <a:cs typeface="宋体"/>
              </a:rPr>
              <a:t>0</a:t>
            </a:r>
            <a:r>
              <a:rPr dirty="0" sz="2600" spc="-65">
                <a:latin typeface="宋体"/>
                <a:cs typeface="宋体"/>
              </a:rPr>
              <a:t>＝1.12×10</a:t>
            </a:r>
            <a:r>
              <a:rPr dirty="0" baseline="21241" sz="2550" spc="-97">
                <a:latin typeface="宋体"/>
                <a:cs typeface="宋体"/>
              </a:rPr>
              <a:t>－9</a:t>
            </a:r>
            <a:r>
              <a:rPr dirty="0" sz="2600" spc="-65">
                <a:latin typeface="宋体"/>
                <a:cs typeface="宋体"/>
              </a:rPr>
              <a:t>m</a:t>
            </a:r>
            <a:r>
              <a:rPr dirty="0" sz="2600" spc="-40">
                <a:latin typeface="宋体"/>
                <a:cs typeface="宋体"/>
              </a:rPr>
              <a:t> </a:t>
            </a:r>
            <a:r>
              <a:rPr dirty="0" sz="2600">
                <a:latin typeface="宋体"/>
                <a:cs typeface="宋体"/>
              </a:rPr>
              <a:t>做比较，判断此实验是否符合数</a:t>
            </a:r>
            <a:r>
              <a:rPr dirty="0" sz="2600" spc="5">
                <a:latin typeface="宋体"/>
                <a:cs typeface="宋体"/>
              </a:rPr>
              <a:t>量 </a:t>
            </a:r>
            <a:r>
              <a:rPr dirty="0" sz="2600">
                <a:latin typeface="宋体"/>
                <a:cs typeface="宋体"/>
              </a:rPr>
              <a:t>级的要求</a:t>
            </a:r>
            <a:r>
              <a:rPr dirty="0" sz="2600" spc="5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6817" y="3048393"/>
            <a:ext cx="71755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6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5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1650" spc="15" b="1">
                <a:latin typeface="Times New Roman"/>
                <a:cs typeface="Times New Roman"/>
              </a:rPr>
              <a:t> </a:t>
            </a:r>
            <a:r>
              <a:rPr dirty="0" baseline="-37037" sz="2475" spc="30" b="1">
                <a:latin typeface="宋体"/>
                <a:cs typeface="宋体"/>
              </a:rPr>
              <a:t>×</a:t>
            </a:r>
            <a:r>
              <a:rPr dirty="0" baseline="-37037" sz="2475" spc="-794" b="1">
                <a:latin typeface="宋体"/>
                <a:cs typeface="宋体"/>
              </a:rPr>
              <a:t> </a:t>
            </a:r>
            <a:r>
              <a:rPr dirty="0" u="sng" sz="165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6817" y="3297771"/>
            <a:ext cx="77089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44195" algn="l"/>
              </a:tabLst>
            </a:pPr>
            <a:r>
              <a:rPr dirty="0" sz="1650" spc="15" b="1">
                <a:latin typeface="Times New Roman"/>
                <a:cs typeface="Times New Roman"/>
              </a:rPr>
              <a:t>500</a:t>
            </a:r>
            <a:r>
              <a:rPr dirty="0" sz="1650" spc="15" b="1">
                <a:latin typeface="Times New Roman"/>
                <a:cs typeface="Times New Roman"/>
              </a:rPr>
              <a:t>	</a:t>
            </a:r>
            <a:r>
              <a:rPr dirty="0" sz="1650" spc="15" b="1">
                <a:latin typeface="Times New Roman"/>
                <a:cs typeface="Times New Roman"/>
              </a:rPr>
              <a:t>25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7095" y="3190582"/>
            <a:ext cx="167957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0" b="1">
                <a:latin typeface="Times New Roman"/>
                <a:cs typeface="Times New Roman"/>
              </a:rPr>
              <a:t>cm</a:t>
            </a:r>
            <a:r>
              <a:rPr dirty="0" baseline="39682" sz="1575" spc="15" b="1">
                <a:latin typeface="Times New Roman"/>
                <a:cs typeface="Times New Roman"/>
              </a:rPr>
              <a:t>3</a:t>
            </a:r>
            <a:r>
              <a:rPr dirty="0" sz="1650" spc="10" b="1">
                <a:latin typeface="微软雅黑"/>
                <a:cs typeface="微软雅黑"/>
              </a:rPr>
              <a:t>＝</a:t>
            </a:r>
            <a:r>
              <a:rPr dirty="0" sz="1650" spc="10" b="1">
                <a:latin typeface="Times New Roman"/>
                <a:cs typeface="Times New Roman"/>
              </a:rPr>
              <a:t>8</a:t>
            </a:r>
            <a:r>
              <a:rPr dirty="0" sz="1650" spc="10" b="1">
                <a:latin typeface="宋体"/>
                <a:cs typeface="宋体"/>
              </a:rPr>
              <a:t>×</a:t>
            </a:r>
            <a:r>
              <a:rPr dirty="0" sz="1650" spc="10" b="1">
                <a:latin typeface="Times New Roman"/>
                <a:cs typeface="Times New Roman"/>
              </a:rPr>
              <a:t>10</a:t>
            </a:r>
            <a:r>
              <a:rPr dirty="0" baseline="55555" sz="1275" spc="15" b="1">
                <a:latin typeface="微软雅黑"/>
                <a:cs typeface="微软雅黑"/>
              </a:rPr>
              <a:t>－</a:t>
            </a:r>
            <a:r>
              <a:rPr dirty="0" baseline="39682" sz="1575" spc="15" b="1">
                <a:latin typeface="Times New Roman"/>
                <a:cs typeface="Times New Roman"/>
              </a:rPr>
              <a:t>5</a:t>
            </a:r>
            <a:r>
              <a:rPr dirty="0" baseline="39682" sz="1575" spc="142" b="1">
                <a:latin typeface="Times New Roman"/>
                <a:cs typeface="Times New Roman"/>
              </a:rPr>
              <a:t> </a:t>
            </a:r>
            <a:r>
              <a:rPr dirty="0" sz="1650" spc="10" b="1">
                <a:latin typeface="Times New Roman"/>
                <a:cs typeface="Times New Roman"/>
              </a:rPr>
              <a:t>cm</a:t>
            </a:r>
            <a:r>
              <a:rPr dirty="0" baseline="39682" sz="1575" spc="15" b="1">
                <a:latin typeface="Times New Roman"/>
                <a:cs typeface="Times New Roman"/>
              </a:rPr>
              <a:t>3</a:t>
            </a:r>
            <a:endParaRPr baseline="39682" sz="15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3279"/>
              </a:lnSpc>
              <a:spcBef>
                <a:spcPts val="80"/>
              </a:spcBef>
            </a:pPr>
            <a:r>
              <a:rPr dirty="0" spc="-5"/>
              <a:t>[例]在用油膜法估测分子的大小实验中，已知配制</a:t>
            </a:r>
            <a:r>
              <a:rPr dirty="0"/>
              <a:t>的 </a:t>
            </a:r>
            <a:r>
              <a:rPr dirty="0"/>
              <a:t>油酸溶液，纯油酸与溶液体积之比为</a:t>
            </a:r>
            <a:r>
              <a:rPr dirty="0" spc="-5"/>
              <a:t>1∶500,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pc="-5"/>
              <a:t>1</a:t>
            </a:r>
            <a:r>
              <a:rPr dirty="0" spc="-10"/>
              <a:t> </a:t>
            </a:r>
            <a:r>
              <a:rPr dirty="0" spc="-5"/>
              <a:t>mL</a:t>
            </a:r>
            <a:r>
              <a:rPr dirty="0"/>
              <a:t>油酸溶液为</a:t>
            </a:r>
            <a:r>
              <a:rPr dirty="0" spc="-5"/>
              <a:t>25</a:t>
            </a:r>
            <a:r>
              <a:rPr dirty="0"/>
              <a:t>滴，那么：</a:t>
            </a:r>
            <a:r>
              <a:rPr dirty="0" spc="305"/>
              <a:t> </a:t>
            </a:r>
            <a:r>
              <a:rPr dirty="0" baseline="3086" sz="2700" spc="-104" i="1">
                <a:latin typeface="Cambria Math"/>
                <a:cs typeface="Cambria Math"/>
              </a:rPr>
              <a:t>1</a:t>
            </a:r>
            <a:r>
              <a:rPr dirty="0" sz="2600" spc="-5"/>
              <a:t> </a:t>
            </a:r>
            <a:r>
              <a:rPr dirty="0" sz="2600"/>
              <a:t> 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32600" y="26925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3050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19900" y="2516936"/>
            <a:ext cx="567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7037" sz="2700" spc="112" i="1">
                <a:latin typeface="Cambria Math"/>
                <a:cs typeface="Cambria Math"/>
              </a:rPr>
              <a:t>26</a:t>
            </a:r>
            <a:r>
              <a:rPr dirty="0" baseline="-37037" sz="2700" spc="-247" i="1">
                <a:latin typeface="Cambria Math"/>
                <a:cs typeface="Cambria Math"/>
              </a:rPr>
              <a:t> </a:t>
            </a:r>
            <a:r>
              <a:rPr dirty="0" sz="1800" spc="-5" b="1">
                <a:latin typeface="宋体"/>
                <a:cs typeface="宋体"/>
              </a:rPr>
              <a:t>mL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6103" y="1764664"/>
          <a:ext cx="642048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4765"/>
                <a:gridCol w="1363980"/>
                <a:gridCol w="2022475"/>
                <a:gridCol w="1727835"/>
              </a:tblGrid>
              <a:tr h="1445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dirty="0" sz="1950" spc="35" b="1">
                          <a:latin typeface="宋体"/>
                          <a:cs typeface="宋体"/>
                        </a:rPr>
                        <a:t>次</a:t>
                      </a:r>
                      <a:r>
                        <a:rPr dirty="0" sz="1950" spc="25" b="1">
                          <a:latin typeface="宋体"/>
                          <a:cs typeface="宋体"/>
                        </a:rPr>
                        <a:t>数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950" spc="15" b="1" i="1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950" spc="15" b="1">
                          <a:latin typeface="Times New Roman"/>
                          <a:cs typeface="Times New Roman"/>
                        </a:rPr>
                        <a:t>/cm</a:t>
                      </a:r>
                      <a:r>
                        <a:rPr dirty="0" baseline="40000" sz="1875" spc="22" b="1">
                          <a:latin typeface="Times New Roman"/>
                          <a:cs typeface="Times New Roman"/>
                        </a:rPr>
                        <a:t>2</a:t>
                      </a:r>
                      <a:endParaRPr baseline="40000" sz="18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1614"/>
                        </a:lnSpc>
                        <a:spcBef>
                          <a:spcPts val="3045"/>
                        </a:spcBef>
                        <a:tabLst>
                          <a:tab pos="673735" algn="l"/>
                          <a:tab pos="1164590" algn="l"/>
                        </a:tabLst>
                      </a:pPr>
                      <a:r>
                        <a:rPr dirty="0" baseline="-25641" sz="2925" spc="30" b="1" i="1">
                          <a:latin typeface="Times New Roman"/>
                          <a:cs typeface="Times New Roman"/>
                        </a:rPr>
                        <a:t>L	</a:t>
                      </a:r>
                      <a:r>
                        <a:rPr dirty="0" u="sng" baseline="12820" sz="2925" spc="30" b="1" i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12820" sz="2925" spc="30" b="1" i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5847" sz="1425" spc="44" b="1">
                          <a:latin typeface="宋体"/>
                          <a:cs typeface="宋体"/>
                        </a:rPr>
                        <a:t>－</a:t>
                      </a:r>
                      <a:r>
                        <a:rPr dirty="0" sz="1250" spc="30" b="1">
                          <a:latin typeface="Times New Roman"/>
                          <a:cs typeface="Times New Roman"/>
                        </a:rPr>
                        <a:t>7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21005">
                        <a:lnSpc>
                          <a:spcPts val="1614"/>
                        </a:lnSpc>
                        <a:tabLst>
                          <a:tab pos="1436370" algn="l"/>
                        </a:tabLst>
                      </a:pPr>
                      <a:r>
                        <a:rPr dirty="0" sz="1950" spc="60" b="1">
                          <a:latin typeface="宋体"/>
                          <a:cs typeface="宋体"/>
                        </a:rPr>
                        <a:t>＝</a:t>
                      </a:r>
                      <a:r>
                        <a:rPr dirty="0" baseline="-28490" sz="2925" spc="89" b="1" i="1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950" spc="60" b="1">
                          <a:latin typeface="Times New Roman"/>
                          <a:cs typeface="Times New Roman"/>
                        </a:rPr>
                        <a:t>/10	</a:t>
                      </a:r>
                      <a:r>
                        <a:rPr dirty="0" sz="1950" spc="15" b="1">
                          <a:latin typeface="Times New Roman"/>
                          <a:cs typeface="Times New Roman"/>
                        </a:rPr>
                        <a:t>cm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6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4892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950" spc="20" b="1" i="1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950" spc="-10" b="1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950" spc="25" b="1"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950" spc="35" b="1">
                          <a:latin typeface="宋体"/>
                          <a:cs typeface="宋体"/>
                        </a:rPr>
                        <a:t>平</a:t>
                      </a:r>
                      <a:r>
                        <a:rPr dirty="0" sz="1950" spc="25" b="1">
                          <a:latin typeface="宋体"/>
                          <a:cs typeface="宋体"/>
                        </a:rPr>
                        <a:t>均值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336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950" b="1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950" spc="15" b="1">
                          <a:latin typeface="Times New Roman"/>
                          <a:cs typeface="Times New Roman"/>
                        </a:rPr>
                        <a:t>533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487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950" b="1">
                          <a:latin typeface="Times New Roman"/>
                          <a:cs typeface="Times New Roman"/>
                        </a:rPr>
                        <a:t>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950" spc="15" b="1">
                          <a:latin typeface="Times New Roman"/>
                          <a:cs typeface="Times New Roman"/>
                        </a:rPr>
                        <a:t>493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487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950" b="1">
                          <a:latin typeface="Times New Roman"/>
                          <a:cs typeface="Times New Roman"/>
                        </a:rPr>
                        <a:t>3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950" spc="15" b="1">
                          <a:latin typeface="Times New Roman"/>
                          <a:cs typeface="Times New Roman"/>
                        </a:rPr>
                        <a:t>563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3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6810" y="1159357"/>
            <a:ext cx="327660" cy="7435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2805"/>
              </a:lnSpc>
              <a:spcBef>
                <a:spcPts val="130"/>
              </a:spcBef>
            </a:pPr>
            <a:r>
              <a:rPr dirty="0" u="sng" sz="235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  <a:p>
            <a:pPr algn="ctr">
              <a:lnSpc>
                <a:spcPts val="2805"/>
              </a:lnSpc>
            </a:pPr>
            <a:r>
              <a:rPr dirty="0" sz="2350" spc="15" b="1">
                <a:latin typeface="Times New Roman"/>
                <a:cs typeface="Times New Roman"/>
              </a:rPr>
              <a:t>25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0961" y="1361744"/>
            <a:ext cx="47942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20" b="1">
                <a:latin typeface="Times New Roman"/>
                <a:cs typeface="Times New Roman"/>
              </a:rPr>
              <a:t>mL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084" y="1361744"/>
            <a:ext cx="5185410" cy="1117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40" b="1">
                <a:solidFill>
                  <a:srgbClr val="FF0000"/>
                </a:solidFill>
                <a:latin typeface="微软雅黑"/>
                <a:cs typeface="微软雅黑"/>
              </a:rPr>
              <a:t>解析</a:t>
            </a:r>
            <a:r>
              <a:rPr dirty="0" sz="2350" spc="50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sz="2350" spc="40" b="1">
                <a:latin typeface="微软雅黑"/>
                <a:cs typeface="微软雅黑"/>
              </a:rPr>
              <a:t>由</a:t>
            </a:r>
            <a:r>
              <a:rPr dirty="0" sz="2350" spc="30" b="1">
                <a:latin typeface="微软雅黑"/>
                <a:cs typeface="微软雅黑"/>
              </a:rPr>
              <a:t>题</a:t>
            </a:r>
            <a:r>
              <a:rPr dirty="0" sz="2350" spc="40" b="1">
                <a:latin typeface="微软雅黑"/>
                <a:cs typeface="微软雅黑"/>
              </a:rPr>
              <a:t>给条件得</a:t>
            </a:r>
            <a:r>
              <a:rPr dirty="0" sz="2350" spc="30" b="1">
                <a:latin typeface="微软雅黑"/>
                <a:cs typeface="微软雅黑"/>
              </a:rPr>
              <a:t>，</a:t>
            </a:r>
            <a:r>
              <a:rPr dirty="0" sz="2350" spc="40" b="1">
                <a:latin typeface="微软雅黑"/>
                <a:cs typeface="微软雅黑"/>
              </a:rPr>
              <a:t>一滴溶液</a:t>
            </a:r>
            <a:r>
              <a:rPr dirty="0" sz="2350" spc="30" b="1">
                <a:latin typeface="微软雅黑"/>
                <a:cs typeface="微软雅黑"/>
              </a:rPr>
              <a:t>的</a:t>
            </a:r>
            <a:r>
              <a:rPr dirty="0" sz="2350" spc="40" b="1">
                <a:latin typeface="微软雅黑"/>
                <a:cs typeface="微软雅黑"/>
              </a:rPr>
              <a:t>体</a:t>
            </a:r>
            <a:r>
              <a:rPr dirty="0" sz="2350" spc="30" b="1">
                <a:latin typeface="微软雅黑"/>
                <a:cs typeface="微软雅黑"/>
              </a:rPr>
              <a:t>积</a:t>
            </a:r>
            <a:endParaRPr sz="23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621030">
              <a:lnSpc>
                <a:spcPct val="100000"/>
              </a:lnSpc>
              <a:spcBef>
                <a:spcPts val="5"/>
              </a:spcBef>
            </a:pPr>
            <a:r>
              <a:rPr dirty="0" sz="2350" spc="40" b="1">
                <a:latin typeface="微软雅黑"/>
                <a:cs typeface="微软雅黑"/>
              </a:rPr>
              <a:t>由题意可</a:t>
            </a:r>
            <a:r>
              <a:rPr dirty="0" sz="2350" spc="30" b="1">
                <a:latin typeface="微软雅黑"/>
                <a:cs typeface="微软雅黑"/>
              </a:rPr>
              <a:t>知</a:t>
            </a:r>
            <a:r>
              <a:rPr dirty="0" sz="2350" spc="40" b="1">
                <a:latin typeface="微软雅黑"/>
                <a:cs typeface="微软雅黑"/>
              </a:rPr>
              <a:t>一滴溶液</a:t>
            </a:r>
            <a:r>
              <a:rPr dirty="0" sz="2350" spc="30" b="1">
                <a:latin typeface="微软雅黑"/>
                <a:cs typeface="微软雅黑"/>
              </a:rPr>
              <a:t>中</a:t>
            </a:r>
            <a:r>
              <a:rPr dirty="0" sz="2350" spc="40" b="1">
                <a:latin typeface="微软雅黑"/>
                <a:cs typeface="微软雅黑"/>
              </a:rPr>
              <a:t>油酸体</a:t>
            </a:r>
            <a:r>
              <a:rPr dirty="0" sz="2350" spc="30" b="1">
                <a:latin typeface="微软雅黑"/>
                <a:cs typeface="微软雅黑"/>
              </a:rPr>
              <a:t>积</a:t>
            </a:r>
            <a:endParaRPr sz="235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9948" y="2650058"/>
            <a:ext cx="166814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70560" algn="l"/>
                <a:tab pos="1125220" algn="l"/>
              </a:tabLst>
            </a:pPr>
            <a:r>
              <a:rPr dirty="0" baseline="-37825" sz="3525" spc="30" b="1" i="1">
                <a:latin typeface="Times New Roman"/>
                <a:cs typeface="Times New Roman"/>
              </a:rPr>
              <a:t>V</a:t>
            </a:r>
            <a:r>
              <a:rPr dirty="0" baseline="-37825" sz="3525" spc="30" b="1">
                <a:latin typeface="微软雅黑"/>
                <a:cs typeface="微软雅黑"/>
              </a:rPr>
              <a:t>＝	</a:t>
            </a:r>
            <a:r>
              <a:rPr dirty="0" u="sng" sz="2350" spc="20" b="1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 </a:t>
            </a:r>
            <a:r>
              <a:rPr dirty="0" u="sng" sz="235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350" spc="15" b="1">
                <a:latin typeface="Times New Roman"/>
                <a:cs typeface="Times New Roman"/>
              </a:rPr>
              <a:t>	</a:t>
            </a:r>
            <a:r>
              <a:rPr dirty="0" baseline="-37825" sz="3525" spc="30" b="1">
                <a:latin typeface="宋体"/>
                <a:cs typeface="宋体"/>
              </a:rPr>
              <a:t>×</a:t>
            </a:r>
            <a:r>
              <a:rPr dirty="0" baseline="-37825" sz="3525" spc="-1005" b="1">
                <a:latin typeface="宋体"/>
                <a:cs typeface="宋体"/>
              </a:rPr>
              <a:t> </a:t>
            </a:r>
            <a:r>
              <a:rPr dirty="0" u="sng" sz="2350" spc="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8481" y="3004984"/>
            <a:ext cx="108521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8985" algn="l"/>
              </a:tabLst>
            </a:pPr>
            <a:r>
              <a:rPr dirty="0" sz="2350" spc="15" b="1">
                <a:latin typeface="Times New Roman"/>
                <a:cs typeface="Times New Roman"/>
              </a:rPr>
              <a:t>500</a:t>
            </a:r>
            <a:r>
              <a:rPr dirty="0" sz="2350" spc="15" b="1">
                <a:latin typeface="Times New Roman"/>
                <a:cs typeface="Times New Roman"/>
              </a:rPr>
              <a:t>	</a:t>
            </a:r>
            <a:r>
              <a:rPr dirty="0" sz="2350" spc="15" b="1">
                <a:latin typeface="Times New Roman"/>
                <a:cs typeface="Times New Roman"/>
              </a:rPr>
              <a:t>25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9566" y="2852445"/>
            <a:ext cx="263334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52195" algn="l"/>
              </a:tabLst>
            </a:pPr>
            <a:r>
              <a:rPr dirty="0" sz="2350" spc="1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baseline="40740" sz="2250" spc="22" b="1">
                <a:latin typeface="Times New Roman"/>
                <a:cs typeface="Times New Roman"/>
              </a:rPr>
              <a:t>3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44" b="1">
                <a:latin typeface="Times New Roman"/>
                <a:cs typeface="Times New Roman"/>
              </a:rPr>
              <a:t> </a:t>
            </a:r>
            <a:r>
              <a:rPr dirty="0" sz="2350" spc="30" b="1">
                <a:latin typeface="微软雅黑"/>
                <a:cs typeface="微软雅黑"/>
              </a:rPr>
              <a:t>＝</a:t>
            </a:r>
            <a:r>
              <a:rPr dirty="0" sz="2350" b="1">
                <a:latin typeface="微软雅黑"/>
                <a:cs typeface="微软雅黑"/>
              </a:rPr>
              <a:t>	</a:t>
            </a:r>
            <a:r>
              <a:rPr dirty="0" sz="2350" spc="15" b="1">
                <a:latin typeface="Times New Roman"/>
                <a:cs typeface="Times New Roman"/>
              </a:rPr>
              <a:t>8</a:t>
            </a:r>
            <a:r>
              <a:rPr dirty="0" sz="2350" spc="35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</a:t>
            </a:r>
            <a:r>
              <a:rPr dirty="0" sz="2350" spc="5" b="1">
                <a:latin typeface="Times New Roman"/>
                <a:cs typeface="Times New Roman"/>
              </a:rPr>
              <a:t>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5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-225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baseline="40740" sz="2250" spc="22" b="1">
                <a:latin typeface="Times New Roman"/>
                <a:cs typeface="Times New Roman"/>
              </a:rPr>
              <a:t>3</a:t>
            </a:r>
            <a:endParaRPr baseline="40740"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5656" y="3581933"/>
            <a:ext cx="689483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40" b="1">
                <a:latin typeface="微软雅黑"/>
                <a:cs typeface="微软雅黑"/>
              </a:rPr>
              <a:t>据此算</a:t>
            </a:r>
            <a:r>
              <a:rPr dirty="0" sz="2350" spc="30" b="1">
                <a:latin typeface="微软雅黑"/>
                <a:cs typeface="微软雅黑"/>
              </a:rPr>
              <a:t>得</a:t>
            </a:r>
            <a:r>
              <a:rPr dirty="0" sz="2350" spc="-80" b="1">
                <a:latin typeface="微软雅黑"/>
                <a:cs typeface="微软雅黑"/>
              </a:rPr>
              <a:t> </a:t>
            </a:r>
            <a:r>
              <a:rPr dirty="0" sz="2350" spc="15" b="1">
                <a:latin typeface="Times New Roman"/>
                <a:cs typeface="Times New Roman"/>
              </a:rPr>
              <a:t>3</a:t>
            </a:r>
            <a:r>
              <a:rPr dirty="0" sz="2350" spc="10" b="1">
                <a:latin typeface="Times New Roman"/>
                <a:cs typeface="Times New Roman"/>
              </a:rPr>
              <a:t> </a:t>
            </a:r>
            <a:r>
              <a:rPr dirty="0" sz="2350" spc="40" b="1">
                <a:latin typeface="微软雅黑"/>
                <a:cs typeface="微软雅黑"/>
              </a:rPr>
              <a:t>次测</a:t>
            </a:r>
            <a:r>
              <a:rPr dirty="0" sz="2350" spc="30" b="1">
                <a:latin typeface="微软雅黑"/>
                <a:cs typeface="微软雅黑"/>
              </a:rPr>
              <a:t>得</a:t>
            </a:r>
            <a:r>
              <a:rPr dirty="0" sz="2350" spc="-80" b="1">
                <a:latin typeface="微软雅黑"/>
                <a:cs typeface="微软雅黑"/>
              </a:rPr>
              <a:t> </a:t>
            </a:r>
            <a:r>
              <a:rPr dirty="0" sz="2350" spc="15" b="1" i="1">
                <a:latin typeface="Times New Roman"/>
                <a:cs typeface="Times New Roman"/>
              </a:rPr>
              <a:t>L</a:t>
            </a:r>
            <a:r>
              <a:rPr dirty="0" sz="2350" spc="5" b="1" i="1">
                <a:latin typeface="Times New Roman"/>
                <a:cs typeface="Times New Roman"/>
              </a:rPr>
              <a:t> </a:t>
            </a:r>
            <a:r>
              <a:rPr dirty="0" sz="2350" spc="40" b="1">
                <a:latin typeface="微软雅黑"/>
                <a:cs typeface="微软雅黑"/>
              </a:rPr>
              <a:t>的结果分</a:t>
            </a:r>
            <a:r>
              <a:rPr dirty="0" sz="2350" spc="30" b="1">
                <a:latin typeface="微软雅黑"/>
                <a:cs typeface="微软雅黑"/>
              </a:rPr>
              <a:t>别为</a:t>
            </a:r>
            <a:r>
              <a:rPr dirty="0" sz="2350" spc="-70" b="1">
                <a:latin typeface="微软雅黑"/>
                <a:cs typeface="微软雅黑"/>
              </a:rPr>
              <a:t> </a:t>
            </a:r>
            <a:r>
              <a:rPr dirty="0" sz="2350" spc="10" b="1">
                <a:latin typeface="Times New Roman"/>
                <a:cs typeface="Times New Roman"/>
              </a:rPr>
              <a:t>1.5</a:t>
            </a:r>
            <a:r>
              <a:rPr dirty="0" sz="2350" spc="20" b="1">
                <a:latin typeface="Times New Roman"/>
                <a:cs typeface="Times New Roman"/>
              </a:rPr>
              <a:t>0</a:t>
            </a:r>
            <a:r>
              <a:rPr dirty="0" sz="2350" spc="35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7</a:t>
            </a:r>
            <a:r>
              <a:rPr dirty="0" baseline="40740" sz="2250" b="1">
                <a:latin typeface="Times New Roman"/>
                <a:cs typeface="Times New Roman"/>
              </a:rPr>
              <a:t>  </a:t>
            </a:r>
            <a:r>
              <a:rPr dirty="0" baseline="40740" sz="2250" spc="-217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sz="2350" spc="30" b="1">
                <a:latin typeface="微软雅黑"/>
                <a:cs typeface="微软雅黑"/>
              </a:rPr>
              <a:t>、</a:t>
            </a:r>
            <a:endParaRPr sz="235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7084" y="4388446"/>
            <a:ext cx="7503159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0" b="1">
                <a:latin typeface="Times New Roman"/>
                <a:cs typeface="Times New Roman"/>
              </a:rPr>
              <a:t>1.6</a:t>
            </a:r>
            <a:r>
              <a:rPr dirty="0" sz="2350" spc="20" b="1">
                <a:latin typeface="Times New Roman"/>
                <a:cs typeface="Times New Roman"/>
              </a:rPr>
              <a:t>2</a:t>
            </a:r>
            <a:r>
              <a:rPr dirty="0" sz="2350" spc="35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7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-240" b="1">
                <a:latin typeface="Times New Roman"/>
                <a:cs typeface="Times New Roman"/>
              </a:rPr>
              <a:t> </a:t>
            </a:r>
            <a:r>
              <a:rPr dirty="0" sz="2350" spc="1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sz="2350" spc="-220" b="1">
                <a:latin typeface="微软雅黑"/>
                <a:cs typeface="微软雅黑"/>
              </a:rPr>
              <a:t>、</a:t>
            </a:r>
            <a:r>
              <a:rPr dirty="0" sz="2350" spc="10" b="1">
                <a:latin typeface="Times New Roman"/>
                <a:cs typeface="Times New Roman"/>
              </a:rPr>
              <a:t>1.4</a:t>
            </a:r>
            <a:r>
              <a:rPr dirty="0" sz="2350" spc="20" b="1">
                <a:latin typeface="Times New Roman"/>
                <a:cs typeface="Times New Roman"/>
              </a:rPr>
              <a:t>2</a:t>
            </a:r>
            <a:r>
              <a:rPr dirty="0" sz="2350" spc="20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7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-225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sz="2350" spc="-220" b="1">
                <a:latin typeface="微软雅黑"/>
                <a:cs typeface="微软雅黑"/>
              </a:rPr>
              <a:t>，</a:t>
            </a:r>
            <a:r>
              <a:rPr dirty="0" sz="2350" spc="40" b="1">
                <a:latin typeface="微软雅黑"/>
                <a:cs typeface="微软雅黑"/>
              </a:rPr>
              <a:t>其平均</a:t>
            </a:r>
            <a:r>
              <a:rPr dirty="0" sz="2350" spc="30" b="1">
                <a:latin typeface="微软雅黑"/>
                <a:cs typeface="微软雅黑"/>
              </a:rPr>
              <a:t>值</a:t>
            </a:r>
            <a:r>
              <a:rPr dirty="0" sz="2350" spc="-75" b="1">
                <a:latin typeface="微软雅黑"/>
                <a:cs typeface="微软雅黑"/>
              </a:rPr>
              <a:t> </a:t>
            </a:r>
            <a:r>
              <a:rPr dirty="0" sz="2350" spc="15" b="1" i="1">
                <a:latin typeface="Times New Roman"/>
                <a:cs typeface="Times New Roman"/>
              </a:rPr>
              <a:t>L</a:t>
            </a:r>
            <a:r>
              <a:rPr dirty="0" sz="2350" spc="30" b="1">
                <a:latin typeface="微软雅黑"/>
                <a:cs typeface="微软雅黑"/>
              </a:rPr>
              <a:t>＝</a:t>
            </a:r>
            <a:r>
              <a:rPr dirty="0" baseline="41371" sz="3525" spc="22" b="1" i="1">
                <a:latin typeface="Times New Roman"/>
                <a:cs typeface="Times New Roman"/>
              </a:rPr>
              <a:t>L</a:t>
            </a:r>
            <a:r>
              <a:rPr dirty="0" baseline="53703" sz="2250" spc="30" b="1">
                <a:latin typeface="Times New Roman"/>
                <a:cs typeface="Times New Roman"/>
              </a:rPr>
              <a:t>1</a:t>
            </a:r>
            <a:r>
              <a:rPr dirty="0" baseline="41371" sz="3525" spc="67" b="1">
                <a:latin typeface="微软雅黑"/>
                <a:cs typeface="微软雅黑"/>
              </a:rPr>
              <a:t>＋</a:t>
            </a:r>
            <a:r>
              <a:rPr dirty="0" baseline="41371" sz="3525" spc="22" b="1" i="1">
                <a:latin typeface="Times New Roman"/>
                <a:cs typeface="Times New Roman"/>
              </a:rPr>
              <a:t>L</a:t>
            </a:r>
            <a:r>
              <a:rPr dirty="0" baseline="53703" sz="2250" spc="30" b="1">
                <a:latin typeface="Times New Roman"/>
                <a:cs typeface="Times New Roman"/>
              </a:rPr>
              <a:t>2</a:t>
            </a:r>
            <a:r>
              <a:rPr dirty="0" baseline="41371" sz="3525" spc="67" b="1">
                <a:latin typeface="微软雅黑"/>
                <a:cs typeface="微软雅黑"/>
              </a:rPr>
              <a:t>＋</a:t>
            </a:r>
            <a:r>
              <a:rPr dirty="0" baseline="41371" sz="3525" spc="22" b="1" i="1">
                <a:latin typeface="Times New Roman"/>
                <a:cs typeface="Times New Roman"/>
              </a:rPr>
              <a:t>L</a:t>
            </a:r>
            <a:r>
              <a:rPr dirty="0" baseline="53703" sz="2250" spc="22" b="1">
                <a:latin typeface="Times New Roman"/>
                <a:cs typeface="Times New Roman"/>
              </a:rPr>
              <a:t>3</a:t>
            </a:r>
            <a:endParaRPr baseline="53703"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40423" y="4564456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5" h="0">
                <a:moveTo>
                  <a:pt x="0" y="0"/>
                </a:moveTo>
                <a:lnTo>
                  <a:pt x="1453311" y="0"/>
                </a:lnTo>
              </a:path>
            </a:pathLst>
          </a:custGeom>
          <a:ln w="90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7084" y="4328274"/>
            <a:ext cx="7496809" cy="176530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6685280">
              <a:lnSpc>
                <a:spcPct val="100000"/>
              </a:lnSpc>
              <a:spcBef>
                <a:spcPts val="1805"/>
              </a:spcBef>
            </a:pPr>
            <a:r>
              <a:rPr dirty="0" sz="2350" spc="15" b="1"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ts val="4640"/>
              </a:lnSpc>
              <a:spcBef>
                <a:spcPts val="350"/>
              </a:spcBef>
            </a:pPr>
            <a:r>
              <a:rPr dirty="0" sz="2350" spc="45" b="1">
                <a:latin typeface="微软雅黑"/>
                <a:cs typeface="微软雅黑"/>
              </a:rPr>
              <a:t>＝</a:t>
            </a:r>
            <a:r>
              <a:rPr dirty="0" sz="2350" spc="10" b="1">
                <a:latin typeface="Times New Roman"/>
                <a:cs typeface="Times New Roman"/>
              </a:rPr>
              <a:t>1.5</a:t>
            </a:r>
            <a:r>
              <a:rPr dirty="0" sz="2350" spc="20" b="1">
                <a:latin typeface="Times New Roman"/>
                <a:cs typeface="Times New Roman"/>
              </a:rPr>
              <a:t>1</a:t>
            </a:r>
            <a:r>
              <a:rPr dirty="0" sz="2350" spc="35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7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-225" b="1">
                <a:latin typeface="Times New Roman"/>
                <a:cs typeface="Times New Roman"/>
              </a:rPr>
              <a:t> </a:t>
            </a:r>
            <a:r>
              <a:rPr dirty="0" sz="2350" b="1">
                <a:latin typeface="Times New Roman"/>
                <a:cs typeface="Times New Roman"/>
              </a:rPr>
              <a:t>c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sz="2350" spc="45" b="1">
                <a:latin typeface="微软雅黑"/>
                <a:cs typeface="微软雅黑"/>
              </a:rPr>
              <a:t>＝</a:t>
            </a:r>
            <a:r>
              <a:rPr dirty="0" sz="2350" spc="10" b="1">
                <a:latin typeface="Times New Roman"/>
                <a:cs typeface="Times New Roman"/>
              </a:rPr>
              <a:t>1.5</a:t>
            </a:r>
            <a:r>
              <a:rPr dirty="0" sz="2350" spc="10" b="1">
                <a:latin typeface="Times New Roman"/>
                <a:cs typeface="Times New Roman"/>
              </a:rPr>
              <a:t>1</a:t>
            </a:r>
            <a:r>
              <a:rPr dirty="0" sz="2350" spc="35" b="1">
                <a:latin typeface="宋体"/>
                <a:cs typeface="宋体"/>
              </a:rPr>
              <a:t>×</a:t>
            </a:r>
            <a:r>
              <a:rPr dirty="0" sz="2350" spc="15" b="1">
                <a:latin typeface="Times New Roman"/>
                <a:cs typeface="Times New Roman"/>
              </a:rPr>
              <a:t>10</a:t>
            </a:r>
            <a:r>
              <a:rPr dirty="0" baseline="57971" sz="1725" spc="75" b="1">
                <a:latin typeface="微软雅黑"/>
                <a:cs typeface="微软雅黑"/>
              </a:rPr>
              <a:t>－</a:t>
            </a:r>
            <a:r>
              <a:rPr dirty="0" baseline="40740" sz="2250" spc="22" b="1">
                <a:latin typeface="Times New Roman"/>
                <a:cs typeface="Times New Roman"/>
              </a:rPr>
              <a:t>9</a:t>
            </a:r>
            <a:r>
              <a:rPr dirty="0" baseline="40740" sz="2250" b="1">
                <a:latin typeface="Times New Roman"/>
                <a:cs typeface="Times New Roman"/>
              </a:rPr>
              <a:t> </a:t>
            </a:r>
            <a:r>
              <a:rPr dirty="0" baseline="40740" sz="2250" spc="-240" b="1">
                <a:latin typeface="Times New Roman"/>
                <a:cs typeface="Times New Roman"/>
              </a:rPr>
              <a:t> </a:t>
            </a:r>
            <a:r>
              <a:rPr dirty="0" sz="2350" spc="30" b="1">
                <a:latin typeface="Times New Roman"/>
                <a:cs typeface="Times New Roman"/>
              </a:rPr>
              <a:t>m</a:t>
            </a:r>
            <a:r>
              <a:rPr dirty="0" sz="2350" spc="-270" b="1">
                <a:latin typeface="微软雅黑"/>
                <a:cs typeface="微软雅黑"/>
              </a:rPr>
              <a:t>，</a:t>
            </a:r>
            <a:r>
              <a:rPr dirty="0" sz="2350" spc="40" b="1">
                <a:latin typeface="微软雅黑"/>
                <a:cs typeface="微软雅黑"/>
              </a:rPr>
              <a:t>与公认值</a:t>
            </a:r>
            <a:r>
              <a:rPr dirty="0" sz="2350" spc="30" b="1">
                <a:latin typeface="微软雅黑"/>
                <a:cs typeface="微软雅黑"/>
              </a:rPr>
              <a:t>的</a:t>
            </a:r>
            <a:r>
              <a:rPr dirty="0" sz="2350" spc="40" b="1">
                <a:latin typeface="微软雅黑"/>
                <a:cs typeface="微软雅黑"/>
              </a:rPr>
              <a:t>数量级相</a:t>
            </a:r>
            <a:r>
              <a:rPr dirty="0" sz="2350" spc="15" b="1">
                <a:latin typeface="微软雅黑"/>
                <a:cs typeface="微软雅黑"/>
              </a:rPr>
              <a:t>吻 </a:t>
            </a:r>
            <a:r>
              <a:rPr dirty="0" sz="2350" spc="45" b="1">
                <a:latin typeface="微软雅黑"/>
                <a:cs typeface="微软雅黑"/>
              </a:rPr>
              <a:t>合</a:t>
            </a:r>
            <a:r>
              <a:rPr dirty="0" sz="2350" spc="-1040" b="1">
                <a:latin typeface="微软雅黑"/>
                <a:cs typeface="微软雅黑"/>
              </a:rPr>
              <a:t>。</a:t>
            </a:r>
            <a:r>
              <a:rPr dirty="0" sz="2350" spc="40" b="1">
                <a:latin typeface="微软雅黑"/>
                <a:cs typeface="微软雅黑"/>
              </a:rPr>
              <a:t>故本次实</a:t>
            </a:r>
            <a:r>
              <a:rPr dirty="0" sz="2350" spc="50" b="1">
                <a:latin typeface="微软雅黑"/>
                <a:cs typeface="微软雅黑"/>
              </a:rPr>
              <a:t>验</a:t>
            </a:r>
            <a:r>
              <a:rPr dirty="0" sz="2350" spc="40" b="1">
                <a:latin typeface="微软雅黑"/>
                <a:cs typeface="微软雅黑"/>
              </a:rPr>
              <a:t>得</a:t>
            </a:r>
            <a:r>
              <a:rPr dirty="0" sz="2350" spc="50" b="1">
                <a:latin typeface="微软雅黑"/>
                <a:cs typeface="微软雅黑"/>
              </a:rPr>
              <a:t>出</a:t>
            </a:r>
            <a:r>
              <a:rPr dirty="0" sz="2350" spc="30" b="1">
                <a:latin typeface="微软雅黑"/>
                <a:cs typeface="微软雅黑"/>
              </a:rPr>
              <a:t>的</a:t>
            </a:r>
            <a:r>
              <a:rPr dirty="0" sz="2350" spc="40" b="1">
                <a:latin typeface="微软雅黑"/>
                <a:cs typeface="微软雅黑"/>
              </a:rPr>
              <a:t>估</a:t>
            </a:r>
            <a:r>
              <a:rPr dirty="0" sz="2350" spc="50" b="1">
                <a:latin typeface="微软雅黑"/>
                <a:cs typeface="微软雅黑"/>
              </a:rPr>
              <a:t>测</a:t>
            </a:r>
            <a:r>
              <a:rPr dirty="0" sz="2350" spc="40" b="1">
                <a:latin typeface="微软雅黑"/>
                <a:cs typeface="微软雅黑"/>
              </a:rPr>
              <a:t>数</a:t>
            </a:r>
            <a:r>
              <a:rPr dirty="0" sz="2350" spc="50" b="1">
                <a:latin typeface="微软雅黑"/>
                <a:cs typeface="微软雅黑"/>
              </a:rPr>
              <a:t>值</a:t>
            </a:r>
            <a:r>
              <a:rPr dirty="0" sz="2350" spc="30" b="1">
                <a:latin typeface="微软雅黑"/>
                <a:cs typeface="微软雅黑"/>
              </a:rPr>
              <a:t>结</a:t>
            </a:r>
            <a:r>
              <a:rPr dirty="0" sz="2350" spc="40" b="1">
                <a:latin typeface="微软雅黑"/>
                <a:cs typeface="微软雅黑"/>
              </a:rPr>
              <a:t>果</a:t>
            </a:r>
            <a:r>
              <a:rPr dirty="0" sz="2350" spc="-1035" b="1">
                <a:latin typeface="微软雅黑"/>
                <a:cs typeface="微软雅黑"/>
              </a:rPr>
              <a:t>，</a:t>
            </a:r>
            <a:r>
              <a:rPr dirty="0" sz="2350" spc="40" b="1">
                <a:latin typeface="微软雅黑"/>
                <a:cs typeface="微软雅黑"/>
              </a:rPr>
              <a:t>符合</a:t>
            </a:r>
            <a:r>
              <a:rPr dirty="0" sz="2350" spc="30" b="1">
                <a:latin typeface="微软雅黑"/>
                <a:cs typeface="微软雅黑"/>
              </a:rPr>
              <a:t>数</a:t>
            </a:r>
            <a:r>
              <a:rPr dirty="0" sz="2350" spc="40" b="1">
                <a:latin typeface="微软雅黑"/>
                <a:cs typeface="微软雅黑"/>
              </a:rPr>
              <a:t>量级的要</a:t>
            </a:r>
            <a:r>
              <a:rPr dirty="0" sz="2350" spc="30" b="1">
                <a:latin typeface="微软雅黑"/>
                <a:cs typeface="微软雅黑"/>
              </a:rPr>
              <a:t>求</a:t>
            </a:r>
            <a:endParaRPr sz="23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2025-04-20T13:36:13Z</dcterms:created>
  <dcterms:modified xsi:type="dcterms:W3CDTF">2025-04-20T13:36:13Z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