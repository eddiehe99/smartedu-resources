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F006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F006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F006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45371" y="795388"/>
            <a:ext cx="5815965" cy="956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FF006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0795" y="2658808"/>
            <a:ext cx="10013315" cy="2110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627" y="2525712"/>
            <a:ext cx="44964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放射性元素的衰</a:t>
            </a:r>
            <a:r>
              <a:rPr dirty="0" sz="4400" spc="5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spc="-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3-5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4917" y="2871469"/>
            <a:ext cx="40957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发射阴极射线的实质是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80202" y="3371215"/>
            <a:ext cx="4805045" cy="0"/>
          </a:xfrm>
          <a:custGeom>
            <a:avLst/>
            <a:gdLst/>
            <a:ahLst/>
            <a:cxnLst/>
            <a:rect l="l" t="t" r="r" b="b"/>
            <a:pathLst>
              <a:path w="4805045" h="0">
                <a:moveTo>
                  <a:pt x="0" y="0"/>
                </a:moveTo>
                <a:lnTo>
                  <a:pt x="4805045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94917" y="1992617"/>
            <a:ext cx="6346825" cy="538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864610" algn="l"/>
                <a:tab pos="5926455" algn="l"/>
              </a:tabLst>
            </a:pPr>
            <a:r>
              <a:rPr dirty="0" sz="3200" b="1">
                <a:latin typeface="华文楷体"/>
                <a:cs typeface="华文楷体"/>
              </a:rPr>
              <a:t>化学反应的实质</a:t>
            </a:r>
            <a:r>
              <a:rPr dirty="0" sz="3200" spc="-445" b="1">
                <a:latin typeface="华文楷体"/>
                <a:cs typeface="华文楷体"/>
              </a:rPr>
              <a:t>是</a:t>
            </a:r>
            <a:r>
              <a:rPr dirty="0" u="heavy" baseline="14925" sz="5025" spc="-60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14925" sz="50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14925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得失电</a:t>
            </a:r>
            <a:r>
              <a:rPr dirty="0" u="heavy" baseline="14925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baseline="14925" sz="5025" b="1" i="1">
                <a:solidFill>
                  <a:srgbClr val="000066"/>
                </a:solidFill>
                <a:latin typeface="华文楷体"/>
                <a:cs typeface="华文楷体"/>
              </a:rPr>
              <a:t>	</a:t>
            </a:r>
            <a:r>
              <a:rPr dirty="0" sz="3200" b="1">
                <a:latin typeface="华文楷体"/>
                <a:cs typeface="华文楷体"/>
              </a:rPr>
              <a:t>；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9549" y="2721559"/>
            <a:ext cx="4485640" cy="538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065270" algn="l"/>
              </a:tabLst>
            </a:pPr>
            <a:r>
              <a:rPr dirty="0" sz="3350" spc="-1485" b="1" i="1">
                <a:solidFill>
                  <a:srgbClr val="000066"/>
                </a:solidFill>
                <a:latin typeface="华文楷体"/>
                <a:cs typeface="华文楷体"/>
              </a:rPr>
              <a:t>炽热的阴极发射电</a:t>
            </a:r>
            <a:r>
              <a:rPr dirty="0" sz="3350" spc="-150" b="1" i="1">
                <a:solidFill>
                  <a:srgbClr val="000066"/>
                </a:solidFill>
                <a:latin typeface="华文楷体"/>
                <a:cs typeface="华文楷体"/>
              </a:rPr>
              <a:t>子</a:t>
            </a:r>
            <a:r>
              <a:rPr dirty="0" sz="3350" b="1" i="1">
                <a:solidFill>
                  <a:srgbClr val="000066"/>
                </a:solidFill>
                <a:latin typeface="华文楷体"/>
                <a:cs typeface="华文楷体"/>
              </a:rPr>
              <a:t>	</a:t>
            </a:r>
            <a:r>
              <a:rPr dirty="0" baseline="-17361" sz="4800" b="1">
                <a:latin typeface="华文楷体"/>
                <a:cs typeface="华文楷体"/>
              </a:rPr>
              <a:t>；</a:t>
            </a:r>
            <a:endParaRPr baseline="-17361" sz="4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4917" y="3580536"/>
            <a:ext cx="9105265" cy="2009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914015" algn="l"/>
              </a:tabLst>
            </a:pPr>
            <a:r>
              <a:rPr dirty="0" baseline="-17361" sz="4800" b="1">
                <a:latin typeface="华文楷体"/>
                <a:cs typeface="华文楷体"/>
              </a:rPr>
              <a:t>光电效应是</a:t>
            </a:r>
            <a:r>
              <a:rPr dirty="0" baseline="-17361" sz="4800" spc="-667" b="1">
                <a:latin typeface="华文楷体"/>
                <a:cs typeface="华文楷体"/>
              </a:rPr>
              <a:t>指</a:t>
            </a:r>
            <a:r>
              <a:rPr dirty="0" u="heavy" sz="3200" spc="-445" b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	</a:t>
            </a:r>
            <a:r>
              <a:rPr dirty="0" u="heavy" sz="3350" spc="-148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金属在光照射时发射电</a:t>
            </a:r>
            <a:r>
              <a:rPr dirty="0" u="heavy" sz="3350" spc="-91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baseline="-17361" sz="4800" b="1">
                <a:latin typeface="华文楷体"/>
                <a:cs typeface="华文楷体"/>
              </a:rPr>
              <a:t>的现象。</a:t>
            </a:r>
            <a:endParaRPr baseline="-17361" sz="4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700">
              <a:latin typeface="Times New Roman"/>
              <a:cs typeface="Times New Roman"/>
            </a:endParaRPr>
          </a:p>
          <a:p>
            <a:pPr marL="310515">
              <a:lnSpc>
                <a:spcPct val="100000"/>
              </a:lnSpc>
            </a:pP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哪个看起来更容易</a:t>
            </a:r>
            <a:r>
              <a:rPr dirty="0" sz="3200" spc="-5" b="1">
                <a:solidFill>
                  <a:srgbClr val="C00000"/>
                </a:solidFill>
                <a:latin typeface="华文楷体"/>
                <a:cs typeface="华文楷体"/>
              </a:rPr>
              <a:t> ?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79140" y="765175"/>
            <a:ext cx="36963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黑体"/>
                <a:cs typeface="黑体"/>
              </a:rPr>
              <a:t>简单的回顾与整</a:t>
            </a:r>
            <a:r>
              <a:rPr dirty="0" sz="3600" spc="-15" b="1">
                <a:solidFill>
                  <a:srgbClr val="000000"/>
                </a:solidFill>
                <a:latin typeface="黑体"/>
                <a:cs typeface="黑体"/>
              </a:rPr>
              <a:t>合</a:t>
            </a:r>
            <a:endParaRPr sz="3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818" y="650583"/>
            <a:ext cx="45142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000000"/>
                </a:solidFill>
                <a:latin typeface="黑体"/>
                <a:cs typeface="黑体"/>
              </a:rPr>
              <a:t>简单的回顾与整</a:t>
            </a:r>
            <a:r>
              <a:rPr dirty="0" sz="4400" spc="-15" b="1">
                <a:solidFill>
                  <a:srgbClr val="000000"/>
                </a:solidFill>
                <a:latin typeface="黑体"/>
                <a:cs typeface="黑体"/>
              </a:rPr>
              <a:t>合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3180" y="1877580"/>
            <a:ext cx="4767580" cy="3871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42340" indent="-24447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942975" algn="l"/>
              </a:tabLst>
            </a:pPr>
            <a:r>
              <a:rPr dirty="0" sz="3200" b="1">
                <a:latin typeface="华文楷体"/>
                <a:cs typeface="华文楷体"/>
              </a:rPr>
              <a:t>什么是天然放射现象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  <a:p>
            <a:pPr marL="942340" indent="-244475">
              <a:lnSpc>
                <a:spcPct val="100000"/>
              </a:lnSpc>
              <a:spcBef>
                <a:spcPts val="2920"/>
              </a:spcBef>
              <a:buFont typeface="Arial"/>
              <a:buChar char="•"/>
              <a:tabLst>
                <a:tab pos="942975" algn="l"/>
              </a:tabLst>
            </a:pPr>
            <a:r>
              <a:rPr dirty="0" sz="3200" b="1">
                <a:latin typeface="华文楷体"/>
                <a:cs typeface="华文楷体"/>
              </a:rPr>
              <a:t>什么是放射性元素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  <a:p>
            <a:pPr marL="942340" indent="-244475">
              <a:lnSpc>
                <a:spcPct val="100000"/>
              </a:lnSpc>
              <a:spcBef>
                <a:spcPts val="2920"/>
              </a:spcBef>
              <a:buFont typeface="Arial"/>
              <a:buChar char="•"/>
              <a:tabLst>
                <a:tab pos="942975" algn="l"/>
              </a:tabLst>
            </a:pPr>
            <a:r>
              <a:rPr dirty="0" sz="3200" b="1">
                <a:latin typeface="华文楷体"/>
                <a:cs typeface="华文楷体"/>
              </a:rPr>
              <a:t>什么是放射线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  <a:p>
            <a:pPr marL="12700" marR="120650">
              <a:lnSpc>
                <a:spcPct val="150000"/>
              </a:lnSpc>
              <a:spcBef>
                <a:spcPts val="1395"/>
              </a:spcBef>
            </a:pPr>
            <a:r>
              <a:rPr dirty="0" sz="3200" b="1">
                <a:solidFill>
                  <a:srgbClr val="660033"/>
                </a:solidFill>
                <a:latin typeface="华文楷体"/>
                <a:cs typeface="华文楷体"/>
              </a:rPr>
              <a:t>上节课介绍了几种放射线</a:t>
            </a:r>
            <a:r>
              <a:rPr dirty="0" sz="3200" spc="-5" b="1">
                <a:solidFill>
                  <a:srgbClr val="660033"/>
                </a:solidFill>
                <a:latin typeface="华文楷体"/>
                <a:cs typeface="华文楷体"/>
              </a:rPr>
              <a:t>? </a:t>
            </a:r>
            <a:r>
              <a:rPr dirty="0" sz="3200" spc="-5" b="1">
                <a:solidFill>
                  <a:srgbClr val="660033"/>
                </a:solidFill>
                <a:latin typeface="华文楷体"/>
                <a:cs typeface="华文楷体"/>
              </a:rPr>
              <a:t>能否简单对比一下</a:t>
            </a:r>
            <a:r>
              <a:rPr dirty="0" sz="3200" spc="-5" b="1">
                <a:solidFill>
                  <a:srgbClr val="660033"/>
                </a:solidFill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91907" y="1020788"/>
            <a:ext cx="21539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0750" algn="l"/>
              </a:tabLst>
            </a:pPr>
            <a:r>
              <a:rPr dirty="0" sz="4800" spc="-5" b="1">
                <a:latin typeface="华文琥珀"/>
                <a:cs typeface="华文琥珀"/>
              </a:rPr>
              <a:t>问</a:t>
            </a:r>
            <a:r>
              <a:rPr dirty="0" sz="4800" spc="-5" b="1">
                <a:latin typeface="华文琥珀"/>
                <a:cs typeface="华文琥珀"/>
              </a:rPr>
              <a:t>	</a:t>
            </a:r>
            <a:r>
              <a:rPr dirty="0" sz="4800" b="1">
                <a:latin typeface="华文琥珀"/>
                <a:cs typeface="华文琥珀"/>
              </a:rPr>
              <a:t>题</a:t>
            </a:r>
            <a:r>
              <a:rPr dirty="0" sz="4800" spc="-5" b="1">
                <a:latin typeface="华文琥珀"/>
                <a:cs typeface="华文琥珀"/>
              </a:rPr>
              <a:t>：</a:t>
            </a:r>
            <a:endParaRPr sz="4800">
              <a:latin typeface="华文琥珀"/>
              <a:cs typeface="华文琥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44851" y="2797809"/>
            <a:ext cx="5228590" cy="152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华文楷体"/>
                <a:cs typeface="华文楷体"/>
              </a:rPr>
              <a:t>三种线是怎么放射出来的</a:t>
            </a:r>
            <a:r>
              <a:rPr dirty="0" sz="3600" spc="-5" b="1">
                <a:solidFill>
                  <a:srgbClr val="000000"/>
                </a:solidFill>
                <a:latin typeface="华文楷体"/>
                <a:cs typeface="华文楷体"/>
              </a:rPr>
              <a:t>?</a:t>
            </a:r>
            <a:endParaRPr sz="36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3160"/>
              </a:spcBef>
            </a:pPr>
            <a:r>
              <a:rPr dirty="0" sz="3600" b="1">
                <a:solidFill>
                  <a:srgbClr val="000000"/>
                </a:solidFill>
                <a:latin typeface="华文楷体"/>
                <a:cs typeface="华文楷体"/>
              </a:rPr>
              <a:t>放射过程有什么规律</a:t>
            </a:r>
            <a:r>
              <a:rPr dirty="0" sz="3600" spc="-5" b="1">
                <a:solidFill>
                  <a:srgbClr val="000000"/>
                </a:solidFill>
                <a:latin typeface="华文楷体"/>
                <a:cs typeface="华文楷体"/>
              </a:rPr>
              <a:t>?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1479" y="659384"/>
            <a:ext cx="28327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59965" algn="l"/>
              </a:tabLst>
            </a:pPr>
            <a:r>
              <a:rPr dirty="0" sz="4400" b="1">
                <a:solidFill>
                  <a:srgbClr val="000000"/>
                </a:solidFill>
                <a:latin typeface="黑体"/>
                <a:cs typeface="黑体"/>
              </a:rPr>
              <a:t>一、</a:t>
            </a:r>
            <a:r>
              <a:rPr dirty="0" sz="4400" spc="-15" b="1">
                <a:solidFill>
                  <a:srgbClr val="000000"/>
                </a:solidFill>
                <a:latin typeface="黑体"/>
                <a:cs typeface="黑体"/>
              </a:rPr>
              <a:t>衰</a:t>
            </a:r>
            <a:r>
              <a:rPr dirty="0" sz="4400" b="1">
                <a:solidFill>
                  <a:srgbClr val="000000"/>
                </a:solidFill>
                <a:latin typeface="黑体"/>
                <a:cs typeface="黑体"/>
              </a:rPr>
              <a:t>	</a:t>
            </a:r>
            <a:r>
              <a:rPr dirty="0" sz="4400" spc="-15" b="1">
                <a:solidFill>
                  <a:srgbClr val="000000"/>
                </a:solidFill>
                <a:latin typeface="黑体"/>
                <a:cs typeface="黑体"/>
              </a:rPr>
              <a:t>变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20339" y="3224517"/>
            <a:ext cx="5532755" cy="1695450"/>
          </a:xfrm>
          <a:prstGeom prst="rect">
            <a:avLst/>
          </a:prstGeom>
        </p:spPr>
        <p:txBody>
          <a:bodyPr wrap="square" lIns="0" tIns="299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55"/>
              </a:spcBef>
            </a:pPr>
            <a:r>
              <a:rPr dirty="0" sz="3600" b="1">
                <a:latin typeface="新宋体"/>
                <a:cs typeface="新宋体"/>
              </a:rPr>
              <a:t>α衰变：放出α粒子的衰</a:t>
            </a:r>
            <a:r>
              <a:rPr dirty="0" sz="3600" spc="-15" b="1">
                <a:latin typeface="新宋体"/>
                <a:cs typeface="新宋体"/>
              </a:rPr>
              <a:t>变</a:t>
            </a:r>
            <a:endParaRPr sz="3600">
              <a:latin typeface="新宋体"/>
              <a:cs typeface="新宋体"/>
            </a:endParaRPr>
          </a:p>
          <a:p>
            <a:pPr algn="ctr" marR="54610">
              <a:lnSpc>
                <a:spcPct val="100000"/>
              </a:lnSpc>
              <a:spcBef>
                <a:spcPts val="2255"/>
              </a:spcBef>
            </a:pPr>
            <a:r>
              <a:rPr dirty="0" sz="3600" b="1">
                <a:latin typeface="华文楷体"/>
                <a:cs typeface="华文楷体"/>
              </a:rPr>
              <a:t>β衰变：放出β粒子的衰</a:t>
            </a:r>
            <a:r>
              <a:rPr dirty="0" sz="3600" spc="-5" b="1">
                <a:latin typeface="华文楷体"/>
                <a:cs typeface="华文楷体"/>
              </a:rPr>
              <a:t>变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740" y="1600593"/>
            <a:ext cx="10476865" cy="167132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dirty="0" sz="3600" spc="-900" b="1">
                <a:solidFill>
                  <a:srgbClr val="FF0066"/>
                </a:solidFill>
                <a:latin typeface="新宋体"/>
                <a:cs typeface="新宋体"/>
              </a:rPr>
              <a:t>1</a:t>
            </a:r>
            <a:r>
              <a:rPr dirty="0" sz="3600" spc="-930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r>
              <a:rPr dirty="0" sz="3600" spc="-900" b="1">
                <a:solidFill>
                  <a:srgbClr val="FF0066"/>
                </a:solidFill>
                <a:latin typeface="新宋体"/>
                <a:cs typeface="新宋体"/>
              </a:rPr>
              <a:t>.</a:t>
            </a:r>
            <a:r>
              <a:rPr dirty="0" sz="3600" spc="-925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r>
              <a:rPr dirty="0" sz="3600" spc="-2700" b="1">
                <a:solidFill>
                  <a:srgbClr val="FF0066"/>
                </a:solidFill>
                <a:latin typeface="新宋体"/>
                <a:cs typeface="新宋体"/>
              </a:rPr>
              <a:t>定</a:t>
            </a:r>
            <a:r>
              <a:rPr dirty="0" sz="3600" spc="855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r>
              <a:rPr dirty="0" sz="3600" spc="-2685" b="1">
                <a:solidFill>
                  <a:srgbClr val="FF0066"/>
                </a:solidFill>
                <a:latin typeface="新宋体"/>
                <a:cs typeface="新宋体"/>
              </a:rPr>
              <a:t>义</a:t>
            </a:r>
            <a:r>
              <a:rPr dirty="0" sz="3600" spc="844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r>
              <a:rPr dirty="0" sz="3600" spc="-2670" b="1">
                <a:solidFill>
                  <a:srgbClr val="FF0066"/>
                </a:solidFill>
                <a:latin typeface="新宋体"/>
                <a:cs typeface="新宋体"/>
              </a:rPr>
              <a:t>：</a:t>
            </a:r>
            <a:r>
              <a:rPr dirty="0" sz="3600" spc="-15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r>
              <a:rPr dirty="0" sz="3600" b="1">
                <a:latin typeface="新宋体"/>
                <a:cs typeface="新宋体"/>
              </a:rPr>
              <a:t>原子核放出α粒子或β粒子转变为新核的</a:t>
            </a:r>
            <a:r>
              <a:rPr dirty="0" sz="3600" spc="-15" b="1">
                <a:latin typeface="新宋体"/>
                <a:cs typeface="新宋体"/>
              </a:rPr>
              <a:t>变</a:t>
            </a:r>
            <a:endParaRPr sz="3600">
              <a:latin typeface="新宋体"/>
              <a:cs typeface="新宋体"/>
            </a:endParaRPr>
          </a:p>
          <a:p>
            <a:pPr marL="128905">
              <a:lnSpc>
                <a:spcPct val="100000"/>
              </a:lnSpc>
              <a:spcBef>
                <a:spcPts val="2160"/>
              </a:spcBef>
            </a:pPr>
            <a:r>
              <a:rPr dirty="0" sz="3600" b="1">
                <a:latin typeface="新宋体"/>
                <a:cs typeface="新宋体"/>
              </a:rPr>
              <a:t>       </a:t>
            </a:r>
            <a:r>
              <a:rPr dirty="0" sz="3600" b="1">
                <a:latin typeface="新宋体"/>
                <a:cs typeface="新宋体"/>
              </a:rPr>
              <a:t>化叫做原子核的衰变</a:t>
            </a:r>
            <a:r>
              <a:rPr dirty="0" sz="3600" spc="-15" b="1">
                <a:solidFill>
                  <a:srgbClr val="0000FF"/>
                </a:solidFill>
                <a:latin typeface="新宋体"/>
                <a:cs typeface="新宋体"/>
              </a:rPr>
              <a:t> </a:t>
            </a:r>
            <a:endParaRPr sz="3600">
              <a:latin typeface="新宋体"/>
              <a:cs typeface="新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740" y="3504552"/>
            <a:ext cx="18618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66"/>
                </a:solidFill>
                <a:latin typeface="新宋体"/>
                <a:cs typeface="新宋体"/>
              </a:rPr>
              <a:t>2.</a:t>
            </a:r>
            <a:r>
              <a:rPr dirty="0" sz="3600" b="1">
                <a:solidFill>
                  <a:srgbClr val="FF0066"/>
                </a:solidFill>
                <a:latin typeface="新宋体"/>
                <a:cs typeface="新宋体"/>
              </a:rPr>
              <a:t>种类</a:t>
            </a:r>
            <a:r>
              <a:rPr dirty="0" sz="3600" spc="-15" b="1">
                <a:solidFill>
                  <a:srgbClr val="FF0066"/>
                </a:solidFill>
                <a:latin typeface="新宋体"/>
                <a:cs typeface="新宋体"/>
              </a:rPr>
              <a:t>：</a:t>
            </a:r>
            <a:endParaRPr sz="36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8097" y="536752"/>
            <a:ext cx="17399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660033"/>
                </a:solidFill>
                <a:latin typeface="Times New Roman"/>
                <a:cs typeface="Times New Roman"/>
              </a:rPr>
              <a:t>α</a:t>
            </a:r>
            <a:r>
              <a:rPr dirty="0" sz="4800" spc="-90" b="1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dirty="0" sz="4800" b="1">
                <a:solidFill>
                  <a:srgbClr val="660033"/>
                </a:solidFill>
                <a:latin typeface="黑体"/>
                <a:cs typeface="黑体"/>
              </a:rPr>
              <a:t>衰</a:t>
            </a:r>
            <a:r>
              <a:rPr dirty="0" sz="4800" spc="-20" b="1">
                <a:solidFill>
                  <a:srgbClr val="660033"/>
                </a:solidFill>
                <a:latin typeface="黑体"/>
                <a:cs typeface="黑体"/>
              </a:rPr>
              <a:t>变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0759" y="3836847"/>
            <a:ext cx="8357234" cy="173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衰变后的新核质量数比原来少</a:t>
            </a:r>
            <a:r>
              <a:rPr dirty="0" sz="3200" spc="-5" b="1">
                <a:latin typeface="华文楷体"/>
                <a:cs typeface="华文楷体"/>
              </a:rPr>
              <a:t>4</a:t>
            </a:r>
            <a:r>
              <a:rPr dirty="0" sz="3200" b="1">
                <a:latin typeface="华文楷体"/>
                <a:cs typeface="华文楷体"/>
              </a:rPr>
              <a:t>，正电荷数减少 </a:t>
            </a:r>
            <a:r>
              <a:rPr dirty="0" sz="3200" b="1">
                <a:latin typeface="华文楷体"/>
                <a:cs typeface="华文楷体"/>
              </a:rPr>
              <a:t>两个，在元素周期表内的位置向前移两位。</a:t>
            </a:r>
            <a:endParaRPr sz="3200">
              <a:latin typeface="华文楷体"/>
              <a:cs typeface="华文楷体"/>
            </a:endParaRPr>
          </a:p>
          <a:p>
            <a:pPr marL="83820">
              <a:lnSpc>
                <a:spcPct val="100000"/>
              </a:lnSpc>
              <a:spcBef>
                <a:spcPts val="1955"/>
              </a:spcBef>
            </a:pPr>
            <a:r>
              <a:rPr dirty="0" sz="3200" b="1">
                <a:latin typeface="华文楷体"/>
                <a:cs typeface="华文楷体"/>
              </a:rPr>
              <a:t>如：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4492" y="5528449"/>
            <a:ext cx="37528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92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7008" y="5528449"/>
            <a:ext cx="37528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90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0076" y="5528449"/>
            <a:ext cx="20066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3956" y="4845519"/>
            <a:ext cx="4618355" cy="751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238 </a:t>
            </a:r>
            <a:r>
              <a:rPr dirty="0" baseline="-25146" sz="7125" spc="7">
                <a:solidFill>
                  <a:srgbClr val="FF3300"/>
                </a:solidFill>
                <a:latin typeface="Times New Roman"/>
                <a:cs typeface="Times New Roman"/>
              </a:rPr>
              <a:t>U </a:t>
            </a:r>
            <a:r>
              <a:rPr dirty="0" baseline="-25146" sz="7125" spc="15">
                <a:solidFill>
                  <a:srgbClr val="FF3300"/>
                </a:solidFill>
                <a:latin typeface="Symbol"/>
                <a:cs typeface="Symbol"/>
              </a:rPr>
              <a:t></a:t>
            </a:r>
            <a:r>
              <a:rPr dirty="0" baseline="-25146" sz="7125" spc="1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234 </a:t>
            </a:r>
            <a:r>
              <a:rPr dirty="0" baseline="-25146" sz="7125" spc="37">
                <a:solidFill>
                  <a:srgbClr val="FF3300"/>
                </a:solidFill>
                <a:latin typeface="Times New Roman"/>
                <a:cs typeface="Times New Roman"/>
              </a:rPr>
              <a:t>Th+</a:t>
            </a:r>
            <a:r>
              <a:rPr dirty="0" baseline="-25146" sz="7125" spc="-1372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4 </a:t>
            </a:r>
            <a:r>
              <a:rPr dirty="0" baseline="-25146" sz="7125" spc="-7">
                <a:solidFill>
                  <a:srgbClr val="FF3300"/>
                </a:solidFill>
                <a:latin typeface="Times New Roman"/>
                <a:cs typeface="Times New Roman"/>
              </a:rPr>
              <a:t>He</a:t>
            </a:r>
            <a:endParaRPr baseline="-25146" sz="71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7909" y="1715947"/>
            <a:ext cx="8148320" cy="2000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165" b="1">
                <a:latin typeface="华文楷体"/>
                <a:cs typeface="华文楷体"/>
              </a:rPr>
              <a:t>放射性元素的原子核放出</a:t>
            </a:r>
            <a:r>
              <a:rPr dirty="0" sz="3200" spc="160" b="1">
                <a:latin typeface="华文楷体"/>
                <a:cs typeface="华文楷体"/>
              </a:rPr>
              <a:t>α</a:t>
            </a:r>
            <a:r>
              <a:rPr dirty="0" sz="3200" spc="170" b="1">
                <a:latin typeface="华文楷体"/>
                <a:cs typeface="华文楷体"/>
              </a:rPr>
              <a:t>粒子的衰变叫</a:t>
            </a:r>
            <a:r>
              <a:rPr dirty="0" sz="3200" spc="165" b="1">
                <a:latin typeface="华文楷体"/>
                <a:cs typeface="华文楷体"/>
              </a:rPr>
              <a:t>α</a:t>
            </a:r>
            <a:r>
              <a:rPr dirty="0" sz="3200" b="1">
                <a:latin typeface="华文楷体"/>
                <a:cs typeface="华文楷体"/>
              </a:rPr>
              <a:t>衰 </a:t>
            </a:r>
            <a:r>
              <a:rPr dirty="0" sz="3200" b="1">
                <a:latin typeface="华文楷体"/>
                <a:cs typeface="华文楷体"/>
              </a:rPr>
              <a:t>变，其规律为：</a:t>
            </a:r>
            <a:endParaRPr sz="3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450">
              <a:latin typeface="Times New Roman"/>
              <a:cs typeface="Times New Roman"/>
            </a:endParaRPr>
          </a:p>
          <a:p>
            <a:pPr marL="2157730" marR="1873885" indent="-111125">
              <a:lnSpc>
                <a:spcPct val="33200"/>
              </a:lnSpc>
              <a:spcBef>
                <a:spcPts val="5"/>
              </a:spcBef>
              <a:tabLst>
                <a:tab pos="3982720" algn="l"/>
                <a:tab pos="5320030" algn="l"/>
              </a:tabLst>
            </a:pPr>
            <a:r>
              <a:rPr dirty="0" baseline="43434" sz="4125">
                <a:solidFill>
                  <a:srgbClr val="FF3300"/>
                </a:solidFill>
                <a:latin typeface="Times New Roman"/>
                <a:cs typeface="Times New Roman"/>
              </a:rPr>
              <a:t>M </a:t>
            </a:r>
            <a:r>
              <a:rPr dirty="0" sz="4750" spc="5">
                <a:solidFill>
                  <a:srgbClr val="FF3300"/>
                </a:solidFill>
                <a:latin typeface="Times New Roman"/>
                <a:cs typeface="Times New Roman"/>
              </a:rPr>
              <a:t>X </a:t>
            </a:r>
            <a:r>
              <a:rPr dirty="0" sz="4750" spc="10">
                <a:solidFill>
                  <a:srgbClr val="FF3300"/>
                </a:solidFill>
                <a:latin typeface="Symbol"/>
                <a:cs typeface="Symbol"/>
              </a:rPr>
              <a:t></a:t>
            </a:r>
            <a:r>
              <a:rPr dirty="0" sz="4750" spc="1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43434" sz="4125" spc="-37">
                <a:solidFill>
                  <a:srgbClr val="FF3300"/>
                </a:solidFill>
                <a:latin typeface="Times New Roman"/>
                <a:cs typeface="Times New Roman"/>
              </a:rPr>
              <a:t>M-4 </a:t>
            </a:r>
            <a:r>
              <a:rPr dirty="0" sz="4750" spc="-5">
                <a:solidFill>
                  <a:srgbClr val="FF3300"/>
                </a:solidFill>
                <a:latin typeface="Times New Roman"/>
                <a:cs typeface="Times New Roman"/>
              </a:rPr>
              <a:t>Y+</a:t>
            </a:r>
            <a:r>
              <a:rPr dirty="0" sz="4750" spc="-77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43434" sz="4125">
                <a:solidFill>
                  <a:srgbClr val="FF3300"/>
                </a:solidFill>
                <a:latin typeface="Times New Roman"/>
                <a:cs typeface="Times New Roman"/>
              </a:rPr>
              <a:t>4 </a:t>
            </a:r>
            <a:r>
              <a:rPr dirty="0" sz="4750" spc="-5">
                <a:solidFill>
                  <a:srgbClr val="FF3300"/>
                </a:solidFill>
                <a:latin typeface="Times New Roman"/>
                <a:cs typeface="Times New Roman"/>
              </a:rPr>
              <a:t>He  </a:t>
            </a: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Z	</a:t>
            </a:r>
            <a:r>
              <a:rPr dirty="0" sz="2750" spc="-45">
                <a:solidFill>
                  <a:srgbClr val="FF3300"/>
                </a:solidFill>
                <a:latin typeface="Times New Roman"/>
                <a:cs typeface="Times New Roman"/>
              </a:rPr>
              <a:t>Z-2	</a:t>
            </a: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469" y="671563"/>
            <a:ext cx="172085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660033"/>
                </a:solidFill>
                <a:latin typeface="Times New Roman"/>
                <a:cs typeface="Times New Roman"/>
              </a:rPr>
              <a:t>β</a:t>
            </a:r>
            <a:r>
              <a:rPr dirty="0" sz="4800" spc="-90" b="1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dirty="0" sz="4800" b="1">
                <a:solidFill>
                  <a:srgbClr val="660033"/>
                </a:solidFill>
                <a:latin typeface="黑体"/>
                <a:cs typeface="黑体"/>
              </a:rPr>
              <a:t>衰</a:t>
            </a:r>
            <a:r>
              <a:rPr dirty="0" sz="4800" spc="-20" b="1">
                <a:solidFill>
                  <a:srgbClr val="660033"/>
                </a:solidFill>
                <a:latin typeface="黑体"/>
                <a:cs typeface="黑体"/>
              </a:rPr>
              <a:t>变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7119" y="1632838"/>
            <a:ext cx="862584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20" b="1">
                <a:latin typeface="华文楷体"/>
                <a:cs typeface="华文楷体"/>
              </a:rPr>
              <a:t>放射性元素的原子核放出</a:t>
            </a:r>
            <a:r>
              <a:rPr dirty="0" sz="3200" spc="20" b="1">
                <a:latin typeface="华文楷体"/>
                <a:cs typeface="华文楷体"/>
              </a:rPr>
              <a:t>β</a:t>
            </a:r>
            <a:r>
              <a:rPr dirty="0" sz="3200" spc="25" b="1">
                <a:latin typeface="华文楷体"/>
                <a:cs typeface="华文楷体"/>
              </a:rPr>
              <a:t>粒子的衰变叫</a:t>
            </a:r>
            <a:r>
              <a:rPr dirty="0" sz="3200" spc="20" b="1">
                <a:latin typeface="华文楷体"/>
                <a:cs typeface="华文楷体"/>
              </a:rPr>
              <a:t>β</a:t>
            </a:r>
            <a:r>
              <a:rPr dirty="0" sz="3200" spc="25" b="1">
                <a:latin typeface="华文楷体"/>
                <a:cs typeface="华文楷体"/>
              </a:rPr>
              <a:t>衰变</a:t>
            </a:r>
            <a:r>
              <a:rPr dirty="0" sz="3200" b="1">
                <a:latin typeface="华文楷体"/>
                <a:cs typeface="华文楷体"/>
              </a:rPr>
              <a:t>， </a:t>
            </a:r>
            <a:r>
              <a:rPr dirty="0" sz="3200" b="1">
                <a:latin typeface="华文楷体"/>
                <a:cs typeface="华文楷体"/>
              </a:rPr>
              <a:t>其规律为：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707" y="3563239"/>
            <a:ext cx="8764270" cy="1809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衰变后的新核质量数不变，正电荷数比原来加</a:t>
            </a:r>
            <a:r>
              <a:rPr dirty="0" sz="3200" spc="-5" b="1">
                <a:latin typeface="华文楷体"/>
                <a:cs typeface="华文楷体"/>
              </a:rPr>
              <a:t>1</a:t>
            </a:r>
            <a:r>
              <a:rPr dirty="0" sz="3200" b="1">
                <a:latin typeface="华文楷体"/>
                <a:cs typeface="华文楷体"/>
              </a:rPr>
              <a:t>， </a:t>
            </a:r>
            <a:r>
              <a:rPr dirty="0" sz="3200" b="1">
                <a:latin typeface="华文楷体"/>
                <a:cs typeface="华文楷体"/>
              </a:rPr>
              <a:t>它在元素周期表内的位置向后移一位。</a:t>
            </a:r>
            <a:endParaRPr sz="3200">
              <a:latin typeface="华文楷体"/>
              <a:cs typeface="华文楷体"/>
            </a:endParaRPr>
          </a:p>
          <a:p>
            <a:pPr marL="301625">
              <a:lnSpc>
                <a:spcPct val="100000"/>
              </a:lnSpc>
              <a:spcBef>
                <a:spcPts val="2520"/>
              </a:spcBef>
            </a:pPr>
            <a:r>
              <a:rPr dirty="0" sz="3200" b="1">
                <a:latin typeface="华文楷体"/>
                <a:cs typeface="华文楷体"/>
              </a:rPr>
              <a:t>如：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351" y="5320385"/>
            <a:ext cx="381000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90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5425" y="5320385"/>
            <a:ext cx="381000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91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3733" y="5320385"/>
            <a:ext cx="408305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100">
                <a:solidFill>
                  <a:srgbClr val="FF3300"/>
                </a:solidFill>
                <a:latin typeface="Symbol"/>
                <a:cs typeface="Symbol"/>
              </a:rPr>
              <a:t></a:t>
            </a: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2656" y="4632007"/>
            <a:ext cx="48031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1805" algn="l"/>
              </a:tabLst>
            </a:pP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234 </a:t>
            </a:r>
            <a:r>
              <a:rPr dirty="0" baseline="-24884" sz="7200" spc="75">
                <a:solidFill>
                  <a:srgbClr val="FF3300"/>
                </a:solidFill>
                <a:latin typeface="Times New Roman"/>
                <a:cs typeface="Times New Roman"/>
              </a:rPr>
              <a:t>Th </a:t>
            </a:r>
            <a:r>
              <a:rPr dirty="0" baseline="-24884" sz="7200" spc="52">
                <a:solidFill>
                  <a:srgbClr val="FF3300"/>
                </a:solidFill>
                <a:latin typeface="Symbol"/>
                <a:cs typeface="Symbol"/>
              </a:rPr>
              <a:t></a:t>
            </a:r>
            <a:r>
              <a:rPr dirty="0" baseline="-24884" sz="7200" spc="52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234</a:t>
            </a:r>
            <a:r>
              <a:rPr dirty="0" sz="2750" spc="-12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24884" sz="7200" spc="44">
                <a:solidFill>
                  <a:srgbClr val="FF3300"/>
                </a:solidFill>
                <a:latin typeface="Times New Roman"/>
                <a:cs typeface="Times New Roman"/>
              </a:rPr>
              <a:t>Pa</a:t>
            </a:r>
            <a:r>
              <a:rPr dirty="0" baseline="-24884" sz="7200" spc="-284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24884" sz="7200" spc="30">
                <a:solidFill>
                  <a:srgbClr val="FF3300"/>
                </a:solidFill>
                <a:latin typeface="Symbol"/>
                <a:cs typeface="Symbol"/>
              </a:rPr>
              <a:t></a:t>
            </a:r>
            <a:r>
              <a:rPr dirty="0" baseline="-24884" sz="7200" spc="3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r>
              <a:rPr dirty="0" sz="2750" spc="-31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24884" sz="7200" spc="22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baseline="-24884" sz="7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4435" y="2838170"/>
            <a:ext cx="3405504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89100" algn="l"/>
                <a:tab pos="3103880" algn="l"/>
              </a:tabLst>
            </a:pPr>
            <a:r>
              <a:rPr dirty="0" sz="2750" spc="25">
                <a:solidFill>
                  <a:srgbClr val="FF3300"/>
                </a:solidFill>
                <a:latin typeface="Times New Roman"/>
                <a:cs typeface="Times New Roman"/>
              </a:rPr>
              <a:t>Z</a:t>
            </a:r>
            <a:r>
              <a:rPr dirty="0" sz="2750" spc="2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750" spc="-35">
                <a:solidFill>
                  <a:srgbClr val="FF3300"/>
                </a:solidFill>
                <a:latin typeface="Times New Roman"/>
                <a:cs typeface="Times New Roman"/>
              </a:rPr>
              <a:t>Z</a:t>
            </a:r>
            <a:r>
              <a:rPr dirty="0" sz="2750" spc="5">
                <a:solidFill>
                  <a:srgbClr val="FF3300"/>
                </a:solidFill>
                <a:latin typeface="Times New Roman"/>
                <a:cs typeface="Times New Roman"/>
              </a:rPr>
              <a:t>+</a:t>
            </a: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sz="275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750" spc="-50">
                <a:solidFill>
                  <a:srgbClr val="FF3300"/>
                </a:solidFill>
                <a:latin typeface="Times New Roman"/>
                <a:cs typeface="Times New Roman"/>
              </a:rPr>
              <a:t>-</a:t>
            </a:r>
            <a:r>
              <a:rPr dirty="0" sz="2750" spc="20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764" y="2423477"/>
            <a:ext cx="38207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5164" algn="l"/>
              </a:tabLst>
            </a:pPr>
            <a:r>
              <a:rPr dirty="0" baseline="43434" sz="4125" spc="60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baseline="43434" sz="4125" spc="-89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800" spc="25">
                <a:solidFill>
                  <a:srgbClr val="FF3300"/>
                </a:solidFill>
                <a:latin typeface="Times New Roman"/>
                <a:cs typeface="Times New Roman"/>
              </a:rPr>
              <a:t>X</a:t>
            </a:r>
            <a:r>
              <a:rPr dirty="0" sz="4800" spc="-10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800" spc="35">
                <a:solidFill>
                  <a:srgbClr val="FF3300"/>
                </a:solidFill>
                <a:latin typeface="Symbol"/>
                <a:cs typeface="Symbol"/>
              </a:rPr>
              <a:t></a:t>
            </a:r>
            <a:r>
              <a:rPr dirty="0" sz="4800" spc="3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baseline="43434" sz="4125" spc="60">
                <a:solidFill>
                  <a:srgbClr val="FF3300"/>
                </a:solidFill>
                <a:latin typeface="Times New Roman"/>
                <a:cs typeface="Times New Roman"/>
              </a:rPr>
              <a:t>M </a:t>
            </a:r>
            <a:r>
              <a:rPr dirty="0" sz="4800" spc="10">
                <a:solidFill>
                  <a:srgbClr val="FF3300"/>
                </a:solidFill>
                <a:latin typeface="Times New Roman"/>
                <a:cs typeface="Times New Roman"/>
              </a:rPr>
              <a:t>Y+ </a:t>
            </a:r>
            <a:r>
              <a:rPr dirty="0" baseline="43434" sz="4125" spc="30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r>
              <a:rPr dirty="0" baseline="43434" sz="4125" spc="-547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800" spc="15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7076" y="1875967"/>
            <a:ext cx="1640839" cy="0"/>
          </a:xfrm>
          <a:custGeom>
            <a:avLst/>
            <a:gdLst/>
            <a:ahLst/>
            <a:cxnLst/>
            <a:rect l="l" t="t" r="r" b="b"/>
            <a:pathLst>
              <a:path w="1640839" h="0">
                <a:moveTo>
                  <a:pt x="0" y="0"/>
                </a:moveTo>
                <a:lnTo>
                  <a:pt x="164083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221" y="1875967"/>
            <a:ext cx="1640839" cy="0"/>
          </a:xfrm>
          <a:custGeom>
            <a:avLst/>
            <a:gdLst/>
            <a:ahLst/>
            <a:cxnLst/>
            <a:rect l="l" t="t" r="r" b="b"/>
            <a:pathLst>
              <a:path w="1640840" h="0">
                <a:moveTo>
                  <a:pt x="0" y="0"/>
                </a:moveTo>
                <a:lnTo>
                  <a:pt x="164083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55188" y="1931868"/>
            <a:ext cx="1887220" cy="1536065"/>
          </a:xfrm>
          <a:prstGeom prst="rect">
            <a:avLst/>
          </a:prstGeom>
        </p:spPr>
        <p:txBody>
          <a:bodyPr wrap="square" lIns="0" tIns="313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dirty="0" sz="3200" b="1">
                <a:latin typeface="新宋体"/>
                <a:cs typeface="新宋体"/>
              </a:rPr>
              <a:t>α衰变：</a:t>
            </a:r>
            <a:r>
              <a:rPr dirty="0" sz="3600" spc="-15" b="1">
                <a:latin typeface="新宋体"/>
                <a:cs typeface="新宋体"/>
              </a:rPr>
              <a:t> </a:t>
            </a:r>
            <a:endParaRPr sz="3600">
              <a:latin typeface="新宋体"/>
              <a:cs typeface="新宋体"/>
            </a:endParaRPr>
          </a:p>
          <a:p>
            <a:pPr marL="40005">
              <a:lnSpc>
                <a:spcPct val="100000"/>
              </a:lnSpc>
              <a:spcBef>
                <a:spcPts val="1839"/>
              </a:spcBef>
            </a:pPr>
            <a:r>
              <a:rPr dirty="0" sz="3200" b="1">
                <a:latin typeface="新宋体"/>
                <a:cs typeface="新宋体"/>
              </a:rPr>
              <a:t>β衰变：</a:t>
            </a:r>
            <a:r>
              <a:rPr dirty="0" sz="1800">
                <a:latin typeface="新宋体"/>
                <a:cs typeface="新宋体"/>
              </a:rPr>
              <a:t> </a:t>
            </a:r>
            <a:endParaRPr sz="1800">
              <a:latin typeface="新宋体"/>
              <a:cs typeface="新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5572" y="3588384"/>
            <a:ext cx="36963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660033"/>
                </a:solidFill>
                <a:latin typeface="新宋体"/>
                <a:cs typeface="新宋体"/>
              </a:rPr>
              <a:t>衰变方程的要求</a:t>
            </a:r>
            <a:r>
              <a:rPr dirty="0" sz="3600" spc="-15" b="1">
                <a:solidFill>
                  <a:srgbClr val="660033"/>
                </a:solidFill>
                <a:latin typeface="新宋体"/>
                <a:cs typeface="新宋体"/>
              </a:rPr>
              <a:t>：</a:t>
            </a:r>
            <a:endParaRPr sz="3600">
              <a:latin typeface="新宋体"/>
              <a:cs typeface="新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5572" y="4150865"/>
            <a:ext cx="8805545" cy="1767839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422909" indent="-410209">
              <a:lnSpc>
                <a:spcPct val="100000"/>
              </a:lnSpc>
              <a:spcBef>
                <a:spcPts val="615"/>
              </a:spcBef>
              <a:buSzPct val="96875"/>
              <a:buAutoNum type="arabicPeriod"/>
              <a:tabLst>
                <a:tab pos="422909" algn="l"/>
              </a:tabLst>
            </a:pPr>
            <a:r>
              <a:rPr dirty="0" sz="3200" b="1">
                <a:latin typeface="新宋体"/>
                <a:cs typeface="新宋体"/>
              </a:rPr>
              <a:t>中间用单箭头，不用等号、双箭头、线段等</a:t>
            </a:r>
            <a:r>
              <a:rPr dirty="0" sz="3200" spc="-10" b="1">
                <a:latin typeface="新宋体"/>
                <a:cs typeface="新宋体"/>
              </a:rPr>
              <a:t>；</a:t>
            </a:r>
            <a:endParaRPr sz="3200">
              <a:latin typeface="新宋体"/>
              <a:cs typeface="新宋体"/>
            </a:endParaRPr>
          </a:p>
          <a:p>
            <a:pPr marL="422909" indent="-410209">
              <a:lnSpc>
                <a:spcPct val="100000"/>
              </a:lnSpc>
              <a:spcBef>
                <a:spcPts val="575"/>
              </a:spcBef>
              <a:buSzPct val="96875"/>
              <a:buAutoNum type="arabicPeriod"/>
              <a:tabLst>
                <a:tab pos="422909" algn="l"/>
              </a:tabLst>
            </a:pPr>
            <a:r>
              <a:rPr dirty="0" sz="3200" b="1">
                <a:latin typeface="新宋体"/>
                <a:cs typeface="新宋体"/>
              </a:rPr>
              <a:t>是质量数守恒，不是质量守恒</a:t>
            </a:r>
            <a:r>
              <a:rPr dirty="0" sz="3600" spc="-15" b="1">
                <a:latin typeface="新宋体"/>
                <a:cs typeface="新宋体"/>
              </a:rPr>
              <a:t>;</a:t>
            </a:r>
            <a:endParaRPr sz="3600">
              <a:latin typeface="新宋体"/>
              <a:cs typeface="新宋体"/>
            </a:endParaRPr>
          </a:p>
          <a:p>
            <a:pPr marL="422909" indent="-410209">
              <a:lnSpc>
                <a:spcPct val="100000"/>
              </a:lnSpc>
              <a:spcBef>
                <a:spcPts val="625"/>
              </a:spcBef>
              <a:buSzPct val="96875"/>
              <a:buAutoNum type="arabicPeriod"/>
              <a:tabLst>
                <a:tab pos="422909" algn="l"/>
              </a:tabLst>
            </a:pPr>
            <a:r>
              <a:rPr dirty="0" sz="3200" b="1">
                <a:latin typeface="新宋体"/>
                <a:cs typeface="新宋体"/>
              </a:rPr>
              <a:t>方程及生成物要以实验为基础，不能杜撰</a:t>
            </a:r>
            <a:r>
              <a:rPr dirty="0" sz="3200" spc="-10" b="1">
                <a:latin typeface="新宋体"/>
                <a:cs typeface="新宋体"/>
              </a:rPr>
              <a:t>。</a:t>
            </a:r>
            <a:endParaRPr sz="3200">
              <a:latin typeface="新宋体"/>
              <a:cs typeface="新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3955" y="242277"/>
            <a:ext cx="8362950" cy="1685289"/>
          </a:xfrm>
          <a:prstGeom prst="rect">
            <a:avLst/>
          </a:prstGeom>
        </p:spPr>
        <p:txBody>
          <a:bodyPr wrap="square" lIns="0" tIns="321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dirty="0" baseline="11574" sz="5400" b="1">
                <a:solidFill>
                  <a:srgbClr val="FF0066"/>
                </a:solidFill>
                <a:latin typeface="新宋体"/>
                <a:cs typeface="新宋体"/>
              </a:rPr>
              <a:t>3．</a:t>
            </a:r>
            <a:r>
              <a:rPr dirty="0" baseline="11574" sz="5400" spc="-4492" b="1">
                <a:solidFill>
                  <a:srgbClr val="FF0066"/>
                </a:solidFill>
                <a:latin typeface="新宋体"/>
                <a:cs typeface="新宋体"/>
              </a:rPr>
              <a:t>规</a:t>
            </a:r>
            <a:r>
              <a:rPr dirty="0" sz="3600" spc="1160" b="1">
                <a:latin typeface="新宋体"/>
                <a:cs typeface="新宋体"/>
              </a:rPr>
              <a:t> </a:t>
            </a:r>
            <a:r>
              <a:rPr dirty="0" baseline="11574" sz="5400" spc="-5070" b="1">
                <a:solidFill>
                  <a:srgbClr val="FF0066"/>
                </a:solidFill>
                <a:latin typeface="新宋体"/>
                <a:cs typeface="新宋体"/>
              </a:rPr>
              <a:t>律</a:t>
            </a:r>
            <a:r>
              <a:rPr dirty="0" sz="3600" spc="1545" b="1">
                <a:latin typeface="新宋体"/>
                <a:cs typeface="新宋体"/>
              </a:rPr>
              <a:t> </a:t>
            </a:r>
            <a:r>
              <a:rPr dirty="0" baseline="11574" sz="5400" spc="-3225" b="1">
                <a:solidFill>
                  <a:srgbClr val="FF0066"/>
                </a:solidFill>
                <a:latin typeface="新宋体"/>
                <a:cs typeface="新宋体"/>
              </a:rPr>
              <a:t>：</a:t>
            </a:r>
            <a:r>
              <a:rPr dirty="0" sz="3600" spc="-204" b="1">
                <a:latin typeface="新宋体"/>
                <a:cs typeface="新宋体"/>
              </a:rPr>
              <a:t> </a:t>
            </a:r>
            <a:r>
              <a:rPr dirty="0" sz="3200" b="1">
                <a:latin typeface="新宋体"/>
                <a:cs typeface="新宋体"/>
              </a:rPr>
              <a:t>原子核发生衰变时</a:t>
            </a:r>
            <a:r>
              <a:rPr dirty="0" sz="3200" spc="-10" b="1">
                <a:latin typeface="新宋体"/>
                <a:cs typeface="新宋体"/>
              </a:rPr>
              <a:t>，</a:t>
            </a:r>
            <a:endParaRPr sz="3200">
              <a:latin typeface="新宋体"/>
              <a:cs typeface="新宋体"/>
            </a:endParaRPr>
          </a:p>
          <a:p>
            <a:pPr marL="781050">
              <a:lnSpc>
                <a:spcPct val="100000"/>
              </a:lnSpc>
              <a:spcBef>
                <a:spcPts val="2290"/>
              </a:spcBef>
            </a:pPr>
            <a:r>
              <a:rPr dirty="0" sz="3200" b="1">
                <a:latin typeface="新宋体"/>
                <a:cs typeface="新宋体"/>
              </a:rPr>
              <a:t>衰变前后的</a:t>
            </a:r>
            <a:r>
              <a:rPr dirty="0" sz="3200" spc="-885" b="1">
                <a:latin typeface="新宋体"/>
                <a:cs typeface="新宋体"/>
              </a:rPr>
              <a:t> </a:t>
            </a:r>
            <a:r>
              <a:rPr dirty="0" baseline="19900" sz="5025" spc="-5032" b="1" i="1">
                <a:solidFill>
                  <a:srgbClr val="000066"/>
                </a:solidFill>
                <a:latin typeface="华文楷体"/>
                <a:cs typeface="华文楷体"/>
              </a:rPr>
              <a:t>质</a:t>
            </a:r>
            <a:r>
              <a:rPr dirty="0" sz="3350" spc="1795" b="1" i="1">
                <a:latin typeface="华文楷体"/>
                <a:cs typeface="华文楷体"/>
              </a:rPr>
              <a:t> </a:t>
            </a:r>
            <a:r>
              <a:rPr dirty="0" baseline="19900" sz="5025" spc="-5032" b="1" i="1">
                <a:solidFill>
                  <a:srgbClr val="000066"/>
                </a:solidFill>
                <a:latin typeface="华文楷体"/>
                <a:cs typeface="华文楷体"/>
              </a:rPr>
              <a:t>量</a:t>
            </a:r>
            <a:r>
              <a:rPr dirty="0" sz="3350" spc="1764" b="1" i="1">
                <a:latin typeface="华文楷体"/>
                <a:cs typeface="华文楷体"/>
              </a:rPr>
              <a:t> </a:t>
            </a:r>
            <a:r>
              <a:rPr dirty="0" baseline="19900" sz="5025" spc="-5032" b="1" i="1">
                <a:solidFill>
                  <a:srgbClr val="000066"/>
                </a:solidFill>
                <a:latin typeface="华文楷体"/>
                <a:cs typeface="华文楷体"/>
              </a:rPr>
              <a:t>数</a:t>
            </a:r>
            <a:r>
              <a:rPr dirty="0" sz="3350" spc="3985" b="1" i="1">
                <a:latin typeface="华文楷体"/>
                <a:cs typeface="华文楷体"/>
              </a:rPr>
              <a:t> </a:t>
            </a:r>
            <a:r>
              <a:rPr dirty="0" sz="3200" b="1">
                <a:latin typeface="新宋体"/>
                <a:cs typeface="新宋体"/>
              </a:rPr>
              <a:t>和</a:t>
            </a:r>
            <a:r>
              <a:rPr dirty="0" sz="3200" spc="-765" b="1">
                <a:latin typeface="新宋体"/>
                <a:cs typeface="新宋体"/>
              </a:rPr>
              <a:t> </a:t>
            </a:r>
            <a:r>
              <a:rPr dirty="0" baseline="17412" sz="5025" spc="-5032" b="1" i="1">
                <a:solidFill>
                  <a:srgbClr val="000066"/>
                </a:solidFill>
                <a:latin typeface="华文楷体"/>
                <a:cs typeface="华文楷体"/>
              </a:rPr>
              <a:t>电</a:t>
            </a:r>
            <a:r>
              <a:rPr dirty="0" sz="3350" spc="1590" b="1" i="1">
                <a:latin typeface="华文楷体"/>
                <a:cs typeface="华文楷体"/>
              </a:rPr>
              <a:t> </a:t>
            </a:r>
            <a:r>
              <a:rPr dirty="0" baseline="17412" sz="5025" spc="-5032" b="1" i="1">
                <a:solidFill>
                  <a:srgbClr val="000066"/>
                </a:solidFill>
                <a:latin typeface="华文楷体"/>
                <a:cs typeface="华文楷体"/>
              </a:rPr>
              <a:t>荷</a:t>
            </a:r>
            <a:r>
              <a:rPr dirty="0" sz="3350" spc="1560" b="1" i="1">
                <a:latin typeface="华文楷体"/>
                <a:cs typeface="华文楷体"/>
              </a:rPr>
              <a:t> </a:t>
            </a:r>
            <a:r>
              <a:rPr dirty="0" baseline="17412" sz="5025" spc="-5032" b="1" i="1">
                <a:solidFill>
                  <a:srgbClr val="000066"/>
                </a:solidFill>
                <a:latin typeface="华文楷体"/>
                <a:cs typeface="华文楷体"/>
              </a:rPr>
              <a:t>数</a:t>
            </a:r>
            <a:r>
              <a:rPr dirty="0" sz="3350" spc="3985" b="1" i="1">
                <a:latin typeface="华文楷体"/>
                <a:cs typeface="华文楷体"/>
              </a:rPr>
              <a:t> </a:t>
            </a:r>
            <a:r>
              <a:rPr dirty="0" sz="3200" b="1">
                <a:latin typeface="新宋体"/>
                <a:cs typeface="新宋体"/>
              </a:rPr>
              <a:t>都守恒．</a:t>
            </a:r>
            <a:r>
              <a:rPr dirty="0" sz="3200" spc="-10" b="1">
                <a:latin typeface="新宋体"/>
                <a:cs typeface="新宋体"/>
              </a:rPr>
              <a:t> </a:t>
            </a:r>
            <a:endParaRPr sz="3200">
              <a:latin typeface="新宋体"/>
              <a:cs typeface="新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0200" y="2278379"/>
            <a:ext cx="1143000" cy="1201420"/>
          </a:xfrm>
          <a:custGeom>
            <a:avLst/>
            <a:gdLst/>
            <a:ahLst/>
            <a:cxnLst/>
            <a:rect l="l" t="t" r="r" b="b"/>
            <a:pathLst>
              <a:path w="1143000" h="1201420">
                <a:moveTo>
                  <a:pt x="0" y="0"/>
                </a:moveTo>
                <a:lnTo>
                  <a:pt x="1143000" y="0"/>
                </a:lnTo>
                <a:lnTo>
                  <a:pt x="1143000" y="1200912"/>
                </a:lnTo>
                <a:lnTo>
                  <a:pt x="0" y="1200912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92630" y="2358593"/>
            <a:ext cx="946594" cy="490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92630" y="2916123"/>
            <a:ext cx="950099" cy="4815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974526" y="2153043"/>
            <a:ext cx="3734435" cy="755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109220" marR="5080" indent="-97155">
              <a:lnSpc>
                <a:spcPct val="33400"/>
              </a:lnSpc>
              <a:tabLst>
                <a:tab pos="1713864" algn="l"/>
                <a:tab pos="2889250" algn="l"/>
              </a:tabLst>
            </a:pPr>
            <a:r>
              <a:rPr dirty="0" baseline="43981" sz="3600" spc="22">
                <a:solidFill>
                  <a:srgbClr val="FF3300"/>
                </a:solidFill>
                <a:latin typeface="Times New Roman"/>
                <a:cs typeface="Times New Roman"/>
              </a:rPr>
              <a:t>M </a:t>
            </a:r>
            <a:r>
              <a:rPr dirty="0" sz="4150" spc="25">
                <a:solidFill>
                  <a:srgbClr val="FF3300"/>
                </a:solidFill>
                <a:latin typeface="Times New Roman"/>
                <a:cs typeface="Times New Roman"/>
              </a:rPr>
              <a:t>X </a:t>
            </a:r>
            <a:r>
              <a:rPr dirty="0" sz="4150" spc="35">
                <a:solidFill>
                  <a:srgbClr val="FF3300"/>
                </a:solidFill>
                <a:latin typeface="Symbol"/>
                <a:cs typeface="Symbol"/>
              </a:rPr>
              <a:t></a:t>
            </a:r>
            <a:r>
              <a:rPr dirty="0" sz="4150" spc="3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43981" sz="3600" spc="-15">
                <a:solidFill>
                  <a:srgbClr val="FF3300"/>
                </a:solidFill>
                <a:latin typeface="Times New Roman"/>
                <a:cs typeface="Times New Roman"/>
              </a:rPr>
              <a:t>M-4 </a:t>
            </a:r>
            <a:r>
              <a:rPr dirty="0" sz="4150" spc="15">
                <a:solidFill>
                  <a:srgbClr val="FF3300"/>
                </a:solidFill>
                <a:latin typeface="Times New Roman"/>
                <a:cs typeface="Times New Roman"/>
              </a:rPr>
              <a:t>Y+</a:t>
            </a:r>
            <a:r>
              <a:rPr dirty="0" sz="4150" spc="-73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43981" sz="3600" spc="7">
                <a:solidFill>
                  <a:srgbClr val="FF3300"/>
                </a:solidFill>
                <a:latin typeface="Times New Roman"/>
                <a:cs typeface="Times New Roman"/>
              </a:rPr>
              <a:t>4 </a:t>
            </a:r>
            <a:r>
              <a:rPr dirty="0" sz="4150" spc="10">
                <a:solidFill>
                  <a:srgbClr val="FF3300"/>
                </a:solidFill>
                <a:latin typeface="Times New Roman"/>
                <a:cs typeface="Times New Roman"/>
              </a:rPr>
              <a:t>He  </a:t>
            </a:r>
            <a:r>
              <a:rPr dirty="0" sz="2400" spc="10">
                <a:solidFill>
                  <a:srgbClr val="FF3300"/>
                </a:solidFill>
                <a:latin typeface="Times New Roman"/>
                <a:cs typeface="Times New Roman"/>
              </a:rPr>
              <a:t>Z	</a:t>
            </a:r>
            <a:r>
              <a:rPr dirty="0" sz="2400" spc="-30">
                <a:solidFill>
                  <a:srgbClr val="FF3300"/>
                </a:solidFill>
                <a:latin typeface="Times New Roman"/>
                <a:cs typeface="Times New Roman"/>
              </a:rPr>
              <a:t>Z-2	</a:t>
            </a:r>
            <a:r>
              <a:rPr dirty="0" sz="2400" spc="5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4290" y="3364699"/>
            <a:ext cx="311023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43050" algn="l"/>
                <a:tab pos="2834005" algn="l"/>
              </a:tabLst>
            </a:pPr>
            <a:r>
              <a:rPr dirty="0" sz="2550">
                <a:solidFill>
                  <a:srgbClr val="FF3300"/>
                </a:solidFill>
                <a:latin typeface="Times New Roman"/>
                <a:cs typeface="Times New Roman"/>
              </a:rPr>
              <a:t>Z</a:t>
            </a:r>
            <a:r>
              <a:rPr dirty="0" sz="255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550" spc="-55">
                <a:solidFill>
                  <a:srgbClr val="FF3300"/>
                </a:solidFill>
                <a:latin typeface="Times New Roman"/>
                <a:cs typeface="Times New Roman"/>
              </a:rPr>
              <a:t>Z</a:t>
            </a:r>
            <a:r>
              <a:rPr dirty="0" sz="2550" spc="-15">
                <a:solidFill>
                  <a:srgbClr val="FF3300"/>
                </a:solidFill>
                <a:latin typeface="Times New Roman"/>
                <a:cs typeface="Times New Roman"/>
              </a:rPr>
              <a:t>+</a:t>
            </a:r>
            <a:r>
              <a:rPr dirty="0" sz="2550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sz="255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550" spc="-60">
                <a:solidFill>
                  <a:srgbClr val="FF3300"/>
                </a:solidFill>
                <a:latin typeface="Times New Roman"/>
                <a:cs typeface="Times New Roman"/>
              </a:rPr>
              <a:t>-</a:t>
            </a:r>
            <a:r>
              <a:rPr dirty="0" sz="2550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12156" y="2983928"/>
            <a:ext cx="3490595" cy="698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785620" algn="l"/>
              </a:tabLst>
            </a:pPr>
            <a:r>
              <a:rPr dirty="0" baseline="42483" sz="3825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baseline="42483" sz="3825" spc="-89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400" spc="10">
                <a:solidFill>
                  <a:srgbClr val="FF3300"/>
                </a:solidFill>
                <a:latin typeface="Times New Roman"/>
                <a:cs typeface="Times New Roman"/>
              </a:rPr>
              <a:t>X</a:t>
            </a:r>
            <a:r>
              <a:rPr dirty="0" sz="4400" spc="-8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400" spc="15">
                <a:solidFill>
                  <a:srgbClr val="FF3300"/>
                </a:solidFill>
                <a:latin typeface="Symbol"/>
                <a:cs typeface="Symbol"/>
              </a:rPr>
              <a:t></a:t>
            </a:r>
            <a:r>
              <a:rPr dirty="0" sz="4400" spc="1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baseline="42483" sz="3825">
                <a:solidFill>
                  <a:srgbClr val="FF3300"/>
                </a:solidFill>
                <a:latin typeface="Times New Roman"/>
                <a:cs typeface="Times New Roman"/>
              </a:rPr>
              <a:t>M </a:t>
            </a:r>
            <a:r>
              <a:rPr dirty="0" sz="4400">
                <a:solidFill>
                  <a:srgbClr val="FF3300"/>
                </a:solidFill>
                <a:latin typeface="Times New Roman"/>
                <a:cs typeface="Times New Roman"/>
              </a:rPr>
              <a:t>Y+ </a:t>
            </a:r>
            <a:r>
              <a:rPr dirty="0" baseline="42483" sz="3825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r>
              <a:rPr dirty="0" baseline="42483" sz="3825" spc="-48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400" spc="5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0754" y="297852"/>
            <a:ext cx="22663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 b="1">
                <a:latin typeface="Times New Roman"/>
                <a:cs typeface="Times New Roman"/>
              </a:rPr>
              <a:t>4.</a:t>
            </a:r>
            <a:r>
              <a:rPr dirty="0" sz="4400" spc="-85" b="1">
                <a:latin typeface="Times New Roman"/>
                <a:cs typeface="Times New Roman"/>
              </a:rPr>
              <a:t> </a:t>
            </a:r>
            <a:r>
              <a:rPr dirty="0" sz="4400" b="1">
                <a:latin typeface="黑体"/>
                <a:cs typeface="黑体"/>
              </a:rPr>
              <a:t>本质</a:t>
            </a:r>
            <a:r>
              <a:rPr dirty="0" sz="4400" spc="-15" b="1">
                <a:latin typeface="黑体"/>
                <a:cs typeface="黑体"/>
              </a:rPr>
              <a:t>：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6067" y="1108657"/>
            <a:ext cx="8684895" cy="49904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2545" marR="311785">
              <a:lnSpc>
                <a:spcPct val="115700"/>
              </a:lnSpc>
              <a:spcBef>
                <a:spcPts val="130"/>
              </a:spcBef>
            </a:pPr>
            <a:r>
              <a:rPr dirty="0" sz="3600" b="1">
                <a:solidFill>
                  <a:srgbClr val="FF0066"/>
                </a:solidFill>
                <a:latin typeface="华文楷体"/>
                <a:cs typeface="华文楷体"/>
              </a:rPr>
              <a:t>α衰变：</a:t>
            </a:r>
            <a:r>
              <a:rPr dirty="0" sz="3200" b="1">
                <a:latin typeface="华文楷体"/>
                <a:cs typeface="华文楷体"/>
              </a:rPr>
              <a:t>原子核内两个</a:t>
            </a:r>
            <a:r>
              <a:rPr dirty="0" sz="3200" spc="125" b="1">
                <a:latin typeface="华文楷体"/>
                <a:cs typeface="华文楷体"/>
              </a:rPr>
              <a:t> </a:t>
            </a:r>
            <a:r>
              <a:rPr dirty="0" u="heavy" baseline="9121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质</a:t>
            </a:r>
            <a:r>
              <a:rPr dirty="0" u="heavy" baseline="9121" sz="5025" spc="22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sz="3200" b="1">
                <a:latin typeface="华文楷体"/>
                <a:cs typeface="华文楷体"/>
              </a:rPr>
              <a:t>和两个</a:t>
            </a:r>
            <a:r>
              <a:rPr dirty="0" sz="3200" spc="200" b="1">
                <a:latin typeface="华文楷体"/>
                <a:cs typeface="华文楷体"/>
              </a:rPr>
              <a:t> </a:t>
            </a:r>
            <a:r>
              <a:rPr dirty="0" u="heavy" baseline="16583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中</a:t>
            </a:r>
            <a:r>
              <a:rPr dirty="0" u="heavy" baseline="16583" sz="5025" spc="-89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sz="3200" b="1">
                <a:latin typeface="华文楷体"/>
                <a:cs typeface="华文楷体"/>
              </a:rPr>
              <a:t>结合 </a:t>
            </a:r>
            <a:r>
              <a:rPr dirty="0" sz="3200" spc="285" b="1">
                <a:latin typeface="华文楷体"/>
                <a:cs typeface="华文楷体"/>
              </a:rPr>
              <a:t>成</a:t>
            </a:r>
            <a:r>
              <a:rPr dirty="0" u="heavy" baseline="15754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氦原子</a:t>
            </a:r>
            <a:r>
              <a:rPr dirty="0" u="heavy" baseline="15754" sz="5025" spc="-15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核</a:t>
            </a:r>
            <a:r>
              <a:rPr dirty="0" sz="3200" b="1">
                <a:latin typeface="华文楷体"/>
                <a:cs typeface="华文楷体"/>
              </a:rPr>
              <a:t>抛射出去</a:t>
            </a:r>
            <a:r>
              <a:rPr dirty="0" sz="3200" spc="-5" b="1">
                <a:latin typeface="华文楷体"/>
                <a:cs typeface="华文楷体"/>
              </a:rPr>
              <a:t> </a:t>
            </a:r>
            <a:r>
              <a:rPr dirty="0" sz="3200" b="1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  <a:p>
            <a:pPr marL="12700" marR="336550">
              <a:lnSpc>
                <a:spcPts val="3970"/>
              </a:lnSpc>
              <a:spcBef>
                <a:spcPts val="1620"/>
              </a:spcBef>
              <a:tabLst>
                <a:tab pos="2703195" algn="l"/>
                <a:tab pos="4192270" algn="l"/>
                <a:tab pos="4657090" algn="l"/>
                <a:tab pos="7932420" algn="l"/>
              </a:tabLst>
            </a:pPr>
            <a:r>
              <a:rPr dirty="0" sz="3600" b="1">
                <a:solidFill>
                  <a:srgbClr val="FF0066"/>
                </a:solidFill>
                <a:latin typeface="华文楷体"/>
                <a:cs typeface="华文楷体"/>
              </a:rPr>
              <a:t>β</a:t>
            </a:r>
            <a:r>
              <a:rPr dirty="0" sz="3600" b="1">
                <a:solidFill>
                  <a:srgbClr val="FF0066"/>
                </a:solidFill>
                <a:latin typeface="华文楷体"/>
                <a:cs typeface="华文楷体"/>
              </a:rPr>
              <a:t>衰变：</a:t>
            </a:r>
            <a:r>
              <a:rPr dirty="0" sz="3200" b="1">
                <a:latin typeface="华文楷体"/>
                <a:cs typeface="华文楷体"/>
              </a:rPr>
              <a:t>原子核内的一个</a:t>
            </a:r>
            <a:r>
              <a:rPr dirty="0" sz="3200" b="1">
                <a:latin typeface="华文楷体"/>
                <a:cs typeface="华文楷体"/>
              </a:rPr>
              <a:t>	</a:t>
            </a:r>
            <a:r>
              <a:rPr dirty="0" u="heavy" baseline="12437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中</a:t>
            </a:r>
            <a:r>
              <a:rPr dirty="0" u="heavy" baseline="12437" sz="5025" spc="322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sz="3200" b="1">
                <a:latin typeface="华文楷体"/>
                <a:cs typeface="华文楷体"/>
              </a:rPr>
              <a:t>变</a:t>
            </a:r>
            <a:r>
              <a:rPr dirty="0" sz="3200" spc="-225" b="1">
                <a:latin typeface="华文楷体"/>
                <a:cs typeface="华文楷体"/>
              </a:rPr>
              <a:t>成</a:t>
            </a:r>
            <a:r>
              <a:rPr dirty="0" u="heavy" baseline="15754" sz="5025" spc="-202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15754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质</a:t>
            </a:r>
            <a:r>
              <a:rPr dirty="0" u="heavy" baseline="15754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baseline="15754" sz="5025" b="1" i="1">
                <a:solidFill>
                  <a:srgbClr val="000066"/>
                </a:solidFill>
                <a:latin typeface="华文楷体"/>
                <a:cs typeface="华文楷体"/>
              </a:rPr>
              <a:t>	</a:t>
            </a:r>
            <a:r>
              <a:rPr dirty="0" sz="3200" b="1">
                <a:latin typeface="华文楷体"/>
                <a:cs typeface="华文楷体"/>
              </a:rPr>
              <a:t>， </a:t>
            </a:r>
            <a:r>
              <a:rPr dirty="0" sz="3200" b="1">
                <a:latin typeface="华文楷体"/>
                <a:cs typeface="华文楷体"/>
              </a:rPr>
              <a:t>同时放出一</a:t>
            </a:r>
            <a:r>
              <a:rPr dirty="0" sz="3200" spc="-445" b="1">
                <a:latin typeface="华文楷体"/>
                <a:cs typeface="华文楷体"/>
              </a:rPr>
              <a:t>个</a:t>
            </a:r>
            <a:r>
              <a:rPr dirty="0" u="heavy" baseline="4340" sz="4800" spc="-667" b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	</a:t>
            </a:r>
            <a:r>
              <a:rPr dirty="0" u="heavy" baseline="4145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电</a:t>
            </a:r>
            <a:r>
              <a:rPr dirty="0" u="heavy" baseline="4145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	</a:t>
            </a:r>
            <a:r>
              <a:rPr dirty="0" sz="3200" b="1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  <a:p>
            <a:pPr marL="29209" marR="5080">
              <a:lnSpc>
                <a:spcPct val="100000"/>
              </a:lnSpc>
              <a:spcBef>
                <a:spcPts val="1045"/>
              </a:spcBef>
            </a:pPr>
            <a:r>
              <a:rPr dirty="0" sz="3600" spc="90" b="1">
                <a:solidFill>
                  <a:srgbClr val="FF0066"/>
                </a:solidFill>
                <a:latin typeface="华文楷体"/>
                <a:cs typeface="华文楷体"/>
              </a:rPr>
              <a:t>γ</a:t>
            </a:r>
            <a:r>
              <a:rPr dirty="0" sz="3600" spc="95" b="1">
                <a:solidFill>
                  <a:srgbClr val="FF0066"/>
                </a:solidFill>
                <a:latin typeface="华文楷体"/>
                <a:cs typeface="华文楷体"/>
              </a:rPr>
              <a:t>射线的产生：</a:t>
            </a:r>
            <a:r>
              <a:rPr dirty="0" sz="3200" spc="90" b="1">
                <a:latin typeface="华文楷体"/>
                <a:cs typeface="华文楷体"/>
              </a:rPr>
              <a:t>γ</a:t>
            </a:r>
            <a:r>
              <a:rPr dirty="0" sz="3200" spc="95" b="1">
                <a:latin typeface="华文楷体"/>
                <a:cs typeface="华文楷体"/>
              </a:rPr>
              <a:t>射线经常是</a:t>
            </a:r>
            <a:r>
              <a:rPr dirty="0" sz="3200" spc="95" b="1">
                <a:solidFill>
                  <a:srgbClr val="FF0066"/>
                </a:solidFill>
                <a:latin typeface="华文楷体"/>
                <a:cs typeface="华文楷体"/>
              </a:rPr>
              <a:t>伴随</a:t>
            </a:r>
            <a:r>
              <a:rPr dirty="0" sz="3200" spc="95" b="1">
                <a:latin typeface="华文楷体"/>
                <a:cs typeface="华文楷体"/>
              </a:rPr>
              <a:t>着</a:t>
            </a:r>
            <a:r>
              <a:rPr dirty="0" sz="3200" spc="95" b="1">
                <a:latin typeface="华文楷体"/>
                <a:cs typeface="华文楷体"/>
              </a:rPr>
              <a:t>α</a:t>
            </a:r>
            <a:r>
              <a:rPr dirty="0" sz="3200" spc="100" b="1">
                <a:latin typeface="华文楷体"/>
                <a:cs typeface="华文楷体"/>
              </a:rPr>
              <a:t>射线和</a:t>
            </a:r>
            <a:r>
              <a:rPr dirty="0" sz="3200" spc="95" b="1">
                <a:latin typeface="华文楷体"/>
                <a:cs typeface="华文楷体"/>
              </a:rPr>
              <a:t>β</a:t>
            </a:r>
            <a:r>
              <a:rPr dirty="0" sz="3200" b="1">
                <a:latin typeface="华文楷体"/>
                <a:cs typeface="华文楷体"/>
              </a:rPr>
              <a:t>射 </a:t>
            </a:r>
            <a:r>
              <a:rPr dirty="0" sz="3200" b="1">
                <a:latin typeface="华文楷体"/>
                <a:cs typeface="华文楷体"/>
              </a:rPr>
              <a:t>线产生的，没有</a:t>
            </a:r>
            <a:r>
              <a:rPr dirty="0" sz="3600" spc="-5" b="1">
                <a:solidFill>
                  <a:srgbClr val="FF0066"/>
                </a:solidFill>
                <a:latin typeface="华文楷体"/>
                <a:cs typeface="华文楷体"/>
              </a:rPr>
              <a:t>γ</a:t>
            </a:r>
            <a:r>
              <a:rPr dirty="0" sz="3600" b="1">
                <a:solidFill>
                  <a:srgbClr val="FF0066"/>
                </a:solidFill>
                <a:latin typeface="华文楷体"/>
                <a:cs typeface="华文楷体"/>
              </a:rPr>
              <a:t>衰变</a:t>
            </a:r>
            <a:r>
              <a:rPr dirty="0" sz="3600" spc="-5" b="1">
                <a:solidFill>
                  <a:srgbClr val="FF0066"/>
                </a:solidFill>
                <a:latin typeface="华文楷体"/>
                <a:cs typeface="华文楷体"/>
              </a:rPr>
              <a:t>。</a:t>
            </a:r>
            <a:endParaRPr sz="3600">
              <a:latin typeface="华文楷体"/>
              <a:cs typeface="华文楷体"/>
            </a:endParaRPr>
          </a:p>
          <a:p>
            <a:pPr marL="673100" marR="1062990">
              <a:lnSpc>
                <a:spcPct val="115599"/>
              </a:lnSpc>
              <a:spcBef>
                <a:spcPts val="1240"/>
              </a:spcBef>
            </a:pPr>
            <a:r>
              <a:rPr dirty="0" sz="3200" b="1">
                <a:solidFill>
                  <a:srgbClr val="660033"/>
                </a:solidFill>
                <a:latin typeface="新宋体"/>
                <a:cs typeface="新宋体"/>
              </a:rPr>
              <a:t>放射性表明原子核是有内部结构的</a:t>
            </a:r>
            <a:r>
              <a:rPr dirty="0" sz="3200" spc="-10" b="1">
                <a:solidFill>
                  <a:srgbClr val="660033"/>
                </a:solidFill>
                <a:latin typeface="新宋体"/>
                <a:cs typeface="新宋体"/>
              </a:rPr>
              <a:t>，  </a:t>
            </a:r>
            <a:r>
              <a:rPr dirty="0" sz="3200" b="1">
                <a:solidFill>
                  <a:srgbClr val="660033"/>
                </a:solidFill>
                <a:latin typeface="新宋体"/>
                <a:cs typeface="新宋体"/>
              </a:rPr>
              <a:t>元素的放射性与元素存在的状态无关</a:t>
            </a:r>
            <a:r>
              <a:rPr dirty="0" sz="3200" spc="-10" b="1">
                <a:solidFill>
                  <a:srgbClr val="660033"/>
                </a:solidFill>
                <a:latin typeface="新宋体"/>
                <a:cs typeface="新宋体"/>
              </a:rPr>
              <a:t>。</a:t>
            </a:r>
            <a:endParaRPr sz="32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317" y="702614"/>
            <a:ext cx="19754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43915" algn="l"/>
              </a:tabLst>
            </a:pPr>
            <a:r>
              <a:rPr dirty="0" sz="4400" spc="5">
                <a:solidFill>
                  <a:srgbClr val="000000"/>
                </a:solidFill>
                <a:latin typeface="华文琥珀"/>
                <a:cs typeface="华文琥珀"/>
              </a:rPr>
              <a:t>问</a:t>
            </a:r>
            <a:r>
              <a:rPr dirty="0" sz="4400" spc="5">
                <a:solidFill>
                  <a:srgbClr val="000000"/>
                </a:solidFill>
                <a:latin typeface="华文琥珀"/>
                <a:cs typeface="华文琥珀"/>
              </a:rPr>
              <a:t>	</a:t>
            </a:r>
            <a:r>
              <a:rPr dirty="0" sz="4400">
                <a:solidFill>
                  <a:srgbClr val="000000"/>
                </a:solidFill>
                <a:latin typeface="华文琥珀"/>
                <a:cs typeface="华文琥珀"/>
              </a:rPr>
              <a:t>题</a:t>
            </a:r>
            <a:r>
              <a:rPr dirty="0" sz="4400" spc="5">
                <a:solidFill>
                  <a:srgbClr val="000000"/>
                </a:solidFill>
                <a:latin typeface="华文琥珀"/>
                <a:cs typeface="华文琥珀"/>
              </a:rPr>
              <a:t>：</a:t>
            </a:r>
            <a:endParaRPr sz="44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3362" y="1977681"/>
            <a:ext cx="953198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8775" algn="l"/>
                <a:tab pos="359410" algn="l"/>
              </a:tabLst>
            </a:pPr>
            <a:r>
              <a:rPr dirty="0" sz="3200" b="1">
                <a:latin typeface="华文楷体"/>
                <a:cs typeface="华文楷体"/>
              </a:rPr>
              <a:t>一块放射性矿石能同时放射出</a:t>
            </a:r>
            <a:r>
              <a:rPr dirty="0" sz="3200" spc="-5" b="1">
                <a:latin typeface="华文楷体"/>
                <a:cs typeface="华文楷体"/>
              </a:rPr>
              <a:t>α</a:t>
            </a:r>
            <a:r>
              <a:rPr dirty="0" sz="3200" spc="-15" b="1">
                <a:latin typeface="华文楷体"/>
                <a:cs typeface="华文楷体"/>
              </a:rPr>
              <a:t> </a:t>
            </a:r>
            <a:r>
              <a:rPr dirty="0" sz="3200" b="1">
                <a:latin typeface="华文楷体"/>
                <a:cs typeface="华文楷体"/>
              </a:rPr>
              <a:t>、</a:t>
            </a:r>
            <a:r>
              <a:rPr dirty="0" sz="3200" spc="-5" b="1">
                <a:latin typeface="华文楷体"/>
                <a:cs typeface="华文楷体"/>
              </a:rPr>
              <a:t>β</a:t>
            </a:r>
            <a:r>
              <a:rPr dirty="0" sz="3200" spc="-10" b="1">
                <a:latin typeface="宋体"/>
                <a:cs typeface="宋体"/>
              </a:rPr>
              <a:t>、</a:t>
            </a:r>
            <a:r>
              <a:rPr dirty="0" sz="3200" spc="-810" b="1">
                <a:latin typeface="宋体"/>
                <a:cs typeface="宋体"/>
              </a:rPr>
              <a:t> </a:t>
            </a:r>
            <a:r>
              <a:rPr dirty="0" sz="3200" spc="-5" b="1">
                <a:latin typeface="华文楷体"/>
                <a:cs typeface="华文楷体"/>
              </a:rPr>
              <a:t>γ</a:t>
            </a:r>
            <a:r>
              <a:rPr dirty="0" sz="3200" b="1">
                <a:latin typeface="华文楷体"/>
                <a:cs typeface="华文楷体"/>
              </a:rPr>
              <a:t>三种</a:t>
            </a:r>
            <a:r>
              <a:rPr dirty="0" sz="3200" b="1">
                <a:latin typeface="宋体"/>
                <a:cs typeface="宋体"/>
              </a:rPr>
              <a:t>射</a:t>
            </a:r>
            <a:r>
              <a:rPr dirty="0" sz="3200" b="1">
                <a:latin typeface="华文楷体"/>
                <a:cs typeface="华文楷体"/>
              </a:rPr>
              <a:t>线，  </a:t>
            </a:r>
            <a:r>
              <a:rPr dirty="0" sz="3200" b="1">
                <a:latin typeface="华文楷体"/>
                <a:cs typeface="华文楷体"/>
              </a:rPr>
              <a:t>是否说明某种放射性元素能够同时发生</a:t>
            </a:r>
            <a:r>
              <a:rPr dirty="0" sz="3200" spc="-5" b="1">
                <a:latin typeface="华文楷体"/>
                <a:cs typeface="华文楷体"/>
              </a:rPr>
              <a:t>α</a:t>
            </a:r>
            <a:r>
              <a:rPr dirty="0" sz="3200" b="1">
                <a:latin typeface="宋体"/>
                <a:cs typeface="宋体"/>
              </a:rPr>
              <a:t>衰变和</a:t>
            </a:r>
            <a:r>
              <a:rPr dirty="0" sz="3200" spc="-5" b="1">
                <a:latin typeface="华文楷体"/>
                <a:cs typeface="华文楷体"/>
              </a:rPr>
              <a:t>β</a:t>
            </a:r>
            <a:r>
              <a:rPr dirty="0" sz="3200" b="1">
                <a:latin typeface="宋体"/>
                <a:cs typeface="宋体"/>
              </a:rPr>
              <a:t>衰变</a:t>
            </a:r>
            <a:r>
              <a:rPr dirty="0" sz="3200" spc="-5" b="1"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68345" algn="l"/>
              </a:tabLst>
            </a:pPr>
            <a:r>
              <a:rPr dirty="0" spc="35"/>
              <a:t>238</a:t>
            </a:r>
            <a:r>
              <a:rPr dirty="0" spc="-30"/>
              <a:t> </a:t>
            </a:r>
            <a:r>
              <a:rPr dirty="0" baseline="-25045" sz="9150" spc="82"/>
              <a:t>U</a:t>
            </a:r>
            <a:r>
              <a:rPr dirty="0" baseline="-25045" sz="9150" spc="-127"/>
              <a:t> </a:t>
            </a:r>
            <a:r>
              <a:rPr dirty="0" baseline="-25045" sz="9150" spc="112">
                <a:latin typeface="Symbol"/>
                <a:cs typeface="Symbol"/>
              </a:rPr>
              <a:t></a:t>
            </a:r>
            <a:r>
              <a:rPr dirty="0" sz="3500" spc="75"/>
              <a:t>234	</a:t>
            </a:r>
            <a:r>
              <a:rPr dirty="0" baseline="-25045" sz="9150" spc="209"/>
              <a:t>Th+</a:t>
            </a:r>
            <a:r>
              <a:rPr dirty="0" sz="3500" spc="140"/>
              <a:t>4</a:t>
            </a:r>
            <a:r>
              <a:rPr dirty="0" baseline="-25045" sz="9150" spc="209"/>
              <a:t>He</a:t>
            </a:r>
            <a:endParaRPr baseline="-25045" sz="915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9717" y="1670519"/>
            <a:ext cx="8649335" cy="4509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43965">
              <a:lnSpc>
                <a:spcPct val="100000"/>
              </a:lnSpc>
              <a:spcBef>
                <a:spcPts val="130"/>
              </a:spcBef>
              <a:tabLst>
                <a:tab pos="3570604" algn="l"/>
                <a:tab pos="5868670" algn="l"/>
              </a:tabLst>
            </a:pPr>
            <a:r>
              <a:rPr dirty="0" sz="3500" spc="35">
                <a:solidFill>
                  <a:srgbClr val="FF0066"/>
                </a:solidFill>
                <a:latin typeface="Times New Roman"/>
                <a:cs typeface="Times New Roman"/>
              </a:rPr>
              <a:t>92	90	2</a:t>
            </a:r>
            <a:endParaRPr sz="3500">
              <a:latin typeface="Times New Roman"/>
              <a:cs typeface="Times New Roman"/>
            </a:endParaRPr>
          </a:p>
          <a:p>
            <a:pPr marL="1174115">
              <a:lnSpc>
                <a:spcPts val="6595"/>
              </a:lnSpc>
              <a:spcBef>
                <a:spcPts val="115"/>
              </a:spcBef>
              <a:tabLst>
                <a:tab pos="5023485" algn="l"/>
              </a:tabLst>
            </a:pPr>
            <a:r>
              <a:rPr dirty="0" sz="3250" spc="295">
                <a:solidFill>
                  <a:srgbClr val="FF0066"/>
                </a:solidFill>
                <a:latin typeface="Times New Roman"/>
                <a:cs typeface="Times New Roman"/>
              </a:rPr>
              <a:t>234</a:t>
            </a:r>
            <a:r>
              <a:rPr dirty="0" sz="3250" spc="-55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baseline="-25073" sz="8475" spc="892">
                <a:solidFill>
                  <a:srgbClr val="FF0066"/>
                </a:solidFill>
                <a:latin typeface="Times New Roman"/>
                <a:cs typeface="Times New Roman"/>
              </a:rPr>
              <a:t>Th</a:t>
            </a:r>
            <a:r>
              <a:rPr dirty="0" baseline="-25073" sz="8475" spc="405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baseline="-25073" sz="8475" spc="735">
                <a:solidFill>
                  <a:srgbClr val="FF0066"/>
                </a:solidFill>
                <a:latin typeface="Symbol"/>
                <a:cs typeface="Symbol"/>
              </a:rPr>
              <a:t></a:t>
            </a:r>
            <a:r>
              <a:rPr dirty="0" sz="3250" spc="490">
                <a:solidFill>
                  <a:srgbClr val="FF0066"/>
                </a:solidFill>
                <a:latin typeface="Times New Roman"/>
                <a:cs typeface="Times New Roman"/>
              </a:rPr>
              <a:t>234	</a:t>
            </a:r>
            <a:r>
              <a:rPr dirty="0" baseline="-25073" sz="8475" spc="757">
                <a:solidFill>
                  <a:srgbClr val="FF0066"/>
                </a:solidFill>
                <a:latin typeface="Times New Roman"/>
                <a:cs typeface="Times New Roman"/>
              </a:rPr>
              <a:t>Pa+</a:t>
            </a:r>
            <a:r>
              <a:rPr dirty="0" sz="3250" spc="505">
                <a:solidFill>
                  <a:srgbClr val="FF0066"/>
                </a:solidFill>
                <a:latin typeface="Times New Roman"/>
                <a:cs typeface="Times New Roman"/>
              </a:rPr>
              <a:t>0</a:t>
            </a:r>
            <a:r>
              <a:rPr dirty="0" sz="3250" spc="315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baseline="-25073" sz="8475" spc="660">
                <a:solidFill>
                  <a:srgbClr val="FF0066"/>
                </a:solidFill>
                <a:latin typeface="Times New Roman"/>
                <a:cs typeface="Times New Roman"/>
              </a:rPr>
              <a:t>e</a:t>
            </a:r>
            <a:endParaRPr baseline="-25073" sz="8475">
              <a:latin typeface="Times New Roman"/>
              <a:cs typeface="Times New Roman"/>
            </a:endParaRPr>
          </a:p>
          <a:p>
            <a:pPr marL="1158875">
              <a:lnSpc>
                <a:spcPts val="3715"/>
              </a:lnSpc>
              <a:tabLst>
                <a:tab pos="3995420" algn="l"/>
                <a:tab pos="6365875" algn="l"/>
              </a:tabLst>
            </a:pPr>
            <a:r>
              <a:rPr dirty="0" sz="3250" spc="295">
                <a:solidFill>
                  <a:srgbClr val="FF0066"/>
                </a:solidFill>
                <a:latin typeface="Times New Roman"/>
                <a:cs typeface="Times New Roman"/>
              </a:rPr>
              <a:t>90	91	</a:t>
            </a:r>
            <a:r>
              <a:rPr dirty="0" sz="3250" spc="200">
                <a:solidFill>
                  <a:srgbClr val="FF0066"/>
                </a:solidFill>
                <a:latin typeface="Times New Roman"/>
                <a:cs typeface="Times New Roman"/>
              </a:rPr>
              <a:t>-1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400" b="1">
                <a:solidFill>
                  <a:srgbClr val="660033"/>
                </a:solidFill>
                <a:latin typeface="新宋体"/>
                <a:cs typeface="新宋体"/>
              </a:rPr>
              <a:t>结论：</a:t>
            </a:r>
            <a:r>
              <a:rPr dirty="0" sz="3200" b="1">
                <a:latin typeface="新宋体"/>
                <a:cs typeface="新宋体"/>
              </a:rPr>
              <a:t>一种元素的某种原子核只能发生一种</a:t>
            </a:r>
            <a:r>
              <a:rPr dirty="0" sz="3200" spc="-10" b="1">
                <a:latin typeface="新宋体"/>
                <a:cs typeface="新宋体"/>
              </a:rPr>
              <a:t>衰</a:t>
            </a:r>
            <a:endParaRPr sz="3200">
              <a:latin typeface="新宋体"/>
              <a:cs typeface="新宋体"/>
            </a:endParaRPr>
          </a:p>
          <a:p>
            <a:pPr marL="12700" marR="56515">
              <a:lnSpc>
                <a:spcPct val="150000"/>
              </a:lnSpc>
              <a:spcBef>
                <a:spcPts val="195"/>
              </a:spcBef>
            </a:pPr>
            <a:r>
              <a:rPr dirty="0" sz="3200" b="1">
                <a:latin typeface="新宋体"/>
                <a:cs typeface="新宋体"/>
              </a:rPr>
              <a:t>变，但在一个放射性物质中可以同时放出α、</a:t>
            </a:r>
            <a:r>
              <a:rPr dirty="0" sz="3200" spc="-10" b="1">
                <a:latin typeface="新宋体"/>
                <a:cs typeface="新宋体"/>
              </a:rPr>
              <a:t>β </a:t>
            </a:r>
            <a:r>
              <a:rPr dirty="0" sz="3200" b="1">
                <a:latin typeface="新宋体"/>
                <a:cs typeface="新宋体"/>
              </a:rPr>
              <a:t>和γ三种射线</a:t>
            </a:r>
            <a:r>
              <a:rPr dirty="0" sz="3200" spc="-10" b="1">
                <a:latin typeface="新宋体"/>
                <a:cs typeface="新宋体"/>
              </a:rPr>
              <a:t>。</a:t>
            </a:r>
            <a:endParaRPr sz="32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94804"/>
            <a:ext cx="183896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1075">
                <a:solidFill>
                  <a:srgbClr val="000000"/>
                </a:solidFill>
                <a:latin typeface="华文琥珀"/>
                <a:cs typeface="华文琥珀"/>
              </a:rPr>
              <a:t>思</a:t>
            </a:r>
            <a:r>
              <a:rPr dirty="0" sz="4400">
                <a:solidFill>
                  <a:srgbClr val="000000"/>
                </a:solidFill>
                <a:latin typeface="华文琥珀"/>
                <a:cs typeface="华文琥珀"/>
              </a:rPr>
              <a:t>考</a:t>
            </a:r>
            <a:r>
              <a:rPr dirty="0" sz="4400" spc="5">
                <a:solidFill>
                  <a:srgbClr val="000000"/>
                </a:solidFill>
                <a:latin typeface="华文琥珀"/>
                <a:cs typeface="华文琥珀"/>
              </a:rPr>
              <a:t>：</a:t>
            </a:r>
            <a:endParaRPr sz="44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5703" y="1781581"/>
            <a:ext cx="368300" cy="56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238</a:t>
            </a:r>
            <a:endParaRPr sz="1800">
              <a:latin typeface="Times New Roman"/>
              <a:cs typeface="Times New Roman"/>
            </a:endParaRPr>
          </a:p>
          <a:p>
            <a:pPr marL="67945">
              <a:lnSpc>
                <a:spcPts val="2115"/>
              </a:lnSpc>
            </a:pPr>
            <a:r>
              <a:rPr dirty="0" sz="1800" b="1">
                <a:latin typeface="Times New Roman"/>
                <a:cs typeface="Times New Roman"/>
              </a:rPr>
              <a:t>92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8072" y="1791220"/>
            <a:ext cx="9072245" cy="1218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latin typeface="Times New Roman"/>
                <a:cs typeface="Times New Roman"/>
              </a:rPr>
              <a:t>U</a:t>
            </a:r>
            <a:r>
              <a:rPr dirty="0" sz="4000" spc="-5" b="1">
                <a:latin typeface="黑体"/>
                <a:cs typeface="黑体"/>
              </a:rPr>
              <a:t>(</a:t>
            </a:r>
            <a:r>
              <a:rPr dirty="0" sz="4000" b="1">
                <a:latin typeface="黑体"/>
                <a:cs typeface="黑体"/>
              </a:rPr>
              <a:t>铀)要经过几次α衰变和β衰变</a:t>
            </a:r>
            <a:r>
              <a:rPr dirty="0" sz="4000" spc="5" b="1">
                <a:latin typeface="黑体"/>
                <a:cs typeface="黑体"/>
              </a:rPr>
              <a:t>，才</a:t>
            </a:r>
            <a:r>
              <a:rPr dirty="0" sz="4000" spc="-25" b="1">
                <a:latin typeface="黑体"/>
                <a:cs typeface="黑体"/>
              </a:rPr>
              <a:t>能</a:t>
            </a:r>
            <a:endParaRPr sz="4000">
              <a:latin typeface="黑体"/>
              <a:cs typeface="黑体"/>
            </a:endParaRPr>
          </a:p>
          <a:p>
            <a:pPr marL="99060">
              <a:lnSpc>
                <a:spcPct val="100000"/>
              </a:lnSpc>
              <a:spcBef>
                <a:spcPts val="2435"/>
              </a:spcBef>
            </a:pPr>
            <a:r>
              <a:rPr dirty="0" sz="1800" b="1">
                <a:latin typeface="Times New Roman"/>
                <a:cs typeface="Times New Roman"/>
              </a:rPr>
              <a:t>206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372" y="2705620"/>
            <a:ext cx="955611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37005" algn="l"/>
                <a:tab pos="1802764" algn="l"/>
              </a:tabLst>
            </a:pPr>
            <a:r>
              <a:rPr dirty="0" sz="4000" b="1">
                <a:latin typeface="黑体"/>
                <a:cs typeface="黑体"/>
              </a:rPr>
              <a:t>变</a:t>
            </a:r>
            <a:r>
              <a:rPr dirty="0" sz="4000" spc="-25" b="1">
                <a:latin typeface="黑体"/>
                <a:cs typeface="黑体"/>
              </a:rPr>
              <a:t>为	</a:t>
            </a:r>
            <a:r>
              <a:rPr dirty="0" baseline="3086" sz="2700" b="1">
                <a:latin typeface="Times New Roman"/>
                <a:cs typeface="Times New Roman"/>
              </a:rPr>
              <a:t>82	</a:t>
            </a:r>
            <a:r>
              <a:rPr dirty="0" sz="4000" spc="-5" b="1">
                <a:latin typeface="Times New Roman"/>
                <a:cs typeface="Times New Roman"/>
              </a:rPr>
              <a:t>Pb</a:t>
            </a:r>
            <a:r>
              <a:rPr dirty="0" sz="4000" spc="-5" b="1">
                <a:latin typeface="黑体"/>
                <a:cs typeface="黑体"/>
              </a:rPr>
              <a:t>(</a:t>
            </a:r>
            <a:r>
              <a:rPr dirty="0" sz="4000" b="1">
                <a:latin typeface="黑体"/>
                <a:cs typeface="黑体"/>
              </a:rPr>
              <a:t>铅)？它的中子数减少了多少</a:t>
            </a:r>
            <a:r>
              <a:rPr dirty="0" sz="4000" spc="-25" b="1">
                <a:latin typeface="黑体"/>
                <a:cs typeface="黑体"/>
              </a:rPr>
              <a:t>？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9717" y="3626708"/>
            <a:ext cx="8039734" cy="1821180"/>
          </a:xfrm>
          <a:prstGeom prst="rect">
            <a:avLst/>
          </a:prstGeom>
        </p:spPr>
        <p:txBody>
          <a:bodyPr wrap="square" lIns="0" tIns="381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dirty="0" sz="4400" b="1">
                <a:solidFill>
                  <a:srgbClr val="660033"/>
                </a:solidFill>
                <a:latin typeface="新宋体"/>
                <a:cs typeface="新宋体"/>
              </a:rPr>
              <a:t>提示：</a:t>
            </a:r>
            <a:r>
              <a:rPr dirty="0" sz="3200" b="1">
                <a:solidFill>
                  <a:srgbClr val="660066"/>
                </a:solidFill>
                <a:latin typeface="新宋体"/>
                <a:cs typeface="新宋体"/>
              </a:rPr>
              <a:t>β衰变不改变质量数,核电核数增</a:t>
            </a:r>
            <a:r>
              <a:rPr dirty="0" sz="3200" spc="-5" b="1">
                <a:solidFill>
                  <a:srgbClr val="660066"/>
                </a:solidFill>
                <a:latin typeface="新宋体"/>
                <a:cs typeface="新宋体"/>
              </a:rPr>
              <a:t>1;</a:t>
            </a:r>
            <a:endParaRPr sz="3200">
              <a:latin typeface="新宋体"/>
              <a:cs typeface="新宋体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3200" b="1">
                <a:solidFill>
                  <a:srgbClr val="660066"/>
                </a:solidFill>
                <a:latin typeface="新宋体"/>
                <a:cs typeface="新宋体"/>
              </a:rPr>
              <a:t>        </a:t>
            </a:r>
            <a:r>
              <a:rPr dirty="0" sz="3200" b="1">
                <a:solidFill>
                  <a:srgbClr val="660066"/>
                </a:solidFill>
                <a:latin typeface="新宋体"/>
                <a:cs typeface="新宋体"/>
              </a:rPr>
              <a:t>α衰变质量数减4,核电核数减2</a:t>
            </a:r>
            <a:r>
              <a:rPr dirty="0" sz="3200" spc="-10" b="1">
                <a:solidFill>
                  <a:srgbClr val="660066"/>
                </a:solidFill>
                <a:latin typeface="新宋体"/>
                <a:cs typeface="新宋体"/>
              </a:rPr>
              <a:t>。</a:t>
            </a:r>
            <a:endParaRPr sz="32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39310" y="1611134"/>
            <a:ext cx="339852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3095" algn="l"/>
                <a:tab pos="2792095" algn="l"/>
              </a:tabLst>
            </a:pPr>
            <a:r>
              <a:rPr dirty="0" sz="4000" spc="-5" b="1">
                <a:latin typeface="Times New Roman"/>
                <a:cs typeface="Times New Roman"/>
              </a:rPr>
              <a:t>U</a:t>
            </a:r>
            <a:r>
              <a:rPr dirty="0" sz="4000" spc="-5" b="1">
                <a:latin typeface="Times New Roman"/>
                <a:cs typeface="Times New Roman"/>
              </a:rPr>
              <a:t>	</a:t>
            </a:r>
            <a:r>
              <a:rPr dirty="0" sz="4000" b="1">
                <a:latin typeface="Times New Roman"/>
                <a:cs typeface="Times New Roman"/>
              </a:rPr>
              <a:t>→…</a:t>
            </a:r>
            <a:r>
              <a:rPr dirty="0" sz="4000" spc="-5" b="1">
                <a:latin typeface="Times New Roman"/>
                <a:cs typeface="Times New Roman"/>
              </a:rPr>
              <a:t>→</a:t>
            </a:r>
            <a:r>
              <a:rPr dirty="0" sz="4000" b="1">
                <a:latin typeface="Times New Roman"/>
                <a:cs typeface="Times New Roman"/>
              </a:rPr>
              <a:t>	</a:t>
            </a:r>
            <a:r>
              <a:rPr dirty="0" sz="4000" spc="-5" b="1">
                <a:latin typeface="Times New Roman"/>
                <a:cs typeface="Times New Roman"/>
              </a:rPr>
              <a:t>Pb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1519" y="1601508"/>
            <a:ext cx="368300" cy="56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238</a:t>
            </a:r>
            <a:endParaRPr sz="1800">
              <a:latin typeface="Times New Roman"/>
              <a:cs typeface="Times New Roman"/>
            </a:endParaRPr>
          </a:p>
          <a:p>
            <a:pPr marL="67945">
              <a:lnSpc>
                <a:spcPts val="2115"/>
              </a:lnSpc>
            </a:pPr>
            <a:r>
              <a:rPr dirty="0" sz="1800" b="1">
                <a:latin typeface="Times New Roman"/>
                <a:cs typeface="Times New Roman"/>
              </a:rPr>
              <a:t>92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4719" y="1615351"/>
            <a:ext cx="368300" cy="56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206</a:t>
            </a:r>
            <a:endParaRPr sz="1800">
              <a:latin typeface="Times New Roman"/>
              <a:cs typeface="Times New Roman"/>
            </a:endParaRPr>
          </a:p>
          <a:p>
            <a:pPr marL="67945">
              <a:lnSpc>
                <a:spcPts val="2115"/>
              </a:lnSpc>
            </a:pPr>
            <a:r>
              <a:rPr dirty="0" sz="1800" b="1">
                <a:latin typeface="Times New Roman"/>
                <a:cs typeface="Times New Roman"/>
              </a:rPr>
              <a:t>82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7714" y="2979496"/>
            <a:ext cx="123189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15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97775" y="3014573"/>
            <a:ext cx="19367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Times New Roman"/>
                <a:cs typeface="Times New Roman"/>
              </a:rPr>
              <a:t>4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6468" y="2537180"/>
            <a:ext cx="254762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7355" algn="l"/>
              </a:tabLst>
            </a:pPr>
            <a:r>
              <a:rPr dirty="0" baseline="-35639" sz="3975" i="1">
                <a:latin typeface="Times New Roman"/>
                <a:cs typeface="Times New Roman"/>
              </a:rPr>
              <a:t>N	</a:t>
            </a:r>
            <a:r>
              <a:rPr dirty="0" baseline="-35639" sz="3975">
                <a:latin typeface="Symbol"/>
                <a:cs typeface="Symbol"/>
              </a:rPr>
              <a:t></a:t>
            </a:r>
            <a:r>
              <a:rPr dirty="0" baseline="-35639" sz="3975">
                <a:latin typeface="Times New Roman"/>
                <a:cs typeface="Times New Roman"/>
              </a:rPr>
              <a:t> </a:t>
            </a:r>
            <a:r>
              <a:rPr dirty="0" u="heavy" sz="26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238 </a:t>
            </a:r>
            <a:r>
              <a:rPr dirty="0" u="heavy" sz="265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heavy" sz="26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206</a:t>
            </a:r>
            <a:r>
              <a:rPr dirty="0" sz="2650">
                <a:latin typeface="Times New Roman"/>
                <a:cs typeface="Times New Roman"/>
              </a:rPr>
              <a:t> </a:t>
            </a:r>
            <a:r>
              <a:rPr dirty="0" baseline="-35639" sz="3975">
                <a:latin typeface="Symbol"/>
                <a:cs typeface="Symbol"/>
              </a:rPr>
              <a:t></a:t>
            </a:r>
            <a:r>
              <a:rPr dirty="0" baseline="-35639" sz="3975" spc="-719">
                <a:latin typeface="Times New Roman"/>
                <a:cs typeface="Times New Roman"/>
              </a:rPr>
              <a:t> </a:t>
            </a:r>
            <a:r>
              <a:rPr dirty="0" baseline="-35639" sz="3975">
                <a:latin typeface="Times New Roman"/>
                <a:cs typeface="Times New Roman"/>
              </a:rPr>
              <a:t>8</a:t>
            </a:r>
            <a:endParaRPr baseline="-35639" sz="39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6069" y="2437688"/>
            <a:ext cx="2274570" cy="1577340"/>
          </a:xfrm>
          <a:prstGeom prst="rect">
            <a:avLst/>
          </a:prstGeom>
        </p:spPr>
        <p:txBody>
          <a:bodyPr wrap="square" lIns="0" tIns="300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65"/>
              </a:spcBef>
            </a:pPr>
            <a:r>
              <a:rPr dirty="0" sz="3200" spc="-5" b="1">
                <a:latin typeface="华文楷体"/>
                <a:cs typeface="华文楷体"/>
              </a:rPr>
              <a:t>α</a:t>
            </a:r>
            <a:r>
              <a:rPr dirty="0" sz="3200" b="1">
                <a:latin typeface="华文楷体"/>
                <a:cs typeface="华文楷体"/>
              </a:rPr>
              <a:t>衰变次数：</a:t>
            </a:r>
            <a:endParaRPr sz="3200">
              <a:latin typeface="华文楷体"/>
              <a:cs typeface="华文楷体"/>
            </a:endParaRPr>
          </a:p>
          <a:p>
            <a:pPr marL="26034">
              <a:lnSpc>
                <a:spcPct val="100000"/>
              </a:lnSpc>
              <a:spcBef>
                <a:spcPts val="2270"/>
              </a:spcBef>
            </a:pPr>
            <a:r>
              <a:rPr dirty="0" sz="3200" spc="-5" b="1">
                <a:latin typeface="华文楷体"/>
                <a:cs typeface="华文楷体"/>
              </a:rPr>
              <a:t>β</a:t>
            </a:r>
            <a:r>
              <a:rPr dirty="0" sz="3200" b="1">
                <a:latin typeface="华文楷体"/>
                <a:cs typeface="华文楷体"/>
              </a:rPr>
              <a:t>衰变次数：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4464" y="3525748"/>
            <a:ext cx="330009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80" i="1">
                <a:latin typeface="Times New Roman"/>
                <a:cs typeface="Times New Roman"/>
              </a:rPr>
              <a:t>N</a:t>
            </a:r>
            <a:r>
              <a:rPr dirty="0" baseline="-25925" sz="2250" spc="120">
                <a:latin typeface="Times New Roman"/>
                <a:cs typeface="Times New Roman"/>
              </a:rPr>
              <a:t>2</a:t>
            </a:r>
            <a:r>
              <a:rPr dirty="0" baseline="-25925" sz="2250" spc="705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200">
                <a:latin typeface="Times New Roman"/>
                <a:cs typeface="Times New Roman"/>
              </a:rPr>
              <a:t> </a:t>
            </a:r>
            <a:r>
              <a:rPr dirty="0" sz="2650" spc="110">
                <a:latin typeface="Times New Roman"/>
                <a:cs typeface="Times New Roman"/>
              </a:rPr>
              <a:t>8</a:t>
            </a:r>
            <a:r>
              <a:rPr dirty="0" sz="2650" spc="110">
                <a:latin typeface="Symbol"/>
                <a:cs typeface="Symbol"/>
              </a:rPr>
              <a:t></a:t>
            </a:r>
            <a:r>
              <a:rPr dirty="0" sz="2650" spc="-325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2</a:t>
            </a:r>
            <a:r>
              <a:rPr dirty="0" sz="2650" spc="-280">
                <a:latin typeface="Times New Roman"/>
                <a:cs typeface="Times New Roman"/>
              </a:rPr>
              <a:t> </a:t>
            </a:r>
            <a:r>
              <a:rPr dirty="0" sz="2650" spc="-330">
                <a:latin typeface="Symbol"/>
                <a:cs typeface="Symbol"/>
              </a:rPr>
              <a:t></a:t>
            </a:r>
            <a:r>
              <a:rPr dirty="0" sz="2650" spc="-330">
                <a:latin typeface="宋体"/>
                <a:cs typeface="宋体"/>
              </a:rPr>
              <a:t>（</a:t>
            </a:r>
            <a:r>
              <a:rPr dirty="0" sz="2650" spc="-330">
                <a:latin typeface="Times New Roman"/>
                <a:cs typeface="Times New Roman"/>
              </a:rPr>
              <a:t>92</a:t>
            </a:r>
            <a:r>
              <a:rPr dirty="0" sz="2650" spc="-275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</a:t>
            </a:r>
            <a:r>
              <a:rPr dirty="0" sz="2650" spc="-370">
                <a:latin typeface="Times New Roman"/>
                <a:cs typeface="Times New Roman"/>
              </a:rPr>
              <a:t> </a:t>
            </a:r>
            <a:r>
              <a:rPr dirty="0" sz="2650" spc="-275">
                <a:latin typeface="Times New Roman"/>
                <a:cs typeface="Times New Roman"/>
              </a:rPr>
              <a:t>82</a:t>
            </a:r>
            <a:r>
              <a:rPr dirty="0" sz="2650" spc="-275">
                <a:latin typeface="宋体"/>
                <a:cs typeface="宋体"/>
              </a:rPr>
              <a:t>）</a:t>
            </a:r>
            <a:r>
              <a:rPr dirty="0" sz="2650" spc="-275">
                <a:latin typeface="Symbol"/>
                <a:cs typeface="Symbol"/>
              </a:rPr>
              <a:t></a:t>
            </a:r>
            <a:r>
              <a:rPr dirty="0" sz="2650" spc="-120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6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6790" y="4387646"/>
            <a:ext cx="2874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减少的中子数：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6365" y="4440148"/>
            <a:ext cx="244602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55" i="1">
                <a:latin typeface="Times New Roman"/>
                <a:cs typeface="Times New Roman"/>
              </a:rPr>
              <a:t>N</a:t>
            </a:r>
            <a:r>
              <a:rPr dirty="0" baseline="-25925" sz="2250" spc="82">
                <a:latin typeface="Times New Roman"/>
                <a:cs typeface="Times New Roman"/>
              </a:rPr>
              <a:t>3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110">
                <a:latin typeface="Times New Roman"/>
                <a:cs typeface="Times New Roman"/>
              </a:rPr>
              <a:t>8</a:t>
            </a:r>
            <a:r>
              <a:rPr dirty="0" sz="2650" spc="110">
                <a:latin typeface="Symbol"/>
                <a:cs typeface="Symbol"/>
              </a:rPr>
              <a:t></a:t>
            </a:r>
            <a:r>
              <a:rPr dirty="0" sz="2650" spc="110">
                <a:latin typeface="Times New Roman"/>
                <a:cs typeface="Times New Roman"/>
              </a:rPr>
              <a:t> </a:t>
            </a:r>
            <a:r>
              <a:rPr dirty="0" sz="2650" spc="30">
                <a:latin typeface="Times New Roman"/>
                <a:cs typeface="Times New Roman"/>
              </a:rPr>
              <a:t>2+ </a:t>
            </a:r>
            <a:r>
              <a:rPr dirty="0" sz="2650" spc="15">
                <a:latin typeface="Times New Roman"/>
                <a:cs typeface="Times New Roman"/>
              </a:rPr>
              <a:t>6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434">
                <a:latin typeface="Times New Roman"/>
                <a:cs typeface="Times New Roman"/>
              </a:rPr>
              <a:t> </a:t>
            </a:r>
            <a:r>
              <a:rPr dirty="0" sz="2650" spc="5">
                <a:latin typeface="Times New Roman"/>
                <a:cs typeface="Times New Roman"/>
              </a:rPr>
              <a:t>22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41856" y="948918"/>
            <a:ext cx="181038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660033"/>
                </a:solidFill>
                <a:latin typeface="新宋体"/>
                <a:cs typeface="新宋体"/>
              </a:rPr>
              <a:t>解</a:t>
            </a:r>
            <a:r>
              <a:rPr dirty="0" sz="4000" spc="-85" b="1">
                <a:solidFill>
                  <a:srgbClr val="660033"/>
                </a:solidFill>
                <a:latin typeface="新宋体"/>
                <a:cs typeface="新宋体"/>
              </a:rPr>
              <a:t> </a:t>
            </a:r>
            <a:r>
              <a:rPr dirty="0" sz="4000" b="1">
                <a:solidFill>
                  <a:srgbClr val="660033"/>
                </a:solidFill>
                <a:latin typeface="新宋体"/>
                <a:cs typeface="新宋体"/>
              </a:rPr>
              <a:t>析</a:t>
            </a:r>
            <a:r>
              <a:rPr dirty="0" sz="4000" spc="-25" b="1">
                <a:solidFill>
                  <a:srgbClr val="660033"/>
                </a:solidFill>
                <a:latin typeface="新宋体"/>
                <a:cs typeface="新宋体"/>
              </a:rPr>
              <a:t>：</a:t>
            </a:r>
            <a:endParaRPr sz="40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061" y="542429"/>
            <a:ext cx="283019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660066"/>
                </a:solidFill>
                <a:latin typeface="黑体"/>
                <a:cs typeface="黑体"/>
              </a:rPr>
              <a:t>有趣的现</a:t>
            </a:r>
            <a:r>
              <a:rPr dirty="0" sz="4400" spc="-15" b="1">
                <a:solidFill>
                  <a:srgbClr val="660066"/>
                </a:solidFill>
                <a:latin typeface="黑体"/>
                <a:cs typeface="黑体"/>
              </a:rPr>
              <a:t>象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11089" y="1610068"/>
            <a:ext cx="3564254" cy="6413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">
              <a:lnSpc>
                <a:spcPts val="3279"/>
              </a:lnSpc>
              <a:spcBef>
                <a:spcPts val="130"/>
              </a:spcBef>
              <a:tabLst>
                <a:tab pos="2115185" algn="l"/>
              </a:tabLst>
            </a:pPr>
            <a:r>
              <a:rPr dirty="0" baseline="42005" sz="3075" spc="7">
                <a:solidFill>
                  <a:srgbClr val="FF0066"/>
                </a:solidFill>
                <a:latin typeface="Times New Roman"/>
                <a:cs typeface="Times New Roman"/>
              </a:rPr>
              <a:t>222</a:t>
            </a:r>
            <a:r>
              <a:rPr dirty="0" baseline="42005" sz="3075" spc="-104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sz="3500" spc="60">
                <a:solidFill>
                  <a:srgbClr val="FF0066"/>
                </a:solidFill>
                <a:latin typeface="Times New Roman"/>
                <a:cs typeface="Times New Roman"/>
              </a:rPr>
              <a:t>R</a:t>
            </a:r>
            <a:r>
              <a:rPr dirty="0" sz="3500" spc="35">
                <a:solidFill>
                  <a:srgbClr val="FF0066"/>
                </a:solidFill>
                <a:latin typeface="Times New Roman"/>
                <a:cs typeface="Times New Roman"/>
              </a:rPr>
              <a:t>n</a:t>
            </a:r>
            <a:r>
              <a:rPr dirty="0" sz="3500" spc="-5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sz="3500" spc="175">
                <a:solidFill>
                  <a:srgbClr val="FF0066"/>
                </a:solidFill>
                <a:latin typeface="Symbol"/>
                <a:cs typeface="Symbol"/>
              </a:rPr>
              <a:t></a:t>
            </a:r>
            <a:r>
              <a:rPr dirty="0" baseline="42005" sz="3075" spc="7">
                <a:solidFill>
                  <a:srgbClr val="FF0066"/>
                </a:solidFill>
                <a:latin typeface="Times New Roman"/>
                <a:cs typeface="Times New Roman"/>
              </a:rPr>
              <a:t>218</a:t>
            </a:r>
            <a:r>
              <a:rPr dirty="0" baseline="42005" sz="3075">
                <a:solidFill>
                  <a:srgbClr val="FF0066"/>
                </a:solidFill>
                <a:latin typeface="Times New Roman"/>
                <a:cs typeface="Times New Roman"/>
              </a:rPr>
              <a:t>	</a:t>
            </a:r>
            <a:r>
              <a:rPr dirty="0" sz="3500" spc="55">
                <a:solidFill>
                  <a:srgbClr val="FF0066"/>
                </a:solidFill>
                <a:latin typeface="Times New Roman"/>
                <a:cs typeface="Times New Roman"/>
              </a:rPr>
              <a:t>P</a:t>
            </a:r>
            <a:r>
              <a:rPr dirty="0" sz="3500" spc="35">
                <a:solidFill>
                  <a:srgbClr val="FF0066"/>
                </a:solidFill>
                <a:latin typeface="Times New Roman"/>
                <a:cs typeface="Times New Roman"/>
              </a:rPr>
              <a:t>o</a:t>
            </a:r>
            <a:r>
              <a:rPr dirty="0" sz="3500" spc="185">
                <a:solidFill>
                  <a:srgbClr val="FF0066"/>
                </a:solidFill>
                <a:latin typeface="Times New Roman"/>
                <a:cs typeface="Times New Roman"/>
              </a:rPr>
              <a:t>+</a:t>
            </a:r>
            <a:r>
              <a:rPr dirty="0" baseline="42005" sz="3075" spc="247">
                <a:solidFill>
                  <a:srgbClr val="FF0066"/>
                </a:solidFill>
                <a:latin typeface="Times New Roman"/>
                <a:cs typeface="Times New Roman"/>
              </a:rPr>
              <a:t>4</a:t>
            </a:r>
            <a:r>
              <a:rPr dirty="0" sz="3500" spc="35">
                <a:solidFill>
                  <a:srgbClr val="FF0066"/>
                </a:solidFill>
                <a:latin typeface="Times New Roman"/>
                <a:cs typeface="Times New Roman"/>
              </a:rPr>
              <a:t>H</a:t>
            </a:r>
            <a:r>
              <a:rPr dirty="0" sz="3500" spc="30">
                <a:solidFill>
                  <a:srgbClr val="FF0066"/>
                </a:solidFill>
                <a:latin typeface="Times New Roman"/>
                <a:cs typeface="Times New Roman"/>
              </a:rPr>
              <a:t>e</a:t>
            </a: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ts val="1540"/>
              </a:lnSpc>
              <a:tabLst>
                <a:tab pos="1565275" algn="l"/>
                <a:tab pos="2871470" algn="l"/>
              </a:tabLst>
            </a:pPr>
            <a:r>
              <a:rPr dirty="0" sz="2050" spc="5">
                <a:solidFill>
                  <a:srgbClr val="FF0066"/>
                </a:solidFill>
                <a:latin typeface="Times New Roman"/>
                <a:cs typeface="Times New Roman"/>
              </a:rPr>
              <a:t>86	84	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0061" y="1619770"/>
            <a:ext cx="3909695" cy="141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华文楷体"/>
                <a:cs typeface="华文楷体"/>
              </a:rPr>
              <a:t>氡222能发生α衰</a:t>
            </a:r>
            <a:r>
              <a:rPr dirty="0" sz="3600" spc="-5" b="1">
                <a:latin typeface="华文楷体"/>
                <a:cs typeface="华文楷体"/>
              </a:rPr>
              <a:t>变</a:t>
            </a:r>
            <a:endParaRPr sz="3600">
              <a:latin typeface="华文楷体"/>
              <a:cs typeface="华文楷体"/>
            </a:endParaRPr>
          </a:p>
          <a:p>
            <a:pPr marL="434975">
              <a:lnSpc>
                <a:spcPct val="100000"/>
              </a:lnSpc>
              <a:spcBef>
                <a:spcPts val="3640"/>
              </a:spcBef>
            </a:pPr>
            <a:r>
              <a:rPr dirty="0" sz="2500" b="1">
                <a:latin typeface="华文楷体"/>
                <a:cs typeface="华文楷体"/>
              </a:rPr>
              <a:t>研究发现，1摩尔氡</a:t>
            </a:r>
            <a:r>
              <a:rPr dirty="0" sz="2500" spc="-5" b="1">
                <a:latin typeface="华文楷体"/>
                <a:cs typeface="华文楷体"/>
              </a:rPr>
              <a:t>222，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2628" y="3330231"/>
            <a:ext cx="4352925" cy="2501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华文楷体"/>
                <a:cs typeface="华文楷体"/>
              </a:rPr>
              <a:t>经过3.8天，还剩下1/2摩尔</a:t>
            </a:r>
            <a:r>
              <a:rPr dirty="0" sz="2500" spc="-10" b="1">
                <a:latin typeface="华文楷体"/>
                <a:cs typeface="华文楷体"/>
              </a:rPr>
              <a:t>，</a:t>
            </a:r>
            <a:endParaRPr sz="2500">
              <a:latin typeface="华文楷体"/>
              <a:cs typeface="华文楷体"/>
            </a:endParaRPr>
          </a:p>
          <a:p>
            <a:pPr marL="12700" marR="5080">
              <a:lnSpc>
                <a:spcPct val="183300"/>
              </a:lnSpc>
            </a:pPr>
            <a:r>
              <a:rPr dirty="0" sz="2500" b="1">
                <a:latin typeface="华文楷体"/>
                <a:cs typeface="华文楷体"/>
              </a:rPr>
              <a:t>再经过</a:t>
            </a:r>
            <a:r>
              <a:rPr dirty="0" sz="2500" b="1">
                <a:latin typeface="华文楷体"/>
                <a:cs typeface="华文楷体"/>
              </a:rPr>
              <a:t>3</a:t>
            </a:r>
            <a:r>
              <a:rPr dirty="0" sz="2500" b="1">
                <a:latin typeface="华文楷体"/>
                <a:cs typeface="华文楷体"/>
              </a:rPr>
              <a:t>.</a:t>
            </a:r>
            <a:r>
              <a:rPr dirty="0" sz="2500" b="1">
                <a:latin typeface="华文楷体"/>
                <a:cs typeface="华文楷体"/>
              </a:rPr>
              <a:t>8</a:t>
            </a:r>
            <a:r>
              <a:rPr dirty="0" sz="2500" b="1">
                <a:latin typeface="华文楷体"/>
                <a:cs typeface="华文楷体"/>
              </a:rPr>
              <a:t>天，还剩下</a:t>
            </a:r>
            <a:r>
              <a:rPr dirty="0" sz="2500" b="1">
                <a:latin typeface="华文楷体"/>
                <a:cs typeface="华文楷体"/>
              </a:rPr>
              <a:t>1</a:t>
            </a:r>
            <a:r>
              <a:rPr dirty="0" sz="2500" b="1">
                <a:latin typeface="华文楷体"/>
                <a:cs typeface="华文楷体"/>
              </a:rPr>
              <a:t>/</a:t>
            </a:r>
            <a:r>
              <a:rPr dirty="0" sz="2500" b="1">
                <a:latin typeface="华文楷体"/>
                <a:cs typeface="华文楷体"/>
              </a:rPr>
              <a:t>4</a:t>
            </a:r>
            <a:r>
              <a:rPr dirty="0" sz="2500" b="1">
                <a:latin typeface="华文楷体"/>
                <a:cs typeface="华文楷体"/>
              </a:rPr>
              <a:t>摩尔</a:t>
            </a:r>
            <a:r>
              <a:rPr dirty="0" sz="2500" spc="-5" b="1">
                <a:latin typeface="华文楷体"/>
                <a:cs typeface="华文楷体"/>
              </a:rPr>
              <a:t>， </a:t>
            </a:r>
            <a:r>
              <a:rPr dirty="0" sz="2500" b="1">
                <a:latin typeface="华文楷体"/>
                <a:cs typeface="华文楷体"/>
              </a:rPr>
              <a:t>再经过</a:t>
            </a:r>
            <a:r>
              <a:rPr dirty="0" sz="2500" b="1">
                <a:latin typeface="华文楷体"/>
                <a:cs typeface="华文楷体"/>
              </a:rPr>
              <a:t>3</a:t>
            </a:r>
            <a:r>
              <a:rPr dirty="0" sz="2500" b="1">
                <a:latin typeface="华文楷体"/>
                <a:cs typeface="华文楷体"/>
              </a:rPr>
              <a:t>.</a:t>
            </a:r>
            <a:r>
              <a:rPr dirty="0" sz="2500" b="1">
                <a:latin typeface="华文楷体"/>
                <a:cs typeface="华文楷体"/>
              </a:rPr>
              <a:t>8</a:t>
            </a:r>
            <a:r>
              <a:rPr dirty="0" sz="2500" b="1">
                <a:latin typeface="华文楷体"/>
                <a:cs typeface="华文楷体"/>
              </a:rPr>
              <a:t>天，还剩下</a:t>
            </a:r>
            <a:r>
              <a:rPr dirty="0" sz="2500" b="1">
                <a:latin typeface="华文楷体"/>
                <a:cs typeface="华文楷体"/>
              </a:rPr>
              <a:t>1</a:t>
            </a:r>
            <a:r>
              <a:rPr dirty="0" sz="2500" b="1">
                <a:latin typeface="华文楷体"/>
                <a:cs typeface="华文楷体"/>
              </a:rPr>
              <a:t>/</a:t>
            </a:r>
            <a:r>
              <a:rPr dirty="0" sz="2500" b="1">
                <a:latin typeface="华文楷体"/>
                <a:cs typeface="华文楷体"/>
              </a:rPr>
              <a:t>8</a:t>
            </a:r>
            <a:r>
              <a:rPr dirty="0" sz="2500" b="1">
                <a:latin typeface="华文楷体"/>
                <a:cs typeface="华文楷体"/>
              </a:rPr>
              <a:t>摩尔</a:t>
            </a:r>
            <a:r>
              <a:rPr dirty="0" sz="2500" spc="-10" b="1">
                <a:latin typeface="华文楷体"/>
                <a:cs typeface="华文楷体"/>
              </a:rPr>
              <a:t>，</a:t>
            </a:r>
            <a:endParaRPr sz="25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dirty="0" sz="2500" spc="-5" b="1">
                <a:latin typeface="华文楷体"/>
                <a:cs typeface="华文楷体"/>
              </a:rPr>
              <a:t>……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3625" y="2963265"/>
            <a:ext cx="307594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4000" b="1">
                <a:solidFill>
                  <a:srgbClr val="C00000"/>
                </a:solidFill>
                <a:latin typeface="华文楷体"/>
                <a:cs typeface="华文楷体"/>
              </a:rPr>
              <a:t>你能否总结</a:t>
            </a:r>
            <a:r>
              <a:rPr dirty="0" sz="4000" spc="-10" b="1">
                <a:solidFill>
                  <a:srgbClr val="C00000"/>
                </a:solidFill>
                <a:latin typeface="华文楷体"/>
                <a:cs typeface="华文楷体"/>
              </a:rPr>
              <a:t>出 </a:t>
            </a:r>
            <a:r>
              <a:rPr dirty="0" sz="4000" b="1">
                <a:solidFill>
                  <a:srgbClr val="C00000"/>
                </a:solidFill>
                <a:latin typeface="华文楷体"/>
                <a:cs typeface="华文楷体"/>
              </a:rPr>
              <a:t>其中的规律</a:t>
            </a:r>
            <a:r>
              <a:rPr dirty="0" sz="4000" spc="-10" b="1">
                <a:solidFill>
                  <a:srgbClr val="C00000"/>
                </a:solidFill>
                <a:latin typeface="华文楷体"/>
                <a:cs typeface="华文楷体"/>
              </a:rPr>
              <a:t>?</a:t>
            </a:r>
            <a:endParaRPr sz="4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9791" y="323710"/>
            <a:ext cx="283019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000000"/>
                </a:solidFill>
                <a:latin typeface="黑体"/>
                <a:cs typeface="黑体"/>
              </a:rPr>
              <a:t>二、半衰</a:t>
            </a:r>
            <a:r>
              <a:rPr dirty="0" sz="4400" spc="-15" b="1">
                <a:solidFill>
                  <a:srgbClr val="000000"/>
                </a:solidFill>
                <a:latin typeface="黑体"/>
                <a:cs typeface="黑体"/>
              </a:rPr>
              <a:t>期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6062" y="1326133"/>
            <a:ext cx="7656195" cy="2070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112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放射性元素的原子核有半数发生了衰变 </a:t>
            </a:r>
            <a:r>
              <a:rPr dirty="0" sz="3200" b="1">
                <a:latin typeface="华文楷体"/>
                <a:cs typeface="华文楷体"/>
              </a:rPr>
              <a:t>需要的时间</a:t>
            </a:r>
            <a:r>
              <a:rPr dirty="0" sz="3200" spc="-5" b="1" i="1">
                <a:latin typeface="Times New Roman"/>
                <a:cs typeface="Times New Roman"/>
              </a:rPr>
              <a:t>T</a:t>
            </a:r>
            <a:r>
              <a:rPr dirty="0" sz="3200" b="1">
                <a:latin typeface="华文楷体"/>
                <a:cs typeface="华文楷体"/>
              </a:rPr>
              <a:t>叫</a:t>
            </a:r>
            <a:r>
              <a:rPr dirty="0" sz="3200" b="1">
                <a:solidFill>
                  <a:srgbClr val="FF0066"/>
                </a:solidFill>
                <a:latin typeface="华文楷体"/>
                <a:cs typeface="华文楷体"/>
              </a:rPr>
              <a:t>半衰期</a:t>
            </a:r>
            <a:r>
              <a:rPr dirty="0" sz="3200" b="1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latin typeface="华文楷体"/>
                <a:cs typeface="华文楷体"/>
              </a:rPr>
              <a:t>设放射性物质的原有质量为</a:t>
            </a:r>
            <a:r>
              <a:rPr dirty="0" sz="3200" b="1" i="1">
                <a:latin typeface="Times New Roman"/>
                <a:cs typeface="Times New Roman"/>
              </a:rPr>
              <a:t>m</a:t>
            </a:r>
            <a:r>
              <a:rPr dirty="0" baseline="-21680" sz="3075" b="1">
                <a:latin typeface="Times New Roman"/>
                <a:cs typeface="Times New Roman"/>
              </a:rPr>
              <a:t>o</a:t>
            </a:r>
            <a:r>
              <a:rPr dirty="0" sz="3200" b="1">
                <a:latin typeface="华文楷体"/>
                <a:cs typeface="华文楷体"/>
              </a:rPr>
              <a:t>，则：</a:t>
            </a:r>
            <a:endParaRPr sz="3200">
              <a:latin typeface="华文楷体"/>
              <a:cs typeface="华文楷体"/>
            </a:endParaRPr>
          </a:p>
          <a:p>
            <a:pPr marL="330835">
              <a:lnSpc>
                <a:spcPct val="100000"/>
              </a:lnSpc>
              <a:spcBef>
                <a:spcPts val="735"/>
              </a:spcBef>
            </a:pPr>
            <a:r>
              <a:rPr dirty="0" sz="3200" b="1">
                <a:latin typeface="华文楷体"/>
                <a:cs typeface="华文楷体"/>
              </a:rPr>
              <a:t>经过一个半衰期，其剩余的质量为：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5324" y="4526813"/>
            <a:ext cx="653795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又经过一个半衰期，其剩余质量为：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9002" y="4076268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 h="0">
                <a:moveTo>
                  <a:pt x="0" y="0"/>
                </a:moveTo>
                <a:lnTo>
                  <a:pt x="232867" y="0"/>
                </a:lnTo>
              </a:path>
            </a:pathLst>
          </a:custGeom>
          <a:ln w="16065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10048" y="4076268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 h="0">
                <a:moveTo>
                  <a:pt x="0" y="0"/>
                </a:moveTo>
                <a:lnTo>
                  <a:pt x="232867" y="0"/>
                </a:lnTo>
              </a:path>
            </a:pathLst>
          </a:custGeom>
          <a:ln w="16065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23446" y="4076788"/>
            <a:ext cx="21844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15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2400" y="4076788"/>
            <a:ext cx="21844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15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6380" y="3532758"/>
            <a:ext cx="21844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15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0699" y="4038574"/>
            <a:ext cx="137795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5" b="1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5559" y="4038574"/>
            <a:ext cx="137795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5" b="1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6566" y="3801757"/>
            <a:ext cx="66548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4190" algn="l"/>
              </a:tabLst>
            </a:pPr>
            <a:r>
              <a:rPr dirty="0" sz="3000" spc="10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sz="3000" spc="1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000" spc="10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6566" y="4128985"/>
            <a:ext cx="66548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4190" algn="l"/>
              </a:tabLst>
            </a:pPr>
            <a:r>
              <a:rPr dirty="0" sz="3000" spc="10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3000" spc="1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000" spc="10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86566" y="3554831"/>
            <a:ext cx="7874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10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sz="3000" spc="1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2777" sz="4500" spc="22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baseline="2777" sz="4500" spc="-61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000" spc="45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65079" sz="2625" spc="67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baseline="65079" sz="26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0552" y="3781691"/>
            <a:ext cx="214122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45565" algn="l"/>
              </a:tabLst>
            </a:pPr>
            <a:r>
              <a:rPr dirty="0" sz="3000" spc="25" b="1" i="1">
                <a:solidFill>
                  <a:srgbClr val="FF3300"/>
                </a:solidFill>
                <a:latin typeface="Times New Roman"/>
                <a:cs typeface="Times New Roman"/>
              </a:rPr>
              <a:t>m	</a:t>
            </a:r>
            <a:r>
              <a:rPr dirty="0" sz="3000" spc="15" b="1" i="1">
                <a:solidFill>
                  <a:srgbClr val="FF3300"/>
                </a:solidFill>
                <a:latin typeface="Times New Roman"/>
                <a:cs typeface="Times New Roman"/>
              </a:rPr>
              <a:t>n </a:t>
            </a:r>
            <a:r>
              <a:rPr dirty="0" sz="3000" spc="15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sz="3000" spc="-31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000" spc="15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5412" y="3781691"/>
            <a:ext cx="7874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62610" algn="l"/>
              </a:tabLst>
            </a:pPr>
            <a:r>
              <a:rPr dirty="0" sz="3000" spc="25" b="1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3000" spc="25" b="1" i="1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000" spc="15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57676" y="5621616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 h="0">
                <a:moveTo>
                  <a:pt x="0" y="0"/>
                </a:moveTo>
                <a:lnTo>
                  <a:pt x="216750" y="0"/>
                </a:lnTo>
              </a:path>
            </a:pathLst>
          </a:custGeom>
          <a:ln w="14947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21073" y="5621616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 h="0">
                <a:moveTo>
                  <a:pt x="0" y="0"/>
                </a:moveTo>
                <a:lnTo>
                  <a:pt x="216750" y="0"/>
                </a:lnTo>
              </a:path>
            </a:pathLst>
          </a:custGeom>
          <a:ln w="14947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61723" y="5621616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 h="0">
                <a:moveTo>
                  <a:pt x="0" y="0"/>
                </a:moveTo>
                <a:lnTo>
                  <a:pt x="216750" y="0"/>
                </a:lnTo>
              </a:path>
            </a:pathLst>
          </a:custGeom>
          <a:ln w="14947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748326" y="5667387"/>
            <a:ext cx="1126490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6890" algn="l"/>
              </a:tabLst>
            </a:pPr>
            <a:r>
              <a:rPr dirty="0" sz="2850" spc="-5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r>
              <a:rPr dirty="0" sz="2850" spc="-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850" spc="-5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7797" sz="4275" spc="-7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r>
              <a:rPr dirty="0" baseline="7797" sz="4275" spc="-63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850" spc="-5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48326" y="5133162"/>
            <a:ext cx="125285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6890" algn="l"/>
              </a:tabLst>
            </a:pPr>
            <a:r>
              <a:rPr dirty="0" sz="2850" spc="-5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sz="2850" spc="-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850" spc="-5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2923" sz="4275" spc="-7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baseline="2923" sz="4275" spc="-637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850" spc="80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63973" sz="2475" spc="120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baseline="63973" sz="24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2184" y="5362918"/>
            <a:ext cx="16446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50" spc="-5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69271" y="5618822"/>
            <a:ext cx="669290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2 </a:t>
            </a:r>
            <a:r>
              <a:rPr dirty="0" baseline="-7797" sz="4275" spc="-7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baseline="-7797" sz="4275" spc="-569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63658" y="5112613"/>
            <a:ext cx="669290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1 </a:t>
            </a:r>
            <a:r>
              <a:rPr dirty="0" baseline="-2923" sz="4275" spc="-7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baseline="-2923" sz="4275" spc="-569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86783" y="5344236"/>
            <a:ext cx="3752850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6370" algn="l"/>
                <a:tab pos="1746250" algn="l"/>
                <a:tab pos="2987040" algn="l"/>
              </a:tabLst>
            </a:pPr>
            <a:r>
              <a:rPr dirty="0" sz="2850" spc="25" b="1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baseline="-23569" sz="2475" spc="37" b="1">
                <a:solidFill>
                  <a:srgbClr val="FF3300"/>
                </a:solidFill>
                <a:latin typeface="Times New Roman"/>
                <a:cs typeface="Times New Roman"/>
              </a:rPr>
              <a:t>0 </a:t>
            </a:r>
            <a:r>
              <a:rPr dirty="0" baseline="-2923" sz="4275" spc="-7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r>
              <a:rPr dirty="0" baseline="-2923" sz="4275" spc="7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850" spc="-10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sz="2850" spc="-6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2923" sz="4275" spc="-7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baseline="-2923" sz="4275" spc="-7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baseline="-2923" sz="4275" spc="-7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r>
              <a:rPr dirty="0" baseline="-2923" sz="4275" spc="-7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2850" spc="25" b="1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baseline="-23569" sz="2475" spc="37" b="1">
                <a:solidFill>
                  <a:srgbClr val="FF3300"/>
                </a:solidFill>
                <a:latin typeface="Times New Roman"/>
                <a:cs typeface="Times New Roman"/>
              </a:rPr>
              <a:t>0	</a:t>
            </a:r>
            <a:r>
              <a:rPr dirty="0" sz="2850" spc="-5" b="1" i="1">
                <a:solidFill>
                  <a:srgbClr val="FF3300"/>
                </a:solidFill>
                <a:latin typeface="Times New Roman"/>
                <a:cs typeface="Times New Roman"/>
              </a:rPr>
              <a:t>n </a:t>
            </a:r>
            <a:r>
              <a:rPr dirty="0" sz="2850" spc="-10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sz="2850" spc="-15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850" spc="-5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2438" y="1123695"/>
            <a:ext cx="66052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经过</a:t>
            </a:r>
            <a:r>
              <a:rPr dirty="0" sz="3200" spc="-5" b="1" i="1">
                <a:latin typeface="Times New Roman"/>
                <a:cs typeface="Times New Roman"/>
              </a:rPr>
              <a:t>n</a:t>
            </a:r>
            <a:r>
              <a:rPr dirty="0" sz="3200" b="1">
                <a:latin typeface="华文楷体"/>
                <a:cs typeface="华文楷体"/>
              </a:rPr>
              <a:t>个半衰期</a:t>
            </a:r>
            <a:r>
              <a:rPr dirty="0" sz="3200" spc="-5" b="1" i="1">
                <a:latin typeface="Times New Roman"/>
                <a:cs typeface="Times New Roman"/>
              </a:rPr>
              <a:t>T</a:t>
            </a:r>
            <a:r>
              <a:rPr dirty="0" sz="3200" spc="-5" b="1">
                <a:latin typeface="华文楷体"/>
                <a:cs typeface="华文楷体"/>
              </a:rPr>
              <a:t>，</a:t>
            </a:r>
            <a:r>
              <a:rPr dirty="0" sz="3200" b="1">
                <a:latin typeface="华文楷体"/>
                <a:cs typeface="华文楷体"/>
              </a:rPr>
              <a:t>其剩余的质量为：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6900" y="3428746"/>
            <a:ext cx="798512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质量与原子个数相对应，故经过</a:t>
            </a:r>
            <a:r>
              <a:rPr dirty="0" sz="3200" spc="-5" b="1" i="1">
                <a:latin typeface="Times New Roman"/>
                <a:cs typeface="Times New Roman"/>
              </a:rPr>
              <a:t>n</a:t>
            </a:r>
            <a:r>
              <a:rPr dirty="0" sz="3200" b="1">
                <a:latin typeface="华文楷体"/>
                <a:cs typeface="华文楷体"/>
              </a:rPr>
              <a:t>个半衰期后 </a:t>
            </a:r>
            <a:r>
              <a:rPr dirty="0" sz="3200" b="1">
                <a:latin typeface="华文楷体"/>
                <a:cs typeface="华文楷体"/>
              </a:rPr>
              <a:t>剩余的粒子数为：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0370" y="2609824"/>
            <a:ext cx="276860" cy="0"/>
          </a:xfrm>
          <a:custGeom>
            <a:avLst/>
            <a:gdLst/>
            <a:ahLst/>
            <a:cxnLst/>
            <a:rect l="l" t="t" r="r" b="b"/>
            <a:pathLst>
              <a:path w="276860" h="0">
                <a:moveTo>
                  <a:pt x="0" y="0"/>
                </a:moveTo>
                <a:lnTo>
                  <a:pt x="276707" y="0"/>
                </a:lnTo>
              </a:path>
            </a:pathLst>
          </a:custGeom>
          <a:ln w="19088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12870" y="2567165"/>
            <a:ext cx="1593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5591" y="1876272"/>
            <a:ext cx="17462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7200" y="2285466"/>
            <a:ext cx="786130" cy="90296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3445"/>
              </a:lnSpc>
              <a:spcBef>
                <a:spcPts val="110"/>
              </a:spcBef>
              <a:tabLst>
                <a:tab pos="584200" algn="l"/>
              </a:tabLst>
            </a:pP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sz="360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endParaRPr sz="3600">
              <a:latin typeface="Symbol"/>
              <a:cs typeface="Symbol"/>
            </a:endParaRPr>
          </a:p>
          <a:p>
            <a:pPr algn="ctr" marL="31750">
              <a:lnSpc>
                <a:spcPts val="3445"/>
              </a:lnSpc>
            </a:pPr>
            <a:r>
              <a:rPr dirty="0" sz="3600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7200" y="2674467"/>
            <a:ext cx="78613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96900" algn="l"/>
              </a:tabLst>
            </a:pP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360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9902" y="2261603"/>
            <a:ext cx="221678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46580" algn="l"/>
              </a:tabLst>
            </a:pPr>
            <a:r>
              <a:rPr dirty="0" sz="3600" spc="5" b="1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3600" spc="65" b="1" i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sz="3600" spc="-6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2407" sz="5400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baseline="32407" sz="5400" spc="-19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6265" sz="5400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baseline="36265" sz="5400" spc="-397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2407" sz="5400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32407" sz="540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600" spc="5" b="1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73106" y="5529643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5" h="0">
                <a:moveTo>
                  <a:pt x="0" y="0"/>
                </a:moveTo>
                <a:lnTo>
                  <a:pt x="296113" y="0"/>
                </a:lnTo>
              </a:path>
            </a:pathLst>
          </a:custGeom>
          <a:ln w="20408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55652" y="5529643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5" h="0">
                <a:moveTo>
                  <a:pt x="0" y="0"/>
                </a:moveTo>
                <a:lnTo>
                  <a:pt x="296113" y="0"/>
                </a:lnTo>
              </a:path>
            </a:pathLst>
          </a:custGeom>
          <a:ln w="20408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35115" y="4968557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 h="0">
                <a:moveTo>
                  <a:pt x="0" y="0"/>
                </a:moveTo>
                <a:lnTo>
                  <a:pt x="220802" y="0"/>
                </a:lnTo>
              </a:path>
            </a:pathLst>
          </a:custGeom>
          <a:ln w="1021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47381" y="5486222"/>
            <a:ext cx="167640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5" b="1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6972" y="5486222"/>
            <a:ext cx="167640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5" b="1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6232" y="4565535"/>
            <a:ext cx="104775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5" b="1" i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36033" y="4747882"/>
            <a:ext cx="184150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10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74918" y="5186108"/>
            <a:ext cx="838200" cy="9601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3685"/>
              </a:lnSpc>
              <a:spcBef>
                <a:spcPts val="90"/>
              </a:spcBef>
              <a:tabLst>
                <a:tab pos="624840" algn="l"/>
              </a:tabLst>
            </a:pP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sz="3850" spc="-1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endParaRPr sz="3850">
              <a:latin typeface="Symbol"/>
              <a:cs typeface="Symbol"/>
            </a:endParaRPr>
          </a:p>
          <a:p>
            <a:pPr algn="ctr" marL="33655">
              <a:lnSpc>
                <a:spcPts val="3685"/>
              </a:lnSpc>
            </a:pPr>
            <a:r>
              <a:rPr dirty="0" sz="3850" spc="-5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74918" y="5601830"/>
            <a:ext cx="838200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37540" algn="l"/>
              </a:tabLst>
            </a:pP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3850" spc="-1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38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92013" y="4872405"/>
            <a:ext cx="1936114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70990" algn="l"/>
              </a:tabLst>
            </a:pPr>
            <a:r>
              <a:rPr dirty="0" baseline="-32467" sz="5775" spc="-15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baseline="-32467" sz="5775" spc="-82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sz="3850" spc="-12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2886" sz="5775" spc="-7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baseline="2886" sz="5775" spc="-40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850" spc="270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20987" sz="3375" spc="-15" b="1" i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r>
              <a:rPr dirty="0" baseline="20987" sz="3375" b="1" i="1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baseline="-32467" sz="5775" spc="-15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endParaRPr baseline="-32467" sz="57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2372" y="5186108"/>
            <a:ext cx="838200" cy="9601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3685"/>
              </a:lnSpc>
              <a:spcBef>
                <a:spcPts val="90"/>
              </a:spcBef>
              <a:tabLst>
                <a:tab pos="624840" algn="l"/>
              </a:tabLst>
            </a:pP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sz="3850" spc="-1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endParaRPr sz="3850">
              <a:latin typeface="Symbol"/>
              <a:cs typeface="Symbol"/>
            </a:endParaRPr>
          </a:p>
          <a:p>
            <a:pPr algn="ctr" marL="33655">
              <a:lnSpc>
                <a:spcPts val="3685"/>
              </a:lnSpc>
            </a:pPr>
            <a:r>
              <a:rPr dirty="0" sz="3850" spc="-5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92372" y="5601830"/>
            <a:ext cx="838200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37540" algn="l"/>
              </a:tabLst>
            </a:pP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3850" spc="-1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38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81058" y="5160607"/>
            <a:ext cx="2386965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21205" algn="l"/>
              </a:tabLst>
            </a:pPr>
            <a:r>
              <a:rPr dirty="0" sz="3850" spc="-10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dirty="0" sz="3850" spc="425" b="1" i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850" spc="-10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sz="3850" spc="-5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2467" sz="5775" spc="-15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baseline="32467" sz="5775" spc="-187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6075" sz="5775" spc="-7" b="1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baseline="36075" sz="5775" spc="-40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2467" sz="5775" spc="-15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32467" sz="577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850" spc="-10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00266" y="2633598"/>
            <a:ext cx="276860" cy="0"/>
          </a:xfrm>
          <a:custGeom>
            <a:avLst/>
            <a:gdLst/>
            <a:ahLst/>
            <a:cxnLst/>
            <a:rect l="l" t="t" r="r" b="b"/>
            <a:pathLst>
              <a:path w="276859" h="0">
                <a:moveTo>
                  <a:pt x="0" y="0"/>
                </a:moveTo>
                <a:lnTo>
                  <a:pt x="276694" y="0"/>
                </a:lnTo>
              </a:path>
            </a:pathLst>
          </a:custGeom>
          <a:ln w="19088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841743" y="2108301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324" y="0"/>
                </a:lnTo>
              </a:path>
            </a:pathLst>
          </a:custGeom>
          <a:ln w="95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475461" y="2591066"/>
            <a:ext cx="1593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8670" y="1729092"/>
            <a:ext cx="996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b="1" i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37110" y="2309330"/>
            <a:ext cx="786130" cy="90296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3450"/>
              </a:lnSpc>
              <a:spcBef>
                <a:spcPts val="110"/>
              </a:spcBef>
              <a:tabLst>
                <a:tab pos="584200" algn="l"/>
              </a:tabLst>
            </a:pP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sz="360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endParaRPr sz="3600">
              <a:latin typeface="Symbol"/>
              <a:cs typeface="Symbol"/>
            </a:endParaRPr>
          </a:p>
          <a:p>
            <a:pPr algn="ctr" marL="31750">
              <a:lnSpc>
                <a:spcPts val="3450"/>
              </a:lnSpc>
            </a:pPr>
            <a:r>
              <a:rPr dirty="0" sz="3600" b="1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37110" y="2698534"/>
            <a:ext cx="78613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96900" algn="l"/>
              </a:tabLst>
            </a:pP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360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9862" y="2285454"/>
            <a:ext cx="228917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5" b="1" i="1">
                <a:solidFill>
                  <a:srgbClr val="FF3300"/>
                </a:solidFill>
                <a:latin typeface="Times New Roman"/>
                <a:cs typeface="Times New Roman"/>
              </a:rPr>
              <a:t>m </a:t>
            </a:r>
            <a:r>
              <a:rPr dirty="0" sz="3600" b="1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sz="36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2407" sz="5400" b="1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baseline="32407" sz="5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36265" sz="5400" b="1">
                <a:solidFill>
                  <a:srgbClr val="FF3300"/>
                </a:solidFill>
                <a:latin typeface="Times New Roman"/>
                <a:cs typeface="Times New Roman"/>
              </a:rPr>
              <a:t>1 </a:t>
            </a:r>
            <a:r>
              <a:rPr dirty="0" baseline="32407" sz="5400" spc="195" b="1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78042" sz="3150" spc="195" b="1" i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r>
              <a:rPr dirty="0" baseline="78042" sz="3150" spc="-179" b="1" i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600" spc="5" b="1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4804"/>
            <a:ext cx="10345420" cy="4752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1075">
                <a:latin typeface="华文琥珀"/>
                <a:cs typeface="华文琥珀"/>
              </a:rPr>
              <a:t>思</a:t>
            </a:r>
            <a:r>
              <a:rPr dirty="0" sz="4400">
                <a:latin typeface="华文琥珀"/>
                <a:cs typeface="华文琥珀"/>
              </a:rPr>
              <a:t>考</a:t>
            </a:r>
            <a:r>
              <a:rPr dirty="0" sz="4400" spc="5">
                <a:latin typeface="华文琥珀"/>
                <a:cs typeface="华文琥珀"/>
              </a:rPr>
              <a:t>：</a:t>
            </a:r>
            <a:endParaRPr sz="4400">
              <a:latin typeface="华文琥珀"/>
              <a:cs typeface="华文琥珀"/>
            </a:endParaRPr>
          </a:p>
          <a:p>
            <a:pPr marL="360045">
              <a:lnSpc>
                <a:spcPct val="100000"/>
              </a:lnSpc>
              <a:spcBef>
                <a:spcPts val="2330"/>
              </a:spcBef>
            </a:pPr>
            <a:r>
              <a:rPr dirty="0" sz="3200" b="1">
                <a:latin typeface="华文楷体"/>
                <a:cs typeface="华文楷体"/>
              </a:rPr>
              <a:t>某放射性元素，由单质转为化合态时，半衰期如何变化</a:t>
            </a:r>
            <a:r>
              <a:rPr dirty="0" sz="3200" b="1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  <a:p>
            <a:pPr marL="1381760">
              <a:lnSpc>
                <a:spcPct val="100000"/>
              </a:lnSpc>
              <a:spcBef>
                <a:spcPts val="655"/>
              </a:spcBef>
            </a:pPr>
            <a:r>
              <a:rPr dirty="0" sz="4400" b="1">
                <a:solidFill>
                  <a:srgbClr val="FF0066"/>
                </a:solidFill>
                <a:latin typeface="华文楷体"/>
                <a:cs typeface="华文楷体"/>
              </a:rPr>
              <a:t>不变！</a:t>
            </a:r>
            <a:endParaRPr sz="4400">
              <a:latin typeface="华文楷体"/>
              <a:cs typeface="华文楷体"/>
            </a:endParaRPr>
          </a:p>
          <a:p>
            <a:pPr marL="332105">
              <a:lnSpc>
                <a:spcPts val="3729"/>
              </a:lnSpc>
              <a:spcBef>
                <a:spcPts val="695"/>
              </a:spcBef>
            </a:pPr>
            <a:r>
              <a:rPr dirty="0" sz="3200" b="1">
                <a:latin typeface="华文楷体"/>
                <a:cs typeface="华文楷体"/>
              </a:rPr>
              <a:t>某放射性元素物质，温度升高时，半衰期如何变化</a:t>
            </a:r>
            <a:r>
              <a:rPr dirty="0" sz="3200" b="1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  <a:p>
            <a:pPr marL="1354455">
              <a:lnSpc>
                <a:spcPts val="5170"/>
              </a:lnSpc>
            </a:pPr>
            <a:r>
              <a:rPr dirty="0" sz="4400" b="1">
                <a:solidFill>
                  <a:srgbClr val="FF0066"/>
                </a:solidFill>
                <a:latin typeface="华文楷体"/>
                <a:cs typeface="华文楷体"/>
              </a:rPr>
              <a:t>不变！</a:t>
            </a:r>
            <a:endParaRPr sz="4400">
              <a:latin typeface="华文楷体"/>
              <a:cs typeface="华文楷体"/>
            </a:endParaRPr>
          </a:p>
          <a:p>
            <a:pPr marL="1122680" marR="493395" indent="-459105">
              <a:lnSpc>
                <a:spcPct val="100000"/>
              </a:lnSpc>
              <a:spcBef>
                <a:spcPts val="1590"/>
              </a:spcBef>
            </a:pPr>
            <a:r>
              <a:rPr dirty="0" sz="3600" b="1">
                <a:solidFill>
                  <a:srgbClr val="660066"/>
                </a:solidFill>
                <a:latin typeface="新宋体"/>
                <a:cs typeface="新宋体"/>
              </a:rPr>
              <a:t>半衰期的长短是由原子核内部本身的因素决</a:t>
            </a:r>
            <a:r>
              <a:rPr dirty="0" sz="3600" spc="-15" b="1">
                <a:solidFill>
                  <a:srgbClr val="660066"/>
                </a:solidFill>
                <a:latin typeface="新宋体"/>
                <a:cs typeface="新宋体"/>
              </a:rPr>
              <a:t>定 </a:t>
            </a:r>
            <a:r>
              <a:rPr dirty="0" sz="3600" b="1">
                <a:solidFill>
                  <a:srgbClr val="660066"/>
                </a:solidFill>
                <a:latin typeface="新宋体"/>
                <a:cs typeface="新宋体"/>
              </a:rPr>
              <a:t>的，与原子所处的物理、化学状态无关。</a:t>
            </a:r>
            <a:r>
              <a:rPr dirty="0" sz="3600" spc="-15" b="1">
                <a:solidFill>
                  <a:srgbClr val="660066"/>
                </a:solidFill>
                <a:latin typeface="新宋体"/>
                <a:cs typeface="新宋体"/>
              </a:rPr>
              <a:t> </a:t>
            </a:r>
            <a:endParaRPr sz="36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2577" y="1461439"/>
            <a:ext cx="89795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有</a:t>
            </a:r>
            <a:r>
              <a:rPr dirty="0" sz="3200" spc="-5" b="1">
                <a:latin typeface="Times New Roman"/>
                <a:cs typeface="Times New Roman"/>
              </a:rPr>
              <a:t>16</a:t>
            </a:r>
            <a:r>
              <a:rPr dirty="0" sz="3200" b="1">
                <a:latin typeface="华文楷体"/>
                <a:cs typeface="华文楷体"/>
              </a:rPr>
              <a:t>个某放射性元素的原子核，经过一个半衰期，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2577" y="1949119"/>
            <a:ext cx="26714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还剩下多少个</a:t>
            </a:r>
            <a:r>
              <a:rPr dirty="0" sz="3200" b="1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94804"/>
            <a:ext cx="183896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1075">
                <a:solidFill>
                  <a:srgbClr val="000000"/>
                </a:solidFill>
                <a:latin typeface="华文琥珀"/>
                <a:cs typeface="华文琥珀"/>
              </a:rPr>
              <a:t>思</a:t>
            </a:r>
            <a:r>
              <a:rPr dirty="0" sz="4400">
                <a:solidFill>
                  <a:srgbClr val="000000"/>
                </a:solidFill>
                <a:latin typeface="华文琥珀"/>
                <a:cs typeface="华文琥珀"/>
              </a:rPr>
              <a:t>考</a:t>
            </a:r>
            <a:r>
              <a:rPr dirty="0" sz="4400" spc="5">
                <a:solidFill>
                  <a:srgbClr val="000000"/>
                </a:solidFill>
                <a:latin typeface="华文琥珀"/>
                <a:cs typeface="华文琥珀"/>
              </a:rPr>
              <a:t>：</a:t>
            </a:r>
            <a:endParaRPr sz="4400">
              <a:latin typeface="华文琥珀"/>
              <a:cs typeface="华文琥珀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8999" y="2826689"/>
            <a:ext cx="89801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某放射性元素的半衰期为一天，其中有一个该元素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8999" y="3320719"/>
            <a:ext cx="63347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的原子核，需要多长时间发生衰变</a:t>
            </a:r>
            <a:r>
              <a:rPr dirty="0" sz="3200" b="1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9021" y="2004707"/>
            <a:ext cx="226314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0066"/>
                </a:solidFill>
                <a:latin typeface="华文楷体"/>
                <a:cs typeface="华文楷体"/>
              </a:rPr>
              <a:t>不知道！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88477" y="3487178"/>
            <a:ext cx="226314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0066"/>
                </a:solidFill>
                <a:latin typeface="华文楷体"/>
                <a:cs typeface="华文楷体"/>
              </a:rPr>
              <a:t>不确定！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7086" y="4442866"/>
            <a:ext cx="92055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60145" marR="5080" indent="-114808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660066"/>
                </a:solidFill>
                <a:latin typeface="新宋体"/>
                <a:cs typeface="新宋体"/>
              </a:rPr>
              <a:t>半衰期是一个统计规律，只对大量的原子核</a:t>
            </a:r>
            <a:r>
              <a:rPr dirty="0" sz="3600" spc="-15" b="1">
                <a:solidFill>
                  <a:srgbClr val="660066"/>
                </a:solidFill>
                <a:latin typeface="新宋体"/>
                <a:cs typeface="新宋体"/>
              </a:rPr>
              <a:t>才 </a:t>
            </a:r>
            <a:r>
              <a:rPr dirty="0" sz="3600" b="1">
                <a:solidFill>
                  <a:srgbClr val="660066"/>
                </a:solidFill>
                <a:latin typeface="新宋体"/>
                <a:cs typeface="新宋体"/>
              </a:rPr>
              <a:t>适用，对少数原子核是不适用的</a:t>
            </a:r>
            <a:r>
              <a:rPr dirty="0" sz="3600" spc="-15" b="1">
                <a:solidFill>
                  <a:srgbClr val="660066"/>
                </a:solidFill>
                <a:latin typeface="新宋体"/>
                <a:cs typeface="新宋体"/>
              </a:rPr>
              <a:t>。</a:t>
            </a:r>
            <a:endParaRPr sz="36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061" y="542429"/>
            <a:ext cx="33915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660066"/>
                </a:solidFill>
                <a:latin typeface="黑体"/>
                <a:cs typeface="黑体"/>
              </a:rPr>
              <a:t>解决实际问</a:t>
            </a:r>
            <a:r>
              <a:rPr dirty="0" sz="4400" spc="-15" b="1">
                <a:solidFill>
                  <a:srgbClr val="660066"/>
                </a:solidFill>
                <a:latin typeface="黑体"/>
                <a:cs typeface="黑体"/>
              </a:rPr>
              <a:t>题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0795" y="1506791"/>
            <a:ext cx="521462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660033"/>
                </a:solidFill>
                <a:latin typeface="楷体"/>
                <a:cs typeface="楷体"/>
              </a:rPr>
              <a:t>例</a:t>
            </a:r>
            <a:r>
              <a:rPr dirty="0" sz="4000" spc="-25" b="1">
                <a:solidFill>
                  <a:srgbClr val="660033"/>
                </a:solidFill>
                <a:latin typeface="楷体"/>
                <a:cs typeface="楷体"/>
              </a:rPr>
              <a:t>题</a:t>
            </a:r>
            <a:r>
              <a:rPr dirty="0" sz="4000" spc="45" b="1">
                <a:solidFill>
                  <a:srgbClr val="660033"/>
                </a:solidFill>
                <a:latin typeface="楷体"/>
                <a:cs typeface="楷体"/>
              </a:rPr>
              <a:t> </a:t>
            </a:r>
            <a:r>
              <a:rPr dirty="0" baseline="41666" sz="2700" b="1">
                <a:latin typeface="Times New Roman"/>
                <a:cs typeface="Times New Roman"/>
              </a:rPr>
              <a:t>14</a:t>
            </a:r>
            <a:r>
              <a:rPr dirty="0" baseline="41666" sz="2700" spc="660" b="1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C</a:t>
            </a:r>
            <a:r>
              <a:rPr dirty="0" sz="3200" b="1">
                <a:latin typeface="宋体"/>
                <a:cs typeface="宋体"/>
              </a:rPr>
              <a:t>发生放射性衰变</a:t>
            </a:r>
            <a:r>
              <a:rPr dirty="0" sz="3200" spc="-10" b="1"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9992" y="1607121"/>
            <a:ext cx="48380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47839" sz="2700" b="1">
                <a:latin typeface="Times New Roman"/>
                <a:cs typeface="Times New Roman"/>
              </a:rPr>
              <a:t>14</a:t>
            </a:r>
            <a:r>
              <a:rPr dirty="0" baseline="47839" sz="2700" spc="577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N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，半衰期约为</a:t>
            </a:r>
            <a:r>
              <a:rPr dirty="0" sz="3200" spc="-5" b="1">
                <a:latin typeface="Times New Roman"/>
                <a:cs typeface="Times New Roman"/>
              </a:rPr>
              <a:t>5700</a:t>
            </a:r>
            <a:r>
              <a:rPr dirty="0" sz="3200" b="1">
                <a:latin typeface="宋体"/>
                <a:cs typeface="宋体"/>
              </a:rPr>
              <a:t>年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1448" y="2183358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14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795" y="2170366"/>
            <a:ext cx="100977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22925" algn="l"/>
              </a:tabLst>
            </a:pPr>
            <a:r>
              <a:rPr dirty="0" sz="3200" b="1">
                <a:latin typeface="宋体"/>
                <a:cs typeface="宋体"/>
              </a:rPr>
              <a:t>已知植物存活其间，其体</a:t>
            </a:r>
            <a:r>
              <a:rPr dirty="0" sz="3200" spc="-10" b="1">
                <a:latin typeface="宋体"/>
                <a:cs typeface="宋体"/>
              </a:rPr>
              <a:t>内	</a:t>
            </a:r>
            <a:r>
              <a:rPr dirty="0" sz="3200" spc="-5" b="1">
                <a:latin typeface="Times New Roman"/>
                <a:cs typeface="Times New Roman"/>
              </a:rPr>
              <a:t>C</a:t>
            </a:r>
            <a:r>
              <a:rPr dirty="0" sz="3200" spc="-10" b="1">
                <a:latin typeface="宋体"/>
                <a:cs typeface="宋体"/>
              </a:rPr>
              <a:t>与</a:t>
            </a:r>
            <a:r>
              <a:rPr dirty="0" sz="3200" spc="-310" b="1">
                <a:latin typeface="宋体"/>
                <a:cs typeface="宋体"/>
              </a:rPr>
              <a:t> </a:t>
            </a:r>
            <a:r>
              <a:rPr dirty="0" baseline="40123" sz="2700" b="1">
                <a:latin typeface="Times New Roman"/>
                <a:cs typeface="Times New Roman"/>
              </a:rPr>
              <a:t>12</a:t>
            </a:r>
            <a:r>
              <a:rPr dirty="0" baseline="40123" sz="2700" spc="60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C</a:t>
            </a:r>
            <a:r>
              <a:rPr dirty="0" sz="3200" spc="-2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的比例不变；</a:t>
            </a:r>
            <a:r>
              <a:rPr dirty="0" sz="3200" spc="-10" b="1">
                <a:latin typeface="宋体"/>
                <a:cs typeface="宋体"/>
              </a:rPr>
              <a:t>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9496" y="5262994"/>
            <a:ext cx="380365" cy="0"/>
          </a:xfrm>
          <a:custGeom>
            <a:avLst/>
            <a:gdLst/>
            <a:ahLst/>
            <a:cxnLst/>
            <a:rect l="l" t="t" r="r" b="b"/>
            <a:pathLst>
              <a:path w="380364" h="0">
                <a:moveTo>
                  <a:pt x="0" y="0"/>
                </a:moveTo>
                <a:lnTo>
                  <a:pt x="379742" y="0"/>
                </a:lnTo>
              </a:path>
            </a:pathLst>
          </a:custGeom>
          <a:ln w="21602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50947" y="5262994"/>
            <a:ext cx="272415" cy="0"/>
          </a:xfrm>
          <a:custGeom>
            <a:avLst/>
            <a:gdLst/>
            <a:ahLst/>
            <a:cxnLst/>
            <a:rect l="l" t="t" r="r" b="b"/>
            <a:pathLst>
              <a:path w="272414" h="0">
                <a:moveTo>
                  <a:pt x="0" y="0"/>
                </a:moveTo>
                <a:lnTo>
                  <a:pt x="272262" y="0"/>
                </a:lnTo>
              </a:path>
            </a:pathLst>
          </a:custGeom>
          <a:ln w="21602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83534" y="4796383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 h="0">
                <a:moveTo>
                  <a:pt x="0" y="0"/>
                </a:moveTo>
                <a:lnTo>
                  <a:pt x="189865" y="0"/>
                </a:lnTo>
              </a:path>
            </a:pathLst>
          </a:custGeom>
          <a:ln w="10236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00144" y="5222354"/>
            <a:ext cx="15811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114">
                <a:solidFill>
                  <a:srgbClr val="FF3300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9194" y="5264581"/>
            <a:ext cx="254635" cy="523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50" spc="175">
                <a:solidFill>
                  <a:srgbClr val="FF3300"/>
                </a:solidFill>
                <a:latin typeface="Times New Roman"/>
                <a:cs typeface="Times New Roman"/>
              </a:rPr>
              <a:t>4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0100"/>
              </a:lnSpc>
              <a:spcBef>
                <a:spcPts val="90"/>
              </a:spcBef>
            </a:pPr>
            <a:r>
              <a:rPr dirty="0"/>
              <a:t>命活动结束后</a:t>
            </a:r>
            <a:r>
              <a:rPr dirty="0" spc="-130"/>
              <a:t>，</a:t>
            </a:r>
            <a:r>
              <a:rPr dirty="0" baseline="46296" sz="2700" spc="-195">
                <a:latin typeface="Times New Roman"/>
                <a:cs typeface="Times New Roman"/>
              </a:rPr>
              <a:t>14</a:t>
            </a:r>
            <a:r>
              <a:rPr dirty="0" baseline="46296" sz="2700" spc="262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</a:t>
            </a:r>
            <a:r>
              <a:rPr dirty="0" sz="3200"/>
              <a:t>的比例持续减少。现通过测量得知</a:t>
            </a:r>
            <a:r>
              <a:rPr dirty="0" sz="3200" spc="-10"/>
              <a:t>，  </a:t>
            </a:r>
            <a:r>
              <a:rPr dirty="0" sz="3200"/>
              <a:t>某古木样品</a:t>
            </a:r>
            <a:r>
              <a:rPr dirty="0" sz="3200" spc="-10"/>
              <a:t>中</a:t>
            </a:r>
            <a:r>
              <a:rPr dirty="0" sz="3200" spc="660"/>
              <a:t> </a:t>
            </a:r>
            <a:r>
              <a:rPr dirty="0" baseline="44753" sz="2700">
                <a:latin typeface="Times New Roman"/>
                <a:cs typeface="Times New Roman"/>
              </a:rPr>
              <a:t>14</a:t>
            </a:r>
            <a:r>
              <a:rPr dirty="0" baseline="44753" sz="2700" spc="367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/>
              <a:t>的比例正好是现代植物所制样品的</a:t>
            </a:r>
            <a:r>
              <a:rPr dirty="0" sz="3200" spc="-10"/>
              <a:t>四 </a:t>
            </a:r>
            <a:r>
              <a:rPr dirty="0" sz="3200"/>
              <a:t>分之一。试估算该古木的存活年代至少距今多少年</a:t>
            </a:r>
            <a:r>
              <a:rPr dirty="0" sz="3200" spc="-10"/>
              <a:t>?</a:t>
            </a:r>
            <a:endParaRPr sz="3200">
              <a:latin typeface="Times New Roman"/>
              <a:cs typeface="Times New Roman"/>
            </a:endParaRPr>
          </a:p>
          <a:p>
            <a:pPr marL="2302510">
              <a:lnSpc>
                <a:spcPct val="100000"/>
              </a:lnSpc>
              <a:spcBef>
                <a:spcPts val="1510"/>
              </a:spcBef>
            </a:pPr>
            <a:r>
              <a:rPr dirty="0" sz="1850" spc="65" b="0" i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2505" y="4940541"/>
            <a:ext cx="35687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254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5460" y="4679149"/>
            <a:ext cx="176847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254" i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3250" spc="270" i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35042" sz="4875" spc="292">
                <a:solidFill>
                  <a:srgbClr val="FF3300"/>
                </a:solidFill>
                <a:latin typeface="Symbol"/>
                <a:cs typeface="Symbol"/>
              </a:rPr>
              <a:t></a:t>
            </a:r>
            <a:r>
              <a:rPr dirty="0" baseline="-35042" sz="4875" spc="-157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4273" sz="4875" spc="202">
                <a:solidFill>
                  <a:srgbClr val="FF3300"/>
                </a:solidFill>
                <a:latin typeface="Symbol"/>
                <a:cs typeface="Symbol"/>
              </a:rPr>
              <a:t></a:t>
            </a:r>
            <a:r>
              <a:rPr dirty="0" baseline="-4273" sz="4875" spc="-172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250" spc="175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dirty="0" sz="3250" spc="-13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4273" sz="4875" spc="300">
                <a:solidFill>
                  <a:srgbClr val="FF3300"/>
                </a:solidFill>
                <a:latin typeface="Symbol"/>
                <a:cs typeface="Symbol"/>
              </a:rPr>
              <a:t></a:t>
            </a:r>
            <a:r>
              <a:rPr dirty="0" baseline="15015" sz="2775" spc="300" i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endParaRPr baseline="15015" sz="27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2248" y="5051793"/>
            <a:ext cx="78676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135">
                <a:solidFill>
                  <a:srgbClr val="FF3300"/>
                </a:solidFill>
                <a:latin typeface="Symbol"/>
                <a:cs typeface="Symbol"/>
              </a:rPr>
              <a:t></a:t>
            </a:r>
            <a:r>
              <a:rPr dirty="0" sz="3250" spc="13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baseline="-29059" sz="4875" spc="262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r>
              <a:rPr dirty="0" baseline="-29059" sz="4875" spc="-652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3250" spc="135">
                <a:solidFill>
                  <a:srgbClr val="FF3300"/>
                </a:solidFill>
                <a:latin typeface="Symbol"/>
                <a:cs typeface="Symbol"/>
              </a:rPr>
              <a:t></a:t>
            </a:r>
            <a:endParaRPr sz="3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2248" y="5312105"/>
            <a:ext cx="786765" cy="523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97535" algn="l"/>
              </a:tabLst>
            </a:pPr>
            <a:r>
              <a:rPr dirty="0" sz="3250" spc="135">
                <a:solidFill>
                  <a:srgbClr val="FF3300"/>
                </a:solidFill>
                <a:latin typeface="Symbol"/>
                <a:cs typeface="Symbol"/>
              </a:rPr>
              <a:t></a:t>
            </a:r>
            <a:r>
              <a:rPr dirty="0" sz="3250" spc="135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z="3250" spc="135">
                <a:solidFill>
                  <a:srgbClr val="FF3300"/>
                </a:solidFill>
                <a:latin typeface="Symbol"/>
                <a:cs typeface="Symbol"/>
              </a:rPr>
              <a:t></a:t>
            </a:r>
            <a:endParaRPr sz="325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25923" y="4916423"/>
            <a:ext cx="3525012" cy="678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228" y="1434020"/>
            <a:ext cx="7389495" cy="3683000"/>
          </a:xfrm>
          <a:prstGeom prst="rect">
            <a:avLst/>
          </a:prstGeom>
        </p:spPr>
        <p:txBody>
          <a:bodyPr wrap="square" lIns="0" tIns="255904" rIns="0" bIns="0" rtlCol="0" vert="horz">
            <a:spAutoFit/>
          </a:bodyPr>
          <a:lstStyle/>
          <a:p>
            <a:pPr marL="436880" indent="-424180">
              <a:lnSpc>
                <a:spcPct val="100000"/>
              </a:lnSpc>
              <a:spcBef>
                <a:spcPts val="2014"/>
              </a:spcBef>
              <a:buFont typeface="Wingdings"/>
              <a:buChar char=""/>
              <a:tabLst>
                <a:tab pos="436880" algn="l"/>
              </a:tabLst>
            </a:pPr>
            <a:r>
              <a:rPr dirty="0" sz="3200" b="1">
                <a:latin typeface="新宋体"/>
                <a:cs typeface="新宋体"/>
              </a:rPr>
              <a:t>衰变是原子核内部发生的变</a:t>
            </a:r>
            <a:r>
              <a:rPr dirty="0" sz="3200" spc="-10" b="1">
                <a:latin typeface="新宋体"/>
                <a:cs typeface="新宋体"/>
              </a:rPr>
              <a:t>化</a:t>
            </a:r>
            <a:endParaRPr sz="3200">
              <a:latin typeface="新宋体"/>
              <a:cs typeface="新宋体"/>
            </a:endParaRPr>
          </a:p>
          <a:p>
            <a:pPr marL="436880" indent="-4241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436880" algn="l"/>
              </a:tabLst>
            </a:pPr>
            <a:r>
              <a:rPr dirty="0" sz="3200" spc="-5" b="1">
                <a:latin typeface="Times New Roman"/>
                <a:cs typeface="Times New Roman"/>
              </a:rPr>
              <a:t>α</a:t>
            </a:r>
            <a:r>
              <a:rPr dirty="0" sz="3200" b="1">
                <a:latin typeface="新宋体"/>
                <a:cs typeface="新宋体"/>
              </a:rPr>
              <a:t>衰变与</a:t>
            </a:r>
            <a:r>
              <a:rPr dirty="0" sz="3200" spc="-5" b="1">
                <a:latin typeface="Times New Roman"/>
                <a:cs typeface="Times New Roman"/>
              </a:rPr>
              <a:t>β</a:t>
            </a:r>
            <a:r>
              <a:rPr dirty="0" sz="3200" b="1">
                <a:latin typeface="新宋体"/>
                <a:cs typeface="新宋体"/>
              </a:rPr>
              <a:t>衰变的机理不</a:t>
            </a:r>
            <a:r>
              <a:rPr dirty="0" sz="3200" spc="-10" b="1">
                <a:latin typeface="新宋体"/>
                <a:cs typeface="新宋体"/>
              </a:rPr>
              <a:t>同</a:t>
            </a:r>
            <a:endParaRPr sz="3200">
              <a:latin typeface="新宋体"/>
              <a:cs typeface="新宋体"/>
            </a:endParaRPr>
          </a:p>
          <a:p>
            <a:pPr marL="436880" indent="-4241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436880" algn="l"/>
              </a:tabLst>
            </a:pPr>
            <a:r>
              <a:rPr dirty="0" sz="3200" b="1">
                <a:latin typeface="新宋体"/>
                <a:cs typeface="新宋体"/>
              </a:rPr>
              <a:t>一种元素的原子核只能发生一种衰</a:t>
            </a:r>
            <a:r>
              <a:rPr dirty="0" sz="3200" spc="-10" b="1">
                <a:latin typeface="新宋体"/>
                <a:cs typeface="新宋体"/>
              </a:rPr>
              <a:t>变</a:t>
            </a:r>
            <a:endParaRPr sz="3200">
              <a:latin typeface="新宋体"/>
              <a:cs typeface="新宋体"/>
            </a:endParaRPr>
          </a:p>
          <a:p>
            <a:pPr marL="436880" indent="-4241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436880" algn="l"/>
              </a:tabLst>
            </a:pPr>
            <a:r>
              <a:rPr dirty="0" sz="3200" b="1">
                <a:latin typeface="新宋体"/>
                <a:cs typeface="新宋体"/>
              </a:rPr>
              <a:t>同种元素的不同同位素放射性可以不</a:t>
            </a:r>
            <a:r>
              <a:rPr dirty="0" sz="3200" spc="-10" b="1">
                <a:latin typeface="新宋体"/>
                <a:cs typeface="新宋体"/>
              </a:rPr>
              <a:t>同</a:t>
            </a:r>
            <a:endParaRPr sz="3200">
              <a:latin typeface="新宋体"/>
              <a:cs typeface="新宋体"/>
            </a:endParaRPr>
          </a:p>
          <a:p>
            <a:pPr marL="436880" indent="-4241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436880" algn="l"/>
              </a:tabLst>
            </a:pPr>
            <a:r>
              <a:rPr dirty="0" sz="3200" b="1">
                <a:latin typeface="新宋体"/>
                <a:cs typeface="新宋体"/>
              </a:rPr>
              <a:t>半衰期是一个统计概</a:t>
            </a:r>
            <a:r>
              <a:rPr dirty="0" sz="3200" spc="-10" b="1">
                <a:latin typeface="新宋体"/>
                <a:cs typeface="新宋体"/>
              </a:rPr>
              <a:t>念</a:t>
            </a:r>
            <a:endParaRPr sz="3200">
              <a:latin typeface="新宋体"/>
              <a:cs typeface="新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61675" y="599033"/>
            <a:ext cx="216662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660033"/>
                </a:solidFill>
                <a:latin typeface="新宋体"/>
                <a:cs typeface="新宋体"/>
              </a:rPr>
              <a:t>小</a:t>
            </a:r>
            <a:r>
              <a:rPr dirty="0" sz="4800" spc="-95" b="1">
                <a:solidFill>
                  <a:srgbClr val="660033"/>
                </a:solidFill>
                <a:latin typeface="新宋体"/>
                <a:cs typeface="新宋体"/>
              </a:rPr>
              <a:t> </a:t>
            </a:r>
            <a:r>
              <a:rPr dirty="0" sz="4800" b="1">
                <a:solidFill>
                  <a:srgbClr val="660033"/>
                </a:solidFill>
                <a:latin typeface="新宋体"/>
                <a:cs typeface="新宋体"/>
              </a:rPr>
              <a:t>结</a:t>
            </a:r>
            <a:r>
              <a:rPr dirty="0" sz="4800" spc="-20" b="1">
                <a:solidFill>
                  <a:srgbClr val="660033"/>
                </a:solidFill>
                <a:latin typeface="新宋体"/>
                <a:cs typeface="新宋体"/>
              </a:rPr>
              <a:t>：</a:t>
            </a:r>
            <a:endParaRPr sz="48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>
                <a:solidFill>
                  <a:srgbClr val="387CB1"/>
                </a:solidFill>
                <a:latin typeface="宋体"/>
                <a:cs typeface="宋体"/>
              </a:rPr>
              <a:t>皋</a:t>
            </a:r>
            <a:r>
              <a:rPr dirty="0" sz="3000" spc="245">
                <a:solidFill>
                  <a:srgbClr val="387CB1"/>
                </a:solidFill>
                <a:latin typeface="宋体"/>
                <a:cs typeface="宋体"/>
              </a:rPr>
              <a:t> </a:t>
            </a:r>
            <a:r>
              <a:rPr dirty="0" sz="3000" spc="145">
                <a:solidFill>
                  <a:srgbClr val="387CB1"/>
                </a:solidFill>
                <a:latin typeface="宋体"/>
                <a:cs typeface="宋体"/>
              </a:rPr>
              <a:t>国</a:t>
            </a:r>
            <a:r>
              <a:rPr dirty="0" sz="3000" spc="-210">
                <a:solidFill>
                  <a:srgbClr val="387CB1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>
                <a:solidFill>
                  <a:srgbClr val="387CB1"/>
                </a:solidFill>
                <a:latin typeface="宋体"/>
                <a:cs typeface="宋体"/>
              </a:rPr>
              <a:t> </a:t>
            </a:r>
            <a:r>
              <a:rPr dirty="0" sz="3000" spc="-355">
                <a:solidFill>
                  <a:srgbClr val="387CB1"/>
                </a:solidFill>
                <a:latin typeface="宋体"/>
                <a:cs typeface="宋体"/>
              </a:rPr>
              <a:t>廿</a:t>
            </a:r>
            <a:r>
              <a:rPr dirty="0" sz="5600" spc="-1605">
                <a:solidFill>
                  <a:srgbClr val="387CB1"/>
                </a:solidFill>
                <a:latin typeface="Arial"/>
                <a:cs typeface="Arial"/>
              </a:rPr>
              <a:t>P</a:t>
            </a:r>
            <a:r>
              <a:rPr dirty="0" sz="6200" spc="-2915">
                <a:solidFill>
                  <a:srgbClr val="387CB1"/>
                </a:solidFill>
                <a:latin typeface="宋体"/>
                <a:cs typeface="宋体"/>
              </a:rPr>
              <a:t>生</a:t>
            </a:r>
            <a:r>
              <a:rPr dirty="0" sz="7200" spc="-940">
                <a:solidFill>
                  <a:srgbClr val="387CB1"/>
                </a:solidFill>
              </a:rPr>
              <a:t>t</a:t>
            </a:r>
            <a:endParaRPr sz="7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2025-04-21T00:55:19Z</dcterms:created>
  <dcterms:modified xsi:type="dcterms:W3CDTF">2025-04-21T00:55:19Z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2025-03-25T00:00:00Z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2025-04-21T00:00:00Z</vt:filetime>
  </property>
</Properties>
</file>