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1840" y="-31432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1840" y="-31432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85402" y="3296996"/>
            <a:ext cx="5028565" cy="161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41152" y="2451931"/>
          <a:ext cx="7404734" cy="198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7110"/>
                <a:gridCol w="615950"/>
                <a:gridCol w="3242944"/>
              </a:tblGrid>
              <a:tr h="93588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4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裂变与聚</a:t>
                      </a:r>
                      <a:r>
                        <a:rPr dirty="0" sz="4400" spc="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变</a:t>
                      </a:r>
                      <a:endParaRPr sz="4400">
                        <a:latin typeface="微软雅黑"/>
                        <a:cs typeface="微软雅黑"/>
                      </a:endParaRPr>
                    </a:p>
                  </a:txBody>
                  <a:tcPr marL="0" marR="0" marB="0" marT="3302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2376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主讲人：刘友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洪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93040"/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9304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校：北京市第八十中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93040"/>
                </a:tc>
              </a:tr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643890" algn="l"/>
                        </a:tabLst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	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级：高二下学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期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学习目标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128202" y="1431925"/>
            <a:ext cx="8853170" cy="4374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6705" indent="-294005">
              <a:lnSpc>
                <a:spcPct val="100000"/>
              </a:lnSpc>
              <a:spcBef>
                <a:spcPts val="95"/>
              </a:spcBef>
              <a:buSzPct val="96428"/>
              <a:buAutoNum type="arabicPeriod"/>
              <a:tabLst>
                <a:tab pos="307340" algn="l"/>
              </a:tabLst>
            </a:pPr>
            <a:r>
              <a:rPr dirty="0" sz="2800">
                <a:latin typeface="微软雅黑"/>
                <a:cs typeface="微软雅黑"/>
              </a:rPr>
              <a:t>知道核裂变反应以及核聚变反应</a:t>
            </a:r>
            <a:r>
              <a:rPr dirty="0" sz="2800" spc="-5">
                <a:latin typeface="微软雅黑"/>
                <a:cs typeface="微软雅黑"/>
              </a:rPr>
              <a:t>；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buFont typeface="΢"/>
              <a:buAutoNum type="arabicPeriod"/>
            </a:pPr>
            <a:endParaRPr sz="505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buSzPct val="96428"/>
              <a:buAutoNum type="arabicPeriod"/>
              <a:tabLst>
                <a:tab pos="307340" algn="l"/>
              </a:tabLst>
            </a:pPr>
            <a:r>
              <a:rPr dirty="0" sz="2800">
                <a:latin typeface="微软雅黑"/>
                <a:cs typeface="微软雅黑"/>
              </a:rPr>
              <a:t>知道链式反应的发生条件，知道原子弹的原理</a:t>
            </a:r>
            <a:r>
              <a:rPr dirty="0" sz="2800" spc="-5">
                <a:latin typeface="微软雅黑"/>
                <a:cs typeface="微软雅黑"/>
              </a:rPr>
              <a:t>；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buFont typeface="΢"/>
              <a:buAutoNum type="arabicPeriod"/>
            </a:pPr>
            <a:endParaRPr sz="505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buSzPct val="96428"/>
              <a:buAutoNum type="arabicPeriod"/>
              <a:tabLst>
                <a:tab pos="307340" algn="l"/>
              </a:tabLst>
            </a:pPr>
            <a:r>
              <a:rPr dirty="0" sz="2800">
                <a:latin typeface="微软雅黑"/>
                <a:cs typeface="微软雅黑"/>
              </a:rPr>
              <a:t>知道裂变反应堆的工作原理，知道核电站的工作模式</a:t>
            </a:r>
            <a:r>
              <a:rPr dirty="0" sz="2800" spc="-5">
                <a:latin typeface="微软雅黑"/>
                <a:cs typeface="微软雅黑"/>
              </a:rPr>
              <a:t>；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΢"/>
              <a:buAutoNum type="arabicPeriod"/>
            </a:pPr>
            <a:endParaRPr sz="5050">
              <a:latin typeface="Times New Roman"/>
              <a:cs typeface="Times New Roman"/>
            </a:endParaRPr>
          </a:p>
          <a:p>
            <a:pPr marL="285750" marR="5080" indent="-273050">
              <a:lnSpc>
                <a:spcPct val="100000"/>
              </a:lnSpc>
              <a:buSzPct val="96428"/>
              <a:buAutoNum type="arabicPeriod"/>
              <a:tabLst>
                <a:tab pos="307340" algn="l"/>
              </a:tabLst>
            </a:pPr>
            <a:r>
              <a:rPr dirty="0" sz="2800">
                <a:latin typeface="微软雅黑"/>
                <a:cs typeface="微软雅黑"/>
              </a:rPr>
              <a:t>关注受控聚变反应研究的进展，通过核能的利用，思</a:t>
            </a:r>
            <a:r>
              <a:rPr dirty="0" sz="2800" spc="-5">
                <a:latin typeface="微软雅黑"/>
                <a:cs typeface="微软雅黑"/>
              </a:rPr>
              <a:t>考 </a:t>
            </a:r>
            <a:r>
              <a:rPr dirty="0" sz="2800">
                <a:latin typeface="微软雅黑"/>
                <a:cs typeface="微软雅黑"/>
              </a:rPr>
              <a:t>科学技术与社会进步的关系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知识回顾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429755" y="1187196"/>
            <a:ext cx="5407152" cy="36850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17052" y="1323022"/>
            <a:ext cx="9170035" cy="5085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由于核子间存在强大的核力，要把</a:t>
            </a:r>
            <a:r>
              <a:rPr dirty="0" sz="2000">
                <a:latin typeface="微软雅黑"/>
                <a:cs typeface="微软雅黑"/>
              </a:rPr>
              <a:t>原 </a:t>
            </a:r>
            <a:r>
              <a:rPr dirty="0" sz="2000">
                <a:latin typeface="微软雅黑"/>
                <a:cs typeface="微软雅黑"/>
              </a:rPr>
              <a:t>子核拆散成核子，要克服核力做功</a:t>
            </a:r>
            <a:r>
              <a:rPr dirty="0" sz="2000">
                <a:latin typeface="微软雅黑"/>
                <a:cs typeface="微软雅黑"/>
              </a:rPr>
              <a:t>， </a:t>
            </a:r>
            <a:r>
              <a:rPr dirty="0" sz="2000">
                <a:latin typeface="微软雅黑"/>
                <a:cs typeface="微软雅黑"/>
              </a:rPr>
              <a:t>必须吸收一定的能量。反之，核子</a:t>
            </a:r>
            <a:r>
              <a:rPr dirty="0" sz="2000">
                <a:latin typeface="微软雅黑"/>
                <a:cs typeface="微软雅黑"/>
              </a:rPr>
              <a:t>结 </a:t>
            </a:r>
            <a:r>
              <a:rPr dirty="0" sz="2000">
                <a:latin typeface="微软雅黑"/>
                <a:cs typeface="微软雅黑"/>
              </a:rPr>
              <a:t>合成原子核时，也会放出同样多的</a:t>
            </a:r>
            <a:r>
              <a:rPr dirty="0" sz="2000">
                <a:latin typeface="微软雅黑"/>
                <a:cs typeface="微软雅黑"/>
              </a:rPr>
              <a:t>能 </a:t>
            </a:r>
            <a:r>
              <a:rPr dirty="0" sz="2000">
                <a:latin typeface="微软雅黑"/>
                <a:cs typeface="微软雅黑"/>
              </a:rPr>
              <a:t>量。这个能量叫做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原子核的结合能</a:t>
            </a:r>
            <a:r>
              <a:rPr dirty="0" sz="2000" spc="5">
                <a:solidFill>
                  <a:srgbClr val="FF0000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2700" marR="5085080">
              <a:lnSpc>
                <a:spcPct val="100000"/>
              </a:lnSpc>
              <a:spcBef>
                <a:spcPts val="2210"/>
              </a:spcBef>
            </a:pPr>
            <a:r>
              <a:rPr dirty="0" sz="2000">
                <a:latin typeface="微软雅黑"/>
                <a:cs typeface="微软雅黑"/>
              </a:rPr>
              <a:t>原子核的结合能与核子数之比，称</a:t>
            </a:r>
            <a:r>
              <a:rPr dirty="0" sz="2000">
                <a:latin typeface="微软雅黑"/>
                <a:cs typeface="微软雅黑"/>
              </a:rPr>
              <a:t>作 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比结合能</a:t>
            </a:r>
            <a:r>
              <a:rPr dirty="0" sz="2000" spc="-5">
                <a:solidFill>
                  <a:srgbClr val="FF0000"/>
                </a:solidFill>
                <a:latin typeface="微软雅黑"/>
                <a:cs typeface="微软雅黑"/>
              </a:rPr>
              <a:t>,</a:t>
            </a:r>
            <a:r>
              <a:rPr dirty="0" sz="2000">
                <a:latin typeface="微软雅黑"/>
                <a:cs typeface="微软雅黑"/>
              </a:rPr>
              <a:t>也叫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平均结合</a:t>
            </a:r>
            <a:r>
              <a:rPr dirty="0" sz="2000" spc="5">
                <a:solidFill>
                  <a:srgbClr val="FF0000"/>
                </a:solidFill>
                <a:latin typeface="微软雅黑"/>
                <a:cs typeface="微软雅黑"/>
              </a:rPr>
              <a:t>能</a:t>
            </a:r>
            <a:endParaRPr sz="2000">
              <a:latin typeface="微软雅黑"/>
              <a:cs typeface="微软雅黑"/>
            </a:endParaRPr>
          </a:p>
          <a:p>
            <a:pPr marL="12700" marR="5085080">
              <a:lnSpc>
                <a:spcPct val="100000"/>
              </a:lnSpc>
              <a:spcBef>
                <a:spcPts val="2100"/>
              </a:spcBef>
            </a:pPr>
            <a:r>
              <a:rPr dirty="0" sz="2000">
                <a:latin typeface="微软雅黑"/>
                <a:cs typeface="微软雅黑"/>
              </a:rPr>
              <a:t>原子核的比结合能越大，核子平均</a:t>
            </a:r>
            <a:r>
              <a:rPr dirty="0" sz="2000">
                <a:latin typeface="微软雅黑"/>
                <a:cs typeface="微软雅黑"/>
              </a:rPr>
              <a:t>质 </a:t>
            </a:r>
            <a:r>
              <a:rPr dirty="0" sz="2000">
                <a:latin typeface="微软雅黑"/>
                <a:cs typeface="微软雅黑"/>
              </a:rPr>
              <a:t>量越小，原子核中核子结合得越牢</a:t>
            </a:r>
            <a:r>
              <a:rPr dirty="0" sz="2000" spc="5">
                <a:latin typeface="微软雅黑"/>
                <a:cs typeface="微软雅黑"/>
              </a:rPr>
              <a:t>固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，原子核越稳定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dirty="0" sz="2000">
                <a:latin typeface="微软雅黑"/>
                <a:cs typeface="微软雅黑"/>
              </a:rPr>
              <a:t>中等大小的原子核的比结合能最</a:t>
            </a:r>
            <a:r>
              <a:rPr dirty="0" sz="2000" spc="5">
                <a:latin typeface="微软雅黑"/>
                <a:cs typeface="微软雅黑"/>
              </a:rPr>
              <a:t>大</a:t>
            </a:r>
            <a:endParaRPr sz="20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2125"/>
              </a:spcBef>
            </a:pPr>
            <a:r>
              <a:rPr dirty="0" sz="2000">
                <a:latin typeface="微软雅黑"/>
                <a:cs typeface="微软雅黑"/>
              </a:rPr>
              <a:t>如果使较重的核分裂成中等大小的核，或者把较小的核合并成中等大小的核，核</a:t>
            </a:r>
            <a:r>
              <a:rPr dirty="0" sz="2000">
                <a:latin typeface="微软雅黑"/>
                <a:cs typeface="微软雅黑"/>
              </a:rPr>
              <a:t>子 </a:t>
            </a:r>
            <a:r>
              <a:rPr dirty="0" sz="2000">
                <a:latin typeface="微软雅黑"/>
                <a:cs typeface="微软雅黑"/>
              </a:rPr>
              <a:t>的比结合能都会增加，即核子将发生新的质量亏损，释放新的结合能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新课引入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52444" y="1338072"/>
            <a:ext cx="4367784" cy="2974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26627" y="4681220"/>
            <a:ext cx="85598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把重核分裂成质量较轻的核，释放出核能的反应叫做重核的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裂变 </a:t>
            </a:r>
            <a:r>
              <a:rPr dirty="0" sz="2400">
                <a:latin typeface="微软雅黑"/>
                <a:cs typeface="微软雅黑"/>
              </a:rPr>
              <a:t>把轻核结合成质量较大的核，释放出核能的反应叫做轻核的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聚变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5494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重核的裂变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70404" y="2212848"/>
            <a:ext cx="7623048" cy="2421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39327" y="1218565"/>
            <a:ext cx="89376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微软雅黑"/>
                <a:cs typeface="微软雅黑"/>
              </a:rPr>
              <a:t>1938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年底，德国物理学家哈恩</a:t>
            </a:r>
            <a:r>
              <a:rPr dirty="0" sz="1800" spc="-35">
                <a:latin typeface="微软雅黑"/>
                <a:cs typeface="微软雅黑"/>
              </a:rPr>
              <a:t>（O.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Hahn）</a:t>
            </a:r>
            <a:r>
              <a:rPr dirty="0" sz="1800">
                <a:latin typeface="微软雅黑"/>
                <a:cs typeface="微软雅黑"/>
              </a:rPr>
              <a:t>和他的助手斯特拉斯曼</a:t>
            </a:r>
            <a:r>
              <a:rPr dirty="0" sz="1800" spc="-55">
                <a:latin typeface="微软雅黑"/>
                <a:cs typeface="微软雅黑"/>
              </a:rPr>
              <a:t>（F.</a:t>
            </a:r>
            <a:r>
              <a:rPr dirty="0" sz="1800" spc="-5">
                <a:latin typeface="微软雅黑"/>
                <a:cs typeface="微软雅黑"/>
              </a:rPr>
              <a:t> </a:t>
            </a:r>
            <a:r>
              <a:rPr dirty="0" sz="1800" spc="-10">
                <a:latin typeface="微软雅黑"/>
                <a:cs typeface="微软雅黑"/>
              </a:rPr>
              <a:t>Strassmann）</a:t>
            </a:r>
            <a:r>
              <a:rPr dirty="0" sz="1800">
                <a:latin typeface="微软雅黑"/>
                <a:cs typeface="微软雅黑"/>
              </a:rPr>
              <a:t>在 用中子轰击铀核的实验中发现，生成物中有原子序数为</a:t>
            </a:r>
            <a:r>
              <a:rPr dirty="0" sz="1800" spc="-5">
                <a:latin typeface="微软雅黑"/>
                <a:cs typeface="微软雅黑"/>
              </a:rPr>
              <a:t> 56 </a:t>
            </a:r>
            <a:r>
              <a:rPr dirty="0" sz="1800">
                <a:latin typeface="微软雅黑"/>
                <a:cs typeface="微软雅黑"/>
              </a:rPr>
              <a:t>的元素钡。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98052" y="5011102"/>
            <a:ext cx="87249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奥地利物理学家迈特纳（L.</a:t>
            </a:r>
            <a:r>
              <a:rPr dirty="0" sz="1800" spc="-1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Meitner）</a:t>
            </a:r>
            <a:r>
              <a:rPr dirty="0" sz="1800">
                <a:latin typeface="微软雅黑"/>
                <a:cs typeface="微软雅黑"/>
              </a:rPr>
              <a:t>和弗里施</a:t>
            </a:r>
            <a:r>
              <a:rPr dirty="0" sz="1800" spc="-35">
                <a:latin typeface="微软雅黑"/>
                <a:cs typeface="微软雅黑"/>
              </a:rPr>
              <a:t>（O.</a:t>
            </a:r>
            <a:r>
              <a:rPr dirty="0" sz="1800" spc="-1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R.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Frisch）</a:t>
            </a:r>
            <a:r>
              <a:rPr dirty="0" sz="1800">
                <a:latin typeface="微软雅黑"/>
                <a:cs typeface="微软雅黑"/>
              </a:rPr>
              <a:t>对此做出了解释：铀核 在被中子轰击后分裂成两块质量差不多的碎块。弗里施借用细胞分裂的生物学名词，把 这类核反应定名为原子核的裂变（fission）。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5494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重核的裂变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12339" y="1657985"/>
            <a:ext cx="8378190" cy="1939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铀核裂变的产物是多样的，一种典型的铀核裂变是生成钡和氪，同时放</a:t>
            </a:r>
            <a:r>
              <a:rPr dirty="0" sz="2000" spc="5">
                <a:latin typeface="微软雅黑"/>
                <a:cs typeface="微软雅黑"/>
              </a:rPr>
              <a:t>出</a:t>
            </a:r>
            <a:r>
              <a:rPr dirty="0" sz="2000" spc="-10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3  个中子，核反应方程</a:t>
            </a:r>
            <a:r>
              <a:rPr dirty="0" sz="2000" spc="5">
                <a:latin typeface="微软雅黑"/>
                <a:cs typeface="微软雅黑"/>
              </a:rPr>
              <a:t>是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1221105">
              <a:lnSpc>
                <a:spcPts val="3325"/>
              </a:lnSpc>
            </a:pPr>
            <a:r>
              <a:rPr dirty="0" baseline="43360" sz="3075" spc="22">
                <a:latin typeface="Times New Roman"/>
                <a:cs typeface="Times New Roman"/>
              </a:rPr>
              <a:t>235</a:t>
            </a:r>
            <a:r>
              <a:rPr dirty="0" baseline="43360" sz="3075" spc="-37">
                <a:latin typeface="Times New Roman"/>
                <a:cs typeface="Times New Roman"/>
              </a:rPr>
              <a:t> </a:t>
            </a:r>
            <a:r>
              <a:rPr dirty="0" sz="3550" spc="90">
                <a:latin typeface="Times New Roman"/>
                <a:cs typeface="Times New Roman"/>
              </a:rPr>
              <a:t>U</a:t>
            </a:r>
            <a:r>
              <a:rPr dirty="0" sz="3550" spc="90">
                <a:latin typeface="Symbol"/>
                <a:cs typeface="Symbol"/>
              </a:rPr>
              <a:t></a:t>
            </a:r>
            <a:r>
              <a:rPr dirty="0" sz="3550" spc="-520">
                <a:latin typeface="Times New Roman"/>
                <a:cs typeface="Times New Roman"/>
              </a:rPr>
              <a:t> </a:t>
            </a:r>
            <a:r>
              <a:rPr dirty="0" baseline="43360" sz="3075" spc="75">
                <a:latin typeface="Times New Roman"/>
                <a:cs typeface="Times New Roman"/>
              </a:rPr>
              <a:t>1</a:t>
            </a:r>
            <a:r>
              <a:rPr dirty="0" sz="3550" spc="50">
                <a:latin typeface="Times New Roman"/>
                <a:cs typeface="Times New Roman"/>
              </a:rPr>
              <a:t>n</a:t>
            </a:r>
            <a:r>
              <a:rPr dirty="0" sz="3550" spc="50">
                <a:latin typeface="Symbol"/>
                <a:cs typeface="Symbol"/>
              </a:rPr>
              <a:t></a:t>
            </a:r>
            <a:r>
              <a:rPr dirty="0" baseline="43360" sz="3075" spc="75">
                <a:latin typeface="Times New Roman"/>
                <a:cs typeface="Times New Roman"/>
              </a:rPr>
              <a:t>144</a:t>
            </a:r>
            <a:r>
              <a:rPr dirty="0" baseline="43360" sz="3075" spc="-157">
                <a:latin typeface="Times New Roman"/>
                <a:cs typeface="Times New Roman"/>
              </a:rPr>
              <a:t> </a:t>
            </a:r>
            <a:r>
              <a:rPr dirty="0" sz="3550" spc="90">
                <a:latin typeface="Times New Roman"/>
                <a:cs typeface="Times New Roman"/>
              </a:rPr>
              <a:t>Ba</a:t>
            </a:r>
            <a:r>
              <a:rPr dirty="0" sz="3550" spc="90">
                <a:latin typeface="Symbol"/>
                <a:cs typeface="Symbol"/>
              </a:rPr>
              <a:t></a:t>
            </a:r>
            <a:r>
              <a:rPr dirty="0" baseline="43360" sz="3075" spc="135">
                <a:latin typeface="Times New Roman"/>
                <a:cs typeface="Times New Roman"/>
              </a:rPr>
              <a:t>89</a:t>
            </a:r>
            <a:r>
              <a:rPr dirty="0" baseline="43360" sz="3075" spc="-330">
                <a:latin typeface="Times New Roman"/>
                <a:cs typeface="Times New Roman"/>
              </a:rPr>
              <a:t> </a:t>
            </a:r>
            <a:r>
              <a:rPr dirty="0" sz="3550" spc="5">
                <a:latin typeface="Times New Roman"/>
                <a:cs typeface="Times New Roman"/>
              </a:rPr>
              <a:t>Kr</a:t>
            </a:r>
            <a:r>
              <a:rPr dirty="0" sz="3550" spc="-180">
                <a:latin typeface="Times New Roman"/>
                <a:cs typeface="Times New Roman"/>
              </a:rPr>
              <a:t> </a:t>
            </a:r>
            <a:r>
              <a:rPr dirty="0" sz="3550" spc="75">
                <a:latin typeface="Symbol"/>
                <a:cs typeface="Symbol"/>
              </a:rPr>
              <a:t></a:t>
            </a:r>
            <a:r>
              <a:rPr dirty="0" sz="3550" spc="75">
                <a:latin typeface="Times New Roman"/>
                <a:cs typeface="Times New Roman"/>
              </a:rPr>
              <a:t>3</a:t>
            </a:r>
            <a:r>
              <a:rPr dirty="0" baseline="43360" sz="3075" spc="112">
                <a:latin typeface="Times New Roman"/>
                <a:cs typeface="Times New Roman"/>
              </a:rPr>
              <a:t>1</a:t>
            </a:r>
            <a:r>
              <a:rPr dirty="0" baseline="43360" sz="3075" spc="-247">
                <a:latin typeface="Times New Roman"/>
                <a:cs typeface="Times New Roman"/>
              </a:rPr>
              <a:t> </a:t>
            </a:r>
            <a:r>
              <a:rPr dirty="0" sz="3550" spc="10">
                <a:latin typeface="Times New Roman"/>
                <a:cs typeface="Times New Roman"/>
              </a:rPr>
              <a:t>n</a:t>
            </a:r>
            <a:endParaRPr sz="3550">
              <a:latin typeface="Times New Roman"/>
              <a:cs typeface="Times New Roman"/>
            </a:endParaRPr>
          </a:p>
          <a:p>
            <a:pPr marL="1350645">
              <a:lnSpc>
                <a:spcPts val="1525"/>
              </a:lnSpc>
              <a:tabLst>
                <a:tab pos="2305050" algn="l"/>
                <a:tab pos="3291204" algn="l"/>
                <a:tab pos="4413250" algn="l"/>
                <a:tab pos="5765800" algn="l"/>
              </a:tabLst>
            </a:pPr>
            <a:r>
              <a:rPr dirty="0" sz="2050" spc="15">
                <a:latin typeface="Times New Roman"/>
                <a:cs typeface="Times New Roman"/>
              </a:rPr>
              <a:t>92	0	56	36	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66314" y="4543425"/>
            <a:ext cx="85598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我国科学家钱三强、何泽慧夫妇于</a:t>
            </a:r>
            <a:r>
              <a:rPr dirty="0" sz="2400" spc="-50"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1947</a:t>
            </a:r>
            <a:r>
              <a:rPr dirty="0" sz="2400" spc="-45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年在实验中观察到铀核 也可能分裂为三部分或四部分，其概率大约是分裂变为两部分的 概率的千分之三。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1590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latin typeface="微软雅黑"/>
                <a:cs typeface="微软雅黑"/>
              </a:rPr>
              <a:t>核裂变能量释放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41990" y="1420152"/>
            <a:ext cx="3057525" cy="315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82015" algn="l"/>
                <a:tab pos="1780539" algn="l"/>
                <a:tab pos="2802255" algn="l"/>
              </a:tabLst>
            </a:pPr>
            <a:r>
              <a:rPr dirty="0" sz="1900">
                <a:latin typeface="Times New Roman"/>
                <a:cs typeface="Times New Roman"/>
              </a:rPr>
              <a:t>92</a:t>
            </a:r>
            <a:r>
              <a:rPr dirty="0" sz="1900">
                <a:latin typeface="Times New Roman"/>
                <a:cs typeface="Times New Roman"/>
              </a:rPr>
              <a:t>	</a:t>
            </a:r>
            <a:r>
              <a:rPr dirty="0" sz="1900">
                <a:latin typeface="Times New Roman"/>
                <a:cs typeface="Times New Roman"/>
              </a:rPr>
              <a:t>0</a:t>
            </a:r>
            <a:r>
              <a:rPr dirty="0" sz="1900">
                <a:latin typeface="Times New Roman"/>
                <a:cs typeface="Times New Roman"/>
              </a:rPr>
              <a:t>	</a:t>
            </a:r>
            <a:r>
              <a:rPr dirty="0" sz="1900">
                <a:latin typeface="Times New Roman"/>
                <a:cs typeface="Times New Roman"/>
              </a:rPr>
              <a:t>56</a:t>
            </a:r>
            <a:r>
              <a:rPr dirty="0" sz="1900">
                <a:latin typeface="Times New Roman"/>
                <a:cs typeface="Times New Roman"/>
              </a:rPr>
              <a:t>	</a:t>
            </a:r>
            <a:r>
              <a:rPr dirty="0" sz="1900">
                <a:latin typeface="Times New Roman"/>
                <a:cs typeface="Times New Roman"/>
              </a:rPr>
              <a:t>36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4401" y="1143952"/>
            <a:ext cx="4552950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42397" sz="2850">
                <a:latin typeface="Times New Roman"/>
                <a:cs typeface="Times New Roman"/>
              </a:rPr>
              <a:t>235</a:t>
            </a:r>
            <a:r>
              <a:rPr dirty="0" baseline="42397" sz="2850" spc="-67">
                <a:latin typeface="Times New Roman"/>
                <a:cs typeface="Times New Roman"/>
              </a:rPr>
              <a:t> </a:t>
            </a:r>
            <a:r>
              <a:rPr dirty="0" sz="3250" spc="75">
                <a:latin typeface="Times New Roman"/>
                <a:cs typeface="Times New Roman"/>
              </a:rPr>
              <a:t>U</a:t>
            </a:r>
            <a:r>
              <a:rPr dirty="0" sz="3250" spc="75">
                <a:latin typeface="Symbol"/>
                <a:cs typeface="Symbol"/>
              </a:rPr>
              <a:t></a:t>
            </a:r>
            <a:r>
              <a:rPr dirty="0" sz="3250" spc="-490">
                <a:latin typeface="Times New Roman"/>
                <a:cs typeface="Times New Roman"/>
              </a:rPr>
              <a:t> </a:t>
            </a:r>
            <a:r>
              <a:rPr dirty="0" baseline="42397" sz="2850" spc="44">
                <a:latin typeface="Times New Roman"/>
                <a:cs typeface="Times New Roman"/>
              </a:rPr>
              <a:t>1</a:t>
            </a:r>
            <a:r>
              <a:rPr dirty="0" sz="3250" spc="30">
                <a:latin typeface="Times New Roman"/>
                <a:cs typeface="Times New Roman"/>
              </a:rPr>
              <a:t>n</a:t>
            </a:r>
            <a:r>
              <a:rPr dirty="0" sz="3250" spc="30">
                <a:latin typeface="Symbol"/>
                <a:cs typeface="Symbol"/>
              </a:rPr>
              <a:t></a:t>
            </a:r>
            <a:r>
              <a:rPr dirty="0" baseline="42397" sz="2850" spc="44">
                <a:latin typeface="Times New Roman"/>
                <a:cs typeface="Times New Roman"/>
              </a:rPr>
              <a:t>144</a:t>
            </a:r>
            <a:r>
              <a:rPr dirty="0" baseline="42397" sz="2850" spc="-187">
                <a:latin typeface="Times New Roman"/>
                <a:cs typeface="Times New Roman"/>
              </a:rPr>
              <a:t> </a:t>
            </a:r>
            <a:r>
              <a:rPr dirty="0" sz="3250" spc="75">
                <a:latin typeface="Times New Roman"/>
                <a:cs typeface="Times New Roman"/>
              </a:rPr>
              <a:t>Ba</a:t>
            </a:r>
            <a:r>
              <a:rPr dirty="0" sz="3250" spc="75">
                <a:latin typeface="Symbol"/>
                <a:cs typeface="Symbol"/>
              </a:rPr>
              <a:t></a:t>
            </a:r>
            <a:r>
              <a:rPr dirty="0" baseline="42397" sz="2850" spc="112">
                <a:latin typeface="Times New Roman"/>
                <a:cs typeface="Times New Roman"/>
              </a:rPr>
              <a:t>89</a:t>
            </a:r>
            <a:r>
              <a:rPr dirty="0" baseline="42397" sz="2850" spc="-33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Kr</a:t>
            </a:r>
            <a:r>
              <a:rPr dirty="0" sz="3250" spc="-190">
                <a:latin typeface="Times New Roman"/>
                <a:cs typeface="Times New Roman"/>
              </a:rPr>
              <a:t> </a:t>
            </a:r>
            <a:r>
              <a:rPr dirty="0" sz="3250" spc="60">
                <a:latin typeface="Symbol"/>
                <a:cs typeface="Symbol"/>
              </a:rPr>
              <a:t></a:t>
            </a:r>
            <a:r>
              <a:rPr dirty="0" sz="3250" spc="60">
                <a:latin typeface="Times New Roman"/>
                <a:cs typeface="Times New Roman"/>
              </a:rPr>
              <a:t>3</a:t>
            </a:r>
            <a:r>
              <a:rPr dirty="0" baseline="42397" sz="2850" spc="89">
                <a:latin typeface="Times New Roman"/>
                <a:cs typeface="Times New Roman"/>
              </a:rPr>
              <a:t>1</a:t>
            </a:r>
            <a:r>
              <a:rPr dirty="0" baseline="42397" sz="2850" spc="-240">
                <a:latin typeface="Times New Roman"/>
                <a:cs typeface="Times New Roman"/>
              </a:rPr>
              <a:t> </a:t>
            </a:r>
            <a:r>
              <a:rPr dirty="0" sz="3250" spc="5">
                <a:latin typeface="Times New Roman"/>
                <a:cs typeface="Times New Roman"/>
              </a:rPr>
              <a:t>n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93352" y="2854960"/>
            <a:ext cx="612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006FC0"/>
                </a:solidFill>
                <a:latin typeface="微软雅黑"/>
                <a:cs typeface="微软雅黑"/>
              </a:rPr>
              <a:t>求：该核反应释放的能量和平均每个核子释放的能量</a:t>
            </a:r>
            <a:r>
              <a:rPr dirty="0" sz="2000" spc="5">
                <a:solidFill>
                  <a:srgbClr val="006FC0"/>
                </a:solidFill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85402" y="5186997"/>
            <a:ext cx="2820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平均每个核子释放能量</a:t>
            </a:r>
            <a:r>
              <a:rPr dirty="0" sz="2000" spc="5"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8629" y="1804708"/>
            <a:ext cx="2694305" cy="362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16230">
              <a:lnSpc>
                <a:spcPts val="785"/>
              </a:lnSpc>
              <a:spcBef>
                <a:spcPts val="105"/>
              </a:spcBef>
            </a:pPr>
            <a:r>
              <a:rPr dirty="0" sz="1250" spc="-5">
                <a:latin typeface="Symbol"/>
                <a:cs typeface="Symbol"/>
              </a:rPr>
              <a:t></a:t>
            </a:r>
            <a:r>
              <a:rPr dirty="0" sz="1250">
                <a:latin typeface="Times New Roman"/>
                <a:cs typeface="Times New Roman"/>
              </a:rPr>
              <a:t>27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ts val="1864"/>
              </a:lnSpc>
              <a:tabLst>
                <a:tab pos="2407920" algn="l"/>
              </a:tabLst>
            </a:pPr>
            <a:r>
              <a:rPr dirty="0" sz="2150" spc="5" i="1">
                <a:latin typeface="Times New Roman"/>
                <a:cs typeface="Times New Roman"/>
              </a:rPr>
              <a:t>m</a:t>
            </a:r>
            <a:r>
              <a:rPr dirty="0" baseline="-24444" sz="1875">
                <a:latin typeface="Times New Roman"/>
                <a:cs typeface="Times New Roman"/>
              </a:rPr>
              <a:t>U</a:t>
            </a:r>
            <a:r>
              <a:rPr dirty="0" baseline="-24444" sz="1875">
                <a:latin typeface="Times New Roman"/>
                <a:cs typeface="Times New Roman"/>
              </a:rPr>
              <a:t> </a:t>
            </a:r>
            <a:r>
              <a:rPr dirty="0" baseline="-24444" sz="1875" spc="187">
                <a:latin typeface="Times New Roman"/>
                <a:cs typeface="Times New Roman"/>
              </a:rPr>
              <a:t> </a:t>
            </a:r>
            <a:r>
              <a:rPr dirty="0" sz="2150">
                <a:latin typeface="Symbol"/>
                <a:cs typeface="Symbol"/>
              </a:rPr>
              <a:t></a:t>
            </a:r>
            <a:r>
              <a:rPr dirty="0" sz="2150" spc="-100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39</a:t>
            </a:r>
            <a:r>
              <a:rPr dirty="0" sz="2150" spc="10">
                <a:latin typeface="Times New Roman"/>
                <a:cs typeface="Times New Roman"/>
              </a:rPr>
              <a:t>0</a:t>
            </a:r>
            <a:r>
              <a:rPr dirty="0" sz="2150">
                <a:latin typeface="Times New Roman"/>
                <a:cs typeface="Times New Roman"/>
              </a:rPr>
              <a:t>.3139</a:t>
            </a:r>
            <a:r>
              <a:rPr dirty="0" sz="2150" spc="-325">
                <a:latin typeface="Times New Roman"/>
                <a:cs typeface="Times New Roman"/>
              </a:rPr>
              <a:t> </a:t>
            </a:r>
            <a:r>
              <a:rPr dirty="0" sz="2150" spc="65">
                <a:latin typeface="Symbol"/>
                <a:cs typeface="Symbol"/>
              </a:rPr>
              <a:t></a:t>
            </a:r>
            <a:r>
              <a:rPr dirty="0" sz="2150">
                <a:latin typeface="Times New Roman"/>
                <a:cs typeface="Times New Roman"/>
              </a:rPr>
              <a:t>10	kg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11859" y="1278487"/>
            <a:ext cx="2351405" cy="887094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764540">
              <a:lnSpc>
                <a:spcPct val="100000"/>
              </a:lnSpc>
              <a:spcBef>
                <a:spcPts val="1220"/>
              </a:spcBef>
            </a:pPr>
            <a:r>
              <a:rPr dirty="0" sz="190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  <a:p>
            <a:pPr algn="r" marR="315595">
              <a:lnSpc>
                <a:spcPts val="780"/>
              </a:lnSpc>
              <a:spcBef>
                <a:spcPts val="740"/>
              </a:spcBef>
            </a:pPr>
            <a:r>
              <a:rPr dirty="0" sz="1250" spc="-10">
                <a:latin typeface="Symbol"/>
                <a:cs typeface="Symbol"/>
              </a:rPr>
              <a:t></a:t>
            </a:r>
            <a:r>
              <a:rPr dirty="0" sz="1250">
                <a:latin typeface="Times New Roman"/>
                <a:cs typeface="Times New Roman"/>
              </a:rPr>
              <a:t>27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ts val="1860"/>
              </a:lnSpc>
              <a:tabLst>
                <a:tab pos="2063750" algn="l"/>
              </a:tabLst>
            </a:pPr>
            <a:r>
              <a:rPr dirty="0" sz="2150" spc="-20" i="1">
                <a:latin typeface="Times New Roman"/>
                <a:cs typeface="Times New Roman"/>
              </a:rPr>
              <a:t>m</a:t>
            </a:r>
            <a:r>
              <a:rPr dirty="0" baseline="-24444" sz="1875">
                <a:latin typeface="Times New Roman"/>
                <a:cs typeface="Times New Roman"/>
              </a:rPr>
              <a:t>n</a:t>
            </a:r>
            <a:r>
              <a:rPr dirty="0" baseline="-24444" sz="1875">
                <a:latin typeface="Times New Roman"/>
                <a:cs typeface="Times New Roman"/>
              </a:rPr>
              <a:t> </a:t>
            </a:r>
            <a:r>
              <a:rPr dirty="0" baseline="-24444" sz="1875" spc="209">
                <a:latin typeface="Times New Roman"/>
                <a:cs typeface="Times New Roman"/>
              </a:rPr>
              <a:t> </a:t>
            </a:r>
            <a:r>
              <a:rPr dirty="0" sz="2150">
                <a:latin typeface="Symbol"/>
                <a:cs typeface="Symbol"/>
              </a:rPr>
              <a:t></a:t>
            </a:r>
            <a:r>
              <a:rPr dirty="0" sz="2150" spc="-280">
                <a:latin typeface="Times New Roman"/>
                <a:cs typeface="Times New Roman"/>
              </a:rPr>
              <a:t> </a:t>
            </a:r>
            <a:r>
              <a:rPr dirty="0" sz="2150" spc="-5">
                <a:latin typeface="Times New Roman"/>
                <a:cs typeface="Times New Roman"/>
              </a:rPr>
              <a:t>1.</a:t>
            </a:r>
            <a:r>
              <a:rPr dirty="0" sz="2150" spc="5">
                <a:latin typeface="Times New Roman"/>
                <a:cs typeface="Times New Roman"/>
              </a:rPr>
              <a:t>674</a:t>
            </a:r>
            <a:r>
              <a:rPr dirty="0" sz="2150" spc="160">
                <a:latin typeface="Times New Roman"/>
                <a:cs typeface="Times New Roman"/>
              </a:rPr>
              <a:t>9</a:t>
            </a:r>
            <a:r>
              <a:rPr dirty="0" sz="2150" spc="55">
                <a:latin typeface="Symbol"/>
                <a:cs typeface="Symbol"/>
              </a:rPr>
              <a:t></a:t>
            </a:r>
            <a:r>
              <a:rPr dirty="0" sz="2150" spc="5">
                <a:latin typeface="Times New Roman"/>
                <a:cs typeface="Times New Roman"/>
              </a:rPr>
              <a:t>1</a:t>
            </a:r>
            <a:r>
              <a:rPr dirty="0" sz="2150">
                <a:latin typeface="Times New Roman"/>
                <a:cs typeface="Times New Roman"/>
              </a:rPr>
              <a:t>0	</a:t>
            </a:r>
            <a:r>
              <a:rPr dirty="0" sz="2150" spc="5">
                <a:latin typeface="Times New Roman"/>
                <a:cs typeface="Times New Roman"/>
              </a:rPr>
              <a:t>k</a:t>
            </a:r>
            <a:r>
              <a:rPr dirty="0" sz="2150">
                <a:latin typeface="Times New Roman"/>
                <a:cs typeface="Times New Roman"/>
              </a:rPr>
              <a:t>g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61258" y="2333828"/>
            <a:ext cx="294195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3715" algn="l"/>
              </a:tabLst>
            </a:pPr>
            <a:r>
              <a:rPr dirty="0" sz="2300" i="1">
                <a:latin typeface="Times New Roman"/>
                <a:cs typeface="Times New Roman"/>
              </a:rPr>
              <a:t>m	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 </a:t>
            </a:r>
            <a:r>
              <a:rPr dirty="0" sz="2300" spc="20">
                <a:latin typeface="Times New Roman"/>
                <a:cs typeface="Times New Roman"/>
              </a:rPr>
              <a:t>234.0016</a:t>
            </a:r>
            <a:r>
              <a:rPr dirty="0" sz="2300" spc="20">
                <a:latin typeface="Symbol"/>
                <a:cs typeface="Symbol"/>
              </a:rPr>
              <a:t></a:t>
            </a:r>
            <a:r>
              <a:rPr dirty="0" sz="2300" spc="20">
                <a:latin typeface="Times New Roman"/>
                <a:cs typeface="Times New Roman"/>
              </a:rPr>
              <a:t>10</a:t>
            </a:r>
            <a:r>
              <a:rPr dirty="0" baseline="43209" sz="2025" spc="30">
                <a:latin typeface="Symbol"/>
                <a:cs typeface="Symbol"/>
              </a:rPr>
              <a:t></a:t>
            </a:r>
            <a:r>
              <a:rPr dirty="0" baseline="43209" sz="2025" spc="30">
                <a:latin typeface="Times New Roman"/>
                <a:cs typeface="Times New Roman"/>
              </a:rPr>
              <a:t>27</a:t>
            </a:r>
            <a:r>
              <a:rPr dirty="0" baseline="43209" sz="2025" spc="-19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kg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69944" y="2532722"/>
            <a:ext cx="4267200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070350" algn="l"/>
              </a:tabLst>
            </a:pPr>
            <a:r>
              <a:rPr dirty="0" baseline="2057" sz="2025" spc="-15">
                <a:latin typeface="Times New Roman"/>
                <a:cs typeface="Times New Roman"/>
              </a:rPr>
              <a:t>B</a:t>
            </a:r>
            <a:r>
              <a:rPr dirty="0" baseline="2057" sz="2025" spc="-7">
                <a:latin typeface="Times New Roman"/>
                <a:cs typeface="Times New Roman"/>
              </a:rPr>
              <a:t>a</a:t>
            </a:r>
            <a:r>
              <a:rPr dirty="0" baseline="2057" sz="2025">
                <a:latin typeface="Times New Roman"/>
                <a:cs typeface="Times New Roman"/>
              </a:rPr>
              <a:t>	</a:t>
            </a:r>
            <a:r>
              <a:rPr dirty="0" sz="1350" spc="5">
                <a:latin typeface="Times New Roman"/>
                <a:cs typeface="Times New Roman"/>
              </a:rPr>
              <a:t>Kr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15580" y="2334590"/>
            <a:ext cx="295592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2445" algn="l"/>
              </a:tabLst>
            </a:pPr>
            <a:r>
              <a:rPr dirty="0" sz="2350" spc="-10" i="1">
                <a:latin typeface="Times New Roman"/>
                <a:cs typeface="Times New Roman"/>
              </a:rPr>
              <a:t>m	</a:t>
            </a:r>
            <a:r>
              <a:rPr dirty="0" sz="2350" spc="-5">
                <a:latin typeface="Symbol"/>
                <a:cs typeface="Symbol"/>
              </a:rPr>
              <a:t></a:t>
            </a:r>
            <a:r>
              <a:rPr dirty="0" sz="2350" spc="-325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152.6047</a:t>
            </a:r>
            <a:r>
              <a:rPr dirty="0" sz="2350" spc="-360">
                <a:latin typeface="Times New Roman"/>
                <a:cs typeface="Times New Roman"/>
              </a:rPr>
              <a:t> </a:t>
            </a:r>
            <a:r>
              <a:rPr dirty="0" sz="2350" spc="25">
                <a:latin typeface="Symbol"/>
                <a:cs typeface="Symbol"/>
              </a:rPr>
              <a:t></a:t>
            </a:r>
            <a:r>
              <a:rPr dirty="0" sz="2350" spc="25">
                <a:latin typeface="Times New Roman"/>
                <a:cs typeface="Times New Roman"/>
              </a:rPr>
              <a:t>10</a:t>
            </a:r>
            <a:r>
              <a:rPr dirty="0" baseline="43209" sz="2025" spc="37">
                <a:latin typeface="Symbol"/>
                <a:cs typeface="Symbol"/>
              </a:rPr>
              <a:t></a:t>
            </a:r>
            <a:r>
              <a:rPr dirty="0" baseline="43209" sz="2025" spc="37">
                <a:latin typeface="Times New Roman"/>
                <a:cs typeface="Times New Roman"/>
              </a:rPr>
              <a:t>27</a:t>
            </a:r>
            <a:r>
              <a:rPr dirty="0" baseline="43209" sz="2025" spc="-52">
                <a:latin typeface="Times New Roman"/>
                <a:cs typeface="Times New Roman"/>
              </a:rPr>
              <a:t> </a:t>
            </a:r>
            <a:r>
              <a:rPr dirty="0" sz="2350" spc="-5">
                <a:latin typeface="Times New Roman"/>
                <a:cs typeface="Times New Roman"/>
              </a:rPr>
              <a:t>kg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82662" y="3320415"/>
            <a:ext cx="3354070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4444" sz="3750" spc="22">
                <a:latin typeface="Symbol"/>
                <a:cs typeface="Symbol"/>
              </a:rPr>
              <a:t></a:t>
            </a:r>
            <a:r>
              <a:rPr dirty="0" baseline="4444" sz="3750" spc="22">
                <a:latin typeface="Times New Roman"/>
                <a:cs typeface="Times New Roman"/>
              </a:rPr>
              <a:t> </a:t>
            </a:r>
            <a:r>
              <a:rPr dirty="0" baseline="4444" sz="3750">
                <a:latin typeface="Times New Roman"/>
                <a:cs typeface="Times New Roman"/>
              </a:rPr>
              <a:t>3</a:t>
            </a:r>
            <a:r>
              <a:rPr dirty="0" baseline="4444" sz="3750" i="1">
                <a:latin typeface="Times New Roman"/>
                <a:cs typeface="Times New Roman"/>
              </a:rPr>
              <a:t>m</a:t>
            </a:r>
            <a:r>
              <a:rPr dirty="0" baseline="-15325" sz="2175">
                <a:latin typeface="Times New Roman"/>
                <a:cs typeface="Times New Roman"/>
              </a:rPr>
              <a:t>n </a:t>
            </a:r>
            <a:r>
              <a:rPr dirty="0" baseline="4444" sz="3750" spc="15">
                <a:latin typeface="Times New Roman"/>
                <a:cs typeface="Times New Roman"/>
              </a:rPr>
              <a:t>) </a:t>
            </a:r>
            <a:r>
              <a:rPr dirty="0" sz="2500" spc="15">
                <a:latin typeface="Symbol"/>
                <a:cs typeface="Symbol"/>
              </a:rPr>
              <a:t>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 spc="45">
                <a:latin typeface="Times New Roman"/>
                <a:cs typeface="Times New Roman"/>
              </a:rPr>
              <a:t>0.3578</a:t>
            </a:r>
            <a:r>
              <a:rPr dirty="0" sz="2500" spc="45">
                <a:latin typeface="Symbol"/>
                <a:cs typeface="Symbol"/>
              </a:rPr>
              <a:t></a:t>
            </a:r>
            <a:r>
              <a:rPr dirty="0" sz="2500" spc="45">
                <a:latin typeface="Times New Roman"/>
                <a:cs typeface="Times New Roman"/>
              </a:rPr>
              <a:t>10</a:t>
            </a:r>
            <a:r>
              <a:rPr dirty="0" baseline="44061" sz="2175" spc="67">
                <a:latin typeface="Symbol"/>
                <a:cs typeface="Symbol"/>
              </a:rPr>
              <a:t></a:t>
            </a:r>
            <a:r>
              <a:rPr dirty="0" baseline="44061" sz="2175" spc="67">
                <a:latin typeface="Times New Roman"/>
                <a:cs typeface="Times New Roman"/>
              </a:rPr>
              <a:t>27</a:t>
            </a:r>
            <a:r>
              <a:rPr dirty="0" baseline="44061" sz="2175" spc="-37">
                <a:latin typeface="Times New Roman"/>
                <a:cs typeface="Times New Roman"/>
              </a:rPr>
              <a:t> </a:t>
            </a:r>
            <a:r>
              <a:rPr dirty="0" sz="2500" spc="15">
                <a:latin typeface="Times New Roman"/>
                <a:cs typeface="Times New Roman"/>
              </a:rPr>
              <a:t>kg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01178" y="4449051"/>
            <a:ext cx="1888489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spc="20">
                <a:latin typeface="Symbol"/>
                <a:cs typeface="Symbol"/>
              </a:rPr>
              <a:t></a:t>
            </a:r>
            <a:r>
              <a:rPr dirty="0" sz="2500" spc="20" i="1">
                <a:latin typeface="Times New Roman"/>
                <a:cs typeface="Times New Roman"/>
              </a:rPr>
              <a:t>E </a:t>
            </a:r>
            <a:r>
              <a:rPr dirty="0" sz="2500" spc="15">
                <a:latin typeface="Symbol"/>
                <a:cs typeface="Symbol"/>
              </a:rPr>
              <a:t>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201MeV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646623" y="5375389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 h="0">
                <a:moveTo>
                  <a:pt x="0" y="0"/>
                </a:moveTo>
                <a:lnTo>
                  <a:pt x="1169657" y="0"/>
                </a:lnTo>
              </a:path>
            </a:pathLst>
          </a:custGeom>
          <a:ln w="134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81446" y="5374487"/>
            <a:ext cx="508634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spc="15">
                <a:latin typeface="Times New Roman"/>
                <a:cs typeface="Times New Roman"/>
              </a:rPr>
              <a:t>236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55792" y="5122341"/>
            <a:ext cx="2733040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35555" sz="3750" spc="-15">
                <a:latin typeface="Times New Roman"/>
                <a:cs typeface="Times New Roman"/>
              </a:rPr>
              <a:t>201MeV </a:t>
            </a:r>
            <a:r>
              <a:rPr dirty="0" sz="2500" spc="15">
                <a:latin typeface="Symbol"/>
                <a:cs typeface="Symbol"/>
              </a:rPr>
              <a:t></a:t>
            </a:r>
            <a:r>
              <a:rPr dirty="0" sz="2500" spc="130">
                <a:latin typeface="Times New Roman"/>
                <a:cs typeface="Times New Roman"/>
              </a:rPr>
              <a:t> </a:t>
            </a:r>
            <a:r>
              <a:rPr dirty="0" sz="2500" spc="15">
                <a:latin typeface="Times New Roman"/>
                <a:cs typeface="Times New Roman"/>
              </a:rPr>
              <a:t>0.85MeV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83677" y="5942965"/>
            <a:ext cx="102958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铀核裂变时如果生成物不同，释放的能量也有差异。一个铀</a:t>
            </a:r>
            <a:r>
              <a:rPr dirty="0" sz="1800" spc="-2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235</a:t>
            </a:r>
            <a:r>
              <a:rPr dirty="0" sz="1800" spc="-2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核裂变时释放的能量如果按</a:t>
            </a:r>
            <a:r>
              <a:rPr dirty="0" sz="1800" spc="-2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200</a:t>
            </a:r>
            <a:r>
              <a:rPr dirty="0" sz="1800" spc="-2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MeV  </a:t>
            </a:r>
            <a:r>
              <a:rPr dirty="0" sz="1800">
                <a:latin typeface="微软雅黑"/>
                <a:cs typeface="微软雅黑"/>
              </a:rPr>
              <a:t>估算，1</a:t>
            </a:r>
            <a:r>
              <a:rPr dirty="0" sz="1800" spc="-5">
                <a:latin typeface="微软雅黑"/>
                <a:cs typeface="微软雅黑"/>
              </a:rPr>
              <a:t> </a:t>
            </a:r>
            <a:r>
              <a:rPr dirty="0" sz="1800" spc="-20">
                <a:latin typeface="微软雅黑"/>
                <a:cs typeface="微软雅黑"/>
              </a:rPr>
              <a:t>kg</a:t>
            </a:r>
            <a:r>
              <a:rPr dirty="0" sz="1800" spc="-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铀</a:t>
            </a:r>
            <a:r>
              <a:rPr dirty="0" sz="1800" spc="-5">
                <a:latin typeface="微软雅黑"/>
                <a:cs typeface="微软雅黑"/>
              </a:rPr>
              <a:t>235 </a:t>
            </a:r>
            <a:r>
              <a:rPr dirty="0" sz="1800">
                <a:latin typeface="微软雅黑"/>
                <a:cs typeface="微软雅黑"/>
              </a:rPr>
              <a:t>全部裂变时放出的能量就相当于</a:t>
            </a:r>
            <a:r>
              <a:rPr dirty="0" sz="1800" spc="-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2</a:t>
            </a:r>
            <a:r>
              <a:rPr dirty="0" sz="1800" spc="-5">
                <a:latin typeface="微软雅黑"/>
                <a:cs typeface="微软雅黑"/>
              </a:rPr>
              <a:t> 800 </a:t>
            </a:r>
            <a:r>
              <a:rPr dirty="0" sz="1800">
                <a:latin typeface="微软雅黑"/>
                <a:cs typeface="微软雅黑"/>
              </a:rPr>
              <a:t>t</a:t>
            </a:r>
            <a:r>
              <a:rPr dirty="0" sz="1800" spc="-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标准煤完全燃烧时释放的化学能！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>
                <a:latin typeface="微软雅黑"/>
                <a:cs typeface="微软雅黑"/>
              </a:rPr>
              <a:t>亏损质量</a:t>
            </a:r>
            <a:r>
              <a:rPr dirty="0" sz="2000" spc="5">
                <a:latin typeface="微软雅黑"/>
                <a:cs typeface="微软雅黑"/>
              </a:rPr>
              <a:t>：</a:t>
            </a:r>
            <a:r>
              <a:rPr dirty="0" sz="2000" spc="-160">
                <a:latin typeface="微软雅黑"/>
                <a:cs typeface="微软雅黑"/>
              </a:rPr>
              <a:t> </a:t>
            </a:r>
            <a:r>
              <a:rPr dirty="0" baseline="1111" sz="3750" spc="30">
                <a:latin typeface="Symbol"/>
                <a:cs typeface="Symbol"/>
              </a:rPr>
              <a:t></a:t>
            </a:r>
            <a:r>
              <a:rPr dirty="0" baseline="1111" sz="3750" spc="30" i="1">
                <a:latin typeface="Times New Roman"/>
                <a:cs typeface="Times New Roman"/>
              </a:rPr>
              <a:t>m</a:t>
            </a:r>
            <a:r>
              <a:rPr dirty="0" baseline="1111" sz="3750" spc="-60" i="1">
                <a:latin typeface="Times New Roman"/>
                <a:cs typeface="Times New Roman"/>
              </a:rPr>
              <a:t> </a:t>
            </a:r>
            <a:r>
              <a:rPr dirty="0" baseline="1111" sz="3750" spc="-277">
                <a:latin typeface="Symbol"/>
                <a:cs typeface="Symbol"/>
              </a:rPr>
              <a:t></a:t>
            </a:r>
            <a:r>
              <a:rPr dirty="0" baseline="1111" sz="3750" spc="-277">
                <a:latin typeface="宋体"/>
                <a:cs typeface="宋体"/>
              </a:rPr>
              <a:t>（</a:t>
            </a:r>
            <a:r>
              <a:rPr dirty="0" baseline="1111" sz="3750" spc="-277" i="1">
                <a:latin typeface="Times New Roman"/>
                <a:cs typeface="Times New Roman"/>
              </a:rPr>
              <a:t>m</a:t>
            </a:r>
            <a:r>
              <a:rPr dirty="0" baseline="-22988" sz="2175" spc="-277"/>
              <a:t>U</a:t>
            </a:r>
            <a:r>
              <a:rPr dirty="0" baseline="-22988" sz="2175" spc="-262"/>
              <a:t> </a:t>
            </a:r>
            <a:r>
              <a:rPr dirty="0" baseline="1111" sz="3750" spc="22">
                <a:latin typeface="Symbol"/>
                <a:cs typeface="Symbol"/>
              </a:rPr>
              <a:t></a:t>
            </a:r>
            <a:r>
              <a:rPr dirty="0" baseline="1111" sz="3750" spc="-232"/>
              <a:t> </a:t>
            </a:r>
            <a:r>
              <a:rPr dirty="0" baseline="1111" sz="3750" spc="15" i="1">
                <a:latin typeface="Times New Roman"/>
                <a:cs typeface="Times New Roman"/>
              </a:rPr>
              <a:t>m</a:t>
            </a:r>
            <a:r>
              <a:rPr dirty="0" baseline="-22988" sz="2175" spc="15"/>
              <a:t>n</a:t>
            </a:r>
            <a:r>
              <a:rPr dirty="0" baseline="-22988" sz="2175" spc="-15"/>
              <a:t> </a:t>
            </a:r>
            <a:r>
              <a:rPr dirty="0" baseline="1111" sz="3750" spc="15"/>
              <a:t>)</a:t>
            </a:r>
            <a:r>
              <a:rPr dirty="0" baseline="1111" sz="3750" spc="-307"/>
              <a:t> </a:t>
            </a:r>
            <a:r>
              <a:rPr dirty="0" baseline="1111" sz="3750" spc="22">
                <a:latin typeface="Symbol"/>
                <a:cs typeface="Symbol"/>
              </a:rPr>
              <a:t></a:t>
            </a:r>
            <a:r>
              <a:rPr dirty="0" baseline="1111" sz="3750" spc="-345"/>
              <a:t> </a:t>
            </a:r>
            <a:r>
              <a:rPr dirty="0" baseline="1111" sz="3750" spc="44"/>
              <a:t>(</a:t>
            </a:r>
            <a:r>
              <a:rPr dirty="0" baseline="1111" sz="3750" spc="44" i="1">
                <a:latin typeface="Times New Roman"/>
                <a:cs typeface="Times New Roman"/>
              </a:rPr>
              <a:t>m</a:t>
            </a:r>
            <a:r>
              <a:rPr dirty="0" baseline="-22988" sz="2175" spc="44"/>
              <a:t>Ba</a:t>
            </a:r>
            <a:r>
              <a:rPr dirty="0" baseline="-22988" sz="2175" spc="577"/>
              <a:t> </a:t>
            </a:r>
            <a:r>
              <a:rPr dirty="0" baseline="1111" sz="3750" spc="22">
                <a:latin typeface="Symbol"/>
                <a:cs typeface="Symbol"/>
              </a:rPr>
              <a:t></a:t>
            </a:r>
            <a:r>
              <a:rPr dirty="0" baseline="1111" sz="3750" spc="-232"/>
              <a:t> </a:t>
            </a:r>
            <a:r>
              <a:rPr dirty="0" baseline="1111" sz="3750" spc="15" i="1">
                <a:latin typeface="Times New Roman"/>
                <a:cs typeface="Times New Roman"/>
              </a:rPr>
              <a:t>m</a:t>
            </a:r>
            <a:r>
              <a:rPr dirty="0" baseline="-22988" sz="2175" spc="15"/>
              <a:t>Kr</a:t>
            </a:r>
            <a:endParaRPr baseline="-22988" sz="2175">
              <a:latin typeface="Times New Roman"/>
              <a:cs typeface="Times New Roman"/>
            </a:endParaRPr>
          </a:p>
          <a:p>
            <a:pPr marL="1297305" marR="38100" indent="-1285240">
              <a:lnSpc>
                <a:spcPct val="146800"/>
              </a:lnSpc>
              <a:spcBef>
                <a:spcPts val="670"/>
              </a:spcBef>
              <a:tabLst>
                <a:tab pos="2902585" algn="l"/>
              </a:tabLst>
            </a:pPr>
            <a:r>
              <a:rPr dirty="0" baseline="8333" sz="3000">
                <a:latin typeface="微软雅黑"/>
                <a:cs typeface="微软雅黑"/>
              </a:rPr>
              <a:t>释放能量</a:t>
            </a:r>
            <a:r>
              <a:rPr dirty="0" baseline="8333" sz="3000" spc="7">
                <a:latin typeface="微软雅黑"/>
                <a:cs typeface="微软雅黑"/>
              </a:rPr>
              <a:t>：</a:t>
            </a:r>
            <a:r>
              <a:rPr dirty="0" baseline="8333" sz="3000" spc="-322">
                <a:latin typeface="微软雅黑"/>
                <a:cs typeface="微软雅黑"/>
              </a:rPr>
              <a:t> </a:t>
            </a:r>
            <a:r>
              <a:rPr dirty="0" sz="2500" spc="15">
                <a:latin typeface="Symbol"/>
                <a:cs typeface="Symbol"/>
              </a:rPr>
              <a:t></a:t>
            </a:r>
            <a:r>
              <a:rPr dirty="0" sz="2500" spc="15" i="1">
                <a:latin typeface="Times New Roman"/>
                <a:cs typeface="Times New Roman"/>
              </a:rPr>
              <a:t>E</a:t>
            </a:r>
            <a:r>
              <a:rPr dirty="0" sz="2500" spc="95" i="1">
                <a:latin typeface="Times New Roman"/>
                <a:cs typeface="Times New Roman"/>
              </a:rPr>
              <a:t> </a:t>
            </a:r>
            <a:r>
              <a:rPr dirty="0" sz="2500" spc="15">
                <a:latin typeface="Symbol"/>
                <a:cs typeface="Symbol"/>
              </a:rPr>
              <a:t></a:t>
            </a:r>
            <a:r>
              <a:rPr dirty="0" sz="2500" spc="-25"/>
              <a:t> </a:t>
            </a:r>
            <a:r>
              <a:rPr dirty="0" sz="2500" spc="55">
                <a:latin typeface="Symbol"/>
                <a:cs typeface="Symbol"/>
              </a:rPr>
              <a:t></a:t>
            </a:r>
            <a:r>
              <a:rPr dirty="0" sz="2500" spc="55" i="1">
                <a:latin typeface="Times New Roman"/>
                <a:cs typeface="Times New Roman"/>
              </a:rPr>
              <a:t>mc</a:t>
            </a:r>
            <a:r>
              <a:rPr dirty="0" baseline="44061" sz="2175" spc="82"/>
              <a:t>2	</a:t>
            </a:r>
            <a:r>
              <a:rPr dirty="0" sz="2500" spc="15">
                <a:latin typeface="Symbol"/>
                <a:cs typeface="Symbol"/>
              </a:rPr>
              <a:t></a:t>
            </a:r>
            <a:r>
              <a:rPr dirty="0" sz="2500" spc="-150"/>
              <a:t> </a:t>
            </a:r>
            <a:r>
              <a:rPr dirty="0" sz="2500" spc="10"/>
              <a:t>3.2202</a:t>
            </a:r>
            <a:r>
              <a:rPr dirty="0" sz="2500" spc="-370"/>
              <a:t> </a:t>
            </a:r>
            <a:r>
              <a:rPr dirty="0" sz="2500" spc="35">
                <a:latin typeface="Symbol"/>
                <a:cs typeface="Symbol"/>
              </a:rPr>
              <a:t></a:t>
            </a:r>
            <a:r>
              <a:rPr dirty="0" sz="2500" spc="35"/>
              <a:t>10</a:t>
            </a:r>
            <a:r>
              <a:rPr dirty="0" baseline="44061" sz="2175" spc="52"/>
              <a:t>-11</a:t>
            </a:r>
            <a:r>
              <a:rPr dirty="0" baseline="44061" sz="2175" spc="-247"/>
              <a:t> </a:t>
            </a:r>
            <a:r>
              <a:rPr dirty="0" sz="2500" spc="10"/>
              <a:t>J  </a:t>
            </a:r>
            <a:r>
              <a:rPr dirty="0" sz="2500" spc="-50"/>
              <a:t>1eV</a:t>
            </a:r>
            <a:r>
              <a:rPr dirty="0" sz="2500" spc="-5"/>
              <a:t> </a:t>
            </a:r>
            <a:r>
              <a:rPr dirty="0" sz="2500" spc="15">
                <a:latin typeface="Symbol"/>
                <a:cs typeface="Symbol"/>
              </a:rPr>
              <a:t></a:t>
            </a:r>
            <a:r>
              <a:rPr dirty="0" sz="2500" spc="-310"/>
              <a:t> </a:t>
            </a:r>
            <a:r>
              <a:rPr dirty="0" sz="2500" spc="5"/>
              <a:t>1.6</a:t>
            </a:r>
            <a:r>
              <a:rPr dirty="0" sz="2500" spc="-365"/>
              <a:t> </a:t>
            </a:r>
            <a:r>
              <a:rPr dirty="0" sz="2500" spc="35">
                <a:latin typeface="Symbol"/>
                <a:cs typeface="Symbol"/>
              </a:rPr>
              <a:t></a:t>
            </a:r>
            <a:r>
              <a:rPr dirty="0" sz="2500" spc="35"/>
              <a:t>10</a:t>
            </a:r>
            <a:r>
              <a:rPr dirty="0" baseline="44061" sz="2175" spc="52"/>
              <a:t>-19</a:t>
            </a:r>
            <a:r>
              <a:rPr dirty="0" baseline="44061" sz="2175" spc="-89"/>
              <a:t> </a:t>
            </a:r>
            <a:r>
              <a:rPr dirty="0" sz="2500" spc="10"/>
              <a:t>J</a:t>
            </a:r>
            <a:endParaRPr sz="25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链式反应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63796" y="1147572"/>
            <a:ext cx="4242815" cy="3136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58439" y="5026025"/>
            <a:ext cx="8559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由重核裂变产生的中子使裂变反应一代接一代继续下去的过程， 叫做核裂变的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链式反应</a:t>
            </a:r>
            <a:r>
              <a:rPr dirty="0" sz="2400" spc="-5">
                <a:latin typeface="微软雅黑"/>
                <a:cs typeface="微软雅黑"/>
              </a:rPr>
              <a:t>（chainreaction）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临界体积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53639" y="1363662"/>
            <a:ext cx="8864600" cy="2900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链式反应要发生是有条件的！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400">
                <a:latin typeface="微软雅黑"/>
                <a:cs typeface="微软雅黑"/>
              </a:rPr>
              <a:t>减少裂变物质中的杂质，要浓缩铀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045"/>
              </a:spcBef>
            </a:pPr>
            <a:r>
              <a:rPr dirty="0" sz="2400">
                <a:latin typeface="微软雅黑"/>
                <a:cs typeface="微软雅黑"/>
              </a:rPr>
              <a:t>通常把裂变物质能够发生链式反应的最小体积叫做它的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临界体积</a:t>
            </a:r>
            <a:r>
              <a:rPr dirty="0" sz="2400">
                <a:latin typeface="微软雅黑"/>
                <a:cs typeface="微软雅黑"/>
              </a:rPr>
              <a:t>， 相应的质量叫做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临界质量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53639" y="5213984"/>
            <a:ext cx="85013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铀</a:t>
            </a:r>
            <a:r>
              <a:rPr dirty="0" sz="2000" spc="-5">
                <a:latin typeface="微软雅黑"/>
                <a:cs typeface="微软雅黑"/>
              </a:rPr>
              <a:t>235</a:t>
            </a:r>
            <a:r>
              <a:rPr dirty="0" sz="2000">
                <a:latin typeface="微软雅黑"/>
                <a:cs typeface="微软雅黑"/>
              </a:rPr>
              <a:t>的临界体积（球形）直径只有</a:t>
            </a:r>
            <a:r>
              <a:rPr dirty="0" sz="2000" spc="-5">
                <a:latin typeface="微软雅黑"/>
                <a:cs typeface="微软雅黑"/>
              </a:rPr>
              <a:t>4.8cm，</a:t>
            </a:r>
            <a:r>
              <a:rPr dirty="0" sz="2000">
                <a:latin typeface="微软雅黑"/>
                <a:cs typeface="微软雅黑"/>
              </a:rPr>
              <a:t>相应的临界质量只有</a:t>
            </a:r>
            <a:r>
              <a:rPr dirty="0" sz="2000" spc="-20">
                <a:latin typeface="微软雅黑"/>
                <a:cs typeface="微软雅黑"/>
              </a:rPr>
              <a:t>1kg</a:t>
            </a:r>
            <a:r>
              <a:rPr dirty="0" sz="2000">
                <a:latin typeface="微软雅黑"/>
                <a:cs typeface="微软雅黑"/>
              </a:rPr>
              <a:t>左右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原子弹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48864" y="1465262"/>
            <a:ext cx="8559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原子弹是利用重核裂变的链式反应制成的，在极短时间内能够释 放大量核能，发生猛烈爆炸。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8389" y="3258185"/>
            <a:ext cx="8622665" cy="155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原子弹的燃料是</a:t>
            </a:r>
            <a:r>
              <a:rPr dirty="0" baseline="21367" sz="1950" spc="-7">
                <a:latin typeface="微软雅黑"/>
                <a:cs typeface="微软雅黑"/>
              </a:rPr>
              <a:t>235</a:t>
            </a:r>
            <a:r>
              <a:rPr dirty="0" sz="2000" spc="-5">
                <a:latin typeface="微软雅黑"/>
                <a:cs typeface="微软雅黑"/>
              </a:rPr>
              <a:t>U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（铀）或</a:t>
            </a:r>
            <a:r>
              <a:rPr dirty="0" baseline="21367" sz="1950" spc="-7">
                <a:latin typeface="微软雅黑"/>
                <a:cs typeface="微软雅黑"/>
              </a:rPr>
              <a:t>239</a:t>
            </a:r>
            <a:r>
              <a:rPr dirty="0" sz="2000" spc="-5">
                <a:latin typeface="微软雅黑"/>
                <a:cs typeface="微软雅黑"/>
              </a:rPr>
              <a:t>Pu（</a:t>
            </a:r>
            <a:r>
              <a:rPr dirty="0" sz="2000">
                <a:latin typeface="微软雅黑"/>
                <a:cs typeface="微软雅黑"/>
              </a:rPr>
              <a:t>钚）。在天然铀中只</a:t>
            </a:r>
            <a:r>
              <a:rPr dirty="0" sz="2000" spc="5">
                <a:latin typeface="微软雅黑"/>
                <a:cs typeface="微软雅黑"/>
              </a:rPr>
              <a:t>有</a:t>
            </a:r>
            <a:r>
              <a:rPr dirty="0" sz="2000" spc="-20">
                <a:latin typeface="微软雅黑"/>
                <a:cs typeface="微软雅黑"/>
              </a:rPr>
              <a:t> </a:t>
            </a:r>
            <a:r>
              <a:rPr dirty="0" sz="2000" spc="-5">
                <a:latin typeface="微软雅黑"/>
                <a:cs typeface="微软雅黑"/>
              </a:rPr>
              <a:t>0.7%</a:t>
            </a:r>
            <a:r>
              <a:rPr dirty="0" sz="2000" spc="-2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的</a:t>
            </a:r>
            <a:r>
              <a:rPr dirty="0" baseline="21367" sz="1950" spc="-7">
                <a:latin typeface="微软雅黑"/>
                <a:cs typeface="微软雅黑"/>
              </a:rPr>
              <a:t>235</a:t>
            </a:r>
            <a:r>
              <a:rPr dirty="0" sz="2000" spc="-5">
                <a:latin typeface="微软雅黑"/>
                <a:cs typeface="微软雅黑"/>
              </a:rPr>
              <a:t>U</a:t>
            </a:r>
            <a:r>
              <a:rPr dirty="0" sz="2000" spc="-10">
                <a:latin typeface="微软雅黑"/>
                <a:cs typeface="微软雅黑"/>
              </a:rPr>
              <a:t> </a:t>
            </a:r>
            <a:r>
              <a:rPr dirty="0" sz="2000" spc="5">
                <a:latin typeface="微软雅黑"/>
                <a:cs typeface="微软雅黑"/>
              </a:rPr>
              <a:t>，  </a:t>
            </a:r>
            <a:r>
              <a:rPr dirty="0" sz="2000">
                <a:latin typeface="微软雅黑"/>
                <a:cs typeface="微软雅黑"/>
              </a:rPr>
              <a:t>剩下</a:t>
            </a:r>
            <a:r>
              <a:rPr dirty="0" sz="2000" spc="5">
                <a:latin typeface="微软雅黑"/>
                <a:cs typeface="微软雅黑"/>
              </a:rPr>
              <a:t>的</a:t>
            </a:r>
            <a:r>
              <a:rPr dirty="0" sz="2000" spc="-25">
                <a:latin typeface="微软雅黑"/>
                <a:cs typeface="微软雅黑"/>
              </a:rPr>
              <a:t> </a:t>
            </a:r>
            <a:r>
              <a:rPr dirty="0" sz="2000" spc="-5">
                <a:latin typeface="微软雅黑"/>
                <a:cs typeface="微软雅黑"/>
              </a:rPr>
              <a:t>99.3%</a:t>
            </a:r>
            <a:r>
              <a:rPr dirty="0" sz="2000" spc="-2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是不易裂变的</a:t>
            </a:r>
            <a:r>
              <a:rPr dirty="0" baseline="21367" sz="1950" spc="-7">
                <a:latin typeface="微软雅黑"/>
                <a:cs typeface="微软雅黑"/>
              </a:rPr>
              <a:t>238</a:t>
            </a:r>
            <a:r>
              <a:rPr dirty="0" sz="2000" spc="-5">
                <a:latin typeface="微软雅黑"/>
                <a:cs typeface="微软雅黑"/>
              </a:rPr>
              <a:t>U</a:t>
            </a:r>
            <a:r>
              <a:rPr dirty="0" sz="2000">
                <a:latin typeface="微软雅黑"/>
                <a:cs typeface="微软雅黑"/>
              </a:rPr>
              <a:t>。为得到高浓度的</a:t>
            </a:r>
            <a:r>
              <a:rPr dirty="0" baseline="21367" sz="1950" spc="-7">
                <a:latin typeface="微软雅黑"/>
                <a:cs typeface="微软雅黑"/>
              </a:rPr>
              <a:t>235</a:t>
            </a:r>
            <a:r>
              <a:rPr dirty="0" sz="2000" spc="-5">
                <a:latin typeface="微软雅黑"/>
                <a:cs typeface="微软雅黑"/>
              </a:rPr>
              <a:t>U，</a:t>
            </a:r>
            <a:r>
              <a:rPr dirty="0" sz="2000">
                <a:latin typeface="微软雅黑"/>
                <a:cs typeface="微软雅黑"/>
              </a:rPr>
              <a:t>就必须进行同位</a:t>
            </a:r>
            <a:r>
              <a:rPr dirty="0" sz="2000" spc="5">
                <a:latin typeface="微软雅黑"/>
                <a:cs typeface="微软雅黑"/>
              </a:rPr>
              <a:t>素 </a:t>
            </a:r>
            <a:r>
              <a:rPr dirty="0" sz="2000">
                <a:latin typeface="微软雅黑"/>
                <a:cs typeface="微软雅黑"/>
              </a:rPr>
              <a:t>分离，形成</a:t>
            </a:r>
            <a:r>
              <a:rPr dirty="0" baseline="21367" sz="1950" spc="-7">
                <a:latin typeface="微软雅黑"/>
                <a:cs typeface="微软雅黑"/>
              </a:rPr>
              <a:t>235</a:t>
            </a:r>
            <a:r>
              <a:rPr dirty="0" sz="2000" spc="-5">
                <a:latin typeface="微软雅黑"/>
                <a:cs typeface="微软雅黑"/>
              </a:rPr>
              <a:t>U</a:t>
            </a:r>
            <a:r>
              <a:rPr dirty="0" sz="2000" spc="-4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含量较高的浓缩铀。</a:t>
            </a:r>
            <a:r>
              <a:rPr dirty="0" baseline="21367" sz="1950" spc="-7">
                <a:latin typeface="微软雅黑"/>
                <a:cs typeface="微软雅黑"/>
              </a:rPr>
              <a:t>239</a:t>
            </a:r>
            <a:r>
              <a:rPr dirty="0" sz="2000" spc="-5">
                <a:latin typeface="微软雅黑"/>
                <a:cs typeface="微软雅黑"/>
              </a:rPr>
              <a:t>Pu</a:t>
            </a:r>
            <a:r>
              <a:rPr dirty="0" sz="2000" spc="-4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在自然界并不存在，人们利用核</a:t>
            </a:r>
            <a:r>
              <a:rPr dirty="0" sz="2000" spc="5">
                <a:latin typeface="微软雅黑"/>
                <a:cs typeface="微软雅黑"/>
              </a:rPr>
              <a:t>反 </a:t>
            </a:r>
            <a:r>
              <a:rPr dirty="0" sz="2000">
                <a:latin typeface="微软雅黑"/>
                <a:cs typeface="微软雅黑"/>
              </a:rPr>
              <a:t>应堆中产生的中子打击</a:t>
            </a:r>
            <a:r>
              <a:rPr dirty="0" baseline="21367" sz="1950" spc="-7">
                <a:latin typeface="微软雅黑"/>
                <a:cs typeface="微软雅黑"/>
              </a:rPr>
              <a:t>238</a:t>
            </a:r>
            <a:r>
              <a:rPr dirty="0" sz="2000" spc="-5">
                <a:latin typeface="微软雅黑"/>
                <a:cs typeface="微软雅黑"/>
              </a:rPr>
              <a:t>U，</a:t>
            </a:r>
            <a:r>
              <a:rPr dirty="0" sz="2000">
                <a:latin typeface="微软雅黑"/>
                <a:cs typeface="微软雅黑"/>
              </a:rPr>
              <a:t>生成物衰变后成为</a:t>
            </a:r>
            <a:r>
              <a:rPr dirty="0" baseline="21367" sz="1950" spc="-7">
                <a:latin typeface="微软雅黑"/>
                <a:cs typeface="微软雅黑"/>
              </a:rPr>
              <a:t>239</a:t>
            </a:r>
            <a:r>
              <a:rPr dirty="0" sz="2000" spc="-5">
                <a:latin typeface="微软雅黑"/>
                <a:cs typeface="微软雅黑"/>
              </a:rPr>
              <a:t>Pu，</a:t>
            </a:r>
            <a:r>
              <a:rPr dirty="0" sz="2000">
                <a:latin typeface="微软雅黑"/>
                <a:cs typeface="微软雅黑"/>
              </a:rPr>
              <a:t>然后再利用化学方</a:t>
            </a:r>
            <a:r>
              <a:rPr dirty="0" sz="2000" spc="5">
                <a:latin typeface="微软雅黑"/>
                <a:cs typeface="微软雅黑"/>
              </a:rPr>
              <a:t>法 </a:t>
            </a:r>
            <a:r>
              <a:rPr dirty="0" sz="2000">
                <a:latin typeface="微软雅黑"/>
                <a:cs typeface="微软雅黑"/>
              </a:rPr>
              <a:t>将</a:t>
            </a:r>
            <a:r>
              <a:rPr dirty="0" baseline="21367" sz="1950" spc="-7">
                <a:latin typeface="微软雅黑"/>
                <a:cs typeface="微软雅黑"/>
              </a:rPr>
              <a:t>239</a:t>
            </a:r>
            <a:r>
              <a:rPr dirty="0" sz="2000" spc="-5">
                <a:latin typeface="微软雅黑"/>
                <a:cs typeface="微软雅黑"/>
              </a:rPr>
              <a:t>Pu</a:t>
            </a:r>
            <a:r>
              <a:rPr dirty="0" sz="2000" spc="-1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从</a:t>
            </a:r>
            <a:r>
              <a:rPr dirty="0" baseline="21367" sz="1950" spc="-7">
                <a:latin typeface="微软雅黑"/>
                <a:cs typeface="微软雅黑"/>
              </a:rPr>
              <a:t>238</a:t>
            </a:r>
            <a:r>
              <a:rPr dirty="0" sz="2000" spc="-5">
                <a:latin typeface="微软雅黑"/>
                <a:cs typeface="微软雅黑"/>
              </a:rPr>
              <a:t>U </a:t>
            </a:r>
            <a:r>
              <a:rPr dirty="0" sz="2000">
                <a:latin typeface="微软雅黑"/>
                <a:cs typeface="微软雅黑"/>
              </a:rPr>
              <a:t>中分离出来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原子弹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250935" y="1022603"/>
            <a:ext cx="3075431" cy="1883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39277" y="1086802"/>
            <a:ext cx="9080500" cy="2280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310324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核燃料一般做成球形，体积小于临界体积。它的外部安放化 学炸药，引爆时利用化学炸药爆炸的冲击波将核燃料压缩至 高密度的超临界状态，聚心冲击波同时压缩放在核燃料球心 的中子源，使它释放中子，引起核燃料的链式反应。为了降 低中子逃逸率以减小临界质量，节省核燃料，四周用铀</a:t>
            </a:r>
            <a:r>
              <a:rPr dirty="0" sz="1800" spc="-9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238  </a:t>
            </a:r>
            <a:r>
              <a:rPr dirty="0" sz="1800">
                <a:latin typeface="微软雅黑"/>
                <a:cs typeface="微软雅黑"/>
              </a:rPr>
              <a:t>做成中子反射层，使逸出燃料区的部分中子返回。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内爆式原子弹示意图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30195" y="3288791"/>
            <a:ext cx="1709928" cy="3514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25002" y="4063987"/>
            <a:ext cx="254000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枪 式 原 子 弹 示 意 图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14265" y="4452302"/>
            <a:ext cx="650684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“枪式”原子弹弹壳里分开放置着一块球形和一块圆柱形高浓度 铀</a:t>
            </a:r>
            <a:r>
              <a:rPr dirty="0" sz="1800" spc="-5">
                <a:latin typeface="微软雅黑"/>
                <a:cs typeface="微软雅黑"/>
              </a:rPr>
              <a:t>235</a:t>
            </a:r>
            <a:r>
              <a:rPr dirty="0" sz="1800">
                <a:latin typeface="微软雅黑"/>
                <a:cs typeface="微软雅黑"/>
              </a:rPr>
              <a:t>。每一块的体积都小于临界体积而大于临界体</a:t>
            </a:r>
            <a:r>
              <a:rPr dirty="0" sz="1800" spc="-5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积的一半，  在贮存时不会发生爆炸。这两块铀</a:t>
            </a:r>
            <a:r>
              <a:rPr dirty="0" sz="1800" spc="-5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235</a:t>
            </a:r>
            <a:r>
              <a:rPr dirty="0" sz="1800" spc="-4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彼此隔开一段距离，其中 球形的被固定，圆柱形的后面安装普通炸药和引爆装置。当普通 炸药爆炸时，两块铀压在一起形成一个整块，其体积超过临界体 积，立刻发生链式核反应而爆炸。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原子弹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702752" y="1380490"/>
            <a:ext cx="10145395" cy="3588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7310" indent="45085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第二次世界大战时核裂变的研究已经成熟。当时法西斯侵略战争在蔓延，一些科学家，特别是那 些从法西斯迫害下逃亡出来的科学家，已经预感到制造原子弹的危险，尤其是风传德国正在加紧链式 反应的研究，又获悉德国采取了禁止铀矿石出口等措施，他们更加焦虑万分。</a:t>
            </a:r>
            <a:endParaRPr sz="1800">
              <a:latin typeface="微软雅黑"/>
              <a:cs typeface="微软雅黑"/>
            </a:endParaRPr>
          </a:p>
          <a:p>
            <a:pPr algn="just" marL="12700" marR="65405" indent="450850">
              <a:lnSpc>
                <a:spcPct val="100000"/>
              </a:lnSpc>
            </a:pPr>
            <a:r>
              <a:rPr dirty="0" sz="1800" spc="-5">
                <a:latin typeface="微软雅黑"/>
                <a:cs typeface="微软雅黑"/>
              </a:rPr>
              <a:t>1939</a:t>
            </a:r>
            <a:r>
              <a:rPr dirty="0" sz="1800" spc="-1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年</a:t>
            </a:r>
            <a:r>
              <a:rPr dirty="0" sz="1800" spc="-1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7</a:t>
            </a:r>
            <a:r>
              <a:rPr dirty="0" sz="1800" spc="-1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月，核物理学家西拉德（L.</a:t>
            </a:r>
            <a:r>
              <a:rPr dirty="0" sz="1800" spc="-15">
                <a:latin typeface="微软雅黑"/>
                <a:cs typeface="微软雅黑"/>
              </a:rPr>
              <a:t> </a:t>
            </a:r>
            <a:r>
              <a:rPr dirty="0" sz="1800" spc="-10">
                <a:latin typeface="微软雅黑"/>
                <a:cs typeface="微软雅黑"/>
              </a:rPr>
              <a:t>Szilard）</a:t>
            </a:r>
            <a:r>
              <a:rPr dirty="0" sz="1800">
                <a:latin typeface="微软雅黑"/>
                <a:cs typeface="微软雅黑"/>
              </a:rPr>
              <a:t>等人一起找到爱因斯坦，想借助他的名声敦促美 国赶在德国之前造出原子弹。于是爱因斯坦在</a:t>
            </a:r>
            <a:r>
              <a:rPr dirty="0" sz="1800" spc="-5">
                <a:latin typeface="微软雅黑"/>
                <a:cs typeface="微软雅黑"/>
              </a:rPr>
              <a:t>1939</a:t>
            </a:r>
            <a:r>
              <a:rPr dirty="0" sz="1800">
                <a:latin typeface="微软雅黑"/>
                <a:cs typeface="微软雅黑"/>
              </a:rPr>
              <a:t>年</a:t>
            </a:r>
            <a:r>
              <a:rPr dirty="0" sz="1800" spc="-5">
                <a:latin typeface="微软雅黑"/>
                <a:cs typeface="微软雅黑"/>
              </a:rPr>
              <a:t>8</a:t>
            </a:r>
            <a:r>
              <a:rPr dirty="0" sz="1800">
                <a:latin typeface="微软雅黑"/>
                <a:cs typeface="微软雅黑"/>
              </a:rPr>
              <a:t>月</a:t>
            </a:r>
            <a:r>
              <a:rPr dirty="0" sz="1800" spc="-5">
                <a:latin typeface="微软雅黑"/>
                <a:cs typeface="微软雅黑"/>
              </a:rPr>
              <a:t>2</a:t>
            </a:r>
            <a:r>
              <a:rPr dirty="0" sz="1800">
                <a:latin typeface="微软雅黑"/>
                <a:cs typeface="微软雅黑"/>
              </a:rPr>
              <a:t>日签署了给美国总统罗斯福的著名信件。</a:t>
            </a:r>
            <a:endParaRPr sz="1800">
              <a:latin typeface="微软雅黑"/>
              <a:cs typeface="微软雅黑"/>
            </a:endParaRPr>
          </a:p>
          <a:p>
            <a:pPr algn="just" marL="12700" marR="5080" indent="45085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罗斯福总统采纳</a:t>
            </a:r>
            <a:r>
              <a:rPr dirty="0" sz="1800" spc="-10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了他们的建议，下令成立了铀顾问委员会，开始了代号为“曼哈顿工程”的原子 弹研制工作，并于</a:t>
            </a:r>
            <a:r>
              <a:rPr dirty="0" sz="1800" spc="-5">
                <a:latin typeface="微软雅黑"/>
                <a:cs typeface="微软雅黑"/>
              </a:rPr>
              <a:t>1942</a:t>
            </a:r>
            <a:r>
              <a:rPr dirty="0" sz="1800">
                <a:latin typeface="微软雅黑"/>
                <a:cs typeface="微软雅黑"/>
              </a:rPr>
              <a:t>年</a:t>
            </a:r>
            <a:r>
              <a:rPr dirty="0" sz="1800" spc="-5">
                <a:latin typeface="微软雅黑"/>
                <a:cs typeface="微软雅黑"/>
              </a:rPr>
              <a:t>7</a:t>
            </a:r>
            <a:r>
              <a:rPr dirty="0" sz="1800">
                <a:latin typeface="微软雅黑"/>
                <a:cs typeface="微软雅黑"/>
              </a:rPr>
              <a:t>月委任奥本海默</a:t>
            </a:r>
            <a:r>
              <a:rPr dirty="0" sz="1800" spc="-35">
                <a:latin typeface="微软雅黑"/>
                <a:cs typeface="微软雅黑"/>
              </a:rPr>
              <a:t>（J.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R.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Oppenheimer，1904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—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1967）</a:t>
            </a:r>
            <a:r>
              <a:rPr dirty="0" sz="1800">
                <a:latin typeface="微软雅黑"/>
                <a:cs typeface="微软雅黑"/>
              </a:rPr>
              <a:t>为这项工程的技 术负责人。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577850">
              <a:lnSpc>
                <a:spcPct val="100000"/>
              </a:lnSpc>
              <a:spcBef>
                <a:spcPts val="1535"/>
              </a:spcBef>
            </a:pPr>
            <a:r>
              <a:rPr dirty="0" sz="1800" spc="-5">
                <a:latin typeface="微软雅黑"/>
                <a:cs typeface="微软雅黑"/>
              </a:rPr>
              <a:t>1945</a:t>
            </a:r>
            <a:r>
              <a:rPr dirty="0" sz="1800" spc="-1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年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7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月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16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日，第一颗原子弹在新墨西哥州的荒漠上爆炸成功，其爆炸力相当于</a:t>
            </a:r>
            <a:r>
              <a:rPr dirty="0" sz="1800" spc="-5">
                <a:latin typeface="微软雅黑"/>
                <a:cs typeface="微软雅黑"/>
              </a:rPr>
              <a:t>1.8</a:t>
            </a:r>
            <a:r>
              <a:rPr dirty="0" sz="1800">
                <a:latin typeface="微软雅黑"/>
                <a:cs typeface="微软雅黑"/>
              </a:rPr>
              <a:t>万吨</a:t>
            </a:r>
            <a:endParaRPr sz="1800">
              <a:latin typeface="微软雅黑"/>
              <a:cs typeface="微软雅黑"/>
            </a:endParaRPr>
          </a:p>
          <a:p>
            <a:pPr marL="127000" marR="125095">
              <a:lnSpc>
                <a:spcPct val="100000"/>
              </a:lnSpc>
            </a:pPr>
            <a:r>
              <a:rPr dirty="0" sz="1800" spc="-5">
                <a:latin typeface="微软雅黑"/>
                <a:cs typeface="微软雅黑"/>
              </a:rPr>
              <a:t>TNT</a:t>
            </a:r>
            <a:r>
              <a:rPr dirty="0" sz="1800">
                <a:latin typeface="微软雅黑"/>
                <a:cs typeface="微软雅黑"/>
              </a:rPr>
              <a:t>炸药。爆炸时安放原子弹的钢塔全部熔化，</a:t>
            </a:r>
            <a:r>
              <a:rPr dirty="0" sz="1800" spc="-4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在半径</a:t>
            </a:r>
            <a:r>
              <a:rPr dirty="0" sz="1800" spc="-5">
                <a:latin typeface="微软雅黑"/>
                <a:cs typeface="微软雅黑"/>
              </a:rPr>
              <a:t>400</a:t>
            </a:r>
            <a:r>
              <a:rPr dirty="0" sz="1800" spc="-4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</a:t>
            </a:r>
            <a:r>
              <a:rPr dirty="0" sz="1800">
                <a:latin typeface="微软雅黑"/>
                <a:cs typeface="微软雅黑"/>
              </a:rPr>
              <a:t>的范围内，沙石都被烧成黄绿色的玻 璃状物质，半径1</a:t>
            </a:r>
            <a:r>
              <a:rPr dirty="0" sz="1800" spc="-5">
                <a:latin typeface="微软雅黑"/>
                <a:cs typeface="微软雅黑"/>
              </a:rPr>
              <a:t> 600</a:t>
            </a:r>
            <a:r>
              <a:rPr dirty="0" sz="180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</a:t>
            </a:r>
            <a:r>
              <a:rPr dirty="0" sz="1800">
                <a:latin typeface="微软雅黑"/>
                <a:cs typeface="微软雅黑"/>
              </a:rPr>
              <a:t>范围内所有动植物全部死亡。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原子弹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50439" y="1492885"/>
            <a:ext cx="885888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45085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美国原子弹突袭广岛和长崎造成了巨大的毁伤。在长崎投掷的原子弹爆炸</a:t>
            </a:r>
            <a:r>
              <a:rPr dirty="0" sz="2000">
                <a:latin typeface="微软雅黑"/>
                <a:cs typeface="微软雅黑"/>
              </a:rPr>
              <a:t>后 </a:t>
            </a:r>
            <a:r>
              <a:rPr dirty="0" sz="2000">
                <a:latin typeface="微软雅黑"/>
                <a:cs typeface="微软雅黑"/>
              </a:rPr>
              <a:t>形成的蘑菇状云团，爆炸产生的气流、烟尘直冲云天，高达</a:t>
            </a:r>
            <a:r>
              <a:rPr dirty="0" sz="2000" spc="-5">
                <a:latin typeface="微软雅黑"/>
                <a:cs typeface="微软雅黑"/>
              </a:rPr>
              <a:t>12</a:t>
            </a:r>
            <a:r>
              <a:rPr dirty="0" sz="2000">
                <a:latin typeface="微软雅黑"/>
                <a:cs typeface="微软雅黑"/>
              </a:rPr>
              <a:t>英里多．广岛</a:t>
            </a:r>
            <a:r>
              <a:rPr dirty="0" sz="2000" spc="5">
                <a:latin typeface="微软雅黑"/>
                <a:cs typeface="微软雅黑"/>
              </a:rPr>
              <a:t>市 </a:t>
            </a:r>
            <a:r>
              <a:rPr dirty="0" sz="2000">
                <a:latin typeface="微软雅黑"/>
                <a:cs typeface="微软雅黑"/>
              </a:rPr>
              <a:t>区</a:t>
            </a:r>
            <a:r>
              <a:rPr dirty="0" sz="2000" spc="-5">
                <a:latin typeface="微软雅黑"/>
                <a:cs typeface="微软雅黑"/>
              </a:rPr>
              <a:t>80%</a:t>
            </a:r>
            <a:r>
              <a:rPr dirty="0" sz="2000">
                <a:latin typeface="微软雅黑"/>
                <a:cs typeface="微软雅黑"/>
              </a:rPr>
              <a:t>的建筑化为灰烬</a:t>
            </a:r>
            <a:r>
              <a:rPr dirty="0" sz="2000" spc="-5">
                <a:latin typeface="微软雅黑"/>
                <a:cs typeface="微软雅黑"/>
              </a:rPr>
              <a:t>，64000</a:t>
            </a:r>
            <a:r>
              <a:rPr dirty="0" sz="2000">
                <a:latin typeface="微软雅黑"/>
                <a:cs typeface="微软雅黑"/>
              </a:rPr>
              <a:t>人丧生</a:t>
            </a:r>
            <a:r>
              <a:rPr dirty="0" sz="2000" spc="5">
                <a:latin typeface="微软雅黑"/>
                <a:cs typeface="微软雅黑"/>
              </a:rPr>
              <a:t>，</a:t>
            </a:r>
            <a:r>
              <a:rPr dirty="0" sz="2000" spc="-30">
                <a:latin typeface="微软雅黑"/>
                <a:cs typeface="微软雅黑"/>
              </a:rPr>
              <a:t> </a:t>
            </a:r>
            <a:r>
              <a:rPr dirty="0" sz="2000" spc="-5">
                <a:latin typeface="微软雅黑"/>
                <a:cs typeface="微软雅黑"/>
              </a:rPr>
              <a:t>72000</a:t>
            </a:r>
            <a:r>
              <a:rPr dirty="0" sz="2000">
                <a:latin typeface="微软雅黑"/>
                <a:cs typeface="微软雅黑"/>
              </a:rPr>
              <a:t>人受伤，伤亡总人数占全市</a:t>
            </a:r>
            <a:r>
              <a:rPr dirty="0" sz="2000" spc="5">
                <a:latin typeface="微软雅黑"/>
                <a:cs typeface="微软雅黑"/>
              </a:rPr>
              <a:t>总 </a:t>
            </a:r>
            <a:r>
              <a:rPr dirty="0" sz="2000">
                <a:latin typeface="微软雅黑"/>
                <a:cs typeface="微软雅黑"/>
              </a:rPr>
              <a:t>人口的</a:t>
            </a:r>
            <a:r>
              <a:rPr dirty="0" sz="2000" spc="-5">
                <a:latin typeface="微软雅黑"/>
                <a:cs typeface="微软雅黑"/>
              </a:rPr>
              <a:t>53%</a:t>
            </a:r>
            <a:r>
              <a:rPr dirty="0" sz="2000">
                <a:latin typeface="微软雅黑"/>
                <a:cs typeface="微软雅黑"/>
              </a:rPr>
              <a:t>。长崎市</a:t>
            </a:r>
            <a:r>
              <a:rPr dirty="0" sz="2000" spc="-5">
                <a:latin typeface="微软雅黑"/>
                <a:cs typeface="微软雅黑"/>
              </a:rPr>
              <a:t>60%</a:t>
            </a:r>
            <a:r>
              <a:rPr dirty="0" sz="2000">
                <a:latin typeface="微软雅黑"/>
                <a:cs typeface="微软雅黑"/>
              </a:rPr>
              <a:t>的建筑物被摧毁，伤亡</a:t>
            </a:r>
            <a:r>
              <a:rPr dirty="0" sz="2000" spc="-5">
                <a:latin typeface="微软雅黑"/>
                <a:cs typeface="微软雅黑"/>
              </a:rPr>
              <a:t>86000</a:t>
            </a:r>
            <a:r>
              <a:rPr dirty="0" sz="2000">
                <a:latin typeface="微软雅黑"/>
                <a:cs typeface="微软雅黑"/>
              </a:rPr>
              <a:t>人，占全市37%</a:t>
            </a:r>
            <a:r>
              <a:rPr dirty="0" sz="2000" spc="-20">
                <a:latin typeface="微软雅黑"/>
                <a:cs typeface="微软雅黑"/>
              </a:rPr>
              <a:t> 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0439" y="3640772"/>
            <a:ext cx="868616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53213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原子弹的巨大威力震惊了世界，也使反对原子武器的呼声空前高涨。舆</a:t>
            </a:r>
            <a:r>
              <a:rPr dirty="0" sz="2000">
                <a:latin typeface="微软雅黑"/>
                <a:cs typeface="微软雅黑"/>
              </a:rPr>
              <a:t>论 </a:t>
            </a:r>
            <a:r>
              <a:rPr dirty="0" sz="2000">
                <a:latin typeface="微软雅黑"/>
                <a:cs typeface="微软雅黑"/>
              </a:rPr>
              <a:t>不仅谴责下令使用原子弹的人，也要追究科学家的责任。大部分原子弹研制</a:t>
            </a:r>
            <a:r>
              <a:rPr dirty="0" sz="2000" spc="5">
                <a:latin typeface="微软雅黑"/>
                <a:cs typeface="微软雅黑"/>
              </a:rPr>
              <a:t>的 </a:t>
            </a:r>
            <a:r>
              <a:rPr dirty="0" sz="2000">
                <a:latin typeface="微软雅黑"/>
                <a:cs typeface="微软雅黑"/>
              </a:rPr>
              <a:t>倡议者成了反核战争的积极分子，奥本海默本人则辞去了职务，去进行宇宙</a:t>
            </a:r>
            <a:r>
              <a:rPr dirty="0" sz="2000" spc="5">
                <a:latin typeface="微软雅黑"/>
                <a:cs typeface="微软雅黑"/>
              </a:rPr>
              <a:t>线 </a:t>
            </a:r>
            <a:r>
              <a:rPr dirty="0" sz="2000">
                <a:latin typeface="微软雅黑"/>
                <a:cs typeface="微软雅黑"/>
              </a:rPr>
              <a:t>的纯科学研究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原子弹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97468" y="1411224"/>
            <a:ext cx="2673096" cy="3624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07652" y="1958975"/>
            <a:ext cx="8536305" cy="3918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为了打破核垄断，最终消灭核武器，</a:t>
            </a:r>
            <a:endParaRPr sz="2400">
              <a:latin typeface="微软雅黑"/>
              <a:cs typeface="微软雅黑"/>
            </a:endParaRPr>
          </a:p>
          <a:p>
            <a:pPr algn="just" marL="12700" marR="3589020">
              <a:lnSpc>
                <a:spcPct val="100000"/>
              </a:lnSpc>
            </a:pPr>
            <a:r>
              <a:rPr dirty="0" sz="2400" spc="-5">
                <a:latin typeface="微软雅黑"/>
                <a:cs typeface="微软雅黑"/>
              </a:rPr>
              <a:t>1964</a:t>
            </a:r>
            <a:r>
              <a:rPr dirty="0" sz="2400" spc="-25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年</a:t>
            </a:r>
            <a:r>
              <a:rPr dirty="0" sz="2400" spc="-20"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10</a:t>
            </a:r>
            <a:r>
              <a:rPr dirty="0" sz="2400" spc="-25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月</a:t>
            </a:r>
            <a:r>
              <a:rPr dirty="0" sz="2400" spc="-20"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16</a:t>
            </a:r>
            <a:r>
              <a:rPr dirty="0" sz="2400" spc="-20">
                <a:latin typeface="微软雅黑"/>
                <a:cs typeface="微软雅黑"/>
              </a:rPr>
              <a:t> </a:t>
            </a:r>
            <a:r>
              <a:rPr dirty="0" sz="2400">
                <a:latin typeface="微软雅黑"/>
                <a:cs typeface="微软雅黑"/>
              </a:rPr>
              <a:t>日我国第一颗原子 弹爆炸成功。同时，我国政府郑重承 诺：中国在任何时候、任何情况下，  都不首先使用核武器，不对无核国家 或地区使用或威胁使用核武器。我国 研制成功原子弹，极大地增强了我国 的国防力量。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Times New Roman"/>
              <a:cs typeface="Times New Roman"/>
            </a:endParaRPr>
          </a:p>
          <a:p>
            <a:pPr marL="6008370" marR="5080">
              <a:lnSpc>
                <a:spcPct val="100000"/>
              </a:lnSpc>
            </a:pPr>
            <a:r>
              <a:rPr dirty="0" sz="1800" spc="-5">
                <a:latin typeface="微软雅黑"/>
                <a:cs typeface="微软雅黑"/>
              </a:rPr>
              <a:t>1964</a:t>
            </a:r>
            <a:r>
              <a:rPr dirty="0" sz="1800">
                <a:latin typeface="微软雅黑"/>
                <a:cs typeface="微软雅黑"/>
              </a:rPr>
              <a:t>年</a:t>
            </a:r>
            <a:r>
              <a:rPr dirty="0" sz="1800" spc="-5">
                <a:latin typeface="微软雅黑"/>
                <a:cs typeface="微软雅黑"/>
              </a:rPr>
              <a:t>10</a:t>
            </a:r>
            <a:r>
              <a:rPr dirty="0" sz="1800">
                <a:latin typeface="微软雅黑"/>
                <a:cs typeface="微软雅黑"/>
              </a:rPr>
              <a:t>月</a:t>
            </a:r>
            <a:r>
              <a:rPr dirty="0" sz="1800" spc="-5">
                <a:latin typeface="微软雅黑"/>
                <a:cs typeface="微软雅黑"/>
              </a:rPr>
              <a:t>16</a:t>
            </a:r>
            <a:r>
              <a:rPr dirty="0" sz="1800">
                <a:latin typeface="微软雅黑"/>
                <a:cs typeface="微软雅黑"/>
              </a:rPr>
              <a:t>日，我国 第一颗原子弹爆炸成功。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核反应堆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29752" y="1215390"/>
            <a:ext cx="5958205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975" marR="5080" indent="45085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在第一个原子弹制成以前，科学家们已经实现了核能 的可控释放。</a:t>
            </a:r>
            <a:r>
              <a:rPr dirty="0" sz="1800" spc="-5">
                <a:latin typeface="微软雅黑"/>
                <a:cs typeface="微软雅黑"/>
              </a:rPr>
              <a:t>1942</a:t>
            </a:r>
            <a:r>
              <a:rPr dirty="0" sz="1800" spc="-2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年，费米（E.</a:t>
            </a:r>
            <a:r>
              <a:rPr dirty="0" sz="1800" spc="-2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Fermi，1901</a:t>
            </a:r>
            <a:r>
              <a:rPr dirty="0" sz="1800" spc="-2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—</a:t>
            </a:r>
            <a:r>
              <a:rPr dirty="0" sz="1800" spc="-2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1954）  </a:t>
            </a:r>
            <a:r>
              <a:rPr dirty="0" sz="1800">
                <a:latin typeface="微软雅黑"/>
                <a:cs typeface="微软雅黑"/>
              </a:rPr>
              <a:t>就主持建立了世界上第一个称为“核反应堆”的装置，首 次通过可控制的链式反应实现了核能的释放。</a:t>
            </a:r>
            <a:endParaRPr sz="1800">
              <a:latin typeface="微软雅黑"/>
              <a:cs typeface="微软雅黑"/>
            </a:endParaRPr>
          </a:p>
          <a:p>
            <a:pPr marL="12700" marR="80645" indent="450850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latin typeface="微软雅黑"/>
                <a:cs typeface="微软雅黑"/>
              </a:rPr>
              <a:t>中子的速度不能太快，否则会与</a:t>
            </a:r>
            <a:r>
              <a:rPr dirty="0" sz="1800" spc="-3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铀</a:t>
            </a:r>
            <a:r>
              <a:rPr dirty="0" sz="1800" spc="-3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235</a:t>
            </a:r>
            <a:r>
              <a:rPr dirty="0" sz="1800" spc="-3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原子核“擦肩 而过”，铀核不能“捉”住它，不能发生核裂变。实验证 明，速度与热运动速度相当的中子最适于引发裂变。这样 的中子就是“热中子”，或称慢中子。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9807" y="1220724"/>
            <a:ext cx="3649979" cy="3541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44039" y="3976052"/>
            <a:ext cx="5794375" cy="2465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9055" indent="45085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裂变产生的是速度很大的快中子，因此还要设法使快 中子减速。为此，在铀棒周围要放“慢化剂”，快中子跟 慢化剂中的原子核碰撞后，中子能量减少，变为慢中子。 常用的慢化剂有石墨、重水和普通水（也叫轻水）。</a:t>
            </a:r>
            <a:endParaRPr sz="1800">
              <a:latin typeface="微软雅黑"/>
              <a:cs typeface="微软雅黑"/>
            </a:endParaRPr>
          </a:p>
          <a:p>
            <a:pPr algn="just" marL="66675" marR="5080" indent="450850">
              <a:lnSpc>
                <a:spcPct val="100000"/>
              </a:lnSpc>
              <a:spcBef>
                <a:spcPts val="1935"/>
              </a:spcBef>
            </a:pPr>
            <a:r>
              <a:rPr dirty="0" sz="1800">
                <a:latin typeface="微软雅黑"/>
                <a:cs typeface="微软雅黑"/>
              </a:rPr>
              <a:t>为了调节中子数目以控制反应速度，还需要在铀棒之 间插进一些镉棒。镉吸收中子的能力很强，当反应过于激 烈时，将镉棒插入深一些，让它多吸收一些中子，链式反 应的速度就会慢一些。这种镉棒叫做控制棒。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1377" y="4897310"/>
            <a:ext cx="3454400" cy="1395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热中子（慢中子）核反应堆</a:t>
            </a:r>
            <a:endParaRPr sz="1800">
              <a:latin typeface="微软雅黑"/>
              <a:cs typeface="微软雅黑"/>
            </a:endParaRPr>
          </a:p>
          <a:p>
            <a:pPr algn="just" marL="12700" marR="5080">
              <a:lnSpc>
                <a:spcPct val="100000"/>
              </a:lnSpc>
              <a:spcBef>
                <a:spcPts val="2145"/>
              </a:spcBef>
            </a:pP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热中子反应堆的核燃料是铀棒，成 分是天然铀或浓缩铀（能吸收慢中 子的铀</a:t>
            </a:r>
            <a:r>
              <a:rPr dirty="0" sz="1800" spc="-5">
                <a:solidFill>
                  <a:srgbClr val="FF0000"/>
                </a:solidFill>
                <a:latin typeface="微软雅黑"/>
                <a:cs typeface="微软雅黑"/>
              </a:rPr>
              <a:t>235</a:t>
            </a: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的含量占</a:t>
            </a:r>
            <a:r>
              <a:rPr dirty="0" sz="1800" spc="-5">
                <a:solidFill>
                  <a:srgbClr val="FF0000"/>
                </a:solidFill>
                <a:latin typeface="微软雅黑"/>
                <a:cs typeface="微软雅黑"/>
              </a:rPr>
              <a:t>2%～4%）</a:t>
            </a: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核电站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47459" y="2039111"/>
            <a:ext cx="4216908" cy="3023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12339" y="1151572"/>
            <a:ext cx="8916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核反应堆可以作为核动力，例如核电站、核潜艇、核舰艇的动力源，还可以用</a:t>
            </a:r>
            <a:r>
              <a:rPr dirty="0" sz="2000">
                <a:latin typeface="微软雅黑"/>
                <a:cs typeface="微软雅黑"/>
              </a:rPr>
              <a:t>来 </a:t>
            </a:r>
            <a:r>
              <a:rPr dirty="0" sz="2000">
                <a:latin typeface="微软雅黑"/>
                <a:cs typeface="微软雅黑"/>
              </a:rPr>
              <a:t>生产各种放射性同位素，提供中子源和生成裂变材料等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2764" y="5512434"/>
            <a:ext cx="970216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53213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第一回路中的水被泵压入反应堆，通过堆芯时核反应放出的热使水的内能增加，</a:t>
            </a:r>
            <a:r>
              <a:rPr dirty="0" sz="2000">
                <a:latin typeface="微软雅黑"/>
                <a:cs typeface="微软雅黑"/>
              </a:rPr>
              <a:t>水 </a:t>
            </a:r>
            <a:r>
              <a:rPr dirty="0" sz="2000">
                <a:latin typeface="微软雅黑"/>
                <a:cs typeface="微软雅黑"/>
              </a:rPr>
              <a:t>温升高。第一回路的水进入热交换器，把热量传给第二回路的水，然后又被泵压回反</a:t>
            </a:r>
            <a:r>
              <a:rPr dirty="0" sz="2000" spc="5">
                <a:latin typeface="微软雅黑"/>
                <a:cs typeface="微软雅黑"/>
              </a:rPr>
              <a:t>应 </a:t>
            </a:r>
            <a:r>
              <a:rPr dirty="0" sz="2000">
                <a:latin typeface="微软雅黑"/>
                <a:cs typeface="微软雅黑"/>
              </a:rPr>
              <a:t>堆里。在热交换器内，第二回路中的水被加热生成高温高压蒸汽，驱动汽轮机运转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46703" y="2093976"/>
            <a:ext cx="2157983" cy="2915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767964" y="2969577"/>
            <a:ext cx="2540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核 反 应 堆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9398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核聚变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21877" y="1108487"/>
            <a:ext cx="8909685" cy="2511425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两个轻核结合成质量较大的核，这样的核反应叫做聚变（f</a:t>
            </a:r>
            <a:r>
              <a:rPr dirty="0" sz="2400" spc="-5" b="1">
                <a:solidFill>
                  <a:srgbClr val="FF0000"/>
                </a:solidFill>
                <a:latin typeface="微软雅黑"/>
                <a:cs typeface="微软雅黑"/>
              </a:rPr>
              <a:t>u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s</a:t>
            </a:r>
            <a:r>
              <a:rPr dirty="0" sz="2400" spc="-5" b="1">
                <a:solidFill>
                  <a:srgbClr val="FF0000"/>
                </a:solidFill>
                <a:latin typeface="微软雅黑"/>
                <a:cs typeface="微软雅黑"/>
              </a:rPr>
              <a:t>ion</a:t>
            </a: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  <a:p>
            <a:pPr marL="2664460">
              <a:lnSpc>
                <a:spcPts val="2765"/>
              </a:lnSpc>
              <a:spcBef>
                <a:spcPts val="1235"/>
              </a:spcBef>
            </a:pPr>
            <a:r>
              <a:rPr dirty="0" baseline="42483" sz="2550" spc="15">
                <a:latin typeface="Times New Roman"/>
                <a:cs typeface="Times New Roman"/>
              </a:rPr>
              <a:t>2</a:t>
            </a:r>
            <a:r>
              <a:rPr dirty="0" baseline="42483" sz="2550" spc="-89">
                <a:latin typeface="Times New Roman"/>
                <a:cs typeface="Times New Roman"/>
              </a:rPr>
              <a:t> </a:t>
            </a:r>
            <a:r>
              <a:rPr dirty="0" sz="2950" spc="90">
                <a:latin typeface="Times New Roman"/>
                <a:cs typeface="Times New Roman"/>
              </a:rPr>
              <a:t>H</a:t>
            </a:r>
            <a:r>
              <a:rPr dirty="0" sz="2950" spc="90">
                <a:latin typeface="Symbol"/>
                <a:cs typeface="Symbol"/>
              </a:rPr>
              <a:t></a:t>
            </a:r>
            <a:r>
              <a:rPr dirty="0" baseline="42483" sz="2550" spc="135">
                <a:latin typeface="Times New Roman"/>
                <a:cs typeface="Times New Roman"/>
              </a:rPr>
              <a:t>3</a:t>
            </a:r>
            <a:r>
              <a:rPr dirty="0" baseline="42483" sz="2550" spc="-367">
                <a:latin typeface="Times New Roman"/>
                <a:cs typeface="Times New Roman"/>
              </a:rPr>
              <a:t> </a:t>
            </a:r>
            <a:r>
              <a:rPr dirty="0" sz="2950" spc="60">
                <a:latin typeface="Times New Roman"/>
                <a:cs typeface="Times New Roman"/>
              </a:rPr>
              <a:t>H</a:t>
            </a:r>
            <a:r>
              <a:rPr dirty="0" sz="2950" spc="60">
                <a:latin typeface="Symbol"/>
                <a:cs typeface="Symbol"/>
              </a:rPr>
              <a:t></a:t>
            </a:r>
            <a:r>
              <a:rPr dirty="0" baseline="42483" sz="2550" spc="89">
                <a:latin typeface="Times New Roman"/>
                <a:cs typeface="Times New Roman"/>
              </a:rPr>
              <a:t>4</a:t>
            </a:r>
            <a:r>
              <a:rPr dirty="0" baseline="42483" sz="2550" spc="-150">
                <a:latin typeface="Times New Roman"/>
                <a:cs typeface="Times New Roman"/>
              </a:rPr>
              <a:t> </a:t>
            </a:r>
            <a:r>
              <a:rPr dirty="0" sz="2950" spc="15">
                <a:latin typeface="Times New Roman"/>
                <a:cs typeface="Times New Roman"/>
              </a:rPr>
              <a:t>He</a:t>
            </a:r>
            <a:r>
              <a:rPr dirty="0" sz="2950" spc="15">
                <a:latin typeface="Symbol"/>
                <a:cs typeface="Symbol"/>
              </a:rPr>
              <a:t></a:t>
            </a:r>
            <a:r>
              <a:rPr dirty="0" sz="2950" spc="-445">
                <a:latin typeface="Times New Roman"/>
                <a:cs typeface="Times New Roman"/>
              </a:rPr>
              <a:t> </a:t>
            </a:r>
            <a:r>
              <a:rPr dirty="0" baseline="42483" sz="2550" spc="82">
                <a:latin typeface="Times New Roman"/>
                <a:cs typeface="Times New Roman"/>
              </a:rPr>
              <a:t>1</a:t>
            </a:r>
            <a:r>
              <a:rPr dirty="0" sz="2950" spc="55">
                <a:latin typeface="Times New Roman"/>
                <a:cs typeface="Times New Roman"/>
              </a:rPr>
              <a:t>n</a:t>
            </a:r>
            <a:endParaRPr sz="2950">
              <a:latin typeface="Times New Roman"/>
              <a:cs typeface="Times New Roman"/>
            </a:endParaRPr>
          </a:p>
          <a:p>
            <a:pPr marL="2680970">
              <a:lnSpc>
                <a:spcPts val="1265"/>
              </a:lnSpc>
              <a:tabLst>
                <a:tab pos="3341370" algn="l"/>
                <a:tab pos="4128135" algn="l"/>
                <a:tab pos="4950460" algn="l"/>
              </a:tabLst>
            </a:pPr>
            <a:r>
              <a:rPr dirty="0" sz="1700" spc="10">
                <a:latin typeface="Times New Roman"/>
                <a:cs typeface="Times New Roman"/>
              </a:rPr>
              <a:t>1	1	2	0</a:t>
            </a:r>
            <a:endParaRPr sz="1700">
              <a:latin typeface="Times New Roman"/>
              <a:cs typeface="Times New Roman"/>
            </a:endParaRPr>
          </a:p>
          <a:p>
            <a:pPr marL="1017905" marR="932180" indent="-805180">
              <a:lnSpc>
                <a:spcPct val="100000"/>
              </a:lnSpc>
              <a:spcBef>
                <a:spcPts val="830"/>
              </a:spcBef>
              <a:tabLst>
                <a:tab pos="4561840" algn="l"/>
                <a:tab pos="4589145" algn="l"/>
              </a:tabLst>
            </a:pPr>
            <a:r>
              <a:rPr dirty="0" sz="2000">
                <a:latin typeface="微软雅黑"/>
                <a:cs typeface="微软雅黑"/>
              </a:rPr>
              <a:t>已知：氘核的质量：</a:t>
            </a:r>
            <a:r>
              <a:rPr dirty="0" sz="2000" spc="-10" i="1">
                <a:latin typeface="Arial"/>
                <a:cs typeface="Arial"/>
              </a:rPr>
              <a:t>m</a:t>
            </a:r>
            <a:r>
              <a:rPr dirty="0" baseline="-17094" sz="1950" spc="-7">
                <a:latin typeface="微软雅黑"/>
                <a:cs typeface="微软雅黑"/>
              </a:rPr>
              <a:t>D</a:t>
            </a:r>
            <a:r>
              <a:rPr dirty="0" sz="2000" spc="-5">
                <a:latin typeface="微软雅黑"/>
                <a:cs typeface="微软雅黑"/>
              </a:rPr>
              <a:t>＝2.014102</a:t>
            </a:r>
            <a:r>
              <a:rPr dirty="0" sz="2000" spc="-10">
                <a:latin typeface="微软雅黑"/>
                <a:cs typeface="微软雅黑"/>
              </a:rPr>
              <a:t>u</a:t>
            </a:r>
            <a:r>
              <a:rPr dirty="0" sz="2000">
                <a:latin typeface="微软雅黑"/>
                <a:cs typeface="微软雅黑"/>
              </a:rPr>
              <a:t>,</a:t>
            </a:r>
            <a:r>
              <a:rPr dirty="0" sz="2000">
                <a:latin typeface="微软雅黑"/>
                <a:cs typeface="微软雅黑"/>
              </a:rPr>
              <a:t>	</a:t>
            </a:r>
            <a:r>
              <a:rPr dirty="0" sz="2000">
                <a:latin typeface="微软雅黑"/>
                <a:cs typeface="微软雅黑"/>
              </a:rPr>
              <a:t>氚核的质量：</a:t>
            </a:r>
            <a:r>
              <a:rPr dirty="0" sz="2000" spc="-10" i="1">
                <a:latin typeface="Arial"/>
                <a:cs typeface="Arial"/>
              </a:rPr>
              <a:t>m</a:t>
            </a:r>
            <a:r>
              <a:rPr dirty="0" baseline="-17094" sz="1950" spc="-7">
                <a:latin typeface="微软雅黑"/>
                <a:cs typeface="微软雅黑"/>
              </a:rPr>
              <a:t>T</a:t>
            </a:r>
            <a:r>
              <a:rPr dirty="0" sz="2000" spc="-5">
                <a:latin typeface="微软雅黑"/>
                <a:cs typeface="微软雅黑"/>
              </a:rPr>
              <a:t>＝3.016050</a:t>
            </a:r>
            <a:r>
              <a:rPr dirty="0" sz="2000" spc="-10">
                <a:latin typeface="微软雅黑"/>
                <a:cs typeface="微软雅黑"/>
              </a:rPr>
              <a:t>u</a:t>
            </a:r>
            <a:r>
              <a:rPr dirty="0" sz="2000">
                <a:latin typeface="微软雅黑"/>
                <a:cs typeface="微软雅黑"/>
              </a:rPr>
              <a:t>, </a:t>
            </a:r>
            <a:r>
              <a:rPr dirty="0" sz="2000">
                <a:latin typeface="微软雅黑"/>
                <a:cs typeface="微软雅黑"/>
              </a:rPr>
              <a:t>氦核的质量</a:t>
            </a:r>
            <a:r>
              <a:rPr dirty="0" sz="2000" spc="-5">
                <a:latin typeface="微软雅黑"/>
                <a:cs typeface="微软雅黑"/>
              </a:rPr>
              <a:t>：</a:t>
            </a:r>
            <a:r>
              <a:rPr dirty="0" sz="2000" spc="-5" i="1">
                <a:latin typeface="Arial"/>
                <a:cs typeface="Arial"/>
              </a:rPr>
              <a:t>m</a:t>
            </a:r>
            <a:r>
              <a:rPr dirty="0" baseline="-17094" sz="1950" spc="-7">
                <a:latin typeface="微软雅黑"/>
                <a:cs typeface="微软雅黑"/>
              </a:rPr>
              <a:t>α</a:t>
            </a:r>
            <a:r>
              <a:rPr dirty="0" sz="2000" spc="-5">
                <a:latin typeface="微软雅黑"/>
                <a:cs typeface="微软雅黑"/>
              </a:rPr>
              <a:t>＝4.002603u,		</a:t>
            </a:r>
            <a:r>
              <a:rPr dirty="0" sz="2000">
                <a:latin typeface="微软雅黑"/>
                <a:cs typeface="微软雅黑"/>
              </a:rPr>
              <a:t>中子的质量</a:t>
            </a:r>
            <a:r>
              <a:rPr dirty="0" sz="2000" spc="-5">
                <a:latin typeface="微软雅黑"/>
                <a:cs typeface="微软雅黑"/>
              </a:rPr>
              <a:t>：</a:t>
            </a:r>
            <a:r>
              <a:rPr dirty="0" sz="2000" spc="-5" i="1">
                <a:latin typeface="Arial"/>
                <a:cs typeface="Arial"/>
              </a:rPr>
              <a:t>m</a:t>
            </a:r>
            <a:r>
              <a:rPr dirty="0" baseline="-17094" sz="1950" spc="-7">
                <a:latin typeface="微软雅黑"/>
                <a:cs typeface="微软雅黑"/>
              </a:rPr>
              <a:t>n</a:t>
            </a:r>
            <a:r>
              <a:rPr dirty="0" sz="2000" spc="-5">
                <a:latin typeface="微软雅黑"/>
                <a:cs typeface="微软雅黑"/>
              </a:rPr>
              <a:t>=1.008665u</a:t>
            </a:r>
            <a:endParaRPr sz="2000">
              <a:latin typeface="微软雅黑"/>
              <a:cs typeface="微软雅黑"/>
            </a:endParaRPr>
          </a:p>
          <a:p>
            <a:pPr marL="212725">
              <a:lnSpc>
                <a:spcPct val="100000"/>
              </a:lnSpc>
              <a:spcBef>
                <a:spcPts val="2400"/>
              </a:spcBef>
            </a:pPr>
            <a:r>
              <a:rPr dirty="0" sz="2000">
                <a:solidFill>
                  <a:srgbClr val="006FC0"/>
                </a:solidFill>
                <a:latin typeface="微软雅黑"/>
                <a:cs typeface="微软雅黑"/>
              </a:rPr>
              <a:t>求：上面核反应放出的能量，及平均每个核子释放的能量</a:t>
            </a:r>
            <a:r>
              <a:rPr dirty="0" sz="2000" spc="5">
                <a:solidFill>
                  <a:srgbClr val="006FC0"/>
                </a:solidFill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22664" y="4354576"/>
            <a:ext cx="216916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7530" algn="l"/>
              </a:tabLst>
            </a:pPr>
            <a:r>
              <a:rPr dirty="0" sz="2500" spc="-5">
                <a:latin typeface="Symbol"/>
                <a:cs typeface="Symbol"/>
              </a:rPr>
              <a:t></a:t>
            </a:r>
            <a:r>
              <a:rPr dirty="0" sz="2500" spc="-409">
                <a:latin typeface="Times New Roman"/>
                <a:cs typeface="Times New Roman"/>
              </a:rPr>
              <a:t> </a:t>
            </a:r>
            <a:r>
              <a:rPr dirty="0" sz="2500" spc="-5" i="1">
                <a:latin typeface="Times New Roman"/>
                <a:cs typeface="Times New Roman"/>
              </a:rPr>
              <a:t>E	</a:t>
            </a:r>
            <a:r>
              <a:rPr dirty="0" sz="2500" spc="-5">
                <a:latin typeface="Symbol"/>
                <a:cs typeface="Symbol"/>
              </a:rPr>
              <a:t></a:t>
            </a:r>
            <a:r>
              <a:rPr dirty="0" sz="2500" spc="-114">
                <a:latin typeface="Times New Roman"/>
                <a:cs typeface="Times New Roman"/>
              </a:rPr>
              <a:t> </a:t>
            </a:r>
            <a:r>
              <a:rPr dirty="0" sz="2500" spc="110">
                <a:latin typeface="Times New Roman"/>
                <a:cs typeface="Times New Roman"/>
              </a:rPr>
              <a:t>17.6</a:t>
            </a:r>
            <a:r>
              <a:rPr dirty="0" sz="2500" spc="-415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M</a:t>
            </a:r>
            <a:r>
              <a:rPr dirty="0" sz="2500" spc="-320">
                <a:latin typeface="Times New Roman"/>
                <a:cs typeface="Times New Roman"/>
              </a:rPr>
              <a:t> </a:t>
            </a:r>
            <a:r>
              <a:rPr dirty="0" sz="2500" spc="65">
                <a:latin typeface="Times New Roman"/>
                <a:cs typeface="Times New Roman"/>
              </a:rPr>
              <a:t>eV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1852" y="3733558"/>
            <a:ext cx="4167504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>
                <a:latin typeface="微软雅黑"/>
                <a:cs typeface="微软雅黑"/>
              </a:rPr>
              <a:t>亏损质量</a:t>
            </a:r>
            <a:r>
              <a:rPr dirty="0" sz="2000" spc="5">
                <a:latin typeface="微软雅黑"/>
                <a:cs typeface="微软雅黑"/>
              </a:rPr>
              <a:t>：</a:t>
            </a:r>
            <a:r>
              <a:rPr dirty="0" sz="2000" spc="-114">
                <a:latin typeface="微软雅黑"/>
                <a:cs typeface="微软雅黑"/>
              </a:rPr>
              <a:t> </a:t>
            </a:r>
            <a:r>
              <a:rPr dirty="0" baseline="1111" sz="3750" spc="30">
                <a:latin typeface="Symbol"/>
                <a:cs typeface="Symbol"/>
              </a:rPr>
              <a:t></a:t>
            </a:r>
            <a:r>
              <a:rPr dirty="0" baseline="1111" sz="3750" spc="30" i="1">
                <a:latin typeface="Times New Roman"/>
                <a:cs typeface="Times New Roman"/>
              </a:rPr>
              <a:t>m</a:t>
            </a:r>
            <a:r>
              <a:rPr dirty="0" baseline="1111" sz="3750" spc="-67" i="1">
                <a:latin typeface="Times New Roman"/>
                <a:cs typeface="Times New Roman"/>
              </a:rPr>
              <a:t> </a:t>
            </a:r>
            <a:r>
              <a:rPr dirty="0" baseline="1111" sz="3750" spc="-284">
                <a:latin typeface="Symbol"/>
                <a:cs typeface="Symbol"/>
              </a:rPr>
              <a:t></a:t>
            </a:r>
            <a:r>
              <a:rPr dirty="0" baseline="1111" sz="3750" spc="-284">
                <a:latin typeface="宋体"/>
                <a:cs typeface="宋体"/>
              </a:rPr>
              <a:t>（</a:t>
            </a:r>
            <a:r>
              <a:rPr dirty="0" baseline="1111" sz="3750" spc="-284" i="1">
                <a:latin typeface="Times New Roman"/>
                <a:cs typeface="Times New Roman"/>
              </a:rPr>
              <a:t>m</a:t>
            </a:r>
            <a:r>
              <a:rPr dirty="0" baseline="-22988" sz="2175" spc="-284">
                <a:latin typeface="Times New Roman"/>
                <a:cs typeface="Times New Roman"/>
              </a:rPr>
              <a:t>D</a:t>
            </a:r>
            <a:r>
              <a:rPr dirty="0" baseline="-22988" sz="2175" spc="-277">
                <a:latin typeface="Times New Roman"/>
                <a:cs typeface="Times New Roman"/>
              </a:rPr>
              <a:t> </a:t>
            </a:r>
            <a:r>
              <a:rPr dirty="0" baseline="1111" sz="3750" spc="22">
                <a:latin typeface="Symbol"/>
                <a:cs typeface="Symbol"/>
              </a:rPr>
              <a:t></a:t>
            </a:r>
            <a:r>
              <a:rPr dirty="0" baseline="1111" sz="3750" spc="-232">
                <a:latin typeface="Times New Roman"/>
                <a:cs typeface="Times New Roman"/>
              </a:rPr>
              <a:t> </a:t>
            </a:r>
            <a:r>
              <a:rPr dirty="0" baseline="1111" sz="3750" i="1">
                <a:latin typeface="Times New Roman"/>
                <a:cs typeface="Times New Roman"/>
              </a:rPr>
              <a:t>m</a:t>
            </a:r>
            <a:r>
              <a:rPr dirty="0" baseline="-22988" sz="2175">
                <a:latin typeface="Times New Roman"/>
                <a:cs typeface="Times New Roman"/>
              </a:rPr>
              <a:t>T</a:t>
            </a:r>
            <a:r>
              <a:rPr dirty="0" baseline="-22988" sz="2175" spc="-52">
                <a:latin typeface="Times New Roman"/>
                <a:cs typeface="Times New Roman"/>
              </a:rPr>
              <a:t> </a:t>
            </a:r>
            <a:r>
              <a:rPr dirty="0" baseline="1111" sz="3750" spc="15">
                <a:latin typeface="Times New Roman"/>
                <a:cs typeface="Times New Roman"/>
              </a:rPr>
              <a:t>)</a:t>
            </a:r>
            <a:r>
              <a:rPr dirty="0" baseline="1111" sz="3750" spc="-307">
                <a:latin typeface="Times New Roman"/>
                <a:cs typeface="Times New Roman"/>
              </a:rPr>
              <a:t> </a:t>
            </a:r>
            <a:r>
              <a:rPr dirty="0" baseline="1111" sz="3750" spc="22">
                <a:latin typeface="Symbol"/>
                <a:cs typeface="Symbol"/>
              </a:rPr>
              <a:t></a:t>
            </a:r>
            <a:r>
              <a:rPr dirty="0" baseline="1111" sz="3750" spc="-359">
                <a:latin typeface="Times New Roman"/>
                <a:cs typeface="Times New Roman"/>
              </a:rPr>
              <a:t> </a:t>
            </a:r>
            <a:r>
              <a:rPr dirty="0" baseline="1111" sz="3750" spc="37">
                <a:latin typeface="Times New Roman"/>
                <a:cs typeface="Times New Roman"/>
              </a:rPr>
              <a:t>(</a:t>
            </a:r>
            <a:r>
              <a:rPr dirty="0" baseline="1111" sz="3750" spc="37" i="1">
                <a:latin typeface="Times New Roman"/>
                <a:cs typeface="Times New Roman"/>
              </a:rPr>
              <a:t>m</a:t>
            </a:r>
            <a:r>
              <a:rPr dirty="0" baseline="-22988" sz="2175" spc="37">
                <a:latin typeface="Times New Roman"/>
                <a:cs typeface="Times New Roman"/>
              </a:rPr>
              <a:t>α</a:t>
            </a:r>
            <a:endParaRPr baseline="-22988" sz="217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55588" y="3756901"/>
            <a:ext cx="2526665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89000" algn="l"/>
              </a:tabLst>
            </a:pPr>
            <a:r>
              <a:rPr dirty="0" baseline="4444" sz="3750" spc="22">
                <a:latin typeface="Symbol"/>
                <a:cs typeface="Symbol"/>
              </a:rPr>
              <a:t></a:t>
            </a:r>
            <a:r>
              <a:rPr dirty="0" baseline="4444" sz="3750" spc="-225">
                <a:latin typeface="Times New Roman"/>
                <a:cs typeface="Times New Roman"/>
              </a:rPr>
              <a:t> </a:t>
            </a:r>
            <a:r>
              <a:rPr dirty="0" baseline="4444" sz="3750" spc="15" i="1">
                <a:latin typeface="Times New Roman"/>
                <a:cs typeface="Times New Roman"/>
              </a:rPr>
              <a:t>m</a:t>
            </a:r>
            <a:r>
              <a:rPr dirty="0" baseline="-15325" sz="2175" spc="15">
                <a:latin typeface="Times New Roman"/>
                <a:cs typeface="Times New Roman"/>
              </a:rPr>
              <a:t>n</a:t>
            </a:r>
            <a:r>
              <a:rPr dirty="0" baseline="-15325" sz="2175">
                <a:latin typeface="Times New Roman"/>
                <a:cs typeface="Times New Roman"/>
              </a:rPr>
              <a:t> </a:t>
            </a:r>
            <a:r>
              <a:rPr dirty="0" baseline="4444" sz="3750" spc="15">
                <a:latin typeface="Times New Roman"/>
                <a:cs typeface="Times New Roman"/>
              </a:rPr>
              <a:t>)	</a:t>
            </a:r>
            <a:r>
              <a:rPr dirty="0" sz="2500" spc="15">
                <a:latin typeface="Symbol"/>
                <a:cs typeface="Symbol"/>
              </a:rPr>
              <a:t></a:t>
            </a:r>
            <a:r>
              <a:rPr dirty="0" sz="2500" spc="-125">
                <a:latin typeface="Times New Roman"/>
                <a:cs typeface="Times New Roman"/>
              </a:rPr>
              <a:t> </a:t>
            </a:r>
            <a:r>
              <a:rPr dirty="0" sz="2500" spc="20">
                <a:latin typeface="Times New Roman"/>
                <a:cs typeface="Times New Roman"/>
              </a:rPr>
              <a:t>0.018884u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21852" y="4378642"/>
            <a:ext cx="2834640" cy="1060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9722" sz="3000">
                <a:latin typeface="微软雅黑"/>
                <a:cs typeface="微软雅黑"/>
              </a:rPr>
              <a:t>释放能量</a:t>
            </a:r>
            <a:r>
              <a:rPr dirty="0" baseline="9722" sz="3000" spc="7">
                <a:latin typeface="微软雅黑"/>
                <a:cs typeface="微软雅黑"/>
              </a:rPr>
              <a:t>：</a:t>
            </a:r>
            <a:r>
              <a:rPr dirty="0" baseline="9722" sz="3000" spc="397">
                <a:latin typeface="微软雅黑"/>
                <a:cs typeface="微软雅黑"/>
              </a:rPr>
              <a:t> </a:t>
            </a:r>
            <a:r>
              <a:rPr dirty="0" sz="2500" spc="15">
                <a:latin typeface="Symbol"/>
                <a:cs typeface="Symbol"/>
              </a:rPr>
              <a:t></a:t>
            </a:r>
            <a:r>
              <a:rPr dirty="0" sz="2500" spc="15" i="1">
                <a:latin typeface="Times New Roman"/>
                <a:cs typeface="Times New Roman"/>
              </a:rPr>
              <a:t>E</a:t>
            </a:r>
            <a:r>
              <a:rPr dirty="0" sz="2500" spc="65" i="1">
                <a:latin typeface="Times New Roman"/>
                <a:cs typeface="Times New Roman"/>
              </a:rPr>
              <a:t> </a:t>
            </a:r>
            <a:r>
              <a:rPr dirty="0" sz="2500" spc="15">
                <a:latin typeface="Symbol"/>
                <a:cs typeface="Symbol"/>
              </a:rPr>
              <a:t>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55">
                <a:latin typeface="Symbol"/>
                <a:cs typeface="Symbol"/>
              </a:rPr>
              <a:t></a:t>
            </a:r>
            <a:r>
              <a:rPr dirty="0" sz="2500" spc="55" i="1">
                <a:latin typeface="Times New Roman"/>
                <a:cs typeface="Times New Roman"/>
              </a:rPr>
              <a:t>mc</a:t>
            </a:r>
            <a:r>
              <a:rPr dirty="0" baseline="44061" sz="2175" spc="82">
                <a:latin typeface="Times New Roman"/>
                <a:cs typeface="Times New Roman"/>
              </a:rPr>
              <a:t>2</a:t>
            </a:r>
            <a:endParaRPr baseline="44061" sz="2175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2710"/>
              </a:spcBef>
            </a:pPr>
            <a:r>
              <a:rPr dirty="0" sz="2000">
                <a:latin typeface="微软雅黑"/>
                <a:cs typeface="微软雅黑"/>
              </a:rPr>
              <a:t>平均每个核子释放能量</a:t>
            </a:r>
            <a:r>
              <a:rPr dirty="0" sz="2000" spc="5"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57381" y="4350943"/>
            <a:ext cx="2954020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spc="15">
                <a:latin typeface="Symbol"/>
                <a:cs typeface="Symbol"/>
              </a:rPr>
              <a:t></a:t>
            </a:r>
            <a:r>
              <a:rPr dirty="0" sz="2500" spc="-90">
                <a:latin typeface="Times New Roman"/>
                <a:cs typeface="Times New Roman"/>
              </a:rPr>
              <a:t> </a:t>
            </a:r>
            <a:r>
              <a:rPr dirty="0" sz="2500" spc="15">
                <a:latin typeface="Times New Roman"/>
                <a:cs typeface="Times New Roman"/>
              </a:rPr>
              <a:t>0.01884</a:t>
            </a:r>
            <a:r>
              <a:rPr dirty="0" sz="2500" spc="-370">
                <a:latin typeface="Times New Roman"/>
                <a:cs typeface="Times New Roman"/>
              </a:rPr>
              <a:t> </a:t>
            </a:r>
            <a:r>
              <a:rPr dirty="0" sz="2500" spc="15">
                <a:latin typeface="Symbol"/>
                <a:cs typeface="Symbol"/>
              </a:rPr>
              <a:t></a:t>
            </a:r>
            <a:r>
              <a:rPr dirty="0" sz="2500" spc="-360">
                <a:latin typeface="Times New Roman"/>
                <a:cs typeface="Times New Roman"/>
              </a:rPr>
              <a:t> </a:t>
            </a:r>
            <a:r>
              <a:rPr dirty="0" sz="2500" spc="15">
                <a:latin typeface="Times New Roman"/>
                <a:cs typeface="Times New Roman"/>
              </a:rPr>
              <a:t>931.5MeV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356733" y="5294706"/>
            <a:ext cx="1123315" cy="0"/>
          </a:xfrm>
          <a:custGeom>
            <a:avLst/>
            <a:gdLst/>
            <a:ahLst/>
            <a:cxnLst/>
            <a:rect l="l" t="t" r="r" b="b"/>
            <a:pathLst>
              <a:path w="1123314" h="0">
                <a:moveTo>
                  <a:pt x="0" y="0"/>
                </a:moveTo>
                <a:lnTo>
                  <a:pt x="1123137" y="0"/>
                </a:lnTo>
              </a:path>
            </a:pathLst>
          </a:custGeom>
          <a:ln w="121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834735" y="5290794"/>
            <a:ext cx="17208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Times New Roman"/>
                <a:cs typeface="Times New Roman"/>
              </a:rPr>
              <a:t>5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31840" y="5063045"/>
            <a:ext cx="257556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35024" sz="3450">
                <a:latin typeface="Times New Roman"/>
                <a:cs typeface="Times New Roman"/>
              </a:rPr>
              <a:t>17.6MeV 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 </a:t>
            </a:r>
            <a:r>
              <a:rPr dirty="0" sz="2300" spc="5">
                <a:latin typeface="Times New Roman"/>
                <a:cs typeface="Times New Roman"/>
              </a:rPr>
              <a:t>3.52MeV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37027" y="3813810"/>
            <a:ext cx="25406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1</a:t>
            </a:r>
            <a:r>
              <a:rPr dirty="0" sz="2000" spc="-3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u</a:t>
            </a:r>
            <a:r>
              <a:rPr dirty="0" sz="2000" spc="-35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相当于</a:t>
            </a:r>
            <a:r>
              <a:rPr dirty="0" sz="2000" spc="-5">
                <a:solidFill>
                  <a:srgbClr val="FF0000"/>
                </a:solidFill>
                <a:latin typeface="微软雅黑"/>
                <a:cs typeface="微软雅黑"/>
              </a:rPr>
              <a:t>931.5</a:t>
            </a:r>
            <a:r>
              <a:rPr dirty="0" sz="2000" spc="-25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MeV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26627" y="5860415"/>
            <a:ext cx="93554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一个氘核</a:t>
            </a:r>
            <a:r>
              <a:rPr dirty="0" sz="1800" spc="-4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与一个氚核结合成一个氦核时（同时放出一个中子），释放</a:t>
            </a:r>
            <a:r>
              <a:rPr dirty="0" sz="1800" spc="-5">
                <a:latin typeface="微软雅黑"/>
                <a:cs typeface="微软雅黑"/>
              </a:rPr>
              <a:t>17.6</a:t>
            </a:r>
            <a:r>
              <a:rPr dirty="0" sz="1800" spc="-4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MeV</a:t>
            </a:r>
            <a:r>
              <a:rPr dirty="0" sz="1800">
                <a:latin typeface="微软雅黑"/>
                <a:cs typeface="微软雅黑"/>
              </a:rPr>
              <a:t>的能量，平均 每个核子放出的能量在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3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MeV </a:t>
            </a:r>
            <a:r>
              <a:rPr dirty="0" sz="1800">
                <a:latin typeface="微软雅黑"/>
                <a:cs typeface="微软雅黑"/>
              </a:rPr>
              <a:t>以上，比裂变反应中平均每个核子放出的能量大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3～4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倍。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热核反应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80602" y="1279893"/>
            <a:ext cx="8662035" cy="51517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45920">
              <a:lnSpc>
                <a:spcPts val="2995"/>
              </a:lnSpc>
              <a:spcBef>
                <a:spcPts val="125"/>
              </a:spcBef>
            </a:pPr>
            <a:r>
              <a:rPr dirty="0" baseline="43543" sz="2775" spc="22">
                <a:latin typeface="Times New Roman"/>
                <a:cs typeface="Times New Roman"/>
              </a:rPr>
              <a:t>2</a:t>
            </a:r>
            <a:r>
              <a:rPr dirty="0" baseline="43543" sz="2775" spc="-89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H</a:t>
            </a:r>
            <a:r>
              <a:rPr dirty="0" sz="3200" spc="110">
                <a:latin typeface="Symbol"/>
                <a:cs typeface="Symbol"/>
              </a:rPr>
              <a:t></a:t>
            </a:r>
            <a:r>
              <a:rPr dirty="0" baseline="43543" sz="2775" spc="165">
                <a:latin typeface="Times New Roman"/>
                <a:cs typeface="Times New Roman"/>
              </a:rPr>
              <a:t>3</a:t>
            </a:r>
            <a:r>
              <a:rPr dirty="0" baseline="43543" sz="2775" spc="-397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H</a:t>
            </a:r>
            <a:r>
              <a:rPr dirty="0" sz="3200" spc="80">
                <a:latin typeface="Symbol"/>
                <a:cs typeface="Symbol"/>
              </a:rPr>
              <a:t></a:t>
            </a:r>
            <a:r>
              <a:rPr dirty="0" baseline="43543" sz="2775" spc="120">
                <a:latin typeface="Times New Roman"/>
                <a:cs typeface="Times New Roman"/>
              </a:rPr>
              <a:t>4</a:t>
            </a:r>
            <a:r>
              <a:rPr dirty="0" baseline="43543" sz="2775" spc="-157">
                <a:latin typeface="Times New Roman"/>
                <a:cs typeface="Times New Roman"/>
              </a:rPr>
              <a:t> </a:t>
            </a:r>
            <a:r>
              <a:rPr dirty="0" sz="3200" spc="30">
                <a:latin typeface="Times New Roman"/>
                <a:cs typeface="Times New Roman"/>
              </a:rPr>
              <a:t>He</a:t>
            </a:r>
            <a:r>
              <a:rPr dirty="0" sz="3200" spc="30">
                <a:latin typeface="Symbol"/>
                <a:cs typeface="Symbol"/>
              </a:rPr>
              <a:t></a:t>
            </a:r>
            <a:r>
              <a:rPr dirty="0" sz="3200" spc="-480">
                <a:latin typeface="Times New Roman"/>
                <a:cs typeface="Times New Roman"/>
              </a:rPr>
              <a:t> </a:t>
            </a:r>
            <a:r>
              <a:rPr dirty="0" baseline="43543" sz="2775" spc="97">
                <a:latin typeface="Times New Roman"/>
                <a:cs typeface="Times New Roman"/>
              </a:rPr>
              <a:t>1</a:t>
            </a:r>
            <a:r>
              <a:rPr dirty="0" sz="3200" spc="65">
                <a:latin typeface="Times New Roman"/>
                <a:cs typeface="Times New Roman"/>
              </a:rPr>
              <a:t>n</a:t>
            </a:r>
            <a:r>
              <a:rPr dirty="0" sz="3200" spc="-160">
                <a:latin typeface="Times New Roman"/>
                <a:cs typeface="Times New Roman"/>
              </a:rPr>
              <a:t> </a:t>
            </a:r>
            <a:r>
              <a:rPr dirty="0" sz="3200" spc="40">
                <a:latin typeface="Symbol"/>
                <a:cs typeface="Symbol"/>
              </a:rPr>
              <a:t></a:t>
            </a:r>
            <a:r>
              <a:rPr dirty="0" sz="3200" spc="40">
                <a:latin typeface="Times New Roman"/>
                <a:cs typeface="Times New Roman"/>
              </a:rPr>
              <a:t>17.6MeV</a:t>
            </a:r>
            <a:endParaRPr sz="3200">
              <a:latin typeface="Times New Roman"/>
              <a:cs typeface="Times New Roman"/>
            </a:endParaRPr>
          </a:p>
          <a:p>
            <a:pPr marL="1663700">
              <a:lnSpc>
                <a:spcPts val="1375"/>
              </a:lnSpc>
              <a:tabLst>
                <a:tab pos="2385060" algn="l"/>
                <a:tab pos="3244215" algn="l"/>
                <a:tab pos="4142104" algn="l"/>
              </a:tabLst>
            </a:pPr>
            <a:r>
              <a:rPr dirty="0" sz="1850" spc="15">
                <a:latin typeface="Times New Roman"/>
                <a:cs typeface="Times New Roman"/>
              </a:rPr>
              <a:t>1	1	2	0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要使轻核发生聚变，必须使它们的距离达</a:t>
            </a:r>
            <a:r>
              <a:rPr dirty="0" sz="2000" spc="5">
                <a:latin typeface="微软雅黑"/>
                <a:cs typeface="微软雅黑"/>
              </a:rPr>
              <a:t>到</a:t>
            </a:r>
            <a:r>
              <a:rPr dirty="0" sz="2000" spc="-40">
                <a:latin typeface="微软雅黑"/>
                <a:cs typeface="微软雅黑"/>
              </a:rPr>
              <a:t> </a:t>
            </a:r>
            <a:r>
              <a:rPr dirty="0" sz="2000" spc="-5">
                <a:latin typeface="微软雅黑"/>
                <a:cs typeface="微软雅黑"/>
              </a:rPr>
              <a:t>10</a:t>
            </a:r>
            <a:r>
              <a:rPr dirty="0" baseline="21367" sz="1950" spc="-7">
                <a:latin typeface="微软雅黑"/>
                <a:cs typeface="微软雅黑"/>
              </a:rPr>
              <a:t>-15</a:t>
            </a:r>
            <a:r>
              <a:rPr dirty="0" baseline="21367" sz="1950" spc="254">
                <a:latin typeface="微软雅黑"/>
                <a:cs typeface="微软雅黑"/>
              </a:rPr>
              <a:t> </a:t>
            </a:r>
            <a:r>
              <a:rPr dirty="0" sz="2000" spc="-5">
                <a:latin typeface="微软雅黑"/>
                <a:cs typeface="微软雅黑"/>
              </a:rPr>
              <a:t>m</a:t>
            </a:r>
            <a:r>
              <a:rPr dirty="0" sz="2000">
                <a:latin typeface="微软雅黑"/>
                <a:cs typeface="微软雅黑"/>
              </a:rPr>
              <a:t>以内，核力才能起作用</a:t>
            </a:r>
            <a:r>
              <a:rPr dirty="0" sz="2000" spc="5">
                <a:latin typeface="微软雅黑"/>
                <a:cs typeface="微软雅黑"/>
              </a:rPr>
              <a:t>。 </a:t>
            </a:r>
            <a:r>
              <a:rPr dirty="0" sz="2000">
                <a:latin typeface="微软雅黑"/>
                <a:cs typeface="微软雅黑"/>
              </a:rPr>
              <a:t>由于原子核都带正电，要使它们接近到这种程度，必须克服巨大的库仑斥力</a:t>
            </a:r>
            <a:r>
              <a:rPr dirty="0" sz="2000">
                <a:latin typeface="微软雅黑"/>
                <a:cs typeface="微软雅黑"/>
              </a:rPr>
              <a:t>。 </a:t>
            </a:r>
            <a:r>
              <a:rPr dirty="0" sz="2000">
                <a:latin typeface="微软雅黑"/>
                <a:cs typeface="微软雅黑"/>
              </a:rPr>
              <a:t>也就是说，原子核要有很大的动能才会“撞”到一起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50">
              <a:latin typeface="Times New Roman"/>
              <a:cs typeface="Times New Roman"/>
            </a:endParaRPr>
          </a:p>
          <a:p>
            <a:pPr marL="123825">
              <a:lnSpc>
                <a:spcPct val="100000"/>
              </a:lnSpc>
            </a:pPr>
            <a:r>
              <a:rPr dirty="0" sz="2000">
                <a:solidFill>
                  <a:srgbClr val="006FC0"/>
                </a:solidFill>
                <a:latin typeface="微软雅黑"/>
                <a:cs typeface="微软雅黑"/>
              </a:rPr>
              <a:t>什么办法能使大量原子核获得足够的动能来发生聚变呢</a:t>
            </a:r>
            <a:r>
              <a:rPr dirty="0" sz="2000" spc="5">
                <a:solidFill>
                  <a:srgbClr val="006FC0"/>
                </a:solidFill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当物质的温度达到几百万开尔文时，剧烈的热运动使得一部分原子核具有足</a:t>
            </a:r>
            <a:r>
              <a:rPr dirty="0" sz="2000">
                <a:latin typeface="微软雅黑"/>
                <a:cs typeface="微软雅黑"/>
              </a:rPr>
              <a:t>够 </a:t>
            </a:r>
            <a:r>
              <a:rPr dirty="0" sz="2000">
                <a:latin typeface="微软雅黑"/>
                <a:cs typeface="微软雅黑"/>
              </a:rPr>
              <a:t>的动能，可以克服库仑斥力，碰撞时十分接近，发生聚变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Times New Roman"/>
              <a:cs typeface="Times New Roman"/>
            </a:endParaRPr>
          </a:p>
          <a:p>
            <a:pPr algn="ctr" marR="163195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微软雅黑"/>
                <a:cs typeface="微软雅黑"/>
              </a:rPr>
              <a:t>聚变又叫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热核反应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imes New Roman"/>
              <a:cs typeface="Times New Roman"/>
            </a:endParaRPr>
          </a:p>
          <a:p>
            <a:pPr algn="ctr" marR="1562100">
              <a:lnSpc>
                <a:spcPct val="100000"/>
              </a:lnSpc>
            </a:pP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太阳内部发生的是氢核的聚变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6350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氢弹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40864" y="1447800"/>
            <a:ext cx="3486912" cy="3250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608146" y="5032285"/>
            <a:ext cx="116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氢弹原理图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40252" y="953135"/>
            <a:ext cx="53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弹</a:t>
            </a:r>
            <a:r>
              <a:rPr dirty="0" sz="2000" spc="5">
                <a:latin typeface="微软雅黑"/>
                <a:cs typeface="微软雅黑"/>
              </a:rPr>
              <a:t>体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40562" y="1220393"/>
            <a:ext cx="4300448" cy="43295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413240" y="5056822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引爆装</a:t>
            </a:r>
            <a:r>
              <a:rPr dirty="0" sz="2000" spc="5">
                <a:latin typeface="微软雅黑"/>
                <a:cs typeface="微软雅黑"/>
              </a:rPr>
              <a:t>置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32527" y="1922462"/>
            <a:ext cx="3302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FF"/>
                </a:solidFill>
                <a:latin typeface="微软雅黑"/>
                <a:cs typeface="微软雅黑"/>
              </a:rPr>
              <a:t>小 型 原 子 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517892" y="2843783"/>
            <a:ext cx="1312163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35977" y="3805440"/>
            <a:ext cx="658495" cy="1229995"/>
          </a:xfrm>
          <a:custGeom>
            <a:avLst/>
            <a:gdLst/>
            <a:ahLst/>
            <a:cxnLst/>
            <a:rect l="l" t="t" r="r" b="b"/>
            <a:pathLst>
              <a:path w="658495" h="1229995">
                <a:moveTo>
                  <a:pt x="650011" y="1229677"/>
                </a:moveTo>
                <a:lnTo>
                  <a:pt x="0" y="4457"/>
                </a:lnTo>
                <a:lnTo>
                  <a:pt x="8407" y="0"/>
                </a:lnTo>
                <a:lnTo>
                  <a:pt x="658431" y="1225219"/>
                </a:lnTo>
                <a:lnTo>
                  <a:pt x="650011" y="12296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460384" y="3805440"/>
            <a:ext cx="658495" cy="1229995"/>
          </a:xfrm>
          <a:custGeom>
            <a:avLst/>
            <a:gdLst/>
            <a:ahLst/>
            <a:cxnLst/>
            <a:rect l="l" t="t" r="r" b="b"/>
            <a:pathLst>
              <a:path w="658495" h="1229995">
                <a:moveTo>
                  <a:pt x="8420" y="1229677"/>
                </a:moveTo>
                <a:lnTo>
                  <a:pt x="0" y="1225219"/>
                </a:lnTo>
                <a:lnTo>
                  <a:pt x="650011" y="0"/>
                </a:lnTo>
                <a:lnTo>
                  <a:pt x="658431" y="4457"/>
                </a:lnTo>
                <a:lnTo>
                  <a:pt x="8420" y="12296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906511" y="4934711"/>
            <a:ext cx="571500" cy="259079"/>
          </a:xfrm>
          <a:custGeom>
            <a:avLst/>
            <a:gdLst/>
            <a:ahLst/>
            <a:cxnLst/>
            <a:rect l="l" t="t" r="r" b="b"/>
            <a:pathLst>
              <a:path w="571500" h="259079">
                <a:moveTo>
                  <a:pt x="0" y="0"/>
                </a:moveTo>
                <a:lnTo>
                  <a:pt x="571500" y="0"/>
                </a:lnTo>
                <a:lnTo>
                  <a:pt x="571500" y="259079"/>
                </a:lnTo>
                <a:lnTo>
                  <a:pt x="0" y="259079"/>
                </a:lnTo>
                <a:lnTo>
                  <a:pt x="0" y="0"/>
                </a:lnTo>
                <a:close/>
              </a:path>
            </a:pathLst>
          </a:custGeom>
          <a:solidFill>
            <a:srgbClr val="5B9BD4">
              <a:alpha val="16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901431" y="4929301"/>
            <a:ext cx="581025" cy="269875"/>
          </a:xfrm>
          <a:custGeom>
            <a:avLst/>
            <a:gdLst/>
            <a:ahLst/>
            <a:cxnLst/>
            <a:rect l="l" t="t" r="r" b="b"/>
            <a:pathLst>
              <a:path w="581025" h="269875">
                <a:moveTo>
                  <a:pt x="581012" y="269684"/>
                </a:moveTo>
                <a:lnTo>
                  <a:pt x="0" y="269684"/>
                </a:lnTo>
                <a:lnTo>
                  <a:pt x="0" y="0"/>
                </a:lnTo>
                <a:lnTo>
                  <a:pt x="581012" y="0"/>
                </a:lnTo>
                <a:lnTo>
                  <a:pt x="5810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60159"/>
                </a:lnTo>
                <a:lnTo>
                  <a:pt x="4762" y="260159"/>
                </a:lnTo>
                <a:lnTo>
                  <a:pt x="9525" y="264922"/>
                </a:lnTo>
                <a:lnTo>
                  <a:pt x="581012" y="264922"/>
                </a:lnTo>
                <a:lnTo>
                  <a:pt x="581012" y="269684"/>
                </a:lnTo>
                <a:close/>
              </a:path>
              <a:path w="581025" h="26987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81025" h="269875">
                <a:moveTo>
                  <a:pt x="5714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71487" y="4762"/>
                </a:lnTo>
                <a:lnTo>
                  <a:pt x="571487" y="9525"/>
                </a:lnTo>
                <a:close/>
              </a:path>
              <a:path w="581025" h="269875">
                <a:moveTo>
                  <a:pt x="571487" y="264922"/>
                </a:moveTo>
                <a:lnTo>
                  <a:pt x="571487" y="4762"/>
                </a:lnTo>
                <a:lnTo>
                  <a:pt x="576249" y="9525"/>
                </a:lnTo>
                <a:lnTo>
                  <a:pt x="581012" y="9525"/>
                </a:lnTo>
                <a:lnTo>
                  <a:pt x="581012" y="260159"/>
                </a:lnTo>
                <a:lnTo>
                  <a:pt x="576249" y="260159"/>
                </a:lnTo>
                <a:lnTo>
                  <a:pt x="571487" y="264922"/>
                </a:lnTo>
                <a:close/>
              </a:path>
              <a:path w="581025" h="269875">
                <a:moveTo>
                  <a:pt x="581012" y="9525"/>
                </a:moveTo>
                <a:lnTo>
                  <a:pt x="576249" y="9525"/>
                </a:lnTo>
                <a:lnTo>
                  <a:pt x="571487" y="4762"/>
                </a:lnTo>
                <a:lnTo>
                  <a:pt x="581012" y="4762"/>
                </a:lnTo>
                <a:lnTo>
                  <a:pt x="581012" y="9525"/>
                </a:lnTo>
                <a:close/>
              </a:path>
              <a:path w="581025" h="269875">
                <a:moveTo>
                  <a:pt x="9525" y="264922"/>
                </a:moveTo>
                <a:lnTo>
                  <a:pt x="4762" y="260159"/>
                </a:lnTo>
                <a:lnTo>
                  <a:pt x="9525" y="260159"/>
                </a:lnTo>
                <a:lnTo>
                  <a:pt x="9525" y="264922"/>
                </a:lnTo>
                <a:close/>
              </a:path>
              <a:path w="581025" h="269875">
                <a:moveTo>
                  <a:pt x="571487" y="264922"/>
                </a:moveTo>
                <a:lnTo>
                  <a:pt x="9525" y="264922"/>
                </a:lnTo>
                <a:lnTo>
                  <a:pt x="9525" y="260159"/>
                </a:lnTo>
                <a:lnTo>
                  <a:pt x="571487" y="260159"/>
                </a:lnTo>
                <a:lnTo>
                  <a:pt x="571487" y="264922"/>
                </a:lnTo>
                <a:close/>
              </a:path>
              <a:path w="581025" h="269875">
                <a:moveTo>
                  <a:pt x="581012" y="264922"/>
                </a:moveTo>
                <a:lnTo>
                  <a:pt x="571487" y="264922"/>
                </a:lnTo>
                <a:lnTo>
                  <a:pt x="576249" y="260159"/>
                </a:lnTo>
                <a:lnTo>
                  <a:pt x="581012" y="260159"/>
                </a:lnTo>
                <a:lnTo>
                  <a:pt x="581012" y="2649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110728" y="4937759"/>
            <a:ext cx="198120" cy="2407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100745" y="4931765"/>
            <a:ext cx="224790" cy="266700"/>
          </a:xfrm>
          <a:custGeom>
            <a:avLst/>
            <a:gdLst/>
            <a:ahLst/>
            <a:cxnLst/>
            <a:rect l="l" t="t" r="r" b="b"/>
            <a:pathLst>
              <a:path w="224790" h="266700">
                <a:moveTo>
                  <a:pt x="72755" y="87346"/>
                </a:moveTo>
                <a:lnTo>
                  <a:pt x="0" y="28422"/>
                </a:lnTo>
                <a:lnTo>
                  <a:pt x="108140" y="0"/>
                </a:lnTo>
                <a:lnTo>
                  <a:pt x="112183" y="7772"/>
                </a:lnTo>
                <a:lnTo>
                  <a:pt x="101447" y="7772"/>
                </a:lnTo>
                <a:lnTo>
                  <a:pt x="103205" y="11152"/>
                </a:lnTo>
                <a:lnTo>
                  <a:pt x="43153" y="26936"/>
                </a:lnTo>
                <a:lnTo>
                  <a:pt x="13296" y="26936"/>
                </a:lnTo>
                <a:lnTo>
                  <a:pt x="11506" y="35255"/>
                </a:lnTo>
                <a:lnTo>
                  <a:pt x="23568" y="35255"/>
                </a:lnTo>
                <a:lnTo>
                  <a:pt x="84635" y="84709"/>
                </a:lnTo>
                <a:lnTo>
                  <a:pt x="81292" y="84709"/>
                </a:lnTo>
                <a:lnTo>
                  <a:pt x="72755" y="87346"/>
                </a:lnTo>
                <a:close/>
              </a:path>
              <a:path w="224790" h="266700">
                <a:moveTo>
                  <a:pt x="103205" y="11152"/>
                </a:moveTo>
                <a:lnTo>
                  <a:pt x="101447" y="7772"/>
                </a:lnTo>
                <a:lnTo>
                  <a:pt x="106883" y="10185"/>
                </a:lnTo>
                <a:lnTo>
                  <a:pt x="103205" y="11152"/>
                </a:lnTo>
                <a:close/>
              </a:path>
              <a:path w="224790" h="266700">
                <a:moveTo>
                  <a:pt x="134575" y="71459"/>
                </a:moveTo>
                <a:lnTo>
                  <a:pt x="103205" y="11152"/>
                </a:lnTo>
                <a:lnTo>
                  <a:pt x="106883" y="10185"/>
                </a:lnTo>
                <a:lnTo>
                  <a:pt x="101447" y="7772"/>
                </a:lnTo>
                <a:lnTo>
                  <a:pt x="112183" y="7772"/>
                </a:lnTo>
                <a:lnTo>
                  <a:pt x="144643" y="70180"/>
                </a:lnTo>
                <a:lnTo>
                  <a:pt x="140728" y="70180"/>
                </a:lnTo>
                <a:lnTo>
                  <a:pt x="134575" y="71459"/>
                </a:lnTo>
                <a:close/>
              </a:path>
              <a:path w="224790" h="266700">
                <a:moveTo>
                  <a:pt x="11506" y="35255"/>
                </a:moveTo>
                <a:lnTo>
                  <a:pt x="13296" y="26936"/>
                </a:lnTo>
                <a:lnTo>
                  <a:pt x="20612" y="32861"/>
                </a:lnTo>
                <a:lnTo>
                  <a:pt x="11506" y="35255"/>
                </a:lnTo>
                <a:close/>
              </a:path>
              <a:path w="224790" h="266700">
                <a:moveTo>
                  <a:pt x="20612" y="32861"/>
                </a:moveTo>
                <a:lnTo>
                  <a:pt x="13296" y="26936"/>
                </a:lnTo>
                <a:lnTo>
                  <a:pt x="43153" y="26936"/>
                </a:lnTo>
                <a:lnTo>
                  <a:pt x="20612" y="32861"/>
                </a:lnTo>
                <a:close/>
              </a:path>
              <a:path w="224790" h="266700">
                <a:moveTo>
                  <a:pt x="23568" y="35255"/>
                </a:moveTo>
                <a:lnTo>
                  <a:pt x="11506" y="35255"/>
                </a:lnTo>
                <a:lnTo>
                  <a:pt x="20612" y="32861"/>
                </a:lnTo>
                <a:lnTo>
                  <a:pt x="23568" y="35255"/>
                </a:lnTo>
                <a:close/>
              </a:path>
              <a:path w="224790" h="266700">
                <a:moveTo>
                  <a:pt x="137477" y="77038"/>
                </a:moveTo>
                <a:lnTo>
                  <a:pt x="134575" y="71459"/>
                </a:lnTo>
                <a:lnTo>
                  <a:pt x="140728" y="70180"/>
                </a:lnTo>
                <a:lnTo>
                  <a:pt x="137477" y="77038"/>
                </a:lnTo>
                <a:close/>
              </a:path>
              <a:path w="224790" h="266700">
                <a:moveTo>
                  <a:pt x="148210" y="77038"/>
                </a:moveTo>
                <a:lnTo>
                  <a:pt x="137477" y="77038"/>
                </a:lnTo>
                <a:lnTo>
                  <a:pt x="140728" y="70180"/>
                </a:lnTo>
                <a:lnTo>
                  <a:pt x="144643" y="70180"/>
                </a:lnTo>
                <a:lnTo>
                  <a:pt x="148210" y="77038"/>
                </a:lnTo>
                <a:close/>
              </a:path>
              <a:path w="224790" h="266700">
                <a:moveTo>
                  <a:pt x="162765" y="138766"/>
                </a:moveTo>
                <a:lnTo>
                  <a:pt x="112991" y="75946"/>
                </a:lnTo>
                <a:lnTo>
                  <a:pt x="134575" y="71459"/>
                </a:lnTo>
                <a:lnTo>
                  <a:pt x="136982" y="76085"/>
                </a:lnTo>
                <a:lnTo>
                  <a:pt x="125247" y="76085"/>
                </a:lnTo>
                <a:lnTo>
                  <a:pt x="122478" y="83705"/>
                </a:lnTo>
                <a:lnTo>
                  <a:pt x="131284" y="83705"/>
                </a:lnTo>
                <a:lnTo>
                  <a:pt x="173372" y="136829"/>
                </a:lnTo>
                <a:lnTo>
                  <a:pt x="169646" y="136829"/>
                </a:lnTo>
                <a:lnTo>
                  <a:pt x="162765" y="138766"/>
                </a:lnTo>
                <a:close/>
              </a:path>
              <a:path w="224790" h="266700">
                <a:moveTo>
                  <a:pt x="122478" y="83705"/>
                </a:moveTo>
                <a:lnTo>
                  <a:pt x="125247" y="76085"/>
                </a:lnTo>
                <a:lnTo>
                  <a:pt x="130040" y="82135"/>
                </a:lnTo>
                <a:lnTo>
                  <a:pt x="122478" y="83705"/>
                </a:lnTo>
                <a:close/>
              </a:path>
              <a:path w="224790" h="266700">
                <a:moveTo>
                  <a:pt x="130040" y="82135"/>
                </a:moveTo>
                <a:lnTo>
                  <a:pt x="125247" y="76085"/>
                </a:lnTo>
                <a:lnTo>
                  <a:pt x="136982" y="76085"/>
                </a:lnTo>
                <a:lnTo>
                  <a:pt x="137477" y="77038"/>
                </a:lnTo>
                <a:lnTo>
                  <a:pt x="148210" y="77038"/>
                </a:lnTo>
                <a:lnTo>
                  <a:pt x="148831" y="78232"/>
                </a:lnTo>
                <a:lnTo>
                  <a:pt x="130040" y="82135"/>
                </a:lnTo>
                <a:close/>
              </a:path>
              <a:path w="224790" h="266700">
                <a:moveTo>
                  <a:pt x="131284" y="83705"/>
                </a:moveTo>
                <a:lnTo>
                  <a:pt x="122478" y="83705"/>
                </a:lnTo>
                <a:lnTo>
                  <a:pt x="130040" y="82135"/>
                </a:lnTo>
                <a:lnTo>
                  <a:pt x="131284" y="83705"/>
                </a:lnTo>
                <a:close/>
              </a:path>
              <a:path w="224790" h="266700">
                <a:moveTo>
                  <a:pt x="79692" y="92964"/>
                </a:moveTo>
                <a:lnTo>
                  <a:pt x="72755" y="87346"/>
                </a:lnTo>
                <a:lnTo>
                  <a:pt x="81292" y="84709"/>
                </a:lnTo>
                <a:lnTo>
                  <a:pt x="79692" y="92964"/>
                </a:lnTo>
                <a:close/>
              </a:path>
              <a:path w="224790" h="266700">
                <a:moveTo>
                  <a:pt x="86874" y="92964"/>
                </a:moveTo>
                <a:lnTo>
                  <a:pt x="79692" y="92964"/>
                </a:lnTo>
                <a:lnTo>
                  <a:pt x="81292" y="84709"/>
                </a:lnTo>
                <a:lnTo>
                  <a:pt x="84635" y="84709"/>
                </a:lnTo>
                <a:lnTo>
                  <a:pt x="92633" y="91186"/>
                </a:lnTo>
                <a:lnTo>
                  <a:pt x="86874" y="92964"/>
                </a:lnTo>
                <a:close/>
              </a:path>
              <a:path w="224790" h="266700">
                <a:moveTo>
                  <a:pt x="111371" y="151638"/>
                </a:moveTo>
                <a:lnTo>
                  <a:pt x="43510" y="96380"/>
                </a:lnTo>
                <a:lnTo>
                  <a:pt x="72755" y="87346"/>
                </a:lnTo>
                <a:lnTo>
                  <a:pt x="79692" y="92964"/>
                </a:lnTo>
                <a:lnTo>
                  <a:pt x="86874" y="92964"/>
                </a:lnTo>
                <a:lnTo>
                  <a:pt x="81525" y="94615"/>
                </a:lnTo>
                <a:lnTo>
                  <a:pt x="56426" y="94615"/>
                </a:lnTo>
                <a:lnTo>
                  <a:pt x="54825" y="102857"/>
                </a:lnTo>
                <a:lnTo>
                  <a:pt x="66549" y="102857"/>
                </a:lnTo>
                <a:lnTo>
                  <a:pt x="123792" y="149466"/>
                </a:lnTo>
                <a:lnTo>
                  <a:pt x="120878" y="149466"/>
                </a:lnTo>
                <a:lnTo>
                  <a:pt x="111371" y="151638"/>
                </a:lnTo>
                <a:close/>
              </a:path>
              <a:path w="224790" h="266700">
                <a:moveTo>
                  <a:pt x="54825" y="102857"/>
                </a:moveTo>
                <a:lnTo>
                  <a:pt x="56426" y="94615"/>
                </a:lnTo>
                <a:lnTo>
                  <a:pt x="63326" y="100233"/>
                </a:lnTo>
                <a:lnTo>
                  <a:pt x="54825" y="102857"/>
                </a:lnTo>
                <a:close/>
              </a:path>
              <a:path w="224790" h="266700">
                <a:moveTo>
                  <a:pt x="63326" y="100233"/>
                </a:moveTo>
                <a:lnTo>
                  <a:pt x="56426" y="94615"/>
                </a:lnTo>
                <a:lnTo>
                  <a:pt x="81525" y="94615"/>
                </a:lnTo>
                <a:lnTo>
                  <a:pt x="63326" y="100233"/>
                </a:lnTo>
                <a:close/>
              </a:path>
              <a:path w="224790" h="266700">
                <a:moveTo>
                  <a:pt x="66549" y="102857"/>
                </a:moveTo>
                <a:lnTo>
                  <a:pt x="54825" y="102857"/>
                </a:lnTo>
                <a:lnTo>
                  <a:pt x="63326" y="100233"/>
                </a:lnTo>
                <a:lnTo>
                  <a:pt x="66549" y="102857"/>
                </a:lnTo>
                <a:close/>
              </a:path>
              <a:path w="224790" h="266700">
                <a:moveTo>
                  <a:pt x="167208" y="144373"/>
                </a:moveTo>
                <a:lnTo>
                  <a:pt x="162765" y="138766"/>
                </a:lnTo>
                <a:lnTo>
                  <a:pt x="169646" y="136829"/>
                </a:lnTo>
                <a:lnTo>
                  <a:pt x="167208" y="144373"/>
                </a:lnTo>
                <a:close/>
              </a:path>
              <a:path w="224790" h="266700">
                <a:moveTo>
                  <a:pt x="178023" y="144373"/>
                </a:moveTo>
                <a:lnTo>
                  <a:pt x="167208" y="144373"/>
                </a:lnTo>
                <a:lnTo>
                  <a:pt x="169646" y="136829"/>
                </a:lnTo>
                <a:lnTo>
                  <a:pt x="173372" y="136829"/>
                </a:lnTo>
                <a:lnTo>
                  <a:pt x="179108" y="144068"/>
                </a:lnTo>
                <a:lnTo>
                  <a:pt x="178023" y="144373"/>
                </a:lnTo>
                <a:close/>
              </a:path>
              <a:path w="224790" h="266700">
                <a:moveTo>
                  <a:pt x="214659" y="249834"/>
                </a:moveTo>
                <a:lnTo>
                  <a:pt x="203695" y="249834"/>
                </a:lnTo>
                <a:lnTo>
                  <a:pt x="210781" y="243738"/>
                </a:lnTo>
                <a:lnTo>
                  <a:pt x="191448" y="228409"/>
                </a:lnTo>
                <a:lnTo>
                  <a:pt x="143332" y="144233"/>
                </a:lnTo>
                <a:lnTo>
                  <a:pt x="162765" y="138766"/>
                </a:lnTo>
                <a:lnTo>
                  <a:pt x="167208" y="144373"/>
                </a:lnTo>
                <a:lnTo>
                  <a:pt x="178023" y="144373"/>
                </a:lnTo>
                <a:lnTo>
                  <a:pt x="176487" y="144805"/>
                </a:lnTo>
                <a:lnTo>
                  <a:pt x="154622" y="144805"/>
                </a:lnTo>
                <a:lnTo>
                  <a:pt x="151777" y="151752"/>
                </a:lnTo>
                <a:lnTo>
                  <a:pt x="158593" y="151752"/>
                </a:lnTo>
                <a:lnTo>
                  <a:pt x="214659" y="249834"/>
                </a:lnTo>
                <a:close/>
              </a:path>
              <a:path w="224790" h="266700">
                <a:moveTo>
                  <a:pt x="151777" y="151752"/>
                </a:moveTo>
                <a:lnTo>
                  <a:pt x="154622" y="144805"/>
                </a:lnTo>
                <a:lnTo>
                  <a:pt x="157649" y="150101"/>
                </a:lnTo>
                <a:lnTo>
                  <a:pt x="151777" y="151752"/>
                </a:lnTo>
                <a:close/>
              </a:path>
              <a:path w="224790" h="266700">
                <a:moveTo>
                  <a:pt x="157649" y="150101"/>
                </a:moveTo>
                <a:lnTo>
                  <a:pt x="154622" y="144805"/>
                </a:lnTo>
                <a:lnTo>
                  <a:pt x="176487" y="144805"/>
                </a:lnTo>
                <a:lnTo>
                  <a:pt x="157649" y="150101"/>
                </a:lnTo>
                <a:close/>
              </a:path>
              <a:path w="224790" h="266700">
                <a:moveTo>
                  <a:pt x="118935" y="157797"/>
                </a:moveTo>
                <a:lnTo>
                  <a:pt x="111371" y="151638"/>
                </a:lnTo>
                <a:lnTo>
                  <a:pt x="120878" y="149466"/>
                </a:lnTo>
                <a:lnTo>
                  <a:pt x="118935" y="157797"/>
                </a:lnTo>
                <a:close/>
              </a:path>
              <a:path w="224790" h="266700">
                <a:moveTo>
                  <a:pt x="127126" y="157797"/>
                </a:moveTo>
                <a:lnTo>
                  <a:pt x="118935" y="157797"/>
                </a:lnTo>
                <a:lnTo>
                  <a:pt x="120878" y="149466"/>
                </a:lnTo>
                <a:lnTo>
                  <a:pt x="123792" y="149466"/>
                </a:lnTo>
                <a:lnTo>
                  <a:pt x="132511" y="156565"/>
                </a:lnTo>
                <a:lnTo>
                  <a:pt x="127126" y="157797"/>
                </a:lnTo>
                <a:close/>
              </a:path>
              <a:path w="224790" h="266700">
                <a:moveTo>
                  <a:pt x="158593" y="151752"/>
                </a:moveTo>
                <a:lnTo>
                  <a:pt x="151777" y="151752"/>
                </a:lnTo>
                <a:lnTo>
                  <a:pt x="157649" y="150101"/>
                </a:lnTo>
                <a:lnTo>
                  <a:pt x="158593" y="151752"/>
                </a:lnTo>
                <a:close/>
              </a:path>
              <a:path w="224790" h="266700">
                <a:moveTo>
                  <a:pt x="224205" y="266534"/>
                </a:moveTo>
                <a:lnTo>
                  <a:pt x="86474" y="157327"/>
                </a:lnTo>
                <a:lnTo>
                  <a:pt x="111371" y="151638"/>
                </a:lnTo>
                <a:lnTo>
                  <a:pt x="116767" y="156032"/>
                </a:lnTo>
                <a:lnTo>
                  <a:pt x="100164" y="156032"/>
                </a:lnTo>
                <a:lnTo>
                  <a:pt x="98259" y="164401"/>
                </a:lnTo>
                <a:lnTo>
                  <a:pt x="110720" y="164401"/>
                </a:lnTo>
                <a:lnTo>
                  <a:pt x="191448" y="228409"/>
                </a:lnTo>
                <a:lnTo>
                  <a:pt x="203695" y="249834"/>
                </a:lnTo>
                <a:lnTo>
                  <a:pt x="214659" y="249834"/>
                </a:lnTo>
                <a:lnTo>
                  <a:pt x="224205" y="266534"/>
                </a:lnTo>
                <a:close/>
              </a:path>
              <a:path w="224790" h="266700">
                <a:moveTo>
                  <a:pt x="98259" y="164401"/>
                </a:moveTo>
                <a:lnTo>
                  <a:pt x="100164" y="156032"/>
                </a:lnTo>
                <a:lnTo>
                  <a:pt x="107930" y="162189"/>
                </a:lnTo>
                <a:lnTo>
                  <a:pt x="98259" y="164401"/>
                </a:lnTo>
                <a:close/>
              </a:path>
              <a:path w="224790" h="266700">
                <a:moveTo>
                  <a:pt x="107930" y="162189"/>
                </a:moveTo>
                <a:lnTo>
                  <a:pt x="100164" y="156032"/>
                </a:lnTo>
                <a:lnTo>
                  <a:pt x="116767" y="156032"/>
                </a:lnTo>
                <a:lnTo>
                  <a:pt x="118935" y="157797"/>
                </a:lnTo>
                <a:lnTo>
                  <a:pt x="127126" y="157797"/>
                </a:lnTo>
                <a:lnTo>
                  <a:pt x="107930" y="162189"/>
                </a:lnTo>
                <a:close/>
              </a:path>
              <a:path w="224790" h="266700">
                <a:moveTo>
                  <a:pt x="110720" y="164401"/>
                </a:moveTo>
                <a:lnTo>
                  <a:pt x="98259" y="164401"/>
                </a:lnTo>
                <a:lnTo>
                  <a:pt x="107930" y="162189"/>
                </a:lnTo>
                <a:lnTo>
                  <a:pt x="110720" y="164401"/>
                </a:lnTo>
                <a:close/>
              </a:path>
              <a:path w="224790" h="266700">
                <a:moveTo>
                  <a:pt x="203695" y="249834"/>
                </a:moveTo>
                <a:lnTo>
                  <a:pt x="191448" y="228409"/>
                </a:lnTo>
                <a:lnTo>
                  <a:pt x="210781" y="243738"/>
                </a:lnTo>
                <a:lnTo>
                  <a:pt x="203695" y="2498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660727" y="4175175"/>
            <a:ext cx="709930" cy="111125"/>
          </a:xfrm>
          <a:custGeom>
            <a:avLst/>
            <a:gdLst/>
            <a:ahLst/>
            <a:cxnLst/>
            <a:rect l="l" t="t" r="r" b="b"/>
            <a:pathLst>
              <a:path w="709929" h="111125">
                <a:moveTo>
                  <a:pt x="708025" y="111023"/>
                </a:moveTo>
                <a:lnTo>
                  <a:pt x="0" y="9423"/>
                </a:lnTo>
                <a:lnTo>
                  <a:pt x="1346" y="0"/>
                </a:lnTo>
                <a:lnTo>
                  <a:pt x="709371" y="101600"/>
                </a:lnTo>
                <a:lnTo>
                  <a:pt x="708025" y="1110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294090" y="3190913"/>
            <a:ext cx="1597025" cy="212725"/>
          </a:xfrm>
          <a:custGeom>
            <a:avLst/>
            <a:gdLst/>
            <a:ahLst/>
            <a:cxnLst/>
            <a:rect l="l" t="t" r="r" b="b"/>
            <a:pathLst>
              <a:path w="1597025" h="212725">
                <a:moveTo>
                  <a:pt x="1193" y="212648"/>
                </a:moveTo>
                <a:lnTo>
                  <a:pt x="0" y="203200"/>
                </a:lnTo>
                <a:lnTo>
                  <a:pt x="1595437" y="0"/>
                </a:lnTo>
                <a:lnTo>
                  <a:pt x="1596631" y="9448"/>
                </a:lnTo>
                <a:lnTo>
                  <a:pt x="1193" y="2126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722956" y="3762387"/>
            <a:ext cx="1087120" cy="92075"/>
          </a:xfrm>
          <a:custGeom>
            <a:avLst/>
            <a:gdLst/>
            <a:ahLst/>
            <a:cxnLst/>
            <a:rect l="l" t="t" r="r" b="b"/>
            <a:pathLst>
              <a:path w="1087120" h="92075">
                <a:moveTo>
                  <a:pt x="711" y="92049"/>
                </a:moveTo>
                <a:lnTo>
                  <a:pt x="0" y="82550"/>
                </a:lnTo>
                <a:lnTo>
                  <a:pt x="1085850" y="0"/>
                </a:lnTo>
                <a:lnTo>
                  <a:pt x="1086561" y="9499"/>
                </a:lnTo>
                <a:lnTo>
                  <a:pt x="711" y="92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665652" y="2956560"/>
            <a:ext cx="1550035" cy="180911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铀</a:t>
            </a:r>
            <a:r>
              <a:rPr dirty="0" sz="2000" spc="-5">
                <a:latin typeface="微软雅黑"/>
                <a:cs typeface="微软雅黑"/>
              </a:rPr>
              <a:t>235</a:t>
            </a:r>
            <a:endParaRPr sz="2000">
              <a:latin typeface="微软雅黑"/>
              <a:cs typeface="微软雅黑"/>
            </a:endParaRPr>
          </a:p>
          <a:p>
            <a:pPr marL="236220">
              <a:lnSpc>
                <a:spcPct val="100000"/>
              </a:lnSpc>
              <a:spcBef>
                <a:spcPts val="2300"/>
              </a:spcBef>
            </a:pPr>
            <a:r>
              <a:rPr dirty="0" sz="2000">
                <a:latin typeface="微软雅黑"/>
                <a:cs typeface="微软雅黑"/>
              </a:rPr>
              <a:t>外</a:t>
            </a:r>
            <a:r>
              <a:rPr dirty="0" sz="2000" spc="5">
                <a:latin typeface="微软雅黑"/>
                <a:cs typeface="微软雅黑"/>
              </a:rPr>
              <a:t>壳</a:t>
            </a:r>
            <a:endParaRPr sz="20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2135"/>
              </a:spcBef>
            </a:pPr>
            <a:r>
              <a:rPr dirty="0" sz="2000">
                <a:latin typeface="微软雅黑"/>
                <a:cs typeface="微软雅黑"/>
              </a:rPr>
              <a:t>氘、氚、重</a:t>
            </a:r>
            <a:r>
              <a:rPr dirty="0" sz="2000">
                <a:latin typeface="微软雅黑"/>
                <a:cs typeface="微软雅黑"/>
              </a:rPr>
              <a:t>氢 </a:t>
            </a:r>
            <a:r>
              <a:rPr dirty="0" sz="2000">
                <a:latin typeface="微软雅黑"/>
                <a:cs typeface="微软雅黑"/>
              </a:rPr>
              <a:t>化钾</a:t>
            </a:r>
            <a:r>
              <a:rPr dirty="0" sz="2000" spc="5">
                <a:latin typeface="微软雅黑"/>
                <a:cs typeface="微软雅黑"/>
              </a:rPr>
              <a:t>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181987" y="2348179"/>
            <a:ext cx="1571625" cy="560070"/>
          </a:xfrm>
          <a:custGeom>
            <a:avLst/>
            <a:gdLst/>
            <a:ahLst/>
            <a:cxnLst/>
            <a:rect l="l" t="t" r="r" b="b"/>
            <a:pathLst>
              <a:path w="1571625" h="560069">
                <a:moveTo>
                  <a:pt x="3149" y="559854"/>
                </a:moveTo>
                <a:lnTo>
                  <a:pt x="0" y="550862"/>
                </a:lnTo>
                <a:lnTo>
                  <a:pt x="1568450" y="0"/>
                </a:lnTo>
                <a:lnTo>
                  <a:pt x="1571599" y="8991"/>
                </a:lnTo>
                <a:lnTo>
                  <a:pt x="3149" y="5598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9768840" y="2140585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普通炸</a:t>
            </a:r>
            <a:r>
              <a:rPr dirty="0" sz="2000" spc="5">
                <a:latin typeface="微软雅黑"/>
                <a:cs typeface="微软雅黑"/>
              </a:rPr>
              <a:t>药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43989" y="5997575"/>
            <a:ext cx="10388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首先由普通炸药引爆原子弹，再由原子弹爆炸产生的高温高压引发热核爆炸。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8542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latin typeface="微软雅黑"/>
                <a:cs typeface="微软雅黑"/>
              </a:rPr>
              <a:t>受控热核反应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58377" y="1182052"/>
            <a:ext cx="9045575" cy="4829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微软雅黑"/>
                <a:cs typeface="微软雅黑"/>
              </a:rPr>
              <a:t>(</a:t>
            </a:r>
            <a:r>
              <a:rPr dirty="0" sz="2800">
                <a:latin typeface="微软雅黑"/>
                <a:cs typeface="微软雅黑"/>
              </a:rPr>
              <a:t>一）核聚变的优点（相比核裂变</a:t>
            </a:r>
            <a:r>
              <a:rPr dirty="0" sz="2800" spc="-5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 marL="721995" indent="-252095">
              <a:lnSpc>
                <a:spcPct val="100000"/>
              </a:lnSpc>
              <a:spcBef>
                <a:spcPts val="2450"/>
              </a:spcBef>
              <a:buSzPct val="95833"/>
              <a:buAutoNum type="arabicPeriod"/>
              <a:tabLst>
                <a:tab pos="722630" algn="l"/>
              </a:tabLst>
            </a:pPr>
            <a:r>
              <a:rPr dirty="0" sz="2400">
                <a:latin typeface="微软雅黑"/>
                <a:cs typeface="微软雅黑"/>
              </a:rPr>
              <a:t>核聚变产能效率高</a:t>
            </a:r>
            <a:endParaRPr sz="2400">
              <a:latin typeface="微软雅黑"/>
              <a:cs typeface="微软雅黑"/>
            </a:endParaRPr>
          </a:p>
          <a:p>
            <a:pPr marL="721995" indent="-252095">
              <a:lnSpc>
                <a:spcPct val="100000"/>
              </a:lnSpc>
              <a:spcBef>
                <a:spcPts val="1945"/>
              </a:spcBef>
              <a:buSzPct val="95833"/>
              <a:buAutoNum type="arabicPeriod"/>
              <a:tabLst>
                <a:tab pos="722630" algn="l"/>
              </a:tabLst>
            </a:pPr>
            <a:r>
              <a:rPr dirty="0" sz="2400">
                <a:latin typeface="微软雅黑"/>
                <a:cs typeface="微软雅黑"/>
              </a:rPr>
              <a:t>地球上聚变燃料的储量丰富</a:t>
            </a:r>
            <a:endParaRPr sz="2400">
              <a:latin typeface="微软雅黑"/>
              <a:cs typeface="微软雅黑"/>
            </a:endParaRPr>
          </a:p>
          <a:p>
            <a:pPr marL="261620" marR="5080">
              <a:lnSpc>
                <a:spcPct val="100000"/>
              </a:lnSpc>
              <a:spcBef>
                <a:spcPts val="1140"/>
              </a:spcBef>
            </a:pPr>
            <a:r>
              <a:rPr dirty="0" sz="2000">
                <a:solidFill>
                  <a:srgbClr val="006FC0"/>
                </a:solidFill>
                <a:latin typeface="微软雅黑"/>
                <a:cs typeface="微软雅黑"/>
              </a:rPr>
              <a:t>每升水中就含有</a:t>
            </a:r>
            <a:r>
              <a:rPr dirty="0" sz="2000" spc="-5">
                <a:solidFill>
                  <a:srgbClr val="006FC0"/>
                </a:solidFill>
                <a:latin typeface="微软雅黑"/>
                <a:cs typeface="微软雅黑"/>
              </a:rPr>
              <a:t>0.03</a:t>
            </a:r>
            <a:r>
              <a:rPr dirty="0" sz="2000" spc="-7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dirty="0" sz="2000" spc="-5">
                <a:solidFill>
                  <a:srgbClr val="006FC0"/>
                </a:solidFill>
                <a:latin typeface="微软雅黑"/>
                <a:cs typeface="微软雅黑"/>
              </a:rPr>
              <a:t>g</a:t>
            </a:r>
            <a:r>
              <a:rPr dirty="0" sz="2000">
                <a:solidFill>
                  <a:srgbClr val="006FC0"/>
                </a:solidFill>
                <a:latin typeface="微软雅黑"/>
                <a:cs typeface="微软雅黑"/>
              </a:rPr>
              <a:t>氘，地球上的河流、湖泊、海洋等有</a:t>
            </a:r>
            <a:r>
              <a:rPr dirty="0" sz="2000" spc="-5">
                <a:solidFill>
                  <a:srgbClr val="006FC0"/>
                </a:solidFill>
                <a:latin typeface="微软雅黑"/>
                <a:cs typeface="微软雅黑"/>
              </a:rPr>
              <a:t>138.6</a:t>
            </a:r>
            <a:r>
              <a:rPr dirty="0" sz="2000">
                <a:solidFill>
                  <a:srgbClr val="006FC0"/>
                </a:solidFill>
                <a:latin typeface="微软雅黑"/>
                <a:cs typeface="微软雅黑"/>
              </a:rPr>
              <a:t>亿亿立方米</a:t>
            </a:r>
            <a:r>
              <a:rPr dirty="0" sz="2000" spc="5">
                <a:solidFill>
                  <a:srgbClr val="006FC0"/>
                </a:solidFill>
                <a:latin typeface="微软雅黑"/>
                <a:cs typeface="微软雅黑"/>
              </a:rPr>
              <a:t>的 </a:t>
            </a:r>
            <a:r>
              <a:rPr dirty="0" sz="2000">
                <a:solidFill>
                  <a:srgbClr val="006FC0"/>
                </a:solidFill>
                <a:latin typeface="微软雅黑"/>
                <a:cs typeface="微软雅黑"/>
              </a:rPr>
              <a:t>水，大约有</a:t>
            </a:r>
            <a:r>
              <a:rPr dirty="0" sz="2000" spc="-5">
                <a:solidFill>
                  <a:srgbClr val="006FC0"/>
                </a:solidFill>
                <a:latin typeface="微软雅黑"/>
                <a:cs typeface="微软雅黑"/>
              </a:rPr>
              <a:t>40</a:t>
            </a:r>
            <a:r>
              <a:rPr dirty="0" sz="2000">
                <a:solidFill>
                  <a:srgbClr val="006FC0"/>
                </a:solidFill>
                <a:latin typeface="微软雅黑"/>
                <a:cs typeface="微软雅黑"/>
              </a:rPr>
              <a:t>多万亿吨氘。反应中所用的氚可以利用锂来制取。地球上锂的</a:t>
            </a:r>
            <a:r>
              <a:rPr dirty="0" sz="2000" spc="5">
                <a:solidFill>
                  <a:srgbClr val="006FC0"/>
                </a:solidFill>
                <a:latin typeface="微软雅黑"/>
                <a:cs typeface="微软雅黑"/>
              </a:rPr>
              <a:t>储 </a:t>
            </a:r>
            <a:r>
              <a:rPr dirty="0" sz="2000">
                <a:solidFill>
                  <a:srgbClr val="006FC0"/>
                </a:solidFill>
                <a:latin typeface="微软雅黑"/>
                <a:cs typeface="微软雅黑"/>
              </a:rPr>
              <a:t>量有2</a:t>
            </a:r>
            <a:r>
              <a:rPr dirty="0" sz="2000" spc="-1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dirty="0" sz="2000" spc="-5">
                <a:solidFill>
                  <a:srgbClr val="006FC0"/>
                </a:solidFill>
                <a:latin typeface="微软雅黑"/>
                <a:cs typeface="微软雅黑"/>
              </a:rPr>
              <a:t>000</a:t>
            </a:r>
            <a:r>
              <a:rPr dirty="0" sz="2000">
                <a:solidFill>
                  <a:srgbClr val="006FC0"/>
                </a:solidFill>
                <a:latin typeface="微软雅黑"/>
                <a:cs typeface="微软雅黑"/>
              </a:rPr>
              <a:t>亿吨，用来制取氚足以满足聚变的需要</a:t>
            </a:r>
            <a:r>
              <a:rPr dirty="0" sz="2000" spc="5">
                <a:solidFill>
                  <a:srgbClr val="006FC0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721995" indent="-252095">
              <a:lnSpc>
                <a:spcPct val="100000"/>
              </a:lnSpc>
              <a:spcBef>
                <a:spcPts val="1565"/>
              </a:spcBef>
              <a:buSzPct val="95833"/>
              <a:buAutoNum type="arabicPeriod" startAt="3"/>
              <a:tabLst>
                <a:tab pos="722630" algn="l"/>
              </a:tabLst>
            </a:pPr>
            <a:r>
              <a:rPr dirty="0" sz="2400">
                <a:latin typeface="微软雅黑"/>
                <a:cs typeface="微软雅黑"/>
              </a:rPr>
              <a:t>轻核聚变更为安全、清洁</a:t>
            </a:r>
            <a:endParaRPr sz="2400">
              <a:latin typeface="微软雅黑"/>
              <a:cs typeface="微软雅黑"/>
            </a:endParaRPr>
          </a:p>
          <a:p>
            <a:pPr marL="73025">
              <a:lnSpc>
                <a:spcPct val="100000"/>
              </a:lnSpc>
              <a:spcBef>
                <a:spcPts val="2235"/>
              </a:spcBef>
            </a:pPr>
            <a:r>
              <a:rPr dirty="0" sz="2800" spc="-5">
                <a:latin typeface="微软雅黑"/>
                <a:cs typeface="微软雅黑"/>
              </a:rPr>
              <a:t>(</a:t>
            </a:r>
            <a:r>
              <a:rPr dirty="0" sz="2800">
                <a:latin typeface="微软雅黑"/>
                <a:cs typeface="微软雅黑"/>
              </a:rPr>
              <a:t>二）核聚变的难</a:t>
            </a:r>
            <a:r>
              <a:rPr dirty="0" sz="2800" spc="-5">
                <a:latin typeface="微软雅黑"/>
                <a:cs typeface="微软雅黑"/>
              </a:rPr>
              <a:t>点</a:t>
            </a:r>
            <a:endParaRPr sz="2800">
              <a:latin typeface="微软雅黑"/>
              <a:cs typeface="微软雅黑"/>
            </a:endParaRPr>
          </a:p>
          <a:p>
            <a:pPr marL="546100">
              <a:lnSpc>
                <a:spcPct val="100000"/>
              </a:lnSpc>
              <a:spcBef>
                <a:spcPts val="3050"/>
              </a:spcBef>
            </a:pPr>
            <a:r>
              <a:rPr dirty="0" sz="2400">
                <a:latin typeface="微软雅黑"/>
                <a:cs typeface="微软雅黑"/>
              </a:rPr>
              <a:t>地球上没有任何容器能经受如此高的温度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8542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latin typeface="微软雅黑"/>
                <a:cs typeface="微软雅黑"/>
              </a:rPr>
              <a:t>受控热核反应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62416" y="1226819"/>
            <a:ext cx="3241548" cy="2199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770427" y="3504565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环流器的结构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686800" y="4026408"/>
            <a:ext cx="3176016" cy="1991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552940" y="6233477"/>
            <a:ext cx="185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中国环流器新一号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21877" y="1384300"/>
            <a:ext cx="5511800" cy="1911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微软雅黑"/>
                <a:cs typeface="微软雅黑"/>
              </a:rPr>
              <a:t>1.</a:t>
            </a:r>
            <a:r>
              <a:rPr dirty="0" sz="2400">
                <a:latin typeface="微软雅黑"/>
                <a:cs typeface="微软雅黑"/>
              </a:rPr>
              <a:t>磁约束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带电粒子运动时在均匀磁场中会由于洛伦兹力的作用而 不飞散，因此有可能利用磁场来约束参加反应的物质， 这就是磁约束。环流器（即</a:t>
            </a:r>
            <a:r>
              <a:rPr dirty="0" sz="1800" spc="-5">
                <a:latin typeface="微软雅黑"/>
                <a:cs typeface="微软雅黑"/>
              </a:rPr>
              <a:t>tokamak，</a:t>
            </a:r>
            <a:r>
              <a:rPr dirty="0" sz="1800">
                <a:latin typeface="微软雅黑"/>
                <a:cs typeface="微软雅黑"/>
              </a:rPr>
              <a:t>音译为托卡马 克）是目前性能最好的一种磁约束装置。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21877" y="4506277"/>
            <a:ext cx="55118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“中国环流一号”是从事受控热核聚变反应研究的实验 装置，是依靠我国的工业、技术基础研制成功的。它的 建成并投入正常运转，说明我国受控热核聚变反应科研 工作进入了一个新阶段。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8542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latin typeface="微软雅黑"/>
                <a:cs typeface="微软雅黑"/>
              </a:rPr>
              <a:t>受控热核反应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28444" y="3204972"/>
            <a:ext cx="3194304" cy="2744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94977" y="6246177"/>
            <a:ext cx="162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惯性约束示意图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80589" y="1547812"/>
            <a:ext cx="9170035" cy="1508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197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微软雅黑"/>
                <a:cs typeface="微软雅黑"/>
              </a:rPr>
              <a:t>2.</a:t>
            </a:r>
            <a:r>
              <a:rPr dirty="0" sz="2400">
                <a:latin typeface="微软雅黑"/>
                <a:cs typeface="微软雅黑"/>
              </a:rPr>
              <a:t>惯性约束</a:t>
            </a:r>
            <a:endParaRPr sz="2400">
              <a:latin typeface="微软雅黑"/>
              <a:cs typeface="微软雅黑"/>
            </a:endParaRPr>
          </a:p>
          <a:p>
            <a:pPr algn="just" marL="12700" marR="5080">
              <a:lnSpc>
                <a:spcPct val="100000"/>
              </a:lnSpc>
              <a:spcBef>
                <a:spcPts val="1590"/>
              </a:spcBef>
            </a:pPr>
            <a:r>
              <a:rPr dirty="0" sz="2000">
                <a:latin typeface="微软雅黑"/>
                <a:cs typeface="微软雅黑"/>
              </a:rPr>
              <a:t>利用聚变物质的惯性进行约束。由于聚变反应的时间非常短，聚变物质因自身的</a:t>
            </a:r>
            <a:r>
              <a:rPr dirty="0" sz="2000">
                <a:latin typeface="微软雅黑"/>
                <a:cs typeface="微软雅黑"/>
              </a:rPr>
              <a:t>惯 </a:t>
            </a:r>
            <a:r>
              <a:rPr dirty="0" sz="2000">
                <a:latin typeface="微软雅黑"/>
                <a:cs typeface="微软雅黑"/>
              </a:rPr>
              <a:t>性还来不及扩散就完成了核反应。在惯性约束下，可以用激光从各个方向照射参</a:t>
            </a:r>
            <a:r>
              <a:rPr dirty="0" sz="2000">
                <a:latin typeface="微软雅黑"/>
                <a:cs typeface="微软雅黑"/>
              </a:rPr>
              <a:t>加 </a:t>
            </a:r>
            <a:r>
              <a:rPr dirty="0" sz="2000">
                <a:latin typeface="微软雅黑"/>
                <a:cs typeface="微软雅黑"/>
              </a:rPr>
              <a:t>反应的物质，使它们“挤”在一起发生反应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624316" y="3002279"/>
            <a:ext cx="2127504" cy="3086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498840" y="6229286"/>
            <a:ext cx="2540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用激光引发核聚变的设备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39997" y="4691062"/>
            <a:ext cx="6652259" cy="2167255"/>
          </a:xfrm>
          <a:custGeom>
            <a:avLst/>
            <a:gdLst/>
            <a:ahLst/>
            <a:cxnLst/>
            <a:rect l="l" t="t" r="r" b="b"/>
            <a:pathLst>
              <a:path w="6652259" h="2167254">
                <a:moveTo>
                  <a:pt x="6652002" y="2166937"/>
                </a:moveTo>
                <a:lnTo>
                  <a:pt x="0" y="2166937"/>
                </a:lnTo>
                <a:lnTo>
                  <a:pt x="3085" y="2153033"/>
                </a:lnTo>
                <a:lnTo>
                  <a:pt x="16095" y="2104205"/>
                </a:lnTo>
                <a:lnTo>
                  <a:pt x="31917" y="2055671"/>
                </a:lnTo>
                <a:lnTo>
                  <a:pt x="50521" y="2007442"/>
                </a:lnTo>
                <a:lnTo>
                  <a:pt x="71879" y="1959528"/>
                </a:lnTo>
                <a:lnTo>
                  <a:pt x="95960" y="1911940"/>
                </a:lnTo>
                <a:lnTo>
                  <a:pt x="122737" y="1864687"/>
                </a:lnTo>
                <a:lnTo>
                  <a:pt x="152179" y="1817780"/>
                </a:lnTo>
                <a:lnTo>
                  <a:pt x="184258" y="1771229"/>
                </a:lnTo>
                <a:lnTo>
                  <a:pt x="218945" y="1725044"/>
                </a:lnTo>
                <a:lnTo>
                  <a:pt x="256211" y="1679236"/>
                </a:lnTo>
                <a:lnTo>
                  <a:pt x="296026" y="1633815"/>
                </a:lnTo>
                <a:lnTo>
                  <a:pt x="338361" y="1588790"/>
                </a:lnTo>
                <a:lnTo>
                  <a:pt x="383188" y="1544173"/>
                </a:lnTo>
                <a:lnTo>
                  <a:pt x="430477" y="1499974"/>
                </a:lnTo>
                <a:lnTo>
                  <a:pt x="480198" y="1456203"/>
                </a:lnTo>
                <a:lnTo>
                  <a:pt x="532324" y="1412869"/>
                </a:lnTo>
                <a:lnTo>
                  <a:pt x="586825" y="1369984"/>
                </a:lnTo>
                <a:lnTo>
                  <a:pt x="643671" y="1327558"/>
                </a:lnTo>
                <a:lnTo>
                  <a:pt x="702834" y="1285600"/>
                </a:lnTo>
                <a:lnTo>
                  <a:pt x="764285" y="1244122"/>
                </a:lnTo>
                <a:lnTo>
                  <a:pt x="827994" y="1203133"/>
                </a:lnTo>
                <a:lnTo>
                  <a:pt x="860686" y="1182825"/>
                </a:lnTo>
                <a:lnTo>
                  <a:pt x="893932" y="1162644"/>
                </a:lnTo>
                <a:lnTo>
                  <a:pt x="927728" y="1142589"/>
                </a:lnTo>
                <a:lnTo>
                  <a:pt x="962071" y="1122664"/>
                </a:lnTo>
                <a:lnTo>
                  <a:pt x="996956" y="1102869"/>
                </a:lnTo>
                <a:lnTo>
                  <a:pt x="1032380" y="1083205"/>
                </a:lnTo>
                <a:lnTo>
                  <a:pt x="1068340" y="1063673"/>
                </a:lnTo>
                <a:lnTo>
                  <a:pt x="1104832" y="1044276"/>
                </a:lnTo>
                <a:lnTo>
                  <a:pt x="1141852" y="1025013"/>
                </a:lnTo>
                <a:lnTo>
                  <a:pt x="1179397" y="1005887"/>
                </a:lnTo>
                <a:lnTo>
                  <a:pt x="1217462" y="986899"/>
                </a:lnTo>
                <a:lnTo>
                  <a:pt x="1256045" y="968050"/>
                </a:lnTo>
                <a:lnTo>
                  <a:pt x="1334748" y="930773"/>
                </a:lnTo>
                <a:lnTo>
                  <a:pt x="1415477" y="894068"/>
                </a:lnTo>
                <a:lnTo>
                  <a:pt x="1498202" y="857945"/>
                </a:lnTo>
                <a:lnTo>
                  <a:pt x="1582894" y="822413"/>
                </a:lnTo>
                <a:lnTo>
                  <a:pt x="1669525" y="787484"/>
                </a:lnTo>
                <a:lnTo>
                  <a:pt x="1758065" y="753167"/>
                </a:lnTo>
                <a:lnTo>
                  <a:pt x="1848485" y="719473"/>
                </a:lnTo>
                <a:lnTo>
                  <a:pt x="1940756" y="686411"/>
                </a:lnTo>
                <a:lnTo>
                  <a:pt x="2034849" y="653993"/>
                </a:lnTo>
                <a:lnTo>
                  <a:pt x="2179340" y="606594"/>
                </a:lnTo>
                <a:lnTo>
                  <a:pt x="2327767" y="560699"/>
                </a:lnTo>
                <a:lnTo>
                  <a:pt x="2480031" y="516345"/>
                </a:lnTo>
                <a:lnTo>
                  <a:pt x="2636034" y="473564"/>
                </a:lnTo>
                <a:lnTo>
                  <a:pt x="2795678" y="432391"/>
                </a:lnTo>
                <a:lnTo>
                  <a:pt x="2958864" y="392862"/>
                </a:lnTo>
                <a:lnTo>
                  <a:pt x="3181787" y="342772"/>
                </a:lnTo>
                <a:lnTo>
                  <a:pt x="3410600" y="295747"/>
                </a:lnTo>
                <a:lnTo>
                  <a:pt x="3645071" y="251869"/>
                </a:lnTo>
                <a:lnTo>
                  <a:pt x="3884966" y="211220"/>
                </a:lnTo>
                <a:lnTo>
                  <a:pt x="4130053" y="173881"/>
                </a:lnTo>
                <a:lnTo>
                  <a:pt x="4380098" y="139935"/>
                </a:lnTo>
                <a:lnTo>
                  <a:pt x="4634870" y="109464"/>
                </a:lnTo>
                <a:lnTo>
                  <a:pt x="4959627" y="76387"/>
                </a:lnTo>
                <a:lnTo>
                  <a:pt x="5290949" y="49027"/>
                </a:lnTo>
                <a:lnTo>
                  <a:pt x="5628383" y="27546"/>
                </a:lnTo>
                <a:lnTo>
                  <a:pt x="5971473" y="12103"/>
                </a:lnTo>
                <a:lnTo>
                  <a:pt x="6652002" y="0"/>
                </a:lnTo>
                <a:lnTo>
                  <a:pt x="6652002" y="216693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201737"/>
            <a:ext cx="6572884" cy="5656580"/>
          </a:xfrm>
          <a:custGeom>
            <a:avLst/>
            <a:gdLst/>
            <a:ahLst/>
            <a:cxnLst/>
            <a:rect l="l" t="t" r="r" b="b"/>
            <a:pathLst>
              <a:path w="6572884" h="5656580">
                <a:moveTo>
                  <a:pt x="6572781" y="5656262"/>
                </a:moveTo>
                <a:lnTo>
                  <a:pt x="0" y="5656262"/>
                </a:lnTo>
                <a:lnTo>
                  <a:pt x="0" y="0"/>
                </a:lnTo>
                <a:lnTo>
                  <a:pt x="670648" y="29971"/>
                </a:lnTo>
                <a:lnTo>
                  <a:pt x="772466" y="39831"/>
                </a:lnTo>
                <a:lnTo>
                  <a:pt x="873812" y="51056"/>
                </a:lnTo>
                <a:lnTo>
                  <a:pt x="974675" y="63637"/>
                </a:lnTo>
                <a:lnTo>
                  <a:pt x="1075041" y="77562"/>
                </a:lnTo>
                <a:lnTo>
                  <a:pt x="1174899" y="92821"/>
                </a:lnTo>
                <a:lnTo>
                  <a:pt x="1274238" y="109404"/>
                </a:lnTo>
                <a:lnTo>
                  <a:pt x="1373044" y="127299"/>
                </a:lnTo>
                <a:lnTo>
                  <a:pt x="1471306" y="146496"/>
                </a:lnTo>
                <a:lnTo>
                  <a:pt x="1569013" y="166984"/>
                </a:lnTo>
                <a:lnTo>
                  <a:pt x="1666151" y="188753"/>
                </a:lnTo>
                <a:lnTo>
                  <a:pt x="1762709" y="211792"/>
                </a:lnTo>
                <a:lnTo>
                  <a:pt x="1858675" y="236091"/>
                </a:lnTo>
                <a:lnTo>
                  <a:pt x="1954036" y="261638"/>
                </a:lnTo>
                <a:lnTo>
                  <a:pt x="2048781" y="288423"/>
                </a:lnTo>
                <a:lnTo>
                  <a:pt x="2142898" y="316435"/>
                </a:lnTo>
                <a:lnTo>
                  <a:pt x="2236375" y="345665"/>
                </a:lnTo>
                <a:lnTo>
                  <a:pt x="2329199" y="376100"/>
                </a:lnTo>
                <a:lnTo>
                  <a:pt x="2421359" y="407731"/>
                </a:lnTo>
                <a:lnTo>
                  <a:pt x="2512842" y="440547"/>
                </a:lnTo>
                <a:lnTo>
                  <a:pt x="2603637" y="474536"/>
                </a:lnTo>
                <a:lnTo>
                  <a:pt x="2693731" y="509689"/>
                </a:lnTo>
                <a:lnTo>
                  <a:pt x="2783113" y="545995"/>
                </a:lnTo>
                <a:lnTo>
                  <a:pt x="2871770" y="583444"/>
                </a:lnTo>
                <a:lnTo>
                  <a:pt x="2959690" y="622023"/>
                </a:lnTo>
                <a:lnTo>
                  <a:pt x="3046862" y="661724"/>
                </a:lnTo>
                <a:lnTo>
                  <a:pt x="3133273" y="702534"/>
                </a:lnTo>
                <a:lnTo>
                  <a:pt x="3218911" y="744445"/>
                </a:lnTo>
                <a:lnTo>
                  <a:pt x="3303764" y="787444"/>
                </a:lnTo>
                <a:lnTo>
                  <a:pt x="3387820" y="831521"/>
                </a:lnTo>
                <a:lnTo>
                  <a:pt x="3471068" y="876666"/>
                </a:lnTo>
                <a:lnTo>
                  <a:pt x="3553494" y="922868"/>
                </a:lnTo>
                <a:lnTo>
                  <a:pt x="3635088" y="970116"/>
                </a:lnTo>
                <a:lnTo>
                  <a:pt x="3715836" y="1018399"/>
                </a:lnTo>
                <a:lnTo>
                  <a:pt x="3795728" y="1067708"/>
                </a:lnTo>
                <a:lnTo>
                  <a:pt x="3874750" y="1118031"/>
                </a:lnTo>
                <a:lnTo>
                  <a:pt x="3913932" y="1143569"/>
                </a:lnTo>
                <a:lnTo>
                  <a:pt x="3952892" y="1169357"/>
                </a:lnTo>
                <a:lnTo>
                  <a:pt x="3991628" y="1195394"/>
                </a:lnTo>
                <a:lnTo>
                  <a:pt x="4030140" y="1221677"/>
                </a:lnTo>
                <a:lnTo>
                  <a:pt x="4068425" y="1248206"/>
                </a:lnTo>
                <a:lnTo>
                  <a:pt x="4106483" y="1274979"/>
                </a:lnTo>
                <a:lnTo>
                  <a:pt x="4144311" y="1301995"/>
                </a:lnTo>
                <a:lnTo>
                  <a:pt x="4181908" y="1329252"/>
                </a:lnTo>
                <a:lnTo>
                  <a:pt x="4219274" y="1356750"/>
                </a:lnTo>
                <a:lnTo>
                  <a:pt x="4256405" y="1384487"/>
                </a:lnTo>
                <a:lnTo>
                  <a:pt x="4293301" y="1412461"/>
                </a:lnTo>
                <a:lnTo>
                  <a:pt x="4329960" y="1440672"/>
                </a:lnTo>
                <a:lnTo>
                  <a:pt x="4366381" y="1469117"/>
                </a:lnTo>
                <a:lnTo>
                  <a:pt x="4402562" y="1497796"/>
                </a:lnTo>
                <a:lnTo>
                  <a:pt x="4438501" y="1526708"/>
                </a:lnTo>
                <a:lnTo>
                  <a:pt x="4474198" y="1555850"/>
                </a:lnTo>
                <a:lnTo>
                  <a:pt x="4509650" y="1585222"/>
                </a:lnTo>
                <a:lnTo>
                  <a:pt x="4544857" y="1614822"/>
                </a:lnTo>
                <a:lnTo>
                  <a:pt x="4579816" y="1644649"/>
                </a:lnTo>
                <a:lnTo>
                  <a:pt x="4614526" y="1674702"/>
                </a:lnTo>
                <a:lnTo>
                  <a:pt x="4648986" y="1704979"/>
                </a:lnTo>
                <a:lnTo>
                  <a:pt x="4683194" y="1735479"/>
                </a:lnTo>
                <a:lnTo>
                  <a:pt x="4717148" y="1766200"/>
                </a:lnTo>
                <a:lnTo>
                  <a:pt x="4750848" y="1797142"/>
                </a:lnTo>
                <a:lnTo>
                  <a:pt x="4784291" y="1828303"/>
                </a:lnTo>
                <a:lnTo>
                  <a:pt x="4817477" y="1859681"/>
                </a:lnTo>
                <a:lnTo>
                  <a:pt x="4850403" y="1891276"/>
                </a:lnTo>
                <a:lnTo>
                  <a:pt x="4883068" y="1923085"/>
                </a:lnTo>
                <a:lnTo>
                  <a:pt x="4915471" y="1955109"/>
                </a:lnTo>
                <a:lnTo>
                  <a:pt x="4947609" y="1987344"/>
                </a:lnTo>
                <a:lnTo>
                  <a:pt x="4979483" y="2019790"/>
                </a:lnTo>
                <a:lnTo>
                  <a:pt x="5011089" y="2052447"/>
                </a:lnTo>
                <a:lnTo>
                  <a:pt x="5042427" y="2085311"/>
                </a:lnTo>
                <a:lnTo>
                  <a:pt x="5073495" y="2118382"/>
                </a:lnTo>
                <a:lnTo>
                  <a:pt x="5104291" y="2151659"/>
                </a:lnTo>
                <a:lnTo>
                  <a:pt x="5134815" y="2185140"/>
                </a:lnTo>
                <a:lnTo>
                  <a:pt x="5165064" y="2218825"/>
                </a:lnTo>
                <a:lnTo>
                  <a:pt x="5195037" y="2252710"/>
                </a:lnTo>
                <a:lnTo>
                  <a:pt x="5224733" y="2286796"/>
                </a:lnTo>
                <a:lnTo>
                  <a:pt x="5254150" y="2321082"/>
                </a:lnTo>
                <a:lnTo>
                  <a:pt x="5283286" y="2355564"/>
                </a:lnTo>
                <a:lnTo>
                  <a:pt x="5312140" y="2390243"/>
                </a:lnTo>
                <a:lnTo>
                  <a:pt x="5340711" y="2425117"/>
                </a:lnTo>
                <a:lnTo>
                  <a:pt x="5368997" y="2460185"/>
                </a:lnTo>
                <a:lnTo>
                  <a:pt x="5396996" y="2495445"/>
                </a:lnTo>
                <a:lnTo>
                  <a:pt x="5424707" y="2530896"/>
                </a:lnTo>
                <a:lnTo>
                  <a:pt x="5452129" y="2566536"/>
                </a:lnTo>
                <a:lnTo>
                  <a:pt x="5479260" y="2602365"/>
                </a:lnTo>
                <a:lnTo>
                  <a:pt x="5506098" y="2638381"/>
                </a:lnTo>
                <a:lnTo>
                  <a:pt x="5532643" y="2674583"/>
                </a:lnTo>
                <a:lnTo>
                  <a:pt x="5558891" y="2710968"/>
                </a:lnTo>
                <a:lnTo>
                  <a:pt x="5584843" y="2747537"/>
                </a:lnTo>
                <a:lnTo>
                  <a:pt x="5610496" y="2784288"/>
                </a:lnTo>
                <a:lnTo>
                  <a:pt x="5635849" y="2821218"/>
                </a:lnTo>
                <a:lnTo>
                  <a:pt x="5660901" y="2858328"/>
                </a:lnTo>
                <a:lnTo>
                  <a:pt x="5685649" y="2895615"/>
                </a:lnTo>
                <a:lnTo>
                  <a:pt x="5710093" y="2933079"/>
                </a:lnTo>
                <a:lnTo>
                  <a:pt x="5734231" y="2970718"/>
                </a:lnTo>
                <a:lnTo>
                  <a:pt x="5758062" y="3008530"/>
                </a:lnTo>
                <a:lnTo>
                  <a:pt x="5781583" y="3046515"/>
                </a:lnTo>
                <a:lnTo>
                  <a:pt x="5804793" y="3084671"/>
                </a:lnTo>
                <a:lnTo>
                  <a:pt x="5827692" y="3122996"/>
                </a:lnTo>
                <a:lnTo>
                  <a:pt x="5850277" y="3161490"/>
                </a:lnTo>
                <a:lnTo>
                  <a:pt x="5872547" y="3200151"/>
                </a:lnTo>
                <a:lnTo>
                  <a:pt x="5894500" y="3238977"/>
                </a:lnTo>
                <a:lnTo>
                  <a:pt x="5916136" y="3277968"/>
                </a:lnTo>
                <a:lnTo>
                  <a:pt x="5937451" y="3317121"/>
                </a:lnTo>
                <a:lnTo>
                  <a:pt x="5958446" y="3356437"/>
                </a:lnTo>
                <a:lnTo>
                  <a:pt x="5979118" y="3395912"/>
                </a:lnTo>
                <a:lnTo>
                  <a:pt x="5999466" y="3435547"/>
                </a:lnTo>
                <a:lnTo>
                  <a:pt x="6019488" y="3475340"/>
                </a:lnTo>
                <a:lnTo>
                  <a:pt x="6039183" y="3515288"/>
                </a:lnTo>
                <a:lnTo>
                  <a:pt x="6058549" y="3555392"/>
                </a:lnTo>
                <a:lnTo>
                  <a:pt x="6077586" y="3595650"/>
                </a:lnTo>
                <a:lnTo>
                  <a:pt x="6096290" y="3636059"/>
                </a:lnTo>
                <a:lnTo>
                  <a:pt x="6114662" y="3676620"/>
                </a:lnTo>
                <a:lnTo>
                  <a:pt x="6132699" y="3717331"/>
                </a:lnTo>
                <a:lnTo>
                  <a:pt x="6150400" y="3758190"/>
                </a:lnTo>
                <a:lnTo>
                  <a:pt x="6167763" y="3799196"/>
                </a:lnTo>
                <a:lnTo>
                  <a:pt x="6184786" y="3840347"/>
                </a:lnTo>
                <a:lnTo>
                  <a:pt x="6201470" y="3881643"/>
                </a:lnTo>
                <a:lnTo>
                  <a:pt x="6217811" y="3923082"/>
                </a:lnTo>
                <a:lnTo>
                  <a:pt x="6233808" y="3964663"/>
                </a:lnTo>
                <a:lnTo>
                  <a:pt x="6249460" y="4006384"/>
                </a:lnTo>
                <a:lnTo>
                  <a:pt x="6264766" y="4048244"/>
                </a:lnTo>
                <a:lnTo>
                  <a:pt x="6279723" y="4090242"/>
                </a:lnTo>
                <a:lnTo>
                  <a:pt x="6294331" y="4132376"/>
                </a:lnTo>
                <a:lnTo>
                  <a:pt x="6308587" y="4174645"/>
                </a:lnTo>
                <a:lnTo>
                  <a:pt x="6322491" y="4217048"/>
                </a:lnTo>
                <a:lnTo>
                  <a:pt x="6336040" y="4259583"/>
                </a:lnTo>
                <a:lnTo>
                  <a:pt x="6349234" y="4302249"/>
                </a:lnTo>
                <a:lnTo>
                  <a:pt x="6362071" y="4345045"/>
                </a:lnTo>
                <a:lnTo>
                  <a:pt x="6374548" y="4387970"/>
                </a:lnTo>
                <a:lnTo>
                  <a:pt x="6386666" y="4431021"/>
                </a:lnTo>
                <a:lnTo>
                  <a:pt x="6398422" y="4474198"/>
                </a:lnTo>
                <a:lnTo>
                  <a:pt x="6409814" y="4517500"/>
                </a:lnTo>
                <a:lnTo>
                  <a:pt x="6420842" y="4560924"/>
                </a:lnTo>
                <a:lnTo>
                  <a:pt x="6431504" y="4604470"/>
                </a:lnTo>
                <a:lnTo>
                  <a:pt x="6441798" y="4648137"/>
                </a:lnTo>
                <a:lnTo>
                  <a:pt x="6451722" y="4691923"/>
                </a:lnTo>
                <a:lnTo>
                  <a:pt x="6461276" y="4735826"/>
                </a:lnTo>
                <a:lnTo>
                  <a:pt x="6470457" y="4779846"/>
                </a:lnTo>
                <a:lnTo>
                  <a:pt x="6479265" y="4823981"/>
                </a:lnTo>
                <a:lnTo>
                  <a:pt x="6487698" y="4868230"/>
                </a:lnTo>
                <a:lnTo>
                  <a:pt x="6495753" y="4912591"/>
                </a:lnTo>
                <a:lnTo>
                  <a:pt x="6503431" y="4957063"/>
                </a:lnTo>
                <a:lnTo>
                  <a:pt x="6510728" y="5001644"/>
                </a:lnTo>
                <a:lnTo>
                  <a:pt x="6517645" y="5046335"/>
                </a:lnTo>
                <a:lnTo>
                  <a:pt x="6524178" y="5091132"/>
                </a:lnTo>
                <a:lnTo>
                  <a:pt x="6530327" y="5136035"/>
                </a:lnTo>
                <a:lnTo>
                  <a:pt x="6536091" y="5181042"/>
                </a:lnTo>
                <a:lnTo>
                  <a:pt x="6541467" y="5226153"/>
                </a:lnTo>
                <a:lnTo>
                  <a:pt x="6546454" y="5271365"/>
                </a:lnTo>
                <a:lnTo>
                  <a:pt x="6551051" y="5316677"/>
                </a:lnTo>
                <a:lnTo>
                  <a:pt x="6555256" y="5362089"/>
                </a:lnTo>
                <a:lnTo>
                  <a:pt x="6559068" y="5407599"/>
                </a:lnTo>
                <a:lnTo>
                  <a:pt x="6562484" y="5453204"/>
                </a:lnTo>
                <a:lnTo>
                  <a:pt x="6565505" y="5498905"/>
                </a:lnTo>
                <a:lnTo>
                  <a:pt x="6568128" y="5544700"/>
                </a:lnTo>
                <a:lnTo>
                  <a:pt x="6570351" y="5590587"/>
                </a:lnTo>
                <a:lnTo>
                  <a:pt x="6572173" y="5636565"/>
                </a:lnTo>
                <a:lnTo>
                  <a:pt x="6572781" y="565626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09465" y="3116579"/>
            <a:ext cx="41554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2344" algn="l"/>
                <a:tab pos="1952625" algn="l"/>
                <a:tab pos="2922905" algn="l"/>
              </a:tabLst>
            </a:pPr>
            <a:r>
              <a:rPr dirty="0" sz="4800">
                <a:solidFill>
                  <a:srgbClr val="252525"/>
                </a:solidFill>
                <a:latin typeface="微软雅黑"/>
                <a:cs typeface="微软雅黑"/>
              </a:rPr>
              <a:t>感	谢	聆	听！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91282" y="1368818"/>
            <a:ext cx="1545361" cy="1541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15132" y="5434406"/>
            <a:ext cx="703986" cy="7023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78444" y="2946793"/>
            <a:ext cx="1208811" cy="12088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38045" y="4439043"/>
            <a:ext cx="941260" cy="9395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2025-04-21T00:59:15Z</dcterms:created>
  <dcterms:modified xsi:type="dcterms:W3CDTF">2025-04-21T00:59:15Z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2025-04-21T00:00:00Z</vt:filetime>
  </property>
</Properties>
</file>