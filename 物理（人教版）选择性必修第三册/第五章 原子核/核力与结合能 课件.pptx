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2727" y="1134427"/>
            <a:ext cx="11726544" cy="467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7302" y="2420937"/>
            <a:ext cx="33788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核力与结合</a:t>
            </a:r>
            <a:r>
              <a:rPr dirty="0" sz="4400" spc="5">
                <a:solidFill>
                  <a:srgbClr val="FFFFFF"/>
                </a:solidFill>
                <a:latin typeface="微软雅黑"/>
                <a:cs typeface="微软雅黑"/>
              </a:rPr>
              <a:t>能</a:t>
            </a:r>
            <a:endParaRPr sz="4400">
              <a:latin typeface="微软雅黑"/>
              <a:cs typeface="微软雅黑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41152" y="3585349"/>
          <a:ext cx="7404734" cy="85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7110"/>
                <a:gridCol w="615950"/>
                <a:gridCol w="3242944"/>
              </a:tblGrid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主讲人：王朝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祥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校：北京市第八十中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级：高二下学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期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9392411" y="1949195"/>
            <a:ext cx="2406396" cy="2526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219575" y="1950427"/>
            <a:ext cx="831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3888" sz="3600">
                <a:latin typeface="Times New Roman"/>
                <a:cs typeface="Times New Roman"/>
              </a:rPr>
              <a:t>10</a:t>
            </a:r>
            <a:r>
              <a:rPr dirty="0" sz="1550">
                <a:latin typeface="Times New Roman"/>
                <a:cs typeface="Times New Roman"/>
              </a:rPr>
              <a:t>-15</a:t>
            </a:r>
            <a:r>
              <a:rPr dirty="0" baseline="-13888" sz="3600">
                <a:latin typeface="Times New Roman"/>
                <a:cs typeface="Times New Roman"/>
              </a:rPr>
              <a:t>m</a:t>
            </a:r>
            <a:endParaRPr baseline="-13888"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777" y="1065847"/>
            <a:ext cx="1136586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9600">
              <a:lnSpc>
                <a:spcPct val="125000"/>
              </a:lnSpc>
              <a:spcBef>
                <a:spcPts val="100"/>
              </a:spcBef>
            </a:pPr>
            <a:r>
              <a:rPr dirty="0" sz="2400" spc="10">
                <a:latin typeface="微软雅黑"/>
                <a:cs typeface="微软雅黑"/>
              </a:rPr>
              <a:t>质子和</a:t>
            </a:r>
            <a:r>
              <a:rPr dirty="0" sz="2400" spc="15">
                <a:latin typeface="微软雅黑"/>
                <a:cs typeface="微软雅黑"/>
              </a:rPr>
              <a:t>中子构成原子核。原子核的半径很小，核内质子之间的库仑斥力很大，</a:t>
            </a:r>
            <a:r>
              <a:rPr dirty="0" sz="2400">
                <a:latin typeface="微软雅黑"/>
                <a:cs typeface="微软雅黑"/>
              </a:rPr>
              <a:t>但 </a:t>
            </a:r>
            <a:r>
              <a:rPr dirty="0" sz="2400" spc="10">
                <a:latin typeface="微软雅黑"/>
                <a:cs typeface="微软雅黑"/>
              </a:rPr>
              <a:t>通常的原子核是稳定</a:t>
            </a:r>
            <a:r>
              <a:rPr dirty="0" sz="2400" spc="15">
                <a:latin typeface="微软雅黑"/>
                <a:cs typeface="微软雅黑"/>
              </a:rPr>
              <a:t>的。带正电的质子为什么不因库仑斥力而散开？万有引力能将</a:t>
            </a:r>
            <a:r>
              <a:rPr dirty="0" sz="2400">
                <a:latin typeface="微软雅黑"/>
                <a:cs typeface="微软雅黑"/>
              </a:rPr>
              <a:t>核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777" y="1961197"/>
            <a:ext cx="9123045" cy="977900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2400">
                <a:latin typeface="微软雅黑"/>
                <a:cs typeface="微软雅黑"/>
              </a:rPr>
              <a:t>子聚集在一起么？</a:t>
            </a:r>
            <a:endParaRPr sz="2400">
              <a:latin typeface="微软雅黑"/>
              <a:cs typeface="微软雅黑"/>
            </a:endParaRPr>
          </a:p>
          <a:p>
            <a:pPr marL="626745">
              <a:lnSpc>
                <a:spcPct val="100000"/>
              </a:lnSpc>
              <a:spcBef>
                <a:spcPts val="870"/>
              </a:spcBef>
            </a:pPr>
            <a:r>
              <a:rPr dirty="0" sz="2400">
                <a:latin typeface="微软雅黑"/>
                <a:cs typeface="微软雅黑"/>
              </a:rPr>
              <a:t>两质子间的库仑力与万有引力对比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>
                <a:latin typeface="微软雅黑"/>
                <a:cs typeface="微软雅黑"/>
              </a:rPr>
              <a:t>质子质量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>
                <a:latin typeface="Times New Roman"/>
                <a:cs typeface="Times New Roman"/>
              </a:rPr>
              <a:t>p</a:t>
            </a:r>
            <a:r>
              <a:rPr dirty="0" sz="2400">
                <a:latin typeface="Times New Roman"/>
                <a:cs typeface="Times New Roman"/>
              </a:rPr>
              <a:t>=1.67</a:t>
            </a:r>
            <a:r>
              <a:rPr dirty="0" sz="2400">
                <a:latin typeface="微软雅黑"/>
                <a:cs typeface="微软雅黑"/>
              </a:rPr>
              <a:t>×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baseline="21505" sz="2325">
                <a:latin typeface="Times New Roman"/>
                <a:cs typeface="Times New Roman"/>
              </a:rPr>
              <a:t>-27</a:t>
            </a:r>
            <a:r>
              <a:rPr dirty="0" sz="2400">
                <a:latin typeface="Times New Roman"/>
                <a:cs typeface="Times New Roman"/>
              </a:rPr>
              <a:t>kg</a:t>
            </a:r>
            <a:r>
              <a:rPr dirty="0" sz="240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50694" y="3570147"/>
            <a:ext cx="516255" cy="0"/>
          </a:xfrm>
          <a:custGeom>
            <a:avLst/>
            <a:gdLst/>
            <a:ahLst/>
            <a:cxnLst/>
            <a:rect l="l" t="t" r="r" b="b"/>
            <a:pathLst>
              <a:path w="516255" h="0">
                <a:moveTo>
                  <a:pt x="0" y="0"/>
                </a:moveTo>
                <a:lnTo>
                  <a:pt x="515785" y="0"/>
                </a:lnTo>
              </a:path>
            </a:pathLst>
          </a:custGeom>
          <a:ln w="194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23323" y="3570147"/>
            <a:ext cx="1383665" cy="0"/>
          </a:xfrm>
          <a:custGeom>
            <a:avLst/>
            <a:gdLst/>
            <a:ahLst/>
            <a:cxnLst/>
            <a:rect l="l" t="t" r="r" b="b"/>
            <a:pathLst>
              <a:path w="1383664" h="0">
                <a:moveTo>
                  <a:pt x="0" y="0"/>
                </a:moveTo>
                <a:lnTo>
                  <a:pt x="1383283" y="0"/>
                </a:lnTo>
              </a:path>
            </a:pathLst>
          </a:custGeom>
          <a:ln w="194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15634" y="3252127"/>
            <a:ext cx="254000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">
                <a:latin typeface="Times New Roman"/>
                <a:cs typeface="Times New Roman"/>
              </a:rPr>
              <a:t>36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4913" y="2973641"/>
            <a:ext cx="266700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00" spc="5" i="1">
                <a:latin typeface="Times New Roman"/>
                <a:cs typeface="Times New Roman"/>
              </a:rPr>
              <a:t>F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7009" y="3013659"/>
            <a:ext cx="1105535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00" spc="25" i="1">
                <a:latin typeface="Times New Roman"/>
                <a:cs typeface="Times New Roman"/>
              </a:rPr>
              <a:t>ke</a:t>
            </a:r>
            <a:r>
              <a:rPr dirty="0" baseline="43209" sz="2700" spc="37">
                <a:latin typeface="Times New Roman"/>
                <a:cs typeface="Times New Roman"/>
              </a:rPr>
              <a:t>2 </a:t>
            </a:r>
            <a:r>
              <a:rPr dirty="0" sz="3100">
                <a:latin typeface="Times New Roman"/>
                <a:cs typeface="Times New Roman"/>
              </a:rPr>
              <a:t>/</a:t>
            </a:r>
            <a:r>
              <a:rPr dirty="0" sz="3100" spc="-280">
                <a:latin typeface="Times New Roman"/>
                <a:cs typeface="Times New Roman"/>
              </a:rPr>
              <a:t> </a:t>
            </a:r>
            <a:r>
              <a:rPr dirty="0" sz="3100" spc="130" i="1">
                <a:latin typeface="Times New Roman"/>
                <a:cs typeface="Times New Roman"/>
              </a:rPr>
              <a:t>r</a:t>
            </a:r>
            <a:r>
              <a:rPr dirty="0" baseline="43209" sz="2700" spc="195">
                <a:latin typeface="Times New Roman"/>
                <a:cs typeface="Times New Roman"/>
              </a:rPr>
              <a:t>2</a:t>
            </a:r>
            <a:endParaRPr baseline="43209" sz="2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5423" y="3569741"/>
            <a:ext cx="2170430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42644" algn="l"/>
              </a:tabLst>
            </a:pPr>
            <a:r>
              <a:rPr dirty="0" sz="3100" spc="5" i="1">
                <a:latin typeface="Times New Roman"/>
                <a:cs typeface="Times New Roman"/>
              </a:rPr>
              <a:t>F	</a:t>
            </a:r>
            <a:r>
              <a:rPr dirty="0" sz="3100" spc="20" i="1">
                <a:latin typeface="Times New Roman"/>
                <a:cs typeface="Times New Roman"/>
              </a:rPr>
              <a:t>Gm</a:t>
            </a:r>
            <a:r>
              <a:rPr dirty="0" baseline="43209" sz="2700" spc="30">
                <a:latin typeface="Times New Roman"/>
                <a:cs typeface="Times New Roman"/>
              </a:rPr>
              <a:t>2 </a:t>
            </a:r>
            <a:r>
              <a:rPr dirty="0" sz="3100">
                <a:latin typeface="Times New Roman"/>
                <a:cs typeface="Times New Roman"/>
              </a:rPr>
              <a:t>/</a:t>
            </a:r>
            <a:r>
              <a:rPr dirty="0" sz="3100" spc="-110">
                <a:latin typeface="Times New Roman"/>
                <a:cs typeface="Times New Roman"/>
              </a:rPr>
              <a:t> </a:t>
            </a:r>
            <a:r>
              <a:rPr dirty="0" sz="3100" spc="114" i="1">
                <a:latin typeface="Times New Roman"/>
                <a:cs typeface="Times New Roman"/>
              </a:rPr>
              <a:t>r</a:t>
            </a:r>
            <a:r>
              <a:rPr dirty="0" baseline="43209" sz="2700" spc="172">
                <a:latin typeface="Times New Roman"/>
                <a:cs typeface="Times New Roman"/>
              </a:rPr>
              <a:t>2</a:t>
            </a:r>
            <a:endParaRPr baseline="43209"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8505" y="3261944"/>
            <a:ext cx="1450975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00" spc="5">
                <a:latin typeface="Symbol"/>
                <a:cs typeface="Symbol"/>
              </a:rPr>
              <a:t></a:t>
            </a:r>
            <a:r>
              <a:rPr dirty="0" sz="3100" spc="-415">
                <a:latin typeface="Times New Roman"/>
                <a:cs typeface="Times New Roman"/>
              </a:rPr>
              <a:t> </a:t>
            </a:r>
            <a:r>
              <a:rPr dirty="0" sz="3100" spc="65">
                <a:latin typeface="Times New Roman"/>
                <a:cs typeface="Times New Roman"/>
              </a:rPr>
              <a:t>1.2</a:t>
            </a:r>
            <a:r>
              <a:rPr dirty="0" sz="3100" spc="65">
                <a:latin typeface="Symbol"/>
                <a:cs typeface="Symbol"/>
              </a:rPr>
              <a:t></a:t>
            </a:r>
            <a:r>
              <a:rPr dirty="0" sz="3100" spc="65">
                <a:latin typeface="Times New Roman"/>
                <a:cs typeface="Times New Roman"/>
              </a:rPr>
              <a:t>10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6919" y="3089579"/>
            <a:ext cx="593090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">
                <a:latin typeface="宋体"/>
                <a:cs typeface="宋体"/>
              </a:rPr>
              <a:t>库</a:t>
            </a:r>
            <a:r>
              <a:rPr dirty="0" sz="1800" spc="-80">
                <a:latin typeface="宋体"/>
                <a:cs typeface="宋体"/>
              </a:rPr>
              <a:t> </a:t>
            </a:r>
            <a:r>
              <a:rPr dirty="0" baseline="-24193" sz="4650" spc="7">
                <a:latin typeface="Times New Roman"/>
                <a:cs typeface="Times New Roman"/>
              </a:rPr>
              <a:t>=</a:t>
            </a:r>
            <a:endParaRPr baseline="-24193" sz="4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9992" y="3849242"/>
            <a:ext cx="1372870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20470" algn="l"/>
              </a:tabLst>
            </a:pPr>
            <a:r>
              <a:rPr dirty="0" sz="1800" spc="-5">
                <a:latin typeface="宋体"/>
                <a:cs typeface="宋体"/>
              </a:rPr>
              <a:t>引</a:t>
            </a:r>
            <a:r>
              <a:rPr dirty="0" sz="1800" spc="-5">
                <a:latin typeface="宋体"/>
                <a:cs typeface="宋体"/>
              </a:rPr>
              <a:t>	</a:t>
            </a:r>
            <a:r>
              <a:rPr dirty="0" baseline="3086" sz="2700" spc="-7" i="1">
                <a:latin typeface="Times New Roman"/>
                <a:cs typeface="Times New Roman"/>
              </a:rPr>
              <a:t>P</a:t>
            </a:r>
            <a:endParaRPr baseline="3086" sz="2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177" y="4388484"/>
            <a:ext cx="1136777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09600">
              <a:lnSpc>
                <a:spcPct val="125000"/>
              </a:lnSpc>
              <a:spcBef>
                <a:spcPts val="100"/>
              </a:spcBef>
            </a:pPr>
            <a:r>
              <a:rPr dirty="0" sz="2400" spc="15">
                <a:latin typeface="微软雅黑"/>
                <a:cs typeface="微软雅黑"/>
              </a:rPr>
              <a:t>计算表明，</a:t>
            </a:r>
            <a:r>
              <a:rPr dirty="0" sz="2400" spc="15" b="1">
                <a:latin typeface="微软雅黑"/>
                <a:cs typeface="微软雅黑"/>
              </a:rPr>
              <a:t>只靠万有引力无法与库仑斥力抗衡</a:t>
            </a:r>
            <a:r>
              <a:rPr dirty="0" sz="2400" spc="15">
                <a:latin typeface="微软雅黑"/>
                <a:cs typeface="微软雅黑"/>
              </a:rPr>
              <a:t>。核物理学家猜想，原子核里的</a:t>
            </a:r>
            <a:r>
              <a:rPr dirty="0" sz="2400">
                <a:latin typeface="微软雅黑"/>
                <a:cs typeface="微软雅黑"/>
              </a:rPr>
              <a:t>核 </a:t>
            </a:r>
            <a:r>
              <a:rPr dirty="0" sz="2400" spc="10">
                <a:latin typeface="微软雅黑"/>
                <a:cs typeface="微软雅黑"/>
              </a:rPr>
              <a:t>子间存在第三</a:t>
            </a:r>
            <a:r>
              <a:rPr dirty="0" sz="2400" spc="15">
                <a:latin typeface="微软雅黑"/>
                <a:cs typeface="微软雅黑"/>
              </a:rPr>
              <a:t>种相互作用</a:t>
            </a:r>
            <a:r>
              <a:rPr dirty="0" sz="2400" spc="15">
                <a:latin typeface="Times New Roman"/>
                <a:cs typeface="Times New Roman"/>
              </a:rPr>
              <a:t>——</a:t>
            </a:r>
            <a:r>
              <a:rPr dirty="0" sz="2400" spc="15">
                <a:latin typeface="微软雅黑"/>
                <a:cs typeface="微软雅黑"/>
              </a:rPr>
              <a:t>核力，是核力把核子束缚在核内，形成稳定的原子核</a:t>
            </a:r>
            <a:r>
              <a:rPr dirty="0" sz="2400">
                <a:latin typeface="微软雅黑"/>
                <a:cs typeface="微软雅黑"/>
              </a:rPr>
              <a:t>。 后来的实验证实了这个猜想。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946408"/>
            <a:ext cx="10857230" cy="503809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2800">
                <a:latin typeface="微软雅黑"/>
                <a:cs typeface="微软雅黑"/>
              </a:rPr>
              <a:t>一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核力与四种基本相互作</a:t>
            </a:r>
            <a:r>
              <a:rPr dirty="0" sz="2800" spc="-5">
                <a:latin typeface="微软雅黑"/>
                <a:cs typeface="微软雅黑"/>
              </a:rPr>
              <a:t>用</a:t>
            </a:r>
            <a:endParaRPr sz="2800">
              <a:latin typeface="微软雅黑"/>
              <a:cs typeface="微软雅黑"/>
            </a:endParaRPr>
          </a:p>
          <a:p>
            <a:pPr marL="23495">
              <a:lnSpc>
                <a:spcPct val="100000"/>
              </a:lnSpc>
              <a:spcBef>
                <a:spcPts val="94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微软雅黑"/>
                <a:cs typeface="微软雅黑"/>
              </a:rPr>
              <a:t>核力的特点</a:t>
            </a:r>
            <a:endParaRPr sz="2400">
              <a:latin typeface="微软雅黑"/>
              <a:cs typeface="微软雅黑"/>
            </a:endParaRPr>
          </a:p>
          <a:p>
            <a:pPr marL="786130" indent="-762635">
              <a:lnSpc>
                <a:spcPct val="100000"/>
              </a:lnSpc>
              <a:spcBef>
                <a:spcPts val="720"/>
              </a:spcBef>
              <a:buSzPct val="95833"/>
              <a:buAutoNum type="arabicPlain"/>
              <a:tabLst>
                <a:tab pos="786765" algn="l"/>
              </a:tabLst>
            </a:pPr>
            <a:r>
              <a:rPr dirty="0" sz="2400">
                <a:latin typeface="微软雅黑"/>
                <a:cs typeface="微软雅黑"/>
              </a:rPr>
              <a:t>核力是</a:t>
            </a:r>
            <a:r>
              <a:rPr dirty="0" sz="2400" b="1">
                <a:latin typeface="微软雅黑"/>
                <a:cs typeface="微软雅黑"/>
              </a:rPr>
              <a:t>强相互作用</a:t>
            </a:r>
            <a:r>
              <a:rPr dirty="0" sz="2400">
                <a:latin typeface="微软雅黑"/>
                <a:cs typeface="微软雅黑"/>
              </a:rPr>
              <a:t>的一种表现。在原子核的尺度内，核力比库仑力大得多。</a:t>
            </a:r>
            <a:endParaRPr sz="2400">
              <a:latin typeface="微软雅黑"/>
              <a:cs typeface="微软雅黑"/>
            </a:endParaRPr>
          </a:p>
          <a:p>
            <a:pPr marL="786130" indent="-762635">
              <a:lnSpc>
                <a:spcPct val="100000"/>
              </a:lnSpc>
              <a:spcBef>
                <a:spcPts val="720"/>
              </a:spcBef>
              <a:buSzPct val="95833"/>
              <a:buAutoNum type="arabicPlain"/>
              <a:tabLst>
                <a:tab pos="786765" algn="l"/>
              </a:tabLst>
            </a:pPr>
            <a:r>
              <a:rPr dirty="0" sz="2400">
                <a:latin typeface="微软雅黑"/>
                <a:cs typeface="微软雅黑"/>
              </a:rPr>
              <a:t>核力是</a:t>
            </a:r>
            <a:r>
              <a:rPr dirty="0" sz="2400" b="1">
                <a:latin typeface="微软雅黑"/>
                <a:cs typeface="微软雅黑"/>
              </a:rPr>
              <a:t>短程力</a:t>
            </a:r>
            <a:r>
              <a:rPr dirty="0" sz="2400">
                <a:latin typeface="微软雅黑"/>
                <a:cs typeface="微软雅黑"/>
              </a:rPr>
              <a:t>，作用范围在</a:t>
            </a:r>
            <a:r>
              <a:rPr dirty="0" sz="2400">
                <a:latin typeface="Times New Roman"/>
                <a:cs typeface="Times New Roman"/>
              </a:rPr>
              <a:t>1.5</a:t>
            </a:r>
            <a:r>
              <a:rPr dirty="0" sz="2400">
                <a:latin typeface="微软雅黑"/>
                <a:cs typeface="微软雅黑"/>
              </a:rPr>
              <a:t>×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baseline="21505" sz="2325">
                <a:latin typeface="Times New Roman"/>
                <a:cs typeface="Times New Roman"/>
              </a:rPr>
              <a:t>-15</a:t>
            </a:r>
            <a:r>
              <a:rPr dirty="0" sz="2400">
                <a:latin typeface="Times New Roman"/>
                <a:cs typeface="Times New Roman"/>
              </a:rPr>
              <a:t>m</a:t>
            </a:r>
            <a:r>
              <a:rPr dirty="0" sz="2400">
                <a:latin typeface="微软雅黑"/>
                <a:cs typeface="微软雅黑"/>
              </a:rPr>
              <a:t>之内。</a:t>
            </a:r>
            <a:endParaRPr sz="2400">
              <a:latin typeface="微软雅黑"/>
              <a:cs typeface="微软雅黑"/>
            </a:endParaRPr>
          </a:p>
          <a:p>
            <a:pPr lvl="1" marL="556895" indent="-228600">
              <a:lnSpc>
                <a:spcPct val="100000"/>
              </a:lnSpc>
              <a:spcBef>
                <a:spcPts val="720"/>
              </a:spcBef>
              <a:buFont typeface="Times New Roman"/>
              <a:buChar char="*"/>
              <a:tabLst>
                <a:tab pos="557530" algn="l"/>
              </a:tabLst>
            </a:pPr>
            <a:r>
              <a:rPr dirty="0" sz="2400">
                <a:latin typeface="微软雅黑"/>
                <a:cs typeface="微软雅黑"/>
              </a:rPr>
              <a:t>在距离大于</a:t>
            </a:r>
            <a:r>
              <a:rPr dirty="0" sz="2400">
                <a:latin typeface="Times New Roman"/>
                <a:cs typeface="Times New Roman"/>
              </a:rPr>
              <a:t>0.8</a:t>
            </a:r>
            <a:r>
              <a:rPr dirty="0" sz="2400">
                <a:latin typeface="微软雅黑"/>
                <a:cs typeface="微软雅黑"/>
              </a:rPr>
              <a:t>×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baseline="21505" sz="2325">
                <a:latin typeface="Times New Roman"/>
                <a:cs typeface="Times New Roman"/>
              </a:rPr>
              <a:t>-15</a:t>
            </a:r>
            <a:r>
              <a:rPr dirty="0" sz="2400">
                <a:latin typeface="Times New Roman"/>
                <a:cs typeface="Times New Roman"/>
              </a:rPr>
              <a:t>m</a:t>
            </a:r>
            <a:r>
              <a:rPr dirty="0" sz="2400">
                <a:latin typeface="微软雅黑"/>
                <a:cs typeface="微软雅黑"/>
              </a:rPr>
              <a:t>时，核力表现为引力，且随距离增大而急剧减小。</a:t>
            </a:r>
            <a:endParaRPr sz="2400">
              <a:latin typeface="微软雅黑"/>
              <a:cs typeface="微软雅黑"/>
            </a:endParaRPr>
          </a:p>
          <a:p>
            <a:pPr lvl="1" marL="556895" indent="-228600">
              <a:lnSpc>
                <a:spcPct val="100000"/>
              </a:lnSpc>
              <a:spcBef>
                <a:spcPts val="720"/>
              </a:spcBef>
              <a:buFont typeface="Times New Roman"/>
              <a:buChar char="*"/>
              <a:tabLst>
                <a:tab pos="557530" algn="l"/>
              </a:tabLst>
            </a:pPr>
            <a:r>
              <a:rPr dirty="0" sz="2400">
                <a:latin typeface="微软雅黑"/>
                <a:cs typeface="微软雅黑"/>
              </a:rPr>
              <a:t>在距离小于</a:t>
            </a:r>
            <a:r>
              <a:rPr dirty="0" sz="2400">
                <a:latin typeface="Times New Roman"/>
                <a:cs typeface="Times New Roman"/>
              </a:rPr>
              <a:t>0.8</a:t>
            </a:r>
            <a:r>
              <a:rPr dirty="0" sz="2400">
                <a:latin typeface="微软雅黑"/>
                <a:cs typeface="微软雅黑"/>
              </a:rPr>
              <a:t>×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baseline="21505" sz="2325">
                <a:latin typeface="Times New Roman"/>
                <a:cs typeface="Times New Roman"/>
              </a:rPr>
              <a:t>-15</a:t>
            </a:r>
            <a:r>
              <a:rPr dirty="0" sz="2400">
                <a:latin typeface="Times New Roman"/>
                <a:cs typeface="Times New Roman"/>
              </a:rPr>
              <a:t>m</a:t>
            </a:r>
            <a:r>
              <a:rPr dirty="0" sz="2400">
                <a:latin typeface="微软雅黑"/>
                <a:cs typeface="微软雅黑"/>
              </a:rPr>
              <a:t>时，核力表现为斥力。</a:t>
            </a:r>
            <a:endParaRPr sz="2400">
              <a:latin typeface="微软雅黑"/>
              <a:cs typeface="微软雅黑"/>
            </a:endParaRPr>
          </a:p>
          <a:p>
            <a:pPr marL="786130" indent="-762635">
              <a:lnSpc>
                <a:spcPct val="100000"/>
              </a:lnSpc>
              <a:spcBef>
                <a:spcPts val="720"/>
              </a:spcBef>
              <a:buSzPct val="95833"/>
              <a:buAutoNum type="arabicPlain"/>
              <a:tabLst>
                <a:tab pos="786765" algn="l"/>
              </a:tabLst>
            </a:pPr>
            <a:r>
              <a:rPr dirty="0" sz="2400">
                <a:latin typeface="微软雅黑"/>
                <a:cs typeface="微软雅黑"/>
              </a:rPr>
              <a:t>每个核子只跟</a:t>
            </a:r>
            <a:r>
              <a:rPr dirty="0" sz="2400" b="1">
                <a:latin typeface="微软雅黑"/>
                <a:cs typeface="微软雅黑"/>
              </a:rPr>
              <a:t>相邻</a:t>
            </a:r>
            <a:r>
              <a:rPr dirty="0" sz="2400">
                <a:latin typeface="微软雅黑"/>
                <a:cs typeface="微软雅黑"/>
              </a:rPr>
              <a:t>的核子发生核力作用，这种性质称为核力的</a:t>
            </a:r>
            <a:r>
              <a:rPr dirty="0" sz="2400" b="1">
                <a:latin typeface="微软雅黑"/>
                <a:cs typeface="微软雅黑"/>
              </a:rPr>
              <a:t>饱和性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786130" indent="-762635">
              <a:lnSpc>
                <a:spcPct val="100000"/>
              </a:lnSpc>
              <a:spcBef>
                <a:spcPts val="720"/>
              </a:spcBef>
              <a:buSzPct val="95833"/>
              <a:buFont typeface="΢"/>
              <a:buAutoNum type="arabicPlain"/>
              <a:tabLst>
                <a:tab pos="786765" algn="l"/>
              </a:tabLst>
            </a:pPr>
            <a:r>
              <a:rPr dirty="0" sz="2400" b="1">
                <a:latin typeface="微软雅黑"/>
                <a:cs typeface="微软雅黑"/>
              </a:rPr>
              <a:t>核力与电荷无关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Times New Roman"/>
              <a:cs typeface="Times New Roman"/>
            </a:endParaRPr>
          </a:p>
          <a:p>
            <a:pPr marL="328295">
              <a:lnSpc>
                <a:spcPct val="100000"/>
              </a:lnSpc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核力的产生机制还在深入研究之中。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40880" y="4299203"/>
            <a:ext cx="4294632" cy="2496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853969"/>
            <a:ext cx="4377690" cy="1247140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800">
                <a:latin typeface="微软雅黑"/>
                <a:cs typeface="微软雅黑"/>
              </a:rPr>
              <a:t>一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核力与四种基本相互作</a:t>
            </a:r>
            <a:r>
              <a:rPr dirty="0" sz="2800" spc="-5">
                <a:latin typeface="微软雅黑"/>
                <a:cs typeface="微软雅黑"/>
              </a:rPr>
              <a:t>用</a:t>
            </a:r>
            <a:endParaRPr sz="2800">
              <a:latin typeface="微软雅黑"/>
              <a:cs typeface="微软雅黑"/>
            </a:endParaRPr>
          </a:p>
          <a:p>
            <a:pPr marL="23495">
              <a:lnSpc>
                <a:spcPct val="100000"/>
              </a:lnSpc>
              <a:spcBef>
                <a:spcPts val="156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微软雅黑"/>
                <a:cs typeface="微软雅黑"/>
              </a:rPr>
              <a:t>四种基本相互作用</a:t>
            </a:r>
            <a:endParaRPr sz="2400">
              <a:latin typeface="微软雅黑"/>
              <a:cs typeface="微软雅黑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1512" y="2413000"/>
          <a:ext cx="10723880" cy="2398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755"/>
                <a:gridCol w="2331720"/>
                <a:gridCol w="2317750"/>
                <a:gridCol w="2317750"/>
                <a:gridCol w="2522854"/>
              </a:tblGrid>
              <a:tr h="5461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作用范围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/m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相对强度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举例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9739">
                <a:tc rowSpan="2"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11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长程力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268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引力相互作用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∞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5"/>
                        </a:lnSpc>
                      </a:pPr>
                      <a:r>
                        <a:rPr dirty="0" baseline="-13888" sz="36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-37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天体之间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97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68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电磁相互作用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∞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5"/>
                        </a:lnSpc>
                      </a:pPr>
                      <a:r>
                        <a:rPr dirty="0" baseline="-13888" sz="36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-2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库仑力、分子力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 rowSpan="2"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11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短程力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268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强相互作用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5"/>
                        </a:lnSpc>
                      </a:pPr>
                      <a:r>
                        <a:rPr dirty="0" baseline="-13888" sz="3600">
                          <a:latin typeface="Times New Roman"/>
                          <a:cs typeface="Times New Roman"/>
                        </a:rPr>
                        <a:t>~10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-15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核力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97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686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弱相互作用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5"/>
                        </a:lnSpc>
                      </a:pPr>
                      <a:r>
                        <a:rPr dirty="0" baseline="-13888" sz="3600">
                          <a:latin typeface="Times New Roman"/>
                          <a:cs typeface="Times New Roman"/>
                        </a:rPr>
                        <a:t>~10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-18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5"/>
                        </a:lnSpc>
                      </a:pPr>
                      <a:r>
                        <a:rPr dirty="0" baseline="-13888" sz="36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sz="1550">
                          <a:latin typeface="Times New Roman"/>
                          <a:cs typeface="Times New Roman"/>
                        </a:rPr>
                        <a:t>-12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引起</a:t>
                      </a:r>
                      <a:r>
                        <a:rPr dirty="0" sz="2400" spc="-5" i="1">
                          <a:latin typeface="Times New Roman"/>
                          <a:cs typeface="Times New Roman"/>
                        </a:rPr>
                        <a:t>β</a:t>
                      </a:r>
                      <a:r>
                        <a:rPr dirty="0" sz="2400">
                          <a:latin typeface="微软雅黑"/>
                          <a:cs typeface="微软雅黑"/>
                        </a:rPr>
                        <a:t>衰变的原因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989964"/>
            <a:ext cx="47332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二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原子核中质子与中子的比</a:t>
            </a:r>
            <a:r>
              <a:rPr dirty="0" sz="2800" spc="-5">
                <a:latin typeface="微软雅黑"/>
                <a:cs typeface="微软雅黑"/>
              </a:rPr>
              <a:t>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0702" y="1454262"/>
            <a:ext cx="7705090" cy="471170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604520" indent="-231140">
              <a:lnSpc>
                <a:spcPct val="100000"/>
              </a:lnSpc>
              <a:spcBef>
                <a:spcPts val="825"/>
              </a:spcBef>
              <a:buSzPct val="95454"/>
              <a:buAutoNum type="arabicPeriod"/>
              <a:tabLst>
                <a:tab pos="605155" algn="l"/>
              </a:tabLst>
            </a:pPr>
            <a:r>
              <a:rPr dirty="0" sz="2200">
                <a:latin typeface="微软雅黑"/>
                <a:cs typeface="微软雅黑"/>
              </a:rPr>
              <a:t>稳定的轻、重原子核中，质子数与中子数的比例不</a:t>
            </a:r>
            <a:r>
              <a:rPr dirty="0" sz="2200" spc="-5">
                <a:latin typeface="微软雅黑"/>
                <a:cs typeface="微软雅黑"/>
              </a:rPr>
              <a:t>同</a:t>
            </a:r>
            <a:endParaRPr sz="2200">
              <a:latin typeface="微软雅黑"/>
              <a:cs typeface="微软雅黑"/>
            </a:endParaRPr>
          </a:p>
          <a:p>
            <a:pPr marL="12700" marR="156210" indent="599440">
              <a:lnSpc>
                <a:spcPct val="125000"/>
              </a:lnSpc>
              <a:spcBef>
                <a:spcPts val="70"/>
              </a:spcBef>
            </a:pPr>
            <a:r>
              <a:rPr dirty="0" sz="2000" spc="40">
                <a:latin typeface="微软雅黑"/>
                <a:cs typeface="微软雅黑"/>
              </a:rPr>
              <a:t>稳定轻核</a:t>
            </a:r>
            <a:r>
              <a:rPr dirty="0" sz="2000" spc="35">
                <a:latin typeface="Times New Roman"/>
                <a:cs typeface="Times New Roman"/>
              </a:rPr>
              <a:t>(</a:t>
            </a:r>
            <a:r>
              <a:rPr dirty="0" sz="2000" spc="30" i="1">
                <a:latin typeface="Times New Roman"/>
                <a:cs typeface="Times New Roman"/>
              </a:rPr>
              <a:t>Z</a:t>
            </a:r>
            <a:r>
              <a:rPr dirty="0" sz="2000" spc="40">
                <a:latin typeface="Times New Roman"/>
                <a:cs typeface="Times New Roman"/>
              </a:rPr>
              <a:t>&lt;20)</a:t>
            </a:r>
            <a:r>
              <a:rPr dirty="0" sz="2000" spc="45">
                <a:latin typeface="微软雅黑"/>
                <a:cs typeface="微软雅黑"/>
              </a:rPr>
              <a:t>的质子数与中子数大致相等；稳定重核</a:t>
            </a:r>
            <a:r>
              <a:rPr dirty="0" sz="2000" spc="40">
                <a:latin typeface="Times New Roman"/>
                <a:cs typeface="Times New Roman"/>
              </a:rPr>
              <a:t>(</a:t>
            </a:r>
            <a:r>
              <a:rPr dirty="0" sz="2000" spc="35" i="1">
                <a:latin typeface="Times New Roman"/>
                <a:cs typeface="Times New Roman"/>
              </a:rPr>
              <a:t>Z</a:t>
            </a:r>
            <a:r>
              <a:rPr dirty="0" sz="2000" spc="40">
                <a:latin typeface="Times New Roman"/>
                <a:cs typeface="Times New Roman"/>
              </a:rPr>
              <a:t>&gt;20</a:t>
            </a:r>
            <a:r>
              <a:rPr dirty="0" sz="2000">
                <a:latin typeface="Times New Roman"/>
                <a:cs typeface="Times New Roman"/>
              </a:rPr>
              <a:t>) </a:t>
            </a:r>
            <a:r>
              <a:rPr dirty="0" sz="2000">
                <a:latin typeface="微软雅黑"/>
                <a:cs typeface="微软雅黑"/>
              </a:rPr>
              <a:t>的中子数大于质子数；越重的元素，</a:t>
            </a:r>
            <a:r>
              <a:rPr dirty="0" sz="2000" i="1">
                <a:latin typeface="Times New Roman"/>
                <a:cs typeface="Times New Roman"/>
              </a:rPr>
              <a:t>Z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越大，这种差异越明显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521334" indent="-210185">
              <a:lnSpc>
                <a:spcPct val="100000"/>
              </a:lnSpc>
              <a:spcBef>
                <a:spcPts val="810"/>
              </a:spcBef>
              <a:buSzPct val="95454"/>
              <a:buFont typeface="Times New Roman"/>
              <a:buAutoNum type="arabicPeriod" startAt="2"/>
              <a:tabLst>
                <a:tab pos="521970" algn="l"/>
              </a:tabLst>
            </a:pPr>
            <a:r>
              <a:rPr dirty="0" sz="2200">
                <a:latin typeface="微软雅黑"/>
                <a:cs typeface="微软雅黑"/>
              </a:rPr>
              <a:t>原因：</a:t>
            </a:r>
            <a:r>
              <a:rPr dirty="0" sz="2200" b="1">
                <a:latin typeface="微软雅黑"/>
                <a:cs typeface="微软雅黑"/>
              </a:rPr>
              <a:t>核子间核力与电磁力的特点不</a:t>
            </a:r>
            <a:r>
              <a:rPr dirty="0" sz="2200" spc="-5" b="1">
                <a:latin typeface="微软雅黑"/>
                <a:cs typeface="微软雅黑"/>
              </a:rPr>
              <a:t>同</a:t>
            </a:r>
            <a:endParaRPr sz="2200">
              <a:latin typeface="微软雅黑"/>
              <a:cs typeface="微软雅黑"/>
            </a:endParaRPr>
          </a:p>
          <a:p>
            <a:pPr algn="just" marL="31750" marR="201930" indent="508000">
              <a:lnSpc>
                <a:spcPct val="125000"/>
              </a:lnSpc>
              <a:spcBef>
                <a:spcPts val="10"/>
              </a:spcBef>
            </a:pPr>
            <a:r>
              <a:rPr dirty="0" sz="2000" spc="25">
                <a:latin typeface="微软雅黑"/>
                <a:cs typeface="微软雅黑"/>
              </a:rPr>
              <a:t>对于轻核</a:t>
            </a:r>
            <a:r>
              <a:rPr dirty="0" sz="2000" spc="30">
                <a:latin typeface="微软雅黑"/>
                <a:cs typeface="微软雅黑"/>
              </a:rPr>
              <a:t>而言，核子数量相对较小，核子间距在核力作用范</a:t>
            </a:r>
            <a:r>
              <a:rPr dirty="0" sz="2000">
                <a:latin typeface="微软雅黑"/>
                <a:cs typeface="微软雅黑"/>
              </a:rPr>
              <a:t>围 </a:t>
            </a:r>
            <a:r>
              <a:rPr dirty="0" sz="2000" spc="25">
                <a:latin typeface="微软雅黑"/>
                <a:cs typeface="微软雅黑"/>
              </a:rPr>
              <a:t>之内，由于核力远大于电磁力，即使</a:t>
            </a:r>
            <a:r>
              <a:rPr dirty="0" sz="2000" spc="30">
                <a:latin typeface="微软雅黑"/>
                <a:cs typeface="微软雅黑"/>
              </a:rPr>
              <a:t>质子和中子成对出现，强大</a:t>
            </a:r>
            <a:r>
              <a:rPr dirty="0" sz="2000">
                <a:latin typeface="微软雅黑"/>
                <a:cs typeface="微软雅黑"/>
              </a:rPr>
              <a:t>的 </a:t>
            </a:r>
            <a:r>
              <a:rPr dirty="0" sz="2000">
                <a:latin typeface="微软雅黑"/>
                <a:cs typeface="微软雅黑"/>
              </a:rPr>
              <a:t>核力也能将核子束缚在原子核的范围之内，形成稳定的原子核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31750" marR="5080" indent="547370">
              <a:lnSpc>
                <a:spcPct val="125000"/>
              </a:lnSpc>
            </a:pPr>
            <a:r>
              <a:rPr dirty="0" sz="2000">
                <a:latin typeface="微软雅黑"/>
                <a:cs typeface="微软雅黑"/>
              </a:rPr>
              <a:t>对于重核而言，核子数量大，核子间距大，由于</a:t>
            </a:r>
            <a:r>
              <a:rPr dirty="0" sz="2000" b="1">
                <a:solidFill>
                  <a:srgbClr val="C00000"/>
                </a:solidFill>
                <a:latin typeface="微软雅黑"/>
                <a:cs typeface="微软雅黑"/>
              </a:rPr>
              <a:t>核力是短程力</a:t>
            </a:r>
            <a:r>
              <a:rPr dirty="0" sz="2000" b="1">
                <a:solidFill>
                  <a:srgbClr val="C00000"/>
                </a:solidFill>
                <a:latin typeface="微软雅黑"/>
                <a:cs typeface="微软雅黑"/>
              </a:rPr>
              <a:t>、 </a:t>
            </a:r>
            <a:r>
              <a:rPr dirty="0" sz="2000" spc="25" b="1">
                <a:solidFill>
                  <a:srgbClr val="C00000"/>
                </a:solidFill>
                <a:latin typeface="微软雅黑"/>
                <a:cs typeface="微软雅黑"/>
              </a:rPr>
              <a:t>具有饱和性，核力会因为核子间距变</a:t>
            </a:r>
            <a:r>
              <a:rPr dirty="0" sz="2000" spc="30" b="1">
                <a:solidFill>
                  <a:srgbClr val="C00000"/>
                </a:solidFill>
                <a:latin typeface="微软雅黑"/>
                <a:cs typeface="微软雅黑"/>
              </a:rPr>
              <a:t>大而急剧减小</a:t>
            </a:r>
            <a:r>
              <a:rPr dirty="0" sz="2000" spc="30">
                <a:latin typeface="微软雅黑"/>
                <a:cs typeface="微软雅黑"/>
              </a:rPr>
              <a:t>，甚至小于电</a:t>
            </a:r>
            <a:r>
              <a:rPr dirty="0" sz="2000" spc="5">
                <a:latin typeface="微软雅黑"/>
                <a:cs typeface="微软雅黑"/>
              </a:rPr>
              <a:t>磁 力。</a:t>
            </a:r>
            <a:r>
              <a:rPr dirty="0" sz="2000" spc="-114">
                <a:latin typeface="微软雅黑"/>
                <a:cs typeface="微软雅黑"/>
              </a:rPr>
              <a:t> </a:t>
            </a:r>
            <a:r>
              <a:rPr dirty="0" sz="2000" spc="5">
                <a:latin typeface="微软雅黑"/>
                <a:cs typeface="微软雅黑"/>
              </a:rPr>
              <a:t>如果质</a:t>
            </a:r>
            <a:r>
              <a:rPr dirty="0" sz="2000" spc="10">
                <a:latin typeface="微软雅黑"/>
                <a:cs typeface="微软雅黑"/>
              </a:rPr>
              <a:t>子、中子再成对出现，会导致电磁力大于核力，原子</a:t>
            </a:r>
            <a:r>
              <a:rPr dirty="0" sz="2000" spc="5">
                <a:latin typeface="微软雅黑"/>
                <a:cs typeface="微软雅黑"/>
              </a:rPr>
              <a:t>核 </a:t>
            </a:r>
            <a:r>
              <a:rPr dirty="0" sz="2000" spc="25">
                <a:latin typeface="微软雅黑"/>
                <a:cs typeface="微软雅黑"/>
              </a:rPr>
              <a:t>不稳定。如果只增加中子，由于中子</a:t>
            </a:r>
            <a:r>
              <a:rPr dirty="0" sz="2000" spc="30">
                <a:latin typeface="微软雅黑"/>
                <a:cs typeface="微软雅黑"/>
              </a:rPr>
              <a:t>与其他核子间没有库仑斥力</a:t>
            </a:r>
            <a:r>
              <a:rPr dirty="0" sz="2000" spc="5">
                <a:latin typeface="微软雅黑"/>
                <a:cs typeface="微软雅黑"/>
              </a:rPr>
              <a:t>，  </a:t>
            </a:r>
            <a:r>
              <a:rPr dirty="0" sz="2000">
                <a:latin typeface="微软雅黑"/>
                <a:cs typeface="微软雅黑"/>
              </a:rPr>
              <a:t>但有相互吸引的核力，有助于维系原子核的稳定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8070" y="6215697"/>
            <a:ext cx="67570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宇宙演化的进程中，有</a:t>
            </a:r>
            <a:r>
              <a:rPr dirty="0" sz="2000" spc="-5">
                <a:latin typeface="Times New Roman"/>
                <a:cs typeface="Times New Roman"/>
              </a:rPr>
              <a:t>200</a:t>
            </a:r>
            <a:r>
              <a:rPr dirty="0" sz="2000">
                <a:latin typeface="微软雅黑"/>
                <a:cs typeface="微软雅黑"/>
              </a:rPr>
              <a:t>多种稳定的原子核长久地留下来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00" y="1656588"/>
            <a:ext cx="3616452" cy="4507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0489" y="6221666"/>
            <a:ext cx="429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稳定核的质子数与中子数的关系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0676" y="1608137"/>
            <a:ext cx="942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1F5F"/>
                </a:solidFill>
                <a:latin typeface="黑体"/>
                <a:cs typeface="黑体"/>
              </a:rPr>
              <a:t>中子</a:t>
            </a:r>
            <a:r>
              <a:rPr dirty="0" sz="2400" spc="-10" b="1">
                <a:solidFill>
                  <a:srgbClr val="001F5F"/>
                </a:solidFill>
                <a:latin typeface="黑体"/>
                <a:cs typeface="黑体"/>
              </a:rPr>
              <a:t>数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4982" y="5292381"/>
            <a:ext cx="942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1F5F"/>
                </a:solidFill>
                <a:latin typeface="黑体"/>
                <a:cs typeface="黑体"/>
              </a:rPr>
              <a:t>质子</a:t>
            </a:r>
            <a:r>
              <a:rPr dirty="0" sz="2400" spc="-10" b="1">
                <a:solidFill>
                  <a:srgbClr val="001F5F"/>
                </a:solidFill>
                <a:latin typeface="黑体"/>
                <a:cs typeface="黑体"/>
              </a:rPr>
              <a:t>数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9790" y="3288029"/>
            <a:ext cx="606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dirty="0" sz="2400" b="1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dirty="0" sz="2400" b="1" i="1">
                <a:solidFill>
                  <a:srgbClr val="C00000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846697"/>
            <a:ext cx="11151870" cy="3287395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800">
                <a:latin typeface="微软雅黑"/>
                <a:cs typeface="微软雅黑"/>
              </a:rPr>
              <a:t>三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结合</a:t>
            </a:r>
            <a:r>
              <a:rPr dirty="0" sz="2800" spc="-5">
                <a:latin typeface="微软雅黑"/>
                <a:cs typeface="微软雅黑"/>
              </a:rPr>
              <a:t>能</a:t>
            </a:r>
            <a:endParaRPr sz="2800">
              <a:latin typeface="微软雅黑"/>
              <a:cs typeface="微软雅黑"/>
            </a:endParaRPr>
          </a:p>
          <a:p>
            <a:pPr marL="19050">
              <a:lnSpc>
                <a:spcPct val="100000"/>
              </a:lnSpc>
              <a:spcBef>
                <a:spcPts val="1075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微软雅黑"/>
                <a:cs typeface="微软雅黑"/>
              </a:rPr>
              <a:t>结合能</a:t>
            </a:r>
            <a:r>
              <a:rPr dirty="0" sz="2400">
                <a:latin typeface="Times New Roman"/>
                <a:cs typeface="Times New Roman"/>
              </a:rPr>
              <a:t>Δ</a:t>
            </a:r>
            <a:r>
              <a:rPr dirty="0" sz="2400" i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algn="just" marL="19050" marR="5080" indent="558800">
              <a:lnSpc>
                <a:spcPct val="125000"/>
              </a:lnSpc>
              <a:spcBef>
                <a:spcPts val="20"/>
              </a:spcBef>
            </a:pPr>
            <a:r>
              <a:rPr dirty="0" sz="2200" spc="45">
                <a:latin typeface="微软雅黑"/>
                <a:cs typeface="微软雅黑"/>
              </a:rPr>
              <a:t>组成原子核的核子</a:t>
            </a:r>
            <a:r>
              <a:rPr dirty="0" sz="2200" spc="50">
                <a:latin typeface="微软雅黑"/>
                <a:cs typeface="微软雅黑"/>
              </a:rPr>
              <a:t>间存在强大的核力。要想把原子核拆散成单个的自由核子，就要</a:t>
            </a:r>
            <a:r>
              <a:rPr dirty="0" sz="2200" spc="-5" b="1">
                <a:latin typeface="微软雅黑"/>
                <a:cs typeface="微软雅黑"/>
              </a:rPr>
              <a:t>克 </a:t>
            </a:r>
            <a:r>
              <a:rPr dirty="0" sz="2200" spc="45" b="1">
                <a:latin typeface="微软雅黑"/>
                <a:cs typeface="微软雅黑"/>
              </a:rPr>
              <a:t>服核力做巨大的功</a:t>
            </a:r>
            <a:r>
              <a:rPr dirty="0" sz="2200" spc="45">
                <a:latin typeface="微软雅黑"/>
                <a:cs typeface="微软雅黑"/>
              </a:rPr>
              <a:t>，需要</a:t>
            </a:r>
            <a:r>
              <a:rPr dirty="0" sz="2200" spc="45" b="1">
                <a:latin typeface="微软雅黑"/>
                <a:cs typeface="微软雅黑"/>
              </a:rPr>
              <a:t>吸收</a:t>
            </a:r>
            <a:r>
              <a:rPr dirty="0" sz="2200" spc="45">
                <a:latin typeface="微软雅黑"/>
                <a:cs typeface="微软雅黑"/>
              </a:rPr>
              <a:t>巨大的</a:t>
            </a:r>
            <a:r>
              <a:rPr dirty="0" sz="2200" spc="45" b="1">
                <a:latin typeface="微软雅黑"/>
                <a:cs typeface="微软雅黑"/>
              </a:rPr>
              <a:t>能量</a:t>
            </a:r>
            <a:r>
              <a:rPr dirty="0" sz="2200" spc="45">
                <a:latin typeface="微软雅黑"/>
                <a:cs typeface="微软雅黑"/>
              </a:rPr>
              <a:t>。反之，当自由的核子</a:t>
            </a:r>
            <a:r>
              <a:rPr dirty="0" sz="2200" spc="50">
                <a:latin typeface="微软雅黑"/>
                <a:cs typeface="微软雅黑"/>
              </a:rPr>
              <a:t>结合成原子核时，</a:t>
            </a:r>
            <a:r>
              <a:rPr dirty="0" sz="2200" spc="50" b="1">
                <a:latin typeface="微软雅黑"/>
                <a:cs typeface="微软雅黑"/>
              </a:rPr>
              <a:t>核力</a:t>
            </a:r>
            <a:r>
              <a:rPr dirty="0" sz="2200" spc="-5" b="1">
                <a:latin typeface="微软雅黑"/>
                <a:cs typeface="微软雅黑"/>
              </a:rPr>
              <a:t>做 </a:t>
            </a:r>
            <a:r>
              <a:rPr dirty="0" sz="2200" spc="45" b="1">
                <a:latin typeface="微软雅黑"/>
                <a:cs typeface="微软雅黑"/>
              </a:rPr>
              <a:t>功</a:t>
            </a:r>
            <a:r>
              <a:rPr dirty="0" sz="2200" spc="45">
                <a:latin typeface="微软雅黑"/>
                <a:cs typeface="微软雅黑"/>
              </a:rPr>
              <a:t>，与核力联系的势能将减小，</a:t>
            </a:r>
            <a:r>
              <a:rPr dirty="0" sz="2200" spc="45" b="1">
                <a:latin typeface="微软雅黑"/>
                <a:cs typeface="微软雅黑"/>
              </a:rPr>
              <a:t>释放</a:t>
            </a:r>
            <a:r>
              <a:rPr dirty="0" sz="2200" spc="45">
                <a:latin typeface="微软雅黑"/>
                <a:cs typeface="微软雅黑"/>
              </a:rPr>
              <a:t>出巨大的</a:t>
            </a:r>
            <a:r>
              <a:rPr dirty="0" sz="2200" spc="45" b="1">
                <a:latin typeface="微软雅黑"/>
                <a:cs typeface="微软雅黑"/>
              </a:rPr>
              <a:t>能量</a:t>
            </a:r>
            <a:r>
              <a:rPr dirty="0" sz="2200" spc="45">
                <a:latin typeface="微软雅黑"/>
                <a:cs typeface="微软雅黑"/>
              </a:rPr>
              <a:t>。这种由分散</a:t>
            </a:r>
            <a:r>
              <a:rPr dirty="0" sz="2200" spc="50">
                <a:latin typeface="微软雅黑"/>
                <a:cs typeface="微软雅黑"/>
              </a:rPr>
              <a:t>的核子结合成原子核的</a:t>
            </a:r>
            <a:r>
              <a:rPr dirty="0" sz="2200" spc="-5">
                <a:latin typeface="微软雅黑"/>
                <a:cs typeface="微软雅黑"/>
              </a:rPr>
              <a:t>过 </a:t>
            </a:r>
            <a:r>
              <a:rPr dirty="0" sz="2200">
                <a:latin typeface="微软雅黑"/>
                <a:cs typeface="微软雅黑"/>
              </a:rPr>
              <a:t>程中所释放的能量，称为原子核的结合能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  <a:p>
            <a:pPr marL="577850">
              <a:lnSpc>
                <a:spcPct val="100000"/>
              </a:lnSpc>
              <a:spcBef>
                <a:spcPts val="1260"/>
              </a:spcBef>
            </a:pPr>
            <a:r>
              <a:rPr dirty="0" sz="2200">
                <a:latin typeface="微软雅黑"/>
                <a:cs typeface="微软雅黑"/>
              </a:rPr>
              <a:t>例如，用</a:t>
            </a:r>
            <a:r>
              <a:rPr dirty="0" sz="2200" spc="-5" i="1">
                <a:latin typeface="Times New Roman"/>
                <a:cs typeface="Times New Roman"/>
              </a:rPr>
              <a:t>γ</a:t>
            </a:r>
            <a:r>
              <a:rPr dirty="0" sz="2200">
                <a:latin typeface="微软雅黑"/>
                <a:cs typeface="微软雅黑"/>
              </a:rPr>
              <a:t>光子照射氘核，可以使其分解为质子和中子，核反应方程</a:t>
            </a:r>
            <a:r>
              <a:rPr dirty="0" sz="2200" spc="-5">
                <a:latin typeface="微软雅黑"/>
                <a:cs typeface="微软雅黑"/>
              </a:rPr>
              <a:t>为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744" y="4679823"/>
            <a:ext cx="1140523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10870">
              <a:lnSpc>
                <a:spcPct val="125000"/>
              </a:lnSpc>
              <a:spcBef>
                <a:spcPts val="100"/>
              </a:spcBef>
            </a:pPr>
            <a:r>
              <a:rPr dirty="0" sz="2200">
                <a:latin typeface="微软雅黑"/>
                <a:cs typeface="微软雅黑"/>
              </a:rPr>
              <a:t>实验证明，当光子能量大于或等于</a:t>
            </a:r>
            <a:r>
              <a:rPr dirty="0" sz="2200" spc="-5">
                <a:latin typeface="Times New Roman"/>
                <a:cs typeface="Times New Roman"/>
              </a:rPr>
              <a:t>2.19MeV</a:t>
            </a:r>
            <a:r>
              <a:rPr dirty="0" sz="2200">
                <a:latin typeface="微软雅黑"/>
                <a:cs typeface="微软雅黑"/>
              </a:rPr>
              <a:t>时（结合能</a:t>
            </a:r>
            <a:r>
              <a:rPr dirty="0" sz="2000">
                <a:latin typeface="Times New Roman"/>
                <a:cs typeface="Times New Roman"/>
              </a:rPr>
              <a:t>Δ</a:t>
            </a:r>
            <a:r>
              <a:rPr dirty="0" sz="2000" i="1">
                <a:latin typeface="Times New Roman"/>
                <a:cs typeface="Times New Roman"/>
              </a:rPr>
              <a:t>E</a:t>
            </a:r>
            <a:r>
              <a:rPr dirty="0" sz="2000" spc="-55" i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=</a:t>
            </a:r>
            <a:r>
              <a:rPr dirty="0" sz="2200" spc="-5">
                <a:latin typeface="Times New Roman"/>
                <a:cs typeface="Times New Roman"/>
              </a:rPr>
              <a:t>2.19MeV</a:t>
            </a:r>
            <a:r>
              <a:rPr dirty="0" sz="2200" spc="-5">
                <a:latin typeface="微软雅黑"/>
                <a:cs typeface="微软雅黑"/>
              </a:rPr>
              <a:t>），</a:t>
            </a:r>
            <a:r>
              <a:rPr dirty="0" sz="2200">
                <a:latin typeface="微软雅黑"/>
                <a:cs typeface="微软雅黑"/>
              </a:rPr>
              <a:t>反应才会发生</a:t>
            </a:r>
            <a:r>
              <a:rPr dirty="0" sz="2200" spc="-5">
                <a:latin typeface="微软雅黑"/>
                <a:cs typeface="微软雅黑"/>
              </a:rPr>
              <a:t>。 </a:t>
            </a:r>
            <a:r>
              <a:rPr dirty="0" sz="2200" spc="50">
                <a:latin typeface="微软雅黑"/>
                <a:cs typeface="微软雅黑"/>
              </a:rPr>
              <a:t>反之，当一个质子和一个中子</a:t>
            </a:r>
            <a:r>
              <a:rPr dirty="0" sz="2200" spc="55">
                <a:latin typeface="微软雅黑"/>
                <a:cs typeface="微软雅黑"/>
              </a:rPr>
              <a:t>结合成氘核时，要以光子的形式释放</a:t>
            </a:r>
            <a:r>
              <a:rPr dirty="0" sz="2200" spc="50">
                <a:latin typeface="Times New Roman"/>
                <a:cs typeface="Times New Roman"/>
              </a:rPr>
              <a:t>2.19MeV</a:t>
            </a:r>
            <a:r>
              <a:rPr dirty="0" sz="2200" spc="55">
                <a:latin typeface="微软雅黑"/>
                <a:cs typeface="微软雅黑"/>
              </a:rPr>
              <a:t>的能量，核</a:t>
            </a:r>
            <a:r>
              <a:rPr dirty="0" sz="2200" spc="-5">
                <a:latin typeface="微软雅黑"/>
                <a:cs typeface="微软雅黑"/>
              </a:rPr>
              <a:t>反 </a:t>
            </a:r>
            <a:r>
              <a:rPr dirty="0" sz="2200">
                <a:latin typeface="微软雅黑"/>
                <a:cs typeface="微软雅黑"/>
              </a:rPr>
              <a:t>应方程</a:t>
            </a:r>
            <a:r>
              <a:rPr dirty="0" sz="2200" spc="-5">
                <a:latin typeface="微软雅黑"/>
                <a:cs typeface="微软雅黑"/>
              </a:rPr>
              <a:t>为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4047" y="4400842"/>
            <a:ext cx="20224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45210" algn="l"/>
                <a:tab pos="1891664" algn="l"/>
              </a:tabLst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9243" y="4104970"/>
            <a:ext cx="2844800" cy="53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235" i="1">
                <a:latin typeface="Symbol"/>
                <a:cs typeface="Symbol"/>
              </a:rPr>
              <a:t></a:t>
            </a:r>
            <a:r>
              <a:rPr dirty="0" sz="3150" spc="-235">
                <a:latin typeface="Times New Roman"/>
                <a:cs typeface="Times New Roman"/>
              </a:rPr>
              <a:t>+</a:t>
            </a:r>
            <a:r>
              <a:rPr dirty="0" sz="3150" spc="-380">
                <a:latin typeface="Times New Roman"/>
                <a:cs typeface="Times New Roman"/>
              </a:rPr>
              <a:t> </a:t>
            </a:r>
            <a:r>
              <a:rPr dirty="0" baseline="43543" sz="2775" spc="-7">
                <a:latin typeface="Times New Roman"/>
                <a:cs typeface="Times New Roman"/>
              </a:rPr>
              <a:t>2</a:t>
            </a:r>
            <a:r>
              <a:rPr dirty="0" baseline="43543" sz="2775" spc="-165">
                <a:latin typeface="Times New Roman"/>
                <a:cs typeface="Times New Roman"/>
              </a:rPr>
              <a:t> </a:t>
            </a:r>
            <a:r>
              <a:rPr dirty="0" sz="3150" spc="25">
                <a:latin typeface="Times New Roman"/>
                <a:cs typeface="Times New Roman"/>
              </a:rPr>
              <a:t>H</a:t>
            </a:r>
            <a:r>
              <a:rPr dirty="0" sz="3150" spc="-65">
                <a:latin typeface="Times New Roman"/>
                <a:cs typeface="Times New Roman"/>
              </a:rPr>
              <a:t> </a:t>
            </a:r>
            <a:r>
              <a:rPr dirty="0" sz="3150" spc="35">
                <a:latin typeface="Symbol"/>
                <a:cs typeface="Symbol"/>
              </a:rPr>
              <a:t></a:t>
            </a:r>
            <a:r>
              <a:rPr dirty="0" sz="3150" spc="15">
                <a:latin typeface="Times New Roman"/>
                <a:cs typeface="Times New Roman"/>
              </a:rPr>
              <a:t> </a:t>
            </a:r>
            <a:r>
              <a:rPr dirty="0" baseline="43543" sz="2775" spc="-7">
                <a:latin typeface="Times New Roman"/>
                <a:cs typeface="Times New Roman"/>
              </a:rPr>
              <a:t>1</a:t>
            </a:r>
            <a:r>
              <a:rPr dirty="0" baseline="43543" sz="2775" spc="-375">
                <a:latin typeface="Times New Roman"/>
                <a:cs typeface="Times New Roman"/>
              </a:rPr>
              <a:t> </a:t>
            </a:r>
            <a:r>
              <a:rPr dirty="0" sz="3150" spc="25">
                <a:latin typeface="Times New Roman"/>
                <a:cs typeface="Times New Roman"/>
              </a:rPr>
              <a:t>H</a:t>
            </a:r>
            <a:r>
              <a:rPr dirty="0" sz="3150" spc="-215">
                <a:latin typeface="Times New Roman"/>
                <a:cs typeface="Times New Roman"/>
              </a:rPr>
              <a:t> </a:t>
            </a:r>
            <a:r>
              <a:rPr dirty="0" sz="3150" spc="20">
                <a:latin typeface="Symbol"/>
                <a:cs typeface="Symbol"/>
              </a:rPr>
              <a:t></a:t>
            </a:r>
            <a:r>
              <a:rPr dirty="0" sz="3150" spc="229">
                <a:latin typeface="Times New Roman"/>
                <a:cs typeface="Times New Roman"/>
              </a:rPr>
              <a:t> </a:t>
            </a:r>
            <a:r>
              <a:rPr dirty="0" baseline="43543" sz="2775" spc="-7">
                <a:latin typeface="Times New Roman"/>
                <a:cs typeface="Times New Roman"/>
              </a:rPr>
              <a:t>1</a:t>
            </a:r>
            <a:r>
              <a:rPr dirty="0" baseline="43543" sz="2775" spc="-375">
                <a:latin typeface="Times New Roman"/>
                <a:cs typeface="Times New Roman"/>
              </a:rPr>
              <a:t> </a:t>
            </a:r>
            <a:r>
              <a:rPr dirty="0" sz="3150" spc="15">
                <a:latin typeface="Times New Roman"/>
                <a:cs typeface="Times New Roman"/>
              </a:rPr>
              <a:t>n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6289" y="5907697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2731" y="5907697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4667" y="5907697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6289" y="5611825"/>
            <a:ext cx="2845435" cy="53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3543" sz="2775" spc="-7">
                <a:latin typeface="Times New Roman"/>
                <a:cs typeface="Times New Roman"/>
              </a:rPr>
              <a:t>1 </a:t>
            </a:r>
            <a:r>
              <a:rPr dirty="0" sz="3150" spc="25">
                <a:latin typeface="Times New Roman"/>
                <a:cs typeface="Times New Roman"/>
              </a:rPr>
              <a:t>H </a:t>
            </a:r>
            <a:r>
              <a:rPr dirty="0" sz="3150" spc="20">
                <a:latin typeface="Symbol"/>
                <a:cs typeface="Symbol"/>
              </a:rPr>
              <a:t></a:t>
            </a:r>
            <a:r>
              <a:rPr dirty="0" sz="3150" spc="20">
                <a:latin typeface="Times New Roman"/>
                <a:cs typeface="Times New Roman"/>
              </a:rPr>
              <a:t> </a:t>
            </a:r>
            <a:r>
              <a:rPr dirty="0" baseline="43543" sz="2775" spc="-7">
                <a:latin typeface="Times New Roman"/>
                <a:cs typeface="Times New Roman"/>
              </a:rPr>
              <a:t>1 </a:t>
            </a:r>
            <a:r>
              <a:rPr dirty="0" sz="3150" spc="15">
                <a:latin typeface="Times New Roman"/>
                <a:cs typeface="Times New Roman"/>
              </a:rPr>
              <a:t>n </a:t>
            </a:r>
            <a:r>
              <a:rPr dirty="0" sz="3150" spc="35">
                <a:latin typeface="Symbol"/>
                <a:cs typeface="Symbol"/>
              </a:rPr>
              <a:t></a:t>
            </a:r>
            <a:r>
              <a:rPr dirty="0" sz="3150" spc="-450">
                <a:latin typeface="Times New Roman"/>
                <a:cs typeface="Times New Roman"/>
              </a:rPr>
              <a:t> </a:t>
            </a:r>
            <a:r>
              <a:rPr dirty="0" baseline="43543" sz="2775" spc="-7">
                <a:latin typeface="Times New Roman"/>
                <a:cs typeface="Times New Roman"/>
              </a:rPr>
              <a:t>2 </a:t>
            </a:r>
            <a:r>
              <a:rPr dirty="0" sz="3150" spc="-95">
                <a:latin typeface="Times New Roman"/>
                <a:cs typeface="Times New Roman"/>
              </a:rPr>
              <a:t>H+</a:t>
            </a:r>
            <a:r>
              <a:rPr dirty="0" sz="3350" spc="-95" i="1">
                <a:latin typeface="Symbol"/>
                <a:cs typeface="Symbol"/>
              </a:rPr>
              <a:t></a:t>
            </a:r>
            <a:endParaRPr sz="33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815" y="2196147"/>
            <a:ext cx="11145520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09600">
              <a:lnSpc>
                <a:spcPct val="125000"/>
              </a:lnSpc>
              <a:spcBef>
                <a:spcPts val="100"/>
              </a:spcBef>
            </a:pPr>
            <a:r>
              <a:rPr dirty="0" sz="2400" spc="35">
                <a:latin typeface="微软雅黑"/>
                <a:cs typeface="微软雅黑"/>
              </a:rPr>
              <a:t>组成原子核的核子越多，其结合能越大。因此，有意义的是结合能与核子</a:t>
            </a:r>
            <a:r>
              <a:rPr dirty="0" sz="2400" spc="40">
                <a:latin typeface="微软雅黑"/>
                <a:cs typeface="微软雅黑"/>
              </a:rPr>
              <a:t>数</a:t>
            </a:r>
            <a:r>
              <a:rPr dirty="0" sz="2400">
                <a:latin typeface="微软雅黑"/>
                <a:cs typeface="微软雅黑"/>
              </a:rPr>
              <a:t>的 比值，称作比结合能，也叫平均结合能。</a:t>
            </a:r>
            <a:endParaRPr sz="2400">
              <a:latin typeface="微软雅黑"/>
              <a:cs typeface="微软雅黑"/>
            </a:endParaRPr>
          </a:p>
          <a:p>
            <a:pPr algn="just" marL="12700" marR="5080" indent="609600">
              <a:lnSpc>
                <a:spcPct val="125000"/>
              </a:lnSpc>
            </a:pPr>
            <a:r>
              <a:rPr dirty="0" sz="2400" spc="35">
                <a:latin typeface="微软雅黑"/>
                <a:cs typeface="微软雅黑"/>
              </a:rPr>
              <a:t>比结合能是核子结合成原子核时每个核子平均放出的能量，</a:t>
            </a:r>
            <a:r>
              <a:rPr dirty="0" sz="2400" spc="35" b="1">
                <a:latin typeface="微软雅黑"/>
                <a:cs typeface="微软雅黑"/>
              </a:rPr>
              <a:t>其大小反映原</a:t>
            </a:r>
            <a:r>
              <a:rPr dirty="0" sz="2400" spc="40" b="1">
                <a:latin typeface="微软雅黑"/>
                <a:cs typeface="微软雅黑"/>
              </a:rPr>
              <a:t>子</a:t>
            </a:r>
            <a:r>
              <a:rPr dirty="0" sz="2400" b="1">
                <a:latin typeface="微软雅黑"/>
                <a:cs typeface="微软雅黑"/>
              </a:rPr>
              <a:t>核 </a:t>
            </a:r>
            <a:r>
              <a:rPr dirty="0" sz="2400" spc="30" b="1">
                <a:latin typeface="微软雅黑"/>
                <a:cs typeface="微软雅黑"/>
              </a:rPr>
              <a:t>的稳定程度</a:t>
            </a:r>
            <a:r>
              <a:rPr dirty="0" sz="2400" spc="30">
                <a:latin typeface="微软雅黑"/>
                <a:cs typeface="微软雅黑"/>
              </a:rPr>
              <a:t>：比结合能越大，</a:t>
            </a:r>
            <a:r>
              <a:rPr dirty="0" sz="2400" spc="35">
                <a:latin typeface="微软雅黑"/>
                <a:cs typeface="微软雅黑"/>
              </a:rPr>
              <a:t>把同样数量的核子分开所需要的能量越大，说明原</a:t>
            </a:r>
            <a:r>
              <a:rPr dirty="0" sz="2400">
                <a:latin typeface="微软雅黑"/>
                <a:cs typeface="微软雅黑"/>
              </a:rPr>
              <a:t>子 核中核子结合得越牢固，原子核越稳定。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43798" y="1873364"/>
            <a:ext cx="443230" cy="0"/>
          </a:xfrm>
          <a:custGeom>
            <a:avLst/>
            <a:gdLst/>
            <a:ahLst/>
            <a:cxnLst/>
            <a:rect l="l" t="t" r="r" b="b"/>
            <a:pathLst>
              <a:path w="443230" h="0">
                <a:moveTo>
                  <a:pt x="0" y="0"/>
                </a:moveTo>
                <a:lnTo>
                  <a:pt x="443039" y="0"/>
                </a:lnTo>
              </a:path>
            </a:pathLst>
          </a:custGeom>
          <a:ln w="159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3077" y="1005839"/>
            <a:ext cx="1903730" cy="1066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三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结合</a:t>
            </a:r>
            <a:r>
              <a:rPr dirty="0" sz="2800" spc="-5">
                <a:latin typeface="微软雅黑"/>
                <a:cs typeface="微软雅黑"/>
              </a:rPr>
              <a:t>能</a:t>
            </a:r>
            <a:endParaRPr sz="2800">
              <a:latin typeface="微软雅黑"/>
              <a:cs typeface="微软雅黑"/>
            </a:endParaRPr>
          </a:p>
          <a:p>
            <a:pPr marL="71120">
              <a:lnSpc>
                <a:spcPct val="100000"/>
              </a:lnSpc>
              <a:spcBef>
                <a:spcPts val="1835"/>
              </a:spcBef>
              <a:tabLst>
                <a:tab pos="1693545" algn="l"/>
              </a:tabLst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微软雅黑"/>
                <a:cs typeface="微软雅黑"/>
              </a:rPr>
              <a:t>比结合能	</a:t>
            </a:r>
            <a:r>
              <a:rPr dirty="0" baseline="-36666" sz="3750" spc="30" i="1">
                <a:latin typeface="Times New Roman"/>
                <a:cs typeface="Times New Roman"/>
              </a:rPr>
              <a:t>A</a:t>
            </a:r>
            <a:endParaRPr baseline="-36666" sz="3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1227" y="1416926"/>
            <a:ext cx="418465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15">
                <a:latin typeface="Symbol"/>
                <a:cs typeface="Symbol"/>
              </a:rPr>
              <a:t></a:t>
            </a:r>
            <a:r>
              <a:rPr dirty="0" sz="2500" spc="20" i="1">
                <a:latin typeface="Times New Roman"/>
                <a:cs typeface="Times New Roman"/>
              </a:rPr>
              <a:t>E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861808"/>
            <a:ext cx="11246485" cy="3897629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800">
                <a:latin typeface="微软雅黑"/>
                <a:cs typeface="微软雅黑"/>
              </a:rPr>
              <a:t>四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质量亏</a:t>
            </a:r>
            <a:r>
              <a:rPr dirty="0" sz="2800" spc="-5">
                <a:latin typeface="微软雅黑"/>
                <a:cs typeface="微软雅黑"/>
              </a:rPr>
              <a:t>损</a:t>
            </a:r>
            <a:endParaRPr sz="2800">
              <a:latin typeface="微软雅黑"/>
              <a:cs typeface="微软雅黑"/>
            </a:endParaRPr>
          </a:p>
          <a:p>
            <a:pPr marL="300355" indent="-229235">
              <a:lnSpc>
                <a:spcPct val="100000"/>
              </a:lnSpc>
              <a:spcBef>
                <a:spcPts val="1185"/>
              </a:spcBef>
              <a:buSzPct val="95833"/>
              <a:buFont typeface="Times New Roman"/>
              <a:buAutoNum type="arabicPeriod"/>
              <a:tabLst>
                <a:tab pos="300990" algn="l"/>
              </a:tabLst>
            </a:pPr>
            <a:r>
              <a:rPr dirty="0" sz="2400">
                <a:latin typeface="微软雅黑"/>
                <a:cs typeface="微软雅黑"/>
              </a:rPr>
              <a:t>质能方程</a:t>
            </a:r>
            <a:endParaRPr sz="2400">
              <a:latin typeface="微软雅黑"/>
              <a:cs typeface="微软雅黑"/>
            </a:endParaRPr>
          </a:p>
          <a:p>
            <a:pPr marL="71120" marR="47625" indent="558800">
              <a:lnSpc>
                <a:spcPts val="3300"/>
              </a:lnSpc>
              <a:spcBef>
                <a:spcPts val="240"/>
              </a:spcBef>
              <a:tabLst>
                <a:tab pos="5590540" algn="l"/>
              </a:tabLst>
            </a:pPr>
            <a:r>
              <a:rPr dirty="0" sz="2200" spc="45">
                <a:latin typeface="微软雅黑"/>
                <a:cs typeface="微软雅黑"/>
              </a:rPr>
              <a:t>根据爱因斯坦提出</a:t>
            </a:r>
            <a:r>
              <a:rPr dirty="0" sz="2200" spc="50">
                <a:latin typeface="微软雅黑"/>
                <a:cs typeface="微软雅黑"/>
              </a:rPr>
              <a:t>的质能方程，</a:t>
            </a:r>
            <a:r>
              <a:rPr dirty="0" sz="2200" spc="50" b="1">
                <a:latin typeface="微软雅黑"/>
                <a:cs typeface="微软雅黑"/>
              </a:rPr>
              <a:t>质量、能量是物质存在的两种不同形式</a:t>
            </a:r>
            <a:r>
              <a:rPr dirty="0" sz="2200" spc="50">
                <a:latin typeface="微软雅黑"/>
                <a:cs typeface="微软雅黑"/>
              </a:rPr>
              <a:t>，物体的能</a:t>
            </a:r>
            <a:r>
              <a:rPr dirty="0" sz="2200" spc="-5">
                <a:latin typeface="微软雅黑"/>
                <a:cs typeface="微软雅黑"/>
              </a:rPr>
              <a:t>量 </a:t>
            </a:r>
            <a:r>
              <a:rPr dirty="0" sz="2200">
                <a:latin typeface="微软雅黑"/>
                <a:cs typeface="微软雅黑"/>
              </a:rPr>
              <a:t>与质量之间存在着密切的联系，</a:t>
            </a:r>
            <a:r>
              <a:rPr dirty="0" sz="2200" spc="-5">
                <a:latin typeface="微软雅黑"/>
                <a:cs typeface="微软雅黑"/>
              </a:rPr>
              <a:t>即	</a:t>
            </a:r>
            <a:r>
              <a:rPr dirty="0" baseline="-36036" sz="2775" spc="-22">
                <a:latin typeface="Times New Roman"/>
                <a:cs typeface="Times New Roman"/>
              </a:rPr>
              <a:t>2</a:t>
            </a:r>
            <a:endParaRPr baseline="-36036" sz="2775">
              <a:latin typeface="Times New Roman"/>
              <a:cs typeface="Times New Roman"/>
            </a:endParaRPr>
          </a:p>
          <a:p>
            <a:pPr algn="ctr" marR="1240155">
              <a:lnSpc>
                <a:spcPts val="2310"/>
              </a:lnSpc>
            </a:pPr>
            <a:r>
              <a:rPr dirty="0" sz="3150" spc="-5" i="1">
                <a:latin typeface="Times New Roman"/>
                <a:cs typeface="Times New Roman"/>
              </a:rPr>
              <a:t>E </a:t>
            </a:r>
            <a:r>
              <a:rPr dirty="0" sz="3150" spc="-5">
                <a:latin typeface="Symbol"/>
                <a:cs typeface="Symbol"/>
              </a:rPr>
              <a:t></a:t>
            </a:r>
            <a:r>
              <a:rPr dirty="0" sz="3150" spc="35">
                <a:latin typeface="Times New Roman"/>
                <a:cs typeface="Times New Roman"/>
              </a:rPr>
              <a:t> </a:t>
            </a:r>
            <a:r>
              <a:rPr dirty="0" sz="3150" spc="-10" i="1">
                <a:latin typeface="Times New Roman"/>
                <a:cs typeface="Times New Roman"/>
              </a:rPr>
              <a:t>mc</a:t>
            </a:r>
            <a:endParaRPr sz="3150">
              <a:latin typeface="Times New Roman"/>
              <a:cs typeface="Times New Roman"/>
            </a:endParaRPr>
          </a:p>
          <a:p>
            <a:pPr marL="341630" indent="-229235">
              <a:lnSpc>
                <a:spcPts val="2615"/>
              </a:lnSpc>
              <a:buSzPct val="95833"/>
              <a:buFont typeface="Times New Roman"/>
              <a:buAutoNum type="arabicPeriod" startAt="2"/>
              <a:tabLst>
                <a:tab pos="342265" algn="l"/>
              </a:tabLst>
            </a:pPr>
            <a:r>
              <a:rPr dirty="0" sz="2400">
                <a:latin typeface="微软雅黑"/>
                <a:cs typeface="微软雅黑"/>
              </a:rPr>
              <a:t>质量亏损</a:t>
            </a:r>
            <a:endParaRPr sz="2400">
              <a:latin typeface="微软雅黑"/>
              <a:cs typeface="微软雅黑"/>
            </a:endParaRPr>
          </a:p>
          <a:p>
            <a:pPr marL="112395" marR="5080" indent="558800">
              <a:lnSpc>
                <a:spcPct val="125000"/>
              </a:lnSpc>
              <a:spcBef>
                <a:spcPts val="20"/>
              </a:spcBef>
            </a:pPr>
            <a:r>
              <a:rPr dirty="0" sz="2200" spc="45">
                <a:latin typeface="微软雅黑"/>
                <a:cs typeface="微软雅黑"/>
              </a:rPr>
              <a:t>核子结合成原</a:t>
            </a:r>
            <a:r>
              <a:rPr dirty="0" sz="2200" spc="50">
                <a:latin typeface="微软雅黑"/>
                <a:cs typeface="微软雅黑"/>
              </a:rPr>
              <a:t>子核时，核力做功，释放出结合能，原子核的能量比组成核的核子的</a:t>
            </a:r>
            <a:r>
              <a:rPr dirty="0" sz="2200" spc="-5">
                <a:latin typeface="微软雅黑"/>
                <a:cs typeface="微软雅黑"/>
              </a:rPr>
              <a:t>能 </a:t>
            </a:r>
            <a:r>
              <a:rPr dirty="0" sz="2200">
                <a:latin typeface="微软雅黑"/>
                <a:cs typeface="微软雅黑"/>
              </a:rPr>
              <a:t>量小，所以原子核的质量也要比组成核的核子的质量小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  <a:p>
            <a:pPr marL="671195">
              <a:lnSpc>
                <a:spcPct val="100000"/>
              </a:lnSpc>
              <a:spcBef>
                <a:spcPts val="660"/>
              </a:spcBef>
            </a:pPr>
            <a:r>
              <a:rPr dirty="0" sz="2200">
                <a:latin typeface="微软雅黑"/>
                <a:cs typeface="微软雅黑"/>
              </a:rPr>
              <a:t>我们把组成原子核的核子的质量与原子核的质量之差</a:t>
            </a:r>
            <a:r>
              <a:rPr dirty="0" sz="2200" spc="-5">
                <a:latin typeface="Times New Roman"/>
                <a:cs typeface="Times New Roman"/>
              </a:rPr>
              <a:t>Δ</a:t>
            </a:r>
            <a:r>
              <a:rPr dirty="0" sz="2200" spc="-5" i="1">
                <a:latin typeface="Times New Roman"/>
                <a:cs typeface="Times New Roman"/>
              </a:rPr>
              <a:t>m</a:t>
            </a:r>
            <a:r>
              <a:rPr dirty="0" sz="2200" spc="-5">
                <a:latin typeface="微软雅黑"/>
                <a:cs typeface="微软雅黑"/>
              </a:rPr>
              <a:t>，</a:t>
            </a:r>
            <a:r>
              <a:rPr dirty="0" sz="2200">
                <a:latin typeface="微软雅黑"/>
                <a:cs typeface="微软雅黑"/>
              </a:rPr>
              <a:t>叫做</a:t>
            </a:r>
            <a:r>
              <a:rPr dirty="0" sz="2200" b="1">
                <a:latin typeface="微软雅黑"/>
                <a:cs typeface="微软雅黑"/>
              </a:rPr>
              <a:t>核的质量亏损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1889" y="4818379"/>
            <a:ext cx="337756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微软雅黑"/>
                <a:cs typeface="微软雅黑"/>
              </a:rPr>
              <a:t>结合能与质量亏损的关系</a:t>
            </a:r>
            <a:r>
              <a:rPr dirty="0" sz="2200" spc="-5">
                <a:latin typeface="微软雅黑"/>
                <a:cs typeface="微软雅黑"/>
              </a:rPr>
              <a:t>为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06114" y="6194996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290" y="0"/>
                </a:lnTo>
              </a:path>
            </a:pathLst>
          </a:custGeom>
          <a:ln w="168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38040" y="6194996"/>
            <a:ext cx="490855" cy="0"/>
          </a:xfrm>
          <a:custGeom>
            <a:avLst/>
            <a:gdLst/>
            <a:ahLst/>
            <a:cxnLst/>
            <a:rect l="l" t="t" r="r" b="b"/>
            <a:pathLst>
              <a:path w="490854" h="0">
                <a:moveTo>
                  <a:pt x="0" y="0"/>
                </a:moveTo>
                <a:lnTo>
                  <a:pt x="490613" y="0"/>
                </a:lnTo>
              </a:path>
            </a:pathLst>
          </a:custGeom>
          <a:ln w="168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739" y="5034889"/>
            <a:ext cx="5242560" cy="15944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0"/>
              </a:spcBef>
            </a:pPr>
            <a:r>
              <a:rPr dirty="0" sz="3050">
                <a:latin typeface="Symbol"/>
                <a:cs typeface="Symbol"/>
              </a:rPr>
              <a:t></a:t>
            </a:r>
            <a:r>
              <a:rPr dirty="0" sz="3050" i="1">
                <a:latin typeface="Times New Roman"/>
                <a:cs typeface="Times New Roman"/>
              </a:rPr>
              <a:t>E </a:t>
            </a:r>
            <a:r>
              <a:rPr dirty="0" sz="3050" spc="10">
                <a:latin typeface="Symbol"/>
                <a:cs typeface="Symbol"/>
              </a:rPr>
              <a:t></a:t>
            </a:r>
            <a:r>
              <a:rPr dirty="0" sz="3050" spc="-25">
                <a:latin typeface="Times New Roman"/>
                <a:cs typeface="Times New Roman"/>
              </a:rPr>
              <a:t> </a:t>
            </a:r>
            <a:r>
              <a:rPr dirty="0" sz="3050" spc="25">
                <a:latin typeface="Symbol"/>
                <a:cs typeface="Symbol"/>
              </a:rPr>
              <a:t></a:t>
            </a:r>
            <a:r>
              <a:rPr dirty="0" sz="3050" spc="25" i="1">
                <a:latin typeface="Times New Roman"/>
                <a:cs typeface="Times New Roman"/>
              </a:rPr>
              <a:t>mc</a:t>
            </a:r>
            <a:r>
              <a:rPr dirty="0" baseline="42857" sz="2625" spc="37">
                <a:latin typeface="Times New Roman"/>
                <a:cs typeface="Times New Roman"/>
              </a:rPr>
              <a:t>2</a:t>
            </a:r>
            <a:endParaRPr baseline="42857" sz="2625">
              <a:latin typeface="Times New Roman"/>
              <a:cs typeface="Times New Roman"/>
            </a:endParaRPr>
          </a:p>
          <a:p>
            <a:pPr marL="12700">
              <a:lnSpc>
                <a:spcPts val="2755"/>
              </a:lnSpc>
              <a:spcBef>
                <a:spcPts val="3160"/>
              </a:spcBef>
              <a:tabLst>
                <a:tab pos="2105025" algn="l"/>
                <a:tab pos="3923665" algn="l"/>
              </a:tabLst>
            </a:pPr>
            <a:r>
              <a:rPr dirty="0" sz="2200">
                <a:latin typeface="微软雅黑"/>
                <a:cs typeface="微软雅黑"/>
              </a:rPr>
              <a:t>因此，比结合</a:t>
            </a:r>
            <a:r>
              <a:rPr dirty="0" sz="2200" spc="-5">
                <a:latin typeface="微软雅黑"/>
                <a:cs typeface="微软雅黑"/>
              </a:rPr>
              <a:t>能	</a:t>
            </a:r>
            <a:r>
              <a:rPr dirty="0" baseline="30398" sz="3975" spc="22">
                <a:latin typeface="Symbol"/>
                <a:cs typeface="Symbol"/>
              </a:rPr>
              <a:t></a:t>
            </a:r>
            <a:r>
              <a:rPr dirty="0" baseline="30398" sz="3975" spc="22" i="1">
                <a:latin typeface="Times New Roman"/>
                <a:cs typeface="Times New Roman"/>
              </a:rPr>
              <a:t>E  </a:t>
            </a:r>
            <a:r>
              <a:rPr dirty="0" baseline="-4192" sz="3975" spc="30">
                <a:latin typeface="Symbol"/>
                <a:cs typeface="Symbol"/>
              </a:rPr>
              <a:t></a:t>
            </a:r>
            <a:r>
              <a:rPr dirty="0" baseline="-4192" sz="3975" spc="-337">
                <a:latin typeface="Times New Roman"/>
                <a:cs typeface="Times New Roman"/>
              </a:rPr>
              <a:t> </a:t>
            </a:r>
            <a:r>
              <a:rPr dirty="0" baseline="30398" sz="3975" spc="30">
                <a:latin typeface="Symbol"/>
                <a:cs typeface="Symbol"/>
              </a:rPr>
              <a:t></a:t>
            </a:r>
            <a:r>
              <a:rPr dirty="0" baseline="30398" sz="3975" spc="30" i="1">
                <a:latin typeface="Times New Roman"/>
                <a:cs typeface="Times New Roman"/>
              </a:rPr>
              <a:t>m</a:t>
            </a:r>
            <a:r>
              <a:rPr dirty="0" baseline="30398" sz="3975" spc="-195" i="1">
                <a:latin typeface="Times New Roman"/>
                <a:cs typeface="Times New Roman"/>
              </a:rPr>
              <a:t> </a:t>
            </a:r>
            <a:r>
              <a:rPr dirty="0" baseline="-4192" sz="3975" spc="104" i="1">
                <a:latin typeface="Times New Roman"/>
                <a:cs typeface="Times New Roman"/>
              </a:rPr>
              <a:t>c</a:t>
            </a:r>
            <a:r>
              <a:rPr dirty="0" baseline="35842" sz="2325" spc="104">
                <a:latin typeface="Times New Roman"/>
                <a:cs typeface="Times New Roman"/>
              </a:rPr>
              <a:t>2	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  <a:p>
            <a:pPr algn="ctr" marL="281305">
              <a:lnSpc>
                <a:spcPts val="2755"/>
              </a:lnSpc>
              <a:tabLst>
                <a:tab pos="1123950" algn="l"/>
              </a:tabLst>
            </a:pPr>
            <a:r>
              <a:rPr dirty="0" sz="2650" spc="20" i="1">
                <a:latin typeface="Times New Roman"/>
                <a:cs typeface="Times New Roman"/>
              </a:rPr>
              <a:t>A	A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652" y="858247"/>
            <a:ext cx="11365230" cy="1610360"/>
          </a:xfrm>
          <a:prstGeom prst="rect">
            <a:avLst/>
          </a:prstGeom>
        </p:spPr>
        <p:txBody>
          <a:bodyPr wrap="square" lIns="0" tIns="23876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880"/>
              </a:spcBef>
            </a:pPr>
            <a:r>
              <a:rPr dirty="0" sz="2800">
                <a:latin typeface="微软雅黑"/>
                <a:cs typeface="微软雅黑"/>
              </a:rPr>
              <a:t>四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质量亏</a:t>
            </a:r>
            <a:r>
              <a:rPr dirty="0" sz="2800" spc="-5">
                <a:latin typeface="微软雅黑"/>
                <a:cs typeface="微软雅黑"/>
              </a:rPr>
              <a:t>损</a:t>
            </a:r>
            <a:endParaRPr sz="2800">
              <a:latin typeface="微软雅黑"/>
              <a:cs typeface="微软雅黑"/>
            </a:endParaRPr>
          </a:p>
          <a:p>
            <a:pPr marL="12700" marR="5080" indent="558800">
              <a:lnSpc>
                <a:spcPct val="125000"/>
              </a:lnSpc>
              <a:spcBef>
                <a:spcPts val="740"/>
              </a:spcBef>
            </a:pPr>
            <a:r>
              <a:rPr dirty="0" sz="2200" spc="25">
                <a:latin typeface="微软雅黑"/>
                <a:cs typeface="微软雅黑"/>
              </a:rPr>
              <a:t>例如，氦核是由</a:t>
            </a:r>
            <a:r>
              <a:rPr dirty="0" sz="2200" spc="20">
                <a:latin typeface="Times New Roman"/>
                <a:cs typeface="Times New Roman"/>
              </a:rPr>
              <a:t>2</a:t>
            </a:r>
            <a:r>
              <a:rPr dirty="0" sz="2200" spc="25">
                <a:latin typeface="微软雅黑"/>
                <a:cs typeface="微软雅黑"/>
              </a:rPr>
              <a:t>个</a:t>
            </a:r>
            <a:r>
              <a:rPr dirty="0" sz="2200" spc="30">
                <a:latin typeface="微软雅黑"/>
                <a:cs typeface="微软雅黑"/>
              </a:rPr>
              <a:t>质子和</a:t>
            </a:r>
            <a:r>
              <a:rPr dirty="0" sz="2200" spc="25">
                <a:latin typeface="Times New Roman"/>
                <a:cs typeface="Times New Roman"/>
              </a:rPr>
              <a:t>2</a:t>
            </a:r>
            <a:r>
              <a:rPr dirty="0" sz="2200" spc="30">
                <a:latin typeface="微软雅黑"/>
                <a:cs typeface="微软雅黑"/>
              </a:rPr>
              <a:t>个中子组成的。每个质子的质量</a:t>
            </a:r>
            <a:r>
              <a:rPr dirty="0" sz="2200" spc="25" i="1">
                <a:latin typeface="Times New Roman"/>
                <a:cs typeface="Times New Roman"/>
              </a:rPr>
              <a:t>m</a:t>
            </a:r>
            <a:r>
              <a:rPr dirty="0" baseline="-17857" sz="2100" spc="67">
                <a:latin typeface="Times New Roman"/>
                <a:cs typeface="Times New Roman"/>
              </a:rPr>
              <a:t>p</a:t>
            </a:r>
            <a:r>
              <a:rPr dirty="0" sz="2200" spc="25">
                <a:latin typeface="Times New Roman"/>
                <a:cs typeface="Times New Roman"/>
              </a:rPr>
              <a:t>=1.6726</a:t>
            </a:r>
            <a:r>
              <a:rPr dirty="0" sz="2200" spc="25">
                <a:latin typeface="微软雅黑"/>
                <a:cs typeface="微软雅黑"/>
              </a:rPr>
              <a:t>×</a:t>
            </a:r>
            <a:r>
              <a:rPr dirty="0" sz="2200" spc="25">
                <a:latin typeface="Times New Roman"/>
                <a:cs typeface="Times New Roman"/>
              </a:rPr>
              <a:t>10</a:t>
            </a:r>
            <a:r>
              <a:rPr dirty="0" baseline="21825" sz="2100" spc="52">
                <a:latin typeface="Times New Roman"/>
                <a:cs typeface="Times New Roman"/>
              </a:rPr>
              <a:t>-</a:t>
            </a:r>
            <a:r>
              <a:rPr dirty="0" baseline="21825" sz="2100" spc="67">
                <a:latin typeface="Times New Roman"/>
                <a:cs typeface="Times New Roman"/>
              </a:rPr>
              <a:t>27</a:t>
            </a:r>
            <a:r>
              <a:rPr dirty="0" sz="2200" spc="25">
                <a:latin typeface="Times New Roman"/>
                <a:cs typeface="Times New Roman"/>
              </a:rPr>
              <a:t>kg</a:t>
            </a:r>
            <a:r>
              <a:rPr dirty="0" sz="2200" spc="30">
                <a:latin typeface="微软雅黑"/>
                <a:cs typeface="微软雅黑"/>
              </a:rPr>
              <a:t>，每个</a:t>
            </a:r>
            <a:r>
              <a:rPr dirty="0" sz="2200" spc="-5">
                <a:latin typeface="微软雅黑"/>
                <a:cs typeface="微软雅黑"/>
              </a:rPr>
              <a:t>中 </a:t>
            </a:r>
            <a:r>
              <a:rPr dirty="0" sz="2200">
                <a:latin typeface="微软雅黑"/>
                <a:cs typeface="微软雅黑"/>
              </a:rPr>
              <a:t>子的质量</a:t>
            </a:r>
            <a:r>
              <a:rPr dirty="0" sz="2200" i="1">
                <a:latin typeface="Times New Roman"/>
                <a:cs typeface="Times New Roman"/>
              </a:rPr>
              <a:t>m</a:t>
            </a:r>
            <a:r>
              <a:rPr dirty="0" baseline="-17857" sz="2100">
                <a:latin typeface="Times New Roman"/>
                <a:cs typeface="Times New Roman"/>
              </a:rPr>
              <a:t>n</a:t>
            </a:r>
            <a:r>
              <a:rPr dirty="0" sz="2200">
                <a:latin typeface="Times New Roman"/>
                <a:cs typeface="Times New Roman"/>
              </a:rPr>
              <a:t>=1.6749</a:t>
            </a:r>
            <a:r>
              <a:rPr dirty="0" sz="2200">
                <a:latin typeface="微软雅黑"/>
                <a:cs typeface="微软雅黑"/>
              </a:rPr>
              <a:t>×</a:t>
            </a:r>
            <a:r>
              <a:rPr dirty="0" sz="2200">
                <a:latin typeface="Times New Roman"/>
                <a:cs typeface="Times New Roman"/>
              </a:rPr>
              <a:t>10</a:t>
            </a:r>
            <a:r>
              <a:rPr dirty="0" baseline="21825" sz="2100">
                <a:latin typeface="Times New Roman"/>
                <a:cs typeface="Times New Roman"/>
              </a:rPr>
              <a:t>-27</a:t>
            </a:r>
            <a:r>
              <a:rPr dirty="0" sz="2200">
                <a:latin typeface="Times New Roman"/>
                <a:cs typeface="Times New Roman"/>
              </a:rPr>
              <a:t>kg</a:t>
            </a:r>
            <a:r>
              <a:rPr dirty="0" sz="2200">
                <a:latin typeface="微软雅黑"/>
                <a:cs typeface="微软雅黑"/>
              </a:rPr>
              <a:t>，氦核的质量</a:t>
            </a:r>
            <a:r>
              <a:rPr dirty="0" sz="2200" i="1">
                <a:latin typeface="Times New Roman"/>
                <a:cs typeface="Times New Roman"/>
              </a:rPr>
              <a:t>m</a:t>
            </a:r>
            <a:r>
              <a:rPr dirty="0" baseline="-17857" sz="2100" i="1">
                <a:latin typeface="Times New Roman"/>
                <a:cs typeface="Times New Roman"/>
              </a:rPr>
              <a:t>α</a:t>
            </a:r>
            <a:r>
              <a:rPr dirty="0" sz="2200">
                <a:latin typeface="Times New Roman"/>
                <a:cs typeface="Times New Roman"/>
              </a:rPr>
              <a:t>=6.6467</a:t>
            </a:r>
            <a:r>
              <a:rPr dirty="0" sz="2200">
                <a:latin typeface="微软雅黑"/>
                <a:cs typeface="微软雅黑"/>
              </a:rPr>
              <a:t>×</a:t>
            </a:r>
            <a:r>
              <a:rPr dirty="0" sz="2200">
                <a:latin typeface="Times New Roman"/>
                <a:cs typeface="Times New Roman"/>
              </a:rPr>
              <a:t>10</a:t>
            </a:r>
            <a:r>
              <a:rPr dirty="0" baseline="21825" sz="2100">
                <a:latin typeface="Times New Roman"/>
                <a:cs typeface="Times New Roman"/>
              </a:rPr>
              <a:t>-27</a:t>
            </a:r>
            <a:r>
              <a:rPr dirty="0" sz="2200">
                <a:latin typeface="Times New Roman"/>
                <a:cs typeface="Times New Roman"/>
              </a:rPr>
              <a:t>kg</a:t>
            </a:r>
            <a:r>
              <a:rPr dirty="0" sz="2200">
                <a:latin typeface="微软雅黑"/>
                <a:cs typeface="微软雅黑"/>
              </a:rPr>
              <a:t>，求氦核的比结合能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6822" y="2603817"/>
            <a:ext cx="2893060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微软雅黑"/>
                <a:cs typeface="微软雅黑"/>
              </a:rPr>
              <a:t>（光速</a:t>
            </a:r>
            <a:r>
              <a:rPr dirty="0" sz="2200" spc="-5" i="1">
                <a:latin typeface="Times New Roman"/>
                <a:cs typeface="Times New Roman"/>
              </a:rPr>
              <a:t>c</a:t>
            </a:r>
            <a:r>
              <a:rPr dirty="0" sz="2200" spc="-5">
                <a:latin typeface="Times New Roman"/>
                <a:cs typeface="Times New Roman"/>
              </a:rPr>
              <a:t>=3.00</a:t>
            </a:r>
            <a:r>
              <a:rPr dirty="0" sz="2200" spc="-5">
                <a:latin typeface="微软雅黑"/>
                <a:cs typeface="微软雅黑"/>
              </a:rPr>
              <a:t>×</a:t>
            </a:r>
            <a:r>
              <a:rPr dirty="0" sz="2200" spc="-5">
                <a:latin typeface="Times New Roman"/>
                <a:cs typeface="Times New Roman"/>
              </a:rPr>
              <a:t>10</a:t>
            </a:r>
            <a:r>
              <a:rPr dirty="0" baseline="21825" sz="2100" spc="-7">
                <a:latin typeface="Times New Roman"/>
                <a:cs typeface="Times New Roman"/>
              </a:rPr>
              <a:t>8</a:t>
            </a:r>
            <a:r>
              <a:rPr dirty="0" sz="2200" spc="-5">
                <a:latin typeface="Times New Roman"/>
                <a:cs typeface="Times New Roman"/>
              </a:rPr>
              <a:t>m/s</a:t>
            </a:r>
            <a:r>
              <a:rPr dirty="0" sz="2200" spc="-5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521" y="2802255"/>
            <a:ext cx="114236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微软雅黑"/>
                <a:cs typeface="微软雅黑"/>
              </a:rPr>
              <a:t>质量亏</a:t>
            </a:r>
            <a:r>
              <a:rPr dirty="0" sz="2200" spc="-5">
                <a:latin typeface="微软雅黑"/>
                <a:cs typeface="微软雅黑"/>
              </a:rPr>
              <a:t>损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378" y="3193491"/>
            <a:ext cx="8907145" cy="496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460"/>
              </a:lnSpc>
              <a:spcBef>
                <a:spcPts val="135"/>
              </a:spcBef>
              <a:tabLst>
                <a:tab pos="1362710" algn="l"/>
                <a:tab pos="1999614" algn="l"/>
                <a:tab pos="2900680" algn="l"/>
              </a:tabLst>
            </a:pPr>
            <a:r>
              <a:rPr dirty="0" sz="2650" spc="20">
                <a:latin typeface="Symbol"/>
                <a:cs typeface="Symbol"/>
              </a:rPr>
              <a:t></a:t>
            </a:r>
            <a:r>
              <a:rPr dirty="0" sz="2650" spc="20" i="1">
                <a:latin typeface="Times New Roman"/>
                <a:cs typeface="Times New Roman"/>
              </a:rPr>
              <a:t>m</a:t>
            </a:r>
            <a:r>
              <a:rPr dirty="0" sz="2650" spc="-45" i="1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-80">
                <a:latin typeface="Times New Roman"/>
                <a:cs typeface="Times New Roman"/>
              </a:rPr>
              <a:t> </a:t>
            </a:r>
            <a:r>
              <a:rPr dirty="0" sz="2650" spc="50">
                <a:latin typeface="Times New Roman"/>
                <a:cs typeface="Times New Roman"/>
              </a:rPr>
              <a:t>(</a:t>
            </a:r>
            <a:r>
              <a:rPr dirty="0" sz="2650" spc="50" i="1">
                <a:latin typeface="Times New Roman"/>
                <a:cs typeface="Times New Roman"/>
              </a:rPr>
              <a:t>m	</a:t>
            </a:r>
            <a:r>
              <a:rPr dirty="0" sz="2650" spc="20">
                <a:latin typeface="Symbol"/>
                <a:cs typeface="Symbol"/>
              </a:rPr>
              <a:t></a:t>
            </a:r>
            <a:r>
              <a:rPr dirty="0" sz="2650" spc="-165">
                <a:latin typeface="Times New Roman"/>
                <a:cs typeface="Times New Roman"/>
              </a:rPr>
              <a:t> </a:t>
            </a:r>
            <a:r>
              <a:rPr dirty="0" sz="2650" spc="25" i="1">
                <a:latin typeface="Times New Roman"/>
                <a:cs typeface="Times New Roman"/>
              </a:rPr>
              <a:t>m	</a:t>
            </a:r>
            <a:r>
              <a:rPr dirty="0" sz="2650" spc="10">
                <a:latin typeface="Times New Roman"/>
                <a:cs typeface="Times New Roman"/>
              </a:rPr>
              <a:t>)</a:t>
            </a:r>
            <a:r>
              <a:rPr dirty="0" sz="2650" spc="-215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</a:t>
            </a:r>
            <a:r>
              <a:rPr dirty="0" sz="2650" spc="-210">
                <a:latin typeface="Times New Roman"/>
                <a:cs typeface="Times New Roman"/>
              </a:rPr>
              <a:t> </a:t>
            </a:r>
            <a:r>
              <a:rPr dirty="0" sz="2650" spc="25" i="1">
                <a:latin typeface="Times New Roman"/>
                <a:cs typeface="Times New Roman"/>
              </a:rPr>
              <a:t>m	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-80">
                <a:latin typeface="Times New Roman"/>
                <a:cs typeface="Times New Roman"/>
              </a:rPr>
              <a:t> </a:t>
            </a:r>
            <a:r>
              <a:rPr dirty="0" sz="2650" spc="50">
                <a:latin typeface="Times New Roman"/>
                <a:cs typeface="Times New Roman"/>
              </a:rPr>
              <a:t>(2</a:t>
            </a:r>
            <a:r>
              <a:rPr dirty="0" sz="2650" spc="-415">
                <a:latin typeface="Times New Roman"/>
                <a:cs typeface="Times New Roman"/>
              </a:rPr>
              <a:t> </a:t>
            </a:r>
            <a:r>
              <a:rPr dirty="0" sz="2650" spc="25">
                <a:latin typeface="Symbol"/>
                <a:cs typeface="Symbol"/>
              </a:rPr>
              <a:t></a:t>
            </a:r>
            <a:r>
              <a:rPr dirty="0" sz="2650" spc="25">
                <a:latin typeface="Times New Roman"/>
                <a:cs typeface="Times New Roman"/>
              </a:rPr>
              <a:t>1.6726</a:t>
            </a:r>
            <a:r>
              <a:rPr dirty="0" sz="2650" spc="-245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</a:t>
            </a:r>
            <a:r>
              <a:rPr dirty="0" sz="2650" spc="-165">
                <a:latin typeface="Times New Roman"/>
                <a:cs typeface="Times New Roman"/>
              </a:rPr>
              <a:t> </a:t>
            </a:r>
            <a:r>
              <a:rPr dirty="0" sz="2650" spc="15">
                <a:latin typeface="Times New Roman"/>
                <a:cs typeface="Times New Roman"/>
              </a:rPr>
              <a:t>2</a:t>
            </a:r>
            <a:r>
              <a:rPr dirty="0" sz="2650" spc="-415">
                <a:latin typeface="Times New Roman"/>
                <a:cs typeface="Times New Roman"/>
              </a:rPr>
              <a:t> </a:t>
            </a:r>
            <a:r>
              <a:rPr dirty="0" sz="2650" spc="25">
                <a:latin typeface="Symbol"/>
                <a:cs typeface="Symbol"/>
              </a:rPr>
              <a:t></a:t>
            </a:r>
            <a:r>
              <a:rPr dirty="0" sz="2650" spc="25">
                <a:latin typeface="Times New Roman"/>
                <a:cs typeface="Times New Roman"/>
              </a:rPr>
              <a:t>1.6749</a:t>
            </a:r>
            <a:r>
              <a:rPr dirty="0" sz="2650" spc="-245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</a:t>
            </a:r>
            <a:r>
              <a:rPr dirty="0" sz="2650" spc="-250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Times New Roman"/>
                <a:cs typeface="Times New Roman"/>
              </a:rPr>
              <a:t>6.6467)</a:t>
            </a:r>
            <a:r>
              <a:rPr dirty="0" sz="2650" spc="-385">
                <a:latin typeface="Times New Roman"/>
                <a:cs typeface="Times New Roman"/>
              </a:rPr>
              <a:t> </a:t>
            </a:r>
            <a:r>
              <a:rPr dirty="0" sz="2650" spc="35">
                <a:latin typeface="Symbol"/>
                <a:cs typeface="Symbol"/>
              </a:rPr>
              <a:t></a:t>
            </a:r>
            <a:r>
              <a:rPr dirty="0" sz="2650" spc="35">
                <a:latin typeface="Times New Roman"/>
                <a:cs typeface="Times New Roman"/>
              </a:rPr>
              <a:t>10</a:t>
            </a:r>
            <a:r>
              <a:rPr dirty="0" baseline="43010" sz="2325" spc="52">
                <a:latin typeface="Symbol"/>
                <a:cs typeface="Symbol"/>
              </a:rPr>
              <a:t></a:t>
            </a:r>
            <a:r>
              <a:rPr dirty="0" baseline="43010" sz="2325" spc="52">
                <a:latin typeface="Times New Roman"/>
                <a:cs typeface="Times New Roman"/>
              </a:rPr>
              <a:t>27</a:t>
            </a:r>
            <a:r>
              <a:rPr dirty="0" baseline="43010" sz="2325" spc="-60">
                <a:latin typeface="Times New Roman"/>
                <a:cs typeface="Times New Roman"/>
              </a:rPr>
              <a:t> </a:t>
            </a:r>
            <a:r>
              <a:rPr dirty="0" sz="2650" spc="15">
                <a:latin typeface="Times New Roman"/>
                <a:cs typeface="Times New Roman"/>
              </a:rPr>
              <a:t>kg</a:t>
            </a:r>
            <a:endParaRPr sz="2650">
              <a:latin typeface="Times New Roman"/>
              <a:cs typeface="Times New Roman"/>
            </a:endParaRPr>
          </a:p>
          <a:p>
            <a:pPr marL="1169670">
              <a:lnSpc>
                <a:spcPts val="1200"/>
              </a:lnSpc>
              <a:tabLst>
                <a:tab pos="1852930" algn="l"/>
                <a:tab pos="2625725" algn="l"/>
              </a:tabLst>
            </a:pPr>
            <a:r>
              <a:rPr dirty="0" sz="1550">
                <a:latin typeface="Times New Roman"/>
                <a:cs typeface="Times New Roman"/>
              </a:rPr>
              <a:t>p	n	</a:t>
            </a:r>
            <a:r>
              <a:rPr dirty="0" sz="1600" spc="-30" i="1">
                <a:latin typeface="Symbol"/>
                <a:cs typeface="Symbol"/>
              </a:rPr>
              <a:t>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14740" y="5346026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874" y="0"/>
                </a:lnTo>
              </a:path>
            </a:pathLst>
          </a:custGeom>
          <a:ln w="16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72502" y="3681069"/>
            <a:ext cx="8710295" cy="18319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94335">
              <a:lnSpc>
                <a:spcPct val="100000"/>
              </a:lnSpc>
              <a:spcBef>
                <a:spcPts val="1060"/>
              </a:spcBef>
            </a:pP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40">
                <a:latin typeface="Times New Roman"/>
                <a:cs typeface="Times New Roman"/>
              </a:rPr>
              <a:t>4.83</a:t>
            </a:r>
            <a:r>
              <a:rPr dirty="0" sz="2650" spc="40">
                <a:latin typeface="Symbol"/>
                <a:cs typeface="Symbol"/>
              </a:rPr>
              <a:t></a:t>
            </a:r>
            <a:r>
              <a:rPr dirty="0" sz="2650" spc="40">
                <a:latin typeface="Times New Roman"/>
                <a:cs typeface="Times New Roman"/>
              </a:rPr>
              <a:t>10</a:t>
            </a:r>
            <a:r>
              <a:rPr dirty="0" baseline="43010" sz="2325" spc="60">
                <a:latin typeface="Symbol"/>
                <a:cs typeface="Symbol"/>
              </a:rPr>
              <a:t></a:t>
            </a:r>
            <a:r>
              <a:rPr dirty="0" baseline="43010" sz="2325" spc="60">
                <a:latin typeface="Times New Roman"/>
                <a:cs typeface="Times New Roman"/>
              </a:rPr>
              <a:t>29</a:t>
            </a:r>
            <a:r>
              <a:rPr dirty="0" baseline="43010" sz="2325" spc="-172">
                <a:latin typeface="Times New Roman"/>
                <a:cs typeface="Times New Roman"/>
              </a:rPr>
              <a:t> </a:t>
            </a:r>
            <a:r>
              <a:rPr dirty="0" sz="2650" spc="15">
                <a:latin typeface="Times New Roman"/>
                <a:cs typeface="Times New Roman"/>
              </a:rPr>
              <a:t>kg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  <a:tabLst>
                <a:tab pos="1047750" algn="l"/>
              </a:tabLst>
            </a:pPr>
            <a:r>
              <a:rPr dirty="0" baseline="6313" sz="3300">
                <a:latin typeface="微软雅黑"/>
                <a:cs typeface="微软雅黑"/>
              </a:rPr>
              <a:t>结合</a:t>
            </a:r>
            <a:r>
              <a:rPr dirty="0" baseline="6313" sz="3300" spc="-7">
                <a:latin typeface="微软雅黑"/>
                <a:cs typeface="微软雅黑"/>
              </a:rPr>
              <a:t>能	</a:t>
            </a:r>
            <a:r>
              <a:rPr dirty="0" sz="2650" spc="15">
                <a:latin typeface="Symbol"/>
                <a:cs typeface="Symbol"/>
              </a:rPr>
              <a:t></a:t>
            </a:r>
            <a:r>
              <a:rPr dirty="0" sz="2650" spc="15" i="1">
                <a:latin typeface="Times New Roman"/>
                <a:cs typeface="Times New Roman"/>
              </a:rPr>
              <a:t>E</a:t>
            </a:r>
            <a:r>
              <a:rPr dirty="0" sz="2650" spc="85" i="1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-40">
                <a:latin typeface="Times New Roman"/>
                <a:cs typeface="Times New Roman"/>
              </a:rPr>
              <a:t> </a:t>
            </a:r>
            <a:r>
              <a:rPr dirty="0" sz="2650" spc="45">
                <a:latin typeface="Symbol"/>
                <a:cs typeface="Symbol"/>
              </a:rPr>
              <a:t></a:t>
            </a:r>
            <a:r>
              <a:rPr dirty="0" sz="2650" spc="45" i="1">
                <a:latin typeface="Times New Roman"/>
                <a:cs typeface="Times New Roman"/>
              </a:rPr>
              <a:t>mc</a:t>
            </a:r>
            <a:r>
              <a:rPr dirty="0" baseline="43010" sz="2325" spc="67">
                <a:latin typeface="Times New Roman"/>
                <a:cs typeface="Times New Roman"/>
              </a:rPr>
              <a:t>2</a:t>
            </a:r>
            <a:r>
              <a:rPr dirty="0" baseline="43010" sz="2325" spc="97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-30">
                <a:latin typeface="Times New Roman"/>
                <a:cs typeface="Times New Roman"/>
              </a:rPr>
              <a:t> </a:t>
            </a:r>
            <a:r>
              <a:rPr dirty="0" sz="2650" spc="40">
                <a:latin typeface="Times New Roman"/>
                <a:cs typeface="Times New Roman"/>
              </a:rPr>
              <a:t>4.83</a:t>
            </a:r>
            <a:r>
              <a:rPr dirty="0" sz="2650" spc="40">
                <a:latin typeface="Symbol"/>
                <a:cs typeface="Symbol"/>
              </a:rPr>
              <a:t></a:t>
            </a:r>
            <a:r>
              <a:rPr dirty="0" sz="2650" spc="40">
                <a:latin typeface="Times New Roman"/>
                <a:cs typeface="Times New Roman"/>
              </a:rPr>
              <a:t>10</a:t>
            </a:r>
            <a:r>
              <a:rPr dirty="0" baseline="43010" sz="2325" spc="60">
                <a:latin typeface="Symbol"/>
                <a:cs typeface="Symbol"/>
              </a:rPr>
              <a:t></a:t>
            </a:r>
            <a:r>
              <a:rPr dirty="0" baseline="43010" sz="2325" spc="60">
                <a:latin typeface="Times New Roman"/>
                <a:cs typeface="Times New Roman"/>
              </a:rPr>
              <a:t>29</a:t>
            </a:r>
            <a:r>
              <a:rPr dirty="0" baseline="43010" sz="2325" spc="232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</a:t>
            </a:r>
            <a:r>
              <a:rPr dirty="0" sz="2650" spc="-325">
                <a:latin typeface="Times New Roman"/>
                <a:cs typeface="Times New Roman"/>
              </a:rPr>
              <a:t> </a:t>
            </a:r>
            <a:r>
              <a:rPr dirty="0" sz="2650" spc="10">
                <a:latin typeface="Times New Roman"/>
                <a:cs typeface="Times New Roman"/>
              </a:rPr>
              <a:t>(3.00</a:t>
            </a:r>
            <a:r>
              <a:rPr dirty="0" sz="2650" spc="-420">
                <a:latin typeface="Times New Roman"/>
                <a:cs typeface="Times New Roman"/>
              </a:rPr>
              <a:t> </a:t>
            </a:r>
            <a:r>
              <a:rPr dirty="0" sz="2650" spc="30">
                <a:latin typeface="Symbol"/>
                <a:cs typeface="Symbol"/>
              </a:rPr>
              <a:t></a:t>
            </a:r>
            <a:r>
              <a:rPr dirty="0" sz="2650" spc="30">
                <a:latin typeface="Times New Roman"/>
                <a:cs typeface="Times New Roman"/>
              </a:rPr>
              <a:t>10</a:t>
            </a:r>
            <a:r>
              <a:rPr dirty="0" baseline="43010" sz="2325" spc="44">
                <a:latin typeface="Times New Roman"/>
                <a:cs typeface="Times New Roman"/>
              </a:rPr>
              <a:t>8</a:t>
            </a:r>
            <a:r>
              <a:rPr dirty="0" baseline="43010" sz="2325" spc="-157">
                <a:latin typeface="Times New Roman"/>
                <a:cs typeface="Times New Roman"/>
              </a:rPr>
              <a:t> </a:t>
            </a:r>
            <a:r>
              <a:rPr dirty="0" sz="2650" spc="45">
                <a:latin typeface="Times New Roman"/>
                <a:cs typeface="Times New Roman"/>
              </a:rPr>
              <a:t>)</a:t>
            </a:r>
            <a:r>
              <a:rPr dirty="0" baseline="43010" sz="2325" spc="67">
                <a:latin typeface="Times New Roman"/>
                <a:cs typeface="Times New Roman"/>
              </a:rPr>
              <a:t>2</a:t>
            </a:r>
            <a:r>
              <a:rPr dirty="0" baseline="43010" sz="2325" spc="-67">
                <a:latin typeface="Times New Roman"/>
                <a:cs typeface="Times New Roman"/>
              </a:rPr>
              <a:t> </a:t>
            </a:r>
            <a:r>
              <a:rPr dirty="0" sz="2650" spc="10">
                <a:latin typeface="Times New Roman"/>
                <a:cs typeface="Times New Roman"/>
              </a:rPr>
              <a:t>J</a:t>
            </a:r>
            <a:r>
              <a:rPr dirty="0" sz="2650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-30">
                <a:latin typeface="Times New Roman"/>
                <a:cs typeface="Times New Roman"/>
              </a:rPr>
              <a:t> </a:t>
            </a:r>
            <a:r>
              <a:rPr dirty="0" sz="2650" spc="15">
                <a:latin typeface="Times New Roman"/>
                <a:cs typeface="Times New Roman"/>
              </a:rPr>
              <a:t>4.347</a:t>
            </a:r>
            <a:r>
              <a:rPr dirty="0" sz="2650" spc="-380">
                <a:latin typeface="Times New Roman"/>
                <a:cs typeface="Times New Roman"/>
              </a:rPr>
              <a:t> </a:t>
            </a:r>
            <a:r>
              <a:rPr dirty="0" sz="2650" spc="30">
                <a:latin typeface="Symbol"/>
                <a:cs typeface="Symbol"/>
              </a:rPr>
              <a:t></a:t>
            </a:r>
            <a:r>
              <a:rPr dirty="0" sz="2650" spc="30">
                <a:latin typeface="Times New Roman"/>
                <a:cs typeface="Times New Roman"/>
              </a:rPr>
              <a:t>10</a:t>
            </a:r>
            <a:r>
              <a:rPr dirty="0" baseline="43010" sz="2325" spc="44">
                <a:latin typeface="Symbol"/>
                <a:cs typeface="Symbol"/>
              </a:rPr>
              <a:t></a:t>
            </a:r>
            <a:r>
              <a:rPr dirty="0" baseline="43010" sz="2325" spc="44">
                <a:latin typeface="Times New Roman"/>
                <a:cs typeface="Times New Roman"/>
              </a:rPr>
              <a:t>12</a:t>
            </a:r>
            <a:r>
              <a:rPr dirty="0" baseline="43010" sz="2325" spc="-60">
                <a:latin typeface="Times New Roman"/>
                <a:cs typeface="Times New Roman"/>
              </a:rPr>
              <a:t> </a:t>
            </a:r>
            <a:r>
              <a:rPr dirty="0" sz="2650" spc="10">
                <a:latin typeface="Times New Roman"/>
                <a:cs typeface="Times New Roman"/>
              </a:rPr>
              <a:t>J</a:t>
            </a:r>
            <a:endParaRPr sz="265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2745"/>
              </a:spcBef>
            </a:pPr>
            <a:r>
              <a:rPr dirty="0" baseline="8838" sz="3300">
                <a:latin typeface="微软雅黑"/>
                <a:cs typeface="微软雅黑"/>
              </a:rPr>
              <a:t>比结合</a:t>
            </a:r>
            <a:r>
              <a:rPr dirty="0" baseline="8838" sz="3300" spc="-7">
                <a:latin typeface="微软雅黑"/>
                <a:cs typeface="微软雅黑"/>
              </a:rPr>
              <a:t>能</a:t>
            </a:r>
            <a:r>
              <a:rPr dirty="0" baseline="8838" sz="3300" spc="472">
                <a:latin typeface="微软雅黑"/>
                <a:cs typeface="微软雅黑"/>
              </a:rPr>
              <a:t> </a:t>
            </a:r>
            <a:r>
              <a:rPr dirty="0" baseline="35639" sz="3975" spc="30">
                <a:latin typeface="Symbol"/>
                <a:cs typeface="Symbol"/>
              </a:rPr>
              <a:t></a:t>
            </a:r>
            <a:r>
              <a:rPr dirty="0" baseline="35639" sz="3975" spc="30" i="1">
                <a:latin typeface="Times New Roman"/>
                <a:cs typeface="Times New Roman"/>
              </a:rPr>
              <a:t>E</a:t>
            </a:r>
            <a:r>
              <a:rPr dirty="0" baseline="35639" sz="3975" spc="450" i="1">
                <a:latin typeface="Times New Roman"/>
                <a:cs typeface="Times New Roman"/>
              </a:rPr>
              <a:t>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-330">
                <a:latin typeface="Times New Roman"/>
                <a:cs typeface="Times New Roman"/>
              </a:rPr>
              <a:t> </a:t>
            </a:r>
            <a:r>
              <a:rPr dirty="0" sz="2650" spc="15">
                <a:latin typeface="Times New Roman"/>
                <a:cs typeface="Times New Roman"/>
              </a:rPr>
              <a:t>1.09</a:t>
            </a:r>
            <a:r>
              <a:rPr dirty="0" sz="2650" spc="-415">
                <a:latin typeface="Times New Roman"/>
                <a:cs typeface="Times New Roman"/>
              </a:rPr>
              <a:t> </a:t>
            </a:r>
            <a:r>
              <a:rPr dirty="0" sz="2650" spc="30">
                <a:latin typeface="Symbol"/>
                <a:cs typeface="Symbol"/>
              </a:rPr>
              <a:t></a:t>
            </a:r>
            <a:r>
              <a:rPr dirty="0" sz="2650" spc="30">
                <a:latin typeface="Times New Roman"/>
                <a:cs typeface="Times New Roman"/>
              </a:rPr>
              <a:t>10</a:t>
            </a:r>
            <a:r>
              <a:rPr dirty="0" baseline="43010" sz="2325" spc="44">
                <a:latin typeface="Symbol"/>
                <a:cs typeface="Symbol"/>
              </a:rPr>
              <a:t></a:t>
            </a:r>
            <a:r>
              <a:rPr dirty="0" baseline="43010" sz="2325" spc="44">
                <a:latin typeface="Times New Roman"/>
                <a:cs typeface="Times New Roman"/>
              </a:rPr>
              <a:t>12</a:t>
            </a:r>
            <a:r>
              <a:rPr dirty="0" baseline="43010" sz="2325" spc="-82">
                <a:latin typeface="Times New Roman"/>
                <a:cs typeface="Times New Roman"/>
              </a:rPr>
              <a:t> </a:t>
            </a:r>
            <a:r>
              <a:rPr dirty="0" sz="2650" spc="15">
                <a:latin typeface="Times New Roman"/>
                <a:cs typeface="Times New Roman"/>
              </a:rPr>
              <a:t>J=6.79MeV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490" y="5278659"/>
            <a:ext cx="10998200" cy="92456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621155">
              <a:lnSpc>
                <a:spcPct val="100000"/>
              </a:lnSpc>
              <a:spcBef>
                <a:spcPts val="650"/>
              </a:spcBef>
            </a:pPr>
            <a:r>
              <a:rPr dirty="0" sz="2650" spc="20" i="1">
                <a:latin typeface="Times New Roman"/>
                <a:cs typeface="Times New Roman"/>
              </a:rPr>
              <a:t>A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体会：核反应中的质量亏损并非质量消失，而是减少的质量以能量形式释放出去。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1005839"/>
            <a:ext cx="188848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四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质量亏</a:t>
            </a:r>
            <a:r>
              <a:rPr dirty="0" sz="2800" spc="-5">
                <a:latin typeface="微软雅黑"/>
                <a:cs typeface="微软雅黑"/>
              </a:rPr>
              <a:t>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37069" y="1318725"/>
            <a:ext cx="4799330" cy="2715260"/>
          </a:xfrm>
          <a:prstGeom prst="rect">
            <a:avLst/>
          </a:prstGeom>
        </p:spPr>
        <p:txBody>
          <a:bodyPr wrap="square" lIns="0" tIns="198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2400" b="1">
                <a:latin typeface="微软雅黑"/>
                <a:cs typeface="微软雅黑"/>
              </a:rPr>
              <a:t>理解比结合能曲线</a:t>
            </a:r>
            <a:r>
              <a:rPr dirty="0" sz="2400">
                <a:latin typeface="微软雅黑"/>
                <a:cs typeface="微软雅黑"/>
              </a:rPr>
              <a:t>：</a:t>
            </a:r>
            <a:endParaRPr sz="2400">
              <a:latin typeface="微软雅黑"/>
              <a:cs typeface="微软雅黑"/>
            </a:endParaRPr>
          </a:p>
          <a:p>
            <a:pPr marL="648970" indent="-636270">
              <a:lnSpc>
                <a:spcPct val="100000"/>
              </a:lnSpc>
              <a:spcBef>
                <a:spcPts val="1230"/>
              </a:spcBef>
              <a:buSzPct val="95000"/>
              <a:buAutoNum type="arabicPlain"/>
              <a:tabLst>
                <a:tab pos="648970" algn="l"/>
              </a:tabLst>
            </a:pPr>
            <a:r>
              <a:rPr dirty="0" sz="2000">
                <a:latin typeface="微软雅黑"/>
                <a:cs typeface="微软雅黑"/>
              </a:rPr>
              <a:t>比结合能的大小反映核的稳定程度</a:t>
            </a:r>
            <a:r>
              <a:rPr dirty="0" sz="2000" spc="5">
                <a:latin typeface="微软雅黑"/>
                <a:cs typeface="微软雅黑"/>
              </a:rPr>
              <a:t>；</a:t>
            </a:r>
            <a:endParaRPr sz="2000">
              <a:latin typeface="微软雅黑"/>
              <a:cs typeface="微软雅黑"/>
            </a:endParaRPr>
          </a:p>
          <a:p>
            <a:pPr lvl="1" marL="12700" marR="5080" indent="74295">
              <a:lnSpc>
                <a:spcPct val="125000"/>
              </a:lnSpc>
              <a:spcBef>
                <a:spcPts val="600"/>
              </a:spcBef>
              <a:buSzPct val="95000"/>
              <a:buAutoNum type="arabicPlain" startAt="2"/>
              <a:tabLst>
                <a:tab pos="723265" algn="l"/>
              </a:tabLst>
            </a:pPr>
            <a:r>
              <a:rPr dirty="0" sz="2000">
                <a:latin typeface="微软雅黑"/>
                <a:cs typeface="微软雅黑"/>
              </a:rPr>
              <a:t>中等质量数的原子核，比结合能大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表明中等核最稳定</a:t>
            </a:r>
            <a:r>
              <a:rPr dirty="0" sz="2000" spc="5">
                <a:latin typeface="微软雅黑"/>
                <a:cs typeface="微软雅黑"/>
              </a:rPr>
              <a:t>；</a:t>
            </a:r>
            <a:endParaRPr sz="2000">
              <a:latin typeface="微软雅黑"/>
              <a:cs typeface="微软雅黑"/>
            </a:endParaRPr>
          </a:p>
          <a:p>
            <a:pPr lvl="1" marL="12700" marR="269875" indent="63500">
              <a:lnSpc>
                <a:spcPct val="125000"/>
              </a:lnSpc>
              <a:spcBef>
                <a:spcPts val="600"/>
              </a:spcBef>
              <a:buSzPct val="95000"/>
              <a:buAutoNum type="arabicPlain" startAt="2"/>
              <a:tabLst>
                <a:tab pos="712470" algn="l"/>
              </a:tabLst>
            </a:pPr>
            <a:r>
              <a:rPr dirty="0" sz="2000">
                <a:latin typeface="微软雅黑"/>
                <a:cs typeface="微软雅黑"/>
              </a:rPr>
              <a:t>质量数较小的轻核和质量数较大</a:t>
            </a:r>
            <a:r>
              <a:rPr dirty="0" sz="2000">
                <a:latin typeface="微软雅黑"/>
                <a:cs typeface="微软雅黑"/>
              </a:rPr>
              <a:t>的 </a:t>
            </a:r>
            <a:r>
              <a:rPr dirty="0" sz="2000">
                <a:latin typeface="微软雅黑"/>
                <a:cs typeface="微软雅黑"/>
              </a:rPr>
              <a:t>重核，比结合能都比较小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728" y="1662683"/>
            <a:ext cx="6905244" cy="4642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82178" y="6205804"/>
            <a:ext cx="3073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原子核的比结合能曲线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5015" y="4158762"/>
            <a:ext cx="4745355" cy="2181860"/>
          </a:xfrm>
          <a:prstGeom prst="rect">
            <a:avLst/>
          </a:prstGeom>
        </p:spPr>
        <p:txBody>
          <a:bodyPr wrap="square" lIns="0" tIns="198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2400" b="1">
                <a:latin typeface="微软雅黑"/>
                <a:cs typeface="微软雅黑"/>
              </a:rPr>
              <a:t>启示：核能释放的途径</a:t>
            </a:r>
            <a:endParaRPr sz="2400">
              <a:latin typeface="微软雅黑"/>
              <a:cs typeface="微软雅黑"/>
            </a:endParaRPr>
          </a:p>
          <a:p>
            <a:pPr algn="just" marL="12700" marR="5080" indent="254000">
              <a:lnSpc>
                <a:spcPct val="125000"/>
              </a:lnSpc>
              <a:spcBef>
                <a:spcPts val="630"/>
              </a:spcBef>
            </a:pPr>
            <a:r>
              <a:rPr dirty="0" sz="2000" spc="70">
                <a:latin typeface="微软雅黑"/>
                <a:cs typeface="微软雅黑"/>
              </a:rPr>
              <a:t>把轻核</a:t>
            </a:r>
            <a:r>
              <a:rPr dirty="0" sz="2000" spc="70" b="1">
                <a:solidFill>
                  <a:srgbClr val="001F5F"/>
                </a:solidFill>
                <a:latin typeface="微软雅黑"/>
                <a:cs typeface="微软雅黑"/>
              </a:rPr>
              <a:t>聚合</a:t>
            </a:r>
            <a:r>
              <a:rPr dirty="0" sz="2000" spc="70">
                <a:latin typeface="微软雅黑"/>
                <a:cs typeface="微软雅黑"/>
              </a:rPr>
              <a:t>成质量</a:t>
            </a:r>
            <a:r>
              <a:rPr dirty="0" sz="2000" spc="75">
                <a:latin typeface="微软雅黑"/>
                <a:cs typeface="微软雅黑"/>
              </a:rPr>
              <a:t>较大的核，或把重</a:t>
            </a:r>
            <a:r>
              <a:rPr dirty="0" sz="2000">
                <a:latin typeface="微软雅黑"/>
                <a:cs typeface="微软雅黑"/>
              </a:rPr>
              <a:t>核 </a:t>
            </a:r>
            <a:r>
              <a:rPr dirty="0" sz="2000" spc="65" b="1">
                <a:solidFill>
                  <a:srgbClr val="001F5F"/>
                </a:solidFill>
                <a:latin typeface="微软雅黑"/>
                <a:cs typeface="微软雅黑"/>
              </a:rPr>
              <a:t>分裂</a:t>
            </a:r>
            <a:r>
              <a:rPr dirty="0" sz="2000" spc="65">
                <a:latin typeface="微软雅黑"/>
                <a:cs typeface="微软雅黑"/>
              </a:rPr>
              <a:t>成中等质</a:t>
            </a:r>
            <a:r>
              <a:rPr dirty="0" sz="2000" spc="70">
                <a:latin typeface="微软雅黑"/>
                <a:cs typeface="微软雅黑"/>
              </a:rPr>
              <a:t>量的核，核子的比结合能</a:t>
            </a:r>
            <a:r>
              <a:rPr dirty="0" sz="2000">
                <a:latin typeface="微软雅黑"/>
                <a:cs typeface="微软雅黑"/>
              </a:rPr>
              <a:t>都 </a:t>
            </a:r>
            <a:r>
              <a:rPr dirty="0" sz="2000" spc="65">
                <a:latin typeface="微软雅黑"/>
                <a:cs typeface="微软雅黑"/>
              </a:rPr>
              <a:t>会增加，即：</a:t>
            </a:r>
            <a:r>
              <a:rPr dirty="0" sz="2000" spc="70">
                <a:latin typeface="微软雅黑"/>
                <a:cs typeface="微软雅黑"/>
              </a:rPr>
              <a:t>核子将发生新的质量亏损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伴随核能的释放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902" y="1161097"/>
            <a:ext cx="1142936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0">
              <a:lnSpc>
                <a:spcPct val="125000"/>
              </a:lnSpc>
              <a:spcBef>
                <a:spcPts val="100"/>
              </a:spcBef>
            </a:pPr>
            <a:r>
              <a:rPr dirty="0" sz="2400" spc="55">
                <a:latin typeface="微软雅黑"/>
                <a:cs typeface="微软雅黑"/>
              </a:rPr>
              <a:t>例题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微软雅黑"/>
                <a:cs typeface="微软雅黑"/>
              </a:rPr>
              <a:t>质子、中子和氘核的质量分别为</a:t>
            </a:r>
            <a:r>
              <a:rPr dirty="0" sz="2400" spc="60" i="1">
                <a:latin typeface="Times New Roman"/>
                <a:cs typeface="Times New Roman"/>
              </a:rPr>
              <a:t>m</a:t>
            </a:r>
            <a:r>
              <a:rPr dirty="0" baseline="-17921" sz="2325" spc="89">
                <a:latin typeface="Times New Roman"/>
                <a:cs typeface="Times New Roman"/>
              </a:rPr>
              <a:t>1</a:t>
            </a:r>
            <a:r>
              <a:rPr dirty="0" sz="2400" spc="60">
                <a:latin typeface="微软雅黑"/>
                <a:cs typeface="微软雅黑"/>
              </a:rPr>
              <a:t>、</a:t>
            </a:r>
            <a:r>
              <a:rPr dirty="0" sz="2400" spc="60" i="1">
                <a:latin typeface="Times New Roman"/>
                <a:cs typeface="Times New Roman"/>
              </a:rPr>
              <a:t>m</a:t>
            </a:r>
            <a:r>
              <a:rPr dirty="0" baseline="-17921" sz="2325" spc="89">
                <a:latin typeface="Times New Roman"/>
                <a:cs typeface="Times New Roman"/>
              </a:rPr>
              <a:t>2</a:t>
            </a:r>
            <a:r>
              <a:rPr dirty="0" sz="2400" spc="60">
                <a:latin typeface="微软雅黑"/>
                <a:cs typeface="微软雅黑"/>
              </a:rPr>
              <a:t>和</a:t>
            </a:r>
            <a:r>
              <a:rPr dirty="0" sz="2400" spc="60" i="1">
                <a:latin typeface="Times New Roman"/>
                <a:cs typeface="Times New Roman"/>
              </a:rPr>
              <a:t>m</a:t>
            </a:r>
            <a:r>
              <a:rPr dirty="0" baseline="-17921" sz="2325" spc="89">
                <a:latin typeface="Times New Roman"/>
                <a:cs typeface="Times New Roman"/>
              </a:rPr>
              <a:t>3</a:t>
            </a:r>
            <a:r>
              <a:rPr dirty="0" sz="2400" spc="60">
                <a:latin typeface="微软雅黑"/>
                <a:cs typeface="微软雅黑"/>
              </a:rPr>
              <a:t>。当一个质子和一个中子结合</a:t>
            </a:r>
            <a:r>
              <a:rPr dirty="0" sz="2400">
                <a:latin typeface="微软雅黑"/>
                <a:cs typeface="微软雅黑"/>
              </a:rPr>
              <a:t>成 氘核时，释放的能量是</a:t>
            </a:r>
            <a:r>
              <a:rPr dirty="0" sz="2400" spc="-5">
                <a:latin typeface="微软雅黑"/>
                <a:cs typeface="微软雅黑"/>
              </a:rPr>
              <a:t>（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表示真空中的光速）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757" y="2075497"/>
            <a:ext cx="2219960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09" marR="5080" indent="-17145">
              <a:lnSpc>
                <a:spcPct val="1458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微软雅黑"/>
                <a:cs typeface="微软雅黑"/>
              </a:rPr>
              <a:t>．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>
                <a:latin typeface="Times New Roman"/>
                <a:cs typeface="Times New Roman"/>
              </a:rPr>
              <a:t>1</a:t>
            </a:r>
            <a:r>
              <a:rPr dirty="0" sz="2400">
                <a:latin typeface="Times New Roman"/>
                <a:cs typeface="Times New Roman"/>
              </a:rPr>
              <a:t>+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>
                <a:latin typeface="Times New Roman"/>
                <a:cs typeface="Times New Roman"/>
              </a:rPr>
              <a:t>2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>
                <a:latin typeface="Times New Roman"/>
                <a:cs typeface="Times New Roman"/>
              </a:rPr>
              <a:t>3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i="1">
                <a:latin typeface="Times New Roman"/>
                <a:cs typeface="Times New Roman"/>
              </a:rPr>
              <a:t>c  </a:t>
            </a:r>
            <a:r>
              <a:rPr dirty="0" sz="2400" spc="-5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．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 spc="7">
                <a:latin typeface="Times New Roman"/>
                <a:cs typeface="Times New Roman"/>
              </a:rPr>
              <a:t>1</a:t>
            </a:r>
            <a:r>
              <a:rPr dirty="0" sz="2400">
                <a:latin typeface="Times New Roman"/>
                <a:cs typeface="Times New Roman"/>
              </a:rPr>
              <a:t>+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 spc="7">
                <a:latin typeface="Times New Roman"/>
                <a:cs typeface="Times New Roman"/>
              </a:rPr>
              <a:t>2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 spc="7">
                <a:latin typeface="Times New Roman"/>
                <a:cs typeface="Times New Roman"/>
              </a:rPr>
              <a:t>3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baseline="21505" sz="2325" spc="7">
                <a:latin typeface="Times New Roman"/>
                <a:cs typeface="Times New Roman"/>
              </a:rPr>
              <a:t>2</a:t>
            </a:r>
            <a:endParaRPr baseline="21505" sz="232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7747" y="2075497"/>
            <a:ext cx="214947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1910">
              <a:lnSpc>
                <a:spcPct val="1458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B</a:t>
            </a:r>
            <a:r>
              <a:rPr dirty="0" sz="2400">
                <a:latin typeface="微软雅黑"/>
                <a:cs typeface="微软雅黑"/>
              </a:rPr>
              <a:t>．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>
                <a:latin typeface="Times New Roman"/>
                <a:cs typeface="Times New Roman"/>
              </a:rPr>
              <a:t>1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>
                <a:latin typeface="Times New Roman"/>
                <a:cs typeface="Times New Roman"/>
              </a:rPr>
              <a:t>2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>
                <a:latin typeface="Times New Roman"/>
                <a:cs typeface="Times New Roman"/>
              </a:rPr>
              <a:t>3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i="1">
                <a:latin typeface="Times New Roman"/>
                <a:cs typeface="Times New Roman"/>
              </a:rPr>
              <a:t>c  </a:t>
            </a:r>
            <a:r>
              <a:rPr dirty="0" sz="2400">
                <a:latin typeface="Times New Roman"/>
                <a:cs typeface="Times New Roman"/>
              </a:rPr>
              <a:t>D</a:t>
            </a:r>
            <a:r>
              <a:rPr dirty="0" sz="2400">
                <a:latin typeface="微软雅黑"/>
                <a:cs typeface="微软雅黑"/>
              </a:rPr>
              <a:t>．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baseline="-17921" sz="2325" spc="7">
                <a:latin typeface="Times New Roman"/>
                <a:cs typeface="Times New Roman"/>
              </a:rPr>
              <a:t>1</a:t>
            </a:r>
            <a:r>
              <a:rPr dirty="0" sz="2400" spc="5">
                <a:latin typeface="Times New Roman"/>
                <a:cs typeface="Times New Roman"/>
              </a:rPr>
              <a:t>-</a:t>
            </a:r>
            <a:r>
              <a:rPr dirty="0" sz="2400" spc="5" i="1">
                <a:latin typeface="Times New Roman"/>
                <a:cs typeface="Times New Roman"/>
              </a:rPr>
              <a:t>m</a:t>
            </a:r>
            <a:r>
              <a:rPr dirty="0" baseline="-17921" sz="2325" spc="7">
                <a:latin typeface="Times New Roman"/>
                <a:cs typeface="Times New Roman"/>
              </a:rPr>
              <a:t>2</a:t>
            </a:r>
            <a:r>
              <a:rPr dirty="0" sz="2400" spc="5">
                <a:latin typeface="Times New Roman"/>
                <a:cs typeface="Times New Roman"/>
              </a:rPr>
              <a:t>-</a:t>
            </a:r>
            <a:r>
              <a:rPr dirty="0" sz="2400" spc="5" i="1">
                <a:latin typeface="Times New Roman"/>
                <a:cs typeface="Times New Roman"/>
              </a:rPr>
              <a:t>m</a:t>
            </a:r>
            <a:r>
              <a:rPr dirty="0" baseline="-17921" sz="2325" spc="7">
                <a:latin typeface="Times New Roman"/>
                <a:cs typeface="Times New Roman"/>
              </a:rPr>
              <a:t>3</a:t>
            </a:r>
            <a:r>
              <a:rPr dirty="0" sz="2400" spc="5">
                <a:latin typeface="Times New Roman"/>
                <a:cs typeface="Times New Roman"/>
              </a:rPr>
              <a:t>)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baseline="21505" sz="2325" spc="7">
                <a:latin typeface="Times New Roman"/>
                <a:cs typeface="Times New Roman"/>
              </a:rPr>
              <a:t>2</a:t>
            </a:r>
            <a:endParaRPr baseline="21505" sz="232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700903"/>
            <a:ext cx="1143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答案：</a:t>
            </a:r>
            <a:r>
              <a:rPr dirty="0" sz="240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6864" y="4177995"/>
            <a:ext cx="2845435" cy="1350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170"/>
              </a:lnSpc>
              <a:spcBef>
                <a:spcPts val="100"/>
              </a:spcBef>
            </a:pPr>
            <a:r>
              <a:rPr dirty="0" baseline="43543" sz="2775" spc="-7">
                <a:latin typeface="Times New Roman"/>
                <a:cs typeface="Times New Roman"/>
              </a:rPr>
              <a:t>1 </a:t>
            </a:r>
            <a:r>
              <a:rPr dirty="0" sz="3150" spc="25">
                <a:latin typeface="Times New Roman"/>
                <a:cs typeface="Times New Roman"/>
              </a:rPr>
              <a:t>H </a:t>
            </a:r>
            <a:r>
              <a:rPr dirty="0" sz="3150" spc="20">
                <a:latin typeface="Symbol"/>
                <a:cs typeface="Symbol"/>
              </a:rPr>
              <a:t></a:t>
            </a:r>
            <a:r>
              <a:rPr dirty="0" sz="3150" spc="20">
                <a:latin typeface="Times New Roman"/>
                <a:cs typeface="Times New Roman"/>
              </a:rPr>
              <a:t> </a:t>
            </a:r>
            <a:r>
              <a:rPr dirty="0" baseline="43543" sz="2775" spc="-7">
                <a:latin typeface="Times New Roman"/>
                <a:cs typeface="Times New Roman"/>
              </a:rPr>
              <a:t>1 </a:t>
            </a:r>
            <a:r>
              <a:rPr dirty="0" sz="3150" spc="15">
                <a:latin typeface="Times New Roman"/>
                <a:cs typeface="Times New Roman"/>
              </a:rPr>
              <a:t>n </a:t>
            </a:r>
            <a:r>
              <a:rPr dirty="0" sz="3150" spc="35">
                <a:latin typeface="Symbol"/>
                <a:cs typeface="Symbol"/>
              </a:rPr>
              <a:t></a:t>
            </a:r>
            <a:r>
              <a:rPr dirty="0" sz="3150" spc="-450">
                <a:latin typeface="Times New Roman"/>
                <a:cs typeface="Times New Roman"/>
              </a:rPr>
              <a:t> </a:t>
            </a:r>
            <a:r>
              <a:rPr dirty="0" baseline="43543" sz="2775" spc="-7">
                <a:latin typeface="Times New Roman"/>
                <a:cs typeface="Times New Roman"/>
              </a:rPr>
              <a:t>2 </a:t>
            </a:r>
            <a:r>
              <a:rPr dirty="0" sz="3150" spc="-95">
                <a:latin typeface="Times New Roman"/>
                <a:cs typeface="Times New Roman"/>
              </a:rPr>
              <a:t>H+</a:t>
            </a:r>
            <a:r>
              <a:rPr dirty="0" sz="3350" spc="-95" i="1">
                <a:latin typeface="Symbol"/>
                <a:cs typeface="Symbol"/>
              </a:rPr>
              <a:t></a:t>
            </a:r>
            <a:endParaRPr sz="3350">
              <a:latin typeface="Symbol"/>
              <a:cs typeface="Symbol"/>
            </a:endParaRPr>
          </a:p>
          <a:p>
            <a:pPr marL="12700">
              <a:lnSpc>
                <a:spcPts val="1370"/>
              </a:lnSpc>
              <a:tabLst>
                <a:tab pos="858519" algn="l"/>
                <a:tab pos="1870710" algn="l"/>
              </a:tabLst>
            </a:pPr>
            <a:r>
              <a:rPr dirty="0" sz="1850" spc="-5">
                <a:latin typeface="Times New Roman"/>
                <a:cs typeface="Times New Roman"/>
              </a:rPr>
              <a:t>1	0	1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R="789940">
              <a:lnSpc>
                <a:spcPct val="100000"/>
              </a:lnSpc>
              <a:spcBef>
                <a:spcPts val="5"/>
              </a:spcBef>
            </a:pPr>
            <a:r>
              <a:rPr dirty="0" sz="3050">
                <a:latin typeface="Symbol"/>
                <a:cs typeface="Symbol"/>
              </a:rPr>
              <a:t></a:t>
            </a:r>
            <a:r>
              <a:rPr dirty="0" sz="3050" i="1">
                <a:latin typeface="Times New Roman"/>
                <a:cs typeface="Times New Roman"/>
              </a:rPr>
              <a:t>E </a:t>
            </a:r>
            <a:r>
              <a:rPr dirty="0" sz="3050" spc="10">
                <a:latin typeface="Symbol"/>
                <a:cs typeface="Symbol"/>
              </a:rPr>
              <a:t></a:t>
            </a:r>
            <a:r>
              <a:rPr dirty="0" sz="3050" spc="10">
                <a:latin typeface="Times New Roman"/>
                <a:cs typeface="Times New Roman"/>
              </a:rPr>
              <a:t> </a:t>
            </a:r>
            <a:r>
              <a:rPr dirty="0" sz="3050" spc="25">
                <a:latin typeface="Symbol"/>
                <a:cs typeface="Symbol"/>
              </a:rPr>
              <a:t></a:t>
            </a:r>
            <a:r>
              <a:rPr dirty="0" sz="3050" spc="25" i="1">
                <a:latin typeface="Times New Roman"/>
                <a:cs typeface="Times New Roman"/>
              </a:rPr>
              <a:t>mc</a:t>
            </a:r>
            <a:r>
              <a:rPr dirty="0" baseline="42857" sz="2625" spc="37">
                <a:latin typeface="Times New Roman"/>
                <a:cs typeface="Times New Roman"/>
              </a:rPr>
              <a:t>2</a:t>
            </a:r>
            <a:endParaRPr baseline="42857" sz="26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815" y="1084897"/>
            <a:ext cx="11056620" cy="314960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400">
                <a:latin typeface="微软雅黑"/>
                <a:cs typeface="微软雅黑"/>
              </a:rPr>
              <a:t>例题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>
                <a:latin typeface="微软雅黑"/>
                <a:cs typeface="微软雅黑"/>
              </a:rPr>
              <a:t>关于原子核的结合能，下列说法正确的是</a:t>
            </a:r>
            <a:endParaRPr sz="2400">
              <a:latin typeface="微软雅黑"/>
              <a:cs typeface="微软雅黑"/>
            </a:endParaRPr>
          </a:p>
          <a:p>
            <a:pPr marL="826135" indent="-525780">
              <a:lnSpc>
                <a:spcPct val="100000"/>
              </a:lnSpc>
              <a:spcBef>
                <a:spcPts val="132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原子核的结合能等于使其完全分解成自由核子所需的最小能量</a:t>
            </a:r>
            <a:endParaRPr sz="2400">
              <a:latin typeface="微软雅黑"/>
              <a:cs typeface="微软雅黑"/>
            </a:endParaRPr>
          </a:p>
          <a:p>
            <a:pPr marL="12700" marR="5080" indent="304800">
              <a:lnSpc>
                <a:spcPct val="125000"/>
              </a:lnSpc>
              <a:spcBef>
                <a:spcPts val="60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重原子核衰变成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粒子和另一原子核，衰变产物的结合能之和大于原来重核的 结合能</a:t>
            </a:r>
            <a:endParaRPr sz="2400">
              <a:latin typeface="微软雅黑"/>
              <a:cs typeface="微软雅黑"/>
            </a:endParaRPr>
          </a:p>
          <a:p>
            <a:pPr marL="826135" indent="-508634">
              <a:lnSpc>
                <a:spcPct val="100000"/>
              </a:lnSpc>
              <a:spcBef>
                <a:spcPts val="132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比结合能越大，原子核越不稳定</a:t>
            </a:r>
            <a:endParaRPr sz="2400">
              <a:latin typeface="微软雅黑"/>
              <a:cs typeface="微软雅黑"/>
            </a:endParaRPr>
          </a:p>
          <a:p>
            <a:pPr marL="843280" indent="-525780">
              <a:lnSpc>
                <a:spcPct val="100000"/>
              </a:lnSpc>
              <a:spcBef>
                <a:spcPts val="1320"/>
              </a:spcBef>
              <a:buSzPct val="95833"/>
              <a:buFont typeface="Times New Roman"/>
              <a:buAutoNum type="alphaUcPeriod"/>
              <a:tabLst>
                <a:tab pos="843280" algn="l"/>
              </a:tabLst>
            </a:pPr>
            <a:r>
              <a:rPr dirty="0" sz="2400">
                <a:latin typeface="微软雅黑"/>
                <a:cs typeface="微软雅黑"/>
              </a:rPr>
              <a:t>自由核子组成原子核时，其质量亏损所对应的能量大于该原子核的结合能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700509"/>
            <a:ext cx="1363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答案：</a:t>
            </a:r>
            <a:r>
              <a:rPr dirty="0" sz="2400">
                <a:latin typeface="Times New Roman"/>
                <a:cs typeface="Times New Roman"/>
              </a:rPr>
              <a:t>AB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8627" y="4619536"/>
            <a:ext cx="402717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3478" sz="3450" i="1">
                <a:latin typeface="Times New Roman"/>
                <a:cs typeface="Times New Roman"/>
              </a:rPr>
              <a:t>A</a:t>
            </a:r>
            <a:r>
              <a:rPr dirty="0" baseline="43478" sz="3450" spc="-172" i="1">
                <a:latin typeface="Times New Roman"/>
                <a:cs typeface="Times New Roman"/>
              </a:rPr>
              <a:t> </a:t>
            </a:r>
            <a:r>
              <a:rPr dirty="0" sz="4000" spc="114">
                <a:latin typeface="Times New Roman"/>
                <a:cs typeface="Times New Roman"/>
              </a:rPr>
              <a:t>X</a:t>
            </a:r>
            <a:r>
              <a:rPr dirty="0" sz="4000" spc="114">
                <a:latin typeface="Symbol"/>
                <a:cs typeface="Symbol"/>
              </a:rPr>
              <a:t></a:t>
            </a:r>
            <a:r>
              <a:rPr dirty="0" baseline="43478" sz="3450" spc="172" i="1">
                <a:latin typeface="Times New Roman"/>
                <a:cs typeface="Times New Roman"/>
              </a:rPr>
              <a:t>A</a:t>
            </a:r>
            <a:r>
              <a:rPr dirty="0" baseline="43478" sz="3450" spc="172">
                <a:latin typeface="Symbol"/>
                <a:cs typeface="Symbol"/>
              </a:rPr>
              <a:t></a:t>
            </a:r>
            <a:r>
              <a:rPr dirty="0" baseline="43478" sz="3450" spc="172">
                <a:latin typeface="Times New Roman"/>
                <a:cs typeface="Times New Roman"/>
              </a:rPr>
              <a:t>4</a:t>
            </a:r>
            <a:r>
              <a:rPr dirty="0" baseline="43478" sz="3450" spc="-209">
                <a:latin typeface="Times New Roman"/>
                <a:cs typeface="Times New Roman"/>
              </a:rPr>
              <a:t> </a:t>
            </a:r>
            <a:r>
              <a:rPr dirty="0" sz="4000" spc="135">
                <a:latin typeface="Times New Roman"/>
                <a:cs typeface="Times New Roman"/>
              </a:rPr>
              <a:t>Y</a:t>
            </a:r>
            <a:r>
              <a:rPr dirty="0" sz="4000" spc="135">
                <a:latin typeface="Symbol"/>
                <a:cs typeface="Symbol"/>
              </a:rPr>
              <a:t></a:t>
            </a:r>
            <a:r>
              <a:rPr dirty="0" baseline="43478" sz="3450" spc="202">
                <a:latin typeface="Times New Roman"/>
                <a:cs typeface="Times New Roman"/>
              </a:rPr>
              <a:t>4</a:t>
            </a:r>
            <a:r>
              <a:rPr dirty="0" baseline="43478" sz="3450" spc="-382">
                <a:latin typeface="Times New Roman"/>
                <a:cs typeface="Times New Roman"/>
              </a:rPr>
              <a:t> </a:t>
            </a:r>
            <a:r>
              <a:rPr dirty="0" sz="4000" spc="-30">
                <a:latin typeface="Times New Roman"/>
                <a:cs typeface="Times New Roman"/>
              </a:rPr>
              <a:t>He</a:t>
            </a:r>
            <a:r>
              <a:rPr dirty="0" sz="4000" spc="-345">
                <a:latin typeface="Times New Roman"/>
                <a:cs typeface="Times New Roman"/>
              </a:rPr>
              <a:t> </a:t>
            </a:r>
            <a:r>
              <a:rPr dirty="0" sz="4000" spc="70">
                <a:latin typeface="Symbol"/>
                <a:cs typeface="Symbol"/>
              </a:rPr>
              <a:t></a:t>
            </a:r>
            <a:r>
              <a:rPr dirty="0" sz="4200" spc="70" i="1">
                <a:latin typeface="Symbol"/>
                <a:cs typeface="Symbol"/>
              </a:rPr>
              <a:t>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4601" y="4983543"/>
            <a:ext cx="139700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00" i="1">
                <a:latin typeface="Times New Roman"/>
                <a:cs typeface="Times New Roman"/>
              </a:rPr>
              <a:t>z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60115" y="6078867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 h="0">
                <a:moveTo>
                  <a:pt x="0" y="0"/>
                </a:moveTo>
                <a:lnTo>
                  <a:pt x="561390" y="0"/>
                </a:lnTo>
              </a:path>
            </a:pathLst>
          </a:custGeom>
          <a:ln w="202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55300" y="6078867"/>
            <a:ext cx="587375" cy="0"/>
          </a:xfrm>
          <a:custGeom>
            <a:avLst/>
            <a:gdLst/>
            <a:ahLst/>
            <a:cxnLst/>
            <a:rect l="l" t="t" r="r" b="b"/>
            <a:pathLst>
              <a:path w="587375" h="0">
                <a:moveTo>
                  <a:pt x="0" y="0"/>
                </a:moveTo>
                <a:lnTo>
                  <a:pt x="586917" y="0"/>
                </a:lnTo>
              </a:path>
            </a:pathLst>
          </a:custGeom>
          <a:ln w="202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29228" y="6079134"/>
            <a:ext cx="1287145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23619" algn="l"/>
              </a:tabLst>
            </a:pPr>
            <a:r>
              <a:rPr dirty="0" sz="3200" spc="15" i="1">
                <a:latin typeface="Times New Roman"/>
                <a:cs typeface="Times New Roman"/>
              </a:rPr>
              <a:t>A</a:t>
            </a:r>
            <a:r>
              <a:rPr dirty="0" sz="3200" spc="15" i="1">
                <a:latin typeface="Times New Roman"/>
                <a:cs typeface="Times New Roman"/>
              </a:rPr>
              <a:t>	</a:t>
            </a:r>
            <a:r>
              <a:rPr dirty="0" sz="3200" spc="15" i="1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2929" y="4865397"/>
            <a:ext cx="2411095" cy="115379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092835">
              <a:lnSpc>
                <a:spcPct val="100000"/>
              </a:lnSpc>
              <a:spcBef>
                <a:spcPts val="1060"/>
              </a:spcBef>
              <a:tabLst>
                <a:tab pos="2251710" algn="l"/>
              </a:tabLst>
            </a:pPr>
            <a:r>
              <a:rPr dirty="0" sz="2300" i="1">
                <a:latin typeface="Times New Roman"/>
                <a:cs typeface="Times New Roman"/>
              </a:rPr>
              <a:t>z</a:t>
            </a:r>
            <a:r>
              <a:rPr dirty="0" sz="2300" spc="-360" i="1">
                <a:latin typeface="Times New Roman"/>
                <a:cs typeface="Times New Roman"/>
              </a:rPr>
              <a:t> </a:t>
            </a:r>
            <a:r>
              <a:rPr dirty="0" sz="2300" spc="140">
                <a:latin typeface="Symbol"/>
                <a:cs typeface="Symbol"/>
              </a:rPr>
              <a:t></a:t>
            </a:r>
            <a:r>
              <a:rPr dirty="0" sz="2300">
                <a:latin typeface="Times New Roman"/>
                <a:cs typeface="Times New Roman"/>
              </a:rPr>
              <a:t>2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3200" spc="5">
                <a:latin typeface="Symbol"/>
                <a:cs typeface="Symbol"/>
              </a:rPr>
              <a:t></a:t>
            </a:r>
            <a:r>
              <a:rPr dirty="0" sz="3200" spc="5" i="1">
                <a:latin typeface="Times New Roman"/>
                <a:cs typeface="Times New Roman"/>
              </a:rPr>
              <a:t>E </a:t>
            </a:r>
            <a:r>
              <a:rPr dirty="0" baseline="-35590" sz="4800" spc="15">
                <a:latin typeface="Symbol"/>
                <a:cs typeface="Symbol"/>
              </a:rPr>
              <a:t></a:t>
            </a:r>
            <a:r>
              <a:rPr dirty="0" baseline="-35590" sz="4800" spc="15">
                <a:latin typeface="Times New Roman"/>
                <a:cs typeface="Times New Roman"/>
              </a:rPr>
              <a:t> </a:t>
            </a:r>
            <a:r>
              <a:rPr dirty="0" sz="3200" spc="5">
                <a:latin typeface="Symbol"/>
                <a:cs typeface="Symbol"/>
              </a:rPr>
              <a:t></a:t>
            </a:r>
            <a:r>
              <a:rPr dirty="0" sz="3200" spc="5" i="1">
                <a:latin typeface="Times New Roman"/>
                <a:cs typeface="Times New Roman"/>
              </a:rPr>
              <a:t>m</a:t>
            </a:r>
            <a:r>
              <a:rPr dirty="0" sz="3200" spc="-495" i="1">
                <a:latin typeface="Times New Roman"/>
                <a:cs typeface="Times New Roman"/>
              </a:rPr>
              <a:t> </a:t>
            </a:r>
            <a:r>
              <a:rPr dirty="0" baseline="-35590" sz="4800" spc="120" i="1">
                <a:latin typeface="Times New Roman"/>
                <a:cs typeface="Times New Roman"/>
              </a:rPr>
              <a:t>c</a:t>
            </a:r>
            <a:r>
              <a:rPr dirty="0" baseline="-18018" sz="2775" spc="120">
                <a:latin typeface="Times New Roman"/>
                <a:cs typeface="Times New Roman"/>
              </a:rPr>
              <a:t>2</a:t>
            </a:r>
            <a:endParaRPr baseline="-18018" sz="27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190" y="1176972"/>
            <a:ext cx="10777855" cy="368236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820"/>
              </a:spcBef>
            </a:pPr>
            <a:r>
              <a:rPr dirty="0" sz="2400">
                <a:latin typeface="微软雅黑"/>
                <a:cs typeface="微软雅黑"/>
              </a:rPr>
              <a:t>例题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微软雅黑"/>
                <a:cs typeface="微软雅黑"/>
              </a:rPr>
              <a:t>原子物理中常把碳</a:t>
            </a:r>
            <a:r>
              <a:rPr dirty="0" sz="2400">
                <a:latin typeface="Times New Roman"/>
                <a:cs typeface="Times New Roman"/>
              </a:rPr>
              <a:t>12</a:t>
            </a:r>
            <a:r>
              <a:rPr dirty="0" sz="2400">
                <a:latin typeface="微软雅黑"/>
                <a:cs typeface="微软雅黑"/>
              </a:rPr>
              <a:t>原子质量的</a:t>
            </a:r>
            <a:r>
              <a:rPr dirty="0" sz="2400" spc="-5">
                <a:latin typeface="Times New Roman"/>
                <a:cs typeface="Times New Roman"/>
              </a:rPr>
              <a:t>1/12</a:t>
            </a:r>
            <a:r>
              <a:rPr dirty="0" sz="2400">
                <a:latin typeface="微软雅黑"/>
                <a:cs typeface="微软雅黑"/>
              </a:rPr>
              <a:t>叫做“原子质量单位”，符号为</a:t>
            </a:r>
            <a:r>
              <a:rPr dirty="0" sz="2400">
                <a:latin typeface="Times New Roman"/>
                <a:cs typeface="Times New Roman"/>
              </a:rPr>
              <a:t>u</a:t>
            </a:r>
            <a:r>
              <a:rPr dirty="0" sz="2400">
                <a:latin typeface="微软雅黑"/>
                <a:cs typeface="微软雅黑"/>
              </a:rPr>
              <a:t>，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latin typeface="Times New Roman"/>
                <a:cs typeface="Times New Roman"/>
              </a:rPr>
              <a:t>1u=1.6606</a:t>
            </a:r>
            <a:r>
              <a:rPr dirty="0" sz="2400">
                <a:latin typeface="微软雅黑"/>
                <a:cs typeface="微软雅黑"/>
              </a:rPr>
              <a:t>×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baseline="21505" sz="2325">
                <a:latin typeface="Times New Roman"/>
                <a:cs typeface="Times New Roman"/>
              </a:rPr>
              <a:t>-27</a:t>
            </a:r>
            <a:r>
              <a:rPr dirty="0" sz="2400">
                <a:latin typeface="Times New Roman"/>
                <a:cs typeface="Times New Roman"/>
              </a:rPr>
              <a:t>kg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微软雅黑"/>
                <a:cs typeface="微软雅黑"/>
              </a:rPr>
              <a:t>。请根据</a:t>
            </a:r>
            <a:r>
              <a:rPr dirty="0" sz="2400" spc="-5" i="1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=</a:t>
            </a:r>
            <a:r>
              <a:rPr dirty="0" sz="2400" spc="-5" i="1">
                <a:latin typeface="Times New Roman"/>
                <a:cs typeface="Times New Roman"/>
              </a:rPr>
              <a:t>mc</a:t>
            </a:r>
            <a:r>
              <a:rPr dirty="0" baseline="21505" sz="2325" spc="-7">
                <a:latin typeface="Times New Roman"/>
                <a:cs typeface="Times New Roman"/>
              </a:rPr>
              <a:t>2</a:t>
            </a:r>
            <a:r>
              <a:rPr dirty="0" sz="2400">
                <a:latin typeface="微软雅黑"/>
                <a:cs typeface="微软雅黑"/>
              </a:rPr>
              <a:t>证明：</a:t>
            </a:r>
            <a:r>
              <a:rPr dirty="0" sz="2400">
                <a:latin typeface="Times New Roman"/>
                <a:cs typeface="Times New Roman"/>
              </a:rPr>
              <a:t>1u</a:t>
            </a:r>
            <a:r>
              <a:rPr dirty="0" sz="2400">
                <a:latin typeface="微软雅黑"/>
                <a:cs typeface="微软雅黑"/>
              </a:rPr>
              <a:t>相当于</a:t>
            </a:r>
            <a:r>
              <a:rPr dirty="0" sz="2400" spc="-5">
                <a:latin typeface="Times New Roman"/>
                <a:cs typeface="Times New Roman"/>
              </a:rPr>
              <a:t>931.5MeV</a:t>
            </a:r>
            <a:r>
              <a:rPr dirty="0" sz="2400">
                <a:latin typeface="微软雅黑"/>
                <a:cs typeface="微软雅黑"/>
              </a:rPr>
              <a:t>的能量。</a:t>
            </a:r>
            <a:endParaRPr sz="24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400">
                <a:latin typeface="微软雅黑"/>
                <a:cs typeface="微软雅黑"/>
              </a:rPr>
              <a:t>已知光速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=2.9979</a:t>
            </a:r>
            <a:r>
              <a:rPr dirty="0" sz="2400" spc="-5">
                <a:latin typeface="微软雅黑"/>
                <a:cs typeface="微软雅黑"/>
              </a:rPr>
              <a:t>×</a:t>
            </a:r>
            <a:r>
              <a:rPr dirty="0" sz="2400" spc="-5">
                <a:latin typeface="Times New Roman"/>
                <a:cs typeface="Times New Roman"/>
              </a:rPr>
              <a:t>10</a:t>
            </a:r>
            <a:r>
              <a:rPr dirty="0" baseline="21505" sz="2325" spc="-7">
                <a:latin typeface="Times New Roman"/>
                <a:cs typeface="Times New Roman"/>
              </a:rPr>
              <a:t>8</a:t>
            </a:r>
            <a:r>
              <a:rPr dirty="0" sz="2400" spc="-5">
                <a:latin typeface="Times New Roman"/>
                <a:cs typeface="Times New Roman"/>
              </a:rPr>
              <a:t>m/s</a:t>
            </a:r>
            <a:r>
              <a:rPr dirty="0" sz="2400" spc="-5">
                <a:latin typeface="微软雅黑"/>
                <a:cs typeface="微软雅黑"/>
              </a:rPr>
              <a:t>，</a:t>
            </a:r>
            <a:r>
              <a:rPr dirty="0" sz="2400">
                <a:latin typeface="微软雅黑"/>
                <a:cs typeface="微软雅黑"/>
              </a:rPr>
              <a:t>元电荷</a:t>
            </a:r>
            <a:r>
              <a:rPr dirty="0" sz="2400" spc="-5" i="1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=1.6022</a:t>
            </a:r>
            <a:r>
              <a:rPr dirty="0" sz="2400" spc="-5">
                <a:latin typeface="微软雅黑"/>
                <a:cs typeface="微软雅黑"/>
              </a:rPr>
              <a:t>×</a:t>
            </a:r>
            <a:r>
              <a:rPr dirty="0" sz="2400" spc="-5">
                <a:latin typeface="Times New Roman"/>
                <a:cs typeface="Times New Roman"/>
              </a:rPr>
              <a:t>10</a:t>
            </a:r>
            <a:r>
              <a:rPr dirty="0" baseline="21505" sz="2325" spc="-7">
                <a:latin typeface="Times New Roman"/>
                <a:cs typeface="Times New Roman"/>
              </a:rPr>
              <a:t>-19</a:t>
            </a:r>
            <a:r>
              <a:rPr dirty="0" sz="2400" spc="-5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00">
              <a:latin typeface="Times New Roman"/>
              <a:cs typeface="Times New Roman"/>
            </a:endParaRPr>
          </a:p>
          <a:p>
            <a:pPr marL="923925">
              <a:lnSpc>
                <a:spcPct val="100000"/>
              </a:lnSpc>
            </a:pPr>
            <a:r>
              <a:rPr dirty="0" sz="3000" spc="20" i="1">
                <a:latin typeface="Times New Roman"/>
                <a:cs typeface="Times New Roman"/>
              </a:rPr>
              <a:t>E</a:t>
            </a:r>
            <a:r>
              <a:rPr dirty="0" sz="3000" spc="100" i="1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 spc="65" i="1">
                <a:latin typeface="Times New Roman"/>
                <a:cs typeface="Times New Roman"/>
              </a:rPr>
              <a:t>mc</a:t>
            </a:r>
            <a:r>
              <a:rPr dirty="0" baseline="42857" sz="2625" spc="97">
                <a:latin typeface="Times New Roman"/>
                <a:cs typeface="Times New Roman"/>
              </a:rPr>
              <a:t>2</a:t>
            </a:r>
            <a:r>
              <a:rPr dirty="0" baseline="42857" sz="2625" spc="817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-345">
                <a:latin typeface="Times New Roman"/>
                <a:cs typeface="Times New Roman"/>
              </a:rPr>
              <a:t> </a:t>
            </a:r>
            <a:r>
              <a:rPr dirty="0" sz="3000" spc="45">
                <a:latin typeface="Times New Roman"/>
                <a:cs typeface="Times New Roman"/>
              </a:rPr>
              <a:t>1.6606</a:t>
            </a:r>
            <a:r>
              <a:rPr dirty="0" sz="3000" spc="45">
                <a:latin typeface="Symbol"/>
                <a:cs typeface="Symbol"/>
              </a:rPr>
              <a:t></a:t>
            </a:r>
            <a:r>
              <a:rPr dirty="0" sz="3000" spc="45">
                <a:latin typeface="Times New Roman"/>
                <a:cs typeface="Times New Roman"/>
              </a:rPr>
              <a:t>10</a:t>
            </a:r>
            <a:r>
              <a:rPr dirty="0" baseline="42857" sz="2625" spc="67">
                <a:latin typeface="Symbol"/>
                <a:cs typeface="Symbol"/>
              </a:rPr>
              <a:t></a:t>
            </a:r>
            <a:r>
              <a:rPr dirty="0" baseline="42857" sz="2625" spc="67">
                <a:latin typeface="Times New Roman"/>
                <a:cs typeface="Times New Roman"/>
              </a:rPr>
              <a:t>27</a:t>
            </a:r>
            <a:r>
              <a:rPr dirty="0" baseline="42857" sz="2625" spc="292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Symbol"/>
                <a:cs typeface="Symbol"/>
              </a:rPr>
              <a:t></a:t>
            </a:r>
            <a:r>
              <a:rPr dirty="0" sz="3000" spc="-345">
                <a:latin typeface="Times New Roman"/>
                <a:cs typeface="Times New Roman"/>
              </a:rPr>
              <a:t> </a:t>
            </a:r>
            <a:r>
              <a:rPr dirty="0" sz="3000" spc="50">
                <a:latin typeface="Times New Roman"/>
                <a:cs typeface="Times New Roman"/>
              </a:rPr>
              <a:t>(2.9979</a:t>
            </a:r>
            <a:r>
              <a:rPr dirty="0" sz="3000" spc="50">
                <a:latin typeface="Symbol"/>
                <a:cs typeface="Symbol"/>
              </a:rPr>
              <a:t></a:t>
            </a:r>
            <a:r>
              <a:rPr dirty="0" sz="3000" spc="50">
                <a:latin typeface="Times New Roman"/>
                <a:cs typeface="Times New Roman"/>
              </a:rPr>
              <a:t>10</a:t>
            </a:r>
            <a:r>
              <a:rPr dirty="0" baseline="42857" sz="2625" spc="75">
                <a:latin typeface="Times New Roman"/>
                <a:cs typeface="Times New Roman"/>
              </a:rPr>
              <a:t>8</a:t>
            </a:r>
            <a:r>
              <a:rPr dirty="0" baseline="42857" sz="2625" spc="-165">
                <a:latin typeface="Times New Roman"/>
                <a:cs typeface="Times New Roman"/>
              </a:rPr>
              <a:t> </a:t>
            </a:r>
            <a:r>
              <a:rPr dirty="0" sz="3000" spc="50">
                <a:latin typeface="Times New Roman"/>
                <a:cs typeface="Times New Roman"/>
              </a:rPr>
              <a:t>)</a:t>
            </a:r>
            <a:r>
              <a:rPr dirty="0" baseline="42857" sz="2625" spc="75">
                <a:latin typeface="Times New Roman"/>
                <a:cs typeface="Times New Roman"/>
              </a:rPr>
              <a:t>2</a:t>
            </a:r>
            <a:r>
              <a:rPr dirty="0" baseline="42857" sz="2625" spc="-60">
                <a:latin typeface="Times New Roman"/>
                <a:cs typeface="Times New Roman"/>
              </a:rPr>
              <a:t> </a:t>
            </a:r>
            <a:r>
              <a:rPr dirty="0" sz="3000" spc="10">
                <a:latin typeface="Times New Roman"/>
                <a:cs typeface="Times New Roman"/>
              </a:rPr>
              <a:t>J</a:t>
            </a:r>
            <a:endParaRPr sz="3000">
              <a:latin typeface="Times New Roman"/>
              <a:cs typeface="Times New Roman"/>
            </a:endParaRPr>
          </a:p>
          <a:p>
            <a:pPr marL="911860">
              <a:lnSpc>
                <a:spcPct val="100000"/>
              </a:lnSpc>
              <a:spcBef>
                <a:spcPts val="1340"/>
              </a:spcBef>
            </a:pP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-375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Times New Roman"/>
                <a:cs typeface="Times New Roman"/>
              </a:rPr>
              <a:t>1.4924</a:t>
            </a:r>
            <a:r>
              <a:rPr dirty="0" sz="3000" spc="-475">
                <a:latin typeface="Times New Roman"/>
                <a:cs typeface="Times New Roman"/>
              </a:rPr>
              <a:t> </a:t>
            </a:r>
            <a:r>
              <a:rPr dirty="0" sz="3000" spc="40">
                <a:latin typeface="Symbol"/>
                <a:cs typeface="Symbol"/>
              </a:rPr>
              <a:t></a:t>
            </a:r>
            <a:r>
              <a:rPr dirty="0" sz="3000" spc="40">
                <a:latin typeface="Times New Roman"/>
                <a:cs typeface="Times New Roman"/>
              </a:rPr>
              <a:t>10</a:t>
            </a:r>
            <a:r>
              <a:rPr dirty="0" baseline="42857" sz="2625" spc="60">
                <a:latin typeface="Symbol"/>
                <a:cs typeface="Symbol"/>
              </a:rPr>
              <a:t></a:t>
            </a:r>
            <a:r>
              <a:rPr dirty="0" baseline="42857" sz="2625" spc="60">
                <a:latin typeface="Times New Roman"/>
                <a:cs typeface="Times New Roman"/>
              </a:rPr>
              <a:t>10</a:t>
            </a:r>
            <a:r>
              <a:rPr dirty="0" baseline="42857" sz="2625" spc="-150">
                <a:latin typeface="Times New Roman"/>
                <a:cs typeface="Times New Roman"/>
              </a:rPr>
              <a:t> </a:t>
            </a:r>
            <a:r>
              <a:rPr dirty="0" sz="3000" spc="10">
                <a:latin typeface="Times New Roman"/>
                <a:cs typeface="Times New Roman"/>
              </a:rPr>
              <a:t>J</a:t>
            </a:r>
            <a:endParaRPr sz="3000">
              <a:latin typeface="Times New Roman"/>
              <a:cs typeface="Times New Roman"/>
            </a:endParaRPr>
          </a:p>
          <a:p>
            <a:pPr marL="911860">
              <a:lnSpc>
                <a:spcPct val="100000"/>
              </a:lnSpc>
              <a:spcBef>
                <a:spcPts val="970"/>
              </a:spcBef>
            </a:pPr>
            <a:r>
              <a:rPr dirty="0" sz="3000" spc="15">
                <a:latin typeface="Times New Roman"/>
                <a:cs typeface="Times New Roman"/>
              </a:rPr>
              <a:t>=931.5MeV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5913" y="1234020"/>
            <a:ext cx="214629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5">
                <a:latin typeface="Times New Roman"/>
                <a:cs typeface="Times New Roman"/>
              </a:rPr>
              <a:t>88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1070" y="1261236"/>
            <a:ext cx="100012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92175" algn="l"/>
              </a:tabLst>
            </a:pPr>
            <a:r>
              <a:rPr dirty="0" sz="1450" spc="15">
                <a:latin typeface="Times New Roman"/>
                <a:cs typeface="Times New Roman"/>
              </a:rPr>
              <a:t>86</a:t>
            </a:r>
            <a:r>
              <a:rPr dirty="0" sz="1450" spc="15">
                <a:latin typeface="Times New Roman"/>
                <a:cs typeface="Times New Roman"/>
              </a:rPr>
              <a:t>	</a:t>
            </a:r>
            <a:r>
              <a:rPr dirty="0" baseline="1915" sz="2175" spc="22">
                <a:latin typeface="Times New Roman"/>
                <a:cs typeface="Times New Roman"/>
              </a:rPr>
              <a:t>2</a:t>
            </a:r>
            <a:endParaRPr baseline="1915" sz="217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852" y="1039228"/>
            <a:ext cx="993140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2314" sz="3600">
                <a:latin typeface="微软雅黑"/>
                <a:cs typeface="微软雅黑"/>
              </a:rPr>
              <a:t>例题</a:t>
            </a:r>
            <a:r>
              <a:rPr dirty="0" baseline="2314" sz="3600">
                <a:latin typeface="Times New Roman"/>
                <a:cs typeface="Times New Roman"/>
              </a:rPr>
              <a:t>.</a:t>
            </a:r>
            <a:r>
              <a:rPr dirty="0" baseline="2314" sz="3600" spc="-30">
                <a:latin typeface="Times New Roman"/>
                <a:cs typeface="Times New Roman"/>
              </a:rPr>
              <a:t> </a:t>
            </a:r>
            <a:r>
              <a:rPr dirty="0" baseline="2314" sz="3600">
                <a:latin typeface="微软雅黑"/>
                <a:cs typeface="微软雅黑"/>
              </a:rPr>
              <a:t>已</a:t>
            </a:r>
            <a:r>
              <a:rPr dirty="0" baseline="2314" sz="3600" spc="-172">
                <a:latin typeface="微软雅黑"/>
                <a:cs typeface="微软雅黑"/>
              </a:rPr>
              <a:t>知</a:t>
            </a:r>
            <a:r>
              <a:rPr dirty="0" baseline="51724" sz="2175" spc="22">
                <a:latin typeface="Times New Roman"/>
                <a:cs typeface="Times New Roman"/>
              </a:rPr>
              <a:t>226</a:t>
            </a:r>
            <a:r>
              <a:rPr dirty="0" baseline="51724" sz="2175" spc="-135">
                <a:latin typeface="Times New Roman"/>
                <a:cs typeface="Times New Roman"/>
              </a:rPr>
              <a:t> </a:t>
            </a:r>
            <a:r>
              <a:rPr dirty="0" baseline="4357" sz="3825" spc="120">
                <a:latin typeface="Times New Roman"/>
                <a:cs typeface="Times New Roman"/>
              </a:rPr>
              <a:t>Ra</a:t>
            </a:r>
            <a:r>
              <a:rPr dirty="0" baseline="2314" sz="3600" spc="-1507">
                <a:latin typeface="微软雅黑"/>
                <a:cs typeface="微软雅黑"/>
              </a:rPr>
              <a:t>、</a:t>
            </a:r>
            <a:r>
              <a:rPr dirty="0" baseline="44061" sz="2175" spc="22">
                <a:latin typeface="Times New Roman"/>
                <a:cs typeface="Times New Roman"/>
              </a:rPr>
              <a:t>222</a:t>
            </a:r>
            <a:r>
              <a:rPr dirty="0" baseline="44061" sz="2175" spc="-142">
                <a:latin typeface="Times New Roman"/>
                <a:cs typeface="Times New Roman"/>
              </a:rPr>
              <a:t> </a:t>
            </a:r>
            <a:r>
              <a:rPr dirty="0" sz="2550" spc="15">
                <a:latin typeface="Times New Roman"/>
                <a:cs typeface="Times New Roman"/>
              </a:rPr>
              <a:t>Rn</a:t>
            </a:r>
            <a:r>
              <a:rPr dirty="0" sz="2550" spc="-375">
                <a:latin typeface="Times New Roman"/>
                <a:cs typeface="Times New Roman"/>
              </a:rPr>
              <a:t> </a:t>
            </a:r>
            <a:r>
              <a:rPr dirty="0" baseline="2314" sz="3600" spc="-802">
                <a:latin typeface="微软雅黑"/>
                <a:cs typeface="微软雅黑"/>
              </a:rPr>
              <a:t>、</a:t>
            </a:r>
            <a:r>
              <a:rPr dirty="0" baseline="45977" sz="2175" spc="22">
                <a:latin typeface="Times New Roman"/>
                <a:cs typeface="Times New Roman"/>
              </a:rPr>
              <a:t>4</a:t>
            </a:r>
            <a:r>
              <a:rPr dirty="0" baseline="45977" sz="2175" spc="-135">
                <a:latin typeface="Times New Roman"/>
                <a:cs typeface="Times New Roman"/>
              </a:rPr>
              <a:t> </a:t>
            </a:r>
            <a:r>
              <a:rPr dirty="0" baseline="1089" sz="3825" spc="89">
                <a:latin typeface="Times New Roman"/>
                <a:cs typeface="Times New Roman"/>
              </a:rPr>
              <a:t>He</a:t>
            </a:r>
            <a:r>
              <a:rPr dirty="0" baseline="2314" sz="3600">
                <a:latin typeface="微软雅黑"/>
                <a:cs typeface="微软雅黑"/>
              </a:rPr>
              <a:t>的原子量分别为</a:t>
            </a:r>
            <a:r>
              <a:rPr dirty="0" baseline="2314" sz="3600">
                <a:latin typeface="Times New Roman"/>
                <a:cs typeface="Times New Roman"/>
              </a:rPr>
              <a:t>226.0254</a:t>
            </a:r>
            <a:r>
              <a:rPr dirty="0" baseline="2314" sz="3600">
                <a:latin typeface="微软雅黑"/>
                <a:cs typeface="微软雅黑"/>
              </a:rPr>
              <a:t>、</a:t>
            </a:r>
            <a:r>
              <a:rPr dirty="0" baseline="2314" sz="3600">
                <a:latin typeface="Times New Roman"/>
                <a:cs typeface="Times New Roman"/>
              </a:rPr>
              <a:t>222.0175</a:t>
            </a:r>
            <a:r>
              <a:rPr dirty="0" baseline="2314" sz="3600">
                <a:latin typeface="微软雅黑"/>
                <a:cs typeface="微软雅黑"/>
              </a:rPr>
              <a:t>、</a:t>
            </a:r>
            <a:r>
              <a:rPr dirty="0" baseline="2314" sz="3600">
                <a:latin typeface="Times New Roman"/>
                <a:cs typeface="Times New Roman"/>
              </a:rPr>
              <a:t>4.0026</a:t>
            </a:r>
            <a:r>
              <a:rPr dirty="0" baseline="2314" sz="3600">
                <a:latin typeface="微软雅黑"/>
                <a:cs typeface="微软雅黑"/>
              </a:rPr>
              <a:t>，</a:t>
            </a:r>
            <a:endParaRPr baseline="2314" sz="3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0506" y="1780654"/>
            <a:ext cx="214629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5">
                <a:latin typeface="Times New Roman"/>
                <a:cs typeface="Times New Roman"/>
              </a:rPr>
              <a:t>88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652" y="1558645"/>
            <a:ext cx="866076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2314" sz="3600">
                <a:latin typeface="微软雅黑"/>
                <a:cs typeface="微软雅黑"/>
              </a:rPr>
              <a:t>求</a:t>
            </a:r>
            <a:r>
              <a:rPr dirty="0" baseline="2314" sz="3600" spc="-472">
                <a:latin typeface="微软雅黑"/>
                <a:cs typeface="微软雅黑"/>
              </a:rPr>
              <a:t> </a:t>
            </a:r>
            <a:r>
              <a:rPr dirty="0" baseline="44061" sz="2175" spc="22">
                <a:latin typeface="Times New Roman"/>
                <a:cs typeface="Times New Roman"/>
              </a:rPr>
              <a:t>226</a:t>
            </a:r>
            <a:r>
              <a:rPr dirty="0" baseline="44061" sz="2175" spc="-150">
                <a:latin typeface="Times New Roman"/>
                <a:cs typeface="Times New Roman"/>
              </a:rPr>
              <a:t> </a:t>
            </a:r>
            <a:r>
              <a:rPr dirty="0" sz="2550" spc="110">
                <a:latin typeface="Times New Roman"/>
                <a:cs typeface="Times New Roman"/>
              </a:rPr>
              <a:t>Ra</a:t>
            </a:r>
            <a:r>
              <a:rPr dirty="0" baseline="2314" sz="3600">
                <a:latin typeface="微软雅黑"/>
                <a:cs typeface="微软雅黑"/>
              </a:rPr>
              <a:t>在</a:t>
            </a:r>
            <a:r>
              <a:rPr dirty="0" baseline="2314" sz="3600" i="1">
                <a:latin typeface="Times New Roman"/>
                <a:cs typeface="Times New Roman"/>
              </a:rPr>
              <a:t>α</a:t>
            </a:r>
            <a:r>
              <a:rPr dirty="0" baseline="2314" sz="3600">
                <a:latin typeface="微软雅黑"/>
                <a:cs typeface="微软雅黑"/>
              </a:rPr>
              <a:t>衰变中放出的能量。已知</a:t>
            </a:r>
            <a:r>
              <a:rPr dirty="0" baseline="2314" sz="3600">
                <a:latin typeface="Times New Roman"/>
                <a:cs typeface="Times New Roman"/>
              </a:rPr>
              <a:t>1u</a:t>
            </a:r>
            <a:r>
              <a:rPr dirty="0" baseline="2314" sz="3600">
                <a:latin typeface="微软雅黑"/>
                <a:cs typeface="微软雅黑"/>
              </a:rPr>
              <a:t>相当于</a:t>
            </a:r>
            <a:r>
              <a:rPr dirty="0" baseline="2314" sz="3600" spc="-7">
                <a:latin typeface="Times New Roman"/>
                <a:cs typeface="Times New Roman"/>
              </a:rPr>
              <a:t>931.5MeV</a:t>
            </a:r>
            <a:r>
              <a:rPr dirty="0" baseline="2314" sz="3600">
                <a:latin typeface="微软雅黑"/>
                <a:cs typeface="微软雅黑"/>
              </a:rPr>
              <a:t>的能量。</a:t>
            </a:r>
            <a:endParaRPr baseline="2314" sz="36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3693" y="2787091"/>
            <a:ext cx="281432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245" algn="l"/>
                <a:tab pos="2676525" algn="l"/>
              </a:tabLst>
            </a:pPr>
            <a:r>
              <a:rPr dirty="0" sz="1950">
                <a:latin typeface="Times New Roman"/>
                <a:cs typeface="Times New Roman"/>
              </a:rPr>
              <a:t>88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>
                <a:latin typeface="Times New Roman"/>
                <a:cs typeface="Times New Roman"/>
              </a:rPr>
              <a:t>86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488" y="2494889"/>
            <a:ext cx="4979670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6944" sz="3600">
                <a:latin typeface="微软雅黑"/>
                <a:cs typeface="微软雅黑"/>
              </a:rPr>
              <a:t>衰变方程</a:t>
            </a:r>
            <a:r>
              <a:rPr dirty="0" baseline="6944" sz="3600" spc="-104">
                <a:latin typeface="微软雅黑"/>
                <a:cs typeface="微软雅黑"/>
              </a:rPr>
              <a:t>：</a:t>
            </a:r>
            <a:r>
              <a:rPr dirty="0" baseline="42735" sz="2925" spc="-104">
                <a:latin typeface="Times New Roman"/>
                <a:cs typeface="Times New Roman"/>
              </a:rPr>
              <a:t>226</a:t>
            </a:r>
            <a:r>
              <a:rPr dirty="0" baseline="42735" sz="2925" spc="-165">
                <a:latin typeface="Times New Roman"/>
                <a:cs typeface="Times New Roman"/>
              </a:rPr>
              <a:t> </a:t>
            </a:r>
            <a:r>
              <a:rPr dirty="0" sz="3350" spc="20">
                <a:latin typeface="Times New Roman"/>
                <a:cs typeface="Times New Roman"/>
              </a:rPr>
              <a:t>Ra</a:t>
            </a:r>
            <a:r>
              <a:rPr dirty="0" sz="3350" spc="45">
                <a:latin typeface="Times New Roman"/>
                <a:cs typeface="Times New Roman"/>
              </a:rPr>
              <a:t> </a:t>
            </a:r>
            <a:r>
              <a:rPr dirty="0" sz="3350" spc="25">
                <a:latin typeface="Symbol"/>
                <a:cs typeface="Symbol"/>
              </a:rPr>
              <a:t></a:t>
            </a:r>
            <a:r>
              <a:rPr dirty="0" sz="3350" spc="180">
                <a:latin typeface="Times New Roman"/>
                <a:cs typeface="Times New Roman"/>
              </a:rPr>
              <a:t> </a:t>
            </a:r>
            <a:r>
              <a:rPr dirty="0" baseline="42735" sz="2925">
                <a:latin typeface="Times New Roman"/>
                <a:cs typeface="Times New Roman"/>
              </a:rPr>
              <a:t>222</a:t>
            </a:r>
            <a:r>
              <a:rPr dirty="0" baseline="42735" sz="2925" spc="-157">
                <a:latin typeface="Times New Roman"/>
                <a:cs typeface="Times New Roman"/>
              </a:rPr>
              <a:t> </a:t>
            </a:r>
            <a:r>
              <a:rPr dirty="0" sz="3350" spc="20">
                <a:latin typeface="Times New Roman"/>
                <a:cs typeface="Times New Roman"/>
              </a:rPr>
              <a:t>Rn+</a:t>
            </a:r>
            <a:r>
              <a:rPr dirty="0" sz="3350" spc="-415">
                <a:latin typeface="Times New Roman"/>
                <a:cs typeface="Times New Roman"/>
              </a:rPr>
              <a:t> </a:t>
            </a:r>
            <a:r>
              <a:rPr dirty="0" baseline="42735" sz="2925">
                <a:latin typeface="Times New Roman"/>
                <a:cs typeface="Times New Roman"/>
              </a:rPr>
              <a:t>4</a:t>
            </a:r>
            <a:r>
              <a:rPr dirty="0" baseline="42735" sz="2925" spc="-157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He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402" y="3031699"/>
            <a:ext cx="11598910" cy="3233420"/>
          </a:xfrm>
          <a:prstGeom prst="rect">
            <a:avLst/>
          </a:prstGeom>
        </p:spPr>
        <p:txBody>
          <a:bodyPr wrap="square" lIns="0" tIns="234315" rIns="0" bIns="0" rtlCol="0" vert="horz">
            <a:spAutoFit/>
          </a:bodyPr>
          <a:lstStyle/>
          <a:p>
            <a:pPr marL="454025">
              <a:lnSpc>
                <a:spcPct val="100000"/>
              </a:lnSpc>
              <a:spcBef>
                <a:spcPts val="1845"/>
              </a:spcBef>
            </a:pPr>
            <a:r>
              <a:rPr dirty="0" baseline="2314" sz="3600">
                <a:latin typeface="微软雅黑"/>
                <a:cs typeface="微软雅黑"/>
              </a:rPr>
              <a:t>质量亏损</a:t>
            </a:r>
            <a:r>
              <a:rPr dirty="0" baseline="2314" sz="3600" spc="-465">
                <a:latin typeface="微软雅黑"/>
                <a:cs typeface="微软雅黑"/>
              </a:rPr>
              <a:t>：</a:t>
            </a:r>
            <a:r>
              <a:rPr dirty="0" sz="3000" spc="-310">
                <a:latin typeface="Symbol"/>
                <a:cs typeface="Symbol"/>
              </a:rPr>
              <a:t></a:t>
            </a:r>
            <a:r>
              <a:rPr dirty="0" sz="3000" spc="-310" i="1">
                <a:latin typeface="Times New Roman"/>
                <a:cs typeface="Times New Roman"/>
              </a:rPr>
              <a:t>m</a:t>
            </a:r>
            <a:r>
              <a:rPr dirty="0" sz="3000" spc="-45" i="1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-135">
                <a:latin typeface="Times New Roman"/>
                <a:cs typeface="Times New Roman"/>
              </a:rPr>
              <a:t> </a:t>
            </a:r>
            <a:r>
              <a:rPr dirty="0" sz="3000" spc="20">
                <a:latin typeface="Times New Roman"/>
                <a:cs typeface="Times New Roman"/>
              </a:rPr>
              <a:t>(226.0254</a:t>
            </a:r>
            <a:r>
              <a:rPr dirty="0" sz="3000" spc="-235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Symbol"/>
                <a:cs typeface="Symbol"/>
              </a:rPr>
              <a:t></a:t>
            </a:r>
            <a:r>
              <a:rPr dirty="0" sz="3000" spc="-280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Times New Roman"/>
                <a:cs typeface="Times New Roman"/>
              </a:rPr>
              <a:t>222.0175</a:t>
            </a:r>
            <a:r>
              <a:rPr dirty="0" sz="3000" spc="-285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Symbol"/>
                <a:cs typeface="Symbol"/>
              </a:rPr>
              <a:t></a:t>
            </a:r>
            <a:r>
              <a:rPr dirty="0" sz="3000" spc="-280">
                <a:latin typeface="Times New Roman"/>
                <a:cs typeface="Times New Roman"/>
              </a:rPr>
              <a:t> </a:t>
            </a:r>
            <a:r>
              <a:rPr dirty="0" sz="3000" spc="20">
                <a:latin typeface="Times New Roman"/>
                <a:cs typeface="Times New Roman"/>
              </a:rPr>
              <a:t>4.0026)u=0.0053u</a:t>
            </a:r>
            <a:endParaRPr sz="30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1689"/>
              </a:spcBef>
            </a:pPr>
            <a:r>
              <a:rPr dirty="0" baseline="4629" sz="3600">
                <a:latin typeface="微软雅黑"/>
                <a:cs typeface="微软雅黑"/>
              </a:rPr>
              <a:t>释放能量</a:t>
            </a:r>
            <a:r>
              <a:rPr dirty="0" baseline="4629" sz="3600" spc="-390">
                <a:latin typeface="微软雅黑"/>
                <a:cs typeface="微软雅黑"/>
              </a:rPr>
              <a:t>：</a:t>
            </a:r>
            <a:r>
              <a:rPr dirty="0" sz="3000" spc="-260">
                <a:latin typeface="Symbol"/>
                <a:cs typeface="Symbol"/>
              </a:rPr>
              <a:t></a:t>
            </a:r>
            <a:r>
              <a:rPr dirty="0" sz="3000" spc="-260" i="1">
                <a:latin typeface="Times New Roman"/>
                <a:cs typeface="Times New Roman"/>
              </a:rPr>
              <a:t>E</a:t>
            </a:r>
            <a:r>
              <a:rPr dirty="0" sz="3000" spc="100" i="1">
                <a:latin typeface="Times New Roman"/>
                <a:cs typeface="Times New Roman"/>
              </a:rPr>
              <a:t> </a:t>
            </a: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 spc="30">
                <a:latin typeface="Symbol"/>
                <a:cs typeface="Symbol"/>
              </a:rPr>
              <a:t></a:t>
            </a:r>
            <a:r>
              <a:rPr dirty="0" sz="3000" spc="30" i="1">
                <a:latin typeface="Times New Roman"/>
                <a:cs typeface="Times New Roman"/>
              </a:rPr>
              <a:t>mc</a:t>
            </a:r>
            <a:r>
              <a:rPr dirty="0" baseline="44117" sz="2550" spc="44">
                <a:latin typeface="Times New Roman"/>
                <a:cs typeface="Times New Roman"/>
              </a:rPr>
              <a:t>2</a:t>
            </a:r>
            <a:r>
              <a:rPr dirty="0" baseline="44117" sz="2550" spc="-75">
                <a:latin typeface="Times New Roman"/>
                <a:cs typeface="Times New Roman"/>
              </a:rPr>
              <a:t> </a:t>
            </a:r>
            <a:r>
              <a:rPr dirty="0" sz="3000" spc="35">
                <a:latin typeface="Times New Roman"/>
                <a:cs typeface="Times New Roman"/>
              </a:rPr>
              <a:t>=0.0053</a:t>
            </a:r>
            <a:r>
              <a:rPr dirty="0" sz="3000" spc="35">
                <a:latin typeface="Symbol"/>
                <a:cs typeface="Symbol"/>
              </a:rPr>
              <a:t></a:t>
            </a:r>
            <a:r>
              <a:rPr dirty="0" sz="3000" spc="35">
                <a:latin typeface="Times New Roman"/>
                <a:cs typeface="Times New Roman"/>
              </a:rPr>
              <a:t>931.5MeV=4.937MeV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核能的计算</a:t>
            </a:r>
            <a:r>
              <a:rPr dirty="0" sz="2400" spc="-55">
                <a:latin typeface="微软雅黑"/>
                <a:cs typeface="微软雅黑"/>
              </a:rPr>
              <a:t>：</a:t>
            </a:r>
            <a:r>
              <a:rPr dirty="0" baseline="-4629" sz="4500" spc="-82">
                <a:latin typeface="Symbol"/>
                <a:cs typeface="Symbol"/>
              </a:rPr>
              <a:t></a:t>
            </a:r>
            <a:r>
              <a:rPr dirty="0" baseline="-4629" sz="4500" spc="-82" i="1">
                <a:latin typeface="Times New Roman"/>
                <a:cs typeface="Times New Roman"/>
              </a:rPr>
              <a:t>E</a:t>
            </a:r>
            <a:r>
              <a:rPr dirty="0" baseline="-4629" sz="4500" spc="150" i="1">
                <a:latin typeface="Times New Roman"/>
                <a:cs typeface="Times New Roman"/>
              </a:rPr>
              <a:t> </a:t>
            </a:r>
            <a:r>
              <a:rPr dirty="0" baseline="-4629" sz="4500" spc="22">
                <a:latin typeface="Symbol"/>
                <a:cs typeface="Symbol"/>
              </a:rPr>
              <a:t></a:t>
            </a:r>
            <a:r>
              <a:rPr dirty="0" baseline="-4629" sz="4500" spc="-67">
                <a:latin typeface="Times New Roman"/>
                <a:cs typeface="Times New Roman"/>
              </a:rPr>
              <a:t> </a:t>
            </a:r>
            <a:r>
              <a:rPr dirty="0" baseline="-4629" sz="4500" spc="44">
                <a:latin typeface="Symbol"/>
                <a:cs typeface="Symbol"/>
              </a:rPr>
              <a:t></a:t>
            </a:r>
            <a:r>
              <a:rPr dirty="0" baseline="-4629" sz="4500" spc="44" i="1">
                <a:latin typeface="Times New Roman"/>
                <a:cs typeface="Times New Roman"/>
              </a:rPr>
              <a:t>mc</a:t>
            </a:r>
            <a:r>
              <a:rPr dirty="0" baseline="35947" sz="2550" spc="44">
                <a:latin typeface="Times New Roman"/>
                <a:cs typeface="Times New Roman"/>
              </a:rPr>
              <a:t>2</a:t>
            </a:r>
            <a:endParaRPr baseline="35947" sz="2550">
              <a:latin typeface="Times New Roman"/>
              <a:cs typeface="Times New Roman"/>
            </a:endParaRPr>
          </a:p>
          <a:p>
            <a:pPr marL="711200" indent="-698500">
              <a:lnSpc>
                <a:spcPct val="100000"/>
              </a:lnSpc>
              <a:spcBef>
                <a:spcPts val="1090"/>
              </a:spcBef>
              <a:buSzPct val="95454"/>
              <a:buAutoNum type="arabicPlain"/>
              <a:tabLst>
                <a:tab pos="711200" algn="l"/>
              </a:tabLst>
            </a:pPr>
            <a:r>
              <a:rPr dirty="0" sz="2200">
                <a:latin typeface="微软雅黑"/>
                <a:cs typeface="微软雅黑"/>
              </a:rPr>
              <a:t>若</a:t>
            </a:r>
            <a:r>
              <a:rPr dirty="0" sz="2200" spc="-5">
                <a:latin typeface="Times New Roman"/>
                <a:cs typeface="Times New Roman"/>
              </a:rPr>
              <a:t>Δ</a:t>
            </a:r>
            <a:r>
              <a:rPr dirty="0" sz="2200" spc="-5" i="1">
                <a:latin typeface="Times New Roman"/>
                <a:cs typeface="Times New Roman"/>
              </a:rPr>
              <a:t>m</a:t>
            </a:r>
            <a:r>
              <a:rPr dirty="0" sz="2200">
                <a:latin typeface="微软雅黑"/>
                <a:cs typeface="微软雅黑"/>
              </a:rPr>
              <a:t>以</a:t>
            </a:r>
            <a:r>
              <a:rPr dirty="0" sz="2200" spc="-5">
                <a:latin typeface="Times New Roman"/>
                <a:cs typeface="Times New Roman"/>
              </a:rPr>
              <a:t>kg</a:t>
            </a:r>
            <a:r>
              <a:rPr dirty="0" sz="2200">
                <a:latin typeface="微软雅黑"/>
                <a:cs typeface="微软雅黑"/>
              </a:rPr>
              <a:t>为单位</a:t>
            </a:r>
            <a:r>
              <a:rPr dirty="0" sz="2200" spc="-5">
                <a:latin typeface="微软雅黑"/>
                <a:cs typeface="微软雅黑"/>
              </a:rPr>
              <a:t>，</a:t>
            </a:r>
            <a:r>
              <a:rPr dirty="0" sz="2200" spc="-5">
                <a:latin typeface="Times New Roman"/>
                <a:cs typeface="Times New Roman"/>
              </a:rPr>
              <a:t>Δ</a:t>
            </a:r>
            <a:r>
              <a:rPr dirty="0" sz="2200" spc="-5" i="1">
                <a:latin typeface="Times New Roman"/>
                <a:cs typeface="Times New Roman"/>
              </a:rPr>
              <a:t>E</a:t>
            </a:r>
            <a:r>
              <a:rPr dirty="0" sz="2200">
                <a:latin typeface="微软雅黑"/>
                <a:cs typeface="微软雅黑"/>
              </a:rPr>
              <a:t>以</a:t>
            </a:r>
            <a:r>
              <a:rPr dirty="0" sz="2200" spc="-5">
                <a:latin typeface="Times New Roman"/>
                <a:cs typeface="Times New Roman"/>
              </a:rPr>
              <a:t>J</a:t>
            </a:r>
            <a:r>
              <a:rPr dirty="0" sz="2200">
                <a:latin typeface="微软雅黑"/>
                <a:cs typeface="微软雅黑"/>
              </a:rPr>
              <a:t>为单位</a:t>
            </a:r>
            <a:r>
              <a:rPr dirty="0" sz="2200" spc="-5">
                <a:latin typeface="微软雅黑"/>
                <a:cs typeface="微软雅黑"/>
              </a:rPr>
              <a:t>；</a:t>
            </a:r>
            <a:endParaRPr sz="2200">
              <a:latin typeface="微软雅黑"/>
              <a:cs typeface="微软雅黑"/>
            </a:endParaRPr>
          </a:p>
          <a:p>
            <a:pPr marL="711200" indent="-698500">
              <a:lnSpc>
                <a:spcPct val="100000"/>
              </a:lnSpc>
              <a:spcBef>
                <a:spcPts val="1200"/>
              </a:spcBef>
              <a:buSzPct val="95454"/>
              <a:buAutoNum type="arabicPlain"/>
              <a:tabLst>
                <a:tab pos="711200" algn="l"/>
                <a:tab pos="11306810" algn="l"/>
              </a:tabLst>
            </a:pPr>
            <a:r>
              <a:rPr dirty="0" sz="2200">
                <a:latin typeface="微软雅黑"/>
                <a:cs typeface="微软雅黑"/>
              </a:rPr>
              <a:t>若</a:t>
            </a:r>
            <a:r>
              <a:rPr dirty="0" sz="2200" spc="-5">
                <a:latin typeface="Times New Roman"/>
                <a:cs typeface="Times New Roman"/>
              </a:rPr>
              <a:t>Δ</a:t>
            </a:r>
            <a:r>
              <a:rPr dirty="0" sz="2200" spc="-5" i="1">
                <a:latin typeface="Times New Roman"/>
                <a:cs typeface="Times New Roman"/>
              </a:rPr>
              <a:t>m</a:t>
            </a:r>
            <a:r>
              <a:rPr dirty="0" sz="2200">
                <a:latin typeface="微软雅黑"/>
                <a:cs typeface="微软雅黑"/>
              </a:rPr>
              <a:t>以</a:t>
            </a:r>
            <a:r>
              <a:rPr dirty="0" sz="2200" spc="-5">
                <a:latin typeface="Times New Roman"/>
                <a:cs typeface="Times New Roman"/>
              </a:rPr>
              <a:t>u</a:t>
            </a:r>
            <a:r>
              <a:rPr dirty="0" sz="2200">
                <a:latin typeface="微软雅黑"/>
                <a:cs typeface="微软雅黑"/>
              </a:rPr>
              <a:t>为单位，</a:t>
            </a:r>
            <a:r>
              <a:rPr dirty="0" sz="2200" spc="-5">
                <a:latin typeface="Times New Roman"/>
                <a:cs typeface="Times New Roman"/>
              </a:rPr>
              <a:t>Δ</a:t>
            </a:r>
            <a:r>
              <a:rPr dirty="0" sz="2200" spc="-5" i="1">
                <a:latin typeface="Times New Roman"/>
                <a:cs typeface="Times New Roman"/>
              </a:rPr>
              <a:t>E</a:t>
            </a:r>
            <a:r>
              <a:rPr dirty="0" sz="2200">
                <a:latin typeface="微软雅黑"/>
                <a:cs typeface="微软雅黑"/>
              </a:rPr>
              <a:t>以</a:t>
            </a:r>
            <a:r>
              <a:rPr dirty="0" sz="2200" spc="-5">
                <a:latin typeface="Times New Roman"/>
                <a:cs typeface="Times New Roman"/>
              </a:rPr>
              <a:t>MeV</a:t>
            </a:r>
            <a:r>
              <a:rPr dirty="0" sz="2200">
                <a:latin typeface="微软雅黑"/>
                <a:cs typeface="微软雅黑"/>
              </a:rPr>
              <a:t>为单位，数值上等于质量亏损的原子质量单位数乘以</a:t>
            </a:r>
            <a:r>
              <a:rPr dirty="0" sz="2200" spc="-5">
                <a:latin typeface="Times New Roman"/>
                <a:cs typeface="Times New Roman"/>
              </a:rPr>
              <a:t>931.5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727" y="1134427"/>
            <a:ext cx="6693534" cy="4677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总结：核力与结合</a:t>
            </a:r>
            <a:r>
              <a:rPr dirty="0" sz="2800" spc="-5" b="1">
                <a:latin typeface="微软雅黑"/>
                <a:cs typeface="微软雅黑"/>
              </a:rPr>
              <a:t>能</a:t>
            </a:r>
            <a:endParaRPr sz="2800">
              <a:latin typeface="微软雅黑"/>
              <a:cs typeface="微软雅黑"/>
            </a:endParaRPr>
          </a:p>
          <a:p>
            <a:pPr marL="699135" indent="-229235">
              <a:lnSpc>
                <a:spcPct val="100000"/>
              </a:lnSpc>
              <a:spcBef>
                <a:spcPts val="2410"/>
              </a:spcBef>
              <a:buSzPct val="95833"/>
              <a:buFont typeface="Times New Roman"/>
              <a:buAutoNum type="arabicPeriod"/>
              <a:tabLst>
                <a:tab pos="699135" algn="l"/>
              </a:tabLst>
            </a:pPr>
            <a:r>
              <a:rPr dirty="0" sz="2400">
                <a:latin typeface="微软雅黑"/>
                <a:cs typeface="微软雅黑"/>
              </a:rPr>
              <a:t>核力</a:t>
            </a:r>
            <a:endParaRPr sz="2400">
              <a:latin typeface="微软雅黑"/>
              <a:cs typeface="微软雅黑"/>
            </a:endParaRPr>
          </a:p>
          <a:p>
            <a:pPr lvl="1" marL="838200" indent="-190500">
              <a:lnSpc>
                <a:spcPct val="100000"/>
              </a:lnSpc>
              <a:spcBef>
                <a:spcPts val="1210"/>
              </a:spcBef>
              <a:buFont typeface="Times New Roman"/>
              <a:buChar char="*"/>
              <a:tabLst>
                <a:tab pos="838200" algn="l"/>
              </a:tabLst>
            </a:pPr>
            <a:r>
              <a:rPr dirty="0" sz="2000">
                <a:latin typeface="微软雅黑"/>
                <a:cs typeface="微软雅黑"/>
              </a:rPr>
              <a:t>特点：强相互作用、短程力、饱和性、与电荷无</a:t>
            </a:r>
            <a:r>
              <a:rPr dirty="0" sz="2000" spc="5">
                <a:latin typeface="微软雅黑"/>
                <a:cs typeface="微软雅黑"/>
              </a:rPr>
              <a:t>关</a:t>
            </a:r>
            <a:endParaRPr sz="2000">
              <a:latin typeface="微软雅黑"/>
              <a:cs typeface="微软雅黑"/>
            </a:endParaRPr>
          </a:p>
          <a:p>
            <a:pPr lvl="1" marL="838200" indent="-190500">
              <a:lnSpc>
                <a:spcPct val="100000"/>
              </a:lnSpc>
              <a:spcBef>
                <a:spcPts val="1200"/>
              </a:spcBef>
              <a:buFont typeface="Times New Roman"/>
              <a:buChar char="*"/>
              <a:tabLst>
                <a:tab pos="838200" algn="l"/>
              </a:tabLst>
            </a:pPr>
            <a:r>
              <a:rPr dirty="0" sz="2000">
                <a:latin typeface="微软雅黑"/>
                <a:cs typeface="微软雅黑"/>
              </a:rPr>
              <a:t>稳定的轻、重原子核中，质子数与中子数的比例不</a:t>
            </a:r>
            <a:r>
              <a:rPr dirty="0" sz="2000" spc="5">
                <a:latin typeface="微软雅黑"/>
                <a:cs typeface="微软雅黑"/>
              </a:rPr>
              <a:t>同</a:t>
            </a:r>
            <a:endParaRPr sz="2000">
              <a:latin typeface="微软雅黑"/>
              <a:cs typeface="微软雅黑"/>
            </a:endParaRPr>
          </a:p>
          <a:p>
            <a:pPr marL="699135" indent="-229235">
              <a:lnSpc>
                <a:spcPct val="100000"/>
              </a:lnSpc>
              <a:spcBef>
                <a:spcPts val="1190"/>
              </a:spcBef>
              <a:buSzPct val="95833"/>
              <a:buFont typeface="Times New Roman"/>
              <a:buAutoNum type="arabicPeriod"/>
              <a:tabLst>
                <a:tab pos="699135" algn="l"/>
              </a:tabLst>
            </a:pPr>
            <a:r>
              <a:rPr dirty="0" sz="2400">
                <a:latin typeface="微软雅黑"/>
                <a:cs typeface="微软雅黑"/>
              </a:rPr>
              <a:t>结合能</a:t>
            </a:r>
            <a:endParaRPr sz="2400">
              <a:latin typeface="微软雅黑"/>
              <a:cs typeface="微软雅黑"/>
            </a:endParaRPr>
          </a:p>
          <a:p>
            <a:pPr lvl="1" marL="838200" indent="-190500">
              <a:lnSpc>
                <a:spcPct val="100000"/>
              </a:lnSpc>
              <a:spcBef>
                <a:spcPts val="1210"/>
              </a:spcBef>
              <a:buFont typeface="Times New Roman"/>
              <a:buChar char="*"/>
              <a:tabLst>
                <a:tab pos="838200" algn="l"/>
              </a:tabLst>
            </a:pPr>
            <a:r>
              <a:rPr dirty="0" sz="2000">
                <a:latin typeface="微软雅黑"/>
                <a:cs typeface="微软雅黑"/>
              </a:rPr>
              <a:t>核力做功与结合</a:t>
            </a:r>
            <a:r>
              <a:rPr dirty="0" sz="2000" spc="5">
                <a:latin typeface="微软雅黑"/>
                <a:cs typeface="微软雅黑"/>
              </a:rPr>
              <a:t>能</a:t>
            </a:r>
            <a:endParaRPr sz="2000">
              <a:latin typeface="微软雅黑"/>
              <a:cs typeface="微软雅黑"/>
            </a:endParaRPr>
          </a:p>
          <a:p>
            <a:pPr lvl="1" marL="838200" indent="-190500">
              <a:lnSpc>
                <a:spcPct val="100000"/>
              </a:lnSpc>
              <a:spcBef>
                <a:spcPts val="1200"/>
              </a:spcBef>
              <a:buFont typeface="Times New Roman"/>
              <a:buChar char="*"/>
              <a:tabLst>
                <a:tab pos="838200" algn="l"/>
              </a:tabLst>
            </a:pPr>
            <a:r>
              <a:rPr dirty="0" sz="2000">
                <a:latin typeface="微软雅黑"/>
                <a:cs typeface="微软雅黑"/>
              </a:rPr>
              <a:t>比结合</a:t>
            </a:r>
            <a:r>
              <a:rPr dirty="0" sz="2000" spc="5">
                <a:latin typeface="微软雅黑"/>
                <a:cs typeface="微软雅黑"/>
              </a:rPr>
              <a:t>能</a:t>
            </a:r>
            <a:endParaRPr sz="2000">
              <a:latin typeface="微软雅黑"/>
              <a:cs typeface="微软雅黑"/>
            </a:endParaRPr>
          </a:p>
          <a:p>
            <a:pPr marL="699135" indent="-229235">
              <a:lnSpc>
                <a:spcPct val="100000"/>
              </a:lnSpc>
              <a:spcBef>
                <a:spcPts val="1190"/>
              </a:spcBef>
              <a:buSzPct val="95833"/>
              <a:buFont typeface="Times New Roman"/>
              <a:buAutoNum type="arabicPeriod"/>
              <a:tabLst>
                <a:tab pos="699135" algn="l"/>
              </a:tabLst>
            </a:pPr>
            <a:r>
              <a:rPr dirty="0" sz="2400">
                <a:latin typeface="微软雅黑"/>
                <a:cs typeface="微软雅黑"/>
              </a:rPr>
              <a:t>质能方程、质量亏损</a:t>
            </a:r>
            <a:endParaRPr sz="2400">
              <a:latin typeface="微软雅黑"/>
              <a:cs typeface="微软雅黑"/>
            </a:endParaRPr>
          </a:p>
          <a:p>
            <a:pPr marL="1471295">
              <a:lnSpc>
                <a:spcPct val="100000"/>
              </a:lnSpc>
              <a:spcBef>
                <a:spcPts val="1760"/>
              </a:spcBef>
            </a:pPr>
            <a:r>
              <a:rPr dirty="0" sz="3050">
                <a:latin typeface="Symbol"/>
                <a:cs typeface="Symbol"/>
              </a:rPr>
              <a:t></a:t>
            </a:r>
            <a:r>
              <a:rPr dirty="0" sz="3050" i="1">
                <a:latin typeface="Times New Roman"/>
                <a:cs typeface="Times New Roman"/>
              </a:rPr>
              <a:t>E </a:t>
            </a:r>
            <a:r>
              <a:rPr dirty="0" sz="3050" spc="10">
                <a:latin typeface="Symbol"/>
                <a:cs typeface="Symbol"/>
              </a:rPr>
              <a:t></a:t>
            </a:r>
            <a:r>
              <a:rPr dirty="0" sz="3050" spc="50">
                <a:latin typeface="Times New Roman"/>
                <a:cs typeface="Times New Roman"/>
              </a:rPr>
              <a:t> </a:t>
            </a:r>
            <a:r>
              <a:rPr dirty="0" sz="3050" spc="25">
                <a:latin typeface="Symbol"/>
                <a:cs typeface="Symbol"/>
              </a:rPr>
              <a:t></a:t>
            </a:r>
            <a:r>
              <a:rPr dirty="0" sz="3050" spc="25" i="1">
                <a:latin typeface="Times New Roman"/>
                <a:cs typeface="Times New Roman"/>
              </a:rPr>
              <a:t>mc</a:t>
            </a:r>
            <a:r>
              <a:rPr dirty="0" baseline="42857" sz="2625" spc="37">
                <a:latin typeface="Times New Roman"/>
                <a:cs typeface="Times New Roman"/>
              </a:rPr>
              <a:t>2</a:t>
            </a:r>
            <a:endParaRPr baseline="42857" sz="2625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16495" y="1978151"/>
            <a:ext cx="5079492" cy="3413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81682" y="5464543"/>
            <a:ext cx="3073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原子核的比结合能曲线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2025-04-21T00:58:27Z</dcterms:created>
  <dcterms:modified xsi:type="dcterms:W3CDTF">2025-04-21T00:58:27Z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2025-04-21T00:00:00Z</vt:filetime>
  </property>
</Properties>
</file>