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0705" y="-27063"/>
            <a:ext cx="155130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433" y="1145692"/>
            <a:ext cx="8149132" cy="3256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9943" y="1756803"/>
            <a:ext cx="3072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0">
                <a:solidFill>
                  <a:srgbClr val="FFFFFF"/>
                </a:solidFill>
                <a:latin typeface="微软雅黑"/>
                <a:cs typeface="微软雅黑"/>
              </a:rPr>
              <a:t>原子核的组</a:t>
            </a:r>
            <a:r>
              <a:rPr dirty="0" sz="4000" spc="-5" i="0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0054" y="2585961"/>
            <a:ext cx="2548255" cy="77216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主讲人：赵贺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林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4724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4684" y="2585961"/>
            <a:ext cx="289433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36100"/>
              </a:lnSpc>
              <a:spcBef>
                <a:spcPts val="100"/>
              </a:spcBef>
              <a:tabLst>
                <a:tab pos="472440" algn="l"/>
                <a:tab pos="5359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	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1800" spc="45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5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564" y="1059256"/>
            <a:ext cx="7136765" cy="2800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2705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latin typeface="微软雅黑"/>
                <a:cs typeface="微软雅黑"/>
              </a:rPr>
              <a:t>人们通过什么现象或实验</a:t>
            </a:r>
            <a:r>
              <a:rPr dirty="0" sz="2800" spc="-5">
                <a:latin typeface="微软雅黑"/>
                <a:cs typeface="微软雅黑"/>
              </a:rPr>
              <a:t>,</a:t>
            </a:r>
            <a:r>
              <a:rPr dirty="0" sz="2800">
                <a:latin typeface="微软雅黑"/>
                <a:cs typeface="微软雅黑"/>
              </a:rPr>
              <a:t>说明原子核具</a:t>
            </a:r>
            <a:r>
              <a:rPr dirty="0" sz="2800" spc="-5">
                <a:latin typeface="微软雅黑"/>
                <a:cs typeface="微软雅黑"/>
              </a:rPr>
              <a:t>有 </a:t>
            </a:r>
            <a:r>
              <a:rPr dirty="0" sz="2800">
                <a:latin typeface="微软雅黑"/>
                <a:cs typeface="微软雅黑"/>
              </a:rPr>
              <a:t>复杂结构？又是怎样一步步揭开原子核的秘</a:t>
            </a:r>
            <a:r>
              <a:rPr dirty="0" sz="2800" spc="-5">
                <a:latin typeface="微软雅黑"/>
                <a:cs typeface="微软雅黑"/>
              </a:rPr>
              <a:t>密 </a:t>
            </a:r>
            <a:r>
              <a:rPr dirty="0" sz="2800">
                <a:latin typeface="微软雅黑"/>
                <a:cs typeface="微软雅黑"/>
              </a:rPr>
              <a:t>的呢</a:t>
            </a:r>
            <a:r>
              <a:rPr dirty="0" sz="2800" spc="-5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35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人们认识原子核的结构是从破解天然放射现象入手的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740" y="244843"/>
            <a:ext cx="2768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微软雅黑"/>
                <a:cs typeface="微软雅黑"/>
              </a:rPr>
              <a:t>天然放射现象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088" y="1132332"/>
            <a:ext cx="1615440" cy="2572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46490" y="1357769"/>
            <a:ext cx="5816600" cy="302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0680">
              <a:lnSpc>
                <a:spcPct val="125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1896</a:t>
            </a:r>
            <a:r>
              <a:rPr dirty="0" sz="2400">
                <a:latin typeface="微软雅黑"/>
                <a:cs typeface="微软雅黑"/>
              </a:rPr>
              <a:t>年，法国物理学家贝克勒尔发现，  铀和含铀的矿物能够发出看不见的射线，这 种射线可以穿透黑纸使照相底片感光。</a:t>
            </a:r>
            <a:endParaRPr sz="2400">
              <a:latin typeface="微软雅黑"/>
              <a:cs typeface="微软雅黑"/>
            </a:endParaRPr>
          </a:p>
          <a:p>
            <a:pPr algn="just" marL="255904" marR="66040">
              <a:lnSpc>
                <a:spcPct val="100000"/>
              </a:lnSpc>
              <a:spcBef>
                <a:spcPts val="2020"/>
              </a:spcBef>
            </a:pPr>
            <a:r>
              <a:rPr dirty="0" sz="1800">
                <a:latin typeface="宋体"/>
                <a:cs typeface="宋体"/>
              </a:rPr>
              <a:t>贝可勒尔的发现，实际上是人类第一次在实验室中观察 到的原子核现象。铀盐本身能够发射一种神秘的射线， 正是这种射线导致了底片感光。但是，贝可勒尔的放射 源只有铀这样一种元素，这使得他的研究有很大的局限 性。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18" y="1198066"/>
            <a:ext cx="5714365" cy="288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latin typeface="微软雅黑"/>
                <a:cs typeface="微软雅黑"/>
              </a:rPr>
              <a:t>居里夫妇提出了一个重要的问题：</a:t>
            </a:r>
            <a:r>
              <a:rPr dirty="0" sz="2800" spc="-5">
                <a:latin typeface="微软雅黑"/>
                <a:cs typeface="微软雅黑"/>
              </a:rPr>
              <a:t>是 </a:t>
            </a:r>
            <a:r>
              <a:rPr dirty="0" sz="2800">
                <a:latin typeface="微软雅黑"/>
                <a:cs typeface="微软雅黑"/>
              </a:rPr>
              <a:t>否还有其他元素也具有这种性质呢</a:t>
            </a:r>
            <a:r>
              <a:rPr dirty="0" sz="2800" spc="-5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marL="93980" marR="531495">
              <a:lnSpc>
                <a:spcPct val="150000"/>
              </a:lnSpc>
              <a:spcBef>
                <a:spcPts val="1625"/>
              </a:spcBef>
            </a:pPr>
            <a:r>
              <a:rPr dirty="0" sz="2000">
                <a:latin typeface="微软雅黑"/>
                <a:cs typeface="微软雅黑"/>
              </a:rPr>
              <a:t>发现沥青中还存在着两种能够发出更强射线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新元素，玛</a:t>
            </a:r>
            <a:r>
              <a:rPr dirty="0" sz="2000" spc="5">
                <a:latin typeface="微软雅黑"/>
                <a:cs typeface="微软雅黑"/>
              </a:rPr>
              <a:t>丽</a:t>
            </a:r>
            <a:r>
              <a:rPr dirty="0" sz="2000" spc="-5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·</a:t>
            </a:r>
            <a:r>
              <a:rPr dirty="0" sz="2000" spc="-4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居里把其中一种元素命名为</a:t>
            </a:r>
            <a:r>
              <a:rPr dirty="0" sz="2000" spc="5">
                <a:latin typeface="微软雅黑"/>
                <a:cs typeface="微软雅黑"/>
              </a:rPr>
              <a:t>钋</a:t>
            </a:r>
            <a:endParaRPr sz="2000">
              <a:latin typeface="微软雅黑"/>
              <a:cs typeface="微软雅黑"/>
            </a:endParaRPr>
          </a:p>
          <a:p>
            <a:pPr marL="93980">
              <a:lnSpc>
                <a:spcPct val="100000"/>
              </a:lnSpc>
              <a:spcBef>
                <a:spcPts val="1200"/>
              </a:spcBef>
            </a:pPr>
            <a:r>
              <a:rPr dirty="0" sz="2000" spc="-20">
                <a:latin typeface="微软雅黑"/>
                <a:cs typeface="微软雅黑"/>
              </a:rPr>
              <a:t>（Po），</a:t>
            </a:r>
            <a:r>
              <a:rPr dirty="0" sz="2000">
                <a:latin typeface="微软雅黑"/>
                <a:cs typeface="微软雅黑"/>
              </a:rPr>
              <a:t>另一种元素命名为镭</a:t>
            </a:r>
            <a:r>
              <a:rPr dirty="0" sz="2000" spc="-5">
                <a:latin typeface="微软雅黑"/>
                <a:cs typeface="微软雅黑"/>
              </a:rPr>
              <a:t>（Ra）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0588" y="3308350"/>
            <a:ext cx="1853564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楷体"/>
                <a:cs typeface="楷体"/>
              </a:rPr>
              <a:t>天然放射现象研</a:t>
            </a:r>
            <a:r>
              <a:rPr dirty="0" sz="1600" spc="-5">
                <a:latin typeface="楷体"/>
                <a:cs typeface="楷体"/>
              </a:rPr>
              <a:t>究 </a:t>
            </a:r>
            <a:r>
              <a:rPr dirty="0" sz="1600">
                <a:latin typeface="楷体"/>
                <a:cs typeface="楷体"/>
              </a:rPr>
              <a:t>的下一个重大进展</a:t>
            </a:r>
            <a:r>
              <a:rPr dirty="0" sz="1600" spc="-5">
                <a:latin typeface="楷体"/>
                <a:cs typeface="楷体"/>
              </a:rPr>
              <a:t>， </a:t>
            </a:r>
            <a:r>
              <a:rPr dirty="0" sz="1600">
                <a:latin typeface="楷体"/>
                <a:cs typeface="楷体"/>
              </a:rPr>
              <a:t>是居里夫妇做出的</a:t>
            </a:r>
            <a:r>
              <a:rPr dirty="0" sz="1600" spc="-5">
                <a:latin typeface="楷体"/>
                <a:cs typeface="楷体"/>
              </a:rPr>
              <a:t>。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04659" y="655319"/>
            <a:ext cx="1685544" cy="2601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724306"/>
            <a:ext cx="7900034" cy="3831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95"/>
              </a:spcBef>
              <a:tabLst>
                <a:tab pos="1536700" algn="l"/>
                <a:tab pos="3526790" algn="l"/>
              </a:tabLst>
            </a:pPr>
            <a:r>
              <a:rPr dirty="0" sz="2800" b="1">
                <a:latin typeface="微软雅黑"/>
                <a:cs typeface="微软雅黑"/>
              </a:rPr>
              <a:t>放射</a:t>
            </a:r>
            <a:r>
              <a:rPr dirty="0" sz="2800" spc="-5" b="1">
                <a:latin typeface="微软雅黑"/>
                <a:cs typeface="微软雅黑"/>
              </a:rPr>
              <a:t>性	</a:t>
            </a:r>
            <a:r>
              <a:rPr dirty="0" sz="2800" b="1">
                <a:latin typeface="微软雅黑"/>
                <a:cs typeface="微软雅黑"/>
              </a:rPr>
              <a:t>放射性元</a:t>
            </a:r>
            <a:r>
              <a:rPr dirty="0" sz="2800" spc="-5" b="1">
                <a:latin typeface="微软雅黑"/>
                <a:cs typeface="微软雅黑"/>
              </a:rPr>
              <a:t>素	</a:t>
            </a:r>
            <a:r>
              <a:rPr dirty="0" sz="2800" b="1">
                <a:latin typeface="微软雅黑"/>
                <a:cs typeface="微软雅黑"/>
              </a:rPr>
              <a:t>天然放射现</a:t>
            </a:r>
            <a:r>
              <a:rPr dirty="0" sz="2800" spc="-5" b="1">
                <a:latin typeface="微软雅黑"/>
                <a:cs typeface="微软雅黑"/>
              </a:rPr>
              <a:t>象</a:t>
            </a:r>
            <a:endParaRPr sz="2800">
              <a:latin typeface="微软雅黑"/>
              <a:cs typeface="微软雅黑"/>
            </a:endParaRPr>
          </a:p>
          <a:p>
            <a:pPr marL="228600" marR="3091180">
              <a:lnSpc>
                <a:spcPct val="150000"/>
              </a:lnSpc>
              <a:spcBef>
                <a:spcPts val="2520"/>
              </a:spcBef>
            </a:pPr>
            <a:r>
              <a:rPr dirty="0" sz="2400">
                <a:latin typeface="微软雅黑"/>
                <a:cs typeface="微软雅黑"/>
              </a:rPr>
              <a:t>物质发射射线的性质称为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放射性 </a:t>
            </a:r>
            <a:r>
              <a:rPr dirty="0" sz="2400">
                <a:latin typeface="微软雅黑"/>
                <a:cs typeface="微软雅黑"/>
              </a:rPr>
              <a:t>具有发射性的元素称为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放射性元素</a:t>
            </a:r>
            <a:endParaRPr sz="2400">
              <a:latin typeface="微软雅黑"/>
              <a:cs typeface="微软雅黑"/>
            </a:endParaRPr>
          </a:p>
          <a:p>
            <a:pPr marL="2286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微软雅黑"/>
                <a:cs typeface="微软雅黑"/>
              </a:rPr>
              <a:t>元素这种自发的放出射线的现象叫做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天然放射现象</a:t>
            </a:r>
            <a:endParaRPr sz="2400">
              <a:latin typeface="微软雅黑"/>
              <a:cs typeface="微软雅黑"/>
            </a:endParaRPr>
          </a:p>
          <a:p>
            <a:pPr marL="901700">
              <a:lnSpc>
                <a:spcPct val="100000"/>
              </a:lnSpc>
              <a:spcBef>
                <a:spcPts val="1530"/>
              </a:spcBef>
            </a:pPr>
            <a:r>
              <a:rPr dirty="0" sz="2000">
                <a:latin typeface="楷体"/>
                <a:cs typeface="楷体"/>
              </a:rPr>
              <a:t>放射性不是少数几种元素才有的，研究发现，原子序数大</a:t>
            </a:r>
            <a:r>
              <a:rPr dirty="0" sz="2000" spc="5">
                <a:latin typeface="楷体"/>
                <a:cs typeface="楷体"/>
              </a:rPr>
              <a:t>于</a:t>
            </a:r>
            <a:endParaRPr sz="2000">
              <a:latin typeface="楷体"/>
              <a:cs typeface="楷体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5">
                <a:latin typeface="楷体"/>
                <a:cs typeface="楷体"/>
              </a:rPr>
              <a:t>83的所有元素，都能自发的放出射线，原子序数小于或等于83的元素</a:t>
            </a:r>
            <a:r>
              <a:rPr dirty="0" sz="2000">
                <a:latin typeface="楷体"/>
                <a:cs typeface="楷体"/>
              </a:rPr>
              <a:t>， </a:t>
            </a:r>
            <a:r>
              <a:rPr dirty="0" sz="2000">
                <a:latin typeface="楷体"/>
                <a:cs typeface="楷体"/>
              </a:rPr>
              <a:t>有的也具有放射性</a:t>
            </a:r>
            <a:r>
              <a:rPr dirty="0" sz="2000" spc="5">
                <a:latin typeface="楷体"/>
                <a:cs typeface="楷体"/>
              </a:rPr>
              <a:t>。</a:t>
            </a:r>
            <a:endParaRPr sz="20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27" y="835012"/>
            <a:ext cx="6986270" cy="3001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微软雅黑"/>
                <a:cs typeface="微软雅黑"/>
              </a:rPr>
              <a:t>科学家的思考：射线到底是什么</a:t>
            </a:r>
            <a:r>
              <a:rPr dirty="0" sz="3200" spc="5" b="1">
                <a:solidFill>
                  <a:srgbClr val="FF0000"/>
                </a:solidFill>
                <a:latin typeface="微软雅黑"/>
                <a:cs typeface="微软雅黑"/>
              </a:rPr>
              <a:t>？</a:t>
            </a:r>
            <a:endParaRPr sz="3200">
              <a:latin typeface="微软雅黑"/>
              <a:cs typeface="微软雅黑"/>
            </a:endParaRPr>
          </a:p>
          <a:p>
            <a:pPr marL="241935" indent="-229235">
              <a:lnSpc>
                <a:spcPct val="100000"/>
              </a:lnSpc>
              <a:spcBef>
                <a:spcPts val="3735"/>
              </a:spcBef>
              <a:buSzPct val="95833"/>
              <a:buFont typeface="Times New Roman"/>
              <a:buAutoNum type="arabicPeriod"/>
              <a:tabLst>
                <a:tab pos="241935" algn="l"/>
              </a:tabLst>
            </a:pPr>
            <a:r>
              <a:rPr dirty="0" sz="2400" b="1">
                <a:latin typeface="宋体"/>
                <a:cs typeface="宋体"/>
              </a:rPr>
              <a:t>在放射性现象中放出的射线到底是什么</a:t>
            </a:r>
            <a:r>
              <a:rPr dirty="0" sz="2400" spc="-10" b="1">
                <a:latin typeface="宋体"/>
                <a:cs typeface="宋体"/>
              </a:rPr>
              <a:t>？</a:t>
            </a:r>
            <a:endParaRPr sz="2400">
              <a:latin typeface="宋体"/>
              <a:cs typeface="宋体"/>
            </a:endParaRPr>
          </a:p>
          <a:p>
            <a:pPr marL="317500" indent="-30480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eriod"/>
              <a:tabLst>
                <a:tab pos="317500" algn="l"/>
              </a:tabLst>
            </a:pPr>
            <a:r>
              <a:rPr dirty="0" sz="2400" b="1">
                <a:latin typeface="宋体"/>
                <a:cs typeface="宋体"/>
              </a:rPr>
              <a:t>这些射线带不带电</a:t>
            </a:r>
            <a:r>
              <a:rPr dirty="0" sz="2400" spc="-10" b="1">
                <a:latin typeface="宋体"/>
                <a:cs typeface="宋体"/>
              </a:rPr>
              <a:t>？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4330"/>
              </a:lnSpc>
              <a:spcBef>
                <a:spcPts val="380"/>
              </a:spcBef>
              <a:buSzPct val="95833"/>
              <a:buFont typeface="Times New Roman"/>
              <a:buAutoNum type="arabicPeriod"/>
              <a:tabLst>
                <a:tab pos="241935" algn="l"/>
              </a:tabLst>
            </a:pPr>
            <a:r>
              <a:rPr dirty="0" sz="2400" b="1">
                <a:latin typeface="宋体"/>
                <a:cs typeface="宋体"/>
              </a:rPr>
              <a:t>它们除了能穿透黑纸使照相底片感光以外，还有</a:t>
            </a:r>
            <a:r>
              <a:rPr dirty="0" sz="2400" spc="-10" b="1">
                <a:latin typeface="宋体"/>
                <a:cs typeface="宋体"/>
              </a:rPr>
              <a:t>那 </a:t>
            </a:r>
            <a:r>
              <a:rPr dirty="0" sz="2400" b="1">
                <a:latin typeface="宋体"/>
                <a:cs typeface="宋体"/>
              </a:rPr>
              <a:t>些性质</a:t>
            </a:r>
            <a:r>
              <a:rPr dirty="0" sz="2400" spc="-10" b="1">
                <a:latin typeface="宋体"/>
                <a:cs typeface="宋体"/>
              </a:rPr>
              <a:t>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141" y="2954883"/>
            <a:ext cx="356870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800">
                <a:latin typeface="微软雅黑"/>
                <a:cs typeface="微软雅黑"/>
              </a:rPr>
              <a:t>射线在磁场中不偏转说明什么？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800">
                <a:latin typeface="微软雅黑"/>
                <a:cs typeface="微软雅黑"/>
              </a:rPr>
              <a:t>射线在磁场中偏转说明什么？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56119" y="667512"/>
            <a:ext cx="1705355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3141" y="3709263"/>
            <a:ext cx="6769100" cy="881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800" spc="-5">
                <a:latin typeface="微软雅黑"/>
                <a:cs typeface="微软雅黑"/>
              </a:rPr>
              <a:t>3</a:t>
            </a:r>
            <a:r>
              <a:rPr dirty="0" sz="1800">
                <a:latin typeface="微软雅黑"/>
                <a:cs typeface="微软雅黑"/>
              </a:rPr>
              <a:t>.	如果射线带电，按照上图所示的径迹判断，他们分别带什么电？</a:t>
            </a:r>
            <a:endParaRPr sz="1800">
              <a:latin typeface="微软雅黑"/>
              <a:cs typeface="微软雅黑"/>
            </a:endParaRPr>
          </a:p>
          <a:p>
            <a:pPr marL="171450">
              <a:lnSpc>
                <a:spcPct val="100000"/>
              </a:lnSpc>
              <a:spcBef>
                <a:spcPts val="1700"/>
              </a:spcBef>
            </a:pPr>
            <a:r>
              <a:rPr dirty="0" sz="2400" b="1">
                <a:latin typeface="宋体"/>
                <a:cs typeface="宋体"/>
              </a:rPr>
              <a:t>把这三种射线分别叫做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α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射线、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β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射线和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γ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射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966" y="784885"/>
            <a:ext cx="6248400" cy="210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如何判定射线是否带电呢</a:t>
            </a:r>
            <a:r>
              <a:rPr dirty="0" sz="2800" spc="-20" b="1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000">
                <a:latin typeface="微软雅黑"/>
                <a:cs typeface="微软雅黑"/>
              </a:rPr>
              <a:t>可以让射线垂直进入磁场，观察在磁场中的行为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algn="just" marL="62865" marR="5080">
              <a:lnSpc>
                <a:spcPct val="100000"/>
              </a:lnSpc>
              <a:spcBef>
                <a:spcPts val="525"/>
              </a:spcBef>
            </a:pPr>
            <a:r>
              <a:rPr dirty="0" sz="1800">
                <a:latin typeface="楷体"/>
                <a:cs typeface="楷体"/>
              </a:rPr>
              <a:t>把放射源铀、钋或镭放入用铅做成的容器中，射线只能从容器 的小孔射出，成为细细的一束。在射线经过的空间施加垂直于 纸面向内的磁场，发现射线分裂成三束，其中两束在磁场中向 不同的方向偏转，另一束在磁场中不偏转；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7043" y="3698633"/>
            <a:ext cx="115824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0000"/>
                </a:solidFill>
                <a:latin typeface="Times New Roman"/>
                <a:cs typeface="Times New Roman"/>
              </a:rPr>
              <a:t>α</a:t>
            </a:r>
            <a:r>
              <a:rPr dirty="0" sz="1600" b="1">
                <a:solidFill>
                  <a:srgbClr val="FF0000"/>
                </a:solidFill>
                <a:latin typeface="宋体"/>
                <a:cs typeface="宋体"/>
              </a:rPr>
              <a:t>射线带正</a:t>
            </a:r>
            <a:r>
              <a:rPr dirty="0" sz="1600" spc="-15" b="1">
                <a:solidFill>
                  <a:srgbClr val="FF0000"/>
                </a:solidFill>
                <a:latin typeface="宋体"/>
                <a:cs typeface="宋体"/>
              </a:rPr>
              <a:t>电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 b="1" i="1">
                <a:solidFill>
                  <a:srgbClr val="FF0000"/>
                </a:solidFill>
                <a:latin typeface="Times New Roman"/>
                <a:cs typeface="Times New Roman"/>
              </a:rPr>
              <a:t>β</a:t>
            </a:r>
            <a:r>
              <a:rPr dirty="0" sz="1600" b="1">
                <a:solidFill>
                  <a:srgbClr val="FF0000"/>
                </a:solidFill>
                <a:latin typeface="宋体"/>
                <a:cs typeface="宋体"/>
              </a:rPr>
              <a:t>射线带负</a:t>
            </a:r>
            <a:r>
              <a:rPr dirty="0" sz="1600" spc="-15" b="1">
                <a:solidFill>
                  <a:srgbClr val="FF0000"/>
                </a:solidFill>
                <a:latin typeface="宋体"/>
                <a:cs typeface="宋体"/>
              </a:rPr>
              <a:t>电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8544" y="2918675"/>
            <a:ext cx="1854200" cy="73469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73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说明它不带电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它们是带电粒子流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421" y="919505"/>
            <a:ext cx="79502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思考</a:t>
            </a:r>
            <a:r>
              <a:rPr dirty="0" sz="2400">
                <a:latin typeface="微软雅黑"/>
                <a:cs typeface="微软雅黑"/>
              </a:rPr>
              <a:t>：如果不用磁场而用电场判断它们带电的性质，两个电 极怎么放置可以使三种射线大致沿图所示的方向偏转？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0467" y="3482340"/>
            <a:ext cx="420624" cy="377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66024" y="2568587"/>
            <a:ext cx="1618513" cy="1189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0862" y="2990430"/>
            <a:ext cx="221615" cy="271780"/>
          </a:xfrm>
          <a:custGeom>
            <a:avLst/>
            <a:gdLst/>
            <a:ahLst/>
            <a:cxnLst/>
            <a:rect l="l" t="t" r="r" b="b"/>
            <a:pathLst>
              <a:path w="221614" h="271779">
                <a:moveTo>
                  <a:pt x="213664" y="271716"/>
                </a:moveTo>
                <a:lnTo>
                  <a:pt x="0" y="5968"/>
                </a:lnTo>
                <a:lnTo>
                  <a:pt x="7416" y="0"/>
                </a:lnTo>
                <a:lnTo>
                  <a:pt x="221094" y="265747"/>
                </a:lnTo>
                <a:lnTo>
                  <a:pt x="213664" y="271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66024" y="2994431"/>
            <a:ext cx="231140" cy="264160"/>
          </a:xfrm>
          <a:custGeom>
            <a:avLst/>
            <a:gdLst/>
            <a:ahLst/>
            <a:cxnLst/>
            <a:rect l="l" t="t" r="r" b="b"/>
            <a:pathLst>
              <a:path w="231139" h="264160">
                <a:moveTo>
                  <a:pt x="7188" y="263715"/>
                </a:moveTo>
                <a:lnTo>
                  <a:pt x="0" y="257479"/>
                </a:lnTo>
                <a:lnTo>
                  <a:pt x="223570" y="0"/>
                </a:lnTo>
                <a:lnTo>
                  <a:pt x="230771" y="6248"/>
                </a:lnTo>
                <a:lnTo>
                  <a:pt x="7188" y="26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70862" y="3392144"/>
            <a:ext cx="221615" cy="271780"/>
          </a:xfrm>
          <a:custGeom>
            <a:avLst/>
            <a:gdLst/>
            <a:ahLst/>
            <a:cxnLst/>
            <a:rect l="l" t="t" r="r" b="b"/>
            <a:pathLst>
              <a:path w="221614" h="271779">
                <a:moveTo>
                  <a:pt x="213664" y="271716"/>
                </a:moveTo>
                <a:lnTo>
                  <a:pt x="0" y="5968"/>
                </a:lnTo>
                <a:lnTo>
                  <a:pt x="7416" y="0"/>
                </a:lnTo>
                <a:lnTo>
                  <a:pt x="221094" y="265747"/>
                </a:lnTo>
                <a:lnTo>
                  <a:pt x="213664" y="271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66024" y="3396145"/>
            <a:ext cx="231140" cy="264160"/>
          </a:xfrm>
          <a:custGeom>
            <a:avLst/>
            <a:gdLst/>
            <a:ahLst/>
            <a:cxnLst/>
            <a:rect l="l" t="t" r="r" b="b"/>
            <a:pathLst>
              <a:path w="231139" h="264160">
                <a:moveTo>
                  <a:pt x="7188" y="263715"/>
                </a:moveTo>
                <a:lnTo>
                  <a:pt x="0" y="257467"/>
                </a:lnTo>
                <a:lnTo>
                  <a:pt x="223570" y="0"/>
                </a:lnTo>
                <a:lnTo>
                  <a:pt x="230771" y="6248"/>
                </a:lnTo>
                <a:lnTo>
                  <a:pt x="7188" y="26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19566" y="2012835"/>
            <a:ext cx="12268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9415" algn="l"/>
                <a:tab pos="1083310" algn="l"/>
              </a:tabLst>
            </a:pPr>
            <a:r>
              <a:rPr dirty="0" sz="2000">
                <a:latin typeface="Times New Roman"/>
                <a:cs typeface="Times New Roman"/>
              </a:rPr>
              <a:t>α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γ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β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56859" y="3499103"/>
            <a:ext cx="338327" cy="312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28603" y="2469502"/>
            <a:ext cx="1567802" cy="1470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738903" y="3746360"/>
            <a:ext cx="20891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libri"/>
                <a:cs typeface="Calibri"/>
              </a:rPr>
              <a:t>—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08207" y="2446985"/>
            <a:ext cx="58305" cy="14702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43754" y="2144737"/>
            <a:ext cx="11633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9915" algn="l"/>
                <a:tab pos="1019810" algn="l"/>
              </a:tabLst>
            </a:pPr>
            <a:r>
              <a:rPr dirty="0" sz="2000">
                <a:latin typeface="Times New Roman"/>
                <a:cs typeface="Times New Roman"/>
              </a:rPr>
              <a:t>α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γ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β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5052" y="3739934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2404" y="3182124"/>
            <a:ext cx="27178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Cambria Math"/>
                <a:cs typeface="Cambria Math"/>
              </a:rPr>
              <a:t>10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8804" y="2945904"/>
            <a:ext cx="8196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速度可达光速的</a:t>
            </a:r>
            <a:r>
              <a:rPr dirty="0" sz="2400" spc="-275">
                <a:latin typeface="微软雅黑"/>
                <a:cs typeface="微软雅黑"/>
              </a:rPr>
              <a:t> </a:t>
            </a:r>
            <a:r>
              <a:rPr dirty="0" u="heavy" baseline="44444" sz="26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baseline="44444" sz="2625" spc="7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99"/>
                </a:solidFill>
                <a:latin typeface="微软雅黑"/>
                <a:cs typeface="微软雅黑"/>
              </a:rPr>
              <a:t>，</a:t>
            </a:r>
            <a:r>
              <a:rPr dirty="0" sz="2400">
                <a:latin typeface="微软雅黑"/>
                <a:cs typeface="微软雅黑"/>
              </a:rPr>
              <a:t>穿透本领小，电离作用强</a:t>
            </a:r>
            <a:r>
              <a:rPr dirty="0" sz="2400">
                <a:solidFill>
                  <a:srgbClr val="000099"/>
                </a:solidFill>
                <a:latin typeface="微软雅黑"/>
                <a:cs typeface="微软雅黑"/>
              </a:rPr>
              <a:t>，</a:t>
            </a:r>
            <a:r>
              <a:rPr dirty="0" sz="2400">
                <a:latin typeface="微软雅黑"/>
                <a:cs typeface="微软雅黑"/>
              </a:rPr>
              <a:t>能使沿途中的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004" y="3474224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空气电离。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004" y="686676"/>
            <a:ext cx="8331200" cy="2068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物理学家们经过多方面的研究后确认</a:t>
            </a:r>
            <a:r>
              <a:rPr dirty="0" sz="2800" spc="-5" b="1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2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α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  <a:p>
            <a:pPr marL="12700" marR="5080" indent="381000">
              <a:lnSpc>
                <a:spcPct val="125000"/>
              </a:lnSpc>
            </a:pPr>
            <a:r>
              <a:rPr dirty="0" sz="2400">
                <a:latin typeface="微软雅黑"/>
                <a:cs typeface="微软雅黑"/>
              </a:rPr>
              <a:t>是高速粒子流，粒子带正电，电荷量是电子的</a:t>
            </a:r>
            <a:r>
              <a:rPr dirty="0" sz="2400" spc="-165">
                <a:latin typeface="微软雅黑"/>
                <a:cs typeface="微软雅黑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倍，质量是 氢原子的</a:t>
            </a:r>
            <a:r>
              <a:rPr dirty="0" sz="2400" spc="-120">
                <a:latin typeface="微软雅黑"/>
                <a:cs typeface="微软雅黑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</a:t>
            </a:r>
            <a:r>
              <a:rPr dirty="0" sz="2400">
                <a:latin typeface="微软雅黑"/>
                <a:cs typeface="微软雅黑"/>
              </a:rPr>
              <a:t>倍，实际上就是氦原子核。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412" y="334344"/>
            <a:ext cx="8329295" cy="4236085"/>
          </a:xfrm>
          <a:prstGeom prst="rect">
            <a:avLst/>
          </a:prstGeom>
        </p:spPr>
        <p:txBody>
          <a:bodyPr wrap="square" lIns="0" tIns="221615" rIns="0" bIns="0" rtlCol="0" vert="horz">
            <a:spAutoFit/>
          </a:bodyPr>
          <a:lstStyle/>
          <a:p>
            <a:pPr marL="1169670">
              <a:lnSpc>
                <a:spcPct val="100000"/>
              </a:lnSpc>
              <a:spcBef>
                <a:spcPts val="1745"/>
              </a:spcBef>
            </a:pPr>
            <a:r>
              <a:rPr dirty="0" sz="2800" b="1">
                <a:latin typeface="微软雅黑"/>
                <a:cs typeface="微软雅黑"/>
              </a:rPr>
              <a:t>物理学家们经过多方面的研究后确认</a:t>
            </a:r>
            <a:r>
              <a:rPr dirty="0" sz="2800" spc="-5" b="1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β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  <a:p>
            <a:pPr marL="12700" marR="5080" indent="360680">
              <a:lnSpc>
                <a:spcPct val="125000"/>
              </a:lnSpc>
              <a:spcBef>
                <a:spcPts val="750"/>
              </a:spcBef>
            </a:pPr>
            <a:r>
              <a:rPr dirty="0" sz="2400">
                <a:latin typeface="微软雅黑"/>
                <a:cs typeface="微软雅黑"/>
              </a:rPr>
              <a:t>高速电子流，速度可达光速的</a:t>
            </a:r>
            <a:r>
              <a:rPr dirty="0" sz="2400" spc="-5">
                <a:latin typeface="微软雅黑"/>
                <a:cs typeface="微软雅黑"/>
              </a:rPr>
              <a:t>99%</a:t>
            </a:r>
            <a:r>
              <a:rPr dirty="0" sz="2400">
                <a:latin typeface="微软雅黑"/>
                <a:cs typeface="微软雅黑"/>
              </a:rPr>
              <a:t>，它的电离作用较弱，穿 透能力较强，很容易穿透黑纸，也能穿透几毫米厚的铝板。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147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γ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  <a:p>
            <a:pPr algn="just" marL="12700" marR="43180" indent="270510">
              <a:lnSpc>
                <a:spcPct val="125000"/>
              </a:lnSpc>
              <a:spcBef>
                <a:spcPts val="750"/>
              </a:spcBef>
            </a:pPr>
            <a:r>
              <a:rPr dirty="0" sz="2400">
                <a:latin typeface="微软雅黑"/>
                <a:cs typeface="微软雅黑"/>
              </a:rPr>
              <a:t>能量很高的电磁波，波长很短，在</a:t>
            </a:r>
            <a:r>
              <a:rPr dirty="0" sz="2400" spc="-35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10</a:t>
            </a:r>
            <a:r>
              <a:rPr dirty="0" sz="2400" spc="-30">
                <a:latin typeface="微软雅黑"/>
                <a:cs typeface="微软雅黑"/>
              </a:rPr>
              <a:t> </a:t>
            </a:r>
            <a:r>
              <a:rPr dirty="0" baseline="21505" sz="2325" spc="7">
                <a:latin typeface="微软雅黑"/>
                <a:cs typeface="微软雅黑"/>
              </a:rPr>
              <a:t>-10</a:t>
            </a:r>
            <a:r>
              <a:rPr dirty="0" baseline="21505" sz="2325" spc="-22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m</a:t>
            </a:r>
            <a:r>
              <a:rPr dirty="0" sz="2400" spc="-2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以下，它的电离 作用更小，穿透能力更强，甚至能穿透几厘米厚的铅板和几十 厘米厚的混凝土。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726" y="1441996"/>
          <a:ext cx="8380730" cy="3152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690"/>
                <a:gridCol w="1876425"/>
                <a:gridCol w="1585594"/>
                <a:gridCol w="1786889"/>
                <a:gridCol w="1902460"/>
              </a:tblGrid>
              <a:tr h="461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18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成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分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速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度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贯穿能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力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电离能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力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</a:tr>
              <a:tr h="890498">
                <a:tc>
                  <a:txBody>
                    <a:bodyPr/>
                    <a:lstStyle/>
                    <a:p>
                      <a:pPr marL="146685">
                        <a:lnSpc>
                          <a:spcPts val="3395"/>
                        </a:lnSpc>
                        <a:spcBef>
                          <a:spcPts val="515"/>
                        </a:spcBef>
                      </a:pPr>
                      <a:r>
                        <a:rPr dirty="0" sz="3250" i="1">
                          <a:latin typeface="Symbol"/>
                          <a:cs typeface="Symbol"/>
                        </a:rPr>
                        <a:t></a:t>
                      </a:r>
                      <a:endParaRPr sz="3250">
                        <a:latin typeface="Symbol"/>
                        <a:cs typeface="Symbol"/>
                      </a:endParaRPr>
                    </a:p>
                    <a:p>
                      <a:pPr marL="537845">
                        <a:lnSpc>
                          <a:spcPts val="1655"/>
                        </a:lnSpc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射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线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氦原子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核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635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1/10光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速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571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3030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弱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6860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强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6860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</a:tr>
              <a:tr h="890498">
                <a:tc>
                  <a:txBody>
                    <a:bodyPr/>
                    <a:lstStyle/>
                    <a:p>
                      <a:pPr marL="136525">
                        <a:lnSpc>
                          <a:spcPts val="3290"/>
                        </a:lnSpc>
                        <a:spcBef>
                          <a:spcPts val="725"/>
                        </a:spcBef>
                      </a:pPr>
                      <a:r>
                        <a:rPr dirty="0" sz="3250" i="1">
                          <a:latin typeface="Symbol"/>
                          <a:cs typeface="Symbol"/>
                        </a:rPr>
                        <a:t></a:t>
                      </a:r>
                      <a:endParaRPr sz="3250">
                        <a:latin typeface="Symbol"/>
                        <a:cs typeface="Symbol"/>
                      </a:endParaRPr>
                    </a:p>
                    <a:p>
                      <a:pPr marL="403225">
                        <a:lnSpc>
                          <a:spcPts val="1550"/>
                        </a:lnSpc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射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线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高速电子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流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6352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接近光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速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571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较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强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4066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较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弱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</a:tr>
              <a:tr h="890498">
                <a:tc>
                  <a:txBody>
                    <a:bodyPr/>
                    <a:lstStyle/>
                    <a:p>
                      <a:pPr marL="189230">
                        <a:lnSpc>
                          <a:spcPts val="3635"/>
                        </a:lnSpc>
                        <a:spcBef>
                          <a:spcPts val="40"/>
                        </a:spcBef>
                      </a:pPr>
                      <a:r>
                        <a:rPr dirty="0" sz="3250" i="1">
                          <a:latin typeface="Symbol"/>
                          <a:cs typeface="Symbol"/>
                        </a:rPr>
                        <a:t></a:t>
                      </a:r>
                      <a:endParaRPr sz="3250">
                        <a:latin typeface="Symbol"/>
                        <a:cs typeface="Symbol"/>
                      </a:endParaRPr>
                    </a:p>
                    <a:p>
                      <a:pPr marL="537845">
                        <a:lnSpc>
                          <a:spcPts val="1895"/>
                        </a:lnSpc>
                      </a:pPr>
                      <a:r>
                        <a:rPr dirty="0" sz="1800" b="1">
                          <a:latin typeface="新宋体"/>
                          <a:cs typeface="新宋体"/>
                        </a:rPr>
                        <a:t>射</a:t>
                      </a:r>
                      <a:r>
                        <a:rPr dirty="0" sz="1800" spc="-10" b="1">
                          <a:latin typeface="新宋体"/>
                          <a:cs typeface="新宋体"/>
                        </a:rPr>
                        <a:t>线</a:t>
                      </a:r>
                      <a:endParaRPr sz="1800">
                        <a:latin typeface="新宋体"/>
                        <a:cs typeface="新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 marR="4902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2400" spc="10" b="1">
                          <a:latin typeface="楷体"/>
                          <a:cs typeface="楷体"/>
                        </a:rPr>
                        <a:t>高能</a:t>
                      </a:r>
                      <a:r>
                        <a:rPr dirty="0" sz="2400" b="1">
                          <a:latin typeface="楷体"/>
                          <a:cs typeface="楷体"/>
                        </a:rPr>
                        <a:t>量 </a:t>
                      </a:r>
                      <a:r>
                        <a:rPr dirty="0" sz="2400" spc="10" b="1">
                          <a:latin typeface="楷体"/>
                          <a:cs typeface="楷体"/>
                        </a:rPr>
                        <a:t>电磁</a:t>
                      </a:r>
                      <a:r>
                        <a:rPr dirty="0" sz="2400" b="1">
                          <a:latin typeface="楷体"/>
                          <a:cs typeface="楷体"/>
                        </a:rPr>
                        <a:t>波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7359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光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速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2225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很</a:t>
                      </a:r>
                      <a:r>
                        <a:rPr dirty="0" sz="2400" spc="-10" b="1">
                          <a:latin typeface="楷体"/>
                          <a:cs typeface="楷体"/>
                        </a:rPr>
                        <a:t>强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7051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dirty="0" sz="2400" b="1">
                          <a:latin typeface="楷体"/>
                          <a:cs typeface="楷体"/>
                        </a:rPr>
                        <a:t>弱</a:t>
                      </a:r>
                      <a:endParaRPr sz="2400">
                        <a:latin typeface="楷体"/>
                        <a:cs typeface="楷体"/>
                      </a:endParaRPr>
                    </a:p>
                  </a:txBody>
                  <a:tcPr marL="0" marR="0" marB="0" marT="270510">
                    <a:lnL w="19050">
                      <a:solidFill>
                        <a:srgbClr val="944F71"/>
                      </a:solidFill>
                      <a:prstDash val="solid"/>
                    </a:lnL>
                    <a:lnR w="19050">
                      <a:solidFill>
                        <a:srgbClr val="944F71"/>
                      </a:solidFill>
                      <a:prstDash val="solid"/>
                    </a:lnR>
                    <a:lnT w="19050">
                      <a:solidFill>
                        <a:srgbClr val="944F71"/>
                      </a:solidFill>
                      <a:prstDash val="solid"/>
                    </a:lnT>
                    <a:lnB w="19050">
                      <a:solidFill>
                        <a:srgbClr val="944F7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118969" y="766787"/>
            <a:ext cx="3970654" cy="532765"/>
          </a:xfrm>
          <a:custGeom>
            <a:avLst/>
            <a:gdLst/>
            <a:ahLst/>
            <a:cxnLst/>
            <a:rect l="l" t="t" r="r" b="b"/>
            <a:pathLst>
              <a:path w="3970654" h="532765">
                <a:moveTo>
                  <a:pt x="3970337" y="532739"/>
                </a:moveTo>
                <a:lnTo>
                  <a:pt x="0" y="532739"/>
                </a:lnTo>
                <a:lnTo>
                  <a:pt x="0" y="0"/>
                </a:lnTo>
                <a:lnTo>
                  <a:pt x="3970337" y="0"/>
                </a:lnTo>
                <a:lnTo>
                  <a:pt x="397033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523214"/>
                </a:lnTo>
                <a:lnTo>
                  <a:pt x="4762" y="523214"/>
                </a:lnTo>
                <a:lnTo>
                  <a:pt x="9525" y="527977"/>
                </a:lnTo>
                <a:lnTo>
                  <a:pt x="3970337" y="527977"/>
                </a:lnTo>
                <a:lnTo>
                  <a:pt x="3970337" y="532739"/>
                </a:lnTo>
                <a:close/>
              </a:path>
              <a:path w="3970654" h="53276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3970654" h="532765">
                <a:moveTo>
                  <a:pt x="3960812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3960812" y="4762"/>
                </a:lnTo>
                <a:lnTo>
                  <a:pt x="3960812" y="9524"/>
                </a:lnTo>
                <a:close/>
              </a:path>
              <a:path w="3970654" h="532765">
                <a:moveTo>
                  <a:pt x="3960812" y="527977"/>
                </a:moveTo>
                <a:lnTo>
                  <a:pt x="3960812" y="4762"/>
                </a:lnTo>
                <a:lnTo>
                  <a:pt x="3965575" y="9524"/>
                </a:lnTo>
                <a:lnTo>
                  <a:pt x="3970337" y="9524"/>
                </a:lnTo>
                <a:lnTo>
                  <a:pt x="3970337" y="523214"/>
                </a:lnTo>
                <a:lnTo>
                  <a:pt x="3965575" y="523214"/>
                </a:lnTo>
                <a:lnTo>
                  <a:pt x="3960812" y="527977"/>
                </a:lnTo>
                <a:close/>
              </a:path>
              <a:path w="3970654" h="532765">
                <a:moveTo>
                  <a:pt x="3970337" y="9524"/>
                </a:moveTo>
                <a:lnTo>
                  <a:pt x="3965575" y="9524"/>
                </a:lnTo>
                <a:lnTo>
                  <a:pt x="3960812" y="4762"/>
                </a:lnTo>
                <a:lnTo>
                  <a:pt x="3970337" y="4762"/>
                </a:lnTo>
                <a:lnTo>
                  <a:pt x="3970337" y="9524"/>
                </a:lnTo>
                <a:close/>
              </a:path>
              <a:path w="3970654" h="532765">
                <a:moveTo>
                  <a:pt x="9525" y="527977"/>
                </a:moveTo>
                <a:lnTo>
                  <a:pt x="4762" y="523214"/>
                </a:lnTo>
                <a:lnTo>
                  <a:pt x="9525" y="523214"/>
                </a:lnTo>
                <a:lnTo>
                  <a:pt x="9525" y="527977"/>
                </a:lnTo>
                <a:close/>
              </a:path>
              <a:path w="3970654" h="532765">
                <a:moveTo>
                  <a:pt x="3960812" y="527977"/>
                </a:moveTo>
                <a:lnTo>
                  <a:pt x="9525" y="527977"/>
                </a:lnTo>
                <a:lnTo>
                  <a:pt x="9525" y="523214"/>
                </a:lnTo>
                <a:lnTo>
                  <a:pt x="3960812" y="523214"/>
                </a:lnTo>
                <a:lnTo>
                  <a:pt x="3960812" y="527977"/>
                </a:lnTo>
                <a:close/>
              </a:path>
              <a:path w="3970654" h="532765">
                <a:moveTo>
                  <a:pt x="3970337" y="527977"/>
                </a:moveTo>
                <a:lnTo>
                  <a:pt x="3960812" y="527977"/>
                </a:lnTo>
                <a:lnTo>
                  <a:pt x="3965575" y="523214"/>
                </a:lnTo>
                <a:lnTo>
                  <a:pt x="3970337" y="523214"/>
                </a:lnTo>
                <a:lnTo>
                  <a:pt x="3970337" y="527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24162" y="796315"/>
            <a:ext cx="2158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三种射线比</a:t>
            </a:r>
            <a:r>
              <a:rPr dirty="0" sz="2800" spc="-5">
                <a:solidFill>
                  <a:srgbClr val="FF0000"/>
                </a:solidFill>
                <a:latin typeface="微软雅黑"/>
                <a:cs typeface="微软雅黑"/>
              </a:rPr>
              <a:t>较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25" y="867549"/>
            <a:ext cx="7900034" cy="350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marR="5848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思考：</a:t>
            </a:r>
            <a:r>
              <a:rPr dirty="0" sz="2400">
                <a:latin typeface="微软雅黑"/>
                <a:cs typeface="微软雅黑"/>
              </a:rPr>
              <a:t>有什么事实和理由可以说明放射性元素放出的 射线来自于原子核的内部？这又说明了什么？</a:t>
            </a:r>
            <a:endParaRPr sz="2400">
              <a:latin typeface="微软雅黑"/>
              <a:cs typeface="微软雅黑"/>
            </a:endParaRPr>
          </a:p>
          <a:p>
            <a:pPr marL="12700" marR="5080" indent="149860">
              <a:lnSpc>
                <a:spcPct val="125000"/>
              </a:lnSpc>
              <a:spcBef>
                <a:spcPts val="1845"/>
              </a:spcBef>
            </a:pPr>
            <a:r>
              <a:rPr dirty="0" sz="2000">
                <a:latin typeface="微软雅黑"/>
                <a:cs typeface="微软雅黑"/>
              </a:rPr>
              <a:t>实验发现，如果一种元素具有放射性，那么，无论它是以单质存在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还是以化合物形式存在，都具有放射性。放射性的强度也不受温度、</a:t>
            </a:r>
            <a:r>
              <a:rPr dirty="0" sz="2000">
                <a:latin typeface="微软雅黑"/>
                <a:cs typeface="微软雅黑"/>
              </a:rPr>
              <a:t>外 </a:t>
            </a:r>
            <a:r>
              <a:rPr dirty="0" sz="2000">
                <a:latin typeface="微软雅黑"/>
                <a:cs typeface="微软雅黑"/>
              </a:rPr>
              <a:t>界压强的影响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 marR="5080" indent="149860">
              <a:lnSpc>
                <a:spcPct val="125000"/>
              </a:lnSpc>
            </a:pPr>
            <a:r>
              <a:rPr dirty="0" sz="2000">
                <a:latin typeface="微软雅黑"/>
                <a:cs typeface="微软雅黑"/>
              </a:rPr>
              <a:t>由于元素的化学性质决定于原子核外的电子，这就说明射线与这些</a:t>
            </a:r>
            <a:r>
              <a:rPr dirty="0" sz="2000" spc="5">
                <a:latin typeface="微软雅黑"/>
                <a:cs typeface="微软雅黑"/>
              </a:rPr>
              <a:t>电 </a:t>
            </a:r>
            <a:r>
              <a:rPr dirty="0" sz="2000">
                <a:latin typeface="微软雅黑"/>
                <a:cs typeface="微软雅黑"/>
              </a:rPr>
              <a:t>子无关，也就是说，射线来自原子核。这说明原子核内部是有结构的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思考：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原子核内部是有结构的，那么原子核又是由什么粒子组成的呢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220" y="371716"/>
            <a:ext cx="181038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0">
                <a:solidFill>
                  <a:srgbClr val="FF0000"/>
                </a:solidFill>
                <a:latin typeface="黑体"/>
                <a:cs typeface="黑体"/>
              </a:rPr>
              <a:t>质子的发</a:t>
            </a:r>
            <a:r>
              <a:rPr dirty="0" sz="2800" spc="-20" i="0">
                <a:solidFill>
                  <a:srgbClr val="FF0000"/>
                </a:solidFill>
                <a:latin typeface="黑体"/>
                <a:cs typeface="黑体"/>
              </a:rPr>
              <a:t>现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93620" marR="125730">
              <a:lnSpc>
                <a:spcPct val="125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1919</a:t>
            </a:r>
            <a:r>
              <a:rPr dirty="0"/>
              <a:t>年，卢瑟福用镭放射出的</a:t>
            </a:r>
            <a:r>
              <a:rPr dirty="0" spc="-5">
                <a:latin typeface="Times New Roman"/>
                <a:cs typeface="Times New Roman"/>
              </a:rPr>
              <a:t>α</a:t>
            </a:r>
            <a:r>
              <a:rPr dirty="0"/>
              <a:t>粒子轰击氮原子核</a:t>
            </a:r>
            <a:r>
              <a:rPr dirty="0"/>
              <a:t>， </a:t>
            </a:r>
            <a:r>
              <a:rPr dirty="0"/>
              <a:t>从氮核中打出一种新的粒子</a:t>
            </a:r>
            <a:r>
              <a:rPr dirty="0" spc="5"/>
              <a:t>。</a:t>
            </a:r>
          </a:p>
          <a:p>
            <a:pPr marL="2293620" marR="5080">
              <a:lnSpc>
                <a:spcPct val="125000"/>
              </a:lnSpc>
              <a:spcBef>
                <a:spcPts val="480"/>
              </a:spcBef>
            </a:pPr>
            <a:r>
              <a:rPr dirty="0"/>
              <a:t>根据这种粒子在电场和磁场中的偏转，测出了它的</a:t>
            </a:r>
            <a:r>
              <a:rPr dirty="0"/>
              <a:t>质 </a:t>
            </a:r>
            <a:r>
              <a:rPr dirty="0"/>
              <a:t>量和电荷。研究表明，它就是氢原子核，叫做质</a:t>
            </a:r>
            <a:r>
              <a:rPr dirty="0" spc="5"/>
              <a:t>子</a:t>
            </a:r>
          </a:p>
          <a:p>
            <a:pPr marL="2293620">
              <a:lnSpc>
                <a:spcPct val="100000"/>
              </a:lnSpc>
              <a:spcBef>
                <a:spcPts val="600"/>
              </a:spcBef>
            </a:pPr>
            <a:r>
              <a:rPr dirty="0" spc="-5"/>
              <a:t>（</a:t>
            </a:r>
            <a:r>
              <a:rPr dirty="0" spc="-5">
                <a:latin typeface="Times New Roman"/>
                <a:cs typeface="Times New Roman"/>
              </a:rPr>
              <a:t>proton</a:t>
            </a:r>
            <a:r>
              <a:rPr dirty="0" spc="-5"/>
              <a:t>），</a:t>
            </a:r>
            <a:r>
              <a:rPr dirty="0"/>
              <a:t>用</a:t>
            </a:r>
            <a:r>
              <a:rPr dirty="0" spc="-5">
                <a:latin typeface="Times New Roman"/>
                <a:cs typeface="Times New Roman"/>
              </a:rPr>
              <a:t>p</a:t>
            </a:r>
            <a:r>
              <a:rPr dirty="0"/>
              <a:t>表示</a:t>
            </a:r>
            <a:r>
              <a:rPr dirty="0" spc="5"/>
              <a:t>。</a:t>
            </a:r>
          </a:p>
          <a:p>
            <a:pPr marL="2674620">
              <a:lnSpc>
                <a:spcPct val="100000"/>
              </a:lnSpc>
              <a:spcBef>
                <a:spcPts val="1080"/>
              </a:spcBef>
            </a:pP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baseline="-17094" sz="1950" spc="-7">
                <a:latin typeface="Times New Roman"/>
                <a:cs typeface="Times New Roman"/>
              </a:rPr>
              <a:t>p</a:t>
            </a:r>
            <a:r>
              <a:rPr dirty="0" sz="2000" spc="-5">
                <a:latin typeface="Times New Roman"/>
                <a:cs typeface="Times New Roman"/>
              </a:rPr>
              <a:t>=1.6726231</a:t>
            </a:r>
            <a:r>
              <a:rPr dirty="0" sz="2000" spc="-5"/>
              <a:t>×</a:t>
            </a:r>
            <a:r>
              <a:rPr dirty="0" sz="2000" spc="-5">
                <a:latin typeface="Times New Roman"/>
                <a:cs typeface="Times New Roman"/>
              </a:rPr>
              <a:t>10</a:t>
            </a:r>
            <a:r>
              <a:rPr dirty="0" baseline="21367" sz="1950" spc="-7">
                <a:latin typeface="Times New Roman"/>
                <a:cs typeface="Times New Roman"/>
              </a:rPr>
              <a:t>-27</a:t>
            </a:r>
            <a:r>
              <a:rPr dirty="0" sz="2000" spc="-5">
                <a:latin typeface="Times New Roman"/>
                <a:cs typeface="Times New Roman"/>
              </a:rPr>
              <a:t>kg</a:t>
            </a:r>
            <a:endParaRPr sz="2000">
              <a:latin typeface="Times New Roman"/>
              <a:cs typeface="Times New Roman"/>
            </a:endParaRPr>
          </a:p>
          <a:p>
            <a:pPr marL="2293620" marR="5080">
              <a:lnSpc>
                <a:spcPct val="125000"/>
              </a:lnSpc>
              <a:spcBef>
                <a:spcPts val="480"/>
              </a:spcBef>
            </a:pPr>
            <a:r>
              <a:rPr dirty="0"/>
              <a:t>用同样的方法人们从氟、钠、铝等原子核中都打出</a:t>
            </a:r>
            <a:r>
              <a:rPr dirty="0"/>
              <a:t>了 </a:t>
            </a:r>
            <a:r>
              <a:rPr dirty="0"/>
              <a:t>质</a:t>
            </a:r>
            <a:r>
              <a:rPr dirty="0" spc="500"/>
              <a:t>子</a:t>
            </a:r>
            <a:r>
              <a:rPr dirty="0" spc="-5">
                <a:latin typeface="Times New Roman"/>
                <a:cs typeface="Times New Roman"/>
              </a:rPr>
              <a:t>----</a:t>
            </a:r>
            <a:r>
              <a:rPr dirty="0">
                <a:solidFill>
                  <a:srgbClr val="FF0000"/>
                </a:solidFill>
              </a:rPr>
              <a:t>说明质子是原子核的组成部</a:t>
            </a:r>
            <a:r>
              <a:rPr dirty="0" spc="5">
                <a:solidFill>
                  <a:srgbClr val="FF0000"/>
                </a:solidFill>
              </a:rPr>
              <a:t>分</a:t>
            </a:r>
          </a:p>
        </p:txBody>
      </p:sp>
      <p:sp>
        <p:nvSpPr>
          <p:cNvPr id="4" name="object 4"/>
          <p:cNvSpPr/>
          <p:nvPr/>
        </p:nvSpPr>
        <p:spPr>
          <a:xfrm>
            <a:off x="434340" y="1491996"/>
            <a:ext cx="2121408" cy="2726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705" y="0"/>
            <a:ext cx="15513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3000" spc="-5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9603" y="954049"/>
            <a:ext cx="3936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原子核只由质子组成吗</a:t>
            </a:r>
            <a:r>
              <a:rPr dirty="0" sz="2800" spc="-5" b="1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06497" y="2188425"/>
            <a:ext cx="2118360" cy="57150"/>
          </a:xfrm>
          <a:custGeom>
            <a:avLst/>
            <a:gdLst/>
            <a:ahLst/>
            <a:cxnLst/>
            <a:rect l="l" t="t" r="r" b="b"/>
            <a:pathLst>
              <a:path w="2118360" h="57150">
                <a:moveTo>
                  <a:pt x="2117725" y="57150"/>
                </a:moveTo>
                <a:lnTo>
                  <a:pt x="0" y="38100"/>
                </a:lnTo>
                <a:lnTo>
                  <a:pt x="342" y="0"/>
                </a:lnTo>
                <a:lnTo>
                  <a:pt x="2118067" y="19050"/>
                </a:lnTo>
                <a:lnTo>
                  <a:pt x="21177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58839" y="1734007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质子质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70561" y="219795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2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45989" y="1590370"/>
            <a:ext cx="9398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30" i="0">
                <a:solidFill>
                  <a:srgbClr val="FF3300"/>
                </a:solidFill>
                <a:latin typeface="宋体"/>
                <a:cs typeface="宋体"/>
              </a:rPr>
              <a:t>？</a:t>
            </a:r>
            <a:endParaRPr sz="7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295" y="4209427"/>
            <a:ext cx="845629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02260">
              <a:lnSpc>
                <a:spcPct val="120000"/>
              </a:lnSpc>
              <a:spcBef>
                <a:spcPts val="95"/>
              </a:spcBef>
            </a:pP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卢瑟福猜想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sz="2000">
                <a:latin typeface="微软雅黑"/>
                <a:cs typeface="微软雅黑"/>
              </a:rPr>
              <a:t>原子核内可能还存在着另一种粒子，它的质量与质子相同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但是不带电，他把这种粒子叫做中子</a:t>
            </a:r>
            <a:r>
              <a:rPr dirty="0" sz="2000" spc="-10">
                <a:latin typeface="微软雅黑"/>
                <a:cs typeface="微软雅黑"/>
              </a:rPr>
              <a:t>（neutron）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3977" y="1610423"/>
            <a:ext cx="1860550" cy="1541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42545">
              <a:lnSpc>
                <a:spcPct val="137700"/>
              </a:lnSpc>
              <a:spcBef>
                <a:spcPts val="135"/>
              </a:spcBef>
            </a:pPr>
            <a:r>
              <a:rPr dirty="0" sz="2400" b="1">
                <a:latin typeface="宋体"/>
                <a:cs typeface="宋体"/>
              </a:rPr>
              <a:t>原子核质</a:t>
            </a:r>
            <a:r>
              <a:rPr dirty="0" sz="2400" spc="-10" b="1">
                <a:latin typeface="宋体"/>
                <a:cs typeface="宋体"/>
              </a:rPr>
              <a:t>量 </a:t>
            </a:r>
            <a:r>
              <a:rPr dirty="0" sz="2400" b="1">
                <a:latin typeface="宋体"/>
                <a:cs typeface="宋体"/>
              </a:rPr>
              <a:t>原子核电荷</a:t>
            </a:r>
            <a:r>
              <a:rPr dirty="0" sz="2400" spc="-10" b="1">
                <a:latin typeface="宋体"/>
                <a:cs typeface="宋体"/>
              </a:rPr>
              <a:t>量 </a:t>
            </a:r>
            <a:r>
              <a:rPr dirty="0" sz="2400" b="1">
                <a:latin typeface="宋体"/>
                <a:cs typeface="宋体"/>
              </a:rPr>
              <a:t>原子核质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8551" y="3190176"/>
            <a:ext cx="1860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原子核电荷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38107" y="3230321"/>
            <a:ext cx="2116455" cy="0"/>
          </a:xfrm>
          <a:custGeom>
            <a:avLst/>
            <a:gdLst/>
            <a:ahLst/>
            <a:cxnLst/>
            <a:rect l="l" t="t" r="r" b="b"/>
            <a:pathLst>
              <a:path w="2116454" h="0">
                <a:moveTo>
                  <a:pt x="0" y="0"/>
                </a:moveTo>
                <a:lnTo>
                  <a:pt x="2115832" y="0"/>
                </a:lnTo>
              </a:path>
            </a:pathLst>
          </a:custGeom>
          <a:ln w="478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00203" y="2090242"/>
            <a:ext cx="157035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">
              <a:lnSpc>
                <a:spcPct val="1416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质子电荷</a:t>
            </a:r>
            <a:r>
              <a:rPr dirty="0" sz="2400" spc="-10" b="1">
                <a:latin typeface="宋体"/>
                <a:cs typeface="宋体"/>
              </a:rPr>
              <a:t>量 </a:t>
            </a:r>
            <a:r>
              <a:rPr dirty="0" sz="2400" b="1">
                <a:latin typeface="宋体"/>
                <a:cs typeface="宋体"/>
              </a:rPr>
              <a:t>质子质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5296" y="3280295"/>
            <a:ext cx="155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质子电荷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06693" y="3235185"/>
            <a:ext cx="1809750" cy="0"/>
          </a:xfrm>
          <a:custGeom>
            <a:avLst/>
            <a:gdLst/>
            <a:ahLst/>
            <a:cxnLst/>
            <a:rect l="l" t="t" r="r" b="b"/>
            <a:pathLst>
              <a:path w="1809750" h="0">
                <a:moveTo>
                  <a:pt x="0" y="0"/>
                </a:moveTo>
                <a:lnTo>
                  <a:pt x="180962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50484" y="2774416"/>
            <a:ext cx="406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 b="1">
                <a:solidFill>
                  <a:srgbClr val="FF0000"/>
                </a:solidFill>
                <a:latin typeface="宋体"/>
                <a:cs typeface="宋体"/>
              </a:rPr>
              <a:t>&gt;</a:t>
            </a:r>
            <a:endParaRPr sz="6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1291" y="1467611"/>
            <a:ext cx="2124456" cy="2724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548383" y="1132332"/>
            <a:ext cx="4099560" cy="1853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31507" y="1348739"/>
            <a:ext cx="1944624" cy="2906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19222" y="545223"/>
            <a:ext cx="1802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中子的发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现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831" y="3155188"/>
            <a:ext cx="5875655" cy="1515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44475" indent="2540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1932</a:t>
            </a:r>
            <a:r>
              <a:rPr dirty="0" sz="2000" b="1">
                <a:latin typeface="宋体"/>
                <a:cs typeface="宋体"/>
              </a:rPr>
              <a:t>年，卢瑟福的学生查德威克通过实验证实</a:t>
            </a:r>
            <a:r>
              <a:rPr dirty="0" sz="2000" spc="-5" b="1">
                <a:latin typeface="宋体"/>
                <a:cs typeface="宋体"/>
              </a:rPr>
              <a:t>了 </a:t>
            </a:r>
            <a:r>
              <a:rPr dirty="0" sz="2000" b="1">
                <a:latin typeface="宋体"/>
                <a:cs typeface="宋体"/>
              </a:rPr>
              <a:t>卢瑟福的猜想</a:t>
            </a:r>
            <a:r>
              <a:rPr dirty="0" sz="2000" spc="-5" b="1">
                <a:latin typeface="Times New Roman"/>
                <a:cs typeface="Times New Roman"/>
              </a:rPr>
              <a:t>-------</a:t>
            </a:r>
            <a:r>
              <a:rPr dirty="0" sz="2000" b="1">
                <a:latin typeface="宋体"/>
                <a:cs typeface="宋体"/>
              </a:rPr>
              <a:t>发现了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中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子</a:t>
            </a:r>
            <a:endParaRPr sz="2000">
              <a:latin typeface="宋体"/>
              <a:cs typeface="宋体"/>
            </a:endParaRPr>
          </a:p>
          <a:p>
            <a:pPr marL="12700" marR="5080" indent="208279">
              <a:lnSpc>
                <a:spcPct val="100000"/>
              </a:lnSpc>
              <a:spcBef>
                <a:spcPts val="445"/>
              </a:spcBef>
            </a:pPr>
            <a:r>
              <a:rPr dirty="0" sz="1800" b="1">
                <a:latin typeface="楷体"/>
                <a:cs typeface="楷体"/>
              </a:rPr>
              <a:t>他用高速</a:t>
            </a:r>
            <a:r>
              <a:rPr dirty="0" sz="1800" spc="-5" b="1" i="1">
                <a:latin typeface="Times New Roman"/>
                <a:cs typeface="Times New Roman"/>
              </a:rPr>
              <a:t>α</a:t>
            </a:r>
            <a:r>
              <a:rPr dirty="0" sz="1800" b="1">
                <a:latin typeface="楷体"/>
                <a:cs typeface="楷体"/>
              </a:rPr>
              <a:t>粒子轰击了铍原子核，产生了一种未知射线</a:t>
            </a:r>
            <a:r>
              <a:rPr dirty="0" sz="1800" spc="-10" b="1">
                <a:latin typeface="楷体"/>
                <a:cs typeface="楷体"/>
              </a:rPr>
              <a:t>。 </a:t>
            </a:r>
            <a:r>
              <a:rPr dirty="0" sz="1800" b="1">
                <a:latin typeface="楷体"/>
                <a:cs typeface="楷体"/>
              </a:rPr>
              <a:t>经过研究表明，这种射线是由质量与质子大致相等，</a:t>
            </a:r>
            <a:r>
              <a:rPr dirty="0" sz="1800" spc="-10" b="1">
                <a:latin typeface="楷体"/>
                <a:cs typeface="楷体"/>
              </a:rPr>
              <a:t>不 </a:t>
            </a:r>
            <a:r>
              <a:rPr dirty="0" sz="1800" b="1">
                <a:latin typeface="楷体"/>
                <a:cs typeface="楷体"/>
              </a:rPr>
              <a:t>带电的中性粒子组成。</a:t>
            </a:r>
            <a:r>
              <a:rPr dirty="0" sz="1800" b="1" i="1">
                <a:latin typeface="Times New Roman"/>
                <a:cs typeface="Times New Roman"/>
              </a:rPr>
              <a:t>m</a:t>
            </a:r>
            <a:r>
              <a:rPr dirty="0" baseline="-16908" sz="1725" b="1">
                <a:latin typeface="Times New Roman"/>
                <a:cs typeface="Times New Roman"/>
              </a:rPr>
              <a:t>n</a:t>
            </a:r>
            <a:r>
              <a:rPr dirty="0" sz="1800" b="1">
                <a:latin typeface="Times New Roman"/>
                <a:cs typeface="Times New Roman"/>
              </a:rPr>
              <a:t>=1.6749286</a:t>
            </a:r>
            <a:r>
              <a:rPr dirty="0" sz="1800" b="1">
                <a:latin typeface="楷体"/>
                <a:cs typeface="楷体"/>
              </a:rPr>
              <a:t>×</a:t>
            </a:r>
            <a:r>
              <a:rPr dirty="0" sz="1800" b="1">
                <a:latin typeface="Times New Roman"/>
                <a:cs typeface="Times New Roman"/>
              </a:rPr>
              <a:t>10</a:t>
            </a:r>
            <a:r>
              <a:rPr dirty="0" baseline="21739" sz="1725" b="1">
                <a:latin typeface="Times New Roman"/>
                <a:cs typeface="Times New Roman"/>
              </a:rPr>
              <a:t>-27</a:t>
            </a:r>
            <a:r>
              <a:rPr dirty="0" sz="1800" b="1">
                <a:latin typeface="Times New Roman"/>
                <a:cs typeface="Times New Roman"/>
              </a:rPr>
              <a:t>kg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7420" y="2715767"/>
            <a:ext cx="885444" cy="199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2551" y="475856"/>
            <a:ext cx="2007235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i="0">
                <a:solidFill>
                  <a:srgbClr val="FF0000"/>
                </a:solidFill>
                <a:latin typeface="微软雅黑"/>
                <a:cs typeface="微软雅黑"/>
              </a:rPr>
              <a:t>原子核的组</a:t>
            </a:r>
            <a:r>
              <a:rPr dirty="0" sz="2600" spc="5" i="0">
                <a:solidFill>
                  <a:srgbClr val="FF0000"/>
                </a:solidFill>
                <a:latin typeface="微软雅黑"/>
                <a:cs typeface="微软雅黑"/>
              </a:rPr>
              <a:t>成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40" y="1374609"/>
            <a:ext cx="8794750" cy="2404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dirty="0" sz="2000" b="1">
                <a:latin typeface="微软雅黑"/>
                <a:cs typeface="微软雅黑"/>
              </a:rPr>
              <a:t>质子和中子是组成原子核的两种基本粒</a:t>
            </a:r>
            <a:r>
              <a:rPr dirty="0" sz="2000" spc="5" b="1">
                <a:latin typeface="微软雅黑"/>
                <a:cs typeface="微软雅黑"/>
              </a:rPr>
              <a:t>子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000">
                <a:latin typeface="微软雅黑"/>
                <a:cs typeface="微软雅黑"/>
              </a:rPr>
              <a:t>质子和中子都是原子核的组成成分，统称</a:t>
            </a:r>
            <a:r>
              <a:rPr dirty="0" sz="2000" b="1">
                <a:latin typeface="微软雅黑"/>
                <a:cs typeface="微软雅黑"/>
              </a:rPr>
              <a:t>核子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000">
                <a:latin typeface="微软雅黑"/>
                <a:cs typeface="微软雅黑"/>
              </a:rPr>
              <a:t>（两者除了是否带电，以及质量上的微小差别外，其余性质都十分相似。</a:t>
            </a:r>
            <a:r>
              <a:rPr dirty="0" sz="2000" spc="5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469265" algn="l"/>
              </a:tabLst>
            </a:pPr>
            <a:r>
              <a:rPr dirty="0" sz="2000" spc="5" b="1">
                <a:latin typeface="微软雅黑"/>
                <a:cs typeface="微软雅黑"/>
              </a:rPr>
              <a:t>①	</a:t>
            </a:r>
            <a:r>
              <a:rPr dirty="0" sz="2000" b="1">
                <a:latin typeface="微软雅黑"/>
                <a:cs typeface="微软雅黑"/>
              </a:rPr>
              <a:t>原子核的电荷数：</a:t>
            </a:r>
            <a:r>
              <a:rPr dirty="0" sz="2000">
                <a:latin typeface="微软雅黑"/>
                <a:cs typeface="微软雅黑"/>
              </a:rPr>
              <a:t>核内的质子数，也就是这种元素的原子序数，用</a:t>
            </a:r>
            <a:r>
              <a:rPr dirty="0" sz="2000" spc="-5">
                <a:latin typeface="Times New Roman"/>
                <a:cs typeface="Times New Roman"/>
              </a:rPr>
              <a:t>Z</a:t>
            </a:r>
            <a:r>
              <a:rPr dirty="0" sz="2000">
                <a:latin typeface="微软雅黑"/>
                <a:cs typeface="微软雅黑"/>
              </a:rPr>
              <a:t>表示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469265" algn="l"/>
              </a:tabLst>
            </a:pPr>
            <a:r>
              <a:rPr dirty="0" sz="2000" spc="5" b="1">
                <a:latin typeface="微软雅黑"/>
                <a:cs typeface="微软雅黑"/>
              </a:rPr>
              <a:t>②</a:t>
            </a:r>
            <a:r>
              <a:rPr dirty="0" sz="2000" spc="5" b="1">
                <a:latin typeface="微软雅黑"/>
                <a:cs typeface="微软雅黑"/>
              </a:rPr>
              <a:t>	</a:t>
            </a:r>
            <a:r>
              <a:rPr dirty="0" sz="2000" b="1">
                <a:latin typeface="微软雅黑"/>
                <a:cs typeface="微软雅黑"/>
              </a:rPr>
              <a:t>原子核的质量数：</a:t>
            </a:r>
            <a:r>
              <a:rPr dirty="0" sz="2000">
                <a:latin typeface="微软雅黑"/>
                <a:cs typeface="微软雅黑"/>
              </a:rPr>
              <a:t>核内的核子数（核内质子数与中子数总和），用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>
                <a:latin typeface="微软雅黑"/>
                <a:cs typeface="微软雅黑"/>
              </a:rPr>
              <a:t>表示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83808" y="268224"/>
            <a:ext cx="1694688" cy="2097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34100" y="2093976"/>
            <a:ext cx="609600" cy="266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467690" y="868311"/>
            <a:ext cx="1119911" cy="40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49412" y="868311"/>
            <a:ext cx="1816519" cy="407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44457" y="1781487"/>
            <a:ext cx="266065" cy="1068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 marR="5080" indent="-50800">
              <a:lnSpc>
                <a:spcPct val="139600"/>
              </a:lnSpc>
              <a:spcBef>
                <a:spcPts val="100"/>
              </a:spcBef>
            </a:pPr>
            <a:r>
              <a:rPr dirty="0" sz="2450">
                <a:latin typeface="Times New Roman"/>
                <a:cs typeface="Times New Roman"/>
              </a:rPr>
              <a:t>A  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5711" y="1830997"/>
            <a:ext cx="563245" cy="9188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850" spc="5">
                <a:latin typeface="Times New Roman"/>
                <a:cs typeface="Times New Roman"/>
              </a:rPr>
              <a:t>X</a:t>
            </a:r>
            <a:endParaRPr sz="5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97922" y="1481226"/>
            <a:ext cx="1749425" cy="900430"/>
          </a:xfrm>
          <a:custGeom>
            <a:avLst/>
            <a:gdLst/>
            <a:ahLst/>
            <a:cxnLst/>
            <a:rect l="l" t="t" r="r" b="b"/>
            <a:pathLst>
              <a:path w="1749425" h="900430">
                <a:moveTo>
                  <a:pt x="393738" y="507954"/>
                </a:moveTo>
                <a:lnTo>
                  <a:pt x="393738" y="0"/>
                </a:lnTo>
                <a:lnTo>
                  <a:pt x="1748942" y="0"/>
                </a:lnTo>
                <a:lnTo>
                  <a:pt x="1748942" y="6350"/>
                </a:lnTo>
                <a:lnTo>
                  <a:pt x="406438" y="6350"/>
                </a:lnTo>
                <a:lnTo>
                  <a:pt x="400088" y="12700"/>
                </a:lnTo>
                <a:lnTo>
                  <a:pt x="406438" y="12700"/>
                </a:lnTo>
                <a:lnTo>
                  <a:pt x="406438" y="506082"/>
                </a:lnTo>
                <a:lnTo>
                  <a:pt x="395617" y="506082"/>
                </a:lnTo>
                <a:lnTo>
                  <a:pt x="393738" y="507954"/>
                </a:lnTo>
                <a:close/>
              </a:path>
              <a:path w="1749425" h="900430">
                <a:moveTo>
                  <a:pt x="406438" y="12700"/>
                </a:moveTo>
                <a:lnTo>
                  <a:pt x="400088" y="12700"/>
                </a:lnTo>
                <a:lnTo>
                  <a:pt x="406438" y="6350"/>
                </a:lnTo>
                <a:lnTo>
                  <a:pt x="406438" y="12700"/>
                </a:lnTo>
                <a:close/>
              </a:path>
              <a:path w="1749425" h="900430">
                <a:moveTo>
                  <a:pt x="1736242" y="12700"/>
                </a:moveTo>
                <a:lnTo>
                  <a:pt x="406438" y="12700"/>
                </a:lnTo>
                <a:lnTo>
                  <a:pt x="406438" y="6350"/>
                </a:lnTo>
                <a:lnTo>
                  <a:pt x="1736242" y="6350"/>
                </a:lnTo>
                <a:lnTo>
                  <a:pt x="1736242" y="12700"/>
                </a:lnTo>
                <a:close/>
              </a:path>
              <a:path w="1749425" h="900430">
                <a:moveTo>
                  <a:pt x="1736242" y="870737"/>
                </a:moveTo>
                <a:lnTo>
                  <a:pt x="1736242" y="6350"/>
                </a:lnTo>
                <a:lnTo>
                  <a:pt x="1742592" y="12700"/>
                </a:lnTo>
                <a:lnTo>
                  <a:pt x="1748942" y="12700"/>
                </a:lnTo>
                <a:lnTo>
                  <a:pt x="1748942" y="864387"/>
                </a:lnTo>
                <a:lnTo>
                  <a:pt x="1742592" y="864387"/>
                </a:lnTo>
                <a:lnTo>
                  <a:pt x="1736242" y="870737"/>
                </a:lnTo>
                <a:close/>
              </a:path>
              <a:path w="1749425" h="900430">
                <a:moveTo>
                  <a:pt x="1748942" y="12700"/>
                </a:moveTo>
                <a:lnTo>
                  <a:pt x="1742592" y="12700"/>
                </a:lnTo>
                <a:lnTo>
                  <a:pt x="1736242" y="6350"/>
                </a:lnTo>
                <a:lnTo>
                  <a:pt x="1748942" y="6350"/>
                </a:lnTo>
                <a:lnTo>
                  <a:pt x="1748942" y="12700"/>
                </a:lnTo>
                <a:close/>
              </a:path>
              <a:path w="1749425" h="900430">
                <a:moveTo>
                  <a:pt x="393738" y="510578"/>
                </a:moveTo>
                <a:lnTo>
                  <a:pt x="393738" y="507954"/>
                </a:lnTo>
                <a:lnTo>
                  <a:pt x="395617" y="506082"/>
                </a:lnTo>
                <a:lnTo>
                  <a:pt x="393738" y="510578"/>
                </a:lnTo>
                <a:close/>
              </a:path>
              <a:path w="1749425" h="900430">
                <a:moveTo>
                  <a:pt x="406438" y="510578"/>
                </a:moveTo>
                <a:lnTo>
                  <a:pt x="393738" y="510578"/>
                </a:lnTo>
                <a:lnTo>
                  <a:pt x="395617" y="506082"/>
                </a:lnTo>
                <a:lnTo>
                  <a:pt x="406438" y="506082"/>
                </a:lnTo>
                <a:lnTo>
                  <a:pt x="406438" y="510578"/>
                </a:lnTo>
                <a:close/>
              </a:path>
              <a:path w="1749425" h="900430">
                <a:moveTo>
                  <a:pt x="0" y="900137"/>
                </a:moveTo>
                <a:lnTo>
                  <a:pt x="393738" y="507954"/>
                </a:lnTo>
                <a:lnTo>
                  <a:pt x="393738" y="510578"/>
                </a:lnTo>
                <a:lnTo>
                  <a:pt x="406438" y="510578"/>
                </a:lnTo>
                <a:lnTo>
                  <a:pt x="406438" y="513206"/>
                </a:lnTo>
                <a:lnTo>
                  <a:pt x="54647" y="863626"/>
                </a:lnTo>
                <a:lnTo>
                  <a:pt x="24879" y="876020"/>
                </a:lnTo>
                <a:lnTo>
                  <a:pt x="31800" y="886383"/>
                </a:lnTo>
                <a:lnTo>
                  <a:pt x="33034" y="886383"/>
                </a:lnTo>
                <a:lnTo>
                  <a:pt x="0" y="900137"/>
                </a:lnTo>
                <a:close/>
              </a:path>
              <a:path w="1749425" h="900430">
                <a:moveTo>
                  <a:pt x="33034" y="886383"/>
                </a:moveTo>
                <a:lnTo>
                  <a:pt x="31800" y="886383"/>
                </a:lnTo>
                <a:lnTo>
                  <a:pt x="54647" y="863626"/>
                </a:lnTo>
                <a:lnTo>
                  <a:pt x="406438" y="717156"/>
                </a:lnTo>
                <a:lnTo>
                  <a:pt x="406438" y="726668"/>
                </a:lnTo>
                <a:lnTo>
                  <a:pt x="393738" y="726668"/>
                </a:lnTo>
                <a:lnTo>
                  <a:pt x="393738" y="736200"/>
                </a:lnTo>
                <a:lnTo>
                  <a:pt x="33034" y="886383"/>
                </a:lnTo>
                <a:close/>
              </a:path>
              <a:path w="1749425" h="900430">
                <a:moveTo>
                  <a:pt x="393738" y="736200"/>
                </a:moveTo>
                <a:lnTo>
                  <a:pt x="393738" y="726668"/>
                </a:lnTo>
                <a:lnTo>
                  <a:pt x="402539" y="732536"/>
                </a:lnTo>
                <a:lnTo>
                  <a:pt x="393738" y="736200"/>
                </a:lnTo>
                <a:close/>
              </a:path>
              <a:path w="1749425" h="900430">
                <a:moveTo>
                  <a:pt x="1748942" y="877087"/>
                </a:moveTo>
                <a:lnTo>
                  <a:pt x="393738" y="877087"/>
                </a:lnTo>
                <a:lnTo>
                  <a:pt x="393738" y="736200"/>
                </a:lnTo>
                <a:lnTo>
                  <a:pt x="402539" y="732536"/>
                </a:lnTo>
                <a:lnTo>
                  <a:pt x="393738" y="726668"/>
                </a:lnTo>
                <a:lnTo>
                  <a:pt x="406438" y="726668"/>
                </a:lnTo>
                <a:lnTo>
                  <a:pt x="406438" y="864387"/>
                </a:lnTo>
                <a:lnTo>
                  <a:pt x="400088" y="864387"/>
                </a:lnTo>
                <a:lnTo>
                  <a:pt x="406438" y="870737"/>
                </a:lnTo>
                <a:lnTo>
                  <a:pt x="1748942" y="870737"/>
                </a:lnTo>
                <a:lnTo>
                  <a:pt x="1748942" y="877087"/>
                </a:lnTo>
                <a:close/>
              </a:path>
              <a:path w="1749425" h="900430">
                <a:moveTo>
                  <a:pt x="31800" y="886383"/>
                </a:moveTo>
                <a:lnTo>
                  <a:pt x="24879" y="876020"/>
                </a:lnTo>
                <a:lnTo>
                  <a:pt x="54647" y="863626"/>
                </a:lnTo>
                <a:lnTo>
                  <a:pt x="31800" y="886383"/>
                </a:lnTo>
                <a:close/>
              </a:path>
              <a:path w="1749425" h="900430">
                <a:moveTo>
                  <a:pt x="406438" y="870737"/>
                </a:moveTo>
                <a:lnTo>
                  <a:pt x="400088" y="864387"/>
                </a:lnTo>
                <a:lnTo>
                  <a:pt x="406438" y="864387"/>
                </a:lnTo>
                <a:lnTo>
                  <a:pt x="406438" y="870737"/>
                </a:lnTo>
                <a:close/>
              </a:path>
              <a:path w="1749425" h="900430">
                <a:moveTo>
                  <a:pt x="1736242" y="870737"/>
                </a:moveTo>
                <a:lnTo>
                  <a:pt x="406438" y="870737"/>
                </a:lnTo>
                <a:lnTo>
                  <a:pt x="406438" y="864387"/>
                </a:lnTo>
                <a:lnTo>
                  <a:pt x="1736242" y="864387"/>
                </a:lnTo>
                <a:lnTo>
                  <a:pt x="1736242" y="870737"/>
                </a:lnTo>
                <a:close/>
              </a:path>
              <a:path w="1749425" h="900430">
                <a:moveTo>
                  <a:pt x="1748942" y="870737"/>
                </a:moveTo>
                <a:lnTo>
                  <a:pt x="1736242" y="870737"/>
                </a:lnTo>
                <a:lnTo>
                  <a:pt x="1742592" y="864387"/>
                </a:lnTo>
                <a:lnTo>
                  <a:pt x="1748942" y="864387"/>
                </a:lnTo>
                <a:lnTo>
                  <a:pt x="1748942" y="870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76751" y="1513611"/>
            <a:ext cx="97155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X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表示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元 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素符</a:t>
            </a:r>
            <a:r>
              <a:rPr dirty="0" sz="2000" spc="5" b="1">
                <a:solidFill>
                  <a:srgbClr val="000099"/>
                </a:solidFill>
                <a:latin typeface="微软雅黑"/>
                <a:cs typeface="微软雅黑"/>
              </a:rPr>
              <a:t>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9645" y="1883968"/>
            <a:ext cx="1682114" cy="880744"/>
          </a:xfrm>
          <a:custGeom>
            <a:avLst/>
            <a:gdLst/>
            <a:ahLst/>
            <a:cxnLst/>
            <a:rect l="l" t="t" r="r" b="b"/>
            <a:pathLst>
              <a:path w="1682114" h="880744">
                <a:moveTo>
                  <a:pt x="1252410" y="880275"/>
                </a:moveTo>
                <a:lnTo>
                  <a:pt x="0" y="880275"/>
                </a:lnTo>
                <a:lnTo>
                  <a:pt x="0" y="0"/>
                </a:lnTo>
                <a:lnTo>
                  <a:pt x="1252410" y="0"/>
                </a:lnTo>
                <a:lnTo>
                  <a:pt x="1252410" y="7937"/>
                </a:lnTo>
                <a:lnTo>
                  <a:pt x="15875" y="7937"/>
                </a:lnTo>
                <a:lnTo>
                  <a:pt x="7937" y="15875"/>
                </a:lnTo>
                <a:lnTo>
                  <a:pt x="15875" y="15875"/>
                </a:lnTo>
                <a:lnTo>
                  <a:pt x="15875" y="864400"/>
                </a:lnTo>
                <a:lnTo>
                  <a:pt x="7937" y="864400"/>
                </a:lnTo>
                <a:lnTo>
                  <a:pt x="15875" y="872337"/>
                </a:lnTo>
                <a:lnTo>
                  <a:pt x="1252410" y="872337"/>
                </a:lnTo>
                <a:lnTo>
                  <a:pt x="1252410" y="880275"/>
                </a:lnTo>
                <a:close/>
              </a:path>
              <a:path w="1682114" h="880744">
                <a:moveTo>
                  <a:pt x="15875" y="15875"/>
                </a:moveTo>
                <a:lnTo>
                  <a:pt x="7937" y="15875"/>
                </a:lnTo>
                <a:lnTo>
                  <a:pt x="15875" y="7937"/>
                </a:lnTo>
                <a:lnTo>
                  <a:pt x="15875" y="15875"/>
                </a:lnTo>
                <a:close/>
              </a:path>
              <a:path w="1682114" h="880744">
                <a:moveTo>
                  <a:pt x="1236535" y="15875"/>
                </a:moveTo>
                <a:lnTo>
                  <a:pt x="15875" y="15875"/>
                </a:lnTo>
                <a:lnTo>
                  <a:pt x="15875" y="7937"/>
                </a:lnTo>
                <a:lnTo>
                  <a:pt x="1236535" y="7937"/>
                </a:lnTo>
                <a:lnTo>
                  <a:pt x="1236535" y="15875"/>
                </a:lnTo>
                <a:close/>
              </a:path>
              <a:path w="1682114" h="880744">
                <a:moveTo>
                  <a:pt x="1620054" y="276552"/>
                </a:moveTo>
                <a:lnTo>
                  <a:pt x="1236535" y="157861"/>
                </a:lnTo>
                <a:lnTo>
                  <a:pt x="1236535" y="7937"/>
                </a:lnTo>
                <a:lnTo>
                  <a:pt x="1244473" y="15875"/>
                </a:lnTo>
                <a:lnTo>
                  <a:pt x="1252410" y="15875"/>
                </a:lnTo>
                <a:lnTo>
                  <a:pt x="1252410" y="144424"/>
                </a:lnTo>
                <a:lnTo>
                  <a:pt x="1246822" y="144424"/>
                </a:lnTo>
                <a:lnTo>
                  <a:pt x="1252410" y="152006"/>
                </a:lnTo>
                <a:lnTo>
                  <a:pt x="1271319" y="152006"/>
                </a:lnTo>
                <a:lnTo>
                  <a:pt x="1652765" y="270065"/>
                </a:lnTo>
                <a:lnTo>
                  <a:pt x="1649260" y="270065"/>
                </a:lnTo>
                <a:lnTo>
                  <a:pt x="1620054" y="276552"/>
                </a:lnTo>
                <a:close/>
              </a:path>
              <a:path w="1682114" h="880744">
                <a:moveTo>
                  <a:pt x="1252410" y="15875"/>
                </a:moveTo>
                <a:lnTo>
                  <a:pt x="1244473" y="15875"/>
                </a:lnTo>
                <a:lnTo>
                  <a:pt x="1236535" y="7937"/>
                </a:lnTo>
                <a:lnTo>
                  <a:pt x="1252410" y="7937"/>
                </a:lnTo>
                <a:lnTo>
                  <a:pt x="1252410" y="15875"/>
                </a:lnTo>
                <a:close/>
              </a:path>
              <a:path w="1682114" h="880744">
                <a:moveTo>
                  <a:pt x="1252410" y="152006"/>
                </a:moveTo>
                <a:lnTo>
                  <a:pt x="1246822" y="144424"/>
                </a:lnTo>
                <a:lnTo>
                  <a:pt x="1252410" y="146153"/>
                </a:lnTo>
                <a:lnTo>
                  <a:pt x="1252410" y="152006"/>
                </a:lnTo>
                <a:close/>
              </a:path>
              <a:path w="1682114" h="880744">
                <a:moveTo>
                  <a:pt x="1252410" y="146153"/>
                </a:moveTo>
                <a:lnTo>
                  <a:pt x="1246822" y="144424"/>
                </a:lnTo>
                <a:lnTo>
                  <a:pt x="1252410" y="144424"/>
                </a:lnTo>
                <a:lnTo>
                  <a:pt x="1252410" y="146153"/>
                </a:lnTo>
                <a:close/>
              </a:path>
              <a:path w="1682114" h="880744">
                <a:moveTo>
                  <a:pt x="1271319" y="152006"/>
                </a:moveTo>
                <a:lnTo>
                  <a:pt x="1252410" y="152006"/>
                </a:lnTo>
                <a:lnTo>
                  <a:pt x="1252410" y="146153"/>
                </a:lnTo>
                <a:lnTo>
                  <a:pt x="1271319" y="152006"/>
                </a:lnTo>
                <a:close/>
              </a:path>
              <a:path w="1682114" h="880744">
                <a:moveTo>
                  <a:pt x="1648625" y="285394"/>
                </a:moveTo>
                <a:lnTo>
                  <a:pt x="1620054" y="276552"/>
                </a:lnTo>
                <a:lnTo>
                  <a:pt x="1649260" y="270065"/>
                </a:lnTo>
                <a:lnTo>
                  <a:pt x="1648625" y="285394"/>
                </a:lnTo>
                <a:close/>
              </a:path>
              <a:path w="1682114" h="880744">
                <a:moveTo>
                  <a:pt x="1653481" y="285394"/>
                </a:moveTo>
                <a:lnTo>
                  <a:pt x="1648625" y="285394"/>
                </a:lnTo>
                <a:lnTo>
                  <a:pt x="1649260" y="270065"/>
                </a:lnTo>
                <a:lnTo>
                  <a:pt x="1652765" y="270065"/>
                </a:lnTo>
                <a:lnTo>
                  <a:pt x="1681899" y="279082"/>
                </a:lnTo>
                <a:lnTo>
                  <a:pt x="1653481" y="285394"/>
                </a:lnTo>
                <a:close/>
              </a:path>
              <a:path w="1682114" h="880744">
                <a:moveTo>
                  <a:pt x="1236535" y="872337"/>
                </a:moveTo>
                <a:lnTo>
                  <a:pt x="1236535" y="361734"/>
                </a:lnTo>
                <a:lnTo>
                  <a:pt x="1620054" y="276552"/>
                </a:lnTo>
                <a:lnTo>
                  <a:pt x="1648625" y="285394"/>
                </a:lnTo>
                <a:lnTo>
                  <a:pt x="1653481" y="285394"/>
                </a:lnTo>
                <a:lnTo>
                  <a:pt x="1281078" y="368109"/>
                </a:lnTo>
                <a:lnTo>
                  <a:pt x="1252410" y="368109"/>
                </a:lnTo>
                <a:lnTo>
                  <a:pt x="1246200" y="375856"/>
                </a:lnTo>
                <a:lnTo>
                  <a:pt x="1252410" y="375856"/>
                </a:lnTo>
                <a:lnTo>
                  <a:pt x="1252410" y="864400"/>
                </a:lnTo>
                <a:lnTo>
                  <a:pt x="1244473" y="864400"/>
                </a:lnTo>
                <a:lnTo>
                  <a:pt x="1236535" y="872337"/>
                </a:lnTo>
                <a:close/>
              </a:path>
              <a:path w="1682114" h="880744">
                <a:moveTo>
                  <a:pt x="1246200" y="375856"/>
                </a:moveTo>
                <a:lnTo>
                  <a:pt x="1252410" y="368109"/>
                </a:lnTo>
                <a:lnTo>
                  <a:pt x="1252410" y="374477"/>
                </a:lnTo>
                <a:lnTo>
                  <a:pt x="1246200" y="375856"/>
                </a:lnTo>
                <a:close/>
              </a:path>
              <a:path w="1682114" h="880744">
                <a:moveTo>
                  <a:pt x="1252410" y="374477"/>
                </a:moveTo>
                <a:lnTo>
                  <a:pt x="1252410" y="368109"/>
                </a:lnTo>
                <a:lnTo>
                  <a:pt x="1281078" y="368109"/>
                </a:lnTo>
                <a:lnTo>
                  <a:pt x="1252410" y="374477"/>
                </a:lnTo>
                <a:close/>
              </a:path>
              <a:path w="1682114" h="880744">
                <a:moveTo>
                  <a:pt x="1252410" y="375856"/>
                </a:moveTo>
                <a:lnTo>
                  <a:pt x="1246200" y="375856"/>
                </a:lnTo>
                <a:lnTo>
                  <a:pt x="1252410" y="374477"/>
                </a:lnTo>
                <a:lnTo>
                  <a:pt x="1252410" y="375856"/>
                </a:lnTo>
                <a:close/>
              </a:path>
              <a:path w="1682114" h="880744">
                <a:moveTo>
                  <a:pt x="15875" y="872337"/>
                </a:moveTo>
                <a:lnTo>
                  <a:pt x="7937" y="864400"/>
                </a:lnTo>
                <a:lnTo>
                  <a:pt x="15875" y="864400"/>
                </a:lnTo>
                <a:lnTo>
                  <a:pt x="15875" y="872337"/>
                </a:lnTo>
                <a:close/>
              </a:path>
              <a:path w="1682114" h="880744">
                <a:moveTo>
                  <a:pt x="1236535" y="872337"/>
                </a:moveTo>
                <a:lnTo>
                  <a:pt x="15875" y="872337"/>
                </a:lnTo>
                <a:lnTo>
                  <a:pt x="15875" y="864400"/>
                </a:lnTo>
                <a:lnTo>
                  <a:pt x="1236535" y="864400"/>
                </a:lnTo>
                <a:lnTo>
                  <a:pt x="1236535" y="872337"/>
                </a:lnTo>
                <a:close/>
              </a:path>
              <a:path w="1682114" h="880744">
                <a:moveTo>
                  <a:pt x="1252410" y="872337"/>
                </a:moveTo>
                <a:lnTo>
                  <a:pt x="1236535" y="872337"/>
                </a:lnTo>
                <a:lnTo>
                  <a:pt x="1244473" y="864400"/>
                </a:lnTo>
                <a:lnTo>
                  <a:pt x="1252410" y="864400"/>
                </a:lnTo>
                <a:lnTo>
                  <a:pt x="1252410" y="872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06322" y="1917941"/>
            <a:ext cx="788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表</a:t>
            </a:r>
            <a:r>
              <a:rPr dirty="0" sz="2000" spc="5" b="1">
                <a:solidFill>
                  <a:srgbClr val="000099"/>
                </a:solidFill>
                <a:latin typeface="微软雅黑"/>
                <a:cs typeface="微软雅黑"/>
              </a:rPr>
              <a:t>示 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质量</a:t>
            </a:r>
            <a:r>
              <a:rPr dirty="0" sz="2000" spc="5" b="1">
                <a:solidFill>
                  <a:srgbClr val="000099"/>
                </a:solidFill>
                <a:latin typeface="微软雅黑"/>
                <a:cs typeface="微软雅黑"/>
              </a:rPr>
              <a:t>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72817" y="3868889"/>
            <a:ext cx="80010" cy="289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Times New Roman"/>
                <a:cs typeface="Times New Roman"/>
              </a:rPr>
              <a:t>4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8844" y="3874299"/>
            <a:ext cx="191198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25">
                <a:latin typeface="Times New Roman"/>
                <a:cs typeface="Times New Roman"/>
              </a:rPr>
              <a:t>H</a:t>
            </a:r>
            <a:r>
              <a:rPr dirty="0" sz="1450" spc="120">
                <a:latin typeface="Times New Roman"/>
                <a:cs typeface="Times New Roman"/>
              </a:rPr>
              <a:t> </a:t>
            </a:r>
            <a:r>
              <a:rPr dirty="0" sz="1450" spc="15">
                <a:latin typeface="Times New Roman"/>
                <a:cs typeface="Times New Roman"/>
              </a:rPr>
              <a:t>e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表</a:t>
            </a:r>
            <a:r>
              <a:rPr dirty="0" sz="1450" spc="23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示</a:t>
            </a:r>
            <a:r>
              <a:rPr dirty="0" sz="1450" spc="24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氦</a:t>
            </a:r>
            <a:r>
              <a:rPr dirty="0" sz="1450" spc="24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原</a:t>
            </a:r>
            <a:r>
              <a:rPr dirty="0" sz="1450" spc="23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子</a:t>
            </a:r>
            <a:r>
              <a:rPr dirty="0" sz="1450" spc="24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核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6378" y="4103530"/>
            <a:ext cx="2884805" cy="62103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695"/>
              </a:spcBef>
            </a:pPr>
            <a:r>
              <a:rPr dirty="0" sz="1450" spc="30">
                <a:latin typeface="微软雅黑"/>
                <a:cs typeface="微软雅黑"/>
              </a:rPr>
              <a:t>质</a:t>
            </a:r>
            <a:r>
              <a:rPr dirty="0" sz="1450" spc="24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量</a:t>
            </a:r>
            <a:r>
              <a:rPr dirty="0" sz="1450" spc="24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数</a:t>
            </a:r>
            <a:r>
              <a:rPr dirty="0" sz="1450" spc="24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为</a:t>
            </a:r>
            <a:r>
              <a:rPr dirty="0" sz="1450" spc="200">
                <a:latin typeface="微软雅黑"/>
                <a:cs typeface="微软雅黑"/>
              </a:rPr>
              <a:t> </a:t>
            </a:r>
            <a:r>
              <a:rPr dirty="0" sz="1450" spc="-195">
                <a:latin typeface="Times New Roman"/>
                <a:cs typeface="Times New Roman"/>
              </a:rPr>
              <a:t>4</a:t>
            </a:r>
            <a:r>
              <a:rPr dirty="0" sz="1450" spc="-195">
                <a:latin typeface="微软雅黑"/>
                <a:cs typeface="微软雅黑"/>
              </a:rPr>
              <a:t>，</a:t>
            </a:r>
            <a:r>
              <a:rPr dirty="0" sz="1450" spc="1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有</a:t>
            </a:r>
            <a:r>
              <a:rPr dirty="0" sz="1450" spc="300">
                <a:latin typeface="微软雅黑"/>
                <a:cs typeface="微软雅黑"/>
              </a:rPr>
              <a:t> </a:t>
            </a:r>
            <a:r>
              <a:rPr dirty="0" sz="1450" spc="15">
                <a:latin typeface="Times New Roman"/>
                <a:cs typeface="Times New Roman"/>
              </a:rPr>
              <a:t>2</a:t>
            </a:r>
            <a:r>
              <a:rPr dirty="0" sz="1450" spc="35">
                <a:latin typeface="Times New Roman"/>
                <a:cs typeface="Times New Roman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个</a:t>
            </a:r>
            <a:r>
              <a:rPr dirty="0" sz="1450" spc="240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质</a:t>
            </a:r>
            <a:r>
              <a:rPr dirty="0" sz="1450" spc="24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子</a:t>
            </a:r>
            <a:r>
              <a:rPr dirty="0" sz="1450" spc="245">
                <a:latin typeface="微软雅黑"/>
                <a:cs typeface="微软雅黑"/>
              </a:rPr>
              <a:t> </a:t>
            </a:r>
            <a:r>
              <a:rPr dirty="0" sz="1450" spc="30">
                <a:latin typeface="微软雅黑"/>
                <a:cs typeface="微软雅黑"/>
              </a:rPr>
              <a:t>；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450" spc="10">
                <a:latin typeface="Times New Roman"/>
                <a:cs typeface="Times New Roman"/>
              </a:rPr>
              <a:t>( </a:t>
            </a:r>
            <a:r>
              <a:rPr dirty="0" sz="1450" spc="30">
                <a:latin typeface="微软雅黑"/>
                <a:cs typeface="微软雅黑"/>
              </a:rPr>
              <a:t>核 内 有 </a:t>
            </a:r>
            <a:r>
              <a:rPr dirty="0" sz="1450" spc="15">
                <a:latin typeface="Times New Roman"/>
                <a:cs typeface="Times New Roman"/>
              </a:rPr>
              <a:t>2 </a:t>
            </a:r>
            <a:r>
              <a:rPr dirty="0" sz="1450" spc="30">
                <a:latin typeface="微软雅黑"/>
                <a:cs typeface="微软雅黑"/>
              </a:rPr>
              <a:t>个 中 子</a:t>
            </a:r>
            <a:r>
              <a:rPr dirty="0" sz="1450" spc="65">
                <a:latin typeface="微软雅黑"/>
                <a:cs typeface="微软雅黑"/>
              </a:rPr>
              <a:t> </a:t>
            </a:r>
            <a:r>
              <a:rPr dirty="0" sz="1450" spc="10">
                <a:latin typeface="Times New Roman"/>
                <a:cs typeface="Times New Roman"/>
              </a:rPr>
              <a:t>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94711" y="3830320"/>
            <a:ext cx="3007360" cy="972819"/>
          </a:xfrm>
          <a:custGeom>
            <a:avLst/>
            <a:gdLst/>
            <a:ahLst/>
            <a:cxnLst/>
            <a:rect l="l" t="t" r="r" b="b"/>
            <a:pathLst>
              <a:path w="3007360" h="972820">
                <a:moveTo>
                  <a:pt x="3007360" y="972819"/>
                </a:moveTo>
                <a:lnTo>
                  <a:pt x="0" y="972819"/>
                </a:lnTo>
                <a:lnTo>
                  <a:pt x="0" y="0"/>
                </a:lnTo>
                <a:lnTo>
                  <a:pt x="3007360" y="0"/>
                </a:lnTo>
                <a:lnTo>
                  <a:pt x="300736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47419"/>
                </a:lnTo>
                <a:lnTo>
                  <a:pt x="12700" y="947419"/>
                </a:lnTo>
                <a:lnTo>
                  <a:pt x="25400" y="960119"/>
                </a:lnTo>
                <a:lnTo>
                  <a:pt x="3007360" y="960119"/>
                </a:lnTo>
                <a:lnTo>
                  <a:pt x="3007360" y="972819"/>
                </a:lnTo>
                <a:close/>
              </a:path>
              <a:path w="3007360" h="97282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007360" h="972820">
                <a:moveTo>
                  <a:pt x="298196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981960" y="12700"/>
                </a:lnTo>
                <a:lnTo>
                  <a:pt x="2981960" y="25400"/>
                </a:lnTo>
                <a:close/>
              </a:path>
              <a:path w="3007360" h="972820">
                <a:moveTo>
                  <a:pt x="2981960" y="960119"/>
                </a:moveTo>
                <a:lnTo>
                  <a:pt x="2981960" y="12700"/>
                </a:lnTo>
                <a:lnTo>
                  <a:pt x="2994660" y="25400"/>
                </a:lnTo>
                <a:lnTo>
                  <a:pt x="3007360" y="25400"/>
                </a:lnTo>
                <a:lnTo>
                  <a:pt x="3007360" y="947419"/>
                </a:lnTo>
                <a:lnTo>
                  <a:pt x="2994660" y="947419"/>
                </a:lnTo>
                <a:lnTo>
                  <a:pt x="2981960" y="960119"/>
                </a:lnTo>
                <a:close/>
              </a:path>
              <a:path w="3007360" h="972820">
                <a:moveTo>
                  <a:pt x="3007360" y="25400"/>
                </a:moveTo>
                <a:lnTo>
                  <a:pt x="2994660" y="25400"/>
                </a:lnTo>
                <a:lnTo>
                  <a:pt x="2981960" y="12700"/>
                </a:lnTo>
                <a:lnTo>
                  <a:pt x="3007360" y="12700"/>
                </a:lnTo>
                <a:lnTo>
                  <a:pt x="3007360" y="25400"/>
                </a:lnTo>
                <a:close/>
              </a:path>
              <a:path w="3007360" h="972820">
                <a:moveTo>
                  <a:pt x="25400" y="960119"/>
                </a:moveTo>
                <a:lnTo>
                  <a:pt x="12700" y="947419"/>
                </a:lnTo>
                <a:lnTo>
                  <a:pt x="25400" y="947419"/>
                </a:lnTo>
                <a:lnTo>
                  <a:pt x="25400" y="960119"/>
                </a:lnTo>
                <a:close/>
              </a:path>
              <a:path w="3007360" h="972820">
                <a:moveTo>
                  <a:pt x="2981960" y="960119"/>
                </a:moveTo>
                <a:lnTo>
                  <a:pt x="25400" y="960119"/>
                </a:lnTo>
                <a:lnTo>
                  <a:pt x="25400" y="947419"/>
                </a:lnTo>
                <a:lnTo>
                  <a:pt x="2981960" y="947419"/>
                </a:lnTo>
                <a:lnTo>
                  <a:pt x="2981960" y="960119"/>
                </a:lnTo>
                <a:close/>
              </a:path>
              <a:path w="3007360" h="972820">
                <a:moveTo>
                  <a:pt x="3007360" y="960119"/>
                </a:moveTo>
                <a:lnTo>
                  <a:pt x="2981960" y="960119"/>
                </a:lnTo>
                <a:lnTo>
                  <a:pt x="2994660" y="947419"/>
                </a:lnTo>
                <a:lnTo>
                  <a:pt x="3007360" y="947419"/>
                </a:lnTo>
                <a:lnTo>
                  <a:pt x="3007360" y="960119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056466" y="2513520"/>
            <a:ext cx="245110" cy="315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spc="-5">
                <a:latin typeface="Times New Roman"/>
                <a:cs typeface="Times New Roman"/>
              </a:rPr>
              <a:t>2</a:t>
            </a:r>
            <a:r>
              <a:rPr dirty="0" sz="950" spc="-130">
                <a:latin typeface="Times New Roman"/>
                <a:cs typeface="Times New Roman"/>
              </a:rPr>
              <a:t> </a:t>
            </a:r>
            <a:r>
              <a:rPr dirty="0" sz="950" spc="-5">
                <a:latin typeface="Times New Roman"/>
                <a:cs typeface="Times New Roman"/>
              </a:rPr>
              <a:t>3</a:t>
            </a:r>
            <a:r>
              <a:rPr dirty="0" sz="950" spc="-130">
                <a:latin typeface="Times New Roman"/>
                <a:cs typeface="Times New Roman"/>
              </a:rPr>
              <a:t> </a:t>
            </a:r>
            <a:r>
              <a:rPr dirty="0" sz="950" spc="-5">
                <a:latin typeface="Times New Roman"/>
                <a:cs typeface="Times New Roman"/>
              </a:rPr>
              <a:t>5</a:t>
            </a:r>
            <a:endParaRPr sz="950">
              <a:latin typeface="Times New Roman"/>
              <a:cs typeface="Times New Roman"/>
            </a:endParaRPr>
          </a:p>
          <a:p>
            <a:pPr algn="ctr" marL="68580">
              <a:lnSpc>
                <a:spcPct val="100000"/>
              </a:lnSpc>
              <a:spcBef>
                <a:spcPts val="10"/>
              </a:spcBef>
            </a:pPr>
            <a:r>
              <a:rPr dirty="0" sz="950" spc="-5">
                <a:latin typeface="Times New Roman"/>
                <a:cs typeface="Times New Roman"/>
              </a:rPr>
              <a:t>9</a:t>
            </a:r>
            <a:r>
              <a:rPr dirty="0" sz="950" spc="-180">
                <a:latin typeface="Times New Roman"/>
                <a:cs typeface="Times New Roman"/>
              </a:rPr>
              <a:t> </a:t>
            </a:r>
            <a:r>
              <a:rPr dirty="0" sz="950" spc="-5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7027" y="2518879"/>
            <a:ext cx="3469004" cy="275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25">
                <a:latin typeface="Times New Roman"/>
                <a:cs typeface="Times New Roman"/>
              </a:rPr>
              <a:t>U </a:t>
            </a:r>
            <a:r>
              <a:rPr dirty="0" sz="1600" spc="35">
                <a:latin typeface="微软雅黑"/>
                <a:cs typeface="微软雅黑"/>
              </a:rPr>
              <a:t>铀 原 子 核 内 有 多 少 个 中 子</a:t>
            </a:r>
            <a:r>
              <a:rPr dirty="0" sz="1600" spc="21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？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5684" y="2772623"/>
            <a:ext cx="3343910" cy="67881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600" spc="35">
                <a:latin typeface="微软雅黑"/>
                <a:cs typeface="微软雅黑"/>
              </a:rPr>
              <a:t>它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质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量</a:t>
            </a:r>
            <a:r>
              <a:rPr dirty="0" sz="1600" spc="6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数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为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2</a:t>
            </a:r>
            <a:r>
              <a:rPr dirty="0" sz="1600" spc="-135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3</a:t>
            </a:r>
            <a:r>
              <a:rPr dirty="0" sz="1600" spc="-135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5</a:t>
            </a:r>
            <a:r>
              <a:rPr dirty="0" sz="1600" spc="-235">
                <a:latin typeface="Times New Roman"/>
                <a:cs typeface="Times New Roman"/>
              </a:rPr>
              <a:t> </a:t>
            </a:r>
            <a:r>
              <a:rPr dirty="0" sz="1600" spc="5">
                <a:latin typeface="Times New Roman"/>
                <a:cs typeface="Times New Roman"/>
              </a:rPr>
              <a:t>,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有</a:t>
            </a:r>
            <a:r>
              <a:rPr dirty="0" sz="1600" spc="90">
                <a:latin typeface="微软雅黑"/>
                <a:cs typeface="微软雅黑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9</a:t>
            </a:r>
            <a:r>
              <a:rPr dirty="0" sz="1600" spc="-135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2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个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质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子</a:t>
            </a:r>
            <a:r>
              <a:rPr dirty="0" sz="1600" spc="95">
                <a:latin typeface="微软雅黑"/>
                <a:cs typeface="微软雅黑"/>
              </a:rPr>
              <a:t> </a:t>
            </a:r>
            <a:r>
              <a:rPr dirty="0" sz="1600" spc="5"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650"/>
              </a:spcBef>
            </a:pPr>
            <a:r>
              <a:rPr dirty="0" sz="1600" spc="35">
                <a:latin typeface="微软雅黑"/>
                <a:cs typeface="微软雅黑"/>
              </a:rPr>
              <a:t>所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以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中</a:t>
            </a:r>
            <a:r>
              <a:rPr dirty="0" sz="1600" spc="6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子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数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为</a:t>
            </a:r>
            <a:r>
              <a:rPr dirty="0" sz="1600" spc="-180">
                <a:latin typeface="微软雅黑"/>
                <a:cs typeface="微软雅黑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1</a:t>
            </a:r>
            <a:r>
              <a:rPr dirty="0" sz="1600" spc="-135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4</a:t>
            </a:r>
            <a:r>
              <a:rPr dirty="0" sz="1600" spc="-135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3</a:t>
            </a:r>
            <a:r>
              <a:rPr dirty="0" sz="1600" spc="-190">
                <a:latin typeface="Times New Roman"/>
                <a:cs typeface="Times New Roman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个</a:t>
            </a:r>
            <a:r>
              <a:rPr dirty="0" sz="1600" spc="6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；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7891" y="2473960"/>
            <a:ext cx="3914140" cy="1035685"/>
          </a:xfrm>
          <a:custGeom>
            <a:avLst/>
            <a:gdLst/>
            <a:ahLst/>
            <a:cxnLst/>
            <a:rect l="l" t="t" r="r" b="b"/>
            <a:pathLst>
              <a:path w="3914140" h="1035685">
                <a:moveTo>
                  <a:pt x="3914140" y="1035303"/>
                </a:moveTo>
                <a:lnTo>
                  <a:pt x="0" y="1035303"/>
                </a:lnTo>
                <a:lnTo>
                  <a:pt x="0" y="0"/>
                </a:lnTo>
                <a:lnTo>
                  <a:pt x="3914140" y="0"/>
                </a:lnTo>
                <a:lnTo>
                  <a:pt x="391414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009903"/>
                </a:lnTo>
                <a:lnTo>
                  <a:pt x="12700" y="1009903"/>
                </a:lnTo>
                <a:lnTo>
                  <a:pt x="25400" y="1022603"/>
                </a:lnTo>
                <a:lnTo>
                  <a:pt x="3914140" y="1022603"/>
                </a:lnTo>
                <a:lnTo>
                  <a:pt x="3914140" y="1035303"/>
                </a:lnTo>
                <a:close/>
              </a:path>
              <a:path w="3914140" h="103568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914140" h="1035685">
                <a:moveTo>
                  <a:pt x="388874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888740" y="12700"/>
                </a:lnTo>
                <a:lnTo>
                  <a:pt x="3888740" y="25400"/>
                </a:lnTo>
                <a:close/>
              </a:path>
              <a:path w="3914140" h="1035685">
                <a:moveTo>
                  <a:pt x="3888740" y="1022603"/>
                </a:moveTo>
                <a:lnTo>
                  <a:pt x="3888740" y="12700"/>
                </a:lnTo>
                <a:lnTo>
                  <a:pt x="3901440" y="25400"/>
                </a:lnTo>
                <a:lnTo>
                  <a:pt x="3914140" y="25400"/>
                </a:lnTo>
                <a:lnTo>
                  <a:pt x="3914140" y="1009903"/>
                </a:lnTo>
                <a:lnTo>
                  <a:pt x="3901440" y="1009903"/>
                </a:lnTo>
                <a:lnTo>
                  <a:pt x="3888740" y="1022603"/>
                </a:lnTo>
                <a:close/>
              </a:path>
              <a:path w="3914140" h="1035685">
                <a:moveTo>
                  <a:pt x="3914140" y="25400"/>
                </a:moveTo>
                <a:lnTo>
                  <a:pt x="3901440" y="25400"/>
                </a:lnTo>
                <a:lnTo>
                  <a:pt x="3888740" y="12700"/>
                </a:lnTo>
                <a:lnTo>
                  <a:pt x="3914140" y="12700"/>
                </a:lnTo>
                <a:lnTo>
                  <a:pt x="3914140" y="25400"/>
                </a:lnTo>
                <a:close/>
              </a:path>
              <a:path w="3914140" h="1035685">
                <a:moveTo>
                  <a:pt x="25400" y="1022603"/>
                </a:moveTo>
                <a:lnTo>
                  <a:pt x="12700" y="1009903"/>
                </a:lnTo>
                <a:lnTo>
                  <a:pt x="25400" y="1009903"/>
                </a:lnTo>
                <a:lnTo>
                  <a:pt x="25400" y="1022603"/>
                </a:lnTo>
                <a:close/>
              </a:path>
              <a:path w="3914140" h="1035685">
                <a:moveTo>
                  <a:pt x="3888740" y="1022603"/>
                </a:moveTo>
                <a:lnTo>
                  <a:pt x="25400" y="1022603"/>
                </a:lnTo>
                <a:lnTo>
                  <a:pt x="25400" y="1009903"/>
                </a:lnTo>
                <a:lnTo>
                  <a:pt x="3888740" y="1009903"/>
                </a:lnTo>
                <a:lnTo>
                  <a:pt x="3888740" y="1022603"/>
                </a:lnTo>
                <a:close/>
              </a:path>
              <a:path w="3914140" h="1035685">
                <a:moveTo>
                  <a:pt x="3914140" y="1022603"/>
                </a:moveTo>
                <a:lnTo>
                  <a:pt x="3888740" y="1022603"/>
                </a:lnTo>
                <a:lnTo>
                  <a:pt x="3901440" y="1009903"/>
                </a:lnTo>
                <a:lnTo>
                  <a:pt x="3914140" y="1009903"/>
                </a:lnTo>
                <a:lnTo>
                  <a:pt x="3914140" y="1022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3663" y="2879991"/>
            <a:ext cx="1706245" cy="895985"/>
          </a:xfrm>
          <a:custGeom>
            <a:avLst/>
            <a:gdLst/>
            <a:ahLst/>
            <a:cxnLst/>
            <a:rect l="l" t="t" r="r" b="b"/>
            <a:pathLst>
              <a:path w="1706245" h="895985">
                <a:moveTo>
                  <a:pt x="1268505" y="167157"/>
                </a:moveTo>
                <a:lnTo>
                  <a:pt x="1252004" y="167157"/>
                </a:lnTo>
                <a:lnTo>
                  <a:pt x="1252004" y="156038"/>
                </a:lnTo>
                <a:lnTo>
                  <a:pt x="1706130" y="0"/>
                </a:lnTo>
                <a:lnTo>
                  <a:pt x="1688437" y="15074"/>
                </a:lnTo>
                <a:lnTo>
                  <a:pt x="1663966" y="15074"/>
                </a:lnTo>
                <a:lnTo>
                  <a:pt x="1632108" y="42217"/>
                </a:lnTo>
                <a:lnTo>
                  <a:pt x="1268505" y="167157"/>
                </a:lnTo>
                <a:close/>
              </a:path>
              <a:path w="1706245" h="895985">
                <a:moveTo>
                  <a:pt x="1632108" y="42217"/>
                </a:moveTo>
                <a:lnTo>
                  <a:pt x="1663966" y="15074"/>
                </a:lnTo>
                <a:lnTo>
                  <a:pt x="1671701" y="28613"/>
                </a:lnTo>
                <a:lnTo>
                  <a:pt x="1632108" y="42217"/>
                </a:lnTo>
                <a:close/>
              </a:path>
              <a:path w="1706245" h="895985">
                <a:moveTo>
                  <a:pt x="1236129" y="887488"/>
                </a:moveTo>
                <a:lnTo>
                  <a:pt x="1236129" y="379590"/>
                </a:lnTo>
                <a:lnTo>
                  <a:pt x="1632108" y="42217"/>
                </a:lnTo>
                <a:lnTo>
                  <a:pt x="1671701" y="28613"/>
                </a:lnTo>
                <a:lnTo>
                  <a:pt x="1663966" y="15074"/>
                </a:lnTo>
                <a:lnTo>
                  <a:pt x="1688437" y="15074"/>
                </a:lnTo>
                <a:lnTo>
                  <a:pt x="1256290" y="383260"/>
                </a:lnTo>
                <a:lnTo>
                  <a:pt x="1252004" y="383260"/>
                </a:lnTo>
                <a:lnTo>
                  <a:pt x="1249210" y="389293"/>
                </a:lnTo>
                <a:lnTo>
                  <a:pt x="1252004" y="389293"/>
                </a:lnTo>
                <a:lnTo>
                  <a:pt x="1252004" y="879551"/>
                </a:lnTo>
                <a:lnTo>
                  <a:pt x="1244066" y="879551"/>
                </a:lnTo>
                <a:lnTo>
                  <a:pt x="1236129" y="887488"/>
                </a:lnTo>
                <a:close/>
              </a:path>
              <a:path w="1706245" h="895985">
                <a:moveTo>
                  <a:pt x="1252004" y="895426"/>
                </a:moveTo>
                <a:lnTo>
                  <a:pt x="0" y="895426"/>
                </a:lnTo>
                <a:lnTo>
                  <a:pt x="0" y="15151"/>
                </a:lnTo>
                <a:lnTo>
                  <a:pt x="1252004" y="15151"/>
                </a:lnTo>
                <a:lnTo>
                  <a:pt x="1252004" y="23088"/>
                </a:lnTo>
                <a:lnTo>
                  <a:pt x="15875" y="23088"/>
                </a:lnTo>
                <a:lnTo>
                  <a:pt x="7937" y="31026"/>
                </a:lnTo>
                <a:lnTo>
                  <a:pt x="15875" y="31026"/>
                </a:lnTo>
                <a:lnTo>
                  <a:pt x="15875" y="879551"/>
                </a:lnTo>
                <a:lnTo>
                  <a:pt x="7937" y="879551"/>
                </a:lnTo>
                <a:lnTo>
                  <a:pt x="15875" y="887488"/>
                </a:lnTo>
                <a:lnTo>
                  <a:pt x="1252004" y="887488"/>
                </a:lnTo>
                <a:lnTo>
                  <a:pt x="1252004" y="895426"/>
                </a:lnTo>
                <a:close/>
              </a:path>
              <a:path w="1706245" h="895985">
                <a:moveTo>
                  <a:pt x="15875" y="31026"/>
                </a:moveTo>
                <a:lnTo>
                  <a:pt x="7937" y="31026"/>
                </a:lnTo>
                <a:lnTo>
                  <a:pt x="15875" y="23088"/>
                </a:lnTo>
                <a:lnTo>
                  <a:pt x="15875" y="31026"/>
                </a:lnTo>
                <a:close/>
              </a:path>
              <a:path w="1706245" h="895985">
                <a:moveTo>
                  <a:pt x="1236129" y="31026"/>
                </a:moveTo>
                <a:lnTo>
                  <a:pt x="15875" y="31026"/>
                </a:lnTo>
                <a:lnTo>
                  <a:pt x="15875" y="23088"/>
                </a:lnTo>
                <a:lnTo>
                  <a:pt x="1236129" y="23088"/>
                </a:lnTo>
                <a:lnTo>
                  <a:pt x="1236129" y="31026"/>
                </a:lnTo>
                <a:close/>
              </a:path>
              <a:path w="1706245" h="895985">
                <a:moveTo>
                  <a:pt x="1236129" y="178282"/>
                </a:moveTo>
                <a:lnTo>
                  <a:pt x="1236129" y="23088"/>
                </a:lnTo>
                <a:lnTo>
                  <a:pt x="1244066" y="31026"/>
                </a:lnTo>
                <a:lnTo>
                  <a:pt x="1252004" y="31026"/>
                </a:lnTo>
                <a:lnTo>
                  <a:pt x="1252004" y="156038"/>
                </a:lnTo>
                <a:lnTo>
                  <a:pt x="1241488" y="159651"/>
                </a:lnTo>
                <a:lnTo>
                  <a:pt x="1252004" y="167157"/>
                </a:lnTo>
                <a:lnTo>
                  <a:pt x="1268505" y="167157"/>
                </a:lnTo>
                <a:lnTo>
                  <a:pt x="1236129" y="178282"/>
                </a:lnTo>
                <a:close/>
              </a:path>
              <a:path w="1706245" h="895985">
                <a:moveTo>
                  <a:pt x="1252004" y="31026"/>
                </a:moveTo>
                <a:lnTo>
                  <a:pt x="1244066" y="31026"/>
                </a:lnTo>
                <a:lnTo>
                  <a:pt x="1236129" y="23088"/>
                </a:lnTo>
                <a:lnTo>
                  <a:pt x="1252004" y="23088"/>
                </a:lnTo>
                <a:lnTo>
                  <a:pt x="1252004" y="31026"/>
                </a:lnTo>
                <a:close/>
              </a:path>
              <a:path w="1706245" h="895985">
                <a:moveTo>
                  <a:pt x="1252004" y="167157"/>
                </a:moveTo>
                <a:lnTo>
                  <a:pt x="1241488" y="159651"/>
                </a:lnTo>
                <a:lnTo>
                  <a:pt x="1252004" y="156038"/>
                </a:lnTo>
                <a:lnTo>
                  <a:pt x="1252004" y="167157"/>
                </a:lnTo>
                <a:close/>
              </a:path>
              <a:path w="1706245" h="895985">
                <a:moveTo>
                  <a:pt x="1249210" y="389293"/>
                </a:moveTo>
                <a:lnTo>
                  <a:pt x="1252004" y="383260"/>
                </a:lnTo>
                <a:lnTo>
                  <a:pt x="1252004" y="386912"/>
                </a:lnTo>
                <a:lnTo>
                  <a:pt x="1249210" y="389293"/>
                </a:lnTo>
                <a:close/>
              </a:path>
              <a:path w="1706245" h="895985">
                <a:moveTo>
                  <a:pt x="1252004" y="386912"/>
                </a:moveTo>
                <a:lnTo>
                  <a:pt x="1252004" y="383260"/>
                </a:lnTo>
                <a:lnTo>
                  <a:pt x="1256290" y="383260"/>
                </a:lnTo>
                <a:lnTo>
                  <a:pt x="1252004" y="386912"/>
                </a:lnTo>
                <a:close/>
              </a:path>
              <a:path w="1706245" h="895985">
                <a:moveTo>
                  <a:pt x="1252004" y="389293"/>
                </a:moveTo>
                <a:lnTo>
                  <a:pt x="1249210" y="389293"/>
                </a:lnTo>
                <a:lnTo>
                  <a:pt x="1252004" y="386912"/>
                </a:lnTo>
                <a:lnTo>
                  <a:pt x="1252004" y="389293"/>
                </a:lnTo>
                <a:close/>
              </a:path>
              <a:path w="1706245" h="895985">
                <a:moveTo>
                  <a:pt x="15875" y="887488"/>
                </a:moveTo>
                <a:lnTo>
                  <a:pt x="7937" y="879551"/>
                </a:lnTo>
                <a:lnTo>
                  <a:pt x="15875" y="879551"/>
                </a:lnTo>
                <a:lnTo>
                  <a:pt x="15875" y="887488"/>
                </a:lnTo>
                <a:close/>
              </a:path>
              <a:path w="1706245" h="895985">
                <a:moveTo>
                  <a:pt x="1236129" y="887488"/>
                </a:moveTo>
                <a:lnTo>
                  <a:pt x="15875" y="887488"/>
                </a:lnTo>
                <a:lnTo>
                  <a:pt x="15875" y="879551"/>
                </a:lnTo>
                <a:lnTo>
                  <a:pt x="1236129" y="879551"/>
                </a:lnTo>
                <a:lnTo>
                  <a:pt x="1236129" y="887488"/>
                </a:lnTo>
                <a:close/>
              </a:path>
              <a:path w="1706245" h="895985">
                <a:moveTo>
                  <a:pt x="1252004" y="887488"/>
                </a:moveTo>
                <a:lnTo>
                  <a:pt x="1236129" y="887488"/>
                </a:lnTo>
                <a:lnTo>
                  <a:pt x="1244066" y="879551"/>
                </a:lnTo>
                <a:lnTo>
                  <a:pt x="1252004" y="879551"/>
                </a:lnTo>
                <a:lnTo>
                  <a:pt x="1252004" y="887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50340" y="2929115"/>
            <a:ext cx="1042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Z</a:t>
            </a: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表</a:t>
            </a:r>
            <a:r>
              <a:rPr dirty="0" sz="2000" spc="5" b="1">
                <a:solidFill>
                  <a:srgbClr val="000099"/>
                </a:solidFill>
                <a:latin typeface="微软雅黑"/>
                <a:cs typeface="微软雅黑"/>
              </a:rPr>
              <a:t>示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0099"/>
                </a:solidFill>
                <a:latin typeface="微软雅黑"/>
                <a:cs typeface="微软雅黑"/>
              </a:rPr>
              <a:t>核电荷</a:t>
            </a:r>
            <a:r>
              <a:rPr dirty="0" sz="2000" spc="5" b="1">
                <a:solidFill>
                  <a:srgbClr val="000099"/>
                </a:solidFill>
                <a:latin typeface="微软雅黑"/>
                <a:cs typeface="微软雅黑"/>
              </a:rPr>
              <a:t>数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100" y="2491498"/>
            <a:ext cx="122555" cy="4940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1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500" spc="1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7454" y="2500998"/>
            <a:ext cx="3344545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25">
                <a:latin typeface="Times New Roman"/>
                <a:cs typeface="Times New Roman"/>
              </a:rPr>
              <a:t>H </a:t>
            </a:r>
            <a:r>
              <a:rPr dirty="0" sz="2600" spc="10">
                <a:latin typeface="Times New Roman"/>
                <a:cs typeface="Times New Roman"/>
              </a:rPr>
              <a:t>( </a:t>
            </a:r>
            <a:r>
              <a:rPr dirty="0" sz="2600" spc="35">
                <a:latin typeface="微软雅黑"/>
                <a:cs typeface="微软雅黑"/>
              </a:rPr>
              <a:t>氕 通 常 说 的 氢</a:t>
            </a:r>
            <a:r>
              <a:rPr dirty="0" sz="2600" spc="415">
                <a:latin typeface="微软雅黑"/>
                <a:cs typeface="微软雅黑"/>
              </a:rPr>
              <a:t> </a:t>
            </a:r>
            <a:r>
              <a:rPr dirty="0" sz="2600" spc="1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6339" y="3131934"/>
            <a:ext cx="133985" cy="460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1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40"/>
              </a:spcBef>
            </a:pPr>
            <a:r>
              <a:rPr dirty="0" sz="1400" spc="1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903" y="3780548"/>
            <a:ext cx="122555" cy="4610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1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40"/>
              </a:spcBef>
            </a:pPr>
            <a:r>
              <a:rPr dirty="0" sz="1400" spc="1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1218" y="3139770"/>
            <a:ext cx="3114040" cy="10490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5">
                <a:latin typeface="Times New Roman"/>
                <a:cs typeface="Times New Roman"/>
              </a:rPr>
              <a:t>H </a:t>
            </a:r>
            <a:r>
              <a:rPr dirty="0" sz="2450">
                <a:latin typeface="Times New Roman"/>
                <a:cs typeface="Times New Roman"/>
              </a:rPr>
              <a:t>( </a:t>
            </a:r>
            <a:r>
              <a:rPr dirty="0" sz="2450" spc="5">
                <a:latin typeface="微软雅黑"/>
                <a:cs typeface="微软雅黑"/>
              </a:rPr>
              <a:t>氘 也 叫 重 氢</a:t>
            </a:r>
            <a:r>
              <a:rPr dirty="0" sz="2450" spc="380">
                <a:latin typeface="微软雅黑"/>
                <a:cs typeface="微软雅黑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2170"/>
              </a:spcBef>
            </a:pPr>
            <a:r>
              <a:rPr dirty="0" sz="2450" spc="5">
                <a:latin typeface="Times New Roman"/>
                <a:cs typeface="Times New Roman"/>
              </a:rPr>
              <a:t>H </a:t>
            </a:r>
            <a:r>
              <a:rPr dirty="0" sz="2450">
                <a:latin typeface="Times New Roman"/>
                <a:cs typeface="Times New Roman"/>
              </a:rPr>
              <a:t>( </a:t>
            </a:r>
            <a:r>
              <a:rPr dirty="0" sz="2450" spc="5">
                <a:latin typeface="微软雅黑"/>
                <a:cs typeface="微软雅黑"/>
              </a:rPr>
              <a:t>氚 也 叫 超 重 氢</a:t>
            </a:r>
            <a:r>
              <a:rPr dirty="0" sz="2450" spc="425">
                <a:latin typeface="微软雅黑"/>
                <a:cs typeface="微软雅黑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295" y="583292"/>
            <a:ext cx="7861934" cy="1652270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同位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素</a:t>
            </a:r>
            <a:endParaRPr sz="2800">
              <a:latin typeface="微软雅黑"/>
              <a:cs typeface="微软雅黑"/>
            </a:endParaRPr>
          </a:p>
          <a:p>
            <a:pPr marL="228600" marR="5080">
              <a:lnSpc>
                <a:spcPct val="120000"/>
              </a:lnSpc>
              <a:spcBef>
                <a:spcPts val="865"/>
              </a:spcBef>
            </a:pPr>
            <a:r>
              <a:rPr dirty="0" sz="2400">
                <a:latin typeface="微软雅黑"/>
                <a:cs typeface="微软雅黑"/>
              </a:rPr>
              <a:t>具有相同质子数而中子数不同的原子核，在元素周期表中 处于同一位置，因而互称同位素。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101595" y="30361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97176" y="30313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79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0595" y="29218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16176" y="29170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25395" y="3321849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0976" y="33170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70"/>
                </a:lnTo>
                <a:lnTo>
                  <a:pt x="243649" y="407670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79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20"/>
                </a:lnTo>
                <a:lnTo>
                  <a:pt x="131190" y="29210"/>
                </a:lnTo>
                <a:lnTo>
                  <a:pt x="178498" y="11429"/>
                </a:lnTo>
                <a:lnTo>
                  <a:pt x="230301" y="1270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70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29"/>
                </a:lnTo>
                <a:lnTo>
                  <a:pt x="231394" y="11429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79"/>
                </a:lnTo>
                <a:lnTo>
                  <a:pt x="193230" y="17779"/>
                </a:lnTo>
                <a:lnTo>
                  <a:pt x="180848" y="20320"/>
                </a:lnTo>
                <a:lnTo>
                  <a:pt x="181025" y="20320"/>
                </a:lnTo>
                <a:lnTo>
                  <a:pt x="168909" y="24129"/>
                </a:lnTo>
                <a:lnTo>
                  <a:pt x="169087" y="24129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20"/>
                </a:lnTo>
                <a:lnTo>
                  <a:pt x="146138" y="33020"/>
                </a:lnTo>
                <a:lnTo>
                  <a:pt x="134962" y="36829"/>
                </a:lnTo>
                <a:lnTo>
                  <a:pt x="135140" y="36829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29"/>
                </a:lnTo>
                <a:lnTo>
                  <a:pt x="61112" y="87629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70"/>
                </a:lnTo>
                <a:lnTo>
                  <a:pt x="47066" y="102870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79"/>
                </a:lnTo>
                <a:lnTo>
                  <a:pt x="35051" y="119379"/>
                </a:lnTo>
                <a:lnTo>
                  <a:pt x="29705" y="128270"/>
                </a:lnTo>
                <a:lnTo>
                  <a:pt x="29844" y="128270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29"/>
                </a:lnTo>
                <a:lnTo>
                  <a:pt x="17551" y="156210"/>
                </a:lnTo>
                <a:lnTo>
                  <a:pt x="16027" y="160020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909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79"/>
                </a:moveTo>
                <a:lnTo>
                  <a:pt x="407606" y="36829"/>
                </a:lnTo>
                <a:lnTo>
                  <a:pt x="407784" y="36829"/>
                </a:lnTo>
                <a:lnTo>
                  <a:pt x="396608" y="33020"/>
                </a:lnTo>
                <a:lnTo>
                  <a:pt x="396786" y="33020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29"/>
                </a:lnTo>
                <a:lnTo>
                  <a:pt x="373837" y="24129"/>
                </a:lnTo>
                <a:lnTo>
                  <a:pt x="361721" y="20320"/>
                </a:lnTo>
                <a:lnTo>
                  <a:pt x="361899" y="20320"/>
                </a:lnTo>
                <a:lnTo>
                  <a:pt x="349503" y="17779"/>
                </a:lnTo>
                <a:lnTo>
                  <a:pt x="349694" y="17779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29"/>
                </a:lnTo>
                <a:lnTo>
                  <a:pt x="311543" y="11429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29"/>
                </a:lnTo>
                <a:lnTo>
                  <a:pt x="400380" y="24129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79"/>
                </a:lnTo>
                <a:close/>
              </a:path>
              <a:path w="542925" h="408939">
                <a:moveTo>
                  <a:pt x="124320" y="43179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79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29"/>
                </a:lnTo>
                <a:lnTo>
                  <a:pt x="481799" y="87629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70"/>
                </a:lnTo>
                <a:lnTo>
                  <a:pt x="495681" y="102870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70"/>
                </a:lnTo>
                <a:lnTo>
                  <a:pt x="47893" y="102870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70"/>
                </a:lnTo>
                <a:lnTo>
                  <a:pt x="506996" y="102870"/>
                </a:lnTo>
                <a:lnTo>
                  <a:pt x="509816" y="106679"/>
                </a:lnTo>
                <a:lnTo>
                  <a:pt x="515708" y="114300"/>
                </a:lnTo>
                <a:lnTo>
                  <a:pt x="518516" y="119379"/>
                </a:lnTo>
                <a:lnTo>
                  <a:pt x="507695" y="119379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79"/>
                </a:lnTo>
                <a:lnTo>
                  <a:pt x="35741" y="119379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20"/>
                </a:lnTo>
                <a:lnTo>
                  <a:pt x="525144" y="156210"/>
                </a:lnTo>
                <a:lnTo>
                  <a:pt x="523481" y="151129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70"/>
                </a:lnTo>
                <a:lnTo>
                  <a:pt x="513041" y="128270"/>
                </a:lnTo>
                <a:lnTo>
                  <a:pt x="507695" y="119379"/>
                </a:lnTo>
                <a:lnTo>
                  <a:pt x="518516" y="119379"/>
                </a:lnTo>
                <a:lnTo>
                  <a:pt x="535813" y="157479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688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688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688" y="243839"/>
                </a:lnTo>
                <a:lnTo>
                  <a:pt x="537273" y="245110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39596" y="2864650"/>
            <a:ext cx="533654" cy="400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5176" y="28598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7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7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52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4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912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7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7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1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16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912" y="120650"/>
                </a:moveTo>
                <a:lnTo>
                  <a:pt x="35051" y="119380"/>
                </a:lnTo>
                <a:lnTo>
                  <a:pt x="35752" y="119380"/>
                </a:lnTo>
                <a:lnTo>
                  <a:pt x="34912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4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4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16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4395" y="32075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39976" y="32027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70"/>
                </a:lnTo>
                <a:lnTo>
                  <a:pt x="243649" y="407670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79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20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29"/>
                </a:lnTo>
                <a:lnTo>
                  <a:pt x="61112" y="87629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70"/>
                </a:lnTo>
                <a:lnTo>
                  <a:pt x="47066" y="102870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79"/>
                </a:lnTo>
                <a:lnTo>
                  <a:pt x="35051" y="119379"/>
                </a:lnTo>
                <a:lnTo>
                  <a:pt x="29705" y="128270"/>
                </a:lnTo>
                <a:lnTo>
                  <a:pt x="29844" y="128270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29"/>
                </a:lnTo>
                <a:lnTo>
                  <a:pt x="17551" y="156210"/>
                </a:lnTo>
                <a:lnTo>
                  <a:pt x="16027" y="160020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909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29"/>
                </a:lnTo>
                <a:lnTo>
                  <a:pt x="481799" y="87629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70"/>
                </a:lnTo>
                <a:lnTo>
                  <a:pt x="495681" y="102870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70"/>
                </a:lnTo>
                <a:lnTo>
                  <a:pt x="47893" y="102870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70"/>
                </a:lnTo>
                <a:lnTo>
                  <a:pt x="506996" y="102870"/>
                </a:lnTo>
                <a:lnTo>
                  <a:pt x="509816" y="106679"/>
                </a:lnTo>
                <a:lnTo>
                  <a:pt x="515708" y="114300"/>
                </a:lnTo>
                <a:lnTo>
                  <a:pt x="518516" y="119379"/>
                </a:lnTo>
                <a:lnTo>
                  <a:pt x="507695" y="119379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79"/>
                </a:lnTo>
                <a:lnTo>
                  <a:pt x="35741" y="119379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20"/>
                </a:lnTo>
                <a:lnTo>
                  <a:pt x="525144" y="156210"/>
                </a:lnTo>
                <a:lnTo>
                  <a:pt x="523481" y="151129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70"/>
                </a:lnTo>
                <a:lnTo>
                  <a:pt x="513041" y="128270"/>
                </a:lnTo>
                <a:lnTo>
                  <a:pt x="507695" y="119379"/>
                </a:lnTo>
                <a:lnTo>
                  <a:pt x="518516" y="119379"/>
                </a:lnTo>
                <a:lnTo>
                  <a:pt x="535813" y="157479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688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688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688" y="243839"/>
                </a:lnTo>
                <a:lnTo>
                  <a:pt x="537273" y="245110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01595" y="26360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97176" y="26312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49195" y="24074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44776" y="24026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20595" y="21217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16176" y="21169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39596" y="24646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35176" y="2288387"/>
            <a:ext cx="618947" cy="5803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63396" y="26360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58976" y="26312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6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7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7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52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4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912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7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7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1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4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16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2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912" y="120650"/>
                </a:moveTo>
                <a:lnTo>
                  <a:pt x="35051" y="119380"/>
                </a:lnTo>
                <a:lnTo>
                  <a:pt x="35752" y="119380"/>
                </a:lnTo>
                <a:lnTo>
                  <a:pt x="34912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4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4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16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30195" y="28646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25776" y="28598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30195" y="23503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25776" y="23455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82595" y="21217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78176" y="21169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01595" y="2064550"/>
            <a:ext cx="533654" cy="400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097176" y="20597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49195" y="3321849"/>
            <a:ext cx="533654" cy="4000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944776" y="33170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70"/>
                </a:lnTo>
                <a:lnTo>
                  <a:pt x="243649" y="407670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79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20"/>
                </a:lnTo>
                <a:lnTo>
                  <a:pt x="131190" y="29210"/>
                </a:lnTo>
                <a:lnTo>
                  <a:pt x="178498" y="11429"/>
                </a:lnTo>
                <a:lnTo>
                  <a:pt x="230301" y="1270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70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29"/>
                </a:lnTo>
                <a:lnTo>
                  <a:pt x="231394" y="11429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79"/>
                </a:lnTo>
                <a:lnTo>
                  <a:pt x="193230" y="17779"/>
                </a:lnTo>
                <a:lnTo>
                  <a:pt x="180848" y="20320"/>
                </a:lnTo>
                <a:lnTo>
                  <a:pt x="181025" y="20320"/>
                </a:lnTo>
                <a:lnTo>
                  <a:pt x="168909" y="24129"/>
                </a:lnTo>
                <a:lnTo>
                  <a:pt x="169087" y="24129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20"/>
                </a:lnTo>
                <a:lnTo>
                  <a:pt x="146138" y="33020"/>
                </a:lnTo>
                <a:lnTo>
                  <a:pt x="134962" y="36829"/>
                </a:lnTo>
                <a:lnTo>
                  <a:pt x="135140" y="36829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29"/>
                </a:lnTo>
                <a:lnTo>
                  <a:pt x="61112" y="87629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70"/>
                </a:lnTo>
                <a:lnTo>
                  <a:pt x="47066" y="102870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79"/>
                </a:lnTo>
                <a:lnTo>
                  <a:pt x="35051" y="119379"/>
                </a:lnTo>
                <a:lnTo>
                  <a:pt x="29705" y="128270"/>
                </a:lnTo>
                <a:lnTo>
                  <a:pt x="29844" y="128270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29"/>
                </a:lnTo>
                <a:lnTo>
                  <a:pt x="17551" y="156210"/>
                </a:lnTo>
                <a:lnTo>
                  <a:pt x="16027" y="160020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909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79"/>
                </a:moveTo>
                <a:lnTo>
                  <a:pt x="407606" y="36829"/>
                </a:lnTo>
                <a:lnTo>
                  <a:pt x="407784" y="36829"/>
                </a:lnTo>
                <a:lnTo>
                  <a:pt x="396608" y="33020"/>
                </a:lnTo>
                <a:lnTo>
                  <a:pt x="396786" y="33020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29"/>
                </a:lnTo>
                <a:lnTo>
                  <a:pt x="373837" y="24129"/>
                </a:lnTo>
                <a:lnTo>
                  <a:pt x="361721" y="20320"/>
                </a:lnTo>
                <a:lnTo>
                  <a:pt x="361899" y="20320"/>
                </a:lnTo>
                <a:lnTo>
                  <a:pt x="349503" y="17779"/>
                </a:lnTo>
                <a:lnTo>
                  <a:pt x="349694" y="17779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29"/>
                </a:lnTo>
                <a:lnTo>
                  <a:pt x="311543" y="11429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29"/>
                </a:lnTo>
                <a:lnTo>
                  <a:pt x="400380" y="24129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79"/>
                </a:lnTo>
                <a:close/>
              </a:path>
              <a:path w="542925" h="408939">
                <a:moveTo>
                  <a:pt x="124320" y="43179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79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29"/>
                </a:lnTo>
                <a:lnTo>
                  <a:pt x="481799" y="87629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70"/>
                </a:lnTo>
                <a:lnTo>
                  <a:pt x="495681" y="102870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70"/>
                </a:lnTo>
                <a:lnTo>
                  <a:pt x="47893" y="102870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70"/>
                </a:lnTo>
                <a:lnTo>
                  <a:pt x="506996" y="102870"/>
                </a:lnTo>
                <a:lnTo>
                  <a:pt x="509816" y="106679"/>
                </a:lnTo>
                <a:lnTo>
                  <a:pt x="515708" y="114300"/>
                </a:lnTo>
                <a:lnTo>
                  <a:pt x="518516" y="119379"/>
                </a:lnTo>
                <a:lnTo>
                  <a:pt x="507695" y="119379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79"/>
                </a:lnTo>
                <a:lnTo>
                  <a:pt x="35741" y="119379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20"/>
                </a:lnTo>
                <a:lnTo>
                  <a:pt x="525144" y="156210"/>
                </a:lnTo>
                <a:lnTo>
                  <a:pt x="523481" y="151129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70"/>
                </a:lnTo>
                <a:lnTo>
                  <a:pt x="513041" y="128270"/>
                </a:lnTo>
                <a:lnTo>
                  <a:pt x="507695" y="119379"/>
                </a:lnTo>
                <a:lnTo>
                  <a:pt x="518516" y="119379"/>
                </a:lnTo>
                <a:lnTo>
                  <a:pt x="535813" y="157479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688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688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688" y="243839"/>
                </a:lnTo>
                <a:lnTo>
                  <a:pt x="537273" y="245110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63595" y="24074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59176" y="24026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0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0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8" y="160019"/>
                </a:lnTo>
                <a:lnTo>
                  <a:pt x="525145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0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4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34995" y="21788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30576" y="21740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939795" y="26932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35376" y="26884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4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5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0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0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8" y="160019"/>
                </a:lnTo>
                <a:lnTo>
                  <a:pt x="525145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5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0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4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30195" y="22931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25776" y="22883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44395" y="24646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39976" y="24598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06395" y="3321849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401976" y="33170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70"/>
                </a:lnTo>
                <a:lnTo>
                  <a:pt x="243649" y="407670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79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20"/>
                </a:lnTo>
                <a:lnTo>
                  <a:pt x="131190" y="29210"/>
                </a:lnTo>
                <a:lnTo>
                  <a:pt x="178498" y="11429"/>
                </a:lnTo>
                <a:lnTo>
                  <a:pt x="230301" y="1270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70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29"/>
                </a:lnTo>
                <a:lnTo>
                  <a:pt x="231394" y="11429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79"/>
                </a:lnTo>
                <a:lnTo>
                  <a:pt x="193230" y="17779"/>
                </a:lnTo>
                <a:lnTo>
                  <a:pt x="180848" y="20320"/>
                </a:lnTo>
                <a:lnTo>
                  <a:pt x="181025" y="20320"/>
                </a:lnTo>
                <a:lnTo>
                  <a:pt x="168909" y="24129"/>
                </a:lnTo>
                <a:lnTo>
                  <a:pt x="169087" y="24129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20"/>
                </a:lnTo>
                <a:lnTo>
                  <a:pt x="146138" y="33020"/>
                </a:lnTo>
                <a:lnTo>
                  <a:pt x="134962" y="36829"/>
                </a:lnTo>
                <a:lnTo>
                  <a:pt x="135140" y="36829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29"/>
                </a:lnTo>
                <a:lnTo>
                  <a:pt x="61112" y="87629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70"/>
                </a:lnTo>
                <a:lnTo>
                  <a:pt x="47066" y="102870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79"/>
                </a:lnTo>
                <a:lnTo>
                  <a:pt x="35051" y="119379"/>
                </a:lnTo>
                <a:lnTo>
                  <a:pt x="29705" y="128270"/>
                </a:lnTo>
                <a:lnTo>
                  <a:pt x="29844" y="128270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29"/>
                </a:lnTo>
                <a:lnTo>
                  <a:pt x="17551" y="156210"/>
                </a:lnTo>
                <a:lnTo>
                  <a:pt x="16027" y="160020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909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79"/>
                </a:moveTo>
                <a:lnTo>
                  <a:pt x="407606" y="36829"/>
                </a:lnTo>
                <a:lnTo>
                  <a:pt x="407784" y="36829"/>
                </a:lnTo>
                <a:lnTo>
                  <a:pt x="396608" y="33020"/>
                </a:lnTo>
                <a:lnTo>
                  <a:pt x="396786" y="33020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29"/>
                </a:lnTo>
                <a:lnTo>
                  <a:pt x="373837" y="24129"/>
                </a:lnTo>
                <a:lnTo>
                  <a:pt x="361721" y="20320"/>
                </a:lnTo>
                <a:lnTo>
                  <a:pt x="361899" y="20320"/>
                </a:lnTo>
                <a:lnTo>
                  <a:pt x="349503" y="17779"/>
                </a:lnTo>
                <a:lnTo>
                  <a:pt x="349694" y="17779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29"/>
                </a:lnTo>
                <a:lnTo>
                  <a:pt x="311543" y="11429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29"/>
                </a:lnTo>
                <a:lnTo>
                  <a:pt x="400380" y="24129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79"/>
                </a:lnTo>
                <a:close/>
              </a:path>
              <a:path w="542925" h="408939">
                <a:moveTo>
                  <a:pt x="124320" y="43179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79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29"/>
                </a:lnTo>
                <a:lnTo>
                  <a:pt x="481799" y="87629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70"/>
                </a:lnTo>
                <a:lnTo>
                  <a:pt x="495681" y="102870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70"/>
                </a:lnTo>
                <a:lnTo>
                  <a:pt x="47893" y="102870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70"/>
                </a:lnTo>
                <a:lnTo>
                  <a:pt x="506996" y="102870"/>
                </a:lnTo>
                <a:lnTo>
                  <a:pt x="509816" y="106679"/>
                </a:lnTo>
                <a:lnTo>
                  <a:pt x="515708" y="114300"/>
                </a:lnTo>
                <a:lnTo>
                  <a:pt x="518516" y="119379"/>
                </a:lnTo>
                <a:lnTo>
                  <a:pt x="507695" y="119379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79"/>
                </a:lnTo>
                <a:lnTo>
                  <a:pt x="35741" y="119379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20"/>
                </a:lnTo>
                <a:lnTo>
                  <a:pt x="525144" y="156210"/>
                </a:lnTo>
                <a:lnTo>
                  <a:pt x="523481" y="151129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70"/>
                </a:lnTo>
                <a:lnTo>
                  <a:pt x="513041" y="128270"/>
                </a:lnTo>
                <a:lnTo>
                  <a:pt x="507695" y="119379"/>
                </a:lnTo>
                <a:lnTo>
                  <a:pt x="518516" y="119379"/>
                </a:lnTo>
                <a:lnTo>
                  <a:pt x="535813" y="157479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688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688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688" y="243839"/>
                </a:lnTo>
                <a:lnTo>
                  <a:pt x="537273" y="245110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711195" y="31504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706776" y="31456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70"/>
                </a:lnTo>
                <a:lnTo>
                  <a:pt x="243649" y="407670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79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79"/>
                </a:lnTo>
                <a:lnTo>
                  <a:pt x="35051" y="119379"/>
                </a:lnTo>
                <a:lnTo>
                  <a:pt x="29705" y="128270"/>
                </a:lnTo>
                <a:lnTo>
                  <a:pt x="29844" y="128270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29"/>
                </a:lnTo>
                <a:lnTo>
                  <a:pt x="17551" y="156210"/>
                </a:lnTo>
                <a:lnTo>
                  <a:pt x="16027" y="160020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909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79"/>
                </a:lnTo>
                <a:lnTo>
                  <a:pt x="515708" y="114300"/>
                </a:lnTo>
                <a:lnTo>
                  <a:pt x="518516" y="119379"/>
                </a:lnTo>
                <a:lnTo>
                  <a:pt x="507695" y="119379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79"/>
                </a:lnTo>
                <a:lnTo>
                  <a:pt x="35741" y="119379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20"/>
                </a:lnTo>
                <a:lnTo>
                  <a:pt x="525144" y="156210"/>
                </a:lnTo>
                <a:lnTo>
                  <a:pt x="523481" y="151129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70"/>
                </a:lnTo>
                <a:lnTo>
                  <a:pt x="513041" y="128270"/>
                </a:lnTo>
                <a:lnTo>
                  <a:pt x="507695" y="119379"/>
                </a:lnTo>
                <a:lnTo>
                  <a:pt x="518516" y="119379"/>
                </a:lnTo>
                <a:lnTo>
                  <a:pt x="535813" y="157479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688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688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688" y="243839"/>
                </a:lnTo>
                <a:lnTo>
                  <a:pt x="537273" y="245110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558795" y="26360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554376" y="26312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863595" y="2921800"/>
            <a:ext cx="533654" cy="4000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859176" y="29170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0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0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8" y="160019"/>
                </a:lnTo>
                <a:lnTo>
                  <a:pt x="525145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0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4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644395" y="2693200"/>
            <a:ext cx="533654" cy="400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639976" y="26884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415796" y="30932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411376" y="30884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7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7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52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79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70"/>
                </a:lnTo>
                <a:lnTo>
                  <a:pt x="10756" y="184150"/>
                </a:lnTo>
                <a:lnTo>
                  <a:pt x="10185" y="189229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29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4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912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7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7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16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912" y="120650"/>
                </a:moveTo>
                <a:lnTo>
                  <a:pt x="35051" y="119380"/>
                </a:lnTo>
                <a:lnTo>
                  <a:pt x="35752" y="119380"/>
                </a:lnTo>
                <a:lnTo>
                  <a:pt x="34912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79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29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29"/>
                </a:lnTo>
                <a:lnTo>
                  <a:pt x="531964" y="184150"/>
                </a:lnTo>
                <a:lnTo>
                  <a:pt x="531228" y="179070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20"/>
                </a:lnTo>
                <a:lnTo>
                  <a:pt x="542747" y="209550"/>
                </a:lnTo>
                <a:lnTo>
                  <a:pt x="542467" y="214629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79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4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4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16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872995" y="23503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868576" y="23455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53995" y="2578900"/>
            <a:ext cx="533654" cy="4000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49576" y="25741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796795" y="2921800"/>
            <a:ext cx="533654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92376" y="29170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06395" y="3036100"/>
            <a:ext cx="533654" cy="4000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01976" y="30313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29"/>
                </a:lnTo>
                <a:lnTo>
                  <a:pt x="62280" y="335279"/>
                </a:lnTo>
                <a:lnTo>
                  <a:pt x="54203" y="327660"/>
                </a:lnTo>
                <a:lnTo>
                  <a:pt x="46596" y="318770"/>
                </a:lnTo>
                <a:lnTo>
                  <a:pt x="39509" y="311150"/>
                </a:lnTo>
                <a:lnTo>
                  <a:pt x="16509" y="274320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20"/>
                </a:lnTo>
                <a:lnTo>
                  <a:pt x="11518" y="228600"/>
                </a:lnTo>
                <a:lnTo>
                  <a:pt x="12433" y="233679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29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20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79"/>
                </a:lnTo>
                <a:lnTo>
                  <a:pt x="40639" y="297179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20"/>
                </a:lnTo>
                <a:lnTo>
                  <a:pt x="53682" y="312420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79"/>
                </a:lnTo>
                <a:lnTo>
                  <a:pt x="76898" y="335279"/>
                </a:lnTo>
                <a:lnTo>
                  <a:pt x="85737" y="341629"/>
                </a:lnTo>
                <a:lnTo>
                  <a:pt x="85559" y="341629"/>
                </a:lnTo>
                <a:lnTo>
                  <a:pt x="94818" y="347979"/>
                </a:lnTo>
                <a:lnTo>
                  <a:pt x="94640" y="347979"/>
                </a:lnTo>
                <a:lnTo>
                  <a:pt x="104317" y="354329"/>
                </a:lnTo>
                <a:lnTo>
                  <a:pt x="104139" y="354329"/>
                </a:lnTo>
                <a:lnTo>
                  <a:pt x="114223" y="360679"/>
                </a:lnTo>
                <a:lnTo>
                  <a:pt x="114045" y="360679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20"/>
                </a:lnTo>
                <a:lnTo>
                  <a:pt x="145961" y="375920"/>
                </a:lnTo>
                <a:lnTo>
                  <a:pt x="157454" y="379729"/>
                </a:lnTo>
                <a:lnTo>
                  <a:pt x="157276" y="379729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79"/>
                </a:lnTo>
                <a:lnTo>
                  <a:pt x="531253" y="228600"/>
                </a:lnTo>
                <a:lnTo>
                  <a:pt x="531990" y="223520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20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70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29"/>
                </a:lnTo>
                <a:lnTo>
                  <a:pt x="526719" y="247650"/>
                </a:lnTo>
                <a:lnTo>
                  <a:pt x="528078" y="242570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79"/>
                </a:lnTo>
                <a:lnTo>
                  <a:pt x="535774" y="250189"/>
                </a:lnTo>
                <a:lnTo>
                  <a:pt x="534162" y="255270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29"/>
                </a:lnTo>
                <a:lnTo>
                  <a:pt x="385292" y="379729"/>
                </a:lnTo>
                <a:lnTo>
                  <a:pt x="396786" y="375920"/>
                </a:lnTo>
                <a:lnTo>
                  <a:pt x="396608" y="375920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79"/>
                </a:lnTo>
                <a:lnTo>
                  <a:pt x="428523" y="360679"/>
                </a:lnTo>
                <a:lnTo>
                  <a:pt x="438607" y="354329"/>
                </a:lnTo>
                <a:lnTo>
                  <a:pt x="438429" y="354329"/>
                </a:lnTo>
                <a:lnTo>
                  <a:pt x="448106" y="347979"/>
                </a:lnTo>
                <a:lnTo>
                  <a:pt x="447928" y="347979"/>
                </a:lnTo>
                <a:lnTo>
                  <a:pt x="457187" y="341629"/>
                </a:lnTo>
                <a:lnTo>
                  <a:pt x="457009" y="341629"/>
                </a:lnTo>
                <a:lnTo>
                  <a:pt x="465848" y="335279"/>
                </a:lnTo>
                <a:lnTo>
                  <a:pt x="465670" y="335279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20"/>
                </a:lnTo>
                <a:lnTo>
                  <a:pt x="488899" y="312420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79"/>
                </a:lnTo>
                <a:lnTo>
                  <a:pt x="501954" y="297179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20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70"/>
                </a:lnTo>
                <a:lnTo>
                  <a:pt x="488378" y="327660"/>
                </a:lnTo>
                <a:lnTo>
                  <a:pt x="480288" y="335279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20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29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177795" y="28646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173376" y="28598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649" y="407670"/>
                </a:lnTo>
                <a:lnTo>
                  <a:pt x="216814" y="405129"/>
                </a:lnTo>
                <a:lnTo>
                  <a:pt x="166027" y="392429"/>
                </a:lnTo>
                <a:lnTo>
                  <a:pt x="120014" y="374650"/>
                </a:lnTo>
                <a:lnTo>
                  <a:pt x="79844" y="3492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70"/>
                </a:lnTo>
                <a:lnTo>
                  <a:pt x="218262" y="394970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79"/>
                </a:lnTo>
                <a:lnTo>
                  <a:pt x="264540" y="398779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29"/>
                </a:lnTo>
                <a:lnTo>
                  <a:pt x="298957" y="407670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1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1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9" y="160019"/>
                </a:lnTo>
                <a:lnTo>
                  <a:pt x="525144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7677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2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2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79"/>
                </a:lnTo>
                <a:lnTo>
                  <a:pt x="298195" y="398779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70"/>
                </a:lnTo>
                <a:lnTo>
                  <a:pt x="324307" y="394970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1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17550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2" y="257810"/>
                </a:lnTo>
                <a:lnTo>
                  <a:pt x="532383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29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863595" y="2464600"/>
            <a:ext cx="533654" cy="4000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59176" y="245983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0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0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8" y="160019"/>
                </a:lnTo>
                <a:lnTo>
                  <a:pt x="525145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0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4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87395" y="2750350"/>
            <a:ext cx="533654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82976" y="2745587"/>
            <a:ext cx="542925" cy="408940"/>
          </a:xfrm>
          <a:custGeom>
            <a:avLst/>
            <a:gdLst/>
            <a:ahLst/>
            <a:cxnLst/>
            <a:rect l="l" t="t" r="r" b="b"/>
            <a:pathLst>
              <a:path w="542925" h="408939">
                <a:moveTo>
                  <a:pt x="292214" y="408939"/>
                </a:moveTo>
                <a:lnTo>
                  <a:pt x="250621" y="408939"/>
                </a:lnTo>
                <a:lnTo>
                  <a:pt x="243789" y="407669"/>
                </a:lnTo>
                <a:lnTo>
                  <a:pt x="243649" y="407669"/>
                </a:lnTo>
                <a:lnTo>
                  <a:pt x="190862" y="400040"/>
                </a:lnTo>
                <a:lnTo>
                  <a:pt x="142367" y="384810"/>
                </a:lnTo>
                <a:lnTo>
                  <a:pt x="99136" y="361950"/>
                </a:lnTo>
                <a:lnTo>
                  <a:pt x="70840" y="341630"/>
                </a:lnTo>
                <a:lnTo>
                  <a:pt x="62280" y="335280"/>
                </a:lnTo>
                <a:lnTo>
                  <a:pt x="54203" y="327660"/>
                </a:lnTo>
                <a:lnTo>
                  <a:pt x="46596" y="318769"/>
                </a:lnTo>
                <a:lnTo>
                  <a:pt x="39509" y="311150"/>
                </a:lnTo>
                <a:lnTo>
                  <a:pt x="16509" y="274319"/>
                </a:lnTo>
                <a:lnTo>
                  <a:pt x="3060" y="234950"/>
                </a:lnTo>
                <a:lnTo>
                  <a:pt x="0" y="209550"/>
                </a:lnTo>
                <a:lnTo>
                  <a:pt x="0" y="199389"/>
                </a:lnTo>
                <a:lnTo>
                  <a:pt x="6972" y="157480"/>
                </a:lnTo>
                <a:lnTo>
                  <a:pt x="21551" y="124460"/>
                </a:lnTo>
                <a:lnTo>
                  <a:pt x="27038" y="114300"/>
                </a:lnTo>
                <a:lnTo>
                  <a:pt x="33083" y="105410"/>
                </a:lnTo>
                <a:lnTo>
                  <a:pt x="39662" y="97789"/>
                </a:lnTo>
                <a:lnTo>
                  <a:pt x="46761" y="88900"/>
                </a:lnTo>
                <a:lnTo>
                  <a:pt x="80022" y="58419"/>
                </a:lnTo>
                <a:lnTo>
                  <a:pt x="131190" y="29210"/>
                </a:lnTo>
                <a:lnTo>
                  <a:pt x="178498" y="11430"/>
                </a:lnTo>
                <a:lnTo>
                  <a:pt x="230301" y="1269"/>
                </a:lnTo>
                <a:lnTo>
                  <a:pt x="243789" y="0"/>
                </a:lnTo>
                <a:lnTo>
                  <a:pt x="299097" y="0"/>
                </a:lnTo>
                <a:lnTo>
                  <a:pt x="312623" y="1269"/>
                </a:lnTo>
                <a:lnTo>
                  <a:pt x="351853" y="8889"/>
                </a:lnTo>
                <a:lnTo>
                  <a:pt x="251167" y="8889"/>
                </a:lnTo>
                <a:lnTo>
                  <a:pt x="244424" y="10160"/>
                </a:lnTo>
                <a:lnTo>
                  <a:pt x="244551" y="10160"/>
                </a:lnTo>
                <a:lnTo>
                  <a:pt x="231203" y="11430"/>
                </a:lnTo>
                <a:lnTo>
                  <a:pt x="231394" y="11430"/>
                </a:lnTo>
                <a:lnTo>
                  <a:pt x="218262" y="12700"/>
                </a:lnTo>
                <a:lnTo>
                  <a:pt x="218439" y="12700"/>
                </a:lnTo>
                <a:lnTo>
                  <a:pt x="205536" y="15239"/>
                </a:lnTo>
                <a:lnTo>
                  <a:pt x="205714" y="15239"/>
                </a:lnTo>
                <a:lnTo>
                  <a:pt x="193052" y="17780"/>
                </a:lnTo>
                <a:lnTo>
                  <a:pt x="193230" y="17780"/>
                </a:lnTo>
                <a:lnTo>
                  <a:pt x="180848" y="20319"/>
                </a:lnTo>
                <a:lnTo>
                  <a:pt x="181025" y="20319"/>
                </a:lnTo>
                <a:lnTo>
                  <a:pt x="168909" y="24130"/>
                </a:lnTo>
                <a:lnTo>
                  <a:pt x="169087" y="24130"/>
                </a:lnTo>
                <a:lnTo>
                  <a:pt x="157276" y="27939"/>
                </a:lnTo>
                <a:lnTo>
                  <a:pt x="157454" y="27939"/>
                </a:lnTo>
                <a:lnTo>
                  <a:pt x="145961" y="33019"/>
                </a:lnTo>
                <a:lnTo>
                  <a:pt x="146138" y="33019"/>
                </a:lnTo>
                <a:lnTo>
                  <a:pt x="134962" y="36830"/>
                </a:lnTo>
                <a:lnTo>
                  <a:pt x="135140" y="36830"/>
                </a:lnTo>
                <a:lnTo>
                  <a:pt x="126484" y="41910"/>
                </a:lnTo>
                <a:lnTo>
                  <a:pt x="124498" y="41910"/>
                </a:lnTo>
                <a:lnTo>
                  <a:pt x="114045" y="48260"/>
                </a:lnTo>
                <a:lnTo>
                  <a:pt x="114223" y="48260"/>
                </a:lnTo>
                <a:lnTo>
                  <a:pt x="104139" y="53339"/>
                </a:lnTo>
                <a:lnTo>
                  <a:pt x="104317" y="53339"/>
                </a:lnTo>
                <a:lnTo>
                  <a:pt x="94640" y="59689"/>
                </a:lnTo>
                <a:lnTo>
                  <a:pt x="94818" y="59689"/>
                </a:lnTo>
                <a:lnTo>
                  <a:pt x="85559" y="66039"/>
                </a:lnTo>
                <a:lnTo>
                  <a:pt x="85737" y="66039"/>
                </a:lnTo>
                <a:lnTo>
                  <a:pt x="76898" y="73660"/>
                </a:lnTo>
                <a:lnTo>
                  <a:pt x="77076" y="73660"/>
                </a:lnTo>
                <a:lnTo>
                  <a:pt x="68694" y="80010"/>
                </a:lnTo>
                <a:lnTo>
                  <a:pt x="68859" y="80010"/>
                </a:lnTo>
                <a:lnTo>
                  <a:pt x="60947" y="87630"/>
                </a:lnTo>
                <a:lnTo>
                  <a:pt x="61112" y="87630"/>
                </a:lnTo>
                <a:lnTo>
                  <a:pt x="53682" y="95250"/>
                </a:lnTo>
                <a:lnTo>
                  <a:pt x="53848" y="95250"/>
                </a:lnTo>
                <a:lnTo>
                  <a:pt x="47893" y="102869"/>
                </a:lnTo>
                <a:lnTo>
                  <a:pt x="47066" y="102869"/>
                </a:lnTo>
                <a:lnTo>
                  <a:pt x="40639" y="111760"/>
                </a:lnTo>
                <a:lnTo>
                  <a:pt x="40792" y="111760"/>
                </a:lnTo>
                <a:lnTo>
                  <a:pt x="35741" y="119380"/>
                </a:lnTo>
                <a:lnTo>
                  <a:pt x="35051" y="119380"/>
                </a:lnTo>
                <a:lnTo>
                  <a:pt x="29705" y="128269"/>
                </a:lnTo>
                <a:lnTo>
                  <a:pt x="29844" y="128269"/>
                </a:lnTo>
                <a:lnTo>
                  <a:pt x="25069" y="137160"/>
                </a:lnTo>
                <a:lnTo>
                  <a:pt x="25196" y="137160"/>
                </a:lnTo>
                <a:lnTo>
                  <a:pt x="21005" y="146050"/>
                </a:lnTo>
                <a:lnTo>
                  <a:pt x="19215" y="151130"/>
                </a:lnTo>
                <a:lnTo>
                  <a:pt x="17551" y="156210"/>
                </a:lnTo>
                <a:lnTo>
                  <a:pt x="16027" y="160019"/>
                </a:lnTo>
                <a:lnTo>
                  <a:pt x="14668" y="165100"/>
                </a:lnTo>
                <a:lnTo>
                  <a:pt x="13449" y="170180"/>
                </a:lnTo>
                <a:lnTo>
                  <a:pt x="12668" y="173989"/>
                </a:lnTo>
                <a:lnTo>
                  <a:pt x="12433" y="173989"/>
                </a:lnTo>
                <a:lnTo>
                  <a:pt x="11493" y="179069"/>
                </a:lnTo>
                <a:lnTo>
                  <a:pt x="10756" y="184150"/>
                </a:lnTo>
                <a:lnTo>
                  <a:pt x="10185" y="189230"/>
                </a:lnTo>
                <a:lnTo>
                  <a:pt x="9778" y="194310"/>
                </a:lnTo>
                <a:lnTo>
                  <a:pt x="9525" y="199389"/>
                </a:lnTo>
                <a:lnTo>
                  <a:pt x="9512" y="209550"/>
                </a:lnTo>
                <a:lnTo>
                  <a:pt x="9778" y="214630"/>
                </a:lnTo>
                <a:lnTo>
                  <a:pt x="10198" y="219710"/>
                </a:lnTo>
                <a:lnTo>
                  <a:pt x="10334" y="219710"/>
                </a:lnTo>
                <a:lnTo>
                  <a:pt x="10782" y="223519"/>
                </a:lnTo>
                <a:lnTo>
                  <a:pt x="11518" y="228600"/>
                </a:lnTo>
                <a:lnTo>
                  <a:pt x="12433" y="233680"/>
                </a:lnTo>
                <a:lnTo>
                  <a:pt x="13487" y="238760"/>
                </a:lnTo>
                <a:lnTo>
                  <a:pt x="14706" y="243839"/>
                </a:lnTo>
                <a:lnTo>
                  <a:pt x="15020" y="243839"/>
                </a:lnTo>
                <a:lnTo>
                  <a:pt x="16078" y="247650"/>
                </a:lnTo>
                <a:lnTo>
                  <a:pt x="17602" y="252730"/>
                </a:lnTo>
                <a:lnTo>
                  <a:pt x="19265" y="257810"/>
                </a:lnTo>
                <a:lnTo>
                  <a:pt x="19685" y="257810"/>
                </a:lnTo>
                <a:lnTo>
                  <a:pt x="21094" y="261619"/>
                </a:lnTo>
                <a:lnTo>
                  <a:pt x="25196" y="270510"/>
                </a:lnTo>
                <a:lnTo>
                  <a:pt x="25069" y="270510"/>
                </a:lnTo>
                <a:lnTo>
                  <a:pt x="29844" y="279400"/>
                </a:lnTo>
                <a:lnTo>
                  <a:pt x="29705" y="279400"/>
                </a:lnTo>
                <a:lnTo>
                  <a:pt x="35051" y="288289"/>
                </a:lnTo>
                <a:lnTo>
                  <a:pt x="34899" y="288289"/>
                </a:lnTo>
                <a:lnTo>
                  <a:pt x="40792" y="297180"/>
                </a:lnTo>
                <a:lnTo>
                  <a:pt x="40639" y="297180"/>
                </a:lnTo>
                <a:lnTo>
                  <a:pt x="47066" y="304800"/>
                </a:lnTo>
                <a:lnTo>
                  <a:pt x="46901" y="304800"/>
                </a:lnTo>
                <a:lnTo>
                  <a:pt x="53848" y="312419"/>
                </a:lnTo>
                <a:lnTo>
                  <a:pt x="53682" y="312419"/>
                </a:lnTo>
                <a:lnTo>
                  <a:pt x="61112" y="320039"/>
                </a:lnTo>
                <a:lnTo>
                  <a:pt x="60947" y="320039"/>
                </a:lnTo>
                <a:lnTo>
                  <a:pt x="68859" y="327660"/>
                </a:lnTo>
                <a:lnTo>
                  <a:pt x="68694" y="327660"/>
                </a:lnTo>
                <a:lnTo>
                  <a:pt x="77076" y="335280"/>
                </a:lnTo>
                <a:lnTo>
                  <a:pt x="76898" y="335280"/>
                </a:lnTo>
                <a:lnTo>
                  <a:pt x="85737" y="341630"/>
                </a:lnTo>
                <a:lnTo>
                  <a:pt x="85559" y="341630"/>
                </a:lnTo>
                <a:lnTo>
                  <a:pt x="94818" y="347980"/>
                </a:lnTo>
                <a:lnTo>
                  <a:pt x="94640" y="347980"/>
                </a:lnTo>
                <a:lnTo>
                  <a:pt x="104317" y="354330"/>
                </a:lnTo>
                <a:lnTo>
                  <a:pt x="104139" y="354330"/>
                </a:lnTo>
                <a:lnTo>
                  <a:pt x="114223" y="360680"/>
                </a:lnTo>
                <a:lnTo>
                  <a:pt x="114045" y="360680"/>
                </a:lnTo>
                <a:lnTo>
                  <a:pt x="124498" y="365760"/>
                </a:lnTo>
                <a:lnTo>
                  <a:pt x="124320" y="365760"/>
                </a:lnTo>
                <a:lnTo>
                  <a:pt x="135140" y="370839"/>
                </a:lnTo>
                <a:lnTo>
                  <a:pt x="134962" y="370839"/>
                </a:lnTo>
                <a:lnTo>
                  <a:pt x="146138" y="375919"/>
                </a:lnTo>
                <a:lnTo>
                  <a:pt x="145961" y="375919"/>
                </a:lnTo>
                <a:lnTo>
                  <a:pt x="157454" y="379730"/>
                </a:lnTo>
                <a:lnTo>
                  <a:pt x="157276" y="379730"/>
                </a:lnTo>
                <a:lnTo>
                  <a:pt x="169087" y="383539"/>
                </a:lnTo>
                <a:lnTo>
                  <a:pt x="168909" y="383539"/>
                </a:lnTo>
                <a:lnTo>
                  <a:pt x="181025" y="387350"/>
                </a:lnTo>
                <a:lnTo>
                  <a:pt x="180848" y="387350"/>
                </a:lnTo>
                <a:lnTo>
                  <a:pt x="193230" y="391160"/>
                </a:lnTo>
                <a:lnTo>
                  <a:pt x="193052" y="391160"/>
                </a:lnTo>
                <a:lnTo>
                  <a:pt x="205714" y="393700"/>
                </a:lnTo>
                <a:lnTo>
                  <a:pt x="205536" y="393700"/>
                </a:lnTo>
                <a:lnTo>
                  <a:pt x="218439" y="394969"/>
                </a:lnTo>
                <a:lnTo>
                  <a:pt x="218262" y="394969"/>
                </a:lnTo>
                <a:lnTo>
                  <a:pt x="231394" y="397510"/>
                </a:lnTo>
                <a:lnTo>
                  <a:pt x="231203" y="397510"/>
                </a:lnTo>
                <a:lnTo>
                  <a:pt x="244551" y="398780"/>
                </a:lnTo>
                <a:lnTo>
                  <a:pt x="264540" y="398780"/>
                </a:lnTo>
                <a:lnTo>
                  <a:pt x="271373" y="400040"/>
                </a:lnTo>
                <a:lnTo>
                  <a:pt x="351675" y="400050"/>
                </a:lnTo>
                <a:lnTo>
                  <a:pt x="325755" y="405130"/>
                </a:lnTo>
                <a:lnTo>
                  <a:pt x="299097" y="407669"/>
                </a:lnTo>
                <a:lnTo>
                  <a:pt x="292214" y="408939"/>
                </a:lnTo>
                <a:close/>
              </a:path>
              <a:path w="542925" h="408939">
                <a:moveTo>
                  <a:pt x="418426" y="43180"/>
                </a:moveTo>
                <a:lnTo>
                  <a:pt x="407606" y="36830"/>
                </a:lnTo>
                <a:lnTo>
                  <a:pt x="407784" y="36830"/>
                </a:lnTo>
                <a:lnTo>
                  <a:pt x="396608" y="33019"/>
                </a:lnTo>
                <a:lnTo>
                  <a:pt x="396786" y="33019"/>
                </a:lnTo>
                <a:lnTo>
                  <a:pt x="385292" y="27939"/>
                </a:lnTo>
                <a:lnTo>
                  <a:pt x="385470" y="27939"/>
                </a:lnTo>
                <a:lnTo>
                  <a:pt x="373659" y="24130"/>
                </a:lnTo>
                <a:lnTo>
                  <a:pt x="373837" y="24130"/>
                </a:lnTo>
                <a:lnTo>
                  <a:pt x="361721" y="20319"/>
                </a:lnTo>
                <a:lnTo>
                  <a:pt x="361899" y="20319"/>
                </a:lnTo>
                <a:lnTo>
                  <a:pt x="349503" y="17780"/>
                </a:lnTo>
                <a:lnTo>
                  <a:pt x="349694" y="17780"/>
                </a:lnTo>
                <a:lnTo>
                  <a:pt x="337032" y="15239"/>
                </a:lnTo>
                <a:lnTo>
                  <a:pt x="337210" y="15239"/>
                </a:lnTo>
                <a:lnTo>
                  <a:pt x="324307" y="12700"/>
                </a:lnTo>
                <a:lnTo>
                  <a:pt x="324484" y="12700"/>
                </a:lnTo>
                <a:lnTo>
                  <a:pt x="311353" y="11430"/>
                </a:lnTo>
                <a:lnTo>
                  <a:pt x="311543" y="11430"/>
                </a:lnTo>
                <a:lnTo>
                  <a:pt x="298195" y="10160"/>
                </a:lnTo>
                <a:lnTo>
                  <a:pt x="298323" y="10160"/>
                </a:lnTo>
                <a:lnTo>
                  <a:pt x="291579" y="8889"/>
                </a:lnTo>
                <a:lnTo>
                  <a:pt x="351853" y="8889"/>
                </a:lnTo>
                <a:lnTo>
                  <a:pt x="364426" y="11430"/>
                </a:lnTo>
                <a:lnTo>
                  <a:pt x="400380" y="24130"/>
                </a:lnTo>
                <a:lnTo>
                  <a:pt x="437461" y="41910"/>
                </a:lnTo>
                <a:lnTo>
                  <a:pt x="418249" y="41910"/>
                </a:lnTo>
                <a:lnTo>
                  <a:pt x="418426" y="43180"/>
                </a:lnTo>
                <a:close/>
              </a:path>
              <a:path w="542925" h="408939">
                <a:moveTo>
                  <a:pt x="124320" y="43180"/>
                </a:moveTo>
                <a:lnTo>
                  <a:pt x="124498" y="41910"/>
                </a:lnTo>
                <a:lnTo>
                  <a:pt x="126484" y="41910"/>
                </a:lnTo>
                <a:lnTo>
                  <a:pt x="124320" y="43180"/>
                </a:lnTo>
                <a:close/>
              </a:path>
              <a:path w="542925" h="408939">
                <a:moveTo>
                  <a:pt x="495846" y="104139"/>
                </a:moveTo>
                <a:lnTo>
                  <a:pt x="488899" y="95250"/>
                </a:lnTo>
                <a:lnTo>
                  <a:pt x="489064" y="95250"/>
                </a:lnTo>
                <a:lnTo>
                  <a:pt x="481634" y="87630"/>
                </a:lnTo>
                <a:lnTo>
                  <a:pt x="481799" y="87630"/>
                </a:lnTo>
                <a:lnTo>
                  <a:pt x="473887" y="80010"/>
                </a:lnTo>
                <a:lnTo>
                  <a:pt x="474052" y="80010"/>
                </a:lnTo>
                <a:lnTo>
                  <a:pt x="465670" y="73660"/>
                </a:lnTo>
                <a:lnTo>
                  <a:pt x="465848" y="73660"/>
                </a:lnTo>
                <a:lnTo>
                  <a:pt x="457009" y="66039"/>
                </a:lnTo>
                <a:lnTo>
                  <a:pt x="457187" y="66039"/>
                </a:lnTo>
                <a:lnTo>
                  <a:pt x="447928" y="59689"/>
                </a:lnTo>
                <a:lnTo>
                  <a:pt x="448106" y="59689"/>
                </a:lnTo>
                <a:lnTo>
                  <a:pt x="438429" y="53339"/>
                </a:lnTo>
                <a:lnTo>
                  <a:pt x="438607" y="53339"/>
                </a:lnTo>
                <a:lnTo>
                  <a:pt x="428523" y="48260"/>
                </a:lnTo>
                <a:lnTo>
                  <a:pt x="428701" y="48260"/>
                </a:lnTo>
                <a:lnTo>
                  <a:pt x="418249" y="41910"/>
                </a:lnTo>
                <a:lnTo>
                  <a:pt x="437461" y="41910"/>
                </a:lnTo>
                <a:lnTo>
                  <a:pt x="471906" y="66039"/>
                </a:lnTo>
                <a:lnTo>
                  <a:pt x="503237" y="97789"/>
                </a:lnTo>
                <a:lnTo>
                  <a:pt x="506996" y="102869"/>
                </a:lnTo>
                <a:lnTo>
                  <a:pt x="495680" y="102869"/>
                </a:lnTo>
                <a:lnTo>
                  <a:pt x="495846" y="104139"/>
                </a:lnTo>
                <a:close/>
              </a:path>
              <a:path w="542925" h="408939">
                <a:moveTo>
                  <a:pt x="46901" y="104139"/>
                </a:moveTo>
                <a:lnTo>
                  <a:pt x="47066" y="102869"/>
                </a:lnTo>
                <a:lnTo>
                  <a:pt x="47893" y="102869"/>
                </a:lnTo>
                <a:lnTo>
                  <a:pt x="46901" y="104139"/>
                </a:lnTo>
                <a:close/>
              </a:path>
              <a:path w="542925" h="408939">
                <a:moveTo>
                  <a:pt x="507834" y="120650"/>
                </a:moveTo>
                <a:lnTo>
                  <a:pt x="501954" y="111760"/>
                </a:lnTo>
                <a:lnTo>
                  <a:pt x="502107" y="111760"/>
                </a:lnTo>
                <a:lnTo>
                  <a:pt x="495680" y="102869"/>
                </a:lnTo>
                <a:lnTo>
                  <a:pt x="506996" y="102869"/>
                </a:lnTo>
                <a:lnTo>
                  <a:pt x="509816" y="106680"/>
                </a:lnTo>
                <a:lnTo>
                  <a:pt x="515708" y="114300"/>
                </a:lnTo>
                <a:lnTo>
                  <a:pt x="518516" y="119380"/>
                </a:lnTo>
                <a:lnTo>
                  <a:pt x="507695" y="119380"/>
                </a:lnTo>
                <a:lnTo>
                  <a:pt x="507834" y="120650"/>
                </a:lnTo>
                <a:close/>
              </a:path>
              <a:path w="542925" h="408939">
                <a:moveTo>
                  <a:pt x="34899" y="120650"/>
                </a:moveTo>
                <a:lnTo>
                  <a:pt x="35051" y="119380"/>
                </a:lnTo>
                <a:lnTo>
                  <a:pt x="35741" y="119380"/>
                </a:lnTo>
                <a:lnTo>
                  <a:pt x="34899" y="120650"/>
                </a:lnTo>
                <a:close/>
              </a:path>
              <a:path w="542925" h="408939">
                <a:moveTo>
                  <a:pt x="530351" y="175260"/>
                </a:moveTo>
                <a:lnTo>
                  <a:pt x="529259" y="170180"/>
                </a:lnTo>
                <a:lnTo>
                  <a:pt x="528040" y="165100"/>
                </a:lnTo>
                <a:lnTo>
                  <a:pt x="526668" y="160019"/>
                </a:lnTo>
                <a:lnTo>
                  <a:pt x="525145" y="156210"/>
                </a:lnTo>
                <a:lnTo>
                  <a:pt x="523481" y="151130"/>
                </a:lnTo>
                <a:lnTo>
                  <a:pt x="521652" y="146050"/>
                </a:lnTo>
                <a:lnTo>
                  <a:pt x="517550" y="137160"/>
                </a:lnTo>
                <a:lnTo>
                  <a:pt x="512902" y="128269"/>
                </a:lnTo>
                <a:lnTo>
                  <a:pt x="513041" y="128269"/>
                </a:lnTo>
                <a:lnTo>
                  <a:pt x="507695" y="119380"/>
                </a:lnTo>
                <a:lnTo>
                  <a:pt x="518516" y="119380"/>
                </a:lnTo>
                <a:lnTo>
                  <a:pt x="535813" y="157480"/>
                </a:lnTo>
                <a:lnTo>
                  <a:pt x="539924" y="173989"/>
                </a:lnTo>
                <a:lnTo>
                  <a:pt x="530313" y="173989"/>
                </a:lnTo>
                <a:lnTo>
                  <a:pt x="530351" y="175260"/>
                </a:lnTo>
                <a:close/>
              </a:path>
              <a:path w="542925" h="408939">
                <a:moveTo>
                  <a:pt x="12395" y="175260"/>
                </a:moveTo>
                <a:lnTo>
                  <a:pt x="12433" y="173989"/>
                </a:lnTo>
                <a:lnTo>
                  <a:pt x="12668" y="173989"/>
                </a:lnTo>
                <a:lnTo>
                  <a:pt x="12395" y="175260"/>
                </a:lnTo>
                <a:close/>
              </a:path>
              <a:path w="542925" h="408939">
                <a:moveTo>
                  <a:pt x="542023" y="219710"/>
                </a:moveTo>
                <a:lnTo>
                  <a:pt x="532549" y="219710"/>
                </a:lnTo>
                <a:lnTo>
                  <a:pt x="532980" y="214630"/>
                </a:lnTo>
                <a:lnTo>
                  <a:pt x="533234" y="209550"/>
                </a:lnTo>
                <a:lnTo>
                  <a:pt x="533222" y="199389"/>
                </a:lnTo>
                <a:lnTo>
                  <a:pt x="532968" y="194310"/>
                </a:lnTo>
                <a:lnTo>
                  <a:pt x="532549" y="189230"/>
                </a:lnTo>
                <a:lnTo>
                  <a:pt x="531964" y="184150"/>
                </a:lnTo>
                <a:lnTo>
                  <a:pt x="531228" y="179069"/>
                </a:lnTo>
                <a:lnTo>
                  <a:pt x="530313" y="173989"/>
                </a:lnTo>
                <a:lnTo>
                  <a:pt x="539924" y="173989"/>
                </a:lnTo>
                <a:lnTo>
                  <a:pt x="542747" y="198119"/>
                </a:lnTo>
                <a:lnTo>
                  <a:pt x="542747" y="209550"/>
                </a:lnTo>
                <a:lnTo>
                  <a:pt x="542467" y="214630"/>
                </a:lnTo>
                <a:lnTo>
                  <a:pt x="542023" y="219710"/>
                </a:lnTo>
                <a:close/>
              </a:path>
              <a:path w="542925" h="408939">
                <a:moveTo>
                  <a:pt x="10334" y="219710"/>
                </a:moveTo>
                <a:lnTo>
                  <a:pt x="10198" y="219710"/>
                </a:lnTo>
                <a:lnTo>
                  <a:pt x="10185" y="218439"/>
                </a:lnTo>
                <a:lnTo>
                  <a:pt x="10334" y="219710"/>
                </a:lnTo>
                <a:close/>
              </a:path>
              <a:path w="542925" h="408939">
                <a:moveTo>
                  <a:pt x="537870" y="243839"/>
                </a:moveTo>
                <a:lnTo>
                  <a:pt x="528040" y="243839"/>
                </a:lnTo>
                <a:lnTo>
                  <a:pt x="529297" y="238760"/>
                </a:lnTo>
                <a:lnTo>
                  <a:pt x="530351" y="233680"/>
                </a:lnTo>
                <a:lnTo>
                  <a:pt x="531253" y="228600"/>
                </a:lnTo>
                <a:lnTo>
                  <a:pt x="531990" y="223519"/>
                </a:lnTo>
                <a:lnTo>
                  <a:pt x="532561" y="218439"/>
                </a:lnTo>
                <a:lnTo>
                  <a:pt x="532549" y="219710"/>
                </a:lnTo>
                <a:lnTo>
                  <a:pt x="542023" y="219710"/>
                </a:lnTo>
                <a:lnTo>
                  <a:pt x="541401" y="224789"/>
                </a:lnTo>
                <a:lnTo>
                  <a:pt x="539648" y="236219"/>
                </a:lnTo>
                <a:lnTo>
                  <a:pt x="538518" y="241300"/>
                </a:lnTo>
                <a:lnTo>
                  <a:pt x="537870" y="243839"/>
                </a:lnTo>
                <a:close/>
              </a:path>
              <a:path w="542925" h="408939">
                <a:moveTo>
                  <a:pt x="15020" y="243839"/>
                </a:moveTo>
                <a:lnTo>
                  <a:pt x="14706" y="243839"/>
                </a:lnTo>
                <a:lnTo>
                  <a:pt x="14668" y="242569"/>
                </a:lnTo>
                <a:lnTo>
                  <a:pt x="15020" y="243839"/>
                </a:lnTo>
                <a:close/>
              </a:path>
              <a:path w="542925" h="408939">
                <a:moveTo>
                  <a:pt x="533273" y="257810"/>
                </a:moveTo>
                <a:lnTo>
                  <a:pt x="523481" y="257810"/>
                </a:lnTo>
                <a:lnTo>
                  <a:pt x="525195" y="252730"/>
                </a:lnTo>
                <a:lnTo>
                  <a:pt x="526719" y="247650"/>
                </a:lnTo>
                <a:lnTo>
                  <a:pt x="528078" y="242569"/>
                </a:lnTo>
                <a:lnTo>
                  <a:pt x="528040" y="243839"/>
                </a:lnTo>
                <a:lnTo>
                  <a:pt x="537870" y="243839"/>
                </a:lnTo>
                <a:lnTo>
                  <a:pt x="537222" y="246380"/>
                </a:lnTo>
                <a:lnTo>
                  <a:pt x="535774" y="250189"/>
                </a:lnTo>
                <a:lnTo>
                  <a:pt x="534162" y="255269"/>
                </a:lnTo>
                <a:lnTo>
                  <a:pt x="533273" y="257810"/>
                </a:lnTo>
                <a:close/>
              </a:path>
              <a:path w="542925" h="408939">
                <a:moveTo>
                  <a:pt x="19685" y="257810"/>
                </a:moveTo>
                <a:lnTo>
                  <a:pt x="19265" y="257810"/>
                </a:lnTo>
                <a:lnTo>
                  <a:pt x="19215" y="256539"/>
                </a:lnTo>
                <a:lnTo>
                  <a:pt x="19685" y="257810"/>
                </a:lnTo>
                <a:close/>
              </a:path>
              <a:path w="542925" h="408939">
                <a:moveTo>
                  <a:pt x="351675" y="400050"/>
                </a:moveTo>
                <a:lnTo>
                  <a:pt x="271373" y="400040"/>
                </a:lnTo>
                <a:lnTo>
                  <a:pt x="278206" y="398780"/>
                </a:lnTo>
                <a:lnTo>
                  <a:pt x="298195" y="398780"/>
                </a:lnTo>
                <a:lnTo>
                  <a:pt x="311543" y="397510"/>
                </a:lnTo>
                <a:lnTo>
                  <a:pt x="311353" y="397510"/>
                </a:lnTo>
                <a:lnTo>
                  <a:pt x="324484" y="394969"/>
                </a:lnTo>
                <a:lnTo>
                  <a:pt x="324307" y="394969"/>
                </a:lnTo>
                <a:lnTo>
                  <a:pt x="337210" y="393700"/>
                </a:lnTo>
                <a:lnTo>
                  <a:pt x="337032" y="393700"/>
                </a:lnTo>
                <a:lnTo>
                  <a:pt x="349694" y="391160"/>
                </a:lnTo>
                <a:lnTo>
                  <a:pt x="349503" y="391160"/>
                </a:lnTo>
                <a:lnTo>
                  <a:pt x="361899" y="387350"/>
                </a:lnTo>
                <a:lnTo>
                  <a:pt x="361721" y="387350"/>
                </a:lnTo>
                <a:lnTo>
                  <a:pt x="373837" y="383539"/>
                </a:lnTo>
                <a:lnTo>
                  <a:pt x="373659" y="383539"/>
                </a:lnTo>
                <a:lnTo>
                  <a:pt x="385470" y="379730"/>
                </a:lnTo>
                <a:lnTo>
                  <a:pt x="385292" y="379730"/>
                </a:lnTo>
                <a:lnTo>
                  <a:pt x="396786" y="375919"/>
                </a:lnTo>
                <a:lnTo>
                  <a:pt x="396608" y="375919"/>
                </a:lnTo>
                <a:lnTo>
                  <a:pt x="407784" y="370839"/>
                </a:lnTo>
                <a:lnTo>
                  <a:pt x="407606" y="370839"/>
                </a:lnTo>
                <a:lnTo>
                  <a:pt x="418426" y="365760"/>
                </a:lnTo>
                <a:lnTo>
                  <a:pt x="418249" y="365760"/>
                </a:lnTo>
                <a:lnTo>
                  <a:pt x="428701" y="360680"/>
                </a:lnTo>
                <a:lnTo>
                  <a:pt x="428523" y="360680"/>
                </a:lnTo>
                <a:lnTo>
                  <a:pt x="438607" y="354330"/>
                </a:lnTo>
                <a:lnTo>
                  <a:pt x="438429" y="354330"/>
                </a:lnTo>
                <a:lnTo>
                  <a:pt x="448106" y="347980"/>
                </a:lnTo>
                <a:lnTo>
                  <a:pt x="447928" y="347980"/>
                </a:lnTo>
                <a:lnTo>
                  <a:pt x="457187" y="341630"/>
                </a:lnTo>
                <a:lnTo>
                  <a:pt x="457009" y="341630"/>
                </a:lnTo>
                <a:lnTo>
                  <a:pt x="465848" y="335280"/>
                </a:lnTo>
                <a:lnTo>
                  <a:pt x="465670" y="335280"/>
                </a:lnTo>
                <a:lnTo>
                  <a:pt x="474052" y="327660"/>
                </a:lnTo>
                <a:lnTo>
                  <a:pt x="473887" y="327660"/>
                </a:lnTo>
                <a:lnTo>
                  <a:pt x="481799" y="320039"/>
                </a:lnTo>
                <a:lnTo>
                  <a:pt x="481634" y="320039"/>
                </a:lnTo>
                <a:lnTo>
                  <a:pt x="489064" y="312419"/>
                </a:lnTo>
                <a:lnTo>
                  <a:pt x="488899" y="312419"/>
                </a:lnTo>
                <a:lnTo>
                  <a:pt x="495846" y="304800"/>
                </a:lnTo>
                <a:lnTo>
                  <a:pt x="495680" y="304800"/>
                </a:lnTo>
                <a:lnTo>
                  <a:pt x="502107" y="297180"/>
                </a:lnTo>
                <a:lnTo>
                  <a:pt x="501954" y="297180"/>
                </a:lnTo>
                <a:lnTo>
                  <a:pt x="507834" y="288289"/>
                </a:lnTo>
                <a:lnTo>
                  <a:pt x="507695" y="288289"/>
                </a:lnTo>
                <a:lnTo>
                  <a:pt x="513041" y="279400"/>
                </a:lnTo>
                <a:lnTo>
                  <a:pt x="512902" y="279400"/>
                </a:lnTo>
                <a:lnTo>
                  <a:pt x="517677" y="270510"/>
                </a:lnTo>
                <a:lnTo>
                  <a:pt x="521741" y="261619"/>
                </a:lnTo>
                <a:lnTo>
                  <a:pt x="523532" y="256539"/>
                </a:lnTo>
                <a:lnTo>
                  <a:pt x="523481" y="257810"/>
                </a:lnTo>
                <a:lnTo>
                  <a:pt x="533273" y="257810"/>
                </a:lnTo>
                <a:lnTo>
                  <a:pt x="532384" y="260350"/>
                </a:lnTo>
                <a:lnTo>
                  <a:pt x="509663" y="302260"/>
                </a:lnTo>
                <a:lnTo>
                  <a:pt x="495985" y="318769"/>
                </a:lnTo>
                <a:lnTo>
                  <a:pt x="488378" y="327660"/>
                </a:lnTo>
                <a:lnTo>
                  <a:pt x="480288" y="335280"/>
                </a:lnTo>
                <a:lnTo>
                  <a:pt x="471728" y="342900"/>
                </a:lnTo>
                <a:lnTo>
                  <a:pt x="462724" y="349250"/>
                </a:lnTo>
                <a:lnTo>
                  <a:pt x="453288" y="355600"/>
                </a:lnTo>
                <a:lnTo>
                  <a:pt x="443433" y="363219"/>
                </a:lnTo>
                <a:lnTo>
                  <a:pt x="433362" y="368300"/>
                </a:lnTo>
                <a:lnTo>
                  <a:pt x="422554" y="374650"/>
                </a:lnTo>
                <a:lnTo>
                  <a:pt x="411556" y="379730"/>
                </a:lnTo>
                <a:lnTo>
                  <a:pt x="400202" y="384810"/>
                </a:lnTo>
                <a:lnTo>
                  <a:pt x="376720" y="392430"/>
                </a:lnTo>
                <a:lnTo>
                  <a:pt x="351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217898" y="2372385"/>
            <a:ext cx="616356" cy="3392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191012" y="1859940"/>
            <a:ext cx="643229" cy="3373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6064224" y="1955330"/>
            <a:ext cx="144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细黑"/>
                <a:cs typeface="华文细黑"/>
              </a:rPr>
              <a:t>统称核</a:t>
            </a:r>
            <a:r>
              <a:rPr dirty="0" sz="2800" spc="-10" b="1">
                <a:latin typeface="华文细黑"/>
                <a:cs typeface="华文细黑"/>
              </a:rPr>
              <a:t>子</a:t>
            </a:r>
            <a:endParaRPr sz="2800">
              <a:latin typeface="华文细黑"/>
              <a:cs typeface="华文细黑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067541" y="2000084"/>
            <a:ext cx="768350" cy="210185"/>
          </a:xfrm>
          <a:custGeom>
            <a:avLst/>
            <a:gdLst/>
            <a:ahLst/>
            <a:cxnLst/>
            <a:rect l="l" t="t" r="r" b="b"/>
            <a:pathLst>
              <a:path w="768350" h="210185">
                <a:moveTo>
                  <a:pt x="691356" y="181613"/>
                </a:moveTo>
                <a:lnTo>
                  <a:pt x="664311" y="179324"/>
                </a:lnTo>
                <a:lnTo>
                  <a:pt x="434848" y="159207"/>
                </a:lnTo>
                <a:lnTo>
                  <a:pt x="357911" y="150698"/>
                </a:lnTo>
                <a:lnTo>
                  <a:pt x="305180" y="143725"/>
                </a:lnTo>
                <a:lnTo>
                  <a:pt x="258454" y="136131"/>
                </a:lnTo>
                <a:lnTo>
                  <a:pt x="220725" y="128130"/>
                </a:lnTo>
                <a:lnTo>
                  <a:pt x="177558" y="116293"/>
                </a:lnTo>
                <a:lnTo>
                  <a:pt x="140373" y="103250"/>
                </a:lnTo>
                <a:lnTo>
                  <a:pt x="100888" y="85483"/>
                </a:lnTo>
                <a:lnTo>
                  <a:pt x="61874" y="62623"/>
                </a:lnTo>
                <a:lnTo>
                  <a:pt x="29349" y="38862"/>
                </a:lnTo>
                <a:lnTo>
                  <a:pt x="0" y="14617"/>
                </a:lnTo>
                <a:lnTo>
                  <a:pt x="12217" y="0"/>
                </a:lnTo>
                <a:lnTo>
                  <a:pt x="31298" y="15938"/>
                </a:lnTo>
                <a:lnTo>
                  <a:pt x="41160" y="23914"/>
                </a:lnTo>
                <a:lnTo>
                  <a:pt x="51051" y="31559"/>
                </a:lnTo>
                <a:lnTo>
                  <a:pt x="61696" y="39382"/>
                </a:lnTo>
                <a:lnTo>
                  <a:pt x="72423" y="46748"/>
                </a:lnTo>
                <a:lnTo>
                  <a:pt x="84289" y="54343"/>
                </a:lnTo>
                <a:lnTo>
                  <a:pt x="96357" y="61429"/>
                </a:lnTo>
                <a:lnTo>
                  <a:pt x="109669" y="68580"/>
                </a:lnTo>
                <a:lnTo>
                  <a:pt x="116801" y="72148"/>
                </a:lnTo>
                <a:lnTo>
                  <a:pt x="123880" y="75501"/>
                </a:lnTo>
                <a:lnTo>
                  <a:pt x="131402" y="78892"/>
                </a:lnTo>
                <a:lnTo>
                  <a:pt x="139234" y="82245"/>
                </a:lnTo>
                <a:lnTo>
                  <a:pt x="147511" y="85598"/>
                </a:lnTo>
                <a:lnTo>
                  <a:pt x="193129" y="101092"/>
                </a:lnTo>
                <a:lnTo>
                  <a:pt x="203395" y="104000"/>
                </a:lnTo>
                <a:lnTo>
                  <a:pt x="214080" y="106845"/>
                </a:lnTo>
                <a:lnTo>
                  <a:pt x="225323" y="109651"/>
                </a:lnTo>
                <a:lnTo>
                  <a:pt x="236703" y="112293"/>
                </a:lnTo>
                <a:lnTo>
                  <a:pt x="248969" y="114909"/>
                </a:lnTo>
                <a:lnTo>
                  <a:pt x="262313" y="117475"/>
                </a:lnTo>
                <a:lnTo>
                  <a:pt x="276758" y="120015"/>
                </a:lnTo>
                <a:lnTo>
                  <a:pt x="291973" y="122478"/>
                </a:lnTo>
                <a:lnTo>
                  <a:pt x="307928" y="124879"/>
                </a:lnTo>
                <a:lnTo>
                  <a:pt x="324711" y="127228"/>
                </a:lnTo>
                <a:lnTo>
                  <a:pt x="360238" y="131787"/>
                </a:lnTo>
                <a:lnTo>
                  <a:pt x="397890" y="136144"/>
                </a:lnTo>
                <a:lnTo>
                  <a:pt x="436854" y="140271"/>
                </a:lnTo>
                <a:lnTo>
                  <a:pt x="476618" y="144170"/>
                </a:lnTo>
                <a:lnTo>
                  <a:pt x="516572" y="147840"/>
                </a:lnTo>
                <a:lnTo>
                  <a:pt x="556082" y="151295"/>
                </a:lnTo>
                <a:lnTo>
                  <a:pt x="594550" y="154533"/>
                </a:lnTo>
                <a:lnTo>
                  <a:pt x="693032" y="162633"/>
                </a:lnTo>
                <a:lnTo>
                  <a:pt x="691356" y="181613"/>
                </a:lnTo>
                <a:close/>
              </a:path>
              <a:path w="768350" h="210185">
                <a:moveTo>
                  <a:pt x="84321" y="54343"/>
                </a:moveTo>
                <a:lnTo>
                  <a:pt x="83997" y="54152"/>
                </a:lnTo>
                <a:lnTo>
                  <a:pt x="84321" y="54343"/>
                </a:lnTo>
                <a:close/>
              </a:path>
              <a:path w="768350" h="210185">
                <a:moveTo>
                  <a:pt x="756799" y="183222"/>
                </a:moveTo>
                <a:lnTo>
                  <a:pt x="710374" y="183222"/>
                </a:lnTo>
                <a:lnTo>
                  <a:pt x="711987" y="164236"/>
                </a:lnTo>
                <a:lnTo>
                  <a:pt x="693032" y="162633"/>
                </a:lnTo>
                <a:lnTo>
                  <a:pt x="695553" y="134099"/>
                </a:lnTo>
                <a:lnTo>
                  <a:pt x="768108" y="178765"/>
                </a:lnTo>
                <a:lnTo>
                  <a:pt x="756799" y="183222"/>
                </a:lnTo>
                <a:close/>
              </a:path>
              <a:path w="768350" h="210185">
                <a:moveTo>
                  <a:pt x="710374" y="183222"/>
                </a:moveTo>
                <a:lnTo>
                  <a:pt x="691356" y="181613"/>
                </a:lnTo>
                <a:lnTo>
                  <a:pt x="693032" y="162633"/>
                </a:lnTo>
                <a:lnTo>
                  <a:pt x="711987" y="164236"/>
                </a:lnTo>
                <a:lnTo>
                  <a:pt x="710374" y="183222"/>
                </a:lnTo>
                <a:close/>
              </a:path>
              <a:path w="768350" h="210185">
                <a:moveTo>
                  <a:pt x="688848" y="210007"/>
                </a:moveTo>
                <a:lnTo>
                  <a:pt x="691356" y="181613"/>
                </a:lnTo>
                <a:lnTo>
                  <a:pt x="710374" y="183222"/>
                </a:lnTo>
                <a:lnTo>
                  <a:pt x="756799" y="183222"/>
                </a:lnTo>
                <a:lnTo>
                  <a:pt x="688848" y="210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067541" y="2203373"/>
            <a:ext cx="768350" cy="211454"/>
          </a:xfrm>
          <a:custGeom>
            <a:avLst/>
            <a:gdLst/>
            <a:ahLst/>
            <a:cxnLst/>
            <a:rect l="l" t="t" r="r" b="b"/>
            <a:pathLst>
              <a:path w="768350" h="211455">
                <a:moveTo>
                  <a:pt x="694791" y="76009"/>
                </a:moveTo>
                <a:lnTo>
                  <a:pt x="692772" y="47507"/>
                </a:lnTo>
                <a:lnTo>
                  <a:pt x="711771" y="46164"/>
                </a:lnTo>
                <a:lnTo>
                  <a:pt x="710425" y="27152"/>
                </a:lnTo>
                <a:lnTo>
                  <a:pt x="691330" y="27152"/>
                </a:lnTo>
                <a:lnTo>
                  <a:pt x="689406" y="0"/>
                </a:lnTo>
                <a:lnTo>
                  <a:pt x="754904" y="27152"/>
                </a:lnTo>
                <a:lnTo>
                  <a:pt x="710425" y="27152"/>
                </a:lnTo>
                <a:lnTo>
                  <a:pt x="691425" y="28496"/>
                </a:lnTo>
                <a:lnTo>
                  <a:pt x="758152" y="28498"/>
                </a:lnTo>
                <a:lnTo>
                  <a:pt x="768108" y="32626"/>
                </a:lnTo>
                <a:lnTo>
                  <a:pt x="694791" y="76009"/>
                </a:lnTo>
                <a:close/>
              </a:path>
              <a:path w="768350" h="211455">
                <a:moveTo>
                  <a:pt x="692772" y="47507"/>
                </a:moveTo>
                <a:lnTo>
                  <a:pt x="691425" y="28496"/>
                </a:lnTo>
                <a:lnTo>
                  <a:pt x="710425" y="27152"/>
                </a:lnTo>
                <a:lnTo>
                  <a:pt x="711771" y="46164"/>
                </a:lnTo>
                <a:lnTo>
                  <a:pt x="692772" y="47507"/>
                </a:lnTo>
                <a:close/>
              </a:path>
              <a:path w="768350" h="211455">
                <a:moveTo>
                  <a:pt x="12217" y="211378"/>
                </a:moveTo>
                <a:lnTo>
                  <a:pt x="29349" y="172516"/>
                </a:lnTo>
                <a:lnTo>
                  <a:pt x="62153" y="148577"/>
                </a:lnTo>
                <a:lnTo>
                  <a:pt x="101142" y="125755"/>
                </a:lnTo>
                <a:lnTo>
                  <a:pt x="140538" y="108051"/>
                </a:lnTo>
                <a:lnTo>
                  <a:pt x="177711" y="95034"/>
                </a:lnTo>
                <a:lnTo>
                  <a:pt x="220865" y="83210"/>
                </a:lnTo>
                <a:lnTo>
                  <a:pt x="270687" y="72720"/>
                </a:lnTo>
                <a:lnTo>
                  <a:pt x="312292" y="65684"/>
                </a:lnTo>
                <a:lnTo>
                  <a:pt x="372630" y="57276"/>
                </a:lnTo>
                <a:lnTo>
                  <a:pt x="460470" y="47507"/>
                </a:lnTo>
                <a:lnTo>
                  <a:pt x="542696" y="39954"/>
                </a:lnTo>
                <a:lnTo>
                  <a:pt x="691425" y="28496"/>
                </a:lnTo>
                <a:lnTo>
                  <a:pt x="692759" y="47510"/>
                </a:lnTo>
                <a:lnTo>
                  <a:pt x="617601" y="53060"/>
                </a:lnTo>
                <a:lnTo>
                  <a:pt x="580682" y="55943"/>
                </a:lnTo>
                <a:lnTo>
                  <a:pt x="544309" y="58940"/>
                </a:lnTo>
                <a:lnTo>
                  <a:pt x="508622" y="62052"/>
                </a:lnTo>
                <a:lnTo>
                  <a:pt x="473722" y="65316"/>
                </a:lnTo>
                <a:lnTo>
                  <a:pt x="439724" y="68745"/>
                </a:lnTo>
                <a:lnTo>
                  <a:pt x="406738" y="72364"/>
                </a:lnTo>
                <a:lnTo>
                  <a:pt x="374922" y="76187"/>
                </a:lnTo>
                <a:lnTo>
                  <a:pt x="315071" y="84531"/>
                </a:lnTo>
                <a:lnTo>
                  <a:pt x="274194" y="91452"/>
                </a:lnTo>
                <a:lnTo>
                  <a:pt x="236758" y="99072"/>
                </a:lnTo>
                <a:lnTo>
                  <a:pt x="214071" y="104533"/>
                </a:lnTo>
                <a:lnTo>
                  <a:pt x="203377" y="107378"/>
                </a:lnTo>
                <a:lnTo>
                  <a:pt x="193103" y="110286"/>
                </a:lnTo>
                <a:lnTo>
                  <a:pt x="155966" y="122555"/>
                </a:lnTo>
                <a:lnTo>
                  <a:pt x="147345" y="125844"/>
                </a:lnTo>
                <a:lnTo>
                  <a:pt x="139217" y="129133"/>
                </a:lnTo>
                <a:lnTo>
                  <a:pt x="131394" y="132486"/>
                </a:lnTo>
                <a:lnTo>
                  <a:pt x="123880" y="135877"/>
                </a:lnTo>
                <a:lnTo>
                  <a:pt x="116823" y="139230"/>
                </a:lnTo>
                <a:lnTo>
                  <a:pt x="109651" y="142798"/>
                </a:lnTo>
                <a:lnTo>
                  <a:pt x="96342" y="149948"/>
                </a:lnTo>
                <a:lnTo>
                  <a:pt x="84321" y="157035"/>
                </a:lnTo>
                <a:lnTo>
                  <a:pt x="72402" y="164630"/>
                </a:lnTo>
                <a:lnTo>
                  <a:pt x="61713" y="171996"/>
                </a:lnTo>
                <a:lnTo>
                  <a:pt x="51041" y="179819"/>
                </a:lnTo>
                <a:lnTo>
                  <a:pt x="41184" y="187464"/>
                </a:lnTo>
                <a:lnTo>
                  <a:pt x="31298" y="195440"/>
                </a:lnTo>
                <a:lnTo>
                  <a:pt x="12217" y="211378"/>
                </a:lnTo>
                <a:close/>
              </a:path>
              <a:path w="768350" h="211455">
                <a:moveTo>
                  <a:pt x="406755" y="72364"/>
                </a:moveTo>
                <a:close/>
              </a:path>
              <a:path w="768350" h="211455">
                <a:moveTo>
                  <a:pt x="374922" y="76187"/>
                </a:moveTo>
                <a:close/>
              </a:path>
              <a:path w="768350" h="211455">
                <a:moveTo>
                  <a:pt x="344309" y="80238"/>
                </a:moveTo>
                <a:lnTo>
                  <a:pt x="344501" y="80213"/>
                </a:lnTo>
                <a:lnTo>
                  <a:pt x="344309" y="80238"/>
                </a:lnTo>
                <a:close/>
              </a:path>
              <a:path w="768350" h="211455">
                <a:moveTo>
                  <a:pt x="315160" y="84516"/>
                </a:moveTo>
                <a:close/>
              </a:path>
              <a:path w="768350" h="211455">
                <a:moveTo>
                  <a:pt x="315071" y="84531"/>
                </a:moveTo>
                <a:close/>
              </a:path>
              <a:path w="768350" h="211455">
                <a:moveTo>
                  <a:pt x="287368" y="89090"/>
                </a:moveTo>
                <a:close/>
              </a:path>
              <a:path w="768350" h="211455">
                <a:moveTo>
                  <a:pt x="274053" y="91478"/>
                </a:moveTo>
                <a:lnTo>
                  <a:pt x="274194" y="91452"/>
                </a:lnTo>
                <a:lnTo>
                  <a:pt x="274053" y="91478"/>
                </a:lnTo>
                <a:close/>
              </a:path>
              <a:path w="768350" h="211455">
                <a:moveTo>
                  <a:pt x="261188" y="93929"/>
                </a:moveTo>
                <a:lnTo>
                  <a:pt x="261321" y="93903"/>
                </a:lnTo>
                <a:lnTo>
                  <a:pt x="261188" y="93929"/>
                </a:lnTo>
                <a:close/>
              </a:path>
              <a:path w="768350" h="211455">
                <a:moveTo>
                  <a:pt x="248739" y="96469"/>
                </a:moveTo>
                <a:close/>
              </a:path>
              <a:path w="768350" h="211455">
                <a:moveTo>
                  <a:pt x="236758" y="99072"/>
                </a:moveTo>
                <a:close/>
              </a:path>
              <a:path w="768350" h="211455">
                <a:moveTo>
                  <a:pt x="225221" y="101765"/>
                </a:moveTo>
                <a:close/>
              </a:path>
              <a:path w="768350" h="211455">
                <a:moveTo>
                  <a:pt x="214208" y="104499"/>
                </a:moveTo>
                <a:close/>
              </a:path>
              <a:path w="768350" h="211455">
                <a:moveTo>
                  <a:pt x="214080" y="104533"/>
                </a:moveTo>
                <a:lnTo>
                  <a:pt x="214208" y="104499"/>
                </a:lnTo>
                <a:lnTo>
                  <a:pt x="214080" y="104533"/>
                </a:lnTo>
                <a:close/>
              </a:path>
              <a:path w="768350" h="211455">
                <a:moveTo>
                  <a:pt x="203395" y="107378"/>
                </a:moveTo>
                <a:lnTo>
                  <a:pt x="203530" y="107340"/>
                </a:lnTo>
                <a:lnTo>
                  <a:pt x="203395" y="107378"/>
                </a:lnTo>
                <a:close/>
              </a:path>
              <a:path w="768350" h="211455">
                <a:moveTo>
                  <a:pt x="193129" y="110286"/>
                </a:moveTo>
                <a:close/>
              </a:path>
              <a:path w="768350" h="211455">
                <a:moveTo>
                  <a:pt x="183222" y="113271"/>
                </a:moveTo>
                <a:lnTo>
                  <a:pt x="183375" y="113220"/>
                </a:lnTo>
                <a:lnTo>
                  <a:pt x="183222" y="113271"/>
                </a:lnTo>
                <a:close/>
              </a:path>
              <a:path w="768350" h="211455">
                <a:moveTo>
                  <a:pt x="173710" y="116331"/>
                </a:moveTo>
                <a:lnTo>
                  <a:pt x="173875" y="116268"/>
                </a:lnTo>
                <a:lnTo>
                  <a:pt x="173710" y="116331"/>
                </a:lnTo>
                <a:close/>
              </a:path>
              <a:path w="768350" h="211455">
                <a:moveTo>
                  <a:pt x="164579" y="119443"/>
                </a:moveTo>
                <a:lnTo>
                  <a:pt x="164744" y="119380"/>
                </a:lnTo>
                <a:lnTo>
                  <a:pt x="164579" y="119443"/>
                </a:lnTo>
                <a:close/>
              </a:path>
              <a:path w="768350" h="211455">
                <a:moveTo>
                  <a:pt x="155790" y="122618"/>
                </a:moveTo>
                <a:lnTo>
                  <a:pt x="155955" y="122555"/>
                </a:lnTo>
                <a:lnTo>
                  <a:pt x="155790" y="122618"/>
                </a:lnTo>
                <a:close/>
              </a:path>
              <a:path w="768350" h="211455">
                <a:moveTo>
                  <a:pt x="147491" y="125788"/>
                </a:moveTo>
                <a:close/>
              </a:path>
              <a:path w="768350" h="211455">
                <a:moveTo>
                  <a:pt x="147353" y="125844"/>
                </a:moveTo>
                <a:lnTo>
                  <a:pt x="147491" y="125788"/>
                </a:lnTo>
                <a:lnTo>
                  <a:pt x="147353" y="125844"/>
                </a:lnTo>
                <a:close/>
              </a:path>
              <a:path w="768350" h="211455">
                <a:moveTo>
                  <a:pt x="139234" y="129133"/>
                </a:moveTo>
                <a:lnTo>
                  <a:pt x="139382" y="129070"/>
                </a:lnTo>
                <a:lnTo>
                  <a:pt x="139234" y="129133"/>
                </a:lnTo>
                <a:close/>
              </a:path>
              <a:path w="768350" h="211455">
                <a:moveTo>
                  <a:pt x="131564" y="132413"/>
                </a:moveTo>
                <a:close/>
              </a:path>
              <a:path w="768350" h="211455">
                <a:moveTo>
                  <a:pt x="131402" y="132486"/>
                </a:moveTo>
                <a:lnTo>
                  <a:pt x="131564" y="132413"/>
                </a:lnTo>
                <a:lnTo>
                  <a:pt x="131402" y="132486"/>
                </a:lnTo>
                <a:close/>
              </a:path>
              <a:path w="768350" h="211455">
                <a:moveTo>
                  <a:pt x="123966" y="135836"/>
                </a:moveTo>
                <a:close/>
              </a:path>
              <a:path w="768350" h="211455">
                <a:moveTo>
                  <a:pt x="123880" y="135877"/>
                </a:moveTo>
                <a:close/>
              </a:path>
              <a:path w="768350" h="211455">
                <a:moveTo>
                  <a:pt x="116636" y="139319"/>
                </a:moveTo>
                <a:lnTo>
                  <a:pt x="116801" y="139230"/>
                </a:lnTo>
                <a:lnTo>
                  <a:pt x="116636" y="139319"/>
                </a:lnTo>
                <a:close/>
              </a:path>
              <a:path w="768350" h="211455">
                <a:moveTo>
                  <a:pt x="109899" y="142675"/>
                </a:moveTo>
                <a:close/>
              </a:path>
              <a:path w="768350" h="211455">
                <a:moveTo>
                  <a:pt x="109669" y="142798"/>
                </a:moveTo>
                <a:lnTo>
                  <a:pt x="109899" y="142675"/>
                </a:lnTo>
                <a:lnTo>
                  <a:pt x="109669" y="142798"/>
                </a:lnTo>
                <a:close/>
              </a:path>
              <a:path w="768350" h="211455">
                <a:moveTo>
                  <a:pt x="96517" y="149855"/>
                </a:moveTo>
                <a:lnTo>
                  <a:pt x="96659" y="149771"/>
                </a:lnTo>
                <a:lnTo>
                  <a:pt x="96517" y="149855"/>
                </a:lnTo>
                <a:close/>
              </a:path>
              <a:path w="768350" h="211455">
                <a:moveTo>
                  <a:pt x="96357" y="149948"/>
                </a:moveTo>
                <a:lnTo>
                  <a:pt x="96517" y="149855"/>
                </a:lnTo>
                <a:lnTo>
                  <a:pt x="96357" y="149948"/>
                </a:lnTo>
                <a:close/>
              </a:path>
              <a:path w="768350" h="211455">
                <a:moveTo>
                  <a:pt x="83997" y="157225"/>
                </a:moveTo>
                <a:lnTo>
                  <a:pt x="84289" y="157035"/>
                </a:lnTo>
                <a:lnTo>
                  <a:pt x="83997" y="157225"/>
                </a:lnTo>
                <a:close/>
              </a:path>
              <a:path w="768350" h="211455">
                <a:moveTo>
                  <a:pt x="72423" y="164630"/>
                </a:moveTo>
                <a:lnTo>
                  <a:pt x="72682" y="164452"/>
                </a:lnTo>
                <a:lnTo>
                  <a:pt x="72423" y="164630"/>
                </a:lnTo>
                <a:close/>
              </a:path>
              <a:path w="768350" h="211455">
                <a:moveTo>
                  <a:pt x="61455" y="172173"/>
                </a:moveTo>
                <a:lnTo>
                  <a:pt x="61696" y="171996"/>
                </a:lnTo>
                <a:lnTo>
                  <a:pt x="61455" y="172173"/>
                </a:lnTo>
                <a:close/>
              </a:path>
              <a:path w="768350" h="211455">
                <a:moveTo>
                  <a:pt x="51051" y="179819"/>
                </a:moveTo>
                <a:lnTo>
                  <a:pt x="51231" y="179679"/>
                </a:lnTo>
                <a:lnTo>
                  <a:pt x="51051" y="179819"/>
                </a:lnTo>
                <a:close/>
              </a:path>
              <a:path w="768350" h="211455">
                <a:moveTo>
                  <a:pt x="41021" y="187591"/>
                </a:moveTo>
                <a:lnTo>
                  <a:pt x="41160" y="187464"/>
                </a:lnTo>
                <a:lnTo>
                  <a:pt x="41021" y="187591"/>
                </a:lnTo>
                <a:close/>
              </a:path>
              <a:path w="768350" h="211455">
                <a:moveTo>
                  <a:pt x="31298" y="195440"/>
                </a:move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958596" y="1036319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4096512" y="571499"/>
                </a:moveTo>
                <a:lnTo>
                  <a:pt x="96012" y="571499"/>
                </a:lnTo>
                <a:lnTo>
                  <a:pt x="58639" y="563738"/>
                </a:lnTo>
                <a:lnTo>
                  <a:pt x="28184" y="543153"/>
                </a:lnTo>
                <a:lnTo>
                  <a:pt x="7640" y="512739"/>
                </a:lnTo>
                <a:lnTo>
                  <a:pt x="0" y="475487"/>
                </a:lnTo>
                <a:lnTo>
                  <a:pt x="0" y="94487"/>
                </a:lnTo>
                <a:lnTo>
                  <a:pt x="7640" y="57583"/>
                </a:lnTo>
                <a:lnTo>
                  <a:pt x="28184" y="27446"/>
                </a:lnTo>
                <a:lnTo>
                  <a:pt x="58639" y="7207"/>
                </a:lnTo>
                <a:lnTo>
                  <a:pt x="96012" y="0"/>
                </a:lnTo>
                <a:lnTo>
                  <a:pt x="4096512" y="0"/>
                </a:lnTo>
                <a:lnTo>
                  <a:pt x="4133289" y="7207"/>
                </a:lnTo>
                <a:lnTo>
                  <a:pt x="4163387" y="27446"/>
                </a:lnTo>
                <a:lnTo>
                  <a:pt x="4183669" y="57583"/>
                </a:lnTo>
                <a:lnTo>
                  <a:pt x="4191000" y="94487"/>
                </a:lnTo>
                <a:lnTo>
                  <a:pt x="4191000" y="475487"/>
                </a:lnTo>
                <a:lnTo>
                  <a:pt x="4183669" y="512739"/>
                </a:lnTo>
                <a:lnTo>
                  <a:pt x="4163387" y="543153"/>
                </a:lnTo>
                <a:lnTo>
                  <a:pt x="4133289" y="563738"/>
                </a:lnTo>
                <a:lnTo>
                  <a:pt x="4096512" y="57149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39863" y="1016800"/>
            <a:ext cx="4228973" cy="6083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24736" y="1115923"/>
            <a:ext cx="448094" cy="4506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030983" y="1120711"/>
            <a:ext cx="446900" cy="43948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535631" y="1113536"/>
            <a:ext cx="456069" cy="4550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057029" y="1113523"/>
            <a:ext cx="433336" cy="45424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553294" y="1115923"/>
            <a:ext cx="455269" cy="44984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071505" y="1113129"/>
            <a:ext cx="455269" cy="45502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15930" y="683463"/>
            <a:ext cx="1085838" cy="81899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829144" y="3946296"/>
            <a:ext cx="281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00FF"/>
                </a:solidFill>
                <a:latin typeface="宋体"/>
                <a:cs typeface="宋体"/>
              </a:rPr>
              <a:t>一般原子核数量级为</a:t>
            </a:r>
            <a:r>
              <a:rPr dirty="0" sz="1800" spc="5" b="1">
                <a:solidFill>
                  <a:srgbClr val="0000FF"/>
                </a:solidFill>
                <a:latin typeface="Times New Roman"/>
                <a:cs typeface="Times New Roman"/>
              </a:rPr>
              <a:t>10</a:t>
            </a:r>
            <a:r>
              <a:rPr dirty="0" baseline="21739" sz="1725" spc="7" b="1">
                <a:solidFill>
                  <a:srgbClr val="0000FF"/>
                </a:solidFill>
                <a:latin typeface="宋体"/>
                <a:cs typeface="宋体"/>
              </a:rPr>
              <a:t>－</a:t>
            </a:r>
            <a:r>
              <a:rPr dirty="0" baseline="21739" sz="1725" spc="7" b="1">
                <a:solidFill>
                  <a:srgbClr val="0000FF"/>
                </a:solidFill>
                <a:latin typeface="Times New Roman"/>
                <a:cs typeface="Times New Roman"/>
              </a:rPr>
              <a:t>15</a:t>
            </a:r>
            <a:r>
              <a:rPr dirty="0" sz="1800" spc="5" b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736793" y="3481438"/>
            <a:ext cx="568502" cy="53670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342142" y="3742448"/>
            <a:ext cx="1123950" cy="379095"/>
          </a:xfrm>
          <a:custGeom>
            <a:avLst/>
            <a:gdLst/>
            <a:ahLst/>
            <a:cxnLst/>
            <a:rect l="l" t="t" r="r" b="b"/>
            <a:pathLst>
              <a:path w="1123950" h="379095">
                <a:moveTo>
                  <a:pt x="1123937" y="378866"/>
                </a:moveTo>
                <a:lnTo>
                  <a:pt x="0" y="378866"/>
                </a:lnTo>
                <a:lnTo>
                  <a:pt x="0" y="0"/>
                </a:lnTo>
                <a:lnTo>
                  <a:pt x="1123937" y="0"/>
                </a:lnTo>
                <a:lnTo>
                  <a:pt x="1123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9341"/>
                </a:lnTo>
                <a:lnTo>
                  <a:pt x="4762" y="369341"/>
                </a:lnTo>
                <a:lnTo>
                  <a:pt x="9525" y="374103"/>
                </a:lnTo>
                <a:lnTo>
                  <a:pt x="1123937" y="374103"/>
                </a:lnTo>
                <a:lnTo>
                  <a:pt x="1123937" y="378866"/>
                </a:lnTo>
                <a:close/>
              </a:path>
              <a:path w="1123950" h="3790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23950" h="379095">
                <a:moveTo>
                  <a:pt x="1114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14412" y="4762"/>
                </a:lnTo>
                <a:lnTo>
                  <a:pt x="1114412" y="9525"/>
                </a:lnTo>
                <a:close/>
              </a:path>
              <a:path w="1123950" h="379095">
                <a:moveTo>
                  <a:pt x="1114412" y="374103"/>
                </a:moveTo>
                <a:lnTo>
                  <a:pt x="1114412" y="4762"/>
                </a:lnTo>
                <a:lnTo>
                  <a:pt x="1119174" y="9525"/>
                </a:lnTo>
                <a:lnTo>
                  <a:pt x="1123937" y="9525"/>
                </a:lnTo>
                <a:lnTo>
                  <a:pt x="1123937" y="369341"/>
                </a:lnTo>
                <a:lnTo>
                  <a:pt x="1119174" y="369341"/>
                </a:lnTo>
                <a:lnTo>
                  <a:pt x="1114412" y="374103"/>
                </a:lnTo>
                <a:close/>
              </a:path>
              <a:path w="1123950" h="379095">
                <a:moveTo>
                  <a:pt x="1123937" y="9525"/>
                </a:moveTo>
                <a:lnTo>
                  <a:pt x="1119174" y="9525"/>
                </a:lnTo>
                <a:lnTo>
                  <a:pt x="1114412" y="4762"/>
                </a:lnTo>
                <a:lnTo>
                  <a:pt x="1123937" y="4762"/>
                </a:lnTo>
                <a:lnTo>
                  <a:pt x="1123937" y="9525"/>
                </a:lnTo>
                <a:close/>
              </a:path>
              <a:path w="1123950" h="379095">
                <a:moveTo>
                  <a:pt x="9525" y="374103"/>
                </a:moveTo>
                <a:lnTo>
                  <a:pt x="4762" y="369341"/>
                </a:lnTo>
                <a:lnTo>
                  <a:pt x="9525" y="369341"/>
                </a:lnTo>
                <a:lnTo>
                  <a:pt x="9525" y="374103"/>
                </a:lnTo>
                <a:close/>
              </a:path>
              <a:path w="1123950" h="379095">
                <a:moveTo>
                  <a:pt x="1114412" y="374103"/>
                </a:moveTo>
                <a:lnTo>
                  <a:pt x="9525" y="374103"/>
                </a:lnTo>
                <a:lnTo>
                  <a:pt x="9525" y="369341"/>
                </a:lnTo>
                <a:lnTo>
                  <a:pt x="1114412" y="369341"/>
                </a:lnTo>
                <a:lnTo>
                  <a:pt x="1114412" y="374103"/>
                </a:lnTo>
                <a:close/>
              </a:path>
              <a:path w="1123950" h="379095">
                <a:moveTo>
                  <a:pt x="1123937" y="374103"/>
                </a:moveTo>
                <a:lnTo>
                  <a:pt x="1114412" y="374103"/>
                </a:lnTo>
                <a:lnTo>
                  <a:pt x="1119174" y="369341"/>
                </a:lnTo>
                <a:lnTo>
                  <a:pt x="1123937" y="369341"/>
                </a:lnTo>
                <a:lnTo>
                  <a:pt x="1123937" y="3741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425645" y="3213874"/>
            <a:ext cx="137160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algn="r" marR="14604">
              <a:lnSpc>
                <a:spcPct val="100000"/>
              </a:lnSpc>
              <a:spcBef>
                <a:spcPts val="5"/>
              </a:spcBef>
              <a:tabLst>
                <a:tab pos="1098550" algn="l"/>
              </a:tabLst>
            </a:pPr>
            <a:r>
              <a:rPr dirty="0" sz="1800">
                <a:solidFill>
                  <a:srgbClr val="FF0000"/>
                </a:solidFill>
                <a:latin typeface="楷体"/>
                <a:cs typeface="楷体"/>
              </a:rPr>
              <a:t>核电荷数	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512119" y="3303866"/>
            <a:ext cx="891540" cy="379095"/>
          </a:xfrm>
          <a:custGeom>
            <a:avLst/>
            <a:gdLst/>
            <a:ahLst/>
            <a:cxnLst/>
            <a:rect l="l" t="t" r="r" b="b"/>
            <a:pathLst>
              <a:path w="891539" h="379095">
                <a:moveTo>
                  <a:pt x="891489" y="378853"/>
                </a:moveTo>
                <a:lnTo>
                  <a:pt x="0" y="378853"/>
                </a:lnTo>
                <a:lnTo>
                  <a:pt x="0" y="0"/>
                </a:lnTo>
                <a:lnTo>
                  <a:pt x="891489" y="0"/>
                </a:lnTo>
                <a:lnTo>
                  <a:pt x="89148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9328"/>
                </a:lnTo>
                <a:lnTo>
                  <a:pt x="4762" y="369328"/>
                </a:lnTo>
                <a:lnTo>
                  <a:pt x="9525" y="374091"/>
                </a:lnTo>
                <a:lnTo>
                  <a:pt x="891489" y="374091"/>
                </a:lnTo>
                <a:lnTo>
                  <a:pt x="891489" y="378853"/>
                </a:lnTo>
                <a:close/>
              </a:path>
              <a:path w="891539" h="3790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91539" h="379095">
                <a:moveTo>
                  <a:pt x="88196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81964" y="4762"/>
                </a:lnTo>
                <a:lnTo>
                  <a:pt x="881964" y="9525"/>
                </a:lnTo>
                <a:close/>
              </a:path>
              <a:path w="891539" h="379095">
                <a:moveTo>
                  <a:pt x="881964" y="374091"/>
                </a:moveTo>
                <a:lnTo>
                  <a:pt x="881964" y="4762"/>
                </a:lnTo>
                <a:lnTo>
                  <a:pt x="886726" y="9525"/>
                </a:lnTo>
                <a:lnTo>
                  <a:pt x="891489" y="9525"/>
                </a:lnTo>
                <a:lnTo>
                  <a:pt x="891489" y="369328"/>
                </a:lnTo>
                <a:lnTo>
                  <a:pt x="886726" y="369328"/>
                </a:lnTo>
                <a:lnTo>
                  <a:pt x="881964" y="374091"/>
                </a:lnTo>
                <a:close/>
              </a:path>
              <a:path w="891539" h="379095">
                <a:moveTo>
                  <a:pt x="891489" y="9525"/>
                </a:moveTo>
                <a:lnTo>
                  <a:pt x="886726" y="9525"/>
                </a:lnTo>
                <a:lnTo>
                  <a:pt x="881964" y="4762"/>
                </a:lnTo>
                <a:lnTo>
                  <a:pt x="891489" y="4762"/>
                </a:lnTo>
                <a:lnTo>
                  <a:pt x="891489" y="9525"/>
                </a:lnTo>
                <a:close/>
              </a:path>
              <a:path w="891539" h="379095">
                <a:moveTo>
                  <a:pt x="9525" y="374091"/>
                </a:moveTo>
                <a:lnTo>
                  <a:pt x="4762" y="369328"/>
                </a:lnTo>
                <a:lnTo>
                  <a:pt x="9525" y="369328"/>
                </a:lnTo>
                <a:lnTo>
                  <a:pt x="9525" y="374091"/>
                </a:lnTo>
                <a:close/>
              </a:path>
              <a:path w="891539" h="379095">
                <a:moveTo>
                  <a:pt x="881964" y="374091"/>
                </a:moveTo>
                <a:lnTo>
                  <a:pt x="9525" y="374091"/>
                </a:lnTo>
                <a:lnTo>
                  <a:pt x="9525" y="369328"/>
                </a:lnTo>
                <a:lnTo>
                  <a:pt x="881964" y="369328"/>
                </a:lnTo>
                <a:lnTo>
                  <a:pt x="881964" y="374091"/>
                </a:lnTo>
                <a:close/>
              </a:path>
              <a:path w="891539" h="379095">
                <a:moveTo>
                  <a:pt x="891489" y="374091"/>
                </a:moveTo>
                <a:lnTo>
                  <a:pt x="881964" y="374091"/>
                </a:lnTo>
                <a:lnTo>
                  <a:pt x="886726" y="369328"/>
                </a:lnTo>
                <a:lnTo>
                  <a:pt x="891489" y="369328"/>
                </a:lnTo>
                <a:lnTo>
                  <a:pt x="891489" y="37409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595621" y="3328949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楷体"/>
                <a:cs typeface="楷体"/>
              </a:rPr>
              <a:t>质量数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389280" y="3384473"/>
            <a:ext cx="2242185" cy="720725"/>
          </a:xfrm>
          <a:custGeom>
            <a:avLst/>
            <a:gdLst/>
            <a:ahLst/>
            <a:cxnLst/>
            <a:rect l="l" t="t" r="r" b="b"/>
            <a:pathLst>
              <a:path w="2242184" h="720725">
                <a:moveTo>
                  <a:pt x="2241765" y="720725"/>
                </a:moveTo>
                <a:lnTo>
                  <a:pt x="0" y="720725"/>
                </a:lnTo>
                <a:lnTo>
                  <a:pt x="0" y="0"/>
                </a:lnTo>
                <a:lnTo>
                  <a:pt x="2241765" y="0"/>
                </a:lnTo>
                <a:lnTo>
                  <a:pt x="224176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1200"/>
                </a:lnTo>
                <a:lnTo>
                  <a:pt x="4762" y="711200"/>
                </a:lnTo>
                <a:lnTo>
                  <a:pt x="9525" y="715962"/>
                </a:lnTo>
                <a:lnTo>
                  <a:pt x="2241765" y="715962"/>
                </a:lnTo>
                <a:lnTo>
                  <a:pt x="2241765" y="720725"/>
                </a:lnTo>
                <a:close/>
              </a:path>
              <a:path w="2242184" h="720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42184" h="720725">
                <a:moveTo>
                  <a:pt x="223224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32240" y="4762"/>
                </a:lnTo>
                <a:lnTo>
                  <a:pt x="2232240" y="9525"/>
                </a:lnTo>
                <a:close/>
              </a:path>
              <a:path w="2242184" h="720725">
                <a:moveTo>
                  <a:pt x="2232240" y="715962"/>
                </a:moveTo>
                <a:lnTo>
                  <a:pt x="2232240" y="4762"/>
                </a:lnTo>
                <a:lnTo>
                  <a:pt x="2237003" y="9525"/>
                </a:lnTo>
                <a:lnTo>
                  <a:pt x="2241765" y="9525"/>
                </a:lnTo>
                <a:lnTo>
                  <a:pt x="2241765" y="711200"/>
                </a:lnTo>
                <a:lnTo>
                  <a:pt x="2237003" y="711200"/>
                </a:lnTo>
                <a:lnTo>
                  <a:pt x="2232240" y="715962"/>
                </a:lnTo>
                <a:close/>
              </a:path>
              <a:path w="2242184" h="720725">
                <a:moveTo>
                  <a:pt x="2241765" y="9525"/>
                </a:moveTo>
                <a:lnTo>
                  <a:pt x="2237003" y="9525"/>
                </a:lnTo>
                <a:lnTo>
                  <a:pt x="2232240" y="4762"/>
                </a:lnTo>
                <a:lnTo>
                  <a:pt x="2241765" y="4762"/>
                </a:lnTo>
                <a:lnTo>
                  <a:pt x="2241765" y="9525"/>
                </a:lnTo>
                <a:close/>
              </a:path>
              <a:path w="2242184" h="720725">
                <a:moveTo>
                  <a:pt x="9525" y="715962"/>
                </a:moveTo>
                <a:lnTo>
                  <a:pt x="4762" y="711200"/>
                </a:lnTo>
                <a:lnTo>
                  <a:pt x="9525" y="711200"/>
                </a:lnTo>
                <a:lnTo>
                  <a:pt x="9525" y="715962"/>
                </a:lnTo>
                <a:close/>
              </a:path>
              <a:path w="2242184" h="720725">
                <a:moveTo>
                  <a:pt x="2232240" y="715962"/>
                </a:moveTo>
                <a:lnTo>
                  <a:pt x="9525" y="715962"/>
                </a:lnTo>
                <a:lnTo>
                  <a:pt x="9525" y="711200"/>
                </a:lnTo>
                <a:lnTo>
                  <a:pt x="2232240" y="711200"/>
                </a:lnTo>
                <a:lnTo>
                  <a:pt x="2232240" y="715962"/>
                </a:lnTo>
                <a:close/>
              </a:path>
              <a:path w="2242184" h="720725">
                <a:moveTo>
                  <a:pt x="2241765" y="715962"/>
                </a:moveTo>
                <a:lnTo>
                  <a:pt x="2232240" y="715962"/>
                </a:lnTo>
                <a:lnTo>
                  <a:pt x="2237003" y="711200"/>
                </a:lnTo>
                <a:lnTo>
                  <a:pt x="2241765" y="711200"/>
                </a:lnTo>
                <a:lnTo>
                  <a:pt x="2241765" y="715962"/>
                </a:lnTo>
                <a:close/>
              </a:path>
            </a:pathLst>
          </a:custGeom>
          <a:solidFill>
            <a:srgbClr val="ECAC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472783" y="3530206"/>
            <a:ext cx="1468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800000"/>
                </a:solidFill>
                <a:latin typeface="Times New Roman"/>
                <a:cs typeface="Times New Roman"/>
              </a:rPr>
              <a:t>X</a:t>
            </a:r>
            <a:r>
              <a:rPr dirty="0" sz="2400" b="1">
                <a:solidFill>
                  <a:srgbClr val="800000"/>
                </a:solidFill>
                <a:latin typeface="楷体"/>
                <a:cs typeface="楷体"/>
              </a:rPr>
              <a:t>元素符</a:t>
            </a:r>
            <a:r>
              <a:rPr dirty="0" sz="2400" spc="-10" b="1">
                <a:solidFill>
                  <a:srgbClr val="800000"/>
                </a:solidFill>
                <a:latin typeface="楷体"/>
                <a:cs typeface="楷体"/>
              </a:rPr>
              <a:t>号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402442" y="235978"/>
            <a:ext cx="14560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35685" algn="l"/>
              </a:tabLst>
            </a:pPr>
            <a:r>
              <a:rPr dirty="0" sz="3200" spc="-10" b="1">
                <a:latin typeface="黑体"/>
                <a:cs typeface="黑体"/>
              </a:rPr>
              <a:t>小</a:t>
            </a:r>
            <a:r>
              <a:rPr dirty="0" sz="3200" spc="-10" b="1">
                <a:latin typeface="黑体"/>
                <a:cs typeface="黑体"/>
              </a:rPr>
              <a:t>	</a:t>
            </a:r>
            <a:r>
              <a:rPr dirty="0" sz="3200" spc="-10" b="1">
                <a:latin typeface="黑体"/>
                <a:cs typeface="黑体"/>
              </a:rPr>
              <a:t>结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212" y="241299"/>
            <a:ext cx="72980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【</a:t>
            </a:r>
            <a:r>
              <a:rPr dirty="0" sz="2400">
                <a:latin typeface="黑体"/>
                <a:cs typeface="黑体"/>
              </a:rPr>
              <a:t>练习</a:t>
            </a:r>
            <a:r>
              <a:rPr dirty="0" sz="2400">
                <a:latin typeface="宋体"/>
                <a:cs typeface="宋体"/>
              </a:rPr>
              <a:t>】如图所示，</a:t>
            </a:r>
            <a:r>
              <a:rPr dirty="0" sz="2400" spc="-5" i="1">
                <a:latin typeface="Times New Roman"/>
                <a:cs typeface="Times New Roman"/>
              </a:rPr>
              <a:t>P</a:t>
            </a:r>
            <a:r>
              <a:rPr dirty="0" sz="2400">
                <a:latin typeface="宋体"/>
                <a:cs typeface="宋体"/>
              </a:rPr>
              <a:t>为放在匀强电场中的天然放射 源，其放出的射线在电场的作用下分成</a:t>
            </a: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>
                <a:latin typeface="宋体"/>
                <a:cs typeface="宋体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宋体"/>
                <a:cs typeface="宋体"/>
              </a:rPr>
              <a:t>、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宋体"/>
                <a:cs typeface="宋体"/>
              </a:rPr>
              <a:t>三束，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212" y="1521459"/>
            <a:ext cx="256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以下判断正确的是</a:t>
            </a:r>
            <a:r>
              <a:rPr dirty="0" sz="2400"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712" y="1887220"/>
            <a:ext cx="3072130" cy="221996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09880" indent="-297180">
              <a:lnSpc>
                <a:spcPct val="100000"/>
              </a:lnSpc>
              <a:spcBef>
                <a:spcPts val="1540"/>
              </a:spcBef>
              <a:buSzPct val="95833"/>
              <a:buFont typeface="Times New Roman"/>
              <a:buAutoNum type="alphaUcPeriod"/>
              <a:tabLst>
                <a:tab pos="309880" algn="l"/>
              </a:tabLst>
            </a:pP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宋体"/>
                <a:cs typeface="宋体"/>
              </a:rPr>
              <a:t>射线，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spc="-5" i="1">
                <a:latin typeface="Times New Roman"/>
                <a:cs typeface="Times New Roman"/>
              </a:rPr>
              <a:t>β</a:t>
            </a:r>
            <a:r>
              <a:rPr dirty="0" sz="2400">
                <a:latin typeface="宋体"/>
                <a:cs typeface="宋体"/>
              </a:rPr>
              <a:t>射线</a:t>
            </a:r>
            <a:endParaRPr sz="2400">
              <a:latin typeface="宋体"/>
              <a:cs typeface="宋体"/>
            </a:endParaRPr>
          </a:p>
          <a:p>
            <a:pPr marL="292735" indent="-280035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292735" algn="l"/>
              </a:tabLst>
            </a:pP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spc="-5" i="1">
                <a:latin typeface="Times New Roman"/>
                <a:cs typeface="Times New Roman"/>
              </a:rPr>
              <a:t>β</a:t>
            </a:r>
            <a:r>
              <a:rPr dirty="0" sz="2400">
                <a:latin typeface="宋体"/>
                <a:cs typeface="宋体"/>
              </a:rPr>
              <a:t>射线，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spc="-5" i="1">
                <a:latin typeface="Times New Roman"/>
                <a:cs typeface="Times New Roman"/>
              </a:rPr>
              <a:t>γ</a:t>
            </a:r>
            <a:r>
              <a:rPr dirty="0" sz="2400">
                <a:latin typeface="宋体"/>
                <a:cs typeface="宋体"/>
              </a:rPr>
              <a:t>射线</a:t>
            </a:r>
            <a:endParaRPr sz="2400">
              <a:latin typeface="宋体"/>
              <a:cs typeface="宋体"/>
            </a:endParaRPr>
          </a:p>
          <a:p>
            <a:pPr marL="292735" indent="-280035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292735" algn="l"/>
              </a:tabLst>
            </a:pP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spc="-5" i="1">
                <a:latin typeface="Times New Roman"/>
                <a:cs typeface="Times New Roman"/>
              </a:rPr>
              <a:t>γ</a:t>
            </a:r>
            <a:r>
              <a:rPr dirty="0" sz="2400">
                <a:latin typeface="宋体"/>
                <a:cs typeface="宋体"/>
              </a:rPr>
              <a:t>射线，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宋体"/>
                <a:cs typeface="宋体"/>
              </a:rPr>
              <a:t>射线</a:t>
            </a:r>
            <a:endParaRPr sz="2400">
              <a:latin typeface="宋体"/>
              <a:cs typeface="宋体"/>
            </a:endParaRPr>
          </a:p>
          <a:p>
            <a:pPr marL="309880" indent="-2971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309880" algn="l"/>
              </a:tabLst>
            </a:pP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宋体"/>
                <a:cs typeface="宋体"/>
              </a:rPr>
              <a:t>射线，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宋体"/>
                <a:cs typeface="宋体"/>
              </a:rPr>
              <a:t>为</a:t>
            </a:r>
            <a:r>
              <a:rPr dirty="0" sz="2400" spc="-5" i="1">
                <a:latin typeface="Times New Roman"/>
                <a:cs typeface="Times New Roman"/>
              </a:rPr>
              <a:t>γ</a:t>
            </a:r>
            <a:r>
              <a:rPr dirty="0" sz="2400">
                <a:latin typeface="宋体"/>
                <a:cs typeface="宋体"/>
              </a:rPr>
              <a:t>射线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19700" y="1780032"/>
            <a:ext cx="1769363" cy="2389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54590" y="1458607"/>
            <a:ext cx="552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000" spc="-8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85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dirty="0" baseline="-11574" sz="3600" spc="127">
                <a:latin typeface="Times New Roman"/>
                <a:cs typeface="Times New Roman"/>
              </a:rPr>
              <a:t>)</a:t>
            </a:r>
            <a:endParaRPr baseline="-11574"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471" y="515645"/>
            <a:ext cx="7352030" cy="3925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科学的思考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？----</a:t>
            </a:r>
            <a:endParaRPr sz="2800">
              <a:latin typeface="微软雅黑"/>
              <a:cs typeface="微软雅黑"/>
            </a:endParaRPr>
          </a:p>
          <a:p>
            <a:pPr algn="just" marL="184150" marR="47625" indent="-171450">
              <a:lnSpc>
                <a:spcPct val="150000"/>
              </a:lnSpc>
              <a:spcBef>
                <a:spcPts val="72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000">
                <a:latin typeface="微软雅黑"/>
                <a:cs typeface="微软雅黑"/>
              </a:rPr>
              <a:t>在原子核那样狭小的空间里，带正电的质子为什么能挤在一起</a:t>
            </a:r>
            <a:r>
              <a:rPr dirty="0" sz="2000">
                <a:latin typeface="微软雅黑"/>
                <a:cs typeface="微软雅黑"/>
              </a:rPr>
              <a:t>而 </a:t>
            </a:r>
            <a:r>
              <a:rPr dirty="0" sz="2000">
                <a:latin typeface="微软雅黑"/>
                <a:cs typeface="微软雅黑"/>
              </a:rPr>
              <a:t>不飞散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  <a:p>
            <a:pPr algn="just" marL="184150" marR="5080" indent="-171450">
              <a:lnSpc>
                <a:spcPct val="15000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000" i="1">
                <a:latin typeface="Times New Roman"/>
                <a:cs typeface="Times New Roman"/>
              </a:rPr>
              <a:t>α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射线、</a:t>
            </a:r>
            <a:r>
              <a:rPr dirty="0" sz="2000" i="1">
                <a:latin typeface="Times New Roman"/>
                <a:cs typeface="Times New Roman"/>
              </a:rPr>
              <a:t>β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射线都是高速运动的粒子，能量很高，</a:t>
            </a:r>
            <a:r>
              <a:rPr dirty="0" sz="2000" i="1">
                <a:latin typeface="Times New Roman"/>
                <a:cs typeface="Times New Roman"/>
              </a:rPr>
              <a:t>γ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射线是波长</a:t>
            </a:r>
            <a:r>
              <a:rPr dirty="0" sz="2000" spc="5">
                <a:latin typeface="微软雅黑"/>
                <a:cs typeface="微软雅黑"/>
              </a:rPr>
              <a:t>很 </a:t>
            </a:r>
            <a:r>
              <a:rPr dirty="0" sz="2000">
                <a:latin typeface="微软雅黑"/>
                <a:cs typeface="微软雅黑"/>
              </a:rPr>
              <a:t>短的光子，能量也很高。从原子内部能够射出这样高能的粒子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说明原子核是一个能量的宝库，那么如何从这个能量宝库获取</a:t>
            </a:r>
            <a:r>
              <a:rPr dirty="0" sz="2000" spc="5">
                <a:latin typeface="微软雅黑"/>
                <a:cs typeface="微软雅黑"/>
              </a:rPr>
              <a:t>能 </a:t>
            </a:r>
            <a:r>
              <a:rPr dirty="0" sz="2000">
                <a:latin typeface="微软雅黑"/>
                <a:cs typeface="微软雅黑"/>
              </a:rPr>
              <a:t>量为人类服务，成为科学家探索和攻克的堡垒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18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000" spc="-5">
                <a:latin typeface="Times New Roman"/>
                <a:cs typeface="Times New Roman"/>
              </a:rPr>
              <a:t>----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2025-04-21T01:01:58Z</dcterms:created>
  <dcterms:modified xsi:type="dcterms:W3CDTF">2025-04-21T01:01:58Z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