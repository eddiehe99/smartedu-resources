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7597" y="2525712"/>
            <a:ext cx="745680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228" y="1635137"/>
            <a:ext cx="11426190" cy="394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22730">
              <a:lnSpc>
                <a:spcPct val="100000"/>
              </a:lnSpc>
              <a:spcBef>
                <a:spcPts val="105"/>
              </a:spcBef>
              <a:tabLst>
                <a:tab pos="4648835" algn="l"/>
              </a:tabLst>
            </a:pPr>
            <a:r>
              <a:rPr dirty="0"/>
              <a:t>粒子和宇</a:t>
            </a:r>
            <a:r>
              <a:rPr dirty="0" spc="5"/>
              <a:t>宙</a:t>
            </a:r>
            <a:r>
              <a:rPr dirty="0"/>
              <a:t>	</a:t>
            </a:r>
            <a:r>
              <a:rPr dirty="0"/>
              <a:t>原子核复</a:t>
            </a:r>
            <a:r>
              <a:rPr dirty="0" spc="5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spc="-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3-5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107" y="1661863"/>
            <a:ext cx="7402195" cy="391922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3600" b="1">
                <a:solidFill>
                  <a:srgbClr val="660033"/>
                </a:solidFill>
                <a:latin typeface="黑体"/>
                <a:cs typeface="黑体"/>
              </a:rPr>
              <a:t>一、放射性与衰</a:t>
            </a:r>
            <a:r>
              <a:rPr dirty="0" sz="3600" spc="-15" b="1">
                <a:solidFill>
                  <a:srgbClr val="660033"/>
                </a:solidFill>
                <a:latin typeface="黑体"/>
                <a:cs typeface="黑体"/>
              </a:rPr>
              <a:t>变</a:t>
            </a:r>
            <a:endParaRPr sz="3600">
              <a:latin typeface="黑体"/>
              <a:cs typeface="黑体"/>
            </a:endParaRPr>
          </a:p>
          <a:p>
            <a:pPr marL="469900">
              <a:lnSpc>
                <a:spcPct val="100000"/>
              </a:lnSpc>
              <a:spcBef>
                <a:spcPts val="425"/>
              </a:spcBef>
            </a:pPr>
            <a:r>
              <a:rPr dirty="0" sz="3200" b="1">
                <a:latin typeface="华文楷体"/>
                <a:cs typeface="华文楷体"/>
              </a:rPr>
              <a:t>一个现象：天然放射现象</a:t>
            </a:r>
            <a:endParaRPr sz="3200">
              <a:latin typeface="华文楷体"/>
              <a:cs typeface="华文楷体"/>
            </a:endParaRPr>
          </a:p>
          <a:p>
            <a:pPr marL="469900" marR="2188210">
              <a:lnSpc>
                <a:spcPct val="115599"/>
              </a:lnSpc>
              <a:spcBef>
                <a:spcPts val="70"/>
              </a:spcBef>
            </a:pPr>
            <a:r>
              <a:rPr dirty="0" sz="3200" b="1">
                <a:latin typeface="华文楷体"/>
                <a:cs typeface="华文楷体"/>
              </a:rPr>
              <a:t>两种衰变：</a:t>
            </a:r>
            <a:r>
              <a:rPr dirty="0" sz="3200" spc="45" b="1">
                <a:latin typeface="华文楷体"/>
                <a:cs typeface="华文楷体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α</a:t>
            </a:r>
            <a:r>
              <a:rPr dirty="0" sz="3200" b="1">
                <a:latin typeface="华文楷体"/>
                <a:cs typeface="华文楷体"/>
              </a:rPr>
              <a:t>衰变、</a:t>
            </a:r>
            <a:r>
              <a:rPr dirty="0" sz="3200" spc="45" b="1">
                <a:latin typeface="华文楷体"/>
                <a:cs typeface="华文楷体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β</a:t>
            </a:r>
            <a:r>
              <a:rPr dirty="0" sz="3200" b="1">
                <a:latin typeface="华文楷体"/>
                <a:cs typeface="华文楷体"/>
              </a:rPr>
              <a:t>衰变 三种射线：</a:t>
            </a:r>
            <a:r>
              <a:rPr dirty="0" sz="3200" spc="75" b="1">
                <a:latin typeface="华文楷体"/>
                <a:cs typeface="华文楷体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α</a:t>
            </a:r>
            <a:r>
              <a:rPr dirty="0" sz="3200" spc="-10" b="1">
                <a:latin typeface="宋体"/>
                <a:cs typeface="宋体"/>
              </a:rPr>
              <a:t>、</a:t>
            </a:r>
            <a:r>
              <a:rPr dirty="0" sz="3200" spc="-720" b="1">
                <a:latin typeface="宋体"/>
                <a:cs typeface="宋体"/>
              </a:rPr>
              <a:t> </a:t>
            </a:r>
            <a:r>
              <a:rPr dirty="0" sz="3200" spc="-5" b="1">
                <a:latin typeface="Times New Roman"/>
                <a:cs typeface="Times New Roman"/>
              </a:rPr>
              <a:t>β</a:t>
            </a:r>
            <a:r>
              <a:rPr dirty="0" sz="3200" spc="-10" b="1">
                <a:latin typeface="宋体"/>
                <a:cs typeface="宋体"/>
              </a:rPr>
              <a:t>、</a:t>
            </a:r>
            <a:r>
              <a:rPr dirty="0" sz="3200" spc="-725" b="1">
                <a:latin typeface="宋体"/>
                <a:cs typeface="宋体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γ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dirty="0" sz="3200" b="1">
                <a:latin typeface="华文楷体"/>
                <a:cs typeface="华文楷体"/>
              </a:rPr>
              <a:t>四个守恒：质量数、电荷数、能量、动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latin typeface="华文楷体"/>
                <a:cs typeface="华文楷体"/>
              </a:rPr>
              <a:t>量</a:t>
            </a:r>
            <a:endParaRPr sz="32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dirty="0" sz="3200" b="1">
                <a:latin typeface="华文楷体"/>
                <a:cs typeface="华文楷体"/>
              </a:rPr>
              <a:t>半衰期：概念、决定因素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9884" y="579259"/>
            <a:ext cx="614870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简单回顾：原子核主干知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识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9218" y="1326763"/>
            <a:ext cx="3573779" cy="4558030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dirty="0" sz="3100" b="1">
                <a:solidFill>
                  <a:srgbClr val="660033"/>
                </a:solidFill>
                <a:latin typeface="黑体"/>
                <a:cs typeface="黑体"/>
              </a:rPr>
              <a:t>二、核反应方</a:t>
            </a:r>
            <a:r>
              <a:rPr dirty="0" sz="3100" spc="-20" b="1">
                <a:solidFill>
                  <a:srgbClr val="660033"/>
                </a:solidFill>
                <a:latin typeface="黑体"/>
                <a:cs typeface="黑体"/>
              </a:rPr>
              <a:t>程</a:t>
            </a:r>
            <a:endParaRPr sz="3100">
              <a:latin typeface="黑体"/>
              <a:cs typeface="黑体"/>
            </a:endParaRPr>
          </a:p>
          <a:p>
            <a:pPr marL="555625">
              <a:lnSpc>
                <a:spcPct val="100000"/>
              </a:lnSpc>
              <a:spcBef>
                <a:spcPts val="1445"/>
              </a:spcBef>
            </a:pPr>
            <a:r>
              <a:rPr dirty="0" sz="2700" b="1">
                <a:latin typeface="华文楷体"/>
                <a:cs typeface="华文楷体"/>
              </a:rPr>
              <a:t>衰变：</a:t>
            </a:r>
            <a:r>
              <a:rPr dirty="0" sz="2700" spc="-5" b="1">
                <a:latin typeface="Times New Roman"/>
                <a:cs typeface="Times New Roman"/>
              </a:rPr>
              <a:t>α</a:t>
            </a:r>
            <a:r>
              <a:rPr dirty="0" sz="2700" b="1">
                <a:latin typeface="华文楷体"/>
                <a:cs typeface="华文楷体"/>
              </a:rPr>
              <a:t>衰变</a:t>
            </a:r>
            <a:r>
              <a:rPr dirty="0" sz="2700" spc="-5" b="1">
                <a:latin typeface="华文楷体"/>
                <a:cs typeface="华文楷体"/>
              </a:rPr>
              <a:t>：</a:t>
            </a:r>
            <a:endParaRPr sz="2700">
              <a:latin typeface="华文楷体"/>
              <a:cs typeface="华文楷体"/>
            </a:endParaRPr>
          </a:p>
          <a:p>
            <a:pPr marL="1612265">
              <a:lnSpc>
                <a:spcPct val="100000"/>
              </a:lnSpc>
              <a:spcBef>
                <a:spcPts val="1910"/>
              </a:spcBef>
            </a:pPr>
            <a:r>
              <a:rPr dirty="0" sz="2700" b="1">
                <a:latin typeface="Times New Roman"/>
                <a:cs typeface="Times New Roman"/>
              </a:rPr>
              <a:t>β</a:t>
            </a:r>
            <a:r>
              <a:rPr dirty="0" sz="2700" b="1">
                <a:latin typeface="华文楷体"/>
                <a:cs typeface="华文楷体"/>
              </a:rPr>
              <a:t>衰变</a:t>
            </a:r>
            <a:r>
              <a:rPr dirty="0" sz="2700" spc="-5" b="1">
                <a:latin typeface="华文楷体"/>
                <a:cs typeface="华文楷体"/>
              </a:rPr>
              <a:t>：</a:t>
            </a:r>
            <a:endParaRPr sz="2700">
              <a:latin typeface="华文楷体"/>
              <a:cs typeface="华文楷体"/>
            </a:endParaRPr>
          </a:p>
          <a:p>
            <a:pPr marL="1583690">
              <a:lnSpc>
                <a:spcPct val="100000"/>
              </a:lnSpc>
              <a:spcBef>
                <a:spcPts val="1880"/>
              </a:spcBef>
            </a:pPr>
            <a:r>
              <a:rPr dirty="0" sz="2700" b="1">
                <a:latin typeface="Times New Roman"/>
                <a:cs typeface="Times New Roman"/>
              </a:rPr>
              <a:t>β</a:t>
            </a:r>
            <a:r>
              <a:rPr dirty="0" baseline="20634" sz="2625" b="1">
                <a:latin typeface="华文楷体"/>
                <a:cs typeface="华文楷体"/>
              </a:rPr>
              <a:t>+</a:t>
            </a:r>
            <a:r>
              <a:rPr dirty="0" sz="2700" b="1">
                <a:latin typeface="华文楷体"/>
                <a:cs typeface="华文楷体"/>
              </a:rPr>
              <a:t>衰变</a:t>
            </a:r>
            <a:r>
              <a:rPr dirty="0" sz="2700" spc="-5" b="1">
                <a:latin typeface="华文楷体"/>
                <a:cs typeface="华文楷体"/>
              </a:rPr>
              <a:t>：</a:t>
            </a:r>
            <a:endParaRPr sz="2700">
              <a:latin typeface="华文楷体"/>
              <a:cs typeface="华文楷体"/>
            </a:endParaRPr>
          </a:p>
          <a:p>
            <a:pPr marL="469900" marR="5080">
              <a:lnSpc>
                <a:spcPts val="5140"/>
              </a:lnSpc>
              <a:spcBef>
                <a:spcPts val="440"/>
              </a:spcBef>
            </a:pPr>
            <a:r>
              <a:rPr dirty="0" sz="2700" b="1">
                <a:latin typeface="华文楷体"/>
                <a:cs typeface="华文楷体"/>
              </a:rPr>
              <a:t>原子核的人工转变</a:t>
            </a:r>
            <a:r>
              <a:rPr dirty="0" sz="2700" spc="-5" b="1">
                <a:latin typeface="华文楷体"/>
                <a:cs typeface="华文楷体"/>
              </a:rPr>
              <a:t>： </a:t>
            </a:r>
            <a:r>
              <a:rPr dirty="0" sz="2700" b="1">
                <a:latin typeface="华文楷体"/>
                <a:cs typeface="华文楷体"/>
              </a:rPr>
              <a:t>核裂变</a:t>
            </a:r>
            <a:r>
              <a:rPr dirty="0" sz="2700" spc="-5" b="1">
                <a:latin typeface="华文楷体"/>
                <a:cs typeface="华文楷体"/>
              </a:rPr>
              <a:t>：</a:t>
            </a:r>
            <a:endParaRPr sz="27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400"/>
              </a:spcBef>
            </a:pPr>
            <a:r>
              <a:rPr dirty="0" sz="2700" b="1">
                <a:latin typeface="华文楷体"/>
                <a:cs typeface="华文楷体"/>
              </a:rPr>
              <a:t>核聚变</a:t>
            </a:r>
            <a:r>
              <a:rPr dirty="0" sz="2700" spc="-5" b="1">
                <a:latin typeface="华文楷体"/>
                <a:cs typeface="华文楷体"/>
              </a:rPr>
              <a:t>：</a:t>
            </a:r>
            <a:endParaRPr sz="27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9884" y="579259"/>
            <a:ext cx="614870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简单回顾：原子核主干知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识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4451" y="1551030"/>
            <a:ext cx="4145915" cy="343154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3600" b="1">
                <a:solidFill>
                  <a:srgbClr val="660033"/>
                </a:solidFill>
                <a:latin typeface="黑体"/>
                <a:cs typeface="黑体"/>
              </a:rPr>
              <a:t>三、核</a:t>
            </a:r>
            <a:r>
              <a:rPr dirty="0" sz="3600" spc="-15" b="1">
                <a:solidFill>
                  <a:srgbClr val="660033"/>
                </a:solidFill>
                <a:latin typeface="黑体"/>
                <a:cs typeface="黑体"/>
              </a:rPr>
              <a:t>能</a:t>
            </a:r>
            <a:endParaRPr sz="3600">
              <a:latin typeface="黑体"/>
              <a:cs typeface="黑体"/>
            </a:endParaRPr>
          </a:p>
          <a:p>
            <a:pPr marL="469900" marR="5080">
              <a:lnSpc>
                <a:spcPts val="4440"/>
              </a:lnSpc>
              <a:spcBef>
                <a:spcPts val="75"/>
              </a:spcBef>
            </a:pPr>
            <a:r>
              <a:rPr dirty="0" sz="3200" b="1">
                <a:latin typeface="华文楷体"/>
                <a:cs typeface="华文楷体"/>
              </a:rPr>
              <a:t>结合能与比结合能： </a:t>
            </a:r>
            <a:r>
              <a:rPr dirty="0" sz="3200" b="1">
                <a:latin typeface="华文楷体"/>
                <a:cs typeface="华文楷体"/>
              </a:rPr>
              <a:t>质量亏损：</a:t>
            </a:r>
            <a:endParaRPr sz="3200">
              <a:latin typeface="华文楷体"/>
              <a:cs typeface="华文楷体"/>
            </a:endParaRPr>
          </a:p>
          <a:p>
            <a:pPr algn="just" marL="469900" marR="1633220">
              <a:lnSpc>
                <a:spcPts val="4440"/>
              </a:lnSpc>
            </a:pPr>
            <a:r>
              <a:rPr dirty="0" sz="3200" b="1">
                <a:latin typeface="华文楷体"/>
                <a:cs typeface="华文楷体"/>
              </a:rPr>
              <a:t>质能方程： 核能计算： 核能开发：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9884" y="579259"/>
            <a:ext cx="614870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简单回顾：原子核主干知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识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7074" y="1734311"/>
            <a:ext cx="3688715" cy="3408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3200" b="1">
                <a:latin typeface="华文楷体"/>
                <a:cs typeface="华文楷体"/>
              </a:rPr>
              <a:t>原子核组成与符号： </a:t>
            </a:r>
            <a:r>
              <a:rPr dirty="0" sz="3200" b="1">
                <a:latin typeface="华文楷体"/>
                <a:cs typeface="华文楷体"/>
              </a:rPr>
              <a:t>同位素：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200" b="1">
                <a:latin typeface="华文楷体"/>
                <a:cs typeface="华文楷体"/>
              </a:rPr>
              <a:t>放射线探测：</a:t>
            </a:r>
            <a:endParaRPr sz="3200">
              <a:latin typeface="华文楷体"/>
              <a:cs typeface="华文楷体"/>
            </a:endParaRPr>
          </a:p>
          <a:p>
            <a:pPr marL="12700" marR="5080">
              <a:lnSpc>
                <a:spcPct val="115599"/>
              </a:lnSpc>
            </a:pPr>
            <a:r>
              <a:rPr dirty="0" sz="3200" b="1">
                <a:latin typeface="华文楷体"/>
                <a:cs typeface="华文楷体"/>
              </a:rPr>
              <a:t>放射性应用与防护： </a:t>
            </a:r>
            <a:r>
              <a:rPr dirty="0" sz="3200" b="1">
                <a:latin typeface="华文楷体"/>
                <a:cs typeface="华文楷体"/>
              </a:rPr>
              <a:t>核力：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200" b="1">
                <a:latin typeface="华文楷体"/>
                <a:cs typeface="华文楷体"/>
              </a:rPr>
              <a:t>粒子与宇宙：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7595" y="773214"/>
            <a:ext cx="614870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简单回顾：原子核关联知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识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9518" y="2503195"/>
            <a:ext cx="43078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660033"/>
                </a:solidFill>
                <a:latin typeface="黑体"/>
                <a:cs typeface="黑体"/>
              </a:rPr>
              <a:t>探秘粒子与宇</a:t>
            </a:r>
            <a:r>
              <a:rPr dirty="0" sz="4800" spc="-20">
                <a:solidFill>
                  <a:srgbClr val="660033"/>
                </a:solidFill>
                <a:latin typeface="黑体"/>
                <a:cs typeface="黑体"/>
              </a:rPr>
              <a:t>宙</a:t>
            </a:r>
            <a:endParaRPr sz="4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22043" y="3269627"/>
            <a:ext cx="2937992" cy="33125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87491" y="3180588"/>
            <a:ext cx="4463516" cy="3401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3311" y="274320"/>
            <a:ext cx="7153909" cy="563880"/>
          </a:xfrm>
          <a:custGeom>
            <a:avLst/>
            <a:gdLst/>
            <a:ahLst/>
            <a:cxnLst/>
            <a:rect l="l" t="t" r="r" b="b"/>
            <a:pathLst>
              <a:path w="7153909" h="563880">
                <a:moveTo>
                  <a:pt x="0" y="0"/>
                </a:moveTo>
                <a:lnTo>
                  <a:pt x="7153656" y="0"/>
                </a:lnTo>
                <a:lnTo>
                  <a:pt x="7153656" y="563879"/>
                </a:lnTo>
                <a:lnTo>
                  <a:pt x="0" y="563879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2763" y="216230"/>
            <a:ext cx="7005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CC"/>
                </a:solidFill>
                <a:latin typeface="华文楷体"/>
                <a:cs typeface="华文楷体"/>
              </a:rPr>
              <a:t>仰望星空</a:t>
            </a:r>
            <a:r>
              <a:rPr dirty="0" sz="3600" spc="-5">
                <a:solidFill>
                  <a:srgbClr val="0000CC"/>
                </a:solidFill>
                <a:latin typeface="华文楷体"/>
                <a:cs typeface="华文楷体"/>
              </a:rPr>
              <a:t>、</a:t>
            </a:r>
            <a:r>
              <a:rPr dirty="0" sz="3600" spc="-80">
                <a:solidFill>
                  <a:srgbClr val="0000CC"/>
                </a:solidFill>
                <a:latin typeface="华文楷体"/>
                <a:cs typeface="华文楷体"/>
              </a:rPr>
              <a:t> </a:t>
            </a:r>
            <a:r>
              <a:rPr dirty="0" sz="3600">
                <a:solidFill>
                  <a:srgbClr val="0000CC"/>
                </a:solidFill>
                <a:latin typeface="华文楷体"/>
                <a:cs typeface="华文楷体"/>
              </a:rPr>
              <a:t>俯首沉思、默默自问</a:t>
            </a:r>
            <a:r>
              <a:rPr dirty="0" sz="3600" spc="-5">
                <a:solidFill>
                  <a:srgbClr val="0000CC"/>
                </a:solidFill>
                <a:latin typeface="华文楷体"/>
                <a:cs typeface="华文楷体"/>
              </a:rPr>
              <a:t>：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7287" y="872832"/>
            <a:ext cx="7524750" cy="2452370"/>
          </a:xfrm>
          <a:custGeom>
            <a:avLst/>
            <a:gdLst/>
            <a:ahLst/>
            <a:cxnLst/>
            <a:rect l="l" t="t" r="r" b="b"/>
            <a:pathLst>
              <a:path w="7524750" h="2452370">
                <a:moveTo>
                  <a:pt x="2919222" y="2452255"/>
                </a:moveTo>
                <a:lnTo>
                  <a:pt x="1254252" y="1703603"/>
                </a:lnTo>
                <a:lnTo>
                  <a:pt x="1177848" y="1703082"/>
                </a:lnTo>
                <a:lnTo>
                  <a:pt x="1102664" y="1701546"/>
                </a:lnTo>
                <a:lnTo>
                  <a:pt x="1028814" y="1699031"/>
                </a:lnTo>
                <a:lnTo>
                  <a:pt x="956437" y="1695551"/>
                </a:lnTo>
                <a:lnTo>
                  <a:pt x="885659" y="1691144"/>
                </a:lnTo>
                <a:lnTo>
                  <a:pt x="816622" y="1685836"/>
                </a:lnTo>
                <a:lnTo>
                  <a:pt x="749452" y="1679663"/>
                </a:lnTo>
                <a:lnTo>
                  <a:pt x="684276" y="1672653"/>
                </a:lnTo>
                <a:lnTo>
                  <a:pt x="621233" y="1664830"/>
                </a:lnTo>
                <a:lnTo>
                  <a:pt x="560438" y="1656219"/>
                </a:lnTo>
                <a:lnTo>
                  <a:pt x="502043" y="1646872"/>
                </a:lnTo>
                <a:lnTo>
                  <a:pt x="446176" y="1636801"/>
                </a:lnTo>
                <a:lnTo>
                  <a:pt x="392950" y="1626031"/>
                </a:lnTo>
                <a:lnTo>
                  <a:pt x="342519" y="1614614"/>
                </a:lnTo>
                <a:lnTo>
                  <a:pt x="294995" y="1602562"/>
                </a:lnTo>
                <a:lnTo>
                  <a:pt x="250532" y="1589900"/>
                </a:lnTo>
                <a:lnTo>
                  <a:pt x="209232" y="1576666"/>
                </a:lnTo>
                <a:lnTo>
                  <a:pt x="136715" y="1548612"/>
                </a:lnTo>
                <a:lnTo>
                  <a:pt x="78473" y="1518627"/>
                </a:lnTo>
                <a:lnTo>
                  <a:pt x="35572" y="1486954"/>
                </a:lnTo>
                <a:lnTo>
                  <a:pt x="0" y="1419453"/>
                </a:lnTo>
                <a:lnTo>
                  <a:pt x="0" y="284149"/>
                </a:lnTo>
                <a:lnTo>
                  <a:pt x="20205" y="233057"/>
                </a:lnTo>
                <a:lnTo>
                  <a:pt x="55041" y="200621"/>
                </a:lnTo>
                <a:lnTo>
                  <a:pt x="105740" y="169760"/>
                </a:lnTo>
                <a:lnTo>
                  <a:pt x="171259" y="140703"/>
                </a:lnTo>
                <a:lnTo>
                  <a:pt x="209232" y="126936"/>
                </a:lnTo>
                <a:lnTo>
                  <a:pt x="250532" y="113703"/>
                </a:lnTo>
                <a:lnTo>
                  <a:pt x="294995" y="101053"/>
                </a:lnTo>
                <a:lnTo>
                  <a:pt x="342519" y="89001"/>
                </a:lnTo>
                <a:lnTo>
                  <a:pt x="392950" y="77571"/>
                </a:lnTo>
                <a:lnTo>
                  <a:pt x="446176" y="66814"/>
                </a:lnTo>
                <a:lnTo>
                  <a:pt x="502043" y="56730"/>
                </a:lnTo>
                <a:lnTo>
                  <a:pt x="560438" y="47383"/>
                </a:lnTo>
                <a:lnTo>
                  <a:pt x="621233" y="38785"/>
                </a:lnTo>
                <a:lnTo>
                  <a:pt x="684276" y="30962"/>
                </a:lnTo>
                <a:lnTo>
                  <a:pt x="749452" y="23952"/>
                </a:lnTo>
                <a:lnTo>
                  <a:pt x="816622" y="17767"/>
                </a:lnTo>
                <a:lnTo>
                  <a:pt x="885659" y="12458"/>
                </a:lnTo>
                <a:lnTo>
                  <a:pt x="956437" y="8051"/>
                </a:lnTo>
                <a:lnTo>
                  <a:pt x="1028814" y="4572"/>
                </a:lnTo>
                <a:lnTo>
                  <a:pt x="1102664" y="2057"/>
                </a:lnTo>
                <a:lnTo>
                  <a:pt x="1177848" y="520"/>
                </a:lnTo>
                <a:lnTo>
                  <a:pt x="1254252" y="0"/>
                </a:lnTo>
                <a:lnTo>
                  <a:pt x="6270498" y="0"/>
                </a:lnTo>
                <a:lnTo>
                  <a:pt x="6346901" y="520"/>
                </a:lnTo>
                <a:lnTo>
                  <a:pt x="6422085" y="2057"/>
                </a:lnTo>
                <a:lnTo>
                  <a:pt x="6495935" y="4572"/>
                </a:lnTo>
                <a:lnTo>
                  <a:pt x="6568312" y="8051"/>
                </a:lnTo>
                <a:lnTo>
                  <a:pt x="6639090" y="12458"/>
                </a:lnTo>
                <a:lnTo>
                  <a:pt x="6708127" y="17767"/>
                </a:lnTo>
                <a:lnTo>
                  <a:pt x="6775297" y="23952"/>
                </a:lnTo>
                <a:lnTo>
                  <a:pt x="6840474" y="30962"/>
                </a:lnTo>
                <a:lnTo>
                  <a:pt x="6903529" y="38785"/>
                </a:lnTo>
                <a:lnTo>
                  <a:pt x="6964311" y="47383"/>
                </a:lnTo>
                <a:lnTo>
                  <a:pt x="7022706" y="56730"/>
                </a:lnTo>
                <a:lnTo>
                  <a:pt x="7078573" y="66814"/>
                </a:lnTo>
                <a:lnTo>
                  <a:pt x="7131799" y="77571"/>
                </a:lnTo>
                <a:lnTo>
                  <a:pt x="7182231" y="89001"/>
                </a:lnTo>
                <a:lnTo>
                  <a:pt x="7229754" y="101053"/>
                </a:lnTo>
                <a:lnTo>
                  <a:pt x="7274217" y="113703"/>
                </a:lnTo>
                <a:lnTo>
                  <a:pt x="7315517" y="126936"/>
                </a:lnTo>
                <a:lnTo>
                  <a:pt x="7388034" y="154990"/>
                </a:lnTo>
                <a:lnTo>
                  <a:pt x="7446276" y="184975"/>
                </a:lnTo>
                <a:lnTo>
                  <a:pt x="7489177" y="216662"/>
                </a:lnTo>
                <a:lnTo>
                  <a:pt x="7522463" y="266839"/>
                </a:lnTo>
                <a:lnTo>
                  <a:pt x="7524750" y="284149"/>
                </a:lnTo>
                <a:lnTo>
                  <a:pt x="7524750" y="1419453"/>
                </a:lnTo>
                <a:lnTo>
                  <a:pt x="7504544" y="1470545"/>
                </a:lnTo>
                <a:lnTo>
                  <a:pt x="7469708" y="1502994"/>
                </a:lnTo>
                <a:lnTo>
                  <a:pt x="7419009" y="1533855"/>
                </a:lnTo>
                <a:lnTo>
                  <a:pt x="7353503" y="1562900"/>
                </a:lnTo>
                <a:lnTo>
                  <a:pt x="7315517" y="1576666"/>
                </a:lnTo>
                <a:lnTo>
                  <a:pt x="7274217" y="1589900"/>
                </a:lnTo>
                <a:lnTo>
                  <a:pt x="7229754" y="1602562"/>
                </a:lnTo>
                <a:lnTo>
                  <a:pt x="7182231" y="1614614"/>
                </a:lnTo>
                <a:lnTo>
                  <a:pt x="7131799" y="1626031"/>
                </a:lnTo>
                <a:lnTo>
                  <a:pt x="7078573" y="1636801"/>
                </a:lnTo>
                <a:lnTo>
                  <a:pt x="7022706" y="1646872"/>
                </a:lnTo>
                <a:lnTo>
                  <a:pt x="6964311" y="1656219"/>
                </a:lnTo>
                <a:lnTo>
                  <a:pt x="6903529" y="1664830"/>
                </a:lnTo>
                <a:lnTo>
                  <a:pt x="6840474" y="1672653"/>
                </a:lnTo>
                <a:lnTo>
                  <a:pt x="6775297" y="1679663"/>
                </a:lnTo>
                <a:lnTo>
                  <a:pt x="6708127" y="1685836"/>
                </a:lnTo>
                <a:lnTo>
                  <a:pt x="6639090" y="1691144"/>
                </a:lnTo>
                <a:lnTo>
                  <a:pt x="6568312" y="1695551"/>
                </a:lnTo>
                <a:lnTo>
                  <a:pt x="6495935" y="1699031"/>
                </a:lnTo>
                <a:lnTo>
                  <a:pt x="6422085" y="1701546"/>
                </a:lnTo>
                <a:lnTo>
                  <a:pt x="6346901" y="1703082"/>
                </a:lnTo>
                <a:lnTo>
                  <a:pt x="3135629" y="1703603"/>
                </a:lnTo>
                <a:lnTo>
                  <a:pt x="2919222" y="2452255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70976" y="0"/>
            <a:ext cx="3621024" cy="28050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45729" y="875487"/>
            <a:ext cx="8387715" cy="2896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660033"/>
                </a:solidFill>
                <a:latin typeface="华文楷体"/>
                <a:cs typeface="华文楷体"/>
              </a:rPr>
              <a:t>物质和宇宙是由什么组成？又是如何</a:t>
            </a:r>
            <a:endParaRPr sz="3200">
              <a:latin typeface="华文楷体"/>
              <a:cs typeface="华文楷体"/>
            </a:endParaRPr>
          </a:p>
          <a:p>
            <a:pPr marL="12700" marR="1344930">
              <a:lnSpc>
                <a:spcPct val="100000"/>
              </a:lnSpc>
            </a:pPr>
            <a:r>
              <a:rPr dirty="0" sz="3200" b="1">
                <a:solidFill>
                  <a:srgbClr val="660033"/>
                </a:solidFill>
                <a:latin typeface="华文楷体"/>
                <a:cs typeface="华文楷体"/>
              </a:rPr>
              <a:t>作用和构成？</a:t>
            </a:r>
            <a:r>
              <a:rPr dirty="0" sz="3200" spc="-70" b="1">
                <a:solidFill>
                  <a:srgbClr val="660033"/>
                </a:solidFill>
                <a:latin typeface="华文楷体"/>
                <a:cs typeface="华文楷体"/>
              </a:rPr>
              <a:t> </a:t>
            </a:r>
            <a:r>
              <a:rPr dirty="0" sz="3200" b="1">
                <a:solidFill>
                  <a:srgbClr val="660033"/>
                </a:solidFill>
                <a:latin typeface="华文楷体"/>
                <a:cs typeface="华文楷体"/>
              </a:rPr>
              <a:t>物质和宇宙是怎样起源？  又是如何运动和演化？</a:t>
            </a:r>
            <a:endParaRPr sz="3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4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4000" spc="-5" b="1">
                <a:solidFill>
                  <a:srgbClr val="FFFF00"/>
                </a:solidFill>
                <a:latin typeface="华文楷体"/>
                <a:cs typeface="华文楷体"/>
              </a:rPr>
              <a:t>仰望天</a:t>
            </a:r>
            <a:r>
              <a:rPr dirty="0" sz="4000" spc="-10" b="1">
                <a:solidFill>
                  <a:srgbClr val="FFFF00"/>
                </a:solidFill>
                <a:latin typeface="华文楷体"/>
                <a:cs typeface="华文楷体"/>
              </a:rPr>
              <a:t>空</a:t>
            </a:r>
            <a:endParaRPr sz="4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5313" y="234429"/>
            <a:ext cx="15532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>
                <a:solidFill>
                  <a:srgbClr val="CC0000"/>
                </a:solidFill>
                <a:latin typeface="宋体"/>
                <a:cs typeface="宋体"/>
              </a:rPr>
              <a:t>探索宇</a:t>
            </a:r>
            <a:r>
              <a:rPr dirty="0" sz="3000" spc="-15">
                <a:solidFill>
                  <a:srgbClr val="CC0000"/>
                </a:solidFill>
                <a:latin typeface="宋体"/>
                <a:cs typeface="宋体"/>
              </a:rPr>
              <a:t>宙</a:t>
            </a:r>
            <a:endParaRPr sz="3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9651" y="884935"/>
            <a:ext cx="7087234" cy="2211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64FF"/>
              </a:buClr>
              <a:buSzPct val="79166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dirty="0" sz="2400" b="1">
                <a:solidFill>
                  <a:srgbClr val="640064"/>
                </a:solidFill>
                <a:latin typeface="华文楷体"/>
                <a:cs typeface="华文楷体"/>
              </a:rPr>
              <a:t>每个人大概也曾有过探索宇宙，遨游太空的梦想</a:t>
            </a:r>
            <a:r>
              <a:rPr dirty="0" sz="2400" spc="-5" b="1">
                <a:solidFill>
                  <a:srgbClr val="640064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894839" indent="-1882139">
              <a:lnSpc>
                <a:spcPct val="100000"/>
              </a:lnSpc>
              <a:spcBef>
                <a:spcPts val="1870"/>
              </a:spcBef>
              <a:buClr>
                <a:srgbClr val="3364FF"/>
              </a:buClr>
              <a:buSzPct val="79166"/>
              <a:buFont typeface="Wingdings"/>
              <a:buChar char=""/>
              <a:tabLst>
                <a:tab pos="1894205" algn="l"/>
                <a:tab pos="1894839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400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年前，天文学家</a:t>
            </a:r>
            <a:endParaRPr sz="2400">
              <a:latin typeface="华文楷体"/>
              <a:cs typeface="华文楷体"/>
            </a:endParaRPr>
          </a:p>
          <a:p>
            <a:pPr algn="just" marL="319405" marR="1708150" indent="1539240">
              <a:lnSpc>
                <a:spcPct val="109700"/>
              </a:lnSpc>
              <a:spcBef>
                <a:spcPts val="105"/>
              </a:spcBef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伽利略首次把望远镜对准 天空。从那时起，人们对宇宙的探索 和思考给人类带来了深刻的变革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9651" y="3583685"/>
            <a:ext cx="13589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">
                <a:solidFill>
                  <a:srgbClr val="3364FF"/>
                </a:solidFill>
                <a:latin typeface="Wingdings"/>
                <a:cs typeface="Wingdings"/>
              </a:rPr>
              <a:t>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6739" y="3454019"/>
            <a:ext cx="4794250" cy="1231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4925">
              <a:lnSpc>
                <a:spcPct val="109900"/>
              </a:lnSpc>
              <a:spcBef>
                <a:spcPts val="100"/>
              </a:spcBef>
            </a:pPr>
            <a:r>
              <a:rPr dirty="0" sz="2400" b="1">
                <a:solidFill>
                  <a:srgbClr val="000099"/>
                </a:solidFill>
                <a:latin typeface="华文楷体"/>
                <a:cs typeface="华文楷体"/>
              </a:rPr>
              <a:t>今天，随着航空航天的迅猛发展，  人造卫星、宇宙飞船等高科技手段 再次把人们的目光引向了太空</a:t>
            </a:r>
            <a:r>
              <a:rPr dirty="0" sz="2400" spc="-5" b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35251" y="1414652"/>
            <a:ext cx="1415516" cy="842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9590" y="4799457"/>
            <a:ext cx="2233422" cy="1806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55648" y="3575684"/>
            <a:ext cx="1368272" cy="961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26234" y="4799457"/>
            <a:ext cx="2701569" cy="18021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40295" y="1486280"/>
            <a:ext cx="2447264" cy="17110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277" y="3208565"/>
            <a:ext cx="1556385" cy="10045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FF0000"/>
                </a:solidFill>
                <a:latin typeface="Times New Roman"/>
                <a:cs typeface="Times New Roman"/>
              </a:rPr>
              <a:t>Universe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3200" spc="5" b="1">
                <a:solidFill>
                  <a:srgbClr val="C00000"/>
                </a:solidFill>
                <a:latin typeface="华文楷体"/>
                <a:cs typeface="华文楷体"/>
              </a:rPr>
              <a:t>宇</a:t>
            </a: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宙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74885" y="2762719"/>
            <a:ext cx="328295" cy="1412875"/>
          </a:xfrm>
          <a:custGeom>
            <a:avLst/>
            <a:gdLst/>
            <a:ahLst/>
            <a:cxnLst/>
            <a:rect l="l" t="t" r="r" b="b"/>
            <a:pathLst>
              <a:path w="328295" h="1412875">
                <a:moveTo>
                  <a:pt x="152323" y="589809"/>
                </a:moveTo>
                <a:lnTo>
                  <a:pt x="152323" y="134785"/>
                </a:lnTo>
                <a:lnTo>
                  <a:pt x="152450" y="132600"/>
                </a:lnTo>
                <a:lnTo>
                  <a:pt x="160591" y="94259"/>
                </a:lnTo>
                <a:lnTo>
                  <a:pt x="185496" y="55486"/>
                </a:lnTo>
                <a:lnTo>
                  <a:pt x="223151" y="25984"/>
                </a:lnTo>
                <a:lnTo>
                  <a:pt x="269875" y="7061"/>
                </a:lnTo>
                <a:lnTo>
                  <a:pt x="322884" y="0"/>
                </a:lnTo>
                <a:lnTo>
                  <a:pt x="327850" y="40970"/>
                </a:lnTo>
                <a:lnTo>
                  <a:pt x="290086" y="45542"/>
                </a:lnTo>
                <a:lnTo>
                  <a:pt x="284784" y="45542"/>
                </a:lnTo>
                <a:lnTo>
                  <a:pt x="279806" y="46786"/>
                </a:lnTo>
                <a:lnTo>
                  <a:pt x="281572" y="46786"/>
                </a:lnTo>
                <a:lnTo>
                  <a:pt x="249977" y="59029"/>
                </a:lnTo>
                <a:lnTo>
                  <a:pt x="247878" y="59029"/>
                </a:lnTo>
                <a:lnTo>
                  <a:pt x="242963" y="61747"/>
                </a:lnTo>
                <a:lnTo>
                  <a:pt x="244246" y="61747"/>
                </a:lnTo>
                <a:lnTo>
                  <a:pt x="221231" y="78968"/>
                </a:lnTo>
                <a:lnTo>
                  <a:pt x="219443" y="78968"/>
                </a:lnTo>
                <a:lnTo>
                  <a:pt x="214833" y="83756"/>
                </a:lnTo>
                <a:lnTo>
                  <a:pt x="216131" y="83756"/>
                </a:lnTo>
                <a:lnTo>
                  <a:pt x="202851" y="102958"/>
                </a:lnTo>
                <a:lnTo>
                  <a:pt x="200939" y="102958"/>
                </a:lnTo>
                <a:lnTo>
                  <a:pt x="197738" y="110350"/>
                </a:lnTo>
                <a:lnTo>
                  <a:pt x="199346" y="110350"/>
                </a:lnTo>
                <a:lnTo>
                  <a:pt x="194080" y="134785"/>
                </a:lnTo>
                <a:lnTo>
                  <a:pt x="193598" y="134785"/>
                </a:lnTo>
                <a:lnTo>
                  <a:pt x="193141" y="139141"/>
                </a:lnTo>
                <a:lnTo>
                  <a:pt x="193598" y="139141"/>
                </a:lnTo>
                <a:lnTo>
                  <a:pt x="193598" y="587667"/>
                </a:lnTo>
                <a:lnTo>
                  <a:pt x="152780" y="587667"/>
                </a:lnTo>
                <a:lnTo>
                  <a:pt x="152323" y="589809"/>
                </a:lnTo>
                <a:close/>
              </a:path>
              <a:path w="328295" h="1412875">
                <a:moveTo>
                  <a:pt x="279806" y="46786"/>
                </a:moveTo>
                <a:lnTo>
                  <a:pt x="284784" y="45542"/>
                </a:lnTo>
                <a:lnTo>
                  <a:pt x="282375" y="46475"/>
                </a:lnTo>
                <a:lnTo>
                  <a:pt x="279806" y="46786"/>
                </a:lnTo>
                <a:close/>
              </a:path>
              <a:path w="328295" h="1412875">
                <a:moveTo>
                  <a:pt x="282375" y="46475"/>
                </a:moveTo>
                <a:lnTo>
                  <a:pt x="284784" y="45542"/>
                </a:lnTo>
                <a:lnTo>
                  <a:pt x="290086" y="45542"/>
                </a:lnTo>
                <a:lnTo>
                  <a:pt x="282375" y="46475"/>
                </a:lnTo>
                <a:close/>
              </a:path>
              <a:path w="328295" h="1412875">
                <a:moveTo>
                  <a:pt x="281572" y="46786"/>
                </a:moveTo>
                <a:lnTo>
                  <a:pt x="279806" y="46786"/>
                </a:lnTo>
                <a:lnTo>
                  <a:pt x="282375" y="46475"/>
                </a:lnTo>
                <a:lnTo>
                  <a:pt x="281572" y="46786"/>
                </a:lnTo>
                <a:close/>
              </a:path>
              <a:path w="328295" h="1412875">
                <a:moveTo>
                  <a:pt x="242963" y="61747"/>
                </a:moveTo>
                <a:lnTo>
                  <a:pt x="247878" y="59029"/>
                </a:lnTo>
                <a:lnTo>
                  <a:pt x="245624" y="60716"/>
                </a:lnTo>
                <a:lnTo>
                  <a:pt x="242963" y="61747"/>
                </a:lnTo>
                <a:close/>
              </a:path>
              <a:path w="328295" h="1412875">
                <a:moveTo>
                  <a:pt x="245624" y="60716"/>
                </a:moveTo>
                <a:lnTo>
                  <a:pt x="247878" y="59029"/>
                </a:lnTo>
                <a:lnTo>
                  <a:pt x="249977" y="59029"/>
                </a:lnTo>
                <a:lnTo>
                  <a:pt x="245624" y="60716"/>
                </a:lnTo>
                <a:close/>
              </a:path>
              <a:path w="328295" h="1412875">
                <a:moveTo>
                  <a:pt x="244246" y="61747"/>
                </a:moveTo>
                <a:lnTo>
                  <a:pt x="242963" y="61747"/>
                </a:lnTo>
                <a:lnTo>
                  <a:pt x="245624" y="60716"/>
                </a:lnTo>
                <a:lnTo>
                  <a:pt x="244246" y="61747"/>
                </a:lnTo>
                <a:close/>
              </a:path>
              <a:path w="328295" h="1412875">
                <a:moveTo>
                  <a:pt x="214833" y="83756"/>
                </a:moveTo>
                <a:lnTo>
                  <a:pt x="219443" y="78968"/>
                </a:lnTo>
                <a:lnTo>
                  <a:pt x="217524" y="81742"/>
                </a:lnTo>
                <a:lnTo>
                  <a:pt x="214833" y="83756"/>
                </a:lnTo>
                <a:close/>
              </a:path>
              <a:path w="328295" h="1412875">
                <a:moveTo>
                  <a:pt x="217524" y="81742"/>
                </a:moveTo>
                <a:lnTo>
                  <a:pt x="219443" y="78968"/>
                </a:lnTo>
                <a:lnTo>
                  <a:pt x="221231" y="78968"/>
                </a:lnTo>
                <a:lnTo>
                  <a:pt x="217524" y="81742"/>
                </a:lnTo>
                <a:close/>
              </a:path>
              <a:path w="328295" h="1412875">
                <a:moveTo>
                  <a:pt x="216131" y="83756"/>
                </a:moveTo>
                <a:lnTo>
                  <a:pt x="214833" y="83756"/>
                </a:lnTo>
                <a:lnTo>
                  <a:pt x="217524" y="81742"/>
                </a:lnTo>
                <a:lnTo>
                  <a:pt x="216131" y="83756"/>
                </a:lnTo>
                <a:close/>
              </a:path>
              <a:path w="328295" h="1412875">
                <a:moveTo>
                  <a:pt x="197738" y="110350"/>
                </a:moveTo>
                <a:lnTo>
                  <a:pt x="200939" y="102958"/>
                </a:lnTo>
                <a:lnTo>
                  <a:pt x="200074" y="106974"/>
                </a:lnTo>
                <a:lnTo>
                  <a:pt x="197738" y="110350"/>
                </a:lnTo>
                <a:close/>
              </a:path>
              <a:path w="328295" h="1412875">
                <a:moveTo>
                  <a:pt x="200074" y="106974"/>
                </a:moveTo>
                <a:lnTo>
                  <a:pt x="200939" y="102958"/>
                </a:lnTo>
                <a:lnTo>
                  <a:pt x="202851" y="102958"/>
                </a:lnTo>
                <a:lnTo>
                  <a:pt x="200074" y="106974"/>
                </a:lnTo>
                <a:close/>
              </a:path>
              <a:path w="328295" h="1412875">
                <a:moveTo>
                  <a:pt x="199346" y="110350"/>
                </a:moveTo>
                <a:lnTo>
                  <a:pt x="197738" y="110350"/>
                </a:lnTo>
                <a:lnTo>
                  <a:pt x="200074" y="106974"/>
                </a:lnTo>
                <a:lnTo>
                  <a:pt x="199346" y="110350"/>
                </a:lnTo>
                <a:close/>
              </a:path>
              <a:path w="328295" h="1412875">
                <a:moveTo>
                  <a:pt x="193141" y="139141"/>
                </a:moveTo>
                <a:lnTo>
                  <a:pt x="193598" y="134785"/>
                </a:lnTo>
                <a:lnTo>
                  <a:pt x="193598" y="137019"/>
                </a:lnTo>
                <a:lnTo>
                  <a:pt x="193141" y="139141"/>
                </a:lnTo>
                <a:close/>
              </a:path>
              <a:path w="328295" h="1412875">
                <a:moveTo>
                  <a:pt x="193598" y="137019"/>
                </a:moveTo>
                <a:lnTo>
                  <a:pt x="193598" y="134785"/>
                </a:lnTo>
                <a:lnTo>
                  <a:pt x="194080" y="134785"/>
                </a:lnTo>
                <a:lnTo>
                  <a:pt x="193598" y="137019"/>
                </a:lnTo>
                <a:close/>
              </a:path>
              <a:path w="328295" h="1412875">
                <a:moveTo>
                  <a:pt x="193598" y="139141"/>
                </a:moveTo>
                <a:lnTo>
                  <a:pt x="193141" y="139141"/>
                </a:lnTo>
                <a:lnTo>
                  <a:pt x="193598" y="137019"/>
                </a:lnTo>
                <a:lnTo>
                  <a:pt x="193598" y="139141"/>
                </a:lnTo>
                <a:close/>
              </a:path>
              <a:path w="328295" h="1412875">
                <a:moveTo>
                  <a:pt x="152323" y="591985"/>
                </a:moveTo>
                <a:lnTo>
                  <a:pt x="152323" y="589809"/>
                </a:lnTo>
                <a:lnTo>
                  <a:pt x="152780" y="587667"/>
                </a:lnTo>
                <a:lnTo>
                  <a:pt x="152323" y="591985"/>
                </a:lnTo>
                <a:close/>
              </a:path>
              <a:path w="328295" h="1412875">
                <a:moveTo>
                  <a:pt x="193598" y="591985"/>
                </a:moveTo>
                <a:lnTo>
                  <a:pt x="152323" y="591985"/>
                </a:lnTo>
                <a:lnTo>
                  <a:pt x="152780" y="587667"/>
                </a:lnTo>
                <a:lnTo>
                  <a:pt x="193598" y="587667"/>
                </a:lnTo>
                <a:lnTo>
                  <a:pt x="193598" y="591985"/>
                </a:lnTo>
                <a:close/>
              </a:path>
              <a:path w="328295" h="1412875">
                <a:moveTo>
                  <a:pt x="145918" y="619824"/>
                </a:moveTo>
                <a:lnTo>
                  <a:pt x="152323" y="589809"/>
                </a:lnTo>
                <a:lnTo>
                  <a:pt x="152323" y="591985"/>
                </a:lnTo>
                <a:lnTo>
                  <a:pt x="193598" y="591985"/>
                </a:lnTo>
                <a:lnTo>
                  <a:pt x="193484" y="594156"/>
                </a:lnTo>
                <a:lnTo>
                  <a:pt x="193154" y="596303"/>
                </a:lnTo>
                <a:lnTo>
                  <a:pt x="188841" y="616470"/>
                </a:lnTo>
                <a:lnTo>
                  <a:pt x="148221" y="616470"/>
                </a:lnTo>
                <a:lnTo>
                  <a:pt x="145918" y="619824"/>
                </a:lnTo>
                <a:close/>
              </a:path>
              <a:path w="328295" h="1412875">
                <a:moveTo>
                  <a:pt x="145059" y="623849"/>
                </a:moveTo>
                <a:lnTo>
                  <a:pt x="145918" y="619824"/>
                </a:lnTo>
                <a:lnTo>
                  <a:pt x="148221" y="616470"/>
                </a:lnTo>
                <a:lnTo>
                  <a:pt x="145059" y="623849"/>
                </a:lnTo>
                <a:close/>
              </a:path>
              <a:path w="328295" h="1412875">
                <a:moveTo>
                  <a:pt x="187263" y="623849"/>
                </a:moveTo>
                <a:lnTo>
                  <a:pt x="145059" y="623849"/>
                </a:lnTo>
                <a:lnTo>
                  <a:pt x="148221" y="616470"/>
                </a:lnTo>
                <a:lnTo>
                  <a:pt x="188841" y="616470"/>
                </a:lnTo>
                <a:lnTo>
                  <a:pt x="187263" y="623849"/>
                </a:lnTo>
                <a:close/>
              </a:path>
              <a:path w="328295" h="1412875">
                <a:moveTo>
                  <a:pt x="128572" y="645081"/>
                </a:moveTo>
                <a:lnTo>
                  <a:pt x="145918" y="619824"/>
                </a:lnTo>
                <a:lnTo>
                  <a:pt x="145059" y="623849"/>
                </a:lnTo>
                <a:lnTo>
                  <a:pt x="187263" y="623849"/>
                </a:lnTo>
                <a:lnTo>
                  <a:pt x="180047" y="643039"/>
                </a:lnTo>
                <a:lnTo>
                  <a:pt x="131292" y="643039"/>
                </a:lnTo>
                <a:lnTo>
                  <a:pt x="128572" y="645081"/>
                </a:lnTo>
                <a:close/>
              </a:path>
              <a:path w="328295" h="1412875">
                <a:moveTo>
                  <a:pt x="126669" y="647852"/>
                </a:moveTo>
                <a:lnTo>
                  <a:pt x="128572" y="645081"/>
                </a:lnTo>
                <a:lnTo>
                  <a:pt x="131292" y="643039"/>
                </a:lnTo>
                <a:lnTo>
                  <a:pt x="126669" y="647852"/>
                </a:lnTo>
                <a:close/>
              </a:path>
              <a:path w="328295" h="1412875">
                <a:moveTo>
                  <a:pt x="176741" y="647852"/>
                </a:moveTo>
                <a:lnTo>
                  <a:pt x="126669" y="647852"/>
                </a:lnTo>
                <a:lnTo>
                  <a:pt x="131292" y="643039"/>
                </a:lnTo>
                <a:lnTo>
                  <a:pt x="180047" y="643039"/>
                </a:lnTo>
                <a:lnTo>
                  <a:pt x="176741" y="647852"/>
                </a:lnTo>
                <a:close/>
              </a:path>
              <a:path w="328295" h="1412875">
                <a:moveTo>
                  <a:pt x="100645" y="666051"/>
                </a:moveTo>
                <a:lnTo>
                  <a:pt x="128572" y="645081"/>
                </a:lnTo>
                <a:lnTo>
                  <a:pt x="126669" y="647852"/>
                </a:lnTo>
                <a:lnTo>
                  <a:pt x="176741" y="647852"/>
                </a:lnTo>
                <a:lnTo>
                  <a:pt x="164949" y="665022"/>
                </a:lnTo>
                <a:lnTo>
                  <a:pt x="103301" y="665022"/>
                </a:lnTo>
                <a:lnTo>
                  <a:pt x="100645" y="666051"/>
                </a:lnTo>
                <a:close/>
              </a:path>
              <a:path w="328295" h="1412875">
                <a:moveTo>
                  <a:pt x="98361" y="667765"/>
                </a:moveTo>
                <a:lnTo>
                  <a:pt x="100645" y="666051"/>
                </a:lnTo>
                <a:lnTo>
                  <a:pt x="103301" y="665022"/>
                </a:lnTo>
                <a:lnTo>
                  <a:pt x="98361" y="667765"/>
                </a:lnTo>
                <a:close/>
              </a:path>
              <a:path w="328295" h="1412875">
                <a:moveTo>
                  <a:pt x="163065" y="667765"/>
                </a:moveTo>
                <a:lnTo>
                  <a:pt x="98361" y="667765"/>
                </a:lnTo>
                <a:lnTo>
                  <a:pt x="103301" y="665022"/>
                </a:lnTo>
                <a:lnTo>
                  <a:pt x="164949" y="665022"/>
                </a:lnTo>
                <a:lnTo>
                  <a:pt x="163065" y="667765"/>
                </a:lnTo>
                <a:close/>
              </a:path>
              <a:path w="328295" h="1412875">
                <a:moveTo>
                  <a:pt x="63856" y="680293"/>
                </a:moveTo>
                <a:lnTo>
                  <a:pt x="100645" y="666051"/>
                </a:lnTo>
                <a:lnTo>
                  <a:pt x="98361" y="667765"/>
                </a:lnTo>
                <a:lnTo>
                  <a:pt x="163065" y="667765"/>
                </a:lnTo>
                <a:lnTo>
                  <a:pt x="160693" y="671220"/>
                </a:lnTo>
                <a:lnTo>
                  <a:pt x="158584" y="673823"/>
                </a:lnTo>
                <a:lnTo>
                  <a:pt x="156070" y="676046"/>
                </a:lnTo>
                <a:lnTo>
                  <a:pt x="150827" y="679983"/>
                </a:lnTo>
                <a:lnTo>
                  <a:pt x="66433" y="679983"/>
                </a:lnTo>
                <a:lnTo>
                  <a:pt x="63856" y="680293"/>
                </a:lnTo>
                <a:close/>
              </a:path>
              <a:path w="328295" h="1412875">
                <a:moveTo>
                  <a:pt x="61442" y="681227"/>
                </a:moveTo>
                <a:lnTo>
                  <a:pt x="63856" y="680293"/>
                </a:lnTo>
                <a:lnTo>
                  <a:pt x="66433" y="679983"/>
                </a:lnTo>
                <a:lnTo>
                  <a:pt x="61442" y="681227"/>
                </a:lnTo>
                <a:close/>
              </a:path>
              <a:path w="328295" h="1412875">
                <a:moveTo>
                  <a:pt x="149169" y="681227"/>
                </a:moveTo>
                <a:lnTo>
                  <a:pt x="61442" y="681227"/>
                </a:lnTo>
                <a:lnTo>
                  <a:pt x="66433" y="679983"/>
                </a:lnTo>
                <a:lnTo>
                  <a:pt x="150827" y="679983"/>
                </a:lnTo>
                <a:lnTo>
                  <a:pt x="149169" y="681227"/>
                </a:lnTo>
                <a:close/>
              </a:path>
              <a:path w="328295" h="1412875">
                <a:moveTo>
                  <a:pt x="63856" y="732276"/>
                </a:moveTo>
                <a:lnTo>
                  <a:pt x="18097" y="726770"/>
                </a:lnTo>
                <a:lnTo>
                  <a:pt x="0" y="708037"/>
                </a:lnTo>
                <a:lnTo>
                  <a:pt x="0" y="704519"/>
                </a:lnTo>
                <a:lnTo>
                  <a:pt x="63856" y="680293"/>
                </a:lnTo>
                <a:lnTo>
                  <a:pt x="61442" y="681227"/>
                </a:lnTo>
                <a:lnTo>
                  <a:pt x="149169" y="681227"/>
                </a:lnTo>
                <a:lnTo>
                  <a:pt x="143080" y="685799"/>
                </a:lnTo>
                <a:lnTo>
                  <a:pt x="23037" y="685799"/>
                </a:lnTo>
                <a:lnTo>
                  <a:pt x="23037" y="726770"/>
                </a:lnTo>
                <a:lnTo>
                  <a:pt x="143080" y="726770"/>
                </a:lnTo>
                <a:lnTo>
                  <a:pt x="149169" y="731342"/>
                </a:lnTo>
                <a:lnTo>
                  <a:pt x="61442" y="731342"/>
                </a:lnTo>
                <a:lnTo>
                  <a:pt x="63856" y="732276"/>
                </a:lnTo>
                <a:close/>
              </a:path>
              <a:path w="328295" h="1412875">
                <a:moveTo>
                  <a:pt x="23037" y="726770"/>
                </a:moveTo>
                <a:lnTo>
                  <a:pt x="23037" y="685799"/>
                </a:lnTo>
                <a:lnTo>
                  <a:pt x="71361" y="691603"/>
                </a:lnTo>
                <a:lnTo>
                  <a:pt x="73888" y="692073"/>
                </a:lnTo>
                <a:lnTo>
                  <a:pt x="76352" y="692848"/>
                </a:lnTo>
                <a:lnTo>
                  <a:pt x="111046" y="706284"/>
                </a:lnTo>
                <a:lnTo>
                  <a:pt x="76352" y="719708"/>
                </a:lnTo>
                <a:lnTo>
                  <a:pt x="73888" y="720496"/>
                </a:lnTo>
                <a:lnTo>
                  <a:pt x="71361" y="720953"/>
                </a:lnTo>
                <a:lnTo>
                  <a:pt x="23037" y="726770"/>
                </a:lnTo>
                <a:close/>
              </a:path>
              <a:path w="328295" h="1412875">
                <a:moveTo>
                  <a:pt x="111046" y="706284"/>
                </a:moveTo>
                <a:lnTo>
                  <a:pt x="76352" y="692848"/>
                </a:lnTo>
                <a:lnTo>
                  <a:pt x="73888" y="692073"/>
                </a:lnTo>
                <a:lnTo>
                  <a:pt x="71361" y="691603"/>
                </a:lnTo>
                <a:lnTo>
                  <a:pt x="23037" y="685799"/>
                </a:lnTo>
                <a:lnTo>
                  <a:pt x="143080" y="685799"/>
                </a:lnTo>
                <a:lnTo>
                  <a:pt x="123139" y="700773"/>
                </a:lnTo>
                <a:lnTo>
                  <a:pt x="120764" y="702309"/>
                </a:lnTo>
                <a:lnTo>
                  <a:pt x="118198" y="703516"/>
                </a:lnTo>
                <a:lnTo>
                  <a:pt x="111046" y="706284"/>
                </a:lnTo>
                <a:close/>
              </a:path>
              <a:path w="328295" h="1412875">
                <a:moveTo>
                  <a:pt x="143080" y="726770"/>
                </a:moveTo>
                <a:lnTo>
                  <a:pt x="23037" y="726770"/>
                </a:lnTo>
                <a:lnTo>
                  <a:pt x="71361" y="720953"/>
                </a:lnTo>
                <a:lnTo>
                  <a:pt x="73888" y="720496"/>
                </a:lnTo>
                <a:lnTo>
                  <a:pt x="76352" y="719708"/>
                </a:lnTo>
                <a:lnTo>
                  <a:pt x="111046" y="706284"/>
                </a:lnTo>
                <a:lnTo>
                  <a:pt x="118198" y="709053"/>
                </a:lnTo>
                <a:lnTo>
                  <a:pt x="120764" y="710260"/>
                </a:lnTo>
                <a:lnTo>
                  <a:pt x="123139" y="711796"/>
                </a:lnTo>
                <a:lnTo>
                  <a:pt x="143080" y="726770"/>
                </a:lnTo>
                <a:close/>
              </a:path>
              <a:path w="328295" h="1412875">
                <a:moveTo>
                  <a:pt x="66433" y="732586"/>
                </a:moveTo>
                <a:lnTo>
                  <a:pt x="63856" y="732276"/>
                </a:lnTo>
                <a:lnTo>
                  <a:pt x="61442" y="731342"/>
                </a:lnTo>
                <a:lnTo>
                  <a:pt x="66433" y="732586"/>
                </a:lnTo>
                <a:close/>
              </a:path>
              <a:path w="328295" h="1412875">
                <a:moveTo>
                  <a:pt x="150827" y="732586"/>
                </a:moveTo>
                <a:lnTo>
                  <a:pt x="66433" y="732586"/>
                </a:lnTo>
                <a:lnTo>
                  <a:pt x="61442" y="731342"/>
                </a:lnTo>
                <a:lnTo>
                  <a:pt x="149169" y="731342"/>
                </a:lnTo>
                <a:lnTo>
                  <a:pt x="150827" y="732586"/>
                </a:lnTo>
                <a:close/>
              </a:path>
              <a:path w="328295" h="1412875">
                <a:moveTo>
                  <a:pt x="100645" y="746518"/>
                </a:moveTo>
                <a:lnTo>
                  <a:pt x="63856" y="732276"/>
                </a:lnTo>
                <a:lnTo>
                  <a:pt x="66433" y="732586"/>
                </a:lnTo>
                <a:lnTo>
                  <a:pt x="150827" y="732586"/>
                </a:lnTo>
                <a:lnTo>
                  <a:pt x="156070" y="736523"/>
                </a:lnTo>
                <a:lnTo>
                  <a:pt x="158724" y="738898"/>
                </a:lnTo>
                <a:lnTo>
                  <a:pt x="160921" y="741692"/>
                </a:lnTo>
                <a:lnTo>
                  <a:pt x="162603" y="744804"/>
                </a:lnTo>
                <a:lnTo>
                  <a:pt x="98361" y="744804"/>
                </a:lnTo>
                <a:lnTo>
                  <a:pt x="100645" y="746518"/>
                </a:lnTo>
                <a:close/>
              </a:path>
              <a:path w="328295" h="1412875">
                <a:moveTo>
                  <a:pt x="103301" y="747547"/>
                </a:moveTo>
                <a:lnTo>
                  <a:pt x="100645" y="746518"/>
                </a:lnTo>
                <a:lnTo>
                  <a:pt x="98361" y="744804"/>
                </a:lnTo>
                <a:lnTo>
                  <a:pt x="103301" y="747547"/>
                </a:lnTo>
                <a:close/>
              </a:path>
              <a:path w="328295" h="1412875">
                <a:moveTo>
                  <a:pt x="163794" y="747547"/>
                </a:moveTo>
                <a:lnTo>
                  <a:pt x="103301" y="747547"/>
                </a:lnTo>
                <a:lnTo>
                  <a:pt x="98361" y="744804"/>
                </a:lnTo>
                <a:lnTo>
                  <a:pt x="162610" y="744816"/>
                </a:lnTo>
                <a:lnTo>
                  <a:pt x="163794" y="747547"/>
                </a:lnTo>
                <a:close/>
              </a:path>
              <a:path w="328295" h="1412875">
                <a:moveTo>
                  <a:pt x="126926" y="766252"/>
                </a:moveTo>
                <a:lnTo>
                  <a:pt x="100645" y="746518"/>
                </a:lnTo>
                <a:lnTo>
                  <a:pt x="103301" y="747547"/>
                </a:lnTo>
                <a:lnTo>
                  <a:pt x="163794" y="747547"/>
                </a:lnTo>
                <a:lnTo>
                  <a:pt x="169728" y="761237"/>
                </a:lnTo>
                <a:lnTo>
                  <a:pt x="124752" y="761237"/>
                </a:lnTo>
                <a:lnTo>
                  <a:pt x="126926" y="766252"/>
                </a:lnTo>
                <a:close/>
              </a:path>
              <a:path w="328295" h="1412875">
                <a:moveTo>
                  <a:pt x="131292" y="769531"/>
                </a:moveTo>
                <a:lnTo>
                  <a:pt x="126926" y="766252"/>
                </a:lnTo>
                <a:lnTo>
                  <a:pt x="124752" y="761237"/>
                </a:lnTo>
                <a:lnTo>
                  <a:pt x="131292" y="769531"/>
                </a:lnTo>
                <a:close/>
              </a:path>
              <a:path w="328295" h="1412875">
                <a:moveTo>
                  <a:pt x="173323" y="769531"/>
                </a:moveTo>
                <a:lnTo>
                  <a:pt x="131292" y="769531"/>
                </a:lnTo>
                <a:lnTo>
                  <a:pt x="124752" y="761237"/>
                </a:lnTo>
                <a:lnTo>
                  <a:pt x="169728" y="761237"/>
                </a:lnTo>
                <a:lnTo>
                  <a:pt x="173323" y="769531"/>
                </a:lnTo>
                <a:close/>
              </a:path>
              <a:path w="328295" h="1412875">
                <a:moveTo>
                  <a:pt x="152323" y="824834"/>
                </a:moveTo>
                <a:lnTo>
                  <a:pt x="126926" y="766252"/>
                </a:lnTo>
                <a:lnTo>
                  <a:pt x="131292" y="769531"/>
                </a:lnTo>
                <a:lnTo>
                  <a:pt x="173323" y="769531"/>
                </a:lnTo>
                <a:lnTo>
                  <a:pt x="191897" y="812380"/>
                </a:lnTo>
                <a:lnTo>
                  <a:pt x="192836" y="815022"/>
                </a:lnTo>
                <a:lnTo>
                  <a:pt x="193408" y="817778"/>
                </a:lnTo>
                <a:lnTo>
                  <a:pt x="193598" y="820585"/>
                </a:lnTo>
                <a:lnTo>
                  <a:pt x="152323" y="820585"/>
                </a:lnTo>
                <a:lnTo>
                  <a:pt x="152323" y="824834"/>
                </a:lnTo>
                <a:close/>
              </a:path>
              <a:path w="328295" h="1412875">
                <a:moveTo>
                  <a:pt x="154038" y="828789"/>
                </a:moveTo>
                <a:lnTo>
                  <a:pt x="152323" y="824834"/>
                </a:lnTo>
                <a:lnTo>
                  <a:pt x="152323" y="820585"/>
                </a:lnTo>
                <a:lnTo>
                  <a:pt x="154038" y="828789"/>
                </a:lnTo>
                <a:close/>
              </a:path>
              <a:path w="328295" h="1412875">
                <a:moveTo>
                  <a:pt x="193598" y="828789"/>
                </a:moveTo>
                <a:lnTo>
                  <a:pt x="154038" y="828789"/>
                </a:lnTo>
                <a:lnTo>
                  <a:pt x="152323" y="820585"/>
                </a:lnTo>
                <a:lnTo>
                  <a:pt x="193598" y="820585"/>
                </a:lnTo>
                <a:lnTo>
                  <a:pt x="193598" y="828789"/>
                </a:lnTo>
                <a:close/>
              </a:path>
              <a:path w="328295" h="1412875">
                <a:moveTo>
                  <a:pt x="322884" y="1412570"/>
                </a:moveTo>
                <a:lnTo>
                  <a:pt x="274853" y="1406753"/>
                </a:lnTo>
                <a:lnTo>
                  <a:pt x="228053" y="1389303"/>
                </a:lnTo>
                <a:lnTo>
                  <a:pt x="190106" y="1361859"/>
                </a:lnTo>
                <a:lnTo>
                  <a:pt x="163791" y="1325689"/>
                </a:lnTo>
                <a:lnTo>
                  <a:pt x="152793" y="1282141"/>
                </a:lnTo>
                <a:lnTo>
                  <a:pt x="152323" y="1277785"/>
                </a:lnTo>
                <a:lnTo>
                  <a:pt x="152323" y="824834"/>
                </a:lnTo>
                <a:lnTo>
                  <a:pt x="154038" y="828789"/>
                </a:lnTo>
                <a:lnTo>
                  <a:pt x="193598" y="828789"/>
                </a:lnTo>
                <a:lnTo>
                  <a:pt x="193598" y="1273428"/>
                </a:lnTo>
                <a:lnTo>
                  <a:pt x="193141" y="1273428"/>
                </a:lnTo>
                <a:lnTo>
                  <a:pt x="193598" y="1277785"/>
                </a:lnTo>
                <a:lnTo>
                  <a:pt x="194080" y="1277785"/>
                </a:lnTo>
                <a:lnTo>
                  <a:pt x="199346" y="1302219"/>
                </a:lnTo>
                <a:lnTo>
                  <a:pt x="197738" y="1302219"/>
                </a:lnTo>
                <a:lnTo>
                  <a:pt x="200939" y="1309611"/>
                </a:lnTo>
                <a:lnTo>
                  <a:pt x="202851" y="1309611"/>
                </a:lnTo>
                <a:lnTo>
                  <a:pt x="216131" y="1328813"/>
                </a:lnTo>
                <a:lnTo>
                  <a:pt x="214833" y="1328813"/>
                </a:lnTo>
                <a:lnTo>
                  <a:pt x="219443" y="1333601"/>
                </a:lnTo>
                <a:lnTo>
                  <a:pt x="221231" y="1333601"/>
                </a:lnTo>
                <a:lnTo>
                  <a:pt x="244246" y="1350822"/>
                </a:lnTo>
                <a:lnTo>
                  <a:pt x="242963" y="1350822"/>
                </a:lnTo>
                <a:lnTo>
                  <a:pt x="247878" y="1353540"/>
                </a:lnTo>
                <a:lnTo>
                  <a:pt x="249977" y="1353540"/>
                </a:lnTo>
                <a:lnTo>
                  <a:pt x="281572" y="1365783"/>
                </a:lnTo>
                <a:lnTo>
                  <a:pt x="279806" y="1365783"/>
                </a:lnTo>
                <a:lnTo>
                  <a:pt x="284784" y="1367027"/>
                </a:lnTo>
                <a:lnTo>
                  <a:pt x="290086" y="1367027"/>
                </a:lnTo>
                <a:lnTo>
                  <a:pt x="327850" y="1371599"/>
                </a:lnTo>
                <a:lnTo>
                  <a:pt x="322884" y="1412570"/>
                </a:lnTo>
                <a:close/>
              </a:path>
              <a:path w="328295" h="1412875">
                <a:moveTo>
                  <a:pt x="193598" y="1277785"/>
                </a:moveTo>
                <a:lnTo>
                  <a:pt x="193141" y="1273428"/>
                </a:lnTo>
                <a:lnTo>
                  <a:pt x="193598" y="1275550"/>
                </a:lnTo>
                <a:lnTo>
                  <a:pt x="193598" y="1277785"/>
                </a:lnTo>
                <a:close/>
              </a:path>
              <a:path w="328295" h="1412875">
                <a:moveTo>
                  <a:pt x="193598" y="1275550"/>
                </a:moveTo>
                <a:lnTo>
                  <a:pt x="193141" y="1273428"/>
                </a:lnTo>
                <a:lnTo>
                  <a:pt x="193598" y="1273428"/>
                </a:lnTo>
                <a:lnTo>
                  <a:pt x="193598" y="1275550"/>
                </a:lnTo>
                <a:close/>
              </a:path>
              <a:path w="328295" h="1412875">
                <a:moveTo>
                  <a:pt x="194080" y="1277785"/>
                </a:moveTo>
                <a:lnTo>
                  <a:pt x="193598" y="1277785"/>
                </a:lnTo>
                <a:lnTo>
                  <a:pt x="193598" y="1275550"/>
                </a:lnTo>
                <a:lnTo>
                  <a:pt x="194080" y="1277785"/>
                </a:lnTo>
                <a:close/>
              </a:path>
              <a:path w="328295" h="1412875">
                <a:moveTo>
                  <a:pt x="200939" y="1309611"/>
                </a:moveTo>
                <a:lnTo>
                  <a:pt x="197738" y="1302219"/>
                </a:lnTo>
                <a:lnTo>
                  <a:pt x="200074" y="1305596"/>
                </a:lnTo>
                <a:lnTo>
                  <a:pt x="200939" y="1309611"/>
                </a:lnTo>
                <a:close/>
              </a:path>
              <a:path w="328295" h="1412875">
                <a:moveTo>
                  <a:pt x="200074" y="1305596"/>
                </a:moveTo>
                <a:lnTo>
                  <a:pt x="197738" y="1302219"/>
                </a:lnTo>
                <a:lnTo>
                  <a:pt x="199346" y="1302219"/>
                </a:lnTo>
                <a:lnTo>
                  <a:pt x="200074" y="1305596"/>
                </a:lnTo>
                <a:close/>
              </a:path>
              <a:path w="328295" h="1412875">
                <a:moveTo>
                  <a:pt x="202851" y="1309611"/>
                </a:moveTo>
                <a:lnTo>
                  <a:pt x="200939" y="1309611"/>
                </a:lnTo>
                <a:lnTo>
                  <a:pt x="200074" y="1305596"/>
                </a:lnTo>
                <a:lnTo>
                  <a:pt x="202851" y="1309611"/>
                </a:lnTo>
                <a:close/>
              </a:path>
              <a:path w="328295" h="1412875">
                <a:moveTo>
                  <a:pt x="219443" y="1333601"/>
                </a:moveTo>
                <a:lnTo>
                  <a:pt x="214833" y="1328813"/>
                </a:lnTo>
                <a:lnTo>
                  <a:pt x="217524" y="1330827"/>
                </a:lnTo>
                <a:lnTo>
                  <a:pt x="219443" y="1333601"/>
                </a:lnTo>
                <a:close/>
              </a:path>
              <a:path w="328295" h="1412875">
                <a:moveTo>
                  <a:pt x="217524" y="1330827"/>
                </a:moveTo>
                <a:lnTo>
                  <a:pt x="214833" y="1328813"/>
                </a:lnTo>
                <a:lnTo>
                  <a:pt x="216131" y="1328813"/>
                </a:lnTo>
                <a:lnTo>
                  <a:pt x="217524" y="1330827"/>
                </a:lnTo>
                <a:close/>
              </a:path>
              <a:path w="328295" h="1412875">
                <a:moveTo>
                  <a:pt x="221231" y="1333601"/>
                </a:moveTo>
                <a:lnTo>
                  <a:pt x="219443" y="1333601"/>
                </a:lnTo>
                <a:lnTo>
                  <a:pt x="217524" y="1330827"/>
                </a:lnTo>
                <a:lnTo>
                  <a:pt x="221231" y="1333601"/>
                </a:lnTo>
                <a:close/>
              </a:path>
              <a:path w="328295" h="1412875">
                <a:moveTo>
                  <a:pt x="247878" y="1353540"/>
                </a:moveTo>
                <a:lnTo>
                  <a:pt x="242963" y="1350822"/>
                </a:lnTo>
                <a:lnTo>
                  <a:pt x="245624" y="1351853"/>
                </a:lnTo>
                <a:lnTo>
                  <a:pt x="247878" y="1353540"/>
                </a:lnTo>
                <a:close/>
              </a:path>
              <a:path w="328295" h="1412875">
                <a:moveTo>
                  <a:pt x="245624" y="1351853"/>
                </a:moveTo>
                <a:lnTo>
                  <a:pt x="242963" y="1350822"/>
                </a:lnTo>
                <a:lnTo>
                  <a:pt x="244246" y="1350822"/>
                </a:lnTo>
                <a:lnTo>
                  <a:pt x="245624" y="1351853"/>
                </a:lnTo>
                <a:close/>
              </a:path>
              <a:path w="328295" h="1412875">
                <a:moveTo>
                  <a:pt x="249977" y="1353540"/>
                </a:moveTo>
                <a:lnTo>
                  <a:pt x="247878" y="1353540"/>
                </a:lnTo>
                <a:lnTo>
                  <a:pt x="245624" y="1351853"/>
                </a:lnTo>
                <a:lnTo>
                  <a:pt x="249977" y="1353540"/>
                </a:lnTo>
                <a:close/>
              </a:path>
              <a:path w="328295" h="1412875">
                <a:moveTo>
                  <a:pt x="284784" y="1367027"/>
                </a:moveTo>
                <a:lnTo>
                  <a:pt x="279806" y="1365783"/>
                </a:lnTo>
                <a:lnTo>
                  <a:pt x="282375" y="1366094"/>
                </a:lnTo>
                <a:lnTo>
                  <a:pt x="284784" y="1367027"/>
                </a:lnTo>
                <a:close/>
              </a:path>
              <a:path w="328295" h="1412875">
                <a:moveTo>
                  <a:pt x="282375" y="1366094"/>
                </a:moveTo>
                <a:lnTo>
                  <a:pt x="279806" y="1365783"/>
                </a:lnTo>
                <a:lnTo>
                  <a:pt x="281572" y="1365783"/>
                </a:lnTo>
                <a:lnTo>
                  <a:pt x="282375" y="1366094"/>
                </a:lnTo>
                <a:close/>
              </a:path>
              <a:path w="328295" h="1412875">
                <a:moveTo>
                  <a:pt x="290086" y="1367027"/>
                </a:moveTo>
                <a:lnTo>
                  <a:pt x="284784" y="1367027"/>
                </a:lnTo>
                <a:lnTo>
                  <a:pt x="282375" y="1366094"/>
                </a:lnTo>
                <a:lnTo>
                  <a:pt x="290086" y="13670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90594" y="3650488"/>
            <a:ext cx="1811020" cy="81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ts val="287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CC"/>
                </a:solidFill>
                <a:latin typeface="Times New Roman"/>
                <a:cs typeface="Times New Roman"/>
              </a:rPr>
              <a:t>Matter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dirty="0" sz="2800" spc="10" b="1">
                <a:solidFill>
                  <a:srgbClr val="FF0000"/>
                </a:solidFill>
                <a:latin typeface="华文楷体"/>
                <a:cs typeface="华文楷体"/>
              </a:rPr>
              <a:t>物质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～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30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％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8406" y="3415080"/>
            <a:ext cx="398145" cy="1174750"/>
          </a:xfrm>
          <a:custGeom>
            <a:avLst/>
            <a:gdLst/>
            <a:ahLst/>
            <a:cxnLst/>
            <a:rect l="l" t="t" r="r" b="b"/>
            <a:pathLst>
              <a:path w="398145" h="1174750">
                <a:moveTo>
                  <a:pt x="190411" y="489602"/>
                </a:moveTo>
                <a:lnTo>
                  <a:pt x="190411" y="111074"/>
                </a:lnTo>
                <a:lnTo>
                  <a:pt x="190715" y="108026"/>
                </a:lnTo>
                <a:lnTo>
                  <a:pt x="229781" y="46139"/>
                </a:lnTo>
                <a:lnTo>
                  <a:pt x="277202" y="20015"/>
                </a:lnTo>
                <a:lnTo>
                  <a:pt x="332625" y="5308"/>
                </a:lnTo>
                <a:lnTo>
                  <a:pt x="395516" y="0"/>
                </a:lnTo>
                <a:lnTo>
                  <a:pt x="398068" y="31648"/>
                </a:lnTo>
                <a:lnTo>
                  <a:pt x="343386" y="36055"/>
                </a:lnTo>
                <a:lnTo>
                  <a:pt x="340575" y="36055"/>
                </a:lnTo>
                <a:lnTo>
                  <a:pt x="337870" y="36499"/>
                </a:lnTo>
                <a:lnTo>
                  <a:pt x="338857" y="36499"/>
                </a:lnTo>
                <a:lnTo>
                  <a:pt x="292795" y="48412"/>
                </a:lnTo>
                <a:lnTo>
                  <a:pt x="291401" y="48412"/>
                </a:lnTo>
                <a:lnTo>
                  <a:pt x="288277" y="49580"/>
                </a:lnTo>
                <a:lnTo>
                  <a:pt x="289063" y="49580"/>
                </a:lnTo>
                <a:lnTo>
                  <a:pt x="261191" y="63512"/>
                </a:lnTo>
                <a:lnTo>
                  <a:pt x="256349" y="63512"/>
                </a:lnTo>
                <a:lnTo>
                  <a:pt x="250164" y="69024"/>
                </a:lnTo>
                <a:lnTo>
                  <a:pt x="252746" y="69024"/>
                </a:lnTo>
                <a:lnTo>
                  <a:pt x="225261" y="111074"/>
                </a:lnTo>
                <a:lnTo>
                  <a:pt x="222161" y="111074"/>
                </a:lnTo>
                <a:lnTo>
                  <a:pt x="219583" y="119761"/>
                </a:lnTo>
                <a:lnTo>
                  <a:pt x="222161" y="119761"/>
                </a:lnTo>
                <a:lnTo>
                  <a:pt x="222161" y="487222"/>
                </a:lnTo>
                <a:lnTo>
                  <a:pt x="191173" y="487222"/>
                </a:lnTo>
                <a:lnTo>
                  <a:pt x="190411" y="489602"/>
                </a:lnTo>
                <a:close/>
              </a:path>
              <a:path w="398145" h="1174750">
                <a:moveTo>
                  <a:pt x="337870" y="36499"/>
                </a:moveTo>
                <a:lnTo>
                  <a:pt x="340575" y="36055"/>
                </a:lnTo>
                <a:lnTo>
                  <a:pt x="339303" y="36384"/>
                </a:lnTo>
                <a:lnTo>
                  <a:pt x="337870" y="36499"/>
                </a:lnTo>
                <a:close/>
              </a:path>
              <a:path w="398145" h="1174750">
                <a:moveTo>
                  <a:pt x="339303" y="36384"/>
                </a:moveTo>
                <a:lnTo>
                  <a:pt x="340575" y="36055"/>
                </a:lnTo>
                <a:lnTo>
                  <a:pt x="343386" y="36055"/>
                </a:lnTo>
                <a:lnTo>
                  <a:pt x="339303" y="36384"/>
                </a:lnTo>
                <a:close/>
              </a:path>
              <a:path w="398145" h="1174750">
                <a:moveTo>
                  <a:pt x="338857" y="36499"/>
                </a:moveTo>
                <a:lnTo>
                  <a:pt x="337870" y="36499"/>
                </a:lnTo>
                <a:lnTo>
                  <a:pt x="339303" y="36384"/>
                </a:lnTo>
                <a:lnTo>
                  <a:pt x="338857" y="36499"/>
                </a:lnTo>
                <a:close/>
              </a:path>
              <a:path w="398145" h="1174750">
                <a:moveTo>
                  <a:pt x="288277" y="49580"/>
                </a:moveTo>
                <a:lnTo>
                  <a:pt x="291401" y="48412"/>
                </a:lnTo>
                <a:lnTo>
                  <a:pt x="289907" y="49159"/>
                </a:lnTo>
                <a:lnTo>
                  <a:pt x="288277" y="49580"/>
                </a:lnTo>
                <a:close/>
              </a:path>
              <a:path w="398145" h="1174750">
                <a:moveTo>
                  <a:pt x="289907" y="49159"/>
                </a:moveTo>
                <a:lnTo>
                  <a:pt x="291401" y="48412"/>
                </a:lnTo>
                <a:lnTo>
                  <a:pt x="292795" y="48412"/>
                </a:lnTo>
                <a:lnTo>
                  <a:pt x="289907" y="49159"/>
                </a:lnTo>
                <a:close/>
              </a:path>
              <a:path w="398145" h="1174750">
                <a:moveTo>
                  <a:pt x="289063" y="49580"/>
                </a:moveTo>
                <a:lnTo>
                  <a:pt x="288277" y="49580"/>
                </a:lnTo>
                <a:lnTo>
                  <a:pt x="289907" y="49159"/>
                </a:lnTo>
                <a:lnTo>
                  <a:pt x="289063" y="49580"/>
                </a:lnTo>
                <a:close/>
              </a:path>
              <a:path w="398145" h="1174750">
                <a:moveTo>
                  <a:pt x="250164" y="69024"/>
                </a:moveTo>
                <a:lnTo>
                  <a:pt x="256349" y="63512"/>
                </a:lnTo>
                <a:lnTo>
                  <a:pt x="253999" y="67107"/>
                </a:lnTo>
                <a:lnTo>
                  <a:pt x="250164" y="69024"/>
                </a:lnTo>
                <a:close/>
              </a:path>
              <a:path w="398145" h="1174750">
                <a:moveTo>
                  <a:pt x="253999" y="67107"/>
                </a:moveTo>
                <a:lnTo>
                  <a:pt x="256349" y="63512"/>
                </a:lnTo>
                <a:lnTo>
                  <a:pt x="261191" y="63512"/>
                </a:lnTo>
                <a:lnTo>
                  <a:pt x="253999" y="67107"/>
                </a:lnTo>
                <a:close/>
              </a:path>
              <a:path w="398145" h="1174750">
                <a:moveTo>
                  <a:pt x="252746" y="69024"/>
                </a:moveTo>
                <a:lnTo>
                  <a:pt x="250164" y="69024"/>
                </a:lnTo>
                <a:lnTo>
                  <a:pt x="253999" y="67107"/>
                </a:lnTo>
                <a:lnTo>
                  <a:pt x="252746" y="69024"/>
                </a:lnTo>
                <a:close/>
              </a:path>
              <a:path w="398145" h="1174750">
                <a:moveTo>
                  <a:pt x="219583" y="119761"/>
                </a:moveTo>
                <a:lnTo>
                  <a:pt x="222161" y="111074"/>
                </a:lnTo>
                <a:lnTo>
                  <a:pt x="222161" y="115816"/>
                </a:lnTo>
                <a:lnTo>
                  <a:pt x="219583" y="119761"/>
                </a:lnTo>
                <a:close/>
              </a:path>
              <a:path w="398145" h="1174750">
                <a:moveTo>
                  <a:pt x="222161" y="115816"/>
                </a:moveTo>
                <a:lnTo>
                  <a:pt x="222161" y="111074"/>
                </a:lnTo>
                <a:lnTo>
                  <a:pt x="225261" y="111074"/>
                </a:lnTo>
                <a:lnTo>
                  <a:pt x="222161" y="115816"/>
                </a:lnTo>
                <a:close/>
              </a:path>
              <a:path w="398145" h="1174750">
                <a:moveTo>
                  <a:pt x="222161" y="119761"/>
                </a:moveTo>
                <a:lnTo>
                  <a:pt x="219583" y="119761"/>
                </a:lnTo>
                <a:lnTo>
                  <a:pt x="222161" y="115816"/>
                </a:lnTo>
                <a:lnTo>
                  <a:pt x="222161" y="119761"/>
                </a:lnTo>
                <a:close/>
              </a:path>
              <a:path w="398145" h="1174750">
                <a:moveTo>
                  <a:pt x="190411" y="492074"/>
                </a:moveTo>
                <a:lnTo>
                  <a:pt x="190411" y="489602"/>
                </a:lnTo>
                <a:lnTo>
                  <a:pt x="191173" y="487222"/>
                </a:lnTo>
                <a:lnTo>
                  <a:pt x="190411" y="492074"/>
                </a:lnTo>
                <a:close/>
              </a:path>
              <a:path w="398145" h="1174750">
                <a:moveTo>
                  <a:pt x="222161" y="492074"/>
                </a:moveTo>
                <a:lnTo>
                  <a:pt x="190411" y="492074"/>
                </a:lnTo>
                <a:lnTo>
                  <a:pt x="191173" y="487222"/>
                </a:lnTo>
                <a:lnTo>
                  <a:pt x="222161" y="487222"/>
                </a:lnTo>
                <a:lnTo>
                  <a:pt x="222161" y="492074"/>
                </a:lnTo>
                <a:close/>
              </a:path>
              <a:path w="398145" h="1174750">
                <a:moveTo>
                  <a:pt x="182744" y="513541"/>
                </a:moveTo>
                <a:lnTo>
                  <a:pt x="190411" y="489602"/>
                </a:lnTo>
                <a:lnTo>
                  <a:pt x="190411" y="492074"/>
                </a:lnTo>
                <a:lnTo>
                  <a:pt x="222161" y="492074"/>
                </a:lnTo>
                <a:lnTo>
                  <a:pt x="221970" y="494525"/>
                </a:lnTo>
                <a:lnTo>
                  <a:pt x="221411" y="496912"/>
                </a:lnTo>
                <a:lnTo>
                  <a:pt x="216964" y="510781"/>
                </a:lnTo>
                <a:lnTo>
                  <a:pt x="185585" y="510781"/>
                </a:lnTo>
                <a:lnTo>
                  <a:pt x="182744" y="513541"/>
                </a:lnTo>
                <a:close/>
              </a:path>
              <a:path w="398145" h="1174750">
                <a:moveTo>
                  <a:pt x="181533" y="517321"/>
                </a:moveTo>
                <a:lnTo>
                  <a:pt x="182744" y="513541"/>
                </a:lnTo>
                <a:lnTo>
                  <a:pt x="185585" y="510781"/>
                </a:lnTo>
                <a:lnTo>
                  <a:pt x="181533" y="517321"/>
                </a:lnTo>
                <a:close/>
              </a:path>
              <a:path w="398145" h="1174750">
                <a:moveTo>
                  <a:pt x="214867" y="517321"/>
                </a:moveTo>
                <a:lnTo>
                  <a:pt x="181533" y="517321"/>
                </a:lnTo>
                <a:lnTo>
                  <a:pt x="185585" y="510781"/>
                </a:lnTo>
                <a:lnTo>
                  <a:pt x="216964" y="510781"/>
                </a:lnTo>
                <a:lnTo>
                  <a:pt x="214867" y="517321"/>
                </a:lnTo>
                <a:close/>
              </a:path>
              <a:path w="398145" h="1174750">
                <a:moveTo>
                  <a:pt x="160430" y="535223"/>
                </a:moveTo>
                <a:lnTo>
                  <a:pt x="182744" y="513541"/>
                </a:lnTo>
                <a:lnTo>
                  <a:pt x="181533" y="517321"/>
                </a:lnTo>
                <a:lnTo>
                  <a:pt x="214867" y="517321"/>
                </a:lnTo>
                <a:lnTo>
                  <a:pt x="207120" y="534123"/>
                </a:lnTo>
                <a:lnTo>
                  <a:pt x="162623" y="534123"/>
                </a:lnTo>
                <a:lnTo>
                  <a:pt x="160430" y="535223"/>
                </a:lnTo>
                <a:close/>
              </a:path>
              <a:path w="398145" h="1174750">
                <a:moveTo>
                  <a:pt x="158673" y="536930"/>
                </a:moveTo>
                <a:lnTo>
                  <a:pt x="160430" y="535223"/>
                </a:lnTo>
                <a:lnTo>
                  <a:pt x="162623" y="534123"/>
                </a:lnTo>
                <a:lnTo>
                  <a:pt x="158673" y="536930"/>
                </a:lnTo>
                <a:close/>
              </a:path>
              <a:path w="398145" h="1174750">
                <a:moveTo>
                  <a:pt x="204231" y="536930"/>
                </a:moveTo>
                <a:lnTo>
                  <a:pt x="158673" y="536930"/>
                </a:lnTo>
                <a:lnTo>
                  <a:pt x="162623" y="534123"/>
                </a:lnTo>
                <a:lnTo>
                  <a:pt x="207120" y="534123"/>
                </a:lnTo>
                <a:lnTo>
                  <a:pt x="204231" y="536930"/>
                </a:lnTo>
                <a:close/>
              </a:path>
              <a:path w="398145" h="1174750">
                <a:moveTo>
                  <a:pt x="123012" y="553984"/>
                </a:moveTo>
                <a:lnTo>
                  <a:pt x="160430" y="535223"/>
                </a:lnTo>
                <a:lnTo>
                  <a:pt x="158673" y="536930"/>
                </a:lnTo>
                <a:lnTo>
                  <a:pt x="204231" y="536930"/>
                </a:lnTo>
                <a:lnTo>
                  <a:pt x="187110" y="553567"/>
                </a:lnTo>
                <a:lnTo>
                  <a:pt x="124625" y="553567"/>
                </a:lnTo>
                <a:lnTo>
                  <a:pt x="123012" y="553984"/>
                </a:lnTo>
                <a:close/>
              </a:path>
              <a:path w="398145" h="1174750">
                <a:moveTo>
                  <a:pt x="121488" y="554748"/>
                </a:moveTo>
                <a:lnTo>
                  <a:pt x="123012" y="553984"/>
                </a:lnTo>
                <a:lnTo>
                  <a:pt x="124625" y="553567"/>
                </a:lnTo>
                <a:lnTo>
                  <a:pt x="121488" y="554748"/>
                </a:lnTo>
                <a:close/>
              </a:path>
              <a:path w="398145" h="1174750">
                <a:moveTo>
                  <a:pt x="185894" y="554748"/>
                </a:moveTo>
                <a:lnTo>
                  <a:pt x="121488" y="554748"/>
                </a:lnTo>
                <a:lnTo>
                  <a:pt x="124625" y="553567"/>
                </a:lnTo>
                <a:lnTo>
                  <a:pt x="187110" y="553567"/>
                </a:lnTo>
                <a:lnTo>
                  <a:pt x="185894" y="554748"/>
                </a:lnTo>
                <a:close/>
              </a:path>
              <a:path w="398145" h="1174750">
                <a:moveTo>
                  <a:pt x="73646" y="566745"/>
                </a:moveTo>
                <a:lnTo>
                  <a:pt x="123012" y="553984"/>
                </a:lnTo>
                <a:lnTo>
                  <a:pt x="121488" y="554748"/>
                </a:lnTo>
                <a:lnTo>
                  <a:pt x="185894" y="554748"/>
                </a:lnTo>
                <a:lnTo>
                  <a:pt x="180797" y="559701"/>
                </a:lnTo>
                <a:lnTo>
                  <a:pt x="178930" y="561251"/>
                </a:lnTo>
                <a:lnTo>
                  <a:pt x="176860" y="562508"/>
                </a:lnTo>
                <a:lnTo>
                  <a:pt x="168625" y="566635"/>
                </a:lnTo>
                <a:lnTo>
                  <a:pt x="75006" y="566635"/>
                </a:lnTo>
                <a:lnTo>
                  <a:pt x="73646" y="566745"/>
                </a:lnTo>
                <a:close/>
              </a:path>
              <a:path w="398145" h="1174750">
                <a:moveTo>
                  <a:pt x="72301" y="567093"/>
                </a:moveTo>
                <a:lnTo>
                  <a:pt x="73646" y="566745"/>
                </a:lnTo>
                <a:lnTo>
                  <a:pt x="75006" y="566635"/>
                </a:lnTo>
                <a:lnTo>
                  <a:pt x="72301" y="567093"/>
                </a:lnTo>
                <a:close/>
              </a:path>
              <a:path w="398145" h="1174750">
                <a:moveTo>
                  <a:pt x="167713" y="567093"/>
                </a:moveTo>
                <a:lnTo>
                  <a:pt x="72301" y="567093"/>
                </a:lnTo>
                <a:lnTo>
                  <a:pt x="75006" y="566635"/>
                </a:lnTo>
                <a:lnTo>
                  <a:pt x="168625" y="566635"/>
                </a:lnTo>
                <a:lnTo>
                  <a:pt x="167713" y="567093"/>
                </a:lnTo>
                <a:close/>
              </a:path>
              <a:path w="398145" h="1174750">
                <a:moveTo>
                  <a:pt x="73577" y="607885"/>
                </a:moveTo>
                <a:lnTo>
                  <a:pt x="14516" y="603148"/>
                </a:lnTo>
                <a:lnTo>
                  <a:pt x="0" y="588899"/>
                </a:lnTo>
                <a:lnTo>
                  <a:pt x="0" y="585749"/>
                </a:lnTo>
                <a:lnTo>
                  <a:pt x="73646" y="566745"/>
                </a:lnTo>
                <a:lnTo>
                  <a:pt x="72301" y="567093"/>
                </a:lnTo>
                <a:lnTo>
                  <a:pt x="167713" y="567093"/>
                </a:lnTo>
                <a:lnTo>
                  <a:pt x="158921" y="571500"/>
                </a:lnTo>
                <a:lnTo>
                  <a:pt x="17056" y="571500"/>
                </a:lnTo>
                <a:lnTo>
                  <a:pt x="17068" y="603148"/>
                </a:lnTo>
                <a:lnTo>
                  <a:pt x="158921" y="603148"/>
                </a:lnTo>
                <a:lnTo>
                  <a:pt x="167713" y="607555"/>
                </a:lnTo>
                <a:lnTo>
                  <a:pt x="72301" y="607555"/>
                </a:lnTo>
                <a:lnTo>
                  <a:pt x="73577" y="607885"/>
                </a:lnTo>
                <a:close/>
              </a:path>
              <a:path w="398145" h="1174750">
                <a:moveTo>
                  <a:pt x="17068" y="603148"/>
                </a:moveTo>
                <a:lnTo>
                  <a:pt x="17056" y="571500"/>
                </a:lnTo>
                <a:lnTo>
                  <a:pt x="77546" y="576351"/>
                </a:lnTo>
                <a:lnTo>
                  <a:pt x="80251" y="576808"/>
                </a:lnTo>
                <a:lnTo>
                  <a:pt x="120912" y="587319"/>
                </a:lnTo>
                <a:lnTo>
                  <a:pt x="80251" y="597839"/>
                </a:lnTo>
                <a:lnTo>
                  <a:pt x="77546" y="598284"/>
                </a:lnTo>
                <a:lnTo>
                  <a:pt x="17068" y="603148"/>
                </a:lnTo>
                <a:close/>
              </a:path>
              <a:path w="398145" h="1174750">
                <a:moveTo>
                  <a:pt x="120912" y="587319"/>
                </a:moveTo>
                <a:lnTo>
                  <a:pt x="80251" y="576808"/>
                </a:lnTo>
                <a:lnTo>
                  <a:pt x="77546" y="576351"/>
                </a:lnTo>
                <a:lnTo>
                  <a:pt x="17056" y="571500"/>
                </a:lnTo>
                <a:lnTo>
                  <a:pt x="158921" y="571500"/>
                </a:lnTo>
                <a:lnTo>
                  <a:pt x="135712" y="583133"/>
                </a:lnTo>
                <a:lnTo>
                  <a:pt x="134175" y="583806"/>
                </a:lnTo>
                <a:lnTo>
                  <a:pt x="132575" y="584301"/>
                </a:lnTo>
                <a:lnTo>
                  <a:pt x="120912" y="587319"/>
                </a:lnTo>
                <a:close/>
              </a:path>
              <a:path w="398145" h="1174750">
                <a:moveTo>
                  <a:pt x="158921" y="603148"/>
                </a:moveTo>
                <a:lnTo>
                  <a:pt x="17068" y="603148"/>
                </a:lnTo>
                <a:lnTo>
                  <a:pt x="77546" y="598284"/>
                </a:lnTo>
                <a:lnTo>
                  <a:pt x="80251" y="597839"/>
                </a:lnTo>
                <a:lnTo>
                  <a:pt x="120912" y="587319"/>
                </a:lnTo>
                <a:lnTo>
                  <a:pt x="132575" y="590334"/>
                </a:lnTo>
                <a:lnTo>
                  <a:pt x="134175" y="590842"/>
                </a:lnTo>
                <a:lnTo>
                  <a:pt x="135712" y="591515"/>
                </a:lnTo>
                <a:lnTo>
                  <a:pt x="158921" y="603148"/>
                </a:lnTo>
                <a:close/>
              </a:path>
              <a:path w="398145" h="1174750">
                <a:moveTo>
                  <a:pt x="75006" y="607999"/>
                </a:moveTo>
                <a:lnTo>
                  <a:pt x="73577" y="607885"/>
                </a:lnTo>
                <a:lnTo>
                  <a:pt x="72301" y="607555"/>
                </a:lnTo>
                <a:lnTo>
                  <a:pt x="75006" y="607999"/>
                </a:lnTo>
                <a:close/>
              </a:path>
              <a:path w="398145" h="1174750">
                <a:moveTo>
                  <a:pt x="168600" y="607999"/>
                </a:moveTo>
                <a:lnTo>
                  <a:pt x="75006" y="607999"/>
                </a:lnTo>
                <a:lnTo>
                  <a:pt x="72301" y="607555"/>
                </a:lnTo>
                <a:lnTo>
                  <a:pt x="167713" y="607555"/>
                </a:lnTo>
                <a:lnTo>
                  <a:pt x="168600" y="607999"/>
                </a:lnTo>
                <a:close/>
              </a:path>
              <a:path w="398145" h="1174750">
                <a:moveTo>
                  <a:pt x="123012" y="620663"/>
                </a:moveTo>
                <a:lnTo>
                  <a:pt x="73577" y="607885"/>
                </a:lnTo>
                <a:lnTo>
                  <a:pt x="75006" y="607999"/>
                </a:lnTo>
                <a:lnTo>
                  <a:pt x="168600" y="607999"/>
                </a:lnTo>
                <a:lnTo>
                  <a:pt x="184489" y="619899"/>
                </a:lnTo>
                <a:lnTo>
                  <a:pt x="121488" y="619899"/>
                </a:lnTo>
                <a:lnTo>
                  <a:pt x="123012" y="620663"/>
                </a:lnTo>
                <a:close/>
              </a:path>
              <a:path w="398145" h="1174750">
                <a:moveTo>
                  <a:pt x="124625" y="621080"/>
                </a:moveTo>
                <a:lnTo>
                  <a:pt x="123012" y="620663"/>
                </a:lnTo>
                <a:lnTo>
                  <a:pt x="121488" y="619899"/>
                </a:lnTo>
                <a:lnTo>
                  <a:pt x="124625" y="621080"/>
                </a:lnTo>
                <a:close/>
              </a:path>
              <a:path w="398145" h="1174750">
                <a:moveTo>
                  <a:pt x="185257" y="621080"/>
                </a:moveTo>
                <a:lnTo>
                  <a:pt x="124625" y="621080"/>
                </a:lnTo>
                <a:lnTo>
                  <a:pt x="121488" y="619899"/>
                </a:lnTo>
                <a:lnTo>
                  <a:pt x="184489" y="619899"/>
                </a:lnTo>
                <a:lnTo>
                  <a:pt x="185257" y="621080"/>
                </a:lnTo>
                <a:close/>
              </a:path>
              <a:path w="398145" h="1174750">
                <a:moveTo>
                  <a:pt x="158768" y="638591"/>
                </a:moveTo>
                <a:lnTo>
                  <a:pt x="123012" y="620663"/>
                </a:lnTo>
                <a:lnTo>
                  <a:pt x="124625" y="621080"/>
                </a:lnTo>
                <a:lnTo>
                  <a:pt x="185257" y="621080"/>
                </a:lnTo>
                <a:lnTo>
                  <a:pt x="194297" y="634987"/>
                </a:lnTo>
                <a:lnTo>
                  <a:pt x="156425" y="634987"/>
                </a:lnTo>
                <a:lnTo>
                  <a:pt x="158768" y="638591"/>
                </a:lnTo>
                <a:close/>
              </a:path>
              <a:path w="398145" h="1174750">
                <a:moveTo>
                  <a:pt x="162623" y="640524"/>
                </a:moveTo>
                <a:lnTo>
                  <a:pt x="158768" y="638591"/>
                </a:lnTo>
                <a:lnTo>
                  <a:pt x="156425" y="634987"/>
                </a:lnTo>
                <a:lnTo>
                  <a:pt x="162623" y="640524"/>
                </a:lnTo>
                <a:close/>
              </a:path>
              <a:path w="398145" h="1174750">
                <a:moveTo>
                  <a:pt x="197896" y="640524"/>
                </a:moveTo>
                <a:lnTo>
                  <a:pt x="162623" y="640524"/>
                </a:lnTo>
                <a:lnTo>
                  <a:pt x="156425" y="634987"/>
                </a:lnTo>
                <a:lnTo>
                  <a:pt x="194297" y="634987"/>
                </a:lnTo>
                <a:lnTo>
                  <a:pt x="197896" y="640524"/>
                </a:lnTo>
                <a:close/>
              </a:path>
              <a:path w="398145" h="1174750">
                <a:moveTo>
                  <a:pt x="190411" y="687275"/>
                </a:moveTo>
                <a:lnTo>
                  <a:pt x="158768" y="638591"/>
                </a:lnTo>
                <a:lnTo>
                  <a:pt x="162623" y="640524"/>
                </a:lnTo>
                <a:lnTo>
                  <a:pt x="197896" y="640524"/>
                </a:lnTo>
                <a:lnTo>
                  <a:pt x="219608" y="673925"/>
                </a:lnTo>
                <a:lnTo>
                  <a:pt x="221005" y="676617"/>
                </a:lnTo>
                <a:lnTo>
                  <a:pt x="221868" y="679538"/>
                </a:lnTo>
                <a:lnTo>
                  <a:pt x="222161" y="682574"/>
                </a:lnTo>
                <a:lnTo>
                  <a:pt x="190411" y="682574"/>
                </a:lnTo>
                <a:lnTo>
                  <a:pt x="190411" y="687275"/>
                </a:lnTo>
                <a:close/>
              </a:path>
              <a:path w="398145" h="1174750">
                <a:moveTo>
                  <a:pt x="192976" y="691222"/>
                </a:moveTo>
                <a:lnTo>
                  <a:pt x="190411" y="687275"/>
                </a:lnTo>
                <a:lnTo>
                  <a:pt x="190411" y="682574"/>
                </a:lnTo>
                <a:lnTo>
                  <a:pt x="192976" y="691222"/>
                </a:lnTo>
                <a:close/>
              </a:path>
              <a:path w="398145" h="1174750">
                <a:moveTo>
                  <a:pt x="222161" y="691222"/>
                </a:moveTo>
                <a:lnTo>
                  <a:pt x="192976" y="691222"/>
                </a:lnTo>
                <a:lnTo>
                  <a:pt x="190411" y="682574"/>
                </a:lnTo>
                <a:lnTo>
                  <a:pt x="222161" y="682574"/>
                </a:lnTo>
                <a:lnTo>
                  <a:pt x="222161" y="691222"/>
                </a:lnTo>
                <a:close/>
              </a:path>
              <a:path w="398145" h="1174750">
                <a:moveTo>
                  <a:pt x="395516" y="1174648"/>
                </a:moveTo>
                <a:lnTo>
                  <a:pt x="335318" y="1169784"/>
                </a:lnTo>
                <a:lnTo>
                  <a:pt x="280327" y="1155801"/>
                </a:lnTo>
                <a:lnTo>
                  <a:pt x="235965" y="1134008"/>
                </a:lnTo>
                <a:lnTo>
                  <a:pt x="204977" y="1105077"/>
                </a:lnTo>
                <a:lnTo>
                  <a:pt x="191185" y="1068451"/>
                </a:lnTo>
                <a:lnTo>
                  <a:pt x="190411" y="1063574"/>
                </a:lnTo>
                <a:lnTo>
                  <a:pt x="190411" y="687275"/>
                </a:lnTo>
                <a:lnTo>
                  <a:pt x="192976" y="691222"/>
                </a:lnTo>
                <a:lnTo>
                  <a:pt x="222161" y="691222"/>
                </a:lnTo>
                <a:lnTo>
                  <a:pt x="222161" y="1058697"/>
                </a:lnTo>
                <a:lnTo>
                  <a:pt x="221399" y="1058697"/>
                </a:lnTo>
                <a:lnTo>
                  <a:pt x="222161" y="1063574"/>
                </a:lnTo>
                <a:lnTo>
                  <a:pt x="222973" y="1063574"/>
                </a:lnTo>
                <a:lnTo>
                  <a:pt x="229006" y="1082255"/>
                </a:lnTo>
                <a:lnTo>
                  <a:pt x="227037" y="1082255"/>
                </a:lnTo>
                <a:lnTo>
                  <a:pt x="231114" y="1088783"/>
                </a:lnTo>
                <a:lnTo>
                  <a:pt x="233790" y="1088783"/>
                </a:lnTo>
                <a:lnTo>
                  <a:pt x="251198" y="1105611"/>
                </a:lnTo>
                <a:lnTo>
                  <a:pt x="250164" y="1105611"/>
                </a:lnTo>
                <a:lnTo>
                  <a:pt x="254088" y="1108405"/>
                </a:lnTo>
                <a:lnTo>
                  <a:pt x="255750" y="1108405"/>
                </a:lnTo>
                <a:lnTo>
                  <a:pt x="289065" y="1125067"/>
                </a:lnTo>
                <a:lnTo>
                  <a:pt x="288277" y="1125067"/>
                </a:lnTo>
                <a:lnTo>
                  <a:pt x="291401" y="1126236"/>
                </a:lnTo>
                <a:lnTo>
                  <a:pt x="292795" y="1126236"/>
                </a:lnTo>
                <a:lnTo>
                  <a:pt x="338808" y="1138135"/>
                </a:lnTo>
                <a:lnTo>
                  <a:pt x="337870" y="1138135"/>
                </a:lnTo>
                <a:lnTo>
                  <a:pt x="340575" y="1138593"/>
                </a:lnTo>
                <a:lnTo>
                  <a:pt x="343529" y="1138593"/>
                </a:lnTo>
                <a:lnTo>
                  <a:pt x="398068" y="1143000"/>
                </a:lnTo>
                <a:lnTo>
                  <a:pt x="395516" y="1174648"/>
                </a:lnTo>
                <a:close/>
              </a:path>
              <a:path w="398145" h="1174750">
                <a:moveTo>
                  <a:pt x="222161" y="1063574"/>
                </a:moveTo>
                <a:lnTo>
                  <a:pt x="221399" y="1058697"/>
                </a:lnTo>
                <a:lnTo>
                  <a:pt x="222161" y="1061057"/>
                </a:lnTo>
                <a:lnTo>
                  <a:pt x="222161" y="1063574"/>
                </a:lnTo>
                <a:close/>
              </a:path>
              <a:path w="398145" h="1174750">
                <a:moveTo>
                  <a:pt x="222161" y="1061057"/>
                </a:moveTo>
                <a:lnTo>
                  <a:pt x="221399" y="1058697"/>
                </a:lnTo>
                <a:lnTo>
                  <a:pt x="222161" y="1058697"/>
                </a:lnTo>
                <a:lnTo>
                  <a:pt x="222161" y="1061057"/>
                </a:lnTo>
                <a:close/>
              </a:path>
              <a:path w="398145" h="1174750">
                <a:moveTo>
                  <a:pt x="222973" y="1063574"/>
                </a:moveTo>
                <a:lnTo>
                  <a:pt x="222161" y="1063574"/>
                </a:lnTo>
                <a:lnTo>
                  <a:pt x="222161" y="1061057"/>
                </a:lnTo>
                <a:lnTo>
                  <a:pt x="222973" y="1063574"/>
                </a:lnTo>
                <a:close/>
              </a:path>
              <a:path w="398145" h="1174750">
                <a:moveTo>
                  <a:pt x="231114" y="1088783"/>
                </a:moveTo>
                <a:lnTo>
                  <a:pt x="227037" y="1082255"/>
                </a:lnTo>
                <a:lnTo>
                  <a:pt x="229900" y="1085022"/>
                </a:lnTo>
                <a:lnTo>
                  <a:pt x="231114" y="1088783"/>
                </a:lnTo>
                <a:close/>
              </a:path>
              <a:path w="398145" h="1174750">
                <a:moveTo>
                  <a:pt x="229900" y="1085022"/>
                </a:moveTo>
                <a:lnTo>
                  <a:pt x="227037" y="1082255"/>
                </a:lnTo>
                <a:lnTo>
                  <a:pt x="229006" y="1082255"/>
                </a:lnTo>
                <a:lnTo>
                  <a:pt x="229900" y="1085022"/>
                </a:lnTo>
                <a:close/>
              </a:path>
              <a:path w="398145" h="1174750">
                <a:moveTo>
                  <a:pt x="233790" y="1088783"/>
                </a:moveTo>
                <a:lnTo>
                  <a:pt x="231114" y="1088783"/>
                </a:lnTo>
                <a:lnTo>
                  <a:pt x="229900" y="1085022"/>
                </a:lnTo>
                <a:lnTo>
                  <a:pt x="233790" y="1088783"/>
                </a:lnTo>
                <a:close/>
              </a:path>
              <a:path w="398145" h="1174750">
                <a:moveTo>
                  <a:pt x="254088" y="1108405"/>
                </a:moveTo>
                <a:lnTo>
                  <a:pt x="250164" y="1105611"/>
                </a:lnTo>
                <a:lnTo>
                  <a:pt x="252307" y="1106682"/>
                </a:lnTo>
                <a:lnTo>
                  <a:pt x="254088" y="1108405"/>
                </a:lnTo>
                <a:close/>
              </a:path>
              <a:path w="398145" h="1174750">
                <a:moveTo>
                  <a:pt x="252307" y="1106682"/>
                </a:moveTo>
                <a:lnTo>
                  <a:pt x="250164" y="1105611"/>
                </a:lnTo>
                <a:lnTo>
                  <a:pt x="251198" y="1105611"/>
                </a:lnTo>
                <a:lnTo>
                  <a:pt x="252307" y="1106682"/>
                </a:lnTo>
                <a:close/>
              </a:path>
              <a:path w="398145" h="1174750">
                <a:moveTo>
                  <a:pt x="255750" y="1108405"/>
                </a:moveTo>
                <a:lnTo>
                  <a:pt x="254088" y="1108405"/>
                </a:lnTo>
                <a:lnTo>
                  <a:pt x="252307" y="1106682"/>
                </a:lnTo>
                <a:lnTo>
                  <a:pt x="255750" y="1108405"/>
                </a:lnTo>
                <a:close/>
              </a:path>
              <a:path w="398145" h="1174750">
                <a:moveTo>
                  <a:pt x="291401" y="1126236"/>
                </a:moveTo>
                <a:lnTo>
                  <a:pt x="288277" y="1125067"/>
                </a:lnTo>
                <a:lnTo>
                  <a:pt x="289909" y="1125489"/>
                </a:lnTo>
                <a:lnTo>
                  <a:pt x="291401" y="1126236"/>
                </a:lnTo>
                <a:close/>
              </a:path>
              <a:path w="398145" h="1174750">
                <a:moveTo>
                  <a:pt x="289909" y="1125489"/>
                </a:moveTo>
                <a:lnTo>
                  <a:pt x="288277" y="1125067"/>
                </a:lnTo>
                <a:lnTo>
                  <a:pt x="289065" y="1125067"/>
                </a:lnTo>
                <a:lnTo>
                  <a:pt x="289909" y="1125489"/>
                </a:lnTo>
                <a:close/>
              </a:path>
              <a:path w="398145" h="1174750">
                <a:moveTo>
                  <a:pt x="292795" y="1126236"/>
                </a:moveTo>
                <a:lnTo>
                  <a:pt x="291401" y="1126236"/>
                </a:lnTo>
                <a:lnTo>
                  <a:pt x="289909" y="1125489"/>
                </a:lnTo>
                <a:lnTo>
                  <a:pt x="292795" y="1126236"/>
                </a:lnTo>
                <a:close/>
              </a:path>
              <a:path w="398145" h="1174750">
                <a:moveTo>
                  <a:pt x="340575" y="1138593"/>
                </a:moveTo>
                <a:lnTo>
                  <a:pt x="337870" y="1138135"/>
                </a:lnTo>
                <a:lnTo>
                  <a:pt x="339233" y="1138246"/>
                </a:lnTo>
                <a:lnTo>
                  <a:pt x="340575" y="1138593"/>
                </a:lnTo>
                <a:close/>
              </a:path>
              <a:path w="398145" h="1174750">
                <a:moveTo>
                  <a:pt x="339233" y="1138246"/>
                </a:moveTo>
                <a:lnTo>
                  <a:pt x="337870" y="1138135"/>
                </a:lnTo>
                <a:lnTo>
                  <a:pt x="338808" y="1138135"/>
                </a:lnTo>
                <a:lnTo>
                  <a:pt x="339233" y="1138246"/>
                </a:lnTo>
                <a:close/>
              </a:path>
              <a:path w="398145" h="1174750">
                <a:moveTo>
                  <a:pt x="343529" y="1138593"/>
                </a:moveTo>
                <a:lnTo>
                  <a:pt x="340575" y="1138593"/>
                </a:lnTo>
                <a:lnTo>
                  <a:pt x="339233" y="1138246"/>
                </a:lnTo>
                <a:lnTo>
                  <a:pt x="343529" y="1138593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662222" y="2210308"/>
            <a:ext cx="1715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Dark</a:t>
            </a:r>
            <a:r>
              <a:rPr dirty="0" sz="2400" spc="-14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Energy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2222" y="2575306"/>
            <a:ext cx="21685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0" b="1">
                <a:solidFill>
                  <a:srgbClr val="FF0000"/>
                </a:solidFill>
                <a:latin typeface="华文楷体"/>
                <a:cs typeface="华文楷体"/>
              </a:rPr>
              <a:t>暗能量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～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70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％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2948" y="3595217"/>
            <a:ext cx="1225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955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H	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(77%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1844" y="2858008"/>
            <a:ext cx="1991360" cy="1902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811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Dark</a:t>
            </a:r>
            <a:r>
              <a:rPr dirty="0" sz="2400" spc="-17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Matter</a:t>
            </a:r>
            <a:endParaRPr sz="2400">
              <a:latin typeface="Times New Roman"/>
              <a:cs typeface="Times New Roman"/>
            </a:endParaRPr>
          </a:p>
          <a:p>
            <a:pPr algn="ctr" marL="57785">
              <a:lnSpc>
                <a:spcPct val="100000"/>
              </a:lnSpc>
              <a:spcBef>
                <a:spcPts val="125"/>
              </a:spcBef>
            </a:pPr>
            <a:r>
              <a:rPr dirty="0" sz="2800" spc="10" b="1">
                <a:solidFill>
                  <a:srgbClr val="FF0000"/>
                </a:solidFill>
                <a:latin typeface="华文楷体"/>
                <a:cs typeface="华文楷体"/>
              </a:rPr>
              <a:t>暗物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质</a:t>
            </a:r>
            <a:r>
              <a:rPr dirty="0" sz="2800" spc="-275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85%</a:t>
            </a:r>
            <a:endParaRPr sz="2400">
              <a:latin typeface="Times New Roman"/>
              <a:cs typeface="Times New Roman"/>
            </a:endParaRPr>
          </a:p>
          <a:p>
            <a:pPr algn="ctr" marL="26034">
              <a:lnSpc>
                <a:spcPts val="2875"/>
              </a:lnSpc>
              <a:spcBef>
                <a:spcPts val="2185"/>
              </a:spcBef>
            </a:pPr>
            <a:r>
              <a:rPr dirty="0" sz="2400" spc="-10" b="1">
                <a:latin typeface="Times New Roman"/>
                <a:cs typeface="Times New Roman"/>
              </a:rPr>
              <a:t>Quark</a:t>
            </a:r>
            <a:r>
              <a:rPr dirty="0" sz="2400" spc="-1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Matter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3354"/>
              </a:lnSpc>
            </a:pPr>
            <a:r>
              <a:rPr dirty="0" sz="2800" spc="10" b="1">
                <a:solidFill>
                  <a:srgbClr val="FF0000"/>
                </a:solidFill>
                <a:latin typeface="华文楷体"/>
                <a:cs typeface="华文楷体"/>
              </a:rPr>
              <a:t>夸克物质</a:t>
            </a:r>
            <a:r>
              <a:rPr dirty="0" sz="2800" spc="-5" b="1">
                <a:solidFill>
                  <a:srgbClr val="FF0000"/>
                </a:solidFill>
                <a:latin typeface="宋体"/>
                <a:cs typeface="宋体"/>
              </a:rPr>
              <a:t>15</a:t>
            </a:r>
            <a:r>
              <a:rPr dirty="0" sz="2800" spc="-15" b="1">
                <a:solidFill>
                  <a:srgbClr val="FF0000"/>
                </a:solidFill>
                <a:latin typeface="宋体"/>
                <a:cs typeface="宋体"/>
              </a:rPr>
              <a:t>%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91283" y="4151757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342900" y="304800"/>
                </a:moveTo>
                <a:lnTo>
                  <a:pt x="342900" y="228600"/>
                </a:lnTo>
                <a:lnTo>
                  <a:pt x="0" y="228600"/>
                </a:lnTo>
                <a:lnTo>
                  <a:pt x="0" y="76200"/>
                </a:lnTo>
                <a:lnTo>
                  <a:pt x="342900" y="76200"/>
                </a:lnTo>
                <a:lnTo>
                  <a:pt x="342900" y="0"/>
                </a:lnTo>
                <a:lnTo>
                  <a:pt x="457200" y="152400"/>
                </a:lnTo>
                <a:lnTo>
                  <a:pt x="342900" y="3048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163101" y="4442967"/>
            <a:ext cx="1271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He</a:t>
            </a:r>
            <a:r>
              <a:rPr dirty="0" sz="2400" spc="-17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(23%)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85466" y="3780244"/>
            <a:ext cx="393065" cy="936625"/>
          </a:xfrm>
          <a:custGeom>
            <a:avLst/>
            <a:gdLst/>
            <a:ahLst/>
            <a:cxnLst/>
            <a:rect l="l" t="t" r="r" b="b"/>
            <a:pathLst>
              <a:path w="393065" h="936625">
                <a:moveTo>
                  <a:pt x="190423" y="389930"/>
                </a:moveTo>
                <a:lnTo>
                  <a:pt x="190423" y="87287"/>
                </a:lnTo>
                <a:lnTo>
                  <a:pt x="190715" y="84772"/>
                </a:lnTo>
                <a:lnTo>
                  <a:pt x="229717" y="35318"/>
                </a:lnTo>
                <a:lnTo>
                  <a:pt x="275424" y="15519"/>
                </a:lnTo>
                <a:lnTo>
                  <a:pt x="329590" y="4102"/>
                </a:lnTo>
                <a:lnTo>
                  <a:pt x="391325" y="0"/>
                </a:lnTo>
                <a:lnTo>
                  <a:pt x="392760" y="22174"/>
                </a:lnTo>
                <a:lnTo>
                  <a:pt x="335699" y="25869"/>
                </a:lnTo>
                <a:lnTo>
                  <a:pt x="334111" y="25869"/>
                </a:lnTo>
                <a:lnTo>
                  <a:pt x="332562" y="26073"/>
                </a:lnTo>
                <a:lnTo>
                  <a:pt x="333131" y="26073"/>
                </a:lnTo>
                <a:lnTo>
                  <a:pt x="284507" y="36156"/>
                </a:lnTo>
                <a:lnTo>
                  <a:pt x="283692" y="36156"/>
                </a:lnTo>
                <a:lnTo>
                  <a:pt x="281813" y="36715"/>
                </a:lnTo>
                <a:lnTo>
                  <a:pt x="282297" y="36715"/>
                </a:lnTo>
                <a:lnTo>
                  <a:pt x="250654" y="49390"/>
                </a:lnTo>
                <a:lnTo>
                  <a:pt x="246913" y="49390"/>
                </a:lnTo>
                <a:lnTo>
                  <a:pt x="242443" y="52679"/>
                </a:lnTo>
                <a:lnTo>
                  <a:pt x="244221" y="52679"/>
                </a:lnTo>
                <a:lnTo>
                  <a:pt x="215904" y="87287"/>
                </a:lnTo>
                <a:lnTo>
                  <a:pt x="212648" y="87287"/>
                </a:lnTo>
                <a:lnTo>
                  <a:pt x="210146" y="94322"/>
                </a:lnTo>
                <a:lnTo>
                  <a:pt x="212648" y="94322"/>
                </a:lnTo>
                <a:lnTo>
                  <a:pt x="212648" y="387921"/>
                </a:lnTo>
                <a:lnTo>
                  <a:pt x="191236" y="387921"/>
                </a:lnTo>
                <a:lnTo>
                  <a:pt x="190423" y="389930"/>
                </a:lnTo>
                <a:close/>
              </a:path>
              <a:path w="393065" h="936625">
                <a:moveTo>
                  <a:pt x="332562" y="26073"/>
                </a:moveTo>
                <a:lnTo>
                  <a:pt x="334111" y="25869"/>
                </a:lnTo>
                <a:lnTo>
                  <a:pt x="333390" y="26019"/>
                </a:lnTo>
                <a:lnTo>
                  <a:pt x="332562" y="26073"/>
                </a:lnTo>
                <a:close/>
              </a:path>
              <a:path w="393065" h="936625">
                <a:moveTo>
                  <a:pt x="333390" y="26019"/>
                </a:moveTo>
                <a:lnTo>
                  <a:pt x="334111" y="25869"/>
                </a:lnTo>
                <a:lnTo>
                  <a:pt x="335699" y="25869"/>
                </a:lnTo>
                <a:lnTo>
                  <a:pt x="333390" y="26019"/>
                </a:lnTo>
                <a:close/>
              </a:path>
              <a:path w="393065" h="936625">
                <a:moveTo>
                  <a:pt x="333131" y="26073"/>
                </a:moveTo>
                <a:lnTo>
                  <a:pt x="332562" y="26073"/>
                </a:lnTo>
                <a:lnTo>
                  <a:pt x="333390" y="26019"/>
                </a:lnTo>
                <a:lnTo>
                  <a:pt x="333131" y="26073"/>
                </a:lnTo>
                <a:close/>
              </a:path>
              <a:path w="393065" h="936625">
                <a:moveTo>
                  <a:pt x="281813" y="36715"/>
                </a:moveTo>
                <a:lnTo>
                  <a:pt x="283692" y="36156"/>
                </a:lnTo>
                <a:lnTo>
                  <a:pt x="282817" y="36507"/>
                </a:lnTo>
                <a:lnTo>
                  <a:pt x="281813" y="36715"/>
                </a:lnTo>
                <a:close/>
              </a:path>
              <a:path w="393065" h="936625">
                <a:moveTo>
                  <a:pt x="282817" y="36507"/>
                </a:moveTo>
                <a:lnTo>
                  <a:pt x="283692" y="36156"/>
                </a:lnTo>
                <a:lnTo>
                  <a:pt x="284507" y="36156"/>
                </a:lnTo>
                <a:lnTo>
                  <a:pt x="282817" y="36507"/>
                </a:lnTo>
                <a:close/>
              </a:path>
              <a:path w="393065" h="936625">
                <a:moveTo>
                  <a:pt x="282297" y="36715"/>
                </a:moveTo>
                <a:lnTo>
                  <a:pt x="281813" y="36715"/>
                </a:lnTo>
                <a:lnTo>
                  <a:pt x="282817" y="36507"/>
                </a:lnTo>
                <a:lnTo>
                  <a:pt x="282297" y="36715"/>
                </a:lnTo>
                <a:close/>
              </a:path>
              <a:path w="393065" h="936625">
                <a:moveTo>
                  <a:pt x="242443" y="52679"/>
                </a:moveTo>
                <a:lnTo>
                  <a:pt x="246913" y="49390"/>
                </a:lnTo>
                <a:lnTo>
                  <a:pt x="245089" y="51619"/>
                </a:lnTo>
                <a:lnTo>
                  <a:pt x="242443" y="52679"/>
                </a:lnTo>
                <a:close/>
              </a:path>
              <a:path w="393065" h="936625">
                <a:moveTo>
                  <a:pt x="245089" y="51619"/>
                </a:moveTo>
                <a:lnTo>
                  <a:pt x="246913" y="49390"/>
                </a:lnTo>
                <a:lnTo>
                  <a:pt x="250654" y="49390"/>
                </a:lnTo>
                <a:lnTo>
                  <a:pt x="245089" y="51619"/>
                </a:lnTo>
                <a:close/>
              </a:path>
              <a:path w="393065" h="936625">
                <a:moveTo>
                  <a:pt x="244221" y="52679"/>
                </a:moveTo>
                <a:lnTo>
                  <a:pt x="242443" y="52679"/>
                </a:lnTo>
                <a:lnTo>
                  <a:pt x="245089" y="51619"/>
                </a:lnTo>
                <a:lnTo>
                  <a:pt x="244221" y="52679"/>
                </a:lnTo>
                <a:close/>
              </a:path>
              <a:path w="393065" h="936625">
                <a:moveTo>
                  <a:pt x="210146" y="94322"/>
                </a:moveTo>
                <a:lnTo>
                  <a:pt x="212648" y="87287"/>
                </a:lnTo>
                <a:lnTo>
                  <a:pt x="212648" y="91265"/>
                </a:lnTo>
                <a:lnTo>
                  <a:pt x="210146" y="94322"/>
                </a:lnTo>
                <a:close/>
              </a:path>
              <a:path w="393065" h="936625">
                <a:moveTo>
                  <a:pt x="212648" y="91265"/>
                </a:moveTo>
                <a:lnTo>
                  <a:pt x="212648" y="87287"/>
                </a:lnTo>
                <a:lnTo>
                  <a:pt x="215904" y="87287"/>
                </a:lnTo>
                <a:lnTo>
                  <a:pt x="212648" y="91265"/>
                </a:lnTo>
                <a:close/>
              </a:path>
              <a:path w="393065" h="936625">
                <a:moveTo>
                  <a:pt x="212648" y="94322"/>
                </a:moveTo>
                <a:lnTo>
                  <a:pt x="210146" y="94322"/>
                </a:lnTo>
                <a:lnTo>
                  <a:pt x="212648" y="91265"/>
                </a:lnTo>
                <a:lnTo>
                  <a:pt x="212648" y="94322"/>
                </a:lnTo>
                <a:close/>
              </a:path>
              <a:path w="393065" h="936625">
                <a:moveTo>
                  <a:pt x="190423" y="392087"/>
                </a:moveTo>
                <a:lnTo>
                  <a:pt x="190423" y="389930"/>
                </a:lnTo>
                <a:lnTo>
                  <a:pt x="191236" y="387921"/>
                </a:lnTo>
                <a:lnTo>
                  <a:pt x="190423" y="392087"/>
                </a:lnTo>
                <a:close/>
              </a:path>
              <a:path w="393065" h="936625">
                <a:moveTo>
                  <a:pt x="212648" y="392087"/>
                </a:moveTo>
                <a:lnTo>
                  <a:pt x="190423" y="392087"/>
                </a:lnTo>
                <a:lnTo>
                  <a:pt x="191236" y="387921"/>
                </a:lnTo>
                <a:lnTo>
                  <a:pt x="212648" y="387921"/>
                </a:lnTo>
                <a:lnTo>
                  <a:pt x="212648" y="392087"/>
                </a:lnTo>
                <a:close/>
              </a:path>
              <a:path w="393065" h="936625">
                <a:moveTo>
                  <a:pt x="182647" y="409152"/>
                </a:moveTo>
                <a:lnTo>
                  <a:pt x="190423" y="389930"/>
                </a:lnTo>
                <a:lnTo>
                  <a:pt x="190423" y="392087"/>
                </a:lnTo>
                <a:lnTo>
                  <a:pt x="212648" y="392087"/>
                </a:lnTo>
                <a:lnTo>
                  <a:pt x="212445" y="394208"/>
                </a:lnTo>
                <a:lnTo>
                  <a:pt x="211848" y="396252"/>
                </a:lnTo>
                <a:lnTo>
                  <a:pt x="207367" y="407314"/>
                </a:lnTo>
                <a:lnTo>
                  <a:pt x="185026" y="407314"/>
                </a:lnTo>
                <a:lnTo>
                  <a:pt x="182647" y="409152"/>
                </a:lnTo>
                <a:close/>
              </a:path>
              <a:path w="393065" h="936625">
                <a:moveTo>
                  <a:pt x="181521" y="411937"/>
                </a:moveTo>
                <a:lnTo>
                  <a:pt x="182647" y="409152"/>
                </a:lnTo>
                <a:lnTo>
                  <a:pt x="185026" y="407314"/>
                </a:lnTo>
                <a:lnTo>
                  <a:pt x="181521" y="411937"/>
                </a:lnTo>
                <a:close/>
              </a:path>
              <a:path w="393065" h="936625">
                <a:moveTo>
                  <a:pt x="205495" y="411937"/>
                </a:moveTo>
                <a:lnTo>
                  <a:pt x="181521" y="411937"/>
                </a:lnTo>
                <a:lnTo>
                  <a:pt x="185026" y="407314"/>
                </a:lnTo>
                <a:lnTo>
                  <a:pt x="207367" y="407314"/>
                </a:lnTo>
                <a:lnTo>
                  <a:pt x="205495" y="411937"/>
                </a:lnTo>
                <a:close/>
              </a:path>
              <a:path w="393065" h="936625">
                <a:moveTo>
                  <a:pt x="159199" y="427272"/>
                </a:moveTo>
                <a:lnTo>
                  <a:pt x="182647" y="409152"/>
                </a:lnTo>
                <a:lnTo>
                  <a:pt x="181521" y="411937"/>
                </a:lnTo>
                <a:lnTo>
                  <a:pt x="205495" y="411937"/>
                </a:lnTo>
                <a:lnTo>
                  <a:pt x="196283" y="426694"/>
                </a:lnTo>
                <a:lnTo>
                  <a:pt x="160642" y="426694"/>
                </a:lnTo>
                <a:lnTo>
                  <a:pt x="159199" y="427272"/>
                </a:lnTo>
                <a:close/>
              </a:path>
              <a:path w="393065" h="936625">
                <a:moveTo>
                  <a:pt x="157975" y="428218"/>
                </a:moveTo>
                <a:lnTo>
                  <a:pt x="159199" y="427272"/>
                </a:lnTo>
                <a:lnTo>
                  <a:pt x="160642" y="426694"/>
                </a:lnTo>
                <a:lnTo>
                  <a:pt x="157975" y="428218"/>
                </a:lnTo>
                <a:close/>
              </a:path>
              <a:path w="393065" h="936625">
                <a:moveTo>
                  <a:pt x="194312" y="428218"/>
                </a:moveTo>
                <a:lnTo>
                  <a:pt x="157975" y="428218"/>
                </a:lnTo>
                <a:lnTo>
                  <a:pt x="160642" y="426694"/>
                </a:lnTo>
                <a:lnTo>
                  <a:pt x="196283" y="426694"/>
                </a:lnTo>
                <a:lnTo>
                  <a:pt x="194312" y="428218"/>
                </a:lnTo>
                <a:close/>
              </a:path>
              <a:path w="393065" h="936625">
                <a:moveTo>
                  <a:pt x="120267" y="442866"/>
                </a:moveTo>
                <a:lnTo>
                  <a:pt x="159199" y="427272"/>
                </a:lnTo>
                <a:lnTo>
                  <a:pt x="157975" y="428218"/>
                </a:lnTo>
                <a:lnTo>
                  <a:pt x="194312" y="428218"/>
                </a:lnTo>
                <a:lnTo>
                  <a:pt x="175637" y="442658"/>
                </a:lnTo>
                <a:lnTo>
                  <a:pt x="121272" y="442658"/>
                </a:lnTo>
                <a:lnTo>
                  <a:pt x="120267" y="442866"/>
                </a:lnTo>
                <a:close/>
              </a:path>
              <a:path w="393065" h="936625">
                <a:moveTo>
                  <a:pt x="119392" y="443217"/>
                </a:moveTo>
                <a:lnTo>
                  <a:pt x="120267" y="442866"/>
                </a:lnTo>
                <a:lnTo>
                  <a:pt x="121272" y="442658"/>
                </a:lnTo>
                <a:lnTo>
                  <a:pt x="119392" y="443217"/>
                </a:lnTo>
                <a:close/>
              </a:path>
              <a:path w="393065" h="936625">
                <a:moveTo>
                  <a:pt x="174914" y="443217"/>
                </a:moveTo>
                <a:lnTo>
                  <a:pt x="119392" y="443217"/>
                </a:lnTo>
                <a:lnTo>
                  <a:pt x="121272" y="442658"/>
                </a:lnTo>
                <a:lnTo>
                  <a:pt x="175637" y="442658"/>
                </a:lnTo>
                <a:lnTo>
                  <a:pt x="174914" y="443217"/>
                </a:lnTo>
                <a:close/>
              </a:path>
              <a:path w="393065" h="936625">
                <a:moveTo>
                  <a:pt x="69788" y="453335"/>
                </a:moveTo>
                <a:lnTo>
                  <a:pt x="120267" y="442866"/>
                </a:lnTo>
                <a:lnTo>
                  <a:pt x="119392" y="443217"/>
                </a:lnTo>
                <a:lnTo>
                  <a:pt x="174914" y="443217"/>
                </a:lnTo>
                <a:lnTo>
                  <a:pt x="171564" y="445808"/>
                </a:lnTo>
                <a:lnTo>
                  <a:pt x="170281" y="446659"/>
                </a:lnTo>
                <a:lnTo>
                  <a:pt x="168897" y="447332"/>
                </a:lnTo>
                <a:lnTo>
                  <a:pt x="154031" y="453288"/>
                </a:lnTo>
                <a:lnTo>
                  <a:pt x="70510" y="453288"/>
                </a:lnTo>
                <a:lnTo>
                  <a:pt x="69788" y="453335"/>
                </a:lnTo>
                <a:close/>
              </a:path>
              <a:path w="393065" h="936625">
                <a:moveTo>
                  <a:pt x="68973" y="453504"/>
                </a:moveTo>
                <a:lnTo>
                  <a:pt x="69788" y="453335"/>
                </a:lnTo>
                <a:lnTo>
                  <a:pt x="70510" y="453288"/>
                </a:lnTo>
                <a:lnTo>
                  <a:pt x="68973" y="453504"/>
                </a:lnTo>
                <a:close/>
              </a:path>
              <a:path w="393065" h="936625">
                <a:moveTo>
                  <a:pt x="153492" y="453504"/>
                </a:moveTo>
                <a:lnTo>
                  <a:pt x="68973" y="453504"/>
                </a:lnTo>
                <a:lnTo>
                  <a:pt x="70510" y="453288"/>
                </a:lnTo>
                <a:lnTo>
                  <a:pt x="154031" y="453288"/>
                </a:lnTo>
                <a:lnTo>
                  <a:pt x="153492" y="453504"/>
                </a:lnTo>
                <a:close/>
              </a:path>
              <a:path w="393065" h="936625">
                <a:moveTo>
                  <a:pt x="69700" y="483220"/>
                </a:moveTo>
                <a:lnTo>
                  <a:pt x="10325" y="479374"/>
                </a:lnTo>
                <a:lnTo>
                  <a:pt x="0" y="469569"/>
                </a:lnTo>
                <a:lnTo>
                  <a:pt x="0" y="467004"/>
                </a:lnTo>
                <a:lnTo>
                  <a:pt x="69788" y="453335"/>
                </a:lnTo>
                <a:lnTo>
                  <a:pt x="68973" y="453504"/>
                </a:lnTo>
                <a:lnTo>
                  <a:pt x="153492" y="453504"/>
                </a:lnTo>
                <a:lnTo>
                  <a:pt x="144269" y="457200"/>
                </a:lnTo>
                <a:lnTo>
                  <a:pt x="11760" y="457200"/>
                </a:lnTo>
                <a:lnTo>
                  <a:pt x="11760" y="479374"/>
                </a:lnTo>
                <a:lnTo>
                  <a:pt x="144269" y="479374"/>
                </a:lnTo>
                <a:lnTo>
                  <a:pt x="153492" y="483069"/>
                </a:lnTo>
                <a:lnTo>
                  <a:pt x="68973" y="483069"/>
                </a:lnTo>
                <a:lnTo>
                  <a:pt x="69700" y="483220"/>
                </a:lnTo>
                <a:close/>
              </a:path>
              <a:path w="393065" h="936625">
                <a:moveTo>
                  <a:pt x="11760" y="479374"/>
                </a:moveTo>
                <a:lnTo>
                  <a:pt x="11760" y="457200"/>
                </a:lnTo>
                <a:lnTo>
                  <a:pt x="71945" y="461098"/>
                </a:lnTo>
                <a:lnTo>
                  <a:pt x="73494" y="461302"/>
                </a:lnTo>
                <a:lnTo>
                  <a:pt x="107118" y="468284"/>
                </a:lnTo>
                <a:lnTo>
                  <a:pt x="73494" y="475259"/>
                </a:lnTo>
                <a:lnTo>
                  <a:pt x="71945" y="475475"/>
                </a:lnTo>
                <a:lnTo>
                  <a:pt x="11760" y="479374"/>
                </a:lnTo>
                <a:close/>
              </a:path>
              <a:path w="393065" h="936625">
                <a:moveTo>
                  <a:pt x="107118" y="468284"/>
                </a:moveTo>
                <a:lnTo>
                  <a:pt x="73494" y="461302"/>
                </a:lnTo>
                <a:lnTo>
                  <a:pt x="71945" y="461098"/>
                </a:lnTo>
                <a:lnTo>
                  <a:pt x="11760" y="457200"/>
                </a:lnTo>
                <a:lnTo>
                  <a:pt x="144269" y="457200"/>
                </a:lnTo>
                <a:lnTo>
                  <a:pt x="127660" y="463854"/>
                </a:lnTo>
                <a:lnTo>
                  <a:pt x="125780" y="464413"/>
                </a:lnTo>
                <a:lnTo>
                  <a:pt x="107118" y="468284"/>
                </a:lnTo>
                <a:close/>
              </a:path>
              <a:path w="393065" h="936625">
                <a:moveTo>
                  <a:pt x="144269" y="479374"/>
                </a:moveTo>
                <a:lnTo>
                  <a:pt x="11760" y="479374"/>
                </a:lnTo>
                <a:lnTo>
                  <a:pt x="71945" y="475475"/>
                </a:lnTo>
                <a:lnTo>
                  <a:pt x="73494" y="475259"/>
                </a:lnTo>
                <a:lnTo>
                  <a:pt x="107118" y="468284"/>
                </a:lnTo>
                <a:lnTo>
                  <a:pt x="125780" y="472160"/>
                </a:lnTo>
                <a:lnTo>
                  <a:pt x="127660" y="472719"/>
                </a:lnTo>
                <a:lnTo>
                  <a:pt x="144269" y="479374"/>
                </a:lnTo>
                <a:close/>
              </a:path>
              <a:path w="393065" h="936625">
                <a:moveTo>
                  <a:pt x="70510" y="483273"/>
                </a:moveTo>
                <a:lnTo>
                  <a:pt x="69700" y="483220"/>
                </a:lnTo>
                <a:lnTo>
                  <a:pt x="68973" y="483069"/>
                </a:lnTo>
                <a:lnTo>
                  <a:pt x="70510" y="483273"/>
                </a:lnTo>
                <a:close/>
              </a:path>
              <a:path w="393065" h="936625">
                <a:moveTo>
                  <a:pt x="154000" y="483273"/>
                </a:moveTo>
                <a:lnTo>
                  <a:pt x="70510" y="483273"/>
                </a:lnTo>
                <a:lnTo>
                  <a:pt x="68973" y="483069"/>
                </a:lnTo>
                <a:lnTo>
                  <a:pt x="153492" y="483069"/>
                </a:lnTo>
                <a:lnTo>
                  <a:pt x="154000" y="483273"/>
                </a:lnTo>
                <a:close/>
              </a:path>
              <a:path w="393065" h="936625">
                <a:moveTo>
                  <a:pt x="120267" y="493707"/>
                </a:moveTo>
                <a:lnTo>
                  <a:pt x="69700" y="483220"/>
                </a:lnTo>
                <a:lnTo>
                  <a:pt x="70510" y="483273"/>
                </a:lnTo>
                <a:lnTo>
                  <a:pt x="154000" y="483273"/>
                </a:lnTo>
                <a:lnTo>
                  <a:pt x="174053" y="493356"/>
                </a:lnTo>
                <a:lnTo>
                  <a:pt x="119392" y="493356"/>
                </a:lnTo>
                <a:lnTo>
                  <a:pt x="120267" y="493707"/>
                </a:lnTo>
                <a:close/>
              </a:path>
              <a:path w="393065" h="936625">
                <a:moveTo>
                  <a:pt x="121272" y="493915"/>
                </a:moveTo>
                <a:lnTo>
                  <a:pt x="120267" y="493707"/>
                </a:lnTo>
                <a:lnTo>
                  <a:pt x="119392" y="493356"/>
                </a:lnTo>
                <a:lnTo>
                  <a:pt x="121272" y="493915"/>
                </a:lnTo>
                <a:close/>
              </a:path>
              <a:path w="393065" h="936625">
                <a:moveTo>
                  <a:pt x="174511" y="493915"/>
                </a:moveTo>
                <a:lnTo>
                  <a:pt x="121272" y="493915"/>
                </a:lnTo>
                <a:lnTo>
                  <a:pt x="119392" y="493356"/>
                </a:lnTo>
                <a:lnTo>
                  <a:pt x="174053" y="493356"/>
                </a:lnTo>
                <a:lnTo>
                  <a:pt x="174511" y="493915"/>
                </a:lnTo>
                <a:close/>
              </a:path>
              <a:path w="393065" h="936625">
                <a:moveTo>
                  <a:pt x="157996" y="508819"/>
                </a:moveTo>
                <a:lnTo>
                  <a:pt x="120267" y="493707"/>
                </a:lnTo>
                <a:lnTo>
                  <a:pt x="121272" y="493915"/>
                </a:lnTo>
                <a:lnTo>
                  <a:pt x="174511" y="493915"/>
                </a:lnTo>
                <a:lnTo>
                  <a:pt x="184885" y="506590"/>
                </a:lnTo>
                <a:lnTo>
                  <a:pt x="156171" y="506590"/>
                </a:lnTo>
                <a:lnTo>
                  <a:pt x="157996" y="508819"/>
                </a:lnTo>
                <a:close/>
              </a:path>
              <a:path w="393065" h="936625">
                <a:moveTo>
                  <a:pt x="160642" y="509879"/>
                </a:moveTo>
                <a:lnTo>
                  <a:pt x="157996" y="508819"/>
                </a:lnTo>
                <a:lnTo>
                  <a:pt x="156171" y="506590"/>
                </a:lnTo>
                <a:lnTo>
                  <a:pt x="160642" y="509879"/>
                </a:lnTo>
                <a:close/>
              </a:path>
              <a:path w="393065" h="936625">
                <a:moveTo>
                  <a:pt x="187578" y="509879"/>
                </a:moveTo>
                <a:lnTo>
                  <a:pt x="160642" y="509879"/>
                </a:lnTo>
                <a:lnTo>
                  <a:pt x="156171" y="506590"/>
                </a:lnTo>
                <a:lnTo>
                  <a:pt x="184885" y="506590"/>
                </a:lnTo>
                <a:lnTo>
                  <a:pt x="187578" y="509879"/>
                </a:lnTo>
                <a:close/>
              </a:path>
              <a:path w="393065" h="936625">
                <a:moveTo>
                  <a:pt x="190423" y="548449"/>
                </a:moveTo>
                <a:lnTo>
                  <a:pt x="157996" y="508819"/>
                </a:lnTo>
                <a:lnTo>
                  <a:pt x="160642" y="509879"/>
                </a:lnTo>
                <a:lnTo>
                  <a:pt x="187578" y="509879"/>
                </a:lnTo>
                <a:lnTo>
                  <a:pt x="210146" y="537451"/>
                </a:lnTo>
                <a:lnTo>
                  <a:pt x="211505" y="539584"/>
                </a:lnTo>
                <a:lnTo>
                  <a:pt x="212369" y="541972"/>
                </a:lnTo>
                <a:lnTo>
                  <a:pt x="212648" y="544487"/>
                </a:lnTo>
                <a:lnTo>
                  <a:pt x="190423" y="544487"/>
                </a:lnTo>
                <a:lnTo>
                  <a:pt x="190423" y="548449"/>
                </a:lnTo>
                <a:close/>
              </a:path>
              <a:path w="393065" h="936625">
                <a:moveTo>
                  <a:pt x="192938" y="551522"/>
                </a:moveTo>
                <a:lnTo>
                  <a:pt x="190423" y="548449"/>
                </a:lnTo>
                <a:lnTo>
                  <a:pt x="190423" y="544487"/>
                </a:lnTo>
                <a:lnTo>
                  <a:pt x="192938" y="551522"/>
                </a:lnTo>
                <a:close/>
              </a:path>
              <a:path w="393065" h="936625">
                <a:moveTo>
                  <a:pt x="212648" y="551522"/>
                </a:moveTo>
                <a:lnTo>
                  <a:pt x="192938" y="551522"/>
                </a:lnTo>
                <a:lnTo>
                  <a:pt x="190423" y="544487"/>
                </a:lnTo>
                <a:lnTo>
                  <a:pt x="212648" y="544487"/>
                </a:lnTo>
                <a:lnTo>
                  <a:pt x="212648" y="551522"/>
                </a:lnTo>
                <a:close/>
              </a:path>
              <a:path w="393065" h="936625">
                <a:moveTo>
                  <a:pt x="391325" y="936574"/>
                </a:moveTo>
                <a:lnTo>
                  <a:pt x="331127" y="932675"/>
                </a:lnTo>
                <a:lnTo>
                  <a:pt x="277304" y="921613"/>
                </a:lnTo>
                <a:lnTo>
                  <a:pt x="234175" y="904532"/>
                </a:lnTo>
                <a:lnTo>
                  <a:pt x="203022" y="880770"/>
                </a:lnTo>
                <a:lnTo>
                  <a:pt x="190423" y="849287"/>
                </a:lnTo>
                <a:lnTo>
                  <a:pt x="190423" y="548449"/>
                </a:lnTo>
                <a:lnTo>
                  <a:pt x="192938" y="551522"/>
                </a:lnTo>
                <a:lnTo>
                  <a:pt x="212648" y="551522"/>
                </a:lnTo>
                <a:lnTo>
                  <a:pt x="212648" y="845121"/>
                </a:lnTo>
                <a:lnTo>
                  <a:pt x="211848" y="845121"/>
                </a:lnTo>
                <a:lnTo>
                  <a:pt x="212648" y="849287"/>
                </a:lnTo>
                <a:lnTo>
                  <a:pt x="213533" y="849287"/>
                </a:lnTo>
                <a:lnTo>
                  <a:pt x="219694" y="864514"/>
                </a:lnTo>
                <a:lnTo>
                  <a:pt x="218059" y="864514"/>
                </a:lnTo>
                <a:lnTo>
                  <a:pt x="221564" y="869137"/>
                </a:lnTo>
                <a:lnTo>
                  <a:pt x="224041" y="869137"/>
                </a:lnTo>
                <a:lnTo>
                  <a:pt x="243137" y="883894"/>
                </a:lnTo>
                <a:lnTo>
                  <a:pt x="242443" y="883894"/>
                </a:lnTo>
                <a:lnTo>
                  <a:pt x="245110" y="885418"/>
                </a:lnTo>
                <a:lnTo>
                  <a:pt x="246247" y="885418"/>
                </a:lnTo>
                <a:lnTo>
                  <a:pt x="282297" y="899858"/>
                </a:lnTo>
                <a:lnTo>
                  <a:pt x="281813" y="899858"/>
                </a:lnTo>
                <a:lnTo>
                  <a:pt x="283692" y="900417"/>
                </a:lnTo>
                <a:lnTo>
                  <a:pt x="284507" y="900417"/>
                </a:lnTo>
                <a:lnTo>
                  <a:pt x="333070" y="910488"/>
                </a:lnTo>
                <a:lnTo>
                  <a:pt x="332562" y="910488"/>
                </a:lnTo>
                <a:lnTo>
                  <a:pt x="334111" y="910704"/>
                </a:lnTo>
                <a:lnTo>
                  <a:pt x="335884" y="910704"/>
                </a:lnTo>
                <a:lnTo>
                  <a:pt x="392760" y="914400"/>
                </a:lnTo>
                <a:lnTo>
                  <a:pt x="391325" y="936574"/>
                </a:lnTo>
                <a:close/>
              </a:path>
              <a:path w="393065" h="936625">
                <a:moveTo>
                  <a:pt x="212648" y="849287"/>
                </a:moveTo>
                <a:lnTo>
                  <a:pt x="211848" y="845121"/>
                </a:lnTo>
                <a:lnTo>
                  <a:pt x="212648" y="847099"/>
                </a:lnTo>
                <a:lnTo>
                  <a:pt x="212648" y="849287"/>
                </a:lnTo>
                <a:close/>
              </a:path>
              <a:path w="393065" h="936625">
                <a:moveTo>
                  <a:pt x="212648" y="847099"/>
                </a:moveTo>
                <a:lnTo>
                  <a:pt x="211848" y="845121"/>
                </a:lnTo>
                <a:lnTo>
                  <a:pt x="212648" y="845121"/>
                </a:lnTo>
                <a:lnTo>
                  <a:pt x="212648" y="847099"/>
                </a:lnTo>
                <a:close/>
              </a:path>
              <a:path w="393065" h="936625">
                <a:moveTo>
                  <a:pt x="213533" y="849287"/>
                </a:moveTo>
                <a:lnTo>
                  <a:pt x="212648" y="849287"/>
                </a:lnTo>
                <a:lnTo>
                  <a:pt x="212648" y="847099"/>
                </a:lnTo>
                <a:lnTo>
                  <a:pt x="213533" y="849287"/>
                </a:lnTo>
                <a:close/>
              </a:path>
              <a:path w="393065" h="936625">
                <a:moveTo>
                  <a:pt x="221564" y="869137"/>
                </a:moveTo>
                <a:lnTo>
                  <a:pt x="218059" y="864514"/>
                </a:lnTo>
                <a:lnTo>
                  <a:pt x="220437" y="866352"/>
                </a:lnTo>
                <a:lnTo>
                  <a:pt x="221564" y="869137"/>
                </a:lnTo>
                <a:close/>
              </a:path>
              <a:path w="393065" h="936625">
                <a:moveTo>
                  <a:pt x="220437" y="866352"/>
                </a:moveTo>
                <a:lnTo>
                  <a:pt x="218059" y="864514"/>
                </a:lnTo>
                <a:lnTo>
                  <a:pt x="219694" y="864514"/>
                </a:lnTo>
                <a:lnTo>
                  <a:pt x="220437" y="866352"/>
                </a:lnTo>
                <a:close/>
              </a:path>
              <a:path w="393065" h="936625">
                <a:moveTo>
                  <a:pt x="224041" y="869137"/>
                </a:moveTo>
                <a:lnTo>
                  <a:pt x="221564" y="869137"/>
                </a:lnTo>
                <a:lnTo>
                  <a:pt x="220437" y="866352"/>
                </a:lnTo>
                <a:lnTo>
                  <a:pt x="224041" y="869137"/>
                </a:lnTo>
                <a:close/>
              </a:path>
              <a:path w="393065" h="936625">
                <a:moveTo>
                  <a:pt x="245110" y="885418"/>
                </a:moveTo>
                <a:lnTo>
                  <a:pt x="242443" y="883894"/>
                </a:lnTo>
                <a:lnTo>
                  <a:pt x="243885" y="884472"/>
                </a:lnTo>
                <a:lnTo>
                  <a:pt x="245110" y="885418"/>
                </a:lnTo>
                <a:close/>
              </a:path>
              <a:path w="393065" h="936625">
                <a:moveTo>
                  <a:pt x="243885" y="884472"/>
                </a:moveTo>
                <a:lnTo>
                  <a:pt x="242443" y="883894"/>
                </a:lnTo>
                <a:lnTo>
                  <a:pt x="243137" y="883894"/>
                </a:lnTo>
                <a:lnTo>
                  <a:pt x="243885" y="884472"/>
                </a:lnTo>
                <a:close/>
              </a:path>
              <a:path w="393065" h="936625">
                <a:moveTo>
                  <a:pt x="246247" y="885418"/>
                </a:moveTo>
                <a:lnTo>
                  <a:pt x="245110" y="885418"/>
                </a:lnTo>
                <a:lnTo>
                  <a:pt x="243885" y="884472"/>
                </a:lnTo>
                <a:lnTo>
                  <a:pt x="246247" y="885418"/>
                </a:lnTo>
                <a:close/>
              </a:path>
              <a:path w="393065" h="936625">
                <a:moveTo>
                  <a:pt x="283692" y="900417"/>
                </a:moveTo>
                <a:lnTo>
                  <a:pt x="281813" y="899858"/>
                </a:lnTo>
                <a:lnTo>
                  <a:pt x="282817" y="900066"/>
                </a:lnTo>
                <a:lnTo>
                  <a:pt x="283692" y="900417"/>
                </a:lnTo>
                <a:close/>
              </a:path>
              <a:path w="393065" h="936625">
                <a:moveTo>
                  <a:pt x="282817" y="900066"/>
                </a:moveTo>
                <a:lnTo>
                  <a:pt x="281813" y="899858"/>
                </a:lnTo>
                <a:lnTo>
                  <a:pt x="282297" y="899858"/>
                </a:lnTo>
                <a:lnTo>
                  <a:pt x="282817" y="900066"/>
                </a:lnTo>
                <a:close/>
              </a:path>
              <a:path w="393065" h="936625">
                <a:moveTo>
                  <a:pt x="284507" y="900417"/>
                </a:moveTo>
                <a:lnTo>
                  <a:pt x="283692" y="900417"/>
                </a:lnTo>
                <a:lnTo>
                  <a:pt x="282817" y="900066"/>
                </a:lnTo>
                <a:lnTo>
                  <a:pt x="284507" y="900417"/>
                </a:lnTo>
                <a:close/>
              </a:path>
              <a:path w="393065" h="936625">
                <a:moveTo>
                  <a:pt x="334111" y="910704"/>
                </a:moveTo>
                <a:lnTo>
                  <a:pt x="332562" y="910488"/>
                </a:lnTo>
                <a:lnTo>
                  <a:pt x="333302" y="910536"/>
                </a:lnTo>
                <a:lnTo>
                  <a:pt x="334111" y="910704"/>
                </a:lnTo>
                <a:close/>
              </a:path>
              <a:path w="393065" h="936625">
                <a:moveTo>
                  <a:pt x="333302" y="910536"/>
                </a:moveTo>
                <a:lnTo>
                  <a:pt x="332562" y="910488"/>
                </a:lnTo>
                <a:lnTo>
                  <a:pt x="333070" y="910488"/>
                </a:lnTo>
                <a:lnTo>
                  <a:pt x="333302" y="910536"/>
                </a:lnTo>
                <a:close/>
              </a:path>
              <a:path w="393065" h="936625">
                <a:moveTo>
                  <a:pt x="335884" y="910704"/>
                </a:moveTo>
                <a:lnTo>
                  <a:pt x="334111" y="910704"/>
                </a:lnTo>
                <a:lnTo>
                  <a:pt x="333302" y="910536"/>
                </a:lnTo>
                <a:lnTo>
                  <a:pt x="335884" y="9107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66515" y="1199388"/>
            <a:ext cx="2223770" cy="641985"/>
          </a:xfrm>
          <a:custGeom>
            <a:avLst/>
            <a:gdLst/>
            <a:ahLst/>
            <a:cxnLst/>
            <a:rect l="l" t="t" r="r" b="b"/>
            <a:pathLst>
              <a:path w="2223770" h="641985">
                <a:moveTo>
                  <a:pt x="0" y="0"/>
                </a:moveTo>
                <a:lnTo>
                  <a:pt x="2223516" y="0"/>
                </a:lnTo>
                <a:lnTo>
                  <a:pt x="2223516" y="641604"/>
                </a:lnTo>
                <a:lnTo>
                  <a:pt x="0" y="641604"/>
                </a:lnTo>
                <a:lnTo>
                  <a:pt x="0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61972" y="926011"/>
            <a:ext cx="3438525" cy="1431290"/>
          </a:xfrm>
          <a:prstGeom prst="rect">
            <a:avLst/>
          </a:prstGeom>
        </p:spPr>
        <p:txBody>
          <a:bodyPr wrap="square" lIns="0" tIns="207645" rIns="0" bIns="0" rtlCol="0" vert="horz">
            <a:spAutoFit/>
          </a:bodyPr>
          <a:lstStyle/>
          <a:p>
            <a:pPr marL="1596390">
              <a:lnSpc>
                <a:spcPct val="100000"/>
              </a:lnSpc>
              <a:spcBef>
                <a:spcPts val="1635"/>
              </a:spcBef>
            </a:pPr>
            <a:r>
              <a:rPr dirty="0" sz="3600" spc="-5" b="1">
                <a:solidFill>
                  <a:srgbClr val="FF0000"/>
                </a:solidFill>
                <a:latin typeface="华文楷体"/>
                <a:cs typeface="华文楷体"/>
              </a:rPr>
              <a:t>宇宙组份</a:t>
            </a:r>
            <a:endParaRPr sz="36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3200" spc="5" b="1">
                <a:solidFill>
                  <a:srgbClr val="6400CC"/>
                </a:solidFill>
                <a:latin typeface="华文楷体"/>
                <a:cs typeface="华文楷体"/>
              </a:rPr>
              <a:t>暴</a:t>
            </a:r>
            <a:r>
              <a:rPr dirty="0" sz="3200" b="1">
                <a:solidFill>
                  <a:srgbClr val="6400CC"/>
                </a:solidFill>
                <a:latin typeface="华文楷体"/>
                <a:cs typeface="华文楷体"/>
              </a:rPr>
              <a:t>胀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71674" y="2638425"/>
            <a:ext cx="485775" cy="521334"/>
          </a:xfrm>
          <a:custGeom>
            <a:avLst/>
            <a:gdLst/>
            <a:ahLst/>
            <a:cxnLst/>
            <a:rect l="l" t="t" r="r" b="b"/>
            <a:pathLst>
              <a:path w="485775" h="521335">
                <a:moveTo>
                  <a:pt x="364236" y="390906"/>
                </a:moveTo>
                <a:lnTo>
                  <a:pt x="121157" y="390906"/>
                </a:lnTo>
                <a:lnTo>
                  <a:pt x="121157" y="0"/>
                </a:lnTo>
                <a:lnTo>
                  <a:pt x="364236" y="0"/>
                </a:lnTo>
                <a:lnTo>
                  <a:pt x="364236" y="390906"/>
                </a:lnTo>
                <a:close/>
              </a:path>
              <a:path w="485775" h="521335">
                <a:moveTo>
                  <a:pt x="243078" y="521207"/>
                </a:moveTo>
                <a:lnTo>
                  <a:pt x="0" y="390906"/>
                </a:lnTo>
                <a:lnTo>
                  <a:pt x="485394" y="390906"/>
                </a:lnTo>
                <a:lnTo>
                  <a:pt x="243078" y="52120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66937" y="2633662"/>
            <a:ext cx="495300" cy="530860"/>
          </a:xfrm>
          <a:custGeom>
            <a:avLst/>
            <a:gdLst/>
            <a:ahLst/>
            <a:cxnLst/>
            <a:rect l="l" t="t" r="r" b="b"/>
            <a:pathLst>
              <a:path w="495300" h="530860">
                <a:moveTo>
                  <a:pt x="121132" y="395668"/>
                </a:moveTo>
                <a:lnTo>
                  <a:pt x="121132" y="4762"/>
                </a:lnTo>
                <a:lnTo>
                  <a:pt x="121373" y="3289"/>
                </a:lnTo>
                <a:lnTo>
                  <a:pt x="122046" y="1968"/>
                </a:lnTo>
                <a:lnTo>
                  <a:pt x="123101" y="914"/>
                </a:lnTo>
                <a:lnTo>
                  <a:pt x="124434" y="228"/>
                </a:lnTo>
                <a:lnTo>
                  <a:pt x="125895" y="0"/>
                </a:lnTo>
                <a:lnTo>
                  <a:pt x="368973" y="0"/>
                </a:lnTo>
                <a:lnTo>
                  <a:pt x="373735" y="4762"/>
                </a:lnTo>
                <a:lnTo>
                  <a:pt x="130657" y="4762"/>
                </a:lnTo>
                <a:lnTo>
                  <a:pt x="125895" y="9525"/>
                </a:lnTo>
                <a:lnTo>
                  <a:pt x="130657" y="9525"/>
                </a:lnTo>
                <a:lnTo>
                  <a:pt x="130657" y="390906"/>
                </a:lnTo>
                <a:lnTo>
                  <a:pt x="125895" y="390906"/>
                </a:lnTo>
                <a:lnTo>
                  <a:pt x="121132" y="395668"/>
                </a:lnTo>
                <a:close/>
              </a:path>
              <a:path w="495300" h="530860">
                <a:moveTo>
                  <a:pt x="130657" y="9525"/>
                </a:moveTo>
                <a:lnTo>
                  <a:pt x="125895" y="9525"/>
                </a:lnTo>
                <a:lnTo>
                  <a:pt x="130657" y="4762"/>
                </a:lnTo>
                <a:lnTo>
                  <a:pt x="130657" y="9525"/>
                </a:lnTo>
                <a:close/>
              </a:path>
              <a:path w="495300" h="530860">
                <a:moveTo>
                  <a:pt x="364210" y="9525"/>
                </a:moveTo>
                <a:lnTo>
                  <a:pt x="130657" y="9525"/>
                </a:lnTo>
                <a:lnTo>
                  <a:pt x="130657" y="4762"/>
                </a:lnTo>
                <a:lnTo>
                  <a:pt x="364210" y="4762"/>
                </a:lnTo>
                <a:lnTo>
                  <a:pt x="364210" y="9525"/>
                </a:lnTo>
                <a:close/>
              </a:path>
              <a:path w="495300" h="530860">
                <a:moveTo>
                  <a:pt x="471232" y="400431"/>
                </a:moveTo>
                <a:lnTo>
                  <a:pt x="368973" y="400431"/>
                </a:lnTo>
                <a:lnTo>
                  <a:pt x="367512" y="400202"/>
                </a:lnTo>
                <a:lnTo>
                  <a:pt x="364210" y="4762"/>
                </a:lnTo>
                <a:lnTo>
                  <a:pt x="368973" y="9525"/>
                </a:lnTo>
                <a:lnTo>
                  <a:pt x="373735" y="9525"/>
                </a:lnTo>
                <a:lnTo>
                  <a:pt x="373735" y="390906"/>
                </a:lnTo>
                <a:lnTo>
                  <a:pt x="368973" y="390906"/>
                </a:lnTo>
                <a:lnTo>
                  <a:pt x="373735" y="395668"/>
                </a:lnTo>
                <a:lnTo>
                  <a:pt x="480089" y="395668"/>
                </a:lnTo>
                <a:lnTo>
                  <a:pt x="471232" y="400431"/>
                </a:lnTo>
                <a:close/>
              </a:path>
              <a:path w="495300" h="530860">
                <a:moveTo>
                  <a:pt x="373735" y="9525"/>
                </a:moveTo>
                <a:lnTo>
                  <a:pt x="368973" y="9525"/>
                </a:lnTo>
                <a:lnTo>
                  <a:pt x="364210" y="4762"/>
                </a:lnTo>
                <a:lnTo>
                  <a:pt x="373735" y="4762"/>
                </a:lnTo>
                <a:lnTo>
                  <a:pt x="373735" y="9525"/>
                </a:lnTo>
                <a:close/>
              </a:path>
              <a:path w="495300" h="530860">
                <a:moveTo>
                  <a:pt x="248602" y="530669"/>
                </a:moveTo>
                <a:lnTo>
                  <a:pt x="247040" y="530669"/>
                </a:lnTo>
                <a:lnTo>
                  <a:pt x="245567" y="530161"/>
                </a:lnTo>
                <a:lnTo>
                  <a:pt x="2489" y="399859"/>
                </a:lnTo>
                <a:lnTo>
                  <a:pt x="1244" y="398906"/>
                </a:lnTo>
                <a:lnTo>
                  <a:pt x="393" y="397598"/>
                </a:lnTo>
                <a:lnTo>
                  <a:pt x="0" y="396074"/>
                </a:lnTo>
                <a:lnTo>
                  <a:pt x="132" y="394500"/>
                </a:lnTo>
                <a:lnTo>
                  <a:pt x="749" y="393064"/>
                </a:lnTo>
                <a:lnTo>
                  <a:pt x="1816" y="391909"/>
                </a:lnTo>
                <a:lnTo>
                  <a:pt x="3200" y="391160"/>
                </a:lnTo>
                <a:lnTo>
                  <a:pt x="4737" y="390906"/>
                </a:lnTo>
                <a:lnTo>
                  <a:pt x="121132" y="390906"/>
                </a:lnTo>
                <a:lnTo>
                  <a:pt x="121132" y="391464"/>
                </a:lnTo>
                <a:lnTo>
                  <a:pt x="6997" y="391464"/>
                </a:lnTo>
                <a:lnTo>
                  <a:pt x="4737" y="400431"/>
                </a:lnTo>
                <a:lnTo>
                  <a:pt x="23724" y="400431"/>
                </a:lnTo>
                <a:lnTo>
                  <a:pt x="247829" y="520562"/>
                </a:lnTo>
                <a:lnTo>
                  <a:pt x="245567" y="521779"/>
                </a:lnTo>
                <a:lnTo>
                  <a:pt x="265663" y="521779"/>
                </a:lnTo>
                <a:lnTo>
                  <a:pt x="250075" y="530161"/>
                </a:lnTo>
                <a:lnTo>
                  <a:pt x="248602" y="530669"/>
                </a:lnTo>
                <a:close/>
              </a:path>
              <a:path w="495300" h="530860">
                <a:moveTo>
                  <a:pt x="130657" y="395668"/>
                </a:moveTo>
                <a:lnTo>
                  <a:pt x="121132" y="395668"/>
                </a:lnTo>
                <a:lnTo>
                  <a:pt x="125895" y="390906"/>
                </a:lnTo>
                <a:lnTo>
                  <a:pt x="130657" y="390906"/>
                </a:lnTo>
                <a:lnTo>
                  <a:pt x="130657" y="395668"/>
                </a:lnTo>
                <a:close/>
              </a:path>
              <a:path w="495300" h="530860">
                <a:moveTo>
                  <a:pt x="373735" y="395668"/>
                </a:moveTo>
                <a:lnTo>
                  <a:pt x="368973" y="390906"/>
                </a:lnTo>
                <a:lnTo>
                  <a:pt x="373735" y="390906"/>
                </a:lnTo>
                <a:lnTo>
                  <a:pt x="373735" y="395668"/>
                </a:lnTo>
                <a:close/>
              </a:path>
              <a:path w="495300" h="530860">
                <a:moveTo>
                  <a:pt x="480089" y="395668"/>
                </a:moveTo>
                <a:lnTo>
                  <a:pt x="373735" y="395668"/>
                </a:lnTo>
                <a:lnTo>
                  <a:pt x="373735" y="390906"/>
                </a:lnTo>
                <a:lnTo>
                  <a:pt x="490131" y="390906"/>
                </a:lnTo>
                <a:lnTo>
                  <a:pt x="491680" y="391160"/>
                </a:lnTo>
                <a:lnTo>
                  <a:pt x="492267" y="391477"/>
                </a:lnTo>
                <a:lnTo>
                  <a:pt x="487883" y="391477"/>
                </a:lnTo>
                <a:lnTo>
                  <a:pt x="480089" y="395668"/>
                </a:lnTo>
                <a:close/>
              </a:path>
              <a:path w="495300" h="530860">
                <a:moveTo>
                  <a:pt x="23724" y="400431"/>
                </a:moveTo>
                <a:lnTo>
                  <a:pt x="4737" y="400431"/>
                </a:lnTo>
                <a:lnTo>
                  <a:pt x="6997" y="391464"/>
                </a:lnTo>
                <a:lnTo>
                  <a:pt x="23724" y="400431"/>
                </a:lnTo>
                <a:close/>
              </a:path>
              <a:path w="495300" h="530860">
                <a:moveTo>
                  <a:pt x="125895" y="400431"/>
                </a:moveTo>
                <a:lnTo>
                  <a:pt x="23724" y="400431"/>
                </a:lnTo>
                <a:lnTo>
                  <a:pt x="6997" y="391464"/>
                </a:lnTo>
                <a:lnTo>
                  <a:pt x="121132" y="391464"/>
                </a:lnTo>
                <a:lnTo>
                  <a:pt x="121132" y="395668"/>
                </a:lnTo>
                <a:lnTo>
                  <a:pt x="130657" y="395668"/>
                </a:lnTo>
                <a:lnTo>
                  <a:pt x="130428" y="397141"/>
                </a:lnTo>
                <a:lnTo>
                  <a:pt x="129755" y="398462"/>
                </a:lnTo>
                <a:lnTo>
                  <a:pt x="128701" y="399516"/>
                </a:lnTo>
                <a:lnTo>
                  <a:pt x="127368" y="400202"/>
                </a:lnTo>
                <a:lnTo>
                  <a:pt x="125895" y="400431"/>
                </a:lnTo>
                <a:close/>
              </a:path>
              <a:path w="495300" h="530860">
                <a:moveTo>
                  <a:pt x="265663" y="521779"/>
                </a:moveTo>
                <a:lnTo>
                  <a:pt x="245567" y="521779"/>
                </a:lnTo>
                <a:lnTo>
                  <a:pt x="250075" y="521766"/>
                </a:lnTo>
                <a:lnTo>
                  <a:pt x="247829" y="520562"/>
                </a:lnTo>
                <a:lnTo>
                  <a:pt x="487883" y="391477"/>
                </a:lnTo>
                <a:lnTo>
                  <a:pt x="490131" y="400431"/>
                </a:lnTo>
                <a:lnTo>
                  <a:pt x="491328" y="400431"/>
                </a:lnTo>
                <a:lnTo>
                  <a:pt x="265663" y="521779"/>
                </a:lnTo>
                <a:close/>
              </a:path>
              <a:path w="495300" h="530860">
                <a:moveTo>
                  <a:pt x="491328" y="400431"/>
                </a:moveTo>
                <a:lnTo>
                  <a:pt x="490131" y="400431"/>
                </a:lnTo>
                <a:lnTo>
                  <a:pt x="487883" y="391477"/>
                </a:lnTo>
                <a:lnTo>
                  <a:pt x="492267" y="391477"/>
                </a:lnTo>
                <a:lnTo>
                  <a:pt x="493064" y="391909"/>
                </a:lnTo>
                <a:lnTo>
                  <a:pt x="494131" y="393064"/>
                </a:lnTo>
                <a:lnTo>
                  <a:pt x="494753" y="394500"/>
                </a:lnTo>
                <a:lnTo>
                  <a:pt x="494880" y="396074"/>
                </a:lnTo>
                <a:lnTo>
                  <a:pt x="494491" y="397598"/>
                </a:lnTo>
                <a:lnTo>
                  <a:pt x="493636" y="398906"/>
                </a:lnTo>
                <a:lnTo>
                  <a:pt x="492391" y="399859"/>
                </a:lnTo>
                <a:lnTo>
                  <a:pt x="491328" y="400431"/>
                </a:lnTo>
                <a:close/>
              </a:path>
              <a:path w="495300" h="530860">
                <a:moveTo>
                  <a:pt x="245567" y="521779"/>
                </a:moveTo>
                <a:lnTo>
                  <a:pt x="247829" y="520562"/>
                </a:lnTo>
                <a:lnTo>
                  <a:pt x="250075" y="521766"/>
                </a:lnTo>
                <a:lnTo>
                  <a:pt x="245567" y="5217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638300" y="335279"/>
            <a:ext cx="3671570" cy="641985"/>
          </a:xfrm>
          <a:prstGeom prst="rect"/>
          <a:solidFill>
            <a:srgbClr val="66FFFF"/>
          </a:solidFill>
        </p:spPr>
        <p:txBody>
          <a:bodyPr wrap="square" lIns="0" tIns="35560" rIns="0" bIns="0" rtlCol="0" vert="horz">
            <a:spAutoFit/>
          </a:bodyPr>
          <a:lstStyle/>
          <a:p>
            <a:pPr marL="320040">
              <a:lnSpc>
                <a:spcPct val="100000"/>
              </a:lnSpc>
              <a:spcBef>
                <a:spcPts val="280"/>
              </a:spcBef>
            </a:pPr>
            <a:r>
              <a:rPr dirty="0" sz="3600" spc="-5">
                <a:solidFill>
                  <a:srgbClr val="FF0000"/>
                </a:solidFill>
                <a:latin typeface="宋体"/>
                <a:cs typeface="宋体"/>
              </a:rPr>
              <a:t>现代宇宙学模</a:t>
            </a:r>
            <a:r>
              <a:rPr dirty="0" sz="3600" spc="-15">
                <a:solidFill>
                  <a:srgbClr val="FF0000"/>
                </a:solidFill>
                <a:latin typeface="宋体"/>
                <a:cs typeface="宋体"/>
              </a:rPr>
              <a:t>型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9300" y="4577156"/>
            <a:ext cx="8704580" cy="1854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73785" marR="661670" indent="-818515">
              <a:lnSpc>
                <a:spcPct val="152000"/>
              </a:lnSpc>
              <a:spcBef>
                <a:spcPts val="95"/>
              </a:spcBef>
            </a:pPr>
            <a:r>
              <a:rPr dirty="0" sz="3200" spc="-5" b="1">
                <a:solidFill>
                  <a:srgbClr val="FF3300"/>
                </a:solidFill>
                <a:latin typeface="华文楷体"/>
                <a:cs typeface="华文楷体"/>
              </a:rPr>
              <a:t>宇宙学模型：</a:t>
            </a:r>
            <a:r>
              <a:rPr dirty="0" sz="2800" b="1">
                <a:latin typeface="华文楷体"/>
                <a:cs typeface="华文楷体"/>
              </a:rPr>
              <a:t>以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大爆炸宇宙学标准模型</a:t>
            </a:r>
            <a:r>
              <a:rPr dirty="0" sz="2800" b="1">
                <a:latin typeface="华文楷体"/>
                <a:cs typeface="华文楷体"/>
              </a:rPr>
              <a:t>为基础</a:t>
            </a:r>
            <a:r>
              <a:rPr dirty="0" sz="2800" spc="-5" b="1">
                <a:latin typeface="华文楷体"/>
                <a:cs typeface="华文楷体"/>
              </a:rPr>
              <a:t>的 </a:t>
            </a:r>
            <a:r>
              <a:rPr dirty="0" sz="3200" b="1">
                <a:solidFill>
                  <a:srgbClr val="6400CC"/>
                </a:solidFill>
                <a:latin typeface="华文楷体"/>
                <a:cs typeface="华文楷体"/>
              </a:rPr>
              <a:t>暴</a:t>
            </a:r>
            <a:r>
              <a:rPr dirty="0" sz="3200" spc="-5" b="1">
                <a:solidFill>
                  <a:srgbClr val="6400CC"/>
                </a:solidFill>
                <a:latin typeface="华文楷体"/>
                <a:cs typeface="华文楷体"/>
              </a:rPr>
              <a:t>胀</a:t>
            </a:r>
            <a:r>
              <a:rPr dirty="0" sz="3200" b="1">
                <a:solidFill>
                  <a:srgbClr val="640064"/>
                </a:solidFill>
                <a:latin typeface="Symbol"/>
                <a:cs typeface="Symbol"/>
              </a:rPr>
              <a:t></a:t>
            </a:r>
            <a:r>
              <a:rPr dirty="0" sz="3200" spc="-70" b="1">
                <a:solidFill>
                  <a:srgbClr val="640064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华文楷体"/>
                <a:cs typeface="华文楷体"/>
              </a:rPr>
              <a:t>暗能量</a:t>
            </a:r>
            <a:r>
              <a:rPr dirty="0" sz="3200" b="1">
                <a:latin typeface="Symbol"/>
                <a:cs typeface="Symbol"/>
              </a:rPr>
              <a:t></a:t>
            </a:r>
            <a:r>
              <a:rPr dirty="0" sz="3200" spc="-65" b="1">
                <a:latin typeface="Times New Roman"/>
                <a:cs typeface="Times New Roman"/>
              </a:rPr>
              <a:t> </a:t>
            </a:r>
            <a:r>
              <a:rPr dirty="0" sz="3200" spc="-5" b="1">
                <a:latin typeface="华文楷体"/>
                <a:cs typeface="华文楷体"/>
              </a:rPr>
              <a:t>暗物质</a:t>
            </a:r>
            <a:r>
              <a:rPr dirty="0" sz="3200" b="1">
                <a:latin typeface="Symbol"/>
                <a:cs typeface="Symbol"/>
              </a:rPr>
              <a:t></a:t>
            </a:r>
            <a:r>
              <a:rPr dirty="0" sz="3200" spc="-65" b="1"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华文楷体"/>
                <a:cs typeface="华文楷体"/>
              </a:rPr>
              <a:t>夸克物</a:t>
            </a:r>
            <a:r>
              <a:rPr dirty="0" sz="3200" b="1">
                <a:solidFill>
                  <a:srgbClr val="C00000"/>
                </a:solidFill>
                <a:latin typeface="华文楷体"/>
                <a:cs typeface="华文楷体"/>
              </a:rPr>
              <a:t>质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000" b="1">
                <a:solidFill>
                  <a:srgbClr val="000066"/>
                </a:solidFill>
                <a:latin typeface="黑体"/>
                <a:cs typeface="黑体"/>
              </a:rPr>
              <a:t>为什么在宇宙中只观察到夸克组成的</a:t>
            </a:r>
            <a:r>
              <a:rPr dirty="0" sz="2000" spc="5" b="1">
                <a:solidFill>
                  <a:srgbClr val="000066"/>
                </a:solidFill>
                <a:latin typeface="黑体"/>
                <a:cs typeface="黑体"/>
              </a:rPr>
              <a:t>物</a:t>
            </a:r>
            <a:r>
              <a:rPr dirty="0" sz="2000" b="1">
                <a:solidFill>
                  <a:srgbClr val="000066"/>
                </a:solidFill>
                <a:latin typeface="黑体"/>
                <a:cs typeface="黑体"/>
              </a:rPr>
              <a:t>质，没有发现有反夸克形成的反物质</a:t>
            </a:r>
            <a:r>
              <a:rPr dirty="0" sz="2000" spc="-5" b="1">
                <a:solidFill>
                  <a:srgbClr val="000066"/>
                </a:solidFill>
                <a:latin typeface="黑体"/>
                <a:cs typeface="黑体"/>
              </a:rPr>
              <a:t>？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99176" y="262127"/>
            <a:ext cx="4931664" cy="2276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633" y="123253"/>
            <a:ext cx="6745605" cy="1727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89584" marR="5080" indent="-477520">
              <a:lnSpc>
                <a:spcPct val="126899"/>
              </a:lnSpc>
              <a:spcBef>
                <a:spcPts val="95"/>
              </a:spcBef>
            </a:pPr>
            <a:r>
              <a:rPr dirty="0" spc="-10">
                <a:solidFill>
                  <a:srgbClr val="C00000"/>
                </a:solidFill>
                <a:latin typeface="黑体"/>
                <a:cs typeface="黑体"/>
              </a:rPr>
              <a:t>物质和宇宙是由什么构成</a:t>
            </a:r>
            <a:r>
              <a:rPr dirty="0" spc="-10">
                <a:solidFill>
                  <a:srgbClr val="C00000"/>
                </a:solidFill>
                <a:latin typeface="黑体"/>
                <a:cs typeface="黑体"/>
              </a:rPr>
              <a:t>？ </a:t>
            </a:r>
            <a:r>
              <a:rPr dirty="0" spc="-10">
                <a:solidFill>
                  <a:srgbClr val="660033"/>
                </a:solidFill>
                <a:latin typeface="黑体"/>
                <a:cs typeface="黑体"/>
              </a:rPr>
              <a:t>发现新粒</a:t>
            </a:r>
            <a:r>
              <a:rPr dirty="0" spc="-15">
                <a:solidFill>
                  <a:srgbClr val="660033"/>
                </a:solidFill>
                <a:latin typeface="黑体"/>
                <a:cs typeface="黑体"/>
              </a:rPr>
              <a:t>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198" y="5657481"/>
            <a:ext cx="99853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3364FF"/>
              </a:buClr>
              <a:buSzPct val="78571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dirty="0" sz="2800" b="1">
                <a:solidFill>
                  <a:srgbClr val="660066"/>
                </a:solidFill>
                <a:latin typeface="华文楷体"/>
                <a:cs typeface="华文楷体"/>
              </a:rPr>
              <a:t>粒子物理学家们总是在不断地寻找新的粒子，发现新的粒子</a:t>
            </a:r>
            <a:r>
              <a:rPr dirty="0" sz="2800" spc="-10" b="1">
                <a:solidFill>
                  <a:srgbClr val="660066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8121" y="1197902"/>
            <a:ext cx="3995686" cy="1008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66672" y="2092451"/>
            <a:ext cx="8964168" cy="3603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7729" y="1176337"/>
            <a:ext cx="1850872" cy="669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89376" y="1333119"/>
            <a:ext cx="1449463" cy="3644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13116" y="2041525"/>
            <a:ext cx="1850872" cy="6692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9208" y="2205075"/>
            <a:ext cx="721715" cy="3676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1904" y="2640012"/>
            <a:ext cx="1850872" cy="669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08082" y="2805683"/>
            <a:ext cx="741629" cy="36690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08903" y="2208212"/>
            <a:ext cx="1850872" cy="669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96647" y="2370340"/>
            <a:ext cx="1097864" cy="37044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40503" y="3351212"/>
            <a:ext cx="1850872" cy="669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66779" y="3517607"/>
            <a:ext cx="681532" cy="3647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10616" y="3375025"/>
            <a:ext cx="1850872" cy="669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76439" y="3538931"/>
            <a:ext cx="741984" cy="36724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18716" y="2663825"/>
            <a:ext cx="1850872" cy="6692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633612" y="2821685"/>
            <a:ext cx="692912" cy="3907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67916" y="4556125"/>
            <a:ext cx="1850872" cy="669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09863" y="4705096"/>
            <a:ext cx="1425282" cy="3935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68916" y="4721225"/>
            <a:ext cx="1850872" cy="66928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80917" y="4981041"/>
            <a:ext cx="239407" cy="30088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00958" y="4904079"/>
            <a:ext cx="495185" cy="35337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92777" y="4961420"/>
            <a:ext cx="184023" cy="20501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70933" y="4904079"/>
            <a:ext cx="362991" cy="35337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28216" y="5559425"/>
            <a:ext cx="1850872" cy="66928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46351" y="5712307"/>
            <a:ext cx="1466176" cy="38360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10027" y="1722120"/>
            <a:ext cx="574675" cy="337185"/>
          </a:xfrm>
          <a:custGeom>
            <a:avLst/>
            <a:gdLst/>
            <a:ahLst/>
            <a:cxnLst/>
            <a:rect l="l" t="t" r="r" b="b"/>
            <a:pathLst>
              <a:path w="574675" h="337185">
                <a:moveTo>
                  <a:pt x="286941" y="227075"/>
                </a:moveTo>
                <a:lnTo>
                  <a:pt x="120396" y="227075"/>
                </a:lnTo>
                <a:lnTo>
                  <a:pt x="536448" y="0"/>
                </a:lnTo>
                <a:lnTo>
                  <a:pt x="574548" y="70103"/>
                </a:lnTo>
                <a:lnTo>
                  <a:pt x="286941" y="227075"/>
                </a:lnTo>
                <a:close/>
              </a:path>
              <a:path w="574675" h="337185">
                <a:moveTo>
                  <a:pt x="0" y="336803"/>
                </a:moveTo>
                <a:lnTo>
                  <a:pt x="100584" y="192023"/>
                </a:lnTo>
                <a:lnTo>
                  <a:pt x="120396" y="227075"/>
                </a:lnTo>
                <a:lnTo>
                  <a:pt x="286941" y="227075"/>
                </a:lnTo>
                <a:lnTo>
                  <a:pt x="158496" y="297179"/>
                </a:lnTo>
                <a:lnTo>
                  <a:pt x="176784" y="330707"/>
                </a:lnTo>
                <a:lnTo>
                  <a:pt x="0" y="33680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01277" y="1715439"/>
            <a:ext cx="589915" cy="349885"/>
          </a:xfrm>
          <a:custGeom>
            <a:avLst/>
            <a:gdLst/>
            <a:ahLst/>
            <a:cxnLst/>
            <a:rect l="l" t="t" r="r" b="b"/>
            <a:pathLst>
              <a:path w="589914" h="349885">
                <a:moveTo>
                  <a:pt x="143031" y="231343"/>
                </a:moveTo>
                <a:lnTo>
                  <a:pt x="133083" y="231343"/>
                </a:lnTo>
                <a:lnTo>
                  <a:pt x="130802" y="227165"/>
                </a:lnTo>
                <a:lnTo>
                  <a:pt x="546671" y="0"/>
                </a:lnTo>
                <a:lnTo>
                  <a:pt x="551451" y="8750"/>
                </a:lnTo>
                <a:lnTo>
                  <a:pt x="540600" y="8750"/>
                </a:lnTo>
                <a:lnTo>
                  <a:pt x="542882" y="12927"/>
                </a:lnTo>
                <a:lnTo>
                  <a:pt x="143031" y="231343"/>
                </a:lnTo>
                <a:close/>
              </a:path>
              <a:path w="589914" h="349885">
                <a:moveTo>
                  <a:pt x="542882" y="12927"/>
                </a:moveTo>
                <a:lnTo>
                  <a:pt x="540600" y="8750"/>
                </a:lnTo>
                <a:lnTo>
                  <a:pt x="547065" y="10642"/>
                </a:lnTo>
                <a:lnTo>
                  <a:pt x="542882" y="12927"/>
                </a:lnTo>
                <a:close/>
              </a:path>
              <a:path w="589914" h="349885">
                <a:moveTo>
                  <a:pt x="576365" y="74227"/>
                </a:moveTo>
                <a:lnTo>
                  <a:pt x="542882" y="12927"/>
                </a:lnTo>
                <a:lnTo>
                  <a:pt x="547065" y="10642"/>
                </a:lnTo>
                <a:lnTo>
                  <a:pt x="540600" y="8750"/>
                </a:lnTo>
                <a:lnTo>
                  <a:pt x="551451" y="8750"/>
                </a:lnTo>
                <a:lnTo>
                  <a:pt x="585976" y="71945"/>
                </a:lnTo>
                <a:lnTo>
                  <a:pt x="580542" y="71945"/>
                </a:lnTo>
                <a:lnTo>
                  <a:pt x="576365" y="74227"/>
                </a:lnTo>
                <a:close/>
              </a:path>
              <a:path w="589914" h="349885">
                <a:moveTo>
                  <a:pt x="578650" y="78409"/>
                </a:moveTo>
                <a:lnTo>
                  <a:pt x="576365" y="74227"/>
                </a:lnTo>
                <a:lnTo>
                  <a:pt x="580542" y="71945"/>
                </a:lnTo>
                <a:lnTo>
                  <a:pt x="578650" y="78409"/>
                </a:lnTo>
                <a:close/>
              </a:path>
              <a:path w="589914" h="349885">
                <a:moveTo>
                  <a:pt x="588571" y="78409"/>
                </a:moveTo>
                <a:lnTo>
                  <a:pt x="578650" y="78409"/>
                </a:lnTo>
                <a:lnTo>
                  <a:pt x="580542" y="71945"/>
                </a:lnTo>
                <a:lnTo>
                  <a:pt x="585976" y="71945"/>
                </a:lnTo>
                <a:lnTo>
                  <a:pt x="589292" y="78016"/>
                </a:lnTo>
                <a:lnTo>
                  <a:pt x="588571" y="78409"/>
                </a:lnTo>
                <a:close/>
              </a:path>
              <a:path w="589914" h="349885">
                <a:moveTo>
                  <a:pt x="178101" y="333626"/>
                </a:moveTo>
                <a:lnTo>
                  <a:pt x="160489" y="301383"/>
                </a:lnTo>
                <a:lnTo>
                  <a:pt x="576365" y="74227"/>
                </a:lnTo>
                <a:lnTo>
                  <a:pt x="578650" y="78409"/>
                </a:lnTo>
                <a:lnTo>
                  <a:pt x="588571" y="78409"/>
                </a:lnTo>
                <a:lnTo>
                  <a:pt x="181074" y="301002"/>
                </a:lnTo>
                <a:lnTo>
                  <a:pt x="171132" y="301002"/>
                </a:lnTo>
                <a:lnTo>
                  <a:pt x="169240" y="307466"/>
                </a:lnTo>
                <a:lnTo>
                  <a:pt x="174664" y="307466"/>
                </a:lnTo>
                <a:lnTo>
                  <a:pt x="188813" y="333362"/>
                </a:lnTo>
                <a:lnTo>
                  <a:pt x="185813" y="333362"/>
                </a:lnTo>
                <a:lnTo>
                  <a:pt x="178101" y="333626"/>
                </a:lnTo>
                <a:close/>
              </a:path>
              <a:path w="589914" h="349885">
                <a:moveTo>
                  <a:pt x="0" y="349262"/>
                </a:moveTo>
                <a:lnTo>
                  <a:pt x="110362" y="189737"/>
                </a:lnTo>
                <a:lnTo>
                  <a:pt x="116556" y="201079"/>
                </a:lnTo>
                <a:lnTo>
                  <a:pt x="105702" y="201079"/>
                </a:lnTo>
                <a:lnTo>
                  <a:pt x="109403" y="207854"/>
                </a:lnTo>
                <a:lnTo>
                  <a:pt x="18611" y="339095"/>
                </a:lnTo>
                <a:lnTo>
                  <a:pt x="9143" y="339420"/>
                </a:lnTo>
                <a:lnTo>
                  <a:pt x="13220" y="346887"/>
                </a:lnTo>
                <a:lnTo>
                  <a:pt x="69184" y="346887"/>
                </a:lnTo>
                <a:lnTo>
                  <a:pt x="0" y="349262"/>
                </a:lnTo>
                <a:close/>
              </a:path>
              <a:path w="589914" h="349885">
                <a:moveTo>
                  <a:pt x="109403" y="207854"/>
                </a:moveTo>
                <a:lnTo>
                  <a:pt x="105702" y="201079"/>
                </a:lnTo>
                <a:lnTo>
                  <a:pt x="113792" y="201510"/>
                </a:lnTo>
                <a:lnTo>
                  <a:pt x="109403" y="207854"/>
                </a:lnTo>
                <a:close/>
              </a:path>
              <a:path w="589914" h="349885">
                <a:moveTo>
                  <a:pt x="127012" y="240093"/>
                </a:moveTo>
                <a:lnTo>
                  <a:pt x="109403" y="207854"/>
                </a:lnTo>
                <a:lnTo>
                  <a:pt x="113792" y="201510"/>
                </a:lnTo>
                <a:lnTo>
                  <a:pt x="105702" y="201079"/>
                </a:lnTo>
                <a:lnTo>
                  <a:pt x="116556" y="201079"/>
                </a:lnTo>
                <a:lnTo>
                  <a:pt x="130802" y="227165"/>
                </a:lnTo>
                <a:lnTo>
                  <a:pt x="126618" y="229450"/>
                </a:lnTo>
                <a:lnTo>
                  <a:pt x="133083" y="231343"/>
                </a:lnTo>
                <a:lnTo>
                  <a:pt x="143031" y="231343"/>
                </a:lnTo>
                <a:lnTo>
                  <a:pt x="127012" y="240093"/>
                </a:lnTo>
                <a:close/>
              </a:path>
              <a:path w="589914" h="349885">
                <a:moveTo>
                  <a:pt x="133083" y="231343"/>
                </a:moveTo>
                <a:lnTo>
                  <a:pt x="126618" y="229450"/>
                </a:lnTo>
                <a:lnTo>
                  <a:pt x="130802" y="227165"/>
                </a:lnTo>
                <a:lnTo>
                  <a:pt x="133083" y="231343"/>
                </a:lnTo>
                <a:close/>
              </a:path>
              <a:path w="589914" h="349885">
                <a:moveTo>
                  <a:pt x="169240" y="307466"/>
                </a:moveTo>
                <a:lnTo>
                  <a:pt x="171132" y="301002"/>
                </a:lnTo>
                <a:lnTo>
                  <a:pt x="173417" y="305185"/>
                </a:lnTo>
                <a:lnTo>
                  <a:pt x="169240" y="307466"/>
                </a:lnTo>
                <a:close/>
              </a:path>
              <a:path w="589914" h="349885">
                <a:moveTo>
                  <a:pt x="173417" y="305185"/>
                </a:moveTo>
                <a:lnTo>
                  <a:pt x="171132" y="301002"/>
                </a:lnTo>
                <a:lnTo>
                  <a:pt x="181074" y="301002"/>
                </a:lnTo>
                <a:lnTo>
                  <a:pt x="173417" y="305185"/>
                </a:lnTo>
                <a:close/>
              </a:path>
              <a:path w="589914" h="349885">
                <a:moveTo>
                  <a:pt x="174664" y="307466"/>
                </a:moveTo>
                <a:lnTo>
                  <a:pt x="169240" y="307466"/>
                </a:lnTo>
                <a:lnTo>
                  <a:pt x="173417" y="305185"/>
                </a:lnTo>
                <a:lnTo>
                  <a:pt x="174664" y="307466"/>
                </a:lnTo>
                <a:close/>
              </a:path>
              <a:path w="589914" h="349885">
                <a:moveTo>
                  <a:pt x="181800" y="340398"/>
                </a:moveTo>
                <a:lnTo>
                  <a:pt x="178101" y="333626"/>
                </a:lnTo>
                <a:lnTo>
                  <a:pt x="185813" y="333362"/>
                </a:lnTo>
                <a:lnTo>
                  <a:pt x="181800" y="340398"/>
                </a:lnTo>
                <a:close/>
              </a:path>
              <a:path w="589914" h="349885">
                <a:moveTo>
                  <a:pt x="192658" y="340398"/>
                </a:moveTo>
                <a:lnTo>
                  <a:pt x="181800" y="340398"/>
                </a:lnTo>
                <a:lnTo>
                  <a:pt x="185813" y="333362"/>
                </a:lnTo>
                <a:lnTo>
                  <a:pt x="188813" y="333362"/>
                </a:lnTo>
                <a:lnTo>
                  <a:pt x="192658" y="340398"/>
                </a:lnTo>
                <a:close/>
              </a:path>
              <a:path w="589914" h="349885">
                <a:moveTo>
                  <a:pt x="69184" y="346887"/>
                </a:moveTo>
                <a:lnTo>
                  <a:pt x="13220" y="346887"/>
                </a:lnTo>
                <a:lnTo>
                  <a:pt x="18611" y="339095"/>
                </a:lnTo>
                <a:lnTo>
                  <a:pt x="178101" y="333626"/>
                </a:lnTo>
                <a:lnTo>
                  <a:pt x="181800" y="340398"/>
                </a:lnTo>
                <a:lnTo>
                  <a:pt x="192658" y="340398"/>
                </a:lnTo>
                <a:lnTo>
                  <a:pt x="193865" y="342607"/>
                </a:lnTo>
                <a:lnTo>
                  <a:pt x="69184" y="346887"/>
                </a:lnTo>
                <a:close/>
              </a:path>
              <a:path w="589914" h="349885">
                <a:moveTo>
                  <a:pt x="13220" y="346887"/>
                </a:moveTo>
                <a:lnTo>
                  <a:pt x="9143" y="339420"/>
                </a:lnTo>
                <a:lnTo>
                  <a:pt x="18611" y="339095"/>
                </a:lnTo>
                <a:lnTo>
                  <a:pt x="13220" y="34688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654807" y="2615183"/>
            <a:ext cx="573405" cy="247015"/>
          </a:xfrm>
          <a:custGeom>
            <a:avLst/>
            <a:gdLst/>
            <a:ahLst/>
            <a:cxnLst/>
            <a:rect l="l" t="t" r="r" b="b"/>
            <a:pathLst>
              <a:path w="573405" h="247014">
                <a:moveTo>
                  <a:pt x="408431" y="246888"/>
                </a:moveTo>
                <a:lnTo>
                  <a:pt x="420624" y="204216"/>
                </a:lnTo>
                <a:lnTo>
                  <a:pt x="0" y="82296"/>
                </a:lnTo>
                <a:lnTo>
                  <a:pt x="24384" y="0"/>
                </a:lnTo>
                <a:lnTo>
                  <a:pt x="445008" y="121920"/>
                </a:lnTo>
                <a:lnTo>
                  <a:pt x="496749" y="121920"/>
                </a:lnTo>
                <a:lnTo>
                  <a:pt x="573024" y="204216"/>
                </a:lnTo>
                <a:lnTo>
                  <a:pt x="408431" y="246888"/>
                </a:lnTo>
                <a:close/>
              </a:path>
              <a:path w="573405" h="247014">
                <a:moveTo>
                  <a:pt x="496749" y="121920"/>
                </a:moveTo>
                <a:lnTo>
                  <a:pt x="445008" y="121920"/>
                </a:lnTo>
                <a:lnTo>
                  <a:pt x="457200" y="79248"/>
                </a:lnTo>
                <a:lnTo>
                  <a:pt x="496749" y="12192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49664" y="2608973"/>
            <a:ext cx="586740" cy="259079"/>
          </a:xfrm>
          <a:custGeom>
            <a:avLst/>
            <a:gdLst/>
            <a:ahLst/>
            <a:cxnLst/>
            <a:rect l="l" t="t" r="r" b="b"/>
            <a:pathLst>
              <a:path w="586739" h="259080">
                <a:moveTo>
                  <a:pt x="419624" y="214078"/>
                </a:moveTo>
                <a:lnTo>
                  <a:pt x="0" y="92227"/>
                </a:lnTo>
                <a:lnTo>
                  <a:pt x="26771" y="0"/>
                </a:lnTo>
                <a:lnTo>
                  <a:pt x="51660" y="7226"/>
                </a:lnTo>
                <a:lnTo>
                  <a:pt x="34594" y="7226"/>
                </a:lnTo>
                <a:lnTo>
                  <a:pt x="28689" y="10477"/>
                </a:lnTo>
                <a:lnTo>
                  <a:pt x="33264" y="11805"/>
                </a:lnTo>
                <a:lnTo>
                  <a:pt x="12176" y="84416"/>
                </a:lnTo>
                <a:lnTo>
                  <a:pt x="7226" y="84416"/>
                </a:lnTo>
                <a:lnTo>
                  <a:pt x="10464" y="90309"/>
                </a:lnTo>
                <a:lnTo>
                  <a:pt x="27522" y="90309"/>
                </a:lnTo>
                <a:lnTo>
                  <a:pt x="431431" y="207581"/>
                </a:lnTo>
                <a:lnTo>
                  <a:pt x="430874" y="209499"/>
                </a:lnTo>
                <a:lnTo>
                  <a:pt x="420954" y="209499"/>
                </a:lnTo>
                <a:lnTo>
                  <a:pt x="419624" y="214078"/>
                </a:lnTo>
                <a:close/>
              </a:path>
              <a:path w="586739" h="259080">
                <a:moveTo>
                  <a:pt x="33264" y="11805"/>
                </a:moveTo>
                <a:lnTo>
                  <a:pt x="28689" y="10477"/>
                </a:lnTo>
                <a:lnTo>
                  <a:pt x="34594" y="7226"/>
                </a:lnTo>
                <a:lnTo>
                  <a:pt x="33264" y="11805"/>
                </a:lnTo>
                <a:close/>
              </a:path>
              <a:path w="586739" h="259080">
                <a:moveTo>
                  <a:pt x="452894" y="133642"/>
                </a:moveTo>
                <a:lnTo>
                  <a:pt x="33264" y="11805"/>
                </a:lnTo>
                <a:lnTo>
                  <a:pt x="34594" y="7226"/>
                </a:lnTo>
                <a:lnTo>
                  <a:pt x="51660" y="7226"/>
                </a:lnTo>
                <a:lnTo>
                  <a:pt x="446401" y="121836"/>
                </a:lnTo>
                <a:lnTo>
                  <a:pt x="445071" y="126415"/>
                </a:lnTo>
                <a:lnTo>
                  <a:pt x="454994" y="126415"/>
                </a:lnTo>
                <a:lnTo>
                  <a:pt x="452894" y="133642"/>
                </a:lnTo>
                <a:close/>
              </a:path>
              <a:path w="586739" h="259080">
                <a:moveTo>
                  <a:pt x="454994" y="126415"/>
                </a:moveTo>
                <a:lnTo>
                  <a:pt x="445071" y="126415"/>
                </a:lnTo>
                <a:lnTo>
                  <a:pt x="450977" y="123164"/>
                </a:lnTo>
                <a:lnTo>
                  <a:pt x="446401" y="121836"/>
                </a:lnTo>
                <a:lnTo>
                  <a:pt x="459473" y="76834"/>
                </a:lnTo>
                <a:lnTo>
                  <a:pt x="469479" y="87528"/>
                </a:lnTo>
                <a:lnTo>
                  <a:pt x="466293" y="87528"/>
                </a:lnTo>
                <a:lnTo>
                  <a:pt x="458241" y="89446"/>
                </a:lnTo>
                <a:lnTo>
                  <a:pt x="463960" y="95558"/>
                </a:lnTo>
                <a:lnTo>
                  <a:pt x="454994" y="126415"/>
                </a:lnTo>
                <a:close/>
              </a:path>
              <a:path w="586739" h="259080">
                <a:moveTo>
                  <a:pt x="10464" y="90309"/>
                </a:moveTo>
                <a:lnTo>
                  <a:pt x="7226" y="84416"/>
                </a:lnTo>
                <a:lnTo>
                  <a:pt x="11791" y="85742"/>
                </a:lnTo>
                <a:lnTo>
                  <a:pt x="10464" y="90309"/>
                </a:lnTo>
                <a:close/>
              </a:path>
              <a:path w="586739" h="259080">
                <a:moveTo>
                  <a:pt x="11791" y="85742"/>
                </a:moveTo>
                <a:lnTo>
                  <a:pt x="7226" y="84416"/>
                </a:lnTo>
                <a:lnTo>
                  <a:pt x="12176" y="84416"/>
                </a:lnTo>
                <a:lnTo>
                  <a:pt x="11791" y="85742"/>
                </a:lnTo>
                <a:close/>
              </a:path>
              <a:path w="586739" h="259080">
                <a:moveTo>
                  <a:pt x="27522" y="90309"/>
                </a:moveTo>
                <a:lnTo>
                  <a:pt x="10464" y="90309"/>
                </a:lnTo>
                <a:lnTo>
                  <a:pt x="11791" y="85742"/>
                </a:lnTo>
                <a:lnTo>
                  <a:pt x="27522" y="90309"/>
                </a:lnTo>
                <a:close/>
              </a:path>
              <a:path w="586739" h="259080">
                <a:moveTo>
                  <a:pt x="463960" y="95558"/>
                </a:moveTo>
                <a:lnTo>
                  <a:pt x="458241" y="89446"/>
                </a:lnTo>
                <a:lnTo>
                  <a:pt x="466293" y="87528"/>
                </a:lnTo>
                <a:lnTo>
                  <a:pt x="463960" y="95558"/>
                </a:lnTo>
                <a:close/>
              </a:path>
              <a:path w="586739" h="259080">
                <a:moveTo>
                  <a:pt x="568505" y="207295"/>
                </a:moveTo>
                <a:lnTo>
                  <a:pt x="463960" y="95558"/>
                </a:lnTo>
                <a:lnTo>
                  <a:pt x="466293" y="87528"/>
                </a:lnTo>
                <a:lnTo>
                  <a:pt x="469479" y="87528"/>
                </a:lnTo>
                <a:lnTo>
                  <a:pt x="579672" y="205282"/>
                </a:lnTo>
                <a:lnTo>
                  <a:pt x="576275" y="205282"/>
                </a:lnTo>
                <a:lnTo>
                  <a:pt x="568505" y="207295"/>
                </a:lnTo>
                <a:close/>
              </a:path>
              <a:path w="586739" h="259080">
                <a:moveTo>
                  <a:pt x="445071" y="126415"/>
                </a:moveTo>
                <a:lnTo>
                  <a:pt x="446401" y="121836"/>
                </a:lnTo>
                <a:lnTo>
                  <a:pt x="450977" y="123164"/>
                </a:lnTo>
                <a:lnTo>
                  <a:pt x="445071" y="126415"/>
                </a:lnTo>
                <a:close/>
              </a:path>
              <a:path w="586739" h="259080">
                <a:moveTo>
                  <a:pt x="573989" y="213156"/>
                </a:moveTo>
                <a:lnTo>
                  <a:pt x="568505" y="207295"/>
                </a:lnTo>
                <a:lnTo>
                  <a:pt x="576275" y="205282"/>
                </a:lnTo>
                <a:lnTo>
                  <a:pt x="573989" y="213156"/>
                </a:lnTo>
                <a:close/>
              </a:path>
              <a:path w="586739" h="259080">
                <a:moveTo>
                  <a:pt x="583872" y="213156"/>
                </a:moveTo>
                <a:lnTo>
                  <a:pt x="573989" y="213156"/>
                </a:lnTo>
                <a:lnTo>
                  <a:pt x="576275" y="205282"/>
                </a:lnTo>
                <a:lnTo>
                  <a:pt x="579672" y="205282"/>
                </a:lnTo>
                <a:lnTo>
                  <a:pt x="586422" y="212496"/>
                </a:lnTo>
                <a:lnTo>
                  <a:pt x="583872" y="213156"/>
                </a:lnTo>
                <a:close/>
              </a:path>
              <a:path w="586739" h="259080">
                <a:moveTo>
                  <a:pt x="427344" y="253695"/>
                </a:moveTo>
                <a:lnTo>
                  <a:pt x="418033" y="253695"/>
                </a:lnTo>
                <a:lnTo>
                  <a:pt x="420365" y="245666"/>
                </a:lnTo>
                <a:lnTo>
                  <a:pt x="568505" y="207295"/>
                </a:lnTo>
                <a:lnTo>
                  <a:pt x="573989" y="213156"/>
                </a:lnTo>
                <a:lnTo>
                  <a:pt x="583872" y="213156"/>
                </a:lnTo>
                <a:lnTo>
                  <a:pt x="427344" y="253695"/>
                </a:lnTo>
                <a:close/>
              </a:path>
              <a:path w="586739" h="259080">
                <a:moveTo>
                  <a:pt x="424192" y="215404"/>
                </a:moveTo>
                <a:lnTo>
                  <a:pt x="419624" y="214078"/>
                </a:lnTo>
                <a:lnTo>
                  <a:pt x="420954" y="209499"/>
                </a:lnTo>
                <a:lnTo>
                  <a:pt x="424192" y="215404"/>
                </a:lnTo>
                <a:close/>
              </a:path>
              <a:path w="586739" h="259080">
                <a:moveTo>
                  <a:pt x="429158" y="215404"/>
                </a:moveTo>
                <a:lnTo>
                  <a:pt x="424192" y="215404"/>
                </a:lnTo>
                <a:lnTo>
                  <a:pt x="420954" y="209499"/>
                </a:lnTo>
                <a:lnTo>
                  <a:pt x="430874" y="209499"/>
                </a:lnTo>
                <a:lnTo>
                  <a:pt x="429158" y="215404"/>
                </a:lnTo>
                <a:close/>
              </a:path>
              <a:path w="586739" h="259080">
                <a:moveTo>
                  <a:pt x="406552" y="259079"/>
                </a:moveTo>
                <a:lnTo>
                  <a:pt x="419624" y="214078"/>
                </a:lnTo>
                <a:lnTo>
                  <a:pt x="424192" y="215404"/>
                </a:lnTo>
                <a:lnTo>
                  <a:pt x="429158" y="215404"/>
                </a:lnTo>
                <a:lnTo>
                  <a:pt x="420365" y="245666"/>
                </a:lnTo>
                <a:lnTo>
                  <a:pt x="412267" y="247764"/>
                </a:lnTo>
                <a:lnTo>
                  <a:pt x="418033" y="253695"/>
                </a:lnTo>
                <a:lnTo>
                  <a:pt x="427344" y="253695"/>
                </a:lnTo>
                <a:lnTo>
                  <a:pt x="406552" y="259079"/>
                </a:lnTo>
                <a:close/>
              </a:path>
              <a:path w="586739" h="259080">
                <a:moveTo>
                  <a:pt x="418033" y="253695"/>
                </a:moveTo>
                <a:lnTo>
                  <a:pt x="412267" y="247764"/>
                </a:lnTo>
                <a:lnTo>
                  <a:pt x="420365" y="245666"/>
                </a:lnTo>
                <a:lnTo>
                  <a:pt x="418033" y="253695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21352" y="2513076"/>
            <a:ext cx="981710" cy="271780"/>
          </a:xfrm>
          <a:custGeom>
            <a:avLst/>
            <a:gdLst/>
            <a:ahLst/>
            <a:cxnLst/>
            <a:rect l="l" t="t" r="r" b="b"/>
            <a:pathLst>
              <a:path w="981710" h="271780">
                <a:moveTo>
                  <a:pt x="16763" y="271272"/>
                </a:moveTo>
                <a:lnTo>
                  <a:pt x="0" y="179831"/>
                </a:lnTo>
                <a:lnTo>
                  <a:pt x="729996" y="45719"/>
                </a:lnTo>
                <a:lnTo>
                  <a:pt x="720851" y="0"/>
                </a:lnTo>
                <a:lnTo>
                  <a:pt x="981456" y="47243"/>
                </a:lnTo>
                <a:lnTo>
                  <a:pt x="830072" y="138684"/>
                </a:lnTo>
                <a:lnTo>
                  <a:pt x="746760" y="138684"/>
                </a:lnTo>
                <a:lnTo>
                  <a:pt x="16763" y="271272"/>
                </a:lnTo>
                <a:close/>
              </a:path>
              <a:path w="981710" h="271780">
                <a:moveTo>
                  <a:pt x="754380" y="184404"/>
                </a:moveTo>
                <a:lnTo>
                  <a:pt x="746760" y="138684"/>
                </a:lnTo>
                <a:lnTo>
                  <a:pt x="830072" y="138684"/>
                </a:lnTo>
                <a:lnTo>
                  <a:pt x="754380" y="18440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15522" y="2506929"/>
            <a:ext cx="1000125" cy="283845"/>
          </a:xfrm>
          <a:custGeom>
            <a:avLst/>
            <a:gdLst/>
            <a:ahLst/>
            <a:cxnLst/>
            <a:rect l="l" t="t" r="r" b="b"/>
            <a:pathLst>
              <a:path w="1000125" h="283844">
                <a:moveTo>
                  <a:pt x="729620" y="48164"/>
                </a:moveTo>
                <a:lnTo>
                  <a:pt x="720788" y="0"/>
                </a:lnTo>
                <a:lnTo>
                  <a:pt x="748489" y="5067"/>
                </a:lnTo>
                <a:lnTo>
                  <a:pt x="731405" y="5067"/>
                </a:lnTo>
                <a:lnTo>
                  <a:pt x="725868" y="10617"/>
                </a:lnTo>
                <a:lnTo>
                  <a:pt x="732649" y="11857"/>
                </a:lnTo>
                <a:lnTo>
                  <a:pt x="739143" y="47307"/>
                </a:lnTo>
                <a:lnTo>
                  <a:pt x="734301" y="47307"/>
                </a:lnTo>
                <a:lnTo>
                  <a:pt x="729620" y="48164"/>
                </a:lnTo>
                <a:close/>
              </a:path>
              <a:path w="1000125" h="283844">
                <a:moveTo>
                  <a:pt x="732649" y="11857"/>
                </a:moveTo>
                <a:lnTo>
                  <a:pt x="725868" y="10617"/>
                </a:lnTo>
                <a:lnTo>
                  <a:pt x="731405" y="5067"/>
                </a:lnTo>
                <a:lnTo>
                  <a:pt x="732649" y="11857"/>
                </a:lnTo>
                <a:close/>
              </a:path>
              <a:path w="1000125" h="283844">
                <a:moveTo>
                  <a:pt x="973576" y="55927"/>
                </a:moveTo>
                <a:lnTo>
                  <a:pt x="732649" y="11857"/>
                </a:lnTo>
                <a:lnTo>
                  <a:pt x="731405" y="5067"/>
                </a:lnTo>
                <a:lnTo>
                  <a:pt x="748489" y="5067"/>
                </a:lnTo>
                <a:lnTo>
                  <a:pt x="990997" y="49428"/>
                </a:lnTo>
                <a:lnTo>
                  <a:pt x="984338" y="49428"/>
                </a:lnTo>
                <a:lnTo>
                  <a:pt x="973576" y="55927"/>
                </a:lnTo>
                <a:close/>
              </a:path>
              <a:path w="1000125" h="283844">
                <a:moveTo>
                  <a:pt x="730478" y="52844"/>
                </a:moveTo>
                <a:lnTo>
                  <a:pt x="729620" y="48164"/>
                </a:lnTo>
                <a:lnTo>
                  <a:pt x="734301" y="47307"/>
                </a:lnTo>
                <a:lnTo>
                  <a:pt x="730478" y="52844"/>
                </a:lnTo>
                <a:close/>
              </a:path>
              <a:path w="1000125" h="283844">
                <a:moveTo>
                  <a:pt x="740157" y="52844"/>
                </a:moveTo>
                <a:lnTo>
                  <a:pt x="730478" y="52844"/>
                </a:lnTo>
                <a:lnTo>
                  <a:pt x="734301" y="47307"/>
                </a:lnTo>
                <a:lnTo>
                  <a:pt x="739143" y="47307"/>
                </a:lnTo>
                <a:lnTo>
                  <a:pt x="740157" y="52844"/>
                </a:lnTo>
                <a:close/>
              </a:path>
              <a:path w="1000125" h="283844">
                <a:moveTo>
                  <a:pt x="18592" y="283324"/>
                </a:moveTo>
                <a:lnTo>
                  <a:pt x="0" y="181825"/>
                </a:lnTo>
                <a:lnTo>
                  <a:pt x="729620" y="48164"/>
                </a:lnTo>
                <a:lnTo>
                  <a:pt x="730478" y="52844"/>
                </a:lnTo>
                <a:lnTo>
                  <a:pt x="740157" y="52844"/>
                </a:lnTo>
                <a:lnTo>
                  <a:pt x="740702" y="55816"/>
                </a:lnTo>
                <a:lnTo>
                  <a:pt x="36696" y="184785"/>
                </a:lnTo>
                <a:lnTo>
                  <a:pt x="10223" y="184785"/>
                </a:lnTo>
                <a:lnTo>
                  <a:pt x="6400" y="190334"/>
                </a:lnTo>
                <a:lnTo>
                  <a:pt x="11240" y="190334"/>
                </a:lnTo>
                <a:lnTo>
                  <a:pt x="26242" y="272231"/>
                </a:lnTo>
                <a:lnTo>
                  <a:pt x="21564" y="273088"/>
                </a:lnTo>
                <a:lnTo>
                  <a:pt x="27101" y="276923"/>
                </a:lnTo>
                <a:lnTo>
                  <a:pt x="53533" y="276923"/>
                </a:lnTo>
                <a:lnTo>
                  <a:pt x="18592" y="283324"/>
                </a:lnTo>
                <a:close/>
              </a:path>
              <a:path w="1000125" h="283844">
                <a:moveTo>
                  <a:pt x="985951" y="58191"/>
                </a:moveTo>
                <a:lnTo>
                  <a:pt x="973576" y="55927"/>
                </a:lnTo>
                <a:lnTo>
                  <a:pt x="984338" y="49428"/>
                </a:lnTo>
                <a:lnTo>
                  <a:pt x="985951" y="58191"/>
                </a:lnTo>
                <a:close/>
              </a:path>
              <a:path w="1000125" h="283844">
                <a:moveTo>
                  <a:pt x="988247" y="58191"/>
                </a:moveTo>
                <a:lnTo>
                  <a:pt x="985951" y="58191"/>
                </a:lnTo>
                <a:lnTo>
                  <a:pt x="984338" y="49428"/>
                </a:lnTo>
                <a:lnTo>
                  <a:pt x="990997" y="49428"/>
                </a:lnTo>
                <a:lnTo>
                  <a:pt x="1000023" y="51079"/>
                </a:lnTo>
                <a:lnTo>
                  <a:pt x="988247" y="58191"/>
                </a:lnTo>
                <a:close/>
              </a:path>
              <a:path w="1000125" h="283844">
                <a:moveTo>
                  <a:pt x="771102" y="189331"/>
                </a:moveTo>
                <a:lnTo>
                  <a:pt x="765162" y="189331"/>
                </a:lnTo>
                <a:lnTo>
                  <a:pt x="763918" y="182539"/>
                </a:lnTo>
                <a:lnTo>
                  <a:pt x="973576" y="55927"/>
                </a:lnTo>
                <a:lnTo>
                  <a:pt x="985951" y="58191"/>
                </a:lnTo>
                <a:lnTo>
                  <a:pt x="988247" y="58191"/>
                </a:lnTo>
                <a:lnTo>
                  <a:pt x="771102" y="189331"/>
                </a:lnTo>
                <a:close/>
              </a:path>
              <a:path w="1000125" h="283844">
                <a:moveTo>
                  <a:pt x="53533" y="276923"/>
                </a:moveTo>
                <a:lnTo>
                  <a:pt x="27101" y="276923"/>
                </a:lnTo>
                <a:lnTo>
                  <a:pt x="26242" y="272231"/>
                </a:lnTo>
                <a:lnTo>
                  <a:pt x="755865" y="138582"/>
                </a:lnTo>
                <a:lnTo>
                  <a:pt x="757038" y="144983"/>
                </a:lnTo>
                <a:lnTo>
                  <a:pt x="747356" y="144983"/>
                </a:lnTo>
                <a:lnTo>
                  <a:pt x="748213" y="149663"/>
                </a:lnTo>
                <a:lnTo>
                  <a:pt x="53533" y="276923"/>
                </a:lnTo>
                <a:close/>
              </a:path>
              <a:path w="1000125" h="283844">
                <a:moveTo>
                  <a:pt x="748213" y="149663"/>
                </a:moveTo>
                <a:lnTo>
                  <a:pt x="747356" y="144983"/>
                </a:lnTo>
                <a:lnTo>
                  <a:pt x="752894" y="148805"/>
                </a:lnTo>
                <a:lnTo>
                  <a:pt x="748213" y="149663"/>
                </a:lnTo>
                <a:close/>
              </a:path>
              <a:path w="1000125" h="283844">
                <a:moveTo>
                  <a:pt x="757034" y="197827"/>
                </a:moveTo>
                <a:lnTo>
                  <a:pt x="748213" y="149663"/>
                </a:lnTo>
                <a:lnTo>
                  <a:pt x="752894" y="148805"/>
                </a:lnTo>
                <a:lnTo>
                  <a:pt x="747356" y="144983"/>
                </a:lnTo>
                <a:lnTo>
                  <a:pt x="757038" y="144983"/>
                </a:lnTo>
                <a:lnTo>
                  <a:pt x="763918" y="182539"/>
                </a:lnTo>
                <a:lnTo>
                  <a:pt x="758012" y="186105"/>
                </a:lnTo>
                <a:lnTo>
                  <a:pt x="765162" y="189331"/>
                </a:lnTo>
                <a:lnTo>
                  <a:pt x="771102" y="189331"/>
                </a:lnTo>
                <a:lnTo>
                  <a:pt x="757034" y="197827"/>
                </a:lnTo>
                <a:close/>
              </a:path>
              <a:path w="1000125" h="283844">
                <a:moveTo>
                  <a:pt x="765162" y="189331"/>
                </a:moveTo>
                <a:lnTo>
                  <a:pt x="758012" y="186105"/>
                </a:lnTo>
                <a:lnTo>
                  <a:pt x="763918" y="182539"/>
                </a:lnTo>
                <a:lnTo>
                  <a:pt x="765162" y="189331"/>
                </a:lnTo>
                <a:close/>
              </a:path>
              <a:path w="1000125" h="283844">
                <a:moveTo>
                  <a:pt x="6400" y="190334"/>
                </a:moveTo>
                <a:lnTo>
                  <a:pt x="10223" y="184785"/>
                </a:lnTo>
                <a:lnTo>
                  <a:pt x="11083" y="189477"/>
                </a:lnTo>
                <a:lnTo>
                  <a:pt x="6400" y="190334"/>
                </a:lnTo>
                <a:close/>
              </a:path>
              <a:path w="1000125" h="283844">
                <a:moveTo>
                  <a:pt x="11083" y="189477"/>
                </a:moveTo>
                <a:lnTo>
                  <a:pt x="10223" y="184785"/>
                </a:lnTo>
                <a:lnTo>
                  <a:pt x="36696" y="184785"/>
                </a:lnTo>
                <a:lnTo>
                  <a:pt x="11083" y="189477"/>
                </a:lnTo>
                <a:close/>
              </a:path>
              <a:path w="1000125" h="283844">
                <a:moveTo>
                  <a:pt x="11240" y="190334"/>
                </a:moveTo>
                <a:lnTo>
                  <a:pt x="6400" y="190334"/>
                </a:lnTo>
                <a:lnTo>
                  <a:pt x="11083" y="189477"/>
                </a:lnTo>
                <a:lnTo>
                  <a:pt x="11240" y="190334"/>
                </a:lnTo>
                <a:close/>
              </a:path>
              <a:path w="1000125" h="283844">
                <a:moveTo>
                  <a:pt x="27101" y="276923"/>
                </a:moveTo>
                <a:lnTo>
                  <a:pt x="21564" y="273088"/>
                </a:lnTo>
                <a:lnTo>
                  <a:pt x="26242" y="272231"/>
                </a:lnTo>
                <a:lnTo>
                  <a:pt x="27101" y="27692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38244" y="3252215"/>
            <a:ext cx="490855" cy="318770"/>
          </a:xfrm>
          <a:custGeom>
            <a:avLst/>
            <a:gdLst/>
            <a:ahLst/>
            <a:cxnLst/>
            <a:rect l="l" t="t" r="r" b="b"/>
            <a:pathLst>
              <a:path w="490854" h="318770">
                <a:moveTo>
                  <a:pt x="329183" y="318516"/>
                </a:moveTo>
                <a:lnTo>
                  <a:pt x="352043" y="281939"/>
                </a:lnTo>
                <a:lnTo>
                  <a:pt x="0" y="73151"/>
                </a:lnTo>
                <a:lnTo>
                  <a:pt x="42671" y="0"/>
                </a:lnTo>
                <a:lnTo>
                  <a:pt x="394715" y="208787"/>
                </a:lnTo>
                <a:lnTo>
                  <a:pt x="436253" y="208787"/>
                </a:lnTo>
                <a:lnTo>
                  <a:pt x="490727" y="315468"/>
                </a:lnTo>
                <a:lnTo>
                  <a:pt x="329183" y="318516"/>
                </a:lnTo>
                <a:close/>
              </a:path>
              <a:path w="490854" h="318770">
                <a:moveTo>
                  <a:pt x="436253" y="208787"/>
                </a:moveTo>
                <a:lnTo>
                  <a:pt x="394715" y="208787"/>
                </a:lnTo>
                <a:lnTo>
                  <a:pt x="417575" y="172212"/>
                </a:lnTo>
                <a:lnTo>
                  <a:pt x="436253" y="20878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31576" y="3245396"/>
            <a:ext cx="505459" cy="330835"/>
          </a:xfrm>
          <a:custGeom>
            <a:avLst/>
            <a:gdLst/>
            <a:ahLst/>
            <a:cxnLst/>
            <a:rect l="l" t="t" r="r" b="b"/>
            <a:pathLst>
              <a:path w="505460" h="330835">
                <a:moveTo>
                  <a:pt x="351816" y="290844"/>
                </a:moveTo>
                <a:lnTo>
                  <a:pt x="0" y="81140"/>
                </a:lnTo>
                <a:lnTo>
                  <a:pt x="48361" y="0"/>
                </a:lnTo>
                <a:lnTo>
                  <a:pt x="63404" y="8966"/>
                </a:lnTo>
                <a:lnTo>
                  <a:pt x="54101" y="8966"/>
                </a:lnTo>
                <a:lnTo>
                  <a:pt x="47574" y="10629"/>
                </a:lnTo>
                <a:lnTo>
                  <a:pt x="51659" y="13064"/>
                </a:lnTo>
                <a:lnTo>
                  <a:pt x="14507" y="75399"/>
                </a:lnTo>
                <a:lnTo>
                  <a:pt x="8966" y="75399"/>
                </a:lnTo>
                <a:lnTo>
                  <a:pt x="10617" y="81927"/>
                </a:lnTo>
                <a:lnTo>
                  <a:pt x="19918" y="81927"/>
                </a:lnTo>
                <a:lnTo>
                  <a:pt x="363562" y="286753"/>
                </a:lnTo>
                <a:lnTo>
                  <a:pt x="354253" y="286753"/>
                </a:lnTo>
                <a:lnTo>
                  <a:pt x="351816" y="290844"/>
                </a:lnTo>
                <a:close/>
              </a:path>
              <a:path w="505460" h="330835">
                <a:moveTo>
                  <a:pt x="51659" y="13064"/>
                </a:moveTo>
                <a:lnTo>
                  <a:pt x="47574" y="10629"/>
                </a:lnTo>
                <a:lnTo>
                  <a:pt x="54101" y="8966"/>
                </a:lnTo>
                <a:lnTo>
                  <a:pt x="51659" y="13064"/>
                </a:lnTo>
                <a:close/>
              </a:path>
              <a:path w="505460" h="330835">
                <a:moveTo>
                  <a:pt x="403491" y="222758"/>
                </a:moveTo>
                <a:lnTo>
                  <a:pt x="51659" y="13064"/>
                </a:lnTo>
                <a:lnTo>
                  <a:pt x="54101" y="8966"/>
                </a:lnTo>
                <a:lnTo>
                  <a:pt x="63404" y="8966"/>
                </a:lnTo>
                <a:lnTo>
                  <a:pt x="400176" y="209702"/>
                </a:lnTo>
                <a:lnTo>
                  <a:pt x="397738" y="213791"/>
                </a:lnTo>
                <a:lnTo>
                  <a:pt x="408836" y="213791"/>
                </a:lnTo>
                <a:lnTo>
                  <a:pt x="403491" y="222758"/>
                </a:lnTo>
                <a:close/>
              </a:path>
              <a:path w="505460" h="330835">
                <a:moveTo>
                  <a:pt x="10617" y="81927"/>
                </a:moveTo>
                <a:lnTo>
                  <a:pt x="8966" y="75399"/>
                </a:lnTo>
                <a:lnTo>
                  <a:pt x="13055" y="77837"/>
                </a:lnTo>
                <a:lnTo>
                  <a:pt x="10617" y="81927"/>
                </a:lnTo>
                <a:close/>
              </a:path>
              <a:path w="505460" h="330835">
                <a:moveTo>
                  <a:pt x="13055" y="77837"/>
                </a:moveTo>
                <a:lnTo>
                  <a:pt x="8966" y="75399"/>
                </a:lnTo>
                <a:lnTo>
                  <a:pt x="14507" y="75399"/>
                </a:lnTo>
                <a:lnTo>
                  <a:pt x="13055" y="77837"/>
                </a:lnTo>
                <a:close/>
              </a:path>
              <a:path w="505460" h="330835">
                <a:moveTo>
                  <a:pt x="19918" y="81927"/>
                </a:moveTo>
                <a:lnTo>
                  <a:pt x="10617" y="81927"/>
                </a:lnTo>
                <a:lnTo>
                  <a:pt x="13055" y="77837"/>
                </a:lnTo>
                <a:lnTo>
                  <a:pt x="19918" y="81927"/>
                </a:lnTo>
                <a:close/>
              </a:path>
              <a:path w="505460" h="330835">
                <a:moveTo>
                  <a:pt x="408836" y="213791"/>
                </a:moveTo>
                <a:lnTo>
                  <a:pt x="397738" y="213791"/>
                </a:lnTo>
                <a:lnTo>
                  <a:pt x="404266" y="212140"/>
                </a:lnTo>
                <a:lnTo>
                  <a:pt x="400176" y="209702"/>
                </a:lnTo>
                <a:lnTo>
                  <a:pt x="423875" y="169951"/>
                </a:lnTo>
                <a:lnTo>
                  <a:pt x="430067" y="181940"/>
                </a:lnTo>
                <a:lnTo>
                  <a:pt x="419341" y="181940"/>
                </a:lnTo>
                <a:lnTo>
                  <a:pt x="423279" y="189563"/>
                </a:lnTo>
                <a:lnTo>
                  <a:pt x="408836" y="213791"/>
                </a:lnTo>
                <a:close/>
              </a:path>
              <a:path w="505460" h="330835">
                <a:moveTo>
                  <a:pt x="423279" y="189563"/>
                </a:moveTo>
                <a:lnTo>
                  <a:pt x="419341" y="181940"/>
                </a:lnTo>
                <a:lnTo>
                  <a:pt x="427672" y="182194"/>
                </a:lnTo>
                <a:lnTo>
                  <a:pt x="423279" y="189563"/>
                </a:lnTo>
                <a:close/>
              </a:path>
              <a:path w="505460" h="330835">
                <a:moveTo>
                  <a:pt x="503845" y="324789"/>
                </a:moveTo>
                <a:lnTo>
                  <a:pt x="493128" y="324789"/>
                </a:lnTo>
                <a:lnTo>
                  <a:pt x="497268" y="317842"/>
                </a:lnTo>
                <a:lnTo>
                  <a:pt x="489539" y="317842"/>
                </a:lnTo>
                <a:lnTo>
                  <a:pt x="423279" y="189563"/>
                </a:lnTo>
                <a:lnTo>
                  <a:pt x="427672" y="182194"/>
                </a:lnTo>
                <a:lnTo>
                  <a:pt x="419341" y="181940"/>
                </a:lnTo>
                <a:lnTo>
                  <a:pt x="430067" y="181940"/>
                </a:lnTo>
                <a:lnTo>
                  <a:pt x="500257" y="317842"/>
                </a:lnTo>
                <a:lnTo>
                  <a:pt x="497268" y="317842"/>
                </a:lnTo>
                <a:lnTo>
                  <a:pt x="489615" y="317988"/>
                </a:lnTo>
                <a:lnTo>
                  <a:pt x="500332" y="317988"/>
                </a:lnTo>
                <a:lnTo>
                  <a:pt x="503845" y="324789"/>
                </a:lnTo>
                <a:close/>
              </a:path>
              <a:path w="505460" h="330835">
                <a:moveTo>
                  <a:pt x="397738" y="213791"/>
                </a:moveTo>
                <a:lnTo>
                  <a:pt x="400176" y="209702"/>
                </a:lnTo>
                <a:lnTo>
                  <a:pt x="404266" y="212140"/>
                </a:lnTo>
                <a:lnTo>
                  <a:pt x="397738" y="213791"/>
                </a:lnTo>
                <a:close/>
              </a:path>
              <a:path w="505460" h="330835">
                <a:moveTo>
                  <a:pt x="355904" y="293281"/>
                </a:moveTo>
                <a:lnTo>
                  <a:pt x="351816" y="290844"/>
                </a:lnTo>
                <a:lnTo>
                  <a:pt x="354253" y="286753"/>
                </a:lnTo>
                <a:lnTo>
                  <a:pt x="355904" y="293281"/>
                </a:lnTo>
                <a:close/>
              </a:path>
              <a:path w="505460" h="330835">
                <a:moveTo>
                  <a:pt x="361461" y="293281"/>
                </a:moveTo>
                <a:lnTo>
                  <a:pt x="355904" y="293281"/>
                </a:lnTo>
                <a:lnTo>
                  <a:pt x="354253" y="286753"/>
                </a:lnTo>
                <a:lnTo>
                  <a:pt x="363562" y="286753"/>
                </a:lnTo>
                <a:lnTo>
                  <a:pt x="364883" y="287540"/>
                </a:lnTo>
                <a:lnTo>
                  <a:pt x="361461" y="293281"/>
                </a:lnTo>
                <a:close/>
              </a:path>
              <a:path w="505460" h="330835">
                <a:moveTo>
                  <a:pt x="328129" y="330593"/>
                </a:moveTo>
                <a:lnTo>
                  <a:pt x="351816" y="290844"/>
                </a:lnTo>
                <a:lnTo>
                  <a:pt x="355904" y="293281"/>
                </a:lnTo>
                <a:lnTo>
                  <a:pt x="361461" y="293281"/>
                </a:lnTo>
                <a:lnTo>
                  <a:pt x="345092" y="320740"/>
                </a:lnTo>
                <a:lnTo>
                  <a:pt x="336511" y="320903"/>
                </a:lnTo>
                <a:lnTo>
                  <a:pt x="340702" y="328104"/>
                </a:lnTo>
                <a:lnTo>
                  <a:pt x="459024" y="328104"/>
                </a:lnTo>
                <a:lnTo>
                  <a:pt x="328129" y="330593"/>
                </a:lnTo>
                <a:close/>
              </a:path>
              <a:path w="505460" h="330835">
                <a:moveTo>
                  <a:pt x="493128" y="324789"/>
                </a:moveTo>
                <a:lnTo>
                  <a:pt x="489615" y="317988"/>
                </a:lnTo>
                <a:lnTo>
                  <a:pt x="497268" y="317842"/>
                </a:lnTo>
                <a:lnTo>
                  <a:pt x="493128" y="324789"/>
                </a:lnTo>
                <a:close/>
              </a:path>
              <a:path w="505460" h="330835">
                <a:moveTo>
                  <a:pt x="459024" y="328104"/>
                </a:moveTo>
                <a:lnTo>
                  <a:pt x="340702" y="328104"/>
                </a:lnTo>
                <a:lnTo>
                  <a:pt x="345092" y="320740"/>
                </a:lnTo>
                <a:lnTo>
                  <a:pt x="489615" y="317988"/>
                </a:lnTo>
                <a:lnTo>
                  <a:pt x="493128" y="324789"/>
                </a:lnTo>
                <a:lnTo>
                  <a:pt x="503845" y="324789"/>
                </a:lnTo>
                <a:lnTo>
                  <a:pt x="505104" y="327228"/>
                </a:lnTo>
                <a:lnTo>
                  <a:pt x="459024" y="328104"/>
                </a:lnTo>
                <a:close/>
              </a:path>
              <a:path w="505460" h="330835">
                <a:moveTo>
                  <a:pt x="340702" y="328104"/>
                </a:moveTo>
                <a:lnTo>
                  <a:pt x="336511" y="320903"/>
                </a:lnTo>
                <a:lnTo>
                  <a:pt x="345092" y="320740"/>
                </a:lnTo>
                <a:lnTo>
                  <a:pt x="340702" y="32810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31607" y="2587751"/>
            <a:ext cx="675640" cy="245745"/>
          </a:xfrm>
          <a:custGeom>
            <a:avLst/>
            <a:gdLst/>
            <a:ahLst/>
            <a:cxnLst/>
            <a:rect l="l" t="t" r="r" b="b"/>
            <a:pathLst>
              <a:path w="675640" h="245744">
                <a:moveTo>
                  <a:pt x="489203" y="245364"/>
                </a:moveTo>
                <a:lnTo>
                  <a:pt x="498348" y="204216"/>
                </a:lnTo>
                <a:lnTo>
                  <a:pt x="0" y="82296"/>
                </a:lnTo>
                <a:lnTo>
                  <a:pt x="19812" y="0"/>
                </a:lnTo>
                <a:lnTo>
                  <a:pt x="519684" y="121920"/>
                </a:lnTo>
                <a:lnTo>
                  <a:pt x="577596" y="121920"/>
                </a:lnTo>
                <a:lnTo>
                  <a:pt x="675132" y="204216"/>
                </a:lnTo>
                <a:lnTo>
                  <a:pt x="489203" y="245364"/>
                </a:lnTo>
                <a:close/>
              </a:path>
              <a:path w="675640" h="245744">
                <a:moveTo>
                  <a:pt x="577596" y="121920"/>
                </a:moveTo>
                <a:lnTo>
                  <a:pt x="519684" y="121920"/>
                </a:lnTo>
                <a:lnTo>
                  <a:pt x="528827" y="80772"/>
                </a:lnTo>
                <a:lnTo>
                  <a:pt x="577596" y="12192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25219" y="2582506"/>
            <a:ext cx="692785" cy="257810"/>
          </a:xfrm>
          <a:custGeom>
            <a:avLst/>
            <a:gdLst/>
            <a:ahLst/>
            <a:cxnLst/>
            <a:rect l="l" t="t" r="r" b="b"/>
            <a:pathLst>
              <a:path w="692784" h="257810">
                <a:moveTo>
                  <a:pt x="499736" y="213476"/>
                </a:moveTo>
                <a:lnTo>
                  <a:pt x="0" y="91770"/>
                </a:lnTo>
                <a:lnTo>
                  <a:pt x="22351" y="0"/>
                </a:lnTo>
                <a:lnTo>
                  <a:pt x="50615" y="6883"/>
                </a:lnTo>
                <a:lnTo>
                  <a:pt x="30479" y="6883"/>
                </a:lnTo>
                <a:lnTo>
                  <a:pt x="24726" y="10375"/>
                </a:lnTo>
                <a:lnTo>
                  <a:pt x="29354" y="11502"/>
                </a:lnTo>
                <a:lnTo>
                  <a:pt x="11777" y="83642"/>
                </a:lnTo>
                <a:lnTo>
                  <a:pt x="6883" y="83642"/>
                </a:lnTo>
                <a:lnTo>
                  <a:pt x="10375" y="89395"/>
                </a:lnTo>
                <a:lnTo>
                  <a:pt x="30506" y="89395"/>
                </a:lnTo>
                <a:lnTo>
                  <a:pt x="511251" y="206476"/>
                </a:lnTo>
                <a:lnTo>
                  <a:pt x="510672" y="208851"/>
                </a:lnTo>
                <a:lnTo>
                  <a:pt x="500862" y="208851"/>
                </a:lnTo>
                <a:lnTo>
                  <a:pt x="499736" y="213476"/>
                </a:lnTo>
                <a:close/>
              </a:path>
              <a:path w="692784" h="257810">
                <a:moveTo>
                  <a:pt x="29354" y="11502"/>
                </a:moveTo>
                <a:lnTo>
                  <a:pt x="24726" y="10375"/>
                </a:lnTo>
                <a:lnTo>
                  <a:pt x="30479" y="6883"/>
                </a:lnTo>
                <a:lnTo>
                  <a:pt x="29354" y="11502"/>
                </a:lnTo>
                <a:close/>
              </a:path>
              <a:path w="692784" h="257810">
                <a:moveTo>
                  <a:pt x="529094" y="133210"/>
                </a:moveTo>
                <a:lnTo>
                  <a:pt x="29354" y="11502"/>
                </a:lnTo>
                <a:lnTo>
                  <a:pt x="30479" y="6883"/>
                </a:lnTo>
                <a:lnTo>
                  <a:pt x="50615" y="6883"/>
                </a:lnTo>
                <a:lnTo>
                  <a:pt x="522091" y="121707"/>
                </a:lnTo>
                <a:lnTo>
                  <a:pt x="520966" y="126326"/>
                </a:lnTo>
                <a:lnTo>
                  <a:pt x="530771" y="126326"/>
                </a:lnTo>
                <a:lnTo>
                  <a:pt x="529094" y="133210"/>
                </a:lnTo>
                <a:close/>
              </a:path>
              <a:path w="692784" h="257810">
                <a:moveTo>
                  <a:pt x="530771" y="126326"/>
                </a:moveTo>
                <a:lnTo>
                  <a:pt x="520966" y="126326"/>
                </a:lnTo>
                <a:lnTo>
                  <a:pt x="526719" y="122834"/>
                </a:lnTo>
                <a:lnTo>
                  <a:pt x="522091" y="121707"/>
                </a:lnTo>
                <a:lnTo>
                  <a:pt x="532828" y="77622"/>
                </a:lnTo>
                <a:lnTo>
                  <a:pt x="544375" y="87325"/>
                </a:lnTo>
                <a:lnTo>
                  <a:pt x="540270" y="87325"/>
                </a:lnTo>
                <a:lnTo>
                  <a:pt x="532574" y="89839"/>
                </a:lnTo>
                <a:lnTo>
                  <a:pt x="538454" y="94780"/>
                </a:lnTo>
                <a:lnTo>
                  <a:pt x="530771" y="126326"/>
                </a:lnTo>
                <a:close/>
              </a:path>
              <a:path w="692784" h="257810">
                <a:moveTo>
                  <a:pt x="10375" y="89395"/>
                </a:moveTo>
                <a:lnTo>
                  <a:pt x="6883" y="83642"/>
                </a:lnTo>
                <a:lnTo>
                  <a:pt x="11503" y="84767"/>
                </a:lnTo>
                <a:lnTo>
                  <a:pt x="10375" y="89395"/>
                </a:lnTo>
                <a:close/>
              </a:path>
              <a:path w="692784" h="257810">
                <a:moveTo>
                  <a:pt x="11503" y="84767"/>
                </a:moveTo>
                <a:lnTo>
                  <a:pt x="6883" y="83642"/>
                </a:lnTo>
                <a:lnTo>
                  <a:pt x="11777" y="83642"/>
                </a:lnTo>
                <a:lnTo>
                  <a:pt x="11503" y="84767"/>
                </a:lnTo>
                <a:close/>
              </a:path>
              <a:path w="692784" h="257810">
                <a:moveTo>
                  <a:pt x="30506" y="89395"/>
                </a:moveTo>
                <a:lnTo>
                  <a:pt x="10375" y="89395"/>
                </a:lnTo>
                <a:lnTo>
                  <a:pt x="11503" y="84767"/>
                </a:lnTo>
                <a:lnTo>
                  <a:pt x="30506" y="89395"/>
                </a:lnTo>
                <a:close/>
              </a:path>
              <a:path w="692784" h="257810">
                <a:moveTo>
                  <a:pt x="538454" y="94780"/>
                </a:moveTo>
                <a:lnTo>
                  <a:pt x="532574" y="89839"/>
                </a:lnTo>
                <a:lnTo>
                  <a:pt x="540270" y="87325"/>
                </a:lnTo>
                <a:lnTo>
                  <a:pt x="538454" y="94780"/>
                </a:lnTo>
                <a:close/>
              </a:path>
              <a:path w="692784" h="257810">
                <a:moveTo>
                  <a:pt x="671696" y="206743"/>
                </a:moveTo>
                <a:lnTo>
                  <a:pt x="538454" y="94780"/>
                </a:lnTo>
                <a:lnTo>
                  <a:pt x="540270" y="87325"/>
                </a:lnTo>
                <a:lnTo>
                  <a:pt x="544375" y="87325"/>
                </a:lnTo>
                <a:lnTo>
                  <a:pt x="683988" y="204635"/>
                </a:lnTo>
                <a:lnTo>
                  <a:pt x="681075" y="204635"/>
                </a:lnTo>
                <a:lnTo>
                  <a:pt x="671696" y="206743"/>
                </a:lnTo>
                <a:close/>
              </a:path>
              <a:path w="692784" h="257810">
                <a:moveTo>
                  <a:pt x="520966" y="126326"/>
                </a:moveTo>
                <a:lnTo>
                  <a:pt x="522091" y="121707"/>
                </a:lnTo>
                <a:lnTo>
                  <a:pt x="526719" y="122834"/>
                </a:lnTo>
                <a:lnTo>
                  <a:pt x="520966" y="126326"/>
                </a:lnTo>
                <a:close/>
              </a:path>
              <a:path w="692784" h="257810">
                <a:moveTo>
                  <a:pt x="679056" y="212928"/>
                </a:moveTo>
                <a:lnTo>
                  <a:pt x="671696" y="206743"/>
                </a:lnTo>
                <a:lnTo>
                  <a:pt x="681075" y="204635"/>
                </a:lnTo>
                <a:lnTo>
                  <a:pt x="679056" y="212928"/>
                </a:lnTo>
                <a:close/>
              </a:path>
              <a:path w="692784" h="257810">
                <a:moveTo>
                  <a:pt x="687627" y="212928"/>
                </a:moveTo>
                <a:lnTo>
                  <a:pt x="679056" y="212928"/>
                </a:lnTo>
                <a:lnTo>
                  <a:pt x="681075" y="204635"/>
                </a:lnTo>
                <a:lnTo>
                  <a:pt x="683988" y="204635"/>
                </a:lnTo>
                <a:lnTo>
                  <a:pt x="692543" y="211823"/>
                </a:lnTo>
                <a:lnTo>
                  <a:pt x="687627" y="212928"/>
                </a:lnTo>
                <a:close/>
              </a:path>
              <a:path w="692784" h="257810">
                <a:moveTo>
                  <a:pt x="512169" y="252361"/>
                </a:moveTo>
                <a:lnTo>
                  <a:pt x="500075" y="252361"/>
                </a:lnTo>
                <a:lnTo>
                  <a:pt x="501889" y="244912"/>
                </a:lnTo>
                <a:lnTo>
                  <a:pt x="671696" y="206743"/>
                </a:lnTo>
                <a:lnTo>
                  <a:pt x="679056" y="212928"/>
                </a:lnTo>
                <a:lnTo>
                  <a:pt x="687627" y="212928"/>
                </a:lnTo>
                <a:lnTo>
                  <a:pt x="512169" y="252361"/>
                </a:lnTo>
                <a:close/>
              </a:path>
              <a:path w="692784" h="257810">
                <a:moveTo>
                  <a:pt x="504367" y="214604"/>
                </a:moveTo>
                <a:lnTo>
                  <a:pt x="499736" y="213476"/>
                </a:lnTo>
                <a:lnTo>
                  <a:pt x="500862" y="208851"/>
                </a:lnTo>
                <a:lnTo>
                  <a:pt x="504367" y="214604"/>
                </a:lnTo>
                <a:close/>
              </a:path>
              <a:path w="692784" h="257810">
                <a:moveTo>
                  <a:pt x="509271" y="214604"/>
                </a:moveTo>
                <a:lnTo>
                  <a:pt x="504367" y="214604"/>
                </a:lnTo>
                <a:lnTo>
                  <a:pt x="500862" y="208851"/>
                </a:lnTo>
                <a:lnTo>
                  <a:pt x="510672" y="208851"/>
                </a:lnTo>
                <a:lnTo>
                  <a:pt x="509271" y="214604"/>
                </a:lnTo>
                <a:close/>
              </a:path>
              <a:path w="692784" h="257810">
                <a:moveTo>
                  <a:pt x="489000" y="257568"/>
                </a:moveTo>
                <a:lnTo>
                  <a:pt x="499736" y="213476"/>
                </a:lnTo>
                <a:lnTo>
                  <a:pt x="504367" y="214604"/>
                </a:lnTo>
                <a:lnTo>
                  <a:pt x="509271" y="214604"/>
                </a:lnTo>
                <a:lnTo>
                  <a:pt x="501889" y="244912"/>
                </a:lnTo>
                <a:lnTo>
                  <a:pt x="494398" y="246595"/>
                </a:lnTo>
                <a:lnTo>
                  <a:pt x="500075" y="252361"/>
                </a:lnTo>
                <a:lnTo>
                  <a:pt x="512169" y="252361"/>
                </a:lnTo>
                <a:lnTo>
                  <a:pt x="489000" y="257568"/>
                </a:lnTo>
                <a:close/>
              </a:path>
              <a:path w="692784" h="257810">
                <a:moveTo>
                  <a:pt x="500075" y="252361"/>
                </a:moveTo>
                <a:lnTo>
                  <a:pt x="494398" y="246595"/>
                </a:lnTo>
                <a:lnTo>
                  <a:pt x="501889" y="244912"/>
                </a:lnTo>
                <a:lnTo>
                  <a:pt x="500075" y="252361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010400" y="2813304"/>
            <a:ext cx="260985" cy="597535"/>
          </a:xfrm>
          <a:custGeom>
            <a:avLst/>
            <a:gdLst/>
            <a:ahLst/>
            <a:cxnLst/>
            <a:rect l="l" t="t" r="r" b="b"/>
            <a:pathLst>
              <a:path w="260984" h="597535">
                <a:moveTo>
                  <a:pt x="211835" y="597408"/>
                </a:moveTo>
                <a:lnTo>
                  <a:pt x="80772" y="477012"/>
                </a:lnTo>
                <a:lnTo>
                  <a:pt x="124968" y="464820"/>
                </a:lnTo>
                <a:lnTo>
                  <a:pt x="0" y="25908"/>
                </a:lnTo>
                <a:lnTo>
                  <a:pt x="89916" y="0"/>
                </a:lnTo>
                <a:lnTo>
                  <a:pt x="214883" y="438912"/>
                </a:lnTo>
                <a:lnTo>
                  <a:pt x="256719" y="438912"/>
                </a:lnTo>
                <a:lnTo>
                  <a:pt x="211835" y="597408"/>
                </a:lnTo>
                <a:close/>
              </a:path>
              <a:path w="260984" h="597535">
                <a:moveTo>
                  <a:pt x="256719" y="438912"/>
                </a:moveTo>
                <a:lnTo>
                  <a:pt x="214883" y="438912"/>
                </a:lnTo>
                <a:lnTo>
                  <a:pt x="260603" y="425196"/>
                </a:lnTo>
                <a:lnTo>
                  <a:pt x="256719" y="43891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004659" y="2807589"/>
            <a:ext cx="273685" cy="612140"/>
          </a:xfrm>
          <a:custGeom>
            <a:avLst/>
            <a:gdLst/>
            <a:ahLst/>
            <a:cxnLst/>
            <a:rect l="l" t="t" r="r" b="b"/>
            <a:pathLst>
              <a:path w="273684" h="612139">
                <a:moveTo>
                  <a:pt x="125396" y="466801"/>
                </a:moveTo>
                <a:lnTo>
                  <a:pt x="0" y="28371"/>
                </a:lnTo>
                <a:lnTo>
                  <a:pt x="99212" y="0"/>
                </a:lnTo>
                <a:lnTo>
                  <a:pt x="101271" y="7200"/>
                </a:lnTo>
                <a:lnTo>
                  <a:pt x="91363" y="7200"/>
                </a:lnTo>
                <a:lnTo>
                  <a:pt x="92672" y="11775"/>
                </a:lnTo>
                <a:lnTo>
                  <a:pt x="27760" y="30340"/>
                </a:lnTo>
                <a:lnTo>
                  <a:pt x="10464" y="30340"/>
                </a:lnTo>
                <a:lnTo>
                  <a:pt x="7200" y="36220"/>
                </a:lnTo>
                <a:lnTo>
                  <a:pt x="12146" y="36220"/>
                </a:lnTo>
                <a:lnTo>
                  <a:pt x="134927" y="465493"/>
                </a:lnTo>
                <a:lnTo>
                  <a:pt x="129971" y="465493"/>
                </a:lnTo>
                <a:lnTo>
                  <a:pt x="125396" y="466801"/>
                </a:lnTo>
                <a:close/>
              </a:path>
              <a:path w="273684" h="612139">
                <a:moveTo>
                  <a:pt x="92672" y="11775"/>
                </a:moveTo>
                <a:lnTo>
                  <a:pt x="91363" y="7200"/>
                </a:lnTo>
                <a:lnTo>
                  <a:pt x="97256" y="10464"/>
                </a:lnTo>
                <a:lnTo>
                  <a:pt x="92672" y="11775"/>
                </a:lnTo>
                <a:close/>
              </a:path>
              <a:path w="273684" h="612139">
                <a:moveTo>
                  <a:pt x="218071" y="450202"/>
                </a:moveTo>
                <a:lnTo>
                  <a:pt x="92672" y="11775"/>
                </a:lnTo>
                <a:lnTo>
                  <a:pt x="97256" y="10464"/>
                </a:lnTo>
                <a:lnTo>
                  <a:pt x="91363" y="7200"/>
                </a:lnTo>
                <a:lnTo>
                  <a:pt x="101271" y="7200"/>
                </a:lnTo>
                <a:lnTo>
                  <a:pt x="224596" y="438431"/>
                </a:lnTo>
                <a:lnTo>
                  <a:pt x="220027" y="439737"/>
                </a:lnTo>
                <a:lnTo>
                  <a:pt x="225907" y="443014"/>
                </a:lnTo>
                <a:lnTo>
                  <a:pt x="243201" y="443014"/>
                </a:lnTo>
                <a:lnTo>
                  <a:pt x="218071" y="450202"/>
                </a:lnTo>
                <a:close/>
              </a:path>
              <a:path w="273684" h="612139">
                <a:moveTo>
                  <a:pt x="7200" y="36220"/>
                </a:moveTo>
                <a:lnTo>
                  <a:pt x="10464" y="30340"/>
                </a:lnTo>
                <a:lnTo>
                  <a:pt x="11772" y="34912"/>
                </a:lnTo>
                <a:lnTo>
                  <a:pt x="7200" y="36220"/>
                </a:lnTo>
                <a:close/>
              </a:path>
              <a:path w="273684" h="612139">
                <a:moveTo>
                  <a:pt x="11772" y="34912"/>
                </a:moveTo>
                <a:lnTo>
                  <a:pt x="10464" y="30340"/>
                </a:lnTo>
                <a:lnTo>
                  <a:pt x="27760" y="30340"/>
                </a:lnTo>
                <a:lnTo>
                  <a:pt x="11772" y="34912"/>
                </a:lnTo>
                <a:close/>
              </a:path>
              <a:path w="273684" h="612139">
                <a:moveTo>
                  <a:pt x="12146" y="36220"/>
                </a:moveTo>
                <a:lnTo>
                  <a:pt x="7200" y="36220"/>
                </a:lnTo>
                <a:lnTo>
                  <a:pt x="11772" y="34912"/>
                </a:lnTo>
                <a:lnTo>
                  <a:pt x="12146" y="36220"/>
                </a:lnTo>
                <a:close/>
              </a:path>
              <a:path w="273684" h="612139">
                <a:moveTo>
                  <a:pt x="243201" y="443014"/>
                </a:moveTo>
                <a:lnTo>
                  <a:pt x="225907" y="443014"/>
                </a:lnTo>
                <a:lnTo>
                  <a:pt x="224596" y="438431"/>
                </a:lnTo>
                <a:lnTo>
                  <a:pt x="273253" y="424522"/>
                </a:lnTo>
                <a:lnTo>
                  <a:pt x="271673" y="430149"/>
                </a:lnTo>
                <a:lnTo>
                  <a:pt x="261772" y="430149"/>
                </a:lnTo>
                <a:lnTo>
                  <a:pt x="259467" y="438361"/>
                </a:lnTo>
                <a:lnTo>
                  <a:pt x="243201" y="443014"/>
                </a:lnTo>
                <a:close/>
              </a:path>
              <a:path w="273684" h="612139">
                <a:moveTo>
                  <a:pt x="259467" y="438361"/>
                </a:moveTo>
                <a:lnTo>
                  <a:pt x="261772" y="430149"/>
                </a:lnTo>
                <a:lnTo>
                  <a:pt x="267665" y="436016"/>
                </a:lnTo>
                <a:lnTo>
                  <a:pt x="259467" y="438361"/>
                </a:lnTo>
                <a:close/>
              </a:path>
              <a:path w="273684" h="612139">
                <a:moveTo>
                  <a:pt x="223408" y="602056"/>
                </a:moveTo>
                <a:lnTo>
                  <a:pt x="213525" y="602056"/>
                </a:lnTo>
                <a:lnTo>
                  <a:pt x="221322" y="599821"/>
                </a:lnTo>
                <a:lnTo>
                  <a:pt x="215615" y="594609"/>
                </a:lnTo>
                <a:lnTo>
                  <a:pt x="259467" y="438361"/>
                </a:lnTo>
                <a:lnTo>
                  <a:pt x="267665" y="436016"/>
                </a:lnTo>
                <a:lnTo>
                  <a:pt x="261772" y="430149"/>
                </a:lnTo>
                <a:lnTo>
                  <a:pt x="271673" y="430149"/>
                </a:lnTo>
                <a:lnTo>
                  <a:pt x="223408" y="602056"/>
                </a:lnTo>
                <a:close/>
              </a:path>
              <a:path w="273684" h="612139">
                <a:moveTo>
                  <a:pt x="225907" y="443014"/>
                </a:moveTo>
                <a:lnTo>
                  <a:pt x="220027" y="439737"/>
                </a:lnTo>
                <a:lnTo>
                  <a:pt x="224596" y="438431"/>
                </a:lnTo>
                <a:lnTo>
                  <a:pt x="225907" y="443014"/>
                </a:lnTo>
                <a:close/>
              </a:path>
              <a:path w="273684" h="612139">
                <a:moveTo>
                  <a:pt x="126707" y="471385"/>
                </a:moveTo>
                <a:lnTo>
                  <a:pt x="125396" y="466801"/>
                </a:lnTo>
                <a:lnTo>
                  <a:pt x="129971" y="465493"/>
                </a:lnTo>
                <a:lnTo>
                  <a:pt x="126707" y="471385"/>
                </a:lnTo>
                <a:close/>
              </a:path>
              <a:path w="273684" h="612139">
                <a:moveTo>
                  <a:pt x="136613" y="471385"/>
                </a:moveTo>
                <a:lnTo>
                  <a:pt x="126707" y="471385"/>
                </a:lnTo>
                <a:lnTo>
                  <a:pt x="129971" y="465493"/>
                </a:lnTo>
                <a:lnTo>
                  <a:pt x="134927" y="465493"/>
                </a:lnTo>
                <a:lnTo>
                  <a:pt x="136613" y="471385"/>
                </a:lnTo>
                <a:close/>
              </a:path>
              <a:path w="273684" h="612139">
                <a:moveTo>
                  <a:pt x="220599" y="612063"/>
                </a:moveTo>
                <a:lnTo>
                  <a:pt x="76746" y="480720"/>
                </a:lnTo>
                <a:lnTo>
                  <a:pt x="125396" y="466801"/>
                </a:lnTo>
                <a:lnTo>
                  <a:pt x="126707" y="471385"/>
                </a:lnTo>
                <a:lnTo>
                  <a:pt x="136613" y="471385"/>
                </a:lnTo>
                <a:lnTo>
                  <a:pt x="137172" y="473341"/>
                </a:lnTo>
                <a:lnTo>
                  <a:pt x="115855" y="479437"/>
                </a:lnTo>
                <a:lnTo>
                  <a:pt x="89471" y="479437"/>
                </a:lnTo>
                <a:lnTo>
                  <a:pt x="87566" y="487527"/>
                </a:lnTo>
                <a:lnTo>
                  <a:pt x="98332" y="487527"/>
                </a:lnTo>
                <a:lnTo>
                  <a:pt x="215615" y="594609"/>
                </a:lnTo>
                <a:lnTo>
                  <a:pt x="213525" y="602056"/>
                </a:lnTo>
                <a:lnTo>
                  <a:pt x="223408" y="602056"/>
                </a:lnTo>
                <a:lnTo>
                  <a:pt x="220599" y="612063"/>
                </a:lnTo>
                <a:close/>
              </a:path>
              <a:path w="273684" h="612139">
                <a:moveTo>
                  <a:pt x="87566" y="487527"/>
                </a:moveTo>
                <a:lnTo>
                  <a:pt x="89471" y="479437"/>
                </a:lnTo>
                <a:lnTo>
                  <a:pt x="95764" y="485183"/>
                </a:lnTo>
                <a:lnTo>
                  <a:pt x="87566" y="487527"/>
                </a:lnTo>
                <a:close/>
              </a:path>
              <a:path w="273684" h="612139">
                <a:moveTo>
                  <a:pt x="95764" y="485183"/>
                </a:moveTo>
                <a:lnTo>
                  <a:pt x="89471" y="479437"/>
                </a:lnTo>
                <a:lnTo>
                  <a:pt x="115855" y="479437"/>
                </a:lnTo>
                <a:lnTo>
                  <a:pt x="95764" y="485183"/>
                </a:lnTo>
                <a:close/>
              </a:path>
              <a:path w="273684" h="612139">
                <a:moveTo>
                  <a:pt x="98332" y="487527"/>
                </a:moveTo>
                <a:lnTo>
                  <a:pt x="87566" y="487527"/>
                </a:lnTo>
                <a:lnTo>
                  <a:pt x="95764" y="485183"/>
                </a:lnTo>
                <a:lnTo>
                  <a:pt x="98332" y="487527"/>
                </a:lnTo>
                <a:close/>
              </a:path>
              <a:path w="273684" h="612139">
                <a:moveTo>
                  <a:pt x="213525" y="602056"/>
                </a:moveTo>
                <a:lnTo>
                  <a:pt x="215615" y="594609"/>
                </a:lnTo>
                <a:lnTo>
                  <a:pt x="221322" y="599821"/>
                </a:lnTo>
                <a:lnTo>
                  <a:pt x="213525" y="60205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576792" y="3360420"/>
            <a:ext cx="373380" cy="1198880"/>
          </a:xfrm>
          <a:custGeom>
            <a:avLst/>
            <a:gdLst/>
            <a:ahLst/>
            <a:cxnLst/>
            <a:rect l="l" t="t" r="r" b="b"/>
            <a:pathLst>
              <a:path w="373379" h="1198879">
                <a:moveTo>
                  <a:pt x="39839" y="1143800"/>
                </a:moveTo>
                <a:lnTo>
                  <a:pt x="26562" y="1120365"/>
                </a:lnTo>
                <a:lnTo>
                  <a:pt x="336448" y="0"/>
                </a:lnTo>
                <a:lnTo>
                  <a:pt x="373164" y="10159"/>
                </a:lnTo>
                <a:lnTo>
                  <a:pt x="63281" y="1130514"/>
                </a:lnTo>
                <a:lnTo>
                  <a:pt x="39839" y="1143800"/>
                </a:lnTo>
                <a:close/>
              </a:path>
              <a:path w="373379" h="1198879">
                <a:moveTo>
                  <a:pt x="24612" y="1198879"/>
                </a:moveTo>
                <a:lnTo>
                  <a:pt x="0" y="1073480"/>
                </a:lnTo>
                <a:lnTo>
                  <a:pt x="26562" y="1120365"/>
                </a:lnTo>
                <a:lnTo>
                  <a:pt x="17678" y="1152486"/>
                </a:lnTo>
                <a:lnTo>
                  <a:pt x="54394" y="1162646"/>
                </a:lnTo>
                <a:lnTo>
                  <a:pt x="57263" y="1162646"/>
                </a:lnTo>
                <a:lnTo>
                  <a:pt x="24612" y="1198879"/>
                </a:lnTo>
                <a:close/>
              </a:path>
              <a:path w="373379" h="1198879">
                <a:moveTo>
                  <a:pt x="57263" y="1162646"/>
                </a:moveTo>
                <a:lnTo>
                  <a:pt x="54394" y="1162646"/>
                </a:lnTo>
                <a:lnTo>
                  <a:pt x="63281" y="1130514"/>
                </a:lnTo>
                <a:lnTo>
                  <a:pt x="110159" y="1103947"/>
                </a:lnTo>
                <a:lnTo>
                  <a:pt x="57263" y="1162646"/>
                </a:lnTo>
                <a:close/>
              </a:path>
              <a:path w="373379" h="1198879">
                <a:moveTo>
                  <a:pt x="54394" y="1162646"/>
                </a:moveTo>
                <a:lnTo>
                  <a:pt x="17678" y="1152486"/>
                </a:lnTo>
                <a:lnTo>
                  <a:pt x="26562" y="1120365"/>
                </a:lnTo>
                <a:lnTo>
                  <a:pt x="39839" y="1143800"/>
                </a:lnTo>
                <a:lnTo>
                  <a:pt x="59606" y="1143800"/>
                </a:lnTo>
                <a:lnTo>
                  <a:pt x="54394" y="1162646"/>
                </a:lnTo>
                <a:close/>
              </a:path>
              <a:path w="373379" h="1198879">
                <a:moveTo>
                  <a:pt x="59606" y="1143800"/>
                </a:moveTo>
                <a:lnTo>
                  <a:pt x="39839" y="1143800"/>
                </a:lnTo>
                <a:lnTo>
                  <a:pt x="63281" y="1130514"/>
                </a:lnTo>
                <a:lnTo>
                  <a:pt x="59606" y="11438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879713" y="3364445"/>
            <a:ext cx="224790" cy="1184275"/>
          </a:xfrm>
          <a:custGeom>
            <a:avLst/>
            <a:gdLst/>
            <a:ahLst/>
            <a:cxnLst/>
            <a:rect l="l" t="t" r="r" b="b"/>
            <a:pathLst>
              <a:path w="224790" h="1184275">
                <a:moveTo>
                  <a:pt x="48691" y="1127137"/>
                </a:moveTo>
                <a:lnTo>
                  <a:pt x="32455" y="1105628"/>
                </a:lnTo>
                <a:lnTo>
                  <a:pt x="187007" y="0"/>
                </a:lnTo>
                <a:lnTo>
                  <a:pt x="224739" y="5283"/>
                </a:lnTo>
                <a:lnTo>
                  <a:pt x="70184" y="1110917"/>
                </a:lnTo>
                <a:lnTo>
                  <a:pt x="48691" y="1127137"/>
                </a:lnTo>
                <a:close/>
              </a:path>
              <a:path w="224790" h="1184275">
                <a:moveTo>
                  <a:pt x="40779" y="1183741"/>
                </a:moveTo>
                <a:lnTo>
                  <a:pt x="0" y="1062634"/>
                </a:lnTo>
                <a:lnTo>
                  <a:pt x="32455" y="1105628"/>
                </a:lnTo>
                <a:lnTo>
                  <a:pt x="27838" y="1138656"/>
                </a:lnTo>
                <a:lnTo>
                  <a:pt x="65570" y="1143927"/>
                </a:lnTo>
                <a:lnTo>
                  <a:pt x="68164" y="1143927"/>
                </a:lnTo>
                <a:lnTo>
                  <a:pt x="40779" y="1183741"/>
                </a:lnTo>
                <a:close/>
              </a:path>
              <a:path w="224790" h="1184275">
                <a:moveTo>
                  <a:pt x="68164" y="1143927"/>
                </a:moveTo>
                <a:lnTo>
                  <a:pt x="65570" y="1143927"/>
                </a:lnTo>
                <a:lnTo>
                  <a:pt x="70184" y="1110917"/>
                </a:lnTo>
                <a:lnTo>
                  <a:pt x="113195" y="1078458"/>
                </a:lnTo>
                <a:lnTo>
                  <a:pt x="68164" y="1143927"/>
                </a:lnTo>
                <a:close/>
              </a:path>
              <a:path w="224790" h="1184275">
                <a:moveTo>
                  <a:pt x="65570" y="1143927"/>
                </a:moveTo>
                <a:lnTo>
                  <a:pt x="27838" y="1138656"/>
                </a:lnTo>
                <a:lnTo>
                  <a:pt x="32455" y="1105628"/>
                </a:lnTo>
                <a:lnTo>
                  <a:pt x="48691" y="1127137"/>
                </a:lnTo>
                <a:lnTo>
                  <a:pt x="67917" y="1127137"/>
                </a:lnTo>
                <a:lnTo>
                  <a:pt x="65570" y="1143927"/>
                </a:lnTo>
                <a:close/>
              </a:path>
              <a:path w="224790" h="1184275">
                <a:moveTo>
                  <a:pt x="67917" y="1127137"/>
                </a:moveTo>
                <a:lnTo>
                  <a:pt x="48691" y="1127137"/>
                </a:lnTo>
                <a:lnTo>
                  <a:pt x="70184" y="1110917"/>
                </a:lnTo>
                <a:lnTo>
                  <a:pt x="67917" y="11271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186024" y="3342678"/>
            <a:ext cx="114300" cy="1219835"/>
          </a:xfrm>
          <a:custGeom>
            <a:avLst/>
            <a:gdLst/>
            <a:ahLst/>
            <a:cxnLst/>
            <a:rect l="l" t="t" r="r" b="b"/>
            <a:pathLst>
              <a:path w="114300" h="1219835">
                <a:moveTo>
                  <a:pt x="55333" y="1162672"/>
                </a:moveTo>
                <a:lnTo>
                  <a:pt x="36893" y="1143042"/>
                </a:lnTo>
                <a:lnTo>
                  <a:pt x="72605" y="0"/>
                </a:lnTo>
                <a:lnTo>
                  <a:pt x="110693" y="1193"/>
                </a:lnTo>
                <a:lnTo>
                  <a:pt x="74967" y="1144231"/>
                </a:lnTo>
                <a:lnTo>
                  <a:pt x="55333" y="1162672"/>
                </a:lnTo>
                <a:close/>
              </a:path>
              <a:path w="114300" h="1219835">
                <a:moveTo>
                  <a:pt x="53555" y="1219796"/>
                </a:moveTo>
                <a:lnTo>
                  <a:pt x="0" y="1103769"/>
                </a:lnTo>
                <a:lnTo>
                  <a:pt x="36893" y="1143042"/>
                </a:lnTo>
                <a:lnTo>
                  <a:pt x="35852" y="1176362"/>
                </a:lnTo>
                <a:lnTo>
                  <a:pt x="73926" y="1177544"/>
                </a:lnTo>
                <a:lnTo>
                  <a:pt x="76359" y="1177544"/>
                </a:lnTo>
                <a:lnTo>
                  <a:pt x="53555" y="1219796"/>
                </a:lnTo>
                <a:close/>
              </a:path>
              <a:path w="114300" h="1219835">
                <a:moveTo>
                  <a:pt x="76359" y="1177544"/>
                </a:moveTo>
                <a:lnTo>
                  <a:pt x="73926" y="1177544"/>
                </a:lnTo>
                <a:lnTo>
                  <a:pt x="74967" y="1144231"/>
                </a:lnTo>
                <a:lnTo>
                  <a:pt x="114249" y="1107338"/>
                </a:lnTo>
                <a:lnTo>
                  <a:pt x="76359" y="1177544"/>
                </a:lnTo>
                <a:close/>
              </a:path>
              <a:path w="114300" h="1219835">
                <a:moveTo>
                  <a:pt x="73926" y="1177544"/>
                </a:moveTo>
                <a:lnTo>
                  <a:pt x="35852" y="1176362"/>
                </a:lnTo>
                <a:lnTo>
                  <a:pt x="36893" y="1143042"/>
                </a:lnTo>
                <a:lnTo>
                  <a:pt x="55333" y="1162672"/>
                </a:lnTo>
                <a:lnTo>
                  <a:pt x="74391" y="1162672"/>
                </a:lnTo>
                <a:lnTo>
                  <a:pt x="73926" y="1177544"/>
                </a:lnTo>
                <a:close/>
              </a:path>
              <a:path w="114300" h="1219835">
                <a:moveTo>
                  <a:pt x="74391" y="1162672"/>
                </a:moveTo>
                <a:lnTo>
                  <a:pt x="55333" y="1162672"/>
                </a:lnTo>
                <a:lnTo>
                  <a:pt x="74967" y="1144231"/>
                </a:lnTo>
                <a:lnTo>
                  <a:pt x="74391" y="116267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469617" y="3802024"/>
            <a:ext cx="700405" cy="775335"/>
          </a:xfrm>
          <a:custGeom>
            <a:avLst/>
            <a:gdLst/>
            <a:ahLst/>
            <a:cxnLst/>
            <a:rect l="l" t="t" r="r" b="b"/>
            <a:pathLst>
              <a:path w="700404" h="775335">
                <a:moveTo>
                  <a:pt x="661733" y="732256"/>
                </a:moveTo>
                <a:lnTo>
                  <a:pt x="634832" y="730842"/>
                </a:lnTo>
                <a:lnTo>
                  <a:pt x="0" y="25476"/>
                </a:lnTo>
                <a:lnTo>
                  <a:pt x="28321" y="0"/>
                </a:lnTo>
                <a:lnTo>
                  <a:pt x="663151" y="705352"/>
                </a:lnTo>
                <a:lnTo>
                  <a:pt x="661733" y="732256"/>
                </a:lnTo>
                <a:close/>
              </a:path>
              <a:path w="700404" h="775335">
                <a:moveTo>
                  <a:pt x="694689" y="755624"/>
                </a:moveTo>
                <a:lnTo>
                  <a:pt x="657136" y="755624"/>
                </a:lnTo>
                <a:lnTo>
                  <a:pt x="685457" y="730135"/>
                </a:lnTo>
                <a:lnTo>
                  <a:pt x="663151" y="705352"/>
                </a:lnTo>
                <a:lnTo>
                  <a:pt x="665988" y="651548"/>
                </a:lnTo>
                <a:lnTo>
                  <a:pt x="694689" y="755624"/>
                </a:lnTo>
                <a:close/>
              </a:path>
              <a:path w="700404" h="775335">
                <a:moveTo>
                  <a:pt x="683100" y="732256"/>
                </a:moveTo>
                <a:lnTo>
                  <a:pt x="661733" y="732256"/>
                </a:lnTo>
                <a:lnTo>
                  <a:pt x="663151" y="705352"/>
                </a:lnTo>
                <a:lnTo>
                  <a:pt x="685457" y="730135"/>
                </a:lnTo>
                <a:lnTo>
                  <a:pt x="683100" y="732256"/>
                </a:lnTo>
                <a:close/>
              </a:path>
              <a:path w="700404" h="775335">
                <a:moveTo>
                  <a:pt x="699960" y="774738"/>
                </a:moveTo>
                <a:lnTo>
                  <a:pt x="581025" y="728014"/>
                </a:lnTo>
                <a:lnTo>
                  <a:pt x="634832" y="730842"/>
                </a:lnTo>
                <a:lnTo>
                  <a:pt x="657136" y="755624"/>
                </a:lnTo>
                <a:lnTo>
                  <a:pt x="694689" y="755624"/>
                </a:lnTo>
                <a:lnTo>
                  <a:pt x="699960" y="774738"/>
                </a:lnTo>
                <a:close/>
              </a:path>
              <a:path w="700404" h="775335">
                <a:moveTo>
                  <a:pt x="657136" y="755624"/>
                </a:moveTo>
                <a:lnTo>
                  <a:pt x="634832" y="730842"/>
                </a:lnTo>
                <a:lnTo>
                  <a:pt x="661733" y="732256"/>
                </a:lnTo>
                <a:lnTo>
                  <a:pt x="683100" y="732256"/>
                </a:lnTo>
                <a:lnTo>
                  <a:pt x="657136" y="75562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233371" y="3883863"/>
            <a:ext cx="203835" cy="728345"/>
          </a:xfrm>
          <a:custGeom>
            <a:avLst/>
            <a:gdLst/>
            <a:ahLst/>
            <a:cxnLst/>
            <a:rect l="l" t="t" r="r" b="b"/>
            <a:pathLst>
              <a:path w="203834" h="728345">
                <a:moveTo>
                  <a:pt x="159257" y="671906"/>
                </a:moveTo>
                <a:lnTo>
                  <a:pt x="136695" y="657187"/>
                </a:lnTo>
                <a:lnTo>
                  <a:pt x="0" y="7848"/>
                </a:lnTo>
                <a:lnTo>
                  <a:pt x="37274" y="0"/>
                </a:lnTo>
                <a:lnTo>
                  <a:pt x="173980" y="649333"/>
                </a:lnTo>
                <a:lnTo>
                  <a:pt x="159257" y="671906"/>
                </a:lnTo>
                <a:close/>
              </a:path>
              <a:path w="203834" h="728345">
                <a:moveTo>
                  <a:pt x="180991" y="689800"/>
                </a:moveTo>
                <a:lnTo>
                  <a:pt x="143560" y="689800"/>
                </a:lnTo>
                <a:lnTo>
                  <a:pt x="180848" y="681951"/>
                </a:lnTo>
                <a:lnTo>
                  <a:pt x="173980" y="649333"/>
                </a:lnTo>
                <a:lnTo>
                  <a:pt x="203415" y="604202"/>
                </a:lnTo>
                <a:lnTo>
                  <a:pt x="180991" y="689800"/>
                </a:lnTo>
                <a:close/>
              </a:path>
              <a:path w="203834" h="728345">
                <a:moveTo>
                  <a:pt x="171030" y="727824"/>
                </a:moveTo>
                <a:lnTo>
                  <a:pt x="91566" y="627748"/>
                </a:lnTo>
                <a:lnTo>
                  <a:pt x="136695" y="657187"/>
                </a:lnTo>
                <a:lnTo>
                  <a:pt x="143560" y="689800"/>
                </a:lnTo>
                <a:lnTo>
                  <a:pt x="180991" y="689800"/>
                </a:lnTo>
                <a:lnTo>
                  <a:pt x="171030" y="727824"/>
                </a:lnTo>
                <a:close/>
              </a:path>
              <a:path w="203834" h="728345">
                <a:moveTo>
                  <a:pt x="178733" y="671906"/>
                </a:moveTo>
                <a:lnTo>
                  <a:pt x="159257" y="671906"/>
                </a:lnTo>
                <a:lnTo>
                  <a:pt x="173980" y="649333"/>
                </a:lnTo>
                <a:lnTo>
                  <a:pt x="178733" y="671906"/>
                </a:lnTo>
                <a:close/>
              </a:path>
              <a:path w="203834" h="728345">
                <a:moveTo>
                  <a:pt x="143560" y="689800"/>
                </a:moveTo>
                <a:lnTo>
                  <a:pt x="136695" y="657187"/>
                </a:lnTo>
                <a:lnTo>
                  <a:pt x="159257" y="671906"/>
                </a:lnTo>
                <a:lnTo>
                  <a:pt x="178733" y="671906"/>
                </a:lnTo>
                <a:lnTo>
                  <a:pt x="180848" y="681951"/>
                </a:lnTo>
                <a:lnTo>
                  <a:pt x="143560" y="6898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364131" y="3879799"/>
            <a:ext cx="422909" cy="708660"/>
          </a:xfrm>
          <a:custGeom>
            <a:avLst/>
            <a:gdLst/>
            <a:ahLst/>
            <a:cxnLst/>
            <a:rect l="l" t="t" r="r" b="b"/>
            <a:pathLst>
              <a:path w="422909" h="708660">
                <a:moveTo>
                  <a:pt x="394119" y="658672"/>
                </a:moveTo>
                <a:lnTo>
                  <a:pt x="368083" y="651791"/>
                </a:lnTo>
                <a:lnTo>
                  <a:pt x="0" y="19151"/>
                </a:lnTo>
                <a:lnTo>
                  <a:pt x="32931" y="0"/>
                </a:lnTo>
                <a:lnTo>
                  <a:pt x="401007" y="632627"/>
                </a:lnTo>
                <a:lnTo>
                  <a:pt x="394119" y="658672"/>
                </a:lnTo>
                <a:close/>
              </a:path>
              <a:path w="422909" h="708660">
                <a:moveTo>
                  <a:pt x="421119" y="680605"/>
                </a:moveTo>
                <a:lnTo>
                  <a:pt x="384848" y="680605"/>
                </a:lnTo>
                <a:lnTo>
                  <a:pt x="417779" y="661454"/>
                </a:lnTo>
                <a:lnTo>
                  <a:pt x="401007" y="632627"/>
                </a:lnTo>
                <a:lnTo>
                  <a:pt x="414782" y="580542"/>
                </a:lnTo>
                <a:lnTo>
                  <a:pt x="421119" y="680605"/>
                </a:lnTo>
                <a:close/>
              </a:path>
              <a:path w="422909" h="708660">
                <a:moveTo>
                  <a:pt x="416160" y="658672"/>
                </a:moveTo>
                <a:lnTo>
                  <a:pt x="394119" y="658672"/>
                </a:lnTo>
                <a:lnTo>
                  <a:pt x="401007" y="632627"/>
                </a:lnTo>
                <a:lnTo>
                  <a:pt x="416160" y="658672"/>
                </a:lnTo>
                <a:close/>
              </a:path>
              <a:path w="422909" h="708660">
                <a:moveTo>
                  <a:pt x="422859" y="708075"/>
                </a:moveTo>
                <a:lnTo>
                  <a:pt x="315988" y="638022"/>
                </a:lnTo>
                <a:lnTo>
                  <a:pt x="368083" y="651791"/>
                </a:lnTo>
                <a:lnTo>
                  <a:pt x="384848" y="680605"/>
                </a:lnTo>
                <a:lnTo>
                  <a:pt x="421119" y="680605"/>
                </a:lnTo>
                <a:lnTo>
                  <a:pt x="422859" y="708075"/>
                </a:lnTo>
                <a:close/>
              </a:path>
              <a:path w="422909" h="708660">
                <a:moveTo>
                  <a:pt x="384848" y="680605"/>
                </a:moveTo>
                <a:lnTo>
                  <a:pt x="368083" y="651791"/>
                </a:lnTo>
                <a:lnTo>
                  <a:pt x="394119" y="658672"/>
                </a:lnTo>
                <a:lnTo>
                  <a:pt x="416160" y="658672"/>
                </a:lnTo>
                <a:lnTo>
                  <a:pt x="417779" y="661454"/>
                </a:lnTo>
                <a:lnTo>
                  <a:pt x="384848" y="680605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622804" y="3846512"/>
            <a:ext cx="1850872" cy="6692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59264" y="4004373"/>
            <a:ext cx="1049147" cy="39071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86703" y="4456112"/>
            <a:ext cx="1850872" cy="6692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28651" y="4616462"/>
            <a:ext cx="1422095" cy="38075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94933" y="3971772"/>
            <a:ext cx="548005" cy="517525"/>
          </a:xfrm>
          <a:custGeom>
            <a:avLst/>
            <a:gdLst/>
            <a:ahLst/>
            <a:cxnLst/>
            <a:rect l="l" t="t" r="r" b="b"/>
            <a:pathLst>
              <a:path w="548004" h="517525">
                <a:moveTo>
                  <a:pt x="478883" y="478722"/>
                </a:moveTo>
                <a:lnTo>
                  <a:pt x="0" y="27736"/>
                </a:lnTo>
                <a:lnTo>
                  <a:pt x="26123" y="0"/>
                </a:lnTo>
                <a:lnTo>
                  <a:pt x="505020" y="450998"/>
                </a:lnTo>
                <a:lnTo>
                  <a:pt x="505828" y="477913"/>
                </a:lnTo>
                <a:lnTo>
                  <a:pt x="478883" y="478722"/>
                </a:lnTo>
                <a:close/>
              </a:path>
              <a:path w="548004" h="517525">
                <a:moveTo>
                  <a:pt x="541742" y="501586"/>
                </a:moveTo>
                <a:lnTo>
                  <a:pt x="503161" y="501586"/>
                </a:lnTo>
                <a:lnTo>
                  <a:pt x="529285" y="473849"/>
                </a:lnTo>
                <a:lnTo>
                  <a:pt x="505020" y="450998"/>
                </a:lnTo>
                <a:lnTo>
                  <a:pt x="503402" y="397128"/>
                </a:lnTo>
                <a:lnTo>
                  <a:pt x="541742" y="501586"/>
                </a:lnTo>
                <a:close/>
              </a:path>
              <a:path w="548004" h="517525">
                <a:moveTo>
                  <a:pt x="503161" y="501586"/>
                </a:moveTo>
                <a:lnTo>
                  <a:pt x="478883" y="478722"/>
                </a:lnTo>
                <a:lnTo>
                  <a:pt x="505828" y="477913"/>
                </a:lnTo>
                <a:lnTo>
                  <a:pt x="505020" y="450998"/>
                </a:lnTo>
                <a:lnTo>
                  <a:pt x="529285" y="473849"/>
                </a:lnTo>
                <a:lnTo>
                  <a:pt x="503161" y="501586"/>
                </a:lnTo>
                <a:close/>
              </a:path>
              <a:path w="548004" h="517525">
                <a:moveTo>
                  <a:pt x="547433" y="517093"/>
                </a:moveTo>
                <a:lnTo>
                  <a:pt x="425043" y="480339"/>
                </a:lnTo>
                <a:lnTo>
                  <a:pt x="478883" y="478722"/>
                </a:lnTo>
                <a:lnTo>
                  <a:pt x="503161" y="501586"/>
                </a:lnTo>
                <a:lnTo>
                  <a:pt x="541742" y="501586"/>
                </a:lnTo>
                <a:lnTo>
                  <a:pt x="547433" y="51709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52543" y="4190174"/>
            <a:ext cx="1529715" cy="485775"/>
          </a:xfrm>
          <a:custGeom>
            <a:avLst/>
            <a:gdLst/>
            <a:ahLst/>
            <a:cxnLst/>
            <a:rect l="l" t="t" r="r" b="b"/>
            <a:pathLst>
              <a:path w="1529714" h="485775">
                <a:moveTo>
                  <a:pt x="1450848" y="459739"/>
                </a:moveTo>
                <a:lnTo>
                  <a:pt x="0" y="36575"/>
                </a:lnTo>
                <a:lnTo>
                  <a:pt x="10668" y="0"/>
                </a:lnTo>
                <a:lnTo>
                  <a:pt x="1461515" y="423163"/>
                </a:lnTo>
                <a:lnTo>
                  <a:pt x="1474470" y="446786"/>
                </a:lnTo>
                <a:lnTo>
                  <a:pt x="1450848" y="459739"/>
                </a:lnTo>
                <a:close/>
              </a:path>
              <a:path w="1529714" h="485775">
                <a:moveTo>
                  <a:pt x="1494758" y="469074"/>
                </a:moveTo>
                <a:lnTo>
                  <a:pt x="1482852" y="469074"/>
                </a:lnTo>
                <a:lnTo>
                  <a:pt x="1493520" y="432498"/>
                </a:lnTo>
                <a:lnTo>
                  <a:pt x="1461516" y="423163"/>
                </a:lnTo>
                <a:lnTo>
                  <a:pt x="1435608" y="375920"/>
                </a:lnTo>
                <a:lnTo>
                  <a:pt x="1529334" y="462788"/>
                </a:lnTo>
                <a:lnTo>
                  <a:pt x="1494758" y="469074"/>
                </a:lnTo>
                <a:close/>
              </a:path>
              <a:path w="1529714" h="485775">
                <a:moveTo>
                  <a:pt x="1482852" y="469074"/>
                </a:moveTo>
                <a:lnTo>
                  <a:pt x="1450848" y="459739"/>
                </a:lnTo>
                <a:lnTo>
                  <a:pt x="1474470" y="446786"/>
                </a:lnTo>
                <a:lnTo>
                  <a:pt x="1461516" y="423163"/>
                </a:lnTo>
                <a:lnTo>
                  <a:pt x="1493520" y="432498"/>
                </a:lnTo>
                <a:lnTo>
                  <a:pt x="1482852" y="469074"/>
                </a:lnTo>
                <a:close/>
              </a:path>
              <a:path w="1529714" h="485775">
                <a:moveTo>
                  <a:pt x="1403603" y="485648"/>
                </a:moveTo>
                <a:lnTo>
                  <a:pt x="1450848" y="459739"/>
                </a:lnTo>
                <a:lnTo>
                  <a:pt x="1482852" y="469074"/>
                </a:lnTo>
                <a:lnTo>
                  <a:pt x="1494758" y="469074"/>
                </a:lnTo>
                <a:lnTo>
                  <a:pt x="1403603" y="48564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112969" y="4833149"/>
            <a:ext cx="793115" cy="270510"/>
          </a:xfrm>
          <a:custGeom>
            <a:avLst/>
            <a:gdLst/>
            <a:ahLst/>
            <a:cxnLst/>
            <a:rect l="l" t="t" r="r" b="b"/>
            <a:pathLst>
              <a:path w="793114" h="270510">
                <a:moveTo>
                  <a:pt x="714214" y="25960"/>
                </a:moveTo>
                <a:lnTo>
                  <a:pt x="667016" y="0"/>
                </a:lnTo>
                <a:lnTo>
                  <a:pt x="758025" y="16662"/>
                </a:lnTo>
                <a:lnTo>
                  <a:pt x="746239" y="16662"/>
                </a:lnTo>
                <a:lnTo>
                  <a:pt x="714214" y="25960"/>
                </a:lnTo>
                <a:close/>
              </a:path>
              <a:path w="793114" h="270510">
                <a:moveTo>
                  <a:pt x="724847" y="62556"/>
                </a:moveTo>
                <a:lnTo>
                  <a:pt x="737831" y="38950"/>
                </a:lnTo>
                <a:lnTo>
                  <a:pt x="714214" y="25960"/>
                </a:lnTo>
                <a:lnTo>
                  <a:pt x="746239" y="16662"/>
                </a:lnTo>
                <a:lnTo>
                  <a:pt x="756856" y="53263"/>
                </a:lnTo>
                <a:lnTo>
                  <a:pt x="724847" y="62556"/>
                </a:lnTo>
                <a:close/>
              </a:path>
              <a:path w="793114" h="270510">
                <a:moveTo>
                  <a:pt x="698880" y="109766"/>
                </a:moveTo>
                <a:lnTo>
                  <a:pt x="724847" y="62556"/>
                </a:lnTo>
                <a:lnTo>
                  <a:pt x="756856" y="53263"/>
                </a:lnTo>
                <a:lnTo>
                  <a:pt x="746239" y="16662"/>
                </a:lnTo>
                <a:lnTo>
                  <a:pt x="758025" y="16662"/>
                </a:lnTo>
                <a:lnTo>
                  <a:pt x="792708" y="23012"/>
                </a:lnTo>
                <a:lnTo>
                  <a:pt x="698880" y="109766"/>
                </a:lnTo>
                <a:close/>
              </a:path>
              <a:path w="793114" h="270510">
                <a:moveTo>
                  <a:pt x="10629" y="269913"/>
                </a:moveTo>
                <a:lnTo>
                  <a:pt x="0" y="233324"/>
                </a:lnTo>
                <a:lnTo>
                  <a:pt x="714214" y="25960"/>
                </a:lnTo>
                <a:lnTo>
                  <a:pt x="737831" y="38950"/>
                </a:lnTo>
                <a:lnTo>
                  <a:pt x="724847" y="62556"/>
                </a:lnTo>
                <a:lnTo>
                  <a:pt x="10629" y="26991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184942" y="5573712"/>
            <a:ext cx="2790596" cy="87248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77943" y="5784151"/>
            <a:ext cx="1815668" cy="47600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29043" y="4998720"/>
            <a:ext cx="1260475" cy="802005"/>
          </a:xfrm>
          <a:custGeom>
            <a:avLst/>
            <a:gdLst/>
            <a:ahLst/>
            <a:cxnLst/>
            <a:rect l="l" t="t" r="r" b="b"/>
            <a:pathLst>
              <a:path w="1260475" h="802004">
                <a:moveTo>
                  <a:pt x="450400" y="573024"/>
                </a:moveTo>
                <a:lnTo>
                  <a:pt x="286511" y="573024"/>
                </a:lnTo>
                <a:lnTo>
                  <a:pt x="1216152" y="0"/>
                </a:lnTo>
                <a:lnTo>
                  <a:pt x="1260348" y="71627"/>
                </a:lnTo>
                <a:lnTo>
                  <a:pt x="450400" y="573024"/>
                </a:lnTo>
                <a:close/>
              </a:path>
              <a:path w="1260475" h="802004">
                <a:moveTo>
                  <a:pt x="0" y="801624"/>
                </a:moveTo>
                <a:lnTo>
                  <a:pt x="265175" y="537971"/>
                </a:lnTo>
                <a:lnTo>
                  <a:pt x="286511" y="573024"/>
                </a:lnTo>
                <a:lnTo>
                  <a:pt x="450400" y="573024"/>
                </a:lnTo>
                <a:lnTo>
                  <a:pt x="332231" y="646176"/>
                </a:lnTo>
                <a:lnTo>
                  <a:pt x="353567" y="682751"/>
                </a:lnTo>
                <a:lnTo>
                  <a:pt x="0" y="80162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10819" y="4992204"/>
            <a:ext cx="1285875" cy="819150"/>
          </a:xfrm>
          <a:custGeom>
            <a:avLst/>
            <a:gdLst/>
            <a:ahLst/>
            <a:cxnLst/>
            <a:rect l="l" t="t" r="r" b="b"/>
            <a:pathLst>
              <a:path w="1285875" h="819150">
                <a:moveTo>
                  <a:pt x="318268" y="577735"/>
                </a:moveTo>
                <a:lnTo>
                  <a:pt x="309206" y="577735"/>
                </a:lnTo>
                <a:lnTo>
                  <a:pt x="306705" y="573684"/>
                </a:lnTo>
                <a:lnTo>
                  <a:pt x="1235646" y="0"/>
                </a:lnTo>
                <a:lnTo>
                  <a:pt x="1241238" y="9055"/>
                </a:lnTo>
                <a:lnTo>
                  <a:pt x="1230045" y="9055"/>
                </a:lnTo>
                <a:lnTo>
                  <a:pt x="1232547" y="13106"/>
                </a:lnTo>
                <a:lnTo>
                  <a:pt x="318268" y="577735"/>
                </a:lnTo>
                <a:close/>
              </a:path>
              <a:path w="1285875" h="819150">
                <a:moveTo>
                  <a:pt x="1232547" y="13106"/>
                </a:moveTo>
                <a:lnTo>
                  <a:pt x="1230045" y="9055"/>
                </a:lnTo>
                <a:lnTo>
                  <a:pt x="1236599" y="10604"/>
                </a:lnTo>
                <a:lnTo>
                  <a:pt x="1232547" y="13106"/>
                </a:lnTo>
                <a:close/>
              </a:path>
              <a:path w="1285875" h="819150">
                <a:moveTo>
                  <a:pt x="1272171" y="77266"/>
                </a:moveTo>
                <a:lnTo>
                  <a:pt x="1232547" y="13106"/>
                </a:lnTo>
                <a:lnTo>
                  <a:pt x="1236599" y="10604"/>
                </a:lnTo>
                <a:lnTo>
                  <a:pt x="1230045" y="9055"/>
                </a:lnTo>
                <a:lnTo>
                  <a:pt x="1241238" y="9055"/>
                </a:lnTo>
                <a:lnTo>
                  <a:pt x="1281819" y="74764"/>
                </a:lnTo>
                <a:lnTo>
                  <a:pt x="1276223" y="74764"/>
                </a:lnTo>
                <a:lnTo>
                  <a:pt x="1272171" y="77266"/>
                </a:lnTo>
                <a:close/>
              </a:path>
              <a:path w="1285875" h="819150">
                <a:moveTo>
                  <a:pt x="1274673" y="81318"/>
                </a:moveTo>
                <a:lnTo>
                  <a:pt x="1272171" y="77266"/>
                </a:lnTo>
                <a:lnTo>
                  <a:pt x="1276223" y="74764"/>
                </a:lnTo>
                <a:lnTo>
                  <a:pt x="1274673" y="81318"/>
                </a:lnTo>
                <a:close/>
              </a:path>
              <a:path w="1285875" h="819150">
                <a:moveTo>
                  <a:pt x="1283735" y="81318"/>
                </a:moveTo>
                <a:lnTo>
                  <a:pt x="1274673" y="81318"/>
                </a:lnTo>
                <a:lnTo>
                  <a:pt x="1276223" y="74764"/>
                </a:lnTo>
                <a:lnTo>
                  <a:pt x="1281819" y="74764"/>
                </a:lnTo>
                <a:lnTo>
                  <a:pt x="1285278" y="80365"/>
                </a:lnTo>
                <a:lnTo>
                  <a:pt x="1283735" y="81318"/>
                </a:lnTo>
                <a:close/>
              </a:path>
              <a:path w="1285875" h="819150">
                <a:moveTo>
                  <a:pt x="364889" y="686023"/>
                </a:moveTo>
                <a:lnTo>
                  <a:pt x="343230" y="650951"/>
                </a:lnTo>
                <a:lnTo>
                  <a:pt x="1272171" y="77266"/>
                </a:lnTo>
                <a:lnTo>
                  <a:pt x="1274673" y="81318"/>
                </a:lnTo>
                <a:lnTo>
                  <a:pt x="1283735" y="81318"/>
                </a:lnTo>
                <a:lnTo>
                  <a:pt x="362896" y="649998"/>
                </a:lnTo>
                <a:lnTo>
                  <a:pt x="353834" y="649998"/>
                </a:lnTo>
                <a:lnTo>
                  <a:pt x="352285" y="656551"/>
                </a:lnTo>
                <a:lnTo>
                  <a:pt x="357881" y="656551"/>
                </a:lnTo>
                <a:lnTo>
                  <a:pt x="374898" y="684110"/>
                </a:lnTo>
                <a:lnTo>
                  <a:pt x="370586" y="684110"/>
                </a:lnTo>
                <a:lnTo>
                  <a:pt x="364889" y="686023"/>
                </a:lnTo>
                <a:close/>
              </a:path>
              <a:path w="1285875" h="819150">
                <a:moveTo>
                  <a:pt x="0" y="818603"/>
                </a:moveTo>
                <a:lnTo>
                  <a:pt x="283743" y="536498"/>
                </a:lnTo>
                <a:lnTo>
                  <a:pt x="289985" y="546608"/>
                </a:lnTo>
                <a:lnTo>
                  <a:pt x="278790" y="546608"/>
                </a:lnTo>
                <a:lnTo>
                  <a:pt x="281947" y="551719"/>
                </a:lnTo>
                <a:lnTo>
                  <a:pt x="35668" y="796570"/>
                </a:lnTo>
                <a:lnTo>
                  <a:pt x="16306" y="803071"/>
                </a:lnTo>
                <a:lnTo>
                  <a:pt x="21183" y="810971"/>
                </a:lnTo>
                <a:lnTo>
                  <a:pt x="22729" y="810971"/>
                </a:lnTo>
                <a:lnTo>
                  <a:pt x="0" y="818603"/>
                </a:lnTo>
                <a:close/>
              </a:path>
              <a:path w="1285875" h="819150">
                <a:moveTo>
                  <a:pt x="281947" y="551719"/>
                </a:moveTo>
                <a:lnTo>
                  <a:pt x="278790" y="546608"/>
                </a:lnTo>
                <a:lnTo>
                  <a:pt x="286207" y="547484"/>
                </a:lnTo>
                <a:lnTo>
                  <a:pt x="281947" y="551719"/>
                </a:lnTo>
                <a:close/>
              </a:path>
              <a:path w="1285875" h="819150">
                <a:moveTo>
                  <a:pt x="303606" y="586790"/>
                </a:moveTo>
                <a:lnTo>
                  <a:pt x="281947" y="551719"/>
                </a:lnTo>
                <a:lnTo>
                  <a:pt x="286207" y="547484"/>
                </a:lnTo>
                <a:lnTo>
                  <a:pt x="278790" y="546608"/>
                </a:lnTo>
                <a:lnTo>
                  <a:pt x="289985" y="546608"/>
                </a:lnTo>
                <a:lnTo>
                  <a:pt x="306705" y="573684"/>
                </a:lnTo>
                <a:lnTo>
                  <a:pt x="302653" y="576186"/>
                </a:lnTo>
                <a:lnTo>
                  <a:pt x="309206" y="577735"/>
                </a:lnTo>
                <a:lnTo>
                  <a:pt x="318268" y="577735"/>
                </a:lnTo>
                <a:lnTo>
                  <a:pt x="303606" y="586790"/>
                </a:lnTo>
                <a:close/>
              </a:path>
              <a:path w="1285875" h="819150">
                <a:moveTo>
                  <a:pt x="309206" y="577735"/>
                </a:moveTo>
                <a:lnTo>
                  <a:pt x="302653" y="576186"/>
                </a:lnTo>
                <a:lnTo>
                  <a:pt x="306705" y="573684"/>
                </a:lnTo>
                <a:lnTo>
                  <a:pt x="309206" y="577735"/>
                </a:lnTo>
                <a:close/>
              </a:path>
              <a:path w="1285875" h="819150">
                <a:moveTo>
                  <a:pt x="352285" y="656551"/>
                </a:moveTo>
                <a:lnTo>
                  <a:pt x="353834" y="649998"/>
                </a:lnTo>
                <a:lnTo>
                  <a:pt x="356336" y="654050"/>
                </a:lnTo>
                <a:lnTo>
                  <a:pt x="352285" y="656551"/>
                </a:lnTo>
                <a:close/>
              </a:path>
              <a:path w="1285875" h="819150">
                <a:moveTo>
                  <a:pt x="356336" y="654050"/>
                </a:moveTo>
                <a:lnTo>
                  <a:pt x="353834" y="649998"/>
                </a:lnTo>
                <a:lnTo>
                  <a:pt x="362896" y="649998"/>
                </a:lnTo>
                <a:lnTo>
                  <a:pt x="356336" y="654050"/>
                </a:lnTo>
                <a:close/>
              </a:path>
              <a:path w="1285875" h="819150">
                <a:moveTo>
                  <a:pt x="357881" y="656551"/>
                </a:moveTo>
                <a:lnTo>
                  <a:pt x="352285" y="656551"/>
                </a:lnTo>
                <a:lnTo>
                  <a:pt x="356336" y="654050"/>
                </a:lnTo>
                <a:lnTo>
                  <a:pt x="357881" y="656551"/>
                </a:lnTo>
                <a:close/>
              </a:path>
              <a:path w="1285875" h="819150">
                <a:moveTo>
                  <a:pt x="368046" y="691134"/>
                </a:moveTo>
                <a:lnTo>
                  <a:pt x="364889" y="686023"/>
                </a:lnTo>
                <a:lnTo>
                  <a:pt x="370586" y="684110"/>
                </a:lnTo>
                <a:lnTo>
                  <a:pt x="368046" y="691134"/>
                </a:lnTo>
                <a:close/>
              </a:path>
              <a:path w="1285875" h="819150">
                <a:moveTo>
                  <a:pt x="379235" y="691134"/>
                </a:moveTo>
                <a:lnTo>
                  <a:pt x="368046" y="691134"/>
                </a:lnTo>
                <a:lnTo>
                  <a:pt x="370586" y="684110"/>
                </a:lnTo>
                <a:lnTo>
                  <a:pt x="374898" y="684110"/>
                </a:lnTo>
                <a:lnTo>
                  <a:pt x="379235" y="691134"/>
                </a:lnTo>
                <a:close/>
              </a:path>
              <a:path w="1285875" h="819150">
                <a:moveTo>
                  <a:pt x="22729" y="810971"/>
                </a:moveTo>
                <a:lnTo>
                  <a:pt x="21183" y="810971"/>
                </a:lnTo>
                <a:lnTo>
                  <a:pt x="35668" y="796570"/>
                </a:lnTo>
                <a:lnTo>
                  <a:pt x="364889" y="686023"/>
                </a:lnTo>
                <a:lnTo>
                  <a:pt x="368046" y="691134"/>
                </a:lnTo>
                <a:lnTo>
                  <a:pt x="379235" y="691134"/>
                </a:lnTo>
                <a:lnTo>
                  <a:pt x="22729" y="810971"/>
                </a:lnTo>
                <a:close/>
              </a:path>
              <a:path w="1285875" h="819150">
                <a:moveTo>
                  <a:pt x="21183" y="810971"/>
                </a:moveTo>
                <a:lnTo>
                  <a:pt x="16306" y="803071"/>
                </a:lnTo>
                <a:lnTo>
                  <a:pt x="35668" y="796570"/>
                </a:lnTo>
                <a:lnTo>
                  <a:pt x="21183" y="810971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419088" y="5129784"/>
            <a:ext cx="220979" cy="513715"/>
          </a:xfrm>
          <a:custGeom>
            <a:avLst/>
            <a:gdLst/>
            <a:ahLst/>
            <a:cxnLst/>
            <a:rect l="l" t="t" r="r" b="b"/>
            <a:pathLst>
              <a:path w="220979" h="513714">
                <a:moveTo>
                  <a:pt x="114570" y="377951"/>
                </a:moveTo>
                <a:lnTo>
                  <a:pt x="36575" y="377951"/>
                </a:lnTo>
                <a:lnTo>
                  <a:pt x="147828" y="0"/>
                </a:lnTo>
                <a:lnTo>
                  <a:pt x="220980" y="21336"/>
                </a:lnTo>
                <a:lnTo>
                  <a:pt x="114570" y="377951"/>
                </a:lnTo>
                <a:close/>
              </a:path>
              <a:path w="220979" h="513714">
                <a:moveTo>
                  <a:pt x="35051" y="513588"/>
                </a:moveTo>
                <a:lnTo>
                  <a:pt x="0" y="367283"/>
                </a:lnTo>
                <a:lnTo>
                  <a:pt x="36575" y="377951"/>
                </a:lnTo>
                <a:lnTo>
                  <a:pt x="114570" y="377951"/>
                </a:lnTo>
                <a:lnTo>
                  <a:pt x="108204" y="399288"/>
                </a:lnTo>
                <a:lnTo>
                  <a:pt x="144780" y="409955"/>
                </a:lnTo>
                <a:lnTo>
                  <a:pt x="35051" y="5135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412484" y="5123459"/>
            <a:ext cx="233679" cy="529590"/>
          </a:xfrm>
          <a:custGeom>
            <a:avLst/>
            <a:gdLst/>
            <a:ahLst/>
            <a:cxnLst/>
            <a:rect l="l" t="t" r="r" b="b"/>
            <a:pathLst>
              <a:path w="233679" h="529589">
                <a:moveTo>
                  <a:pt x="48043" y="382257"/>
                </a:moveTo>
                <a:lnTo>
                  <a:pt x="38100" y="382257"/>
                </a:lnTo>
                <a:lnTo>
                  <a:pt x="44018" y="379056"/>
                </a:lnTo>
                <a:lnTo>
                  <a:pt x="39457" y="377698"/>
                </a:lnTo>
                <a:lnTo>
                  <a:pt x="151942" y="0"/>
                </a:lnTo>
                <a:lnTo>
                  <a:pt x="176377" y="7277"/>
                </a:lnTo>
                <a:lnTo>
                  <a:pt x="159715" y="7277"/>
                </a:lnTo>
                <a:lnTo>
                  <a:pt x="153796" y="10490"/>
                </a:lnTo>
                <a:lnTo>
                  <a:pt x="158354" y="11846"/>
                </a:lnTo>
                <a:lnTo>
                  <a:pt x="48043" y="382257"/>
                </a:lnTo>
                <a:close/>
              </a:path>
              <a:path w="233679" h="529589">
                <a:moveTo>
                  <a:pt x="158354" y="11846"/>
                </a:moveTo>
                <a:lnTo>
                  <a:pt x="153796" y="10490"/>
                </a:lnTo>
                <a:lnTo>
                  <a:pt x="159715" y="7277"/>
                </a:lnTo>
                <a:lnTo>
                  <a:pt x="158354" y="11846"/>
                </a:lnTo>
                <a:close/>
              </a:path>
              <a:path w="233679" h="529589">
                <a:moveTo>
                  <a:pt x="221501" y="30646"/>
                </a:moveTo>
                <a:lnTo>
                  <a:pt x="158354" y="11846"/>
                </a:lnTo>
                <a:lnTo>
                  <a:pt x="159715" y="7277"/>
                </a:lnTo>
                <a:lnTo>
                  <a:pt x="176377" y="7277"/>
                </a:lnTo>
                <a:lnTo>
                  <a:pt x="233349" y="24244"/>
                </a:lnTo>
                <a:lnTo>
                  <a:pt x="232801" y="26085"/>
                </a:lnTo>
                <a:lnTo>
                  <a:pt x="222859" y="26085"/>
                </a:lnTo>
                <a:lnTo>
                  <a:pt x="221501" y="30646"/>
                </a:lnTo>
                <a:close/>
              </a:path>
              <a:path w="233679" h="529589">
                <a:moveTo>
                  <a:pt x="226060" y="32003"/>
                </a:moveTo>
                <a:lnTo>
                  <a:pt x="221501" y="30646"/>
                </a:lnTo>
                <a:lnTo>
                  <a:pt x="222859" y="26085"/>
                </a:lnTo>
                <a:lnTo>
                  <a:pt x="226060" y="32003"/>
                </a:lnTo>
                <a:close/>
              </a:path>
              <a:path w="233679" h="529589">
                <a:moveTo>
                  <a:pt x="231038" y="32003"/>
                </a:moveTo>
                <a:lnTo>
                  <a:pt x="226060" y="32003"/>
                </a:lnTo>
                <a:lnTo>
                  <a:pt x="222859" y="26085"/>
                </a:lnTo>
                <a:lnTo>
                  <a:pt x="232801" y="26085"/>
                </a:lnTo>
                <a:lnTo>
                  <a:pt x="231038" y="32003"/>
                </a:lnTo>
                <a:close/>
              </a:path>
              <a:path w="233679" h="529589">
                <a:moveTo>
                  <a:pt x="141828" y="418126"/>
                </a:moveTo>
                <a:lnTo>
                  <a:pt x="109004" y="408355"/>
                </a:lnTo>
                <a:lnTo>
                  <a:pt x="221501" y="30646"/>
                </a:lnTo>
                <a:lnTo>
                  <a:pt x="226060" y="32003"/>
                </a:lnTo>
                <a:lnTo>
                  <a:pt x="231038" y="32003"/>
                </a:lnTo>
                <a:lnTo>
                  <a:pt x="121257" y="400583"/>
                </a:lnTo>
                <a:lnTo>
                  <a:pt x="116293" y="400583"/>
                </a:lnTo>
                <a:lnTo>
                  <a:pt x="119494" y="406501"/>
                </a:lnTo>
                <a:lnTo>
                  <a:pt x="136170" y="406501"/>
                </a:lnTo>
                <a:lnTo>
                  <a:pt x="156174" y="412457"/>
                </a:lnTo>
                <a:lnTo>
                  <a:pt x="147789" y="412457"/>
                </a:lnTo>
                <a:lnTo>
                  <a:pt x="141828" y="418126"/>
                </a:lnTo>
                <a:close/>
              </a:path>
              <a:path w="233679" h="529589">
                <a:moveTo>
                  <a:pt x="38569" y="529450"/>
                </a:moveTo>
                <a:lnTo>
                  <a:pt x="0" y="365950"/>
                </a:lnTo>
                <a:lnTo>
                  <a:pt x="19535" y="371767"/>
                </a:lnTo>
                <a:lnTo>
                  <a:pt x="11163" y="371767"/>
                </a:lnTo>
                <a:lnTo>
                  <a:pt x="5168" y="377431"/>
                </a:lnTo>
                <a:lnTo>
                  <a:pt x="13052" y="379778"/>
                </a:lnTo>
                <a:lnTo>
                  <a:pt x="44031" y="511114"/>
                </a:lnTo>
                <a:lnTo>
                  <a:pt x="38011" y="516839"/>
                </a:lnTo>
                <a:lnTo>
                  <a:pt x="45935" y="519188"/>
                </a:lnTo>
                <a:lnTo>
                  <a:pt x="49361" y="519188"/>
                </a:lnTo>
                <a:lnTo>
                  <a:pt x="38569" y="529450"/>
                </a:lnTo>
                <a:close/>
              </a:path>
              <a:path w="233679" h="529589">
                <a:moveTo>
                  <a:pt x="13052" y="379778"/>
                </a:moveTo>
                <a:lnTo>
                  <a:pt x="5168" y="377431"/>
                </a:lnTo>
                <a:lnTo>
                  <a:pt x="11163" y="371767"/>
                </a:lnTo>
                <a:lnTo>
                  <a:pt x="13052" y="379778"/>
                </a:lnTo>
                <a:close/>
              </a:path>
              <a:path w="233679" h="529589">
                <a:moveTo>
                  <a:pt x="45872" y="389547"/>
                </a:moveTo>
                <a:lnTo>
                  <a:pt x="13052" y="379778"/>
                </a:lnTo>
                <a:lnTo>
                  <a:pt x="11163" y="371767"/>
                </a:lnTo>
                <a:lnTo>
                  <a:pt x="19535" y="371767"/>
                </a:lnTo>
                <a:lnTo>
                  <a:pt x="39457" y="377698"/>
                </a:lnTo>
                <a:lnTo>
                  <a:pt x="38100" y="382257"/>
                </a:lnTo>
                <a:lnTo>
                  <a:pt x="48043" y="382257"/>
                </a:lnTo>
                <a:lnTo>
                  <a:pt x="45872" y="389547"/>
                </a:lnTo>
                <a:close/>
              </a:path>
              <a:path w="233679" h="529589">
                <a:moveTo>
                  <a:pt x="38100" y="382257"/>
                </a:moveTo>
                <a:lnTo>
                  <a:pt x="39457" y="377698"/>
                </a:lnTo>
                <a:lnTo>
                  <a:pt x="44018" y="379056"/>
                </a:lnTo>
                <a:lnTo>
                  <a:pt x="38100" y="382257"/>
                </a:lnTo>
                <a:close/>
              </a:path>
              <a:path w="233679" h="529589">
                <a:moveTo>
                  <a:pt x="119494" y="406501"/>
                </a:moveTo>
                <a:lnTo>
                  <a:pt x="116293" y="400583"/>
                </a:lnTo>
                <a:lnTo>
                  <a:pt x="120852" y="401940"/>
                </a:lnTo>
                <a:lnTo>
                  <a:pt x="119494" y="406501"/>
                </a:lnTo>
                <a:close/>
              </a:path>
              <a:path w="233679" h="529589">
                <a:moveTo>
                  <a:pt x="120852" y="401940"/>
                </a:moveTo>
                <a:lnTo>
                  <a:pt x="116293" y="400583"/>
                </a:lnTo>
                <a:lnTo>
                  <a:pt x="121257" y="400583"/>
                </a:lnTo>
                <a:lnTo>
                  <a:pt x="120852" y="401940"/>
                </a:lnTo>
                <a:close/>
              </a:path>
              <a:path w="233679" h="529589">
                <a:moveTo>
                  <a:pt x="136170" y="406501"/>
                </a:moveTo>
                <a:lnTo>
                  <a:pt x="119494" y="406501"/>
                </a:lnTo>
                <a:lnTo>
                  <a:pt x="120852" y="401940"/>
                </a:lnTo>
                <a:lnTo>
                  <a:pt x="136170" y="406501"/>
                </a:lnTo>
                <a:close/>
              </a:path>
              <a:path w="233679" h="529589">
                <a:moveTo>
                  <a:pt x="149707" y="420471"/>
                </a:moveTo>
                <a:lnTo>
                  <a:pt x="141828" y="418126"/>
                </a:lnTo>
                <a:lnTo>
                  <a:pt x="147789" y="412457"/>
                </a:lnTo>
                <a:lnTo>
                  <a:pt x="149707" y="420471"/>
                </a:lnTo>
                <a:close/>
              </a:path>
              <a:path w="233679" h="529589">
                <a:moveTo>
                  <a:pt x="153179" y="420471"/>
                </a:moveTo>
                <a:lnTo>
                  <a:pt x="149707" y="420471"/>
                </a:lnTo>
                <a:lnTo>
                  <a:pt x="147789" y="412457"/>
                </a:lnTo>
                <a:lnTo>
                  <a:pt x="156174" y="412457"/>
                </a:lnTo>
                <a:lnTo>
                  <a:pt x="160312" y="413689"/>
                </a:lnTo>
                <a:lnTo>
                  <a:pt x="153179" y="420471"/>
                </a:lnTo>
                <a:close/>
              </a:path>
              <a:path w="233679" h="529589">
                <a:moveTo>
                  <a:pt x="49361" y="519188"/>
                </a:moveTo>
                <a:lnTo>
                  <a:pt x="45935" y="519188"/>
                </a:lnTo>
                <a:lnTo>
                  <a:pt x="44031" y="511114"/>
                </a:lnTo>
                <a:lnTo>
                  <a:pt x="141828" y="418126"/>
                </a:lnTo>
                <a:lnTo>
                  <a:pt x="149707" y="420471"/>
                </a:lnTo>
                <a:lnTo>
                  <a:pt x="153179" y="420471"/>
                </a:lnTo>
                <a:lnTo>
                  <a:pt x="49361" y="519188"/>
                </a:lnTo>
                <a:close/>
              </a:path>
              <a:path w="233679" h="529589">
                <a:moveTo>
                  <a:pt x="45935" y="519188"/>
                </a:moveTo>
                <a:lnTo>
                  <a:pt x="38011" y="516839"/>
                </a:lnTo>
                <a:lnTo>
                  <a:pt x="44031" y="511114"/>
                </a:lnTo>
                <a:lnTo>
                  <a:pt x="45935" y="519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957059" y="5864352"/>
            <a:ext cx="881380" cy="220979"/>
          </a:xfrm>
          <a:custGeom>
            <a:avLst/>
            <a:gdLst/>
            <a:ahLst/>
            <a:cxnLst/>
            <a:rect l="l" t="t" r="r" b="b"/>
            <a:pathLst>
              <a:path w="881379" h="220979">
                <a:moveTo>
                  <a:pt x="797463" y="96012"/>
                </a:moveTo>
                <a:lnTo>
                  <a:pt x="211836" y="96012"/>
                </a:lnTo>
                <a:lnTo>
                  <a:pt x="868680" y="0"/>
                </a:lnTo>
                <a:lnTo>
                  <a:pt x="880872" y="83820"/>
                </a:lnTo>
                <a:lnTo>
                  <a:pt x="797463" y="96012"/>
                </a:lnTo>
                <a:close/>
              </a:path>
              <a:path w="881379" h="220979">
                <a:moveTo>
                  <a:pt x="230124" y="220980"/>
                </a:moveTo>
                <a:lnTo>
                  <a:pt x="0" y="170687"/>
                </a:lnTo>
                <a:lnTo>
                  <a:pt x="205740" y="54863"/>
                </a:lnTo>
                <a:lnTo>
                  <a:pt x="211836" y="96012"/>
                </a:lnTo>
                <a:lnTo>
                  <a:pt x="797463" y="96012"/>
                </a:lnTo>
                <a:lnTo>
                  <a:pt x="224028" y="179832"/>
                </a:lnTo>
                <a:lnTo>
                  <a:pt x="230124" y="22098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943242" y="5859678"/>
            <a:ext cx="899794" cy="232410"/>
          </a:xfrm>
          <a:custGeom>
            <a:avLst/>
            <a:gdLst/>
            <a:ahLst/>
            <a:cxnLst/>
            <a:rect l="l" t="t" r="r" b="b"/>
            <a:pathLst>
              <a:path w="899795" h="232410">
                <a:moveTo>
                  <a:pt x="263624" y="100533"/>
                </a:moveTo>
                <a:lnTo>
                  <a:pt x="230619" y="100533"/>
                </a:lnTo>
                <a:lnTo>
                  <a:pt x="229929" y="95817"/>
                </a:lnTo>
                <a:lnTo>
                  <a:pt x="886142" y="0"/>
                </a:lnTo>
                <a:lnTo>
                  <a:pt x="887031" y="6083"/>
                </a:lnTo>
                <a:lnTo>
                  <a:pt x="877404" y="6083"/>
                </a:lnTo>
                <a:lnTo>
                  <a:pt x="878093" y="10798"/>
                </a:lnTo>
                <a:lnTo>
                  <a:pt x="263624" y="100533"/>
                </a:lnTo>
                <a:close/>
              </a:path>
              <a:path w="899795" h="232410">
                <a:moveTo>
                  <a:pt x="878093" y="10798"/>
                </a:moveTo>
                <a:lnTo>
                  <a:pt x="877404" y="6083"/>
                </a:lnTo>
                <a:lnTo>
                  <a:pt x="882815" y="10109"/>
                </a:lnTo>
                <a:lnTo>
                  <a:pt x="878093" y="10798"/>
                </a:lnTo>
                <a:close/>
              </a:path>
              <a:path w="899795" h="232410">
                <a:moveTo>
                  <a:pt x="899192" y="89344"/>
                </a:moveTo>
                <a:lnTo>
                  <a:pt x="889571" y="89344"/>
                </a:lnTo>
                <a:lnTo>
                  <a:pt x="893597" y="83947"/>
                </a:lnTo>
                <a:lnTo>
                  <a:pt x="888782" y="83947"/>
                </a:lnTo>
                <a:lnTo>
                  <a:pt x="878093" y="10798"/>
                </a:lnTo>
                <a:lnTo>
                  <a:pt x="882815" y="10109"/>
                </a:lnTo>
                <a:lnTo>
                  <a:pt x="877404" y="6083"/>
                </a:lnTo>
                <a:lnTo>
                  <a:pt x="887031" y="6083"/>
                </a:lnTo>
                <a:lnTo>
                  <a:pt x="898404" y="83947"/>
                </a:lnTo>
                <a:lnTo>
                  <a:pt x="893597" y="83947"/>
                </a:lnTo>
                <a:lnTo>
                  <a:pt x="888883" y="84635"/>
                </a:lnTo>
                <a:lnTo>
                  <a:pt x="898504" y="84635"/>
                </a:lnTo>
                <a:lnTo>
                  <a:pt x="899192" y="89344"/>
                </a:lnTo>
                <a:close/>
              </a:path>
              <a:path w="899795" h="232410">
                <a:moveTo>
                  <a:pt x="249847" y="232257"/>
                </a:moveTo>
                <a:lnTo>
                  <a:pt x="0" y="176720"/>
                </a:lnTo>
                <a:lnTo>
                  <a:pt x="223532" y="52070"/>
                </a:lnTo>
                <a:lnTo>
                  <a:pt x="224734" y="60286"/>
                </a:lnTo>
                <a:lnTo>
                  <a:pt x="215112" y="60286"/>
                </a:lnTo>
                <a:lnTo>
                  <a:pt x="216110" y="67120"/>
                </a:lnTo>
                <a:lnTo>
                  <a:pt x="31363" y="170141"/>
                </a:lnTo>
                <a:lnTo>
                  <a:pt x="14274" y="170141"/>
                </a:lnTo>
                <a:lnTo>
                  <a:pt x="15557" y="178955"/>
                </a:lnTo>
                <a:lnTo>
                  <a:pt x="53939" y="178955"/>
                </a:lnTo>
                <a:lnTo>
                  <a:pt x="238422" y="219949"/>
                </a:lnTo>
                <a:lnTo>
                  <a:pt x="239420" y="226796"/>
                </a:lnTo>
                <a:lnTo>
                  <a:pt x="249049" y="226796"/>
                </a:lnTo>
                <a:lnTo>
                  <a:pt x="249847" y="232257"/>
                </a:lnTo>
                <a:close/>
              </a:path>
              <a:path w="899795" h="232410">
                <a:moveTo>
                  <a:pt x="216110" y="67120"/>
                </a:moveTo>
                <a:lnTo>
                  <a:pt x="215112" y="60286"/>
                </a:lnTo>
                <a:lnTo>
                  <a:pt x="222148" y="63753"/>
                </a:lnTo>
                <a:lnTo>
                  <a:pt x="216110" y="67120"/>
                </a:lnTo>
                <a:close/>
              </a:path>
              <a:path w="899795" h="232410">
                <a:moveTo>
                  <a:pt x="221881" y="106629"/>
                </a:moveTo>
                <a:lnTo>
                  <a:pt x="216110" y="67120"/>
                </a:lnTo>
                <a:lnTo>
                  <a:pt x="222148" y="63753"/>
                </a:lnTo>
                <a:lnTo>
                  <a:pt x="215112" y="60286"/>
                </a:lnTo>
                <a:lnTo>
                  <a:pt x="224734" y="60286"/>
                </a:lnTo>
                <a:lnTo>
                  <a:pt x="229929" y="95817"/>
                </a:lnTo>
                <a:lnTo>
                  <a:pt x="225209" y="96507"/>
                </a:lnTo>
                <a:lnTo>
                  <a:pt x="230619" y="100533"/>
                </a:lnTo>
                <a:lnTo>
                  <a:pt x="263624" y="100533"/>
                </a:lnTo>
                <a:lnTo>
                  <a:pt x="221881" y="106629"/>
                </a:lnTo>
                <a:close/>
              </a:path>
              <a:path w="899795" h="232410">
                <a:moveTo>
                  <a:pt x="889571" y="89344"/>
                </a:moveTo>
                <a:lnTo>
                  <a:pt x="888883" y="84635"/>
                </a:lnTo>
                <a:lnTo>
                  <a:pt x="893597" y="83947"/>
                </a:lnTo>
                <a:lnTo>
                  <a:pt x="889571" y="89344"/>
                </a:lnTo>
                <a:close/>
              </a:path>
              <a:path w="899795" h="232410">
                <a:moveTo>
                  <a:pt x="249049" y="226796"/>
                </a:moveTo>
                <a:lnTo>
                  <a:pt x="239420" y="226796"/>
                </a:lnTo>
                <a:lnTo>
                  <a:pt x="245173" y="221449"/>
                </a:lnTo>
                <a:lnTo>
                  <a:pt x="238422" y="219949"/>
                </a:lnTo>
                <a:lnTo>
                  <a:pt x="232664" y="180454"/>
                </a:lnTo>
                <a:lnTo>
                  <a:pt x="888883" y="84635"/>
                </a:lnTo>
                <a:lnTo>
                  <a:pt x="889571" y="89344"/>
                </a:lnTo>
                <a:lnTo>
                  <a:pt x="899192" y="89344"/>
                </a:lnTo>
                <a:lnTo>
                  <a:pt x="899680" y="92684"/>
                </a:lnTo>
                <a:lnTo>
                  <a:pt x="275712" y="183794"/>
                </a:lnTo>
                <a:lnTo>
                  <a:pt x="242773" y="183794"/>
                </a:lnTo>
                <a:lnTo>
                  <a:pt x="238747" y="189191"/>
                </a:lnTo>
                <a:lnTo>
                  <a:pt x="243561" y="189191"/>
                </a:lnTo>
                <a:lnTo>
                  <a:pt x="249049" y="226796"/>
                </a:lnTo>
                <a:close/>
              </a:path>
              <a:path w="899795" h="232410">
                <a:moveTo>
                  <a:pt x="230619" y="100533"/>
                </a:moveTo>
                <a:lnTo>
                  <a:pt x="225209" y="96507"/>
                </a:lnTo>
                <a:lnTo>
                  <a:pt x="229929" y="95817"/>
                </a:lnTo>
                <a:lnTo>
                  <a:pt x="230619" y="100533"/>
                </a:lnTo>
                <a:close/>
              </a:path>
              <a:path w="899795" h="232410">
                <a:moveTo>
                  <a:pt x="15557" y="178955"/>
                </a:moveTo>
                <a:lnTo>
                  <a:pt x="14274" y="170141"/>
                </a:lnTo>
                <a:lnTo>
                  <a:pt x="26494" y="172857"/>
                </a:lnTo>
                <a:lnTo>
                  <a:pt x="15557" y="178955"/>
                </a:lnTo>
                <a:close/>
              </a:path>
              <a:path w="899795" h="232410">
                <a:moveTo>
                  <a:pt x="26494" y="172857"/>
                </a:moveTo>
                <a:lnTo>
                  <a:pt x="14274" y="170141"/>
                </a:lnTo>
                <a:lnTo>
                  <a:pt x="31363" y="170141"/>
                </a:lnTo>
                <a:lnTo>
                  <a:pt x="26494" y="172857"/>
                </a:lnTo>
                <a:close/>
              </a:path>
              <a:path w="899795" h="232410">
                <a:moveTo>
                  <a:pt x="53939" y="178955"/>
                </a:moveTo>
                <a:lnTo>
                  <a:pt x="15557" y="178955"/>
                </a:lnTo>
                <a:lnTo>
                  <a:pt x="26494" y="172857"/>
                </a:lnTo>
                <a:lnTo>
                  <a:pt x="53939" y="178955"/>
                </a:lnTo>
                <a:close/>
              </a:path>
              <a:path w="899795" h="232410">
                <a:moveTo>
                  <a:pt x="238747" y="189191"/>
                </a:moveTo>
                <a:lnTo>
                  <a:pt x="242773" y="183794"/>
                </a:lnTo>
                <a:lnTo>
                  <a:pt x="243460" y="188503"/>
                </a:lnTo>
                <a:lnTo>
                  <a:pt x="238747" y="189191"/>
                </a:lnTo>
                <a:close/>
              </a:path>
              <a:path w="899795" h="232410">
                <a:moveTo>
                  <a:pt x="243460" y="188503"/>
                </a:moveTo>
                <a:lnTo>
                  <a:pt x="242773" y="183794"/>
                </a:lnTo>
                <a:lnTo>
                  <a:pt x="275712" y="183794"/>
                </a:lnTo>
                <a:lnTo>
                  <a:pt x="243460" y="188503"/>
                </a:lnTo>
                <a:close/>
              </a:path>
              <a:path w="899795" h="232410">
                <a:moveTo>
                  <a:pt x="243561" y="189191"/>
                </a:moveTo>
                <a:lnTo>
                  <a:pt x="238747" y="189191"/>
                </a:lnTo>
                <a:lnTo>
                  <a:pt x="243460" y="188503"/>
                </a:lnTo>
                <a:lnTo>
                  <a:pt x="243561" y="189191"/>
                </a:lnTo>
                <a:close/>
              </a:path>
              <a:path w="899795" h="232410">
                <a:moveTo>
                  <a:pt x="239420" y="226796"/>
                </a:moveTo>
                <a:lnTo>
                  <a:pt x="238422" y="219949"/>
                </a:lnTo>
                <a:lnTo>
                  <a:pt x="245173" y="221449"/>
                </a:lnTo>
                <a:lnTo>
                  <a:pt x="239420" y="2267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xfrm>
            <a:off x="2240051" y="327025"/>
            <a:ext cx="64509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660033"/>
                </a:solidFill>
                <a:latin typeface="黑体"/>
                <a:cs typeface="黑体"/>
              </a:rPr>
              <a:t>物质的微观结构模型的发展历</a:t>
            </a:r>
            <a:r>
              <a:rPr dirty="0" sz="3600" spc="-15">
                <a:solidFill>
                  <a:srgbClr val="660033"/>
                </a:solidFill>
                <a:latin typeface="黑体"/>
                <a:cs typeface="黑体"/>
              </a:rPr>
              <a:t>程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587496" y="1863851"/>
            <a:ext cx="311150" cy="756285"/>
          </a:xfrm>
          <a:custGeom>
            <a:avLst/>
            <a:gdLst/>
            <a:ahLst/>
            <a:cxnLst/>
            <a:rect l="l" t="t" r="r" b="b"/>
            <a:pathLst>
              <a:path w="311150" h="756285">
                <a:moveTo>
                  <a:pt x="281939" y="755904"/>
                </a:moveTo>
                <a:lnTo>
                  <a:pt x="143255" y="615696"/>
                </a:lnTo>
                <a:lnTo>
                  <a:pt x="185927" y="601980"/>
                </a:lnTo>
                <a:lnTo>
                  <a:pt x="0" y="25908"/>
                </a:lnTo>
                <a:lnTo>
                  <a:pt x="82295" y="0"/>
                </a:lnTo>
                <a:lnTo>
                  <a:pt x="269748" y="576072"/>
                </a:lnTo>
                <a:lnTo>
                  <a:pt x="308843" y="576072"/>
                </a:lnTo>
                <a:lnTo>
                  <a:pt x="281939" y="755904"/>
                </a:lnTo>
                <a:close/>
              </a:path>
              <a:path w="311150" h="756285">
                <a:moveTo>
                  <a:pt x="308843" y="576072"/>
                </a:moveTo>
                <a:lnTo>
                  <a:pt x="269748" y="576072"/>
                </a:lnTo>
                <a:lnTo>
                  <a:pt x="310895" y="562356"/>
                </a:lnTo>
                <a:lnTo>
                  <a:pt x="308843" y="57607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580815" y="1857413"/>
            <a:ext cx="323850" cy="772160"/>
          </a:xfrm>
          <a:custGeom>
            <a:avLst/>
            <a:gdLst/>
            <a:ahLst/>
            <a:cxnLst/>
            <a:rect l="l" t="t" r="r" b="b"/>
            <a:pathLst>
              <a:path w="323850" h="772160">
                <a:moveTo>
                  <a:pt x="186443" y="605985"/>
                </a:moveTo>
                <a:lnTo>
                  <a:pt x="0" y="29959"/>
                </a:lnTo>
                <a:lnTo>
                  <a:pt x="92570" y="0"/>
                </a:lnTo>
                <a:lnTo>
                  <a:pt x="94983" y="7454"/>
                </a:lnTo>
                <a:lnTo>
                  <a:pt x="84975" y="7454"/>
                </a:lnTo>
                <a:lnTo>
                  <a:pt x="86444" y="11992"/>
                </a:lnTo>
                <a:lnTo>
                  <a:pt x="25978" y="31559"/>
                </a:lnTo>
                <a:lnTo>
                  <a:pt x="10528" y="31559"/>
                </a:lnTo>
                <a:lnTo>
                  <a:pt x="7454" y="37553"/>
                </a:lnTo>
                <a:lnTo>
                  <a:pt x="12468" y="37553"/>
                </a:lnTo>
                <a:lnTo>
                  <a:pt x="195979" y="604520"/>
                </a:lnTo>
                <a:lnTo>
                  <a:pt x="190969" y="604520"/>
                </a:lnTo>
                <a:lnTo>
                  <a:pt x="186443" y="605985"/>
                </a:lnTo>
                <a:close/>
              </a:path>
              <a:path w="323850" h="772160">
                <a:moveTo>
                  <a:pt x="86444" y="11992"/>
                </a:moveTo>
                <a:lnTo>
                  <a:pt x="84975" y="7454"/>
                </a:lnTo>
                <a:lnTo>
                  <a:pt x="90970" y="10528"/>
                </a:lnTo>
                <a:lnTo>
                  <a:pt x="86444" y="11992"/>
                </a:lnTo>
                <a:close/>
              </a:path>
              <a:path w="323850" h="772160">
                <a:moveTo>
                  <a:pt x="272884" y="588022"/>
                </a:moveTo>
                <a:lnTo>
                  <a:pt x="86444" y="11992"/>
                </a:lnTo>
                <a:lnTo>
                  <a:pt x="90970" y="10528"/>
                </a:lnTo>
                <a:lnTo>
                  <a:pt x="84975" y="7454"/>
                </a:lnTo>
                <a:lnTo>
                  <a:pt x="94983" y="7454"/>
                </a:lnTo>
                <a:lnTo>
                  <a:pt x="279014" y="576027"/>
                </a:lnTo>
                <a:lnTo>
                  <a:pt x="274485" y="577494"/>
                </a:lnTo>
                <a:lnTo>
                  <a:pt x="280479" y="580555"/>
                </a:lnTo>
                <a:lnTo>
                  <a:pt x="295952" y="580555"/>
                </a:lnTo>
                <a:lnTo>
                  <a:pt x="272884" y="588022"/>
                </a:lnTo>
                <a:close/>
              </a:path>
              <a:path w="323850" h="772160">
                <a:moveTo>
                  <a:pt x="7454" y="37553"/>
                </a:moveTo>
                <a:lnTo>
                  <a:pt x="10528" y="31559"/>
                </a:lnTo>
                <a:lnTo>
                  <a:pt x="11993" y="36085"/>
                </a:lnTo>
                <a:lnTo>
                  <a:pt x="7454" y="37553"/>
                </a:lnTo>
                <a:close/>
              </a:path>
              <a:path w="323850" h="772160">
                <a:moveTo>
                  <a:pt x="11993" y="36085"/>
                </a:moveTo>
                <a:lnTo>
                  <a:pt x="10528" y="31559"/>
                </a:lnTo>
                <a:lnTo>
                  <a:pt x="25978" y="31559"/>
                </a:lnTo>
                <a:lnTo>
                  <a:pt x="11993" y="36085"/>
                </a:lnTo>
                <a:close/>
              </a:path>
              <a:path w="323850" h="772160">
                <a:moveTo>
                  <a:pt x="12468" y="37553"/>
                </a:moveTo>
                <a:lnTo>
                  <a:pt x="7454" y="37553"/>
                </a:lnTo>
                <a:lnTo>
                  <a:pt x="11993" y="36085"/>
                </a:lnTo>
                <a:lnTo>
                  <a:pt x="12468" y="37553"/>
                </a:lnTo>
                <a:close/>
              </a:path>
              <a:path w="323850" h="772160">
                <a:moveTo>
                  <a:pt x="295952" y="580555"/>
                </a:moveTo>
                <a:lnTo>
                  <a:pt x="280479" y="580555"/>
                </a:lnTo>
                <a:lnTo>
                  <a:pt x="279014" y="576027"/>
                </a:lnTo>
                <a:lnTo>
                  <a:pt x="323583" y="561594"/>
                </a:lnTo>
                <a:lnTo>
                  <a:pt x="322632" y="567778"/>
                </a:lnTo>
                <a:lnTo>
                  <a:pt x="313004" y="567778"/>
                </a:lnTo>
                <a:lnTo>
                  <a:pt x="311829" y="575415"/>
                </a:lnTo>
                <a:lnTo>
                  <a:pt x="295952" y="580555"/>
                </a:lnTo>
                <a:close/>
              </a:path>
              <a:path w="323850" h="772160">
                <a:moveTo>
                  <a:pt x="311829" y="575415"/>
                </a:moveTo>
                <a:lnTo>
                  <a:pt x="313004" y="567778"/>
                </a:lnTo>
                <a:lnTo>
                  <a:pt x="319176" y="573036"/>
                </a:lnTo>
                <a:lnTo>
                  <a:pt x="311829" y="575415"/>
                </a:lnTo>
                <a:close/>
              </a:path>
              <a:path w="323850" h="772160">
                <a:moveTo>
                  <a:pt x="292911" y="761009"/>
                </a:moveTo>
                <a:lnTo>
                  <a:pt x="283273" y="761009"/>
                </a:lnTo>
                <a:lnTo>
                  <a:pt x="291376" y="758380"/>
                </a:lnTo>
                <a:lnTo>
                  <a:pt x="284716" y="751631"/>
                </a:lnTo>
                <a:lnTo>
                  <a:pt x="311829" y="575415"/>
                </a:lnTo>
                <a:lnTo>
                  <a:pt x="319176" y="573036"/>
                </a:lnTo>
                <a:lnTo>
                  <a:pt x="313004" y="567778"/>
                </a:lnTo>
                <a:lnTo>
                  <a:pt x="322632" y="567778"/>
                </a:lnTo>
                <a:lnTo>
                  <a:pt x="292911" y="761009"/>
                </a:lnTo>
                <a:close/>
              </a:path>
              <a:path w="323850" h="772160">
                <a:moveTo>
                  <a:pt x="280479" y="580555"/>
                </a:moveTo>
                <a:lnTo>
                  <a:pt x="274485" y="577494"/>
                </a:lnTo>
                <a:lnTo>
                  <a:pt x="279014" y="576027"/>
                </a:lnTo>
                <a:lnTo>
                  <a:pt x="280479" y="580555"/>
                </a:lnTo>
                <a:close/>
              </a:path>
              <a:path w="323850" h="772160">
                <a:moveTo>
                  <a:pt x="187909" y="610514"/>
                </a:moveTo>
                <a:lnTo>
                  <a:pt x="186443" y="605985"/>
                </a:lnTo>
                <a:lnTo>
                  <a:pt x="190969" y="604520"/>
                </a:lnTo>
                <a:lnTo>
                  <a:pt x="187909" y="610514"/>
                </a:lnTo>
                <a:close/>
              </a:path>
              <a:path w="323850" h="772160">
                <a:moveTo>
                  <a:pt x="197919" y="610514"/>
                </a:moveTo>
                <a:lnTo>
                  <a:pt x="187909" y="610514"/>
                </a:lnTo>
                <a:lnTo>
                  <a:pt x="190969" y="604520"/>
                </a:lnTo>
                <a:lnTo>
                  <a:pt x="195979" y="604520"/>
                </a:lnTo>
                <a:lnTo>
                  <a:pt x="197919" y="610514"/>
                </a:lnTo>
                <a:close/>
              </a:path>
              <a:path w="323850" h="772160">
                <a:moveTo>
                  <a:pt x="291249" y="771817"/>
                </a:moveTo>
                <a:lnTo>
                  <a:pt x="141859" y="620420"/>
                </a:lnTo>
                <a:lnTo>
                  <a:pt x="186443" y="605985"/>
                </a:lnTo>
                <a:lnTo>
                  <a:pt x="187909" y="610514"/>
                </a:lnTo>
                <a:lnTo>
                  <a:pt x="197919" y="610514"/>
                </a:lnTo>
                <a:lnTo>
                  <a:pt x="198437" y="612114"/>
                </a:lnTo>
                <a:lnTo>
                  <a:pt x="176468" y="619226"/>
                </a:lnTo>
                <a:lnTo>
                  <a:pt x="154063" y="619226"/>
                </a:lnTo>
                <a:lnTo>
                  <a:pt x="152146" y="627100"/>
                </a:lnTo>
                <a:lnTo>
                  <a:pt x="161833" y="627100"/>
                </a:lnTo>
                <a:lnTo>
                  <a:pt x="284716" y="751631"/>
                </a:lnTo>
                <a:lnTo>
                  <a:pt x="283273" y="761009"/>
                </a:lnTo>
                <a:lnTo>
                  <a:pt x="292911" y="761009"/>
                </a:lnTo>
                <a:lnTo>
                  <a:pt x="291249" y="771817"/>
                </a:lnTo>
                <a:close/>
              </a:path>
              <a:path w="323850" h="772160">
                <a:moveTo>
                  <a:pt x="152146" y="627100"/>
                </a:moveTo>
                <a:lnTo>
                  <a:pt x="154063" y="619226"/>
                </a:lnTo>
                <a:lnTo>
                  <a:pt x="159488" y="624723"/>
                </a:lnTo>
                <a:lnTo>
                  <a:pt x="152146" y="627100"/>
                </a:lnTo>
                <a:close/>
              </a:path>
              <a:path w="323850" h="772160">
                <a:moveTo>
                  <a:pt x="159488" y="624723"/>
                </a:moveTo>
                <a:lnTo>
                  <a:pt x="154063" y="619226"/>
                </a:lnTo>
                <a:lnTo>
                  <a:pt x="176468" y="619226"/>
                </a:lnTo>
                <a:lnTo>
                  <a:pt x="159488" y="624723"/>
                </a:lnTo>
                <a:close/>
              </a:path>
              <a:path w="323850" h="772160">
                <a:moveTo>
                  <a:pt x="161833" y="627100"/>
                </a:moveTo>
                <a:lnTo>
                  <a:pt x="152146" y="627100"/>
                </a:lnTo>
                <a:lnTo>
                  <a:pt x="159488" y="624723"/>
                </a:lnTo>
                <a:lnTo>
                  <a:pt x="161833" y="627100"/>
                </a:lnTo>
                <a:close/>
              </a:path>
              <a:path w="323850" h="772160">
                <a:moveTo>
                  <a:pt x="283273" y="761009"/>
                </a:moveTo>
                <a:lnTo>
                  <a:pt x="284716" y="751631"/>
                </a:lnTo>
                <a:lnTo>
                  <a:pt x="291376" y="758380"/>
                </a:lnTo>
                <a:lnTo>
                  <a:pt x="283273" y="761009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6701" y="466280"/>
            <a:ext cx="69011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CC0000"/>
                </a:solidFill>
                <a:latin typeface="黑体"/>
                <a:cs typeface="黑体"/>
              </a:rPr>
              <a:t>所有已知物质都是由基本粒子组</a:t>
            </a:r>
            <a:r>
              <a:rPr dirty="0" sz="3600" spc="-15">
                <a:solidFill>
                  <a:srgbClr val="CC0000"/>
                </a:solidFill>
                <a:latin typeface="黑体"/>
                <a:cs typeface="黑体"/>
              </a:rPr>
              <a:t>成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7824" y="3970426"/>
            <a:ext cx="562991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640064"/>
                </a:solidFill>
                <a:latin typeface="华文楷体"/>
                <a:cs typeface="华文楷体"/>
              </a:rPr>
              <a:t>粒子物理学家已经发展出一个称为</a:t>
            </a:r>
            <a:r>
              <a:rPr dirty="0" sz="2000" b="1">
                <a:solidFill>
                  <a:srgbClr val="640064"/>
                </a:solidFill>
                <a:latin typeface="宋体"/>
                <a:cs typeface="宋体"/>
              </a:rPr>
              <a:t>“</a:t>
            </a:r>
            <a:r>
              <a:rPr dirty="0" sz="2000" b="1">
                <a:solidFill>
                  <a:srgbClr val="640064"/>
                </a:solidFill>
                <a:latin typeface="华文楷体"/>
                <a:cs typeface="华文楷体"/>
              </a:rPr>
              <a:t>标准模型</a:t>
            </a:r>
            <a:r>
              <a:rPr dirty="0" sz="2000" b="1">
                <a:solidFill>
                  <a:srgbClr val="640064"/>
                </a:solidFill>
                <a:latin typeface="宋体"/>
                <a:cs typeface="宋体"/>
              </a:rPr>
              <a:t>”  </a:t>
            </a:r>
            <a:r>
              <a:rPr dirty="0" sz="2000" b="1">
                <a:solidFill>
                  <a:srgbClr val="640064"/>
                </a:solidFill>
                <a:latin typeface="华文楷体"/>
                <a:cs typeface="华文楷体"/>
              </a:rPr>
              <a:t>的理论：能解释数以百计的粒子和复杂的作用力。</a:t>
            </a:r>
            <a:endParaRPr sz="2000">
              <a:latin typeface="华文楷体"/>
              <a:cs typeface="华文楷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18266" y="4905511"/>
          <a:ext cx="5038725" cy="887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154"/>
                <a:gridCol w="1023619"/>
                <a:gridCol w="3792220"/>
              </a:tblGrid>
              <a:tr h="316135">
                <a:tc>
                  <a:txBody>
                    <a:bodyPr/>
                    <a:lstStyle/>
                    <a:p>
                      <a:pPr algn="ctr" marR="25400">
                        <a:lnSpc>
                          <a:spcPts val="2285"/>
                        </a:lnSpc>
                        <a:spcBef>
                          <a:spcPts val="100"/>
                        </a:spcBef>
                      </a:pPr>
                      <a:r>
                        <a:rPr dirty="0" sz="2000" b="1">
                          <a:solidFill>
                            <a:srgbClr val="FF0033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375"/>
                        </a:lnSpc>
                      </a:pPr>
                      <a:r>
                        <a:rPr dirty="0" sz="2000" b="1">
                          <a:solidFill>
                            <a:srgbClr val="FF0033"/>
                          </a:solidFill>
                          <a:latin typeface="华文楷体"/>
                          <a:cs typeface="华文楷体"/>
                        </a:rPr>
                        <a:t>种夸克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ts val="2375"/>
                        </a:lnSpc>
                      </a:pPr>
                      <a:r>
                        <a:rPr dirty="0" sz="20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如组成中子和质子的上、下夸克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316159">
                <a:tc>
                  <a:txBody>
                    <a:bodyPr/>
                    <a:lstStyle/>
                    <a:p>
                      <a:pPr algn="ctr" marR="25400">
                        <a:lnSpc>
                          <a:spcPts val="2385"/>
                        </a:lnSpc>
                      </a:pPr>
                      <a:r>
                        <a:rPr dirty="0" sz="2000" b="1">
                          <a:solidFill>
                            <a:srgbClr val="FF0033"/>
                          </a:solidFill>
                          <a:latin typeface="宋体"/>
                          <a:cs typeface="宋体"/>
                        </a:rPr>
                        <a:t>6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260"/>
                        </a:lnSpc>
                      </a:pPr>
                      <a:r>
                        <a:rPr dirty="0" sz="2000" b="1">
                          <a:solidFill>
                            <a:srgbClr val="FF0033"/>
                          </a:solidFill>
                          <a:latin typeface="华文楷体"/>
                          <a:cs typeface="华文楷体"/>
                        </a:rPr>
                        <a:t>种轻子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260"/>
                        </a:lnSpc>
                      </a:pPr>
                      <a:r>
                        <a:rPr dirty="0" sz="20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大家熟知的轻子就是电子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254659">
                <a:tc>
                  <a:txBody>
                    <a:bodyPr/>
                    <a:lstStyle/>
                    <a:p>
                      <a:pPr algn="ctr" marR="25400">
                        <a:lnSpc>
                          <a:spcPts val="1905"/>
                        </a:lnSpc>
                      </a:pPr>
                      <a:r>
                        <a:rPr dirty="0" sz="2000" b="1">
                          <a:solidFill>
                            <a:srgbClr val="FF0033"/>
                          </a:solidFill>
                          <a:latin typeface="宋体"/>
                          <a:cs typeface="宋体"/>
                        </a:rPr>
                        <a:t>4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769">
                        <a:lnSpc>
                          <a:spcPts val="1905"/>
                        </a:lnSpc>
                        <a:tabLst>
                          <a:tab pos="1215390" algn="l"/>
                        </a:tabLst>
                      </a:pPr>
                      <a:r>
                        <a:rPr dirty="0" sz="2000" b="1">
                          <a:solidFill>
                            <a:srgbClr val="FF0033"/>
                          </a:solidFill>
                          <a:latin typeface="华文楷体"/>
                          <a:cs typeface="华文楷体"/>
                        </a:rPr>
                        <a:t>种媒介子	</a:t>
                      </a:r>
                      <a:r>
                        <a:rPr dirty="0" sz="2000" b="1">
                          <a:solidFill>
                            <a:srgbClr val="0000FF"/>
                          </a:solidFill>
                          <a:latin typeface="华文楷体"/>
                          <a:cs typeface="华文楷体"/>
                        </a:rPr>
                        <a:t>传递相互作用的粒子，像光子等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547895" y="1276096"/>
            <a:ext cx="2160270" cy="21602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83195" y="1276096"/>
            <a:ext cx="2231136" cy="21026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85074" y="1643265"/>
            <a:ext cx="32321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40064"/>
                </a:solidFill>
                <a:latin typeface="华文楷体"/>
                <a:cs typeface="华文楷体"/>
              </a:rPr>
              <a:t>世界万物不论从银河、 山川到原子、分子都 是由</a:t>
            </a:r>
            <a:r>
              <a:rPr dirty="0" sz="2400" b="1">
                <a:solidFill>
                  <a:srgbClr val="FF0033"/>
                </a:solidFill>
                <a:latin typeface="华文楷体"/>
                <a:cs typeface="华文楷体"/>
              </a:rPr>
              <a:t>夸克和轻子</a:t>
            </a:r>
            <a:r>
              <a:rPr dirty="0" sz="2400" b="1">
                <a:solidFill>
                  <a:srgbClr val="640064"/>
                </a:solidFill>
                <a:latin typeface="华文楷体"/>
                <a:cs typeface="华文楷体"/>
              </a:rPr>
              <a:t>构</a:t>
            </a:r>
            <a:r>
              <a:rPr dirty="0" sz="2400" spc="-5" b="1">
                <a:solidFill>
                  <a:srgbClr val="640064"/>
                </a:solidFill>
                <a:latin typeface="华文楷体"/>
                <a:cs typeface="华文楷体"/>
              </a:rPr>
              <a:t>成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06067" y="3023641"/>
            <a:ext cx="2707665" cy="33573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660" y="2230285"/>
            <a:ext cx="2319020" cy="1671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100"/>
              </a:spcBef>
            </a:pPr>
            <a:r>
              <a:rPr dirty="0" sz="3600">
                <a:solidFill>
                  <a:srgbClr val="660033"/>
                </a:solidFill>
                <a:latin typeface="黑体"/>
                <a:cs typeface="黑体"/>
              </a:rPr>
              <a:t>粒子物理</a:t>
            </a:r>
            <a:r>
              <a:rPr dirty="0" sz="3600" spc="-15">
                <a:solidFill>
                  <a:srgbClr val="660033"/>
                </a:solidFill>
                <a:latin typeface="黑体"/>
                <a:cs typeface="黑体"/>
              </a:rPr>
              <a:t>学 </a:t>
            </a:r>
            <a:r>
              <a:rPr dirty="0" sz="3600">
                <a:solidFill>
                  <a:srgbClr val="660033"/>
                </a:solidFill>
                <a:latin typeface="黑体"/>
                <a:cs typeface="黑体"/>
              </a:rPr>
              <a:t>标准模</a:t>
            </a:r>
            <a:r>
              <a:rPr dirty="0" sz="3600" spc="-15">
                <a:solidFill>
                  <a:srgbClr val="660033"/>
                </a:solidFill>
                <a:latin typeface="黑体"/>
                <a:cs typeface="黑体"/>
              </a:rPr>
              <a:t>型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51147" y="601980"/>
            <a:ext cx="5972556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0358" y="2072017"/>
            <a:ext cx="1163955" cy="0"/>
          </a:xfrm>
          <a:custGeom>
            <a:avLst/>
            <a:gdLst/>
            <a:ahLst/>
            <a:cxnLst/>
            <a:rect l="l" t="t" r="r" b="b"/>
            <a:pathLst>
              <a:path w="1163954" h="0">
                <a:moveTo>
                  <a:pt x="0" y="0"/>
                </a:moveTo>
                <a:lnTo>
                  <a:pt x="1163954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40548" y="2072017"/>
            <a:ext cx="1253490" cy="0"/>
          </a:xfrm>
          <a:custGeom>
            <a:avLst/>
            <a:gdLst/>
            <a:ahLst/>
            <a:cxnLst/>
            <a:rect l="l" t="t" r="r" b="b"/>
            <a:pathLst>
              <a:path w="1253490" h="0">
                <a:moveTo>
                  <a:pt x="0" y="0"/>
                </a:moveTo>
                <a:lnTo>
                  <a:pt x="1253489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9808" y="2072017"/>
            <a:ext cx="1253490" cy="0"/>
          </a:xfrm>
          <a:custGeom>
            <a:avLst/>
            <a:gdLst/>
            <a:ahLst/>
            <a:cxnLst/>
            <a:rect l="l" t="t" r="r" b="b"/>
            <a:pathLst>
              <a:path w="1253490" h="0">
                <a:moveTo>
                  <a:pt x="0" y="0"/>
                </a:moveTo>
                <a:lnTo>
                  <a:pt x="125349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32828" y="4116717"/>
            <a:ext cx="1074420" cy="0"/>
          </a:xfrm>
          <a:custGeom>
            <a:avLst/>
            <a:gdLst/>
            <a:ahLst/>
            <a:cxnLst/>
            <a:rect l="l" t="t" r="r" b="b"/>
            <a:pathLst>
              <a:path w="1074420" h="0">
                <a:moveTo>
                  <a:pt x="0" y="0"/>
                </a:moveTo>
                <a:lnTo>
                  <a:pt x="107442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89063" y="4840617"/>
            <a:ext cx="1163955" cy="0"/>
          </a:xfrm>
          <a:custGeom>
            <a:avLst/>
            <a:gdLst/>
            <a:ahLst/>
            <a:cxnLst/>
            <a:rect l="l" t="t" r="r" b="b"/>
            <a:pathLst>
              <a:path w="1163954" h="0">
                <a:moveTo>
                  <a:pt x="0" y="0"/>
                </a:moveTo>
                <a:lnTo>
                  <a:pt x="1163954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95348" y="5564517"/>
            <a:ext cx="1253490" cy="0"/>
          </a:xfrm>
          <a:custGeom>
            <a:avLst/>
            <a:gdLst/>
            <a:ahLst/>
            <a:cxnLst/>
            <a:rect l="l" t="t" r="r" b="b"/>
            <a:pathLst>
              <a:path w="1253489" h="0">
                <a:moveTo>
                  <a:pt x="0" y="0"/>
                </a:moveTo>
                <a:lnTo>
                  <a:pt x="125349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88253" y="5564517"/>
            <a:ext cx="1522095" cy="0"/>
          </a:xfrm>
          <a:custGeom>
            <a:avLst/>
            <a:gdLst/>
            <a:ahLst/>
            <a:cxnLst/>
            <a:rect l="l" t="t" r="r" b="b"/>
            <a:pathLst>
              <a:path w="1522095" h="0">
                <a:moveTo>
                  <a:pt x="0" y="0"/>
                </a:moveTo>
                <a:lnTo>
                  <a:pt x="1522095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271613" y="1564678"/>
            <a:ext cx="36893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1790" algn="l"/>
                <a:tab pos="2128520" algn="l"/>
              </a:tabLst>
            </a:pPr>
            <a:r>
              <a:rPr dirty="0" baseline="-10912" sz="4200" spc="-15" b="1">
                <a:latin typeface="华文楷体"/>
                <a:cs typeface="华文楷体"/>
              </a:rPr>
              <a:t>、</a:t>
            </a:r>
            <a:r>
              <a:rPr dirty="0" baseline="-10912" sz="4200" spc="22" b="1"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轻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子	</a:t>
            </a:r>
            <a:r>
              <a:rPr dirty="0" baseline="-10912" sz="4200" spc="-15" b="1">
                <a:latin typeface="华文楷体"/>
                <a:cs typeface="华文楷体"/>
              </a:rPr>
              <a:t>和	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媒介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子</a:t>
            </a:r>
            <a:r>
              <a:rPr dirty="0" sz="2800" spc="195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baseline="-10912" sz="4200" spc="-15" b="1">
                <a:latin typeface="华文楷体"/>
                <a:cs typeface="华文楷体"/>
              </a:rPr>
              <a:t>。</a:t>
            </a:r>
            <a:endParaRPr baseline="-10912" sz="42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59847" y="602564"/>
            <a:ext cx="30854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基本粒子分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类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56565" algn="l"/>
                <a:tab pos="457200" algn="l"/>
              </a:tabLst>
            </a:pPr>
            <a:r>
              <a:rPr dirty="0"/>
              <a:t>1．组成物质的粒子分为三大类</a:t>
            </a:r>
            <a:r>
              <a:rPr dirty="0" spc="-10"/>
              <a:t>：</a:t>
            </a:r>
            <a:r>
              <a:rPr dirty="0" spc="-320"/>
              <a:t> </a:t>
            </a:r>
            <a:r>
              <a:rPr dirty="0" baseline="21825" sz="4200">
                <a:solidFill>
                  <a:srgbClr val="FF0000"/>
                </a:solidFill>
              </a:rPr>
              <a:t>强</a:t>
            </a:r>
            <a:r>
              <a:rPr dirty="0" baseline="21825" sz="4200" spc="-15">
                <a:solidFill>
                  <a:srgbClr val="FF0000"/>
                </a:solidFill>
              </a:rPr>
              <a:t>子</a:t>
            </a:r>
            <a:endParaRPr baseline="21825" sz="4200"/>
          </a:p>
          <a:p>
            <a:pPr marL="457200" marR="5080" indent="-444500">
              <a:lnSpc>
                <a:spcPct val="140200"/>
              </a:lnSpc>
              <a:spcBef>
                <a:spcPts val="990"/>
              </a:spcBef>
              <a:buFont typeface="Arial"/>
              <a:buChar char="•"/>
              <a:tabLst>
                <a:tab pos="456565" algn="l"/>
                <a:tab pos="457200" algn="l"/>
                <a:tab pos="1984375" algn="l"/>
                <a:tab pos="3136900" algn="l"/>
                <a:tab pos="9358630" algn="l"/>
                <a:tab pos="10055225" algn="l"/>
                <a:tab pos="11057890" algn="l"/>
              </a:tabLst>
            </a:pPr>
            <a:r>
              <a:rPr dirty="0" spc="-5"/>
              <a:t>2</a:t>
            </a:r>
            <a:r>
              <a:rPr dirty="0"/>
              <a:t>．强子是参与强相互作用的粒子，强子分两类：</a:t>
            </a:r>
            <a:r>
              <a:rPr dirty="0" u="heavy" baseline="7936" sz="4200" spc="-7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7936" sz="4200" spc="39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7936" sz="42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重</a:t>
            </a:r>
            <a:r>
              <a:rPr dirty="0" u="heavy" baseline="7936" sz="4200" spc="-15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子</a:t>
            </a:r>
            <a:r>
              <a:rPr dirty="0" u="heavy" baseline="7936" sz="42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sz="2800" spc="-10"/>
              <a:t>和</a:t>
            </a:r>
            <a:r>
              <a:rPr dirty="0" sz="2800" spc="10"/>
              <a:t> </a:t>
            </a:r>
            <a:r>
              <a:rPr dirty="0" u="heavy" baseline="12896" sz="4200" spc="-7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12896" sz="42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12896" sz="42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介</a:t>
            </a:r>
            <a:r>
              <a:rPr dirty="0" u="heavy" baseline="12896" sz="4200" spc="-15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子</a:t>
            </a:r>
            <a:r>
              <a:rPr dirty="0" u="heavy" baseline="12896" sz="42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sz="2800" spc="-5"/>
              <a:t>， </a:t>
            </a:r>
            <a:r>
              <a:rPr dirty="0" sz="2800"/>
              <a:t>都是</a:t>
            </a:r>
            <a:r>
              <a:rPr dirty="0" sz="2800" spc="-10"/>
              <a:t>由</a:t>
            </a:r>
            <a:r>
              <a:rPr dirty="0" u="heavy" sz="2800" spc="-1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 	</a:t>
            </a:r>
            <a:r>
              <a:rPr dirty="0" u="heavy" sz="28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夸</a:t>
            </a:r>
            <a:r>
              <a:rPr dirty="0" u="heavy" sz="2800" spc="-1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</a:rPr>
              <a:t>克	</a:t>
            </a:r>
            <a:r>
              <a:rPr dirty="0" sz="2800"/>
              <a:t>组成的</a:t>
            </a:r>
            <a:r>
              <a:rPr dirty="0" sz="2800" spc="-10"/>
              <a:t>。</a:t>
            </a:r>
            <a:endParaRPr sz="2800"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2330"/>
              </a:spcBef>
              <a:buFont typeface="Arial"/>
              <a:buChar char="•"/>
              <a:tabLst>
                <a:tab pos="456565" algn="l"/>
                <a:tab pos="457200" algn="l"/>
                <a:tab pos="6569709" algn="l"/>
              </a:tabLst>
            </a:pPr>
            <a:r>
              <a:rPr dirty="0"/>
              <a:t>3．轻子是不参与强相互作用的粒子</a:t>
            </a:r>
            <a:r>
              <a:rPr dirty="0" spc="-10"/>
              <a:t>，	</a:t>
            </a:r>
            <a:r>
              <a:rPr dirty="0" baseline="26785" sz="4200">
                <a:solidFill>
                  <a:srgbClr val="FF0000"/>
                </a:solidFill>
              </a:rPr>
              <a:t>电</a:t>
            </a:r>
            <a:r>
              <a:rPr dirty="0" baseline="26785" sz="4200" spc="-15">
                <a:solidFill>
                  <a:srgbClr val="FF0000"/>
                </a:solidFill>
              </a:rPr>
              <a:t>子</a:t>
            </a:r>
            <a:r>
              <a:rPr dirty="0" baseline="26785" sz="4200" spc="315">
                <a:solidFill>
                  <a:srgbClr val="FF0000"/>
                </a:solidFill>
              </a:rPr>
              <a:t> </a:t>
            </a:r>
            <a:r>
              <a:rPr dirty="0" sz="2800"/>
              <a:t>是最早发现的轻子</a:t>
            </a:r>
            <a:r>
              <a:rPr dirty="0" sz="2800" spc="-10"/>
              <a:t>。</a:t>
            </a:r>
            <a:endParaRPr sz="2800"/>
          </a:p>
          <a:p>
            <a:pPr marL="456565" marR="368935" indent="-456565">
              <a:lnSpc>
                <a:spcPct val="169600"/>
              </a:lnSpc>
              <a:buFont typeface="Arial"/>
              <a:buChar char="•"/>
              <a:tabLst>
                <a:tab pos="456565" algn="l"/>
                <a:tab pos="457200" algn="l"/>
                <a:tab pos="2339975" algn="l"/>
                <a:tab pos="5600065" algn="l"/>
                <a:tab pos="6801484" algn="l"/>
                <a:tab pos="6930390" algn="l"/>
                <a:tab pos="7844155" algn="l"/>
              </a:tabLst>
            </a:pPr>
            <a:r>
              <a:rPr dirty="0" spc="-5"/>
              <a:t>4</a:t>
            </a:r>
            <a:r>
              <a:rPr dirty="0"/>
              <a:t>．媒介子是传递各种相互作用的粒子</a:t>
            </a:r>
            <a:r>
              <a:rPr dirty="0" spc="-10"/>
              <a:t>，</a:t>
            </a:r>
            <a:r>
              <a:rPr dirty="0"/>
              <a:t>		</a:t>
            </a:r>
            <a:r>
              <a:rPr dirty="0" baseline="15873" sz="4200">
                <a:solidFill>
                  <a:srgbClr val="FF0000"/>
                </a:solidFill>
              </a:rPr>
              <a:t>光</a:t>
            </a:r>
            <a:r>
              <a:rPr dirty="0" baseline="15873" sz="4200" spc="-15">
                <a:solidFill>
                  <a:srgbClr val="FF0000"/>
                </a:solidFill>
              </a:rPr>
              <a:t>子</a:t>
            </a:r>
            <a:r>
              <a:rPr dirty="0" baseline="15873" sz="4200">
                <a:solidFill>
                  <a:srgbClr val="FF0000"/>
                </a:solidFill>
              </a:rPr>
              <a:t>	</a:t>
            </a:r>
            <a:r>
              <a:rPr dirty="0" sz="2800"/>
              <a:t>传递电磁相互作用</a:t>
            </a:r>
            <a:r>
              <a:rPr dirty="0" sz="2800" spc="-5"/>
              <a:t>， </a:t>
            </a:r>
            <a:r>
              <a:rPr dirty="0" baseline="22817" sz="4200">
                <a:solidFill>
                  <a:srgbClr val="FF0000"/>
                </a:solidFill>
              </a:rPr>
              <a:t>胶</a:t>
            </a:r>
            <a:r>
              <a:rPr dirty="0" baseline="22817" sz="4200" spc="-15">
                <a:solidFill>
                  <a:srgbClr val="FF0000"/>
                </a:solidFill>
              </a:rPr>
              <a:t>子	</a:t>
            </a:r>
            <a:r>
              <a:rPr dirty="0" sz="2800"/>
              <a:t>传递强相互作用</a:t>
            </a:r>
            <a:r>
              <a:rPr dirty="0" sz="2800" spc="-10"/>
              <a:t>，	</a:t>
            </a:r>
            <a:r>
              <a:rPr dirty="0" baseline="14880" sz="4200">
                <a:solidFill>
                  <a:srgbClr val="FF0000"/>
                </a:solidFill>
              </a:rPr>
              <a:t>玻色</a:t>
            </a:r>
            <a:r>
              <a:rPr dirty="0" baseline="14880" sz="4200" spc="-15">
                <a:solidFill>
                  <a:srgbClr val="FF0000"/>
                </a:solidFill>
              </a:rPr>
              <a:t>子	</a:t>
            </a:r>
            <a:r>
              <a:rPr dirty="0" sz="2800"/>
              <a:t>传递弱相互作用</a:t>
            </a:r>
            <a:r>
              <a:rPr dirty="0" sz="2800" spc="-10"/>
              <a:t>。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2080" y="565404"/>
            <a:ext cx="8229600" cy="901065"/>
          </a:xfrm>
          <a:prstGeom prst="rect"/>
          <a:solidFill>
            <a:srgbClr val="FFFF66"/>
          </a:solidFill>
        </p:spPr>
        <p:txBody>
          <a:bodyPr wrap="square" lIns="0" tIns="281940" rIns="0" bIns="0" rtlCol="0" vert="horz">
            <a:spAutoFit/>
          </a:bodyPr>
          <a:lstStyle/>
          <a:p>
            <a:pPr marL="1261745">
              <a:lnSpc>
                <a:spcPct val="100000"/>
              </a:lnSpc>
              <a:spcBef>
                <a:spcPts val="2220"/>
              </a:spcBef>
            </a:pPr>
            <a:r>
              <a:rPr dirty="0" sz="3200" spc="-5">
                <a:solidFill>
                  <a:srgbClr val="000000"/>
                </a:solidFill>
                <a:latin typeface="宋体"/>
                <a:cs typeface="宋体"/>
              </a:rPr>
              <a:t>标准</a:t>
            </a:r>
            <a:r>
              <a:rPr dirty="0" sz="3200" spc="-10">
                <a:solidFill>
                  <a:srgbClr val="000000"/>
                </a:solidFill>
                <a:latin typeface="宋体"/>
                <a:cs typeface="宋体"/>
              </a:rPr>
              <a:t>模</a:t>
            </a:r>
            <a:r>
              <a:rPr dirty="0" sz="3200" spc="-5">
                <a:solidFill>
                  <a:srgbClr val="000000"/>
                </a:solidFill>
                <a:latin typeface="宋体"/>
                <a:cs typeface="宋体"/>
              </a:rPr>
              <a:t>型是</a:t>
            </a:r>
            <a:r>
              <a:rPr dirty="0" sz="3200" spc="-10">
                <a:solidFill>
                  <a:srgbClr val="000000"/>
                </a:solidFill>
                <a:latin typeface="宋体"/>
                <a:cs typeface="宋体"/>
              </a:rPr>
              <a:t>粒</a:t>
            </a:r>
            <a:r>
              <a:rPr dirty="0" sz="3200" spc="-5">
                <a:solidFill>
                  <a:srgbClr val="000000"/>
                </a:solidFill>
                <a:latin typeface="宋体"/>
                <a:cs typeface="宋体"/>
              </a:rPr>
              <a:t>子物</a:t>
            </a:r>
            <a:r>
              <a:rPr dirty="0" sz="3200" spc="-10">
                <a:solidFill>
                  <a:srgbClr val="000000"/>
                </a:solidFill>
                <a:latin typeface="宋体"/>
                <a:cs typeface="宋体"/>
              </a:rPr>
              <a:t>理</a:t>
            </a:r>
            <a:r>
              <a:rPr dirty="0" sz="3200" spc="-5">
                <a:solidFill>
                  <a:srgbClr val="000000"/>
                </a:solidFill>
                <a:latin typeface="宋体"/>
                <a:cs typeface="宋体"/>
              </a:rPr>
              <a:t>的基</a:t>
            </a:r>
            <a:r>
              <a:rPr dirty="0" sz="3200" spc="-10">
                <a:solidFill>
                  <a:srgbClr val="000000"/>
                </a:solidFill>
                <a:latin typeface="宋体"/>
                <a:cs typeface="宋体"/>
              </a:rPr>
              <a:t>本</a:t>
            </a:r>
            <a:r>
              <a:rPr dirty="0" sz="3200" spc="-5">
                <a:solidFill>
                  <a:srgbClr val="000000"/>
                </a:solidFill>
                <a:latin typeface="宋体"/>
                <a:cs typeface="宋体"/>
              </a:rPr>
              <a:t>理</a:t>
            </a:r>
            <a:r>
              <a:rPr dirty="0" sz="3200" spc="-10">
                <a:solidFill>
                  <a:srgbClr val="000000"/>
                </a:solidFill>
                <a:latin typeface="宋体"/>
                <a:cs typeface="宋体"/>
              </a:rPr>
              <a:t>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6594" y="1572069"/>
            <a:ext cx="10018395" cy="3862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6760" marR="3208655">
              <a:lnSpc>
                <a:spcPct val="142700"/>
              </a:lnSpc>
              <a:spcBef>
                <a:spcPts val="100"/>
              </a:spcBef>
            </a:pPr>
            <a:r>
              <a:rPr dirty="0" sz="2800" b="1">
                <a:solidFill>
                  <a:srgbClr val="660033"/>
                </a:solidFill>
                <a:latin typeface="华文隶书"/>
                <a:cs typeface="华文隶书"/>
              </a:rPr>
              <a:t>神奇的“上帝粒子”：</a:t>
            </a:r>
            <a:r>
              <a:rPr dirty="0" sz="2800" b="1">
                <a:solidFill>
                  <a:srgbClr val="660066"/>
                </a:solidFill>
                <a:latin typeface="华文行楷"/>
                <a:cs typeface="华文行楷"/>
              </a:rPr>
              <a:t>希格斯玻色子</a:t>
            </a:r>
            <a:r>
              <a:rPr dirty="0" sz="2800" spc="-5" b="1">
                <a:solidFill>
                  <a:srgbClr val="660066"/>
                </a:solidFill>
                <a:latin typeface="华文行楷"/>
                <a:cs typeface="华文行楷"/>
              </a:rPr>
              <a:t>。 </a:t>
            </a:r>
            <a:r>
              <a:rPr dirty="0" sz="2800" b="1">
                <a:solidFill>
                  <a:srgbClr val="660066"/>
                </a:solidFill>
                <a:latin typeface="华文行楷"/>
                <a:cs typeface="华文行楷"/>
              </a:rPr>
              <a:t>可以解释质量的起</a:t>
            </a:r>
            <a:r>
              <a:rPr dirty="0" sz="2800" spc="-10" b="1">
                <a:solidFill>
                  <a:srgbClr val="660066"/>
                </a:solidFill>
                <a:latin typeface="华文行楷"/>
                <a:cs typeface="华文行楷"/>
              </a:rPr>
              <a:t>源</a:t>
            </a:r>
            <a:endParaRPr sz="2800">
              <a:latin typeface="华文行楷"/>
              <a:cs typeface="华文行楷"/>
            </a:endParaRPr>
          </a:p>
          <a:p>
            <a:pPr marL="12700" marR="5080" indent="734695">
              <a:lnSpc>
                <a:spcPct val="118800"/>
              </a:lnSpc>
              <a:spcBef>
                <a:spcPts val="1025"/>
              </a:spcBef>
              <a:tabLst>
                <a:tab pos="6360795" algn="l"/>
              </a:tabLst>
            </a:pP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2012</a:t>
            </a:r>
            <a:r>
              <a:rPr dirty="0" sz="2800" spc="5" b="1">
                <a:solidFill>
                  <a:srgbClr val="0000CC"/>
                </a:solidFill>
                <a:latin typeface="华文楷体"/>
                <a:cs typeface="华文楷体"/>
              </a:rPr>
              <a:t>年</a:t>
            </a:r>
            <a:r>
              <a:rPr dirty="0" sz="2800" spc="-15" b="1">
                <a:solidFill>
                  <a:srgbClr val="0000CC"/>
                </a:solidFill>
                <a:latin typeface="Times New Roman"/>
                <a:cs typeface="Times New Roman"/>
              </a:rPr>
              <a:t>7</a:t>
            </a:r>
            <a:r>
              <a:rPr dirty="0" sz="2800" spc="5" b="1">
                <a:solidFill>
                  <a:srgbClr val="0000CC"/>
                </a:solidFill>
                <a:latin typeface="华文楷体"/>
                <a:cs typeface="华文楷体"/>
              </a:rPr>
              <a:t>月</a:t>
            </a:r>
            <a:r>
              <a:rPr dirty="0" sz="2800" spc="-15" b="1">
                <a:solidFill>
                  <a:srgbClr val="0000CC"/>
                </a:solidFill>
                <a:latin typeface="Times New Roman"/>
                <a:cs typeface="Times New Roman"/>
              </a:rPr>
              <a:t>4</a:t>
            </a:r>
            <a:r>
              <a:rPr dirty="0" sz="2800" spc="5" b="1">
                <a:solidFill>
                  <a:srgbClr val="0000CC"/>
                </a:solidFill>
                <a:latin typeface="华文楷体"/>
                <a:cs typeface="华文楷体"/>
              </a:rPr>
              <a:t>日</a:t>
            </a:r>
            <a:r>
              <a:rPr dirty="0" sz="2800" spc="-5" b="1">
                <a:solidFill>
                  <a:srgbClr val="0000CC"/>
                </a:solidFill>
                <a:latin typeface="华文楷体"/>
                <a:cs typeface="华文楷体"/>
              </a:rPr>
              <a:t>，</a:t>
            </a:r>
            <a:r>
              <a:rPr dirty="0" sz="2800" spc="-10" b="1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dirty="0" sz="2800" spc="-10" b="1">
                <a:solidFill>
                  <a:srgbClr val="0000CC"/>
                </a:solidFill>
                <a:latin typeface="Times New Roman"/>
                <a:cs typeface="Times New Roman"/>
              </a:rPr>
              <a:t>RN</a:t>
            </a:r>
            <a:r>
              <a:rPr dirty="0" sz="2800" spc="5" b="1">
                <a:solidFill>
                  <a:srgbClr val="0000CC"/>
                </a:solidFill>
                <a:latin typeface="华文楷体"/>
                <a:cs typeface="华文楷体"/>
              </a:rPr>
              <a:t>发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表</a:t>
            </a:r>
            <a:r>
              <a:rPr dirty="0" sz="2800" spc="15" b="1">
                <a:solidFill>
                  <a:srgbClr val="0000CC"/>
                </a:solidFill>
                <a:latin typeface="华文楷体"/>
                <a:cs typeface="华文楷体"/>
              </a:rPr>
              <a:t>了</a:t>
            </a:r>
            <a:r>
              <a:rPr dirty="0" sz="2800" spc="-15" b="1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r>
              <a:rPr dirty="0" sz="2800" spc="-10" b="1">
                <a:solidFill>
                  <a:srgbClr val="0000CC"/>
                </a:solidFill>
                <a:latin typeface="Times New Roman"/>
                <a:cs typeface="Times New Roman"/>
              </a:rPr>
              <a:t>M</a:t>
            </a:r>
            <a:r>
              <a:rPr dirty="0" sz="2800" spc="-15" b="1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dirty="0" sz="2800" spc="-215" b="1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0000CC"/>
                </a:solidFill>
                <a:latin typeface="Times New Roman"/>
                <a:cs typeface="Times New Roman"/>
              </a:rPr>
              <a:t>TL</a:t>
            </a:r>
            <a:r>
              <a:rPr dirty="0" sz="2800" spc="-5" b="1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的</a:t>
            </a:r>
            <a:r>
              <a:rPr dirty="0" sz="2800" spc="5" b="1">
                <a:solidFill>
                  <a:srgbClr val="0000CC"/>
                </a:solidFill>
                <a:latin typeface="华文楷体"/>
                <a:cs typeface="华文楷体"/>
              </a:rPr>
              <a:t>结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果，宣布发 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现</a:t>
            </a:r>
            <a:r>
              <a:rPr dirty="0" sz="2800" b="1">
                <a:solidFill>
                  <a:srgbClr val="660066"/>
                </a:solidFill>
                <a:latin typeface="华文行楷"/>
                <a:cs typeface="华文行楷"/>
              </a:rPr>
              <a:t>希格斯玻色</a:t>
            </a:r>
            <a:r>
              <a:rPr dirty="0" sz="2800" spc="-10" b="1">
                <a:solidFill>
                  <a:srgbClr val="660066"/>
                </a:solidFill>
                <a:latin typeface="华文行楷"/>
                <a:cs typeface="华文行楷"/>
              </a:rPr>
              <a:t>子</a:t>
            </a:r>
            <a:r>
              <a:rPr dirty="0" sz="2800" spc="10" b="1">
                <a:solidFill>
                  <a:srgbClr val="660066"/>
                </a:solidFill>
                <a:latin typeface="华文行楷"/>
                <a:cs typeface="华文行楷"/>
              </a:rPr>
              <a:t> </a:t>
            </a:r>
            <a:r>
              <a:rPr dirty="0" sz="2800" spc="-5" b="1">
                <a:solidFill>
                  <a:srgbClr val="0000CC"/>
                </a:solidFill>
                <a:latin typeface="华文楷体"/>
                <a:cs typeface="华文楷体"/>
              </a:rPr>
              <a:t>。这一发现随后获得</a:t>
            </a:r>
            <a:r>
              <a:rPr dirty="0" sz="2800" spc="-10" b="1">
                <a:solidFill>
                  <a:srgbClr val="0000CC"/>
                </a:solidFill>
                <a:latin typeface="Times New Roman"/>
                <a:cs typeface="Times New Roman"/>
              </a:rPr>
              <a:t>2013</a:t>
            </a:r>
            <a:r>
              <a:rPr dirty="0" sz="2800" spc="-5" b="1">
                <a:solidFill>
                  <a:srgbClr val="0000CC"/>
                </a:solidFill>
                <a:latin typeface="华文楷体"/>
                <a:cs typeface="华文楷体"/>
              </a:rPr>
              <a:t>年诺贝尔物理奖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algn="ctr" marR="104139">
              <a:lnSpc>
                <a:spcPct val="100000"/>
              </a:lnSpc>
              <a:spcBef>
                <a:spcPts val="2970"/>
              </a:spcBef>
            </a:pPr>
            <a:r>
              <a:rPr dirty="0" sz="3600" b="1">
                <a:solidFill>
                  <a:srgbClr val="660066"/>
                </a:solidFill>
                <a:latin typeface="黑体"/>
                <a:cs typeface="黑体"/>
              </a:rPr>
              <a:t>基本粒子源于何处</a:t>
            </a:r>
            <a:r>
              <a:rPr dirty="0" sz="3600" spc="-15" b="1">
                <a:solidFill>
                  <a:srgbClr val="660066"/>
                </a:solidFill>
                <a:latin typeface="黑体"/>
                <a:cs typeface="黑体"/>
              </a:rPr>
              <a:t>?</a:t>
            </a:r>
            <a:endParaRPr sz="3600">
              <a:latin typeface="黑体"/>
              <a:cs typeface="黑体"/>
            </a:endParaRPr>
          </a:p>
          <a:p>
            <a:pPr algn="ctr" marR="103505">
              <a:lnSpc>
                <a:spcPct val="100000"/>
              </a:lnSpc>
            </a:pPr>
            <a:r>
              <a:rPr dirty="0" sz="3600" b="1">
                <a:solidFill>
                  <a:srgbClr val="660066"/>
                </a:solidFill>
                <a:latin typeface="黑体"/>
                <a:cs typeface="黑体"/>
              </a:rPr>
              <a:t>又是如何组成浩瀚宇宙的</a:t>
            </a:r>
            <a:r>
              <a:rPr dirty="0" sz="3600" spc="-15" b="1">
                <a:solidFill>
                  <a:srgbClr val="660066"/>
                </a:solidFill>
                <a:latin typeface="黑体"/>
                <a:cs typeface="黑体"/>
              </a:rPr>
              <a:t>?</a:t>
            </a:r>
            <a:endParaRPr sz="3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5132" y="1098803"/>
            <a:ext cx="5099304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762" y="304165"/>
            <a:ext cx="50736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660033"/>
                </a:solidFill>
                <a:latin typeface="黑体"/>
                <a:cs typeface="黑体"/>
              </a:rPr>
              <a:t>大爆炸宇宙模型：伽莫</a:t>
            </a:r>
            <a:r>
              <a:rPr dirty="0" sz="3600" spc="-15">
                <a:solidFill>
                  <a:srgbClr val="660033"/>
                </a:solidFill>
                <a:latin typeface="黑体"/>
                <a:cs typeface="黑体"/>
              </a:rPr>
              <a:t>夫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968" y="1549501"/>
            <a:ext cx="2633980" cy="2465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0066"/>
                </a:solidFill>
                <a:latin typeface="华文楷体"/>
                <a:cs typeface="华文楷体"/>
              </a:rPr>
              <a:t>宇宙是由一个 致密炽热的奇 </a:t>
            </a:r>
            <a:r>
              <a:rPr dirty="0" sz="3200" b="1">
                <a:solidFill>
                  <a:srgbClr val="000066"/>
                </a:solidFill>
                <a:latin typeface="华文楷体"/>
                <a:cs typeface="华文楷体"/>
              </a:rPr>
              <a:t>点于</a:t>
            </a:r>
            <a:r>
              <a:rPr dirty="0" sz="3200" spc="-5" b="1">
                <a:solidFill>
                  <a:srgbClr val="000066"/>
                </a:solidFill>
                <a:latin typeface="华文楷体"/>
                <a:cs typeface="华文楷体"/>
              </a:rPr>
              <a:t>137</a:t>
            </a:r>
            <a:r>
              <a:rPr dirty="0" sz="3200" b="1">
                <a:solidFill>
                  <a:srgbClr val="000066"/>
                </a:solidFill>
                <a:latin typeface="华文楷体"/>
                <a:cs typeface="华文楷体"/>
              </a:rPr>
              <a:t>亿年前 </a:t>
            </a:r>
            <a:r>
              <a:rPr dirty="0" sz="3200" b="1">
                <a:solidFill>
                  <a:srgbClr val="000066"/>
                </a:solidFill>
                <a:latin typeface="华文楷体"/>
                <a:cs typeface="华文楷体"/>
              </a:rPr>
              <a:t>一次大爆炸后 膨胀形成的。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0827" y="5629655"/>
            <a:ext cx="8574405" cy="524510"/>
          </a:xfrm>
          <a:custGeom>
            <a:avLst/>
            <a:gdLst/>
            <a:ahLst/>
            <a:cxnLst/>
            <a:rect l="l" t="t" r="r" b="b"/>
            <a:pathLst>
              <a:path w="8574405" h="524510">
                <a:moveTo>
                  <a:pt x="0" y="0"/>
                </a:moveTo>
                <a:lnTo>
                  <a:pt x="8574024" y="0"/>
                </a:lnTo>
                <a:lnTo>
                  <a:pt x="8574024" y="524255"/>
                </a:lnTo>
                <a:lnTo>
                  <a:pt x="0" y="524255"/>
                </a:lnTo>
                <a:lnTo>
                  <a:pt x="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5443" y="5625376"/>
            <a:ext cx="8583930" cy="532765"/>
          </a:xfrm>
          <a:custGeom>
            <a:avLst/>
            <a:gdLst/>
            <a:ahLst/>
            <a:cxnLst/>
            <a:rect l="l" t="t" r="r" b="b"/>
            <a:pathLst>
              <a:path w="8583930" h="532764">
                <a:moveTo>
                  <a:pt x="8583752" y="532752"/>
                </a:moveTo>
                <a:lnTo>
                  <a:pt x="0" y="532752"/>
                </a:lnTo>
                <a:lnTo>
                  <a:pt x="0" y="0"/>
                </a:lnTo>
                <a:lnTo>
                  <a:pt x="8583752" y="0"/>
                </a:lnTo>
                <a:lnTo>
                  <a:pt x="858375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23227"/>
                </a:lnTo>
                <a:lnTo>
                  <a:pt x="4762" y="523227"/>
                </a:lnTo>
                <a:lnTo>
                  <a:pt x="9525" y="527989"/>
                </a:lnTo>
                <a:lnTo>
                  <a:pt x="8583752" y="527989"/>
                </a:lnTo>
                <a:lnTo>
                  <a:pt x="8583752" y="532752"/>
                </a:lnTo>
                <a:close/>
              </a:path>
              <a:path w="8583930" h="53276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583930" h="532764">
                <a:moveTo>
                  <a:pt x="857422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574227" y="4762"/>
                </a:lnTo>
                <a:lnTo>
                  <a:pt x="8574227" y="9525"/>
                </a:lnTo>
                <a:close/>
              </a:path>
              <a:path w="8583930" h="532764">
                <a:moveTo>
                  <a:pt x="8574227" y="527989"/>
                </a:moveTo>
                <a:lnTo>
                  <a:pt x="8574227" y="4762"/>
                </a:lnTo>
                <a:lnTo>
                  <a:pt x="8578989" y="9525"/>
                </a:lnTo>
                <a:lnTo>
                  <a:pt x="8583752" y="9525"/>
                </a:lnTo>
                <a:lnTo>
                  <a:pt x="8583752" y="523227"/>
                </a:lnTo>
                <a:lnTo>
                  <a:pt x="8578989" y="523227"/>
                </a:lnTo>
                <a:lnTo>
                  <a:pt x="8574227" y="527989"/>
                </a:lnTo>
                <a:close/>
              </a:path>
              <a:path w="8583930" h="532764">
                <a:moveTo>
                  <a:pt x="8583752" y="9525"/>
                </a:moveTo>
                <a:lnTo>
                  <a:pt x="8578989" y="9525"/>
                </a:lnTo>
                <a:lnTo>
                  <a:pt x="8574227" y="4762"/>
                </a:lnTo>
                <a:lnTo>
                  <a:pt x="8583752" y="4762"/>
                </a:lnTo>
                <a:lnTo>
                  <a:pt x="8583752" y="9525"/>
                </a:lnTo>
                <a:close/>
              </a:path>
              <a:path w="8583930" h="532764">
                <a:moveTo>
                  <a:pt x="9525" y="527989"/>
                </a:moveTo>
                <a:lnTo>
                  <a:pt x="4762" y="523227"/>
                </a:lnTo>
                <a:lnTo>
                  <a:pt x="9525" y="523227"/>
                </a:lnTo>
                <a:lnTo>
                  <a:pt x="9525" y="527989"/>
                </a:lnTo>
                <a:close/>
              </a:path>
              <a:path w="8583930" h="532764">
                <a:moveTo>
                  <a:pt x="8574227" y="527989"/>
                </a:moveTo>
                <a:lnTo>
                  <a:pt x="9525" y="527989"/>
                </a:lnTo>
                <a:lnTo>
                  <a:pt x="9525" y="523227"/>
                </a:lnTo>
                <a:lnTo>
                  <a:pt x="8574227" y="523227"/>
                </a:lnTo>
                <a:lnTo>
                  <a:pt x="8574227" y="527989"/>
                </a:lnTo>
                <a:close/>
              </a:path>
              <a:path w="8583930" h="532764">
                <a:moveTo>
                  <a:pt x="8583752" y="527989"/>
                </a:moveTo>
                <a:lnTo>
                  <a:pt x="8574227" y="527989"/>
                </a:lnTo>
                <a:lnTo>
                  <a:pt x="8578989" y="523227"/>
                </a:lnTo>
                <a:lnTo>
                  <a:pt x="8583752" y="523227"/>
                </a:lnTo>
                <a:lnTo>
                  <a:pt x="8583752" y="52798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68945" y="5643473"/>
            <a:ext cx="86029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660066"/>
                </a:solidFill>
                <a:latin typeface="黑体"/>
                <a:cs typeface="黑体"/>
              </a:rPr>
              <a:t>大爆炸宇宙模型是现代宇宙学中最有影响的一种学说</a:t>
            </a:r>
            <a:r>
              <a:rPr dirty="0" sz="2800" spc="-20" b="1">
                <a:solidFill>
                  <a:srgbClr val="660066"/>
                </a:solidFill>
                <a:latin typeface="黑体"/>
                <a:cs typeface="黑体"/>
              </a:rPr>
              <a:t>。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337" y="698398"/>
            <a:ext cx="53841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FF0000"/>
                </a:solidFill>
                <a:latin typeface="黑体"/>
                <a:cs typeface="黑体"/>
              </a:rPr>
              <a:t>大爆炸模型的宇宙演化（阅读</a:t>
            </a:r>
            <a:r>
              <a:rPr dirty="0" sz="3000" spc="-15">
                <a:solidFill>
                  <a:srgbClr val="FF0000"/>
                </a:solidFill>
                <a:latin typeface="黑体"/>
                <a:cs typeface="黑体"/>
              </a:rPr>
              <a:t>）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8674" y="1522577"/>
            <a:ext cx="9667240" cy="452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4184" indent="4572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在距今约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15</a:t>
            </a:r>
            <a:r>
              <a:rPr dirty="0" sz="2400" spc="-5" b="1">
                <a:solidFill>
                  <a:srgbClr val="000066"/>
                </a:solidFill>
                <a:latin typeface="楷体"/>
                <a:cs typeface="楷体"/>
              </a:rPr>
              <a:t>0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～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200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亿年前</a:t>
            </a:r>
            <a:r>
              <a:rPr dirty="0" sz="2400" spc="-5" b="1">
                <a:solidFill>
                  <a:srgbClr val="000066"/>
                </a:solidFill>
                <a:latin typeface="楷体"/>
                <a:cs typeface="楷体"/>
              </a:rPr>
              <a:t>,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宇宙中的所有物质被压缩为极其高密</a:t>
            </a:r>
            <a:r>
              <a:rPr dirty="0" sz="2400" spc="-10" b="1">
                <a:solidFill>
                  <a:srgbClr val="000066"/>
                </a:solidFill>
                <a:latin typeface="楷体"/>
                <a:cs typeface="楷体"/>
              </a:rPr>
              <a:t>度 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的状态，是一个不大的、但密度极高、温度极高的火球</a:t>
            </a:r>
            <a:r>
              <a:rPr dirty="0" sz="2400" spc="-10" b="1">
                <a:solidFill>
                  <a:srgbClr val="000066"/>
                </a:solidFill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  <a:p>
            <a:pPr algn="just" marL="12700" marR="465455" indent="457200">
              <a:lnSpc>
                <a:spcPct val="100000"/>
              </a:lnSpc>
              <a:spcBef>
                <a:spcPts val="1000"/>
              </a:spcBef>
            </a:pP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大约在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150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亿年前，这个原始火球突然发生了惊天动地的大爆炸</a:t>
            </a:r>
            <a:r>
              <a:rPr dirty="0" sz="2400" spc="-10" b="1">
                <a:solidFill>
                  <a:srgbClr val="000066"/>
                </a:solidFill>
                <a:latin typeface="楷体"/>
                <a:cs typeface="楷体"/>
              </a:rPr>
              <a:t>， 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把物质抛向四周，从此产生了宇宙。从那时起，宇宙开始膨胀，温</a:t>
            </a:r>
            <a:r>
              <a:rPr dirty="0" sz="2400" spc="-10" b="1">
                <a:solidFill>
                  <a:srgbClr val="000066"/>
                </a:solidFill>
                <a:latin typeface="楷体"/>
                <a:cs typeface="楷体"/>
              </a:rPr>
              <a:t>度 </a:t>
            </a:r>
            <a:r>
              <a:rPr dirty="0" sz="2400" b="1">
                <a:solidFill>
                  <a:srgbClr val="000066"/>
                </a:solidFill>
                <a:latin typeface="楷体"/>
                <a:cs typeface="楷体"/>
              </a:rPr>
              <a:t>也随着空间的扩大而降低</a:t>
            </a:r>
            <a:r>
              <a:rPr dirty="0" sz="2400" spc="-10" b="1">
                <a:solidFill>
                  <a:srgbClr val="000066"/>
                </a:solidFill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  <a:p>
            <a:pPr marL="469900">
              <a:lnSpc>
                <a:spcPts val="2770"/>
              </a:lnSpc>
            </a:pP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当宇宙年龄为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baseline="21505" sz="2325" b="1">
                <a:solidFill>
                  <a:srgbClr val="000066"/>
                </a:solidFill>
                <a:latin typeface="华文楷体"/>
                <a:cs typeface="华文楷体"/>
              </a:rPr>
              <a:t>－</a:t>
            </a:r>
            <a:r>
              <a:rPr dirty="0" baseline="21505" sz="2325" b="1">
                <a:solidFill>
                  <a:srgbClr val="000066"/>
                </a:solidFill>
                <a:latin typeface="Times New Roman"/>
                <a:cs typeface="Times New Roman"/>
              </a:rPr>
              <a:t>44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秒时，温度高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达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1032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亿度，在这以后一刹那，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即</a:t>
            </a:r>
            <a:endParaRPr sz="2400">
              <a:latin typeface="华文楷体"/>
              <a:cs typeface="华文楷体"/>
            </a:endParaRPr>
          </a:p>
          <a:p>
            <a:pPr marL="12700" marR="286385"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经过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baseline="21505" sz="2325" b="1">
                <a:solidFill>
                  <a:srgbClr val="000066"/>
                </a:solidFill>
                <a:latin typeface="华文楷体"/>
                <a:cs typeface="华文楷体"/>
              </a:rPr>
              <a:t>－</a:t>
            </a:r>
            <a:r>
              <a:rPr dirty="0" baseline="21505" sz="2325" b="1">
                <a:solidFill>
                  <a:srgbClr val="000066"/>
                </a:solidFill>
                <a:latin typeface="Times New Roman"/>
                <a:cs typeface="Times New Roman"/>
              </a:rPr>
              <a:t>34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秒后，宇宙突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然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“暴胀”，就像大气球突然被大人猛烈一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吹 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那样，宇宙发生了巨大的爆炸，爆炸使宇宙在刹那间扩大了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baseline="21505" sz="2325" spc="7" b="1">
                <a:solidFill>
                  <a:srgbClr val="000066"/>
                </a:solidFill>
                <a:latin typeface="Times New Roman"/>
                <a:cs typeface="Times New Roman"/>
              </a:rPr>
              <a:t>29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倍。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大 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爆炸后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0.01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秒，宇宙温度下降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为</a:t>
            </a:r>
            <a:r>
              <a:rPr dirty="0" sz="2400" spc="-35" b="1">
                <a:solidFill>
                  <a:srgbClr val="000066"/>
                </a:solidFill>
                <a:latin typeface="Times New Roman"/>
                <a:cs typeface="Times New Roman"/>
              </a:rPr>
              <a:t>1011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亿度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4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0.1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秒后，温度降到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300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亿度；在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13.8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秒后温度进一步降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到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30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亿度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ts val="2840"/>
              </a:lnSpc>
              <a:spcBef>
                <a:spcPts val="125"/>
              </a:spcBef>
            </a:pP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35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分钟时，温度已降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到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亿度。大爆炸后</a:t>
            </a:r>
            <a:r>
              <a:rPr dirty="0" sz="2400" b="1">
                <a:solidFill>
                  <a:srgbClr val="000066"/>
                </a:solidFill>
                <a:latin typeface="Times New Roman"/>
                <a:cs typeface="Times New Roman"/>
              </a:rPr>
              <a:t>30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万年，温度已下降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到</a:t>
            </a:r>
            <a:r>
              <a:rPr dirty="0" sz="2400" spc="-5" b="1">
                <a:solidFill>
                  <a:srgbClr val="000066"/>
                </a:solidFill>
                <a:latin typeface="Times New Roman"/>
                <a:cs typeface="Times New Roman"/>
              </a:rPr>
              <a:t>3000℃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，  </a:t>
            </a:r>
            <a:r>
              <a:rPr dirty="0" sz="2400" b="1">
                <a:solidFill>
                  <a:srgbClr val="000066"/>
                </a:solidFill>
                <a:latin typeface="华文楷体"/>
                <a:cs typeface="华文楷体"/>
              </a:rPr>
              <a:t>宇宙开始变得透明了，在这期间也开始形成了化学元素</a:t>
            </a:r>
            <a:r>
              <a:rPr dirty="0" sz="2400" spc="-5" b="1">
                <a:solidFill>
                  <a:srgbClr val="000066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707" y="652437"/>
            <a:ext cx="9884410" cy="5734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宇宙年龄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0.01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秒时，温度下降为</a:t>
            </a:r>
            <a:r>
              <a:rPr dirty="0" sz="2500" spc="-30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baseline="20833" sz="2400" spc="-44" b="1">
                <a:solidFill>
                  <a:srgbClr val="000066"/>
                </a:solidFill>
                <a:latin typeface="Times New Roman"/>
                <a:cs typeface="Times New Roman"/>
              </a:rPr>
              <a:t>11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度，一团混沌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5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</a:pP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1.1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秒时，温度下降为</a:t>
            </a:r>
            <a:r>
              <a:rPr dirty="0" sz="2500" spc="5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baseline="20833" sz="2400" spc="7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度，出现电子、中子、质子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5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</a:pP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分钟时，温度下降为</a:t>
            </a:r>
            <a:r>
              <a:rPr dirty="0" sz="2500" b="1">
                <a:solidFill>
                  <a:srgbClr val="000066"/>
                </a:solidFill>
                <a:latin typeface="Times New Roman"/>
                <a:cs typeface="Times New Roman"/>
              </a:rPr>
              <a:t>10</a:t>
            </a:r>
            <a:r>
              <a:rPr dirty="0" baseline="20833" sz="2400" b="1">
                <a:solidFill>
                  <a:srgbClr val="000066"/>
                </a:solidFill>
                <a:latin typeface="Times New Roman"/>
                <a:cs typeface="Times New Roman"/>
              </a:rPr>
              <a:t>9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度，开始形成元素氢、氦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5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</a:pP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3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分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45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秒，宇宙基本形成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。</a:t>
            </a:r>
            <a:endParaRPr sz="2500">
              <a:latin typeface="华文楷体"/>
              <a:cs typeface="华文楷体"/>
            </a:endParaRPr>
          </a:p>
          <a:p>
            <a:pPr marL="12700" marR="342900" indent="457200">
              <a:lnSpc>
                <a:spcPts val="2960"/>
              </a:lnSpc>
              <a:spcBef>
                <a:spcPts val="130"/>
              </a:spcBef>
            </a:pP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150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亿年来，宇宙在不断膨胀，温度在逐渐降低，与此同时，产</a:t>
            </a:r>
            <a:r>
              <a:rPr dirty="0" sz="2500" spc="-5" b="1">
                <a:solidFill>
                  <a:srgbClr val="000066"/>
                </a:solidFill>
                <a:latin typeface="华文楷体"/>
                <a:cs typeface="华文楷体"/>
              </a:rPr>
              <a:t>生 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和繁衍了生物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。</a:t>
            </a:r>
            <a:endParaRPr sz="2500">
              <a:latin typeface="华文楷体"/>
              <a:cs typeface="华文楷体"/>
            </a:endParaRPr>
          </a:p>
          <a:p>
            <a:pPr marL="12700" marR="323215" indent="536575">
              <a:lnSpc>
                <a:spcPts val="3000"/>
              </a:lnSpc>
              <a:spcBef>
                <a:spcPts val="50"/>
              </a:spcBef>
            </a:pP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有人像按比例尺画地图那样，将这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150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亿年的宇宙进化历程浓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缩 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在一年里，使我们得到了一个极为直观有趣的“宇宙日历”：</a:t>
            </a:r>
            <a:r>
              <a:rPr dirty="0" sz="2500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10  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日，大爆炸，宇宙脱颖而出；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5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日，浩瀚的银河系诞生；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9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9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，</a:t>
            </a:r>
            <a:endParaRPr sz="2500">
              <a:latin typeface="华文楷体"/>
              <a:cs typeface="华文楷体"/>
            </a:endParaRPr>
          </a:p>
          <a:p>
            <a:pPr marL="12700">
              <a:lnSpc>
                <a:spcPts val="2900"/>
              </a:lnSpc>
            </a:pP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太阳系问世；</a:t>
            </a:r>
            <a:r>
              <a:rPr dirty="0" sz="2500" b="1">
                <a:solidFill>
                  <a:srgbClr val="000066"/>
                </a:solidFill>
                <a:latin typeface="Times New Roman"/>
                <a:cs typeface="Times New Roman"/>
              </a:rPr>
              <a:t>9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14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日，地球形成；</a:t>
            </a:r>
            <a:r>
              <a:rPr dirty="0" sz="2500" b="1">
                <a:solidFill>
                  <a:srgbClr val="000066"/>
                </a:solidFill>
                <a:latin typeface="Times New Roman"/>
                <a:cs typeface="Times New Roman"/>
              </a:rPr>
              <a:t>9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24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日，地球上出现了原始生命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5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500" spc="-75" b="1">
                <a:solidFill>
                  <a:srgbClr val="000066"/>
                </a:solidFill>
                <a:latin typeface="Times New Roman"/>
                <a:cs typeface="Times New Roman"/>
              </a:rPr>
              <a:t>11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12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日，绿色植物破土而出</a:t>
            </a:r>
            <a:r>
              <a:rPr dirty="0" sz="2500" spc="-5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12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26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日，更高级的哺乳动物出现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endParaRPr sz="2500">
              <a:latin typeface="华文楷体"/>
              <a:cs typeface="华文楷体"/>
            </a:endParaRPr>
          </a:p>
          <a:p>
            <a:pPr marL="12700" marR="321945">
              <a:lnSpc>
                <a:spcPct val="99600"/>
              </a:lnSpc>
              <a:spcBef>
                <a:spcPts val="10"/>
              </a:spcBef>
            </a:pP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12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月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31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日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0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时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22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分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30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秒，原始人类站在地球上</a:t>
            </a:r>
            <a:r>
              <a:rPr dirty="0" sz="2500" spc="-5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23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分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46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秒，北京猿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人 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创造了火</a:t>
            </a:r>
            <a:r>
              <a:rPr dirty="0" sz="2500" spc="-5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23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分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59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秒，中国历史衍续到春秋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„„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宋代</a:t>
            </a:r>
            <a:r>
              <a:rPr dirty="0" sz="2500" spc="-5" b="1">
                <a:solidFill>
                  <a:srgbClr val="000066"/>
                </a:solidFill>
                <a:latin typeface="华文楷体"/>
                <a:cs typeface="华文楷体"/>
              </a:rPr>
              <a:t>；</a:t>
            </a:r>
            <a:r>
              <a:rPr dirty="0" sz="2500" spc="-5" b="1">
                <a:solidFill>
                  <a:srgbClr val="000066"/>
                </a:solidFill>
                <a:latin typeface="Times New Roman"/>
                <a:cs typeface="Times New Roman"/>
              </a:rPr>
              <a:t>24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分，全球进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入 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了迄今仍在继续的现代化社会。可见人类历史只是宇宙岁月中极其</a:t>
            </a:r>
            <a:r>
              <a:rPr dirty="0" sz="2500" spc="-5" b="1">
                <a:solidFill>
                  <a:srgbClr val="000066"/>
                </a:solidFill>
                <a:latin typeface="华文楷体"/>
                <a:cs typeface="华文楷体"/>
              </a:rPr>
              <a:t>短 </a:t>
            </a:r>
            <a:r>
              <a:rPr dirty="0" sz="2500" b="1">
                <a:solidFill>
                  <a:srgbClr val="000066"/>
                </a:solidFill>
                <a:latin typeface="华文楷体"/>
                <a:cs typeface="华文楷体"/>
              </a:rPr>
              <a:t>暂的一瞬</a:t>
            </a:r>
            <a:r>
              <a:rPr dirty="0" sz="2500" spc="-10" b="1">
                <a:solidFill>
                  <a:srgbClr val="000066"/>
                </a:solidFill>
                <a:latin typeface="华文楷体"/>
                <a:cs typeface="华文楷体"/>
              </a:rPr>
              <a:t>。</a:t>
            </a:r>
            <a:endParaRPr sz="25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469" y="1747468"/>
            <a:ext cx="10254615" cy="308864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456565" algn="l"/>
                <a:tab pos="457200" algn="l"/>
              </a:tabLst>
            </a:pPr>
            <a:r>
              <a:rPr dirty="0" sz="2800" b="1">
                <a:latin typeface="华文楷体"/>
                <a:cs typeface="华文楷体"/>
              </a:rPr>
              <a:t>1．宇宙大爆炸至今，经历了至少</a:t>
            </a:r>
            <a:r>
              <a:rPr dirty="0" u="heavy" baseline="10912" sz="4200" spc="76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baseline="10912" sz="4200" spc="-7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150</a:t>
            </a:r>
            <a:r>
              <a:rPr dirty="0" u="heavy" baseline="10912" sz="4200" spc="-1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亿</a:t>
            </a:r>
            <a:r>
              <a:rPr dirty="0" baseline="10912" sz="4200" spc="345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年，这是一个漫长</a:t>
            </a:r>
            <a:r>
              <a:rPr dirty="0" sz="2800" spc="-10" b="1">
                <a:latin typeface="华文楷体"/>
                <a:cs typeface="华文楷体"/>
              </a:rPr>
              <a:t>的</a:t>
            </a:r>
            <a:endParaRPr sz="2800">
              <a:latin typeface="华文楷体"/>
              <a:cs typeface="华文楷体"/>
            </a:endParaRPr>
          </a:p>
          <a:p>
            <a:pPr marL="994410" indent="-98171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993775" algn="l"/>
                <a:tab pos="994410" algn="l"/>
                <a:tab pos="4651375" algn="l"/>
                <a:tab pos="6311900" algn="l"/>
                <a:tab pos="7956550" algn="l"/>
              </a:tabLst>
            </a:pPr>
            <a:r>
              <a:rPr dirty="0" sz="2800" b="1">
                <a:latin typeface="华文楷体"/>
                <a:cs typeface="华文楷体"/>
              </a:rPr>
              <a:t>历程，大宇宙的</a:t>
            </a:r>
            <a:r>
              <a:rPr dirty="0" u="heavy" sz="2800" spc="64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dirty="0" u="heavy" sz="2800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演</a:t>
            </a:r>
            <a:r>
              <a:rPr dirty="0" u="heavy" sz="2800" spc="-10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化	</a:t>
            </a:r>
            <a:r>
              <a:rPr dirty="0" sz="2800" b="1">
                <a:latin typeface="华文楷体"/>
                <a:cs typeface="华文楷体"/>
              </a:rPr>
              <a:t>与微小的</a:t>
            </a:r>
            <a:r>
              <a:rPr dirty="0" u="heavy" baseline="4960" sz="4200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	基本粒</a:t>
            </a:r>
            <a:r>
              <a:rPr dirty="0" u="heavy" baseline="4960" sz="4200" spc="-1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baseline="4960" sz="4200" spc="-1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latin typeface="华文楷体"/>
                <a:cs typeface="华文楷体"/>
              </a:rPr>
              <a:t>紧密地联系</a:t>
            </a:r>
            <a:r>
              <a:rPr dirty="0" sz="2800" spc="-10" b="1">
                <a:latin typeface="华文楷体"/>
                <a:cs typeface="华文楷体"/>
              </a:rPr>
              <a:t>在</a:t>
            </a:r>
            <a:endParaRPr sz="2800">
              <a:latin typeface="华文楷体"/>
              <a:cs typeface="华文楷体"/>
            </a:endParaRPr>
          </a:p>
          <a:p>
            <a:pPr marL="994410" indent="-98171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993775" algn="l"/>
                <a:tab pos="994410" algn="l"/>
              </a:tabLst>
            </a:pPr>
            <a:r>
              <a:rPr dirty="0" sz="2800" b="1">
                <a:latin typeface="华文楷体"/>
                <a:cs typeface="华文楷体"/>
              </a:rPr>
              <a:t>一起了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457200" indent="-4445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456565" algn="l"/>
                <a:tab pos="457200" algn="l"/>
              </a:tabLst>
            </a:pPr>
            <a:r>
              <a:rPr dirty="0" sz="2800" b="1">
                <a:latin typeface="华文楷体"/>
                <a:cs typeface="华文楷体"/>
              </a:rPr>
              <a:t>2．在大爆炸之后逐渐形成了夸克、轻子和胶子等粒子，随后</a:t>
            </a:r>
            <a:r>
              <a:rPr dirty="0" sz="2800" spc="-10" b="1">
                <a:latin typeface="华文楷体"/>
                <a:cs typeface="华文楷体"/>
              </a:rPr>
              <a:t>经</a:t>
            </a:r>
            <a:endParaRPr sz="2800">
              <a:latin typeface="华文楷体"/>
              <a:cs typeface="华文楷体"/>
            </a:endParaRPr>
          </a:p>
          <a:p>
            <a:pPr marL="994410" indent="-98171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993775" algn="l"/>
                <a:tab pos="994410" algn="l"/>
                <a:tab pos="2245360" algn="l"/>
                <a:tab pos="6263005" algn="l"/>
              </a:tabLst>
            </a:pPr>
            <a:r>
              <a:rPr dirty="0" sz="2800" spc="-50" b="1">
                <a:latin typeface="华文楷体"/>
                <a:cs typeface="华文楷体"/>
              </a:rPr>
              <a:t>过</a:t>
            </a:r>
            <a:r>
              <a:rPr dirty="0" u="heavy" baseline="6944" sz="4200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强</a:t>
            </a:r>
            <a:r>
              <a:rPr dirty="0" u="heavy" baseline="6944" sz="4200" spc="-1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baseline="6944" sz="4200" spc="-1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latin typeface="华文楷体"/>
                <a:cs typeface="华文楷体"/>
              </a:rPr>
              <a:t>时期</a:t>
            </a:r>
            <a:r>
              <a:rPr dirty="0" sz="2800" spc="-730" b="1">
                <a:latin typeface="华文楷体"/>
                <a:cs typeface="华文楷体"/>
              </a:rPr>
              <a:t>，</a:t>
            </a:r>
            <a:r>
              <a:rPr dirty="0" baseline="10912" sz="4200" b="1">
                <a:solidFill>
                  <a:srgbClr val="FF0000"/>
                </a:solidFill>
                <a:latin typeface="华文楷体"/>
                <a:cs typeface="华文楷体"/>
              </a:rPr>
              <a:t>轻</a:t>
            </a:r>
            <a:r>
              <a:rPr dirty="0" u="heavy" baseline="10912" sz="4200" spc="-1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子</a:t>
            </a:r>
            <a:r>
              <a:rPr dirty="0" baseline="10912" sz="4200" spc="112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时期</a:t>
            </a:r>
            <a:r>
              <a:rPr dirty="0" sz="2800" spc="-340" b="1">
                <a:latin typeface="华文楷体"/>
                <a:cs typeface="华文楷体"/>
              </a:rPr>
              <a:t>，</a:t>
            </a:r>
            <a:r>
              <a:rPr dirty="0" baseline="12896" sz="4200" b="1">
                <a:solidFill>
                  <a:srgbClr val="FF0000"/>
                </a:solidFill>
                <a:latin typeface="华文楷体"/>
                <a:cs typeface="华文楷体"/>
              </a:rPr>
              <a:t>核</a:t>
            </a:r>
            <a:r>
              <a:rPr dirty="0" u="heavy" baseline="12896" sz="4200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合</a:t>
            </a:r>
            <a:r>
              <a:rPr dirty="0" u="heavy" baseline="12896" sz="4200" spc="-15" b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成</a:t>
            </a:r>
            <a:r>
              <a:rPr dirty="0" baseline="12896" sz="4200" spc="-1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latin typeface="华文楷体"/>
                <a:cs typeface="华文楷体"/>
              </a:rPr>
              <a:t>时期，继续冷却，质子</a:t>
            </a:r>
            <a:r>
              <a:rPr dirty="0" sz="2800" spc="-10" b="1">
                <a:latin typeface="华文楷体"/>
                <a:cs typeface="华文楷体"/>
              </a:rPr>
              <a:t>、</a:t>
            </a:r>
            <a:endParaRPr sz="2800">
              <a:latin typeface="华文楷体"/>
              <a:cs typeface="华文楷体"/>
            </a:endParaRPr>
          </a:p>
          <a:p>
            <a:pPr marL="994410" indent="-98171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993775" algn="l"/>
                <a:tab pos="994410" algn="l"/>
              </a:tabLst>
            </a:pPr>
            <a:r>
              <a:rPr dirty="0" sz="2800" b="1">
                <a:latin typeface="华文楷体"/>
                <a:cs typeface="华文楷体"/>
              </a:rPr>
              <a:t>电子、原子等与光子分离组成恒星和星系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93249" y="699541"/>
            <a:ext cx="410654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极大与极小的奇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遇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2079" y="799922"/>
            <a:ext cx="77704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暗物质和暗能量：现代物理学的两朵乌云</a:t>
            </a:r>
            <a:r>
              <a:rPr dirty="0" sz="3200" spc="-10" b="1">
                <a:solidFill>
                  <a:srgbClr val="FF0000"/>
                </a:solidFill>
                <a:latin typeface="宋体"/>
                <a:cs typeface="宋体"/>
              </a:rPr>
              <a:t>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7089" y="1419123"/>
            <a:ext cx="422656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-10">
                <a:solidFill>
                  <a:srgbClr val="6F2F9F"/>
                </a:solidFill>
                <a:latin typeface="宋体"/>
                <a:cs typeface="宋体"/>
              </a:rPr>
              <a:t>机遇与挑</a:t>
            </a:r>
            <a:r>
              <a:rPr dirty="0" sz="6600" spc="-30">
                <a:solidFill>
                  <a:srgbClr val="6F2F9F"/>
                </a:solidFill>
                <a:latin typeface="宋体"/>
                <a:cs typeface="宋体"/>
              </a:rPr>
              <a:t>战</a:t>
            </a:r>
            <a:endParaRPr sz="6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2977" y="2548725"/>
            <a:ext cx="8305800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06625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C00000"/>
                </a:solidFill>
                <a:latin typeface="楷体"/>
                <a:cs typeface="楷体"/>
              </a:rPr>
              <a:t>探测暗物</a:t>
            </a:r>
            <a:r>
              <a:rPr dirty="0" sz="3600" spc="-15" b="1">
                <a:solidFill>
                  <a:srgbClr val="C00000"/>
                </a:solidFill>
                <a:latin typeface="楷体"/>
                <a:cs typeface="楷体"/>
              </a:rPr>
              <a:t>质</a:t>
            </a:r>
            <a:r>
              <a:rPr dirty="0" sz="3600" spc="-25" b="1">
                <a:solidFill>
                  <a:srgbClr val="C00000"/>
                </a:solidFill>
                <a:latin typeface="楷体"/>
                <a:cs typeface="楷体"/>
              </a:rPr>
              <a:t> </a:t>
            </a:r>
            <a:r>
              <a:rPr dirty="0" sz="3600" spc="-15" b="1">
                <a:solidFill>
                  <a:srgbClr val="C00000"/>
                </a:solidFill>
                <a:latin typeface="楷体"/>
                <a:cs typeface="楷体"/>
              </a:rPr>
              <a:t>&amp;</a:t>
            </a:r>
            <a:r>
              <a:rPr dirty="0" sz="3600" spc="-25" b="1">
                <a:solidFill>
                  <a:srgbClr val="C00000"/>
                </a:solidFill>
                <a:latin typeface="楷体"/>
                <a:cs typeface="楷体"/>
              </a:rPr>
              <a:t> </a:t>
            </a:r>
            <a:r>
              <a:rPr dirty="0" sz="3600" spc="-5" b="1">
                <a:solidFill>
                  <a:srgbClr val="C00000"/>
                </a:solidFill>
                <a:latin typeface="楷体"/>
                <a:cs typeface="楷体"/>
              </a:rPr>
              <a:t>暗能</a:t>
            </a:r>
            <a:r>
              <a:rPr dirty="0" sz="3600" spc="-15" b="1">
                <a:solidFill>
                  <a:srgbClr val="C00000"/>
                </a:solidFill>
                <a:latin typeface="楷体"/>
                <a:cs typeface="楷体"/>
              </a:rPr>
              <a:t>量</a:t>
            </a:r>
            <a:endParaRPr sz="3600">
              <a:latin typeface="楷体"/>
              <a:cs typeface="楷体"/>
            </a:endParaRPr>
          </a:p>
          <a:p>
            <a:pPr algn="just" marL="48260" marR="5080" indent="-36195">
              <a:lnSpc>
                <a:spcPct val="110000"/>
              </a:lnSpc>
              <a:spcBef>
                <a:spcPts val="1170"/>
              </a:spcBef>
            </a:pPr>
            <a:r>
              <a:rPr dirty="0" sz="1800" spc="30" b="1">
                <a:solidFill>
                  <a:srgbClr val="000066"/>
                </a:solidFill>
                <a:latin typeface="华文楷体"/>
                <a:cs typeface="华文楷体"/>
              </a:rPr>
              <a:t>“揭开暗物质、暗能量之谜，将是人类认识宇宙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的</a:t>
            </a:r>
            <a:r>
              <a:rPr dirty="0" sz="1800" spc="95" b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1800" spc="35" b="1">
                <a:solidFill>
                  <a:srgbClr val="000066"/>
                </a:solidFill>
                <a:latin typeface="华文楷体"/>
                <a:cs typeface="华文楷体"/>
              </a:rPr>
              <a:t>又一次重大飞跃，可能导致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一 </a:t>
            </a:r>
            <a:r>
              <a:rPr dirty="0" sz="1800" spc="45" b="1">
                <a:solidFill>
                  <a:srgbClr val="000066"/>
                </a:solidFill>
                <a:latin typeface="华文楷体"/>
                <a:cs typeface="华文楷体"/>
              </a:rPr>
              <a:t>场新的物</a:t>
            </a:r>
            <a:r>
              <a:rPr dirty="0" sz="1800" spc="50" b="1">
                <a:solidFill>
                  <a:srgbClr val="000066"/>
                </a:solidFill>
                <a:latin typeface="华文楷体"/>
                <a:cs typeface="华文楷体"/>
              </a:rPr>
              <a:t>理学革命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。</a:t>
            </a:r>
            <a:r>
              <a:rPr dirty="0" sz="1800" spc="114" b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1800" spc="50" b="1">
                <a:solidFill>
                  <a:srgbClr val="000066"/>
                </a:solidFill>
                <a:latin typeface="华文楷体"/>
                <a:cs typeface="华文楷体"/>
              </a:rPr>
              <a:t>为此，需投资建设几项关键性的探测暗物质、暗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能</a:t>
            </a:r>
            <a:r>
              <a:rPr dirty="0" sz="1800" spc="120" b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1800" spc="50" b="1">
                <a:solidFill>
                  <a:srgbClr val="000066"/>
                </a:solidFill>
                <a:latin typeface="华文楷体"/>
                <a:cs typeface="华文楷体"/>
              </a:rPr>
              <a:t>量的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重 </a:t>
            </a:r>
            <a:r>
              <a:rPr dirty="0" sz="1800" spc="20" b="1">
                <a:solidFill>
                  <a:srgbClr val="000066"/>
                </a:solidFill>
                <a:latin typeface="华文楷体"/>
                <a:cs typeface="华文楷体"/>
              </a:rPr>
              <a:t>大实验装置，包括</a:t>
            </a:r>
            <a:r>
              <a:rPr dirty="0" sz="1800" spc="25" b="1">
                <a:solidFill>
                  <a:srgbClr val="000066"/>
                </a:solidFill>
                <a:latin typeface="华文楷体"/>
                <a:cs typeface="华文楷体"/>
              </a:rPr>
              <a:t>地下和太空的粒子探测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器</a:t>
            </a:r>
            <a:r>
              <a:rPr dirty="0" sz="1800" spc="75" b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1800" spc="25" b="1">
                <a:solidFill>
                  <a:srgbClr val="000066"/>
                </a:solidFill>
                <a:latin typeface="华文楷体"/>
                <a:cs typeface="华文楷体"/>
              </a:rPr>
              <a:t>和在南极建立大口径天文望远镜，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以 </a:t>
            </a:r>
            <a:r>
              <a:rPr dirty="0" sz="1800" b="1">
                <a:solidFill>
                  <a:srgbClr val="000066"/>
                </a:solidFill>
                <a:latin typeface="华文楷体"/>
                <a:cs typeface="华文楷体"/>
              </a:rPr>
              <a:t>取得第一手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实</a:t>
            </a:r>
            <a:r>
              <a:rPr dirty="0" sz="1800" spc="10" b="1">
                <a:solidFill>
                  <a:srgbClr val="000066"/>
                </a:solidFill>
                <a:latin typeface="华文楷体"/>
                <a:cs typeface="华文楷体"/>
              </a:rPr>
              <a:t> </a:t>
            </a:r>
            <a:r>
              <a:rPr dirty="0" sz="1800" b="1">
                <a:solidFill>
                  <a:srgbClr val="000066"/>
                </a:solidFill>
                <a:latin typeface="华文楷体"/>
                <a:cs typeface="华文楷体"/>
              </a:rPr>
              <a:t>验数据，在国际竞争中处于主导地位。</a:t>
            </a:r>
            <a:r>
              <a:rPr dirty="0" sz="1800" spc="-5" b="1">
                <a:solidFill>
                  <a:srgbClr val="000066"/>
                </a:solidFill>
                <a:latin typeface="华文楷体"/>
                <a:cs typeface="华文楷体"/>
              </a:rPr>
              <a:t>”</a:t>
            </a:r>
            <a:endParaRPr sz="1800">
              <a:latin typeface="华文楷体"/>
              <a:cs typeface="华文楷体"/>
            </a:endParaRPr>
          </a:p>
          <a:p>
            <a:pPr algn="ctr" marR="436880">
              <a:lnSpc>
                <a:spcPct val="100000"/>
              </a:lnSpc>
              <a:spcBef>
                <a:spcPts val="850"/>
              </a:spcBef>
            </a:pPr>
            <a:r>
              <a:rPr dirty="0" sz="2400">
                <a:solidFill>
                  <a:srgbClr val="660033"/>
                </a:solidFill>
                <a:latin typeface="华文楷体"/>
                <a:cs typeface="华文楷体"/>
              </a:rPr>
              <a:t>《</a:t>
            </a:r>
            <a:r>
              <a:rPr dirty="0" sz="2400" b="1">
                <a:solidFill>
                  <a:srgbClr val="660033"/>
                </a:solidFill>
                <a:latin typeface="华文楷体"/>
                <a:cs typeface="华文楷体"/>
              </a:rPr>
              <a:t>创新</a:t>
            </a:r>
            <a:r>
              <a:rPr dirty="0" sz="2400" spc="5" b="1">
                <a:solidFill>
                  <a:srgbClr val="660033"/>
                </a:solidFill>
                <a:latin typeface="黑体"/>
                <a:cs typeface="黑体"/>
              </a:rPr>
              <a:t>2050</a:t>
            </a:r>
            <a:r>
              <a:rPr dirty="0" sz="2400" spc="5" b="1">
                <a:solidFill>
                  <a:srgbClr val="660033"/>
                </a:solidFill>
                <a:latin typeface="华文楷体"/>
                <a:cs typeface="华文楷体"/>
              </a:rPr>
              <a:t>：</a:t>
            </a:r>
            <a:r>
              <a:rPr dirty="0" sz="2400" b="1">
                <a:solidFill>
                  <a:srgbClr val="660033"/>
                </a:solidFill>
                <a:latin typeface="华文楷体"/>
                <a:cs typeface="华文楷体"/>
              </a:rPr>
              <a:t>科学技术与中国的未来》（</a:t>
            </a:r>
            <a:r>
              <a:rPr dirty="0" sz="2400" b="1">
                <a:solidFill>
                  <a:srgbClr val="660033"/>
                </a:solidFill>
                <a:latin typeface="黑体"/>
                <a:cs typeface="黑体"/>
              </a:rPr>
              <a:t>2009</a:t>
            </a:r>
            <a:r>
              <a:rPr dirty="0" sz="2400" b="1">
                <a:solidFill>
                  <a:srgbClr val="660033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  <a:p>
            <a:pPr algn="ctr" marR="334645">
              <a:lnSpc>
                <a:spcPct val="100000"/>
              </a:lnSpc>
              <a:spcBef>
                <a:spcPts val="204"/>
              </a:spcBef>
            </a:pPr>
            <a:r>
              <a:rPr dirty="0" sz="2400" spc="5" b="1">
                <a:solidFill>
                  <a:srgbClr val="660033"/>
                </a:solidFill>
                <a:latin typeface="华文楷体"/>
                <a:cs typeface="华文楷体"/>
              </a:rPr>
              <a:t>（中国科学院战略研究系列报告</a:t>
            </a:r>
            <a:r>
              <a:rPr dirty="0" sz="2400" spc="-5" b="1">
                <a:solidFill>
                  <a:srgbClr val="660033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3502" y="1273238"/>
            <a:ext cx="9377045" cy="2311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635">
              <a:lnSpc>
                <a:spcPct val="100000"/>
              </a:lnSpc>
              <a:spcBef>
                <a:spcPts val="100"/>
              </a:spcBef>
              <a:tabLst>
                <a:tab pos="2112645" algn="l"/>
                <a:tab pos="3639185" algn="l"/>
                <a:tab pos="5547360" algn="l"/>
                <a:tab pos="7456170" algn="l"/>
              </a:tabLst>
            </a:pP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暗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物质、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暗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能量及相关的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新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物理和理论、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物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	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质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起源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和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宇 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宙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起源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作为国际重大前沿研究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领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	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域，为我国科学家和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年 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轻的学生们提供了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世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	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纪难遇的机遇。我们要充分用好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天 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时、地利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、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	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人和，揭示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极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小与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极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大尺度物理规律的内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在 </a:t>
            </a:r>
            <a:r>
              <a:rPr dirty="0" sz="3000">
                <a:solidFill>
                  <a:srgbClr val="FF281C"/>
                </a:solidFill>
                <a:latin typeface="华文楷体"/>
                <a:cs typeface="华文楷体"/>
              </a:rPr>
              <a:t>统一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，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超越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标准模型、</a:t>
            </a:r>
            <a:r>
              <a:rPr dirty="0" sz="3000">
                <a:solidFill>
                  <a:srgbClr val="FF0033"/>
                </a:solidFill>
                <a:latin typeface="华文楷体"/>
                <a:cs typeface="华文楷体"/>
              </a:rPr>
              <a:t>超越</a:t>
            </a:r>
            <a:r>
              <a:rPr dirty="0" sz="3000">
                <a:solidFill>
                  <a:srgbClr val="3333CC"/>
                </a:solidFill>
                <a:latin typeface="华文楷体"/>
                <a:cs typeface="华文楷体"/>
              </a:rPr>
              <a:t>爱因斯坦</a:t>
            </a:r>
            <a:r>
              <a:rPr dirty="0" sz="3000" spc="-5">
                <a:solidFill>
                  <a:srgbClr val="3333CC"/>
                </a:solidFill>
                <a:latin typeface="华文楷体"/>
                <a:cs typeface="华文楷体"/>
              </a:rPr>
              <a:t>。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9716" y="3890771"/>
            <a:ext cx="6986270" cy="19812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58115" rIns="0" bIns="0" rtlCol="0" vert="horz">
            <a:spAutoFit/>
          </a:bodyPr>
          <a:lstStyle/>
          <a:p>
            <a:pPr marL="1886585">
              <a:lnSpc>
                <a:spcPct val="100000"/>
              </a:lnSpc>
              <a:spcBef>
                <a:spcPts val="1245"/>
              </a:spcBef>
            </a:pPr>
            <a:r>
              <a:rPr dirty="0" sz="4000" spc="-5" b="1">
                <a:solidFill>
                  <a:srgbClr val="CC0000"/>
                </a:solidFill>
                <a:latin typeface="华文楷体"/>
                <a:cs typeface="华文楷体"/>
              </a:rPr>
              <a:t>两暗一新双起</a:t>
            </a:r>
            <a:r>
              <a:rPr dirty="0" sz="4000" spc="-10" b="1">
                <a:solidFill>
                  <a:srgbClr val="CC0000"/>
                </a:solidFill>
                <a:latin typeface="华文楷体"/>
                <a:cs typeface="华文楷体"/>
              </a:rPr>
              <a:t>源</a:t>
            </a:r>
            <a:endParaRPr sz="4000">
              <a:latin typeface="华文楷体"/>
              <a:cs typeface="华文楷体"/>
            </a:endParaRPr>
          </a:p>
          <a:p>
            <a:pPr marL="1886585">
              <a:lnSpc>
                <a:spcPct val="100000"/>
              </a:lnSpc>
              <a:spcBef>
                <a:spcPts val="3595"/>
              </a:spcBef>
            </a:pPr>
            <a:r>
              <a:rPr dirty="0" sz="4000" spc="-5" b="1">
                <a:solidFill>
                  <a:srgbClr val="CC0000"/>
                </a:solidFill>
                <a:latin typeface="华文楷体"/>
                <a:cs typeface="华文楷体"/>
              </a:rPr>
              <a:t>两极一统双超</a:t>
            </a:r>
            <a:r>
              <a:rPr dirty="0" sz="4000" spc="-10" b="1">
                <a:solidFill>
                  <a:srgbClr val="CC0000"/>
                </a:solidFill>
                <a:latin typeface="华文楷体"/>
                <a:cs typeface="华文楷体"/>
              </a:rPr>
              <a:t>越</a:t>
            </a:r>
            <a:endParaRPr sz="4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2025-04-21T01:00:34Z</dcterms:created>
  <dcterms:modified xsi:type="dcterms:W3CDTF">2025-04-21T01:00:34Z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2025-04-21T00:00:00Z</vt:filetime>
  </property>
</Properties>
</file>