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1432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20114" y="3938587"/>
            <a:ext cx="10351770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1537" y="2525712"/>
            <a:ext cx="790892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6912" y="1657350"/>
            <a:ext cx="10798174" cy="4493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png"/><Relationship Id="rId6" Type="http://schemas.openxmlformats.org/officeDocument/2006/relationships/image" Target="../media/image44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jp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jpg"/><Relationship Id="rId3" Type="http://schemas.openxmlformats.org/officeDocument/2006/relationships/image" Target="../media/image7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jpg"/><Relationship Id="rId4" Type="http://schemas.openxmlformats.org/officeDocument/2006/relationships/image" Target="../media/image73.jp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9.jpg"/><Relationship Id="rId3" Type="http://schemas.openxmlformats.org/officeDocument/2006/relationships/image" Target="../media/image9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1.jpg"/><Relationship Id="rId3" Type="http://schemas.openxmlformats.org/officeDocument/2006/relationships/image" Target="../media/image9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748789">
              <a:lnSpc>
                <a:spcPct val="100000"/>
              </a:lnSpc>
              <a:spcBef>
                <a:spcPts val="105"/>
              </a:spcBef>
            </a:pPr>
            <a:r>
              <a:rPr dirty="0"/>
              <a:t>变压器实验、传感器实</a:t>
            </a:r>
            <a:r>
              <a:rPr dirty="0" spc="5"/>
              <a:t>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202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主讲人：姜连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国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29232" y="3478212"/>
            <a:ext cx="3846829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级：高二下学</a:t>
            </a:r>
            <a:r>
              <a:rPr dirty="0" sz="2400" spc="605" b="1" i="1">
                <a:solidFill>
                  <a:srgbClr val="FFFFFF"/>
                </a:solidFill>
                <a:latin typeface="华文楷体"/>
                <a:cs typeface="华文楷体"/>
              </a:rPr>
              <a:t>期</a:t>
            </a:r>
            <a:r>
              <a:rPr dirty="0" sz="2400" b="1" i="1">
                <a:solidFill>
                  <a:srgbClr val="FFFFFF"/>
                </a:solidFill>
                <a:latin typeface="华文楷体"/>
                <a:cs typeface="华文楷体"/>
              </a:rPr>
              <a:t>选修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2400" spc="-5" b="1" i="1">
                <a:solidFill>
                  <a:srgbClr val="FFFFFF"/>
                </a:solidFill>
                <a:latin typeface="华文楷体"/>
                <a:cs typeface="华文楷体"/>
              </a:rPr>
              <a:t>2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3025" y="805786"/>
            <a:ext cx="9524365" cy="1615440"/>
          </a:xfrm>
          <a:prstGeom prst="rect">
            <a:avLst/>
          </a:prstGeom>
        </p:spPr>
        <p:txBody>
          <a:bodyPr wrap="square" lIns="0" tIns="266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dirty="0" sz="3400" b="1">
                <a:solidFill>
                  <a:srgbClr val="660066"/>
                </a:solidFill>
                <a:latin typeface="微软雅黑"/>
                <a:cs typeface="微软雅黑"/>
              </a:rPr>
              <a:t>实验一、探究变压器原、副线圈电压与匝数的关</a:t>
            </a:r>
            <a:r>
              <a:rPr dirty="0" sz="3400" spc="-5" b="1">
                <a:solidFill>
                  <a:srgbClr val="660066"/>
                </a:solidFill>
                <a:latin typeface="微软雅黑"/>
                <a:cs typeface="微软雅黑"/>
              </a:rPr>
              <a:t>系</a:t>
            </a:r>
            <a:endParaRPr sz="3400">
              <a:latin typeface="微软雅黑"/>
              <a:cs typeface="微软雅黑"/>
            </a:endParaRPr>
          </a:p>
          <a:p>
            <a:pPr marL="1378585">
              <a:lnSpc>
                <a:spcPct val="100000"/>
              </a:lnSpc>
              <a:spcBef>
                <a:spcPts val="2120"/>
              </a:spcBef>
            </a:pPr>
            <a:r>
              <a:rPr dirty="0" sz="3600">
                <a:solidFill>
                  <a:srgbClr val="FF0000"/>
                </a:solidFill>
                <a:latin typeface="华文琥珀"/>
                <a:cs typeface="华文琥珀"/>
              </a:rPr>
              <a:t>2017版新课标新增分组实验之一</a:t>
            </a:r>
            <a:endParaRPr sz="3600">
              <a:latin typeface="华文琥珀"/>
              <a:cs typeface="华文琥珀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0889" y="3556952"/>
            <a:ext cx="788797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探究变压器原、副线圈两端的电压与匝数的关系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8408" y="2987217"/>
            <a:ext cx="2760179" cy="4896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8402" y="3107054"/>
            <a:ext cx="8134350" cy="325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1280" indent="266700">
              <a:lnSpc>
                <a:spcPct val="120000"/>
              </a:lnSpc>
              <a:spcBef>
                <a:spcPts val="100"/>
              </a:spcBef>
            </a:pPr>
            <a:r>
              <a:rPr dirty="0" sz="2400" b="1">
                <a:solidFill>
                  <a:srgbClr val="FF0066"/>
                </a:solidFill>
                <a:latin typeface="宋体"/>
                <a:cs typeface="宋体"/>
              </a:rPr>
              <a:t>（</a:t>
            </a:r>
            <a:r>
              <a:rPr dirty="0" sz="2400" b="1">
                <a:solidFill>
                  <a:srgbClr val="FF0066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0066"/>
                </a:solidFill>
                <a:latin typeface="宋体"/>
                <a:cs typeface="宋体"/>
              </a:rPr>
              <a:t>）互感：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电流通过原线圈时在铁芯中激发磁场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由于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交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变电流的大小、方向在不断地变化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铁芯中的磁场强弱和方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向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也在不断地变化。变化的磁场在副线圈中产生感应电动势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尽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管两个线圈之间没有导线相连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副线圈也能够输出电流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  <a:buClr>
                <a:srgbClr val="FF0066"/>
              </a:buClr>
              <a:buSzPct val="95833"/>
              <a:buAutoNum type="arabicPlain" startAt="2"/>
              <a:tabLst>
                <a:tab pos="777240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本实验通过与副线圈相连接的多用电表，观察原线圈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电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压变化时，副线圈的输出电压的变化；通过改变原、副线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圈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匝数，探究原、副线圈的电压比与匝数比的关系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777240" indent="-764540">
              <a:lnSpc>
                <a:spcPct val="100000"/>
              </a:lnSpc>
              <a:buClr>
                <a:srgbClr val="FF0066"/>
              </a:buClr>
              <a:buSzPct val="95833"/>
              <a:buAutoNum type="arabicPlain" startAt="2"/>
              <a:tabLst>
                <a:tab pos="777240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用</a:t>
            </a:r>
            <a:r>
              <a:rPr dirty="0" sz="2400" b="1">
                <a:solidFill>
                  <a:srgbClr val="FF0066"/>
                </a:solidFill>
                <a:latin typeface="宋体"/>
                <a:cs typeface="宋体"/>
              </a:rPr>
              <a:t>控制变量法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研究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12620" y="1348155"/>
            <a:ext cx="475373" cy="357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96732" y="1274940"/>
            <a:ext cx="1373936" cy="4896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52622" y="1278508"/>
            <a:ext cx="939838" cy="4771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62855" y="1211580"/>
            <a:ext cx="5013959" cy="18242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5102" y="1467675"/>
            <a:ext cx="5027930" cy="10490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可拆变压器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、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学生电源、多用电表、导线若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干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72872" y="2127954"/>
            <a:ext cx="354965" cy="354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95"/>
              </a:lnSpc>
            </a:pP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5483" y="1026642"/>
            <a:ext cx="489661" cy="4057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96732" y="983792"/>
            <a:ext cx="2295728" cy="493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47104" y="2127504"/>
            <a:ext cx="3019044" cy="30190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4544" y="2516123"/>
            <a:ext cx="3019044" cy="30190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50095" y="2568562"/>
            <a:ext cx="2296160" cy="1305560"/>
          </a:xfrm>
          <a:custGeom>
            <a:avLst/>
            <a:gdLst/>
            <a:ahLst/>
            <a:cxnLst/>
            <a:rect l="l" t="t" r="r" b="b"/>
            <a:pathLst>
              <a:path w="2296159" h="1305560">
                <a:moveTo>
                  <a:pt x="0" y="1305445"/>
                </a:moveTo>
                <a:lnTo>
                  <a:pt x="821435" y="680605"/>
                </a:lnTo>
                <a:lnTo>
                  <a:pt x="773306" y="648684"/>
                </a:lnTo>
                <a:lnTo>
                  <a:pt x="731426" y="614438"/>
                </a:lnTo>
                <a:lnTo>
                  <a:pt x="696217" y="578085"/>
                </a:lnTo>
                <a:lnTo>
                  <a:pt x="668099" y="539840"/>
                </a:lnTo>
                <a:lnTo>
                  <a:pt x="647493" y="499921"/>
                </a:lnTo>
                <a:lnTo>
                  <a:pt x="634821" y="458543"/>
                </a:lnTo>
                <a:lnTo>
                  <a:pt x="630504" y="415924"/>
                </a:lnTo>
                <a:lnTo>
                  <a:pt x="632788" y="384884"/>
                </a:lnTo>
                <a:lnTo>
                  <a:pt x="650575" y="324742"/>
                </a:lnTo>
                <a:lnTo>
                  <a:pt x="684916" y="267721"/>
                </a:lnTo>
                <a:lnTo>
                  <a:pt x="734522" y="214466"/>
                </a:lnTo>
                <a:lnTo>
                  <a:pt x="764647" y="189451"/>
                </a:lnTo>
                <a:lnTo>
                  <a:pt x="798105" y="165618"/>
                </a:lnTo>
                <a:lnTo>
                  <a:pt x="834736" y="143049"/>
                </a:lnTo>
                <a:lnTo>
                  <a:pt x="874379" y="121823"/>
                </a:lnTo>
                <a:lnTo>
                  <a:pt x="916871" y="102020"/>
                </a:lnTo>
                <a:lnTo>
                  <a:pt x="962053" y="83722"/>
                </a:lnTo>
                <a:lnTo>
                  <a:pt x="1009764" y="67009"/>
                </a:lnTo>
                <a:lnTo>
                  <a:pt x="1059842" y="51960"/>
                </a:lnTo>
                <a:lnTo>
                  <a:pt x="1112126" y="38657"/>
                </a:lnTo>
                <a:lnTo>
                  <a:pt x="1166456" y="27180"/>
                </a:lnTo>
                <a:lnTo>
                  <a:pt x="1222671" y="17610"/>
                </a:lnTo>
                <a:lnTo>
                  <a:pt x="1280609" y="10026"/>
                </a:lnTo>
                <a:lnTo>
                  <a:pt x="1340109" y="4509"/>
                </a:lnTo>
                <a:lnTo>
                  <a:pt x="1401011" y="1140"/>
                </a:lnTo>
                <a:lnTo>
                  <a:pt x="1463154" y="0"/>
                </a:lnTo>
                <a:lnTo>
                  <a:pt x="1525295" y="1140"/>
                </a:lnTo>
                <a:lnTo>
                  <a:pt x="1586195" y="4509"/>
                </a:lnTo>
                <a:lnTo>
                  <a:pt x="1645694" y="10026"/>
                </a:lnTo>
                <a:lnTo>
                  <a:pt x="1703631" y="17610"/>
                </a:lnTo>
                <a:lnTo>
                  <a:pt x="1759844" y="27180"/>
                </a:lnTo>
                <a:lnTo>
                  <a:pt x="1814173" y="38657"/>
                </a:lnTo>
                <a:lnTo>
                  <a:pt x="1866457" y="51960"/>
                </a:lnTo>
                <a:lnTo>
                  <a:pt x="1916534" y="67009"/>
                </a:lnTo>
                <a:lnTo>
                  <a:pt x="1964244" y="83722"/>
                </a:lnTo>
                <a:lnTo>
                  <a:pt x="2009426" y="102020"/>
                </a:lnTo>
                <a:lnTo>
                  <a:pt x="2051918" y="121823"/>
                </a:lnTo>
                <a:lnTo>
                  <a:pt x="2091560" y="143049"/>
                </a:lnTo>
                <a:lnTo>
                  <a:pt x="2128190" y="165618"/>
                </a:lnTo>
                <a:lnTo>
                  <a:pt x="2161649" y="189451"/>
                </a:lnTo>
                <a:lnTo>
                  <a:pt x="2191773" y="214466"/>
                </a:lnTo>
                <a:lnTo>
                  <a:pt x="2241379" y="267721"/>
                </a:lnTo>
                <a:lnTo>
                  <a:pt x="2275720" y="324742"/>
                </a:lnTo>
                <a:lnTo>
                  <a:pt x="2293507" y="384884"/>
                </a:lnTo>
                <a:lnTo>
                  <a:pt x="2295791" y="415924"/>
                </a:lnTo>
                <a:lnTo>
                  <a:pt x="2293507" y="446967"/>
                </a:lnTo>
                <a:lnTo>
                  <a:pt x="2275720" y="507111"/>
                </a:lnTo>
                <a:lnTo>
                  <a:pt x="2241379" y="564133"/>
                </a:lnTo>
                <a:lnTo>
                  <a:pt x="2191773" y="617389"/>
                </a:lnTo>
                <a:lnTo>
                  <a:pt x="2161649" y="642404"/>
                </a:lnTo>
                <a:lnTo>
                  <a:pt x="2128190" y="666236"/>
                </a:lnTo>
                <a:lnTo>
                  <a:pt x="2091560" y="688805"/>
                </a:lnTo>
                <a:lnTo>
                  <a:pt x="2051918" y="710031"/>
                </a:lnTo>
                <a:lnTo>
                  <a:pt x="2009426" y="729833"/>
                </a:lnTo>
                <a:lnTo>
                  <a:pt x="1964244" y="748131"/>
                </a:lnTo>
                <a:lnTo>
                  <a:pt x="1916534" y="764844"/>
                </a:lnTo>
                <a:lnTo>
                  <a:pt x="1866457" y="779891"/>
                </a:lnTo>
                <a:lnTo>
                  <a:pt x="1861356" y="781189"/>
                </a:lnTo>
                <a:lnTo>
                  <a:pt x="1066800" y="781189"/>
                </a:lnTo>
                <a:lnTo>
                  <a:pt x="0" y="1305445"/>
                </a:lnTo>
                <a:close/>
              </a:path>
              <a:path w="2296159" h="1305560">
                <a:moveTo>
                  <a:pt x="1463154" y="831850"/>
                </a:moveTo>
                <a:lnTo>
                  <a:pt x="1409752" y="831007"/>
                </a:lnTo>
                <a:lnTo>
                  <a:pt x="1357248" y="828508"/>
                </a:lnTo>
                <a:lnTo>
                  <a:pt x="1305744" y="824396"/>
                </a:lnTo>
                <a:lnTo>
                  <a:pt x="1255342" y="818716"/>
                </a:lnTo>
                <a:lnTo>
                  <a:pt x="1206144" y="811512"/>
                </a:lnTo>
                <a:lnTo>
                  <a:pt x="1158253" y="802826"/>
                </a:lnTo>
                <a:lnTo>
                  <a:pt x="1111771" y="792704"/>
                </a:lnTo>
                <a:lnTo>
                  <a:pt x="1066800" y="781189"/>
                </a:lnTo>
                <a:lnTo>
                  <a:pt x="1861356" y="781189"/>
                </a:lnTo>
                <a:lnTo>
                  <a:pt x="1814173" y="793194"/>
                </a:lnTo>
                <a:lnTo>
                  <a:pt x="1759844" y="804670"/>
                </a:lnTo>
                <a:lnTo>
                  <a:pt x="1703631" y="814240"/>
                </a:lnTo>
                <a:lnTo>
                  <a:pt x="1645694" y="821824"/>
                </a:lnTo>
                <a:lnTo>
                  <a:pt x="1586195" y="827340"/>
                </a:lnTo>
                <a:lnTo>
                  <a:pt x="1525295" y="830709"/>
                </a:lnTo>
                <a:lnTo>
                  <a:pt x="1463154" y="83185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05569" y="2562212"/>
            <a:ext cx="2346960" cy="1333500"/>
          </a:xfrm>
          <a:custGeom>
            <a:avLst/>
            <a:gdLst/>
            <a:ahLst/>
            <a:cxnLst/>
            <a:rect l="l" t="t" r="r" b="b"/>
            <a:pathLst>
              <a:path w="2346959" h="1333500">
                <a:moveTo>
                  <a:pt x="1716570" y="12699"/>
                </a:moveTo>
                <a:lnTo>
                  <a:pt x="1298778" y="12699"/>
                </a:lnTo>
                <a:lnTo>
                  <a:pt x="1318907" y="0"/>
                </a:lnTo>
                <a:lnTo>
                  <a:pt x="1696440" y="0"/>
                </a:lnTo>
                <a:lnTo>
                  <a:pt x="1716570" y="12699"/>
                </a:lnTo>
                <a:close/>
              </a:path>
              <a:path w="2346959" h="1333500">
                <a:moveTo>
                  <a:pt x="1300352" y="25399"/>
                </a:moveTo>
                <a:lnTo>
                  <a:pt x="1201140" y="25399"/>
                </a:lnTo>
                <a:lnTo>
                  <a:pt x="1220241" y="12699"/>
                </a:lnTo>
                <a:lnTo>
                  <a:pt x="1320406" y="12699"/>
                </a:lnTo>
                <a:lnTo>
                  <a:pt x="1300352" y="25399"/>
                </a:lnTo>
                <a:close/>
              </a:path>
              <a:path w="2346959" h="1333500">
                <a:moveTo>
                  <a:pt x="1814207" y="25399"/>
                </a:moveTo>
                <a:lnTo>
                  <a:pt x="1714995" y="25399"/>
                </a:lnTo>
                <a:lnTo>
                  <a:pt x="1694941" y="12699"/>
                </a:lnTo>
                <a:lnTo>
                  <a:pt x="1795106" y="12699"/>
                </a:lnTo>
                <a:lnTo>
                  <a:pt x="1814207" y="25399"/>
                </a:lnTo>
                <a:close/>
              </a:path>
              <a:path w="2346959" h="1333500">
                <a:moveTo>
                  <a:pt x="1203553" y="38099"/>
                </a:moveTo>
                <a:lnTo>
                  <a:pt x="1145197" y="38099"/>
                </a:lnTo>
                <a:lnTo>
                  <a:pt x="1163612" y="25399"/>
                </a:lnTo>
                <a:lnTo>
                  <a:pt x="1222565" y="25399"/>
                </a:lnTo>
                <a:lnTo>
                  <a:pt x="1203553" y="38099"/>
                </a:lnTo>
                <a:close/>
              </a:path>
              <a:path w="2346959" h="1333500">
                <a:moveTo>
                  <a:pt x="1870151" y="38099"/>
                </a:moveTo>
                <a:lnTo>
                  <a:pt x="1811794" y="38099"/>
                </a:lnTo>
                <a:lnTo>
                  <a:pt x="1792782" y="25399"/>
                </a:lnTo>
                <a:lnTo>
                  <a:pt x="1851736" y="25399"/>
                </a:lnTo>
                <a:lnTo>
                  <a:pt x="1870151" y="38099"/>
                </a:lnTo>
                <a:close/>
              </a:path>
              <a:path w="2346959" h="1333500">
                <a:moveTo>
                  <a:pt x="1148130" y="50799"/>
                </a:moveTo>
                <a:lnTo>
                  <a:pt x="1091463" y="50799"/>
                </a:lnTo>
                <a:lnTo>
                  <a:pt x="1109129" y="38099"/>
                </a:lnTo>
                <a:lnTo>
                  <a:pt x="1166456" y="38099"/>
                </a:lnTo>
                <a:lnTo>
                  <a:pt x="1148130" y="50799"/>
                </a:lnTo>
                <a:close/>
              </a:path>
              <a:path w="2346959" h="1333500">
                <a:moveTo>
                  <a:pt x="1923884" y="50799"/>
                </a:moveTo>
                <a:lnTo>
                  <a:pt x="1867217" y="50799"/>
                </a:lnTo>
                <a:lnTo>
                  <a:pt x="1848891" y="38099"/>
                </a:lnTo>
                <a:lnTo>
                  <a:pt x="1906219" y="38099"/>
                </a:lnTo>
                <a:lnTo>
                  <a:pt x="1923884" y="50799"/>
                </a:lnTo>
                <a:close/>
              </a:path>
              <a:path w="2346959" h="1333500">
                <a:moveTo>
                  <a:pt x="1094930" y="63499"/>
                </a:moveTo>
                <a:lnTo>
                  <a:pt x="1056944" y="63499"/>
                </a:lnTo>
                <a:lnTo>
                  <a:pt x="1074077" y="50799"/>
                </a:lnTo>
                <a:lnTo>
                  <a:pt x="1112494" y="50799"/>
                </a:lnTo>
                <a:lnTo>
                  <a:pt x="1094930" y="63499"/>
                </a:lnTo>
                <a:close/>
              </a:path>
              <a:path w="2346959" h="1333500">
                <a:moveTo>
                  <a:pt x="1958403" y="63499"/>
                </a:moveTo>
                <a:lnTo>
                  <a:pt x="1920417" y="63499"/>
                </a:lnTo>
                <a:lnTo>
                  <a:pt x="1902853" y="50799"/>
                </a:lnTo>
                <a:lnTo>
                  <a:pt x="1941271" y="50799"/>
                </a:lnTo>
                <a:lnTo>
                  <a:pt x="1958403" y="63499"/>
                </a:lnTo>
                <a:close/>
              </a:path>
              <a:path w="2346959" h="1333500">
                <a:moveTo>
                  <a:pt x="1060780" y="76199"/>
                </a:moveTo>
                <a:lnTo>
                  <a:pt x="1023543" y="76199"/>
                </a:lnTo>
                <a:lnTo>
                  <a:pt x="1040104" y="63499"/>
                </a:lnTo>
                <a:lnTo>
                  <a:pt x="1077810" y="63499"/>
                </a:lnTo>
                <a:lnTo>
                  <a:pt x="1060780" y="76199"/>
                </a:lnTo>
                <a:close/>
              </a:path>
              <a:path w="2346959" h="1333500">
                <a:moveTo>
                  <a:pt x="1991804" y="76199"/>
                </a:moveTo>
                <a:lnTo>
                  <a:pt x="1954568" y="76199"/>
                </a:lnTo>
                <a:lnTo>
                  <a:pt x="1937537" y="63499"/>
                </a:lnTo>
                <a:lnTo>
                  <a:pt x="1975243" y="63499"/>
                </a:lnTo>
                <a:lnTo>
                  <a:pt x="1991804" y="76199"/>
                </a:lnTo>
                <a:close/>
              </a:path>
              <a:path w="2346959" h="1333500">
                <a:moveTo>
                  <a:pt x="1027747" y="88899"/>
                </a:moveTo>
                <a:lnTo>
                  <a:pt x="991285" y="88899"/>
                </a:lnTo>
                <a:lnTo>
                  <a:pt x="1007262" y="76199"/>
                </a:lnTo>
                <a:lnTo>
                  <a:pt x="1044206" y="76199"/>
                </a:lnTo>
                <a:lnTo>
                  <a:pt x="1027747" y="88899"/>
                </a:lnTo>
                <a:close/>
              </a:path>
              <a:path w="2346959" h="1333500">
                <a:moveTo>
                  <a:pt x="2024062" y="88899"/>
                </a:moveTo>
                <a:lnTo>
                  <a:pt x="1987600" y="88899"/>
                </a:lnTo>
                <a:lnTo>
                  <a:pt x="1971141" y="76199"/>
                </a:lnTo>
                <a:lnTo>
                  <a:pt x="2008085" y="76199"/>
                </a:lnTo>
                <a:lnTo>
                  <a:pt x="2024062" y="88899"/>
                </a:lnTo>
                <a:close/>
              </a:path>
              <a:path w="2346959" h="1333500">
                <a:moveTo>
                  <a:pt x="980401" y="101599"/>
                </a:moveTo>
                <a:lnTo>
                  <a:pt x="960246" y="101599"/>
                </a:lnTo>
                <a:lnTo>
                  <a:pt x="975613" y="88899"/>
                </a:lnTo>
                <a:lnTo>
                  <a:pt x="995984" y="88899"/>
                </a:lnTo>
                <a:lnTo>
                  <a:pt x="980401" y="101599"/>
                </a:lnTo>
                <a:close/>
              </a:path>
              <a:path w="2346959" h="1333500">
                <a:moveTo>
                  <a:pt x="2055101" y="101599"/>
                </a:moveTo>
                <a:lnTo>
                  <a:pt x="2034946" y="101599"/>
                </a:lnTo>
                <a:lnTo>
                  <a:pt x="2019363" y="88899"/>
                </a:lnTo>
                <a:lnTo>
                  <a:pt x="2039734" y="88899"/>
                </a:lnTo>
                <a:lnTo>
                  <a:pt x="2055101" y="101599"/>
                </a:lnTo>
                <a:close/>
              </a:path>
              <a:path w="2346959" h="1333500">
                <a:moveTo>
                  <a:pt x="950391" y="114299"/>
                </a:moveTo>
                <a:lnTo>
                  <a:pt x="930465" y="114299"/>
                </a:lnTo>
                <a:lnTo>
                  <a:pt x="945197" y="101599"/>
                </a:lnTo>
                <a:lnTo>
                  <a:pt x="965339" y="101599"/>
                </a:lnTo>
                <a:lnTo>
                  <a:pt x="950391" y="114299"/>
                </a:lnTo>
                <a:close/>
              </a:path>
              <a:path w="2346959" h="1333500">
                <a:moveTo>
                  <a:pt x="2084882" y="114299"/>
                </a:moveTo>
                <a:lnTo>
                  <a:pt x="2064956" y="114299"/>
                </a:lnTo>
                <a:lnTo>
                  <a:pt x="2050008" y="101599"/>
                </a:lnTo>
                <a:lnTo>
                  <a:pt x="2070150" y="101599"/>
                </a:lnTo>
                <a:lnTo>
                  <a:pt x="2084882" y="114299"/>
                </a:lnTo>
                <a:close/>
              </a:path>
              <a:path w="2346959" h="1333500">
                <a:moveTo>
                  <a:pt x="921689" y="126999"/>
                </a:moveTo>
                <a:lnTo>
                  <a:pt x="902004" y="126999"/>
                </a:lnTo>
                <a:lnTo>
                  <a:pt x="916063" y="114299"/>
                </a:lnTo>
                <a:lnTo>
                  <a:pt x="935989" y="114299"/>
                </a:lnTo>
                <a:lnTo>
                  <a:pt x="921689" y="126999"/>
                </a:lnTo>
                <a:close/>
              </a:path>
              <a:path w="2346959" h="1333500">
                <a:moveTo>
                  <a:pt x="2113343" y="126999"/>
                </a:moveTo>
                <a:lnTo>
                  <a:pt x="2093658" y="126999"/>
                </a:lnTo>
                <a:lnTo>
                  <a:pt x="2079370" y="114299"/>
                </a:lnTo>
                <a:lnTo>
                  <a:pt x="2099284" y="114299"/>
                </a:lnTo>
                <a:lnTo>
                  <a:pt x="2113343" y="126999"/>
                </a:lnTo>
                <a:close/>
              </a:path>
              <a:path w="2346959" h="1333500">
                <a:moveTo>
                  <a:pt x="907846" y="139699"/>
                </a:moveTo>
                <a:lnTo>
                  <a:pt x="874902" y="139699"/>
                </a:lnTo>
                <a:lnTo>
                  <a:pt x="888276" y="126999"/>
                </a:lnTo>
                <a:lnTo>
                  <a:pt x="921804" y="126999"/>
                </a:lnTo>
                <a:lnTo>
                  <a:pt x="907846" y="139699"/>
                </a:lnTo>
                <a:close/>
              </a:path>
              <a:path w="2346959" h="1333500">
                <a:moveTo>
                  <a:pt x="2140445" y="139699"/>
                </a:moveTo>
                <a:lnTo>
                  <a:pt x="2107501" y="139699"/>
                </a:lnTo>
                <a:lnTo>
                  <a:pt x="2093544" y="126999"/>
                </a:lnTo>
                <a:lnTo>
                  <a:pt x="2127072" y="126999"/>
                </a:lnTo>
                <a:lnTo>
                  <a:pt x="2140445" y="139699"/>
                </a:lnTo>
                <a:close/>
              </a:path>
              <a:path w="2346959" h="1333500">
                <a:moveTo>
                  <a:pt x="855967" y="165099"/>
                </a:moveTo>
                <a:lnTo>
                  <a:pt x="836917" y="165099"/>
                </a:lnTo>
                <a:lnTo>
                  <a:pt x="849210" y="152399"/>
                </a:lnTo>
                <a:lnTo>
                  <a:pt x="861872" y="139699"/>
                </a:lnTo>
                <a:lnTo>
                  <a:pt x="894448" y="139699"/>
                </a:lnTo>
                <a:lnTo>
                  <a:pt x="881189" y="152399"/>
                </a:lnTo>
                <a:lnTo>
                  <a:pt x="868514" y="152399"/>
                </a:lnTo>
                <a:lnTo>
                  <a:pt x="855967" y="165099"/>
                </a:lnTo>
                <a:close/>
              </a:path>
              <a:path w="2346959" h="1333500">
                <a:moveTo>
                  <a:pt x="2178430" y="165099"/>
                </a:moveTo>
                <a:lnTo>
                  <a:pt x="2159380" y="165099"/>
                </a:lnTo>
                <a:lnTo>
                  <a:pt x="2146833" y="152399"/>
                </a:lnTo>
                <a:lnTo>
                  <a:pt x="2134158" y="152399"/>
                </a:lnTo>
                <a:lnTo>
                  <a:pt x="2120900" y="139699"/>
                </a:lnTo>
                <a:lnTo>
                  <a:pt x="2153475" y="139699"/>
                </a:lnTo>
                <a:lnTo>
                  <a:pt x="2166137" y="152399"/>
                </a:lnTo>
                <a:lnTo>
                  <a:pt x="2178430" y="165099"/>
                </a:lnTo>
                <a:close/>
              </a:path>
              <a:path w="2346959" h="1333500">
                <a:moveTo>
                  <a:pt x="820940" y="190499"/>
                </a:moveTo>
                <a:lnTo>
                  <a:pt x="802297" y="190499"/>
                </a:lnTo>
                <a:lnTo>
                  <a:pt x="813460" y="177799"/>
                </a:lnTo>
                <a:lnTo>
                  <a:pt x="825004" y="165099"/>
                </a:lnTo>
                <a:lnTo>
                  <a:pt x="856094" y="165099"/>
                </a:lnTo>
                <a:lnTo>
                  <a:pt x="843914" y="177799"/>
                </a:lnTo>
                <a:lnTo>
                  <a:pt x="832357" y="177799"/>
                </a:lnTo>
                <a:lnTo>
                  <a:pt x="820940" y="190499"/>
                </a:lnTo>
                <a:close/>
              </a:path>
              <a:path w="2346959" h="1333500">
                <a:moveTo>
                  <a:pt x="2213051" y="190499"/>
                </a:moveTo>
                <a:lnTo>
                  <a:pt x="2194407" y="190499"/>
                </a:lnTo>
                <a:lnTo>
                  <a:pt x="2182990" y="177799"/>
                </a:lnTo>
                <a:lnTo>
                  <a:pt x="2171433" y="177799"/>
                </a:lnTo>
                <a:lnTo>
                  <a:pt x="2159266" y="165099"/>
                </a:lnTo>
                <a:lnTo>
                  <a:pt x="2190356" y="165099"/>
                </a:lnTo>
                <a:lnTo>
                  <a:pt x="2201887" y="177799"/>
                </a:lnTo>
                <a:lnTo>
                  <a:pt x="2213051" y="190499"/>
                </a:lnTo>
                <a:close/>
              </a:path>
              <a:path w="2346959" h="1333500">
                <a:moveTo>
                  <a:pt x="789444" y="215899"/>
                </a:moveTo>
                <a:lnTo>
                  <a:pt x="771232" y="215899"/>
                </a:lnTo>
                <a:lnTo>
                  <a:pt x="781176" y="203199"/>
                </a:lnTo>
                <a:lnTo>
                  <a:pt x="791540" y="190499"/>
                </a:lnTo>
                <a:lnTo>
                  <a:pt x="810171" y="190499"/>
                </a:lnTo>
                <a:lnTo>
                  <a:pt x="799541" y="203199"/>
                </a:lnTo>
                <a:lnTo>
                  <a:pt x="799668" y="203199"/>
                </a:lnTo>
                <a:lnTo>
                  <a:pt x="789444" y="215899"/>
                </a:lnTo>
                <a:close/>
              </a:path>
              <a:path w="2346959" h="1333500">
                <a:moveTo>
                  <a:pt x="2244128" y="215899"/>
                </a:moveTo>
                <a:lnTo>
                  <a:pt x="2225903" y="215899"/>
                </a:lnTo>
                <a:lnTo>
                  <a:pt x="2215680" y="203199"/>
                </a:lnTo>
                <a:lnTo>
                  <a:pt x="2205177" y="190499"/>
                </a:lnTo>
                <a:lnTo>
                  <a:pt x="2223808" y="190499"/>
                </a:lnTo>
                <a:lnTo>
                  <a:pt x="2234171" y="203199"/>
                </a:lnTo>
                <a:lnTo>
                  <a:pt x="2244128" y="215899"/>
                </a:lnTo>
                <a:close/>
              </a:path>
              <a:path w="2346959" h="1333500">
                <a:moveTo>
                  <a:pt x="753224" y="253999"/>
                </a:moveTo>
                <a:lnTo>
                  <a:pt x="735622" y="253999"/>
                </a:lnTo>
                <a:lnTo>
                  <a:pt x="743877" y="241299"/>
                </a:lnTo>
                <a:lnTo>
                  <a:pt x="752563" y="228599"/>
                </a:lnTo>
                <a:lnTo>
                  <a:pt x="761682" y="215899"/>
                </a:lnTo>
                <a:lnTo>
                  <a:pt x="789571" y="215899"/>
                </a:lnTo>
                <a:lnTo>
                  <a:pt x="779754" y="228599"/>
                </a:lnTo>
                <a:lnTo>
                  <a:pt x="770623" y="228599"/>
                </a:lnTo>
                <a:lnTo>
                  <a:pt x="761644" y="241299"/>
                </a:lnTo>
                <a:lnTo>
                  <a:pt x="753224" y="253999"/>
                </a:lnTo>
                <a:close/>
              </a:path>
              <a:path w="2346959" h="1333500">
                <a:moveTo>
                  <a:pt x="2279726" y="253999"/>
                </a:moveTo>
                <a:lnTo>
                  <a:pt x="2262124" y="253999"/>
                </a:lnTo>
                <a:lnTo>
                  <a:pt x="2253576" y="241299"/>
                </a:lnTo>
                <a:lnTo>
                  <a:pt x="2244725" y="228599"/>
                </a:lnTo>
                <a:lnTo>
                  <a:pt x="2235593" y="228599"/>
                </a:lnTo>
                <a:lnTo>
                  <a:pt x="2225776" y="215899"/>
                </a:lnTo>
                <a:lnTo>
                  <a:pt x="2253665" y="215899"/>
                </a:lnTo>
                <a:lnTo>
                  <a:pt x="2262784" y="228599"/>
                </a:lnTo>
                <a:lnTo>
                  <a:pt x="2271471" y="241299"/>
                </a:lnTo>
                <a:lnTo>
                  <a:pt x="2279726" y="253999"/>
                </a:lnTo>
                <a:close/>
              </a:path>
              <a:path w="2346959" h="1333500">
                <a:moveTo>
                  <a:pt x="712076" y="304799"/>
                </a:moveTo>
                <a:lnTo>
                  <a:pt x="701090" y="304799"/>
                </a:lnTo>
                <a:lnTo>
                  <a:pt x="707072" y="292099"/>
                </a:lnTo>
                <a:lnTo>
                  <a:pt x="713524" y="279399"/>
                </a:lnTo>
                <a:lnTo>
                  <a:pt x="720432" y="266699"/>
                </a:lnTo>
                <a:lnTo>
                  <a:pt x="727798" y="253999"/>
                </a:lnTo>
                <a:lnTo>
                  <a:pt x="745375" y="253999"/>
                </a:lnTo>
                <a:lnTo>
                  <a:pt x="737704" y="266699"/>
                </a:lnTo>
                <a:lnTo>
                  <a:pt x="737844" y="266699"/>
                </a:lnTo>
                <a:lnTo>
                  <a:pt x="730605" y="279399"/>
                </a:lnTo>
                <a:lnTo>
                  <a:pt x="730745" y="279399"/>
                </a:lnTo>
                <a:lnTo>
                  <a:pt x="723963" y="292099"/>
                </a:lnTo>
                <a:lnTo>
                  <a:pt x="717918" y="292099"/>
                </a:lnTo>
                <a:lnTo>
                  <a:pt x="712076" y="304799"/>
                </a:lnTo>
                <a:close/>
              </a:path>
              <a:path w="2346959" h="1333500">
                <a:moveTo>
                  <a:pt x="2314257" y="304799"/>
                </a:moveTo>
                <a:lnTo>
                  <a:pt x="2303271" y="304799"/>
                </a:lnTo>
                <a:lnTo>
                  <a:pt x="2297429" y="292099"/>
                </a:lnTo>
                <a:lnTo>
                  <a:pt x="2291384" y="292099"/>
                </a:lnTo>
                <a:lnTo>
                  <a:pt x="2284603" y="279399"/>
                </a:lnTo>
                <a:lnTo>
                  <a:pt x="2284742" y="279399"/>
                </a:lnTo>
                <a:lnTo>
                  <a:pt x="2277516" y="266699"/>
                </a:lnTo>
                <a:lnTo>
                  <a:pt x="2269972" y="253999"/>
                </a:lnTo>
                <a:lnTo>
                  <a:pt x="2287549" y="253999"/>
                </a:lnTo>
                <a:lnTo>
                  <a:pt x="2294915" y="266699"/>
                </a:lnTo>
                <a:lnTo>
                  <a:pt x="2301824" y="279399"/>
                </a:lnTo>
                <a:lnTo>
                  <a:pt x="2308275" y="292099"/>
                </a:lnTo>
                <a:lnTo>
                  <a:pt x="2314257" y="304799"/>
                </a:lnTo>
                <a:close/>
              </a:path>
              <a:path w="2346959" h="1333500">
                <a:moveTo>
                  <a:pt x="690651" y="355599"/>
                </a:moveTo>
                <a:lnTo>
                  <a:pt x="678548" y="355599"/>
                </a:lnTo>
                <a:lnTo>
                  <a:pt x="682053" y="342899"/>
                </a:lnTo>
                <a:lnTo>
                  <a:pt x="686066" y="330199"/>
                </a:lnTo>
                <a:lnTo>
                  <a:pt x="690587" y="317499"/>
                </a:lnTo>
                <a:lnTo>
                  <a:pt x="695591" y="304799"/>
                </a:lnTo>
                <a:lnTo>
                  <a:pt x="712203" y="304799"/>
                </a:lnTo>
                <a:lnTo>
                  <a:pt x="706831" y="317499"/>
                </a:lnTo>
                <a:lnTo>
                  <a:pt x="702055" y="330199"/>
                </a:lnTo>
                <a:lnTo>
                  <a:pt x="697877" y="330199"/>
                </a:lnTo>
                <a:lnTo>
                  <a:pt x="693966" y="342899"/>
                </a:lnTo>
                <a:lnTo>
                  <a:pt x="690651" y="355599"/>
                </a:lnTo>
                <a:close/>
              </a:path>
              <a:path w="2346959" h="1333500">
                <a:moveTo>
                  <a:pt x="2336800" y="355599"/>
                </a:moveTo>
                <a:lnTo>
                  <a:pt x="2324696" y="355599"/>
                </a:lnTo>
                <a:lnTo>
                  <a:pt x="2321280" y="342899"/>
                </a:lnTo>
                <a:lnTo>
                  <a:pt x="2317470" y="330199"/>
                </a:lnTo>
                <a:lnTo>
                  <a:pt x="2313292" y="330199"/>
                </a:lnTo>
                <a:lnTo>
                  <a:pt x="2308402" y="317499"/>
                </a:lnTo>
                <a:lnTo>
                  <a:pt x="2303144" y="304799"/>
                </a:lnTo>
                <a:lnTo>
                  <a:pt x="2319756" y="304799"/>
                </a:lnTo>
                <a:lnTo>
                  <a:pt x="2324760" y="317499"/>
                </a:lnTo>
                <a:lnTo>
                  <a:pt x="2329281" y="330199"/>
                </a:lnTo>
                <a:lnTo>
                  <a:pt x="2333294" y="342899"/>
                </a:lnTo>
                <a:lnTo>
                  <a:pt x="2336800" y="355599"/>
                </a:lnTo>
                <a:close/>
              </a:path>
              <a:path w="2346959" h="1333500">
                <a:moveTo>
                  <a:pt x="683005" y="393699"/>
                </a:moveTo>
                <a:lnTo>
                  <a:pt x="670420" y="393699"/>
                </a:lnTo>
                <a:lnTo>
                  <a:pt x="671182" y="380999"/>
                </a:lnTo>
                <a:lnTo>
                  <a:pt x="673100" y="368299"/>
                </a:lnTo>
                <a:lnTo>
                  <a:pt x="675563" y="355599"/>
                </a:lnTo>
                <a:lnTo>
                  <a:pt x="690740" y="355599"/>
                </a:lnTo>
                <a:lnTo>
                  <a:pt x="687831" y="368299"/>
                </a:lnTo>
                <a:lnTo>
                  <a:pt x="685584" y="368299"/>
                </a:lnTo>
                <a:lnTo>
                  <a:pt x="683717" y="380999"/>
                </a:lnTo>
                <a:lnTo>
                  <a:pt x="683005" y="393699"/>
                </a:lnTo>
                <a:close/>
              </a:path>
              <a:path w="2346959" h="1333500">
                <a:moveTo>
                  <a:pt x="2344928" y="393699"/>
                </a:moveTo>
                <a:lnTo>
                  <a:pt x="2332342" y="393699"/>
                </a:lnTo>
                <a:lnTo>
                  <a:pt x="2331605" y="380999"/>
                </a:lnTo>
                <a:lnTo>
                  <a:pt x="2329764" y="368299"/>
                </a:lnTo>
                <a:lnTo>
                  <a:pt x="2327516" y="368299"/>
                </a:lnTo>
                <a:lnTo>
                  <a:pt x="2324607" y="355599"/>
                </a:lnTo>
                <a:lnTo>
                  <a:pt x="2339784" y="355599"/>
                </a:lnTo>
                <a:lnTo>
                  <a:pt x="2342248" y="368299"/>
                </a:lnTo>
                <a:lnTo>
                  <a:pt x="2344165" y="380999"/>
                </a:lnTo>
                <a:lnTo>
                  <a:pt x="2344928" y="393699"/>
                </a:lnTo>
                <a:close/>
              </a:path>
              <a:path w="2346959" h="1333500">
                <a:moveTo>
                  <a:pt x="685520" y="380999"/>
                </a:moveTo>
                <a:lnTo>
                  <a:pt x="685584" y="368299"/>
                </a:lnTo>
                <a:lnTo>
                  <a:pt x="687908" y="368299"/>
                </a:lnTo>
                <a:lnTo>
                  <a:pt x="685520" y="380999"/>
                </a:lnTo>
                <a:close/>
              </a:path>
              <a:path w="2346959" h="1333500">
                <a:moveTo>
                  <a:pt x="2329827" y="380999"/>
                </a:moveTo>
                <a:lnTo>
                  <a:pt x="2327440" y="368299"/>
                </a:lnTo>
                <a:lnTo>
                  <a:pt x="2329764" y="368299"/>
                </a:lnTo>
                <a:lnTo>
                  <a:pt x="2329827" y="380999"/>
                </a:lnTo>
                <a:close/>
              </a:path>
              <a:path w="2346959" h="1333500">
                <a:moveTo>
                  <a:pt x="681964" y="406399"/>
                </a:moveTo>
                <a:lnTo>
                  <a:pt x="668959" y="406399"/>
                </a:lnTo>
                <a:lnTo>
                  <a:pt x="669315" y="393699"/>
                </a:lnTo>
                <a:lnTo>
                  <a:pt x="682434" y="393699"/>
                </a:lnTo>
                <a:lnTo>
                  <a:pt x="681964" y="406399"/>
                </a:lnTo>
                <a:close/>
              </a:path>
              <a:path w="2346959" h="1333500">
                <a:moveTo>
                  <a:pt x="2346388" y="406399"/>
                </a:moveTo>
                <a:lnTo>
                  <a:pt x="2333383" y="406399"/>
                </a:lnTo>
                <a:lnTo>
                  <a:pt x="2332913" y="393699"/>
                </a:lnTo>
                <a:lnTo>
                  <a:pt x="2346045" y="393699"/>
                </a:lnTo>
                <a:lnTo>
                  <a:pt x="2346388" y="406399"/>
                </a:lnTo>
                <a:close/>
              </a:path>
              <a:path w="2346959" h="1333500">
                <a:moveTo>
                  <a:pt x="682205" y="431799"/>
                </a:moveTo>
                <a:lnTo>
                  <a:pt x="668896" y="431799"/>
                </a:lnTo>
                <a:lnTo>
                  <a:pt x="668680" y="419099"/>
                </a:lnTo>
                <a:lnTo>
                  <a:pt x="668756" y="406399"/>
                </a:lnTo>
                <a:lnTo>
                  <a:pt x="681443" y="406399"/>
                </a:lnTo>
                <a:lnTo>
                  <a:pt x="681380" y="419099"/>
                </a:lnTo>
                <a:lnTo>
                  <a:pt x="681570" y="419099"/>
                </a:lnTo>
                <a:lnTo>
                  <a:pt x="682205" y="431799"/>
                </a:lnTo>
                <a:close/>
              </a:path>
              <a:path w="2346959" h="1333500">
                <a:moveTo>
                  <a:pt x="2346667" y="419099"/>
                </a:moveTo>
                <a:lnTo>
                  <a:pt x="2333967" y="419099"/>
                </a:lnTo>
                <a:lnTo>
                  <a:pt x="2333904" y="406399"/>
                </a:lnTo>
                <a:lnTo>
                  <a:pt x="2346604" y="406399"/>
                </a:lnTo>
                <a:lnTo>
                  <a:pt x="2346667" y="419099"/>
                </a:lnTo>
                <a:close/>
              </a:path>
              <a:path w="2346959" h="1333500">
                <a:moveTo>
                  <a:pt x="2346388" y="431799"/>
                </a:moveTo>
                <a:lnTo>
                  <a:pt x="2333701" y="431799"/>
                </a:lnTo>
                <a:lnTo>
                  <a:pt x="2333904" y="419099"/>
                </a:lnTo>
                <a:lnTo>
                  <a:pt x="2346604" y="419099"/>
                </a:lnTo>
                <a:lnTo>
                  <a:pt x="2346388" y="431799"/>
                </a:lnTo>
                <a:close/>
              </a:path>
              <a:path w="2346959" h="1333500">
                <a:moveTo>
                  <a:pt x="688593" y="469899"/>
                </a:moveTo>
                <a:lnTo>
                  <a:pt x="673988" y="469899"/>
                </a:lnTo>
                <a:lnTo>
                  <a:pt x="672083" y="457199"/>
                </a:lnTo>
                <a:lnTo>
                  <a:pt x="670610" y="444499"/>
                </a:lnTo>
                <a:lnTo>
                  <a:pt x="669543" y="431799"/>
                </a:lnTo>
                <a:lnTo>
                  <a:pt x="682180" y="431799"/>
                </a:lnTo>
                <a:lnTo>
                  <a:pt x="683209" y="444499"/>
                </a:lnTo>
                <a:lnTo>
                  <a:pt x="684618" y="457199"/>
                </a:lnTo>
                <a:lnTo>
                  <a:pt x="686358" y="457199"/>
                </a:lnTo>
                <a:lnTo>
                  <a:pt x="688593" y="469899"/>
                </a:lnTo>
                <a:close/>
              </a:path>
              <a:path w="2346959" h="1333500">
                <a:moveTo>
                  <a:pt x="2344928" y="444499"/>
                </a:moveTo>
                <a:lnTo>
                  <a:pt x="2332316" y="444499"/>
                </a:lnTo>
                <a:lnTo>
                  <a:pt x="2332926" y="431799"/>
                </a:lnTo>
                <a:lnTo>
                  <a:pt x="2345550" y="431799"/>
                </a:lnTo>
                <a:lnTo>
                  <a:pt x="2344928" y="444499"/>
                </a:lnTo>
                <a:close/>
              </a:path>
              <a:path w="2346959" h="1333500">
                <a:moveTo>
                  <a:pt x="2329281" y="507999"/>
                </a:moveTo>
                <a:lnTo>
                  <a:pt x="2313178" y="507999"/>
                </a:lnTo>
                <a:lnTo>
                  <a:pt x="2317584" y="495299"/>
                </a:lnTo>
                <a:lnTo>
                  <a:pt x="2321382" y="482599"/>
                </a:lnTo>
                <a:lnTo>
                  <a:pt x="2324607" y="482599"/>
                </a:lnTo>
                <a:lnTo>
                  <a:pt x="2327516" y="469899"/>
                </a:lnTo>
                <a:lnTo>
                  <a:pt x="2329827" y="457199"/>
                </a:lnTo>
                <a:lnTo>
                  <a:pt x="2331643" y="444499"/>
                </a:lnTo>
                <a:lnTo>
                  <a:pt x="2344165" y="444499"/>
                </a:lnTo>
                <a:lnTo>
                  <a:pt x="2342248" y="457199"/>
                </a:lnTo>
                <a:lnTo>
                  <a:pt x="2339784" y="469899"/>
                </a:lnTo>
                <a:lnTo>
                  <a:pt x="2336800" y="482599"/>
                </a:lnTo>
                <a:lnTo>
                  <a:pt x="2333294" y="495299"/>
                </a:lnTo>
                <a:lnTo>
                  <a:pt x="2329281" y="507999"/>
                </a:lnTo>
                <a:close/>
              </a:path>
              <a:path w="2346959" h="1333500">
                <a:moveTo>
                  <a:pt x="697433" y="495299"/>
                </a:moveTo>
                <a:lnTo>
                  <a:pt x="682116" y="495299"/>
                </a:lnTo>
                <a:lnTo>
                  <a:pt x="679005" y="482599"/>
                </a:lnTo>
                <a:lnTo>
                  <a:pt x="676300" y="469899"/>
                </a:lnTo>
                <a:lnTo>
                  <a:pt x="688530" y="469899"/>
                </a:lnTo>
                <a:lnTo>
                  <a:pt x="691159" y="482599"/>
                </a:lnTo>
                <a:lnTo>
                  <a:pt x="694029" y="482599"/>
                </a:lnTo>
                <a:lnTo>
                  <a:pt x="697433" y="495299"/>
                </a:lnTo>
                <a:close/>
              </a:path>
              <a:path w="2346959" h="1333500">
                <a:moveTo>
                  <a:pt x="714425" y="533399"/>
                </a:moveTo>
                <a:lnTo>
                  <a:pt x="698411" y="533399"/>
                </a:lnTo>
                <a:lnTo>
                  <a:pt x="693775" y="520699"/>
                </a:lnTo>
                <a:lnTo>
                  <a:pt x="689495" y="507999"/>
                </a:lnTo>
                <a:lnTo>
                  <a:pt x="685609" y="495299"/>
                </a:lnTo>
                <a:lnTo>
                  <a:pt x="697344" y="495299"/>
                </a:lnTo>
                <a:lnTo>
                  <a:pt x="701128" y="507999"/>
                </a:lnTo>
                <a:lnTo>
                  <a:pt x="705091" y="507999"/>
                </a:lnTo>
                <a:lnTo>
                  <a:pt x="709625" y="520699"/>
                </a:lnTo>
                <a:lnTo>
                  <a:pt x="714425" y="533399"/>
                </a:lnTo>
                <a:close/>
              </a:path>
              <a:path w="2346959" h="1333500">
                <a:moveTo>
                  <a:pt x="2301824" y="558799"/>
                </a:moveTo>
                <a:lnTo>
                  <a:pt x="2284603" y="558799"/>
                </a:lnTo>
                <a:lnTo>
                  <a:pt x="2291384" y="546099"/>
                </a:lnTo>
                <a:lnTo>
                  <a:pt x="2291245" y="546099"/>
                </a:lnTo>
                <a:lnTo>
                  <a:pt x="2297556" y="533399"/>
                </a:lnTo>
                <a:lnTo>
                  <a:pt x="2303271" y="520699"/>
                </a:lnTo>
                <a:lnTo>
                  <a:pt x="2308402" y="520699"/>
                </a:lnTo>
                <a:lnTo>
                  <a:pt x="2313292" y="507999"/>
                </a:lnTo>
                <a:lnTo>
                  <a:pt x="2324760" y="507999"/>
                </a:lnTo>
                <a:lnTo>
                  <a:pt x="2319756" y="520699"/>
                </a:lnTo>
                <a:lnTo>
                  <a:pt x="2314257" y="533399"/>
                </a:lnTo>
                <a:lnTo>
                  <a:pt x="2308275" y="546099"/>
                </a:lnTo>
                <a:lnTo>
                  <a:pt x="2301824" y="558799"/>
                </a:lnTo>
                <a:close/>
              </a:path>
              <a:path w="2346959" h="1333500">
                <a:moveTo>
                  <a:pt x="730948" y="558799"/>
                </a:moveTo>
                <a:lnTo>
                  <a:pt x="714552" y="558799"/>
                </a:lnTo>
                <a:lnTo>
                  <a:pt x="708812" y="546099"/>
                </a:lnTo>
                <a:lnTo>
                  <a:pt x="703427" y="533399"/>
                </a:lnTo>
                <a:lnTo>
                  <a:pt x="719467" y="533399"/>
                </a:lnTo>
                <a:lnTo>
                  <a:pt x="725093" y="546099"/>
                </a:lnTo>
                <a:lnTo>
                  <a:pt x="730948" y="558799"/>
                </a:lnTo>
                <a:close/>
              </a:path>
              <a:path w="2346959" h="1333500">
                <a:moveTo>
                  <a:pt x="750608" y="584199"/>
                </a:moveTo>
                <a:lnTo>
                  <a:pt x="733894" y="584199"/>
                </a:lnTo>
                <a:lnTo>
                  <a:pt x="727100" y="571499"/>
                </a:lnTo>
                <a:lnTo>
                  <a:pt x="720648" y="558799"/>
                </a:lnTo>
                <a:lnTo>
                  <a:pt x="737031" y="558799"/>
                </a:lnTo>
                <a:lnTo>
                  <a:pt x="743711" y="571499"/>
                </a:lnTo>
                <a:lnTo>
                  <a:pt x="750608" y="584199"/>
                </a:lnTo>
                <a:close/>
              </a:path>
              <a:path w="2346959" h="1333500">
                <a:moveTo>
                  <a:pt x="2271471" y="596899"/>
                </a:moveTo>
                <a:lnTo>
                  <a:pt x="2253576" y="596899"/>
                </a:lnTo>
                <a:lnTo>
                  <a:pt x="2262124" y="584199"/>
                </a:lnTo>
                <a:lnTo>
                  <a:pt x="2261984" y="584199"/>
                </a:lnTo>
                <a:lnTo>
                  <a:pt x="2270112" y="571499"/>
                </a:lnTo>
                <a:lnTo>
                  <a:pt x="2269972" y="571499"/>
                </a:lnTo>
                <a:lnTo>
                  <a:pt x="2277643" y="558799"/>
                </a:lnTo>
                <a:lnTo>
                  <a:pt x="2294915" y="558799"/>
                </a:lnTo>
                <a:lnTo>
                  <a:pt x="2287549" y="571499"/>
                </a:lnTo>
                <a:lnTo>
                  <a:pt x="2279726" y="584199"/>
                </a:lnTo>
                <a:lnTo>
                  <a:pt x="2271471" y="596899"/>
                </a:lnTo>
                <a:close/>
              </a:path>
              <a:path w="2346959" h="1333500">
                <a:moveTo>
                  <a:pt x="773277" y="609599"/>
                </a:moveTo>
                <a:lnTo>
                  <a:pt x="756310" y="609599"/>
                </a:lnTo>
                <a:lnTo>
                  <a:pt x="748499" y="596899"/>
                </a:lnTo>
                <a:lnTo>
                  <a:pt x="741032" y="584199"/>
                </a:lnTo>
                <a:lnTo>
                  <a:pt x="757707" y="584199"/>
                </a:lnTo>
                <a:lnTo>
                  <a:pt x="765390" y="596899"/>
                </a:lnTo>
                <a:lnTo>
                  <a:pt x="773277" y="609599"/>
                </a:lnTo>
                <a:close/>
              </a:path>
              <a:path w="2346959" h="1333500">
                <a:moveTo>
                  <a:pt x="2244128" y="622299"/>
                </a:moveTo>
                <a:lnTo>
                  <a:pt x="2225776" y="622299"/>
                </a:lnTo>
                <a:lnTo>
                  <a:pt x="2235593" y="609599"/>
                </a:lnTo>
                <a:lnTo>
                  <a:pt x="2235454" y="609599"/>
                </a:lnTo>
                <a:lnTo>
                  <a:pt x="2244864" y="596899"/>
                </a:lnTo>
                <a:lnTo>
                  <a:pt x="2262784" y="596899"/>
                </a:lnTo>
                <a:lnTo>
                  <a:pt x="2253665" y="609599"/>
                </a:lnTo>
                <a:lnTo>
                  <a:pt x="2244128" y="622299"/>
                </a:lnTo>
                <a:close/>
              </a:path>
              <a:path w="2346959" h="1333500">
                <a:moveTo>
                  <a:pt x="790028" y="622299"/>
                </a:moveTo>
                <a:lnTo>
                  <a:pt x="772883" y="622299"/>
                </a:lnTo>
                <a:lnTo>
                  <a:pt x="764438" y="609599"/>
                </a:lnTo>
                <a:lnTo>
                  <a:pt x="781380" y="609599"/>
                </a:lnTo>
                <a:lnTo>
                  <a:pt x="790028" y="622299"/>
                </a:lnTo>
                <a:close/>
              </a:path>
              <a:path w="2346959" h="1333500">
                <a:moveTo>
                  <a:pt x="827277" y="647699"/>
                </a:moveTo>
                <a:lnTo>
                  <a:pt x="800125" y="647699"/>
                </a:lnTo>
                <a:lnTo>
                  <a:pt x="790740" y="634999"/>
                </a:lnTo>
                <a:lnTo>
                  <a:pt x="781646" y="622299"/>
                </a:lnTo>
                <a:lnTo>
                  <a:pt x="798766" y="622299"/>
                </a:lnTo>
                <a:lnTo>
                  <a:pt x="808037" y="634999"/>
                </a:lnTo>
                <a:lnTo>
                  <a:pt x="817397" y="634999"/>
                </a:lnTo>
                <a:lnTo>
                  <a:pt x="827277" y="647699"/>
                </a:lnTo>
                <a:close/>
              </a:path>
              <a:path w="2346959" h="1333500">
                <a:moveTo>
                  <a:pt x="2213051" y="647699"/>
                </a:moveTo>
                <a:lnTo>
                  <a:pt x="2194280" y="647699"/>
                </a:lnTo>
                <a:lnTo>
                  <a:pt x="2205304" y="634999"/>
                </a:lnTo>
                <a:lnTo>
                  <a:pt x="2215807" y="622299"/>
                </a:lnTo>
                <a:lnTo>
                  <a:pt x="2234171" y="622299"/>
                </a:lnTo>
                <a:lnTo>
                  <a:pt x="2223808" y="634999"/>
                </a:lnTo>
                <a:lnTo>
                  <a:pt x="2213051" y="647699"/>
                </a:lnTo>
                <a:close/>
              </a:path>
              <a:path w="2346959" h="1333500">
                <a:moveTo>
                  <a:pt x="837336" y="660399"/>
                </a:moveTo>
                <a:lnTo>
                  <a:pt x="819810" y="660399"/>
                </a:lnTo>
                <a:lnTo>
                  <a:pt x="809815" y="647699"/>
                </a:lnTo>
                <a:lnTo>
                  <a:pt x="827163" y="647699"/>
                </a:lnTo>
                <a:lnTo>
                  <a:pt x="837336" y="660399"/>
                </a:lnTo>
                <a:close/>
              </a:path>
              <a:path w="2346959" h="1333500">
                <a:moveTo>
                  <a:pt x="2178430" y="673099"/>
                </a:moveTo>
                <a:lnTo>
                  <a:pt x="2159266" y="673099"/>
                </a:lnTo>
                <a:lnTo>
                  <a:pt x="2171433" y="660399"/>
                </a:lnTo>
                <a:lnTo>
                  <a:pt x="2183117" y="647699"/>
                </a:lnTo>
                <a:lnTo>
                  <a:pt x="2201887" y="647699"/>
                </a:lnTo>
                <a:lnTo>
                  <a:pt x="2190356" y="660399"/>
                </a:lnTo>
                <a:lnTo>
                  <a:pt x="2178430" y="673099"/>
                </a:lnTo>
                <a:close/>
              </a:path>
              <a:path w="2346959" h="1333500">
                <a:moveTo>
                  <a:pt x="849158" y="683024"/>
                </a:moveTo>
                <a:lnTo>
                  <a:pt x="840663" y="673099"/>
                </a:lnTo>
                <a:lnTo>
                  <a:pt x="830097" y="660399"/>
                </a:lnTo>
                <a:lnTo>
                  <a:pt x="847598" y="660399"/>
                </a:lnTo>
                <a:lnTo>
                  <a:pt x="858354" y="673099"/>
                </a:lnTo>
                <a:lnTo>
                  <a:pt x="860310" y="674481"/>
                </a:lnTo>
                <a:lnTo>
                  <a:pt x="849158" y="683024"/>
                </a:lnTo>
                <a:close/>
              </a:path>
              <a:path w="2346959" h="1333500">
                <a:moveTo>
                  <a:pt x="862220" y="675764"/>
                </a:moveTo>
                <a:lnTo>
                  <a:pt x="860310" y="674481"/>
                </a:lnTo>
                <a:lnTo>
                  <a:pt x="862114" y="673099"/>
                </a:lnTo>
                <a:lnTo>
                  <a:pt x="862220" y="675764"/>
                </a:lnTo>
                <a:close/>
              </a:path>
              <a:path w="2346959" h="1333500">
                <a:moveTo>
                  <a:pt x="2140445" y="698500"/>
                </a:moveTo>
                <a:lnTo>
                  <a:pt x="2107399" y="698500"/>
                </a:lnTo>
                <a:lnTo>
                  <a:pt x="2121014" y="685799"/>
                </a:lnTo>
                <a:lnTo>
                  <a:pt x="2134044" y="685799"/>
                </a:lnTo>
                <a:lnTo>
                  <a:pt x="2146947" y="673099"/>
                </a:lnTo>
                <a:lnTo>
                  <a:pt x="2166137" y="673099"/>
                </a:lnTo>
                <a:lnTo>
                  <a:pt x="2153475" y="685799"/>
                </a:lnTo>
                <a:lnTo>
                  <a:pt x="2140445" y="698500"/>
                </a:lnTo>
                <a:close/>
              </a:path>
              <a:path w="2346959" h="1333500">
                <a:moveTo>
                  <a:pt x="862622" y="685799"/>
                </a:moveTo>
                <a:lnTo>
                  <a:pt x="851534" y="685799"/>
                </a:lnTo>
                <a:lnTo>
                  <a:pt x="849158" y="683024"/>
                </a:lnTo>
                <a:lnTo>
                  <a:pt x="860310" y="674481"/>
                </a:lnTo>
                <a:lnTo>
                  <a:pt x="862220" y="675764"/>
                </a:lnTo>
                <a:lnTo>
                  <a:pt x="862622" y="685799"/>
                </a:lnTo>
                <a:close/>
              </a:path>
              <a:path w="2346959" h="1333500">
                <a:moveTo>
                  <a:pt x="877163" y="685799"/>
                </a:moveTo>
                <a:lnTo>
                  <a:pt x="862622" y="685799"/>
                </a:lnTo>
                <a:lnTo>
                  <a:pt x="862220" y="675764"/>
                </a:lnTo>
                <a:lnTo>
                  <a:pt x="877163" y="685799"/>
                </a:lnTo>
                <a:close/>
              </a:path>
              <a:path w="2346959" h="1333500">
                <a:moveTo>
                  <a:pt x="64630" y="1283991"/>
                </a:moveTo>
                <a:lnTo>
                  <a:pt x="849158" y="683024"/>
                </a:lnTo>
                <a:lnTo>
                  <a:pt x="851534" y="685799"/>
                </a:lnTo>
                <a:lnTo>
                  <a:pt x="877163" y="685799"/>
                </a:lnTo>
                <a:lnTo>
                  <a:pt x="108280" y="1262738"/>
                </a:lnTo>
                <a:lnTo>
                  <a:pt x="64630" y="1283991"/>
                </a:lnTo>
                <a:close/>
              </a:path>
              <a:path w="2346959" h="1333500">
                <a:moveTo>
                  <a:pt x="2113343" y="711200"/>
                </a:moveTo>
                <a:lnTo>
                  <a:pt x="2079370" y="711200"/>
                </a:lnTo>
                <a:lnTo>
                  <a:pt x="2093658" y="698500"/>
                </a:lnTo>
                <a:lnTo>
                  <a:pt x="2127072" y="698500"/>
                </a:lnTo>
                <a:lnTo>
                  <a:pt x="2113343" y="711200"/>
                </a:lnTo>
                <a:close/>
              </a:path>
              <a:path w="2346959" h="1333500">
                <a:moveTo>
                  <a:pt x="2084882" y="723900"/>
                </a:moveTo>
                <a:lnTo>
                  <a:pt x="2064842" y="723900"/>
                </a:lnTo>
                <a:lnTo>
                  <a:pt x="2079472" y="711200"/>
                </a:lnTo>
                <a:lnTo>
                  <a:pt x="2099284" y="711200"/>
                </a:lnTo>
                <a:lnTo>
                  <a:pt x="2084882" y="723900"/>
                </a:lnTo>
                <a:close/>
              </a:path>
              <a:path w="2346959" h="1333500">
                <a:moveTo>
                  <a:pt x="2055101" y="736600"/>
                </a:moveTo>
                <a:lnTo>
                  <a:pt x="2034844" y="736600"/>
                </a:lnTo>
                <a:lnTo>
                  <a:pt x="2050110" y="723900"/>
                </a:lnTo>
                <a:lnTo>
                  <a:pt x="2070150" y="723900"/>
                </a:lnTo>
                <a:lnTo>
                  <a:pt x="2055101" y="736600"/>
                </a:lnTo>
                <a:close/>
              </a:path>
              <a:path w="2346959" h="1333500">
                <a:moveTo>
                  <a:pt x="2024062" y="749300"/>
                </a:moveTo>
                <a:lnTo>
                  <a:pt x="2003590" y="749300"/>
                </a:lnTo>
                <a:lnTo>
                  <a:pt x="2019465" y="736600"/>
                </a:lnTo>
                <a:lnTo>
                  <a:pt x="2039734" y="736600"/>
                </a:lnTo>
                <a:lnTo>
                  <a:pt x="2024062" y="749300"/>
                </a:lnTo>
                <a:close/>
              </a:path>
              <a:path w="2346959" h="1333500">
                <a:moveTo>
                  <a:pt x="1991804" y="762000"/>
                </a:moveTo>
                <a:lnTo>
                  <a:pt x="1954479" y="762000"/>
                </a:lnTo>
                <a:lnTo>
                  <a:pt x="1971230" y="749300"/>
                </a:lnTo>
                <a:lnTo>
                  <a:pt x="2008085" y="749300"/>
                </a:lnTo>
                <a:lnTo>
                  <a:pt x="1991804" y="762000"/>
                </a:lnTo>
                <a:close/>
              </a:path>
              <a:path w="2346959" h="1333500">
                <a:moveTo>
                  <a:pt x="1958403" y="774700"/>
                </a:moveTo>
                <a:lnTo>
                  <a:pt x="1920328" y="774700"/>
                </a:lnTo>
                <a:lnTo>
                  <a:pt x="1937626" y="762000"/>
                </a:lnTo>
                <a:lnTo>
                  <a:pt x="1975243" y="762000"/>
                </a:lnTo>
                <a:lnTo>
                  <a:pt x="1958403" y="774700"/>
                </a:lnTo>
                <a:close/>
              </a:path>
              <a:path w="2346959" h="1333500">
                <a:moveTo>
                  <a:pt x="53273" y="1308100"/>
                </a:moveTo>
                <a:lnTo>
                  <a:pt x="47828" y="1308100"/>
                </a:lnTo>
                <a:lnTo>
                  <a:pt x="108280" y="1262738"/>
                </a:lnTo>
                <a:lnTo>
                  <a:pt x="1110653" y="774700"/>
                </a:lnTo>
                <a:lnTo>
                  <a:pt x="1135227" y="787400"/>
                </a:lnTo>
                <a:lnTo>
                  <a:pt x="1109726" y="787400"/>
                </a:lnTo>
                <a:lnTo>
                  <a:pt x="1111768" y="788560"/>
                </a:lnTo>
                <a:lnTo>
                  <a:pt x="53273" y="1308100"/>
                </a:lnTo>
                <a:close/>
              </a:path>
              <a:path w="2346959" h="1333500">
                <a:moveTo>
                  <a:pt x="1923884" y="787400"/>
                </a:moveTo>
                <a:lnTo>
                  <a:pt x="1867128" y="787400"/>
                </a:lnTo>
                <a:lnTo>
                  <a:pt x="1885213" y="774700"/>
                </a:lnTo>
                <a:lnTo>
                  <a:pt x="1941271" y="774700"/>
                </a:lnTo>
                <a:lnTo>
                  <a:pt x="1923884" y="787400"/>
                </a:lnTo>
                <a:close/>
              </a:path>
              <a:path w="2346959" h="1333500">
                <a:moveTo>
                  <a:pt x="1111768" y="788560"/>
                </a:moveTo>
                <a:lnTo>
                  <a:pt x="1109726" y="787400"/>
                </a:lnTo>
                <a:lnTo>
                  <a:pt x="1114132" y="787400"/>
                </a:lnTo>
                <a:lnTo>
                  <a:pt x="1111768" y="788560"/>
                </a:lnTo>
                <a:close/>
              </a:path>
              <a:path w="2346959" h="1333500">
                <a:moveTo>
                  <a:pt x="1204061" y="800100"/>
                </a:moveTo>
                <a:lnTo>
                  <a:pt x="1132077" y="800100"/>
                </a:lnTo>
                <a:lnTo>
                  <a:pt x="1111768" y="788560"/>
                </a:lnTo>
                <a:lnTo>
                  <a:pt x="1114132" y="787400"/>
                </a:lnTo>
                <a:lnTo>
                  <a:pt x="1180642" y="787400"/>
                </a:lnTo>
                <a:lnTo>
                  <a:pt x="1204061" y="800100"/>
                </a:lnTo>
                <a:close/>
              </a:path>
              <a:path w="2346959" h="1333500">
                <a:moveTo>
                  <a:pt x="1870151" y="800100"/>
                </a:moveTo>
                <a:lnTo>
                  <a:pt x="1811718" y="800100"/>
                </a:lnTo>
                <a:lnTo>
                  <a:pt x="1830501" y="787400"/>
                </a:lnTo>
                <a:lnTo>
                  <a:pt x="1888312" y="787400"/>
                </a:lnTo>
                <a:lnTo>
                  <a:pt x="1870151" y="800100"/>
                </a:lnTo>
                <a:close/>
              </a:path>
              <a:path w="2346959" h="1333500">
                <a:moveTo>
                  <a:pt x="1276070" y="812800"/>
                </a:moveTo>
                <a:lnTo>
                  <a:pt x="1201559" y="812800"/>
                </a:lnTo>
                <a:lnTo>
                  <a:pt x="1178026" y="800100"/>
                </a:lnTo>
                <a:lnTo>
                  <a:pt x="1251635" y="800100"/>
                </a:lnTo>
                <a:lnTo>
                  <a:pt x="1276070" y="812800"/>
                </a:lnTo>
                <a:close/>
              </a:path>
              <a:path w="2346959" h="1333500">
                <a:moveTo>
                  <a:pt x="1814207" y="812800"/>
                </a:moveTo>
                <a:lnTo>
                  <a:pt x="1754263" y="812800"/>
                </a:lnTo>
                <a:lnTo>
                  <a:pt x="1773707" y="800100"/>
                </a:lnTo>
                <a:lnTo>
                  <a:pt x="1833092" y="800100"/>
                </a:lnTo>
                <a:lnTo>
                  <a:pt x="1814207" y="812800"/>
                </a:lnTo>
                <a:close/>
              </a:path>
              <a:path w="2346959" h="1333500">
                <a:moveTo>
                  <a:pt x="1376438" y="825500"/>
                </a:moveTo>
                <a:lnTo>
                  <a:pt x="1274203" y="825500"/>
                </a:lnTo>
                <a:lnTo>
                  <a:pt x="1249654" y="812800"/>
                </a:lnTo>
                <a:lnTo>
                  <a:pt x="1350822" y="812800"/>
                </a:lnTo>
                <a:lnTo>
                  <a:pt x="1376438" y="825500"/>
                </a:lnTo>
                <a:close/>
              </a:path>
              <a:path w="2346959" h="1333500">
                <a:moveTo>
                  <a:pt x="1756257" y="825500"/>
                </a:moveTo>
                <a:lnTo>
                  <a:pt x="1633956" y="825500"/>
                </a:lnTo>
                <a:lnTo>
                  <a:pt x="1654543" y="812800"/>
                </a:lnTo>
                <a:lnTo>
                  <a:pt x="1775790" y="812800"/>
                </a:lnTo>
                <a:lnTo>
                  <a:pt x="1756257" y="825500"/>
                </a:lnTo>
                <a:close/>
              </a:path>
              <a:path w="2346959" h="1333500">
                <a:moveTo>
                  <a:pt x="1634959" y="838200"/>
                </a:moveTo>
                <a:lnTo>
                  <a:pt x="1375384" y="838200"/>
                </a:lnTo>
                <a:lnTo>
                  <a:pt x="1349667" y="825500"/>
                </a:lnTo>
                <a:lnTo>
                  <a:pt x="1655635" y="825500"/>
                </a:lnTo>
                <a:lnTo>
                  <a:pt x="1634959" y="838200"/>
                </a:lnTo>
                <a:close/>
              </a:path>
              <a:path w="2346959" h="1333500">
                <a:moveTo>
                  <a:pt x="47828" y="1308100"/>
                </a:moveTo>
                <a:lnTo>
                  <a:pt x="43637" y="1300072"/>
                </a:lnTo>
                <a:lnTo>
                  <a:pt x="64630" y="1283991"/>
                </a:lnTo>
                <a:lnTo>
                  <a:pt x="108280" y="1262738"/>
                </a:lnTo>
                <a:lnTo>
                  <a:pt x="47828" y="1308100"/>
                </a:lnTo>
                <a:close/>
              </a:path>
              <a:path w="2346959" h="1333500">
                <a:moveTo>
                  <a:pt x="43637" y="1300072"/>
                </a:moveTo>
                <a:lnTo>
                  <a:pt x="41198" y="1295400"/>
                </a:lnTo>
                <a:lnTo>
                  <a:pt x="64630" y="1283991"/>
                </a:lnTo>
                <a:lnTo>
                  <a:pt x="43637" y="1300072"/>
                </a:lnTo>
                <a:close/>
              </a:path>
              <a:path w="2346959" h="1333500">
                <a:moveTo>
                  <a:pt x="1524" y="1333500"/>
                </a:moveTo>
                <a:lnTo>
                  <a:pt x="0" y="1333500"/>
                </a:lnTo>
                <a:lnTo>
                  <a:pt x="43637" y="1300072"/>
                </a:lnTo>
                <a:lnTo>
                  <a:pt x="47828" y="1308100"/>
                </a:lnTo>
                <a:lnTo>
                  <a:pt x="53273" y="1308100"/>
                </a:lnTo>
                <a:lnTo>
                  <a:pt x="1524" y="133350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141305" y="2682773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FF0066"/>
                </a:solidFill>
                <a:latin typeface="方正舒体"/>
                <a:cs typeface="方正舒体"/>
              </a:rPr>
              <a:t>铁</a:t>
            </a:r>
            <a:r>
              <a:rPr dirty="0" sz="3600" spc="-15" b="1" i="1">
                <a:solidFill>
                  <a:srgbClr val="FF0066"/>
                </a:solidFill>
                <a:latin typeface="方正舒体"/>
                <a:cs typeface="方正舒体"/>
              </a:rPr>
              <a:t>芯</a:t>
            </a:r>
            <a:endParaRPr sz="3600">
              <a:latin typeface="方正舒体"/>
              <a:cs typeface="方正舒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9162" y="3379774"/>
            <a:ext cx="2506421" cy="10731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796916" y="3728935"/>
            <a:ext cx="9417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FF0066"/>
                </a:solidFill>
                <a:latin typeface="方正舒体"/>
                <a:cs typeface="方正舒体"/>
              </a:rPr>
              <a:t>线</a:t>
            </a:r>
            <a:r>
              <a:rPr dirty="0" sz="3600" spc="-15" b="1" i="1">
                <a:solidFill>
                  <a:srgbClr val="FF0066"/>
                </a:solidFill>
                <a:latin typeface="方正舒体"/>
                <a:cs typeface="方正舒体"/>
              </a:rPr>
              <a:t>圈</a:t>
            </a:r>
            <a:endParaRPr sz="36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9172" y="2174557"/>
            <a:ext cx="38773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1.</a:t>
            </a:r>
            <a:r>
              <a:rPr dirty="0" sz="2800" spc="-5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按图示电路连接电路</a:t>
            </a:r>
            <a:r>
              <a:rPr dirty="0" sz="2200" spc="-5"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145" y="1578140"/>
            <a:ext cx="2729826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98947" y="2523744"/>
            <a:ext cx="4680204" cy="2142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6964" y="847407"/>
            <a:ext cx="8554720" cy="4643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300"/>
              </a:lnSpc>
              <a:spcBef>
                <a:spcPts val="100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2.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保持原线圈的匝数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spc="7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不变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副线圈的匝数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spc="7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逐渐增多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观察小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灯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泡亮度情况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20300"/>
              </a:lnSpc>
              <a:spcBef>
                <a:spcPts val="580"/>
              </a:spcBef>
              <a:buFont typeface="Arial"/>
              <a:buChar char="•"/>
              <a:tabLst>
                <a:tab pos="278765" algn="l"/>
                <a:tab pos="279400" algn="l"/>
              </a:tabLst>
            </a:pP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3.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保持副线圈的匝数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spc="7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不变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原线圈的匝数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spc="7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逐渐增多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观察小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灯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泡亮度情况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algn="just" marL="12700" marR="136525">
              <a:lnSpc>
                <a:spcPct val="120000"/>
              </a:lnSpc>
              <a:spcBef>
                <a:spcPts val="590"/>
              </a:spcBef>
              <a:buFont typeface="Arial"/>
              <a:buChar char="•"/>
              <a:tabLst>
                <a:tab pos="279400" algn="l"/>
              </a:tabLst>
            </a:pP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4.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原线圈接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6</a:t>
            </a:r>
            <a:r>
              <a:rPr dirty="0" sz="2400" spc="-12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低压交流电源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保持原线圈匝数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不变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改变副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线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圈匝数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6129" sz="2325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用多用电表交流电压挡测出副线圈两端的电压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记入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表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格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重复三次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algn="just" marL="12700" marR="136525">
              <a:lnSpc>
                <a:spcPct val="120000"/>
              </a:lnSpc>
              <a:spcBef>
                <a:spcPts val="595"/>
              </a:spcBef>
              <a:buFont typeface="Arial"/>
              <a:buChar char="•"/>
              <a:tabLst>
                <a:tab pos="279400" algn="l"/>
              </a:tabLst>
            </a:pP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5.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原线圈接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6</a:t>
            </a:r>
            <a:r>
              <a:rPr dirty="0" sz="2400" spc="-125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低压交流电源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保持副线圈匝数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b="1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不变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改变原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线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圈匝数</a:t>
            </a:r>
            <a:r>
              <a:rPr dirty="0" sz="2400" b="1" i="1">
                <a:solidFill>
                  <a:srgbClr val="000099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用多用电表交流电压挡测出副线圈两端的电压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记入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表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格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重复三次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6189" y="1818957"/>
            <a:ext cx="46685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1.</a:t>
            </a:r>
            <a:r>
              <a:rPr dirty="0" sz="2800" spc="-4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小灯泡的亮度如下表所示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3708" y="1222540"/>
            <a:ext cx="6452666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70187" y="2849562"/>
          <a:ext cx="4923155" cy="233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110"/>
                <a:gridCol w="1261110"/>
                <a:gridCol w="1260475"/>
                <a:gridCol w="1097279"/>
              </a:tblGrid>
              <a:tr h="4603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5" b="1" i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7094" sz="1950" spc="-7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baseline="-17094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 b="1" i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7094" sz="1950" spc="-7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baseline="-17094" sz="1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610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400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1010"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200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86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44005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 b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400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2229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498136" y="3872382"/>
            <a:ext cx="297561" cy="35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89689" y="3867340"/>
            <a:ext cx="666229" cy="375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24458" y="3846703"/>
            <a:ext cx="292214" cy="37506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87951" y="4309008"/>
            <a:ext cx="330987" cy="3530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59121" y="4323232"/>
            <a:ext cx="297561" cy="3509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91314" y="4323232"/>
            <a:ext cx="297561" cy="3509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799681" y="4316603"/>
            <a:ext cx="666229" cy="37506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18264" y="4759858"/>
            <a:ext cx="330987" cy="35302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89434" y="4774082"/>
            <a:ext cx="297561" cy="350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59249" y="4770805"/>
            <a:ext cx="359067" cy="36297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46421" y="4783607"/>
            <a:ext cx="297561" cy="3509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50188" y="4783607"/>
            <a:ext cx="297560" cy="3509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8514" y="734250"/>
            <a:ext cx="7887970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6700">
              <a:lnSpc>
                <a:spcPct val="1202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2.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将不同的原线圈接入线路测出副线圈当中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的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电压填入下表。计算匝数比及电压比，填入下表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30654" y="2913062"/>
            <a:ext cx="285115" cy="0"/>
          </a:xfrm>
          <a:custGeom>
            <a:avLst/>
            <a:gdLst/>
            <a:ahLst/>
            <a:cxnLst/>
            <a:rect l="l" t="t" r="r" b="b"/>
            <a:pathLst>
              <a:path w="285115" h="0">
                <a:moveTo>
                  <a:pt x="0" y="0"/>
                </a:moveTo>
                <a:lnTo>
                  <a:pt x="285102" y="0"/>
                </a:lnTo>
              </a:path>
            </a:pathLst>
          </a:custGeom>
          <a:ln w="190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07703" y="2935249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 h="0">
                <a:moveTo>
                  <a:pt x="0" y="0"/>
                </a:moveTo>
                <a:lnTo>
                  <a:pt x="300939" y="0"/>
                </a:lnTo>
              </a:path>
            </a:pathLst>
          </a:custGeom>
          <a:ln w="190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72450" y="2504122"/>
          <a:ext cx="7999095" cy="315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3350"/>
                <a:gridCol w="1400175"/>
                <a:gridCol w="1460500"/>
                <a:gridCol w="1463675"/>
                <a:gridCol w="1092834"/>
                <a:gridCol w="1092834"/>
              </a:tblGrid>
              <a:tr h="763981">
                <a:tc>
                  <a:txBody>
                    <a:bodyPr/>
                    <a:lstStyle/>
                    <a:p>
                      <a:pPr marL="278130" marR="258445" indent="12065">
                        <a:lnSpc>
                          <a:spcPct val="106800"/>
                        </a:lnSpc>
                        <a:spcBef>
                          <a:spcPts val="90"/>
                        </a:spcBef>
                      </a:pPr>
                      <a:r>
                        <a:rPr dirty="0" sz="2200">
                          <a:latin typeface="微软雅黑"/>
                          <a:cs typeface="微软雅黑"/>
                        </a:rPr>
                        <a:t>原线圈 </a:t>
                      </a:r>
                      <a:r>
                        <a:rPr dirty="0" sz="2200" spc="-10">
                          <a:latin typeface="微软雅黑"/>
                          <a:cs typeface="微软雅黑"/>
                        </a:rPr>
                        <a:t>匝数</a:t>
                      </a:r>
                      <a:r>
                        <a:rPr dirty="0" sz="2200" spc="-19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2200" spc="-5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1494" sz="2175" spc="-7">
                          <a:latin typeface="Times New Roman"/>
                          <a:cs typeface="Times New Roman"/>
                        </a:rPr>
                        <a:t>1</a:t>
                      </a:r>
                      <a:endParaRPr baseline="-11494" sz="21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 marR="264795" indent="8890">
                        <a:lnSpc>
                          <a:spcPct val="106800"/>
                        </a:lnSpc>
                        <a:spcBef>
                          <a:spcPts val="90"/>
                        </a:spcBef>
                      </a:pPr>
                      <a:r>
                        <a:rPr dirty="0" sz="2200">
                          <a:latin typeface="微软雅黑"/>
                          <a:cs typeface="微软雅黑"/>
                        </a:rPr>
                        <a:t>副线圈 </a:t>
                      </a:r>
                      <a:r>
                        <a:rPr dirty="0" sz="2200" spc="-10">
                          <a:latin typeface="微软雅黑"/>
                          <a:cs typeface="微软雅黑"/>
                        </a:rPr>
                        <a:t>匝数</a:t>
                      </a:r>
                      <a:r>
                        <a:rPr dirty="0" sz="2200" spc="-19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2200" spc="-5" i="1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baseline="-11494" sz="2175" spc="-7">
                          <a:latin typeface="Times New Roman"/>
                          <a:cs typeface="Times New Roman"/>
                        </a:rPr>
                        <a:t>2</a:t>
                      </a:r>
                      <a:endParaRPr baseline="-11494" sz="21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 marR="261620" indent="40640">
                        <a:lnSpc>
                          <a:spcPct val="106800"/>
                        </a:lnSpc>
                        <a:spcBef>
                          <a:spcPts val="90"/>
                        </a:spcBef>
                      </a:pPr>
                      <a:r>
                        <a:rPr dirty="0" sz="2200" spc="-10">
                          <a:latin typeface="微软雅黑"/>
                          <a:cs typeface="微软雅黑"/>
                        </a:rPr>
                        <a:t>原线圈 电压</a:t>
                      </a:r>
                      <a:r>
                        <a:rPr dirty="0" sz="2200" spc="-21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2200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1494" sz="2175">
                          <a:latin typeface="Times New Roman"/>
                          <a:cs typeface="Times New Roman"/>
                        </a:rPr>
                        <a:t>1</a:t>
                      </a:r>
                      <a:endParaRPr baseline="-11494" sz="21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 marR="264795" indent="40640">
                        <a:lnSpc>
                          <a:spcPct val="106800"/>
                        </a:lnSpc>
                        <a:spcBef>
                          <a:spcPts val="90"/>
                        </a:spcBef>
                      </a:pPr>
                      <a:r>
                        <a:rPr dirty="0" sz="2200" spc="-10">
                          <a:latin typeface="微软雅黑"/>
                          <a:cs typeface="微软雅黑"/>
                        </a:rPr>
                        <a:t>副线圈 电压</a:t>
                      </a:r>
                      <a:r>
                        <a:rPr dirty="0" sz="2200" spc="-21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2200" i="1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baseline="-11494" sz="2175">
                          <a:latin typeface="Times New Roman"/>
                          <a:cs typeface="Times New Roman"/>
                        </a:rPr>
                        <a:t>2</a:t>
                      </a:r>
                      <a:endParaRPr baseline="-11494" sz="2175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ts val="2410"/>
                        </a:lnSpc>
                      </a:pPr>
                      <a:r>
                        <a:rPr dirty="0" sz="2200" spc="-170">
                          <a:latin typeface="Cambria Math"/>
                          <a:cs typeface="Cambria Math"/>
                        </a:rPr>
                        <a:t>�</a:t>
                      </a:r>
                      <a:r>
                        <a:rPr dirty="0" baseline="-16129" sz="2325" spc="-254">
                          <a:latin typeface="Cambria Math"/>
                          <a:cs typeface="Cambria Math"/>
                        </a:rPr>
                        <a:t>1</a:t>
                      </a:r>
                      <a:endParaRPr baseline="-16129" sz="2325">
                        <a:latin typeface="Cambria Math"/>
                        <a:cs typeface="Cambria Math"/>
                      </a:endParaRPr>
                    </a:p>
                    <a:p>
                      <a:pPr algn="ctr" marR="1143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2200" spc="-145">
                          <a:latin typeface="Cambria Math"/>
                          <a:cs typeface="Cambria Math"/>
                        </a:rPr>
                        <a:t>�</a:t>
                      </a:r>
                      <a:r>
                        <a:rPr dirty="0" baseline="-16129" sz="2325" spc="-217">
                          <a:latin typeface="Cambria Math"/>
                          <a:cs typeface="Cambria Math"/>
                        </a:rPr>
                        <a:t>2</a:t>
                      </a:r>
                      <a:endParaRPr baseline="-16129" sz="2325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130">
                        <a:lnSpc>
                          <a:spcPts val="2585"/>
                        </a:lnSpc>
                      </a:pPr>
                      <a:r>
                        <a:rPr dirty="0" sz="2200" spc="-35">
                          <a:latin typeface="Cambria Math"/>
                          <a:cs typeface="Cambria Math"/>
                        </a:rPr>
                        <a:t>�</a:t>
                      </a:r>
                      <a:r>
                        <a:rPr dirty="0" baseline="-16129" sz="2325" spc="-52">
                          <a:latin typeface="Cambria Math"/>
                          <a:cs typeface="Cambria Math"/>
                        </a:rPr>
                        <a:t>1</a:t>
                      </a:r>
                      <a:endParaRPr baseline="-16129" sz="2325">
                        <a:latin typeface="Cambria Math"/>
                        <a:cs typeface="Cambria Math"/>
                      </a:endParaRPr>
                    </a:p>
                    <a:p>
                      <a:pPr algn="ctr" marR="2413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2200" spc="-10">
                          <a:latin typeface="Cambria Math"/>
                          <a:cs typeface="Cambria Math"/>
                        </a:rPr>
                        <a:t>�</a:t>
                      </a:r>
                      <a:r>
                        <a:rPr dirty="0" baseline="-16129" sz="2325" spc="-15">
                          <a:latin typeface="Cambria Math"/>
                          <a:cs typeface="Cambria Math"/>
                        </a:rPr>
                        <a:t>2</a:t>
                      </a:r>
                      <a:endParaRPr baseline="-16129" sz="2325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40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2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3578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400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24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4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40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100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36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6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40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753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400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9414">
                <a:tc>
                  <a:txBody>
                    <a:bodyPr/>
                    <a:lstStyle/>
                    <a:p>
                      <a:pPr algn="r" marR="4775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600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200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200" spc="-5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2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V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2200" spc="-10">
                          <a:latin typeface="宋体"/>
                          <a:cs typeface="宋体"/>
                        </a:rPr>
                        <a:t>∶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1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931492" y="1889582"/>
            <a:ext cx="2809328" cy="380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9839" y="1580832"/>
            <a:ext cx="726185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在误差范围内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变压器原、副线圈两端电压与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匝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2092642"/>
            <a:ext cx="36868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数成正比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数学表达式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110" y="3179000"/>
            <a:ext cx="7708265" cy="207010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输出电压比用匝数比计算出的值稍小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原因：（</a:t>
            </a:r>
            <a:r>
              <a:rPr dirty="0" sz="2800" b="1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）</a:t>
            </a: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铜损：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线圈绕组的电阻有发热现象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905510" indent="-892810">
              <a:lnSpc>
                <a:spcPct val="100000"/>
              </a:lnSpc>
              <a:spcBef>
                <a:spcPts val="670"/>
              </a:spcBef>
              <a:buClr>
                <a:srgbClr val="000099"/>
              </a:buClr>
              <a:buSzPct val="96428"/>
              <a:buAutoNum type="arabicPlain" startAt="2"/>
              <a:tabLst>
                <a:tab pos="905510" algn="l"/>
              </a:tabLst>
            </a:pP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铁损：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铁芯中有发热现象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905510" indent="-892810">
              <a:lnSpc>
                <a:spcPct val="100000"/>
              </a:lnSpc>
              <a:spcBef>
                <a:spcPts val="670"/>
              </a:spcBef>
              <a:buClr>
                <a:srgbClr val="000099"/>
              </a:buClr>
              <a:buSzPct val="96428"/>
              <a:buAutoNum type="arabicPlain" startAt="2"/>
              <a:tabLst>
                <a:tab pos="905510" algn="l"/>
              </a:tabLst>
            </a:pPr>
            <a:r>
              <a:rPr dirty="0" sz="2800" b="1">
                <a:solidFill>
                  <a:srgbClr val="FF0066"/>
                </a:solidFill>
                <a:latin typeface="宋体"/>
                <a:cs typeface="宋体"/>
              </a:rPr>
              <a:t>磁损：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变压器铁芯内有漏磁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13789" y="1012367"/>
            <a:ext cx="2778036" cy="4896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08430" y="2700997"/>
            <a:ext cx="489661" cy="453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01469" y="2695638"/>
            <a:ext cx="2292146" cy="4878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86337" y="2386234"/>
            <a:ext cx="331470" cy="0"/>
          </a:xfrm>
          <a:custGeom>
            <a:avLst/>
            <a:gdLst/>
            <a:ahLst/>
            <a:cxnLst/>
            <a:rect l="l" t="t" r="r" b="b"/>
            <a:pathLst>
              <a:path w="331470" h="0">
                <a:moveTo>
                  <a:pt x="0" y="0"/>
                </a:moveTo>
                <a:lnTo>
                  <a:pt x="330911" y="0"/>
                </a:lnTo>
              </a:path>
            </a:pathLst>
          </a:custGeom>
          <a:ln w="23431">
            <a:solidFill>
              <a:srgbClr val="001F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73637" y="2369223"/>
            <a:ext cx="10934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92480" algn="l"/>
              </a:tabLst>
            </a:pPr>
            <a:r>
              <a:rPr dirty="0" sz="2150" spc="90">
                <a:solidFill>
                  <a:srgbClr val="001F5F"/>
                </a:solidFill>
                <a:latin typeface="Cambria Math"/>
                <a:cs typeface="Cambria Math"/>
              </a:rPr>
              <a:t>�</a:t>
            </a:r>
            <a:r>
              <a:rPr dirty="0" baseline="-15873" sz="2625" spc="135">
                <a:solidFill>
                  <a:srgbClr val="001F5F"/>
                </a:solidFill>
                <a:latin typeface="Cambria Math"/>
                <a:cs typeface="Cambria Math"/>
              </a:rPr>
              <a:t>2	</a:t>
            </a:r>
            <a:r>
              <a:rPr dirty="0" sz="2150" spc="-550">
                <a:solidFill>
                  <a:srgbClr val="001F5F"/>
                </a:solidFill>
                <a:latin typeface="Cambria Math"/>
                <a:cs typeface="Cambria Math"/>
              </a:rPr>
              <a:t>�</a:t>
            </a:r>
            <a:r>
              <a:rPr dirty="0" baseline="-15873" sz="2625" spc="-825">
                <a:solidFill>
                  <a:srgbClr val="001F5F"/>
                </a:solidFill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66346" y="2386234"/>
            <a:ext cx="299720" cy="0"/>
          </a:xfrm>
          <a:custGeom>
            <a:avLst/>
            <a:gdLst/>
            <a:ahLst/>
            <a:cxnLst/>
            <a:rect l="l" t="t" r="r" b="b"/>
            <a:pathLst>
              <a:path w="299720" h="0">
                <a:moveTo>
                  <a:pt x="0" y="0"/>
                </a:moveTo>
                <a:lnTo>
                  <a:pt x="299402" y="0"/>
                </a:lnTo>
              </a:path>
            </a:pathLst>
          </a:custGeom>
          <a:ln w="23431">
            <a:solidFill>
              <a:srgbClr val="001F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73637" y="1927758"/>
            <a:ext cx="144780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90">
                <a:solidFill>
                  <a:srgbClr val="001F5F"/>
                </a:solidFill>
                <a:latin typeface="Cambria Math"/>
                <a:cs typeface="Cambria Math"/>
              </a:rPr>
              <a:t>�</a:t>
            </a:r>
            <a:r>
              <a:rPr dirty="0" baseline="-15873" sz="2625" spc="135">
                <a:solidFill>
                  <a:srgbClr val="001F5F"/>
                </a:solidFill>
                <a:latin typeface="Cambria Math"/>
                <a:cs typeface="Cambria Math"/>
              </a:rPr>
              <a:t>1 </a:t>
            </a:r>
            <a:r>
              <a:rPr dirty="0" baseline="-32921" sz="4050" spc="30">
                <a:solidFill>
                  <a:srgbClr val="001F5F"/>
                </a:solidFill>
                <a:latin typeface="Cambria Math"/>
                <a:cs typeface="Cambria Math"/>
              </a:rPr>
              <a:t>=</a:t>
            </a:r>
            <a:r>
              <a:rPr dirty="0" baseline="-32921" sz="4050" spc="-547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dirty="0" sz="2150" spc="-75">
                <a:solidFill>
                  <a:srgbClr val="001F5F"/>
                </a:solidFill>
                <a:latin typeface="Cambria Math"/>
                <a:cs typeface="Cambria Math"/>
              </a:rPr>
              <a:t>�</a:t>
            </a:r>
            <a:r>
              <a:rPr dirty="0" baseline="-15873" sz="2625" spc="-112">
                <a:solidFill>
                  <a:srgbClr val="001F5F"/>
                </a:solidFill>
                <a:latin typeface="Cambria Math"/>
                <a:cs typeface="Cambria Math"/>
              </a:rPr>
              <a:t>1 </a:t>
            </a:r>
            <a:r>
              <a:rPr dirty="0" baseline="-32921" sz="4050" spc="-2025">
                <a:solidFill>
                  <a:srgbClr val="001F5F"/>
                </a:solidFill>
                <a:latin typeface="宋体"/>
                <a:cs typeface="宋体"/>
              </a:rPr>
              <a:t>。</a:t>
            </a:r>
            <a:endParaRPr baseline="-32921" sz="40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6425565"/>
            <a:ext cx="180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3039" y="1469195"/>
            <a:ext cx="8241665" cy="405955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 indent="539750">
              <a:lnSpc>
                <a:spcPct val="118600"/>
              </a:lnSpc>
              <a:spcBef>
                <a:spcPts val="200"/>
              </a:spcBef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例题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．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在“探究变压器线圈两端的电压与匝数的关系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”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的实验中，实验室中备有下列可供选择的器材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078865" indent="-526415">
              <a:lnSpc>
                <a:spcPct val="100000"/>
              </a:lnSpc>
              <a:spcBef>
                <a:spcPts val="565"/>
              </a:spcBef>
              <a:buSzPct val="95833"/>
              <a:buFont typeface="Times New Roman"/>
              <a:buAutoNum type="alphaUcPeriod"/>
              <a:tabLst>
                <a:tab pos="1078865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可拆变压器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(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铁芯、两个已知匝数的线圈</a:t>
            </a:r>
            <a:r>
              <a:rPr dirty="0" sz="2400" b="1">
                <a:solidFill>
                  <a:srgbClr val="000099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061720" indent="-509270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lphaUcPeriod"/>
              <a:tabLst>
                <a:tab pos="1061720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条形磁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铁</a:t>
            </a:r>
            <a:endParaRPr sz="2400">
              <a:latin typeface="宋体"/>
              <a:cs typeface="宋体"/>
            </a:endParaRPr>
          </a:p>
          <a:p>
            <a:pPr marL="1078865" indent="-526415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lphaUcPeriod"/>
              <a:tabLst>
                <a:tab pos="1078865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直流电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源</a:t>
            </a:r>
            <a:endParaRPr sz="2400">
              <a:latin typeface="宋体"/>
              <a:cs typeface="宋体"/>
            </a:endParaRPr>
          </a:p>
          <a:p>
            <a:pPr marL="1078865" indent="-526415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lphaUcPeriod"/>
              <a:tabLst>
                <a:tab pos="1078865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多用电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表</a:t>
            </a:r>
            <a:endParaRPr sz="2400">
              <a:latin typeface="宋体"/>
              <a:cs typeface="宋体"/>
            </a:endParaRPr>
          </a:p>
          <a:p>
            <a:pPr marL="1061720" indent="-509270">
              <a:lnSpc>
                <a:spcPct val="100000"/>
              </a:lnSpc>
              <a:spcBef>
                <a:spcPts val="575"/>
              </a:spcBef>
              <a:buSzPct val="95833"/>
              <a:buFont typeface="Times New Roman"/>
              <a:buAutoNum type="alphaUcPeriod"/>
              <a:tabLst>
                <a:tab pos="1061720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开关、导线若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干</a:t>
            </a:r>
            <a:endParaRPr sz="2400">
              <a:latin typeface="宋体"/>
              <a:cs typeface="宋体"/>
            </a:endParaRPr>
          </a:p>
          <a:p>
            <a:pPr marL="12700" marR="36830" indent="539750">
              <a:lnSpc>
                <a:spcPct val="120000"/>
              </a:lnSpc>
              <a:tabLst>
                <a:tab pos="6362065" algn="l"/>
                <a:tab pos="7577455" algn="l"/>
              </a:tabLst>
            </a:pP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上述器材在本实验中不必用到的是</a:t>
            </a:r>
            <a:r>
              <a:rPr dirty="0" u="heavy" sz="2400" b="1">
                <a:solidFill>
                  <a:srgbClr val="000099"/>
                </a:solidFill>
                <a:uFill>
                  <a:solidFill>
                    <a:srgbClr val="000098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（填器材前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的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序号），本实验中还需要用到的器材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有		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78930" y="5522277"/>
            <a:ext cx="2286000" cy="0"/>
          </a:xfrm>
          <a:custGeom>
            <a:avLst/>
            <a:gdLst/>
            <a:ahLst/>
            <a:cxnLst/>
            <a:rect l="l" t="t" r="r" b="b"/>
            <a:pathLst>
              <a:path w="2286000" h="0">
                <a:moveTo>
                  <a:pt x="0" y="0"/>
                </a:moveTo>
                <a:lnTo>
                  <a:pt x="2286000" y="0"/>
                </a:lnTo>
              </a:path>
            </a:pathLst>
          </a:custGeom>
          <a:ln w="15240">
            <a:solidFill>
              <a:srgbClr val="0000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68680" y="4659160"/>
            <a:ext cx="529170" cy="3080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41223" y="5118023"/>
            <a:ext cx="2109304" cy="3555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6425565"/>
            <a:ext cx="180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9789" y="1422590"/>
            <a:ext cx="8663305" cy="3609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62865" indent="539750">
              <a:lnSpc>
                <a:spcPct val="119900"/>
              </a:lnSpc>
              <a:spcBef>
                <a:spcPts val="110"/>
              </a:spcBef>
            </a:pP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例题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2800" b="1">
                <a:solidFill>
                  <a:srgbClr val="FF0000"/>
                </a:solidFill>
                <a:latin typeface="宋体"/>
                <a:cs typeface="宋体"/>
              </a:rPr>
              <a:t>．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做“探究变压器线圈两端的电压与匝数的</a:t>
            </a:r>
            <a:r>
              <a:rPr dirty="0" sz="2800" spc="-15" b="1">
                <a:solidFill>
                  <a:srgbClr val="000099"/>
                </a:solidFill>
                <a:latin typeface="宋体"/>
                <a:cs typeface="宋体"/>
              </a:rPr>
              <a:t>关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系”实验时，原线圈接在电源上，用多用电表测量副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线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圈的电压，下列操作正确的是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（</a:t>
            </a:r>
            <a:r>
              <a:rPr dirty="0" sz="2800" spc="30" b="1">
                <a:solidFill>
                  <a:srgbClr val="000099"/>
                </a:solidFill>
                <a:latin typeface="宋体"/>
                <a:cs typeface="宋体"/>
              </a:rPr>
              <a:t> 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1166495" indent="-614045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AutoNum type="alphaUcPeriod"/>
              <a:tabLst>
                <a:tab pos="1166495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原线圈接直流电压，电表用直流电压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挡</a:t>
            </a:r>
            <a:endParaRPr sz="2800">
              <a:latin typeface="宋体"/>
              <a:cs typeface="宋体"/>
            </a:endParaRPr>
          </a:p>
          <a:p>
            <a:pPr marL="1147445" indent="-594995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AutoNum type="alphaUcPeriod"/>
              <a:tabLst>
                <a:tab pos="1147445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原线圈接直流电压，电表用交流电压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挡</a:t>
            </a:r>
            <a:endParaRPr sz="2800">
              <a:latin typeface="宋体"/>
              <a:cs typeface="宋体"/>
            </a:endParaRPr>
          </a:p>
          <a:p>
            <a:pPr marL="1166495" indent="-614045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AutoNum type="alphaUcPeriod"/>
              <a:tabLst>
                <a:tab pos="1166495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原线圈接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12</a:t>
            </a:r>
            <a:r>
              <a:rPr dirty="0" sz="2800" spc="-7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以下交流电压，电表用交流电压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挡</a:t>
            </a:r>
            <a:endParaRPr sz="2800">
              <a:latin typeface="宋体"/>
              <a:cs typeface="宋体"/>
            </a:endParaRPr>
          </a:p>
          <a:p>
            <a:pPr marL="1166495" indent="-614045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AutoNum type="alphaUcPeriod"/>
              <a:tabLst>
                <a:tab pos="1166495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原线圈接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220</a:t>
            </a:r>
            <a:r>
              <a:rPr dirty="0" sz="2800" spc="-60" b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0099"/>
                </a:solidFill>
                <a:latin typeface="Times New Roman"/>
                <a:cs typeface="Times New Roman"/>
              </a:rPr>
              <a:t>V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交流电压，电表用交流电压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挡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657" y="2575826"/>
            <a:ext cx="425450" cy="461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4189" y="805786"/>
            <a:ext cx="8661400" cy="4588510"/>
          </a:xfrm>
          <a:prstGeom prst="rect">
            <a:avLst/>
          </a:prstGeom>
        </p:spPr>
        <p:txBody>
          <a:bodyPr wrap="square" lIns="0" tIns="266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095"/>
              </a:spcBef>
            </a:pPr>
            <a:r>
              <a:rPr dirty="0" sz="3400" b="1">
                <a:solidFill>
                  <a:srgbClr val="660066"/>
                </a:solidFill>
                <a:latin typeface="微软雅黑"/>
                <a:cs typeface="微软雅黑"/>
              </a:rPr>
              <a:t>实验二、利用传感器制作简单的自动控制装</a:t>
            </a:r>
            <a:r>
              <a:rPr dirty="0" sz="3400" spc="-5" b="1">
                <a:solidFill>
                  <a:srgbClr val="660066"/>
                </a:solidFill>
                <a:latin typeface="微软雅黑"/>
                <a:cs typeface="微软雅黑"/>
              </a:rPr>
              <a:t>置</a:t>
            </a:r>
            <a:endParaRPr sz="3400">
              <a:latin typeface="微软雅黑"/>
              <a:cs typeface="微软雅黑"/>
            </a:endParaRPr>
          </a:p>
          <a:p>
            <a:pPr marL="739775">
              <a:lnSpc>
                <a:spcPct val="100000"/>
              </a:lnSpc>
              <a:spcBef>
                <a:spcPts val="2120"/>
              </a:spcBef>
            </a:pPr>
            <a:r>
              <a:rPr dirty="0" sz="3600">
                <a:solidFill>
                  <a:srgbClr val="FF0000"/>
                </a:solidFill>
                <a:latin typeface="华文琥珀"/>
                <a:cs typeface="华文琥珀"/>
              </a:rPr>
              <a:t>原为“传感器的简单使用”</a:t>
            </a:r>
            <a:endParaRPr sz="3600">
              <a:latin typeface="华文琥珀"/>
              <a:cs typeface="华文琥珀"/>
            </a:endParaRPr>
          </a:p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95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buFont typeface="Times New Roman"/>
              <a:buAutoNum type="arabicPeriod"/>
              <a:tabLst>
                <a:tab pos="368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研究热敏电阻、光敏电阻等传感器的特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368300" indent="-35560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368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利用传感器制作光控开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关</a:t>
            </a:r>
            <a:endParaRPr sz="2800">
              <a:latin typeface="宋体"/>
              <a:cs typeface="宋体"/>
            </a:endParaRPr>
          </a:p>
          <a:p>
            <a:pPr marL="368300" indent="-355600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368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利用传感器制作门窗防盗报警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1989" y="2987217"/>
            <a:ext cx="1838401" cy="4896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6425565"/>
            <a:ext cx="1803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753" y="977442"/>
            <a:ext cx="5991771" cy="4932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96180" y="1644954"/>
            <a:ext cx="6925348" cy="42123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66075" y="1616760"/>
            <a:ext cx="3213773" cy="24168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20114" y="3938587"/>
            <a:ext cx="46151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66"/>
                </a:solidFill>
                <a:latin typeface="黑体"/>
                <a:cs typeface="黑体"/>
              </a:rPr>
              <a:t>实验器材：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光敏电阻、多用电表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、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小灯泡、学生电源、滑动变阻器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、 </a:t>
            </a:r>
            <a:r>
              <a:rPr dirty="0" sz="2400" b="1">
                <a:solidFill>
                  <a:srgbClr val="000099"/>
                </a:solidFill>
                <a:latin typeface="宋体"/>
                <a:cs typeface="宋体"/>
              </a:rPr>
              <a:t>开关、导线</a:t>
            </a:r>
            <a:r>
              <a:rPr dirty="0" sz="2400" spc="-10" b="1">
                <a:solidFill>
                  <a:srgbClr val="000099"/>
                </a:solidFill>
                <a:latin typeface="宋体"/>
                <a:cs typeface="宋体"/>
              </a:rPr>
              <a:t>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2814" y="932814"/>
            <a:ext cx="248983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4400">
                <a:solidFill>
                  <a:srgbClr val="FF0000"/>
                </a:solidFill>
                <a:latin typeface="方正舒体"/>
                <a:cs typeface="方正舒体"/>
              </a:rPr>
              <a:t>注意事</a:t>
            </a:r>
            <a:r>
              <a:rPr dirty="0" sz="4400" spc="5">
                <a:solidFill>
                  <a:srgbClr val="FF0000"/>
                </a:solidFill>
                <a:latin typeface="方正舒体"/>
                <a:cs typeface="方正舒体"/>
              </a:rPr>
              <a:t>项</a:t>
            </a:r>
            <a:endParaRPr sz="4400">
              <a:latin typeface="方正舒体"/>
              <a:cs typeface="方正舒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6097" y="2129472"/>
            <a:ext cx="7458887" cy="27816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94839" y="2155697"/>
            <a:ext cx="7172959" cy="241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00"/>
              </a:spcBef>
              <a:buSzPct val="96428"/>
              <a:buAutoNum type="arabicPeriod"/>
              <a:tabLst>
                <a:tab pos="549910" algn="l"/>
              </a:tabLst>
            </a:pPr>
            <a:r>
              <a:rPr dirty="0" sz="2800" b="1">
                <a:solidFill>
                  <a:srgbClr val="000066"/>
                </a:solidFill>
                <a:latin typeface="方正姚体"/>
                <a:cs typeface="方正姚体"/>
              </a:rPr>
              <a:t>光敏实验中，如果效果不明显，可将电</a:t>
            </a:r>
            <a:r>
              <a:rPr dirty="0" sz="2800" spc="-20" b="1">
                <a:solidFill>
                  <a:srgbClr val="000066"/>
                </a:solidFill>
                <a:latin typeface="方正姚体"/>
                <a:cs typeface="方正姚体"/>
              </a:rPr>
              <a:t>阻 </a:t>
            </a:r>
            <a:r>
              <a:rPr dirty="0" sz="2800" b="1">
                <a:solidFill>
                  <a:srgbClr val="000066"/>
                </a:solidFill>
                <a:latin typeface="方正姚体"/>
                <a:cs typeface="方正姚体"/>
              </a:rPr>
              <a:t>部分电路放入带盖的纸盒中，并通过盖上小</a:t>
            </a:r>
            <a:r>
              <a:rPr dirty="0" sz="2800" spc="-10" b="1">
                <a:solidFill>
                  <a:srgbClr val="000066"/>
                </a:solidFill>
                <a:latin typeface="方正姚体"/>
                <a:cs typeface="方正姚体"/>
              </a:rPr>
              <a:t>孔 </a:t>
            </a:r>
            <a:r>
              <a:rPr dirty="0" sz="2800" b="1">
                <a:solidFill>
                  <a:srgbClr val="000066"/>
                </a:solidFill>
                <a:latin typeface="方正姚体"/>
                <a:cs typeface="方正姚体"/>
              </a:rPr>
              <a:t>改变射到光敏电阻上的光的多少</a:t>
            </a:r>
            <a:r>
              <a:rPr dirty="0" sz="2800" spc="-20" b="1">
                <a:solidFill>
                  <a:srgbClr val="000066"/>
                </a:solidFill>
                <a:latin typeface="方正姚体"/>
                <a:cs typeface="方正姚体"/>
              </a:rPr>
              <a:t>．</a:t>
            </a:r>
            <a:endParaRPr sz="2800">
              <a:latin typeface="方正姚体"/>
              <a:cs typeface="方正姚体"/>
            </a:endParaRPr>
          </a:p>
          <a:p>
            <a:pPr marL="549910" indent="-537210">
              <a:lnSpc>
                <a:spcPct val="100000"/>
              </a:lnSpc>
              <a:spcBef>
                <a:spcPts val="1340"/>
              </a:spcBef>
              <a:buSzPct val="96428"/>
              <a:buAutoNum type="arabicPeriod"/>
              <a:tabLst>
                <a:tab pos="549910" algn="l"/>
              </a:tabLst>
            </a:pPr>
            <a:r>
              <a:rPr dirty="0" sz="2800" b="1">
                <a:solidFill>
                  <a:srgbClr val="000066"/>
                </a:solidFill>
                <a:latin typeface="方正姚体"/>
                <a:cs typeface="方正姚体"/>
              </a:rPr>
              <a:t>欧姆表每次换挡后都要重新调零</a:t>
            </a:r>
            <a:r>
              <a:rPr dirty="0" sz="2800" spc="-15" b="1">
                <a:solidFill>
                  <a:srgbClr val="000066"/>
                </a:solidFill>
                <a:latin typeface="方正姚体"/>
                <a:cs typeface="方正姚体"/>
              </a:rPr>
              <a:t>.</a:t>
            </a:r>
            <a:endParaRPr sz="2800">
              <a:latin typeface="方正姚体"/>
              <a:cs typeface="方正姚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877" y="1178115"/>
            <a:ext cx="9189085" cy="2838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199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在控制电路中，由于光敏电阻的工作电流很微弱，不能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直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接驱动执行机构工作，因此一般都需要配置一定的放大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电 </a:t>
            </a: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路实现控制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6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二极管具有单向导通作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  <a:p>
            <a:pPr marL="241300" indent="-228600">
              <a:lnSpc>
                <a:spcPct val="100000"/>
              </a:lnSpc>
              <a:spcBef>
                <a:spcPts val="167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000099"/>
                </a:solidFill>
                <a:latin typeface="宋体"/>
                <a:cs typeface="宋体"/>
              </a:rPr>
              <a:t>三极管具有电流放大作</a:t>
            </a:r>
            <a:r>
              <a:rPr dirty="0" sz="2800" spc="-20" b="1">
                <a:solidFill>
                  <a:srgbClr val="000099"/>
                </a:solidFill>
                <a:latin typeface="宋体"/>
                <a:cs typeface="宋体"/>
              </a:rPr>
              <a:t>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0290" y="526580"/>
            <a:ext cx="3692677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3983" y="4238244"/>
            <a:ext cx="2560319" cy="2339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69023" y="3741420"/>
            <a:ext cx="3093720" cy="21160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97117" y="2908528"/>
            <a:ext cx="1615884" cy="5551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62528" y="4320540"/>
            <a:ext cx="2883407" cy="19080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76240" y="3832859"/>
            <a:ext cx="5459095" cy="172910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从基极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B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输入一个较小的电流，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就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会在集电极C获得较大的电流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  <a:p>
            <a:pPr marL="241300" marR="224154" indent="-228600">
              <a:lnSpc>
                <a:spcPts val="302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此外，三极管还具有完成断路</a:t>
            </a:r>
            <a:r>
              <a:rPr dirty="0" sz="2800" spc="-5" b="1" i="1">
                <a:solidFill>
                  <a:srgbClr val="000099"/>
                </a:solidFill>
                <a:latin typeface="华文楷体"/>
                <a:cs typeface="华文楷体"/>
              </a:rPr>
              <a:t>和 </a:t>
            </a: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接通的开关作用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6719" y="1475232"/>
            <a:ext cx="4654296" cy="4532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29143" y="851916"/>
            <a:ext cx="3349752" cy="1866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71159" y="1022603"/>
            <a:ext cx="2164080" cy="18425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7016" y="811441"/>
            <a:ext cx="1602473" cy="5551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82386" y="3077692"/>
            <a:ext cx="1301292" cy="531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127" y="1829117"/>
            <a:ext cx="4615815" cy="441515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可调电阻</a:t>
            </a:r>
            <a:r>
              <a:rPr dirty="0" sz="2800" spc="-5" i="1">
                <a:solidFill>
                  <a:srgbClr val="000099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 spc="7">
                <a:solidFill>
                  <a:srgbClr val="000099"/>
                </a:solidFill>
                <a:latin typeface="Times New Roman"/>
                <a:cs typeface="Times New Roman"/>
              </a:rPr>
              <a:t>1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与光敏电阻</a:t>
            </a:r>
            <a:r>
              <a:rPr dirty="0" sz="2800" spc="-5" i="1">
                <a:solidFill>
                  <a:srgbClr val="000099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G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组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成串联分压电路，把光敏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电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阻因光照而发生的电阻变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化</a:t>
            </a:r>
            <a:endParaRPr sz="2800">
              <a:latin typeface="隶书"/>
              <a:cs typeface="隶书"/>
            </a:endParaRPr>
          </a:p>
          <a:p>
            <a:pPr algn="just" marL="241300" marR="100330">
              <a:lnSpc>
                <a:spcPts val="3010"/>
              </a:lnSpc>
              <a:spcBef>
                <a:spcPts val="50"/>
              </a:spcBef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，转换为电压的变化，加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载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到三极管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VT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的基极</a:t>
            </a:r>
            <a:r>
              <a:rPr dirty="0" sz="2800" spc="-5" i="1">
                <a:solidFill>
                  <a:srgbClr val="000099"/>
                </a:solidFill>
                <a:latin typeface="Times New Roman"/>
                <a:cs typeface="Times New Roman"/>
              </a:rPr>
              <a:t>b</a:t>
            </a:r>
            <a:r>
              <a:rPr dirty="0" sz="2800" spc="-25" i="1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上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。</a:t>
            </a:r>
            <a:endParaRPr sz="2800">
              <a:latin typeface="隶书"/>
              <a:cs typeface="隶书"/>
            </a:endParaRPr>
          </a:p>
          <a:p>
            <a:pPr marL="241300" indent="-228600">
              <a:lnSpc>
                <a:spcPts val="319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当基极电压达到一定程度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后</a:t>
            </a:r>
            <a:endParaRPr sz="2800">
              <a:latin typeface="隶书"/>
              <a:cs typeface="隶书"/>
            </a:endParaRPr>
          </a:p>
          <a:p>
            <a:pPr algn="just" marL="241300" marR="100330">
              <a:lnSpc>
                <a:spcPct val="89900"/>
              </a:lnSpc>
              <a:spcBef>
                <a:spcPts val="170"/>
              </a:spcBef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，三极管被导通，从而使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得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由电源正极经电阻</a:t>
            </a:r>
            <a:r>
              <a:rPr dirty="0" sz="2800" i="1">
                <a:solidFill>
                  <a:srgbClr val="000099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>
                <a:solidFill>
                  <a:srgbClr val="000099"/>
                </a:solidFill>
                <a:latin typeface="Times New Roman"/>
                <a:cs typeface="Times New Roman"/>
              </a:rPr>
              <a:t>2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、发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光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二极管、三极管集电极和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发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射极到达电源负极的回路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被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导通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。</a:t>
            </a:r>
            <a:endParaRPr sz="2800">
              <a:latin typeface="隶书"/>
              <a:cs typeface="隶书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0927" y="810336"/>
            <a:ext cx="4428705" cy="570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83552" y="1717548"/>
            <a:ext cx="3125724" cy="2702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7375" y="1033462"/>
            <a:ext cx="1821180" cy="638175"/>
          </a:xfrm>
          <a:custGeom>
            <a:avLst/>
            <a:gdLst/>
            <a:ahLst/>
            <a:cxnLst/>
            <a:rect l="l" t="t" r="r" b="b"/>
            <a:pathLst>
              <a:path w="1821179" h="638175">
                <a:moveTo>
                  <a:pt x="1820862" y="638175"/>
                </a:moveTo>
                <a:lnTo>
                  <a:pt x="0" y="638175"/>
                </a:lnTo>
                <a:lnTo>
                  <a:pt x="0" y="0"/>
                </a:lnTo>
                <a:lnTo>
                  <a:pt x="1820862" y="0"/>
                </a:lnTo>
                <a:lnTo>
                  <a:pt x="18208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820862" y="623887"/>
                </a:lnTo>
                <a:lnTo>
                  <a:pt x="1820862" y="638175"/>
                </a:lnTo>
                <a:close/>
              </a:path>
              <a:path w="1821179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21179" h="638175">
                <a:moveTo>
                  <a:pt x="17922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92287" y="14287"/>
                </a:lnTo>
                <a:lnTo>
                  <a:pt x="1792287" y="28575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1792287" y="14287"/>
                </a:lnTo>
                <a:lnTo>
                  <a:pt x="1806575" y="28575"/>
                </a:lnTo>
                <a:lnTo>
                  <a:pt x="1820862" y="28575"/>
                </a:lnTo>
                <a:lnTo>
                  <a:pt x="1820862" y="609600"/>
                </a:lnTo>
                <a:lnTo>
                  <a:pt x="1806575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28575"/>
                </a:moveTo>
                <a:lnTo>
                  <a:pt x="1806575" y="28575"/>
                </a:lnTo>
                <a:lnTo>
                  <a:pt x="1792287" y="14287"/>
                </a:lnTo>
                <a:lnTo>
                  <a:pt x="1820862" y="14287"/>
                </a:lnTo>
                <a:lnTo>
                  <a:pt x="1820862" y="28575"/>
                </a:lnTo>
                <a:close/>
              </a:path>
              <a:path w="1821179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92287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623887"/>
                </a:moveTo>
                <a:lnTo>
                  <a:pt x="1792287" y="623887"/>
                </a:lnTo>
                <a:lnTo>
                  <a:pt x="1806575" y="609600"/>
                </a:lnTo>
                <a:lnTo>
                  <a:pt x="1820862" y="609600"/>
                </a:lnTo>
                <a:lnTo>
                  <a:pt x="1820862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81445" y="1663458"/>
            <a:ext cx="917575" cy="824865"/>
          </a:xfrm>
          <a:custGeom>
            <a:avLst/>
            <a:gdLst/>
            <a:ahLst/>
            <a:cxnLst/>
            <a:rect l="l" t="t" r="r" b="b"/>
            <a:pathLst>
              <a:path w="917575" h="824864">
                <a:moveTo>
                  <a:pt x="897915" y="824445"/>
                </a:moveTo>
                <a:lnTo>
                  <a:pt x="0" y="21310"/>
                </a:lnTo>
                <a:lnTo>
                  <a:pt x="19050" y="0"/>
                </a:lnTo>
                <a:lnTo>
                  <a:pt x="916965" y="803148"/>
                </a:lnTo>
                <a:lnTo>
                  <a:pt x="897915" y="82444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06185" y="1164831"/>
            <a:ext cx="1411071" cy="3494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99150" y="2509837"/>
            <a:ext cx="1022350" cy="850900"/>
          </a:xfrm>
          <a:custGeom>
            <a:avLst/>
            <a:gdLst/>
            <a:ahLst/>
            <a:cxnLst/>
            <a:rect l="l" t="t" r="r" b="b"/>
            <a:pathLst>
              <a:path w="1022350" h="850900">
                <a:moveTo>
                  <a:pt x="1022350" y="850900"/>
                </a:moveTo>
                <a:lnTo>
                  <a:pt x="0" y="850900"/>
                </a:lnTo>
                <a:lnTo>
                  <a:pt x="0" y="0"/>
                </a:lnTo>
                <a:lnTo>
                  <a:pt x="1022350" y="0"/>
                </a:lnTo>
                <a:lnTo>
                  <a:pt x="10223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22325"/>
                </a:lnTo>
                <a:lnTo>
                  <a:pt x="14287" y="822325"/>
                </a:lnTo>
                <a:lnTo>
                  <a:pt x="28575" y="836612"/>
                </a:lnTo>
                <a:lnTo>
                  <a:pt x="1022350" y="836612"/>
                </a:lnTo>
                <a:lnTo>
                  <a:pt x="1022350" y="850900"/>
                </a:lnTo>
                <a:close/>
              </a:path>
              <a:path w="1022350" h="8509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22350" h="850900">
                <a:moveTo>
                  <a:pt x="9937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93775" y="14287"/>
                </a:lnTo>
                <a:lnTo>
                  <a:pt x="993775" y="28575"/>
                </a:lnTo>
                <a:close/>
              </a:path>
              <a:path w="1022350" h="850900">
                <a:moveTo>
                  <a:pt x="993775" y="836612"/>
                </a:moveTo>
                <a:lnTo>
                  <a:pt x="993775" y="14287"/>
                </a:lnTo>
                <a:lnTo>
                  <a:pt x="1008062" y="28575"/>
                </a:lnTo>
                <a:lnTo>
                  <a:pt x="1022350" y="28575"/>
                </a:lnTo>
                <a:lnTo>
                  <a:pt x="1022350" y="822325"/>
                </a:lnTo>
                <a:lnTo>
                  <a:pt x="1008062" y="822325"/>
                </a:lnTo>
                <a:lnTo>
                  <a:pt x="993775" y="836612"/>
                </a:lnTo>
                <a:close/>
              </a:path>
              <a:path w="1022350" h="850900">
                <a:moveTo>
                  <a:pt x="1022350" y="28575"/>
                </a:moveTo>
                <a:lnTo>
                  <a:pt x="1008062" y="28575"/>
                </a:lnTo>
                <a:lnTo>
                  <a:pt x="993775" y="14287"/>
                </a:lnTo>
                <a:lnTo>
                  <a:pt x="1022350" y="14287"/>
                </a:lnTo>
                <a:lnTo>
                  <a:pt x="1022350" y="28575"/>
                </a:lnTo>
                <a:close/>
              </a:path>
              <a:path w="1022350" h="850900">
                <a:moveTo>
                  <a:pt x="28575" y="836612"/>
                </a:moveTo>
                <a:lnTo>
                  <a:pt x="14287" y="822325"/>
                </a:lnTo>
                <a:lnTo>
                  <a:pt x="28575" y="822325"/>
                </a:lnTo>
                <a:lnTo>
                  <a:pt x="28575" y="836612"/>
                </a:lnTo>
                <a:close/>
              </a:path>
              <a:path w="1022350" h="850900">
                <a:moveTo>
                  <a:pt x="993775" y="836612"/>
                </a:moveTo>
                <a:lnTo>
                  <a:pt x="28575" y="836612"/>
                </a:lnTo>
                <a:lnTo>
                  <a:pt x="28575" y="822325"/>
                </a:lnTo>
                <a:lnTo>
                  <a:pt x="993775" y="822325"/>
                </a:lnTo>
                <a:lnTo>
                  <a:pt x="993775" y="836612"/>
                </a:lnTo>
                <a:close/>
              </a:path>
              <a:path w="1022350" h="850900">
                <a:moveTo>
                  <a:pt x="1022350" y="836612"/>
                </a:moveTo>
                <a:lnTo>
                  <a:pt x="993775" y="836612"/>
                </a:lnTo>
                <a:lnTo>
                  <a:pt x="1008062" y="822325"/>
                </a:lnTo>
                <a:lnTo>
                  <a:pt x="1022350" y="822325"/>
                </a:lnTo>
                <a:lnTo>
                  <a:pt x="1022350" y="83661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5477" y="3352203"/>
            <a:ext cx="527685" cy="356870"/>
          </a:xfrm>
          <a:custGeom>
            <a:avLst/>
            <a:gdLst/>
            <a:ahLst/>
            <a:cxnLst/>
            <a:rect l="l" t="t" r="r" b="b"/>
            <a:pathLst>
              <a:path w="527684" h="356870">
                <a:moveTo>
                  <a:pt x="511632" y="356323"/>
                </a:moveTo>
                <a:lnTo>
                  <a:pt x="0" y="23964"/>
                </a:lnTo>
                <a:lnTo>
                  <a:pt x="15557" y="0"/>
                </a:lnTo>
                <a:lnTo>
                  <a:pt x="527202" y="332359"/>
                </a:lnTo>
                <a:lnTo>
                  <a:pt x="511632" y="35632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32639" y="2519959"/>
            <a:ext cx="725614" cy="3700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46851" y="2961246"/>
            <a:ext cx="689711" cy="3494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964737" y="1619250"/>
            <a:ext cx="1363980" cy="876300"/>
          </a:xfrm>
          <a:custGeom>
            <a:avLst/>
            <a:gdLst/>
            <a:ahLst/>
            <a:cxnLst/>
            <a:rect l="l" t="t" r="r" b="b"/>
            <a:pathLst>
              <a:path w="1363979" h="876300">
                <a:moveTo>
                  <a:pt x="1363662" y="876300"/>
                </a:moveTo>
                <a:lnTo>
                  <a:pt x="0" y="876300"/>
                </a:lnTo>
                <a:lnTo>
                  <a:pt x="0" y="0"/>
                </a:lnTo>
                <a:lnTo>
                  <a:pt x="1363662" y="0"/>
                </a:lnTo>
                <a:lnTo>
                  <a:pt x="13636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47725"/>
                </a:lnTo>
                <a:lnTo>
                  <a:pt x="14287" y="847725"/>
                </a:lnTo>
                <a:lnTo>
                  <a:pt x="28575" y="862012"/>
                </a:lnTo>
                <a:lnTo>
                  <a:pt x="1363662" y="862012"/>
                </a:lnTo>
                <a:lnTo>
                  <a:pt x="1363662" y="876300"/>
                </a:lnTo>
                <a:close/>
              </a:path>
              <a:path w="1363979" h="8763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63979" h="876300">
                <a:moveTo>
                  <a:pt x="13350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35087" y="14287"/>
                </a:lnTo>
                <a:lnTo>
                  <a:pt x="1335087" y="28575"/>
                </a:lnTo>
                <a:close/>
              </a:path>
              <a:path w="1363979" h="876300">
                <a:moveTo>
                  <a:pt x="1335087" y="862012"/>
                </a:moveTo>
                <a:lnTo>
                  <a:pt x="1335087" y="14287"/>
                </a:lnTo>
                <a:lnTo>
                  <a:pt x="1349375" y="28575"/>
                </a:lnTo>
                <a:lnTo>
                  <a:pt x="1363662" y="28575"/>
                </a:lnTo>
                <a:lnTo>
                  <a:pt x="1363662" y="847725"/>
                </a:lnTo>
                <a:lnTo>
                  <a:pt x="1349375" y="847725"/>
                </a:lnTo>
                <a:lnTo>
                  <a:pt x="1335087" y="862012"/>
                </a:lnTo>
                <a:close/>
              </a:path>
              <a:path w="1363979" h="876300">
                <a:moveTo>
                  <a:pt x="1363662" y="28575"/>
                </a:moveTo>
                <a:lnTo>
                  <a:pt x="1349375" y="28575"/>
                </a:lnTo>
                <a:lnTo>
                  <a:pt x="1335087" y="14287"/>
                </a:lnTo>
                <a:lnTo>
                  <a:pt x="1363662" y="14287"/>
                </a:lnTo>
                <a:lnTo>
                  <a:pt x="1363662" y="28575"/>
                </a:lnTo>
                <a:close/>
              </a:path>
              <a:path w="1363979" h="876300">
                <a:moveTo>
                  <a:pt x="28575" y="862012"/>
                </a:moveTo>
                <a:lnTo>
                  <a:pt x="14287" y="847725"/>
                </a:lnTo>
                <a:lnTo>
                  <a:pt x="28575" y="847725"/>
                </a:lnTo>
                <a:lnTo>
                  <a:pt x="28575" y="862012"/>
                </a:lnTo>
                <a:close/>
              </a:path>
              <a:path w="1363979" h="876300">
                <a:moveTo>
                  <a:pt x="1335087" y="862012"/>
                </a:moveTo>
                <a:lnTo>
                  <a:pt x="28575" y="862012"/>
                </a:lnTo>
                <a:lnTo>
                  <a:pt x="28575" y="847725"/>
                </a:lnTo>
                <a:lnTo>
                  <a:pt x="1335087" y="847725"/>
                </a:lnTo>
                <a:lnTo>
                  <a:pt x="1335087" y="862012"/>
                </a:lnTo>
                <a:close/>
              </a:path>
              <a:path w="1363979" h="876300">
                <a:moveTo>
                  <a:pt x="1363662" y="862012"/>
                </a:moveTo>
                <a:lnTo>
                  <a:pt x="1335087" y="862012"/>
                </a:lnTo>
                <a:lnTo>
                  <a:pt x="1349375" y="847725"/>
                </a:lnTo>
                <a:lnTo>
                  <a:pt x="1363662" y="847725"/>
                </a:lnTo>
                <a:lnTo>
                  <a:pt x="1363662" y="86201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910510" y="2478697"/>
            <a:ext cx="1054100" cy="341630"/>
          </a:xfrm>
          <a:custGeom>
            <a:avLst/>
            <a:gdLst/>
            <a:ahLst/>
            <a:cxnLst/>
            <a:rect l="l" t="t" r="r" b="b"/>
            <a:pathLst>
              <a:path w="1054100" h="341630">
                <a:moveTo>
                  <a:pt x="8229" y="341401"/>
                </a:moveTo>
                <a:lnTo>
                  <a:pt x="0" y="314032"/>
                </a:lnTo>
                <a:lnTo>
                  <a:pt x="1045451" y="0"/>
                </a:lnTo>
                <a:lnTo>
                  <a:pt x="1053668" y="27368"/>
                </a:lnTo>
                <a:lnTo>
                  <a:pt x="8229" y="341401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118140" y="1642071"/>
            <a:ext cx="680808" cy="3700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087191" y="2069490"/>
            <a:ext cx="1043089" cy="3676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562975" y="674687"/>
            <a:ext cx="1821180" cy="638175"/>
          </a:xfrm>
          <a:custGeom>
            <a:avLst/>
            <a:gdLst/>
            <a:ahLst/>
            <a:cxnLst/>
            <a:rect l="l" t="t" r="r" b="b"/>
            <a:pathLst>
              <a:path w="1821179" h="638175">
                <a:moveTo>
                  <a:pt x="1820862" y="638175"/>
                </a:moveTo>
                <a:lnTo>
                  <a:pt x="0" y="638175"/>
                </a:lnTo>
                <a:lnTo>
                  <a:pt x="0" y="0"/>
                </a:lnTo>
                <a:lnTo>
                  <a:pt x="1820862" y="0"/>
                </a:lnTo>
                <a:lnTo>
                  <a:pt x="18208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820862" y="623887"/>
                </a:lnTo>
                <a:lnTo>
                  <a:pt x="1820862" y="638175"/>
                </a:lnTo>
                <a:close/>
              </a:path>
              <a:path w="1821179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21179" h="638175">
                <a:moveTo>
                  <a:pt x="17922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92287" y="14287"/>
                </a:lnTo>
                <a:lnTo>
                  <a:pt x="1792287" y="28575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1792287" y="14287"/>
                </a:lnTo>
                <a:lnTo>
                  <a:pt x="1806575" y="28575"/>
                </a:lnTo>
                <a:lnTo>
                  <a:pt x="1820862" y="28575"/>
                </a:lnTo>
                <a:lnTo>
                  <a:pt x="1820862" y="609600"/>
                </a:lnTo>
                <a:lnTo>
                  <a:pt x="1806575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28575"/>
                </a:moveTo>
                <a:lnTo>
                  <a:pt x="1806575" y="28575"/>
                </a:lnTo>
                <a:lnTo>
                  <a:pt x="1792287" y="14287"/>
                </a:lnTo>
                <a:lnTo>
                  <a:pt x="1820862" y="14287"/>
                </a:lnTo>
                <a:lnTo>
                  <a:pt x="1820862" y="28575"/>
                </a:lnTo>
                <a:close/>
              </a:path>
              <a:path w="1821179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92287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623887"/>
                </a:moveTo>
                <a:lnTo>
                  <a:pt x="1792287" y="623887"/>
                </a:lnTo>
                <a:lnTo>
                  <a:pt x="1806575" y="609600"/>
                </a:lnTo>
                <a:lnTo>
                  <a:pt x="1820862" y="609600"/>
                </a:lnTo>
                <a:lnTo>
                  <a:pt x="1820862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918105" y="1309471"/>
            <a:ext cx="481965" cy="1022350"/>
          </a:xfrm>
          <a:custGeom>
            <a:avLst/>
            <a:gdLst/>
            <a:ahLst/>
            <a:cxnLst/>
            <a:rect l="l" t="t" r="r" b="b"/>
            <a:pathLst>
              <a:path w="481965" h="1022350">
                <a:moveTo>
                  <a:pt x="26047" y="1022146"/>
                </a:moveTo>
                <a:lnTo>
                  <a:pt x="0" y="1010412"/>
                </a:lnTo>
                <a:lnTo>
                  <a:pt x="455434" y="0"/>
                </a:lnTo>
                <a:lnTo>
                  <a:pt x="481495" y="11734"/>
                </a:lnTo>
                <a:lnTo>
                  <a:pt x="26047" y="1022146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700363" y="806069"/>
            <a:ext cx="1412481" cy="35017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952037" y="3235325"/>
            <a:ext cx="1400175" cy="638175"/>
          </a:xfrm>
          <a:custGeom>
            <a:avLst/>
            <a:gdLst/>
            <a:ahLst/>
            <a:cxnLst/>
            <a:rect l="l" t="t" r="r" b="b"/>
            <a:pathLst>
              <a:path w="1400175" h="638175">
                <a:moveTo>
                  <a:pt x="1400175" y="638175"/>
                </a:moveTo>
                <a:lnTo>
                  <a:pt x="0" y="638175"/>
                </a:lnTo>
                <a:lnTo>
                  <a:pt x="0" y="0"/>
                </a:lnTo>
                <a:lnTo>
                  <a:pt x="1400175" y="0"/>
                </a:lnTo>
                <a:lnTo>
                  <a:pt x="14001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400175" y="623887"/>
                </a:lnTo>
                <a:lnTo>
                  <a:pt x="1400175" y="638175"/>
                </a:lnTo>
                <a:close/>
              </a:path>
              <a:path w="1400175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00175" h="638175">
                <a:moveTo>
                  <a:pt x="13716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71600" y="14287"/>
                </a:lnTo>
                <a:lnTo>
                  <a:pt x="1371600" y="28575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1371600" y="14287"/>
                </a:lnTo>
                <a:lnTo>
                  <a:pt x="1385887" y="28575"/>
                </a:lnTo>
                <a:lnTo>
                  <a:pt x="1400175" y="28575"/>
                </a:lnTo>
                <a:lnTo>
                  <a:pt x="1400175" y="609600"/>
                </a:lnTo>
                <a:lnTo>
                  <a:pt x="1385887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28575"/>
                </a:moveTo>
                <a:lnTo>
                  <a:pt x="1385887" y="28575"/>
                </a:lnTo>
                <a:lnTo>
                  <a:pt x="1371600" y="14287"/>
                </a:lnTo>
                <a:lnTo>
                  <a:pt x="1400175" y="14287"/>
                </a:lnTo>
                <a:lnTo>
                  <a:pt x="1400175" y="28575"/>
                </a:lnTo>
                <a:close/>
              </a:path>
              <a:path w="1400175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371600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623887"/>
                </a:moveTo>
                <a:lnTo>
                  <a:pt x="1371600" y="623887"/>
                </a:lnTo>
                <a:lnTo>
                  <a:pt x="1385887" y="609600"/>
                </a:lnTo>
                <a:lnTo>
                  <a:pt x="1400175" y="609600"/>
                </a:lnTo>
                <a:lnTo>
                  <a:pt x="1400175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716746" y="3336150"/>
            <a:ext cx="1265555" cy="261620"/>
          </a:xfrm>
          <a:custGeom>
            <a:avLst/>
            <a:gdLst/>
            <a:ahLst/>
            <a:cxnLst/>
            <a:rect l="l" t="t" r="r" b="b"/>
            <a:pathLst>
              <a:path w="1265554" h="261620">
                <a:moveTo>
                  <a:pt x="1259827" y="261264"/>
                </a:moveTo>
                <a:lnTo>
                  <a:pt x="0" y="28092"/>
                </a:lnTo>
                <a:lnTo>
                  <a:pt x="5207" y="0"/>
                </a:lnTo>
                <a:lnTo>
                  <a:pt x="1265034" y="233171"/>
                </a:lnTo>
                <a:lnTo>
                  <a:pt x="1259827" y="261264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083038" y="3352825"/>
            <a:ext cx="1034554" cy="3676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101715" y="4726939"/>
            <a:ext cx="4308475" cy="8794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dirty="0" sz="2800" b="1">
                <a:solidFill>
                  <a:srgbClr val="CC3300"/>
                </a:solidFill>
                <a:latin typeface="隶书"/>
                <a:cs typeface="隶书"/>
              </a:rPr>
              <a:t>把</a:t>
            </a:r>
            <a:r>
              <a:rPr dirty="0" sz="2800" b="1" i="1">
                <a:solidFill>
                  <a:srgbClr val="CC3300"/>
                </a:solidFill>
                <a:latin typeface="Times New Roman"/>
                <a:cs typeface="Times New Roman"/>
              </a:rPr>
              <a:t>R</a:t>
            </a:r>
            <a:r>
              <a:rPr dirty="0" baseline="-16975" sz="2700" spc="7" b="1">
                <a:solidFill>
                  <a:srgbClr val="CC3300"/>
                </a:solidFill>
                <a:latin typeface="Times New Roman"/>
                <a:cs typeface="Times New Roman"/>
              </a:rPr>
              <a:t>1</a:t>
            </a:r>
            <a:r>
              <a:rPr dirty="0" sz="2800" b="1">
                <a:solidFill>
                  <a:srgbClr val="CC3300"/>
                </a:solidFill>
                <a:latin typeface="隶书"/>
                <a:cs typeface="隶书"/>
              </a:rPr>
              <a:t>阻值调得更大些，就</a:t>
            </a:r>
            <a:r>
              <a:rPr dirty="0" sz="2800" spc="-15" b="1">
                <a:solidFill>
                  <a:srgbClr val="CC3300"/>
                </a:solidFill>
                <a:latin typeface="隶书"/>
                <a:cs typeface="隶书"/>
              </a:rPr>
              <a:t>会 </a:t>
            </a:r>
            <a:r>
              <a:rPr dirty="0" sz="2800" b="1">
                <a:solidFill>
                  <a:srgbClr val="CC3300"/>
                </a:solidFill>
                <a:latin typeface="隶书"/>
                <a:cs typeface="隶书"/>
              </a:rPr>
              <a:t>在天更暗时才点亮路灯</a:t>
            </a:r>
            <a:r>
              <a:rPr dirty="0" sz="2800" spc="-20" b="1">
                <a:solidFill>
                  <a:srgbClr val="CC3300"/>
                </a:solidFill>
                <a:latin typeface="隶书"/>
                <a:cs typeface="隶书"/>
              </a:rPr>
              <a:t>。</a:t>
            </a:r>
            <a:endParaRPr sz="2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0927" y="810336"/>
            <a:ext cx="4428705" cy="570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06540" y="2414016"/>
            <a:ext cx="3531107" cy="26243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91125" y="1631950"/>
            <a:ext cx="1821180" cy="638175"/>
          </a:xfrm>
          <a:custGeom>
            <a:avLst/>
            <a:gdLst/>
            <a:ahLst/>
            <a:cxnLst/>
            <a:rect l="l" t="t" r="r" b="b"/>
            <a:pathLst>
              <a:path w="1821179" h="638175">
                <a:moveTo>
                  <a:pt x="1820862" y="638175"/>
                </a:moveTo>
                <a:lnTo>
                  <a:pt x="0" y="638175"/>
                </a:lnTo>
                <a:lnTo>
                  <a:pt x="0" y="0"/>
                </a:lnTo>
                <a:lnTo>
                  <a:pt x="1820862" y="0"/>
                </a:lnTo>
                <a:lnTo>
                  <a:pt x="18208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820862" y="623887"/>
                </a:lnTo>
                <a:lnTo>
                  <a:pt x="1820862" y="638175"/>
                </a:lnTo>
                <a:close/>
              </a:path>
              <a:path w="1821179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21179" h="638175">
                <a:moveTo>
                  <a:pt x="17922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92287" y="14287"/>
                </a:lnTo>
                <a:lnTo>
                  <a:pt x="1792287" y="28575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1792287" y="14287"/>
                </a:lnTo>
                <a:lnTo>
                  <a:pt x="1806575" y="28575"/>
                </a:lnTo>
                <a:lnTo>
                  <a:pt x="1820862" y="28575"/>
                </a:lnTo>
                <a:lnTo>
                  <a:pt x="1820862" y="609600"/>
                </a:lnTo>
                <a:lnTo>
                  <a:pt x="1806575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28575"/>
                </a:moveTo>
                <a:lnTo>
                  <a:pt x="1806575" y="28575"/>
                </a:lnTo>
                <a:lnTo>
                  <a:pt x="1792287" y="14287"/>
                </a:lnTo>
                <a:lnTo>
                  <a:pt x="1820862" y="14287"/>
                </a:lnTo>
                <a:lnTo>
                  <a:pt x="1820862" y="28575"/>
                </a:lnTo>
                <a:close/>
              </a:path>
              <a:path w="1821179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92287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623887"/>
                </a:moveTo>
                <a:lnTo>
                  <a:pt x="1792287" y="623887"/>
                </a:lnTo>
                <a:lnTo>
                  <a:pt x="1806575" y="609600"/>
                </a:lnTo>
                <a:lnTo>
                  <a:pt x="1820862" y="609600"/>
                </a:lnTo>
                <a:lnTo>
                  <a:pt x="1820862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05195" y="2261946"/>
            <a:ext cx="917575" cy="824865"/>
          </a:xfrm>
          <a:custGeom>
            <a:avLst/>
            <a:gdLst/>
            <a:ahLst/>
            <a:cxnLst/>
            <a:rect l="l" t="t" r="r" b="b"/>
            <a:pathLst>
              <a:path w="917575" h="824864">
                <a:moveTo>
                  <a:pt x="897915" y="824445"/>
                </a:moveTo>
                <a:lnTo>
                  <a:pt x="0" y="21310"/>
                </a:lnTo>
                <a:lnTo>
                  <a:pt x="19050" y="0"/>
                </a:lnTo>
                <a:lnTo>
                  <a:pt x="916965" y="803148"/>
                </a:lnTo>
                <a:lnTo>
                  <a:pt x="897915" y="82444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29935" y="1763318"/>
            <a:ext cx="1411071" cy="3494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22900" y="3106737"/>
            <a:ext cx="1022350" cy="850900"/>
          </a:xfrm>
          <a:custGeom>
            <a:avLst/>
            <a:gdLst/>
            <a:ahLst/>
            <a:cxnLst/>
            <a:rect l="l" t="t" r="r" b="b"/>
            <a:pathLst>
              <a:path w="1022350" h="850900">
                <a:moveTo>
                  <a:pt x="1022350" y="850900"/>
                </a:moveTo>
                <a:lnTo>
                  <a:pt x="0" y="850900"/>
                </a:lnTo>
                <a:lnTo>
                  <a:pt x="0" y="0"/>
                </a:lnTo>
                <a:lnTo>
                  <a:pt x="1022350" y="0"/>
                </a:lnTo>
                <a:lnTo>
                  <a:pt x="10223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22325"/>
                </a:lnTo>
                <a:lnTo>
                  <a:pt x="14287" y="822325"/>
                </a:lnTo>
                <a:lnTo>
                  <a:pt x="28575" y="836612"/>
                </a:lnTo>
                <a:lnTo>
                  <a:pt x="1022350" y="836612"/>
                </a:lnTo>
                <a:lnTo>
                  <a:pt x="1022350" y="850900"/>
                </a:lnTo>
                <a:close/>
              </a:path>
              <a:path w="1022350" h="8509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22350" h="850900">
                <a:moveTo>
                  <a:pt x="9937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93775" y="14287"/>
                </a:lnTo>
                <a:lnTo>
                  <a:pt x="993775" y="28575"/>
                </a:lnTo>
                <a:close/>
              </a:path>
              <a:path w="1022350" h="850900">
                <a:moveTo>
                  <a:pt x="993775" y="836612"/>
                </a:moveTo>
                <a:lnTo>
                  <a:pt x="993775" y="14287"/>
                </a:lnTo>
                <a:lnTo>
                  <a:pt x="1008062" y="28575"/>
                </a:lnTo>
                <a:lnTo>
                  <a:pt x="1022350" y="28575"/>
                </a:lnTo>
                <a:lnTo>
                  <a:pt x="1022350" y="822325"/>
                </a:lnTo>
                <a:lnTo>
                  <a:pt x="1008062" y="822325"/>
                </a:lnTo>
                <a:lnTo>
                  <a:pt x="993775" y="836612"/>
                </a:lnTo>
                <a:close/>
              </a:path>
              <a:path w="1022350" h="850900">
                <a:moveTo>
                  <a:pt x="1022350" y="28575"/>
                </a:moveTo>
                <a:lnTo>
                  <a:pt x="1008062" y="28575"/>
                </a:lnTo>
                <a:lnTo>
                  <a:pt x="993775" y="14287"/>
                </a:lnTo>
                <a:lnTo>
                  <a:pt x="1022350" y="14287"/>
                </a:lnTo>
                <a:lnTo>
                  <a:pt x="1022350" y="28575"/>
                </a:lnTo>
                <a:close/>
              </a:path>
              <a:path w="1022350" h="850900">
                <a:moveTo>
                  <a:pt x="28575" y="836612"/>
                </a:moveTo>
                <a:lnTo>
                  <a:pt x="14287" y="822325"/>
                </a:lnTo>
                <a:lnTo>
                  <a:pt x="28575" y="822325"/>
                </a:lnTo>
                <a:lnTo>
                  <a:pt x="28575" y="836612"/>
                </a:lnTo>
                <a:close/>
              </a:path>
              <a:path w="1022350" h="850900">
                <a:moveTo>
                  <a:pt x="993775" y="836612"/>
                </a:moveTo>
                <a:lnTo>
                  <a:pt x="28575" y="836612"/>
                </a:lnTo>
                <a:lnTo>
                  <a:pt x="28575" y="822325"/>
                </a:lnTo>
                <a:lnTo>
                  <a:pt x="993775" y="822325"/>
                </a:lnTo>
                <a:lnTo>
                  <a:pt x="993775" y="836612"/>
                </a:lnTo>
                <a:close/>
              </a:path>
              <a:path w="1022350" h="850900">
                <a:moveTo>
                  <a:pt x="1022350" y="836612"/>
                </a:moveTo>
                <a:lnTo>
                  <a:pt x="993775" y="836612"/>
                </a:lnTo>
                <a:lnTo>
                  <a:pt x="1008062" y="822325"/>
                </a:lnTo>
                <a:lnTo>
                  <a:pt x="1022350" y="822325"/>
                </a:lnTo>
                <a:lnTo>
                  <a:pt x="1022350" y="83661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419227" y="3949103"/>
            <a:ext cx="527685" cy="356870"/>
          </a:xfrm>
          <a:custGeom>
            <a:avLst/>
            <a:gdLst/>
            <a:ahLst/>
            <a:cxnLst/>
            <a:rect l="l" t="t" r="r" b="b"/>
            <a:pathLst>
              <a:path w="527684" h="356870">
                <a:moveTo>
                  <a:pt x="511632" y="356323"/>
                </a:moveTo>
                <a:lnTo>
                  <a:pt x="0" y="23964"/>
                </a:lnTo>
                <a:lnTo>
                  <a:pt x="15557" y="0"/>
                </a:lnTo>
                <a:lnTo>
                  <a:pt x="527202" y="332359"/>
                </a:lnTo>
                <a:lnTo>
                  <a:pt x="511632" y="35632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56389" y="3116859"/>
            <a:ext cx="725614" cy="3700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70601" y="3558146"/>
            <a:ext cx="689711" cy="34947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23362" y="1947862"/>
            <a:ext cx="2228850" cy="517525"/>
          </a:xfrm>
          <a:custGeom>
            <a:avLst/>
            <a:gdLst/>
            <a:ahLst/>
            <a:cxnLst/>
            <a:rect l="l" t="t" r="r" b="b"/>
            <a:pathLst>
              <a:path w="2228850" h="517525">
                <a:moveTo>
                  <a:pt x="2228850" y="517525"/>
                </a:moveTo>
                <a:lnTo>
                  <a:pt x="0" y="517525"/>
                </a:lnTo>
                <a:lnTo>
                  <a:pt x="0" y="0"/>
                </a:lnTo>
                <a:lnTo>
                  <a:pt x="2228850" y="0"/>
                </a:lnTo>
                <a:lnTo>
                  <a:pt x="22288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88950"/>
                </a:lnTo>
                <a:lnTo>
                  <a:pt x="14287" y="488950"/>
                </a:lnTo>
                <a:lnTo>
                  <a:pt x="28575" y="503237"/>
                </a:lnTo>
                <a:lnTo>
                  <a:pt x="2228850" y="503237"/>
                </a:lnTo>
                <a:lnTo>
                  <a:pt x="2228850" y="517525"/>
                </a:lnTo>
                <a:close/>
              </a:path>
              <a:path w="2228850" h="5175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228850" h="517525">
                <a:moveTo>
                  <a:pt x="22002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200275" y="14287"/>
                </a:lnTo>
                <a:lnTo>
                  <a:pt x="2200275" y="28575"/>
                </a:lnTo>
                <a:close/>
              </a:path>
              <a:path w="2228850" h="517525">
                <a:moveTo>
                  <a:pt x="2200275" y="503237"/>
                </a:moveTo>
                <a:lnTo>
                  <a:pt x="2200275" y="14287"/>
                </a:lnTo>
                <a:lnTo>
                  <a:pt x="2214562" y="28575"/>
                </a:lnTo>
                <a:lnTo>
                  <a:pt x="2228850" y="28575"/>
                </a:lnTo>
                <a:lnTo>
                  <a:pt x="2228850" y="488950"/>
                </a:lnTo>
                <a:lnTo>
                  <a:pt x="2214562" y="488950"/>
                </a:lnTo>
                <a:lnTo>
                  <a:pt x="2200275" y="503237"/>
                </a:lnTo>
                <a:close/>
              </a:path>
              <a:path w="2228850" h="517525">
                <a:moveTo>
                  <a:pt x="2228850" y="28575"/>
                </a:moveTo>
                <a:lnTo>
                  <a:pt x="2214562" y="28575"/>
                </a:lnTo>
                <a:lnTo>
                  <a:pt x="2200275" y="14287"/>
                </a:lnTo>
                <a:lnTo>
                  <a:pt x="2228850" y="14287"/>
                </a:lnTo>
                <a:lnTo>
                  <a:pt x="2228850" y="28575"/>
                </a:lnTo>
                <a:close/>
              </a:path>
              <a:path w="2228850" h="517525">
                <a:moveTo>
                  <a:pt x="28575" y="503237"/>
                </a:moveTo>
                <a:lnTo>
                  <a:pt x="14287" y="488950"/>
                </a:lnTo>
                <a:lnTo>
                  <a:pt x="28575" y="488950"/>
                </a:lnTo>
                <a:lnTo>
                  <a:pt x="28575" y="503237"/>
                </a:lnTo>
                <a:close/>
              </a:path>
              <a:path w="2228850" h="517525">
                <a:moveTo>
                  <a:pt x="2200275" y="503237"/>
                </a:moveTo>
                <a:lnTo>
                  <a:pt x="28575" y="503237"/>
                </a:lnTo>
                <a:lnTo>
                  <a:pt x="28575" y="488950"/>
                </a:lnTo>
                <a:lnTo>
                  <a:pt x="2200275" y="488950"/>
                </a:lnTo>
                <a:lnTo>
                  <a:pt x="2200275" y="503237"/>
                </a:lnTo>
                <a:close/>
              </a:path>
              <a:path w="2228850" h="517525">
                <a:moveTo>
                  <a:pt x="2228850" y="503237"/>
                </a:moveTo>
                <a:lnTo>
                  <a:pt x="2200275" y="503237"/>
                </a:lnTo>
                <a:lnTo>
                  <a:pt x="2214562" y="488950"/>
                </a:lnTo>
                <a:lnTo>
                  <a:pt x="2228850" y="488950"/>
                </a:lnTo>
                <a:lnTo>
                  <a:pt x="2228850" y="50323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042882" y="2423490"/>
            <a:ext cx="561975" cy="618490"/>
          </a:xfrm>
          <a:custGeom>
            <a:avLst/>
            <a:gdLst/>
            <a:ahLst/>
            <a:cxnLst/>
            <a:rect l="l" t="t" r="r" b="b"/>
            <a:pathLst>
              <a:path w="561975" h="618489">
                <a:moveTo>
                  <a:pt x="21208" y="618083"/>
                </a:moveTo>
                <a:lnTo>
                  <a:pt x="0" y="598944"/>
                </a:lnTo>
                <a:lnTo>
                  <a:pt x="540524" y="0"/>
                </a:lnTo>
                <a:lnTo>
                  <a:pt x="561733" y="19138"/>
                </a:lnTo>
                <a:lnTo>
                  <a:pt x="21208" y="61808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250794" y="2006739"/>
            <a:ext cx="1724990" cy="375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40675" y="1003300"/>
            <a:ext cx="2205355" cy="638175"/>
          </a:xfrm>
          <a:custGeom>
            <a:avLst/>
            <a:gdLst/>
            <a:ahLst/>
            <a:cxnLst/>
            <a:rect l="l" t="t" r="r" b="b"/>
            <a:pathLst>
              <a:path w="2205354" h="638175">
                <a:moveTo>
                  <a:pt x="2205037" y="638175"/>
                </a:moveTo>
                <a:lnTo>
                  <a:pt x="0" y="638175"/>
                </a:lnTo>
                <a:lnTo>
                  <a:pt x="0" y="0"/>
                </a:lnTo>
                <a:lnTo>
                  <a:pt x="2205037" y="0"/>
                </a:lnTo>
                <a:lnTo>
                  <a:pt x="22050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2205037" y="623887"/>
                </a:lnTo>
                <a:lnTo>
                  <a:pt x="2205037" y="638175"/>
                </a:lnTo>
                <a:close/>
              </a:path>
              <a:path w="2205354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205354" h="638175">
                <a:moveTo>
                  <a:pt x="21764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76462" y="14287"/>
                </a:lnTo>
                <a:lnTo>
                  <a:pt x="2176462" y="28575"/>
                </a:lnTo>
                <a:close/>
              </a:path>
              <a:path w="2205354" h="638175">
                <a:moveTo>
                  <a:pt x="2176462" y="623887"/>
                </a:moveTo>
                <a:lnTo>
                  <a:pt x="2176462" y="14287"/>
                </a:lnTo>
                <a:lnTo>
                  <a:pt x="2190750" y="28575"/>
                </a:lnTo>
                <a:lnTo>
                  <a:pt x="2205037" y="28575"/>
                </a:lnTo>
                <a:lnTo>
                  <a:pt x="2205037" y="609600"/>
                </a:lnTo>
                <a:lnTo>
                  <a:pt x="2190750" y="609600"/>
                </a:lnTo>
                <a:lnTo>
                  <a:pt x="2176462" y="623887"/>
                </a:lnTo>
                <a:close/>
              </a:path>
              <a:path w="2205354" h="638175">
                <a:moveTo>
                  <a:pt x="2205037" y="28575"/>
                </a:moveTo>
                <a:lnTo>
                  <a:pt x="2190750" y="28575"/>
                </a:lnTo>
                <a:lnTo>
                  <a:pt x="2176462" y="14287"/>
                </a:lnTo>
                <a:lnTo>
                  <a:pt x="2205037" y="14287"/>
                </a:lnTo>
                <a:lnTo>
                  <a:pt x="2205037" y="28575"/>
                </a:lnTo>
                <a:close/>
              </a:path>
              <a:path w="2205354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2205354" h="638175">
                <a:moveTo>
                  <a:pt x="2176462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2176462" y="609600"/>
                </a:lnTo>
                <a:lnTo>
                  <a:pt x="2176462" y="623887"/>
                </a:lnTo>
                <a:close/>
              </a:path>
              <a:path w="2205354" h="638175">
                <a:moveTo>
                  <a:pt x="2205037" y="623887"/>
                </a:moveTo>
                <a:lnTo>
                  <a:pt x="2176462" y="623887"/>
                </a:lnTo>
                <a:lnTo>
                  <a:pt x="2190750" y="609600"/>
                </a:lnTo>
                <a:lnTo>
                  <a:pt x="2205037" y="609600"/>
                </a:lnTo>
                <a:lnTo>
                  <a:pt x="2205037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408263" y="1638020"/>
            <a:ext cx="664845" cy="1412875"/>
          </a:xfrm>
          <a:custGeom>
            <a:avLst/>
            <a:gdLst/>
            <a:ahLst/>
            <a:cxnLst/>
            <a:rect l="l" t="t" r="r" b="b"/>
            <a:pathLst>
              <a:path w="664845" h="1412875">
                <a:moveTo>
                  <a:pt x="26009" y="1412417"/>
                </a:moveTo>
                <a:lnTo>
                  <a:pt x="0" y="1400556"/>
                </a:lnTo>
                <a:lnTo>
                  <a:pt x="638403" y="0"/>
                </a:lnTo>
                <a:lnTo>
                  <a:pt x="664400" y="11861"/>
                </a:lnTo>
                <a:lnTo>
                  <a:pt x="26009" y="141241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68106" y="1121879"/>
            <a:ext cx="1732800" cy="3793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805987" y="3136900"/>
            <a:ext cx="1400175" cy="638175"/>
          </a:xfrm>
          <a:custGeom>
            <a:avLst/>
            <a:gdLst/>
            <a:ahLst/>
            <a:cxnLst/>
            <a:rect l="l" t="t" r="r" b="b"/>
            <a:pathLst>
              <a:path w="1400175" h="638175">
                <a:moveTo>
                  <a:pt x="1400175" y="638175"/>
                </a:moveTo>
                <a:lnTo>
                  <a:pt x="0" y="638175"/>
                </a:lnTo>
                <a:lnTo>
                  <a:pt x="0" y="0"/>
                </a:lnTo>
                <a:lnTo>
                  <a:pt x="1400175" y="0"/>
                </a:lnTo>
                <a:lnTo>
                  <a:pt x="14001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400175" y="623887"/>
                </a:lnTo>
                <a:lnTo>
                  <a:pt x="1400175" y="638175"/>
                </a:lnTo>
                <a:close/>
              </a:path>
              <a:path w="1400175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00175" h="638175">
                <a:moveTo>
                  <a:pt x="13716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71600" y="14287"/>
                </a:lnTo>
                <a:lnTo>
                  <a:pt x="1371600" y="28575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1371600" y="14287"/>
                </a:lnTo>
                <a:lnTo>
                  <a:pt x="1385887" y="28575"/>
                </a:lnTo>
                <a:lnTo>
                  <a:pt x="1400175" y="28575"/>
                </a:lnTo>
                <a:lnTo>
                  <a:pt x="1400175" y="609600"/>
                </a:lnTo>
                <a:lnTo>
                  <a:pt x="1385887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28575"/>
                </a:moveTo>
                <a:lnTo>
                  <a:pt x="1385887" y="28575"/>
                </a:lnTo>
                <a:lnTo>
                  <a:pt x="1371600" y="14287"/>
                </a:lnTo>
                <a:lnTo>
                  <a:pt x="1400175" y="14287"/>
                </a:lnTo>
                <a:lnTo>
                  <a:pt x="1400175" y="28575"/>
                </a:lnTo>
                <a:close/>
              </a:path>
              <a:path w="1400175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371600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623887"/>
                </a:moveTo>
                <a:lnTo>
                  <a:pt x="1371600" y="623887"/>
                </a:lnTo>
                <a:lnTo>
                  <a:pt x="1385887" y="609600"/>
                </a:lnTo>
                <a:lnTo>
                  <a:pt x="1400175" y="609600"/>
                </a:lnTo>
                <a:lnTo>
                  <a:pt x="1400175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01139" y="3471202"/>
            <a:ext cx="1536065" cy="465455"/>
          </a:xfrm>
          <a:custGeom>
            <a:avLst/>
            <a:gdLst/>
            <a:ahLst/>
            <a:cxnLst/>
            <a:rect l="l" t="t" r="r" b="b"/>
            <a:pathLst>
              <a:path w="1536065" h="465454">
                <a:moveTo>
                  <a:pt x="7861" y="464870"/>
                </a:moveTo>
                <a:lnTo>
                  <a:pt x="0" y="437388"/>
                </a:lnTo>
                <a:lnTo>
                  <a:pt x="1528051" y="0"/>
                </a:lnTo>
                <a:lnTo>
                  <a:pt x="1535925" y="27482"/>
                </a:lnTo>
                <a:lnTo>
                  <a:pt x="7861" y="46487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936988" y="3254400"/>
            <a:ext cx="1034554" cy="3676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921875" y="3935412"/>
            <a:ext cx="1187450" cy="638175"/>
          </a:xfrm>
          <a:custGeom>
            <a:avLst/>
            <a:gdLst/>
            <a:ahLst/>
            <a:cxnLst/>
            <a:rect l="l" t="t" r="r" b="b"/>
            <a:pathLst>
              <a:path w="1187450" h="638175">
                <a:moveTo>
                  <a:pt x="1187450" y="638175"/>
                </a:moveTo>
                <a:lnTo>
                  <a:pt x="0" y="638175"/>
                </a:lnTo>
                <a:lnTo>
                  <a:pt x="0" y="0"/>
                </a:lnTo>
                <a:lnTo>
                  <a:pt x="1187450" y="0"/>
                </a:lnTo>
                <a:lnTo>
                  <a:pt x="11874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187450" y="623887"/>
                </a:lnTo>
                <a:lnTo>
                  <a:pt x="1187450" y="638175"/>
                </a:lnTo>
                <a:close/>
              </a:path>
              <a:path w="1187450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187450" h="638175">
                <a:moveTo>
                  <a:pt x="11588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158875" y="14287"/>
                </a:lnTo>
                <a:lnTo>
                  <a:pt x="1158875" y="28575"/>
                </a:lnTo>
                <a:close/>
              </a:path>
              <a:path w="1187450" h="638175">
                <a:moveTo>
                  <a:pt x="1158875" y="623887"/>
                </a:moveTo>
                <a:lnTo>
                  <a:pt x="1158875" y="14287"/>
                </a:lnTo>
                <a:lnTo>
                  <a:pt x="1173162" y="28575"/>
                </a:lnTo>
                <a:lnTo>
                  <a:pt x="1187450" y="28575"/>
                </a:lnTo>
                <a:lnTo>
                  <a:pt x="1187450" y="609600"/>
                </a:lnTo>
                <a:lnTo>
                  <a:pt x="1173162" y="609600"/>
                </a:lnTo>
                <a:lnTo>
                  <a:pt x="1158875" y="623887"/>
                </a:lnTo>
                <a:close/>
              </a:path>
              <a:path w="1187450" h="638175">
                <a:moveTo>
                  <a:pt x="1187450" y="28575"/>
                </a:moveTo>
                <a:lnTo>
                  <a:pt x="1173162" y="28575"/>
                </a:lnTo>
                <a:lnTo>
                  <a:pt x="1158875" y="14287"/>
                </a:lnTo>
                <a:lnTo>
                  <a:pt x="1187450" y="14287"/>
                </a:lnTo>
                <a:lnTo>
                  <a:pt x="1187450" y="28575"/>
                </a:lnTo>
                <a:close/>
              </a:path>
              <a:path w="1187450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187450" h="638175">
                <a:moveTo>
                  <a:pt x="1158875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158875" y="609600"/>
                </a:lnTo>
                <a:lnTo>
                  <a:pt x="1158875" y="623887"/>
                </a:lnTo>
                <a:close/>
              </a:path>
              <a:path w="1187450" h="638175">
                <a:moveTo>
                  <a:pt x="1187450" y="623887"/>
                </a:moveTo>
                <a:lnTo>
                  <a:pt x="1158875" y="623887"/>
                </a:lnTo>
                <a:lnTo>
                  <a:pt x="1173162" y="609600"/>
                </a:lnTo>
                <a:lnTo>
                  <a:pt x="1187450" y="609600"/>
                </a:lnTo>
                <a:lnTo>
                  <a:pt x="1187450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141066" y="4024426"/>
            <a:ext cx="810260" cy="273050"/>
          </a:xfrm>
          <a:custGeom>
            <a:avLst/>
            <a:gdLst/>
            <a:ahLst/>
            <a:cxnLst/>
            <a:rect l="l" t="t" r="r" b="b"/>
            <a:pathLst>
              <a:path w="810259" h="273050">
                <a:moveTo>
                  <a:pt x="801776" y="272694"/>
                </a:moveTo>
                <a:lnTo>
                  <a:pt x="0" y="27330"/>
                </a:lnTo>
                <a:lnTo>
                  <a:pt x="8369" y="0"/>
                </a:lnTo>
                <a:lnTo>
                  <a:pt x="810132" y="245363"/>
                </a:lnTo>
                <a:lnTo>
                  <a:pt x="801776" y="272694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048608" y="4060393"/>
            <a:ext cx="687565" cy="3483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15187" y="1814512"/>
            <a:ext cx="1400175" cy="638175"/>
          </a:xfrm>
          <a:custGeom>
            <a:avLst/>
            <a:gdLst/>
            <a:ahLst/>
            <a:cxnLst/>
            <a:rect l="l" t="t" r="r" b="b"/>
            <a:pathLst>
              <a:path w="1400175" h="638175">
                <a:moveTo>
                  <a:pt x="1400175" y="638175"/>
                </a:moveTo>
                <a:lnTo>
                  <a:pt x="0" y="638175"/>
                </a:lnTo>
                <a:lnTo>
                  <a:pt x="0" y="0"/>
                </a:lnTo>
                <a:lnTo>
                  <a:pt x="1400175" y="0"/>
                </a:lnTo>
                <a:lnTo>
                  <a:pt x="14001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400175" y="623887"/>
                </a:lnTo>
                <a:lnTo>
                  <a:pt x="1400175" y="638175"/>
                </a:lnTo>
                <a:close/>
              </a:path>
              <a:path w="1400175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00175" h="638175">
                <a:moveTo>
                  <a:pt x="13716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71600" y="14287"/>
                </a:lnTo>
                <a:lnTo>
                  <a:pt x="1371600" y="28575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1371600" y="14287"/>
                </a:lnTo>
                <a:lnTo>
                  <a:pt x="1385887" y="28575"/>
                </a:lnTo>
                <a:lnTo>
                  <a:pt x="1400175" y="28575"/>
                </a:lnTo>
                <a:lnTo>
                  <a:pt x="1400175" y="609600"/>
                </a:lnTo>
                <a:lnTo>
                  <a:pt x="1385887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28575"/>
                </a:moveTo>
                <a:lnTo>
                  <a:pt x="1385887" y="28575"/>
                </a:lnTo>
                <a:lnTo>
                  <a:pt x="1371600" y="14287"/>
                </a:lnTo>
                <a:lnTo>
                  <a:pt x="1400175" y="14287"/>
                </a:lnTo>
                <a:lnTo>
                  <a:pt x="1400175" y="28575"/>
                </a:lnTo>
                <a:close/>
              </a:path>
              <a:path w="1400175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400175" h="638175">
                <a:moveTo>
                  <a:pt x="1371600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371600" y="609600"/>
                </a:lnTo>
                <a:lnTo>
                  <a:pt x="1371600" y="623887"/>
                </a:lnTo>
                <a:close/>
              </a:path>
              <a:path w="1400175" h="638175">
                <a:moveTo>
                  <a:pt x="1400175" y="623887"/>
                </a:moveTo>
                <a:lnTo>
                  <a:pt x="1371600" y="623887"/>
                </a:lnTo>
                <a:lnTo>
                  <a:pt x="1385887" y="609600"/>
                </a:lnTo>
                <a:lnTo>
                  <a:pt x="1400175" y="609600"/>
                </a:lnTo>
                <a:lnTo>
                  <a:pt x="1400175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460995" y="2449182"/>
            <a:ext cx="351155" cy="718185"/>
          </a:xfrm>
          <a:custGeom>
            <a:avLst/>
            <a:gdLst/>
            <a:ahLst/>
            <a:cxnLst/>
            <a:rect l="l" t="t" r="r" b="b"/>
            <a:pathLst>
              <a:path w="351154" h="718185">
                <a:moveTo>
                  <a:pt x="325132" y="717575"/>
                </a:moveTo>
                <a:lnTo>
                  <a:pt x="0" y="11963"/>
                </a:lnTo>
                <a:lnTo>
                  <a:pt x="25958" y="0"/>
                </a:lnTo>
                <a:lnTo>
                  <a:pt x="351078" y="705612"/>
                </a:lnTo>
                <a:lnTo>
                  <a:pt x="325132" y="71757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37641" y="1932012"/>
            <a:ext cx="1043089" cy="3676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02677" y="1657350"/>
            <a:ext cx="10392410" cy="44938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just" marL="241300" marR="6944359" indent="-22860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启、闭另外的供电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电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路需要较大功率：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使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用</a:t>
            </a:r>
            <a:r>
              <a:rPr dirty="0" sz="2800">
                <a:solidFill>
                  <a:srgbClr val="FF0000"/>
                </a:solidFill>
                <a:latin typeface="隶书"/>
                <a:cs typeface="隶书"/>
              </a:rPr>
              <a:t>继电</a:t>
            </a:r>
            <a:r>
              <a:rPr dirty="0" sz="2800" spc="-5">
                <a:solidFill>
                  <a:srgbClr val="FF0000"/>
                </a:solidFill>
                <a:latin typeface="隶书"/>
                <a:cs typeface="隶书"/>
              </a:rPr>
              <a:t>器</a:t>
            </a:r>
            <a:endParaRPr sz="2800">
              <a:latin typeface="隶书"/>
              <a:cs typeface="隶书"/>
            </a:endParaRPr>
          </a:p>
          <a:p>
            <a:pPr algn="just" marL="241300" marR="6944359" indent="-228600">
              <a:lnSpc>
                <a:spcPct val="90000"/>
              </a:lnSpc>
              <a:spcBef>
                <a:spcPts val="94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二极管</a:t>
            </a:r>
            <a:r>
              <a:rPr dirty="0" sz="2800" spc="-5">
                <a:solidFill>
                  <a:srgbClr val="000099"/>
                </a:solidFill>
                <a:latin typeface="Times New Roman"/>
                <a:cs typeface="Times New Roman"/>
              </a:rPr>
              <a:t>D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：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提供自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感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电流释放的通路。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防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止继电器释放衔铁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时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线圈中的自感电动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势 </a:t>
            </a:r>
            <a:r>
              <a:rPr dirty="0" sz="2800">
                <a:solidFill>
                  <a:srgbClr val="000099"/>
                </a:solidFill>
                <a:latin typeface="隶书"/>
                <a:cs typeface="隶书"/>
              </a:rPr>
              <a:t>损坏三极</a:t>
            </a:r>
            <a:r>
              <a:rPr dirty="0" sz="2800" spc="-5">
                <a:solidFill>
                  <a:srgbClr val="000099"/>
                </a:solidFill>
                <a:latin typeface="隶书"/>
                <a:cs typeface="隶书"/>
              </a:rPr>
              <a:t>管</a:t>
            </a:r>
            <a:endParaRPr sz="2800">
              <a:latin typeface="隶书"/>
              <a:cs typeface="隶书"/>
            </a:endParaRPr>
          </a:p>
          <a:p>
            <a:pPr marL="621665" marR="5080" indent="457200">
              <a:lnSpc>
                <a:spcPct val="100000"/>
              </a:lnSpc>
              <a:spcBef>
                <a:spcPts val="1045"/>
              </a:spcBef>
            </a:pPr>
            <a:r>
              <a:rPr dirty="0" sz="1800" b="1" i="1">
                <a:solidFill>
                  <a:srgbClr val="660033"/>
                </a:solidFill>
                <a:latin typeface="方正舒体"/>
                <a:cs typeface="方正舒体"/>
              </a:rPr>
              <a:t>当环境光比较强时，光敏电阻RG的阻值很小，三极管不导通，发光二极管或继电器所在的</a:t>
            </a:r>
            <a:r>
              <a:rPr dirty="0" sz="1800" spc="-10" b="1" i="1">
                <a:solidFill>
                  <a:srgbClr val="660033"/>
                </a:solidFill>
                <a:latin typeface="方正舒体"/>
                <a:cs typeface="方正舒体"/>
              </a:rPr>
              <a:t>回 </a:t>
            </a:r>
            <a:r>
              <a:rPr dirty="0" sz="1800" b="1" i="1">
                <a:solidFill>
                  <a:srgbClr val="660033"/>
                </a:solidFill>
                <a:latin typeface="方正舒体"/>
                <a:cs typeface="方正舒体"/>
              </a:rPr>
              <a:t>路相当于断路，即发光二极管不工作；继电器处于常开状态，小灯泡</a:t>
            </a:r>
            <a:r>
              <a:rPr dirty="0" sz="1800" spc="-5" b="1" i="1">
                <a:solidFill>
                  <a:srgbClr val="660033"/>
                </a:solidFill>
                <a:latin typeface="方正舒体"/>
                <a:cs typeface="方正舒体"/>
              </a:rPr>
              <a:t>L</a:t>
            </a:r>
            <a:r>
              <a:rPr dirty="0" sz="1800" b="1" i="1">
                <a:solidFill>
                  <a:srgbClr val="660033"/>
                </a:solidFill>
                <a:latin typeface="方正舒体"/>
                <a:cs typeface="方正舒体"/>
              </a:rPr>
              <a:t>不亮</a:t>
            </a:r>
            <a:r>
              <a:rPr dirty="0" sz="1800" spc="-10" b="1" i="1">
                <a:solidFill>
                  <a:srgbClr val="660033"/>
                </a:solidFill>
                <a:latin typeface="方正舒体"/>
                <a:cs typeface="方正舒体"/>
              </a:rPr>
              <a:t>。</a:t>
            </a:r>
            <a:endParaRPr sz="1800">
              <a:latin typeface="方正舒体"/>
              <a:cs typeface="方正舒体"/>
            </a:endParaRPr>
          </a:p>
          <a:p>
            <a:pPr marL="621665" marR="5080" indent="457200">
              <a:lnSpc>
                <a:spcPct val="100000"/>
              </a:lnSpc>
            </a:pPr>
            <a:r>
              <a:rPr dirty="0" sz="1800" b="1" i="1">
                <a:solidFill>
                  <a:srgbClr val="660033"/>
                </a:solidFill>
                <a:latin typeface="方正舒体"/>
                <a:cs typeface="方正舒体"/>
              </a:rPr>
              <a:t>当环境光比较弱时，光敏电阻RG的阻值变大，三极管导通，且获得足够的基极电流，产生</a:t>
            </a:r>
            <a:r>
              <a:rPr dirty="0" sz="1800" spc="-10" b="1" i="1">
                <a:solidFill>
                  <a:srgbClr val="660033"/>
                </a:solidFill>
                <a:latin typeface="方正舒体"/>
                <a:cs typeface="方正舒体"/>
              </a:rPr>
              <a:t>较 </a:t>
            </a:r>
            <a:r>
              <a:rPr dirty="0" sz="1800" b="1" i="1">
                <a:solidFill>
                  <a:srgbClr val="660033"/>
                </a:solidFill>
                <a:latin typeface="方正舒体"/>
                <a:cs typeface="方正舒体"/>
              </a:rPr>
              <a:t>大的集电极电流，驱动继电器吸合而点亮小灯泡</a:t>
            </a:r>
            <a:r>
              <a:rPr dirty="0" sz="1800" spc="-5" b="1" i="1">
                <a:solidFill>
                  <a:srgbClr val="660033"/>
                </a:solidFill>
                <a:latin typeface="方正舒体"/>
                <a:cs typeface="方正舒体"/>
              </a:rPr>
              <a:t>L</a:t>
            </a:r>
            <a:r>
              <a:rPr dirty="0" sz="1800" spc="-10" b="1" i="1">
                <a:solidFill>
                  <a:srgbClr val="660033"/>
                </a:solidFill>
                <a:latin typeface="方正舒体"/>
                <a:cs typeface="方正舒体"/>
              </a:rPr>
              <a:t>。</a:t>
            </a:r>
            <a:endParaRPr sz="18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95016" y="1377696"/>
            <a:ext cx="6525768" cy="5004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38548" y="665022"/>
            <a:ext cx="2715755" cy="6294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3777" y="1021270"/>
            <a:ext cx="8446135" cy="151384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FF0000"/>
                </a:solidFill>
                <a:latin typeface="黑体"/>
                <a:cs typeface="黑体"/>
              </a:rPr>
              <a:t>功能要求</a:t>
            </a:r>
            <a:r>
              <a:rPr dirty="0" sz="2800" spc="-5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endParaRPr sz="2800">
              <a:latin typeface="黑体"/>
              <a:cs typeface="黑体"/>
            </a:endParaRPr>
          </a:p>
          <a:p>
            <a:pPr marL="241300" indent="-22860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当门窗紧闭时，蜂鸣器不响，指示灯亮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；</a:t>
            </a:r>
            <a:endParaRPr sz="2800">
              <a:latin typeface="华文楷体"/>
              <a:cs typeface="华文楷体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800" b="1" i="1">
                <a:solidFill>
                  <a:srgbClr val="000099"/>
                </a:solidFill>
                <a:latin typeface="华文楷体"/>
                <a:cs typeface="华文楷体"/>
              </a:rPr>
              <a:t>当门窗被打开时，蜂鸣器发出声音警报，指示灯灭</a:t>
            </a:r>
            <a:r>
              <a:rPr dirty="0" sz="2800" spc="-10" b="1" i="1">
                <a:solidFill>
                  <a:srgbClr val="000099"/>
                </a:solidFill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83153" y="453555"/>
            <a:ext cx="5541606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01011" y="3864864"/>
            <a:ext cx="3186684" cy="2208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61759" y="3308603"/>
            <a:ext cx="3564636" cy="2409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67180" y="2707906"/>
            <a:ext cx="2752636" cy="535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30800" y="4435475"/>
            <a:ext cx="1344930" cy="638175"/>
          </a:xfrm>
          <a:custGeom>
            <a:avLst/>
            <a:gdLst/>
            <a:ahLst/>
            <a:cxnLst/>
            <a:rect l="l" t="t" r="r" b="b"/>
            <a:pathLst>
              <a:path w="1344929" h="638175">
                <a:moveTo>
                  <a:pt x="1344612" y="638175"/>
                </a:moveTo>
                <a:lnTo>
                  <a:pt x="0" y="638175"/>
                </a:lnTo>
                <a:lnTo>
                  <a:pt x="0" y="0"/>
                </a:lnTo>
                <a:lnTo>
                  <a:pt x="1344612" y="0"/>
                </a:lnTo>
                <a:lnTo>
                  <a:pt x="134461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344612" y="623887"/>
                </a:lnTo>
                <a:lnTo>
                  <a:pt x="1344612" y="638175"/>
                </a:lnTo>
                <a:close/>
              </a:path>
              <a:path w="1344929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44929" h="638175">
                <a:moveTo>
                  <a:pt x="131603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16037" y="14287"/>
                </a:lnTo>
                <a:lnTo>
                  <a:pt x="1316037" y="28575"/>
                </a:lnTo>
                <a:close/>
              </a:path>
              <a:path w="1344929" h="638175">
                <a:moveTo>
                  <a:pt x="1316037" y="623887"/>
                </a:moveTo>
                <a:lnTo>
                  <a:pt x="1316037" y="14287"/>
                </a:lnTo>
                <a:lnTo>
                  <a:pt x="1330325" y="28575"/>
                </a:lnTo>
                <a:lnTo>
                  <a:pt x="1344612" y="28575"/>
                </a:lnTo>
                <a:lnTo>
                  <a:pt x="1344612" y="609600"/>
                </a:lnTo>
                <a:lnTo>
                  <a:pt x="1330325" y="609600"/>
                </a:lnTo>
                <a:lnTo>
                  <a:pt x="1316037" y="623887"/>
                </a:lnTo>
                <a:close/>
              </a:path>
              <a:path w="1344929" h="638175">
                <a:moveTo>
                  <a:pt x="1344612" y="28575"/>
                </a:moveTo>
                <a:lnTo>
                  <a:pt x="1330325" y="28575"/>
                </a:lnTo>
                <a:lnTo>
                  <a:pt x="1316037" y="14287"/>
                </a:lnTo>
                <a:lnTo>
                  <a:pt x="1344612" y="14287"/>
                </a:lnTo>
                <a:lnTo>
                  <a:pt x="1344612" y="28575"/>
                </a:lnTo>
                <a:close/>
              </a:path>
              <a:path w="1344929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344929" h="638175">
                <a:moveTo>
                  <a:pt x="1316037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316037" y="609600"/>
                </a:lnTo>
                <a:lnTo>
                  <a:pt x="1316037" y="623887"/>
                </a:lnTo>
                <a:close/>
              </a:path>
              <a:path w="1344929" h="638175">
                <a:moveTo>
                  <a:pt x="1344612" y="623887"/>
                </a:moveTo>
                <a:lnTo>
                  <a:pt x="1316037" y="623887"/>
                </a:lnTo>
                <a:lnTo>
                  <a:pt x="1330325" y="609600"/>
                </a:lnTo>
                <a:lnTo>
                  <a:pt x="1344612" y="609600"/>
                </a:lnTo>
                <a:lnTo>
                  <a:pt x="1344612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87850" y="5050205"/>
            <a:ext cx="846455" cy="269875"/>
          </a:xfrm>
          <a:custGeom>
            <a:avLst/>
            <a:gdLst/>
            <a:ahLst/>
            <a:cxnLst/>
            <a:rect l="l" t="t" r="r" b="b"/>
            <a:pathLst>
              <a:path w="846454" h="269875">
                <a:moveTo>
                  <a:pt x="7937" y="269773"/>
                </a:moveTo>
                <a:lnTo>
                  <a:pt x="0" y="242315"/>
                </a:lnTo>
                <a:lnTo>
                  <a:pt x="838250" y="0"/>
                </a:lnTo>
                <a:lnTo>
                  <a:pt x="846188" y="27457"/>
                </a:lnTo>
                <a:lnTo>
                  <a:pt x="7937" y="26977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30139" y="4563655"/>
            <a:ext cx="370446" cy="3370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72239" y="4557610"/>
            <a:ext cx="414896" cy="3483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180012" y="2838450"/>
            <a:ext cx="1735455" cy="638175"/>
          </a:xfrm>
          <a:custGeom>
            <a:avLst/>
            <a:gdLst/>
            <a:ahLst/>
            <a:cxnLst/>
            <a:rect l="l" t="t" r="r" b="b"/>
            <a:pathLst>
              <a:path w="1735454" h="638175">
                <a:moveTo>
                  <a:pt x="1735137" y="638175"/>
                </a:moveTo>
                <a:lnTo>
                  <a:pt x="0" y="638175"/>
                </a:lnTo>
                <a:lnTo>
                  <a:pt x="0" y="0"/>
                </a:lnTo>
                <a:lnTo>
                  <a:pt x="1735137" y="0"/>
                </a:lnTo>
                <a:lnTo>
                  <a:pt x="17351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735137" y="623887"/>
                </a:lnTo>
                <a:lnTo>
                  <a:pt x="1735137" y="638175"/>
                </a:lnTo>
                <a:close/>
              </a:path>
              <a:path w="1735454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35454" h="638175">
                <a:moveTo>
                  <a:pt x="17065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06562" y="14287"/>
                </a:lnTo>
                <a:lnTo>
                  <a:pt x="1706562" y="28575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1706562" y="14287"/>
                </a:lnTo>
                <a:lnTo>
                  <a:pt x="1720850" y="28575"/>
                </a:lnTo>
                <a:lnTo>
                  <a:pt x="1735137" y="28575"/>
                </a:lnTo>
                <a:lnTo>
                  <a:pt x="1735137" y="609600"/>
                </a:lnTo>
                <a:lnTo>
                  <a:pt x="1720850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28575"/>
                </a:moveTo>
                <a:lnTo>
                  <a:pt x="1720850" y="28575"/>
                </a:lnTo>
                <a:lnTo>
                  <a:pt x="1706562" y="14287"/>
                </a:lnTo>
                <a:lnTo>
                  <a:pt x="1735137" y="14287"/>
                </a:lnTo>
                <a:lnTo>
                  <a:pt x="1735137" y="28575"/>
                </a:lnTo>
                <a:close/>
              </a:path>
              <a:path w="1735454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06562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623887"/>
                </a:moveTo>
                <a:lnTo>
                  <a:pt x="1706562" y="623887"/>
                </a:lnTo>
                <a:lnTo>
                  <a:pt x="1720850" y="609600"/>
                </a:lnTo>
                <a:lnTo>
                  <a:pt x="1735137" y="609600"/>
                </a:lnTo>
                <a:lnTo>
                  <a:pt x="1735137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80035" y="3468014"/>
            <a:ext cx="1080770" cy="886460"/>
          </a:xfrm>
          <a:custGeom>
            <a:avLst/>
            <a:gdLst/>
            <a:ahLst/>
            <a:cxnLst/>
            <a:rect l="l" t="t" r="r" b="b"/>
            <a:pathLst>
              <a:path w="1080770" h="886460">
                <a:moveTo>
                  <a:pt x="1062202" y="886282"/>
                </a:moveTo>
                <a:lnTo>
                  <a:pt x="0" y="22174"/>
                </a:lnTo>
                <a:lnTo>
                  <a:pt x="18034" y="0"/>
                </a:lnTo>
                <a:lnTo>
                  <a:pt x="1080236" y="864108"/>
                </a:lnTo>
                <a:lnTo>
                  <a:pt x="1062202" y="88628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323446" y="2951683"/>
            <a:ext cx="1022108" cy="3793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24450" y="4429125"/>
            <a:ext cx="1346200" cy="638175"/>
          </a:xfrm>
          <a:custGeom>
            <a:avLst/>
            <a:gdLst/>
            <a:ahLst/>
            <a:cxnLst/>
            <a:rect l="l" t="t" r="r" b="b"/>
            <a:pathLst>
              <a:path w="1346200" h="638175">
                <a:moveTo>
                  <a:pt x="1346200" y="638175"/>
                </a:moveTo>
                <a:lnTo>
                  <a:pt x="0" y="638175"/>
                </a:lnTo>
                <a:lnTo>
                  <a:pt x="0" y="0"/>
                </a:lnTo>
                <a:lnTo>
                  <a:pt x="1346200" y="0"/>
                </a:lnTo>
                <a:lnTo>
                  <a:pt x="134620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346200" y="623887"/>
                </a:lnTo>
                <a:lnTo>
                  <a:pt x="1346200" y="638175"/>
                </a:lnTo>
                <a:close/>
              </a:path>
              <a:path w="1346200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46200" h="638175">
                <a:moveTo>
                  <a:pt x="131762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17625" y="14287"/>
                </a:lnTo>
                <a:lnTo>
                  <a:pt x="1317625" y="28575"/>
                </a:lnTo>
                <a:close/>
              </a:path>
              <a:path w="1346200" h="638175">
                <a:moveTo>
                  <a:pt x="1317625" y="623887"/>
                </a:moveTo>
                <a:lnTo>
                  <a:pt x="1317625" y="14287"/>
                </a:lnTo>
                <a:lnTo>
                  <a:pt x="1331912" y="28575"/>
                </a:lnTo>
                <a:lnTo>
                  <a:pt x="1346200" y="28575"/>
                </a:lnTo>
                <a:lnTo>
                  <a:pt x="1346200" y="609600"/>
                </a:lnTo>
                <a:lnTo>
                  <a:pt x="1331912" y="609600"/>
                </a:lnTo>
                <a:lnTo>
                  <a:pt x="1317625" y="623887"/>
                </a:lnTo>
                <a:close/>
              </a:path>
              <a:path w="1346200" h="638175">
                <a:moveTo>
                  <a:pt x="1346200" y="28575"/>
                </a:moveTo>
                <a:lnTo>
                  <a:pt x="1331912" y="28575"/>
                </a:lnTo>
                <a:lnTo>
                  <a:pt x="1317625" y="14287"/>
                </a:lnTo>
                <a:lnTo>
                  <a:pt x="1346200" y="14287"/>
                </a:lnTo>
                <a:lnTo>
                  <a:pt x="1346200" y="28575"/>
                </a:lnTo>
                <a:close/>
              </a:path>
              <a:path w="1346200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346200" h="638175">
                <a:moveTo>
                  <a:pt x="1317625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317625" y="609600"/>
                </a:lnTo>
                <a:lnTo>
                  <a:pt x="1317625" y="623887"/>
                </a:lnTo>
                <a:close/>
              </a:path>
              <a:path w="1346200" h="638175">
                <a:moveTo>
                  <a:pt x="1346200" y="623887"/>
                </a:moveTo>
                <a:lnTo>
                  <a:pt x="1317625" y="623887"/>
                </a:lnTo>
                <a:lnTo>
                  <a:pt x="1331912" y="609600"/>
                </a:lnTo>
                <a:lnTo>
                  <a:pt x="1346200" y="609600"/>
                </a:lnTo>
                <a:lnTo>
                  <a:pt x="1346200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460693" y="4469663"/>
            <a:ext cx="854710" cy="345440"/>
          </a:xfrm>
          <a:custGeom>
            <a:avLst/>
            <a:gdLst/>
            <a:ahLst/>
            <a:cxnLst/>
            <a:rect l="l" t="t" r="r" b="b"/>
            <a:pathLst>
              <a:path w="854709" h="345439">
                <a:moveTo>
                  <a:pt x="10083" y="345262"/>
                </a:moveTo>
                <a:lnTo>
                  <a:pt x="0" y="318515"/>
                </a:lnTo>
                <a:lnTo>
                  <a:pt x="844372" y="0"/>
                </a:lnTo>
                <a:lnTo>
                  <a:pt x="854455" y="26746"/>
                </a:lnTo>
                <a:lnTo>
                  <a:pt x="10083" y="34526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23789" y="4551260"/>
            <a:ext cx="769365" cy="3483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73662" y="2832100"/>
            <a:ext cx="1735455" cy="638175"/>
          </a:xfrm>
          <a:custGeom>
            <a:avLst/>
            <a:gdLst/>
            <a:ahLst/>
            <a:cxnLst/>
            <a:rect l="l" t="t" r="r" b="b"/>
            <a:pathLst>
              <a:path w="1735454" h="638175">
                <a:moveTo>
                  <a:pt x="1735137" y="638175"/>
                </a:moveTo>
                <a:lnTo>
                  <a:pt x="0" y="638175"/>
                </a:lnTo>
                <a:lnTo>
                  <a:pt x="0" y="0"/>
                </a:lnTo>
                <a:lnTo>
                  <a:pt x="1735137" y="0"/>
                </a:lnTo>
                <a:lnTo>
                  <a:pt x="17351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735137" y="623887"/>
                </a:lnTo>
                <a:lnTo>
                  <a:pt x="1735137" y="638175"/>
                </a:lnTo>
                <a:close/>
              </a:path>
              <a:path w="1735454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35454" h="638175">
                <a:moveTo>
                  <a:pt x="17065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06562" y="14287"/>
                </a:lnTo>
                <a:lnTo>
                  <a:pt x="1706562" y="28575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1706562" y="14287"/>
                </a:lnTo>
                <a:lnTo>
                  <a:pt x="1720850" y="28575"/>
                </a:lnTo>
                <a:lnTo>
                  <a:pt x="1735137" y="28575"/>
                </a:lnTo>
                <a:lnTo>
                  <a:pt x="1735137" y="609600"/>
                </a:lnTo>
                <a:lnTo>
                  <a:pt x="1720850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28575"/>
                </a:moveTo>
                <a:lnTo>
                  <a:pt x="1720850" y="28575"/>
                </a:lnTo>
                <a:lnTo>
                  <a:pt x="1706562" y="14287"/>
                </a:lnTo>
                <a:lnTo>
                  <a:pt x="1735137" y="14287"/>
                </a:lnTo>
                <a:lnTo>
                  <a:pt x="1735137" y="28575"/>
                </a:lnTo>
                <a:close/>
              </a:path>
              <a:path w="1735454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06562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623887"/>
                </a:moveTo>
                <a:lnTo>
                  <a:pt x="1706562" y="623887"/>
                </a:lnTo>
                <a:lnTo>
                  <a:pt x="1720850" y="609600"/>
                </a:lnTo>
                <a:lnTo>
                  <a:pt x="1735137" y="609600"/>
                </a:lnTo>
                <a:lnTo>
                  <a:pt x="1735137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14558" y="3462324"/>
            <a:ext cx="1553845" cy="1458595"/>
          </a:xfrm>
          <a:custGeom>
            <a:avLst/>
            <a:gdLst/>
            <a:ahLst/>
            <a:cxnLst/>
            <a:rect l="l" t="t" r="r" b="b"/>
            <a:pathLst>
              <a:path w="1553845" h="1458595">
                <a:moveTo>
                  <a:pt x="19545" y="1457985"/>
                </a:moveTo>
                <a:lnTo>
                  <a:pt x="0" y="1437131"/>
                </a:lnTo>
                <a:lnTo>
                  <a:pt x="1534223" y="0"/>
                </a:lnTo>
                <a:lnTo>
                  <a:pt x="1553756" y="20853"/>
                </a:lnTo>
                <a:lnTo>
                  <a:pt x="19545" y="145798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17096" y="2945333"/>
            <a:ext cx="1022108" cy="3793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99362" y="2649537"/>
            <a:ext cx="1735455" cy="638175"/>
          </a:xfrm>
          <a:custGeom>
            <a:avLst/>
            <a:gdLst/>
            <a:ahLst/>
            <a:cxnLst/>
            <a:rect l="l" t="t" r="r" b="b"/>
            <a:pathLst>
              <a:path w="1735454" h="638175">
                <a:moveTo>
                  <a:pt x="1735137" y="638175"/>
                </a:moveTo>
                <a:lnTo>
                  <a:pt x="0" y="638175"/>
                </a:lnTo>
                <a:lnTo>
                  <a:pt x="0" y="0"/>
                </a:lnTo>
                <a:lnTo>
                  <a:pt x="1735137" y="0"/>
                </a:lnTo>
                <a:lnTo>
                  <a:pt x="173513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735137" y="623887"/>
                </a:lnTo>
                <a:lnTo>
                  <a:pt x="1735137" y="638175"/>
                </a:lnTo>
                <a:close/>
              </a:path>
              <a:path w="1735454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735454" h="638175">
                <a:moveTo>
                  <a:pt x="170656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06562" y="14287"/>
                </a:lnTo>
                <a:lnTo>
                  <a:pt x="1706562" y="28575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1706562" y="14287"/>
                </a:lnTo>
                <a:lnTo>
                  <a:pt x="1720850" y="28575"/>
                </a:lnTo>
                <a:lnTo>
                  <a:pt x="1735137" y="28575"/>
                </a:lnTo>
                <a:lnTo>
                  <a:pt x="1735137" y="609600"/>
                </a:lnTo>
                <a:lnTo>
                  <a:pt x="1720850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28575"/>
                </a:moveTo>
                <a:lnTo>
                  <a:pt x="1720850" y="28575"/>
                </a:lnTo>
                <a:lnTo>
                  <a:pt x="1706562" y="14287"/>
                </a:lnTo>
                <a:lnTo>
                  <a:pt x="1735137" y="14287"/>
                </a:lnTo>
                <a:lnTo>
                  <a:pt x="1735137" y="28575"/>
                </a:lnTo>
                <a:close/>
              </a:path>
              <a:path w="1735454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735454" h="638175">
                <a:moveTo>
                  <a:pt x="1706562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06562" y="609600"/>
                </a:lnTo>
                <a:lnTo>
                  <a:pt x="1706562" y="623887"/>
                </a:lnTo>
                <a:close/>
              </a:path>
              <a:path w="1735454" h="638175">
                <a:moveTo>
                  <a:pt x="1735137" y="623887"/>
                </a:moveTo>
                <a:lnTo>
                  <a:pt x="1706562" y="623887"/>
                </a:lnTo>
                <a:lnTo>
                  <a:pt x="1720850" y="609600"/>
                </a:lnTo>
                <a:lnTo>
                  <a:pt x="1735137" y="609600"/>
                </a:lnTo>
                <a:lnTo>
                  <a:pt x="1735137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79676" y="3286150"/>
            <a:ext cx="318770" cy="994410"/>
          </a:xfrm>
          <a:custGeom>
            <a:avLst/>
            <a:gdLst/>
            <a:ahLst/>
            <a:cxnLst/>
            <a:rect l="l" t="t" r="r" b="b"/>
            <a:pathLst>
              <a:path w="318770" h="994410">
                <a:moveTo>
                  <a:pt x="27406" y="994105"/>
                </a:moveTo>
                <a:lnTo>
                  <a:pt x="0" y="986027"/>
                </a:lnTo>
                <a:lnTo>
                  <a:pt x="290868" y="0"/>
                </a:lnTo>
                <a:lnTo>
                  <a:pt x="318274" y="8077"/>
                </a:lnTo>
                <a:lnTo>
                  <a:pt x="27406" y="99410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726794" y="2762415"/>
            <a:ext cx="1036701" cy="3925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246687" y="5661025"/>
            <a:ext cx="2301875" cy="638175"/>
          </a:xfrm>
          <a:custGeom>
            <a:avLst/>
            <a:gdLst/>
            <a:ahLst/>
            <a:cxnLst/>
            <a:rect l="l" t="t" r="r" b="b"/>
            <a:pathLst>
              <a:path w="2301875" h="638175">
                <a:moveTo>
                  <a:pt x="2301875" y="638175"/>
                </a:moveTo>
                <a:lnTo>
                  <a:pt x="0" y="638175"/>
                </a:lnTo>
                <a:lnTo>
                  <a:pt x="0" y="0"/>
                </a:lnTo>
                <a:lnTo>
                  <a:pt x="2301875" y="0"/>
                </a:lnTo>
                <a:lnTo>
                  <a:pt x="230187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2301875" y="623887"/>
                </a:lnTo>
                <a:lnTo>
                  <a:pt x="2301875" y="638175"/>
                </a:lnTo>
                <a:close/>
              </a:path>
              <a:path w="2301875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301875" h="638175">
                <a:moveTo>
                  <a:pt x="227330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273300" y="14287"/>
                </a:lnTo>
                <a:lnTo>
                  <a:pt x="2273300" y="28575"/>
                </a:lnTo>
                <a:close/>
              </a:path>
              <a:path w="2301875" h="638175">
                <a:moveTo>
                  <a:pt x="2273300" y="623887"/>
                </a:moveTo>
                <a:lnTo>
                  <a:pt x="2273300" y="14287"/>
                </a:lnTo>
                <a:lnTo>
                  <a:pt x="2287587" y="28575"/>
                </a:lnTo>
                <a:lnTo>
                  <a:pt x="2301875" y="28575"/>
                </a:lnTo>
                <a:lnTo>
                  <a:pt x="2301875" y="609600"/>
                </a:lnTo>
                <a:lnTo>
                  <a:pt x="2287587" y="609600"/>
                </a:lnTo>
                <a:lnTo>
                  <a:pt x="2273300" y="623887"/>
                </a:lnTo>
                <a:close/>
              </a:path>
              <a:path w="2301875" h="638175">
                <a:moveTo>
                  <a:pt x="2301875" y="28575"/>
                </a:moveTo>
                <a:lnTo>
                  <a:pt x="2287587" y="28575"/>
                </a:lnTo>
                <a:lnTo>
                  <a:pt x="2273300" y="14287"/>
                </a:lnTo>
                <a:lnTo>
                  <a:pt x="2301875" y="14287"/>
                </a:lnTo>
                <a:lnTo>
                  <a:pt x="2301875" y="28575"/>
                </a:lnTo>
                <a:close/>
              </a:path>
              <a:path w="2301875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2301875" h="638175">
                <a:moveTo>
                  <a:pt x="2273300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2273300" y="609600"/>
                </a:lnTo>
                <a:lnTo>
                  <a:pt x="2273300" y="623887"/>
                </a:lnTo>
                <a:close/>
              </a:path>
              <a:path w="2301875" h="638175">
                <a:moveTo>
                  <a:pt x="2301875" y="623887"/>
                </a:moveTo>
                <a:lnTo>
                  <a:pt x="2273300" y="623887"/>
                </a:lnTo>
                <a:lnTo>
                  <a:pt x="2287587" y="609600"/>
                </a:lnTo>
                <a:lnTo>
                  <a:pt x="2301875" y="609600"/>
                </a:lnTo>
                <a:lnTo>
                  <a:pt x="2301875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93942" y="5250319"/>
            <a:ext cx="1153160" cy="419100"/>
          </a:xfrm>
          <a:custGeom>
            <a:avLst/>
            <a:gdLst/>
            <a:ahLst/>
            <a:cxnLst/>
            <a:rect l="l" t="t" r="r" b="b"/>
            <a:pathLst>
              <a:path w="1153159" h="419100">
                <a:moveTo>
                  <a:pt x="9270" y="418693"/>
                </a:moveTo>
                <a:lnTo>
                  <a:pt x="0" y="391667"/>
                </a:lnTo>
                <a:lnTo>
                  <a:pt x="1143355" y="0"/>
                </a:lnTo>
                <a:lnTo>
                  <a:pt x="1152626" y="27025"/>
                </a:lnTo>
                <a:lnTo>
                  <a:pt x="9270" y="41869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74119" y="5779604"/>
            <a:ext cx="1732800" cy="3793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934325" y="5764212"/>
            <a:ext cx="992505" cy="919480"/>
          </a:xfrm>
          <a:custGeom>
            <a:avLst/>
            <a:gdLst/>
            <a:ahLst/>
            <a:cxnLst/>
            <a:rect l="l" t="t" r="r" b="b"/>
            <a:pathLst>
              <a:path w="992504" h="919479">
                <a:moveTo>
                  <a:pt x="992187" y="919162"/>
                </a:moveTo>
                <a:lnTo>
                  <a:pt x="0" y="919162"/>
                </a:lnTo>
                <a:lnTo>
                  <a:pt x="0" y="0"/>
                </a:lnTo>
                <a:lnTo>
                  <a:pt x="992187" y="0"/>
                </a:lnTo>
                <a:lnTo>
                  <a:pt x="99218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90587"/>
                </a:lnTo>
                <a:lnTo>
                  <a:pt x="14287" y="890587"/>
                </a:lnTo>
                <a:lnTo>
                  <a:pt x="28575" y="904875"/>
                </a:lnTo>
                <a:lnTo>
                  <a:pt x="992187" y="904875"/>
                </a:lnTo>
                <a:lnTo>
                  <a:pt x="992187" y="919162"/>
                </a:lnTo>
                <a:close/>
              </a:path>
              <a:path w="992504" h="91947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92504" h="919479">
                <a:moveTo>
                  <a:pt x="96361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63612" y="14287"/>
                </a:lnTo>
                <a:lnTo>
                  <a:pt x="963612" y="28575"/>
                </a:lnTo>
                <a:close/>
              </a:path>
              <a:path w="992504" h="919479">
                <a:moveTo>
                  <a:pt x="963612" y="904875"/>
                </a:moveTo>
                <a:lnTo>
                  <a:pt x="963612" y="14287"/>
                </a:lnTo>
                <a:lnTo>
                  <a:pt x="977900" y="28575"/>
                </a:lnTo>
                <a:lnTo>
                  <a:pt x="992187" y="28575"/>
                </a:lnTo>
                <a:lnTo>
                  <a:pt x="992187" y="890587"/>
                </a:lnTo>
                <a:lnTo>
                  <a:pt x="977900" y="890587"/>
                </a:lnTo>
                <a:lnTo>
                  <a:pt x="963612" y="904875"/>
                </a:lnTo>
                <a:close/>
              </a:path>
              <a:path w="992504" h="919479">
                <a:moveTo>
                  <a:pt x="992187" y="28575"/>
                </a:moveTo>
                <a:lnTo>
                  <a:pt x="977900" y="28575"/>
                </a:lnTo>
                <a:lnTo>
                  <a:pt x="963612" y="14287"/>
                </a:lnTo>
                <a:lnTo>
                  <a:pt x="992187" y="14287"/>
                </a:lnTo>
                <a:lnTo>
                  <a:pt x="992187" y="28575"/>
                </a:lnTo>
                <a:close/>
              </a:path>
              <a:path w="992504" h="919479">
                <a:moveTo>
                  <a:pt x="28575" y="904875"/>
                </a:moveTo>
                <a:lnTo>
                  <a:pt x="14287" y="890587"/>
                </a:lnTo>
                <a:lnTo>
                  <a:pt x="28575" y="890587"/>
                </a:lnTo>
                <a:lnTo>
                  <a:pt x="28575" y="904875"/>
                </a:lnTo>
                <a:close/>
              </a:path>
              <a:path w="992504" h="919479">
                <a:moveTo>
                  <a:pt x="963612" y="904875"/>
                </a:moveTo>
                <a:lnTo>
                  <a:pt x="28575" y="904875"/>
                </a:lnTo>
                <a:lnTo>
                  <a:pt x="28575" y="890587"/>
                </a:lnTo>
                <a:lnTo>
                  <a:pt x="963612" y="890587"/>
                </a:lnTo>
                <a:lnTo>
                  <a:pt x="963612" y="904875"/>
                </a:lnTo>
                <a:close/>
              </a:path>
              <a:path w="992504" h="919479">
                <a:moveTo>
                  <a:pt x="992187" y="904875"/>
                </a:moveTo>
                <a:lnTo>
                  <a:pt x="963612" y="904875"/>
                </a:lnTo>
                <a:lnTo>
                  <a:pt x="977900" y="890587"/>
                </a:lnTo>
                <a:lnTo>
                  <a:pt x="992187" y="890587"/>
                </a:lnTo>
                <a:lnTo>
                  <a:pt x="992187" y="90487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02542" y="5079149"/>
            <a:ext cx="0" cy="671195"/>
          </a:xfrm>
          <a:custGeom>
            <a:avLst/>
            <a:gdLst/>
            <a:ahLst/>
            <a:cxnLst/>
            <a:rect l="l" t="t" r="r" b="b"/>
            <a:pathLst>
              <a:path w="0" h="671195">
                <a:moveTo>
                  <a:pt x="0" y="0"/>
                </a:moveTo>
                <a:lnTo>
                  <a:pt x="0" y="671004"/>
                </a:lnTo>
              </a:path>
            </a:pathLst>
          </a:custGeom>
          <a:ln w="56756">
            <a:solidFill>
              <a:srgbClr val="66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074215" y="5786577"/>
            <a:ext cx="658761" cy="41560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68512" y="6247066"/>
            <a:ext cx="686142" cy="35161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447212" y="5753100"/>
            <a:ext cx="979805" cy="930275"/>
          </a:xfrm>
          <a:custGeom>
            <a:avLst/>
            <a:gdLst/>
            <a:ahLst/>
            <a:cxnLst/>
            <a:rect l="l" t="t" r="r" b="b"/>
            <a:pathLst>
              <a:path w="979804" h="930275">
                <a:moveTo>
                  <a:pt x="979487" y="930275"/>
                </a:moveTo>
                <a:lnTo>
                  <a:pt x="0" y="930275"/>
                </a:lnTo>
                <a:lnTo>
                  <a:pt x="0" y="0"/>
                </a:lnTo>
                <a:lnTo>
                  <a:pt x="979487" y="0"/>
                </a:lnTo>
                <a:lnTo>
                  <a:pt x="979487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901700"/>
                </a:lnTo>
                <a:lnTo>
                  <a:pt x="14287" y="901700"/>
                </a:lnTo>
                <a:lnTo>
                  <a:pt x="28575" y="915987"/>
                </a:lnTo>
                <a:lnTo>
                  <a:pt x="979487" y="915987"/>
                </a:lnTo>
                <a:lnTo>
                  <a:pt x="979487" y="930275"/>
                </a:lnTo>
                <a:close/>
              </a:path>
              <a:path w="979804" h="9302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979804" h="930275">
                <a:moveTo>
                  <a:pt x="950912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950912" y="14287"/>
                </a:lnTo>
                <a:lnTo>
                  <a:pt x="950912" y="28575"/>
                </a:lnTo>
                <a:close/>
              </a:path>
              <a:path w="979804" h="930275">
                <a:moveTo>
                  <a:pt x="950912" y="915987"/>
                </a:moveTo>
                <a:lnTo>
                  <a:pt x="950912" y="14287"/>
                </a:lnTo>
                <a:lnTo>
                  <a:pt x="965200" y="28575"/>
                </a:lnTo>
                <a:lnTo>
                  <a:pt x="979487" y="28575"/>
                </a:lnTo>
                <a:lnTo>
                  <a:pt x="979487" y="901700"/>
                </a:lnTo>
                <a:lnTo>
                  <a:pt x="965200" y="901700"/>
                </a:lnTo>
                <a:lnTo>
                  <a:pt x="950912" y="915987"/>
                </a:lnTo>
                <a:close/>
              </a:path>
              <a:path w="979804" h="930275">
                <a:moveTo>
                  <a:pt x="979487" y="28575"/>
                </a:moveTo>
                <a:lnTo>
                  <a:pt x="965200" y="28575"/>
                </a:lnTo>
                <a:lnTo>
                  <a:pt x="950912" y="14287"/>
                </a:lnTo>
                <a:lnTo>
                  <a:pt x="979487" y="14287"/>
                </a:lnTo>
                <a:lnTo>
                  <a:pt x="979487" y="28575"/>
                </a:lnTo>
                <a:close/>
              </a:path>
              <a:path w="979804" h="930275">
                <a:moveTo>
                  <a:pt x="28575" y="915987"/>
                </a:moveTo>
                <a:lnTo>
                  <a:pt x="14287" y="901700"/>
                </a:lnTo>
                <a:lnTo>
                  <a:pt x="28575" y="901700"/>
                </a:lnTo>
                <a:lnTo>
                  <a:pt x="28575" y="915987"/>
                </a:lnTo>
                <a:close/>
              </a:path>
              <a:path w="979804" h="930275">
                <a:moveTo>
                  <a:pt x="950912" y="915987"/>
                </a:moveTo>
                <a:lnTo>
                  <a:pt x="28575" y="915987"/>
                </a:lnTo>
                <a:lnTo>
                  <a:pt x="28575" y="901700"/>
                </a:lnTo>
                <a:lnTo>
                  <a:pt x="950912" y="901700"/>
                </a:lnTo>
                <a:lnTo>
                  <a:pt x="950912" y="915987"/>
                </a:lnTo>
                <a:close/>
              </a:path>
              <a:path w="979804" h="930275">
                <a:moveTo>
                  <a:pt x="979487" y="915987"/>
                </a:moveTo>
                <a:lnTo>
                  <a:pt x="950912" y="915987"/>
                </a:lnTo>
                <a:lnTo>
                  <a:pt x="965200" y="901700"/>
                </a:lnTo>
                <a:lnTo>
                  <a:pt x="979487" y="901700"/>
                </a:lnTo>
                <a:lnTo>
                  <a:pt x="979487" y="9159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538705" y="5048491"/>
            <a:ext cx="1363345" cy="702945"/>
          </a:xfrm>
          <a:custGeom>
            <a:avLst/>
            <a:gdLst/>
            <a:ahLst/>
            <a:cxnLst/>
            <a:rect l="l" t="t" r="r" b="b"/>
            <a:pathLst>
              <a:path w="1363345" h="702945">
                <a:moveTo>
                  <a:pt x="1350416" y="702360"/>
                </a:moveTo>
                <a:lnTo>
                  <a:pt x="0" y="25552"/>
                </a:lnTo>
                <a:lnTo>
                  <a:pt x="12801" y="0"/>
                </a:lnTo>
                <a:lnTo>
                  <a:pt x="1363217" y="676821"/>
                </a:lnTo>
                <a:lnTo>
                  <a:pt x="1350416" y="702360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587103" y="5781166"/>
            <a:ext cx="687920" cy="4156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581400" y="6241669"/>
            <a:ext cx="686142" cy="35161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513887" y="2503487"/>
            <a:ext cx="1821180" cy="638175"/>
          </a:xfrm>
          <a:custGeom>
            <a:avLst/>
            <a:gdLst/>
            <a:ahLst/>
            <a:cxnLst/>
            <a:rect l="l" t="t" r="r" b="b"/>
            <a:pathLst>
              <a:path w="1821179" h="638175">
                <a:moveTo>
                  <a:pt x="1820862" y="638175"/>
                </a:moveTo>
                <a:lnTo>
                  <a:pt x="0" y="638175"/>
                </a:lnTo>
                <a:lnTo>
                  <a:pt x="0" y="0"/>
                </a:lnTo>
                <a:lnTo>
                  <a:pt x="1820862" y="0"/>
                </a:lnTo>
                <a:lnTo>
                  <a:pt x="18208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609600"/>
                </a:lnTo>
                <a:lnTo>
                  <a:pt x="14287" y="609600"/>
                </a:lnTo>
                <a:lnTo>
                  <a:pt x="28575" y="623887"/>
                </a:lnTo>
                <a:lnTo>
                  <a:pt x="1820862" y="623887"/>
                </a:lnTo>
                <a:lnTo>
                  <a:pt x="1820862" y="638175"/>
                </a:lnTo>
                <a:close/>
              </a:path>
              <a:path w="1821179" h="6381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821179" h="638175">
                <a:moveTo>
                  <a:pt x="17922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792287" y="14287"/>
                </a:lnTo>
                <a:lnTo>
                  <a:pt x="1792287" y="28575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1792287" y="14287"/>
                </a:lnTo>
                <a:lnTo>
                  <a:pt x="1806575" y="28575"/>
                </a:lnTo>
                <a:lnTo>
                  <a:pt x="1820862" y="28575"/>
                </a:lnTo>
                <a:lnTo>
                  <a:pt x="1820862" y="609600"/>
                </a:lnTo>
                <a:lnTo>
                  <a:pt x="1806575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28575"/>
                </a:moveTo>
                <a:lnTo>
                  <a:pt x="1806575" y="28575"/>
                </a:lnTo>
                <a:lnTo>
                  <a:pt x="1792287" y="14287"/>
                </a:lnTo>
                <a:lnTo>
                  <a:pt x="1820862" y="14287"/>
                </a:lnTo>
                <a:lnTo>
                  <a:pt x="1820862" y="28575"/>
                </a:lnTo>
                <a:close/>
              </a:path>
              <a:path w="1821179" h="638175">
                <a:moveTo>
                  <a:pt x="28575" y="623887"/>
                </a:moveTo>
                <a:lnTo>
                  <a:pt x="14287" y="609600"/>
                </a:lnTo>
                <a:lnTo>
                  <a:pt x="28575" y="609600"/>
                </a:lnTo>
                <a:lnTo>
                  <a:pt x="28575" y="623887"/>
                </a:lnTo>
                <a:close/>
              </a:path>
              <a:path w="1821179" h="638175">
                <a:moveTo>
                  <a:pt x="1792287" y="623887"/>
                </a:moveTo>
                <a:lnTo>
                  <a:pt x="28575" y="623887"/>
                </a:lnTo>
                <a:lnTo>
                  <a:pt x="28575" y="609600"/>
                </a:lnTo>
                <a:lnTo>
                  <a:pt x="1792287" y="609600"/>
                </a:lnTo>
                <a:lnTo>
                  <a:pt x="1792287" y="623887"/>
                </a:lnTo>
                <a:close/>
              </a:path>
              <a:path w="1821179" h="638175">
                <a:moveTo>
                  <a:pt x="1820862" y="623887"/>
                </a:moveTo>
                <a:lnTo>
                  <a:pt x="1792287" y="623887"/>
                </a:lnTo>
                <a:lnTo>
                  <a:pt x="1806575" y="609600"/>
                </a:lnTo>
                <a:lnTo>
                  <a:pt x="1820862" y="609600"/>
                </a:lnTo>
                <a:lnTo>
                  <a:pt x="1820862" y="623887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531199" y="3121444"/>
            <a:ext cx="1023619" cy="946150"/>
          </a:xfrm>
          <a:custGeom>
            <a:avLst/>
            <a:gdLst/>
            <a:ahLst/>
            <a:cxnLst/>
            <a:rect l="l" t="t" r="r" b="b"/>
            <a:pathLst>
              <a:path w="1023620" h="946150">
                <a:moveTo>
                  <a:pt x="19354" y="946073"/>
                </a:moveTo>
                <a:lnTo>
                  <a:pt x="0" y="925067"/>
                </a:lnTo>
                <a:lnTo>
                  <a:pt x="1004100" y="0"/>
                </a:lnTo>
                <a:lnTo>
                  <a:pt x="1023467" y="21005"/>
                </a:lnTo>
                <a:lnTo>
                  <a:pt x="19354" y="94607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651276" y="2634869"/>
            <a:ext cx="1412481" cy="35017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672637" y="3448050"/>
            <a:ext cx="1363980" cy="876300"/>
          </a:xfrm>
          <a:custGeom>
            <a:avLst/>
            <a:gdLst/>
            <a:ahLst/>
            <a:cxnLst/>
            <a:rect l="l" t="t" r="r" b="b"/>
            <a:pathLst>
              <a:path w="1363979" h="876300">
                <a:moveTo>
                  <a:pt x="1363662" y="876300"/>
                </a:moveTo>
                <a:lnTo>
                  <a:pt x="0" y="876300"/>
                </a:lnTo>
                <a:lnTo>
                  <a:pt x="0" y="0"/>
                </a:lnTo>
                <a:lnTo>
                  <a:pt x="1363662" y="0"/>
                </a:lnTo>
                <a:lnTo>
                  <a:pt x="13636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847725"/>
                </a:lnTo>
                <a:lnTo>
                  <a:pt x="14287" y="847725"/>
                </a:lnTo>
                <a:lnTo>
                  <a:pt x="28575" y="862012"/>
                </a:lnTo>
                <a:lnTo>
                  <a:pt x="1363662" y="862012"/>
                </a:lnTo>
                <a:lnTo>
                  <a:pt x="1363662" y="876300"/>
                </a:lnTo>
                <a:close/>
              </a:path>
              <a:path w="1363979" h="8763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363979" h="876300">
                <a:moveTo>
                  <a:pt x="13350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335087" y="14287"/>
                </a:lnTo>
                <a:lnTo>
                  <a:pt x="1335087" y="28575"/>
                </a:lnTo>
                <a:close/>
              </a:path>
              <a:path w="1363979" h="876300">
                <a:moveTo>
                  <a:pt x="1335087" y="862012"/>
                </a:moveTo>
                <a:lnTo>
                  <a:pt x="1335087" y="14287"/>
                </a:lnTo>
                <a:lnTo>
                  <a:pt x="1349375" y="28575"/>
                </a:lnTo>
                <a:lnTo>
                  <a:pt x="1363662" y="28575"/>
                </a:lnTo>
                <a:lnTo>
                  <a:pt x="1363662" y="847725"/>
                </a:lnTo>
                <a:lnTo>
                  <a:pt x="1349375" y="847725"/>
                </a:lnTo>
                <a:lnTo>
                  <a:pt x="1335087" y="862012"/>
                </a:lnTo>
                <a:close/>
              </a:path>
              <a:path w="1363979" h="876300">
                <a:moveTo>
                  <a:pt x="1363662" y="28575"/>
                </a:moveTo>
                <a:lnTo>
                  <a:pt x="1349375" y="28575"/>
                </a:lnTo>
                <a:lnTo>
                  <a:pt x="1335087" y="14287"/>
                </a:lnTo>
                <a:lnTo>
                  <a:pt x="1363662" y="14287"/>
                </a:lnTo>
                <a:lnTo>
                  <a:pt x="1363662" y="28575"/>
                </a:lnTo>
                <a:close/>
              </a:path>
              <a:path w="1363979" h="876300">
                <a:moveTo>
                  <a:pt x="28575" y="862012"/>
                </a:moveTo>
                <a:lnTo>
                  <a:pt x="14287" y="847725"/>
                </a:lnTo>
                <a:lnTo>
                  <a:pt x="28575" y="847725"/>
                </a:lnTo>
                <a:lnTo>
                  <a:pt x="28575" y="862012"/>
                </a:lnTo>
                <a:close/>
              </a:path>
              <a:path w="1363979" h="876300">
                <a:moveTo>
                  <a:pt x="1335087" y="862012"/>
                </a:moveTo>
                <a:lnTo>
                  <a:pt x="28575" y="862012"/>
                </a:lnTo>
                <a:lnTo>
                  <a:pt x="28575" y="847725"/>
                </a:lnTo>
                <a:lnTo>
                  <a:pt x="1335087" y="847725"/>
                </a:lnTo>
                <a:lnTo>
                  <a:pt x="1335087" y="862012"/>
                </a:lnTo>
                <a:close/>
              </a:path>
              <a:path w="1363979" h="876300">
                <a:moveTo>
                  <a:pt x="1363662" y="862012"/>
                </a:moveTo>
                <a:lnTo>
                  <a:pt x="1335087" y="862012"/>
                </a:lnTo>
                <a:lnTo>
                  <a:pt x="1349375" y="847725"/>
                </a:lnTo>
                <a:lnTo>
                  <a:pt x="1363662" y="847725"/>
                </a:lnTo>
                <a:lnTo>
                  <a:pt x="1363662" y="862012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618410" y="4307497"/>
            <a:ext cx="1054100" cy="341630"/>
          </a:xfrm>
          <a:custGeom>
            <a:avLst/>
            <a:gdLst/>
            <a:ahLst/>
            <a:cxnLst/>
            <a:rect l="l" t="t" r="r" b="b"/>
            <a:pathLst>
              <a:path w="1054100" h="341629">
                <a:moveTo>
                  <a:pt x="8229" y="341401"/>
                </a:moveTo>
                <a:lnTo>
                  <a:pt x="0" y="314032"/>
                </a:lnTo>
                <a:lnTo>
                  <a:pt x="1045451" y="0"/>
                </a:lnTo>
                <a:lnTo>
                  <a:pt x="1053668" y="27368"/>
                </a:lnTo>
                <a:lnTo>
                  <a:pt x="8229" y="341401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826040" y="3470871"/>
            <a:ext cx="680808" cy="37009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795091" y="3898290"/>
            <a:ext cx="1043089" cy="36761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i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i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79548" y="1938527"/>
            <a:ext cx="7402068" cy="4773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68560" y="1006335"/>
            <a:ext cx="2715755" cy="6294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7194" y="3627461"/>
            <a:ext cx="1269235" cy="622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29006" y="2189301"/>
            <a:ext cx="9262982" cy="22564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34111" y="4583182"/>
            <a:ext cx="8957945" cy="0"/>
          </a:xfrm>
          <a:custGeom>
            <a:avLst/>
            <a:gdLst/>
            <a:ahLst/>
            <a:cxnLst/>
            <a:rect l="l" t="t" r="r" b="b"/>
            <a:pathLst>
              <a:path w="8957945" h="0">
                <a:moveTo>
                  <a:pt x="0" y="0"/>
                </a:moveTo>
                <a:lnTo>
                  <a:pt x="8957889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83282" y="463633"/>
            <a:ext cx="4805680" cy="11252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0" b="0">
                <a:solidFill>
                  <a:srgbClr val="387CB3"/>
                </a:solidFill>
                <a:latin typeface="宋体"/>
                <a:cs typeface="宋体"/>
              </a:rPr>
              <a:t>皋</a:t>
            </a:r>
            <a:r>
              <a:rPr dirty="0" sz="3000" spc="245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145" b="0">
                <a:solidFill>
                  <a:srgbClr val="387CB3"/>
                </a:solidFill>
                <a:latin typeface="宋体"/>
                <a:cs typeface="宋体"/>
              </a:rPr>
              <a:t>国</a:t>
            </a:r>
            <a:r>
              <a:rPr dirty="0" sz="3000" spc="-210" b="0">
                <a:solidFill>
                  <a:srgbClr val="387CB3"/>
                </a:solidFill>
                <a:latin typeface="宋体"/>
                <a:cs typeface="宋体"/>
              </a:rPr>
              <a:t>家中小学网络今</a:t>
            </a:r>
            <a:r>
              <a:rPr dirty="0" sz="3000" spc="-520" b="0">
                <a:solidFill>
                  <a:srgbClr val="387CB3"/>
                </a:solidFill>
                <a:latin typeface="宋体"/>
                <a:cs typeface="宋体"/>
              </a:rPr>
              <a:t> </a:t>
            </a:r>
            <a:r>
              <a:rPr dirty="0" sz="3000" spc="-355" b="0">
                <a:solidFill>
                  <a:srgbClr val="387CB3"/>
                </a:solidFill>
                <a:latin typeface="宋体"/>
                <a:cs typeface="宋体"/>
              </a:rPr>
              <a:t>廿</a:t>
            </a:r>
            <a:r>
              <a:rPr dirty="0" sz="5600" spc="-1605" b="0">
                <a:solidFill>
                  <a:srgbClr val="387CB3"/>
                </a:solidFill>
                <a:latin typeface="Arial"/>
                <a:cs typeface="Arial"/>
              </a:rPr>
              <a:t>P</a:t>
            </a:r>
            <a:r>
              <a:rPr dirty="0" sz="6200" spc="-2915" b="0">
                <a:solidFill>
                  <a:srgbClr val="387CB3"/>
                </a:solidFill>
                <a:latin typeface="宋体"/>
                <a:cs typeface="宋体"/>
              </a:rPr>
              <a:t>生</a:t>
            </a:r>
            <a:r>
              <a:rPr dirty="0" sz="7200" spc="-940" b="0">
                <a:solidFill>
                  <a:srgbClr val="387CB3"/>
                </a:solidFill>
                <a:latin typeface="Times New Roman"/>
                <a:cs typeface="Times New Roman"/>
              </a:rPr>
              <a:t>t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2025-04-20T12:39:07Z</dcterms:created>
  <dcterms:modified xsi:type="dcterms:W3CDTF">2025-04-20T12:39:07Z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