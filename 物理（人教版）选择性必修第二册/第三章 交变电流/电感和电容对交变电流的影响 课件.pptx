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85607" y="2460942"/>
            <a:ext cx="8820785" cy="634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6167" y="2287587"/>
            <a:ext cx="10019665" cy="3034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04720">
              <a:lnSpc>
                <a:spcPct val="100000"/>
              </a:lnSpc>
              <a:spcBef>
                <a:spcPts val="95"/>
              </a:spcBef>
            </a:pPr>
            <a:r>
              <a:rPr dirty="0"/>
              <a:t>电感和电容对交变电流的影</a:t>
            </a:r>
            <a:r>
              <a:rPr dirty="0" spc="-5"/>
              <a:t>响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141152" y="3585349"/>
          <a:ext cx="7404734" cy="852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7110"/>
                <a:gridCol w="615950"/>
                <a:gridCol w="3242944"/>
              </a:tblGrid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ts val="284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主讲人：王朝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祥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284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284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校：北京市第八十中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643890" algn="l"/>
                        </a:tabLst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	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级：高二下学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期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9366504" y="1877567"/>
            <a:ext cx="2055876" cy="1900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5740" y="1197863"/>
            <a:ext cx="4320540" cy="49926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26508" y="1505711"/>
            <a:ext cx="3838955" cy="27066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97318" y="1725612"/>
            <a:ext cx="523240" cy="457834"/>
          </a:xfrm>
          <a:custGeom>
            <a:avLst/>
            <a:gdLst/>
            <a:ahLst/>
            <a:cxnLst/>
            <a:rect l="l" t="t" r="r" b="b"/>
            <a:pathLst>
              <a:path w="523240" h="457835">
                <a:moveTo>
                  <a:pt x="456868" y="40443"/>
                </a:moveTo>
                <a:lnTo>
                  <a:pt x="440194" y="21285"/>
                </a:lnTo>
                <a:lnTo>
                  <a:pt x="522681" y="0"/>
                </a:lnTo>
                <a:lnTo>
                  <a:pt x="511166" y="27939"/>
                </a:lnTo>
                <a:lnTo>
                  <a:pt x="471233" y="27939"/>
                </a:lnTo>
                <a:lnTo>
                  <a:pt x="456868" y="40443"/>
                </a:lnTo>
                <a:close/>
              </a:path>
              <a:path w="523240" h="457835">
                <a:moveTo>
                  <a:pt x="473545" y="59605"/>
                </a:moveTo>
                <a:lnTo>
                  <a:pt x="456868" y="40443"/>
                </a:lnTo>
                <a:lnTo>
                  <a:pt x="471233" y="27939"/>
                </a:lnTo>
                <a:lnTo>
                  <a:pt x="487908" y="47104"/>
                </a:lnTo>
                <a:lnTo>
                  <a:pt x="473545" y="59605"/>
                </a:lnTo>
                <a:close/>
              </a:path>
              <a:path w="523240" h="457835">
                <a:moveTo>
                  <a:pt x="490219" y="78765"/>
                </a:moveTo>
                <a:lnTo>
                  <a:pt x="473545" y="59605"/>
                </a:lnTo>
                <a:lnTo>
                  <a:pt x="487908" y="47104"/>
                </a:lnTo>
                <a:lnTo>
                  <a:pt x="471233" y="27939"/>
                </a:lnTo>
                <a:lnTo>
                  <a:pt x="511166" y="27939"/>
                </a:lnTo>
                <a:lnTo>
                  <a:pt x="490219" y="78765"/>
                </a:lnTo>
                <a:close/>
              </a:path>
              <a:path w="523240" h="457835">
                <a:moveTo>
                  <a:pt x="16662" y="457250"/>
                </a:moveTo>
                <a:lnTo>
                  <a:pt x="0" y="438099"/>
                </a:lnTo>
                <a:lnTo>
                  <a:pt x="456868" y="40443"/>
                </a:lnTo>
                <a:lnTo>
                  <a:pt x="473545" y="59605"/>
                </a:lnTo>
                <a:lnTo>
                  <a:pt x="16662" y="45725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054251" y="5652795"/>
            <a:ext cx="368935" cy="0"/>
          </a:xfrm>
          <a:custGeom>
            <a:avLst/>
            <a:gdLst/>
            <a:ahLst/>
            <a:cxnLst/>
            <a:rect l="l" t="t" r="r" b="b"/>
            <a:pathLst>
              <a:path w="368934" h="0">
                <a:moveTo>
                  <a:pt x="0" y="0"/>
                </a:moveTo>
                <a:lnTo>
                  <a:pt x="368693" y="0"/>
                </a:lnTo>
              </a:path>
            </a:pathLst>
          </a:custGeom>
          <a:ln w="212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101888" y="5654382"/>
            <a:ext cx="287655" cy="5403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50" spc="15" i="1">
                <a:latin typeface="Times New Roman"/>
                <a:cs typeface="Times New Roman"/>
              </a:rPr>
              <a:t>R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5815" y="4311802"/>
            <a:ext cx="4902835" cy="152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微软雅黑"/>
                <a:cs typeface="微软雅黑"/>
              </a:rPr>
              <a:t>电阻对交变电流有阻碍作</a:t>
            </a:r>
            <a:r>
              <a:rPr dirty="0" sz="3200" spc="5">
                <a:latin typeface="微软雅黑"/>
                <a:cs typeface="微软雅黑"/>
              </a:rPr>
              <a:t>用</a:t>
            </a:r>
            <a:endParaRPr sz="3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400">
              <a:latin typeface="Times New Roman"/>
              <a:cs typeface="Times New Roman"/>
            </a:endParaRPr>
          </a:p>
          <a:p>
            <a:pPr marL="584835">
              <a:lnSpc>
                <a:spcPct val="100000"/>
              </a:lnSpc>
              <a:tabLst>
                <a:tab pos="2807970" algn="l"/>
              </a:tabLst>
            </a:pPr>
            <a:r>
              <a:rPr dirty="0" sz="3200">
                <a:latin typeface="微软雅黑"/>
                <a:cs typeface="微软雅黑"/>
              </a:rPr>
              <a:t>纯电阻电</a:t>
            </a:r>
            <a:r>
              <a:rPr dirty="0" sz="3200" spc="5">
                <a:latin typeface="微软雅黑"/>
                <a:cs typeface="微软雅黑"/>
              </a:rPr>
              <a:t>路	</a:t>
            </a:r>
            <a:r>
              <a:rPr dirty="0" baseline="-3316" sz="5025" spc="7" i="1">
                <a:latin typeface="Times New Roman"/>
                <a:cs typeface="Times New Roman"/>
              </a:rPr>
              <a:t>I </a:t>
            </a:r>
            <a:r>
              <a:rPr dirty="0" baseline="-3316" sz="5025" spc="22">
                <a:latin typeface="Symbol"/>
                <a:cs typeface="Symbol"/>
              </a:rPr>
              <a:t></a:t>
            </a:r>
            <a:r>
              <a:rPr dirty="0" baseline="-3316" sz="5025" spc="254">
                <a:latin typeface="Times New Roman"/>
                <a:cs typeface="Times New Roman"/>
              </a:rPr>
              <a:t> </a:t>
            </a:r>
            <a:r>
              <a:rPr dirty="0" baseline="32338" sz="5025" spc="30" i="1">
                <a:latin typeface="Times New Roman"/>
                <a:cs typeface="Times New Roman"/>
              </a:rPr>
              <a:t>U</a:t>
            </a:r>
            <a:endParaRPr baseline="32338" sz="502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8152" y="952667"/>
            <a:ext cx="5848350" cy="111823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175"/>
              </a:spcBef>
            </a:pPr>
            <a:r>
              <a:rPr dirty="0" sz="3200" spc="-5">
                <a:latin typeface="微软雅黑"/>
                <a:cs typeface="微软雅黑"/>
              </a:rPr>
              <a:t>一.电感器对交变电流的阻碍作</a:t>
            </a:r>
            <a:r>
              <a:rPr dirty="0" sz="3200" spc="5">
                <a:latin typeface="微软雅黑"/>
                <a:cs typeface="微软雅黑"/>
              </a:rPr>
              <a:t>用</a:t>
            </a:r>
            <a:endParaRPr sz="3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400">
                <a:latin typeface="微软雅黑"/>
                <a:cs typeface="微软雅黑"/>
              </a:rPr>
              <a:t>实验</a:t>
            </a:r>
            <a:r>
              <a:rPr dirty="0" sz="2400" spc="-5">
                <a:latin typeface="微软雅黑"/>
                <a:cs typeface="微软雅黑"/>
              </a:rPr>
              <a:t>1：</a:t>
            </a:r>
            <a:r>
              <a:rPr dirty="0" u="heavy" sz="2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探究电感器对交变电流的影响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38527" y="2263139"/>
            <a:ext cx="7158228" cy="2473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58177" y="4724400"/>
            <a:ext cx="7115175" cy="1503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结论：体验电感器对交变电流的阻碍作用</a:t>
            </a:r>
            <a:r>
              <a:rPr dirty="0" sz="2400" spc="-5">
                <a:latin typeface="微软雅黑"/>
                <a:cs typeface="微软雅黑"/>
              </a:rPr>
              <a:t>——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感</a:t>
            </a:r>
            <a:r>
              <a:rPr dirty="0" sz="2400" spc="355" b="1">
                <a:solidFill>
                  <a:srgbClr val="001F5F"/>
                </a:solidFill>
                <a:latin typeface="微软雅黑"/>
                <a:cs typeface="微软雅黑"/>
              </a:rPr>
              <a:t>抗</a:t>
            </a:r>
            <a:r>
              <a:rPr dirty="0" sz="2400" i="1">
                <a:latin typeface="Times New Roman"/>
                <a:cs typeface="Times New Roman"/>
              </a:rPr>
              <a:t>Z</a:t>
            </a:r>
            <a:r>
              <a:rPr dirty="0" baseline="-17921" sz="2325">
                <a:latin typeface="Times New Roman"/>
                <a:cs typeface="Times New Roman"/>
              </a:rPr>
              <a:t>L </a:t>
            </a:r>
            <a:r>
              <a:rPr dirty="0" sz="2400">
                <a:latin typeface="微软雅黑"/>
                <a:cs typeface="微软雅黑"/>
              </a:rPr>
              <a:t>思考：感抗是怎么产生的？</a:t>
            </a:r>
            <a:endParaRPr sz="2400">
              <a:latin typeface="微软雅黑"/>
              <a:cs typeface="微软雅黑"/>
            </a:endParaRPr>
          </a:p>
          <a:p>
            <a:pPr marL="914400">
              <a:lnSpc>
                <a:spcPct val="100000"/>
              </a:lnSpc>
              <a:spcBef>
                <a:spcPts val="600"/>
              </a:spcBef>
            </a:pPr>
            <a:r>
              <a:rPr dirty="0" sz="2400">
                <a:latin typeface="微软雅黑"/>
                <a:cs typeface="微软雅黑"/>
              </a:rPr>
              <a:t>影响感抗的因素有哪些？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6937247" y="2621279"/>
            <a:ext cx="2660904" cy="22341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7031" y="2577083"/>
            <a:ext cx="2616708" cy="1187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44526" y="3289262"/>
            <a:ext cx="497840" cy="0"/>
          </a:xfrm>
          <a:custGeom>
            <a:avLst/>
            <a:gdLst/>
            <a:ahLst/>
            <a:cxnLst/>
            <a:rect l="l" t="t" r="r" b="b"/>
            <a:pathLst>
              <a:path w="497840" h="0">
                <a:moveTo>
                  <a:pt x="0" y="0"/>
                </a:moveTo>
                <a:lnTo>
                  <a:pt x="497344" y="0"/>
                </a:lnTo>
              </a:path>
            </a:pathLst>
          </a:custGeom>
          <a:ln w="204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63176" y="3267058"/>
            <a:ext cx="446405" cy="549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400" spc="-615" i="1">
                <a:latin typeface="Symbol"/>
                <a:cs typeface="Symbol"/>
              </a:rPr>
              <a:t></a:t>
            </a:r>
            <a:r>
              <a:rPr dirty="0" sz="3250" spc="-615" i="1">
                <a:latin typeface="Times New Roman"/>
                <a:cs typeface="Times New Roman"/>
              </a:rPr>
              <a:t>t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4631" y="4425696"/>
            <a:ext cx="2933699" cy="22204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37432" y="5516879"/>
            <a:ext cx="5201920" cy="1153795"/>
          </a:xfrm>
          <a:custGeom>
            <a:avLst/>
            <a:gdLst/>
            <a:ahLst/>
            <a:cxnLst/>
            <a:rect l="l" t="t" r="r" b="b"/>
            <a:pathLst>
              <a:path w="5201920" h="1153795">
                <a:moveTo>
                  <a:pt x="5009388" y="1153668"/>
                </a:moveTo>
                <a:lnTo>
                  <a:pt x="192023" y="1153668"/>
                </a:lnTo>
                <a:lnTo>
                  <a:pt x="147877" y="1148635"/>
                </a:lnTo>
                <a:lnTo>
                  <a:pt x="107368" y="1134202"/>
                </a:lnTo>
                <a:lnTo>
                  <a:pt x="71657" y="1111529"/>
                </a:lnTo>
                <a:lnTo>
                  <a:pt x="41905" y="1081776"/>
                </a:lnTo>
                <a:lnTo>
                  <a:pt x="19271" y="1046104"/>
                </a:lnTo>
                <a:lnTo>
                  <a:pt x="4915" y="1005673"/>
                </a:lnTo>
                <a:lnTo>
                  <a:pt x="0" y="961644"/>
                </a:lnTo>
                <a:lnTo>
                  <a:pt x="0" y="192024"/>
                </a:lnTo>
                <a:lnTo>
                  <a:pt x="4915" y="147924"/>
                </a:lnTo>
                <a:lnTo>
                  <a:pt x="19271" y="107446"/>
                </a:lnTo>
                <a:lnTo>
                  <a:pt x="41905" y="71751"/>
                </a:lnTo>
                <a:lnTo>
                  <a:pt x="71657" y="41998"/>
                </a:lnTo>
                <a:lnTo>
                  <a:pt x="107368" y="19348"/>
                </a:lnTo>
                <a:lnTo>
                  <a:pt x="147877" y="4962"/>
                </a:lnTo>
                <a:lnTo>
                  <a:pt x="192023" y="0"/>
                </a:lnTo>
                <a:lnTo>
                  <a:pt x="5009388" y="0"/>
                </a:lnTo>
                <a:lnTo>
                  <a:pt x="5053511" y="4962"/>
                </a:lnTo>
                <a:lnTo>
                  <a:pt x="5094004" y="19348"/>
                </a:lnTo>
                <a:lnTo>
                  <a:pt x="5129707" y="41998"/>
                </a:lnTo>
                <a:lnTo>
                  <a:pt x="5159460" y="71751"/>
                </a:lnTo>
                <a:lnTo>
                  <a:pt x="5182102" y="107446"/>
                </a:lnTo>
                <a:lnTo>
                  <a:pt x="5196472" y="147924"/>
                </a:lnTo>
                <a:lnTo>
                  <a:pt x="5201412" y="192024"/>
                </a:lnTo>
                <a:lnTo>
                  <a:pt x="5201412" y="961644"/>
                </a:lnTo>
                <a:lnTo>
                  <a:pt x="5196472" y="1005673"/>
                </a:lnTo>
                <a:lnTo>
                  <a:pt x="5182102" y="1046104"/>
                </a:lnTo>
                <a:lnTo>
                  <a:pt x="5159460" y="1081776"/>
                </a:lnTo>
                <a:lnTo>
                  <a:pt x="5129707" y="1111529"/>
                </a:lnTo>
                <a:lnTo>
                  <a:pt x="5094004" y="1134202"/>
                </a:lnTo>
                <a:lnTo>
                  <a:pt x="5053511" y="1148635"/>
                </a:lnTo>
                <a:lnTo>
                  <a:pt x="5009388" y="1153668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30701" y="5510212"/>
            <a:ext cx="5215255" cy="1165860"/>
          </a:xfrm>
          <a:custGeom>
            <a:avLst/>
            <a:gdLst/>
            <a:ahLst/>
            <a:cxnLst/>
            <a:rect l="l" t="t" r="r" b="b"/>
            <a:pathLst>
              <a:path w="5215255" h="1165859">
                <a:moveTo>
                  <a:pt x="5026431" y="1165859"/>
                </a:moveTo>
                <a:lnTo>
                  <a:pt x="188379" y="1165859"/>
                </a:lnTo>
                <a:lnTo>
                  <a:pt x="158597" y="1162050"/>
                </a:lnTo>
                <a:lnTo>
                  <a:pt x="130314" y="1154429"/>
                </a:lnTo>
                <a:lnTo>
                  <a:pt x="121297" y="1150620"/>
                </a:lnTo>
                <a:lnTo>
                  <a:pt x="112496" y="1146809"/>
                </a:lnTo>
                <a:lnTo>
                  <a:pt x="103924" y="1141729"/>
                </a:lnTo>
                <a:lnTo>
                  <a:pt x="95605" y="1137920"/>
                </a:lnTo>
                <a:lnTo>
                  <a:pt x="87541" y="1132840"/>
                </a:lnTo>
                <a:lnTo>
                  <a:pt x="79743" y="1126490"/>
                </a:lnTo>
                <a:lnTo>
                  <a:pt x="72237" y="1121409"/>
                </a:lnTo>
                <a:lnTo>
                  <a:pt x="65036" y="1115059"/>
                </a:lnTo>
                <a:lnTo>
                  <a:pt x="58140" y="1107440"/>
                </a:lnTo>
                <a:lnTo>
                  <a:pt x="51562" y="1101090"/>
                </a:lnTo>
                <a:lnTo>
                  <a:pt x="28701" y="1070609"/>
                </a:lnTo>
                <a:lnTo>
                  <a:pt x="23926" y="1061720"/>
                </a:lnTo>
                <a:lnTo>
                  <a:pt x="19532" y="1054100"/>
                </a:lnTo>
                <a:lnTo>
                  <a:pt x="6184" y="1017270"/>
                </a:lnTo>
                <a:lnTo>
                  <a:pt x="190" y="977900"/>
                </a:lnTo>
                <a:lnTo>
                  <a:pt x="0" y="972820"/>
                </a:lnTo>
                <a:lnTo>
                  <a:pt x="0" y="193039"/>
                </a:lnTo>
                <a:lnTo>
                  <a:pt x="6184" y="148589"/>
                </a:lnTo>
                <a:lnTo>
                  <a:pt x="19532" y="111760"/>
                </a:lnTo>
                <a:lnTo>
                  <a:pt x="28701" y="95250"/>
                </a:lnTo>
                <a:lnTo>
                  <a:pt x="33870" y="86360"/>
                </a:lnTo>
                <a:lnTo>
                  <a:pt x="39408" y="78739"/>
                </a:lnTo>
                <a:lnTo>
                  <a:pt x="45313" y="71120"/>
                </a:lnTo>
                <a:lnTo>
                  <a:pt x="51562" y="64770"/>
                </a:lnTo>
                <a:lnTo>
                  <a:pt x="58140" y="57150"/>
                </a:lnTo>
                <a:lnTo>
                  <a:pt x="65036" y="50800"/>
                </a:lnTo>
                <a:lnTo>
                  <a:pt x="72237" y="44450"/>
                </a:lnTo>
                <a:lnTo>
                  <a:pt x="79743" y="39370"/>
                </a:lnTo>
                <a:lnTo>
                  <a:pt x="87541" y="33020"/>
                </a:lnTo>
                <a:lnTo>
                  <a:pt x="121297" y="15239"/>
                </a:lnTo>
                <a:lnTo>
                  <a:pt x="139560" y="8889"/>
                </a:lnTo>
                <a:lnTo>
                  <a:pt x="148983" y="5079"/>
                </a:lnTo>
                <a:lnTo>
                  <a:pt x="158597" y="3810"/>
                </a:lnTo>
                <a:lnTo>
                  <a:pt x="168389" y="1270"/>
                </a:lnTo>
                <a:lnTo>
                  <a:pt x="178333" y="0"/>
                </a:lnTo>
                <a:lnTo>
                  <a:pt x="5036477" y="0"/>
                </a:lnTo>
                <a:lnTo>
                  <a:pt x="5046421" y="1270"/>
                </a:lnTo>
                <a:lnTo>
                  <a:pt x="5056212" y="3810"/>
                </a:lnTo>
                <a:lnTo>
                  <a:pt x="5065826" y="5079"/>
                </a:lnTo>
                <a:lnTo>
                  <a:pt x="5075250" y="8889"/>
                </a:lnTo>
                <a:lnTo>
                  <a:pt x="5084495" y="11429"/>
                </a:lnTo>
                <a:lnTo>
                  <a:pt x="5087501" y="12700"/>
                </a:lnTo>
                <a:lnTo>
                  <a:pt x="179781" y="12700"/>
                </a:lnTo>
                <a:lnTo>
                  <a:pt x="170154" y="13970"/>
                </a:lnTo>
                <a:lnTo>
                  <a:pt x="170459" y="13970"/>
                </a:lnTo>
                <a:lnTo>
                  <a:pt x="165728" y="15239"/>
                </a:lnTo>
                <a:lnTo>
                  <a:pt x="161302" y="15239"/>
                </a:lnTo>
                <a:lnTo>
                  <a:pt x="151993" y="17779"/>
                </a:lnTo>
                <a:lnTo>
                  <a:pt x="152298" y="17779"/>
                </a:lnTo>
                <a:lnTo>
                  <a:pt x="143179" y="20320"/>
                </a:lnTo>
                <a:lnTo>
                  <a:pt x="143471" y="20320"/>
                </a:lnTo>
                <a:lnTo>
                  <a:pt x="134543" y="22860"/>
                </a:lnTo>
                <a:lnTo>
                  <a:pt x="134835" y="22860"/>
                </a:lnTo>
                <a:lnTo>
                  <a:pt x="126098" y="26670"/>
                </a:lnTo>
                <a:lnTo>
                  <a:pt x="126390" y="26670"/>
                </a:lnTo>
                <a:lnTo>
                  <a:pt x="117868" y="30479"/>
                </a:lnTo>
                <a:lnTo>
                  <a:pt x="118148" y="30479"/>
                </a:lnTo>
                <a:lnTo>
                  <a:pt x="109854" y="34289"/>
                </a:lnTo>
                <a:lnTo>
                  <a:pt x="110121" y="34289"/>
                </a:lnTo>
                <a:lnTo>
                  <a:pt x="102069" y="39370"/>
                </a:lnTo>
                <a:lnTo>
                  <a:pt x="102323" y="39370"/>
                </a:lnTo>
                <a:lnTo>
                  <a:pt x="96475" y="43179"/>
                </a:lnTo>
                <a:lnTo>
                  <a:pt x="94780" y="43179"/>
                </a:lnTo>
                <a:lnTo>
                  <a:pt x="87236" y="49529"/>
                </a:lnTo>
                <a:lnTo>
                  <a:pt x="87477" y="49529"/>
                </a:lnTo>
                <a:lnTo>
                  <a:pt x="80213" y="54610"/>
                </a:lnTo>
                <a:lnTo>
                  <a:pt x="80441" y="54610"/>
                </a:lnTo>
                <a:lnTo>
                  <a:pt x="74863" y="59689"/>
                </a:lnTo>
                <a:lnTo>
                  <a:pt x="73685" y="59689"/>
                </a:lnTo>
                <a:lnTo>
                  <a:pt x="67005" y="66039"/>
                </a:lnTo>
                <a:lnTo>
                  <a:pt x="67221" y="66039"/>
                </a:lnTo>
                <a:lnTo>
                  <a:pt x="61918" y="72389"/>
                </a:lnTo>
                <a:lnTo>
                  <a:pt x="61061" y="72389"/>
                </a:lnTo>
                <a:lnTo>
                  <a:pt x="55016" y="80010"/>
                </a:lnTo>
                <a:lnTo>
                  <a:pt x="55206" y="80010"/>
                </a:lnTo>
                <a:lnTo>
                  <a:pt x="49491" y="86360"/>
                </a:lnTo>
                <a:lnTo>
                  <a:pt x="49682" y="86360"/>
                </a:lnTo>
                <a:lnTo>
                  <a:pt x="44310" y="93979"/>
                </a:lnTo>
                <a:lnTo>
                  <a:pt x="44488" y="93979"/>
                </a:lnTo>
                <a:lnTo>
                  <a:pt x="39484" y="101600"/>
                </a:lnTo>
                <a:lnTo>
                  <a:pt x="39636" y="101600"/>
                </a:lnTo>
                <a:lnTo>
                  <a:pt x="35013" y="109220"/>
                </a:lnTo>
                <a:lnTo>
                  <a:pt x="35153" y="109220"/>
                </a:lnTo>
                <a:lnTo>
                  <a:pt x="31517" y="116839"/>
                </a:lnTo>
                <a:lnTo>
                  <a:pt x="31038" y="116839"/>
                </a:lnTo>
                <a:lnTo>
                  <a:pt x="27190" y="125729"/>
                </a:lnTo>
                <a:lnTo>
                  <a:pt x="24354" y="133350"/>
                </a:lnTo>
                <a:lnTo>
                  <a:pt x="23977" y="133350"/>
                </a:lnTo>
                <a:lnTo>
                  <a:pt x="21332" y="142239"/>
                </a:lnTo>
                <a:lnTo>
                  <a:pt x="21043" y="142239"/>
                </a:lnTo>
                <a:lnTo>
                  <a:pt x="18453" y="151129"/>
                </a:lnTo>
                <a:lnTo>
                  <a:pt x="16651" y="160020"/>
                </a:lnTo>
                <a:lnTo>
                  <a:pt x="16446" y="160020"/>
                </a:lnTo>
                <a:lnTo>
                  <a:pt x="14757" y="170179"/>
                </a:lnTo>
                <a:lnTo>
                  <a:pt x="13576" y="179070"/>
                </a:lnTo>
                <a:lnTo>
                  <a:pt x="12958" y="187960"/>
                </a:lnTo>
                <a:lnTo>
                  <a:pt x="12700" y="193039"/>
                </a:lnTo>
                <a:lnTo>
                  <a:pt x="12700" y="972820"/>
                </a:lnTo>
                <a:lnTo>
                  <a:pt x="12877" y="976629"/>
                </a:lnTo>
                <a:lnTo>
                  <a:pt x="13614" y="986789"/>
                </a:lnTo>
                <a:lnTo>
                  <a:pt x="14808" y="995679"/>
                </a:lnTo>
                <a:lnTo>
                  <a:pt x="16446" y="1004570"/>
                </a:lnTo>
                <a:lnTo>
                  <a:pt x="18529" y="1014729"/>
                </a:lnTo>
                <a:lnTo>
                  <a:pt x="18823" y="1014729"/>
                </a:lnTo>
                <a:lnTo>
                  <a:pt x="21043" y="1022350"/>
                </a:lnTo>
                <a:lnTo>
                  <a:pt x="23977" y="1031240"/>
                </a:lnTo>
                <a:lnTo>
                  <a:pt x="27304" y="1040129"/>
                </a:lnTo>
                <a:lnTo>
                  <a:pt x="31038" y="1047750"/>
                </a:lnTo>
                <a:lnTo>
                  <a:pt x="35153" y="1056640"/>
                </a:lnTo>
                <a:lnTo>
                  <a:pt x="35674" y="1056640"/>
                </a:lnTo>
                <a:lnTo>
                  <a:pt x="39636" y="1064259"/>
                </a:lnTo>
                <a:lnTo>
                  <a:pt x="39484" y="1064259"/>
                </a:lnTo>
                <a:lnTo>
                  <a:pt x="44488" y="1071879"/>
                </a:lnTo>
                <a:lnTo>
                  <a:pt x="44310" y="1071879"/>
                </a:lnTo>
                <a:lnTo>
                  <a:pt x="49682" y="1079500"/>
                </a:lnTo>
                <a:lnTo>
                  <a:pt x="50444" y="1079500"/>
                </a:lnTo>
                <a:lnTo>
                  <a:pt x="55206" y="1085850"/>
                </a:lnTo>
                <a:lnTo>
                  <a:pt x="55016" y="1085850"/>
                </a:lnTo>
                <a:lnTo>
                  <a:pt x="61061" y="1092200"/>
                </a:lnTo>
                <a:lnTo>
                  <a:pt x="60858" y="1092200"/>
                </a:lnTo>
                <a:lnTo>
                  <a:pt x="67221" y="1098550"/>
                </a:lnTo>
                <a:lnTo>
                  <a:pt x="67005" y="1098550"/>
                </a:lnTo>
                <a:lnTo>
                  <a:pt x="73685" y="1104900"/>
                </a:lnTo>
                <a:lnTo>
                  <a:pt x="73469" y="1104900"/>
                </a:lnTo>
                <a:lnTo>
                  <a:pt x="80441" y="1111250"/>
                </a:lnTo>
                <a:lnTo>
                  <a:pt x="80213" y="1111250"/>
                </a:lnTo>
                <a:lnTo>
                  <a:pt x="87477" y="1116329"/>
                </a:lnTo>
                <a:lnTo>
                  <a:pt x="87236" y="1116329"/>
                </a:lnTo>
                <a:lnTo>
                  <a:pt x="94780" y="1121409"/>
                </a:lnTo>
                <a:lnTo>
                  <a:pt x="94526" y="1121409"/>
                </a:lnTo>
                <a:lnTo>
                  <a:pt x="102323" y="1126490"/>
                </a:lnTo>
                <a:lnTo>
                  <a:pt x="102069" y="1126490"/>
                </a:lnTo>
                <a:lnTo>
                  <a:pt x="110121" y="1131570"/>
                </a:lnTo>
                <a:lnTo>
                  <a:pt x="109854" y="1131570"/>
                </a:lnTo>
                <a:lnTo>
                  <a:pt x="118148" y="1135379"/>
                </a:lnTo>
                <a:lnTo>
                  <a:pt x="117868" y="1135379"/>
                </a:lnTo>
                <a:lnTo>
                  <a:pt x="126390" y="1139190"/>
                </a:lnTo>
                <a:lnTo>
                  <a:pt x="126098" y="1139190"/>
                </a:lnTo>
                <a:lnTo>
                  <a:pt x="134835" y="1141729"/>
                </a:lnTo>
                <a:lnTo>
                  <a:pt x="134543" y="1141729"/>
                </a:lnTo>
                <a:lnTo>
                  <a:pt x="143471" y="1145540"/>
                </a:lnTo>
                <a:lnTo>
                  <a:pt x="143179" y="1145540"/>
                </a:lnTo>
                <a:lnTo>
                  <a:pt x="152298" y="1148079"/>
                </a:lnTo>
                <a:lnTo>
                  <a:pt x="151993" y="1148079"/>
                </a:lnTo>
                <a:lnTo>
                  <a:pt x="161302" y="1149350"/>
                </a:lnTo>
                <a:lnTo>
                  <a:pt x="160997" y="1149350"/>
                </a:lnTo>
                <a:lnTo>
                  <a:pt x="170459" y="1151890"/>
                </a:lnTo>
                <a:lnTo>
                  <a:pt x="170154" y="1151890"/>
                </a:lnTo>
                <a:lnTo>
                  <a:pt x="179781" y="1153159"/>
                </a:lnTo>
                <a:lnTo>
                  <a:pt x="5087501" y="1153159"/>
                </a:lnTo>
                <a:lnTo>
                  <a:pt x="5084495" y="1154429"/>
                </a:lnTo>
                <a:lnTo>
                  <a:pt x="5056212" y="1162050"/>
                </a:lnTo>
                <a:lnTo>
                  <a:pt x="5026431" y="1165859"/>
                </a:lnTo>
                <a:close/>
              </a:path>
              <a:path w="5215255" h="1165859">
                <a:moveTo>
                  <a:pt x="5053812" y="16510"/>
                </a:moveTo>
                <a:lnTo>
                  <a:pt x="5044351" y="13970"/>
                </a:lnTo>
                <a:lnTo>
                  <a:pt x="5044655" y="13970"/>
                </a:lnTo>
                <a:lnTo>
                  <a:pt x="5035029" y="12700"/>
                </a:lnTo>
                <a:lnTo>
                  <a:pt x="5087501" y="12700"/>
                </a:lnTo>
                <a:lnTo>
                  <a:pt x="5093512" y="15239"/>
                </a:lnTo>
                <a:lnTo>
                  <a:pt x="5053507" y="15239"/>
                </a:lnTo>
                <a:lnTo>
                  <a:pt x="5053812" y="16510"/>
                </a:lnTo>
                <a:close/>
              </a:path>
              <a:path w="5215255" h="1165859">
                <a:moveTo>
                  <a:pt x="160997" y="16510"/>
                </a:moveTo>
                <a:lnTo>
                  <a:pt x="161302" y="15239"/>
                </a:lnTo>
                <a:lnTo>
                  <a:pt x="165728" y="15239"/>
                </a:lnTo>
                <a:lnTo>
                  <a:pt x="160997" y="16510"/>
                </a:lnTo>
                <a:close/>
              </a:path>
              <a:path w="5215255" h="1165859">
                <a:moveTo>
                  <a:pt x="5120284" y="44450"/>
                </a:moveTo>
                <a:lnTo>
                  <a:pt x="5112486" y="39370"/>
                </a:lnTo>
                <a:lnTo>
                  <a:pt x="5112740" y="39370"/>
                </a:lnTo>
                <a:lnTo>
                  <a:pt x="5104688" y="34289"/>
                </a:lnTo>
                <a:lnTo>
                  <a:pt x="5104955" y="34289"/>
                </a:lnTo>
                <a:lnTo>
                  <a:pt x="5096662" y="30479"/>
                </a:lnTo>
                <a:lnTo>
                  <a:pt x="5096941" y="30479"/>
                </a:lnTo>
                <a:lnTo>
                  <a:pt x="5088420" y="26670"/>
                </a:lnTo>
                <a:lnTo>
                  <a:pt x="5088712" y="26670"/>
                </a:lnTo>
                <a:lnTo>
                  <a:pt x="5079974" y="22860"/>
                </a:lnTo>
                <a:lnTo>
                  <a:pt x="5080266" y="22860"/>
                </a:lnTo>
                <a:lnTo>
                  <a:pt x="5071338" y="20320"/>
                </a:lnTo>
                <a:lnTo>
                  <a:pt x="5071630" y="20320"/>
                </a:lnTo>
                <a:lnTo>
                  <a:pt x="5062512" y="17779"/>
                </a:lnTo>
                <a:lnTo>
                  <a:pt x="5062816" y="17779"/>
                </a:lnTo>
                <a:lnTo>
                  <a:pt x="5053507" y="15239"/>
                </a:lnTo>
                <a:lnTo>
                  <a:pt x="5093512" y="15239"/>
                </a:lnTo>
                <a:lnTo>
                  <a:pt x="5102313" y="19050"/>
                </a:lnTo>
                <a:lnTo>
                  <a:pt x="5110886" y="22860"/>
                </a:lnTo>
                <a:lnTo>
                  <a:pt x="5119204" y="27939"/>
                </a:lnTo>
                <a:lnTo>
                  <a:pt x="5127269" y="33020"/>
                </a:lnTo>
                <a:lnTo>
                  <a:pt x="5135067" y="39370"/>
                </a:lnTo>
                <a:lnTo>
                  <a:pt x="5140696" y="43179"/>
                </a:lnTo>
                <a:lnTo>
                  <a:pt x="5120030" y="43179"/>
                </a:lnTo>
                <a:lnTo>
                  <a:pt x="5120284" y="44450"/>
                </a:lnTo>
                <a:close/>
              </a:path>
              <a:path w="5215255" h="1165859">
                <a:moveTo>
                  <a:pt x="94526" y="44450"/>
                </a:moveTo>
                <a:lnTo>
                  <a:pt x="94780" y="43179"/>
                </a:lnTo>
                <a:lnTo>
                  <a:pt x="96475" y="43179"/>
                </a:lnTo>
                <a:lnTo>
                  <a:pt x="94526" y="44450"/>
                </a:lnTo>
                <a:close/>
              </a:path>
              <a:path w="5215255" h="1165859">
                <a:moveTo>
                  <a:pt x="5141341" y="60960"/>
                </a:moveTo>
                <a:lnTo>
                  <a:pt x="5134368" y="54610"/>
                </a:lnTo>
                <a:lnTo>
                  <a:pt x="5134597" y="54610"/>
                </a:lnTo>
                <a:lnTo>
                  <a:pt x="5127332" y="49529"/>
                </a:lnTo>
                <a:lnTo>
                  <a:pt x="5127574" y="49529"/>
                </a:lnTo>
                <a:lnTo>
                  <a:pt x="5120030" y="43179"/>
                </a:lnTo>
                <a:lnTo>
                  <a:pt x="5140696" y="43179"/>
                </a:lnTo>
                <a:lnTo>
                  <a:pt x="5142572" y="44450"/>
                </a:lnTo>
                <a:lnTo>
                  <a:pt x="5149773" y="50800"/>
                </a:lnTo>
                <a:lnTo>
                  <a:pt x="5156669" y="57150"/>
                </a:lnTo>
                <a:lnTo>
                  <a:pt x="5158862" y="59689"/>
                </a:lnTo>
                <a:lnTo>
                  <a:pt x="5141125" y="59689"/>
                </a:lnTo>
                <a:lnTo>
                  <a:pt x="5141341" y="60960"/>
                </a:lnTo>
                <a:close/>
              </a:path>
              <a:path w="5215255" h="1165859">
                <a:moveTo>
                  <a:pt x="73469" y="60960"/>
                </a:moveTo>
                <a:lnTo>
                  <a:pt x="73685" y="59689"/>
                </a:lnTo>
                <a:lnTo>
                  <a:pt x="74863" y="59689"/>
                </a:lnTo>
                <a:lnTo>
                  <a:pt x="73469" y="60960"/>
                </a:lnTo>
                <a:close/>
              </a:path>
              <a:path w="5215255" h="1165859">
                <a:moveTo>
                  <a:pt x="5153952" y="73660"/>
                </a:moveTo>
                <a:lnTo>
                  <a:pt x="5147589" y="66039"/>
                </a:lnTo>
                <a:lnTo>
                  <a:pt x="5147805" y="66039"/>
                </a:lnTo>
                <a:lnTo>
                  <a:pt x="5141125" y="59689"/>
                </a:lnTo>
                <a:lnTo>
                  <a:pt x="5158862" y="59689"/>
                </a:lnTo>
                <a:lnTo>
                  <a:pt x="5163248" y="64770"/>
                </a:lnTo>
                <a:lnTo>
                  <a:pt x="5169496" y="71120"/>
                </a:lnTo>
                <a:lnTo>
                  <a:pt x="5170479" y="72389"/>
                </a:lnTo>
                <a:lnTo>
                  <a:pt x="5153748" y="72389"/>
                </a:lnTo>
                <a:lnTo>
                  <a:pt x="5153952" y="73660"/>
                </a:lnTo>
                <a:close/>
              </a:path>
              <a:path w="5215255" h="1165859">
                <a:moveTo>
                  <a:pt x="60858" y="73660"/>
                </a:moveTo>
                <a:lnTo>
                  <a:pt x="61061" y="72389"/>
                </a:lnTo>
                <a:lnTo>
                  <a:pt x="61918" y="72389"/>
                </a:lnTo>
                <a:lnTo>
                  <a:pt x="60858" y="73660"/>
                </a:lnTo>
                <a:close/>
              </a:path>
              <a:path w="5215255" h="1165859">
                <a:moveTo>
                  <a:pt x="5183898" y="118110"/>
                </a:moveTo>
                <a:lnTo>
                  <a:pt x="5179656" y="109220"/>
                </a:lnTo>
                <a:lnTo>
                  <a:pt x="5179796" y="109220"/>
                </a:lnTo>
                <a:lnTo>
                  <a:pt x="5175173" y="101600"/>
                </a:lnTo>
                <a:lnTo>
                  <a:pt x="5175326" y="101600"/>
                </a:lnTo>
                <a:lnTo>
                  <a:pt x="5170322" y="93979"/>
                </a:lnTo>
                <a:lnTo>
                  <a:pt x="5170500" y="93979"/>
                </a:lnTo>
                <a:lnTo>
                  <a:pt x="5165128" y="86360"/>
                </a:lnTo>
                <a:lnTo>
                  <a:pt x="5165318" y="86360"/>
                </a:lnTo>
                <a:lnTo>
                  <a:pt x="5159603" y="80010"/>
                </a:lnTo>
                <a:lnTo>
                  <a:pt x="5159794" y="80010"/>
                </a:lnTo>
                <a:lnTo>
                  <a:pt x="5153748" y="72389"/>
                </a:lnTo>
                <a:lnTo>
                  <a:pt x="5170479" y="72389"/>
                </a:lnTo>
                <a:lnTo>
                  <a:pt x="5175389" y="78739"/>
                </a:lnTo>
                <a:lnTo>
                  <a:pt x="5180939" y="86360"/>
                </a:lnTo>
                <a:lnTo>
                  <a:pt x="5186108" y="95250"/>
                </a:lnTo>
                <a:lnTo>
                  <a:pt x="5190883" y="102870"/>
                </a:lnTo>
                <a:lnTo>
                  <a:pt x="5195277" y="111760"/>
                </a:lnTo>
                <a:lnTo>
                  <a:pt x="5197549" y="116839"/>
                </a:lnTo>
                <a:lnTo>
                  <a:pt x="5183771" y="116839"/>
                </a:lnTo>
                <a:lnTo>
                  <a:pt x="5183898" y="118110"/>
                </a:lnTo>
                <a:close/>
              </a:path>
              <a:path w="5215255" h="1165859">
                <a:moveTo>
                  <a:pt x="30911" y="118110"/>
                </a:moveTo>
                <a:lnTo>
                  <a:pt x="31038" y="116839"/>
                </a:lnTo>
                <a:lnTo>
                  <a:pt x="31517" y="116839"/>
                </a:lnTo>
                <a:lnTo>
                  <a:pt x="30911" y="118110"/>
                </a:lnTo>
                <a:close/>
              </a:path>
              <a:path w="5215255" h="1165859">
                <a:moveTo>
                  <a:pt x="5190947" y="134620"/>
                </a:moveTo>
                <a:lnTo>
                  <a:pt x="5187505" y="125729"/>
                </a:lnTo>
                <a:lnTo>
                  <a:pt x="5183771" y="116839"/>
                </a:lnTo>
                <a:lnTo>
                  <a:pt x="5197549" y="116839"/>
                </a:lnTo>
                <a:lnTo>
                  <a:pt x="5199253" y="120650"/>
                </a:lnTo>
                <a:lnTo>
                  <a:pt x="5202821" y="129539"/>
                </a:lnTo>
                <a:lnTo>
                  <a:pt x="5204160" y="133350"/>
                </a:lnTo>
                <a:lnTo>
                  <a:pt x="5190832" y="133350"/>
                </a:lnTo>
                <a:lnTo>
                  <a:pt x="5190947" y="134620"/>
                </a:lnTo>
                <a:close/>
              </a:path>
              <a:path w="5215255" h="1165859">
                <a:moveTo>
                  <a:pt x="23863" y="134620"/>
                </a:moveTo>
                <a:lnTo>
                  <a:pt x="23977" y="133350"/>
                </a:lnTo>
                <a:lnTo>
                  <a:pt x="24354" y="133350"/>
                </a:lnTo>
                <a:lnTo>
                  <a:pt x="23863" y="134620"/>
                </a:lnTo>
                <a:close/>
              </a:path>
              <a:path w="5215255" h="1165859">
                <a:moveTo>
                  <a:pt x="5193855" y="143510"/>
                </a:moveTo>
                <a:lnTo>
                  <a:pt x="5190832" y="133350"/>
                </a:lnTo>
                <a:lnTo>
                  <a:pt x="5204160" y="133350"/>
                </a:lnTo>
                <a:lnTo>
                  <a:pt x="5205945" y="138429"/>
                </a:lnTo>
                <a:lnTo>
                  <a:pt x="5206950" y="142239"/>
                </a:lnTo>
                <a:lnTo>
                  <a:pt x="5193766" y="142239"/>
                </a:lnTo>
                <a:lnTo>
                  <a:pt x="5193855" y="143510"/>
                </a:lnTo>
                <a:close/>
              </a:path>
              <a:path w="5215255" h="1165859">
                <a:moveTo>
                  <a:pt x="20954" y="143510"/>
                </a:moveTo>
                <a:lnTo>
                  <a:pt x="21043" y="142239"/>
                </a:lnTo>
                <a:lnTo>
                  <a:pt x="21332" y="142239"/>
                </a:lnTo>
                <a:lnTo>
                  <a:pt x="20954" y="143510"/>
                </a:lnTo>
                <a:close/>
              </a:path>
              <a:path w="5215255" h="1165859">
                <a:moveTo>
                  <a:pt x="5198427" y="161289"/>
                </a:moveTo>
                <a:lnTo>
                  <a:pt x="5196281" y="151129"/>
                </a:lnTo>
                <a:lnTo>
                  <a:pt x="5193766" y="142239"/>
                </a:lnTo>
                <a:lnTo>
                  <a:pt x="5206950" y="142239"/>
                </a:lnTo>
                <a:lnTo>
                  <a:pt x="5208625" y="148589"/>
                </a:lnTo>
                <a:lnTo>
                  <a:pt x="5210835" y="157479"/>
                </a:lnTo>
                <a:lnTo>
                  <a:pt x="5211273" y="160020"/>
                </a:lnTo>
                <a:lnTo>
                  <a:pt x="5198364" y="160020"/>
                </a:lnTo>
                <a:lnTo>
                  <a:pt x="5198427" y="161289"/>
                </a:lnTo>
                <a:close/>
              </a:path>
              <a:path w="5215255" h="1165859">
                <a:moveTo>
                  <a:pt x="16383" y="161289"/>
                </a:moveTo>
                <a:lnTo>
                  <a:pt x="16446" y="160020"/>
                </a:lnTo>
                <a:lnTo>
                  <a:pt x="16651" y="160020"/>
                </a:lnTo>
                <a:lnTo>
                  <a:pt x="16383" y="161289"/>
                </a:lnTo>
                <a:close/>
              </a:path>
              <a:path w="5215255" h="1165859">
                <a:moveTo>
                  <a:pt x="5209178" y="1014729"/>
                </a:moveTo>
                <a:lnTo>
                  <a:pt x="5196281" y="1014729"/>
                </a:lnTo>
                <a:lnTo>
                  <a:pt x="5198427" y="1004570"/>
                </a:lnTo>
                <a:lnTo>
                  <a:pt x="5200053" y="995679"/>
                </a:lnTo>
                <a:lnTo>
                  <a:pt x="5201234" y="986789"/>
                </a:lnTo>
                <a:lnTo>
                  <a:pt x="5201945" y="976629"/>
                </a:lnTo>
                <a:lnTo>
                  <a:pt x="5202110" y="972820"/>
                </a:lnTo>
                <a:lnTo>
                  <a:pt x="5202110" y="193039"/>
                </a:lnTo>
                <a:lnTo>
                  <a:pt x="5201932" y="187960"/>
                </a:lnTo>
                <a:lnTo>
                  <a:pt x="5201196" y="179070"/>
                </a:lnTo>
                <a:lnTo>
                  <a:pt x="5200002" y="170179"/>
                </a:lnTo>
                <a:lnTo>
                  <a:pt x="5198364" y="160020"/>
                </a:lnTo>
                <a:lnTo>
                  <a:pt x="5211273" y="160020"/>
                </a:lnTo>
                <a:lnTo>
                  <a:pt x="5212588" y="167639"/>
                </a:lnTo>
                <a:lnTo>
                  <a:pt x="5213845" y="177800"/>
                </a:lnTo>
                <a:lnTo>
                  <a:pt x="5214620" y="187960"/>
                </a:lnTo>
                <a:lnTo>
                  <a:pt x="5214810" y="193039"/>
                </a:lnTo>
                <a:lnTo>
                  <a:pt x="5214810" y="972820"/>
                </a:lnTo>
                <a:lnTo>
                  <a:pt x="5214620" y="977900"/>
                </a:lnTo>
                <a:lnTo>
                  <a:pt x="5213845" y="988060"/>
                </a:lnTo>
                <a:lnTo>
                  <a:pt x="5212588" y="998220"/>
                </a:lnTo>
                <a:lnTo>
                  <a:pt x="5210835" y="1007109"/>
                </a:lnTo>
                <a:lnTo>
                  <a:pt x="5209178" y="1014729"/>
                </a:lnTo>
                <a:close/>
              </a:path>
              <a:path w="5215255" h="1165859">
                <a:moveTo>
                  <a:pt x="12865" y="189229"/>
                </a:moveTo>
                <a:lnTo>
                  <a:pt x="12877" y="187960"/>
                </a:lnTo>
                <a:lnTo>
                  <a:pt x="12865" y="189229"/>
                </a:lnTo>
                <a:close/>
              </a:path>
              <a:path w="5215255" h="1165859">
                <a:moveTo>
                  <a:pt x="5201945" y="189229"/>
                </a:moveTo>
                <a:lnTo>
                  <a:pt x="5201851" y="187960"/>
                </a:lnTo>
                <a:lnTo>
                  <a:pt x="5201945" y="189229"/>
                </a:lnTo>
                <a:close/>
              </a:path>
              <a:path w="5215255" h="1165859">
                <a:moveTo>
                  <a:pt x="18823" y="1014729"/>
                </a:moveTo>
                <a:lnTo>
                  <a:pt x="18529" y="1014729"/>
                </a:lnTo>
                <a:lnTo>
                  <a:pt x="18453" y="1013459"/>
                </a:lnTo>
                <a:lnTo>
                  <a:pt x="18823" y="1014729"/>
                </a:lnTo>
                <a:close/>
              </a:path>
              <a:path w="5215255" h="1165859">
                <a:moveTo>
                  <a:pt x="5193813" y="1056640"/>
                </a:moveTo>
                <a:lnTo>
                  <a:pt x="5179656" y="1056640"/>
                </a:lnTo>
                <a:lnTo>
                  <a:pt x="5183898" y="1047750"/>
                </a:lnTo>
                <a:lnTo>
                  <a:pt x="5187619" y="1040129"/>
                </a:lnTo>
                <a:lnTo>
                  <a:pt x="5190947" y="1031240"/>
                </a:lnTo>
                <a:lnTo>
                  <a:pt x="5193855" y="1022350"/>
                </a:lnTo>
                <a:lnTo>
                  <a:pt x="5196357" y="1013459"/>
                </a:lnTo>
                <a:lnTo>
                  <a:pt x="5196281" y="1014729"/>
                </a:lnTo>
                <a:lnTo>
                  <a:pt x="5209178" y="1014729"/>
                </a:lnTo>
                <a:lnTo>
                  <a:pt x="5195277" y="1054100"/>
                </a:lnTo>
                <a:lnTo>
                  <a:pt x="5193813" y="1056640"/>
                </a:lnTo>
                <a:close/>
              </a:path>
              <a:path w="5215255" h="1165859">
                <a:moveTo>
                  <a:pt x="35674" y="1056640"/>
                </a:moveTo>
                <a:lnTo>
                  <a:pt x="35153" y="1056640"/>
                </a:lnTo>
                <a:lnTo>
                  <a:pt x="35013" y="1055370"/>
                </a:lnTo>
                <a:lnTo>
                  <a:pt x="35674" y="1056640"/>
                </a:lnTo>
                <a:close/>
              </a:path>
              <a:path w="5215255" h="1165859">
                <a:moveTo>
                  <a:pt x="5180014" y="1079500"/>
                </a:moveTo>
                <a:lnTo>
                  <a:pt x="5165128" y="1079500"/>
                </a:lnTo>
                <a:lnTo>
                  <a:pt x="5170500" y="1071879"/>
                </a:lnTo>
                <a:lnTo>
                  <a:pt x="5170322" y="1071879"/>
                </a:lnTo>
                <a:lnTo>
                  <a:pt x="5175326" y="1064259"/>
                </a:lnTo>
                <a:lnTo>
                  <a:pt x="5175173" y="1064259"/>
                </a:lnTo>
                <a:lnTo>
                  <a:pt x="5179796" y="1055370"/>
                </a:lnTo>
                <a:lnTo>
                  <a:pt x="5179656" y="1056640"/>
                </a:lnTo>
                <a:lnTo>
                  <a:pt x="5193813" y="1056640"/>
                </a:lnTo>
                <a:lnTo>
                  <a:pt x="5190883" y="1061720"/>
                </a:lnTo>
                <a:lnTo>
                  <a:pt x="5186108" y="1070609"/>
                </a:lnTo>
                <a:lnTo>
                  <a:pt x="5180939" y="1078229"/>
                </a:lnTo>
                <a:lnTo>
                  <a:pt x="5180014" y="1079500"/>
                </a:lnTo>
                <a:close/>
              </a:path>
              <a:path w="5215255" h="1165859">
                <a:moveTo>
                  <a:pt x="50444" y="1079500"/>
                </a:moveTo>
                <a:lnTo>
                  <a:pt x="49682" y="1079500"/>
                </a:lnTo>
                <a:lnTo>
                  <a:pt x="49491" y="1078229"/>
                </a:lnTo>
                <a:lnTo>
                  <a:pt x="50444" y="1079500"/>
                </a:lnTo>
                <a:close/>
              </a:path>
              <a:path w="5215255" h="1165859">
                <a:moveTo>
                  <a:pt x="5087501" y="1153159"/>
                </a:moveTo>
                <a:lnTo>
                  <a:pt x="5035029" y="1153159"/>
                </a:lnTo>
                <a:lnTo>
                  <a:pt x="5044655" y="1151890"/>
                </a:lnTo>
                <a:lnTo>
                  <a:pt x="5044351" y="1151890"/>
                </a:lnTo>
                <a:lnTo>
                  <a:pt x="5053812" y="1149350"/>
                </a:lnTo>
                <a:lnTo>
                  <a:pt x="5053507" y="1149350"/>
                </a:lnTo>
                <a:lnTo>
                  <a:pt x="5062816" y="1148079"/>
                </a:lnTo>
                <a:lnTo>
                  <a:pt x="5062512" y="1148079"/>
                </a:lnTo>
                <a:lnTo>
                  <a:pt x="5071630" y="1145540"/>
                </a:lnTo>
                <a:lnTo>
                  <a:pt x="5071338" y="1145540"/>
                </a:lnTo>
                <a:lnTo>
                  <a:pt x="5080266" y="1141729"/>
                </a:lnTo>
                <a:lnTo>
                  <a:pt x="5079974" y="1141729"/>
                </a:lnTo>
                <a:lnTo>
                  <a:pt x="5088712" y="1139190"/>
                </a:lnTo>
                <a:lnTo>
                  <a:pt x="5088420" y="1139190"/>
                </a:lnTo>
                <a:lnTo>
                  <a:pt x="5096941" y="1135379"/>
                </a:lnTo>
                <a:lnTo>
                  <a:pt x="5096662" y="1135379"/>
                </a:lnTo>
                <a:lnTo>
                  <a:pt x="5104955" y="1131570"/>
                </a:lnTo>
                <a:lnTo>
                  <a:pt x="5104688" y="1131570"/>
                </a:lnTo>
                <a:lnTo>
                  <a:pt x="5112740" y="1126490"/>
                </a:lnTo>
                <a:lnTo>
                  <a:pt x="5112486" y="1126490"/>
                </a:lnTo>
                <a:lnTo>
                  <a:pt x="5120284" y="1121409"/>
                </a:lnTo>
                <a:lnTo>
                  <a:pt x="5120030" y="1121409"/>
                </a:lnTo>
                <a:lnTo>
                  <a:pt x="5127574" y="1116329"/>
                </a:lnTo>
                <a:lnTo>
                  <a:pt x="5127332" y="1116329"/>
                </a:lnTo>
                <a:lnTo>
                  <a:pt x="5134597" y="1111250"/>
                </a:lnTo>
                <a:lnTo>
                  <a:pt x="5134368" y="1111250"/>
                </a:lnTo>
                <a:lnTo>
                  <a:pt x="5141341" y="1104900"/>
                </a:lnTo>
                <a:lnTo>
                  <a:pt x="5141125" y="1104900"/>
                </a:lnTo>
                <a:lnTo>
                  <a:pt x="5147805" y="1098550"/>
                </a:lnTo>
                <a:lnTo>
                  <a:pt x="5147589" y="1098550"/>
                </a:lnTo>
                <a:lnTo>
                  <a:pt x="5153952" y="1092200"/>
                </a:lnTo>
                <a:lnTo>
                  <a:pt x="5153748" y="1092200"/>
                </a:lnTo>
                <a:lnTo>
                  <a:pt x="5159794" y="1085850"/>
                </a:lnTo>
                <a:lnTo>
                  <a:pt x="5159603" y="1085850"/>
                </a:lnTo>
                <a:lnTo>
                  <a:pt x="5165318" y="1078229"/>
                </a:lnTo>
                <a:lnTo>
                  <a:pt x="5165128" y="1079500"/>
                </a:lnTo>
                <a:lnTo>
                  <a:pt x="5180014" y="1079500"/>
                </a:lnTo>
                <a:lnTo>
                  <a:pt x="5175389" y="1085850"/>
                </a:lnTo>
                <a:lnTo>
                  <a:pt x="5169496" y="1093470"/>
                </a:lnTo>
                <a:lnTo>
                  <a:pt x="5163248" y="1101090"/>
                </a:lnTo>
                <a:lnTo>
                  <a:pt x="5156669" y="1107440"/>
                </a:lnTo>
                <a:lnTo>
                  <a:pt x="5149773" y="1115059"/>
                </a:lnTo>
                <a:lnTo>
                  <a:pt x="5142572" y="1121409"/>
                </a:lnTo>
                <a:lnTo>
                  <a:pt x="5135067" y="1126490"/>
                </a:lnTo>
                <a:lnTo>
                  <a:pt x="5127269" y="1132840"/>
                </a:lnTo>
                <a:lnTo>
                  <a:pt x="5119204" y="1137920"/>
                </a:lnTo>
                <a:lnTo>
                  <a:pt x="5110886" y="1141729"/>
                </a:lnTo>
                <a:lnTo>
                  <a:pt x="5102313" y="1146809"/>
                </a:lnTo>
                <a:lnTo>
                  <a:pt x="5093512" y="1150620"/>
                </a:lnTo>
                <a:lnTo>
                  <a:pt x="5087501" y="1153159"/>
                </a:lnTo>
                <a:close/>
              </a:path>
              <a:path w="5215255" h="1165859">
                <a:moveTo>
                  <a:pt x="189229" y="1153159"/>
                </a:moveTo>
                <a:lnTo>
                  <a:pt x="179781" y="1153159"/>
                </a:lnTo>
                <a:lnTo>
                  <a:pt x="179450" y="1151890"/>
                </a:lnTo>
                <a:lnTo>
                  <a:pt x="189229" y="1153159"/>
                </a:lnTo>
                <a:close/>
              </a:path>
              <a:path w="5215255" h="1165859">
                <a:moveTo>
                  <a:pt x="5035029" y="1153159"/>
                </a:moveTo>
                <a:lnTo>
                  <a:pt x="5025580" y="1153159"/>
                </a:lnTo>
                <a:lnTo>
                  <a:pt x="5035359" y="1151890"/>
                </a:lnTo>
                <a:lnTo>
                  <a:pt x="5035029" y="1153159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069960" y="6091110"/>
            <a:ext cx="490855" cy="0"/>
          </a:xfrm>
          <a:custGeom>
            <a:avLst/>
            <a:gdLst/>
            <a:ahLst/>
            <a:cxnLst/>
            <a:rect l="l" t="t" r="r" b="b"/>
            <a:pathLst>
              <a:path w="490854" h="0">
                <a:moveTo>
                  <a:pt x="0" y="0"/>
                </a:moveTo>
                <a:lnTo>
                  <a:pt x="490308" y="0"/>
                </a:lnTo>
              </a:path>
            </a:pathLst>
          </a:custGeom>
          <a:ln w="202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588571" y="6049657"/>
            <a:ext cx="168910" cy="3098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50" spc="-5">
                <a:latin typeface="Times New Roman"/>
                <a:cs typeface="Times New Roman"/>
              </a:rPr>
              <a:t>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39887" y="6368160"/>
            <a:ext cx="168910" cy="3098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50" spc="-5">
                <a:latin typeface="Times New Roman"/>
                <a:cs typeface="Times New Roman"/>
              </a:rPr>
              <a:t>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90937" y="5724385"/>
            <a:ext cx="1597660" cy="517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00" spc="-5" b="1">
                <a:latin typeface="微软雅黑"/>
                <a:cs typeface="微软雅黑"/>
              </a:rPr>
              <a:t>(3)</a:t>
            </a:r>
            <a:r>
              <a:rPr dirty="0" sz="2400" spc="-80" b="1">
                <a:latin typeface="微软雅黑"/>
                <a:cs typeface="微软雅黑"/>
              </a:rPr>
              <a:t> </a:t>
            </a:r>
            <a:r>
              <a:rPr dirty="0" sz="2400" b="1">
                <a:latin typeface="微软雅黑"/>
                <a:cs typeface="微软雅黑"/>
              </a:rPr>
              <a:t>拓展</a:t>
            </a:r>
            <a:r>
              <a:rPr dirty="0" sz="2400" spc="-335">
                <a:latin typeface="微软雅黑"/>
                <a:cs typeface="微软雅黑"/>
              </a:rPr>
              <a:t>：</a:t>
            </a:r>
            <a:r>
              <a:rPr dirty="0" baseline="-6076" sz="4800" spc="-502" i="1">
                <a:latin typeface="Times New Roman"/>
                <a:cs typeface="Times New Roman"/>
              </a:rPr>
              <a:t>Z</a:t>
            </a:r>
            <a:endParaRPr baseline="-6076" sz="4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89366" y="6090234"/>
            <a:ext cx="250825" cy="517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spc="-10" i="1">
                <a:latin typeface="Times New Roman"/>
                <a:cs typeface="Times New Roman"/>
              </a:rPr>
              <a:t>Z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73331" y="5751101"/>
            <a:ext cx="2557780" cy="542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251710" algn="l"/>
              </a:tabLst>
            </a:pPr>
            <a:r>
              <a:rPr dirty="0" sz="3200" spc="-10">
                <a:latin typeface="Symbol"/>
                <a:cs typeface="Symbol"/>
              </a:rPr>
              <a:t>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 spc="-365">
                <a:latin typeface="Times New Roman"/>
                <a:cs typeface="Times New Roman"/>
              </a:rPr>
              <a:t>2</a:t>
            </a:r>
            <a:r>
              <a:rPr dirty="0" sz="3350" spc="-50" i="1">
                <a:latin typeface="Symbol"/>
                <a:cs typeface="Symbol"/>
              </a:rPr>
              <a:t></a:t>
            </a:r>
            <a:r>
              <a:rPr dirty="0" sz="3200" spc="15" i="1">
                <a:latin typeface="Times New Roman"/>
                <a:cs typeface="Times New Roman"/>
              </a:rPr>
              <a:t>f</a:t>
            </a:r>
            <a:r>
              <a:rPr dirty="0" sz="3200" spc="-320" i="1">
                <a:latin typeface="Times New Roman"/>
                <a:cs typeface="Times New Roman"/>
              </a:rPr>
              <a:t>L</a:t>
            </a:r>
            <a:r>
              <a:rPr dirty="0" sz="3200" spc="30">
                <a:latin typeface="宋体"/>
                <a:cs typeface="宋体"/>
              </a:rPr>
              <a:t>，</a:t>
            </a:r>
            <a:r>
              <a:rPr dirty="0" sz="3200" spc="-5" i="1">
                <a:latin typeface="Times New Roman"/>
                <a:cs typeface="Times New Roman"/>
              </a:rPr>
              <a:t>I</a:t>
            </a:r>
            <a:r>
              <a:rPr dirty="0" sz="3200" spc="310" i="1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Symbol"/>
                <a:cs typeface="Symbol"/>
              </a:rPr>
              <a:t>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baseline="34722" sz="4800" spc="-15" i="1">
                <a:latin typeface="Times New Roman"/>
                <a:cs typeface="Times New Roman"/>
              </a:rPr>
              <a:t>U</a:t>
            </a:r>
            <a:endParaRPr baseline="34722" sz="4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7502" y="959027"/>
            <a:ext cx="10492740" cy="2488565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1125"/>
              </a:spcBef>
            </a:pPr>
            <a:r>
              <a:rPr dirty="0" sz="3200">
                <a:latin typeface="微软雅黑"/>
                <a:cs typeface="微软雅黑"/>
              </a:rPr>
              <a:t>一</a:t>
            </a:r>
            <a:r>
              <a:rPr dirty="0" sz="3200" spc="-5">
                <a:latin typeface="微软雅黑"/>
                <a:cs typeface="微软雅黑"/>
              </a:rPr>
              <a:t>.</a:t>
            </a:r>
            <a:r>
              <a:rPr dirty="0" sz="3200">
                <a:latin typeface="微软雅黑"/>
                <a:cs typeface="微软雅黑"/>
              </a:rPr>
              <a:t>电感器对交变电流的阻碍作</a:t>
            </a:r>
            <a:r>
              <a:rPr dirty="0" sz="3200" spc="5">
                <a:latin typeface="微软雅黑"/>
                <a:cs typeface="微软雅黑"/>
              </a:rPr>
              <a:t>用</a:t>
            </a:r>
            <a:endParaRPr sz="3200">
              <a:latin typeface="微软雅黑"/>
              <a:cs typeface="微软雅黑"/>
            </a:endParaRPr>
          </a:p>
          <a:p>
            <a:pPr marL="53975">
              <a:lnSpc>
                <a:spcPct val="100000"/>
              </a:lnSpc>
              <a:spcBef>
                <a:spcPts val="770"/>
              </a:spcBef>
            </a:pPr>
            <a:r>
              <a:rPr dirty="0" sz="2400" spc="-5">
                <a:latin typeface="微软雅黑"/>
                <a:cs typeface="微软雅黑"/>
              </a:rPr>
              <a:t>1.</a:t>
            </a:r>
            <a:r>
              <a:rPr dirty="0" sz="2400">
                <a:latin typeface="微软雅黑"/>
                <a:cs typeface="微软雅黑"/>
              </a:rPr>
              <a:t>电感器对交变电流的阻碍作用与线圈的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自感系数</a:t>
            </a:r>
            <a:r>
              <a:rPr dirty="0" sz="2400" i="1">
                <a:latin typeface="Times New Roman"/>
                <a:cs typeface="Times New Roman"/>
              </a:rPr>
              <a:t>L</a:t>
            </a:r>
            <a:r>
              <a:rPr dirty="0" sz="2400">
                <a:latin typeface="微软雅黑"/>
                <a:cs typeface="微软雅黑"/>
              </a:rPr>
              <a:t>、交变电流的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频率</a:t>
            </a:r>
            <a:r>
              <a:rPr dirty="0" sz="2400" spc="-55" b="1">
                <a:solidFill>
                  <a:srgbClr val="001F5F"/>
                </a:solidFill>
                <a:latin typeface="微软雅黑"/>
                <a:cs typeface="微软雅黑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f</a:t>
            </a:r>
            <a:r>
              <a:rPr dirty="0" sz="2400" spc="-45" i="1">
                <a:latin typeface="Times New Roman"/>
                <a:cs typeface="Times New Roman"/>
              </a:rPr>
              <a:t> </a:t>
            </a:r>
            <a:r>
              <a:rPr dirty="0" sz="2400">
                <a:latin typeface="微软雅黑"/>
                <a:cs typeface="微软雅黑"/>
              </a:rPr>
              <a:t>有关。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2400" spc="-5">
                <a:latin typeface="微软雅黑"/>
                <a:cs typeface="微软雅黑"/>
              </a:rPr>
              <a:t>(1)</a:t>
            </a:r>
            <a:r>
              <a:rPr dirty="0" sz="2400" spc="-15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猜想:</a:t>
            </a:r>
            <a:r>
              <a:rPr dirty="0" sz="2400" spc="-5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影响感抗的因素可能有线圈的自感系数</a:t>
            </a:r>
            <a:r>
              <a:rPr dirty="0" sz="2400" i="1">
                <a:latin typeface="Times New Roman"/>
                <a:cs typeface="Times New Roman"/>
              </a:rPr>
              <a:t>L</a:t>
            </a:r>
            <a:r>
              <a:rPr dirty="0" sz="2400">
                <a:latin typeface="微软雅黑"/>
                <a:cs typeface="微软雅黑"/>
              </a:rPr>
              <a:t>、交变电流的频率</a:t>
            </a:r>
            <a:r>
              <a:rPr dirty="0" sz="2400" i="1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Times New Roman"/>
              <a:cs typeface="Times New Roman"/>
            </a:endParaRPr>
          </a:p>
          <a:p>
            <a:pPr marL="3273425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自感电动势</a:t>
            </a:r>
            <a:r>
              <a:rPr dirty="0" sz="2400" spc="130" b="1">
                <a:solidFill>
                  <a:srgbClr val="001F5F"/>
                </a:solidFill>
                <a:latin typeface="微软雅黑"/>
                <a:cs typeface="微软雅黑"/>
              </a:rPr>
              <a:t> </a:t>
            </a:r>
            <a:r>
              <a:rPr dirty="0" baseline="-5982" sz="4875" spc="7" i="1">
                <a:latin typeface="Times New Roman"/>
                <a:cs typeface="Times New Roman"/>
              </a:rPr>
              <a:t>E</a:t>
            </a:r>
            <a:r>
              <a:rPr dirty="0" baseline="-5982" sz="4875" spc="135" i="1">
                <a:latin typeface="Times New Roman"/>
                <a:cs typeface="Times New Roman"/>
              </a:rPr>
              <a:t> </a:t>
            </a:r>
            <a:r>
              <a:rPr dirty="0" baseline="-5982" sz="4875" spc="7">
                <a:latin typeface="Symbol"/>
                <a:cs typeface="Symbol"/>
              </a:rPr>
              <a:t></a:t>
            </a:r>
            <a:r>
              <a:rPr dirty="0" baseline="-5982" sz="4875" spc="75">
                <a:latin typeface="Times New Roman"/>
                <a:cs typeface="Times New Roman"/>
              </a:rPr>
              <a:t> </a:t>
            </a:r>
            <a:r>
              <a:rPr dirty="0" baseline="-5982" sz="4875" spc="7" i="1">
                <a:latin typeface="Times New Roman"/>
                <a:cs typeface="Times New Roman"/>
              </a:rPr>
              <a:t>L</a:t>
            </a:r>
            <a:r>
              <a:rPr dirty="0" baseline="-5982" sz="4875" spc="-509" i="1">
                <a:latin typeface="Times New Roman"/>
                <a:cs typeface="Times New Roman"/>
              </a:rPr>
              <a:t> </a:t>
            </a:r>
            <a:r>
              <a:rPr dirty="0" baseline="27777" sz="5100" spc="-772" i="1">
                <a:latin typeface="Symbol"/>
                <a:cs typeface="Symbol"/>
              </a:rPr>
              <a:t></a:t>
            </a:r>
            <a:r>
              <a:rPr dirty="0" baseline="29059" sz="4875" spc="-772" i="1">
                <a:latin typeface="Times New Roman"/>
                <a:cs typeface="Times New Roman"/>
              </a:rPr>
              <a:t>I</a:t>
            </a:r>
            <a:endParaRPr baseline="29059" sz="487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1327" y="3957637"/>
            <a:ext cx="9251950" cy="1421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微软雅黑"/>
                <a:cs typeface="微软雅黑"/>
              </a:rPr>
              <a:t>(2)</a:t>
            </a:r>
            <a:r>
              <a:rPr dirty="0" sz="2400" spc="-10">
                <a:solidFill>
                  <a:srgbClr val="0562C1"/>
                </a:solidFill>
                <a:latin typeface="微软雅黑"/>
                <a:cs typeface="微软雅黑"/>
              </a:rPr>
              <a:t> </a:t>
            </a:r>
            <a:r>
              <a:rPr dirty="0" u="heavy" sz="2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实验</a:t>
            </a:r>
            <a:r>
              <a:rPr dirty="0" u="heavy" sz="2400" spc="-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2</a:t>
            </a:r>
            <a:r>
              <a:rPr dirty="0" sz="2400" spc="-5">
                <a:latin typeface="微软雅黑"/>
                <a:cs typeface="微软雅黑"/>
              </a:rPr>
              <a:t>：</a:t>
            </a:r>
            <a:r>
              <a:rPr dirty="0" sz="2400">
                <a:latin typeface="微软雅黑"/>
                <a:cs typeface="微软雅黑"/>
              </a:rPr>
              <a:t>检验猜想</a:t>
            </a:r>
            <a:endParaRPr sz="2400">
              <a:latin typeface="微软雅黑"/>
              <a:cs typeface="微软雅黑"/>
            </a:endParaRPr>
          </a:p>
          <a:p>
            <a:pPr algn="ctr" marR="1372235">
              <a:lnSpc>
                <a:spcPct val="100000"/>
              </a:lnSpc>
              <a:spcBef>
                <a:spcPts val="1745"/>
              </a:spcBef>
            </a:pPr>
            <a:r>
              <a:rPr dirty="0" sz="2400">
                <a:latin typeface="微软雅黑"/>
                <a:cs typeface="微软雅黑"/>
              </a:rPr>
              <a:t>结论：</a:t>
            </a:r>
            <a:endParaRPr sz="2400">
              <a:latin typeface="微软雅黑"/>
              <a:cs typeface="微软雅黑"/>
            </a:endParaRPr>
          </a:p>
          <a:p>
            <a:pPr marL="4057650">
              <a:lnSpc>
                <a:spcPct val="100000"/>
              </a:lnSpc>
              <a:spcBef>
                <a:spcPts val="600"/>
              </a:spcBef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自感系数越大、频率越高，感抗越</a:t>
            </a:r>
            <a:r>
              <a:rPr dirty="0" sz="2400" spc="-5" b="1">
                <a:solidFill>
                  <a:srgbClr val="001F5F"/>
                </a:solidFill>
                <a:latin typeface="微软雅黑"/>
                <a:cs typeface="微软雅黑"/>
              </a:rPr>
              <a:t>大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152" y="0"/>
            <a:ext cx="6959600" cy="2102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607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  <a:p>
            <a:pPr marL="47625">
              <a:lnSpc>
                <a:spcPct val="100000"/>
              </a:lnSpc>
              <a:spcBef>
                <a:spcPts val="4029"/>
              </a:spcBef>
            </a:pPr>
            <a:r>
              <a:rPr dirty="0" sz="3200">
                <a:latin typeface="微软雅黑"/>
                <a:cs typeface="微软雅黑"/>
              </a:rPr>
              <a:t>一</a:t>
            </a:r>
            <a:r>
              <a:rPr dirty="0" sz="3200" spc="-5">
                <a:latin typeface="微软雅黑"/>
                <a:cs typeface="微软雅黑"/>
              </a:rPr>
              <a:t>.</a:t>
            </a:r>
            <a:r>
              <a:rPr dirty="0" sz="3200">
                <a:latin typeface="微软雅黑"/>
                <a:cs typeface="微软雅黑"/>
              </a:rPr>
              <a:t>电感器对交变电流的阻碍作</a:t>
            </a:r>
            <a:r>
              <a:rPr dirty="0" sz="3200" spc="5">
                <a:latin typeface="微软雅黑"/>
                <a:cs typeface="微软雅黑"/>
              </a:rPr>
              <a:t>用</a:t>
            </a:r>
            <a:endParaRPr sz="3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微软雅黑"/>
                <a:cs typeface="微软雅黑"/>
              </a:rPr>
              <a:t>电感器在技术中的应用：低频扼流圈、高频扼流圈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68779" y="2322576"/>
            <a:ext cx="5676900" cy="26776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90052" y="4832093"/>
            <a:ext cx="2513965" cy="97409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algn="ctr" marL="118110">
              <a:lnSpc>
                <a:spcPct val="100000"/>
              </a:lnSpc>
              <a:spcBef>
                <a:spcPts val="670"/>
              </a:spcBef>
            </a:pPr>
            <a:r>
              <a:rPr dirty="0" sz="2400" spc="-5" b="1">
                <a:latin typeface="宋体"/>
                <a:cs typeface="宋体"/>
              </a:rPr>
              <a:t>（</a:t>
            </a:r>
            <a:r>
              <a:rPr dirty="0" sz="2400" spc="-5" b="1">
                <a:latin typeface="Times New Roman"/>
                <a:cs typeface="Times New Roman"/>
              </a:rPr>
              <a:t>H</a:t>
            </a:r>
            <a:r>
              <a:rPr dirty="0" sz="2400" spc="-5" b="1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dirty="0" sz="2800" b="1">
                <a:latin typeface="微软雅黑"/>
                <a:cs typeface="微软雅黑"/>
              </a:rPr>
              <a:t>通直流，阻交</a:t>
            </a:r>
            <a:r>
              <a:rPr dirty="0" sz="2800" spc="-5" b="1">
                <a:latin typeface="微软雅黑"/>
                <a:cs typeface="微软雅黑"/>
              </a:rPr>
              <a:t>流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90452" y="4855321"/>
            <a:ext cx="3936365" cy="95123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897255">
              <a:lnSpc>
                <a:spcPct val="100000"/>
              </a:lnSpc>
              <a:spcBef>
                <a:spcPts val="585"/>
              </a:spcBef>
            </a:pPr>
            <a:r>
              <a:rPr dirty="0" sz="2400" spc="-5" b="1">
                <a:latin typeface="宋体"/>
                <a:cs typeface="宋体"/>
              </a:rPr>
              <a:t>（</a:t>
            </a:r>
            <a:r>
              <a:rPr dirty="0" sz="2400" spc="-5" b="1">
                <a:latin typeface="Times New Roman"/>
                <a:cs typeface="Times New Roman"/>
              </a:rPr>
              <a:t>mH</a:t>
            </a:r>
            <a:r>
              <a:rPr dirty="0" sz="2400" spc="-5" b="1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2800" b="1">
                <a:latin typeface="微软雅黑"/>
                <a:cs typeface="微软雅黑"/>
              </a:rPr>
              <a:t>通直流、通低频，阻高</a:t>
            </a:r>
            <a:r>
              <a:rPr dirty="0" sz="2800" spc="-5" b="1">
                <a:latin typeface="微软雅黑"/>
                <a:cs typeface="微软雅黑"/>
              </a:rPr>
              <a:t>频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84068" y="4137977"/>
            <a:ext cx="608965" cy="0"/>
          </a:xfrm>
          <a:custGeom>
            <a:avLst/>
            <a:gdLst/>
            <a:ahLst/>
            <a:cxnLst/>
            <a:rect l="l" t="t" r="r" b="b"/>
            <a:pathLst>
              <a:path w="608965" h="0">
                <a:moveTo>
                  <a:pt x="0" y="0"/>
                </a:moveTo>
                <a:lnTo>
                  <a:pt x="608761" y="0"/>
                </a:lnTo>
              </a:path>
            </a:pathLst>
          </a:custGeom>
          <a:ln w="252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311246" y="4141190"/>
            <a:ext cx="517525" cy="6400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0" spc="220" i="1">
                <a:latin typeface="Times New Roman"/>
                <a:cs typeface="Times New Roman"/>
              </a:rPr>
              <a:t>Z</a:t>
            </a:r>
            <a:r>
              <a:rPr dirty="0" baseline="-25362" sz="3450" spc="22">
                <a:latin typeface="Times New Roman"/>
                <a:cs typeface="Times New Roman"/>
              </a:rPr>
              <a:t>L</a:t>
            </a:r>
            <a:endParaRPr baseline="-25362" sz="3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3736" y="2616198"/>
            <a:ext cx="2201545" cy="1765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76910" algn="l"/>
              </a:tabLst>
            </a:pPr>
            <a:r>
              <a:rPr dirty="0" sz="4000" spc="120" i="1">
                <a:latin typeface="Times New Roman"/>
                <a:cs typeface="Times New Roman"/>
              </a:rPr>
              <a:t>Z</a:t>
            </a:r>
            <a:r>
              <a:rPr dirty="0" baseline="-25362" sz="3450" spc="179">
                <a:latin typeface="Times New Roman"/>
                <a:cs typeface="Times New Roman"/>
              </a:rPr>
              <a:t>L	</a:t>
            </a:r>
            <a:r>
              <a:rPr dirty="0" sz="4000" spc="15">
                <a:latin typeface="Symbol"/>
                <a:cs typeface="Symbol"/>
              </a:rPr>
              <a:t></a:t>
            </a:r>
            <a:r>
              <a:rPr dirty="0" sz="4000" spc="-110">
                <a:latin typeface="Times New Roman"/>
                <a:cs typeface="Times New Roman"/>
              </a:rPr>
              <a:t> </a:t>
            </a:r>
            <a:r>
              <a:rPr dirty="0" sz="4000" spc="-125">
                <a:latin typeface="Times New Roman"/>
                <a:cs typeface="Times New Roman"/>
              </a:rPr>
              <a:t>2</a:t>
            </a:r>
            <a:r>
              <a:rPr dirty="0" sz="4200" spc="-125" i="1">
                <a:latin typeface="Symbol"/>
                <a:cs typeface="Symbol"/>
              </a:rPr>
              <a:t></a:t>
            </a:r>
            <a:r>
              <a:rPr dirty="0" sz="4000" spc="-125" i="1">
                <a:latin typeface="Times New Roman"/>
                <a:cs typeface="Times New Roman"/>
              </a:rPr>
              <a:t>fL</a:t>
            </a:r>
            <a:endParaRPr sz="40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3820"/>
              </a:spcBef>
              <a:tabLst>
                <a:tab pos="838835" algn="l"/>
              </a:tabLst>
            </a:pPr>
            <a:r>
              <a:rPr dirty="0" sz="4000" spc="10" i="1">
                <a:latin typeface="Times New Roman"/>
                <a:cs typeface="Times New Roman"/>
              </a:rPr>
              <a:t>I</a:t>
            </a:r>
            <a:r>
              <a:rPr dirty="0" sz="4000" spc="355" i="1">
                <a:latin typeface="Times New Roman"/>
                <a:cs typeface="Times New Roman"/>
              </a:rPr>
              <a:t> </a:t>
            </a:r>
            <a:r>
              <a:rPr dirty="0" sz="4000" spc="15">
                <a:latin typeface="Symbol"/>
                <a:cs typeface="Symbol"/>
              </a:rPr>
              <a:t></a:t>
            </a:r>
            <a:r>
              <a:rPr dirty="0" sz="4000" spc="15">
                <a:latin typeface="Times New Roman"/>
                <a:cs typeface="Times New Roman"/>
              </a:rPr>
              <a:t>	</a:t>
            </a:r>
            <a:r>
              <a:rPr dirty="0" baseline="35416" sz="6000" spc="30" i="1">
                <a:latin typeface="Times New Roman"/>
                <a:cs typeface="Times New Roman"/>
              </a:rPr>
              <a:t>U</a:t>
            </a:r>
            <a:endParaRPr baseline="35416" sz="6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8152" y="952667"/>
            <a:ext cx="5848350" cy="111823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175"/>
              </a:spcBef>
            </a:pPr>
            <a:r>
              <a:rPr dirty="0" sz="3200" spc="-5">
                <a:latin typeface="微软雅黑"/>
                <a:cs typeface="微软雅黑"/>
              </a:rPr>
              <a:t>二.电容器对交变电流的阻碍作</a:t>
            </a:r>
            <a:r>
              <a:rPr dirty="0" sz="3200" spc="5">
                <a:latin typeface="微软雅黑"/>
                <a:cs typeface="微软雅黑"/>
              </a:rPr>
              <a:t>用</a:t>
            </a:r>
            <a:endParaRPr sz="3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400">
                <a:latin typeface="微软雅黑"/>
                <a:cs typeface="微软雅黑"/>
              </a:rPr>
              <a:t>实验</a:t>
            </a:r>
            <a:r>
              <a:rPr dirty="0" sz="2400" spc="-5">
                <a:latin typeface="微软雅黑"/>
                <a:cs typeface="微软雅黑"/>
              </a:rPr>
              <a:t>3：</a:t>
            </a:r>
            <a:r>
              <a:rPr dirty="0" u="heavy" sz="2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体验电容器对交变电流的影响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5002" y="4768850"/>
            <a:ext cx="5664200" cy="90931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400">
                <a:latin typeface="微软雅黑"/>
                <a:cs typeface="微软雅黑"/>
              </a:rPr>
              <a:t>结论：</a:t>
            </a:r>
            <a:r>
              <a:rPr dirty="0" sz="2400" spc="-20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①</a:t>
            </a:r>
            <a:r>
              <a:rPr dirty="0" sz="2400" spc="-125">
                <a:latin typeface="微软雅黑"/>
                <a:cs typeface="微软雅黑"/>
              </a:rPr>
              <a:t> 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交变电流能够通过电容器</a:t>
            </a:r>
            <a:r>
              <a:rPr dirty="0" sz="2400">
                <a:latin typeface="微软雅黑"/>
                <a:cs typeface="微软雅黑"/>
              </a:rPr>
              <a:t>；</a:t>
            </a:r>
            <a:endParaRPr sz="2400">
              <a:latin typeface="微软雅黑"/>
              <a:cs typeface="微软雅黑"/>
            </a:endParaRPr>
          </a:p>
          <a:p>
            <a:pPr marL="1002665">
              <a:lnSpc>
                <a:spcPct val="100000"/>
              </a:lnSpc>
              <a:spcBef>
                <a:spcPts val="600"/>
              </a:spcBef>
            </a:pPr>
            <a:r>
              <a:rPr dirty="0" sz="2400">
                <a:latin typeface="微软雅黑"/>
                <a:cs typeface="微软雅黑"/>
              </a:rPr>
              <a:t>②</a:t>
            </a:r>
            <a:r>
              <a:rPr dirty="0" sz="2400" spc="-200">
                <a:latin typeface="微软雅黑"/>
                <a:cs typeface="微软雅黑"/>
              </a:rPr>
              <a:t> 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电容器对交变电流有阻碍作用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20367" y="2202179"/>
            <a:ext cx="7470648" cy="2385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5981700" y="937260"/>
            <a:ext cx="5849111" cy="3890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64207" y="2461260"/>
            <a:ext cx="2962656" cy="20558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2902" y="4755197"/>
            <a:ext cx="11400790" cy="193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541020">
              <a:lnSpc>
                <a:spcPct val="125000"/>
              </a:lnSpc>
              <a:spcBef>
                <a:spcPts val="100"/>
              </a:spcBef>
            </a:pPr>
            <a:r>
              <a:rPr dirty="0" sz="2400" spc="35">
                <a:latin typeface="微软雅黑"/>
                <a:cs typeface="微软雅黑"/>
              </a:rPr>
              <a:t>在交流电路中，电源加</a:t>
            </a:r>
            <a:r>
              <a:rPr dirty="0" sz="2400" spc="40">
                <a:latin typeface="微软雅黑"/>
                <a:cs typeface="微软雅黑"/>
              </a:rPr>
              <a:t>在两极板上</a:t>
            </a:r>
            <a:r>
              <a:rPr dirty="0" sz="2400" spc="40" b="1">
                <a:solidFill>
                  <a:srgbClr val="001F5F"/>
                </a:solidFill>
                <a:latin typeface="微软雅黑"/>
                <a:cs typeface="微软雅黑"/>
              </a:rPr>
              <a:t>电压</a:t>
            </a:r>
            <a:r>
              <a:rPr dirty="0" sz="2400" spc="40">
                <a:latin typeface="微软雅黑"/>
                <a:cs typeface="微软雅黑"/>
              </a:rPr>
              <a:t>的大小和正负</a:t>
            </a:r>
            <a:r>
              <a:rPr dirty="0" sz="2400" spc="40" b="1">
                <a:solidFill>
                  <a:srgbClr val="001F5F"/>
                </a:solidFill>
                <a:latin typeface="微软雅黑"/>
                <a:cs typeface="微软雅黑"/>
              </a:rPr>
              <a:t>周期性变化，电容器交替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地 </a:t>
            </a:r>
            <a:r>
              <a:rPr dirty="0" sz="2400" spc="20" b="1">
                <a:solidFill>
                  <a:srgbClr val="001F5F"/>
                </a:solidFill>
                <a:latin typeface="微软雅黑"/>
                <a:cs typeface="微软雅黑"/>
              </a:rPr>
              <a:t>充电和放电，自由电荷往复运动</a:t>
            </a:r>
            <a:r>
              <a:rPr dirty="0" sz="2400" spc="20">
                <a:latin typeface="微软雅黑"/>
                <a:cs typeface="微软雅黑"/>
              </a:rPr>
              <a:t>，与电容器和电源连接的电</a:t>
            </a:r>
            <a:r>
              <a:rPr dirty="0" sz="2400" spc="25">
                <a:latin typeface="微软雅黑"/>
                <a:cs typeface="微软雅黑"/>
              </a:rPr>
              <a:t>路中就有了电流，表现</a:t>
            </a:r>
            <a:r>
              <a:rPr dirty="0" sz="2400">
                <a:latin typeface="微软雅黑"/>
                <a:cs typeface="微软雅黑"/>
              </a:rPr>
              <a:t>为 电流“通过”了电容器。</a:t>
            </a:r>
            <a:endParaRPr sz="2400">
              <a:latin typeface="微软雅黑"/>
              <a:cs typeface="微软雅黑"/>
            </a:endParaRPr>
          </a:p>
          <a:p>
            <a:pPr marL="553085">
              <a:lnSpc>
                <a:spcPct val="100000"/>
              </a:lnSpc>
              <a:spcBef>
                <a:spcPts val="1320"/>
              </a:spcBef>
            </a:pPr>
            <a:r>
              <a:rPr dirty="0" sz="2400">
                <a:latin typeface="微软雅黑"/>
                <a:cs typeface="微软雅黑"/>
              </a:rPr>
              <a:t>自由电荷并没有通过电容器两极板间的绝缘介质。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152" y="952667"/>
            <a:ext cx="5848350" cy="111823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175"/>
              </a:spcBef>
            </a:pPr>
            <a:r>
              <a:rPr dirty="0" sz="3200" spc="-5">
                <a:latin typeface="微软雅黑"/>
                <a:cs typeface="微软雅黑"/>
              </a:rPr>
              <a:t>二.电容器对交变电流的阻碍作</a:t>
            </a:r>
            <a:r>
              <a:rPr dirty="0" sz="3200" spc="5">
                <a:latin typeface="微软雅黑"/>
                <a:cs typeface="微软雅黑"/>
              </a:rPr>
              <a:t>用</a:t>
            </a:r>
            <a:endParaRPr sz="3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400" spc="-5">
                <a:latin typeface="微软雅黑"/>
                <a:cs typeface="微软雅黑"/>
              </a:rPr>
              <a:t>1.</a:t>
            </a:r>
            <a:r>
              <a:rPr dirty="0" sz="2400">
                <a:latin typeface="微软雅黑"/>
                <a:cs typeface="微软雅黑"/>
              </a:rPr>
              <a:t>交变电流能够通过电容器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473451" y="2686811"/>
            <a:ext cx="2962655" cy="2054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02615" y="4198937"/>
            <a:ext cx="7978775" cy="135128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400" spc="-5">
                <a:latin typeface="微软雅黑"/>
                <a:cs typeface="微软雅黑"/>
              </a:rPr>
              <a:t>(1)</a:t>
            </a:r>
            <a:r>
              <a:rPr dirty="0" sz="2400" spc="-10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结论：</a:t>
            </a:r>
            <a:endParaRPr sz="2400">
              <a:latin typeface="微软雅黑"/>
              <a:cs typeface="微软雅黑"/>
            </a:endParaRPr>
          </a:p>
          <a:p>
            <a:pPr marL="553085">
              <a:lnSpc>
                <a:spcPct val="100000"/>
              </a:lnSpc>
              <a:spcBef>
                <a:spcPts val="600"/>
              </a:spcBef>
            </a:pPr>
            <a:r>
              <a:rPr dirty="0" sz="2400">
                <a:latin typeface="微软雅黑"/>
                <a:cs typeface="微软雅黑"/>
              </a:rPr>
              <a:t>影响容抗的因素有交变电流的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频</a:t>
            </a:r>
            <a:r>
              <a:rPr dirty="0" sz="2400" spc="300" b="1">
                <a:solidFill>
                  <a:srgbClr val="001F5F"/>
                </a:solidFill>
                <a:latin typeface="微软雅黑"/>
                <a:cs typeface="微软雅黑"/>
              </a:rPr>
              <a:t>率</a:t>
            </a:r>
            <a:r>
              <a:rPr dirty="0" sz="2400" i="1">
                <a:latin typeface="Times New Roman"/>
                <a:cs typeface="Times New Roman"/>
              </a:rPr>
              <a:t>f</a:t>
            </a:r>
            <a:r>
              <a:rPr dirty="0" sz="2400" spc="-90" i="1">
                <a:latin typeface="Times New Roman"/>
                <a:cs typeface="Times New Roman"/>
              </a:rPr>
              <a:t> </a:t>
            </a:r>
            <a:r>
              <a:rPr dirty="0" sz="2400">
                <a:latin typeface="微软雅黑"/>
                <a:cs typeface="微软雅黑"/>
              </a:rPr>
              <a:t>和电容器的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电容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546100">
              <a:lnSpc>
                <a:spcPct val="100000"/>
              </a:lnSpc>
              <a:spcBef>
                <a:spcPts val="600"/>
              </a:spcBef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电容越大、频率越高，容抗越小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17108" y="5516879"/>
            <a:ext cx="4841875" cy="1146175"/>
          </a:xfrm>
          <a:custGeom>
            <a:avLst/>
            <a:gdLst/>
            <a:ahLst/>
            <a:cxnLst/>
            <a:rect l="l" t="t" r="r" b="b"/>
            <a:pathLst>
              <a:path w="4841875" h="1146175">
                <a:moveTo>
                  <a:pt x="4649723" y="1146048"/>
                </a:moveTo>
                <a:lnTo>
                  <a:pt x="190500" y="1146048"/>
                </a:lnTo>
                <a:lnTo>
                  <a:pt x="146706" y="1140934"/>
                </a:lnTo>
                <a:lnTo>
                  <a:pt x="106513" y="1126528"/>
                </a:lnTo>
                <a:lnTo>
                  <a:pt x="71076" y="1103984"/>
                </a:lnTo>
                <a:lnTo>
                  <a:pt x="41550" y="1074458"/>
                </a:lnTo>
                <a:lnTo>
                  <a:pt x="19092" y="1039106"/>
                </a:lnTo>
                <a:lnTo>
                  <a:pt x="4856" y="999084"/>
                </a:lnTo>
                <a:lnTo>
                  <a:pt x="0" y="955548"/>
                </a:lnTo>
                <a:lnTo>
                  <a:pt x="0" y="190500"/>
                </a:lnTo>
                <a:lnTo>
                  <a:pt x="4856" y="146780"/>
                </a:lnTo>
                <a:lnTo>
                  <a:pt x="19092" y="106635"/>
                </a:lnTo>
                <a:lnTo>
                  <a:pt x="41550" y="71221"/>
                </a:lnTo>
                <a:lnTo>
                  <a:pt x="71076" y="41694"/>
                </a:lnTo>
                <a:lnTo>
                  <a:pt x="106513" y="19211"/>
                </a:lnTo>
                <a:lnTo>
                  <a:pt x="146706" y="4927"/>
                </a:lnTo>
                <a:lnTo>
                  <a:pt x="190500" y="0"/>
                </a:lnTo>
                <a:lnTo>
                  <a:pt x="4649723" y="0"/>
                </a:lnTo>
                <a:lnTo>
                  <a:pt x="4693751" y="4927"/>
                </a:lnTo>
                <a:lnTo>
                  <a:pt x="4734129" y="19211"/>
                </a:lnTo>
                <a:lnTo>
                  <a:pt x="4769729" y="41694"/>
                </a:lnTo>
                <a:lnTo>
                  <a:pt x="4799420" y="71221"/>
                </a:lnTo>
                <a:lnTo>
                  <a:pt x="4822073" y="106635"/>
                </a:lnTo>
                <a:lnTo>
                  <a:pt x="4836559" y="146780"/>
                </a:lnTo>
                <a:lnTo>
                  <a:pt x="4841747" y="190500"/>
                </a:lnTo>
                <a:lnTo>
                  <a:pt x="4841747" y="955548"/>
                </a:lnTo>
                <a:lnTo>
                  <a:pt x="4836559" y="999084"/>
                </a:lnTo>
                <a:lnTo>
                  <a:pt x="4822073" y="1039106"/>
                </a:lnTo>
                <a:lnTo>
                  <a:pt x="4799420" y="1074458"/>
                </a:lnTo>
                <a:lnTo>
                  <a:pt x="4769729" y="1103984"/>
                </a:lnTo>
                <a:lnTo>
                  <a:pt x="4734129" y="1126528"/>
                </a:lnTo>
                <a:lnTo>
                  <a:pt x="4693751" y="1140934"/>
                </a:lnTo>
                <a:lnTo>
                  <a:pt x="4649723" y="1146048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10313" y="5510212"/>
            <a:ext cx="4854575" cy="1158240"/>
          </a:xfrm>
          <a:custGeom>
            <a:avLst/>
            <a:gdLst/>
            <a:ahLst/>
            <a:cxnLst/>
            <a:rect l="l" t="t" r="r" b="b"/>
            <a:pathLst>
              <a:path w="4854575" h="1158240">
                <a:moveTo>
                  <a:pt x="4667313" y="1158240"/>
                </a:moveTo>
                <a:lnTo>
                  <a:pt x="187121" y="1158240"/>
                </a:lnTo>
                <a:lnTo>
                  <a:pt x="157543" y="1154429"/>
                </a:lnTo>
                <a:lnTo>
                  <a:pt x="129451" y="1146809"/>
                </a:lnTo>
                <a:lnTo>
                  <a:pt x="120484" y="1143000"/>
                </a:lnTo>
                <a:lnTo>
                  <a:pt x="111747" y="1139190"/>
                </a:lnTo>
                <a:lnTo>
                  <a:pt x="103225" y="1134109"/>
                </a:lnTo>
                <a:lnTo>
                  <a:pt x="94957" y="1130300"/>
                </a:lnTo>
                <a:lnTo>
                  <a:pt x="86956" y="1123950"/>
                </a:lnTo>
                <a:lnTo>
                  <a:pt x="79222" y="1118870"/>
                </a:lnTo>
                <a:lnTo>
                  <a:pt x="71767" y="1113790"/>
                </a:lnTo>
                <a:lnTo>
                  <a:pt x="64604" y="1107440"/>
                </a:lnTo>
                <a:lnTo>
                  <a:pt x="57746" y="1099820"/>
                </a:lnTo>
                <a:lnTo>
                  <a:pt x="51206" y="1093470"/>
                </a:lnTo>
                <a:lnTo>
                  <a:pt x="45008" y="1085850"/>
                </a:lnTo>
                <a:lnTo>
                  <a:pt x="39154" y="1079500"/>
                </a:lnTo>
                <a:lnTo>
                  <a:pt x="33642" y="1070609"/>
                </a:lnTo>
                <a:lnTo>
                  <a:pt x="11912" y="1028700"/>
                </a:lnTo>
                <a:lnTo>
                  <a:pt x="2209" y="990600"/>
                </a:lnTo>
                <a:lnTo>
                  <a:pt x="0" y="966470"/>
                </a:lnTo>
                <a:lnTo>
                  <a:pt x="0" y="191770"/>
                </a:lnTo>
                <a:lnTo>
                  <a:pt x="6146" y="147320"/>
                </a:lnTo>
                <a:lnTo>
                  <a:pt x="19405" y="111760"/>
                </a:lnTo>
                <a:lnTo>
                  <a:pt x="23761" y="102870"/>
                </a:lnTo>
                <a:lnTo>
                  <a:pt x="45008" y="71120"/>
                </a:lnTo>
                <a:lnTo>
                  <a:pt x="79222" y="38100"/>
                </a:lnTo>
                <a:lnTo>
                  <a:pt x="120484" y="15239"/>
                </a:lnTo>
                <a:lnTo>
                  <a:pt x="157543" y="3810"/>
                </a:lnTo>
                <a:lnTo>
                  <a:pt x="167271" y="1270"/>
                </a:lnTo>
                <a:lnTo>
                  <a:pt x="177139" y="0"/>
                </a:lnTo>
                <a:lnTo>
                  <a:pt x="4677295" y="0"/>
                </a:lnTo>
                <a:lnTo>
                  <a:pt x="4687176" y="1270"/>
                </a:lnTo>
                <a:lnTo>
                  <a:pt x="4696904" y="3810"/>
                </a:lnTo>
                <a:lnTo>
                  <a:pt x="4706454" y="5079"/>
                </a:lnTo>
                <a:lnTo>
                  <a:pt x="4715827" y="7620"/>
                </a:lnTo>
                <a:lnTo>
                  <a:pt x="4727985" y="12700"/>
                </a:lnTo>
                <a:lnTo>
                  <a:pt x="178587" y="12700"/>
                </a:lnTo>
                <a:lnTo>
                  <a:pt x="169024" y="13970"/>
                </a:lnTo>
                <a:lnTo>
                  <a:pt x="169341" y="13970"/>
                </a:lnTo>
                <a:lnTo>
                  <a:pt x="159931" y="15239"/>
                </a:lnTo>
                <a:lnTo>
                  <a:pt x="160248" y="15239"/>
                </a:lnTo>
                <a:lnTo>
                  <a:pt x="151002" y="17779"/>
                </a:lnTo>
                <a:lnTo>
                  <a:pt x="151307" y="17779"/>
                </a:lnTo>
                <a:lnTo>
                  <a:pt x="142252" y="20320"/>
                </a:lnTo>
                <a:lnTo>
                  <a:pt x="142544" y="20320"/>
                </a:lnTo>
                <a:lnTo>
                  <a:pt x="133667" y="22860"/>
                </a:lnTo>
                <a:lnTo>
                  <a:pt x="133959" y="22860"/>
                </a:lnTo>
                <a:lnTo>
                  <a:pt x="125285" y="26670"/>
                </a:lnTo>
                <a:lnTo>
                  <a:pt x="125577" y="26670"/>
                </a:lnTo>
                <a:lnTo>
                  <a:pt x="117119" y="30479"/>
                </a:lnTo>
                <a:lnTo>
                  <a:pt x="117398" y="30479"/>
                </a:lnTo>
                <a:lnTo>
                  <a:pt x="109156" y="34289"/>
                </a:lnTo>
                <a:lnTo>
                  <a:pt x="109423" y="34289"/>
                </a:lnTo>
                <a:lnTo>
                  <a:pt x="103422" y="38100"/>
                </a:lnTo>
                <a:lnTo>
                  <a:pt x="101688" y="38100"/>
                </a:lnTo>
                <a:lnTo>
                  <a:pt x="93941" y="43179"/>
                </a:lnTo>
                <a:lnTo>
                  <a:pt x="94195" y="43179"/>
                </a:lnTo>
                <a:lnTo>
                  <a:pt x="86702" y="48260"/>
                </a:lnTo>
                <a:lnTo>
                  <a:pt x="86944" y="48260"/>
                </a:lnTo>
                <a:lnTo>
                  <a:pt x="79730" y="54610"/>
                </a:lnTo>
                <a:lnTo>
                  <a:pt x="79959" y="54610"/>
                </a:lnTo>
                <a:lnTo>
                  <a:pt x="73025" y="59689"/>
                </a:lnTo>
                <a:lnTo>
                  <a:pt x="73253" y="59689"/>
                </a:lnTo>
                <a:lnTo>
                  <a:pt x="66624" y="66039"/>
                </a:lnTo>
                <a:lnTo>
                  <a:pt x="66840" y="66039"/>
                </a:lnTo>
                <a:lnTo>
                  <a:pt x="60502" y="72389"/>
                </a:lnTo>
                <a:lnTo>
                  <a:pt x="60718" y="72389"/>
                </a:lnTo>
                <a:lnTo>
                  <a:pt x="55712" y="78739"/>
                </a:lnTo>
                <a:lnTo>
                  <a:pt x="54902" y="78739"/>
                </a:lnTo>
                <a:lnTo>
                  <a:pt x="49225" y="86360"/>
                </a:lnTo>
                <a:lnTo>
                  <a:pt x="49415" y="86360"/>
                </a:lnTo>
                <a:lnTo>
                  <a:pt x="44081" y="93979"/>
                </a:lnTo>
                <a:lnTo>
                  <a:pt x="44259" y="93979"/>
                </a:lnTo>
                <a:lnTo>
                  <a:pt x="40121" y="100329"/>
                </a:lnTo>
                <a:lnTo>
                  <a:pt x="39446" y="100329"/>
                </a:lnTo>
                <a:lnTo>
                  <a:pt x="34848" y="109220"/>
                </a:lnTo>
                <a:lnTo>
                  <a:pt x="34988" y="109220"/>
                </a:lnTo>
                <a:lnTo>
                  <a:pt x="30772" y="116839"/>
                </a:lnTo>
                <a:lnTo>
                  <a:pt x="30911" y="116839"/>
                </a:lnTo>
                <a:lnTo>
                  <a:pt x="27089" y="124460"/>
                </a:lnTo>
                <a:lnTo>
                  <a:pt x="23787" y="133350"/>
                </a:lnTo>
                <a:lnTo>
                  <a:pt x="20891" y="142239"/>
                </a:lnTo>
                <a:lnTo>
                  <a:pt x="18781" y="149860"/>
                </a:lnTo>
                <a:lnTo>
                  <a:pt x="18491" y="149860"/>
                </a:lnTo>
                <a:lnTo>
                  <a:pt x="16624" y="158750"/>
                </a:lnTo>
                <a:lnTo>
                  <a:pt x="16421" y="158750"/>
                </a:lnTo>
                <a:lnTo>
                  <a:pt x="14732" y="168910"/>
                </a:lnTo>
                <a:lnTo>
                  <a:pt x="13576" y="177800"/>
                </a:lnTo>
                <a:lnTo>
                  <a:pt x="12957" y="186689"/>
                </a:lnTo>
                <a:lnTo>
                  <a:pt x="12700" y="191770"/>
                </a:lnTo>
                <a:lnTo>
                  <a:pt x="12744" y="966470"/>
                </a:lnTo>
                <a:lnTo>
                  <a:pt x="12865" y="970279"/>
                </a:lnTo>
                <a:lnTo>
                  <a:pt x="13601" y="980439"/>
                </a:lnTo>
                <a:lnTo>
                  <a:pt x="14782" y="989329"/>
                </a:lnTo>
                <a:lnTo>
                  <a:pt x="16421" y="998220"/>
                </a:lnTo>
                <a:lnTo>
                  <a:pt x="18491" y="1007109"/>
                </a:lnTo>
                <a:lnTo>
                  <a:pt x="20980" y="1016000"/>
                </a:lnTo>
                <a:lnTo>
                  <a:pt x="23888" y="1024890"/>
                </a:lnTo>
                <a:lnTo>
                  <a:pt x="24275" y="1024890"/>
                </a:lnTo>
                <a:lnTo>
                  <a:pt x="27203" y="1032509"/>
                </a:lnTo>
                <a:lnTo>
                  <a:pt x="30911" y="1041400"/>
                </a:lnTo>
                <a:lnTo>
                  <a:pt x="30772" y="1041400"/>
                </a:lnTo>
                <a:lnTo>
                  <a:pt x="34988" y="1049020"/>
                </a:lnTo>
                <a:lnTo>
                  <a:pt x="34848" y="1049020"/>
                </a:lnTo>
                <a:lnTo>
                  <a:pt x="39446" y="1056640"/>
                </a:lnTo>
                <a:lnTo>
                  <a:pt x="39293" y="1056640"/>
                </a:lnTo>
                <a:lnTo>
                  <a:pt x="44259" y="1064259"/>
                </a:lnTo>
                <a:lnTo>
                  <a:pt x="44081" y="1064259"/>
                </a:lnTo>
                <a:lnTo>
                  <a:pt x="49415" y="1071879"/>
                </a:lnTo>
                <a:lnTo>
                  <a:pt x="50171" y="1071879"/>
                </a:lnTo>
                <a:lnTo>
                  <a:pt x="54902" y="1078229"/>
                </a:lnTo>
                <a:lnTo>
                  <a:pt x="54711" y="1078229"/>
                </a:lnTo>
                <a:lnTo>
                  <a:pt x="60718" y="1084579"/>
                </a:lnTo>
                <a:lnTo>
                  <a:pt x="60502" y="1084579"/>
                </a:lnTo>
                <a:lnTo>
                  <a:pt x="66840" y="1090929"/>
                </a:lnTo>
                <a:lnTo>
                  <a:pt x="66624" y="1090929"/>
                </a:lnTo>
                <a:lnTo>
                  <a:pt x="73253" y="1097279"/>
                </a:lnTo>
                <a:lnTo>
                  <a:pt x="73025" y="1097279"/>
                </a:lnTo>
                <a:lnTo>
                  <a:pt x="79959" y="1103629"/>
                </a:lnTo>
                <a:lnTo>
                  <a:pt x="79730" y="1103629"/>
                </a:lnTo>
                <a:lnTo>
                  <a:pt x="86944" y="1108709"/>
                </a:lnTo>
                <a:lnTo>
                  <a:pt x="86702" y="1108709"/>
                </a:lnTo>
                <a:lnTo>
                  <a:pt x="94195" y="1113790"/>
                </a:lnTo>
                <a:lnTo>
                  <a:pt x="93941" y="1113790"/>
                </a:lnTo>
                <a:lnTo>
                  <a:pt x="101688" y="1118870"/>
                </a:lnTo>
                <a:lnTo>
                  <a:pt x="101422" y="1118870"/>
                </a:lnTo>
                <a:lnTo>
                  <a:pt x="109423" y="1123950"/>
                </a:lnTo>
                <a:lnTo>
                  <a:pt x="111217" y="1123950"/>
                </a:lnTo>
                <a:lnTo>
                  <a:pt x="117398" y="1127759"/>
                </a:lnTo>
                <a:lnTo>
                  <a:pt x="117119" y="1127759"/>
                </a:lnTo>
                <a:lnTo>
                  <a:pt x="125577" y="1131570"/>
                </a:lnTo>
                <a:lnTo>
                  <a:pt x="125285" y="1131570"/>
                </a:lnTo>
                <a:lnTo>
                  <a:pt x="133959" y="1134109"/>
                </a:lnTo>
                <a:lnTo>
                  <a:pt x="133667" y="1134109"/>
                </a:lnTo>
                <a:lnTo>
                  <a:pt x="142544" y="1137920"/>
                </a:lnTo>
                <a:lnTo>
                  <a:pt x="146780" y="1137920"/>
                </a:lnTo>
                <a:lnTo>
                  <a:pt x="151307" y="1139190"/>
                </a:lnTo>
                <a:lnTo>
                  <a:pt x="151002" y="1139190"/>
                </a:lnTo>
                <a:lnTo>
                  <a:pt x="160248" y="1141729"/>
                </a:lnTo>
                <a:lnTo>
                  <a:pt x="159931" y="1141729"/>
                </a:lnTo>
                <a:lnTo>
                  <a:pt x="169341" y="1143000"/>
                </a:lnTo>
                <a:lnTo>
                  <a:pt x="169024" y="1143000"/>
                </a:lnTo>
                <a:lnTo>
                  <a:pt x="178587" y="1144270"/>
                </a:lnTo>
                <a:lnTo>
                  <a:pt x="178269" y="1144270"/>
                </a:lnTo>
                <a:lnTo>
                  <a:pt x="187972" y="1145540"/>
                </a:lnTo>
                <a:lnTo>
                  <a:pt x="4727985" y="1145540"/>
                </a:lnTo>
                <a:lnTo>
                  <a:pt x="4724996" y="1146809"/>
                </a:lnTo>
                <a:lnTo>
                  <a:pt x="4696904" y="1154429"/>
                </a:lnTo>
                <a:lnTo>
                  <a:pt x="4667313" y="1158240"/>
                </a:lnTo>
                <a:close/>
              </a:path>
              <a:path w="4854575" h="1158240">
                <a:moveTo>
                  <a:pt x="4753025" y="39370"/>
                </a:moveTo>
                <a:lnTo>
                  <a:pt x="4745024" y="34289"/>
                </a:lnTo>
                <a:lnTo>
                  <a:pt x="4745291" y="34289"/>
                </a:lnTo>
                <a:lnTo>
                  <a:pt x="4737049" y="30479"/>
                </a:lnTo>
                <a:lnTo>
                  <a:pt x="4737328" y="30479"/>
                </a:lnTo>
                <a:lnTo>
                  <a:pt x="4728870" y="26670"/>
                </a:lnTo>
                <a:lnTo>
                  <a:pt x="4729162" y="26670"/>
                </a:lnTo>
                <a:lnTo>
                  <a:pt x="4720488" y="22860"/>
                </a:lnTo>
                <a:lnTo>
                  <a:pt x="4720780" y="22860"/>
                </a:lnTo>
                <a:lnTo>
                  <a:pt x="4711903" y="20320"/>
                </a:lnTo>
                <a:lnTo>
                  <a:pt x="4712195" y="20320"/>
                </a:lnTo>
                <a:lnTo>
                  <a:pt x="4703140" y="17779"/>
                </a:lnTo>
                <a:lnTo>
                  <a:pt x="4703445" y="17779"/>
                </a:lnTo>
                <a:lnTo>
                  <a:pt x="4694199" y="15239"/>
                </a:lnTo>
                <a:lnTo>
                  <a:pt x="4694516" y="15239"/>
                </a:lnTo>
                <a:lnTo>
                  <a:pt x="4685106" y="13970"/>
                </a:lnTo>
                <a:lnTo>
                  <a:pt x="4685423" y="13970"/>
                </a:lnTo>
                <a:lnTo>
                  <a:pt x="4675860" y="12700"/>
                </a:lnTo>
                <a:lnTo>
                  <a:pt x="4727985" y="12700"/>
                </a:lnTo>
                <a:lnTo>
                  <a:pt x="4767491" y="33020"/>
                </a:lnTo>
                <a:lnTo>
                  <a:pt x="4775225" y="38100"/>
                </a:lnTo>
                <a:lnTo>
                  <a:pt x="4752759" y="38100"/>
                </a:lnTo>
                <a:lnTo>
                  <a:pt x="4753025" y="39370"/>
                </a:lnTo>
                <a:close/>
              </a:path>
              <a:path w="4854575" h="1158240">
                <a:moveTo>
                  <a:pt x="101422" y="39370"/>
                </a:moveTo>
                <a:lnTo>
                  <a:pt x="101688" y="38100"/>
                </a:lnTo>
                <a:lnTo>
                  <a:pt x="103422" y="38100"/>
                </a:lnTo>
                <a:lnTo>
                  <a:pt x="101422" y="39370"/>
                </a:lnTo>
                <a:close/>
              </a:path>
              <a:path w="4854575" h="1158240">
                <a:moveTo>
                  <a:pt x="4799736" y="80010"/>
                </a:moveTo>
                <a:lnTo>
                  <a:pt x="4793729" y="72389"/>
                </a:lnTo>
                <a:lnTo>
                  <a:pt x="4793932" y="72389"/>
                </a:lnTo>
                <a:lnTo>
                  <a:pt x="4787607" y="66039"/>
                </a:lnTo>
                <a:lnTo>
                  <a:pt x="4787823" y="66039"/>
                </a:lnTo>
                <a:lnTo>
                  <a:pt x="4781194" y="59689"/>
                </a:lnTo>
                <a:lnTo>
                  <a:pt x="4781423" y="59689"/>
                </a:lnTo>
                <a:lnTo>
                  <a:pt x="4774488" y="54610"/>
                </a:lnTo>
                <a:lnTo>
                  <a:pt x="4774717" y="54610"/>
                </a:lnTo>
                <a:lnTo>
                  <a:pt x="4767503" y="48260"/>
                </a:lnTo>
                <a:lnTo>
                  <a:pt x="4767745" y="48260"/>
                </a:lnTo>
                <a:lnTo>
                  <a:pt x="4760252" y="43179"/>
                </a:lnTo>
                <a:lnTo>
                  <a:pt x="4760506" y="43179"/>
                </a:lnTo>
                <a:lnTo>
                  <a:pt x="4752759" y="38100"/>
                </a:lnTo>
                <a:lnTo>
                  <a:pt x="4775225" y="38100"/>
                </a:lnTo>
                <a:lnTo>
                  <a:pt x="4809439" y="71120"/>
                </a:lnTo>
                <a:lnTo>
                  <a:pt x="4815293" y="78739"/>
                </a:lnTo>
                <a:lnTo>
                  <a:pt x="4799545" y="78739"/>
                </a:lnTo>
                <a:lnTo>
                  <a:pt x="4799736" y="80010"/>
                </a:lnTo>
                <a:close/>
              </a:path>
              <a:path w="4854575" h="1158240">
                <a:moveTo>
                  <a:pt x="54711" y="80010"/>
                </a:moveTo>
                <a:lnTo>
                  <a:pt x="54902" y="78739"/>
                </a:lnTo>
                <a:lnTo>
                  <a:pt x="55712" y="78739"/>
                </a:lnTo>
                <a:lnTo>
                  <a:pt x="54711" y="80010"/>
                </a:lnTo>
                <a:close/>
              </a:path>
              <a:path w="4854575" h="1158240">
                <a:moveTo>
                  <a:pt x="4815154" y="101600"/>
                </a:moveTo>
                <a:lnTo>
                  <a:pt x="4810188" y="93979"/>
                </a:lnTo>
                <a:lnTo>
                  <a:pt x="4810366" y="93979"/>
                </a:lnTo>
                <a:lnTo>
                  <a:pt x="4805032" y="86360"/>
                </a:lnTo>
                <a:lnTo>
                  <a:pt x="4805222" y="86360"/>
                </a:lnTo>
                <a:lnTo>
                  <a:pt x="4799545" y="78739"/>
                </a:lnTo>
                <a:lnTo>
                  <a:pt x="4815293" y="78739"/>
                </a:lnTo>
                <a:lnTo>
                  <a:pt x="4820793" y="86360"/>
                </a:lnTo>
                <a:lnTo>
                  <a:pt x="4825936" y="93979"/>
                </a:lnTo>
                <a:lnTo>
                  <a:pt x="4829329" y="100329"/>
                </a:lnTo>
                <a:lnTo>
                  <a:pt x="4815001" y="100329"/>
                </a:lnTo>
                <a:lnTo>
                  <a:pt x="4815154" y="101600"/>
                </a:lnTo>
                <a:close/>
              </a:path>
              <a:path w="4854575" h="1158240">
                <a:moveTo>
                  <a:pt x="39293" y="101600"/>
                </a:moveTo>
                <a:lnTo>
                  <a:pt x="39446" y="100329"/>
                </a:lnTo>
                <a:lnTo>
                  <a:pt x="40121" y="100329"/>
                </a:lnTo>
                <a:lnTo>
                  <a:pt x="39293" y="101600"/>
                </a:lnTo>
                <a:close/>
              </a:path>
              <a:path w="4854575" h="1158240">
                <a:moveTo>
                  <a:pt x="4836033" y="151129"/>
                </a:moveTo>
                <a:lnTo>
                  <a:pt x="4833467" y="142239"/>
                </a:lnTo>
                <a:lnTo>
                  <a:pt x="4830559" y="133350"/>
                </a:lnTo>
                <a:lnTo>
                  <a:pt x="4827244" y="124460"/>
                </a:lnTo>
                <a:lnTo>
                  <a:pt x="4823536" y="116839"/>
                </a:lnTo>
                <a:lnTo>
                  <a:pt x="4823675" y="116839"/>
                </a:lnTo>
                <a:lnTo>
                  <a:pt x="4819459" y="109220"/>
                </a:lnTo>
                <a:lnTo>
                  <a:pt x="4819599" y="109220"/>
                </a:lnTo>
                <a:lnTo>
                  <a:pt x="4815001" y="100329"/>
                </a:lnTo>
                <a:lnTo>
                  <a:pt x="4829329" y="100329"/>
                </a:lnTo>
                <a:lnTo>
                  <a:pt x="4830686" y="102870"/>
                </a:lnTo>
                <a:lnTo>
                  <a:pt x="4835042" y="111760"/>
                </a:lnTo>
                <a:lnTo>
                  <a:pt x="4839004" y="119379"/>
                </a:lnTo>
                <a:lnTo>
                  <a:pt x="4842535" y="128270"/>
                </a:lnTo>
                <a:lnTo>
                  <a:pt x="4845634" y="138429"/>
                </a:lnTo>
                <a:lnTo>
                  <a:pt x="4848301" y="147320"/>
                </a:lnTo>
                <a:lnTo>
                  <a:pt x="4848850" y="149860"/>
                </a:lnTo>
                <a:lnTo>
                  <a:pt x="4835956" y="149860"/>
                </a:lnTo>
                <a:lnTo>
                  <a:pt x="4836033" y="151129"/>
                </a:lnTo>
                <a:close/>
              </a:path>
              <a:path w="4854575" h="1158240">
                <a:moveTo>
                  <a:pt x="18414" y="151129"/>
                </a:moveTo>
                <a:lnTo>
                  <a:pt x="18491" y="149860"/>
                </a:lnTo>
                <a:lnTo>
                  <a:pt x="18781" y="149860"/>
                </a:lnTo>
                <a:lnTo>
                  <a:pt x="18414" y="151129"/>
                </a:lnTo>
                <a:close/>
              </a:path>
              <a:path w="4854575" h="1158240">
                <a:moveTo>
                  <a:pt x="4838090" y="160020"/>
                </a:moveTo>
                <a:lnTo>
                  <a:pt x="4835956" y="149860"/>
                </a:lnTo>
                <a:lnTo>
                  <a:pt x="4848850" y="149860"/>
                </a:lnTo>
                <a:lnTo>
                  <a:pt x="4850498" y="157479"/>
                </a:lnTo>
                <a:lnTo>
                  <a:pt x="4850746" y="158750"/>
                </a:lnTo>
                <a:lnTo>
                  <a:pt x="4838026" y="158750"/>
                </a:lnTo>
                <a:lnTo>
                  <a:pt x="4838090" y="160020"/>
                </a:lnTo>
                <a:close/>
              </a:path>
              <a:path w="4854575" h="1158240">
                <a:moveTo>
                  <a:pt x="16357" y="160020"/>
                </a:moveTo>
                <a:lnTo>
                  <a:pt x="16421" y="158750"/>
                </a:lnTo>
                <a:lnTo>
                  <a:pt x="16624" y="158750"/>
                </a:lnTo>
                <a:lnTo>
                  <a:pt x="16357" y="160020"/>
                </a:lnTo>
                <a:close/>
              </a:path>
              <a:path w="4854575" h="1158240">
                <a:moveTo>
                  <a:pt x="4853495" y="980439"/>
                </a:moveTo>
                <a:lnTo>
                  <a:pt x="4840846" y="980439"/>
                </a:lnTo>
                <a:lnTo>
                  <a:pt x="4841582" y="970279"/>
                </a:lnTo>
                <a:lnTo>
                  <a:pt x="4841703" y="966470"/>
                </a:lnTo>
                <a:lnTo>
                  <a:pt x="4841748" y="191770"/>
                </a:lnTo>
                <a:lnTo>
                  <a:pt x="4841570" y="186689"/>
                </a:lnTo>
                <a:lnTo>
                  <a:pt x="4840846" y="177800"/>
                </a:lnTo>
                <a:lnTo>
                  <a:pt x="4839665" y="168910"/>
                </a:lnTo>
                <a:lnTo>
                  <a:pt x="4838026" y="158750"/>
                </a:lnTo>
                <a:lnTo>
                  <a:pt x="4850746" y="158750"/>
                </a:lnTo>
                <a:lnTo>
                  <a:pt x="4852238" y="166370"/>
                </a:lnTo>
                <a:lnTo>
                  <a:pt x="4853495" y="176529"/>
                </a:lnTo>
                <a:lnTo>
                  <a:pt x="4854257" y="186689"/>
                </a:lnTo>
                <a:lnTo>
                  <a:pt x="4854448" y="191770"/>
                </a:lnTo>
                <a:lnTo>
                  <a:pt x="4854448" y="966470"/>
                </a:lnTo>
                <a:lnTo>
                  <a:pt x="4854257" y="971550"/>
                </a:lnTo>
                <a:lnTo>
                  <a:pt x="4853495" y="980439"/>
                </a:lnTo>
                <a:close/>
              </a:path>
              <a:path w="4854575" h="1158240">
                <a:moveTo>
                  <a:pt x="12865" y="187960"/>
                </a:moveTo>
                <a:lnTo>
                  <a:pt x="12877" y="186689"/>
                </a:lnTo>
                <a:lnTo>
                  <a:pt x="12865" y="187960"/>
                </a:lnTo>
                <a:close/>
              </a:path>
              <a:path w="4854575" h="1158240">
                <a:moveTo>
                  <a:pt x="4841582" y="187960"/>
                </a:moveTo>
                <a:lnTo>
                  <a:pt x="4841490" y="186689"/>
                </a:lnTo>
                <a:lnTo>
                  <a:pt x="4841582" y="187960"/>
                </a:lnTo>
                <a:close/>
              </a:path>
              <a:path w="4854575" h="1158240">
                <a:moveTo>
                  <a:pt x="13727" y="980439"/>
                </a:moveTo>
                <a:lnTo>
                  <a:pt x="13576" y="979170"/>
                </a:lnTo>
                <a:lnTo>
                  <a:pt x="13727" y="980439"/>
                </a:lnTo>
                <a:close/>
              </a:path>
              <a:path w="4854575" h="1158240">
                <a:moveTo>
                  <a:pt x="4843863" y="1024890"/>
                </a:moveTo>
                <a:lnTo>
                  <a:pt x="4830559" y="1024890"/>
                </a:lnTo>
                <a:lnTo>
                  <a:pt x="4833556" y="1016000"/>
                </a:lnTo>
                <a:lnTo>
                  <a:pt x="4836033" y="1007109"/>
                </a:lnTo>
                <a:lnTo>
                  <a:pt x="4838090" y="998220"/>
                </a:lnTo>
                <a:lnTo>
                  <a:pt x="4839703" y="989329"/>
                </a:lnTo>
                <a:lnTo>
                  <a:pt x="4840871" y="979170"/>
                </a:lnTo>
                <a:lnTo>
                  <a:pt x="4840846" y="980439"/>
                </a:lnTo>
                <a:lnTo>
                  <a:pt x="4853495" y="980439"/>
                </a:lnTo>
                <a:lnTo>
                  <a:pt x="4852238" y="990600"/>
                </a:lnTo>
                <a:lnTo>
                  <a:pt x="4850498" y="1000759"/>
                </a:lnTo>
                <a:lnTo>
                  <a:pt x="4848301" y="1009650"/>
                </a:lnTo>
                <a:lnTo>
                  <a:pt x="4845634" y="1019809"/>
                </a:lnTo>
                <a:lnTo>
                  <a:pt x="4843863" y="1024890"/>
                </a:lnTo>
                <a:close/>
              </a:path>
              <a:path w="4854575" h="1158240">
                <a:moveTo>
                  <a:pt x="24275" y="1024890"/>
                </a:moveTo>
                <a:lnTo>
                  <a:pt x="23888" y="1024890"/>
                </a:lnTo>
                <a:lnTo>
                  <a:pt x="23787" y="1023620"/>
                </a:lnTo>
                <a:lnTo>
                  <a:pt x="24275" y="1024890"/>
                </a:lnTo>
                <a:close/>
              </a:path>
              <a:path w="4854575" h="1158240">
                <a:moveTo>
                  <a:pt x="4820007" y="1071879"/>
                </a:moveTo>
                <a:lnTo>
                  <a:pt x="4805032" y="1071879"/>
                </a:lnTo>
                <a:lnTo>
                  <a:pt x="4810366" y="1064259"/>
                </a:lnTo>
                <a:lnTo>
                  <a:pt x="4810188" y="1064259"/>
                </a:lnTo>
                <a:lnTo>
                  <a:pt x="4815154" y="1056640"/>
                </a:lnTo>
                <a:lnTo>
                  <a:pt x="4815001" y="1056640"/>
                </a:lnTo>
                <a:lnTo>
                  <a:pt x="4819599" y="1049020"/>
                </a:lnTo>
                <a:lnTo>
                  <a:pt x="4819459" y="1049020"/>
                </a:lnTo>
                <a:lnTo>
                  <a:pt x="4823675" y="1041400"/>
                </a:lnTo>
                <a:lnTo>
                  <a:pt x="4823536" y="1041400"/>
                </a:lnTo>
                <a:lnTo>
                  <a:pt x="4827358" y="1032509"/>
                </a:lnTo>
                <a:lnTo>
                  <a:pt x="4830660" y="1023620"/>
                </a:lnTo>
                <a:lnTo>
                  <a:pt x="4830559" y="1024890"/>
                </a:lnTo>
                <a:lnTo>
                  <a:pt x="4843863" y="1024890"/>
                </a:lnTo>
                <a:lnTo>
                  <a:pt x="4842535" y="1028700"/>
                </a:lnTo>
                <a:lnTo>
                  <a:pt x="4820793" y="1070609"/>
                </a:lnTo>
                <a:lnTo>
                  <a:pt x="4820007" y="1071879"/>
                </a:lnTo>
                <a:close/>
              </a:path>
              <a:path w="4854575" h="1158240">
                <a:moveTo>
                  <a:pt x="50171" y="1071879"/>
                </a:moveTo>
                <a:lnTo>
                  <a:pt x="49415" y="1071879"/>
                </a:lnTo>
                <a:lnTo>
                  <a:pt x="49225" y="1070609"/>
                </a:lnTo>
                <a:lnTo>
                  <a:pt x="50171" y="1071879"/>
                </a:lnTo>
                <a:close/>
              </a:path>
              <a:path w="4854575" h="1158240">
                <a:moveTo>
                  <a:pt x="4767491" y="1123950"/>
                </a:moveTo>
                <a:lnTo>
                  <a:pt x="4745024" y="1123950"/>
                </a:lnTo>
                <a:lnTo>
                  <a:pt x="4753025" y="1118870"/>
                </a:lnTo>
                <a:lnTo>
                  <a:pt x="4752759" y="1118870"/>
                </a:lnTo>
                <a:lnTo>
                  <a:pt x="4760506" y="1113790"/>
                </a:lnTo>
                <a:lnTo>
                  <a:pt x="4760252" y="1113790"/>
                </a:lnTo>
                <a:lnTo>
                  <a:pt x="4767745" y="1108709"/>
                </a:lnTo>
                <a:lnTo>
                  <a:pt x="4767503" y="1108709"/>
                </a:lnTo>
                <a:lnTo>
                  <a:pt x="4774717" y="1103629"/>
                </a:lnTo>
                <a:lnTo>
                  <a:pt x="4774488" y="1103629"/>
                </a:lnTo>
                <a:lnTo>
                  <a:pt x="4781423" y="1097279"/>
                </a:lnTo>
                <a:lnTo>
                  <a:pt x="4781194" y="1097279"/>
                </a:lnTo>
                <a:lnTo>
                  <a:pt x="4787823" y="1090929"/>
                </a:lnTo>
                <a:lnTo>
                  <a:pt x="4787607" y="1090929"/>
                </a:lnTo>
                <a:lnTo>
                  <a:pt x="4793932" y="1084579"/>
                </a:lnTo>
                <a:lnTo>
                  <a:pt x="4793729" y="1084579"/>
                </a:lnTo>
                <a:lnTo>
                  <a:pt x="4799736" y="1078229"/>
                </a:lnTo>
                <a:lnTo>
                  <a:pt x="4799545" y="1078229"/>
                </a:lnTo>
                <a:lnTo>
                  <a:pt x="4805222" y="1070609"/>
                </a:lnTo>
                <a:lnTo>
                  <a:pt x="4805032" y="1071879"/>
                </a:lnTo>
                <a:lnTo>
                  <a:pt x="4820007" y="1071879"/>
                </a:lnTo>
                <a:lnTo>
                  <a:pt x="4815293" y="1079500"/>
                </a:lnTo>
                <a:lnTo>
                  <a:pt x="4809439" y="1085850"/>
                </a:lnTo>
                <a:lnTo>
                  <a:pt x="4803228" y="1093470"/>
                </a:lnTo>
                <a:lnTo>
                  <a:pt x="4796701" y="1099820"/>
                </a:lnTo>
                <a:lnTo>
                  <a:pt x="4789843" y="1107440"/>
                </a:lnTo>
                <a:lnTo>
                  <a:pt x="4782680" y="1113790"/>
                </a:lnTo>
                <a:lnTo>
                  <a:pt x="4775225" y="1118870"/>
                </a:lnTo>
                <a:lnTo>
                  <a:pt x="4767491" y="1123950"/>
                </a:lnTo>
                <a:close/>
              </a:path>
              <a:path w="4854575" h="1158240">
                <a:moveTo>
                  <a:pt x="111217" y="1123950"/>
                </a:moveTo>
                <a:lnTo>
                  <a:pt x="109423" y="1123950"/>
                </a:lnTo>
                <a:lnTo>
                  <a:pt x="109156" y="1122679"/>
                </a:lnTo>
                <a:lnTo>
                  <a:pt x="111217" y="1123950"/>
                </a:lnTo>
                <a:close/>
              </a:path>
              <a:path w="4854575" h="1158240">
                <a:moveTo>
                  <a:pt x="4744831" y="1137920"/>
                </a:moveTo>
                <a:lnTo>
                  <a:pt x="4711903" y="1137920"/>
                </a:lnTo>
                <a:lnTo>
                  <a:pt x="4720780" y="1134109"/>
                </a:lnTo>
                <a:lnTo>
                  <a:pt x="4720488" y="1134109"/>
                </a:lnTo>
                <a:lnTo>
                  <a:pt x="4729162" y="1131570"/>
                </a:lnTo>
                <a:lnTo>
                  <a:pt x="4728870" y="1131570"/>
                </a:lnTo>
                <a:lnTo>
                  <a:pt x="4737328" y="1127759"/>
                </a:lnTo>
                <a:lnTo>
                  <a:pt x="4737049" y="1127759"/>
                </a:lnTo>
                <a:lnTo>
                  <a:pt x="4745291" y="1122679"/>
                </a:lnTo>
                <a:lnTo>
                  <a:pt x="4745024" y="1123950"/>
                </a:lnTo>
                <a:lnTo>
                  <a:pt x="4767491" y="1123950"/>
                </a:lnTo>
                <a:lnTo>
                  <a:pt x="4759477" y="1130300"/>
                </a:lnTo>
                <a:lnTo>
                  <a:pt x="4751222" y="1134109"/>
                </a:lnTo>
                <a:lnTo>
                  <a:pt x="4744831" y="1137920"/>
                </a:lnTo>
                <a:close/>
              </a:path>
              <a:path w="4854575" h="1158240">
                <a:moveTo>
                  <a:pt x="146780" y="1137920"/>
                </a:moveTo>
                <a:lnTo>
                  <a:pt x="142544" y="1137920"/>
                </a:lnTo>
                <a:lnTo>
                  <a:pt x="142252" y="1136650"/>
                </a:lnTo>
                <a:lnTo>
                  <a:pt x="146780" y="1137920"/>
                </a:lnTo>
                <a:close/>
              </a:path>
              <a:path w="4854575" h="1158240">
                <a:moveTo>
                  <a:pt x="4727985" y="1145540"/>
                </a:moveTo>
                <a:lnTo>
                  <a:pt x="4666475" y="1145540"/>
                </a:lnTo>
                <a:lnTo>
                  <a:pt x="4676178" y="1144270"/>
                </a:lnTo>
                <a:lnTo>
                  <a:pt x="4675860" y="1144270"/>
                </a:lnTo>
                <a:lnTo>
                  <a:pt x="4685423" y="1143000"/>
                </a:lnTo>
                <a:lnTo>
                  <a:pt x="4685106" y="1143000"/>
                </a:lnTo>
                <a:lnTo>
                  <a:pt x="4694516" y="1141729"/>
                </a:lnTo>
                <a:lnTo>
                  <a:pt x="4694199" y="1141729"/>
                </a:lnTo>
                <a:lnTo>
                  <a:pt x="4703445" y="1139190"/>
                </a:lnTo>
                <a:lnTo>
                  <a:pt x="4703140" y="1139190"/>
                </a:lnTo>
                <a:lnTo>
                  <a:pt x="4712195" y="1136650"/>
                </a:lnTo>
                <a:lnTo>
                  <a:pt x="4711903" y="1137920"/>
                </a:lnTo>
                <a:lnTo>
                  <a:pt x="4744831" y="1137920"/>
                </a:lnTo>
                <a:lnTo>
                  <a:pt x="4742700" y="1139190"/>
                </a:lnTo>
                <a:lnTo>
                  <a:pt x="4733963" y="1143000"/>
                </a:lnTo>
                <a:lnTo>
                  <a:pt x="4727985" y="114554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090319" y="6098425"/>
            <a:ext cx="915669" cy="0"/>
          </a:xfrm>
          <a:custGeom>
            <a:avLst/>
            <a:gdLst/>
            <a:ahLst/>
            <a:cxnLst/>
            <a:rect l="l" t="t" r="r" b="b"/>
            <a:pathLst>
              <a:path w="915670" h="0">
                <a:moveTo>
                  <a:pt x="0" y="0"/>
                </a:moveTo>
                <a:lnTo>
                  <a:pt x="915111" y="0"/>
                </a:lnTo>
              </a:path>
            </a:pathLst>
          </a:custGeom>
          <a:ln w="18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955745" y="6098425"/>
            <a:ext cx="454659" cy="0"/>
          </a:xfrm>
          <a:custGeom>
            <a:avLst/>
            <a:gdLst/>
            <a:ahLst/>
            <a:cxnLst/>
            <a:rect l="l" t="t" r="r" b="b"/>
            <a:pathLst>
              <a:path w="454659" h="0">
                <a:moveTo>
                  <a:pt x="0" y="0"/>
                </a:moveTo>
                <a:lnTo>
                  <a:pt x="454621" y="0"/>
                </a:lnTo>
              </a:path>
            </a:pathLst>
          </a:custGeom>
          <a:ln w="18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508608" y="6062255"/>
            <a:ext cx="16319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10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98213" y="6341351"/>
            <a:ext cx="16319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10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41308" y="5594819"/>
            <a:ext cx="20383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87377" y="5837263"/>
            <a:ext cx="181927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微软雅黑"/>
                <a:cs typeface="微软雅黑"/>
              </a:rPr>
              <a:t>（</a:t>
            </a:r>
            <a:r>
              <a:rPr dirty="0" sz="2400" spc="-5" b="1">
                <a:latin typeface="微软雅黑"/>
                <a:cs typeface="微软雅黑"/>
              </a:rPr>
              <a:t>3</a:t>
            </a:r>
            <a:r>
              <a:rPr dirty="0" sz="2400" b="1">
                <a:latin typeface="微软雅黑"/>
                <a:cs typeface="微软雅黑"/>
              </a:rPr>
              <a:t>）拓展</a:t>
            </a:r>
            <a:r>
              <a:rPr dirty="0" sz="2400" spc="-919">
                <a:latin typeface="微软雅黑"/>
                <a:cs typeface="微软雅黑"/>
              </a:rPr>
              <a:t>：</a:t>
            </a:r>
            <a:r>
              <a:rPr dirty="0" baseline="2976" sz="4200" i="1">
                <a:latin typeface="Times New Roman"/>
                <a:cs typeface="Times New Roman"/>
              </a:rPr>
              <a:t>Z</a:t>
            </a:r>
            <a:endParaRPr baseline="2976" sz="4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72370" y="6099060"/>
            <a:ext cx="22352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01076" y="6080314"/>
            <a:ext cx="867410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45">
                <a:latin typeface="Times New Roman"/>
                <a:cs typeface="Times New Roman"/>
              </a:rPr>
              <a:t>2</a:t>
            </a:r>
            <a:r>
              <a:rPr dirty="0" sz="2950" spc="-45" i="1">
                <a:latin typeface="Symbol"/>
                <a:cs typeface="Symbol"/>
              </a:rPr>
              <a:t></a:t>
            </a:r>
            <a:r>
              <a:rPr dirty="0" sz="2800" spc="-45" i="1">
                <a:latin typeface="Times New Roman"/>
                <a:cs typeface="Times New Roman"/>
              </a:rPr>
              <a:t>fC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78445" y="5819965"/>
            <a:ext cx="220979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16200" y="5819965"/>
            <a:ext cx="126365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0080" algn="l"/>
                <a:tab pos="993140" algn="l"/>
              </a:tabLst>
            </a:pPr>
            <a:r>
              <a:rPr dirty="0" sz="2800" spc="150">
                <a:latin typeface="宋体"/>
                <a:cs typeface="宋体"/>
              </a:rPr>
              <a:t>，</a:t>
            </a:r>
            <a:r>
              <a:rPr dirty="0" sz="2800" i="1">
                <a:latin typeface="Times New Roman"/>
                <a:cs typeface="Times New Roman"/>
              </a:rPr>
              <a:t>I</a:t>
            </a:r>
            <a:r>
              <a:rPr dirty="0" sz="2800" i="1">
                <a:latin typeface="Times New Roman"/>
                <a:cs typeface="Times New Roman"/>
              </a:rPr>
              <a:t>	</a:t>
            </a:r>
            <a:r>
              <a:rPr dirty="0" sz="2800">
                <a:latin typeface="Symbol"/>
                <a:cs typeface="Symbol"/>
              </a:rPr>
              <a:t>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baseline="34722" sz="4200" i="1">
                <a:latin typeface="Times New Roman"/>
                <a:cs typeface="Times New Roman"/>
              </a:rPr>
              <a:t>U</a:t>
            </a:r>
            <a:endParaRPr baseline="34722" sz="4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7990" y="952667"/>
            <a:ext cx="5878830" cy="1688464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175"/>
              </a:spcBef>
            </a:pPr>
            <a:r>
              <a:rPr dirty="0" sz="3200" spc="-5">
                <a:latin typeface="微软雅黑"/>
                <a:cs typeface="微软雅黑"/>
              </a:rPr>
              <a:t>二.电容器对交变电流的阻碍作</a:t>
            </a:r>
            <a:r>
              <a:rPr dirty="0" sz="3200" spc="5">
                <a:latin typeface="微软雅黑"/>
                <a:cs typeface="微软雅黑"/>
              </a:rPr>
              <a:t>用</a:t>
            </a:r>
            <a:endParaRPr sz="3200">
              <a:latin typeface="微软雅黑"/>
              <a:cs typeface="微软雅黑"/>
            </a:endParaRPr>
          </a:p>
          <a:p>
            <a:pPr marL="42545">
              <a:lnSpc>
                <a:spcPct val="100000"/>
              </a:lnSpc>
              <a:spcBef>
                <a:spcPts val="805"/>
              </a:spcBef>
            </a:pPr>
            <a:r>
              <a:rPr dirty="0" sz="2400" spc="-5">
                <a:latin typeface="微软雅黑"/>
                <a:cs typeface="微软雅黑"/>
              </a:rPr>
              <a:t>2.</a:t>
            </a:r>
            <a:r>
              <a:rPr dirty="0" sz="2400">
                <a:latin typeface="微软雅黑"/>
                <a:cs typeface="微软雅黑"/>
              </a:rPr>
              <a:t>电容器对交变电流的阻碍作用</a:t>
            </a:r>
            <a:r>
              <a:rPr dirty="0" sz="2400" spc="-5">
                <a:latin typeface="微软雅黑"/>
                <a:cs typeface="微软雅黑"/>
              </a:rPr>
              <a:t>——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容抗</a:t>
            </a:r>
            <a:r>
              <a:rPr dirty="0" sz="2400" i="1">
                <a:latin typeface="Times New Roman"/>
                <a:cs typeface="Times New Roman"/>
              </a:rPr>
              <a:t>Z</a:t>
            </a:r>
            <a:r>
              <a:rPr dirty="0" baseline="-17921" sz="2325">
                <a:latin typeface="Times New Roman"/>
                <a:cs typeface="Times New Roman"/>
              </a:rPr>
              <a:t>C</a:t>
            </a:r>
            <a:endParaRPr baseline="-17921" sz="232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dirty="0" sz="2400">
                <a:latin typeface="微软雅黑"/>
                <a:cs typeface="微软雅黑"/>
              </a:rPr>
              <a:t>实验</a:t>
            </a:r>
            <a:r>
              <a:rPr dirty="0" sz="2400" spc="-5">
                <a:latin typeface="微软雅黑"/>
                <a:cs typeface="微软雅黑"/>
              </a:rPr>
              <a:t>4：</a:t>
            </a:r>
            <a:r>
              <a:rPr dirty="0" u="heavy" sz="2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探究影响容抗的因素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69363" y="5856122"/>
            <a:ext cx="159385" cy="0"/>
          </a:xfrm>
          <a:custGeom>
            <a:avLst/>
            <a:gdLst/>
            <a:ahLst/>
            <a:cxnLst/>
            <a:rect l="l" t="t" r="r" b="b"/>
            <a:pathLst>
              <a:path w="159385" h="0">
                <a:moveTo>
                  <a:pt x="0" y="0"/>
                </a:moveTo>
                <a:lnTo>
                  <a:pt x="158927" y="0"/>
                </a:lnTo>
              </a:path>
            </a:pathLst>
          </a:custGeom>
          <a:ln w="186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40558" y="6112408"/>
            <a:ext cx="559435" cy="0"/>
          </a:xfrm>
          <a:custGeom>
            <a:avLst/>
            <a:gdLst/>
            <a:ahLst/>
            <a:cxnLst/>
            <a:rect l="l" t="t" r="r" b="b"/>
            <a:pathLst>
              <a:path w="559435" h="0">
                <a:moveTo>
                  <a:pt x="0" y="0"/>
                </a:moveTo>
                <a:lnTo>
                  <a:pt x="559206" y="0"/>
                </a:lnTo>
              </a:path>
            </a:pathLst>
          </a:custGeom>
          <a:ln w="186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909959" y="6094724"/>
            <a:ext cx="405130" cy="499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00" spc="-555" i="1">
                <a:latin typeface="Symbol"/>
                <a:cs typeface="Symbol"/>
              </a:rPr>
              <a:t></a:t>
            </a:r>
            <a:r>
              <a:rPr dirty="0" sz="2950" spc="-555" i="1">
                <a:latin typeface="Times New Roman"/>
                <a:cs typeface="Times New Roman"/>
              </a:rPr>
              <a:t>t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8177" y="5746224"/>
            <a:ext cx="2690495" cy="499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spc="-5">
                <a:latin typeface="微软雅黑"/>
                <a:cs typeface="微软雅黑"/>
              </a:rPr>
              <a:t>(2)</a:t>
            </a:r>
            <a:r>
              <a:rPr dirty="0" sz="2400" spc="-20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解释</a:t>
            </a:r>
            <a:r>
              <a:rPr dirty="0" sz="2400" spc="-325">
                <a:latin typeface="微软雅黑"/>
                <a:cs typeface="微软雅黑"/>
              </a:rPr>
              <a:t>：</a:t>
            </a:r>
            <a:r>
              <a:rPr dirty="0" baseline="-7532" sz="4425" spc="-487" i="1">
                <a:latin typeface="Times New Roman"/>
                <a:cs typeface="Times New Roman"/>
              </a:rPr>
              <a:t>I</a:t>
            </a:r>
            <a:r>
              <a:rPr dirty="0" baseline="-7532" sz="4425" spc="-240" i="1">
                <a:latin typeface="Times New Roman"/>
                <a:cs typeface="Times New Roman"/>
              </a:rPr>
              <a:t> </a:t>
            </a:r>
            <a:r>
              <a:rPr dirty="0" baseline="-7532" sz="4425">
                <a:latin typeface="Symbol"/>
                <a:cs typeface="Symbol"/>
              </a:rPr>
              <a:t></a:t>
            </a:r>
            <a:r>
              <a:rPr dirty="0" baseline="-7532" sz="4425" spc="-240">
                <a:latin typeface="Times New Roman"/>
                <a:cs typeface="Times New Roman"/>
              </a:rPr>
              <a:t> </a:t>
            </a:r>
            <a:r>
              <a:rPr dirty="0" baseline="-7532" sz="4425" i="1">
                <a:latin typeface="Times New Roman"/>
                <a:cs typeface="Times New Roman"/>
              </a:rPr>
              <a:t>C</a:t>
            </a:r>
            <a:r>
              <a:rPr dirty="0" baseline="-7532" sz="4425" spc="-525" i="1">
                <a:latin typeface="Times New Roman"/>
                <a:cs typeface="Times New Roman"/>
              </a:rPr>
              <a:t> </a:t>
            </a:r>
            <a:r>
              <a:rPr dirty="0" baseline="25985" sz="4650" spc="-810" i="1">
                <a:latin typeface="Symbol"/>
                <a:cs typeface="Symbol"/>
              </a:rPr>
              <a:t></a:t>
            </a:r>
            <a:r>
              <a:rPr dirty="0" baseline="27306" sz="4425" spc="-810" i="1">
                <a:latin typeface="Times New Roman"/>
                <a:cs typeface="Times New Roman"/>
              </a:rPr>
              <a:t>U</a:t>
            </a:r>
            <a:endParaRPr baseline="27306" sz="442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176516" y="931163"/>
            <a:ext cx="3390900" cy="35783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713751" y="2676525"/>
            <a:ext cx="147459" cy="1473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136026" y="1300162"/>
            <a:ext cx="147548" cy="1473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0214" y="4260214"/>
            <a:ext cx="25139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微软雅黑"/>
                <a:cs typeface="微软雅黑"/>
              </a:rPr>
              <a:t>通交流，隔直</a:t>
            </a:r>
            <a:r>
              <a:rPr dirty="0" sz="2800" spc="-5" b="1">
                <a:latin typeface="微软雅黑"/>
                <a:cs typeface="微软雅黑"/>
              </a:rPr>
              <a:t>流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32439" y="5455056"/>
            <a:ext cx="1179195" cy="0"/>
          </a:xfrm>
          <a:custGeom>
            <a:avLst/>
            <a:gdLst/>
            <a:ahLst/>
            <a:cxnLst/>
            <a:rect l="l" t="t" r="r" b="b"/>
            <a:pathLst>
              <a:path w="1179195" h="0">
                <a:moveTo>
                  <a:pt x="0" y="0"/>
                </a:moveTo>
                <a:lnTo>
                  <a:pt x="1178725" y="0"/>
                </a:lnTo>
              </a:path>
            </a:pathLst>
          </a:custGeom>
          <a:ln w="23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35216" y="5455056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 h="0">
                <a:moveTo>
                  <a:pt x="0" y="0"/>
                </a:moveTo>
                <a:lnTo>
                  <a:pt x="585584" y="0"/>
                </a:lnTo>
              </a:path>
            </a:pathLst>
          </a:custGeom>
          <a:ln w="23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586822" y="5412066"/>
            <a:ext cx="202565" cy="3435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50" spc="20">
                <a:latin typeface="Times New Roman"/>
                <a:cs typeface="Times New Roman"/>
              </a:rPr>
              <a:t>C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51192" y="5771362"/>
            <a:ext cx="202565" cy="3435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50" spc="20">
                <a:latin typeface="Times New Roman"/>
                <a:cs typeface="Times New Roman"/>
              </a:rPr>
              <a:t>C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8204" y="4810290"/>
            <a:ext cx="254635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>
                <a:latin typeface="Times New Roman"/>
                <a:cs typeface="Times New Roman"/>
              </a:rPr>
              <a:t>1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0298" y="5459399"/>
            <a:ext cx="280670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5" i="1">
                <a:latin typeface="Times New Roman"/>
                <a:cs typeface="Times New Roman"/>
              </a:rPr>
              <a:t>Z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49965" y="5435114"/>
            <a:ext cx="1109980" cy="60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60">
                <a:latin typeface="Times New Roman"/>
                <a:cs typeface="Times New Roman"/>
              </a:rPr>
              <a:t>2</a:t>
            </a:r>
            <a:r>
              <a:rPr dirty="0" sz="3800" spc="-60" i="1">
                <a:latin typeface="Symbol"/>
                <a:cs typeface="Symbol"/>
              </a:rPr>
              <a:t></a:t>
            </a:r>
            <a:r>
              <a:rPr dirty="0" sz="3600" spc="-60" i="1">
                <a:latin typeface="Times New Roman"/>
                <a:cs typeface="Times New Roman"/>
              </a:rPr>
              <a:t>fC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95916" y="5100116"/>
            <a:ext cx="915669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50875" algn="l"/>
              </a:tabLst>
            </a:pPr>
            <a:r>
              <a:rPr dirty="0" sz="3600" spc="5" i="1">
                <a:latin typeface="Times New Roman"/>
                <a:cs typeface="Times New Roman"/>
              </a:rPr>
              <a:t>Z</a:t>
            </a:r>
            <a:r>
              <a:rPr dirty="0" sz="3600" spc="5" i="1">
                <a:latin typeface="Times New Roman"/>
                <a:cs typeface="Times New Roman"/>
              </a:rPr>
              <a:t>	</a:t>
            </a:r>
            <a:r>
              <a:rPr dirty="0" sz="3600" spc="5">
                <a:latin typeface="Symbol"/>
                <a:cs typeface="Symbol"/>
              </a:rPr>
              <a:t>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28678" y="4260214"/>
            <a:ext cx="3328670" cy="1415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26769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微软雅黑"/>
                <a:cs typeface="微软雅黑"/>
              </a:rPr>
              <a:t>通高频，阻低</a:t>
            </a:r>
            <a:r>
              <a:rPr dirty="0" sz="2800" spc="-5" b="1">
                <a:latin typeface="微软雅黑"/>
                <a:cs typeface="微软雅黑"/>
              </a:rPr>
              <a:t>频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265"/>
              </a:spcBef>
              <a:tabLst>
                <a:tab pos="821055" algn="l"/>
                <a:tab pos="1275715" algn="l"/>
              </a:tabLst>
            </a:pPr>
            <a:r>
              <a:rPr dirty="0" sz="3600" spc="100">
                <a:latin typeface="宋体"/>
                <a:cs typeface="宋体"/>
              </a:rPr>
              <a:t>，</a:t>
            </a:r>
            <a:r>
              <a:rPr dirty="0" sz="3600" spc="100" i="1">
                <a:latin typeface="Times New Roman"/>
                <a:cs typeface="Times New Roman"/>
              </a:rPr>
              <a:t>I	</a:t>
            </a:r>
            <a:r>
              <a:rPr dirty="0" sz="3600" spc="5">
                <a:latin typeface="Symbol"/>
                <a:cs typeface="Symbol"/>
              </a:rPr>
              <a:t></a:t>
            </a:r>
            <a:r>
              <a:rPr dirty="0" sz="3600" spc="5">
                <a:latin typeface="Times New Roman"/>
                <a:cs typeface="Times New Roman"/>
              </a:rPr>
              <a:t>	</a:t>
            </a:r>
            <a:r>
              <a:rPr dirty="0" baseline="35493" sz="5400" spc="7" i="1">
                <a:latin typeface="Times New Roman"/>
                <a:cs typeface="Times New Roman"/>
              </a:rPr>
              <a:t>U</a:t>
            </a:r>
            <a:endParaRPr baseline="35493" sz="5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46860" y="2142744"/>
            <a:ext cx="8429244" cy="2001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319212" y="2303360"/>
            <a:ext cx="280035" cy="129603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2000" spc="-5" b="1">
                <a:latin typeface="微软雅黑"/>
                <a:cs typeface="微软雅黑"/>
              </a:rPr>
              <a:t>自前级输</a:t>
            </a:r>
            <a:r>
              <a:rPr dirty="0" sz="2000" b="1">
                <a:latin typeface="微软雅黑"/>
                <a:cs typeface="微软雅黑"/>
              </a:rPr>
              <a:t>入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64872" y="2286469"/>
            <a:ext cx="280035" cy="129603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2000" spc="-5" b="1">
                <a:latin typeface="微软雅黑"/>
                <a:cs typeface="微软雅黑"/>
              </a:rPr>
              <a:t>自前级输</a:t>
            </a:r>
            <a:r>
              <a:rPr dirty="0" sz="2000" b="1">
                <a:latin typeface="微软雅黑"/>
                <a:cs typeface="微软雅黑"/>
              </a:rPr>
              <a:t>入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85118" y="2323071"/>
            <a:ext cx="280035" cy="129603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2000" spc="-5" b="1">
                <a:latin typeface="微软雅黑"/>
                <a:cs typeface="微软雅黑"/>
              </a:rPr>
              <a:t>向后级输</a:t>
            </a:r>
            <a:r>
              <a:rPr dirty="0" sz="2000" b="1">
                <a:latin typeface="微软雅黑"/>
                <a:cs typeface="微软雅黑"/>
              </a:rPr>
              <a:t>出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21862" y="2342781"/>
            <a:ext cx="280035" cy="129603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2000" spc="-5" b="1">
                <a:latin typeface="微软雅黑"/>
                <a:cs typeface="微软雅黑"/>
              </a:rPr>
              <a:t>向后级输</a:t>
            </a:r>
            <a:r>
              <a:rPr dirty="0" sz="2000" b="1">
                <a:latin typeface="微软雅黑"/>
                <a:cs typeface="微软雅黑"/>
              </a:rPr>
              <a:t>出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8152" y="952667"/>
            <a:ext cx="9257665" cy="185420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175"/>
              </a:spcBef>
            </a:pPr>
            <a:r>
              <a:rPr dirty="0" sz="3200">
                <a:latin typeface="微软雅黑"/>
                <a:cs typeface="微软雅黑"/>
              </a:rPr>
              <a:t>二</a:t>
            </a:r>
            <a:r>
              <a:rPr dirty="0" sz="3200" spc="-5">
                <a:latin typeface="微软雅黑"/>
                <a:cs typeface="微软雅黑"/>
              </a:rPr>
              <a:t>.</a:t>
            </a:r>
            <a:r>
              <a:rPr dirty="0" sz="3200">
                <a:latin typeface="微软雅黑"/>
                <a:cs typeface="微软雅黑"/>
              </a:rPr>
              <a:t>电容器对交变电流的阻碍作</a:t>
            </a:r>
            <a:r>
              <a:rPr dirty="0" sz="3200" spc="5">
                <a:latin typeface="微软雅黑"/>
                <a:cs typeface="微软雅黑"/>
              </a:rPr>
              <a:t>用</a:t>
            </a:r>
            <a:endParaRPr sz="3200">
              <a:latin typeface="微软雅黑"/>
              <a:cs typeface="微软雅黑"/>
            </a:endParaRPr>
          </a:p>
          <a:p>
            <a:pPr marL="12700">
              <a:lnSpc>
                <a:spcPts val="2685"/>
              </a:lnSpc>
              <a:spcBef>
                <a:spcPts val="805"/>
              </a:spcBef>
            </a:pPr>
            <a:r>
              <a:rPr dirty="0" sz="2400">
                <a:latin typeface="Times New Roman"/>
                <a:cs typeface="Times New Roman"/>
              </a:rPr>
              <a:t>3.</a:t>
            </a:r>
            <a:r>
              <a:rPr dirty="0" sz="2400">
                <a:latin typeface="微软雅黑"/>
                <a:cs typeface="微软雅黑"/>
              </a:rPr>
              <a:t>电容器在技术中的应用：隔直电容、高频旁路电容</a:t>
            </a:r>
            <a:endParaRPr sz="2400">
              <a:latin typeface="微软雅黑"/>
              <a:cs typeface="微软雅黑"/>
            </a:endParaRPr>
          </a:p>
          <a:p>
            <a:pPr algn="ctr" marR="1783714">
              <a:lnSpc>
                <a:spcPts val="2685"/>
              </a:lnSpc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（较大）</a:t>
            </a:r>
            <a:endParaRPr sz="2400">
              <a:latin typeface="微软雅黑"/>
              <a:cs typeface="微软雅黑"/>
            </a:endParaRPr>
          </a:p>
          <a:p>
            <a:pPr algn="r" marR="5080">
              <a:lnSpc>
                <a:spcPct val="100000"/>
              </a:lnSpc>
              <a:spcBef>
                <a:spcPts val="43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（较小）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1789" y="5633402"/>
            <a:ext cx="42919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微软雅黑"/>
                <a:cs typeface="微软雅黑"/>
              </a:rPr>
              <a:t>电感器与电容器的配合使</a:t>
            </a:r>
            <a:r>
              <a:rPr dirty="0" sz="2800" spc="-5" b="1">
                <a:latin typeface="微软雅黑"/>
                <a:cs typeface="微软雅黑"/>
              </a:rPr>
              <a:t>用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8152" y="952667"/>
            <a:ext cx="6959600" cy="111823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175"/>
              </a:spcBef>
            </a:pPr>
            <a:r>
              <a:rPr dirty="0" sz="3200">
                <a:latin typeface="微软雅黑"/>
                <a:cs typeface="微软雅黑"/>
              </a:rPr>
              <a:t>二</a:t>
            </a:r>
            <a:r>
              <a:rPr dirty="0" sz="3200" spc="-5">
                <a:latin typeface="微软雅黑"/>
                <a:cs typeface="微软雅黑"/>
              </a:rPr>
              <a:t>.</a:t>
            </a:r>
            <a:r>
              <a:rPr dirty="0" sz="3200">
                <a:latin typeface="微软雅黑"/>
                <a:cs typeface="微软雅黑"/>
              </a:rPr>
              <a:t>电容器对交变电流的阻碍作</a:t>
            </a:r>
            <a:r>
              <a:rPr dirty="0" sz="3200" spc="5">
                <a:latin typeface="微软雅黑"/>
                <a:cs typeface="微软雅黑"/>
              </a:rPr>
              <a:t>用</a:t>
            </a:r>
            <a:endParaRPr sz="3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400">
                <a:latin typeface="Times New Roman"/>
                <a:cs typeface="Times New Roman"/>
              </a:rPr>
              <a:t>3.</a:t>
            </a:r>
            <a:r>
              <a:rPr dirty="0" sz="2400">
                <a:latin typeface="微软雅黑"/>
                <a:cs typeface="微软雅黑"/>
              </a:rPr>
              <a:t>电容器在技术中的应用：隔直电容、高频旁路电容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29884" y="2319527"/>
            <a:ext cx="3887723" cy="3107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6300" y="2529839"/>
            <a:ext cx="4026408" cy="24612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36591" y="3462528"/>
            <a:ext cx="1079500" cy="524510"/>
          </a:xfrm>
          <a:custGeom>
            <a:avLst/>
            <a:gdLst/>
            <a:ahLst/>
            <a:cxnLst/>
            <a:rect l="l" t="t" r="r" b="b"/>
            <a:pathLst>
              <a:path w="1079500" h="524510">
                <a:moveTo>
                  <a:pt x="816863" y="524256"/>
                </a:moveTo>
                <a:lnTo>
                  <a:pt x="816863" y="393192"/>
                </a:lnTo>
                <a:lnTo>
                  <a:pt x="0" y="393192"/>
                </a:lnTo>
                <a:lnTo>
                  <a:pt x="0" y="131063"/>
                </a:lnTo>
                <a:lnTo>
                  <a:pt x="816863" y="131063"/>
                </a:lnTo>
                <a:lnTo>
                  <a:pt x="816863" y="0"/>
                </a:lnTo>
                <a:lnTo>
                  <a:pt x="1078992" y="262127"/>
                </a:lnTo>
                <a:lnTo>
                  <a:pt x="816863" y="52425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30534" y="3447402"/>
            <a:ext cx="1094740" cy="555625"/>
          </a:xfrm>
          <a:custGeom>
            <a:avLst/>
            <a:gdLst/>
            <a:ahLst/>
            <a:cxnLst/>
            <a:rect l="l" t="t" r="r" b="b"/>
            <a:pathLst>
              <a:path w="1094739" h="555625">
                <a:moveTo>
                  <a:pt x="817003" y="146494"/>
                </a:moveTo>
                <a:lnTo>
                  <a:pt x="817003" y="0"/>
                </a:lnTo>
                <a:lnTo>
                  <a:pt x="832332" y="15328"/>
                </a:lnTo>
                <a:lnTo>
                  <a:pt x="829703" y="15328"/>
                </a:lnTo>
                <a:lnTo>
                  <a:pt x="818857" y="19812"/>
                </a:lnTo>
                <a:lnTo>
                  <a:pt x="829703" y="30657"/>
                </a:lnTo>
                <a:lnTo>
                  <a:pt x="829703" y="140144"/>
                </a:lnTo>
                <a:lnTo>
                  <a:pt x="823353" y="140144"/>
                </a:lnTo>
                <a:lnTo>
                  <a:pt x="817003" y="146494"/>
                </a:lnTo>
                <a:close/>
              </a:path>
              <a:path w="1094739" h="555625">
                <a:moveTo>
                  <a:pt x="829703" y="30657"/>
                </a:moveTo>
                <a:lnTo>
                  <a:pt x="818857" y="19812"/>
                </a:lnTo>
                <a:lnTo>
                  <a:pt x="829703" y="15328"/>
                </a:lnTo>
                <a:lnTo>
                  <a:pt x="829703" y="30657"/>
                </a:lnTo>
                <a:close/>
              </a:path>
              <a:path w="1094739" h="555625">
                <a:moveTo>
                  <a:pt x="1076699" y="277653"/>
                </a:moveTo>
                <a:lnTo>
                  <a:pt x="829703" y="30657"/>
                </a:lnTo>
                <a:lnTo>
                  <a:pt x="829703" y="15328"/>
                </a:lnTo>
                <a:lnTo>
                  <a:pt x="832332" y="15328"/>
                </a:lnTo>
                <a:lnTo>
                  <a:pt x="1090168" y="273164"/>
                </a:lnTo>
                <a:lnTo>
                  <a:pt x="1081189" y="273164"/>
                </a:lnTo>
                <a:lnTo>
                  <a:pt x="1076699" y="277653"/>
                </a:lnTo>
                <a:close/>
              </a:path>
              <a:path w="1094739" h="555625">
                <a:moveTo>
                  <a:pt x="817003" y="415163"/>
                </a:moveTo>
                <a:lnTo>
                  <a:pt x="0" y="415163"/>
                </a:lnTo>
                <a:lnTo>
                  <a:pt x="0" y="140144"/>
                </a:lnTo>
                <a:lnTo>
                  <a:pt x="817003" y="140144"/>
                </a:lnTo>
                <a:lnTo>
                  <a:pt x="817003" y="146494"/>
                </a:lnTo>
                <a:lnTo>
                  <a:pt x="12700" y="146494"/>
                </a:lnTo>
                <a:lnTo>
                  <a:pt x="6350" y="152844"/>
                </a:lnTo>
                <a:lnTo>
                  <a:pt x="12700" y="152844"/>
                </a:lnTo>
                <a:lnTo>
                  <a:pt x="12700" y="402463"/>
                </a:lnTo>
                <a:lnTo>
                  <a:pt x="6350" y="402463"/>
                </a:lnTo>
                <a:lnTo>
                  <a:pt x="12700" y="408813"/>
                </a:lnTo>
                <a:lnTo>
                  <a:pt x="817003" y="408813"/>
                </a:lnTo>
                <a:lnTo>
                  <a:pt x="817003" y="415163"/>
                </a:lnTo>
                <a:close/>
              </a:path>
              <a:path w="1094739" h="555625">
                <a:moveTo>
                  <a:pt x="829703" y="152844"/>
                </a:moveTo>
                <a:lnTo>
                  <a:pt x="12700" y="152844"/>
                </a:lnTo>
                <a:lnTo>
                  <a:pt x="12700" y="146494"/>
                </a:lnTo>
                <a:lnTo>
                  <a:pt x="817003" y="146494"/>
                </a:lnTo>
                <a:lnTo>
                  <a:pt x="823353" y="140144"/>
                </a:lnTo>
                <a:lnTo>
                  <a:pt x="829703" y="140144"/>
                </a:lnTo>
                <a:lnTo>
                  <a:pt x="829703" y="152844"/>
                </a:lnTo>
                <a:close/>
              </a:path>
              <a:path w="1094739" h="555625">
                <a:moveTo>
                  <a:pt x="12700" y="152844"/>
                </a:moveTo>
                <a:lnTo>
                  <a:pt x="6350" y="152844"/>
                </a:lnTo>
                <a:lnTo>
                  <a:pt x="12700" y="146494"/>
                </a:lnTo>
                <a:lnTo>
                  <a:pt x="12700" y="152844"/>
                </a:lnTo>
                <a:close/>
              </a:path>
              <a:path w="1094739" h="555625">
                <a:moveTo>
                  <a:pt x="1081189" y="282143"/>
                </a:moveTo>
                <a:lnTo>
                  <a:pt x="1076699" y="277653"/>
                </a:lnTo>
                <a:lnTo>
                  <a:pt x="1081189" y="273164"/>
                </a:lnTo>
                <a:lnTo>
                  <a:pt x="1081189" y="282143"/>
                </a:lnTo>
                <a:close/>
              </a:path>
              <a:path w="1094739" h="555625">
                <a:moveTo>
                  <a:pt x="1090180" y="282143"/>
                </a:moveTo>
                <a:lnTo>
                  <a:pt x="1081189" y="282143"/>
                </a:lnTo>
                <a:lnTo>
                  <a:pt x="1081189" y="273164"/>
                </a:lnTo>
                <a:lnTo>
                  <a:pt x="1090168" y="273164"/>
                </a:lnTo>
                <a:lnTo>
                  <a:pt x="1094663" y="277660"/>
                </a:lnTo>
                <a:lnTo>
                  <a:pt x="1090180" y="282143"/>
                </a:lnTo>
                <a:close/>
              </a:path>
              <a:path w="1094739" h="555625">
                <a:moveTo>
                  <a:pt x="832333" y="539978"/>
                </a:moveTo>
                <a:lnTo>
                  <a:pt x="829703" y="539978"/>
                </a:lnTo>
                <a:lnTo>
                  <a:pt x="829703" y="524649"/>
                </a:lnTo>
                <a:lnTo>
                  <a:pt x="1076705" y="277660"/>
                </a:lnTo>
                <a:lnTo>
                  <a:pt x="1081189" y="282143"/>
                </a:lnTo>
                <a:lnTo>
                  <a:pt x="1090180" y="282143"/>
                </a:lnTo>
                <a:lnTo>
                  <a:pt x="832333" y="539978"/>
                </a:lnTo>
                <a:close/>
              </a:path>
              <a:path w="1094739" h="555625">
                <a:moveTo>
                  <a:pt x="12700" y="408813"/>
                </a:moveTo>
                <a:lnTo>
                  <a:pt x="6350" y="402463"/>
                </a:lnTo>
                <a:lnTo>
                  <a:pt x="12700" y="402463"/>
                </a:lnTo>
                <a:lnTo>
                  <a:pt x="12700" y="408813"/>
                </a:lnTo>
                <a:close/>
              </a:path>
              <a:path w="1094739" h="555625">
                <a:moveTo>
                  <a:pt x="829703" y="415163"/>
                </a:moveTo>
                <a:lnTo>
                  <a:pt x="823353" y="415163"/>
                </a:lnTo>
                <a:lnTo>
                  <a:pt x="817003" y="408813"/>
                </a:lnTo>
                <a:lnTo>
                  <a:pt x="12700" y="408813"/>
                </a:lnTo>
                <a:lnTo>
                  <a:pt x="12700" y="402463"/>
                </a:lnTo>
                <a:lnTo>
                  <a:pt x="829703" y="402463"/>
                </a:lnTo>
                <a:lnTo>
                  <a:pt x="829703" y="415163"/>
                </a:lnTo>
                <a:close/>
              </a:path>
              <a:path w="1094739" h="555625">
                <a:moveTo>
                  <a:pt x="817003" y="555307"/>
                </a:moveTo>
                <a:lnTo>
                  <a:pt x="817003" y="408813"/>
                </a:lnTo>
                <a:lnTo>
                  <a:pt x="823353" y="415163"/>
                </a:lnTo>
                <a:lnTo>
                  <a:pt x="829703" y="415163"/>
                </a:lnTo>
                <a:lnTo>
                  <a:pt x="829703" y="524649"/>
                </a:lnTo>
                <a:lnTo>
                  <a:pt x="818857" y="535495"/>
                </a:lnTo>
                <a:lnTo>
                  <a:pt x="829703" y="539978"/>
                </a:lnTo>
                <a:lnTo>
                  <a:pt x="832333" y="539978"/>
                </a:lnTo>
                <a:lnTo>
                  <a:pt x="817003" y="555307"/>
                </a:lnTo>
                <a:close/>
              </a:path>
              <a:path w="1094739" h="555625">
                <a:moveTo>
                  <a:pt x="829703" y="539978"/>
                </a:moveTo>
                <a:lnTo>
                  <a:pt x="818857" y="535495"/>
                </a:lnTo>
                <a:lnTo>
                  <a:pt x="829703" y="524649"/>
                </a:lnTo>
                <a:lnTo>
                  <a:pt x="829703" y="539978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8557259" y="2180844"/>
            <a:ext cx="3634740" cy="4175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2440" y="1140460"/>
            <a:ext cx="11245215" cy="4961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50850">
              <a:lnSpc>
                <a:spcPct val="125000"/>
              </a:lnSpc>
              <a:spcBef>
                <a:spcPts val="100"/>
              </a:spcBef>
            </a:pPr>
            <a:r>
              <a:rPr dirty="0" sz="2400" spc="5">
                <a:latin typeface="微软雅黑"/>
                <a:cs typeface="微软雅黑"/>
              </a:rPr>
              <a:t>例题：使用</a:t>
            </a:r>
            <a:r>
              <a:rPr dirty="0" sz="2400" spc="5">
                <a:latin typeface="Times New Roman"/>
                <a:cs typeface="Times New Roman"/>
              </a:rPr>
              <a:t>220V</a:t>
            </a:r>
            <a:r>
              <a:rPr dirty="0" sz="2400" spc="5">
                <a:latin typeface="微软雅黑"/>
                <a:cs typeface="微软雅黑"/>
              </a:rPr>
              <a:t>交流电源的电气设备和电</a:t>
            </a:r>
            <a:r>
              <a:rPr dirty="0" sz="2400" spc="10">
                <a:latin typeface="微软雅黑"/>
                <a:cs typeface="微软雅黑"/>
              </a:rPr>
              <a:t>子仪器，金属外壳与电源之间都有良</a:t>
            </a:r>
            <a:r>
              <a:rPr dirty="0" sz="2400">
                <a:latin typeface="微软雅黑"/>
                <a:cs typeface="微软雅黑"/>
              </a:rPr>
              <a:t>好 的绝缘。但是，有时候用手触摸外壳仍能感受到“漏电”，这是为什么？</a:t>
            </a:r>
            <a:endParaRPr sz="2400">
              <a:latin typeface="微软雅黑"/>
              <a:cs typeface="微软雅黑"/>
            </a:endParaRPr>
          </a:p>
          <a:p>
            <a:pPr algn="just" marL="136525" marR="3257550" indent="450850">
              <a:lnSpc>
                <a:spcPct val="125000"/>
              </a:lnSpc>
              <a:spcBef>
                <a:spcPts val="960"/>
              </a:spcBef>
            </a:pPr>
            <a:r>
              <a:rPr dirty="0" sz="2400" spc="25">
                <a:latin typeface="微软雅黑"/>
                <a:cs typeface="微软雅黑"/>
              </a:rPr>
              <a:t>分析：与电源相连的机芯和金属外壳</a:t>
            </a:r>
            <a:r>
              <a:rPr dirty="0" sz="2400" spc="30">
                <a:latin typeface="微软雅黑"/>
                <a:cs typeface="微软雅黑"/>
              </a:rPr>
              <a:t>可以看作</a:t>
            </a:r>
            <a:r>
              <a:rPr dirty="0" sz="2400" spc="30" b="1">
                <a:solidFill>
                  <a:srgbClr val="001F5F"/>
                </a:solidFill>
                <a:latin typeface="微软雅黑"/>
                <a:cs typeface="微软雅黑"/>
              </a:rPr>
              <a:t>电容器</a:t>
            </a:r>
            <a:r>
              <a:rPr dirty="0" sz="2400">
                <a:latin typeface="微软雅黑"/>
                <a:cs typeface="微软雅黑"/>
              </a:rPr>
              <a:t>的 </a:t>
            </a:r>
            <a:r>
              <a:rPr dirty="0" sz="2400" spc="70">
                <a:latin typeface="微软雅黑"/>
                <a:cs typeface="微软雅黑"/>
              </a:rPr>
              <a:t>两个极板，电源中</a:t>
            </a:r>
            <a:r>
              <a:rPr dirty="0" sz="2400" spc="75">
                <a:latin typeface="微软雅黑"/>
                <a:cs typeface="微软雅黑"/>
              </a:rPr>
              <a:t>的</a:t>
            </a:r>
            <a:r>
              <a:rPr dirty="0" sz="2400" spc="75" b="1">
                <a:solidFill>
                  <a:srgbClr val="001F5F"/>
                </a:solidFill>
                <a:latin typeface="微软雅黑"/>
                <a:cs typeface="微软雅黑"/>
              </a:rPr>
              <a:t>交变电流</a:t>
            </a:r>
            <a:r>
              <a:rPr dirty="0" sz="2400" spc="75">
                <a:latin typeface="微软雅黑"/>
                <a:cs typeface="微软雅黑"/>
              </a:rPr>
              <a:t>能通过这个“电容器”。</a:t>
            </a:r>
            <a:r>
              <a:rPr dirty="0" sz="2400">
                <a:latin typeface="微软雅黑"/>
                <a:cs typeface="微软雅黑"/>
              </a:rPr>
              <a:t>用 </a:t>
            </a:r>
            <a:r>
              <a:rPr dirty="0" sz="2400" spc="70">
                <a:latin typeface="微软雅黑"/>
                <a:cs typeface="微软雅黑"/>
              </a:rPr>
              <a:t>手触摸金属外壳，</a:t>
            </a:r>
            <a:r>
              <a:rPr dirty="0" sz="2400" spc="75">
                <a:latin typeface="微软雅黑"/>
                <a:cs typeface="微软雅黑"/>
              </a:rPr>
              <a:t>会有较小的电流经人体流入大地。为</a:t>
            </a:r>
            <a:r>
              <a:rPr dirty="0" sz="2400">
                <a:latin typeface="微软雅黑"/>
                <a:cs typeface="微软雅黑"/>
              </a:rPr>
              <a:t>确 保安全，电气设备和电子仪器的金属外壳都应该接地。</a:t>
            </a:r>
            <a:endParaRPr sz="2400">
              <a:latin typeface="微软雅黑"/>
              <a:cs typeface="微软雅黑"/>
            </a:endParaRPr>
          </a:p>
          <a:p>
            <a:pPr algn="just" marL="168275" marR="3224530" indent="450850">
              <a:lnSpc>
                <a:spcPct val="125000"/>
              </a:lnSpc>
              <a:spcBef>
                <a:spcPts val="1900"/>
              </a:spcBef>
            </a:pPr>
            <a:r>
              <a:rPr dirty="0" sz="2400" spc="25">
                <a:latin typeface="微软雅黑"/>
                <a:cs typeface="微软雅黑"/>
              </a:rPr>
              <a:t>拓展：除了专门制作的电容器有</a:t>
            </a:r>
            <a:r>
              <a:rPr dirty="0" sz="2400" spc="30">
                <a:latin typeface="微软雅黑"/>
                <a:cs typeface="微软雅黑"/>
              </a:rPr>
              <a:t>电容外，电容还存在</a:t>
            </a:r>
            <a:r>
              <a:rPr dirty="0" sz="2400">
                <a:latin typeface="微软雅黑"/>
                <a:cs typeface="微软雅黑"/>
              </a:rPr>
              <a:t>于 </a:t>
            </a:r>
            <a:r>
              <a:rPr dirty="0" sz="2400" spc="70">
                <a:latin typeface="微软雅黑"/>
                <a:cs typeface="微软雅黑"/>
              </a:rPr>
              <a:t>两根输电线间</a:t>
            </a:r>
            <a:r>
              <a:rPr dirty="0" sz="2400" spc="75">
                <a:latin typeface="微软雅黑"/>
                <a:cs typeface="微软雅黑"/>
              </a:rPr>
              <a:t>、元件与机壳间、绝缘导体与大地之间，</a:t>
            </a:r>
            <a:r>
              <a:rPr dirty="0" sz="2400">
                <a:latin typeface="微软雅黑"/>
                <a:cs typeface="微软雅黑"/>
              </a:rPr>
              <a:t>这 </a:t>
            </a:r>
            <a:r>
              <a:rPr dirty="0" sz="2400" spc="70">
                <a:latin typeface="微软雅黑"/>
                <a:cs typeface="微软雅黑"/>
              </a:rPr>
              <a:t>种无处不在的</a:t>
            </a:r>
            <a:r>
              <a:rPr dirty="0" sz="2400" spc="75">
                <a:latin typeface="微软雅黑"/>
                <a:cs typeface="微软雅黑"/>
              </a:rPr>
              <a:t>电容，称作</a:t>
            </a:r>
            <a:r>
              <a:rPr dirty="0" sz="2400" spc="75" b="1">
                <a:solidFill>
                  <a:srgbClr val="001F5F"/>
                </a:solidFill>
                <a:latin typeface="微软雅黑"/>
                <a:cs typeface="微软雅黑"/>
              </a:rPr>
              <a:t>分布电容</a:t>
            </a:r>
            <a:r>
              <a:rPr dirty="0" sz="2400" spc="75">
                <a:latin typeface="微软雅黑"/>
                <a:cs typeface="微软雅黑"/>
              </a:rPr>
              <a:t>。当交流电的频率很</a:t>
            </a:r>
            <a:r>
              <a:rPr dirty="0" sz="2400">
                <a:latin typeface="微软雅黑"/>
                <a:cs typeface="微软雅黑"/>
              </a:rPr>
              <a:t>高 时，分布电容对电路的影响很大。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440" y="1245235"/>
            <a:ext cx="11245215" cy="276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50850">
              <a:lnSpc>
                <a:spcPct val="125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例题：如图，完全相同的</a:t>
            </a:r>
            <a:r>
              <a:rPr dirty="0" sz="2400" spc="5">
                <a:latin typeface="微软雅黑"/>
                <a:cs typeface="微软雅黑"/>
              </a:rPr>
              <a:t>灯泡</a:t>
            </a:r>
            <a:r>
              <a:rPr dirty="0" sz="2400" spc="5" i="1">
                <a:latin typeface="Times New Roman"/>
                <a:cs typeface="Times New Roman"/>
              </a:rPr>
              <a:t>a</a:t>
            </a:r>
            <a:r>
              <a:rPr dirty="0" sz="2400" spc="5">
                <a:latin typeface="微软雅黑"/>
                <a:cs typeface="微软雅黑"/>
              </a:rPr>
              <a:t>、</a:t>
            </a:r>
            <a:r>
              <a:rPr dirty="0" sz="2400" spc="5" i="1">
                <a:latin typeface="Times New Roman"/>
                <a:cs typeface="Times New Roman"/>
              </a:rPr>
              <a:t>b</a:t>
            </a:r>
            <a:r>
              <a:rPr dirty="0" sz="2400" spc="5">
                <a:latin typeface="微软雅黑"/>
                <a:cs typeface="微软雅黑"/>
              </a:rPr>
              <a:t>、</a:t>
            </a:r>
            <a:r>
              <a:rPr dirty="0" sz="2400" i="1">
                <a:latin typeface="Times New Roman"/>
                <a:cs typeface="Times New Roman"/>
              </a:rPr>
              <a:t>c</a:t>
            </a:r>
            <a:r>
              <a:rPr dirty="0" sz="2400" spc="5">
                <a:latin typeface="微软雅黑"/>
                <a:cs typeface="微软雅黑"/>
              </a:rPr>
              <a:t>分别与电阻</a:t>
            </a:r>
            <a:r>
              <a:rPr dirty="0" sz="2400" i="1">
                <a:latin typeface="Times New Roman"/>
                <a:cs typeface="Times New Roman"/>
              </a:rPr>
              <a:t>R</a:t>
            </a:r>
            <a:r>
              <a:rPr dirty="0" sz="2400" spc="5">
                <a:latin typeface="微软雅黑"/>
                <a:cs typeface="微软雅黑"/>
              </a:rPr>
              <a:t>、电感</a:t>
            </a:r>
            <a:r>
              <a:rPr dirty="0" sz="2400" spc="5" i="1">
                <a:latin typeface="Times New Roman"/>
                <a:cs typeface="Times New Roman"/>
              </a:rPr>
              <a:t>L</a:t>
            </a:r>
            <a:r>
              <a:rPr dirty="0" sz="2400" spc="5">
                <a:latin typeface="微软雅黑"/>
                <a:cs typeface="微软雅黑"/>
              </a:rPr>
              <a:t>、电容</a:t>
            </a:r>
            <a:r>
              <a:rPr dirty="0" sz="2400" i="1">
                <a:latin typeface="Times New Roman"/>
                <a:cs typeface="Times New Roman"/>
              </a:rPr>
              <a:t>C</a:t>
            </a:r>
            <a:r>
              <a:rPr dirty="0" sz="2400" spc="5">
                <a:latin typeface="微软雅黑"/>
                <a:cs typeface="微软雅黑"/>
              </a:rPr>
              <a:t>串联，再并</a:t>
            </a:r>
            <a:r>
              <a:rPr dirty="0" sz="2400">
                <a:latin typeface="微软雅黑"/>
                <a:cs typeface="微软雅黑"/>
              </a:rPr>
              <a:t>联 接在</a:t>
            </a:r>
            <a:r>
              <a:rPr dirty="0" sz="2400">
                <a:latin typeface="Times New Roman"/>
                <a:cs typeface="Times New Roman"/>
              </a:rPr>
              <a:t>220V</a:t>
            </a:r>
            <a:r>
              <a:rPr dirty="0" sz="2400">
                <a:latin typeface="微软雅黑"/>
                <a:cs typeface="微软雅黑"/>
              </a:rPr>
              <a:t>、</a:t>
            </a:r>
            <a:r>
              <a:rPr dirty="0" sz="2400" spc="-5">
                <a:latin typeface="Times New Roman"/>
                <a:cs typeface="Times New Roman"/>
              </a:rPr>
              <a:t>50Hz</a:t>
            </a:r>
            <a:r>
              <a:rPr dirty="0" sz="2400">
                <a:latin typeface="微软雅黑"/>
                <a:cs typeface="微软雅黑"/>
              </a:rPr>
              <a:t>的交变电源两端，三只灯泡亮度相同。若电源频率变为</a:t>
            </a:r>
            <a:r>
              <a:rPr dirty="0" sz="2400">
                <a:latin typeface="Times New Roman"/>
                <a:cs typeface="Times New Roman"/>
              </a:rPr>
              <a:t>60Hz</a:t>
            </a:r>
            <a:endParaRPr sz="2400">
              <a:latin typeface="Times New Roman"/>
              <a:cs typeface="Times New Roman"/>
            </a:endParaRPr>
          </a:p>
          <a:p>
            <a:pPr marL="825500" indent="-372745">
              <a:lnSpc>
                <a:spcPct val="100000"/>
              </a:lnSpc>
              <a:spcBef>
                <a:spcPts val="720"/>
              </a:spcBef>
              <a:buFont typeface="Times New Roman"/>
              <a:buAutoNum type="alphaUcPeriod"/>
              <a:tabLst>
                <a:tab pos="825500" algn="l"/>
              </a:tabLst>
            </a:pPr>
            <a:r>
              <a:rPr dirty="0" sz="2400">
                <a:latin typeface="微软雅黑"/>
                <a:cs typeface="微软雅黑"/>
              </a:rPr>
              <a:t>三只灯泡亮度不变</a:t>
            </a:r>
            <a:endParaRPr sz="2400">
              <a:latin typeface="微软雅黑"/>
              <a:cs typeface="微软雅黑"/>
            </a:endParaRPr>
          </a:p>
          <a:p>
            <a:pPr marL="825500" indent="-355600">
              <a:lnSpc>
                <a:spcPct val="100000"/>
              </a:lnSpc>
              <a:spcBef>
                <a:spcPts val="720"/>
              </a:spcBef>
              <a:buFont typeface="Times New Roman"/>
              <a:buAutoNum type="alphaUcPeriod"/>
              <a:tabLst>
                <a:tab pos="825500" algn="l"/>
              </a:tabLst>
            </a:pPr>
            <a:r>
              <a:rPr dirty="0" sz="2400">
                <a:latin typeface="微软雅黑"/>
                <a:cs typeface="微软雅黑"/>
              </a:rPr>
              <a:t>三只灯泡都将变亮</a:t>
            </a:r>
            <a:endParaRPr sz="2400">
              <a:latin typeface="微软雅黑"/>
              <a:cs typeface="微软雅黑"/>
            </a:endParaRPr>
          </a:p>
          <a:p>
            <a:pPr marL="825500" indent="-355600">
              <a:lnSpc>
                <a:spcPct val="100000"/>
              </a:lnSpc>
              <a:spcBef>
                <a:spcPts val="720"/>
              </a:spcBef>
              <a:buFont typeface="Times New Roman"/>
              <a:buAutoNum type="alphaUcPeriod"/>
              <a:tabLst>
                <a:tab pos="825500" algn="l"/>
              </a:tabLst>
            </a:pPr>
            <a:r>
              <a:rPr dirty="0" sz="2400" i="1">
                <a:latin typeface="Times New Roman"/>
                <a:cs typeface="Times New Roman"/>
              </a:rPr>
              <a:t>a</a:t>
            </a:r>
            <a:r>
              <a:rPr dirty="0" sz="2400">
                <a:latin typeface="微软雅黑"/>
                <a:cs typeface="微软雅黑"/>
              </a:rPr>
              <a:t>亮度不变，</a:t>
            </a:r>
            <a:r>
              <a:rPr dirty="0" sz="2400" i="1">
                <a:latin typeface="Times New Roman"/>
                <a:cs typeface="Times New Roman"/>
              </a:rPr>
              <a:t>b</a:t>
            </a:r>
            <a:r>
              <a:rPr dirty="0" sz="2400">
                <a:latin typeface="微软雅黑"/>
                <a:cs typeface="微软雅黑"/>
              </a:rPr>
              <a:t>变亮</a:t>
            </a:r>
            <a:r>
              <a:rPr dirty="0" sz="2400" spc="-5">
                <a:latin typeface="微软雅黑"/>
                <a:cs typeface="微软雅黑"/>
              </a:rPr>
              <a:t>，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sz="2400">
                <a:latin typeface="微软雅黑"/>
                <a:cs typeface="微软雅黑"/>
              </a:rPr>
              <a:t>变暗</a:t>
            </a:r>
            <a:endParaRPr sz="2400">
              <a:latin typeface="微软雅黑"/>
              <a:cs typeface="微软雅黑"/>
            </a:endParaRPr>
          </a:p>
          <a:p>
            <a:pPr marL="842644" indent="-372745">
              <a:lnSpc>
                <a:spcPct val="100000"/>
              </a:lnSpc>
              <a:spcBef>
                <a:spcPts val="720"/>
              </a:spcBef>
              <a:buFont typeface="Times New Roman"/>
              <a:buAutoNum type="alphaUcPeriod"/>
              <a:tabLst>
                <a:tab pos="842644" algn="l"/>
              </a:tabLst>
            </a:pPr>
            <a:r>
              <a:rPr dirty="0" sz="2400" i="1">
                <a:latin typeface="Times New Roman"/>
                <a:cs typeface="Times New Roman"/>
              </a:rPr>
              <a:t>a</a:t>
            </a:r>
            <a:r>
              <a:rPr dirty="0" sz="2400">
                <a:latin typeface="微软雅黑"/>
                <a:cs typeface="微软雅黑"/>
              </a:rPr>
              <a:t>亮度不变，</a:t>
            </a:r>
            <a:r>
              <a:rPr dirty="0" sz="2400" i="1">
                <a:latin typeface="Times New Roman"/>
                <a:cs typeface="Times New Roman"/>
              </a:rPr>
              <a:t>b</a:t>
            </a:r>
            <a:r>
              <a:rPr dirty="0" sz="2400">
                <a:latin typeface="微软雅黑"/>
                <a:cs typeface="微软雅黑"/>
              </a:rPr>
              <a:t>变暗</a:t>
            </a:r>
            <a:r>
              <a:rPr dirty="0" sz="2400" spc="-5">
                <a:latin typeface="微软雅黑"/>
                <a:cs typeface="微软雅黑"/>
              </a:rPr>
              <a:t>，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sz="2400">
                <a:latin typeface="微软雅黑"/>
                <a:cs typeface="微软雅黑"/>
              </a:rPr>
              <a:t>变亮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5421312"/>
            <a:ext cx="1160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答案：</a:t>
            </a:r>
            <a:r>
              <a:rPr dirty="0" sz="240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24243" y="2313432"/>
            <a:ext cx="3575304" cy="1958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9752" y="1147762"/>
            <a:ext cx="774763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微软雅黑"/>
                <a:cs typeface="微软雅黑"/>
              </a:rPr>
              <a:t>总结：电阻、电容、电感对交变电流的影</a:t>
            </a:r>
            <a:r>
              <a:rPr dirty="0" sz="3200" spc="5" b="1">
                <a:latin typeface="微软雅黑"/>
                <a:cs typeface="微软雅黑"/>
              </a:rPr>
              <a:t>响</a:t>
            </a:r>
            <a:endParaRPr sz="3200">
              <a:latin typeface="微软雅黑"/>
              <a:cs typeface="微软雅黑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92437" y="2287587"/>
          <a:ext cx="8113395" cy="3034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8075"/>
                <a:gridCol w="2084070"/>
                <a:gridCol w="4902200"/>
              </a:tblGrid>
              <a:tr h="675004">
                <a:tc>
                  <a:txBody>
                    <a:bodyPr/>
                    <a:lstStyle/>
                    <a:p>
                      <a:pPr algn="r" marR="24257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元件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1466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2145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阻抗</a:t>
                      </a:r>
                      <a:r>
                        <a:rPr dirty="0" sz="2400" i="1">
                          <a:latin typeface="Times New Roman"/>
                          <a:cs typeface="Times New Roman"/>
                        </a:rPr>
                        <a:t>Z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6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对交流的影响（与直流对比）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1466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algn="r" marR="23558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电阻</a:t>
                      </a:r>
                      <a:r>
                        <a:rPr dirty="0" sz="2400" i="1">
                          <a:latin typeface="Times New Roman"/>
                          <a:cs typeface="Times New Roman"/>
                        </a:rPr>
                        <a:t>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36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2600" spc="-5" i="1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dirty="0" baseline="-16339" sz="2550" spc="-7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2600" spc="-5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2600" spc="-5" i="1">
                          <a:latin typeface="Times New Roman"/>
                          <a:cs typeface="Times New Roman"/>
                        </a:rPr>
                        <a:t>R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636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对直流、交流都有阻碍作用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1536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8675">
                <a:tc>
                  <a:txBody>
                    <a:bodyPr/>
                    <a:lstStyle/>
                    <a:p>
                      <a:pPr algn="r" marR="252729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电感</a:t>
                      </a:r>
                      <a:r>
                        <a:rPr dirty="0" sz="2400" i="1">
                          <a:latin typeface="Times New Roman"/>
                          <a:cs typeface="Times New Roman"/>
                        </a:rPr>
                        <a:t>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35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2600" spc="-5" i="1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dirty="0" baseline="-16339" sz="2550" spc="-7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2600" spc="-5">
                          <a:latin typeface="Times New Roman"/>
                          <a:cs typeface="Times New Roman"/>
                        </a:rPr>
                        <a:t>=2π</a:t>
                      </a:r>
                      <a:r>
                        <a:rPr dirty="0" sz="2600" spc="-5" i="1">
                          <a:latin typeface="Times New Roman"/>
                          <a:cs typeface="Times New Roman"/>
                        </a:rPr>
                        <a:t>fL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6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通直流，阻交流；通低频，阻高频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2235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8675">
                <a:tc>
                  <a:txBody>
                    <a:bodyPr/>
                    <a:lstStyle/>
                    <a:p>
                      <a:pPr algn="r" marR="218440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电容</a:t>
                      </a:r>
                      <a:r>
                        <a:rPr dirty="0" sz="2400" i="1"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35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2600" spc="-5" i="1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dirty="0" baseline="-16339" sz="2550" spc="-7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2600" spc="-5">
                          <a:latin typeface="Times New Roman"/>
                          <a:cs typeface="Times New Roman"/>
                        </a:rPr>
                        <a:t>=1/(2π</a:t>
                      </a:r>
                      <a:r>
                        <a:rPr dirty="0" sz="2600" spc="-5" i="1">
                          <a:latin typeface="Times New Roman"/>
                          <a:cs typeface="Times New Roman"/>
                        </a:rPr>
                        <a:t>fC</a:t>
                      </a:r>
                      <a:r>
                        <a:rPr dirty="0" sz="2600" spc="-5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6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2400">
                          <a:latin typeface="微软雅黑"/>
                          <a:cs typeface="微软雅黑"/>
                        </a:rPr>
                        <a:t>通交流，隔直流；通高频，阻低频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B="0" marT="2235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675131" y="2343911"/>
            <a:ext cx="2119884" cy="1716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14525" y="4822825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 h="0">
                <a:moveTo>
                  <a:pt x="0" y="0"/>
                </a:moveTo>
                <a:lnTo>
                  <a:pt x="415340" y="0"/>
                </a:lnTo>
              </a:path>
            </a:pathLst>
          </a:custGeom>
          <a:ln w="23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58467" y="4827435"/>
            <a:ext cx="280670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5" i="1">
                <a:latin typeface="Times New Roman"/>
                <a:cs typeface="Times New Roman"/>
              </a:rPr>
              <a:t>Z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1996" y="4467948"/>
            <a:ext cx="1051560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37185" algn="l"/>
              </a:tabLst>
            </a:pPr>
            <a:r>
              <a:rPr dirty="0" sz="3600" i="1">
                <a:latin typeface="Times New Roman"/>
                <a:cs typeface="Times New Roman"/>
              </a:rPr>
              <a:t>I	</a:t>
            </a:r>
            <a:r>
              <a:rPr dirty="0" sz="3600" spc="5">
                <a:latin typeface="Symbol"/>
                <a:cs typeface="Symbol"/>
              </a:rPr>
              <a:t>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baseline="35493" sz="5400" spc="7" i="1">
                <a:latin typeface="Times New Roman"/>
                <a:cs typeface="Times New Roman"/>
              </a:rPr>
              <a:t>U</a:t>
            </a:r>
            <a:endParaRPr baseline="35493" sz="5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2025-04-20T10:41:57Z</dcterms:created>
  <dcterms:modified xsi:type="dcterms:W3CDTF">2025-04-20T10:41:57Z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