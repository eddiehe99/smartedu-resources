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Default Extension="jpg" ContentType="image/jpg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x="12192000" cy="6858000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华文楷体"/>
                <a:cs typeface="华文楷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华文楷体"/>
                <a:cs typeface="华文楷体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华文楷体"/>
                <a:cs typeface="华文楷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华文楷体"/>
                <a:cs typeface="华文楷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88770" y="1743875"/>
            <a:ext cx="8605520" cy="995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华文楷体"/>
                <a:cs typeface="华文楷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504302" y="2668905"/>
            <a:ext cx="8357234" cy="29248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华文楷体"/>
                <a:cs typeface="华文楷体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189039" y="6180632"/>
            <a:ext cx="1042035" cy="3619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Relationship Id="rId3" Type="http://schemas.openxmlformats.org/officeDocument/2006/relationships/image" Target="../media/image7.jpg"/><Relationship Id="rId4" Type="http://schemas.openxmlformats.org/officeDocument/2006/relationships/image" Target="../media/image8.jpg"/><Relationship Id="rId5" Type="http://schemas.openxmlformats.org/officeDocument/2006/relationships/image" Target="../media/image9.jp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jp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jp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Relationship Id="rId3" Type="http://schemas.openxmlformats.org/officeDocument/2006/relationships/image" Target="../media/image12.pn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jpg"/><Relationship Id="rId3" Type="http://schemas.openxmlformats.org/officeDocument/2006/relationships/image" Target="../media/image14.jp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.pn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8.jpg"/><Relationship Id="rId3" Type="http://schemas.openxmlformats.org/officeDocument/2006/relationships/image" Target="../media/image19.jpg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0.png"/><Relationship Id="rId3" Type="http://schemas.openxmlformats.org/officeDocument/2006/relationships/image" Target="../media/image21.jpg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2.jpg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3.png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4.png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3" Type="http://schemas.openxmlformats.org/officeDocument/2006/relationships/image" Target="../media/image4.png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41398" y="805497"/>
            <a:ext cx="414020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solidFill>
                  <a:srgbClr val="FFFFFF"/>
                </a:solidFill>
                <a:latin typeface="微软雅黑"/>
                <a:cs typeface="微软雅黑"/>
              </a:rPr>
              <a:t>国家中小学课程资源</a:t>
            </a:r>
            <a:endParaRPr sz="3600">
              <a:latin typeface="微软雅黑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353311" y="2830067"/>
            <a:ext cx="409956" cy="46634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847782" y="2073452"/>
            <a:ext cx="449580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b="1">
                <a:solidFill>
                  <a:srgbClr val="FFFFFF"/>
                </a:solidFill>
                <a:latin typeface="微软雅黑"/>
                <a:cs typeface="微软雅黑"/>
              </a:rPr>
              <a:t>变压器</a:t>
            </a:r>
            <a:r>
              <a:rPr dirty="0" sz="3200" b="1">
                <a:solidFill>
                  <a:srgbClr val="FFFFFF"/>
                </a:solidFill>
                <a:latin typeface="微软雅黑"/>
                <a:cs typeface="微软雅黑"/>
              </a:rPr>
              <a:t>（第二课时</a:t>
            </a:r>
            <a:r>
              <a:rPr dirty="0" sz="4800" b="1">
                <a:solidFill>
                  <a:srgbClr val="FFFFFF"/>
                </a:solidFill>
                <a:latin typeface="微软雅黑"/>
                <a:cs typeface="微软雅黑"/>
              </a:rPr>
              <a:t>）</a:t>
            </a:r>
            <a:endParaRPr sz="4800">
              <a:latin typeface="微软雅黑"/>
              <a:cs typeface="微软雅黑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747621" y="3578381"/>
          <a:ext cx="9156700" cy="9728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30575"/>
                <a:gridCol w="1343025"/>
                <a:gridCol w="4483100"/>
              </a:tblGrid>
              <a:tr h="486174">
                <a:tc>
                  <a:txBody>
                    <a:bodyPr/>
                    <a:lstStyle/>
                    <a:p>
                      <a:pPr marL="31750">
                        <a:lnSpc>
                          <a:spcPts val="3315"/>
                        </a:lnSpc>
                        <a:tabLst>
                          <a:tab pos="745490" algn="l"/>
                        </a:tabLst>
                      </a:pPr>
                      <a:r>
                        <a:rPr dirty="0" sz="2800" spc="-1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年	</a:t>
                      </a:r>
                      <a:r>
                        <a:rPr dirty="0" sz="28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级：高</a:t>
                      </a:r>
                      <a:r>
                        <a:rPr dirty="0" sz="2800" spc="-1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二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70815">
                        <a:lnSpc>
                          <a:spcPts val="331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学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80975">
                        <a:lnSpc>
                          <a:spcPts val="331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科：物理（人教版</a:t>
                      </a:r>
                      <a:r>
                        <a:rPr dirty="0" sz="2800" spc="-1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）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0"/>
                </a:tc>
              </a:tr>
              <a:tr h="486174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主讲人：岳凌</a:t>
                      </a:r>
                      <a:r>
                        <a:rPr dirty="0" sz="2800" spc="-1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月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18415"/>
                </a:tc>
                <a:tc>
                  <a:txBody>
                    <a:bodyPr/>
                    <a:lstStyle/>
                    <a:p>
                      <a:pPr algn="r" marR="17462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学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18415"/>
                </a:tc>
                <a:tc>
                  <a:txBody>
                    <a:bodyPr/>
                    <a:lstStyle/>
                    <a:p>
                      <a:pPr marL="17716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校：北京师范大学附属中</a:t>
                      </a:r>
                      <a:r>
                        <a:rPr dirty="0" sz="2800" spc="-1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学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18415"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41483" y="1998840"/>
            <a:ext cx="4293235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>
                <a:solidFill>
                  <a:srgbClr val="3A5543"/>
                </a:solidFill>
                <a:latin typeface="微软雅黑"/>
                <a:cs typeface="微软雅黑"/>
              </a:rPr>
              <a:t>变压器</a:t>
            </a:r>
            <a:r>
              <a:rPr dirty="0">
                <a:solidFill>
                  <a:srgbClr val="3A5543"/>
                </a:solidFill>
                <a:latin typeface="微软雅黑"/>
                <a:cs typeface="微软雅黑"/>
              </a:rPr>
              <a:t>（第二课时</a:t>
            </a:r>
            <a:r>
              <a:rPr dirty="0" spc="5">
                <a:solidFill>
                  <a:srgbClr val="3A5543"/>
                </a:solidFill>
                <a:latin typeface="微软雅黑"/>
                <a:cs typeface="微软雅黑"/>
              </a:rPr>
              <a:t>）</a:t>
            </a:r>
            <a:endParaRPr sz="48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460980" y="3504298"/>
          <a:ext cx="7093584" cy="8528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77135"/>
                <a:gridCol w="768350"/>
                <a:gridCol w="3848735"/>
              </a:tblGrid>
              <a:tr h="426237">
                <a:tc>
                  <a:txBody>
                    <a:bodyPr/>
                    <a:lstStyle/>
                    <a:p>
                      <a:pPr marL="31750">
                        <a:lnSpc>
                          <a:spcPts val="2845"/>
                        </a:lnSpc>
                        <a:tabLst>
                          <a:tab pos="643890" algn="l"/>
                        </a:tabLst>
                      </a:pPr>
                      <a:r>
                        <a:rPr dirty="0" sz="2400" spc="-5" b="1">
                          <a:solidFill>
                            <a:srgbClr val="3A5543"/>
                          </a:solidFill>
                          <a:latin typeface="华文楷体"/>
                          <a:cs typeface="华文楷体"/>
                        </a:rPr>
                        <a:t>年	</a:t>
                      </a:r>
                      <a:r>
                        <a:rPr dirty="0" sz="2400" b="1">
                          <a:solidFill>
                            <a:srgbClr val="3A5543"/>
                          </a:solidFill>
                          <a:latin typeface="华文楷体"/>
                          <a:cs typeface="华文楷体"/>
                        </a:rPr>
                        <a:t>级：高</a:t>
                      </a:r>
                      <a:r>
                        <a:rPr dirty="0" sz="2400" spc="-5" b="1">
                          <a:solidFill>
                            <a:srgbClr val="3A5543"/>
                          </a:solidFill>
                          <a:latin typeface="华文楷体"/>
                          <a:cs typeface="华文楷体"/>
                        </a:rPr>
                        <a:t>二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4145">
                        <a:lnSpc>
                          <a:spcPts val="2845"/>
                        </a:lnSpc>
                      </a:pPr>
                      <a:r>
                        <a:rPr dirty="0" sz="2400" b="1">
                          <a:solidFill>
                            <a:srgbClr val="3A5543"/>
                          </a:solidFill>
                          <a:latin typeface="华文楷体"/>
                          <a:cs typeface="华文楷体"/>
                        </a:rPr>
                        <a:t>学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55575">
                        <a:lnSpc>
                          <a:spcPts val="2845"/>
                        </a:lnSpc>
                      </a:pPr>
                      <a:r>
                        <a:rPr dirty="0" sz="2400" b="1">
                          <a:solidFill>
                            <a:srgbClr val="3A5543"/>
                          </a:solidFill>
                          <a:latin typeface="华文楷体"/>
                          <a:cs typeface="华文楷体"/>
                        </a:rPr>
                        <a:t>科：物理（人教版</a:t>
                      </a:r>
                      <a:r>
                        <a:rPr dirty="0" sz="2400" spc="-5" b="1">
                          <a:solidFill>
                            <a:srgbClr val="3A5543"/>
                          </a:solidFill>
                          <a:latin typeface="华文楷体"/>
                          <a:cs typeface="华文楷体"/>
                        </a:rPr>
                        <a:t>）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B="0" marT="0"/>
                </a:tc>
              </a:tr>
              <a:tr h="426237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2400" b="1">
                          <a:solidFill>
                            <a:srgbClr val="3A5543"/>
                          </a:solidFill>
                          <a:latin typeface="华文楷体"/>
                          <a:cs typeface="华文楷体"/>
                        </a:rPr>
                        <a:t>主讲人：岳凌</a:t>
                      </a:r>
                      <a:r>
                        <a:rPr dirty="0" sz="2400" spc="-5" b="1">
                          <a:solidFill>
                            <a:srgbClr val="3A5543"/>
                          </a:solidFill>
                          <a:latin typeface="华文楷体"/>
                          <a:cs typeface="华文楷体"/>
                        </a:rPr>
                        <a:t>月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B="0" marT="25400"/>
                </a:tc>
                <a:tc>
                  <a:txBody>
                    <a:bodyPr/>
                    <a:lstStyle/>
                    <a:p>
                      <a:pPr algn="r" marR="14795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2400" b="1">
                          <a:solidFill>
                            <a:srgbClr val="3A5543"/>
                          </a:solidFill>
                          <a:latin typeface="华文楷体"/>
                          <a:cs typeface="华文楷体"/>
                        </a:rPr>
                        <a:t>学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B="0" marT="25400"/>
                </a:tc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2400" b="1">
                          <a:solidFill>
                            <a:srgbClr val="3A5543"/>
                          </a:solidFill>
                          <a:latin typeface="华文楷体"/>
                          <a:cs typeface="华文楷体"/>
                        </a:rPr>
                        <a:t>校：北京师范大学附属中</a:t>
                      </a:r>
                      <a:r>
                        <a:rPr dirty="0" sz="2400" spc="-5" b="1">
                          <a:solidFill>
                            <a:srgbClr val="3A5543"/>
                          </a:solidFill>
                          <a:latin typeface="华文楷体"/>
                          <a:cs typeface="华文楷体"/>
                        </a:rPr>
                        <a:t>学</a:t>
                      </a:r>
                      <a:endParaRPr sz="2400">
                        <a:latin typeface="华文楷体"/>
                        <a:cs typeface="华文楷体"/>
                      </a:endParaRPr>
                    </a:p>
                  </a:txBody>
                  <a:tcPr marL="0" marR="0" marB="0" marT="25400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176608" y="1101293"/>
            <a:ext cx="139700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26465" algn="l"/>
              </a:tabLst>
            </a:pPr>
            <a:r>
              <a:rPr dirty="0" sz="3600">
                <a:latin typeface="黑体"/>
                <a:cs typeface="黑体"/>
              </a:rPr>
              <a:t>复	习</a:t>
            </a:r>
            <a:endParaRPr sz="3600">
              <a:latin typeface="黑体"/>
              <a:cs typeface="黑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330651" y="1897087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96" y="0"/>
                </a:lnTo>
              </a:path>
            </a:pathLst>
          </a:custGeom>
          <a:ln w="36144">
            <a:solidFill>
              <a:srgbClr val="014E6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767583" y="1626107"/>
            <a:ext cx="364490" cy="364490"/>
          </a:xfrm>
          <a:custGeom>
            <a:avLst/>
            <a:gdLst/>
            <a:ahLst/>
            <a:cxnLst/>
            <a:rect l="l" t="t" r="r" b="b"/>
            <a:pathLst>
              <a:path w="364489" h="364489">
                <a:moveTo>
                  <a:pt x="0" y="0"/>
                </a:moveTo>
                <a:lnTo>
                  <a:pt x="364236" y="0"/>
                </a:lnTo>
                <a:lnTo>
                  <a:pt x="364236" y="364236"/>
                </a:lnTo>
                <a:lnTo>
                  <a:pt x="0" y="364236"/>
                </a:lnTo>
                <a:lnTo>
                  <a:pt x="0" y="0"/>
                </a:lnTo>
                <a:close/>
              </a:path>
            </a:pathLst>
          </a:custGeom>
          <a:solidFill>
            <a:srgbClr val="014E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967227" y="1850135"/>
            <a:ext cx="247015" cy="247015"/>
          </a:xfrm>
          <a:custGeom>
            <a:avLst/>
            <a:gdLst/>
            <a:ahLst/>
            <a:cxnLst/>
            <a:rect l="l" t="t" r="r" b="b"/>
            <a:pathLst>
              <a:path w="247014" h="247014">
                <a:moveTo>
                  <a:pt x="0" y="0"/>
                </a:moveTo>
                <a:lnTo>
                  <a:pt x="246887" y="0"/>
                </a:lnTo>
                <a:lnTo>
                  <a:pt x="246887" y="246887"/>
                </a:lnTo>
                <a:lnTo>
                  <a:pt x="0" y="246887"/>
                </a:lnTo>
                <a:lnTo>
                  <a:pt x="0" y="0"/>
                </a:lnTo>
                <a:close/>
              </a:path>
            </a:pathLst>
          </a:custGeom>
          <a:solidFill>
            <a:srgbClr val="1684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967227" y="2025395"/>
            <a:ext cx="3828287" cy="23957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256436" y="2523439"/>
            <a:ext cx="1143635" cy="5524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450" spc="-375" b="0" i="1">
                <a:latin typeface="Times New Roman"/>
                <a:cs typeface="Times New Roman"/>
              </a:rPr>
              <a:t>P</a:t>
            </a:r>
            <a:r>
              <a:rPr dirty="0" baseline="-25000" sz="3000" spc="-562" b="0">
                <a:latin typeface="Times New Roman"/>
                <a:cs typeface="Times New Roman"/>
              </a:rPr>
              <a:t>1 </a:t>
            </a:r>
            <a:r>
              <a:rPr dirty="0" sz="3450" spc="20" b="0">
                <a:latin typeface="Symbol"/>
                <a:cs typeface="Symbol"/>
              </a:rPr>
              <a:t></a:t>
            </a:r>
            <a:r>
              <a:rPr dirty="0" sz="3450" spc="-15" b="0">
                <a:latin typeface="Times New Roman"/>
                <a:cs typeface="Times New Roman"/>
              </a:rPr>
              <a:t> </a:t>
            </a:r>
            <a:r>
              <a:rPr dirty="0" sz="3450" spc="-265" b="0" i="1">
                <a:latin typeface="Times New Roman"/>
                <a:cs typeface="Times New Roman"/>
              </a:rPr>
              <a:t>P</a:t>
            </a:r>
            <a:r>
              <a:rPr dirty="0" baseline="-25000" sz="3000" spc="-397" b="0">
                <a:latin typeface="Times New Roman"/>
                <a:cs typeface="Times New Roman"/>
              </a:rPr>
              <a:t>2</a:t>
            </a:r>
            <a:endParaRPr baseline="-25000" sz="3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256856" y="3932834"/>
            <a:ext cx="490220" cy="0"/>
          </a:xfrm>
          <a:custGeom>
            <a:avLst/>
            <a:gdLst/>
            <a:ahLst/>
            <a:cxnLst/>
            <a:rect l="l" t="t" r="r" b="b"/>
            <a:pathLst>
              <a:path w="490220" h="0">
                <a:moveTo>
                  <a:pt x="0" y="0"/>
                </a:moveTo>
                <a:lnTo>
                  <a:pt x="490156" y="0"/>
                </a:lnTo>
              </a:path>
            </a:pathLst>
          </a:custGeom>
          <a:ln w="2023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8181758" y="3932834"/>
            <a:ext cx="400050" cy="0"/>
          </a:xfrm>
          <a:custGeom>
            <a:avLst/>
            <a:gdLst/>
            <a:ahLst/>
            <a:cxnLst/>
            <a:rect l="l" t="t" r="r" b="b"/>
            <a:pathLst>
              <a:path w="400050" h="0">
                <a:moveTo>
                  <a:pt x="0" y="0"/>
                </a:moveTo>
                <a:lnTo>
                  <a:pt x="399592" y="0"/>
                </a:lnTo>
              </a:path>
            </a:pathLst>
          </a:custGeom>
          <a:ln w="2023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7231367" y="3268588"/>
            <a:ext cx="1305560" cy="11817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22225">
              <a:lnSpc>
                <a:spcPct val="118500"/>
              </a:lnSpc>
              <a:spcBef>
                <a:spcPts val="95"/>
              </a:spcBef>
              <a:tabLst>
                <a:tab pos="624205" algn="l"/>
                <a:tab pos="976630" algn="l"/>
              </a:tabLst>
            </a:pPr>
            <a:r>
              <a:rPr dirty="0" sz="3200" spc="30" i="1">
                <a:latin typeface="Times New Roman"/>
                <a:cs typeface="Times New Roman"/>
              </a:rPr>
              <a:t>U</a:t>
            </a:r>
            <a:r>
              <a:rPr dirty="0" baseline="-25525" sz="2775" spc="44">
                <a:latin typeface="Times New Roman"/>
                <a:cs typeface="Times New Roman"/>
              </a:rPr>
              <a:t>1	</a:t>
            </a:r>
            <a:r>
              <a:rPr dirty="0" baseline="-35590" sz="4800" spc="15">
                <a:latin typeface="Symbol"/>
                <a:cs typeface="Symbol"/>
              </a:rPr>
              <a:t></a:t>
            </a:r>
            <a:r>
              <a:rPr dirty="0" baseline="-35590" sz="4800" spc="15">
                <a:latin typeface="Times New Roman"/>
                <a:cs typeface="Times New Roman"/>
              </a:rPr>
              <a:t> </a:t>
            </a:r>
            <a:r>
              <a:rPr dirty="0" sz="3200" spc="-125" i="1">
                <a:latin typeface="Times New Roman"/>
                <a:cs typeface="Times New Roman"/>
              </a:rPr>
              <a:t>n</a:t>
            </a:r>
            <a:r>
              <a:rPr dirty="0" baseline="-25525" sz="2775" spc="-187">
                <a:latin typeface="Times New Roman"/>
                <a:cs typeface="Times New Roman"/>
              </a:rPr>
              <a:t>1  </a:t>
            </a:r>
            <a:r>
              <a:rPr dirty="0" sz="3200" spc="250" i="1">
                <a:latin typeface="Times New Roman"/>
                <a:cs typeface="Times New Roman"/>
              </a:rPr>
              <a:t>U</a:t>
            </a:r>
            <a:r>
              <a:rPr dirty="0" baseline="-25525" sz="2775" spc="7">
                <a:latin typeface="Times New Roman"/>
                <a:cs typeface="Times New Roman"/>
              </a:rPr>
              <a:t>2</a:t>
            </a:r>
            <a:r>
              <a:rPr dirty="0" baseline="-25525" sz="2775">
                <a:latin typeface="Times New Roman"/>
                <a:cs typeface="Times New Roman"/>
              </a:rPr>
              <a:t>		</a:t>
            </a:r>
            <a:r>
              <a:rPr dirty="0" sz="3200" spc="-55" i="1">
                <a:latin typeface="Times New Roman"/>
                <a:cs typeface="Times New Roman"/>
              </a:rPr>
              <a:t>n</a:t>
            </a:r>
            <a:r>
              <a:rPr dirty="0" baseline="-25525" sz="2775" spc="7">
                <a:latin typeface="Times New Roman"/>
                <a:cs typeface="Times New Roman"/>
              </a:rPr>
              <a:t>2</a:t>
            </a:r>
            <a:endParaRPr baseline="-25525" sz="2775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3373183" y="3580777"/>
            <a:ext cx="2874645" cy="13728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635">
              <a:lnSpc>
                <a:spcPct val="100000"/>
              </a:lnSpc>
              <a:spcBef>
                <a:spcPts val="100"/>
              </a:spcBef>
              <a:tabLst>
                <a:tab pos="1261110" algn="l"/>
              </a:tabLst>
            </a:pPr>
            <a:r>
              <a:rPr dirty="0" sz="2800" spc="-215" i="1">
                <a:latin typeface="Times New Roman"/>
                <a:cs typeface="Times New Roman"/>
              </a:rPr>
              <a:t>P</a:t>
            </a:r>
            <a:r>
              <a:rPr dirty="0" baseline="-26041" sz="2400" spc="-322">
                <a:latin typeface="Times New Roman"/>
                <a:cs typeface="Times New Roman"/>
              </a:rPr>
              <a:t>1	</a:t>
            </a:r>
            <a:r>
              <a:rPr dirty="0" sz="2800" spc="-215" i="1">
                <a:latin typeface="Times New Roman"/>
                <a:cs typeface="Times New Roman"/>
              </a:rPr>
              <a:t>P</a:t>
            </a:r>
            <a:r>
              <a:rPr dirty="0" baseline="-24305" sz="2400" spc="-322">
                <a:latin typeface="Times New Roman"/>
                <a:cs typeface="Times New Roman"/>
              </a:rPr>
              <a:t>2</a:t>
            </a:r>
            <a:endParaRPr baseline="-24305"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9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3200" b="1">
                <a:latin typeface="华文楷体"/>
                <a:cs typeface="华文楷体"/>
              </a:rPr>
              <a:t>理想变压器模型</a:t>
            </a:r>
            <a:endParaRPr sz="32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176608" y="1101293"/>
            <a:ext cx="139700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latin typeface="黑体"/>
                <a:cs typeface="黑体"/>
              </a:rPr>
              <a:t>想一想</a:t>
            </a:r>
            <a:endParaRPr sz="3600">
              <a:latin typeface="黑体"/>
              <a:cs typeface="黑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330651" y="1897087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96" y="0"/>
                </a:lnTo>
              </a:path>
            </a:pathLst>
          </a:custGeom>
          <a:ln w="36144">
            <a:solidFill>
              <a:srgbClr val="014E6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767583" y="1626107"/>
            <a:ext cx="364490" cy="364490"/>
          </a:xfrm>
          <a:custGeom>
            <a:avLst/>
            <a:gdLst/>
            <a:ahLst/>
            <a:cxnLst/>
            <a:rect l="l" t="t" r="r" b="b"/>
            <a:pathLst>
              <a:path w="364489" h="364489">
                <a:moveTo>
                  <a:pt x="0" y="0"/>
                </a:moveTo>
                <a:lnTo>
                  <a:pt x="364236" y="0"/>
                </a:lnTo>
                <a:lnTo>
                  <a:pt x="364236" y="364236"/>
                </a:lnTo>
                <a:lnTo>
                  <a:pt x="0" y="364236"/>
                </a:lnTo>
                <a:lnTo>
                  <a:pt x="0" y="0"/>
                </a:lnTo>
                <a:close/>
              </a:path>
            </a:pathLst>
          </a:custGeom>
          <a:solidFill>
            <a:srgbClr val="014E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967227" y="1850135"/>
            <a:ext cx="247015" cy="247015"/>
          </a:xfrm>
          <a:custGeom>
            <a:avLst/>
            <a:gdLst/>
            <a:ahLst/>
            <a:cxnLst/>
            <a:rect l="l" t="t" r="r" b="b"/>
            <a:pathLst>
              <a:path w="247014" h="247014">
                <a:moveTo>
                  <a:pt x="0" y="0"/>
                </a:moveTo>
                <a:lnTo>
                  <a:pt x="246887" y="0"/>
                </a:lnTo>
                <a:lnTo>
                  <a:pt x="246887" y="246887"/>
                </a:lnTo>
                <a:lnTo>
                  <a:pt x="0" y="246887"/>
                </a:lnTo>
                <a:lnTo>
                  <a:pt x="0" y="0"/>
                </a:lnTo>
                <a:close/>
              </a:path>
            </a:pathLst>
          </a:custGeom>
          <a:solidFill>
            <a:srgbClr val="1684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473845" y="2257145"/>
            <a:ext cx="7352030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FF0000"/>
                </a:solidFill>
              </a:rPr>
              <a:t>如何在不破坏它的前提下知道它的匝数？</a:t>
            </a:r>
          </a:p>
        </p:txBody>
      </p:sp>
      <p:sp>
        <p:nvSpPr>
          <p:cNvPr id="7" name="object 7"/>
          <p:cNvSpPr/>
          <p:nvPr/>
        </p:nvSpPr>
        <p:spPr>
          <a:xfrm>
            <a:off x="2145792" y="3124200"/>
            <a:ext cx="2439924" cy="18821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4882464" y="3034233"/>
            <a:ext cx="5100955" cy="197738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latin typeface="华文楷体"/>
                <a:cs typeface="华文楷体"/>
              </a:rPr>
              <a:t>提供的器材有学生电源</a:t>
            </a:r>
            <a:r>
              <a:rPr dirty="0" sz="3200" spc="-5" b="1">
                <a:latin typeface="华文楷体"/>
                <a:cs typeface="华文楷体"/>
              </a:rPr>
              <a:t>1</a:t>
            </a:r>
            <a:r>
              <a:rPr dirty="0" sz="3200" b="1">
                <a:latin typeface="华文楷体"/>
                <a:cs typeface="华文楷体"/>
              </a:rPr>
              <a:t>个、 </a:t>
            </a:r>
            <a:r>
              <a:rPr dirty="0" sz="3200" b="1">
                <a:latin typeface="华文楷体"/>
                <a:cs typeface="华文楷体"/>
              </a:rPr>
              <a:t>可拆变压器</a:t>
            </a:r>
            <a:r>
              <a:rPr dirty="0" sz="3200" spc="-5" b="1">
                <a:latin typeface="华文楷体"/>
                <a:cs typeface="华文楷体"/>
              </a:rPr>
              <a:t>1</a:t>
            </a:r>
            <a:r>
              <a:rPr dirty="0" sz="3200" b="1">
                <a:latin typeface="华文楷体"/>
                <a:cs typeface="华文楷体"/>
              </a:rPr>
              <a:t>个（线圈匝数 已知）、交流电流表</a:t>
            </a:r>
            <a:r>
              <a:rPr dirty="0" sz="3200" spc="-5" b="1">
                <a:latin typeface="华文楷体"/>
                <a:cs typeface="华文楷体"/>
              </a:rPr>
              <a:t>2</a:t>
            </a:r>
            <a:r>
              <a:rPr dirty="0" sz="3200" b="1">
                <a:latin typeface="华文楷体"/>
                <a:cs typeface="华文楷体"/>
              </a:rPr>
              <a:t>块，  电阻</a:t>
            </a:r>
            <a:r>
              <a:rPr dirty="0" sz="3200" spc="-5" b="1">
                <a:latin typeface="华文楷体"/>
                <a:cs typeface="华文楷体"/>
              </a:rPr>
              <a:t>1</a:t>
            </a:r>
            <a:r>
              <a:rPr dirty="0" sz="3200" b="1">
                <a:latin typeface="华文楷体"/>
                <a:cs typeface="华文楷体"/>
              </a:rPr>
              <a:t>个，导线若干。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617976" y="3038855"/>
            <a:ext cx="4745735" cy="23286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741676" y="1165860"/>
            <a:ext cx="1639824" cy="222808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516368" y="1165860"/>
            <a:ext cx="1772412" cy="238658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386023" y="3931920"/>
            <a:ext cx="964692" cy="143408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176608" y="1101293"/>
            <a:ext cx="139700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latin typeface="黑体"/>
                <a:cs typeface="黑体"/>
              </a:rPr>
              <a:t>做一做</a:t>
            </a:r>
            <a:endParaRPr sz="3600">
              <a:latin typeface="黑体"/>
              <a:cs typeface="黑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330651" y="1897087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96" y="0"/>
                </a:lnTo>
              </a:path>
            </a:pathLst>
          </a:custGeom>
          <a:ln w="36144">
            <a:solidFill>
              <a:srgbClr val="014E6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767583" y="1626107"/>
            <a:ext cx="364490" cy="364490"/>
          </a:xfrm>
          <a:custGeom>
            <a:avLst/>
            <a:gdLst/>
            <a:ahLst/>
            <a:cxnLst/>
            <a:rect l="l" t="t" r="r" b="b"/>
            <a:pathLst>
              <a:path w="364489" h="364489">
                <a:moveTo>
                  <a:pt x="0" y="0"/>
                </a:moveTo>
                <a:lnTo>
                  <a:pt x="364236" y="0"/>
                </a:lnTo>
                <a:lnTo>
                  <a:pt x="364236" y="364236"/>
                </a:lnTo>
                <a:lnTo>
                  <a:pt x="0" y="364236"/>
                </a:lnTo>
                <a:lnTo>
                  <a:pt x="0" y="0"/>
                </a:lnTo>
                <a:close/>
              </a:path>
            </a:pathLst>
          </a:custGeom>
          <a:solidFill>
            <a:srgbClr val="014E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967227" y="1850135"/>
            <a:ext cx="247015" cy="247015"/>
          </a:xfrm>
          <a:custGeom>
            <a:avLst/>
            <a:gdLst/>
            <a:ahLst/>
            <a:cxnLst/>
            <a:rect l="l" t="t" r="r" b="b"/>
            <a:pathLst>
              <a:path w="247014" h="247014">
                <a:moveTo>
                  <a:pt x="0" y="0"/>
                </a:moveTo>
                <a:lnTo>
                  <a:pt x="246887" y="0"/>
                </a:lnTo>
                <a:lnTo>
                  <a:pt x="246887" y="246887"/>
                </a:lnTo>
                <a:lnTo>
                  <a:pt x="0" y="246887"/>
                </a:lnTo>
                <a:lnTo>
                  <a:pt x="0" y="0"/>
                </a:lnTo>
                <a:close/>
              </a:path>
            </a:pathLst>
          </a:custGeom>
          <a:solidFill>
            <a:srgbClr val="1684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607068" y="2287346"/>
            <a:ext cx="6537959" cy="1488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dirty="0"/>
              <a:t>请同学们从理论上推导出理想变压器 </a:t>
            </a:r>
            <a:r>
              <a:rPr dirty="0"/>
              <a:t>原、副线圈中电流与匝数的关系</a:t>
            </a:r>
          </a:p>
        </p:txBody>
      </p:sp>
      <p:sp>
        <p:nvSpPr>
          <p:cNvPr id="7" name="object 7"/>
          <p:cNvSpPr/>
          <p:nvPr/>
        </p:nvSpPr>
        <p:spPr>
          <a:xfrm>
            <a:off x="8691371" y="3976115"/>
            <a:ext cx="979931" cy="11125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18535" y="1243406"/>
            <a:ext cx="5678805" cy="11004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5899"/>
              </a:lnSpc>
              <a:spcBef>
                <a:spcPts val="100"/>
              </a:spcBef>
            </a:pPr>
            <a:r>
              <a:rPr dirty="0" sz="2800"/>
              <a:t>设原线圈功率为</a:t>
            </a:r>
            <a:r>
              <a:rPr dirty="0" sz="2800" spc="-5" b="0" i="1">
                <a:latin typeface="Times New Roman"/>
                <a:cs typeface="Times New Roman"/>
              </a:rPr>
              <a:t>P</a:t>
            </a:r>
            <a:r>
              <a:rPr dirty="0" baseline="-16975" sz="2700" spc="7" b="0">
                <a:latin typeface="Times New Roman"/>
                <a:cs typeface="Times New Roman"/>
              </a:rPr>
              <a:t>1</a:t>
            </a:r>
            <a:r>
              <a:rPr dirty="0" sz="2800"/>
              <a:t>，副线圈功率为</a:t>
            </a:r>
            <a:r>
              <a:rPr dirty="0" sz="2800" spc="-5" b="0" i="1">
                <a:latin typeface="Times New Roman"/>
                <a:cs typeface="Times New Roman"/>
              </a:rPr>
              <a:t>P</a:t>
            </a:r>
            <a:r>
              <a:rPr dirty="0" baseline="-16975" sz="2700" spc="7" b="0">
                <a:latin typeface="Times New Roman"/>
                <a:cs typeface="Times New Roman"/>
              </a:rPr>
              <a:t>2 </a:t>
            </a:r>
            <a:r>
              <a:rPr dirty="0" sz="2800"/>
              <a:t>理想变压器忽略能量损失，</a:t>
            </a:r>
            <a:r>
              <a:rPr dirty="0" sz="2800" spc="-10"/>
              <a:t>故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174187" y="2484958"/>
            <a:ext cx="89217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i="1">
                <a:latin typeface="Times New Roman"/>
                <a:cs typeface="Times New Roman"/>
              </a:rPr>
              <a:t>P</a:t>
            </a:r>
            <a:r>
              <a:rPr dirty="0" baseline="-16975" sz="2700" spc="7">
                <a:latin typeface="Times New Roman"/>
                <a:cs typeface="Times New Roman"/>
              </a:rPr>
              <a:t>1</a:t>
            </a:r>
            <a:r>
              <a:rPr dirty="0" sz="2800" spc="-5">
                <a:latin typeface="Times New Roman"/>
                <a:cs typeface="Times New Roman"/>
              </a:rPr>
              <a:t>=</a:t>
            </a:r>
            <a:r>
              <a:rPr dirty="0" sz="2800" spc="-5" i="1">
                <a:latin typeface="Times New Roman"/>
                <a:cs typeface="Times New Roman"/>
              </a:rPr>
              <a:t>P</a:t>
            </a:r>
            <a:r>
              <a:rPr dirty="0" baseline="-16975" sz="2700" spc="15">
                <a:latin typeface="Times New Roman"/>
                <a:cs typeface="Times New Roman"/>
              </a:rPr>
              <a:t>2</a:t>
            </a:r>
            <a:endParaRPr baseline="-16975" sz="27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174187" y="3337877"/>
            <a:ext cx="38036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 b="1">
                <a:latin typeface="华文楷体"/>
                <a:cs typeface="华文楷体"/>
              </a:rPr>
              <a:t>又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136413" y="3518179"/>
            <a:ext cx="419100" cy="0"/>
          </a:xfrm>
          <a:custGeom>
            <a:avLst/>
            <a:gdLst/>
            <a:ahLst/>
            <a:cxnLst/>
            <a:rect l="l" t="t" r="r" b="b"/>
            <a:pathLst>
              <a:path w="419100" h="0">
                <a:moveTo>
                  <a:pt x="0" y="0"/>
                </a:moveTo>
                <a:lnTo>
                  <a:pt x="418833" y="0"/>
                </a:lnTo>
              </a:path>
            </a:pathLst>
          </a:custGeom>
          <a:ln w="172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926734" y="3518179"/>
            <a:ext cx="341630" cy="0"/>
          </a:xfrm>
          <a:custGeom>
            <a:avLst/>
            <a:gdLst/>
            <a:ahLst/>
            <a:cxnLst/>
            <a:rect l="l" t="t" r="r" b="b"/>
            <a:pathLst>
              <a:path w="341629" h="0">
                <a:moveTo>
                  <a:pt x="0" y="0"/>
                </a:moveTo>
                <a:lnTo>
                  <a:pt x="341439" y="0"/>
                </a:lnTo>
              </a:path>
            </a:pathLst>
          </a:custGeom>
          <a:ln w="172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844846" y="2293017"/>
            <a:ext cx="1973580" cy="1175385"/>
          </a:xfrm>
          <a:prstGeom prst="rect">
            <a:avLst/>
          </a:prstGeom>
        </p:spPr>
        <p:txBody>
          <a:bodyPr wrap="square" lIns="0" tIns="1638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90"/>
              </a:spcBef>
            </a:pPr>
            <a:r>
              <a:rPr dirty="0" sz="2800" b="1">
                <a:latin typeface="楷体"/>
                <a:cs typeface="楷体"/>
              </a:rPr>
              <a:t>即</a:t>
            </a:r>
            <a:r>
              <a:rPr dirty="0" sz="2800" i="1">
                <a:latin typeface="Times New Roman"/>
                <a:cs typeface="Times New Roman"/>
              </a:rPr>
              <a:t>I</a:t>
            </a:r>
            <a:r>
              <a:rPr dirty="0" baseline="-16975" sz="2700">
                <a:latin typeface="Times New Roman"/>
                <a:cs typeface="Times New Roman"/>
              </a:rPr>
              <a:t>1</a:t>
            </a:r>
            <a:r>
              <a:rPr dirty="0" baseline="-16975" sz="2700" spc="315">
                <a:latin typeface="Times New Roman"/>
                <a:cs typeface="Times New Roman"/>
              </a:rPr>
              <a:t> </a:t>
            </a:r>
            <a:r>
              <a:rPr dirty="0" sz="2800" i="1">
                <a:latin typeface="Times New Roman"/>
                <a:cs typeface="Times New Roman"/>
              </a:rPr>
              <a:t>U</a:t>
            </a:r>
            <a:r>
              <a:rPr dirty="0" baseline="-16975" sz="2700">
                <a:latin typeface="Times New Roman"/>
                <a:cs typeface="Times New Roman"/>
              </a:rPr>
              <a:t>1</a:t>
            </a:r>
            <a:r>
              <a:rPr dirty="0" sz="2800">
                <a:latin typeface="Times New Roman"/>
                <a:cs typeface="Times New Roman"/>
              </a:rPr>
              <a:t>=</a:t>
            </a:r>
            <a:r>
              <a:rPr dirty="0" sz="2800" i="1">
                <a:latin typeface="Times New Roman"/>
                <a:cs typeface="Times New Roman"/>
              </a:rPr>
              <a:t>I</a:t>
            </a:r>
            <a:r>
              <a:rPr dirty="0" baseline="-16975" sz="2700">
                <a:latin typeface="Times New Roman"/>
                <a:cs typeface="Times New Roman"/>
              </a:rPr>
              <a:t>2</a:t>
            </a:r>
            <a:r>
              <a:rPr dirty="0" baseline="-16975" sz="2700" spc="315">
                <a:latin typeface="Times New Roman"/>
                <a:cs typeface="Times New Roman"/>
              </a:rPr>
              <a:t> </a:t>
            </a:r>
            <a:r>
              <a:rPr dirty="0" sz="2800" i="1">
                <a:latin typeface="Times New Roman"/>
                <a:cs typeface="Times New Roman"/>
              </a:rPr>
              <a:t>U</a:t>
            </a:r>
            <a:r>
              <a:rPr dirty="0" baseline="-16975" sz="2700">
                <a:latin typeface="Times New Roman"/>
                <a:cs typeface="Times New Roman"/>
              </a:rPr>
              <a:t>2</a:t>
            </a:r>
            <a:endParaRPr baseline="-16975" sz="2700">
              <a:latin typeface="Times New Roman"/>
              <a:cs typeface="Times New Roman"/>
            </a:endParaRPr>
          </a:p>
          <a:p>
            <a:pPr marL="299720">
              <a:lnSpc>
                <a:spcPct val="100000"/>
              </a:lnSpc>
              <a:spcBef>
                <a:spcPts val="1200"/>
              </a:spcBef>
              <a:tabLst>
                <a:tab pos="802640" algn="l"/>
              </a:tabLst>
            </a:pPr>
            <a:r>
              <a:rPr dirty="0" sz="2750" spc="15" i="1">
                <a:latin typeface="Times New Roman"/>
                <a:cs typeface="Times New Roman"/>
              </a:rPr>
              <a:t>U</a:t>
            </a:r>
            <a:r>
              <a:rPr dirty="0" baseline="-24305" sz="2400" spc="22">
                <a:latin typeface="Times New Roman"/>
                <a:cs typeface="Times New Roman"/>
              </a:rPr>
              <a:t>1	</a:t>
            </a:r>
            <a:r>
              <a:rPr dirty="0" baseline="-35353" sz="4125" spc="7">
                <a:latin typeface="Symbol"/>
                <a:cs typeface="Symbol"/>
              </a:rPr>
              <a:t></a:t>
            </a:r>
            <a:r>
              <a:rPr dirty="0" baseline="-35353" sz="4125" spc="465">
                <a:latin typeface="Times New Roman"/>
                <a:cs typeface="Times New Roman"/>
              </a:rPr>
              <a:t> </a:t>
            </a:r>
            <a:r>
              <a:rPr dirty="0" sz="2750" spc="-114" i="1">
                <a:latin typeface="Times New Roman"/>
                <a:cs typeface="Times New Roman"/>
              </a:rPr>
              <a:t>n</a:t>
            </a:r>
            <a:r>
              <a:rPr dirty="0" baseline="-24305" sz="2400" spc="-172">
                <a:latin typeface="Times New Roman"/>
                <a:cs typeface="Times New Roman"/>
              </a:rPr>
              <a:t>1</a:t>
            </a:r>
            <a:endParaRPr baseline="-24305"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174187" y="4267949"/>
            <a:ext cx="73660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latin typeface="华文楷体"/>
                <a:cs typeface="华文楷体"/>
              </a:rPr>
              <a:t>可</a:t>
            </a:r>
            <a:r>
              <a:rPr dirty="0" sz="2800" spc="-10" b="1">
                <a:latin typeface="华文楷体"/>
                <a:cs typeface="华文楷体"/>
              </a:rPr>
              <a:t>得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152237" y="4581207"/>
            <a:ext cx="341630" cy="0"/>
          </a:xfrm>
          <a:custGeom>
            <a:avLst/>
            <a:gdLst/>
            <a:ahLst/>
            <a:cxnLst/>
            <a:rect l="l" t="t" r="r" b="b"/>
            <a:pathLst>
              <a:path w="341629" h="0">
                <a:moveTo>
                  <a:pt x="0" y="0"/>
                </a:moveTo>
                <a:lnTo>
                  <a:pt x="341210" y="0"/>
                </a:lnTo>
              </a:path>
            </a:pathLst>
          </a:custGeom>
          <a:ln w="1840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888951" y="4581207"/>
            <a:ext cx="363855" cy="0"/>
          </a:xfrm>
          <a:custGeom>
            <a:avLst/>
            <a:gdLst/>
            <a:ahLst/>
            <a:cxnLst/>
            <a:rect l="l" t="t" r="r" b="b"/>
            <a:pathLst>
              <a:path w="363854" h="0">
                <a:moveTo>
                  <a:pt x="0" y="0"/>
                </a:moveTo>
                <a:lnTo>
                  <a:pt x="363512" y="0"/>
                </a:lnTo>
              </a:path>
            </a:pathLst>
          </a:custGeom>
          <a:ln w="1840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5174424" y="4582033"/>
            <a:ext cx="1029969" cy="470534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753745" algn="l"/>
              </a:tabLst>
            </a:pPr>
            <a:r>
              <a:rPr dirty="0" sz="2900" spc="175" i="1">
                <a:latin typeface="Times New Roman"/>
                <a:cs typeface="Times New Roman"/>
              </a:rPr>
              <a:t>I</a:t>
            </a:r>
            <a:r>
              <a:rPr dirty="0" baseline="-25252" sz="2475" spc="22">
                <a:latin typeface="Times New Roman"/>
                <a:cs typeface="Times New Roman"/>
              </a:rPr>
              <a:t>2</a:t>
            </a:r>
            <a:r>
              <a:rPr dirty="0" baseline="-25252" sz="2475">
                <a:latin typeface="Times New Roman"/>
                <a:cs typeface="Times New Roman"/>
              </a:rPr>
              <a:t>	</a:t>
            </a:r>
            <a:r>
              <a:rPr dirty="0" sz="2900" spc="-229" i="1">
                <a:latin typeface="Times New Roman"/>
                <a:cs typeface="Times New Roman"/>
              </a:rPr>
              <a:t>n</a:t>
            </a:r>
            <a:r>
              <a:rPr dirty="0" baseline="-25252" sz="2475" spc="22">
                <a:latin typeface="Times New Roman"/>
                <a:cs typeface="Times New Roman"/>
              </a:rPr>
              <a:t>1</a:t>
            </a:r>
            <a:endParaRPr baseline="-25252" sz="2475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112778" y="3401776"/>
            <a:ext cx="1122045" cy="1125220"/>
          </a:xfrm>
          <a:prstGeom prst="rect">
            <a:avLst/>
          </a:prstGeom>
        </p:spPr>
        <p:txBody>
          <a:bodyPr wrap="square" lIns="0" tIns="12827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10"/>
              </a:spcBef>
              <a:tabLst>
                <a:tab pos="826135" algn="l"/>
              </a:tabLst>
            </a:pPr>
            <a:r>
              <a:rPr dirty="0" sz="2750" spc="204" i="1">
                <a:latin typeface="Times New Roman"/>
                <a:cs typeface="Times New Roman"/>
              </a:rPr>
              <a:t>U</a:t>
            </a:r>
            <a:r>
              <a:rPr dirty="0" baseline="-24305" sz="2400" spc="-7">
                <a:latin typeface="Times New Roman"/>
                <a:cs typeface="Times New Roman"/>
              </a:rPr>
              <a:t>2</a:t>
            </a:r>
            <a:r>
              <a:rPr dirty="0" baseline="-24305" sz="2400">
                <a:latin typeface="Times New Roman"/>
                <a:cs typeface="Times New Roman"/>
              </a:rPr>
              <a:t>	</a:t>
            </a:r>
            <a:r>
              <a:rPr dirty="0" sz="2750" spc="-55" i="1">
                <a:latin typeface="Times New Roman"/>
                <a:cs typeface="Times New Roman"/>
              </a:rPr>
              <a:t>n</a:t>
            </a:r>
            <a:r>
              <a:rPr dirty="0" baseline="-24305" sz="2400" spc="-7">
                <a:latin typeface="Times New Roman"/>
                <a:cs typeface="Times New Roman"/>
              </a:rPr>
              <a:t>2</a:t>
            </a:r>
            <a:endParaRPr baseline="-24305" sz="2400">
              <a:latin typeface="Times New Roman"/>
              <a:cs typeface="Times New Roman"/>
            </a:endParaRPr>
          </a:p>
          <a:p>
            <a:pPr algn="ctr" marL="55244">
              <a:lnSpc>
                <a:spcPct val="100000"/>
              </a:lnSpc>
              <a:spcBef>
                <a:spcPts val="965"/>
              </a:spcBef>
              <a:tabLst>
                <a:tab pos="440055" algn="l"/>
              </a:tabLst>
            </a:pPr>
            <a:r>
              <a:rPr dirty="0" sz="2900" i="1">
                <a:latin typeface="Times New Roman"/>
                <a:cs typeface="Times New Roman"/>
              </a:rPr>
              <a:t>I</a:t>
            </a:r>
            <a:r>
              <a:rPr dirty="0" baseline="-25252" sz="2475">
                <a:latin typeface="Times New Roman"/>
                <a:cs typeface="Times New Roman"/>
              </a:rPr>
              <a:t>1	</a:t>
            </a:r>
            <a:r>
              <a:rPr dirty="0" baseline="-35440" sz="4350" spc="15">
                <a:latin typeface="Symbol"/>
                <a:cs typeface="Symbol"/>
              </a:rPr>
              <a:t></a:t>
            </a:r>
            <a:r>
              <a:rPr dirty="0" baseline="-35440" sz="4350" spc="104">
                <a:latin typeface="Times New Roman"/>
                <a:cs typeface="Times New Roman"/>
              </a:rPr>
              <a:t> </a:t>
            </a:r>
            <a:r>
              <a:rPr dirty="0" sz="2900" spc="-15" i="1">
                <a:latin typeface="Times New Roman"/>
                <a:cs typeface="Times New Roman"/>
              </a:rPr>
              <a:t>n</a:t>
            </a:r>
            <a:r>
              <a:rPr dirty="0" baseline="-25252" sz="2475" spc="-22">
                <a:latin typeface="Times New Roman"/>
                <a:cs typeface="Times New Roman"/>
              </a:rPr>
              <a:t>2</a:t>
            </a:r>
            <a:endParaRPr baseline="-25252" sz="2475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042968" y="4615205"/>
            <a:ext cx="389255" cy="0"/>
          </a:xfrm>
          <a:custGeom>
            <a:avLst/>
            <a:gdLst/>
            <a:ahLst/>
            <a:cxnLst/>
            <a:rect l="l" t="t" r="r" b="b"/>
            <a:pathLst>
              <a:path w="389254" h="0">
                <a:moveTo>
                  <a:pt x="0" y="0"/>
                </a:moveTo>
                <a:lnTo>
                  <a:pt x="388975" y="0"/>
                </a:lnTo>
              </a:path>
            </a:pathLst>
          </a:custGeom>
          <a:ln w="209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152428" y="4615205"/>
            <a:ext cx="557530" cy="0"/>
          </a:xfrm>
          <a:custGeom>
            <a:avLst/>
            <a:gdLst/>
            <a:ahLst/>
            <a:cxnLst/>
            <a:rect l="l" t="t" r="r" b="b"/>
            <a:pathLst>
              <a:path w="557529" h="0">
                <a:moveTo>
                  <a:pt x="0" y="0"/>
                </a:moveTo>
                <a:lnTo>
                  <a:pt x="556945" y="0"/>
                </a:lnTo>
              </a:path>
            </a:pathLst>
          </a:custGeom>
          <a:ln w="2096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541839" y="4573308"/>
            <a:ext cx="1276350" cy="3200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1140460" algn="l"/>
              </a:tabLst>
            </a:pPr>
            <a:r>
              <a:rPr dirty="0" sz="1900" spc="15">
                <a:latin typeface="Times New Roman"/>
                <a:cs typeface="Times New Roman"/>
              </a:rPr>
              <a:t>2</a:t>
            </a:r>
            <a:r>
              <a:rPr dirty="0" sz="1900" spc="15">
                <a:latin typeface="Times New Roman"/>
                <a:cs typeface="Times New Roman"/>
              </a:rPr>
              <a:t>	</a:t>
            </a:r>
            <a:r>
              <a:rPr dirty="0" sz="1900" spc="15">
                <a:latin typeface="Times New Roman"/>
                <a:cs typeface="Times New Roman"/>
              </a:rPr>
              <a:t>1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35805" y="4904054"/>
            <a:ext cx="148590" cy="3200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00" spc="15">
                <a:latin typeface="Times New Roman"/>
                <a:cs typeface="Times New Roman"/>
              </a:rPr>
              <a:t>2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70057" y="4615916"/>
            <a:ext cx="1645920" cy="5346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101725" algn="l"/>
              </a:tabLst>
            </a:pPr>
            <a:r>
              <a:rPr dirty="0" sz="3350" spc="-5" i="1">
                <a:latin typeface="Times New Roman"/>
                <a:cs typeface="Times New Roman"/>
              </a:rPr>
              <a:t>I</a:t>
            </a:r>
            <a:r>
              <a:rPr dirty="0" sz="3350" spc="-5" i="1">
                <a:latin typeface="Times New Roman"/>
                <a:cs typeface="Times New Roman"/>
              </a:rPr>
              <a:t>	</a:t>
            </a:r>
            <a:r>
              <a:rPr dirty="0" sz="3350" spc="-5">
                <a:latin typeface="Times New Roman"/>
                <a:cs typeface="Times New Roman"/>
              </a:rPr>
              <a:t>0.5</a:t>
            </a:r>
            <a:endParaRPr sz="33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37407" y="4285170"/>
            <a:ext cx="5096510" cy="5346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93700" algn="l"/>
                <a:tab pos="1167130" algn="l"/>
              </a:tabLst>
            </a:pPr>
            <a:r>
              <a:rPr dirty="0" sz="3350" spc="-5" i="1">
                <a:latin typeface="Times New Roman"/>
                <a:cs typeface="Times New Roman"/>
              </a:rPr>
              <a:t>n	</a:t>
            </a:r>
            <a:r>
              <a:rPr dirty="0" sz="3350" spc="-10">
                <a:latin typeface="Times New Roman"/>
                <a:cs typeface="Times New Roman"/>
              </a:rPr>
              <a:t>=</a:t>
            </a:r>
            <a:r>
              <a:rPr dirty="0" sz="3350" spc="225">
                <a:latin typeface="Times New Roman"/>
                <a:cs typeface="Times New Roman"/>
              </a:rPr>
              <a:t> </a:t>
            </a:r>
            <a:r>
              <a:rPr dirty="0" baseline="34825" sz="5025" spc="-7" i="1">
                <a:latin typeface="Times New Roman"/>
                <a:cs typeface="Times New Roman"/>
              </a:rPr>
              <a:t>I</a:t>
            </a:r>
            <a:r>
              <a:rPr dirty="0" baseline="36549" sz="2850" spc="-7">
                <a:latin typeface="Times New Roman"/>
                <a:cs typeface="Times New Roman"/>
              </a:rPr>
              <a:t>1	</a:t>
            </a:r>
            <a:r>
              <a:rPr dirty="0" sz="3350" spc="-5" i="1">
                <a:latin typeface="Times New Roman"/>
                <a:cs typeface="Times New Roman"/>
              </a:rPr>
              <a:t>n</a:t>
            </a:r>
            <a:r>
              <a:rPr dirty="0" sz="3350" spc="114" i="1">
                <a:latin typeface="Times New Roman"/>
                <a:cs typeface="Times New Roman"/>
              </a:rPr>
              <a:t> </a:t>
            </a:r>
            <a:r>
              <a:rPr dirty="0" sz="3350" spc="-10">
                <a:latin typeface="Times New Roman"/>
                <a:cs typeface="Times New Roman"/>
              </a:rPr>
              <a:t>=</a:t>
            </a:r>
            <a:r>
              <a:rPr dirty="0" sz="3350" spc="-105">
                <a:latin typeface="Times New Roman"/>
                <a:cs typeface="Times New Roman"/>
              </a:rPr>
              <a:t> </a:t>
            </a:r>
            <a:r>
              <a:rPr dirty="0" baseline="34825" sz="5025" spc="-7">
                <a:latin typeface="Times New Roman"/>
                <a:cs typeface="Times New Roman"/>
              </a:rPr>
              <a:t>0.3</a:t>
            </a:r>
            <a:r>
              <a:rPr dirty="0" baseline="34825" sz="5025" spc="-532">
                <a:latin typeface="Times New Roman"/>
                <a:cs typeface="Times New Roman"/>
              </a:rPr>
              <a:t> </a:t>
            </a:r>
            <a:r>
              <a:rPr dirty="0" sz="3350" spc="-10">
                <a:latin typeface="Symbol"/>
                <a:cs typeface="Symbol"/>
              </a:rPr>
              <a:t></a:t>
            </a:r>
            <a:r>
              <a:rPr dirty="0" sz="3350" spc="-395">
                <a:latin typeface="Times New Roman"/>
                <a:cs typeface="Times New Roman"/>
              </a:rPr>
              <a:t> </a:t>
            </a:r>
            <a:r>
              <a:rPr dirty="0" sz="3350" spc="-5">
                <a:latin typeface="Times New Roman"/>
                <a:cs typeface="Times New Roman"/>
              </a:rPr>
              <a:t>200</a:t>
            </a:r>
            <a:r>
              <a:rPr dirty="0" sz="3350" spc="-15">
                <a:latin typeface="宋体"/>
                <a:cs typeface="宋体"/>
              </a:rPr>
              <a:t>匝</a:t>
            </a:r>
            <a:r>
              <a:rPr dirty="0" sz="3350" spc="-10">
                <a:latin typeface="Times New Roman"/>
                <a:cs typeface="Times New Roman"/>
              </a:rPr>
              <a:t>=120</a:t>
            </a:r>
            <a:r>
              <a:rPr dirty="0" sz="3350" spc="-10">
                <a:latin typeface="宋体"/>
                <a:cs typeface="宋体"/>
              </a:rPr>
              <a:t>匝</a:t>
            </a:r>
            <a:endParaRPr sz="3350">
              <a:latin typeface="宋体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192779" y="1309116"/>
            <a:ext cx="5198364" cy="25496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97872" y="1207325"/>
            <a:ext cx="3230245" cy="451484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/>
              <a:t>理想变压器相关规</a:t>
            </a:r>
            <a:r>
              <a:rPr dirty="0" sz="2800" spc="-10"/>
              <a:t>律</a:t>
            </a:r>
            <a:endParaRPr sz="2800"/>
          </a:p>
        </p:txBody>
      </p:sp>
      <p:sp>
        <p:nvSpPr>
          <p:cNvPr id="3" name="object 3"/>
          <p:cNvSpPr/>
          <p:nvPr/>
        </p:nvSpPr>
        <p:spPr>
          <a:xfrm>
            <a:off x="6800748" y="2117712"/>
            <a:ext cx="419100" cy="0"/>
          </a:xfrm>
          <a:custGeom>
            <a:avLst/>
            <a:gdLst/>
            <a:ahLst/>
            <a:cxnLst/>
            <a:rect l="l" t="t" r="r" b="b"/>
            <a:pathLst>
              <a:path w="419100" h="0">
                <a:moveTo>
                  <a:pt x="0" y="0"/>
                </a:moveTo>
                <a:lnTo>
                  <a:pt x="418833" y="0"/>
                </a:lnTo>
              </a:path>
            </a:pathLst>
          </a:custGeom>
          <a:ln w="172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591069" y="2117712"/>
            <a:ext cx="341630" cy="0"/>
          </a:xfrm>
          <a:custGeom>
            <a:avLst/>
            <a:gdLst/>
            <a:ahLst/>
            <a:cxnLst/>
            <a:rect l="l" t="t" r="r" b="b"/>
            <a:pathLst>
              <a:path w="341629" h="0">
                <a:moveTo>
                  <a:pt x="0" y="0"/>
                </a:moveTo>
                <a:lnTo>
                  <a:pt x="341439" y="0"/>
                </a:lnTo>
              </a:path>
            </a:pathLst>
          </a:custGeom>
          <a:ln w="172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804520" y="4581220"/>
            <a:ext cx="341630" cy="0"/>
          </a:xfrm>
          <a:custGeom>
            <a:avLst/>
            <a:gdLst/>
            <a:ahLst/>
            <a:cxnLst/>
            <a:rect l="l" t="t" r="r" b="b"/>
            <a:pathLst>
              <a:path w="341629" h="0">
                <a:moveTo>
                  <a:pt x="0" y="0"/>
                </a:moveTo>
                <a:lnTo>
                  <a:pt x="341210" y="0"/>
                </a:lnTo>
              </a:path>
            </a:pathLst>
          </a:custGeom>
          <a:ln w="1840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541234" y="4581220"/>
            <a:ext cx="363855" cy="0"/>
          </a:xfrm>
          <a:custGeom>
            <a:avLst/>
            <a:gdLst/>
            <a:ahLst/>
            <a:cxnLst/>
            <a:rect l="l" t="t" r="r" b="b"/>
            <a:pathLst>
              <a:path w="363854" h="0">
                <a:moveTo>
                  <a:pt x="0" y="0"/>
                </a:moveTo>
                <a:lnTo>
                  <a:pt x="363512" y="0"/>
                </a:lnTo>
              </a:path>
            </a:pathLst>
          </a:custGeom>
          <a:ln w="1840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3228213" y="1889506"/>
            <a:ext cx="3070225" cy="28536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latin typeface="Times New Roman"/>
                <a:cs typeface="Times New Roman"/>
              </a:rPr>
              <a:t>1</a:t>
            </a:r>
            <a:r>
              <a:rPr dirty="0" sz="2800" b="1">
                <a:latin typeface="华文楷体"/>
                <a:cs typeface="华文楷体"/>
              </a:rPr>
              <a:t>、电压与匝数关</a:t>
            </a:r>
            <a:r>
              <a:rPr dirty="0" sz="2800" spc="-10" b="1">
                <a:latin typeface="华文楷体"/>
                <a:cs typeface="华文楷体"/>
              </a:rPr>
              <a:t>系</a:t>
            </a:r>
            <a:endParaRPr sz="28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3105"/>
              </a:spcBef>
            </a:pPr>
            <a:r>
              <a:rPr dirty="0" sz="2800" spc="-5" b="1">
                <a:latin typeface="Times New Roman"/>
                <a:cs typeface="Times New Roman"/>
              </a:rPr>
              <a:t>2</a:t>
            </a:r>
            <a:r>
              <a:rPr dirty="0" sz="2800" b="1">
                <a:latin typeface="华文楷体"/>
                <a:cs typeface="华文楷体"/>
              </a:rPr>
              <a:t>、频率关</a:t>
            </a:r>
            <a:r>
              <a:rPr dirty="0" sz="2800" spc="-10" b="1">
                <a:latin typeface="华文楷体"/>
                <a:cs typeface="华文楷体"/>
              </a:rPr>
              <a:t>系</a:t>
            </a:r>
            <a:endParaRPr sz="28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2775"/>
              </a:spcBef>
            </a:pPr>
            <a:r>
              <a:rPr dirty="0" sz="2800" spc="-5" b="1">
                <a:latin typeface="Times New Roman"/>
                <a:cs typeface="Times New Roman"/>
              </a:rPr>
              <a:t>3</a:t>
            </a:r>
            <a:r>
              <a:rPr dirty="0" sz="2800" b="1">
                <a:latin typeface="华文楷体"/>
                <a:cs typeface="华文楷体"/>
              </a:rPr>
              <a:t>、功率关</a:t>
            </a:r>
            <a:r>
              <a:rPr dirty="0" sz="2800" spc="-10" b="1">
                <a:latin typeface="华文楷体"/>
                <a:cs typeface="华文楷体"/>
              </a:rPr>
              <a:t>系</a:t>
            </a:r>
            <a:endParaRPr sz="2800">
              <a:latin typeface="华文楷体"/>
              <a:cs typeface="华文楷体"/>
            </a:endParaRPr>
          </a:p>
          <a:p>
            <a:pPr marL="30480">
              <a:lnSpc>
                <a:spcPct val="100000"/>
              </a:lnSpc>
              <a:spcBef>
                <a:spcPts val="2955"/>
              </a:spcBef>
            </a:pPr>
            <a:r>
              <a:rPr dirty="0" sz="2800" spc="-5" b="1">
                <a:latin typeface="Times New Roman"/>
                <a:cs typeface="Times New Roman"/>
              </a:rPr>
              <a:t>4</a:t>
            </a:r>
            <a:r>
              <a:rPr dirty="0" sz="2800" b="1">
                <a:latin typeface="华文楷体"/>
                <a:cs typeface="华文楷体"/>
              </a:rPr>
              <a:t>、电流与匝数关</a:t>
            </a:r>
            <a:r>
              <a:rPr dirty="0" sz="2800" spc="-10" b="1">
                <a:latin typeface="华文楷体"/>
                <a:cs typeface="华文楷体"/>
              </a:rPr>
              <a:t>系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777126" y="1548734"/>
            <a:ext cx="1122045" cy="350392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700" marR="5080" indent="15240">
              <a:lnSpc>
                <a:spcPct val="117800"/>
              </a:lnSpc>
              <a:spcBef>
                <a:spcPts val="95"/>
              </a:spcBef>
              <a:tabLst>
                <a:tab pos="531495" algn="l"/>
                <a:tab pos="838835" algn="l"/>
              </a:tabLst>
            </a:pPr>
            <a:r>
              <a:rPr dirty="0" sz="2750" spc="15" i="1">
                <a:latin typeface="Times New Roman"/>
                <a:cs typeface="Times New Roman"/>
              </a:rPr>
              <a:t>U</a:t>
            </a:r>
            <a:r>
              <a:rPr dirty="0" baseline="-24305" sz="2400" spc="22">
                <a:latin typeface="Times New Roman"/>
                <a:cs typeface="Times New Roman"/>
              </a:rPr>
              <a:t>1	</a:t>
            </a:r>
            <a:r>
              <a:rPr dirty="0" baseline="-35353" sz="4125" spc="7">
                <a:latin typeface="Symbol"/>
                <a:cs typeface="Symbol"/>
              </a:rPr>
              <a:t></a:t>
            </a:r>
            <a:r>
              <a:rPr dirty="0" baseline="-35353" sz="4125" spc="7">
                <a:latin typeface="Times New Roman"/>
                <a:cs typeface="Times New Roman"/>
              </a:rPr>
              <a:t> </a:t>
            </a:r>
            <a:r>
              <a:rPr dirty="0" sz="2750" spc="-114" i="1">
                <a:latin typeface="Times New Roman"/>
                <a:cs typeface="Times New Roman"/>
              </a:rPr>
              <a:t>n</a:t>
            </a:r>
            <a:r>
              <a:rPr dirty="0" baseline="-24305" sz="2400" spc="-172">
                <a:latin typeface="Times New Roman"/>
                <a:cs typeface="Times New Roman"/>
              </a:rPr>
              <a:t>1  </a:t>
            </a:r>
            <a:r>
              <a:rPr dirty="0" sz="2750" spc="204" i="1">
                <a:latin typeface="Times New Roman"/>
                <a:cs typeface="Times New Roman"/>
              </a:rPr>
              <a:t>U</a:t>
            </a:r>
            <a:r>
              <a:rPr dirty="0" baseline="-24305" sz="2400" spc="-7">
                <a:latin typeface="Times New Roman"/>
                <a:cs typeface="Times New Roman"/>
              </a:rPr>
              <a:t>2</a:t>
            </a:r>
            <a:r>
              <a:rPr dirty="0" baseline="-24305" sz="2400">
                <a:latin typeface="Times New Roman"/>
                <a:cs typeface="Times New Roman"/>
              </a:rPr>
              <a:t>		</a:t>
            </a:r>
            <a:r>
              <a:rPr dirty="0" sz="2750" spc="-55" i="1">
                <a:latin typeface="Times New Roman"/>
                <a:cs typeface="Times New Roman"/>
              </a:rPr>
              <a:t>n</a:t>
            </a:r>
            <a:r>
              <a:rPr dirty="0" baseline="-24305" sz="2400" spc="-7">
                <a:latin typeface="Times New Roman"/>
                <a:cs typeface="Times New Roman"/>
              </a:rPr>
              <a:t>2</a:t>
            </a:r>
            <a:endParaRPr baseline="-24305" sz="2400">
              <a:latin typeface="Times New Roman"/>
              <a:cs typeface="Times New Roman"/>
            </a:endParaRPr>
          </a:p>
          <a:p>
            <a:pPr algn="ctr" marL="137795" marR="108585" indent="-84455">
              <a:lnSpc>
                <a:spcPct val="157900"/>
              </a:lnSpc>
              <a:spcBef>
                <a:spcPts val="380"/>
              </a:spcBef>
            </a:pPr>
            <a:r>
              <a:rPr dirty="0" sz="2800" i="1">
                <a:latin typeface="Times New Roman"/>
                <a:cs typeface="Times New Roman"/>
              </a:rPr>
              <a:t>f</a:t>
            </a:r>
            <a:r>
              <a:rPr dirty="0" baseline="-16975" sz="2700">
                <a:latin typeface="Times New Roman"/>
                <a:cs typeface="Times New Roman"/>
              </a:rPr>
              <a:t>1</a:t>
            </a:r>
            <a:r>
              <a:rPr dirty="0" sz="2800">
                <a:latin typeface="Times New Roman"/>
                <a:cs typeface="Times New Roman"/>
              </a:rPr>
              <a:t>=</a:t>
            </a:r>
            <a:r>
              <a:rPr dirty="0" sz="2800" i="1">
                <a:latin typeface="Times New Roman"/>
                <a:cs typeface="Times New Roman"/>
              </a:rPr>
              <a:t>f</a:t>
            </a:r>
            <a:r>
              <a:rPr dirty="0" baseline="-16975" sz="2700">
                <a:latin typeface="Times New Roman"/>
                <a:cs typeface="Times New Roman"/>
              </a:rPr>
              <a:t>2  </a:t>
            </a:r>
            <a:r>
              <a:rPr dirty="0" sz="2800" spc="-5" i="1">
                <a:latin typeface="Times New Roman"/>
                <a:cs typeface="Times New Roman"/>
              </a:rPr>
              <a:t>P</a:t>
            </a:r>
            <a:r>
              <a:rPr dirty="0" baseline="-16975" sz="2700" spc="7">
                <a:latin typeface="Times New Roman"/>
                <a:cs typeface="Times New Roman"/>
              </a:rPr>
              <a:t>1</a:t>
            </a:r>
            <a:r>
              <a:rPr dirty="0" sz="2800" spc="-5">
                <a:latin typeface="Times New Roman"/>
                <a:cs typeface="Times New Roman"/>
              </a:rPr>
              <a:t>=</a:t>
            </a:r>
            <a:r>
              <a:rPr dirty="0" sz="2800" spc="-5" i="1">
                <a:latin typeface="Times New Roman"/>
                <a:cs typeface="Times New Roman"/>
              </a:rPr>
              <a:t>P</a:t>
            </a:r>
            <a:r>
              <a:rPr dirty="0" baseline="-16975" sz="2700" spc="15">
                <a:latin typeface="Times New Roman"/>
                <a:cs typeface="Times New Roman"/>
              </a:rPr>
              <a:t>2</a:t>
            </a:r>
            <a:endParaRPr baseline="-16975" sz="2700">
              <a:latin typeface="Times New Roman"/>
              <a:cs typeface="Times New Roman"/>
            </a:endParaRPr>
          </a:p>
          <a:p>
            <a:pPr algn="ctr" marL="62230" marR="43180" indent="20320">
              <a:lnSpc>
                <a:spcPct val="118900"/>
              </a:lnSpc>
              <a:spcBef>
                <a:spcPts val="345"/>
              </a:spcBef>
              <a:tabLst>
                <a:tab pos="467359" algn="l"/>
                <a:tab pos="803275" algn="l"/>
              </a:tabLst>
            </a:pPr>
            <a:r>
              <a:rPr dirty="0" sz="2900" i="1">
                <a:latin typeface="Times New Roman"/>
                <a:cs typeface="Times New Roman"/>
              </a:rPr>
              <a:t>I</a:t>
            </a:r>
            <a:r>
              <a:rPr dirty="0" baseline="-25252" sz="2475">
                <a:latin typeface="Times New Roman"/>
                <a:cs typeface="Times New Roman"/>
              </a:rPr>
              <a:t>1	</a:t>
            </a:r>
            <a:r>
              <a:rPr dirty="0" baseline="-35440" sz="4350" spc="15">
                <a:latin typeface="Symbol"/>
                <a:cs typeface="Symbol"/>
              </a:rPr>
              <a:t></a:t>
            </a:r>
            <a:r>
              <a:rPr dirty="0" baseline="-35440" sz="4350" spc="104">
                <a:latin typeface="Times New Roman"/>
                <a:cs typeface="Times New Roman"/>
              </a:rPr>
              <a:t> </a:t>
            </a:r>
            <a:r>
              <a:rPr dirty="0" sz="2900" spc="-15" i="1">
                <a:latin typeface="Times New Roman"/>
                <a:cs typeface="Times New Roman"/>
              </a:rPr>
              <a:t>n</a:t>
            </a:r>
            <a:r>
              <a:rPr dirty="0" baseline="-25252" sz="2475" spc="-22">
                <a:latin typeface="Times New Roman"/>
                <a:cs typeface="Times New Roman"/>
              </a:rPr>
              <a:t>2 </a:t>
            </a:r>
            <a:r>
              <a:rPr dirty="0" baseline="-25252" sz="2475" spc="7">
                <a:latin typeface="Times New Roman"/>
                <a:cs typeface="Times New Roman"/>
              </a:rPr>
              <a:t> </a:t>
            </a:r>
            <a:r>
              <a:rPr dirty="0" sz="2900" spc="175" i="1">
                <a:latin typeface="Times New Roman"/>
                <a:cs typeface="Times New Roman"/>
              </a:rPr>
              <a:t>I</a:t>
            </a:r>
            <a:r>
              <a:rPr dirty="0" baseline="-25252" sz="2475" spc="22">
                <a:latin typeface="Times New Roman"/>
                <a:cs typeface="Times New Roman"/>
              </a:rPr>
              <a:t>2</a:t>
            </a:r>
            <a:r>
              <a:rPr dirty="0" baseline="-25252" sz="2475">
                <a:latin typeface="Times New Roman"/>
                <a:cs typeface="Times New Roman"/>
              </a:rPr>
              <a:t>		</a:t>
            </a:r>
            <a:r>
              <a:rPr dirty="0" sz="2900" spc="-229" i="1">
                <a:latin typeface="Times New Roman"/>
                <a:cs typeface="Times New Roman"/>
              </a:rPr>
              <a:t>n</a:t>
            </a:r>
            <a:r>
              <a:rPr dirty="0" baseline="-25252" sz="2475" spc="22">
                <a:latin typeface="Times New Roman"/>
                <a:cs typeface="Times New Roman"/>
              </a:rPr>
              <a:t>1</a:t>
            </a:r>
            <a:endParaRPr baseline="-25252" sz="2475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76608" y="994422"/>
            <a:ext cx="139700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b="0">
                <a:latin typeface="黑体"/>
                <a:cs typeface="黑体"/>
              </a:rPr>
              <a:t>想一想</a:t>
            </a:r>
            <a:endParaRPr sz="3600">
              <a:latin typeface="黑体"/>
              <a:cs typeface="黑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317608" y="1710054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83" y="0"/>
                </a:lnTo>
              </a:path>
            </a:pathLst>
          </a:custGeom>
          <a:ln w="36144">
            <a:solidFill>
              <a:srgbClr val="014E6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767583" y="1519427"/>
            <a:ext cx="364490" cy="364490"/>
          </a:xfrm>
          <a:custGeom>
            <a:avLst/>
            <a:gdLst/>
            <a:ahLst/>
            <a:cxnLst/>
            <a:rect l="l" t="t" r="r" b="b"/>
            <a:pathLst>
              <a:path w="364489" h="364489">
                <a:moveTo>
                  <a:pt x="0" y="0"/>
                </a:moveTo>
                <a:lnTo>
                  <a:pt x="364236" y="0"/>
                </a:lnTo>
                <a:lnTo>
                  <a:pt x="364236" y="364236"/>
                </a:lnTo>
                <a:lnTo>
                  <a:pt x="0" y="364236"/>
                </a:lnTo>
                <a:lnTo>
                  <a:pt x="0" y="0"/>
                </a:lnTo>
                <a:close/>
              </a:path>
            </a:pathLst>
          </a:custGeom>
          <a:solidFill>
            <a:srgbClr val="014E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967227" y="1743455"/>
            <a:ext cx="247015" cy="245745"/>
          </a:xfrm>
          <a:custGeom>
            <a:avLst/>
            <a:gdLst/>
            <a:ahLst/>
            <a:cxnLst/>
            <a:rect l="l" t="t" r="r" b="b"/>
            <a:pathLst>
              <a:path w="247014" h="245744">
                <a:moveTo>
                  <a:pt x="0" y="0"/>
                </a:moveTo>
                <a:lnTo>
                  <a:pt x="246887" y="0"/>
                </a:lnTo>
                <a:lnTo>
                  <a:pt x="246887" y="245364"/>
                </a:lnTo>
                <a:lnTo>
                  <a:pt x="0" y="245364"/>
                </a:lnTo>
                <a:lnTo>
                  <a:pt x="0" y="0"/>
                </a:lnTo>
                <a:close/>
              </a:path>
            </a:pathLst>
          </a:custGeom>
          <a:solidFill>
            <a:srgbClr val="1684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2005266" y="2007475"/>
            <a:ext cx="5575935" cy="3082925"/>
          </a:xfrm>
          <a:prstGeom prst="rect">
            <a:avLst/>
          </a:prstGeom>
        </p:spPr>
        <p:txBody>
          <a:bodyPr wrap="square" lIns="0" tIns="5715" rIns="0" bIns="0" rtlCol="0" vert="horz">
            <a:spAutoFit/>
          </a:bodyPr>
          <a:lstStyle/>
          <a:p>
            <a:pPr marL="12700" marR="212725">
              <a:lnSpc>
                <a:spcPct val="121500"/>
              </a:lnSpc>
              <a:spcBef>
                <a:spcPts val="45"/>
              </a:spcBef>
            </a:pPr>
            <a:r>
              <a:rPr dirty="0" sz="2800" b="1">
                <a:latin typeface="华文楷体"/>
                <a:cs typeface="华文楷体"/>
              </a:rPr>
              <a:t>某同学类比一个原线圈、一个副</a:t>
            </a:r>
            <a:r>
              <a:rPr dirty="0" sz="2800" spc="-5" b="1">
                <a:latin typeface="华文楷体"/>
                <a:cs typeface="华文楷体"/>
              </a:rPr>
              <a:t>线 </a:t>
            </a:r>
            <a:r>
              <a:rPr dirty="0" sz="2800" b="1">
                <a:latin typeface="华文楷体"/>
                <a:cs typeface="华文楷体"/>
              </a:rPr>
              <a:t>圈的理想变压器的规律得出右图</a:t>
            </a:r>
            <a:r>
              <a:rPr dirty="0" sz="2800" spc="-5" b="1">
                <a:latin typeface="华文楷体"/>
                <a:cs typeface="华文楷体"/>
              </a:rPr>
              <a:t>理 </a:t>
            </a:r>
            <a:r>
              <a:rPr dirty="0" sz="2800" b="1">
                <a:latin typeface="华文楷体"/>
                <a:cs typeface="华文楷体"/>
              </a:rPr>
              <a:t>想变压器中电压与匝数的关系</a:t>
            </a:r>
            <a:r>
              <a:rPr dirty="0" sz="2800" spc="-10" b="1">
                <a:latin typeface="华文楷体"/>
                <a:cs typeface="华文楷体"/>
              </a:rPr>
              <a:t>为 </a:t>
            </a:r>
            <a:r>
              <a:rPr dirty="0" sz="2800" i="1">
                <a:latin typeface="Times New Roman"/>
                <a:cs typeface="Times New Roman"/>
              </a:rPr>
              <a:t>U</a:t>
            </a:r>
            <a:r>
              <a:rPr dirty="0" baseline="-16975" sz="2700">
                <a:latin typeface="Times New Roman"/>
                <a:cs typeface="Times New Roman"/>
              </a:rPr>
              <a:t>1</a:t>
            </a:r>
            <a:r>
              <a:rPr dirty="0" sz="2800">
                <a:latin typeface="Times New Roman"/>
                <a:cs typeface="Times New Roman"/>
              </a:rPr>
              <a:t>:</a:t>
            </a:r>
            <a:r>
              <a:rPr dirty="0" sz="2800" i="1">
                <a:latin typeface="Times New Roman"/>
                <a:cs typeface="Times New Roman"/>
              </a:rPr>
              <a:t>U</a:t>
            </a:r>
            <a:r>
              <a:rPr dirty="0" baseline="-16975" sz="2700">
                <a:latin typeface="Times New Roman"/>
                <a:cs typeface="Times New Roman"/>
              </a:rPr>
              <a:t>2</a:t>
            </a:r>
            <a:r>
              <a:rPr dirty="0" sz="2800">
                <a:latin typeface="Times New Roman"/>
                <a:cs typeface="Times New Roman"/>
              </a:rPr>
              <a:t>:</a:t>
            </a:r>
            <a:r>
              <a:rPr dirty="0" sz="2800" i="1">
                <a:latin typeface="Times New Roman"/>
                <a:cs typeface="Times New Roman"/>
              </a:rPr>
              <a:t>U</a:t>
            </a:r>
            <a:r>
              <a:rPr dirty="0" baseline="-16975" sz="2700">
                <a:latin typeface="Times New Roman"/>
                <a:cs typeface="Times New Roman"/>
              </a:rPr>
              <a:t>3</a:t>
            </a:r>
            <a:r>
              <a:rPr dirty="0" sz="2800">
                <a:latin typeface="Times New Roman"/>
                <a:cs typeface="Times New Roman"/>
              </a:rPr>
              <a:t>=</a:t>
            </a:r>
            <a:r>
              <a:rPr dirty="0" sz="2800" i="1">
                <a:latin typeface="Times New Roman"/>
                <a:cs typeface="Times New Roman"/>
              </a:rPr>
              <a:t>n</a:t>
            </a:r>
            <a:r>
              <a:rPr dirty="0" baseline="-16975" sz="2700">
                <a:latin typeface="Times New Roman"/>
                <a:cs typeface="Times New Roman"/>
              </a:rPr>
              <a:t>1</a:t>
            </a:r>
            <a:r>
              <a:rPr dirty="0" sz="2800">
                <a:latin typeface="Times New Roman"/>
                <a:cs typeface="Times New Roman"/>
              </a:rPr>
              <a:t>:</a:t>
            </a:r>
            <a:r>
              <a:rPr dirty="0" sz="2800" i="1">
                <a:latin typeface="Times New Roman"/>
                <a:cs typeface="Times New Roman"/>
              </a:rPr>
              <a:t>n</a:t>
            </a:r>
            <a:r>
              <a:rPr dirty="0" baseline="-16975" sz="2700">
                <a:latin typeface="Times New Roman"/>
                <a:cs typeface="Times New Roman"/>
              </a:rPr>
              <a:t>2</a:t>
            </a:r>
            <a:r>
              <a:rPr dirty="0" sz="2800">
                <a:latin typeface="Times New Roman"/>
                <a:cs typeface="Times New Roman"/>
              </a:rPr>
              <a:t>:</a:t>
            </a:r>
            <a:r>
              <a:rPr dirty="0" sz="2800" i="1">
                <a:latin typeface="Times New Roman"/>
                <a:cs typeface="Times New Roman"/>
              </a:rPr>
              <a:t>n</a:t>
            </a:r>
            <a:r>
              <a:rPr dirty="0" baseline="-16975" sz="2700">
                <a:latin typeface="Times New Roman"/>
                <a:cs typeface="Times New Roman"/>
              </a:rPr>
              <a:t>3</a:t>
            </a:r>
            <a:endParaRPr baseline="-16975" sz="2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  <a:tabLst>
                <a:tab pos="3383915" algn="l"/>
              </a:tabLst>
            </a:pPr>
            <a:r>
              <a:rPr dirty="0" baseline="1984" sz="4200" b="1">
                <a:latin typeface="华文楷体"/>
                <a:cs typeface="华文楷体"/>
              </a:rPr>
              <a:t>电流与匝数的关系</a:t>
            </a:r>
            <a:r>
              <a:rPr dirty="0" baseline="1984" sz="4200" spc="-15" b="1">
                <a:latin typeface="华文楷体"/>
                <a:cs typeface="华文楷体"/>
              </a:rPr>
              <a:t>为	</a:t>
            </a:r>
            <a:r>
              <a:rPr dirty="0" sz="2800" i="1">
                <a:latin typeface="Times New Roman"/>
                <a:cs typeface="Times New Roman"/>
              </a:rPr>
              <a:t>I</a:t>
            </a:r>
            <a:r>
              <a:rPr dirty="0" baseline="-16975" sz="2700">
                <a:latin typeface="Times New Roman"/>
                <a:cs typeface="Times New Roman"/>
              </a:rPr>
              <a:t>1</a:t>
            </a:r>
            <a:r>
              <a:rPr dirty="0" sz="2800">
                <a:latin typeface="Times New Roman"/>
                <a:cs typeface="Times New Roman"/>
              </a:rPr>
              <a:t>:</a:t>
            </a:r>
            <a:r>
              <a:rPr dirty="0" sz="2800" i="1">
                <a:latin typeface="Times New Roman"/>
                <a:cs typeface="Times New Roman"/>
              </a:rPr>
              <a:t>I</a:t>
            </a:r>
            <a:r>
              <a:rPr dirty="0" baseline="-16975" sz="2700">
                <a:latin typeface="Times New Roman"/>
                <a:cs typeface="Times New Roman"/>
              </a:rPr>
              <a:t>2</a:t>
            </a:r>
            <a:r>
              <a:rPr dirty="0" sz="2800">
                <a:latin typeface="Times New Roman"/>
                <a:cs typeface="Times New Roman"/>
              </a:rPr>
              <a:t>:</a:t>
            </a:r>
            <a:r>
              <a:rPr dirty="0" sz="2800" i="1">
                <a:latin typeface="Times New Roman"/>
                <a:cs typeface="Times New Roman"/>
              </a:rPr>
              <a:t>I</a:t>
            </a:r>
            <a:r>
              <a:rPr dirty="0" baseline="-16975" sz="2700">
                <a:latin typeface="Times New Roman"/>
                <a:cs typeface="Times New Roman"/>
              </a:rPr>
              <a:t>3</a:t>
            </a:r>
            <a:r>
              <a:rPr dirty="0" sz="2800">
                <a:latin typeface="Times New Roman"/>
                <a:cs typeface="Times New Roman"/>
              </a:rPr>
              <a:t>=</a:t>
            </a:r>
            <a:r>
              <a:rPr dirty="0" sz="2800" i="1">
                <a:latin typeface="Times New Roman"/>
                <a:cs typeface="Times New Roman"/>
              </a:rPr>
              <a:t>n</a:t>
            </a:r>
            <a:r>
              <a:rPr dirty="0" baseline="-16975" sz="2700">
                <a:latin typeface="Times New Roman"/>
                <a:cs typeface="Times New Roman"/>
              </a:rPr>
              <a:t>3</a:t>
            </a:r>
            <a:r>
              <a:rPr dirty="0" sz="2800">
                <a:latin typeface="Times New Roman"/>
                <a:cs typeface="Times New Roman"/>
              </a:rPr>
              <a:t>:</a:t>
            </a:r>
            <a:r>
              <a:rPr dirty="0" sz="2800" i="1">
                <a:latin typeface="Times New Roman"/>
                <a:cs typeface="Times New Roman"/>
              </a:rPr>
              <a:t>n</a:t>
            </a:r>
            <a:r>
              <a:rPr dirty="0" baseline="-16975" sz="2700">
                <a:latin typeface="Times New Roman"/>
                <a:cs typeface="Times New Roman"/>
              </a:rPr>
              <a:t>2</a:t>
            </a:r>
            <a:r>
              <a:rPr dirty="0" sz="2800">
                <a:latin typeface="Times New Roman"/>
                <a:cs typeface="Times New Roman"/>
              </a:rPr>
              <a:t>:</a:t>
            </a:r>
            <a:r>
              <a:rPr dirty="0" sz="2800" i="1">
                <a:latin typeface="Times New Roman"/>
                <a:cs typeface="Times New Roman"/>
              </a:rPr>
              <a:t>n</a:t>
            </a:r>
            <a:r>
              <a:rPr dirty="0" baseline="-16975" sz="2700">
                <a:latin typeface="Times New Roman"/>
                <a:cs typeface="Times New Roman"/>
              </a:rPr>
              <a:t>1</a:t>
            </a:r>
            <a:endParaRPr baseline="-16975" sz="2700">
              <a:latin typeface="Times New Roman"/>
              <a:cs typeface="Times New Roman"/>
            </a:endParaRPr>
          </a:p>
          <a:p>
            <a:pPr marL="72390">
              <a:lnSpc>
                <a:spcPct val="100000"/>
              </a:lnSpc>
              <a:spcBef>
                <a:spcPts val="385"/>
              </a:spcBef>
            </a:pPr>
            <a:r>
              <a:rPr dirty="0" sz="2800" b="1">
                <a:latin typeface="华文楷体"/>
                <a:cs typeface="华文楷体"/>
              </a:rPr>
              <a:t>请判断正误，说明理</a:t>
            </a:r>
            <a:r>
              <a:rPr dirty="0" sz="2800" spc="-10" b="1">
                <a:latin typeface="华文楷体"/>
                <a:cs typeface="华文楷体"/>
              </a:rPr>
              <a:t>由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439594" y="4000500"/>
            <a:ext cx="879348" cy="12283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589519" y="1905000"/>
            <a:ext cx="2235707" cy="185927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50844" y="2735376"/>
            <a:ext cx="366649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5" i="1">
                <a:latin typeface="Times New Roman"/>
                <a:cs typeface="Times New Roman"/>
              </a:rPr>
              <a:t>E</a:t>
            </a:r>
            <a:r>
              <a:rPr dirty="0" baseline="-17615" sz="3075" spc="7">
                <a:latin typeface="Times New Roman"/>
                <a:cs typeface="Times New Roman"/>
              </a:rPr>
              <a:t>1 </a:t>
            </a:r>
            <a:r>
              <a:rPr dirty="0" sz="3200">
                <a:latin typeface="Times New Roman"/>
                <a:cs typeface="Times New Roman"/>
              </a:rPr>
              <a:t>: </a:t>
            </a:r>
            <a:r>
              <a:rPr dirty="0" sz="3200" spc="5" i="1">
                <a:latin typeface="Times New Roman"/>
                <a:cs typeface="Times New Roman"/>
              </a:rPr>
              <a:t>E</a:t>
            </a:r>
            <a:r>
              <a:rPr dirty="0" baseline="-17615" sz="3075" spc="7">
                <a:latin typeface="Times New Roman"/>
                <a:cs typeface="Times New Roman"/>
              </a:rPr>
              <a:t>2 </a:t>
            </a:r>
            <a:r>
              <a:rPr dirty="0" sz="3200">
                <a:latin typeface="Times New Roman"/>
                <a:cs typeface="Times New Roman"/>
              </a:rPr>
              <a:t>: </a:t>
            </a:r>
            <a:r>
              <a:rPr dirty="0" sz="3200" i="1">
                <a:latin typeface="Times New Roman"/>
                <a:cs typeface="Times New Roman"/>
              </a:rPr>
              <a:t>E</a:t>
            </a:r>
            <a:r>
              <a:rPr dirty="0" baseline="-17615" sz="3075">
                <a:latin typeface="Times New Roman"/>
                <a:cs typeface="Times New Roman"/>
              </a:rPr>
              <a:t>3</a:t>
            </a:r>
            <a:r>
              <a:rPr dirty="0" sz="3200">
                <a:latin typeface="Times New Roman"/>
                <a:cs typeface="Times New Roman"/>
              </a:rPr>
              <a:t>=</a:t>
            </a:r>
            <a:r>
              <a:rPr dirty="0" sz="3200" i="1">
                <a:latin typeface="Times New Roman"/>
                <a:cs typeface="Times New Roman"/>
              </a:rPr>
              <a:t>n</a:t>
            </a:r>
            <a:r>
              <a:rPr dirty="0" baseline="-17615" sz="3075">
                <a:latin typeface="Times New Roman"/>
                <a:cs typeface="Times New Roman"/>
              </a:rPr>
              <a:t>1 </a:t>
            </a:r>
            <a:r>
              <a:rPr dirty="0" sz="3200">
                <a:latin typeface="Times New Roman"/>
                <a:cs typeface="Times New Roman"/>
              </a:rPr>
              <a:t>: </a:t>
            </a:r>
            <a:r>
              <a:rPr dirty="0" sz="3200" spc="5" i="1">
                <a:latin typeface="Times New Roman"/>
                <a:cs typeface="Times New Roman"/>
              </a:rPr>
              <a:t>n</a:t>
            </a:r>
            <a:r>
              <a:rPr dirty="0" baseline="-17615" sz="3075" spc="7">
                <a:latin typeface="Times New Roman"/>
                <a:cs typeface="Times New Roman"/>
              </a:rPr>
              <a:t>2 </a:t>
            </a:r>
            <a:r>
              <a:rPr dirty="0" sz="3200">
                <a:latin typeface="Times New Roman"/>
                <a:cs typeface="Times New Roman"/>
              </a:rPr>
              <a:t>:</a:t>
            </a:r>
            <a:r>
              <a:rPr dirty="0" sz="3200" spc="240">
                <a:latin typeface="Times New Roman"/>
                <a:cs typeface="Times New Roman"/>
              </a:rPr>
              <a:t> </a:t>
            </a:r>
            <a:r>
              <a:rPr dirty="0" sz="3200" spc="5" i="1">
                <a:latin typeface="Times New Roman"/>
                <a:cs typeface="Times New Roman"/>
              </a:rPr>
              <a:t>n</a:t>
            </a:r>
            <a:r>
              <a:rPr dirty="0" baseline="-17615" sz="3075" spc="7">
                <a:latin typeface="Times New Roman"/>
                <a:cs typeface="Times New Roman"/>
              </a:rPr>
              <a:t>3</a:t>
            </a:r>
            <a:endParaRPr baseline="-17615" sz="3075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68727" y="2143632"/>
            <a:ext cx="626745" cy="2825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507365" algn="l"/>
              </a:tabLst>
            </a:pPr>
            <a:r>
              <a:rPr dirty="0" sz="1650" spc="5">
                <a:latin typeface="Times New Roman"/>
                <a:cs typeface="Times New Roman"/>
              </a:rPr>
              <a:t>1</a:t>
            </a:r>
            <a:r>
              <a:rPr dirty="0" sz="1650" spc="5">
                <a:latin typeface="Times New Roman"/>
                <a:cs typeface="Times New Roman"/>
              </a:rPr>
              <a:t>	</a:t>
            </a:r>
            <a:r>
              <a:rPr dirty="0" sz="1650" spc="5">
                <a:latin typeface="Times New Roman"/>
                <a:cs typeface="Times New Roman"/>
              </a:rPr>
              <a:t>1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73234" y="2180005"/>
            <a:ext cx="363220" cy="470534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900" spc="-15">
                <a:latin typeface="Times New Roman"/>
                <a:cs typeface="Times New Roman"/>
              </a:rPr>
              <a:t>Δ</a:t>
            </a:r>
            <a:r>
              <a:rPr dirty="0" sz="2900" spc="-10" i="1">
                <a:latin typeface="Times New Roman"/>
                <a:cs typeface="Times New Roman"/>
              </a:rPr>
              <a:t>t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67598" y="1872800"/>
            <a:ext cx="1562100" cy="4940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911860" algn="l"/>
              </a:tabLst>
            </a:pPr>
            <a:r>
              <a:rPr dirty="0" sz="2900" spc="-15" i="1">
                <a:latin typeface="Times New Roman"/>
                <a:cs typeface="Times New Roman"/>
              </a:rPr>
              <a:t>E</a:t>
            </a:r>
            <a:r>
              <a:rPr dirty="0" sz="2900" spc="175" i="1">
                <a:latin typeface="Times New Roman"/>
                <a:cs typeface="Times New Roman"/>
              </a:rPr>
              <a:t> </a:t>
            </a:r>
            <a:r>
              <a:rPr dirty="0" sz="2900" spc="-25">
                <a:latin typeface="Times New Roman"/>
                <a:cs typeface="Times New Roman"/>
              </a:rPr>
              <a:t>=</a:t>
            </a:r>
            <a:r>
              <a:rPr dirty="0" sz="2900" spc="-25" i="1">
                <a:latin typeface="Times New Roman"/>
                <a:cs typeface="Times New Roman"/>
              </a:rPr>
              <a:t>n	</a:t>
            </a:r>
            <a:r>
              <a:rPr dirty="0" u="heavy" baseline="35440" sz="4350" spc="-27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Δ</a:t>
            </a:r>
            <a:r>
              <a:rPr dirty="0" u="heavy" baseline="33697" sz="4575" spc="-270" i="1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</a:t>
            </a:r>
            <a:endParaRPr baseline="33697" sz="4575">
              <a:latin typeface="Symbol"/>
              <a:cs typeface="Symbo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934623" y="2198789"/>
            <a:ext cx="640715" cy="0"/>
          </a:xfrm>
          <a:custGeom>
            <a:avLst/>
            <a:gdLst/>
            <a:ahLst/>
            <a:cxnLst/>
            <a:rect l="l" t="t" r="r" b="b"/>
            <a:pathLst>
              <a:path w="640714" h="0">
                <a:moveTo>
                  <a:pt x="0" y="0"/>
                </a:moveTo>
                <a:lnTo>
                  <a:pt x="640702" y="0"/>
                </a:lnTo>
              </a:path>
            </a:pathLst>
          </a:custGeom>
          <a:ln w="1932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164765" y="2711881"/>
            <a:ext cx="432434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latin typeface="华文楷体"/>
                <a:cs typeface="华文楷体"/>
              </a:rPr>
              <a:t>则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083269" y="1132331"/>
            <a:ext cx="6130925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原、副线圈中感应电动势分别为：</a:t>
            </a:r>
          </a:p>
        </p:txBody>
      </p:sp>
      <p:sp>
        <p:nvSpPr>
          <p:cNvPr id="9" name="object 9"/>
          <p:cNvSpPr/>
          <p:nvPr/>
        </p:nvSpPr>
        <p:spPr>
          <a:xfrm>
            <a:off x="6936676" y="2198814"/>
            <a:ext cx="631825" cy="0"/>
          </a:xfrm>
          <a:custGeom>
            <a:avLst/>
            <a:gdLst/>
            <a:ahLst/>
            <a:cxnLst/>
            <a:rect l="l" t="t" r="r" b="b"/>
            <a:pathLst>
              <a:path w="631825" h="0">
                <a:moveTo>
                  <a:pt x="0" y="0"/>
                </a:moveTo>
                <a:lnTo>
                  <a:pt x="631672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4139856" y="2159888"/>
            <a:ext cx="2719705" cy="2965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582295" algn="l"/>
                <a:tab pos="2046605" algn="l"/>
                <a:tab pos="2595245" algn="l"/>
              </a:tabLst>
            </a:pPr>
            <a:r>
              <a:rPr dirty="0" sz="1750" spc="10">
                <a:latin typeface="Times New Roman"/>
                <a:cs typeface="Times New Roman"/>
              </a:rPr>
              <a:t>2</a:t>
            </a:r>
            <a:r>
              <a:rPr dirty="0" sz="1750" spc="10">
                <a:latin typeface="Times New Roman"/>
                <a:cs typeface="Times New Roman"/>
              </a:rPr>
              <a:t>	</a:t>
            </a:r>
            <a:r>
              <a:rPr dirty="0" sz="1750" spc="10">
                <a:latin typeface="Times New Roman"/>
                <a:cs typeface="Times New Roman"/>
              </a:rPr>
              <a:t>2</a:t>
            </a:r>
            <a:r>
              <a:rPr dirty="0" sz="1750" spc="10">
                <a:latin typeface="Times New Roman"/>
                <a:cs typeface="Times New Roman"/>
              </a:rPr>
              <a:t>	</a:t>
            </a:r>
            <a:r>
              <a:rPr dirty="0" sz="1750">
                <a:latin typeface="Times New Roman"/>
                <a:cs typeface="Times New Roman"/>
              </a:rPr>
              <a:t>3</a:t>
            </a:r>
            <a:r>
              <a:rPr dirty="0" sz="1750">
                <a:latin typeface="Times New Roman"/>
                <a:cs typeface="Times New Roman"/>
              </a:rPr>
              <a:t>	</a:t>
            </a:r>
            <a:r>
              <a:rPr dirty="0" sz="1750">
                <a:latin typeface="Times New Roman"/>
                <a:cs typeface="Times New Roman"/>
              </a:rPr>
              <a:t>3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053114" y="2199754"/>
            <a:ext cx="2379345" cy="4940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2012314" algn="l"/>
              </a:tabLst>
            </a:pPr>
            <a:r>
              <a:rPr dirty="0" sz="3050">
                <a:latin typeface="Times New Roman"/>
                <a:cs typeface="Times New Roman"/>
              </a:rPr>
              <a:t>Δ</a:t>
            </a:r>
            <a:r>
              <a:rPr dirty="0" sz="3050" spc="5" i="1">
                <a:latin typeface="Times New Roman"/>
                <a:cs typeface="Times New Roman"/>
              </a:rPr>
              <a:t>t</a:t>
            </a:r>
            <a:r>
              <a:rPr dirty="0" sz="3050" i="1">
                <a:latin typeface="Times New Roman"/>
                <a:cs typeface="Times New Roman"/>
              </a:rPr>
              <a:t>	</a:t>
            </a:r>
            <a:r>
              <a:rPr dirty="0" sz="3000" spc="10">
                <a:latin typeface="Times New Roman"/>
                <a:cs typeface="Times New Roman"/>
              </a:rPr>
              <a:t>Δ</a:t>
            </a:r>
            <a:r>
              <a:rPr dirty="0" sz="3000" spc="5" i="1">
                <a:latin typeface="Times New Roman"/>
                <a:cs typeface="Times New Roman"/>
              </a:rPr>
              <a:t>t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901884" y="1874511"/>
            <a:ext cx="3733800" cy="51815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412750" algn="l"/>
                <a:tab pos="1050925" algn="l"/>
                <a:tab pos="2056764" algn="l"/>
                <a:tab pos="2437765" algn="l"/>
                <a:tab pos="3052445" algn="l"/>
              </a:tabLst>
            </a:pPr>
            <a:r>
              <a:rPr dirty="0" sz="3050" spc="10" i="1">
                <a:latin typeface="Times New Roman"/>
                <a:cs typeface="Times New Roman"/>
              </a:rPr>
              <a:t>E	</a:t>
            </a:r>
            <a:r>
              <a:rPr dirty="0" sz="3050" spc="5">
                <a:latin typeface="Times New Roman"/>
                <a:cs typeface="Times New Roman"/>
              </a:rPr>
              <a:t>=</a:t>
            </a:r>
            <a:r>
              <a:rPr dirty="0" sz="3050" spc="5" i="1">
                <a:latin typeface="Times New Roman"/>
                <a:cs typeface="Times New Roman"/>
              </a:rPr>
              <a:t>n	</a:t>
            </a:r>
            <a:r>
              <a:rPr dirty="0" baseline="35519" sz="4575" spc="-232">
                <a:latin typeface="Times New Roman"/>
                <a:cs typeface="Times New Roman"/>
              </a:rPr>
              <a:t>Δ</a:t>
            </a:r>
            <a:r>
              <a:rPr dirty="0" baseline="33854" sz="4800" spc="-232" i="1">
                <a:latin typeface="Symbol"/>
                <a:cs typeface="Symbol"/>
              </a:rPr>
              <a:t></a:t>
            </a:r>
            <a:r>
              <a:rPr dirty="0" baseline="33854" sz="4800" spc="-232">
                <a:latin typeface="Times New Roman"/>
                <a:cs typeface="Times New Roman"/>
              </a:rPr>
              <a:t>	</a:t>
            </a:r>
            <a:r>
              <a:rPr dirty="0" sz="3000" spc="20" i="1">
                <a:latin typeface="Times New Roman"/>
                <a:cs typeface="Times New Roman"/>
              </a:rPr>
              <a:t>E	</a:t>
            </a:r>
            <a:r>
              <a:rPr dirty="0" sz="3000" spc="15">
                <a:latin typeface="Times New Roman"/>
                <a:cs typeface="Times New Roman"/>
              </a:rPr>
              <a:t>=</a:t>
            </a:r>
            <a:r>
              <a:rPr dirty="0" sz="3000" spc="15" i="1">
                <a:latin typeface="Times New Roman"/>
                <a:cs typeface="Times New Roman"/>
              </a:rPr>
              <a:t>n	</a:t>
            </a:r>
            <a:r>
              <a:rPr dirty="0" baseline="35185" sz="4500" spc="-254">
                <a:latin typeface="Times New Roman"/>
                <a:cs typeface="Times New Roman"/>
              </a:rPr>
              <a:t>Δ</a:t>
            </a:r>
            <a:r>
              <a:rPr dirty="0" baseline="32986" sz="4800" spc="-254" i="1">
                <a:latin typeface="Symbol"/>
                <a:cs typeface="Symbol"/>
              </a:rPr>
              <a:t></a:t>
            </a:r>
            <a:endParaRPr baseline="32986" sz="4800">
              <a:latin typeface="Symbol"/>
              <a:cs typeface="Symbo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077275" y="3372764"/>
            <a:ext cx="368871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latin typeface="华文楷体"/>
                <a:cs typeface="华文楷体"/>
              </a:rPr>
              <a:t>若不考虑线圈电阻则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182698" y="3994403"/>
            <a:ext cx="1165860" cy="4883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000" spc="30" i="1">
                <a:latin typeface="Times New Roman"/>
                <a:cs typeface="Times New Roman"/>
              </a:rPr>
              <a:t>U</a:t>
            </a:r>
            <a:r>
              <a:rPr dirty="0" baseline="-25396" sz="2625" spc="44">
                <a:latin typeface="Times New Roman"/>
                <a:cs typeface="Times New Roman"/>
              </a:rPr>
              <a:t>1 </a:t>
            </a:r>
            <a:r>
              <a:rPr dirty="0" sz="3000" spc="15">
                <a:latin typeface="Symbol"/>
                <a:cs typeface="Symbol"/>
              </a:rPr>
              <a:t></a:t>
            </a:r>
            <a:r>
              <a:rPr dirty="0" sz="3000" spc="-110">
                <a:latin typeface="Times New Roman"/>
                <a:cs typeface="Times New Roman"/>
              </a:rPr>
              <a:t> </a:t>
            </a:r>
            <a:r>
              <a:rPr dirty="0" sz="3000" spc="-90" i="1">
                <a:latin typeface="Times New Roman"/>
                <a:cs typeface="Times New Roman"/>
              </a:rPr>
              <a:t>E</a:t>
            </a:r>
            <a:r>
              <a:rPr dirty="0" baseline="-25396" sz="2625" spc="-135">
                <a:latin typeface="Times New Roman"/>
                <a:cs typeface="Times New Roman"/>
              </a:rPr>
              <a:t>1</a:t>
            </a:r>
            <a:endParaRPr baseline="-25396" sz="2625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575545" y="3969385"/>
            <a:ext cx="3110865" cy="4997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558165" algn="l"/>
                <a:tab pos="1882775" algn="l"/>
              </a:tabLst>
            </a:pPr>
            <a:r>
              <a:rPr dirty="0" sz="3000" spc="125" i="1">
                <a:latin typeface="Times New Roman"/>
                <a:cs typeface="Times New Roman"/>
              </a:rPr>
              <a:t>U</a:t>
            </a:r>
            <a:r>
              <a:rPr dirty="0" baseline="-25396" sz="2625" spc="187">
                <a:latin typeface="Times New Roman"/>
                <a:cs typeface="Times New Roman"/>
              </a:rPr>
              <a:t>2	</a:t>
            </a:r>
            <a:r>
              <a:rPr dirty="0" sz="3000" spc="15">
                <a:latin typeface="Symbol"/>
                <a:cs typeface="Symbol"/>
              </a:rPr>
              <a:t></a:t>
            </a:r>
            <a:r>
              <a:rPr dirty="0" sz="3000" spc="45">
                <a:latin typeface="Times New Roman"/>
                <a:cs typeface="Times New Roman"/>
              </a:rPr>
              <a:t> </a:t>
            </a:r>
            <a:r>
              <a:rPr dirty="0" sz="3000" spc="5" i="1">
                <a:latin typeface="Times New Roman"/>
                <a:cs typeface="Times New Roman"/>
              </a:rPr>
              <a:t>E</a:t>
            </a:r>
            <a:r>
              <a:rPr dirty="0" baseline="-25396" sz="2625" spc="7">
                <a:latin typeface="Times New Roman"/>
                <a:cs typeface="Times New Roman"/>
              </a:rPr>
              <a:t>2	</a:t>
            </a:r>
            <a:r>
              <a:rPr dirty="0" sz="3100" spc="90" i="1">
                <a:latin typeface="Times New Roman"/>
                <a:cs typeface="Times New Roman"/>
              </a:rPr>
              <a:t>U</a:t>
            </a:r>
            <a:r>
              <a:rPr dirty="0" baseline="-24691" sz="2700" spc="135">
                <a:latin typeface="Times New Roman"/>
                <a:cs typeface="Times New Roman"/>
              </a:rPr>
              <a:t>3 </a:t>
            </a:r>
            <a:r>
              <a:rPr dirty="0" sz="3100" spc="5">
                <a:latin typeface="Symbol"/>
                <a:cs typeface="Symbol"/>
              </a:rPr>
              <a:t></a:t>
            </a:r>
            <a:r>
              <a:rPr dirty="0" sz="3100" spc="-150">
                <a:latin typeface="Times New Roman"/>
                <a:cs typeface="Times New Roman"/>
              </a:rPr>
              <a:t> </a:t>
            </a:r>
            <a:r>
              <a:rPr dirty="0" sz="3100" spc="-30" i="1">
                <a:latin typeface="Times New Roman"/>
                <a:cs typeface="Times New Roman"/>
              </a:rPr>
              <a:t>E</a:t>
            </a:r>
            <a:r>
              <a:rPr dirty="0" baseline="-24691" sz="2700" spc="-44">
                <a:latin typeface="Times New Roman"/>
                <a:cs typeface="Times New Roman"/>
              </a:rPr>
              <a:t>3</a:t>
            </a:r>
            <a:endParaRPr baseline="-24691" sz="27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179140" y="4602289"/>
            <a:ext cx="380174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5" i="1">
                <a:latin typeface="Times New Roman"/>
                <a:cs typeface="Times New Roman"/>
              </a:rPr>
              <a:t>U</a:t>
            </a:r>
            <a:r>
              <a:rPr dirty="0" baseline="-17615" sz="3075" spc="7">
                <a:latin typeface="Times New Roman"/>
                <a:cs typeface="Times New Roman"/>
              </a:rPr>
              <a:t>1 </a:t>
            </a:r>
            <a:r>
              <a:rPr dirty="0" sz="3200">
                <a:latin typeface="Times New Roman"/>
                <a:cs typeface="Times New Roman"/>
              </a:rPr>
              <a:t>: </a:t>
            </a:r>
            <a:r>
              <a:rPr dirty="0" sz="3200" spc="5" i="1">
                <a:latin typeface="Times New Roman"/>
                <a:cs typeface="Times New Roman"/>
              </a:rPr>
              <a:t>U</a:t>
            </a:r>
            <a:r>
              <a:rPr dirty="0" baseline="-17615" sz="3075" spc="7">
                <a:latin typeface="Times New Roman"/>
                <a:cs typeface="Times New Roman"/>
              </a:rPr>
              <a:t>2 </a:t>
            </a:r>
            <a:r>
              <a:rPr dirty="0" sz="3200">
                <a:latin typeface="Times New Roman"/>
                <a:cs typeface="Times New Roman"/>
              </a:rPr>
              <a:t>: </a:t>
            </a:r>
            <a:r>
              <a:rPr dirty="0" sz="3200" i="1">
                <a:latin typeface="Times New Roman"/>
                <a:cs typeface="Times New Roman"/>
              </a:rPr>
              <a:t>U</a:t>
            </a:r>
            <a:r>
              <a:rPr dirty="0" baseline="-17615" sz="3075">
                <a:latin typeface="Times New Roman"/>
                <a:cs typeface="Times New Roman"/>
              </a:rPr>
              <a:t>3</a:t>
            </a:r>
            <a:r>
              <a:rPr dirty="0" sz="3200">
                <a:latin typeface="Times New Roman"/>
                <a:cs typeface="Times New Roman"/>
              </a:rPr>
              <a:t>=</a:t>
            </a:r>
            <a:r>
              <a:rPr dirty="0" sz="3200" i="1">
                <a:latin typeface="Times New Roman"/>
                <a:cs typeface="Times New Roman"/>
              </a:rPr>
              <a:t>n</a:t>
            </a:r>
            <a:r>
              <a:rPr dirty="0" baseline="-17615" sz="3075">
                <a:latin typeface="Times New Roman"/>
                <a:cs typeface="Times New Roman"/>
              </a:rPr>
              <a:t>1 </a:t>
            </a:r>
            <a:r>
              <a:rPr dirty="0" sz="3200">
                <a:latin typeface="Times New Roman"/>
                <a:cs typeface="Times New Roman"/>
              </a:rPr>
              <a:t>: </a:t>
            </a:r>
            <a:r>
              <a:rPr dirty="0" sz="3200" spc="5" i="1">
                <a:latin typeface="Times New Roman"/>
                <a:cs typeface="Times New Roman"/>
              </a:rPr>
              <a:t>n</a:t>
            </a:r>
            <a:r>
              <a:rPr dirty="0" baseline="-17615" sz="3075" spc="7">
                <a:latin typeface="Times New Roman"/>
                <a:cs typeface="Times New Roman"/>
              </a:rPr>
              <a:t>2 </a:t>
            </a:r>
            <a:r>
              <a:rPr dirty="0" sz="3200">
                <a:latin typeface="Times New Roman"/>
                <a:cs typeface="Times New Roman"/>
              </a:rPr>
              <a:t>:</a:t>
            </a:r>
            <a:r>
              <a:rPr dirty="0" sz="3200" spc="240">
                <a:latin typeface="Times New Roman"/>
                <a:cs typeface="Times New Roman"/>
              </a:rPr>
              <a:t> </a:t>
            </a:r>
            <a:r>
              <a:rPr dirty="0" sz="3200" spc="5" i="1">
                <a:latin typeface="Times New Roman"/>
                <a:cs typeface="Times New Roman"/>
              </a:rPr>
              <a:t>n</a:t>
            </a:r>
            <a:r>
              <a:rPr dirty="0" baseline="-17615" sz="3075" spc="7">
                <a:latin typeface="Times New Roman"/>
                <a:cs typeface="Times New Roman"/>
              </a:rPr>
              <a:t>3</a:t>
            </a:r>
            <a:endParaRPr baseline="-17615" sz="3075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091372" y="4624413"/>
            <a:ext cx="839469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latin typeface="华文楷体"/>
                <a:cs typeface="华文楷体"/>
              </a:rPr>
              <a:t>所以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7903464" y="1708404"/>
            <a:ext cx="2633472" cy="2339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33029" y="1055420"/>
            <a:ext cx="2467610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忽略能量损失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742476" y="1513839"/>
            <a:ext cx="3801745" cy="1757680"/>
          </a:xfrm>
          <a:prstGeom prst="rect">
            <a:avLst/>
          </a:prstGeom>
        </p:spPr>
        <p:txBody>
          <a:bodyPr wrap="square" lIns="0" tIns="82550" rIns="0" bIns="0" rtlCol="0" vert="horz">
            <a:spAutoFit/>
          </a:bodyPr>
          <a:lstStyle/>
          <a:p>
            <a:pPr marL="27940">
              <a:lnSpc>
                <a:spcPct val="100000"/>
              </a:lnSpc>
              <a:spcBef>
                <a:spcPts val="650"/>
              </a:spcBef>
            </a:pPr>
            <a:r>
              <a:rPr dirty="0" sz="3200" spc="5" i="1">
                <a:latin typeface="Times New Roman"/>
                <a:cs typeface="Times New Roman"/>
              </a:rPr>
              <a:t>P</a:t>
            </a:r>
            <a:r>
              <a:rPr dirty="0" baseline="-17615" sz="3075" spc="7">
                <a:latin typeface="Times New Roman"/>
                <a:cs typeface="Times New Roman"/>
              </a:rPr>
              <a:t>1 </a:t>
            </a:r>
            <a:r>
              <a:rPr dirty="0" sz="3200">
                <a:latin typeface="Times New Roman"/>
                <a:cs typeface="Times New Roman"/>
              </a:rPr>
              <a:t>= </a:t>
            </a:r>
            <a:r>
              <a:rPr dirty="0" sz="3200" spc="5" i="1">
                <a:latin typeface="Times New Roman"/>
                <a:cs typeface="Times New Roman"/>
              </a:rPr>
              <a:t>P</a:t>
            </a:r>
            <a:r>
              <a:rPr dirty="0" baseline="-17615" sz="3075" spc="7">
                <a:latin typeface="Times New Roman"/>
                <a:cs typeface="Times New Roman"/>
              </a:rPr>
              <a:t>2 </a:t>
            </a:r>
            <a:r>
              <a:rPr dirty="0" sz="3200">
                <a:latin typeface="Times New Roman"/>
                <a:cs typeface="Times New Roman"/>
              </a:rPr>
              <a:t>+</a:t>
            </a:r>
            <a:r>
              <a:rPr dirty="0" sz="3200" spc="-260">
                <a:latin typeface="Times New Roman"/>
                <a:cs typeface="Times New Roman"/>
              </a:rPr>
              <a:t> </a:t>
            </a:r>
            <a:r>
              <a:rPr dirty="0" sz="3200" spc="5" i="1">
                <a:latin typeface="Times New Roman"/>
                <a:cs typeface="Times New Roman"/>
              </a:rPr>
              <a:t>P</a:t>
            </a:r>
            <a:r>
              <a:rPr dirty="0" baseline="-17615" sz="3075" spc="7">
                <a:latin typeface="Times New Roman"/>
                <a:cs typeface="Times New Roman"/>
              </a:rPr>
              <a:t>3</a:t>
            </a:r>
            <a:endParaRPr baseline="-17615" sz="3075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dirty="0" sz="3200" spc="5" i="1">
                <a:latin typeface="Times New Roman"/>
                <a:cs typeface="Times New Roman"/>
              </a:rPr>
              <a:t>U</a:t>
            </a:r>
            <a:r>
              <a:rPr dirty="0" baseline="-17615" sz="3075" spc="7">
                <a:latin typeface="Times New Roman"/>
                <a:cs typeface="Times New Roman"/>
              </a:rPr>
              <a:t>1</a:t>
            </a:r>
            <a:r>
              <a:rPr dirty="0" sz="3200" spc="5" i="1">
                <a:latin typeface="Times New Roman"/>
                <a:cs typeface="Times New Roman"/>
              </a:rPr>
              <a:t>I</a:t>
            </a:r>
            <a:r>
              <a:rPr dirty="0" baseline="-17615" sz="3075" spc="7">
                <a:latin typeface="Times New Roman"/>
                <a:cs typeface="Times New Roman"/>
              </a:rPr>
              <a:t>1 </a:t>
            </a:r>
            <a:r>
              <a:rPr dirty="0" sz="3200">
                <a:latin typeface="Times New Roman"/>
                <a:cs typeface="Times New Roman"/>
              </a:rPr>
              <a:t>= </a:t>
            </a:r>
            <a:r>
              <a:rPr dirty="0" sz="3200" spc="5" i="1">
                <a:latin typeface="Times New Roman"/>
                <a:cs typeface="Times New Roman"/>
              </a:rPr>
              <a:t>U</a:t>
            </a:r>
            <a:r>
              <a:rPr dirty="0" baseline="-17615" sz="3075" spc="7">
                <a:latin typeface="Times New Roman"/>
                <a:cs typeface="Times New Roman"/>
              </a:rPr>
              <a:t>2</a:t>
            </a:r>
            <a:r>
              <a:rPr dirty="0" sz="3200" spc="5" i="1">
                <a:latin typeface="Times New Roman"/>
                <a:cs typeface="Times New Roman"/>
              </a:rPr>
              <a:t>I</a:t>
            </a:r>
            <a:r>
              <a:rPr dirty="0" baseline="-17615" sz="3075" spc="7">
                <a:latin typeface="Times New Roman"/>
                <a:cs typeface="Times New Roman"/>
              </a:rPr>
              <a:t>2 </a:t>
            </a:r>
            <a:r>
              <a:rPr dirty="0" sz="3200">
                <a:latin typeface="Times New Roman"/>
                <a:cs typeface="Times New Roman"/>
              </a:rPr>
              <a:t>+</a:t>
            </a:r>
            <a:r>
              <a:rPr dirty="0" sz="3200" spc="-270">
                <a:latin typeface="Times New Roman"/>
                <a:cs typeface="Times New Roman"/>
              </a:rPr>
              <a:t> </a:t>
            </a:r>
            <a:r>
              <a:rPr dirty="0" sz="3200" spc="5" i="1">
                <a:latin typeface="Times New Roman"/>
                <a:cs typeface="Times New Roman"/>
              </a:rPr>
              <a:t>U</a:t>
            </a:r>
            <a:r>
              <a:rPr dirty="0" baseline="-17615" sz="3075" spc="7">
                <a:latin typeface="Times New Roman"/>
                <a:cs typeface="Times New Roman"/>
              </a:rPr>
              <a:t>3</a:t>
            </a:r>
            <a:r>
              <a:rPr dirty="0" sz="3200" spc="5" i="1">
                <a:latin typeface="Times New Roman"/>
                <a:cs typeface="Times New Roman"/>
              </a:rPr>
              <a:t>I</a:t>
            </a:r>
            <a:r>
              <a:rPr dirty="0" baseline="-17615" sz="3075" spc="7">
                <a:latin typeface="Times New Roman"/>
                <a:cs typeface="Times New Roman"/>
              </a:rPr>
              <a:t>3</a:t>
            </a:r>
            <a:endParaRPr baseline="-17615" sz="3075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15"/>
              </a:spcBef>
            </a:pPr>
            <a:r>
              <a:rPr dirty="0" sz="3200" spc="5" i="1">
                <a:latin typeface="Times New Roman"/>
                <a:cs typeface="Times New Roman"/>
              </a:rPr>
              <a:t>U</a:t>
            </a:r>
            <a:r>
              <a:rPr dirty="0" baseline="-17615" sz="3075" spc="7">
                <a:latin typeface="Times New Roman"/>
                <a:cs typeface="Times New Roman"/>
              </a:rPr>
              <a:t>1 </a:t>
            </a:r>
            <a:r>
              <a:rPr dirty="0" sz="3200">
                <a:latin typeface="Times New Roman"/>
                <a:cs typeface="Times New Roman"/>
              </a:rPr>
              <a:t>: </a:t>
            </a:r>
            <a:r>
              <a:rPr dirty="0" sz="3200" spc="5" i="1">
                <a:latin typeface="Times New Roman"/>
                <a:cs typeface="Times New Roman"/>
              </a:rPr>
              <a:t>U</a:t>
            </a:r>
            <a:r>
              <a:rPr dirty="0" baseline="-17615" sz="3075" spc="7">
                <a:latin typeface="Times New Roman"/>
                <a:cs typeface="Times New Roman"/>
              </a:rPr>
              <a:t>2 </a:t>
            </a:r>
            <a:r>
              <a:rPr dirty="0" sz="3200">
                <a:latin typeface="Times New Roman"/>
                <a:cs typeface="Times New Roman"/>
              </a:rPr>
              <a:t>: </a:t>
            </a:r>
            <a:r>
              <a:rPr dirty="0" sz="3200" i="1">
                <a:latin typeface="Times New Roman"/>
                <a:cs typeface="Times New Roman"/>
              </a:rPr>
              <a:t>U</a:t>
            </a:r>
            <a:r>
              <a:rPr dirty="0" baseline="-17615" sz="3075">
                <a:latin typeface="Times New Roman"/>
                <a:cs typeface="Times New Roman"/>
              </a:rPr>
              <a:t>3</a:t>
            </a:r>
            <a:r>
              <a:rPr dirty="0" sz="3200">
                <a:latin typeface="Times New Roman"/>
                <a:cs typeface="Times New Roman"/>
              </a:rPr>
              <a:t>=</a:t>
            </a:r>
            <a:r>
              <a:rPr dirty="0" sz="3200" i="1">
                <a:latin typeface="Times New Roman"/>
                <a:cs typeface="Times New Roman"/>
              </a:rPr>
              <a:t>n</a:t>
            </a:r>
            <a:r>
              <a:rPr dirty="0" baseline="-17615" sz="3075">
                <a:latin typeface="Times New Roman"/>
                <a:cs typeface="Times New Roman"/>
              </a:rPr>
              <a:t>1 </a:t>
            </a:r>
            <a:r>
              <a:rPr dirty="0" sz="3200">
                <a:latin typeface="Times New Roman"/>
                <a:cs typeface="Times New Roman"/>
              </a:rPr>
              <a:t>: </a:t>
            </a:r>
            <a:r>
              <a:rPr dirty="0" sz="3200" spc="5" i="1">
                <a:latin typeface="Times New Roman"/>
                <a:cs typeface="Times New Roman"/>
              </a:rPr>
              <a:t>n</a:t>
            </a:r>
            <a:r>
              <a:rPr dirty="0" baseline="-17615" sz="3075" spc="7">
                <a:latin typeface="Times New Roman"/>
                <a:cs typeface="Times New Roman"/>
              </a:rPr>
              <a:t>2 </a:t>
            </a:r>
            <a:r>
              <a:rPr dirty="0" sz="3200">
                <a:latin typeface="Times New Roman"/>
                <a:cs typeface="Times New Roman"/>
              </a:rPr>
              <a:t>:</a:t>
            </a:r>
            <a:r>
              <a:rPr dirty="0" sz="3200" spc="240">
                <a:latin typeface="Times New Roman"/>
                <a:cs typeface="Times New Roman"/>
              </a:rPr>
              <a:t> </a:t>
            </a:r>
            <a:r>
              <a:rPr dirty="0" sz="3200" spc="5" i="1">
                <a:latin typeface="Times New Roman"/>
                <a:cs typeface="Times New Roman"/>
              </a:rPr>
              <a:t>n</a:t>
            </a:r>
            <a:r>
              <a:rPr dirty="0" baseline="-17615" sz="3075" spc="7">
                <a:latin typeface="Times New Roman"/>
                <a:cs typeface="Times New Roman"/>
              </a:rPr>
              <a:t>3</a:t>
            </a:r>
            <a:endParaRPr baseline="-17615" sz="3075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73732" y="1539227"/>
            <a:ext cx="839469" cy="2448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39700" marR="284480" indent="-52069">
              <a:lnSpc>
                <a:spcPct val="113300"/>
              </a:lnSpc>
              <a:spcBef>
                <a:spcPts val="95"/>
              </a:spcBef>
            </a:pPr>
            <a:r>
              <a:rPr dirty="0" sz="3200" b="1">
                <a:latin typeface="华文楷体"/>
                <a:cs typeface="华文楷体"/>
              </a:rPr>
              <a:t>有 </a:t>
            </a:r>
            <a:r>
              <a:rPr dirty="0" sz="3200" b="1">
                <a:latin typeface="华文楷体"/>
                <a:cs typeface="华文楷体"/>
              </a:rPr>
              <a:t>即</a:t>
            </a:r>
            <a:endParaRPr sz="3200">
              <a:latin typeface="华文楷体"/>
              <a:cs typeface="华文楷体"/>
            </a:endParaRPr>
          </a:p>
          <a:p>
            <a:pPr marL="56515">
              <a:lnSpc>
                <a:spcPct val="100000"/>
              </a:lnSpc>
              <a:spcBef>
                <a:spcPts val="1010"/>
              </a:spcBef>
            </a:pPr>
            <a:r>
              <a:rPr dirty="0" sz="3200" b="1">
                <a:latin typeface="华文楷体"/>
                <a:cs typeface="华文楷体"/>
              </a:rPr>
              <a:t>又</a:t>
            </a:r>
            <a:endParaRPr sz="32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1685"/>
              </a:spcBef>
            </a:pPr>
            <a:r>
              <a:rPr dirty="0" sz="3200" b="1">
                <a:latin typeface="华文楷体"/>
                <a:cs typeface="华文楷体"/>
              </a:rPr>
              <a:t>所以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571443" y="3814927"/>
            <a:ext cx="396875" cy="0"/>
          </a:xfrm>
          <a:custGeom>
            <a:avLst/>
            <a:gdLst/>
            <a:ahLst/>
            <a:cxnLst/>
            <a:rect l="l" t="t" r="r" b="b"/>
            <a:pathLst>
              <a:path w="396875" h="0">
                <a:moveTo>
                  <a:pt x="0" y="0"/>
                </a:moveTo>
                <a:lnTo>
                  <a:pt x="396735" y="0"/>
                </a:lnTo>
              </a:path>
            </a:pathLst>
          </a:custGeom>
          <a:ln w="200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779850" y="3518509"/>
            <a:ext cx="142875" cy="3067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850" spc="-5">
                <a:latin typeface="Times New Roman"/>
                <a:cs typeface="Times New Roman"/>
              </a:rPr>
              <a:t>2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91129" y="3775493"/>
            <a:ext cx="142875" cy="3067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850" spc="-5">
                <a:latin typeface="Times New Roman"/>
                <a:cs typeface="Times New Roman"/>
              </a:rPr>
              <a:t>2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584130" y="3243046"/>
            <a:ext cx="227965" cy="5111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3150" spc="15" i="1">
                <a:latin typeface="Times New Roman"/>
                <a:cs typeface="Times New Roman"/>
              </a:rPr>
              <a:t>n</a:t>
            </a:r>
            <a:endParaRPr sz="31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767406" y="3500030"/>
            <a:ext cx="746760" cy="5111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505459" algn="l"/>
              </a:tabLst>
            </a:pPr>
            <a:r>
              <a:rPr dirty="0" sz="3150" spc="25" i="1">
                <a:latin typeface="Times New Roman"/>
                <a:cs typeface="Times New Roman"/>
              </a:rPr>
              <a:t>U</a:t>
            </a:r>
            <a:r>
              <a:rPr dirty="0" sz="3150" spc="25" i="1">
                <a:latin typeface="Times New Roman"/>
                <a:cs typeface="Times New Roman"/>
              </a:rPr>
              <a:t>	</a:t>
            </a:r>
            <a:r>
              <a:rPr dirty="0" sz="3150" spc="20">
                <a:latin typeface="Times New Roman"/>
                <a:cs typeface="Times New Roman"/>
              </a:rPr>
              <a:t>=</a:t>
            </a:r>
            <a:endParaRPr sz="31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605301" y="3817302"/>
            <a:ext cx="227965" cy="5111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3150" spc="15" i="1">
                <a:latin typeface="Times New Roman"/>
                <a:cs typeface="Times New Roman"/>
              </a:rPr>
              <a:t>n</a:t>
            </a:r>
            <a:endParaRPr sz="31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707253" y="3814889"/>
            <a:ext cx="381635" cy="0"/>
          </a:xfrm>
          <a:custGeom>
            <a:avLst/>
            <a:gdLst/>
            <a:ahLst/>
            <a:cxnLst/>
            <a:rect l="l" t="t" r="r" b="b"/>
            <a:pathLst>
              <a:path w="381635" h="0">
                <a:moveTo>
                  <a:pt x="0" y="0"/>
                </a:moveTo>
                <a:lnTo>
                  <a:pt x="381381" y="0"/>
                </a:lnTo>
              </a:path>
            </a:pathLst>
          </a:custGeom>
          <a:ln w="2007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4281208" y="3775493"/>
            <a:ext cx="1096645" cy="3067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65835" algn="l"/>
              </a:tabLst>
            </a:pPr>
            <a:r>
              <a:rPr dirty="0" sz="1850" spc="-5">
                <a:latin typeface="Times New Roman"/>
                <a:cs typeface="Times New Roman"/>
              </a:rPr>
              <a:t>1</a:t>
            </a:r>
            <a:r>
              <a:rPr dirty="0" sz="1850" spc="-5">
                <a:latin typeface="Times New Roman"/>
                <a:cs typeface="Times New Roman"/>
              </a:rPr>
              <a:t>	</a:t>
            </a:r>
            <a:r>
              <a:rPr dirty="0" sz="1850" spc="-5">
                <a:latin typeface="Times New Roman"/>
                <a:cs typeface="Times New Roman"/>
              </a:rPr>
              <a:t>3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402920" y="3775468"/>
            <a:ext cx="142875" cy="3067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850" spc="-5">
                <a:latin typeface="Times New Roman"/>
                <a:cs typeface="Times New Roman"/>
              </a:rPr>
              <a:t>1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775621" y="4092765"/>
            <a:ext cx="2270760" cy="3067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140585" algn="l"/>
              </a:tabLst>
            </a:pPr>
            <a:r>
              <a:rPr dirty="0" sz="1850" spc="-5">
                <a:latin typeface="Times New Roman"/>
                <a:cs typeface="Times New Roman"/>
              </a:rPr>
              <a:t>1</a:t>
            </a:r>
            <a:r>
              <a:rPr dirty="0" sz="1850" spc="-5">
                <a:latin typeface="Times New Roman"/>
                <a:cs typeface="Times New Roman"/>
              </a:rPr>
              <a:t>	</a:t>
            </a:r>
            <a:r>
              <a:rPr dirty="0" sz="1850" spc="-5">
                <a:latin typeface="Times New Roman"/>
                <a:cs typeface="Times New Roman"/>
              </a:rPr>
              <a:t>1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982783" y="3500030"/>
            <a:ext cx="2440305" cy="5111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948690" algn="l"/>
                <a:tab pos="1426210" algn="l"/>
              </a:tabLst>
            </a:pPr>
            <a:r>
              <a:rPr dirty="0" sz="3150" spc="25" i="1">
                <a:latin typeface="Times New Roman"/>
                <a:cs typeface="Times New Roman"/>
              </a:rPr>
              <a:t>U	U	</a:t>
            </a:r>
            <a:r>
              <a:rPr dirty="0" sz="3150" spc="20">
                <a:latin typeface="Times New Roman"/>
                <a:cs typeface="Times New Roman"/>
              </a:rPr>
              <a:t>= </a:t>
            </a:r>
            <a:r>
              <a:rPr dirty="0" baseline="36155" sz="4725" spc="-75" i="1">
                <a:latin typeface="Times New Roman"/>
                <a:cs typeface="Times New Roman"/>
              </a:rPr>
              <a:t>n</a:t>
            </a:r>
            <a:r>
              <a:rPr dirty="0" baseline="36036" sz="2775" spc="-75">
                <a:latin typeface="Times New Roman"/>
                <a:cs typeface="Times New Roman"/>
              </a:rPr>
              <a:t>3</a:t>
            </a:r>
            <a:r>
              <a:rPr dirty="0" baseline="36036" sz="2775" spc="22">
                <a:latin typeface="Times New Roman"/>
                <a:cs typeface="Times New Roman"/>
              </a:rPr>
              <a:t> </a:t>
            </a:r>
            <a:r>
              <a:rPr dirty="0" sz="3150" spc="25" i="1">
                <a:latin typeface="Times New Roman"/>
                <a:cs typeface="Times New Roman"/>
              </a:rPr>
              <a:t>U</a:t>
            </a:r>
            <a:endParaRPr sz="31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733643" y="3817264"/>
            <a:ext cx="227965" cy="5111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3150" spc="15" i="1">
                <a:latin typeface="Times New Roman"/>
                <a:cs typeface="Times New Roman"/>
              </a:rPr>
              <a:t>n</a:t>
            </a:r>
            <a:endParaRPr sz="31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7668768" y="1168908"/>
            <a:ext cx="2823972" cy="24140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829240" y="4813427"/>
            <a:ext cx="397510" cy="0"/>
          </a:xfrm>
          <a:custGeom>
            <a:avLst/>
            <a:gdLst/>
            <a:ahLst/>
            <a:cxnLst/>
            <a:rect l="l" t="t" r="r" b="b"/>
            <a:pathLst>
              <a:path w="397510" h="0">
                <a:moveTo>
                  <a:pt x="0" y="0"/>
                </a:moveTo>
                <a:lnTo>
                  <a:pt x="396989" y="0"/>
                </a:lnTo>
              </a:path>
            </a:pathLst>
          </a:custGeom>
          <a:ln w="2010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5309222" y="4813427"/>
            <a:ext cx="382270" cy="0"/>
          </a:xfrm>
          <a:custGeom>
            <a:avLst/>
            <a:gdLst/>
            <a:ahLst/>
            <a:cxnLst/>
            <a:rect l="l" t="t" r="r" b="b"/>
            <a:pathLst>
              <a:path w="382270" h="0">
                <a:moveTo>
                  <a:pt x="0" y="0"/>
                </a:moveTo>
                <a:lnTo>
                  <a:pt x="382155" y="0"/>
                </a:lnTo>
              </a:path>
            </a:pathLst>
          </a:custGeom>
          <a:ln w="2010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3100908" y="4774006"/>
            <a:ext cx="1869439" cy="3067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76860" algn="l"/>
                <a:tab pos="1449070" algn="l"/>
                <a:tab pos="1738630" algn="l"/>
              </a:tabLst>
            </a:pPr>
            <a:r>
              <a:rPr dirty="0" sz="1850" spc="-5">
                <a:latin typeface="Times New Roman"/>
                <a:cs typeface="Times New Roman"/>
              </a:rPr>
              <a:t>1</a:t>
            </a:r>
            <a:r>
              <a:rPr dirty="0" sz="1850" spc="-5">
                <a:latin typeface="Times New Roman"/>
                <a:cs typeface="Times New Roman"/>
              </a:rPr>
              <a:t>	</a:t>
            </a:r>
            <a:r>
              <a:rPr dirty="0" sz="1850" spc="-5">
                <a:latin typeface="Times New Roman"/>
                <a:cs typeface="Times New Roman"/>
              </a:rPr>
              <a:t>1</a:t>
            </a:r>
            <a:r>
              <a:rPr dirty="0" sz="1850" spc="-5">
                <a:latin typeface="Times New Roman"/>
                <a:cs typeface="Times New Roman"/>
              </a:rPr>
              <a:t>	</a:t>
            </a:r>
            <a:r>
              <a:rPr dirty="0" sz="1850" spc="-5">
                <a:latin typeface="Times New Roman"/>
                <a:cs typeface="Times New Roman"/>
              </a:rPr>
              <a:t>1</a:t>
            </a:r>
            <a:r>
              <a:rPr dirty="0" sz="1850" spc="-5">
                <a:latin typeface="Times New Roman"/>
                <a:cs typeface="Times New Roman"/>
              </a:rPr>
              <a:t>	</a:t>
            </a:r>
            <a:r>
              <a:rPr dirty="0" sz="1850" spc="-5">
                <a:latin typeface="Times New Roman"/>
                <a:cs typeface="Times New Roman"/>
              </a:rPr>
              <a:t>2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5996520" y="4774006"/>
            <a:ext cx="425450" cy="3067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94640" algn="l"/>
              </a:tabLst>
            </a:pPr>
            <a:r>
              <a:rPr dirty="0" sz="1850" spc="-5">
                <a:latin typeface="Times New Roman"/>
                <a:cs typeface="Times New Roman"/>
              </a:rPr>
              <a:t>1</a:t>
            </a:r>
            <a:r>
              <a:rPr dirty="0" sz="1850" spc="-5">
                <a:latin typeface="Times New Roman"/>
                <a:cs typeface="Times New Roman"/>
              </a:rPr>
              <a:t>	</a:t>
            </a:r>
            <a:r>
              <a:rPr dirty="0" sz="1850" spc="-5">
                <a:latin typeface="Times New Roman"/>
                <a:cs typeface="Times New Roman"/>
              </a:rPr>
              <a:t>3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033558" y="5091264"/>
            <a:ext cx="142875" cy="3067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850" spc="-5">
                <a:latin typeface="Times New Roman"/>
                <a:cs typeface="Times New Roman"/>
              </a:rPr>
              <a:t>1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499811" y="5091264"/>
            <a:ext cx="142875" cy="3067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850" spc="-5">
                <a:latin typeface="Times New Roman"/>
                <a:cs typeface="Times New Roman"/>
              </a:rPr>
              <a:t>1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802369" y="4498543"/>
            <a:ext cx="3484879" cy="5111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727710" algn="l"/>
                <a:tab pos="2207895" algn="l"/>
              </a:tabLst>
            </a:pPr>
            <a:r>
              <a:rPr dirty="0" sz="3150" spc="25" i="1">
                <a:latin typeface="Times New Roman"/>
                <a:cs typeface="Times New Roman"/>
              </a:rPr>
              <a:t>U</a:t>
            </a:r>
            <a:r>
              <a:rPr dirty="0" sz="3150" spc="285" i="1">
                <a:latin typeface="Times New Roman"/>
                <a:cs typeface="Times New Roman"/>
              </a:rPr>
              <a:t> </a:t>
            </a:r>
            <a:r>
              <a:rPr dirty="0" sz="3150" spc="10" i="1">
                <a:latin typeface="Times New Roman"/>
                <a:cs typeface="Times New Roman"/>
              </a:rPr>
              <a:t>I	</a:t>
            </a:r>
            <a:r>
              <a:rPr dirty="0" sz="3150" spc="20">
                <a:latin typeface="Times New Roman"/>
                <a:cs typeface="Times New Roman"/>
              </a:rPr>
              <a:t>= </a:t>
            </a:r>
            <a:r>
              <a:rPr dirty="0" baseline="35273" sz="4725" spc="-30" i="1">
                <a:latin typeface="Times New Roman"/>
                <a:cs typeface="Times New Roman"/>
              </a:rPr>
              <a:t>n</a:t>
            </a:r>
            <a:r>
              <a:rPr dirty="0" baseline="36036" sz="2775" spc="-30">
                <a:latin typeface="Times New Roman"/>
                <a:cs typeface="Times New Roman"/>
              </a:rPr>
              <a:t>2</a:t>
            </a:r>
            <a:r>
              <a:rPr dirty="0" baseline="36036" sz="2775" spc="217">
                <a:latin typeface="Times New Roman"/>
                <a:cs typeface="Times New Roman"/>
              </a:rPr>
              <a:t> </a:t>
            </a:r>
            <a:r>
              <a:rPr dirty="0" sz="3150" spc="25" i="1">
                <a:latin typeface="Times New Roman"/>
                <a:cs typeface="Times New Roman"/>
              </a:rPr>
              <a:t>U</a:t>
            </a:r>
            <a:r>
              <a:rPr dirty="0" sz="3150" spc="290" i="1">
                <a:latin typeface="Times New Roman"/>
                <a:cs typeface="Times New Roman"/>
              </a:rPr>
              <a:t> </a:t>
            </a:r>
            <a:r>
              <a:rPr dirty="0" sz="3150" spc="10" i="1">
                <a:latin typeface="Times New Roman"/>
                <a:cs typeface="Times New Roman"/>
              </a:rPr>
              <a:t>I	</a:t>
            </a:r>
            <a:r>
              <a:rPr dirty="0" sz="3150" spc="20">
                <a:latin typeface="Times New Roman"/>
                <a:cs typeface="Times New Roman"/>
              </a:rPr>
              <a:t>+ </a:t>
            </a:r>
            <a:r>
              <a:rPr dirty="0" baseline="36155" sz="4725" spc="-75" i="1">
                <a:latin typeface="Times New Roman"/>
                <a:cs typeface="Times New Roman"/>
              </a:rPr>
              <a:t>n</a:t>
            </a:r>
            <a:r>
              <a:rPr dirty="0" baseline="36036" sz="2775" spc="-75">
                <a:latin typeface="Times New Roman"/>
                <a:cs typeface="Times New Roman"/>
              </a:rPr>
              <a:t>3 </a:t>
            </a:r>
            <a:r>
              <a:rPr dirty="0" sz="3150" spc="25" i="1">
                <a:latin typeface="Times New Roman"/>
                <a:cs typeface="Times New Roman"/>
              </a:rPr>
              <a:t>U</a:t>
            </a:r>
            <a:r>
              <a:rPr dirty="0" sz="3150" spc="280" i="1">
                <a:latin typeface="Times New Roman"/>
                <a:cs typeface="Times New Roman"/>
              </a:rPr>
              <a:t> </a:t>
            </a:r>
            <a:r>
              <a:rPr dirty="0" sz="3150" spc="10" i="1">
                <a:latin typeface="Times New Roman"/>
                <a:cs typeface="Times New Roman"/>
              </a:rPr>
              <a:t>I</a:t>
            </a:r>
            <a:endParaRPr sz="315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863124" y="4815801"/>
            <a:ext cx="1694180" cy="5111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1478280" algn="l"/>
              </a:tabLst>
            </a:pPr>
            <a:r>
              <a:rPr dirty="0" sz="3150" spc="15" i="1">
                <a:latin typeface="Times New Roman"/>
                <a:cs typeface="Times New Roman"/>
              </a:rPr>
              <a:t>n</a:t>
            </a:r>
            <a:r>
              <a:rPr dirty="0" sz="3150" spc="15" i="1">
                <a:latin typeface="Times New Roman"/>
                <a:cs typeface="Times New Roman"/>
              </a:rPr>
              <a:t>	</a:t>
            </a:r>
            <a:r>
              <a:rPr dirty="0" sz="3150" spc="15" i="1">
                <a:latin typeface="Times New Roman"/>
                <a:cs typeface="Times New Roman"/>
              </a:rPr>
              <a:t>n</a:t>
            </a:r>
            <a:endParaRPr sz="315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825292" y="5412092"/>
            <a:ext cx="2336165" cy="5111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3150" spc="-35" i="1">
                <a:latin typeface="Times New Roman"/>
                <a:cs typeface="Times New Roman"/>
              </a:rPr>
              <a:t>n</a:t>
            </a:r>
            <a:r>
              <a:rPr dirty="0" baseline="-25525" sz="2775" spc="-52">
                <a:latin typeface="Times New Roman"/>
                <a:cs typeface="Times New Roman"/>
              </a:rPr>
              <a:t>1</a:t>
            </a:r>
            <a:r>
              <a:rPr dirty="0" sz="3150" spc="-35" i="1">
                <a:latin typeface="Times New Roman"/>
                <a:cs typeface="Times New Roman"/>
              </a:rPr>
              <a:t>I</a:t>
            </a:r>
            <a:r>
              <a:rPr dirty="0" baseline="-25525" sz="2775" spc="-52">
                <a:latin typeface="Times New Roman"/>
                <a:cs typeface="Times New Roman"/>
              </a:rPr>
              <a:t>1</a:t>
            </a:r>
            <a:r>
              <a:rPr dirty="0" baseline="-25525" sz="2775" spc="-307">
                <a:latin typeface="Times New Roman"/>
                <a:cs typeface="Times New Roman"/>
              </a:rPr>
              <a:t> </a:t>
            </a:r>
            <a:r>
              <a:rPr dirty="0" sz="3150" spc="-15">
                <a:latin typeface="Times New Roman"/>
                <a:cs typeface="Times New Roman"/>
              </a:rPr>
              <a:t>=</a:t>
            </a:r>
            <a:r>
              <a:rPr dirty="0" sz="3150" spc="-15" i="1">
                <a:latin typeface="Times New Roman"/>
                <a:cs typeface="Times New Roman"/>
              </a:rPr>
              <a:t>n</a:t>
            </a:r>
            <a:r>
              <a:rPr dirty="0" baseline="-25525" sz="2775" spc="-22">
                <a:latin typeface="Times New Roman"/>
                <a:cs typeface="Times New Roman"/>
              </a:rPr>
              <a:t>2</a:t>
            </a:r>
            <a:r>
              <a:rPr dirty="0" baseline="-25525" sz="2775" spc="-345">
                <a:latin typeface="Times New Roman"/>
                <a:cs typeface="Times New Roman"/>
              </a:rPr>
              <a:t> </a:t>
            </a:r>
            <a:r>
              <a:rPr dirty="0" sz="3150" spc="95" i="1">
                <a:latin typeface="Times New Roman"/>
                <a:cs typeface="Times New Roman"/>
              </a:rPr>
              <a:t>I</a:t>
            </a:r>
            <a:r>
              <a:rPr dirty="0" baseline="-25525" sz="2775" spc="142">
                <a:latin typeface="Times New Roman"/>
                <a:cs typeface="Times New Roman"/>
              </a:rPr>
              <a:t>2</a:t>
            </a:r>
            <a:r>
              <a:rPr dirty="0" baseline="-25525" sz="2775" spc="-112">
                <a:latin typeface="Times New Roman"/>
                <a:cs typeface="Times New Roman"/>
              </a:rPr>
              <a:t> </a:t>
            </a:r>
            <a:r>
              <a:rPr dirty="0" sz="3150" spc="-35">
                <a:latin typeface="Times New Roman"/>
                <a:cs typeface="Times New Roman"/>
              </a:rPr>
              <a:t>+</a:t>
            </a:r>
            <a:r>
              <a:rPr dirty="0" sz="3150" spc="-35" i="1">
                <a:latin typeface="Times New Roman"/>
                <a:cs typeface="Times New Roman"/>
              </a:rPr>
              <a:t>n</a:t>
            </a:r>
            <a:r>
              <a:rPr dirty="0" baseline="-25525" sz="2775" spc="-52">
                <a:latin typeface="Times New Roman"/>
                <a:cs typeface="Times New Roman"/>
              </a:rPr>
              <a:t>3</a:t>
            </a:r>
            <a:r>
              <a:rPr dirty="0" baseline="-25525" sz="2775" spc="-419">
                <a:latin typeface="Times New Roman"/>
                <a:cs typeface="Times New Roman"/>
              </a:rPr>
              <a:t> </a:t>
            </a:r>
            <a:r>
              <a:rPr dirty="0" sz="3150" spc="65" i="1">
                <a:latin typeface="Times New Roman"/>
                <a:cs typeface="Times New Roman"/>
              </a:rPr>
              <a:t>I</a:t>
            </a:r>
            <a:r>
              <a:rPr dirty="0" baseline="-25525" sz="2775" spc="97">
                <a:latin typeface="Times New Roman"/>
                <a:cs typeface="Times New Roman"/>
              </a:rPr>
              <a:t>3</a:t>
            </a:r>
            <a:endParaRPr baseline="-25525" sz="2775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383535" y="1367027"/>
            <a:ext cx="3246119" cy="22722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4773167" y="3069335"/>
            <a:ext cx="4325112" cy="244297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9900" y="1046988"/>
            <a:ext cx="6963156" cy="34472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546703" y="4477055"/>
            <a:ext cx="531685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latin typeface="华文楷体"/>
                <a:cs typeface="华文楷体"/>
              </a:rPr>
              <a:t>街头变压器给用户供电示意图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163553" y="885393"/>
            <a:ext cx="139700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latin typeface="黑体"/>
                <a:cs typeface="黑体"/>
              </a:rPr>
              <a:t>想一想</a:t>
            </a:r>
            <a:endParaRPr sz="3600">
              <a:latin typeface="黑体"/>
              <a:cs typeface="黑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317608" y="1536471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83" y="0"/>
                </a:lnTo>
              </a:path>
            </a:pathLst>
          </a:custGeom>
          <a:ln w="36144">
            <a:solidFill>
              <a:srgbClr val="014E6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755392" y="1266444"/>
            <a:ext cx="363220" cy="363220"/>
          </a:xfrm>
          <a:custGeom>
            <a:avLst/>
            <a:gdLst/>
            <a:ahLst/>
            <a:cxnLst/>
            <a:rect l="l" t="t" r="r" b="b"/>
            <a:pathLst>
              <a:path w="363219" h="363219">
                <a:moveTo>
                  <a:pt x="0" y="0"/>
                </a:moveTo>
                <a:lnTo>
                  <a:pt x="362712" y="0"/>
                </a:lnTo>
                <a:lnTo>
                  <a:pt x="362712" y="362711"/>
                </a:lnTo>
                <a:lnTo>
                  <a:pt x="0" y="362711"/>
                </a:lnTo>
                <a:lnTo>
                  <a:pt x="0" y="0"/>
                </a:lnTo>
                <a:close/>
              </a:path>
            </a:pathLst>
          </a:custGeom>
          <a:solidFill>
            <a:srgbClr val="014E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953511" y="1488947"/>
            <a:ext cx="247015" cy="247015"/>
          </a:xfrm>
          <a:custGeom>
            <a:avLst/>
            <a:gdLst/>
            <a:ahLst/>
            <a:cxnLst/>
            <a:rect l="l" t="t" r="r" b="b"/>
            <a:pathLst>
              <a:path w="247014" h="247014">
                <a:moveTo>
                  <a:pt x="0" y="0"/>
                </a:moveTo>
                <a:lnTo>
                  <a:pt x="246887" y="0"/>
                </a:lnTo>
                <a:lnTo>
                  <a:pt x="246887" y="246887"/>
                </a:lnTo>
                <a:lnTo>
                  <a:pt x="0" y="246887"/>
                </a:lnTo>
                <a:lnTo>
                  <a:pt x="0" y="0"/>
                </a:lnTo>
                <a:close/>
              </a:path>
            </a:pathLst>
          </a:custGeom>
          <a:solidFill>
            <a:srgbClr val="1684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922264" y="3017520"/>
            <a:ext cx="4771644" cy="24780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4290" rIns="0" bIns="0" rtlCol="0" vert="horz">
            <a:spAutoFit/>
          </a:bodyPr>
          <a:lstStyle/>
          <a:p>
            <a:pPr marL="12700" marR="5080">
              <a:lnSpc>
                <a:spcPts val="3790"/>
              </a:lnSpc>
              <a:spcBef>
                <a:spcPts val="270"/>
              </a:spcBef>
            </a:pPr>
            <a:r>
              <a:rPr dirty="0" spc="-5"/>
              <a:t>1</a:t>
            </a:r>
            <a:r>
              <a:rPr dirty="0"/>
              <a:t>、为何题中说“当用电器增加时，相当于</a:t>
            </a:r>
            <a:r>
              <a:rPr dirty="0" spc="-5" b="0" i="1">
                <a:latin typeface="Times New Roman"/>
                <a:cs typeface="Times New Roman"/>
              </a:rPr>
              <a:t>R</a:t>
            </a:r>
            <a:r>
              <a:rPr dirty="0"/>
              <a:t>的值 </a:t>
            </a:r>
            <a:r>
              <a:rPr dirty="0"/>
              <a:t>减小”？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pc="-5"/>
              <a:t>2</a:t>
            </a:r>
            <a:r>
              <a:rPr dirty="0"/>
              <a:t>、滑动变阻器向下移动时，哪些表的读数不发 </a:t>
            </a:r>
            <a:r>
              <a:rPr dirty="0"/>
              <a:t>生变化？依据是什么？</a:t>
            </a:r>
          </a:p>
          <a:p>
            <a:pPr marL="85725">
              <a:lnSpc>
                <a:spcPts val="3625"/>
              </a:lnSpc>
            </a:pPr>
            <a:r>
              <a:rPr dirty="0" spc="-5"/>
              <a:t>3</a:t>
            </a:r>
            <a:r>
              <a:rPr dirty="0"/>
              <a:t>、某同学认为滑动变</a:t>
            </a:r>
          </a:p>
          <a:p>
            <a:pPr algn="just" marL="85725" marR="4192904">
              <a:lnSpc>
                <a:spcPct val="100000"/>
              </a:lnSpc>
            </a:pPr>
            <a:r>
              <a:rPr dirty="0"/>
              <a:t>阻器阻值减小时，电流 表</a:t>
            </a:r>
            <a:r>
              <a:rPr dirty="0"/>
              <a:t>A</a:t>
            </a:r>
            <a:r>
              <a:rPr dirty="0" baseline="-17615" sz="3075" spc="15"/>
              <a:t>1</a:t>
            </a:r>
            <a:r>
              <a:rPr dirty="0" sz="3200"/>
              <a:t>示数也不变。你认 </a:t>
            </a:r>
            <a:r>
              <a:rPr dirty="0" sz="3200"/>
              <a:t>为他的说法正确吗？</a:t>
            </a:r>
            <a:endParaRPr sz="32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163553" y="885393"/>
            <a:ext cx="139700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latin typeface="黑体"/>
                <a:cs typeface="黑体"/>
              </a:rPr>
              <a:t>想一想</a:t>
            </a:r>
            <a:endParaRPr sz="3600">
              <a:latin typeface="黑体"/>
              <a:cs typeface="黑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317608" y="1536471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83" y="0"/>
                </a:lnTo>
              </a:path>
            </a:pathLst>
          </a:custGeom>
          <a:ln w="36144">
            <a:solidFill>
              <a:srgbClr val="014E6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755392" y="1266444"/>
            <a:ext cx="363220" cy="363220"/>
          </a:xfrm>
          <a:custGeom>
            <a:avLst/>
            <a:gdLst/>
            <a:ahLst/>
            <a:cxnLst/>
            <a:rect l="l" t="t" r="r" b="b"/>
            <a:pathLst>
              <a:path w="363219" h="363219">
                <a:moveTo>
                  <a:pt x="0" y="0"/>
                </a:moveTo>
                <a:lnTo>
                  <a:pt x="362712" y="0"/>
                </a:lnTo>
                <a:lnTo>
                  <a:pt x="362712" y="362711"/>
                </a:lnTo>
                <a:lnTo>
                  <a:pt x="0" y="362711"/>
                </a:lnTo>
                <a:lnTo>
                  <a:pt x="0" y="0"/>
                </a:lnTo>
                <a:close/>
              </a:path>
            </a:pathLst>
          </a:custGeom>
          <a:solidFill>
            <a:srgbClr val="014E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953511" y="1488947"/>
            <a:ext cx="247015" cy="247015"/>
          </a:xfrm>
          <a:custGeom>
            <a:avLst/>
            <a:gdLst/>
            <a:ahLst/>
            <a:cxnLst/>
            <a:rect l="l" t="t" r="r" b="b"/>
            <a:pathLst>
              <a:path w="247014" h="247014">
                <a:moveTo>
                  <a:pt x="0" y="0"/>
                </a:moveTo>
                <a:lnTo>
                  <a:pt x="246887" y="0"/>
                </a:lnTo>
                <a:lnTo>
                  <a:pt x="246887" y="246887"/>
                </a:lnTo>
                <a:lnTo>
                  <a:pt x="0" y="246887"/>
                </a:lnTo>
                <a:lnTo>
                  <a:pt x="0" y="0"/>
                </a:lnTo>
                <a:close/>
              </a:path>
            </a:pathLst>
          </a:custGeom>
          <a:solidFill>
            <a:srgbClr val="1684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946135" y="1883664"/>
            <a:ext cx="2089403" cy="20970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235098" y="1767103"/>
            <a:ext cx="4909820" cy="10020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pc="-5"/>
              <a:t>1</a:t>
            </a:r>
            <a:r>
              <a:rPr dirty="0"/>
              <a:t>、这个装置能测量导线</a:t>
            </a:r>
            <a:r>
              <a:rPr dirty="0" spc="-5"/>
              <a:t>1</a:t>
            </a:r>
            <a:r>
              <a:rPr dirty="0"/>
              <a:t>中 </a:t>
            </a:r>
            <a:r>
              <a:rPr dirty="0"/>
              <a:t>的电流？你能说说原理吗？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669695" y="2108352"/>
            <a:ext cx="19240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 b="1">
                <a:latin typeface="华文楷体"/>
                <a:cs typeface="华文楷体"/>
              </a:rPr>
              <a:t>1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47798" y="3239554"/>
            <a:ext cx="4719320" cy="204088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30480">
              <a:lnSpc>
                <a:spcPct val="100000"/>
              </a:lnSpc>
              <a:spcBef>
                <a:spcPts val="105"/>
              </a:spcBef>
            </a:pPr>
            <a:r>
              <a:rPr dirty="0" sz="3200" spc="-5" b="1">
                <a:latin typeface="华文楷体"/>
                <a:cs typeface="华文楷体"/>
              </a:rPr>
              <a:t>2</a:t>
            </a:r>
            <a:r>
              <a:rPr dirty="0" sz="3200" b="1">
                <a:latin typeface="华文楷体"/>
                <a:cs typeface="华文楷体"/>
              </a:rPr>
              <a:t>、这个装置能测大电流还 </a:t>
            </a:r>
            <a:r>
              <a:rPr dirty="0" sz="3200" b="1">
                <a:latin typeface="华文楷体"/>
                <a:cs typeface="华文楷体"/>
              </a:rPr>
              <a:t>是小电流？</a:t>
            </a:r>
            <a:endParaRPr sz="3200">
              <a:latin typeface="华文楷体"/>
              <a:cs typeface="华文楷体"/>
            </a:endParaRPr>
          </a:p>
          <a:p>
            <a:pPr marL="38100" marR="5080">
              <a:lnSpc>
                <a:spcPct val="100000"/>
              </a:lnSpc>
              <a:spcBef>
                <a:spcPts val="500"/>
              </a:spcBef>
            </a:pPr>
            <a:r>
              <a:rPr dirty="0" sz="3200" spc="-5" b="1">
                <a:latin typeface="华文楷体"/>
                <a:cs typeface="华文楷体"/>
              </a:rPr>
              <a:t>3</a:t>
            </a:r>
            <a:r>
              <a:rPr dirty="0" sz="3200" b="1">
                <a:latin typeface="华文楷体"/>
                <a:cs typeface="华文楷体"/>
              </a:rPr>
              <a:t>、这个装置怎么改造就可 </a:t>
            </a:r>
            <a:r>
              <a:rPr dirty="0" sz="3200" b="1">
                <a:latin typeface="华文楷体"/>
                <a:cs typeface="华文楷体"/>
              </a:rPr>
              <a:t>以测大电流？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153704" y="4334103"/>
            <a:ext cx="206057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0000"/>
                </a:solidFill>
                <a:latin typeface="华文楷体"/>
                <a:cs typeface="华文楷体"/>
              </a:rPr>
              <a:t>电流互感器</a:t>
            </a:r>
            <a:endParaRPr sz="32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18244" y="1776983"/>
            <a:ext cx="2933699" cy="36667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453568" y="1738883"/>
            <a:ext cx="2933700" cy="366674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169992" y="1143533"/>
            <a:ext cx="1805305" cy="451484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solidFill>
                  <a:srgbClr val="FF0000"/>
                </a:solidFill>
              </a:rPr>
              <a:t>钳式电流</a:t>
            </a:r>
            <a:r>
              <a:rPr dirty="0" sz="2800" spc="-10">
                <a:solidFill>
                  <a:srgbClr val="FF0000"/>
                </a:solidFill>
              </a:rPr>
              <a:t>表</a:t>
            </a:r>
            <a:endParaRPr sz="2800"/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35371" y="1057516"/>
            <a:ext cx="139700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latin typeface="黑体"/>
                <a:cs typeface="黑体"/>
              </a:rPr>
              <a:t>想一想</a:t>
            </a:r>
            <a:endParaRPr sz="3600">
              <a:latin typeface="黑体"/>
              <a:cs typeface="黑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396030" y="1794116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96" y="0"/>
                </a:lnTo>
              </a:path>
            </a:pathLst>
          </a:custGeom>
          <a:ln w="36144">
            <a:solidFill>
              <a:srgbClr val="014E6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833116" y="1524000"/>
            <a:ext cx="364490" cy="363220"/>
          </a:xfrm>
          <a:custGeom>
            <a:avLst/>
            <a:gdLst/>
            <a:ahLst/>
            <a:cxnLst/>
            <a:rect l="l" t="t" r="r" b="b"/>
            <a:pathLst>
              <a:path w="364489" h="363219">
                <a:moveTo>
                  <a:pt x="0" y="0"/>
                </a:moveTo>
                <a:lnTo>
                  <a:pt x="364236" y="0"/>
                </a:lnTo>
                <a:lnTo>
                  <a:pt x="364236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014E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032760" y="1746504"/>
            <a:ext cx="245745" cy="247015"/>
          </a:xfrm>
          <a:custGeom>
            <a:avLst/>
            <a:gdLst/>
            <a:ahLst/>
            <a:cxnLst/>
            <a:rect l="l" t="t" r="r" b="b"/>
            <a:pathLst>
              <a:path w="245745" h="247014">
                <a:moveTo>
                  <a:pt x="0" y="0"/>
                </a:moveTo>
                <a:lnTo>
                  <a:pt x="245363" y="0"/>
                </a:lnTo>
                <a:lnTo>
                  <a:pt x="245363" y="246888"/>
                </a:lnTo>
                <a:lnTo>
                  <a:pt x="0" y="246888"/>
                </a:lnTo>
                <a:lnTo>
                  <a:pt x="0" y="0"/>
                </a:lnTo>
                <a:close/>
              </a:path>
            </a:pathLst>
          </a:custGeom>
          <a:solidFill>
            <a:srgbClr val="1684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048141" y="1989023"/>
            <a:ext cx="8166100" cy="29514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50000"/>
              </a:lnSpc>
              <a:spcBef>
                <a:spcPts val="100"/>
              </a:spcBef>
            </a:pPr>
            <a:r>
              <a:rPr dirty="0"/>
              <a:t>如果现在有一个较大的待测电压，比如高压输 电线上的电压达到上万伏，已经超出了电压表 的量程，你能否设计一个装置使得这个电压能 </a:t>
            </a:r>
            <a:r>
              <a:rPr dirty="0"/>
              <a:t>够被测量？请画出装置的示意图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669535" y="1333500"/>
            <a:ext cx="3236975" cy="30739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394204" y="3087623"/>
            <a:ext cx="1478280" cy="176174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199900" y="4491520"/>
            <a:ext cx="2060575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FF0000"/>
                </a:solidFill>
              </a:rPr>
              <a:t>电压互感器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46427" y="1047343"/>
            <a:ext cx="231394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solidFill>
                  <a:srgbClr val="FF0000"/>
                </a:solidFill>
              </a:rPr>
              <a:t>自耦变压</a:t>
            </a:r>
            <a:r>
              <a:rPr dirty="0" sz="3600" spc="-5">
                <a:solidFill>
                  <a:srgbClr val="FF0000"/>
                </a:solidFill>
              </a:rPr>
              <a:t>器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3150107" y="1716023"/>
            <a:ext cx="5891784" cy="38694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46427" y="1047343"/>
            <a:ext cx="231394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solidFill>
                  <a:srgbClr val="FF0000"/>
                </a:solidFill>
              </a:rPr>
              <a:t>自耦变压</a:t>
            </a:r>
            <a:r>
              <a:rPr dirty="0" sz="3600" spc="-5">
                <a:solidFill>
                  <a:srgbClr val="FF0000"/>
                </a:solidFill>
              </a:rPr>
              <a:t>器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3909059" y="1828800"/>
            <a:ext cx="3634740" cy="31988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35371" y="953820"/>
            <a:ext cx="139700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latin typeface="黑体"/>
                <a:cs typeface="黑体"/>
              </a:rPr>
              <a:t>想一想</a:t>
            </a:r>
            <a:endParaRPr sz="3600">
              <a:latin typeface="黑体"/>
              <a:cs typeface="黑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396030" y="1690420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96" y="0"/>
                </a:lnTo>
              </a:path>
            </a:pathLst>
          </a:custGeom>
          <a:ln w="36144">
            <a:solidFill>
              <a:srgbClr val="014E6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833116" y="1420367"/>
            <a:ext cx="364490" cy="363220"/>
          </a:xfrm>
          <a:custGeom>
            <a:avLst/>
            <a:gdLst/>
            <a:ahLst/>
            <a:cxnLst/>
            <a:rect l="l" t="t" r="r" b="b"/>
            <a:pathLst>
              <a:path w="364489" h="363219">
                <a:moveTo>
                  <a:pt x="0" y="0"/>
                </a:moveTo>
                <a:lnTo>
                  <a:pt x="364236" y="0"/>
                </a:lnTo>
                <a:lnTo>
                  <a:pt x="364236" y="362711"/>
                </a:lnTo>
                <a:lnTo>
                  <a:pt x="0" y="362711"/>
                </a:lnTo>
                <a:lnTo>
                  <a:pt x="0" y="0"/>
                </a:lnTo>
                <a:close/>
              </a:path>
            </a:pathLst>
          </a:custGeom>
          <a:solidFill>
            <a:srgbClr val="014E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032760" y="1642872"/>
            <a:ext cx="245745" cy="247015"/>
          </a:xfrm>
          <a:custGeom>
            <a:avLst/>
            <a:gdLst/>
            <a:ahLst/>
            <a:cxnLst/>
            <a:rect l="l" t="t" r="r" b="b"/>
            <a:pathLst>
              <a:path w="245745" h="247014">
                <a:moveTo>
                  <a:pt x="0" y="0"/>
                </a:moveTo>
                <a:lnTo>
                  <a:pt x="245363" y="0"/>
                </a:lnTo>
                <a:lnTo>
                  <a:pt x="245363" y="246887"/>
                </a:lnTo>
                <a:lnTo>
                  <a:pt x="0" y="246887"/>
                </a:lnTo>
                <a:lnTo>
                  <a:pt x="0" y="0"/>
                </a:lnTo>
                <a:close/>
              </a:path>
            </a:pathLst>
          </a:custGeom>
          <a:solidFill>
            <a:srgbClr val="1684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270247" y="3128772"/>
            <a:ext cx="4442459" cy="24246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262784" y="1915871"/>
            <a:ext cx="7441565" cy="1553210"/>
          </a:xfrm>
          <a:prstGeom prst="rect"/>
        </p:spPr>
        <p:txBody>
          <a:bodyPr wrap="square" lIns="0" tIns="444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dirty="0">
                <a:solidFill>
                  <a:srgbClr val="FF0000"/>
                </a:solidFill>
              </a:rPr>
              <a:t>调压变压器</a:t>
            </a:r>
          </a:p>
          <a:p>
            <a:pPr marL="101600" marR="5080">
              <a:lnSpc>
                <a:spcPct val="100000"/>
              </a:lnSpc>
              <a:spcBef>
                <a:spcPts val="254"/>
              </a:spcBef>
            </a:pPr>
            <a:r>
              <a:rPr dirty="0"/>
              <a:t>哪一部分相当于原线圈？哪一部分相当于 </a:t>
            </a:r>
            <a:r>
              <a:rPr dirty="0"/>
              <a:t>副线圈？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6771" y="953820"/>
            <a:ext cx="185420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b="0">
                <a:latin typeface="黑体"/>
                <a:cs typeface="黑体"/>
              </a:rPr>
              <a:t>课堂小结</a:t>
            </a:r>
            <a:endParaRPr sz="3600">
              <a:latin typeface="黑体"/>
              <a:cs typeface="黑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396030" y="1690420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96" y="0"/>
                </a:lnTo>
              </a:path>
            </a:pathLst>
          </a:custGeom>
          <a:ln w="36144">
            <a:solidFill>
              <a:srgbClr val="014E6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833116" y="1420367"/>
            <a:ext cx="364490" cy="363220"/>
          </a:xfrm>
          <a:custGeom>
            <a:avLst/>
            <a:gdLst/>
            <a:ahLst/>
            <a:cxnLst/>
            <a:rect l="l" t="t" r="r" b="b"/>
            <a:pathLst>
              <a:path w="364489" h="363219">
                <a:moveTo>
                  <a:pt x="0" y="0"/>
                </a:moveTo>
                <a:lnTo>
                  <a:pt x="364236" y="0"/>
                </a:lnTo>
                <a:lnTo>
                  <a:pt x="364236" y="362711"/>
                </a:lnTo>
                <a:lnTo>
                  <a:pt x="0" y="362711"/>
                </a:lnTo>
                <a:lnTo>
                  <a:pt x="0" y="0"/>
                </a:lnTo>
                <a:close/>
              </a:path>
            </a:pathLst>
          </a:custGeom>
          <a:solidFill>
            <a:srgbClr val="014E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032760" y="1642872"/>
            <a:ext cx="245745" cy="247015"/>
          </a:xfrm>
          <a:custGeom>
            <a:avLst/>
            <a:gdLst/>
            <a:ahLst/>
            <a:cxnLst/>
            <a:rect l="l" t="t" r="r" b="b"/>
            <a:pathLst>
              <a:path w="245745" h="247014">
                <a:moveTo>
                  <a:pt x="0" y="0"/>
                </a:moveTo>
                <a:lnTo>
                  <a:pt x="245363" y="0"/>
                </a:lnTo>
                <a:lnTo>
                  <a:pt x="245363" y="246887"/>
                </a:lnTo>
                <a:lnTo>
                  <a:pt x="0" y="246887"/>
                </a:lnTo>
                <a:lnTo>
                  <a:pt x="0" y="0"/>
                </a:lnTo>
                <a:close/>
              </a:path>
            </a:pathLst>
          </a:custGeom>
          <a:solidFill>
            <a:srgbClr val="1684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237232" y="2075688"/>
            <a:ext cx="5556504" cy="5852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315692" y="2060397"/>
            <a:ext cx="531685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latin typeface="华文楷体"/>
                <a:cs typeface="华文楷体"/>
              </a:rPr>
              <a:t>科学思维——建构理想化模型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273807" y="2560320"/>
            <a:ext cx="3701796" cy="231647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792907" y="4869294"/>
            <a:ext cx="287464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latin typeface="华文楷体"/>
                <a:cs typeface="华文楷体"/>
              </a:rPr>
              <a:t>理想变压器模型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468179" y="4220946"/>
            <a:ext cx="128905" cy="2724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600" spc="10">
                <a:latin typeface="Times New Roman"/>
                <a:cs typeface="Times New Roman"/>
              </a:rPr>
              <a:t>1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328784" y="3978528"/>
            <a:ext cx="243204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i="1">
                <a:latin typeface="Times New Roman"/>
                <a:cs typeface="Times New Roman"/>
              </a:rPr>
              <a:t>P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701222" y="4220946"/>
            <a:ext cx="128905" cy="2724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600" spc="10">
                <a:latin typeface="Times New Roman"/>
                <a:cs typeface="Times New Roman"/>
              </a:rPr>
              <a:t>2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539195" y="3978528"/>
            <a:ext cx="243204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i="1">
                <a:latin typeface="Times New Roman"/>
                <a:cs typeface="Times New Roman"/>
              </a:rPr>
              <a:t>P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465963" y="2994736"/>
            <a:ext cx="113919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i="1">
                <a:latin typeface="Times New Roman"/>
                <a:cs typeface="Times New Roman"/>
              </a:rPr>
              <a:t>P</a:t>
            </a:r>
            <a:r>
              <a:rPr dirty="0" baseline="-16548" sz="3525" spc="-7">
                <a:latin typeface="Times New Roman"/>
                <a:cs typeface="Times New Roman"/>
              </a:rPr>
              <a:t>1</a:t>
            </a:r>
            <a:r>
              <a:rPr dirty="0" sz="3600" spc="-5">
                <a:latin typeface="Times New Roman"/>
                <a:cs typeface="Times New Roman"/>
              </a:rPr>
              <a:t>=</a:t>
            </a:r>
            <a:r>
              <a:rPr dirty="0" sz="3600" i="1">
                <a:latin typeface="Times New Roman"/>
                <a:cs typeface="Times New Roman"/>
              </a:rPr>
              <a:t>P</a:t>
            </a:r>
            <a:r>
              <a:rPr dirty="0" baseline="-16548" sz="3525" spc="-7">
                <a:latin typeface="Times New Roman"/>
                <a:cs typeface="Times New Roman"/>
              </a:rPr>
              <a:t>2</a:t>
            </a:r>
            <a:endParaRPr baseline="-16548" sz="3525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333426" y="4332808"/>
            <a:ext cx="514350" cy="0"/>
          </a:xfrm>
          <a:custGeom>
            <a:avLst/>
            <a:gdLst/>
            <a:ahLst/>
            <a:cxnLst/>
            <a:rect l="l" t="t" r="r" b="b"/>
            <a:pathLst>
              <a:path w="514350" h="0">
                <a:moveTo>
                  <a:pt x="0" y="0"/>
                </a:moveTo>
                <a:lnTo>
                  <a:pt x="514146" y="0"/>
                </a:lnTo>
              </a:path>
            </a:pathLst>
          </a:custGeom>
          <a:ln w="212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7303604" y="4332808"/>
            <a:ext cx="419734" cy="0"/>
          </a:xfrm>
          <a:custGeom>
            <a:avLst/>
            <a:gdLst/>
            <a:ahLst/>
            <a:cxnLst/>
            <a:rect l="l" t="t" r="r" b="b"/>
            <a:pathLst>
              <a:path w="419734" h="0">
                <a:moveTo>
                  <a:pt x="0" y="0"/>
                </a:moveTo>
                <a:lnTo>
                  <a:pt x="419138" y="0"/>
                </a:lnTo>
              </a:path>
            </a:pathLst>
          </a:custGeom>
          <a:ln w="212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6330784" y="3727945"/>
            <a:ext cx="1339215" cy="54038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1021715" algn="l"/>
              </a:tabLst>
            </a:pPr>
            <a:r>
              <a:rPr dirty="0" sz="3350" spc="60" i="1">
                <a:latin typeface="Times New Roman"/>
                <a:cs typeface="Times New Roman"/>
              </a:rPr>
              <a:t>U</a:t>
            </a:r>
            <a:r>
              <a:rPr dirty="0" baseline="-24216" sz="2925">
                <a:latin typeface="Times New Roman"/>
                <a:cs typeface="Times New Roman"/>
              </a:rPr>
              <a:t>1</a:t>
            </a:r>
            <a:r>
              <a:rPr dirty="0" baseline="-24216" sz="2925">
                <a:latin typeface="Times New Roman"/>
                <a:cs typeface="Times New Roman"/>
              </a:rPr>
              <a:t>	</a:t>
            </a:r>
            <a:r>
              <a:rPr dirty="0" sz="3350" spc="-265" i="1">
                <a:latin typeface="Times New Roman"/>
                <a:cs typeface="Times New Roman"/>
              </a:rPr>
              <a:t>n</a:t>
            </a:r>
            <a:r>
              <a:rPr dirty="0" baseline="-24216" sz="2925">
                <a:latin typeface="Times New Roman"/>
                <a:cs typeface="Times New Roman"/>
              </a:rPr>
              <a:t>1</a:t>
            </a:r>
            <a:endParaRPr baseline="-24216" sz="2925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307315" y="4334205"/>
            <a:ext cx="1367155" cy="54038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1022350" algn="l"/>
              </a:tabLst>
            </a:pPr>
            <a:r>
              <a:rPr dirty="0" sz="3350" spc="270" i="1">
                <a:latin typeface="Times New Roman"/>
                <a:cs typeface="Times New Roman"/>
              </a:rPr>
              <a:t>U</a:t>
            </a:r>
            <a:r>
              <a:rPr dirty="0" baseline="-24216" sz="2925">
                <a:latin typeface="Times New Roman"/>
                <a:cs typeface="Times New Roman"/>
              </a:rPr>
              <a:t>2</a:t>
            </a:r>
            <a:r>
              <a:rPr dirty="0" baseline="-24216" sz="2925">
                <a:latin typeface="Times New Roman"/>
                <a:cs typeface="Times New Roman"/>
              </a:rPr>
              <a:t>	</a:t>
            </a:r>
            <a:r>
              <a:rPr dirty="0" sz="3350" spc="-55" i="1">
                <a:latin typeface="Times New Roman"/>
                <a:cs typeface="Times New Roman"/>
              </a:rPr>
              <a:t>n</a:t>
            </a:r>
            <a:r>
              <a:rPr dirty="0" baseline="-24216" sz="2925">
                <a:latin typeface="Times New Roman"/>
                <a:cs typeface="Times New Roman"/>
              </a:rPr>
              <a:t>2</a:t>
            </a:r>
            <a:endParaRPr baseline="-24216" sz="2925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948881" y="3999255"/>
            <a:ext cx="260985" cy="54038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350" spc="15">
                <a:latin typeface="Symbol"/>
                <a:cs typeface="Symbol"/>
              </a:rPr>
              <a:t></a:t>
            </a:r>
            <a:endParaRPr sz="3350">
              <a:latin typeface="Symbol"/>
              <a:cs typeface="Symbo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259229" y="4317415"/>
            <a:ext cx="398145" cy="0"/>
          </a:xfrm>
          <a:custGeom>
            <a:avLst/>
            <a:gdLst/>
            <a:ahLst/>
            <a:cxnLst/>
            <a:rect l="l" t="t" r="r" b="b"/>
            <a:pathLst>
              <a:path w="398145" h="0">
                <a:moveTo>
                  <a:pt x="0" y="0"/>
                </a:moveTo>
                <a:lnTo>
                  <a:pt x="398145" y="0"/>
                </a:lnTo>
              </a:path>
            </a:pathLst>
          </a:custGeom>
          <a:ln w="2148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9118854" y="4317415"/>
            <a:ext cx="424180" cy="0"/>
          </a:xfrm>
          <a:custGeom>
            <a:avLst/>
            <a:gdLst/>
            <a:ahLst/>
            <a:cxnLst/>
            <a:rect l="l" t="t" r="r" b="b"/>
            <a:pathLst>
              <a:path w="424179" h="0">
                <a:moveTo>
                  <a:pt x="0" y="0"/>
                </a:moveTo>
                <a:lnTo>
                  <a:pt x="424167" y="0"/>
                </a:lnTo>
              </a:path>
            </a:pathLst>
          </a:custGeom>
          <a:ln w="2148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8287245" y="2850173"/>
            <a:ext cx="1205865" cy="2016125"/>
          </a:xfrm>
          <a:prstGeom prst="rect">
            <a:avLst/>
          </a:prstGeom>
        </p:spPr>
        <p:txBody>
          <a:bodyPr wrap="square" lIns="0" tIns="43180" rIns="0" bIns="0" rtlCol="0" vert="horz">
            <a:spAutoFit/>
          </a:bodyPr>
          <a:lstStyle/>
          <a:p>
            <a:pPr marL="12700" marR="5080" indent="123825">
              <a:lnSpc>
                <a:spcPct val="123100"/>
              </a:lnSpc>
              <a:spcBef>
                <a:spcPts val="340"/>
              </a:spcBef>
              <a:tabLst>
                <a:tab pos="461645" algn="l"/>
                <a:tab pos="880110" algn="l"/>
              </a:tabLst>
            </a:pPr>
            <a:r>
              <a:rPr dirty="0" sz="3600" spc="-5" i="1">
                <a:latin typeface="Times New Roman"/>
                <a:cs typeface="Times New Roman"/>
              </a:rPr>
              <a:t>f</a:t>
            </a:r>
            <a:r>
              <a:rPr dirty="0" baseline="-16548" sz="3525" spc="-7">
                <a:latin typeface="Times New Roman"/>
                <a:cs typeface="Times New Roman"/>
              </a:rPr>
              <a:t>1</a:t>
            </a:r>
            <a:r>
              <a:rPr dirty="0" sz="3600" spc="-5">
                <a:latin typeface="Times New Roman"/>
                <a:cs typeface="Times New Roman"/>
              </a:rPr>
              <a:t>=</a:t>
            </a:r>
            <a:r>
              <a:rPr dirty="0" sz="3600" spc="-5" i="1">
                <a:latin typeface="Times New Roman"/>
                <a:cs typeface="Times New Roman"/>
              </a:rPr>
              <a:t>f</a:t>
            </a:r>
            <a:r>
              <a:rPr dirty="0" baseline="-16548" sz="3525" spc="-7">
                <a:latin typeface="Times New Roman"/>
                <a:cs typeface="Times New Roman"/>
              </a:rPr>
              <a:t>2  </a:t>
            </a:r>
            <a:r>
              <a:rPr dirty="0" sz="3400" spc="-5" i="1">
                <a:latin typeface="Times New Roman"/>
                <a:cs typeface="Times New Roman"/>
              </a:rPr>
              <a:t>I</a:t>
            </a:r>
            <a:r>
              <a:rPr dirty="0" baseline="-25641" sz="2925" spc="-7">
                <a:latin typeface="Times New Roman"/>
                <a:cs typeface="Times New Roman"/>
              </a:rPr>
              <a:t>1	</a:t>
            </a:r>
            <a:r>
              <a:rPr dirty="0" baseline="-35130" sz="5100" spc="7">
                <a:latin typeface="Symbol"/>
                <a:cs typeface="Symbol"/>
              </a:rPr>
              <a:t></a:t>
            </a:r>
            <a:r>
              <a:rPr dirty="0" baseline="-35130" sz="5100" spc="7">
                <a:latin typeface="Times New Roman"/>
                <a:cs typeface="Times New Roman"/>
              </a:rPr>
              <a:t> </a:t>
            </a:r>
            <a:r>
              <a:rPr dirty="0" sz="3400" spc="-25" i="1">
                <a:latin typeface="Times New Roman"/>
                <a:cs typeface="Times New Roman"/>
              </a:rPr>
              <a:t>n</a:t>
            </a:r>
            <a:r>
              <a:rPr dirty="0" baseline="-25641" sz="2925" spc="-37">
                <a:latin typeface="Times New Roman"/>
                <a:cs typeface="Times New Roman"/>
              </a:rPr>
              <a:t>2  </a:t>
            </a:r>
            <a:r>
              <a:rPr dirty="0" sz="3400" spc="200" i="1">
                <a:latin typeface="Times New Roman"/>
                <a:cs typeface="Times New Roman"/>
              </a:rPr>
              <a:t>I</a:t>
            </a:r>
            <a:r>
              <a:rPr dirty="0" baseline="-25641" sz="2925" spc="15">
                <a:latin typeface="Times New Roman"/>
                <a:cs typeface="Times New Roman"/>
              </a:rPr>
              <a:t>2</a:t>
            </a:r>
            <a:r>
              <a:rPr dirty="0" baseline="-25641" sz="2925">
                <a:latin typeface="Times New Roman"/>
                <a:cs typeface="Times New Roman"/>
              </a:rPr>
              <a:t>		</a:t>
            </a:r>
            <a:r>
              <a:rPr dirty="0" sz="3400" spc="-270" i="1">
                <a:latin typeface="Times New Roman"/>
                <a:cs typeface="Times New Roman"/>
              </a:rPr>
              <a:t>n</a:t>
            </a:r>
            <a:r>
              <a:rPr dirty="0" baseline="-25641" sz="2925" spc="15">
                <a:latin typeface="Times New Roman"/>
                <a:cs typeface="Times New Roman"/>
              </a:rPr>
              <a:t>1</a:t>
            </a:r>
            <a:endParaRPr baseline="-25641" sz="2925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06771" y="953820"/>
            <a:ext cx="185420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b="0">
                <a:latin typeface="黑体"/>
                <a:cs typeface="黑体"/>
              </a:rPr>
              <a:t>课堂小结</a:t>
            </a:r>
            <a:endParaRPr sz="3600">
              <a:latin typeface="黑体"/>
              <a:cs typeface="黑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396030" y="1690420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96" y="0"/>
                </a:lnTo>
              </a:path>
            </a:pathLst>
          </a:custGeom>
          <a:ln w="36144">
            <a:solidFill>
              <a:srgbClr val="014E6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833116" y="1420367"/>
            <a:ext cx="364490" cy="363220"/>
          </a:xfrm>
          <a:custGeom>
            <a:avLst/>
            <a:gdLst/>
            <a:ahLst/>
            <a:cxnLst/>
            <a:rect l="l" t="t" r="r" b="b"/>
            <a:pathLst>
              <a:path w="364489" h="363219">
                <a:moveTo>
                  <a:pt x="0" y="0"/>
                </a:moveTo>
                <a:lnTo>
                  <a:pt x="364236" y="0"/>
                </a:lnTo>
                <a:lnTo>
                  <a:pt x="364236" y="362711"/>
                </a:lnTo>
                <a:lnTo>
                  <a:pt x="0" y="362711"/>
                </a:lnTo>
                <a:lnTo>
                  <a:pt x="0" y="0"/>
                </a:lnTo>
                <a:close/>
              </a:path>
            </a:pathLst>
          </a:custGeom>
          <a:solidFill>
            <a:srgbClr val="014E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032760" y="1642872"/>
            <a:ext cx="245745" cy="247015"/>
          </a:xfrm>
          <a:custGeom>
            <a:avLst/>
            <a:gdLst/>
            <a:ahLst/>
            <a:cxnLst/>
            <a:rect l="l" t="t" r="r" b="b"/>
            <a:pathLst>
              <a:path w="245745" h="247014">
                <a:moveTo>
                  <a:pt x="0" y="0"/>
                </a:moveTo>
                <a:lnTo>
                  <a:pt x="245363" y="0"/>
                </a:lnTo>
                <a:lnTo>
                  <a:pt x="245363" y="246887"/>
                </a:lnTo>
                <a:lnTo>
                  <a:pt x="0" y="246887"/>
                </a:lnTo>
                <a:lnTo>
                  <a:pt x="0" y="0"/>
                </a:lnTo>
                <a:close/>
              </a:path>
            </a:pathLst>
          </a:custGeom>
          <a:solidFill>
            <a:srgbClr val="1684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833116" y="1970532"/>
            <a:ext cx="1879092" cy="5852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833116" y="1954707"/>
            <a:ext cx="187960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latin typeface="华文楷体"/>
                <a:cs typeface="华文楷体"/>
              </a:rPr>
              <a:t>物理观念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910012" y="3166249"/>
            <a:ext cx="2250440" cy="521334"/>
          </a:xfrm>
          <a:custGeom>
            <a:avLst/>
            <a:gdLst/>
            <a:ahLst/>
            <a:cxnLst/>
            <a:rect l="l" t="t" r="r" b="b"/>
            <a:pathLst>
              <a:path w="2250440" h="521335">
                <a:moveTo>
                  <a:pt x="2235542" y="521017"/>
                </a:moveTo>
                <a:lnTo>
                  <a:pt x="14287" y="521017"/>
                </a:lnTo>
                <a:lnTo>
                  <a:pt x="11506" y="520738"/>
                </a:lnTo>
                <a:lnTo>
                  <a:pt x="0" y="506729"/>
                </a:lnTo>
                <a:lnTo>
                  <a:pt x="0" y="14287"/>
                </a:lnTo>
                <a:lnTo>
                  <a:pt x="14287" y="0"/>
                </a:lnTo>
                <a:lnTo>
                  <a:pt x="2235542" y="0"/>
                </a:lnTo>
                <a:lnTo>
                  <a:pt x="2249830" y="14287"/>
                </a:lnTo>
                <a:lnTo>
                  <a:pt x="28575" y="14287"/>
                </a:lnTo>
                <a:lnTo>
                  <a:pt x="14287" y="28574"/>
                </a:lnTo>
                <a:lnTo>
                  <a:pt x="28575" y="28574"/>
                </a:lnTo>
                <a:lnTo>
                  <a:pt x="28575" y="492442"/>
                </a:lnTo>
                <a:lnTo>
                  <a:pt x="14287" y="492442"/>
                </a:lnTo>
                <a:lnTo>
                  <a:pt x="28575" y="506729"/>
                </a:lnTo>
                <a:lnTo>
                  <a:pt x="2249830" y="506729"/>
                </a:lnTo>
                <a:lnTo>
                  <a:pt x="2249563" y="509511"/>
                </a:lnTo>
                <a:lnTo>
                  <a:pt x="2238336" y="520738"/>
                </a:lnTo>
                <a:lnTo>
                  <a:pt x="2235542" y="521017"/>
                </a:lnTo>
                <a:close/>
              </a:path>
              <a:path w="2250440" h="521335">
                <a:moveTo>
                  <a:pt x="28575" y="28574"/>
                </a:moveTo>
                <a:lnTo>
                  <a:pt x="14287" y="28574"/>
                </a:lnTo>
                <a:lnTo>
                  <a:pt x="28575" y="14287"/>
                </a:lnTo>
                <a:lnTo>
                  <a:pt x="28575" y="28574"/>
                </a:lnTo>
                <a:close/>
              </a:path>
              <a:path w="2250440" h="521335">
                <a:moveTo>
                  <a:pt x="2221255" y="28574"/>
                </a:moveTo>
                <a:lnTo>
                  <a:pt x="28575" y="28574"/>
                </a:lnTo>
                <a:lnTo>
                  <a:pt x="28575" y="14287"/>
                </a:lnTo>
                <a:lnTo>
                  <a:pt x="2221255" y="14287"/>
                </a:lnTo>
                <a:lnTo>
                  <a:pt x="2221255" y="28574"/>
                </a:lnTo>
                <a:close/>
              </a:path>
              <a:path w="2250440" h="521335">
                <a:moveTo>
                  <a:pt x="2221255" y="506729"/>
                </a:moveTo>
                <a:lnTo>
                  <a:pt x="2221255" y="14287"/>
                </a:lnTo>
                <a:lnTo>
                  <a:pt x="2235542" y="28574"/>
                </a:lnTo>
                <a:lnTo>
                  <a:pt x="2249830" y="28574"/>
                </a:lnTo>
                <a:lnTo>
                  <a:pt x="2249830" y="492442"/>
                </a:lnTo>
                <a:lnTo>
                  <a:pt x="2235542" y="492442"/>
                </a:lnTo>
                <a:lnTo>
                  <a:pt x="2221255" y="506729"/>
                </a:lnTo>
                <a:close/>
              </a:path>
              <a:path w="2250440" h="521335">
                <a:moveTo>
                  <a:pt x="2249830" y="28574"/>
                </a:moveTo>
                <a:lnTo>
                  <a:pt x="2235542" y="28574"/>
                </a:lnTo>
                <a:lnTo>
                  <a:pt x="2221255" y="14287"/>
                </a:lnTo>
                <a:lnTo>
                  <a:pt x="2249830" y="14287"/>
                </a:lnTo>
                <a:lnTo>
                  <a:pt x="2249830" y="28574"/>
                </a:lnTo>
                <a:close/>
              </a:path>
              <a:path w="2250440" h="521335">
                <a:moveTo>
                  <a:pt x="28575" y="506729"/>
                </a:moveTo>
                <a:lnTo>
                  <a:pt x="14287" y="492442"/>
                </a:lnTo>
                <a:lnTo>
                  <a:pt x="28575" y="492442"/>
                </a:lnTo>
                <a:lnTo>
                  <a:pt x="28575" y="506729"/>
                </a:lnTo>
                <a:close/>
              </a:path>
              <a:path w="2250440" h="521335">
                <a:moveTo>
                  <a:pt x="2221255" y="506729"/>
                </a:moveTo>
                <a:lnTo>
                  <a:pt x="28575" y="506729"/>
                </a:lnTo>
                <a:lnTo>
                  <a:pt x="28575" y="492442"/>
                </a:lnTo>
                <a:lnTo>
                  <a:pt x="2221255" y="492442"/>
                </a:lnTo>
                <a:lnTo>
                  <a:pt x="2221255" y="506729"/>
                </a:lnTo>
                <a:close/>
              </a:path>
              <a:path w="2250440" h="521335">
                <a:moveTo>
                  <a:pt x="2249830" y="506729"/>
                </a:moveTo>
                <a:lnTo>
                  <a:pt x="2221255" y="506729"/>
                </a:lnTo>
                <a:lnTo>
                  <a:pt x="2235542" y="492442"/>
                </a:lnTo>
                <a:lnTo>
                  <a:pt x="2249830" y="492442"/>
                </a:lnTo>
                <a:lnTo>
                  <a:pt x="2249830" y="506729"/>
                </a:lnTo>
                <a:close/>
              </a:path>
            </a:pathLst>
          </a:custGeom>
          <a:solidFill>
            <a:srgbClr val="3333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719512" y="2642565"/>
            <a:ext cx="2651125" cy="459740"/>
          </a:xfrm>
          <a:custGeom>
            <a:avLst/>
            <a:gdLst/>
            <a:ahLst/>
            <a:cxnLst/>
            <a:rect l="l" t="t" r="r" b="b"/>
            <a:pathLst>
              <a:path w="2651125" h="459739">
                <a:moveTo>
                  <a:pt x="2636418" y="459460"/>
                </a:moveTo>
                <a:lnTo>
                  <a:pt x="14287" y="459460"/>
                </a:lnTo>
                <a:lnTo>
                  <a:pt x="11506" y="459193"/>
                </a:lnTo>
                <a:lnTo>
                  <a:pt x="0" y="445173"/>
                </a:lnTo>
                <a:lnTo>
                  <a:pt x="0" y="14287"/>
                </a:lnTo>
                <a:lnTo>
                  <a:pt x="14287" y="0"/>
                </a:lnTo>
                <a:lnTo>
                  <a:pt x="2636418" y="0"/>
                </a:lnTo>
                <a:lnTo>
                  <a:pt x="2650705" y="14287"/>
                </a:lnTo>
                <a:lnTo>
                  <a:pt x="28575" y="14287"/>
                </a:lnTo>
                <a:lnTo>
                  <a:pt x="14287" y="28574"/>
                </a:lnTo>
                <a:lnTo>
                  <a:pt x="28575" y="28574"/>
                </a:lnTo>
                <a:lnTo>
                  <a:pt x="28575" y="430885"/>
                </a:lnTo>
                <a:lnTo>
                  <a:pt x="14287" y="430885"/>
                </a:lnTo>
                <a:lnTo>
                  <a:pt x="28575" y="445173"/>
                </a:lnTo>
                <a:lnTo>
                  <a:pt x="2650705" y="445173"/>
                </a:lnTo>
                <a:lnTo>
                  <a:pt x="2650426" y="447967"/>
                </a:lnTo>
                <a:lnTo>
                  <a:pt x="2639199" y="459193"/>
                </a:lnTo>
                <a:lnTo>
                  <a:pt x="2636418" y="459460"/>
                </a:lnTo>
                <a:close/>
              </a:path>
              <a:path w="2651125" h="459739">
                <a:moveTo>
                  <a:pt x="28575" y="28574"/>
                </a:moveTo>
                <a:lnTo>
                  <a:pt x="14287" y="28574"/>
                </a:lnTo>
                <a:lnTo>
                  <a:pt x="28575" y="14287"/>
                </a:lnTo>
                <a:lnTo>
                  <a:pt x="28575" y="28574"/>
                </a:lnTo>
                <a:close/>
              </a:path>
              <a:path w="2651125" h="459739">
                <a:moveTo>
                  <a:pt x="2622130" y="28574"/>
                </a:moveTo>
                <a:lnTo>
                  <a:pt x="28575" y="28574"/>
                </a:lnTo>
                <a:lnTo>
                  <a:pt x="28575" y="14287"/>
                </a:lnTo>
                <a:lnTo>
                  <a:pt x="2622130" y="14287"/>
                </a:lnTo>
                <a:lnTo>
                  <a:pt x="2622130" y="28574"/>
                </a:lnTo>
                <a:close/>
              </a:path>
              <a:path w="2651125" h="459739">
                <a:moveTo>
                  <a:pt x="2622130" y="445173"/>
                </a:moveTo>
                <a:lnTo>
                  <a:pt x="2622130" y="14287"/>
                </a:lnTo>
                <a:lnTo>
                  <a:pt x="2636418" y="28574"/>
                </a:lnTo>
                <a:lnTo>
                  <a:pt x="2650705" y="28574"/>
                </a:lnTo>
                <a:lnTo>
                  <a:pt x="2650705" y="430885"/>
                </a:lnTo>
                <a:lnTo>
                  <a:pt x="2636418" y="430885"/>
                </a:lnTo>
                <a:lnTo>
                  <a:pt x="2622130" y="445173"/>
                </a:lnTo>
                <a:close/>
              </a:path>
              <a:path w="2651125" h="459739">
                <a:moveTo>
                  <a:pt x="2650705" y="28574"/>
                </a:moveTo>
                <a:lnTo>
                  <a:pt x="2636418" y="28574"/>
                </a:lnTo>
                <a:lnTo>
                  <a:pt x="2622130" y="14287"/>
                </a:lnTo>
                <a:lnTo>
                  <a:pt x="2650705" y="14287"/>
                </a:lnTo>
                <a:lnTo>
                  <a:pt x="2650705" y="28574"/>
                </a:lnTo>
                <a:close/>
              </a:path>
              <a:path w="2651125" h="459739">
                <a:moveTo>
                  <a:pt x="28575" y="445173"/>
                </a:moveTo>
                <a:lnTo>
                  <a:pt x="14287" y="430885"/>
                </a:lnTo>
                <a:lnTo>
                  <a:pt x="28575" y="430885"/>
                </a:lnTo>
                <a:lnTo>
                  <a:pt x="28575" y="445173"/>
                </a:lnTo>
                <a:close/>
              </a:path>
              <a:path w="2651125" h="459739">
                <a:moveTo>
                  <a:pt x="2622130" y="445173"/>
                </a:moveTo>
                <a:lnTo>
                  <a:pt x="28575" y="445173"/>
                </a:lnTo>
                <a:lnTo>
                  <a:pt x="28575" y="430885"/>
                </a:lnTo>
                <a:lnTo>
                  <a:pt x="2622130" y="430885"/>
                </a:lnTo>
                <a:lnTo>
                  <a:pt x="2622130" y="445173"/>
                </a:lnTo>
                <a:close/>
              </a:path>
              <a:path w="2651125" h="459739">
                <a:moveTo>
                  <a:pt x="2650705" y="445173"/>
                </a:moveTo>
                <a:lnTo>
                  <a:pt x="2622130" y="445173"/>
                </a:lnTo>
                <a:lnTo>
                  <a:pt x="2636418" y="430885"/>
                </a:lnTo>
                <a:lnTo>
                  <a:pt x="2650705" y="430885"/>
                </a:lnTo>
                <a:lnTo>
                  <a:pt x="2650705" y="445173"/>
                </a:lnTo>
                <a:close/>
              </a:path>
            </a:pathLst>
          </a:custGeom>
          <a:solidFill>
            <a:srgbClr val="3333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953078" y="3760393"/>
            <a:ext cx="2157730" cy="539750"/>
          </a:xfrm>
          <a:custGeom>
            <a:avLst/>
            <a:gdLst/>
            <a:ahLst/>
            <a:cxnLst/>
            <a:rect l="l" t="t" r="r" b="b"/>
            <a:pathLst>
              <a:path w="2157729" h="539750">
                <a:moveTo>
                  <a:pt x="2142921" y="539267"/>
                </a:moveTo>
                <a:lnTo>
                  <a:pt x="14287" y="539267"/>
                </a:lnTo>
                <a:lnTo>
                  <a:pt x="11493" y="538988"/>
                </a:lnTo>
                <a:lnTo>
                  <a:pt x="0" y="524979"/>
                </a:lnTo>
                <a:lnTo>
                  <a:pt x="0" y="14287"/>
                </a:lnTo>
                <a:lnTo>
                  <a:pt x="14287" y="0"/>
                </a:lnTo>
                <a:lnTo>
                  <a:pt x="2142921" y="0"/>
                </a:lnTo>
                <a:lnTo>
                  <a:pt x="2157209" y="14287"/>
                </a:lnTo>
                <a:lnTo>
                  <a:pt x="28575" y="14287"/>
                </a:lnTo>
                <a:lnTo>
                  <a:pt x="14287" y="28575"/>
                </a:lnTo>
                <a:lnTo>
                  <a:pt x="28575" y="28575"/>
                </a:lnTo>
                <a:lnTo>
                  <a:pt x="28575" y="510692"/>
                </a:lnTo>
                <a:lnTo>
                  <a:pt x="14287" y="510692"/>
                </a:lnTo>
                <a:lnTo>
                  <a:pt x="28575" y="524979"/>
                </a:lnTo>
                <a:lnTo>
                  <a:pt x="2157209" y="524979"/>
                </a:lnTo>
                <a:lnTo>
                  <a:pt x="2156929" y="527761"/>
                </a:lnTo>
                <a:lnTo>
                  <a:pt x="2145703" y="538988"/>
                </a:lnTo>
                <a:lnTo>
                  <a:pt x="2142921" y="539267"/>
                </a:lnTo>
                <a:close/>
              </a:path>
              <a:path w="2157729" h="539750">
                <a:moveTo>
                  <a:pt x="28575" y="28575"/>
                </a:moveTo>
                <a:lnTo>
                  <a:pt x="14287" y="28575"/>
                </a:lnTo>
                <a:lnTo>
                  <a:pt x="28575" y="14287"/>
                </a:lnTo>
                <a:lnTo>
                  <a:pt x="28575" y="28575"/>
                </a:lnTo>
                <a:close/>
              </a:path>
              <a:path w="2157729" h="539750">
                <a:moveTo>
                  <a:pt x="2128634" y="28575"/>
                </a:moveTo>
                <a:lnTo>
                  <a:pt x="28575" y="28575"/>
                </a:lnTo>
                <a:lnTo>
                  <a:pt x="28575" y="14287"/>
                </a:lnTo>
                <a:lnTo>
                  <a:pt x="2128634" y="14287"/>
                </a:lnTo>
                <a:lnTo>
                  <a:pt x="2128634" y="28575"/>
                </a:lnTo>
                <a:close/>
              </a:path>
              <a:path w="2157729" h="539750">
                <a:moveTo>
                  <a:pt x="2128634" y="524979"/>
                </a:moveTo>
                <a:lnTo>
                  <a:pt x="2128634" y="14287"/>
                </a:lnTo>
                <a:lnTo>
                  <a:pt x="2142921" y="28575"/>
                </a:lnTo>
                <a:lnTo>
                  <a:pt x="2157209" y="28575"/>
                </a:lnTo>
                <a:lnTo>
                  <a:pt x="2157209" y="510692"/>
                </a:lnTo>
                <a:lnTo>
                  <a:pt x="2142921" y="510692"/>
                </a:lnTo>
                <a:lnTo>
                  <a:pt x="2128634" y="524979"/>
                </a:lnTo>
                <a:close/>
              </a:path>
              <a:path w="2157729" h="539750">
                <a:moveTo>
                  <a:pt x="2157209" y="28575"/>
                </a:moveTo>
                <a:lnTo>
                  <a:pt x="2142921" y="28575"/>
                </a:lnTo>
                <a:lnTo>
                  <a:pt x="2128634" y="14287"/>
                </a:lnTo>
                <a:lnTo>
                  <a:pt x="2157209" y="14287"/>
                </a:lnTo>
                <a:lnTo>
                  <a:pt x="2157209" y="28575"/>
                </a:lnTo>
                <a:close/>
              </a:path>
              <a:path w="2157729" h="539750">
                <a:moveTo>
                  <a:pt x="28575" y="524979"/>
                </a:moveTo>
                <a:lnTo>
                  <a:pt x="14287" y="510692"/>
                </a:lnTo>
                <a:lnTo>
                  <a:pt x="28575" y="510692"/>
                </a:lnTo>
                <a:lnTo>
                  <a:pt x="28575" y="524979"/>
                </a:lnTo>
                <a:close/>
              </a:path>
              <a:path w="2157729" h="539750">
                <a:moveTo>
                  <a:pt x="2128634" y="524979"/>
                </a:moveTo>
                <a:lnTo>
                  <a:pt x="28575" y="524979"/>
                </a:lnTo>
                <a:lnTo>
                  <a:pt x="28575" y="510692"/>
                </a:lnTo>
                <a:lnTo>
                  <a:pt x="2128634" y="510692"/>
                </a:lnTo>
                <a:lnTo>
                  <a:pt x="2128634" y="524979"/>
                </a:lnTo>
                <a:close/>
              </a:path>
              <a:path w="2157729" h="539750">
                <a:moveTo>
                  <a:pt x="2157209" y="524979"/>
                </a:moveTo>
                <a:lnTo>
                  <a:pt x="2128634" y="524979"/>
                </a:lnTo>
                <a:lnTo>
                  <a:pt x="2142921" y="510692"/>
                </a:lnTo>
                <a:lnTo>
                  <a:pt x="2157209" y="510692"/>
                </a:lnTo>
                <a:lnTo>
                  <a:pt x="2157209" y="524979"/>
                </a:lnTo>
                <a:close/>
              </a:path>
            </a:pathLst>
          </a:custGeom>
          <a:solidFill>
            <a:srgbClr val="3333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955427" y="4398187"/>
            <a:ext cx="2157730" cy="521334"/>
          </a:xfrm>
          <a:custGeom>
            <a:avLst/>
            <a:gdLst/>
            <a:ahLst/>
            <a:cxnLst/>
            <a:rect l="l" t="t" r="r" b="b"/>
            <a:pathLst>
              <a:path w="2157729" h="521335">
                <a:moveTo>
                  <a:pt x="2142921" y="521017"/>
                </a:moveTo>
                <a:lnTo>
                  <a:pt x="14287" y="521017"/>
                </a:lnTo>
                <a:lnTo>
                  <a:pt x="11493" y="520750"/>
                </a:lnTo>
                <a:lnTo>
                  <a:pt x="0" y="506729"/>
                </a:lnTo>
                <a:lnTo>
                  <a:pt x="0" y="14287"/>
                </a:lnTo>
                <a:lnTo>
                  <a:pt x="14287" y="0"/>
                </a:lnTo>
                <a:lnTo>
                  <a:pt x="2142921" y="0"/>
                </a:lnTo>
                <a:lnTo>
                  <a:pt x="2157209" y="14287"/>
                </a:lnTo>
                <a:lnTo>
                  <a:pt x="28575" y="14287"/>
                </a:lnTo>
                <a:lnTo>
                  <a:pt x="14287" y="28575"/>
                </a:lnTo>
                <a:lnTo>
                  <a:pt x="28575" y="28575"/>
                </a:lnTo>
                <a:lnTo>
                  <a:pt x="28575" y="492442"/>
                </a:lnTo>
                <a:lnTo>
                  <a:pt x="14287" y="492442"/>
                </a:lnTo>
                <a:lnTo>
                  <a:pt x="28575" y="506729"/>
                </a:lnTo>
                <a:lnTo>
                  <a:pt x="2157209" y="506729"/>
                </a:lnTo>
                <a:lnTo>
                  <a:pt x="2156942" y="509524"/>
                </a:lnTo>
                <a:lnTo>
                  <a:pt x="2145715" y="520750"/>
                </a:lnTo>
                <a:lnTo>
                  <a:pt x="2142921" y="521017"/>
                </a:lnTo>
                <a:close/>
              </a:path>
              <a:path w="2157729" h="521335">
                <a:moveTo>
                  <a:pt x="28575" y="28575"/>
                </a:moveTo>
                <a:lnTo>
                  <a:pt x="14287" y="28575"/>
                </a:lnTo>
                <a:lnTo>
                  <a:pt x="28575" y="14287"/>
                </a:lnTo>
                <a:lnTo>
                  <a:pt x="28575" y="28575"/>
                </a:lnTo>
                <a:close/>
              </a:path>
              <a:path w="2157729" h="521335">
                <a:moveTo>
                  <a:pt x="2128634" y="28575"/>
                </a:moveTo>
                <a:lnTo>
                  <a:pt x="28575" y="28575"/>
                </a:lnTo>
                <a:lnTo>
                  <a:pt x="28575" y="14287"/>
                </a:lnTo>
                <a:lnTo>
                  <a:pt x="2128634" y="14287"/>
                </a:lnTo>
                <a:lnTo>
                  <a:pt x="2128634" y="28575"/>
                </a:lnTo>
                <a:close/>
              </a:path>
              <a:path w="2157729" h="521335">
                <a:moveTo>
                  <a:pt x="2128634" y="506729"/>
                </a:moveTo>
                <a:lnTo>
                  <a:pt x="2128634" y="14287"/>
                </a:lnTo>
                <a:lnTo>
                  <a:pt x="2142921" y="28575"/>
                </a:lnTo>
                <a:lnTo>
                  <a:pt x="2157209" y="28575"/>
                </a:lnTo>
                <a:lnTo>
                  <a:pt x="2157209" y="492442"/>
                </a:lnTo>
                <a:lnTo>
                  <a:pt x="2142921" y="492442"/>
                </a:lnTo>
                <a:lnTo>
                  <a:pt x="2128634" y="506729"/>
                </a:lnTo>
                <a:close/>
              </a:path>
              <a:path w="2157729" h="521335">
                <a:moveTo>
                  <a:pt x="2157209" y="28575"/>
                </a:moveTo>
                <a:lnTo>
                  <a:pt x="2142921" y="28575"/>
                </a:lnTo>
                <a:lnTo>
                  <a:pt x="2128634" y="14287"/>
                </a:lnTo>
                <a:lnTo>
                  <a:pt x="2157209" y="14287"/>
                </a:lnTo>
                <a:lnTo>
                  <a:pt x="2157209" y="28575"/>
                </a:lnTo>
                <a:close/>
              </a:path>
              <a:path w="2157729" h="521335">
                <a:moveTo>
                  <a:pt x="28575" y="506729"/>
                </a:moveTo>
                <a:lnTo>
                  <a:pt x="14287" y="492442"/>
                </a:lnTo>
                <a:lnTo>
                  <a:pt x="28575" y="492442"/>
                </a:lnTo>
                <a:lnTo>
                  <a:pt x="28575" y="506729"/>
                </a:lnTo>
                <a:close/>
              </a:path>
              <a:path w="2157729" h="521335">
                <a:moveTo>
                  <a:pt x="2128634" y="506729"/>
                </a:moveTo>
                <a:lnTo>
                  <a:pt x="28575" y="506729"/>
                </a:lnTo>
                <a:lnTo>
                  <a:pt x="28575" y="492442"/>
                </a:lnTo>
                <a:lnTo>
                  <a:pt x="2128634" y="492442"/>
                </a:lnTo>
                <a:lnTo>
                  <a:pt x="2128634" y="506729"/>
                </a:lnTo>
                <a:close/>
              </a:path>
              <a:path w="2157729" h="521335">
                <a:moveTo>
                  <a:pt x="2157209" y="506729"/>
                </a:moveTo>
                <a:lnTo>
                  <a:pt x="2128634" y="506729"/>
                </a:lnTo>
                <a:lnTo>
                  <a:pt x="2142921" y="492442"/>
                </a:lnTo>
                <a:lnTo>
                  <a:pt x="2157209" y="492442"/>
                </a:lnTo>
                <a:lnTo>
                  <a:pt x="2157209" y="506729"/>
                </a:lnTo>
                <a:close/>
              </a:path>
            </a:pathLst>
          </a:custGeom>
          <a:solidFill>
            <a:srgbClr val="3333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025277" y="5013350"/>
            <a:ext cx="2018030" cy="521334"/>
          </a:xfrm>
          <a:custGeom>
            <a:avLst/>
            <a:gdLst/>
            <a:ahLst/>
            <a:cxnLst/>
            <a:rect l="l" t="t" r="r" b="b"/>
            <a:pathLst>
              <a:path w="2018029" h="521335">
                <a:moveTo>
                  <a:pt x="2003221" y="521017"/>
                </a:moveTo>
                <a:lnTo>
                  <a:pt x="14287" y="521017"/>
                </a:lnTo>
                <a:lnTo>
                  <a:pt x="11493" y="520738"/>
                </a:lnTo>
                <a:lnTo>
                  <a:pt x="0" y="506729"/>
                </a:lnTo>
                <a:lnTo>
                  <a:pt x="0" y="14287"/>
                </a:lnTo>
                <a:lnTo>
                  <a:pt x="14287" y="0"/>
                </a:lnTo>
                <a:lnTo>
                  <a:pt x="2003221" y="0"/>
                </a:lnTo>
                <a:lnTo>
                  <a:pt x="2017509" y="14287"/>
                </a:lnTo>
                <a:lnTo>
                  <a:pt x="28575" y="14287"/>
                </a:lnTo>
                <a:lnTo>
                  <a:pt x="14287" y="28575"/>
                </a:lnTo>
                <a:lnTo>
                  <a:pt x="28575" y="28575"/>
                </a:lnTo>
                <a:lnTo>
                  <a:pt x="28575" y="492442"/>
                </a:lnTo>
                <a:lnTo>
                  <a:pt x="14287" y="492442"/>
                </a:lnTo>
                <a:lnTo>
                  <a:pt x="28575" y="506729"/>
                </a:lnTo>
                <a:lnTo>
                  <a:pt x="2017509" y="506729"/>
                </a:lnTo>
                <a:lnTo>
                  <a:pt x="2017242" y="509524"/>
                </a:lnTo>
                <a:lnTo>
                  <a:pt x="2006015" y="520738"/>
                </a:lnTo>
                <a:lnTo>
                  <a:pt x="2003221" y="521017"/>
                </a:lnTo>
                <a:close/>
              </a:path>
              <a:path w="2018029" h="521335">
                <a:moveTo>
                  <a:pt x="28575" y="28575"/>
                </a:moveTo>
                <a:lnTo>
                  <a:pt x="14287" y="28575"/>
                </a:lnTo>
                <a:lnTo>
                  <a:pt x="28575" y="14287"/>
                </a:lnTo>
                <a:lnTo>
                  <a:pt x="28575" y="28575"/>
                </a:lnTo>
                <a:close/>
              </a:path>
              <a:path w="2018029" h="521335">
                <a:moveTo>
                  <a:pt x="1988934" y="28575"/>
                </a:moveTo>
                <a:lnTo>
                  <a:pt x="28575" y="28575"/>
                </a:lnTo>
                <a:lnTo>
                  <a:pt x="28575" y="14287"/>
                </a:lnTo>
                <a:lnTo>
                  <a:pt x="1988934" y="14287"/>
                </a:lnTo>
                <a:lnTo>
                  <a:pt x="1988934" y="28575"/>
                </a:lnTo>
                <a:close/>
              </a:path>
              <a:path w="2018029" h="521335">
                <a:moveTo>
                  <a:pt x="1988934" y="506729"/>
                </a:moveTo>
                <a:lnTo>
                  <a:pt x="1988934" y="14287"/>
                </a:lnTo>
                <a:lnTo>
                  <a:pt x="2003221" y="28575"/>
                </a:lnTo>
                <a:lnTo>
                  <a:pt x="2017509" y="28575"/>
                </a:lnTo>
                <a:lnTo>
                  <a:pt x="2017509" y="492442"/>
                </a:lnTo>
                <a:lnTo>
                  <a:pt x="2003221" y="492442"/>
                </a:lnTo>
                <a:lnTo>
                  <a:pt x="1988934" y="506729"/>
                </a:lnTo>
                <a:close/>
              </a:path>
              <a:path w="2018029" h="521335">
                <a:moveTo>
                  <a:pt x="2017509" y="28575"/>
                </a:moveTo>
                <a:lnTo>
                  <a:pt x="2003221" y="28575"/>
                </a:lnTo>
                <a:lnTo>
                  <a:pt x="1988934" y="14287"/>
                </a:lnTo>
                <a:lnTo>
                  <a:pt x="2017509" y="14287"/>
                </a:lnTo>
                <a:lnTo>
                  <a:pt x="2017509" y="28575"/>
                </a:lnTo>
                <a:close/>
              </a:path>
              <a:path w="2018029" h="521335">
                <a:moveTo>
                  <a:pt x="28575" y="506729"/>
                </a:moveTo>
                <a:lnTo>
                  <a:pt x="14287" y="492442"/>
                </a:lnTo>
                <a:lnTo>
                  <a:pt x="28575" y="492442"/>
                </a:lnTo>
                <a:lnTo>
                  <a:pt x="28575" y="506729"/>
                </a:lnTo>
                <a:close/>
              </a:path>
              <a:path w="2018029" h="521335">
                <a:moveTo>
                  <a:pt x="1988934" y="506729"/>
                </a:moveTo>
                <a:lnTo>
                  <a:pt x="28575" y="506729"/>
                </a:lnTo>
                <a:lnTo>
                  <a:pt x="28575" y="492442"/>
                </a:lnTo>
                <a:lnTo>
                  <a:pt x="1988934" y="492442"/>
                </a:lnTo>
                <a:lnTo>
                  <a:pt x="1988934" y="506729"/>
                </a:lnTo>
                <a:close/>
              </a:path>
              <a:path w="2018029" h="521335">
                <a:moveTo>
                  <a:pt x="2017509" y="506729"/>
                </a:moveTo>
                <a:lnTo>
                  <a:pt x="1988934" y="506729"/>
                </a:lnTo>
                <a:lnTo>
                  <a:pt x="2003221" y="492442"/>
                </a:lnTo>
                <a:lnTo>
                  <a:pt x="2017509" y="492442"/>
                </a:lnTo>
                <a:lnTo>
                  <a:pt x="2017509" y="506729"/>
                </a:lnTo>
                <a:close/>
              </a:path>
            </a:pathLst>
          </a:custGeom>
          <a:solidFill>
            <a:srgbClr val="3333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3721100" y="2460701"/>
            <a:ext cx="2517775" cy="30092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>
              <a:lnSpc>
                <a:spcPct val="133100"/>
              </a:lnSpc>
              <a:spcBef>
                <a:spcPts val="100"/>
              </a:spcBef>
            </a:pPr>
            <a:r>
              <a:rPr dirty="0" sz="2800" b="1">
                <a:latin typeface="华文楷体"/>
                <a:cs typeface="华文楷体"/>
              </a:rPr>
              <a:t>多副线圈变压</a:t>
            </a:r>
            <a:r>
              <a:rPr dirty="0" sz="2800" spc="-5" b="1">
                <a:latin typeface="华文楷体"/>
                <a:cs typeface="华文楷体"/>
              </a:rPr>
              <a:t>器 </a:t>
            </a:r>
            <a:r>
              <a:rPr dirty="0" sz="2800" b="1">
                <a:latin typeface="华文楷体"/>
                <a:cs typeface="华文楷体"/>
              </a:rPr>
              <a:t>电压互感</a:t>
            </a:r>
            <a:r>
              <a:rPr dirty="0" sz="2800" spc="-10" b="1">
                <a:latin typeface="华文楷体"/>
                <a:cs typeface="华文楷体"/>
              </a:rPr>
              <a:t>器</a:t>
            </a:r>
            <a:endParaRPr sz="2800">
              <a:latin typeface="华文楷体"/>
              <a:cs typeface="华文楷体"/>
            </a:endParaRPr>
          </a:p>
          <a:p>
            <a:pPr marL="350520" indent="-2540">
              <a:lnSpc>
                <a:spcPct val="100000"/>
              </a:lnSpc>
              <a:spcBef>
                <a:spcPts val="1320"/>
              </a:spcBef>
            </a:pPr>
            <a:r>
              <a:rPr dirty="0" sz="2800" b="1">
                <a:latin typeface="华文楷体"/>
                <a:cs typeface="华文楷体"/>
              </a:rPr>
              <a:t>电流互感</a:t>
            </a:r>
            <a:r>
              <a:rPr dirty="0" sz="2800" spc="-10" b="1">
                <a:latin typeface="华文楷体"/>
                <a:cs typeface="华文楷体"/>
              </a:rPr>
              <a:t>器</a:t>
            </a:r>
            <a:endParaRPr sz="2800">
              <a:latin typeface="华文楷体"/>
              <a:cs typeface="华文楷体"/>
            </a:endParaRPr>
          </a:p>
          <a:p>
            <a:pPr marL="420370" marR="309245" indent="-69850">
              <a:lnSpc>
                <a:spcPct val="144200"/>
              </a:lnSpc>
              <a:spcBef>
                <a:spcPts val="175"/>
              </a:spcBef>
            </a:pPr>
            <a:r>
              <a:rPr dirty="0" sz="2800" b="1">
                <a:latin typeface="华文楷体"/>
                <a:cs typeface="华文楷体"/>
              </a:rPr>
              <a:t>自耦变压</a:t>
            </a:r>
            <a:r>
              <a:rPr dirty="0" sz="2800" spc="-10" b="1">
                <a:latin typeface="华文楷体"/>
                <a:cs typeface="华文楷体"/>
              </a:rPr>
              <a:t>器 </a:t>
            </a:r>
            <a:r>
              <a:rPr dirty="0" sz="2800" b="1">
                <a:latin typeface="华文楷体"/>
                <a:cs typeface="华文楷体"/>
              </a:rPr>
              <a:t>调压变压</a:t>
            </a:r>
            <a:r>
              <a:rPr dirty="0" sz="2800" spc="-10" b="1">
                <a:latin typeface="华文楷体"/>
                <a:cs typeface="华文楷体"/>
              </a:rPr>
              <a:t>器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492671" y="2771571"/>
            <a:ext cx="518159" cy="2578100"/>
          </a:xfrm>
          <a:custGeom>
            <a:avLst/>
            <a:gdLst/>
            <a:ahLst/>
            <a:cxnLst/>
            <a:rect l="l" t="t" r="r" b="b"/>
            <a:pathLst>
              <a:path w="518159" h="2578100">
                <a:moveTo>
                  <a:pt x="200939" y="38099"/>
                </a:moveTo>
                <a:lnTo>
                  <a:pt x="0" y="38099"/>
                </a:lnTo>
                <a:lnTo>
                  <a:pt x="317" y="0"/>
                </a:lnTo>
                <a:lnTo>
                  <a:pt x="144843" y="0"/>
                </a:lnTo>
                <a:lnTo>
                  <a:pt x="156159" y="12699"/>
                </a:lnTo>
                <a:lnTo>
                  <a:pt x="183578" y="12699"/>
                </a:lnTo>
                <a:lnTo>
                  <a:pt x="187413" y="25399"/>
                </a:lnTo>
                <a:lnTo>
                  <a:pt x="198247" y="25399"/>
                </a:lnTo>
                <a:lnTo>
                  <a:pt x="200939" y="38099"/>
                </a:lnTo>
                <a:close/>
              </a:path>
              <a:path w="518159" h="2578100">
                <a:moveTo>
                  <a:pt x="163690" y="50799"/>
                </a:moveTo>
                <a:lnTo>
                  <a:pt x="147421" y="50799"/>
                </a:lnTo>
                <a:lnTo>
                  <a:pt x="136906" y="38099"/>
                </a:lnTo>
                <a:lnTo>
                  <a:pt x="163677" y="38099"/>
                </a:lnTo>
                <a:lnTo>
                  <a:pt x="163690" y="50799"/>
                </a:lnTo>
                <a:close/>
              </a:path>
              <a:path w="518159" h="2578100">
                <a:moveTo>
                  <a:pt x="163690" y="38207"/>
                </a:moveTo>
                <a:close/>
              </a:path>
              <a:path w="518159" h="2578100">
                <a:moveTo>
                  <a:pt x="201790" y="50799"/>
                </a:moveTo>
                <a:lnTo>
                  <a:pt x="165176" y="50799"/>
                </a:lnTo>
                <a:lnTo>
                  <a:pt x="163690" y="38099"/>
                </a:lnTo>
                <a:lnTo>
                  <a:pt x="201790" y="38099"/>
                </a:lnTo>
                <a:lnTo>
                  <a:pt x="201790" y="50799"/>
                </a:lnTo>
                <a:close/>
              </a:path>
              <a:path w="518159" h="2578100">
                <a:moveTo>
                  <a:pt x="163906" y="50799"/>
                </a:moveTo>
                <a:lnTo>
                  <a:pt x="163690" y="38805"/>
                </a:lnTo>
                <a:lnTo>
                  <a:pt x="163690" y="38207"/>
                </a:lnTo>
                <a:lnTo>
                  <a:pt x="163906" y="50799"/>
                </a:lnTo>
                <a:close/>
              </a:path>
              <a:path w="518159" h="2578100">
                <a:moveTo>
                  <a:pt x="165176" y="50799"/>
                </a:moveTo>
                <a:lnTo>
                  <a:pt x="163906" y="50799"/>
                </a:lnTo>
                <a:lnTo>
                  <a:pt x="163692" y="38225"/>
                </a:lnTo>
                <a:lnTo>
                  <a:pt x="165176" y="50799"/>
                </a:lnTo>
                <a:close/>
              </a:path>
              <a:path w="518159" h="2578100">
                <a:moveTo>
                  <a:pt x="201790" y="1244600"/>
                </a:moveTo>
                <a:lnTo>
                  <a:pt x="163690" y="1244600"/>
                </a:lnTo>
                <a:lnTo>
                  <a:pt x="163690" y="38805"/>
                </a:lnTo>
                <a:lnTo>
                  <a:pt x="163906" y="50799"/>
                </a:lnTo>
                <a:lnTo>
                  <a:pt x="201790" y="50799"/>
                </a:lnTo>
                <a:lnTo>
                  <a:pt x="201790" y="1231900"/>
                </a:lnTo>
                <a:lnTo>
                  <a:pt x="200317" y="1231900"/>
                </a:lnTo>
                <a:lnTo>
                  <a:pt x="201790" y="1244384"/>
                </a:lnTo>
                <a:lnTo>
                  <a:pt x="201790" y="1244600"/>
                </a:lnTo>
                <a:close/>
              </a:path>
              <a:path w="518159" h="2578100">
                <a:moveTo>
                  <a:pt x="201790" y="1244384"/>
                </a:moveTo>
                <a:lnTo>
                  <a:pt x="200317" y="1231900"/>
                </a:lnTo>
                <a:lnTo>
                  <a:pt x="201790" y="1231900"/>
                </a:lnTo>
                <a:lnTo>
                  <a:pt x="201790" y="1244384"/>
                </a:lnTo>
                <a:close/>
              </a:path>
              <a:path w="518159" h="2578100">
                <a:moveTo>
                  <a:pt x="218960" y="1244600"/>
                </a:moveTo>
                <a:lnTo>
                  <a:pt x="201815" y="1244600"/>
                </a:lnTo>
                <a:lnTo>
                  <a:pt x="201790" y="1231900"/>
                </a:lnTo>
                <a:lnTo>
                  <a:pt x="209816" y="1231900"/>
                </a:lnTo>
                <a:lnTo>
                  <a:pt x="218960" y="1244600"/>
                </a:lnTo>
                <a:close/>
              </a:path>
              <a:path w="518159" h="2578100">
                <a:moveTo>
                  <a:pt x="312191" y="1257300"/>
                </a:moveTo>
                <a:lnTo>
                  <a:pt x="167246" y="1257300"/>
                </a:lnTo>
                <a:lnTo>
                  <a:pt x="164541" y="1244600"/>
                </a:lnTo>
                <a:lnTo>
                  <a:pt x="295414" y="1244600"/>
                </a:lnTo>
                <a:lnTo>
                  <a:pt x="312191" y="1257300"/>
                </a:lnTo>
                <a:close/>
              </a:path>
              <a:path w="518159" h="2578100">
                <a:moveTo>
                  <a:pt x="220649" y="1270000"/>
                </a:moveTo>
                <a:lnTo>
                  <a:pt x="178066" y="1270000"/>
                </a:lnTo>
                <a:lnTo>
                  <a:pt x="174332" y="1257300"/>
                </a:lnTo>
                <a:lnTo>
                  <a:pt x="233070" y="1257300"/>
                </a:lnTo>
                <a:lnTo>
                  <a:pt x="220649" y="1270000"/>
                </a:lnTo>
                <a:close/>
              </a:path>
              <a:path w="518159" h="2578100">
                <a:moveTo>
                  <a:pt x="365163" y="1295400"/>
                </a:moveTo>
                <a:lnTo>
                  <a:pt x="310045" y="1295400"/>
                </a:lnTo>
                <a:lnTo>
                  <a:pt x="292912" y="1282700"/>
                </a:lnTo>
                <a:lnTo>
                  <a:pt x="209334" y="1282700"/>
                </a:lnTo>
                <a:lnTo>
                  <a:pt x="199313" y="1270000"/>
                </a:lnTo>
                <a:lnTo>
                  <a:pt x="220649" y="1270000"/>
                </a:lnTo>
                <a:lnTo>
                  <a:pt x="233070" y="1257300"/>
                </a:lnTo>
                <a:lnTo>
                  <a:pt x="365163" y="1257300"/>
                </a:lnTo>
                <a:lnTo>
                  <a:pt x="365163" y="1295400"/>
                </a:lnTo>
                <a:close/>
              </a:path>
              <a:path w="518159" h="2578100">
                <a:moveTo>
                  <a:pt x="517728" y="1295400"/>
                </a:moveTo>
                <a:lnTo>
                  <a:pt x="365163" y="1295400"/>
                </a:lnTo>
                <a:lnTo>
                  <a:pt x="365163" y="1257300"/>
                </a:lnTo>
                <a:lnTo>
                  <a:pt x="517728" y="1257300"/>
                </a:lnTo>
                <a:lnTo>
                  <a:pt x="517728" y="1295400"/>
                </a:lnTo>
                <a:close/>
              </a:path>
              <a:path w="518159" h="2578100">
                <a:moveTo>
                  <a:pt x="209334" y="1282700"/>
                </a:moveTo>
                <a:lnTo>
                  <a:pt x="181914" y="1282700"/>
                </a:lnTo>
                <a:lnTo>
                  <a:pt x="185902" y="1270000"/>
                </a:lnTo>
                <a:lnTo>
                  <a:pt x="199313" y="1270000"/>
                </a:lnTo>
                <a:lnTo>
                  <a:pt x="209334" y="1282700"/>
                </a:lnTo>
                <a:close/>
              </a:path>
              <a:path w="518159" h="2578100">
                <a:moveTo>
                  <a:pt x="310045" y="1295400"/>
                </a:moveTo>
                <a:lnTo>
                  <a:pt x="167246" y="1295400"/>
                </a:lnTo>
                <a:lnTo>
                  <a:pt x="170675" y="1282700"/>
                </a:lnTo>
                <a:lnTo>
                  <a:pt x="292912" y="1282700"/>
                </a:lnTo>
                <a:lnTo>
                  <a:pt x="310045" y="1295400"/>
                </a:lnTo>
                <a:close/>
              </a:path>
              <a:path w="518159" h="2578100">
                <a:moveTo>
                  <a:pt x="163690" y="2527192"/>
                </a:moveTo>
                <a:lnTo>
                  <a:pt x="163690" y="1295400"/>
                </a:lnTo>
                <a:lnTo>
                  <a:pt x="228574" y="1295400"/>
                </a:lnTo>
                <a:lnTo>
                  <a:pt x="218071" y="1308100"/>
                </a:lnTo>
                <a:lnTo>
                  <a:pt x="201790" y="1308100"/>
                </a:lnTo>
                <a:lnTo>
                  <a:pt x="201790" y="2514600"/>
                </a:lnTo>
                <a:lnTo>
                  <a:pt x="165176" y="2514600"/>
                </a:lnTo>
                <a:lnTo>
                  <a:pt x="163690" y="2527192"/>
                </a:lnTo>
                <a:close/>
              </a:path>
              <a:path w="518159" h="2578100">
                <a:moveTo>
                  <a:pt x="227876" y="1308100"/>
                </a:moveTo>
                <a:lnTo>
                  <a:pt x="228574" y="1295400"/>
                </a:lnTo>
                <a:lnTo>
                  <a:pt x="239661" y="1295400"/>
                </a:lnTo>
                <a:lnTo>
                  <a:pt x="227876" y="1308100"/>
                </a:lnTo>
                <a:close/>
              </a:path>
              <a:path w="518159" h="2578100">
                <a:moveTo>
                  <a:pt x="158153" y="2527300"/>
                </a:moveTo>
                <a:lnTo>
                  <a:pt x="154812" y="2527300"/>
                </a:lnTo>
                <a:lnTo>
                  <a:pt x="158838" y="2514600"/>
                </a:lnTo>
                <a:lnTo>
                  <a:pt x="158153" y="2527300"/>
                </a:lnTo>
                <a:close/>
              </a:path>
              <a:path w="518159" h="2578100">
                <a:moveTo>
                  <a:pt x="163677" y="2527300"/>
                </a:moveTo>
                <a:lnTo>
                  <a:pt x="158153" y="2527300"/>
                </a:lnTo>
                <a:lnTo>
                  <a:pt x="161810" y="2514600"/>
                </a:lnTo>
                <a:lnTo>
                  <a:pt x="163690" y="2514600"/>
                </a:lnTo>
                <a:lnTo>
                  <a:pt x="163677" y="2527300"/>
                </a:lnTo>
                <a:close/>
              </a:path>
              <a:path w="518159" h="2578100">
                <a:moveTo>
                  <a:pt x="201790" y="2527300"/>
                </a:moveTo>
                <a:lnTo>
                  <a:pt x="163690" y="2527300"/>
                </a:lnTo>
                <a:lnTo>
                  <a:pt x="165176" y="2514600"/>
                </a:lnTo>
                <a:lnTo>
                  <a:pt x="201790" y="2514600"/>
                </a:lnTo>
                <a:lnTo>
                  <a:pt x="201790" y="2527300"/>
                </a:lnTo>
                <a:close/>
              </a:path>
              <a:path w="518159" h="2578100">
                <a:moveTo>
                  <a:pt x="198247" y="2540000"/>
                </a:moveTo>
                <a:lnTo>
                  <a:pt x="69710" y="2540000"/>
                </a:lnTo>
                <a:lnTo>
                  <a:pt x="85661" y="2527300"/>
                </a:lnTo>
                <a:lnTo>
                  <a:pt x="200939" y="2527300"/>
                </a:lnTo>
                <a:lnTo>
                  <a:pt x="198247" y="2540000"/>
                </a:lnTo>
                <a:close/>
              </a:path>
              <a:path w="518159" h="2578100">
                <a:moveTo>
                  <a:pt x="72567" y="2578100"/>
                </a:moveTo>
                <a:lnTo>
                  <a:pt x="317" y="2578100"/>
                </a:lnTo>
                <a:lnTo>
                  <a:pt x="0" y="2540000"/>
                </a:lnTo>
                <a:lnTo>
                  <a:pt x="194817" y="2540000"/>
                </a:lnTo>
                <a:lnTo>
                  <a:pt x="191160" y="2552700"/>
                </a:lnTo>
                <a:lnTo>
                  <a:pt x="166179" y="2552700"/>
                </a:lnTo>
                <a:lnTo>
                  <a:pt x="156159" y="2565400"/>
                </a:lnTo>
                <a:lnTo>
                  <a:pt x="88912" y="2565400"/>
                </a:lnTo>
                <a:lnTo>
                  <a:pt x="72567" y="25781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7381392" y="3192221"/>
            <a:ext cx="1729105" cy="14008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7630" marR="5080" indent="-75565">
              <a:lnSpc>
                <a:spcPct val="141000"/>
              </a:lnSpc>
              <a:spcBef>
                <a:spcPts val="100"/>
              </a:spcBef>
            </a:pPr>
            <a:r>
              <a:rPr dirty="0" sz="3200" b="1">
                <a:latin typeface="华文楷体"/>
                <a:cs typeface="华文楷体"/>
              </a:rPr>
              <a:t>电磁感应 </a:t>
            </a:r>
            <a:r>
              <a:rPr dirty="0" sz="3200" b="1">
                <a:latin typeface="华文楷体"/>
                <a:cs typeface="华文楷体"/>
              </a:rPr>
              <a:t>守恒思想</a:t>
            </a:r>
            <a:endParaRPr sz="3200">
              <a:latin typeface="华文楷体"/>
              <a:cs typeface="华文楷体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2025-04-20T10:44:30Z</dcterms:created>
  <dcterms:modified xsi:type="dcterms:W3CDTF">2025-04-20T10:44:30Z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2023-10-17T00:00:00Z</vt:filetime>
  </property>
  <property fmtid="{D5CDD505-2E9C-101B-9397-08002B2CF9AE}" pid="3" name="Creator">
    <vt:lpwstr>WPS 演示</vt:lpwstr>
  </property>
  <property fmtid="{D5CDD505-2E9C-101B-9397-08002B2CF9AE}" pid="4" name="LastSaved">
    <vt:filetime>2025-04-20T00:00:00Z</vt:filetime>
  </property>
</Properties>
</file>