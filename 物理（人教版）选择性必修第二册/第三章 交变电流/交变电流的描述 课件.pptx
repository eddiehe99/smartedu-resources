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22799" y="2660078"/>
            <a:ext cx="29464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98139" y="2442336"/>
            <a:ext cx="6195720" cy="2371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49382" y="2073452"/>
            <a:ext cx="4292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交变电流的描述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91586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4680"/>
                <a:gridCol w="1520190"/>
                <a:gridCol w="448437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主讲人：周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玮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8073" y="2107361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latin typeface="微软雅黑"/>
                <a:cs typeface="微软雅黑"/>
              </a:rPr>
              <a:t>交变电流的描述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41892" y="3380181"/>
          <a:ext cx="6941820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9170"/>
                <a:gridCol w="843280"/>
                <a:gridCol w="3849370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6050">
                        <a:lnSpc>
                          <a:spcPts val="2845"/>
                        </a:lnSpc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2845"/>
                        </a:lnSpc>
                      </a:pPr>
                      <a:r>
                        <a:rPr dirty="0" sz="2400" spc="-5" b="1">
                          <a:latin typeface="华文楷体"/>
                          <a:cs typeface="华文楷体"/>
                        </a:rPr>
                        <a:t>科</a:t>
                      </a:r>
                      <a:r>
                        <a:rPr dirty="0" sz="2400" b="1">
                          <a:latin typeface="华文楷体"/>
                          <a:cs typeface="华文楷体"/>
                        </a:rPr>
                        <a:t>：物理（人教版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主讲人：周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玮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400" spc="-5" b="1"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0346" y="1325511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313176" y="1699260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12820" y="1923288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76395" y="196997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77055" y="2255520"/>
            <a:ext cx="4017263" cy="1874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86747" y="4305452"/>
            <a:ext cx="6121400" cy="11176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609600">
              <a:lnSpc>
                <a:spcPct val="99300"/>
              </a:lnSpc>
              <a:spcBef>
                <a:spcPts val="120"/>
              </a:spcBef>
            </a:pPr>
            <a:r>
              <a:rPr dirty="0" sz="2400">
                <a:latin typeface="华文楷体"/>
                <a:cs typeface="华文楷体"/>
              </a:rPr>
              <a:t>正弦式交变电流的大小和方向都随时间发 生周期性变化，那么我们如何描述这种电流的 变化特征呢？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7527" y="1600479"/>
            <a:ext cx="2692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一、周期和频率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203003" y="2238324"/>
            <a:ext cx="6630034" cy="1648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08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我们把交变电流完成一次周期性变化所需的时间，叫</a:t>
            </a:r>
            <a:r>
              <a:rPr dirty="0" sz="2000">
                <a:latin typeface="华文楷体"/>
                <a:cs typeface="华文楷体"/>
              </a:rPr>
              <a:t>作 </a:t>
            </a:r>
            <a:r>
              <a:rPr dirty="0" sz="2000">
                <a:latin typeface="华文楷体"/>
                <a:cs typeface="华文楷体"/>
              </a:rPr>
              <a:t>它的</a:t>
            </a: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周期</a:t>
            </a:r>
            <a:r>
              <a:rPr dirty="0" sz="2000">
                <a:latin typeface="华文楷体"/>
                <a:cs typeface="华文楷体"/>
              </a:rPr>
              <a:t>，通常用</a:t>
            </a:r>
            <a:r>
              <a:rPr dirty="0" sz="2000" spc="-10" i="1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 sz="2000">
                <a:latin typeface="华文楷体"/>
                <a:cs typeface="华文楷体"/>
              </a:rPr>
              <a:t>表示，单位是</a:t>
            </a: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秒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algn="just" marL="12700" marR="5080" indent="508000">
              <a:lnSpc>
                <a:spcPct val="100000"/>
              </a:lnSpc>
              <a:spcBef>
                <a:spcPts val="770"/>
              </a:spcBef>
            </a:pPr>
            <a:r>
              <a:rPr dirty="0" sz="2000">
                <a:latin typeface="华文楷体"/>
                <a:cs typeface="华文楷体"/>
              </a:rPr>
              <a:t>交变电流完成周期性变化的次数与所用时间之比叫做</a:t>
            </a:r>
            <a:r>
              <a:rPr dirty="0" sz="2000">
                <a:latin typeface="华文楷体"/>
                <a:cs typeface="华文楷体"/>
              </a:rPr>
              <a:t>它 </a:t>
            </a:r>
            <a:r>
              <a:rPr dirty="0" sz="2000">
                <a:latin typeface="华文楷体"/>
                <a:cs typeface="华文楷体"/>
              </a:rPr>
              <a:t>的</a:t>
            </a: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000">
                <a:latin typeface="华文楷体"/>
                <a:cs typeface="华文楷体"/>
              </a:rPr>
              <a:t>，数值等于交变电流在单位时间内完成周期性变化</a:t>
            </a:r>
            <a:r>
              <a:rPr dirty="0" sz="2000">
                <a:latin typeface="华文楷体"/>
                <a:cs typeface="华文楷体"/>
              </a:rPr>
              <a:t>的 </a:t>
            </a:r>
            <a:r>
              <a:rPr dirty="0" sz="2000">
                <a:latin typeface="华文楷体"/>
                <a:cs typeface="华文楷体"/>
              </a:rPr>
              <a:t>次数。频率通常用</a:t>
            </a:r>
            <a:r>
              <a:rPr dirty="0" sz="2000" spc="-5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000">
                <a:latin typeface="华文楷体"/>
                <a:cs typeface="华文楷体"/>
              </a:rPr>
              <a:t>表示，单位是</a:t>
            </a: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赫兹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46000" y="4592573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 h="0">
                <a:moveTo>
                  <a:pt x="0" y="0"/>
                </a:moveTo>
                <a:lnTo>
                  <a:pt x="245808" y="0"/>
                </a:lnTo>
              </a:path>
            </a:pathLst>
          </a:custGeom>
          <a:ln w="169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96815" y="4126610"/>
            <a:ext cx="988694" cy="902969"/>
          </a:xfrm>
          <a:custGeom>
            <a:avLst/>
            <a:gdLst/>
            <a:ahLst/>
            <a:cxnLst/>
            <a:rect l="l" t="t" r="r" b="b"/>
            <a:pathLst>
              <a:path w="988695" h="902970">
                <a:moveTo>
                  <a:pt x="988313" y="902969"/>
                </a:moveTo>
                <a:lnTo>
                  <a:pt x="0" y="902969"/>
                </a:lnTo>
                <a:lnTo>
                  <a:pt x="0" y="0"/>
                </a:lnTo>
                <a:lnTo>
                  <a:pt x="988313" y="0"/>
                </a:lnTo>
                <a:lnTo>
                  <a:pt x="98831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93444"/>
                </a:lnTo>
                <a:lnTo>
                  <a:pt x="4762" y="893444"/>
                </a:lnTo>
                <a:lnTo>
                  <a:pt x="9525" y="898207"/>
                </a:lnTo>
                <a:lnTo>
                  <a:pt x="988313" y="898207"/>
                </a:lnTo>
                <a:lnTo>
                  <a:pt x="988313" y="902969"/>
                </a:lnTo>
                <a:close/>
              </a:path>
              <a:path w="988695" h="90297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88695" h="902970">
                <a:moveTo>
                  <a:pt x="978788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978788" y="4762"/>
                </a:lnTo>
                <a:lnTo>
                  <a:pt x="978788" y="9525"/>
                </a:lnTo>
                <a:close/>
              </a:path>
              <a:path w="988695" h="902970">
                <a:moveTo>
                  <a:pt x="978788" y="898207"/>
                </a:moveTo>
                <a:lnTo>
                  <a:pt x="978788" y="4762"/>
                </a:lnTo>
                <a:lnTo>
                  <a:pt x="983551" y="9525"/>
                </a:lnTo>
                <a:lnTo>
                  <a:pt x="988313" y="9525"/>
                </a:lnTo>
                <a:lnTo>
                  <a:pt x="988313" y="893444"/>
                </a:lnTo>
                <a:lnTo>
                  <a:pt x="983551" y="893444"/>
                </a:lnTo>
                <a:lnTo>
                  <a:pt x="978788" y="898207"/>
                </a:lnTo>
                <a:close/>
              </a:path>
              <a:path w="988695" h="902970">
                <a:moveTo>
                  <a:pt x="988313" y="9525"/>
                </a:moveTo>
                <a:lnTo>
                  <a:pt x="983551" y="9525"/>
                </a:lnTo>
                <a:lnTo>
                  <a:pt x="978788" y="4762"/>
                </a:lnTo>
                <a:lnTo>
                  <a:pt x="988313" y="4762"/>
                </a:lnTo>
                <a:lnTo>
                  <a:pt x="988313" y="9525"/>
                </a:lnTo>
                <a:close/>
              </a:path>
              <a:path w="988695" h="902970">
                <a:moveTo>
                  <a:pt x="9525" y="898207"/>
                </a:moveTo>
                <a:lnTo>
                  <a:pt x="4762" y="893444"/>
                </a:lnTo>
                <a:lnTo>
                  <a:pt x="9525" y="893444"/>
                </a:lnTo>
                <a:lnTo>
                  <a:pt x="9525" y="898207"/>
                </a:lnTo>
                <a:close/>
              </a:path>
              <a:path w="988695" h="902970">
                <a:moveTo>
                  <a:pt x="978788" y="898207"/>
                </a:moveTo>
                <a:lnTo>
                  <a:pt x="9525" y="898207"/>
                </a:lnTo>
                <a:lnTo>
                  <a:pt x="9525" y="893444"/>
                </a:lnTo>
                <a:lnTo>
                  <a:pt x="978788" y="893444"/>
                </a:lnTo>
                <a:lnTo>
                  <a:pt x="978788" y="898207"/>
                </a:lnTo>
                <a:close/>
              </a:path>
              <a:path w="988695" h="902970">
                <a:moveTo>
                  <a:pt x="988313" y="898207"/>
                </a:moveTo>
                <a:lnTo>
                  <a:pt x="978788" y="898207"/>
                </a:lnTo>
                <a:lnTo>
                  <a:pt x="983551" y="893444"/>
                </a:lnTo>
                <a:lnTo>
                  <a:pt x="988313" y="893444"/>
                </a:lnTo>
                <a:lnTo>
                  <a:pt x="988313" y="8982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09603" y="4324934"/>
            <a:ext cx="1379855" cy="7029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2640"/>
              </a:lnSpc>
              <a:spcBef>
                <a:spcPts val="135"/>
              </a:spcBef>
              <a:tabLst>
                <a:tab pos="250825" algn="l"/>
                <a:tab pos="1049020" algn="l"/>
              </a:tabLst>
            </a:pPr>
            <a:r>
              <a:rPr dirty="0" sz="2650" spc="10" i="1">
                <a:latin typeface="Times New Roman"/>
                <a:cs typeface="Times New Roman"/>
              </a:rPr>
              <a:t>f</a:t>
            </a:r>
            <a:r>
              <a:rPr dirty="0" sz="2650" spc="10" i="1">
                <a:latin typeface="Times New Roman"/>
                <a:cs typeface="Times New Roman"/>
              </a:rPr>
              <a:t>	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300">
                <a:latin typeface="Times New Roman"/>
                <a:cs typeface="Times New Roman"/>
              </a:rPr>
              <a:t> </a:t>
            </a:r>
            <a:r>
              <a:rPr dirty="0" baseline="35639" sz="3975" spc="22">
                <a:latin typeface="Times New Roman"/>
                <a:cs typeface="Times New Roman"/>
              </a:rPr>
              <a:t>1</a:t>
            </a:r>
            <a:r>
              <a:rPr dirty="0" baseline="35639" sz="3975">
                <a:latin typeface="Times New Roman"/>
                <a:cs typeface="Times New Roman"/>
              </a:rPr>
              <a:t>	</a:t>
            </a:r>
            <a:r>
              <a:rPr dirty="0" sz="2400">
                <a:latin typeface="华文楷体"/>
                <a:cs typeface="华文楷体"/>
              </a:rPr>
              <a:t>或</a:t>
            </a:r>
            <a:endParaRPr sz="2400">
              <a:latin typeface="华文楷体"/>
              <a:cs typeface="华文楷体"/>
            </a:endParaRPr>
          </a:p>
          <a:p>
            <a:pPr algn="ctr" marR="108585">
              <a:lnSpc>
                <a:spcPts val="2640"/>
              </a:lnSpc>
            </a:pPr>
            <a:r>
              <a:rPr dirty="0" sz="2650" spc="20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78763" y="4580953"/>
            <a:ext cx="249554" cy="0"/>
          </a:xfrm>
          <a:custGeom>
            <a:avLst/>
            <a:gdLst/>
            <a:ahLst/>
            <a:cxnLst/>
            <a:rect l="l" t="t" r="r" b="b"/>
            <a:pathLst>
              <a:path w="249554" h="0">
                <a:moveTo>
                  <a:pt x="0" y="0"/>
                </a:moveTo>
                <a:lnTo>
                  <a:pt x="249504" y="0"/>
                </a:lnTo>
              </a:path>
            </a:pathLst>
          </a:custGeom>
          <a:ln w="1549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32828" y="4335233"/>
            <a:ext cx="761365" cy="6451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ts val="2435"/>
              </a:lnSpc>
              <a:spcBef>
                <a:spcPts val="105"/>
              </a:spcBef>
            </a:pPr>
            <a:r>
              <a:rPr dirty="0" sz="2450" i="1">
                <a:latin typeface="Times New Roman"/>
                <a:cs typeface="Times New Roman"/>
              </a:rPr>
              <a:t>T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 spc="-85">
                <a:latin typeface="Times New Roman"/>
                <a:cs typeface="Times New Roman"/>
              </a:rPr>
              <a:t> </a:t>
            </a:r>
            <a:r>
              <a:rPr dirty="0" baseline="35147" sz="3675">
                <a:latin typeface="Times New Roman"/>
                <a:cs typeface="Times New Roman"/>
              </a:rPr>
              <a:t>1</a:t>
            </a:r>
            <a:endParaRPr baseline="35147" sz="3675">
              <a:latin typeface="Times New Roman"/>
              <a:cs typeface="Times New Roman"/>
            </a:endParaRPr>
          </a:p>
          <a:p>
            <a:pPr algn="r" marR="42545">
              <a:lnSpc>
                <a:spcPts val="2435"/>
              </a:lnSpc>
            </a:pPr>
            <a:r>
              <a:rPr dirty="0" sz="2450" i="1">
                <a:latin typeface="Times New Roman"/>
                <a:cs typeface="Times New Roman"/>
              </a:rPr>
              <a:t>f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08267" y="4154042"/>
            <a:ext cx="906144" cy="880110"/>
          </a:xfrm>
          <a:custGeom>
            <a:avLst/>
            <a:gdLst/>
            <a:ahLst/>
            <a:cxnLst/>
            <a:rect l="l" t="t" r="r" b="b"/>
            <a:pathLst>
              <a:path w="906145" h="880110">
                <a:moveTo>
                  <a:pt x="906017" y="880110"/>
                </a:moveTo>
                <a:lnTo>
                  <a:pt x="0" y="880110"/>
                </a:lnTo>
                <a:lnTo>
                  <a:pt x="0" y="0"/>
                </a:lnTo>
                <a:lnTo>
                  <a:pt x="906017" y="0"/>
                </a:lnTo>
                <a:lnTo>
                  <a:pt x="90601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70585"/>
                </a:lnTo>
                <a:lnTo>
                  <a:pt x="4762" y="870585"/>
                </a:lnTo>
                <a:lnTo>
                  <a:pt x="9525" y="875347"/>
                </a:lnTo>
                <a:lnTo>
                  <a:pt x="906017" y="875347"/>
                </a:lnTo>
                <a:lnTo>
                  <a:pt x="906017" y="880110"/>
                </a:lnTo>
                <a:close/>
              </a:path>
              <a:path w="906145" h="88011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906145" h="880110">
                <a:moveTo>
                  <a:pt x="89649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96492" y="4762"/>
                </a:lnTo>
                <a:lnTo>
                  <a:pt x="896492" y="9525"/>
                </a:lnTo>
                <a:close/>
              </a:path>
              <a:path w="906145" h="880110">
                <a:moveTo>
                  <a:pt x="896492" y="875347"/>
                </a:moveTo>
                <a:lnTo>
                  <a:pt x="896492" y="4762"/>
                </a:lnTo>
                <a:lnTo>
                  <a:pt x="901255" y="9525"/>
                </a:lnTo>
                <a:lnTo>
                  <a:pt x="906017" y="9525"/>
                </a:lnTo>
                <a:lnTo>
                  <a:pt x="906017" y="870585"/>
                </a:lnTo>
                <a:lnTo>
                  <a:pt x="901255" y="870585"/>
                </a:lnTo>
                <a:lnTo>
                  <a:pt x="896492" y="875347"/>
                </a:lnTo>
                <a:close/>
              </a:path>
              <a:path w="906145" h="880110">
                <a:moveTo>
                  <a:pt x="906017" y="9525"/>
                </a:moveTo>
                <a:lnTo>
                  <a:pt x="901255" y="9525"/>
                </a:lnTo>
                <a:lnTo>
                  <a:pt x="896492" y="4762"/>
                </a:lnTo>
                <a:lnTo>
                  <a:pt x="906017" y="4762"/>
                </a:lnTo>
                <a:lnTo>
                  <a:pt x="906017" y="9525"/>
                </a:lnTo>
                <a:close/>
              </a:path>
              <a:path w="906145" h="880110">
                <a:moveTo>
                  <a:pt x="9525" y="875347"/>
                </a:moveTo>
                <a:lnTo>
                  <a:pt x="4762" y="870585"/>
                </a:lnTo>
                <a:lnTo>
                  <a:pt x="9525" y="870585"/>
                </a:lnTo>
                <a:lnTo>
                  <a:pt x="9525" y="875347"/>
                </a:lnTo>
                <a:close/>
              </a:path>
              <a:path w="906145" h="880110">
                <a:moveTo>
                  <a:pt x="896492" y="875347"/>
                </a:moveTo>
                <a:lnTo>
                  <a:pt x="9525" y="875347"/>
                </a:lnTo>
                <a:lnTo>
                  <a:pt x="9525" y="870585"/>
                </a:lnTo>
                <a:lnTo>
                  <a:pt x="896492" y="870585"/>
                </a:lnTo>
                <a:lnTo>
                  <a:pt x="896492" y="875347"/>
                </a:lnTo>
                <a:close/>
              </a:path>
              <a:path w="906145" h="880110">
                <a:moveTo>
                  <a:pt x="906017" y="875347"/>
                </a:moveTo>
                <a:lnTo>
                  <a:pt x="896492" y="875347"/>
                </a:lnTo>
                <a:lnTo>
                  <a:pt x="901255" y="870585"/>
                </a:lnTo>
                <a:lnTo>
                  <a:pt x="906017" y="870585"/>
                </a:lnTo>
                <a:lnTo>
                  <a:pt x="906017" y="8753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94560" y="1498091"/>
            <a:ext cx="6973824" cy="140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79548" y="2987039"/>
            <a:ext cx="2421636" cy="2808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37980" y="5276128"/>
            <a:ext cx="35623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-60" i="1">
                <a:latin typeface="Symbol"/>
                <a:cs typeface="Symbol"/>
              </a:rPr>
              <a:t>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2178" y="4876419"/>
            <a:ext cx="1014730" cy="810260"/>
          </a:xfrm>
          <a:custGeom>
            <a:avLst/>
            <a:gdLst/>
            <a:ahLst/>
            <a:cxnLst/>
            <a:rect l="l" t="t" r="r" b="b"/>
            <a:pathLst>
              <a:path w="1014729" h="810260">
                <a:moveTo>
                  <a:pt x="1014222" y="810005"/>
                </a:moveTo>
                <a:lnTo>
                  <a:pt x="0" y="810005"/>
                </a:lnTo>
                <a:lnTo>
                  <a:pt x="0" y="0"/>
                </a:lnTo>
                <a:lnTo>
                  <a:pt x="1014222" y="0"/>
                </a:lnTo>
                <a:lnTo>
                  <a:pt x="101422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00480"/>
                </a:lnTo>
                <a:lnTo>
                  <a:pt x="4762" y="800480"/>
                </a:lnTo>
                <a:lnTo>
                  <a:pt x="9525" y="805243"/>
                </a:lnTo>
                <a:lnTo>
                  <a:pt x="1014222" y="805243"/>
                </a:lnTo>
                <a:lnTo>
                  <a:pt x="1014222" y="810005"/>
                </a:lnTo>
                <a:close/>
              </a:path>
              <a:path w="1014729" h="81026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14729" h="810260">
                <a:moveTo>
                  <a:pt x="100469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04697" y="4762"/>
                </a:lnTo>
                <a:lnTo>
                  <a:pt x="1004697" y="9525"/>
                </a:lnTo>
                <a:close/>
              </a:path>
              <a:path w="1014729" h="810260">
                <a:moveTo>
                  <a:pt x="1004697" y="805243"/>
                </a:moveTo>
                <a:lnTo>
                  <a:pt x="1004697" y="4762"/>
                </a:lnTo>
                <a:lnTo>
                  <a:pt x="1009459" y="9525"/>
                </a:lnTo>
                <a:lnTo>
                  <a:pt x="1014222" y="9525"/>
                </a:lnTo>
                <a:lnTo>
                  <a:pt x="1014222" y="800480"/>
                </a:lnTo>
                <a:lnTo>
                  <a:pt x="1009459" y="800480"/>
                </a:lnTo>
                <a:lnTo>
                  <a:pt x="1004697" y="805243"/>
                </a:lnTo>
                <a:close/>
              </a:path>
              <a:path w="1014729" h="810260">
                <a:moveTo>
                  <a:pt x="1014222" y="9525"/>
                </a:moveTo>
                <a:lnTo>
                  <a:pt x="1009459" y="9525"/>
                </a:lnTo>
                <a:lnTo>
                  <a:pt x="1004697" y="4762"/>
                </a:lnTo>
                <a:lnTo>
                  <a:pt x="1014222" y="4762"/>
                </a:lnTo>
                <a:lnTo>
                  <a:pt x="1014222" y="9525"/>
                </a:lnTo>
                <a:close/>
              </a:path>
              <a:path w="1014729" h="810260">
                <a:moveTo>
                  <a:pt x="9525" y="805243"/>
                </a:moveTo>
                <a:lnTo>
                  <a:pt x="4762" y="800480"/>
                </a:lnTo>
                <a:lnTo>
                  <a:pt x="9525" y="800480"/>
                </a:lnTo>
                <a:lnTo>
                  <a:pt x="9525" y="805243"/>
                </a:lnTo>
                <a:close/>
              </a:path>
              <a:path w="1014729" h="810260">
                <a:moveTo>
                  <a:pt x="1004697" y="805243"/>
                </a:moveTo>
                <a:lnTo>
                  <a:pt x="9525" y="805243"/>
                </a:lnTo>
                <a:lnTo>
                  <a:pt x="9525" y="800480"/>
                </a:lnTo>
                <a:lnTo>
                  <a:pt x="1004697" y="800480"/>
                </a:lnTo>
                <a:lnTo>
                  <a:pt x="1004697" y="805243"/>
                </a:lnTo>
                <a:close/>
              </a:path>
              <a:path w="1014729" h="810260">
                <a:moveTo>
                  <a:pt x="1014222" y="805243"/>
                </a:moveTo>
                <a:lnTo>
                  <a:pt x="1004697" y="805243"/>
                </a:lnTo>
                <a:lnTo>
                  <a:pt x="1009459" y="800480"/>
                </a:lnTo>
                <a:lnTo>
                  <a:pt x="1014222" y="800480"/>
                </a:lnTo>
                <a:lnTo>
                  <a:pt x="1014222" y="8052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266207" y="4843833"/>
            <a:ext cx="1380490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baseline="-34722" sz="3600" spc="15" i="1">
                <a:latin typeface="Times New Roman"/>
                <a:cs typeface="Times New Roman"/>
              </a:rPr>
              <a:t>T </a:t>
            </a:r>
            <a:r>
              <a:rPr dirty="0" baseline="-34722" sz="3600" spc="15">
                <a:latin typeface="Symbol"/>
                <a:cs typeface="Symbol"/>
              </a:rPr>
              <a:t></a:t>
            </a:r>
            <a:r>
              <a:rPr dirty="0" baseline="-34722" sz="3600" spc="15">
                <a:latin typeface="Times New Roman"/>
                <a:cs typeface="Times New Roman"/>
              </a:rPr>
              <a:t> </a:t>
            </a:r>
            <a:r>
              <a:rPr dirty="0" u="heavy" sz="2400" spc="-1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heavy" sz="2500" spc="-165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</a:t>
            </a:r>
            <a:r>
              <a:rPr dirty="0" sz="2500" spc="-130" i="1">
                <a:latin typeface="Times New Roman"/>
                <a:cs typeface="Times New Roman"/>
              </a:rPr>
              <a:t> </a:t>
            </a:r>
            <a:r>
              <a:rPr dirty="0" baseline="-43981" sz="3600">
                <a:latin typeface="华文楷体"/>
                <a:cs typeface="华文楷体"/>
              </a:rPr>
              <a:t>或</a:t>
            </a:r>
            <a:endParaRPr baseline="-43981" sz="36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29436" y="5278253"/>
            <a:ext cx="46228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180">
                <a:latin typeface="Times New Roman"/>
                <a:cs typeface="Times New Roman"/>
              </a:rPr>
              <a:t>2</a:t>
            </a:r>
            <a:r>
              <a:rPr dirty="0" sz="2700" spc="-180" i="1">
                <a:latin typeface="Symbol"/>
                <a:cs typeface="Symbol"/>
              </a:rPr>
              <a:t>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4799" y="5021116"/>
            <a:ext cx="93916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4000" algn="l"/>
                <a:tab pos="570230" algn="l"/>
              </a:tabLst>
            </a:pPr>
            <a:r>
              <a:rPr dirty="0" sz="2550" spc="5" i="1">
                <a:latin typeface="Times New Roman"/>
                <a:cs typeface="Times New Roman"/>
              </a:rPr>
              <a:t>f	</a:t>
            </a:r>
            <a:r>
              <a:rPr dirty="0" sz="2550" spc="10">
                <a:latin typeface="Symbol"/>
                <a:cs typeface="Symbol"/>
              </a:rPr>
              <a:t></a:t>
            </a:r>
            <a:r>
              <a:rPr dirty="0" sz="2550" spc="10">
                <a:latin typeface="Times New Roman"/>
                <a:cs typeface="Times New Roman"/>
              </a:rPr>
              <a:t>	</a:t>
            </a:r>
            <a:r>
              <a:rPr dirty="0" u="heavy" baseline="33950" sz="4050" spc="-135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</a:t>
            </a:r>
            <a:endParaRPr baseline="33950" sz="40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96658" y="4845939"/>
            <a:ext cx="1116330" cy="869950"/>
          </a:xfrm>
          <a:custGeom>
            <a:avLst/>
            <a:gdLst/>
            <a:ahLst/>
            <a:cxnLst/>
            <a:rect l="l" t="t" r="r" b="b"/>
            <a:pathLst>
              <a:path w="1116329" h="869950">
                <a:moveTo>
                  <a:pt x="1116330" y="869441"/>
                </a:moveTo>
                <a:lnTo>
                  <a:pt x="0" y="869441"/>
                </a:lnTo>
                <a:lnTo>
                  <a:pt x="0" y="0"/>
                </a:lnTo>
                <a:lnTo>
                  <a:pt x="1116330" y="0"/>
                </a:lnTo>
                <a:lnTo>
                  <a:pt x="111633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59916"/>
                </a:lnTo>
                <a:lnTo>
                  <a:pt x="4762" y="859916"/>
                </a:lnTo>
                <a:lnTo>
                  <a:pt x="9525" y="864679"/>
                </a:lnTo>
                <a:lnTo>
                  <a:pt x="1116330" y="864679"/>
                </a:lnTo>
                <a:lnTo>
                  <a:pt x="1116330" y="869441"/>
                </a:lnTo>
                <a:close/>
              </a:path>
              <a:path w="1116329" h="8699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16329" h="869950">
                <a:moveTo>
                  <a:pt x="110680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06805" y="4762"/>
                </a:lnTo>
                <a:lnTo>
                  <a:pt x="1106805" y="9525"/>
                </a:lnTo>
                <a:close/>
              </a:path>
              <a:path w="1116329" h="869950">
                <a:moveTo>
                  <a:pt x="1106805" y="864679"/>
                </a:moveTo>
                <a:lnTo>
                  <a:pt x="1106805" y="4762"/>
                </a:lnTo>
                <a:lnTo>
                  <a:pt x="1111567" y="9525"/>
                </a:lnTo>
                <a:lnTo>
                  <a:pt x="1116330" y="9525"/>
                </a:lnTo>
                <a:lnTo>
                  <a:pt x="1116330" y="859916"/>
                </a:lnTo>
                <a:lnTo>
                  <a:pt x="1111567" y="859916"/>
                </a:lnTo>
                <a:lnTo>
                  <a:pt x="1106805" y="864679"/>
                </a:lnTo>
                <a:close/>
              </a:path>
              <a:path w="1116329" h="869950">
                <a:moveTo>
                  <a:pt x="1116330" y="9525"/>
                </a:moveTo>
                <a:lnTo>
                  <a:pt x="1111567" y="9525"/>
                </a:lnTo>
                <a:lnTo>
                  <a:pt x="1106805" y="4762"/>
                </a:lnTo>
                <a:lnTo>
                  <a:pt x="1116330" y="4762"/>
                </a:lnTo>
                <a:lnTo>
                  <a:pt x="1116330" y="9525"/>
                </a:lnTo>
                <a:close/>
              </a:path>
              <a:path w="1116329" h="869950">
                <a:moveTo>
                  <a:pt x="9525" y="864679"/>
                </a:moveTo>
                <a:lnTo>
                  <a:pt x="4762" y="859916"/>
                </a:lnTo>
                <a:lnTo>
                  <a:pt x="9525" y="859916"/>
                </a:lnTo>
                <a:lnTo>
                  <a:pt x="9525" y="864679"/>
                </a:lnTo>
                <a:close/>
              </a:path>
              <a:path w="1116329" h="869950">
                <a:moveTo>
                  <a:pt x="1106805" y="864679"/>
                </a:moveTo>
                <a:lnTo>
                  <a:pt x="9525" y="864679"/>
                </a:lnTo>
                <a:lnTo>
                  <a:pt x="9525" y="859916"/>
                </a:lnTo>
                <a:lnTo>
                  <a:pt x="1106805" y="859916"/>
                </a:lnTo>
                <a:lnTo>
                  <a:pt x="1106805" y="864679"/>
                </a:lnTo>
                <a:close/>
              </a:path>
              <a:path w="1116329" h="869950">
                <a:moveTo>
                  <a:pt x="1116330" y="864679"/>
                </a:moveTo>
                <a:lnTo>
                  <a:pt x="1106805" y="864679"/>
                </a:lnTo>
                <a:lnTo>
                  <a:pt x="1111567" y="859916"/>
                </a:lnTo>
                <a:lnTo>
                  <a:pt x="1116330" y="859916"/>
                </a:lnTo>
                <a:lnTo>
                  <a:pt x="1116330" y="8646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88596" y="2927454"/>
            <a:ext cx="1556385" cy="137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445">
              <a:lnSpc>
                <a:spcPct val="122600"/>
              </a:lnSpc>
              <a:spcBef>
                <a:spcPts val="95"/>
              </a:spcBef>
            </a:pPr>
            <a:r>
              <a:rPr dirty="0" sz="2300" i="1">
                <a:latin typeface="Times New Roman"/>
                <a:cs typeface="Times New Roman"/>
              </a:rPr>
              <a:t>e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sz="2300" spc="15" i="1">
                <a:latin typeface="Times New Roman"/>
                <a:cs typeface="Times New Roman"/>
              </a:rPr>
              <a:t>E</a:t>
            </a:r>
            <a:r>
              <a:rPr dirty="0" baseline="-25641" sz="1950" spc="22">
                <a:latin typeface="Times New Roman"/>
                <a:cs typeface="Times New Roman"/>
              </a:rPr>
              <a:t>m </a:t>
            </a:r>
            <a:r>
              <a:rPr dirty="0" sz="2300" spc="-150">
                <a:latin typeface="Times New Roman"/>
                <a:cs typeface="Times New Roman"/>
              </a:rPr>
              <a:t>sin</a:t>
            </a:r>
            <a:r>
              <a:rPr dirty="0" sz="2400" spc="-150" i="1">
                <a:latin typeface="Symbol"/>
                <a:cs typeface="Symbol"/>
              </a:rPr>
              <a:t></a:t>
            </a:r>
            <a:r>
              <a:rPr dirty="0" sz="2300" spc="-150" i="1">
                <a:latin typeface="Times New Roman"/>
                <a:cs typeface="Times New Roman"/>
              </a:rPr>
              <a:t>t  </a:t>
            </a:r>
            <a:r>
              <a:rPr dirty="0" sz="2300" i="1">
                <a:latin typeface="Times New Roman"/>
                <a:cs typeface="Times New Roman"/>
              </a:rPr>
              <a:t>i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sz="2300" spc="80" i="1">
                <a:latin typeface="Times New Roman"/>
                <a:cs typeface="Times New Roman"/>
              </a:rPr>
              <a:t>I</a:t>
            </a:r>
            <a:r>
              <a:rPr dirty="0" baseline="-25641" sz="1950" spc="120">
                <a:latin typeface="Times New Roman"/>
                <a:cs typeface="Times New Roman"/>
              </a:rPr>
              <a:t>m </a:t>
            </a:r>
            <a:r>
              <a:rPr dirty="0" sz="2300" spc="-145">
                <a:latin typeface="Times New Roman"/>
                <a:cs typeface="Times New Roman"/>
              </a:rPr>
              <a:t>sin</a:t>
            </a:r>
            <a:r>
              <a:rPr dirty="0" sz="2400" spc="-145" i="1">
                <a:latin typeface="Symbol"/>
                <a:cs typeface="Symbol"/>
              </a:rPr>
              <a:t></a:t>
            </a:r>
            <a:r>
              <a:rPr dirty="0" sz="2300" spc="-145" i="1">
                <a:latin typeface="Times New Roman"/>
                <a:cs typeface="Times New Roman"/>
              </a:rPr>
              <a:t>t  </a:t>
            </a:r>
            <a:r>
              <a:rPr dirty="0" sz="2300" i="1">
                <a:latin typeface="Times New Roman"/>
                <a:cs typeface="Times New Roman"/>
              </a:rPr>
              <a:t>u </a:t>
            </a:r>
            <a:r>
              <a:rPr dirty="0" sz="2300">
                <a:latin typeface="Symbol"/>
                <a:cs typeface="Symbol"/>
              </a:rPr>
              <a:t></a:t>
            </a:r>
            <a:r>
              <a:rPr dirty="0" sz="2300">
                <a:latin typeface="Times New Roman"/>
                <a:cs typeface="Times New Roman"/>
              </a:rPr>
              <a:t> </a:t>
            </a:r>
            <a:r>
              <a:rPr dirty="0" sz="2300" spc="105" i="1">
                <a:latin typeface="Times New Roman"/>
                <a:cs typeface="Times New Roman"/>
              </a:rPr>
              <a:t>U</a:t>
            </a:r>
            <a:r>
              <a:rPr dirty="0" baseline="-25641" sz="1950" spc="157">
                <a:latin typeface="Times New Roman"/>
                <a:cs typeface="Times New Roman"/>
              </a:rPr>
              <a:t>m</a:t>
            </a:r>
            <a:r>
              <a:rPr dirty="0" baseline="-25641" sz="1950" spc="-142">
                <a:latin typeface="Times New Roman"/>
                <a:cs typeface="Times New Roman"/>
              </a:rPr>
              <a:t> </a:t>
            </a:r>
            <a:r>
              <a:rPr dirty="0" sz="2300" spc="-150">
                <a:latin typeface="Times New Roman"/>
                <a:cs typeface="Times New Roman"/>
              </a:rPr>
              <a:t>sin</a:t>
            </a:r>
            <a:r>
              <a:rPr dirty="0" sz="2400" spc="-150" i="1">
                <a:latin typeface="Symbol"/>
                <a:cs typeface="Symbol"/>
              </a:rPr>
              <a:t></a:t>
            </a:r>
            <a:r>
              <a:rPr dirty="0" sz="2300" spc="-150" i="1">
                <a:latin typeface="Times New Roman"/>
                <a:cs typeface="Times New Roman"/>
              </a:rPr>
              <a:t>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4852" y="4178808"/>
            <a:ext cx="2790444" cy="156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16383" y="1344460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4" name="object 4"/>
          <p:cNvSpPr/>
          <p:nvPr/>
        </p:nvSpPr>
        <p:spPr>
          <a:xfrm>
            <a:off x="3159251" y="1719072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58896" y="1941576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22433" y="198892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91784" y="2188464"/>
            <a:ext cx="3349752" cy="1851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50845" y="2241854"/>
            <a:ext cx="2768600" cy="2593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 indent="533400">
              <a:lnSpc>
                <a:spcPct val="99700"/>
              </a:lnSpc>
              <a:spcBef>
                <a:spcPts val="105"/>
              </a:spcBef>
            </a:pPr>
            <a:r>
              <a:rPr dirty="0" sz="2400">
                <a:latin typeface="华文楷体"/>
                <a:cs typeface="华文楷体"/>
              </a:rPr>
              <a:t>一交变电流的电 压随时间的变化图像 如图所示，这个交变 电流的周期是多少？ 频率是多少？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Times New Roman"/>
              <a:cs typeface="Times New Roman"/>
            </a:endParaRPr>
          </a:p>
          <a:p>
            <a:pPr marL="763270">
              <a:lnSpc>
                <a:spcPct val="100000"/>
              </a:lnSpc>
            </a:pPr>
            <a:r>
              <a:rPr dirty="0" sz="2400" i="1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=0.02s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04423" y="5350548"/>
            <a:ext cx="278130" cy="0"/>
          </a:xfrm>
          <a:custGeom>
            <a:avLst/>
            <a:gdLst/>
            <a:ahLst/>
            <a:cxnLst/>
            <a:rect l="l" t="t" r="r" b="b"/>
            <a:pathLst>
              <a:path w="278129" h="0">
                <a:moveTo>
                  <a:pt x="0" y="0"/>
                </a:moveTo>
                <a:lnTo>
                  <a:pt x="277647" y="0"/>
                </a:lnTo>
              </a:path>
            </a:pathLst>
          </a:custGeom>
          <a:ln w="1724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723" y="5347208"/>
            <a:ext cx="196850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50" spc="-20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0208" y="5104282"/>
            <a:ext cx="2093595" cy="400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5910" algn="l"/>
                <a:tab pos="645795" algn="l"/>
                <a:tab pos="984250" algn="l"/>
              </a:tabLst>
            </a:pPr>
            <a:r>
              <a:rPr dirty="0" sz="2450" spc="-10" i="1">
                <a:latin typeface="Times New Roman"/>
                <a:cs typeface="Times New Roman"/>
              </a:rPr>
              <a:t>f	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	</a:t>
            </a:r>
            <a:r>
              <a:rPr dirty="0" baseline="35147" sz="3675" spc="-30">
                <a:latin typeface="Times New Roman"/>
                <a:cs typeface="Times New Roman"/>
              </a:rPr>
              <a:t>1	</a:t>
            </a:r>
            <a:r>
              <a:rPr dirty="0" sz="2450" spc="-20">
                <a:latin typeface="Symbol"/>
                <a:cs typeface="Symbol"/>
              </a:rPr>
              <a:t></a:t>
            </a:r>
            <a:r>
              <a:rPr dirty="0" sz="2450" spc="-20">
                <a:latin typeface="Times New Roman"/>
                <a:cs typeface="Times New Roman"/>
              </a:rPr>
              <a:t> 5 0 </a:t>
            </a:r>
            <a:r>
              <a:rPr dirty="0" sz="2450" spc="-25">
                <a:latin typeface="Times New Roman"/>
                <a:cs typeface="Times New Roman"/>
              </a:rPr>
              <a:t>H</a:t>
            </a:r>
            <a:r>
              <a:rPr dirty="0" sz="2450" spc="-420">
                <a:latin typeface="Times New Roman"/>
                <a:cs typeface="Times New Roman"/>
              </a:rPr>
              <a:t> </a:t>
            </a:r>
            <a:r>
              <a:rPr dirty="0" sz="2450" spc="-15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94703" y="4195571"/>
            <a:ext cx="2008631" cy="15316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32532" y="4969764"/>
            <a:ext cx="608076" cy="6903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3981" y="1592643"/>
            <a:ext cx="32264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二、</a:t>
            </a:r>
            <a:r>
              <a:rPr dirty="0">
                <a:latin typeface="微软雅黑"/>
                <a:cs typeface="微软雅黑"/>
              </a:rPr>
              <a:t>峰值和有效</a:t>
            </a:r>
            <a:r>
              <a:rPr dirty="0" spc="5">
                <a:latin typeface="微软雅黑"/>
                <a:cs typeface="微软雅黑"/>
              </a:rPr>
              <a:t>值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77328" y="1975104"/>
            <a:ext cx="2770631" cy="3212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91382" y="3870605"/>
            <a:ext cx="1775460" cy="1564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080">
              <a:lnSpc>
                <a:spcPct val="122400"/>
              </a:lnSpc>
              <a:spcBef>
                <a:spcPts val="90"/>
              </a:spcBef>
            </a:pPr>
            <a:r>
              <a:rPr dirty="0" sz="2650" i="1">
                <a:latin typeface="Times New Roman"/>
                <a:cs typeface="Times New Roman"/>
              </a:rPr>
              <a:t>e 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 </a:t>
            </a:r>
            <a:r>
              <a:rPr dirty="0" sz="2650" i="1">
                <a:latin typeface="Times New Roman"/>
                <a:cs typeface="Times New Roman"/>
              </a:rPr>
              <a:t>E</a:t>
            </a:r>
            <a:r>
              <a:rPr dirty="0" baseline="-25925" sz="2250">
                <a:latin typeface="Times New Roman"/>
                <a:cs typeface="Times New Roman"/>
              </a:rPr>
              <a:t>m </a:t>
            </a:r>
            <a:r>
              <a:rPr dirty="0" sz="2650" spc="-155">
                <a:latin typeface="Times New Roman"/>
                <a:cs typeface="Times New Roman"/>
              </a:rPr>
              <a:t>sin</a:t>
            </a:r>
            <a:r>
              <a:rPr dirty="0" sz="2750" spc="-155" i="1">
                <a:latin typeface="Symbol"/>
                <a:cs typeface="Symbol"/>
              </a:rPr>
              <a:t></a:t>
            </a:r>
            <a:r>
              <a:rPr dirty="0" sz="2650" spc="-155" i="1">
                <a:latin typeface="Times New Roman"/>
                <a:cs typeface="Times New Roman"/>
              </a:rPr>
              <a:t>t  </a:t>
            </a:r>
            <a:r>
              <a:rPr dirty="0" sz="2650" i="1">
                <a:latin typeface="Times New Roman"/>
                <a:cs typeface="Times New Roman"/>
              </a:rPr>
              <a:t>i 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 </a:t>
            </a:r>
            <a:r>
              <a:rPr dirty="0" sz="2650" spc="80" i="1">
                <a:latin typeface="Times New Roman"/>
                <a:cs typeface="Times New Roman"/>
              </a:rPr>
              <a:t>I</a:t>
            </a:r>
            <a:r>
              <a:rPr dirty="0" baseline="-25925" sz="2250" spc="120">
                <a:latin typeface="Times New Roman"/>
                <a:cs typeface="Times New Roman"/>
              </a:rPr>
              <a:t>m </a:t>
            </a:r>
            <a:r>
              <a:rPr dirty="0" sz="2650" spc="-155">
                <a:latin typeface="Times New Roman"/>
                <a:cs typeface="Times New Roman"/>
              </a:rPr>
              <a:t>sin</a:t>
            </a:r>
            <a:r>
              <a:rPr dirty="0" sz="2750" spc="-155" i="1">
                <a:latin typeface="Symbol"/>
                <a:cs typeface="Symbol"/>
              </a:rPr>
              <a:t></a:t>
            </a:r>
            <a:r>
              <a:rPr dirty="0" sz="2650" spc="-155" i="1">
                <a:latin typeface="Times New Roman"/>
                <a:cs typeface="Times New Roman"/>
              </a:rPr>
              <a:t>t  </a:t>
            </a:r>
            <a:r>
              <a:rPr dirty="0" sz="2650" i="1">
                <a:latin typeface="Times New Roman"/>
                <a:cs typeface="Times New Roman"/>
              </a:rPr>
              <a:t>u 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 </a:t>
            </a:r>
            <a:r>
              <a:rPr dirty="0" sz="2650" spc="105" i="1">
                <a:latin typeface="Times New Roman"/>
                <a:cs typeface="Times New Roman"/>
              </a:rPr>
              <a:t>U</a:t>
            </a:r>
            <a:r>
              <a:rPr dirty="0" baseline="-25925" sz="2250" spc="157">
                <a:latin typeface="Times New Roman"/>
                <a:cs typeface="Times New Roman"/>
              </a:rPr>
              <a:t>m</a:t>
            </a:r>
            <a:r>
              <a:rPr dirty="0" baseline="-25925" sz="2250" spc="-172">
                <a:latin typeface="Times New Roman"/>
                <a:cs typeface="Times New Roman"/>
              </a:rPr>
              <a:t> </a:t>
            </a:r>
            <a:r>
              <a:rPr dirty="0" sz="2650" spc="-155">
                <a:latin typeface="Times New Roman"/>
                <a:cs typeface="Times New Roman"/>
              </a:rPr>
              <a:t>sin</a:t>
            </a:r>
            <a:r>
              <a:rPr dirty="0" sz="2750" spc="-155" i="1">
                <a:latin typeface="Symbol"/>
                <a:cs typeface="Symbol"/>
              </a:rPr>
              <a:t></a:t>
            </a:r>
            <a:r>
              <a:rPr dirty="0" sz="2650" spc="-155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74492" y="2388107"/>
            <a:ext cx="1781556" cy="13837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80076" y="3456432"/>
            <a:ext cx="2231390" cy="2212975"/>
          </a:xfrm>
          <a:custGeom>
            <a:avLst/>
            <a:gdLst/>
            <a:ahLst/>
            <a:cxnLst/>
            <a:rect l="l" t="t" r="r" b="b"/>
            <a:pathLst>
              <a:path w="2231390" h="2212975">
                <a:moveTo>
                  <a:pt x="1862327" y="2212847"/>
                </a:moveTo>
                <a:lnTo>
                  <a:pt x="368808" y="2212847"/>
                </a:lnTo>
                <a:lnTo>
                  <a:pt x="322623" y="2210032"/>
                </a:lnTo>
                <a:lnTo>
                  <a:pt x="278139" y="2201689"/>
                </a:lnTo>
                <a:lnTo>
                  <a:pt x="235700" y="2188163"/>
                </a:lnTo>
                <a:lnTo>
                  <a:pt x="195654" y="2169801"/>
                </a:lnTo>
                <a:lnTo>
                  <a:pt x="158346" y="2146949"/>
                </a:lnTo>
                <a:lnTo>
                  <a:pt x="124122" y="2119954"/>
                </a:lnTo>
                <a:lnTo>
                  <a:pt x="93329" y="2089161"/>
                </a:lnTo>
                <a:lnTo>
                  <a:pt x="66313" y="2054916"/>
                </a:lnTo>
                <a:lnTo>
                  <a:pt x="43419" y="2017566"/>
                </a:lnTo>
                <a:lnTo>
                  <a:pt x="24995" y="1977458"/>
                </a:lnTo>
                <a:lnTo>
                  <a:pt x="11386" y="1934936"/>
                </a:lnTo>
                <a:lnTo>
                  <a:pt x="2939" y="1890348"/>
                </a:lnTo>
                <a:lnTo>
                  <a:pt x="0" y="1844039"/>
                </a:lnTo>
                <a:lnTo>
                  <a:pt x="0" y="368807"/>
                </a:lnTo>
                <a:lnTo>
                  <a:pt x="2939" y="322415"/>
                </a:lnTo>
                <a:lnTo>
                  <a:pt x="11386" y="277757"/>
                </a:lnTo>
                <a:lnTo>
                  <a:pt x="24995" y="235180"/>
                </a:lnTo>
                <a:lnTo>
                  <a:pt x="43419" y="195029"/>
                </a:lnTo>
                <a:lnTo>
                  <a:pt x="66313" y="157651"/>
                </a:lnTo>
                <a:lnTo>
                  <a:pt x="93329" y="123393"/>
                </a:lnTo>
                <a:lnTo>
                  <a:pt x="124122" y="92600"/>
                </a:lnTo>
                <a:lnTo>
                  <a:pt x="158346" y="65618"/>
                </a:lnTo>
                <a:lnTo>
                  <a:pt x="195654" y="42794"/>
                </a:lnTo>
                <a:lnTo>
                  <a:pt x="235700" y="24474"/>
                </a:lnTo>
                <a:lnTo>
                  <a:pt x="278139" y="11004"/>
                </a:lnTo>
                <a:lnTo>
                  <a:pt x="322623" y="2731"/>
                </a:lnTo>
                <a:lnTo>
                  <a:pt x="368808" y="0"/>
                </a:lnTo>
                <a:lnTo>
                  <a:pt x="1862327" y="0"/>
                </a:lnTo>
                <a:lnTo>
                  <a:pt x="1908612" y="2731"/>
                </a:lnTo>
                <a:lnTo>
                  <a:pt x="1953180" y="11004"/>
                </a:lnTo>
                <a:lnTo>
                  <a:pt x="1995687" y="24474"/>
                </a:lnTo>
                <a:lnTo>
                  <a:pt x="2035784" y="42794"/>
                </a:lnTo>
                <a:lnTo>
                  <a:pt x="2073126" y="65618"/>
                </a:lnTo>
                <a:lnTo>
                  <a:pt x="2107368" y="92600"/>
                </a:lnTo>
                <a:lnTo>
                  <a:pt x="2138162" y="123393"/>
                </a:lnTo>
                <a:lnTo>
                  <a:pt x="2165162" y="157651"/>
                </a:lnTo>
                <a:lnTo>
                  <a:pt x="2188022" y="195029"/>
                </a:lnTo>
                <a:lnTo>
                  <a:pt x="2206395" y="235180"/>
                </a:lnTo>
                <a:lnTo>
                  <a:pt x="2219936" y="277757"/>
                </a:lnTo>
                <a:lnTo>
                  <a:pt x="2228299" y="322415"/>
                </a:lnTo>
                <a:lnTo>
                  <a:pt x="2231135" y="368807"/>
                </a:lnTo>
                <a:lnTo>
                  <a:pt x="2231135" y="1844039"/>
                </a:lnTo>
                <a:lnTo>
                  <a:pt x="2228299" y="1890348"/>
                </a:lnTo>
                <a:lnTo>
                  <a:pt x="2219936" y="1934936"/>
                </a:lnTo>
                <a:lnTo>
                  <a:pt x="2206395" y="1977458"/>
                </a:lnTo>
                <a:lnTo>
                  <a:pt x="2188022" y="2017566"/>
                </a:lnTo>
                <a:lnTo>
                  <a:pt x="2165162" y="2054916"/>
                </a:lnTo>
                <a:lnTo>
                  <a:pt x="2138162" y="2089161"/>
                </a:lnTo>
                <a:lnTo>
                  <a:pt x="2107368" y="2119954"/>
                </a:lnTo>
                <a:lnTo>
                  <a:pt x="2073126" y="2146949"/>
                </a:lnTo>
                <a:lnTo>
                  <a:pt x="2035784" y="2169801"/>
                </a:lnTo>
                <a:lnTo>
                  <a:pt x="1995687" y="2188163"/>
                </a:lnTo>
                <a:lnTo>
                  <a:pt x="1953180" y="2201689"/>
                </a:lnTo>
                <a:lnTo>
                  <a:pt x="1908612" y="2210032"/>
                </a:lnTo>
                <a:lnTo>
                  <a:pt x="1862327" y="2212847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74145" y="3449408"/>
            <a:ext cx="2244090" cy="2222500"/>
          </a:xfrm>
          <a:custGeom>
            <a:avLst/>
            <a:gdLst/>
            <a:ahLst/>
            <a:cxnLst/>
            <a:rect l="l" t="t" r="r" b="b"/>
            <a:pathLst>
              <a:path w="2244090" h="2222500">
                <a:moveTo>
                  <a:pt x="1971014" y="12700"/>
                </a:moveTo>
                <a:lnTo>
                  <a:pt x="272453" y="12700"/>
                </a:lnTo>
                <a:lnTo>
                  <a:pt x="281406" y="0"/>
                </a:lnTo>
                <a:lnTo>
                  <a:pt x="1962061" y="0"/>
                </a:lnTo>
                <a:lnTo>
                  <a:pt x="1971014" y="12700"/>
                </a:lnTo>
                <a:close/>
              </a:path>
              <a:path w="2244090" h="2222500">
                <a:moveTo>
                  <a:pt x="275856" y="25400"/>
                </a:moveTo>
                <a:lnTo>
                  <a:pt x="237578" y="25400"/>
                </a:lnTo>
                <a:lnTo>
                  <a:pt x="246151" y="12700"/>
                </a:lnTo>
                <a:lnTo>
                  <a:pt x="284657" y="12700"/>
                </a:lnTo>
                <a:lnTo>
                  <a:pt x="275856" y="25400"/>
                </a:lnTo>
                <a:close/>
              </a:path>
              <a:path w="2244090" h="2222500">
                <a:moveTo>
                  <a:pt x="2005888" y="25400"/>
                </a:moveTo>
                <a:lnTo>
                  <a:pt x="1967623" y="25400"/>
                </a:lnTo>
                <a:lnTo>
                  <a:pt x="1958822" y="12700"/>
                </a:lnTo>
                <a:lnTo>
                  <a:pt x="1997316" y="12700"/>
                </a:lnTo>
                <a:lnTo>
                  <a:pt x="2005888" y="25400"/>
                </a:lnTo>
                <a:close/>
              </a:path>
              <a:path w="2244090" h="2222500">
                <a:moveTo>
                  <a:pt x="233984" y="38100"/>
                </a:moveTo>
                <a:lnTo>
                  <a:pt x="204330" y="38100"/>
                </a:lnTo>
                <a:lnTo>
                  <a:pt x="212483" y="25400"/>
                </a:lnTo>
                <a:lnTo>
                  <a:pt x="242315" y="25400"/>
                </a:lnTo>
                <a:lnTo>
                  <a:pt x="233984" y="38100"/>
                </a:lnTo>
                <a:close/>
              </a:path>
              <a:path w="2244090" h="2222500">
                <a:moveTo>
                  <a:pt x="2039137" y="38100"/>
                </a:moveTo>
                <a:lnTo>
                  <a:pt x="2009482" y="38100"/>
                </a:lnTo>
                <a:lnTo>
                  <a:pt x="2001151" y="25400"/>
                </a:lnTo>
                <a:lnTo>
                  <a:pt x="2030983" y="25400"/>
                </a:lnTo>
                <a:lnTo>
                  <a:pt x="2039137" y="38100"/>
                </a:lnTo>
                <a:close/>
              </a:path>
              <a:path w="2244090" h="2222500">
                <a:moveTo>
                  <a:pt x="210057" y="50800"/>
                </a:moveTo>
                <a:lnTo>
                  <a:pt x="180581" y="50800"/>
                </a:lnTo>
                <a:lnTo>
                  <a:pt x="188379" y="38100"/>
                </a:lnTo>
                <a:lnTo>
                  <a:pt x="218059" y="38100"/>
                </a:lnTo>
                <a:lnTo>
                  <a:pt x="210057" y="50800"/>
                </a:lnTo>
                <a:close/>
              </a:path>
              <a:path w="2244090" h="2222500">
                <a:moveTo>
                  <a:pt x="2062886" y="50800"/>
                </a:moveTo>
                <a:lnTo>
                  <a:pt x="2033422" y="50800"/>
                </a:lnTo>
                <a:lnTo>
                  <a:pt x="2025408" y="38100"/>
                </a:lnTo>
                <a:lnTo>
                  <a:pt x="2055088" y="38100"/>
                </a:lnTo>
                <a:lnTo>
                  <a:pt x="2062886" y="50800"/>
                </a:lnTo>
                <a:close/>
              </a:path>
              <a:path w="2244090" h="2222500">
                <a:moveTo>
                  <a:pt x="187109" y="63500"/>
                </a:moveTo>
                <a:lnTo>
                  <a:pt x="165353" y="63500"/>
                </a:lnTo>
                <a:lnTo>
                  <a:pt x="172897" y="50800"/>
                </a:lnTo>
                <a:lnTo>
                  <a:pt x="194779" y="50800"/>
                </a:lnTo>
                <a:lnTo>
                  <a:pt x="187109" y="63500"/>
                </a:lnTo>
                <a:close/>
              </a:path>
              <a:path w="2244090" h="2222500">
                <a:moveTo>
                  <a:pt x="2078113" y="63500"/>
                </a:moveTo>
                <a:lnTo>
                  <a:pt x="2056358" y="63500"/>
                </a:lnTo>
                <a:lnTo>
                  <a:pt x="2048700" y="50800"/>
                </a:lnTo>
                <a:lnTo>
                  <a:pt x="2070569" y="50800"/>
                </a:lnTo>
                <a:lnTo>
                  <a:pt x="2078113" y="63500"/>
                </a:lnTo>
                <a:close/>
              </a:path>
              <a:path w="2244090" h="2222500">
                <a:moveTo>
                  <a:pt x="165226" y="76200"/>
                </a:moveTo>
                <a:lnTo>
                  <a:pt x="143484" y="76200"/>
                </a:lnTo>
                <a:lnTo>
                  <a:pt x="150634" y="63500"/>
                </a:lnTo>
                <a:lnTo>
                  <a:pt x="172529" y="63500"/>
                </a:lnTo>
                <a:lnTo>
                  <a:pt x="165226" y="76200"/>
                </a:lnTo>
                <a:close/>
              </a:path>
              <a:path w="2244090" h="2222500">
                <a:moveTo>
                  <a:pt x="2099995" y="76200"/>
                </a:moveTo>
                <a:lnTo>
                  <a:pt x="2078240" y="76200"/>
                </a:lnTo>
                <a:lnTo>
                  <a:pt x="2070950" y="63500"/>
                </a:lnTo>
                <a:lnTo>
                  <a:pt x="2092832" y="63500"/>
                </a:lnTo>
                <a:lnTo>
                  <a:pt x="2099995" y="76200"/>
                </a:lnTo>
                <a:close/>
              </a:path>
              <a:path w="2244090" h="2222500">
                <a:moveTo>
                  <a:pt x="151269" y="88900"/>
                </a:moveTo>
                <a:lnTo>
                  <a:pt x="129578" y="88900"/>
                </a:lnTo>
                <a:lnTo>
                  <a:pt x="136461" y="76200"/>
                </a:lnTo>
                <a:lnTo>
                  <a:pt x="158305" y="76200"/>
                </a:lnTo>
                <a:lnTo>
                  <a:pt x="151269" y="88900"/>
                </a:lnTo>
                <a:close/>
              </a:path>
              <a:path w="2244090" h="2222500">
                <a:moveTo>
                  <a:pt x="2113889" y="88900"/>
                </a:moveTo>
                <a:lnTo>
                  <a:pt x="2092198" y="88900"/>
                </a:lnTo>
                <a:lnTo>
                  <a:pt x="2085162" y="76200"/>
                </a:lnTo>
                <a:lnTo>
                  <a:pt x="2107006" y="76200"/>
                </a:lnTo>
                <a:lnTo>
                  <a:pt x="2113889" y="88900"/>
                </a:lnTo>
                <a:close/>
              </a:path>
              <a:path w="2244090" h="2222500">
                <a:moveTo>
                  <a:pt x="131330" y="101600"/>
                </a:moveTo>
                <a:lnTo>
                  <a:pt x="116255" y="101600"/>
                </a:lnTo>
                <a:lnTo>
                  <a:pt x="122847" y="88900"/>
                </a:lnTo>
                <a:lnTo>
                  <a:pt x="137947" y="88900"/>
                </a:lnTo>
                <a:lnTo>
                  <a:pt x="131330" y="101600"/>
                </a:lnTo>
                <a:close/>
              </a:path>
              <a:path w="2244090" h="2222500">
                <a:moveTo>
                  <a:pt x="2127224" y="101600"/>
                </a:moveTo>
                <a:lnTo>
                  <a:pt x="2112136" y="101600"/>
                </a:lnTo>
                <a:lnTo>
                  <a:pt x="2105520" y="88900"/>
                </a:lnTo>
                <a:lnTo>
                  <a:pt x="2120633" y="88900"/>
                </a:lnTo>
                <a:lnTo>
                  <a:pt x="2127224" y="101600"/>
                </a:lnTo>
                <a:close/>
              </a:path>
              <a:path w="2244090" h="2222500">
                <a:moveTo>
                  <a:pt x="118732" y="114300"/>
                </a:moveTo>
                <a:lnTo>
                  <a:pt x="103517" y="114300"/>
                </a:lnTo>
                <a:lnTo>
                  <a:pt x="109804" y="101600"/>
                </a:lnTo>
                <a:lnTo>
                  <a:pt x="125069" y="101600"/>
                </a:lnTo>
                <a:lnTo>
                  <a:pt x="118732" y="114300"/>
                </a:lnTo>
                <a:close/>
              </a:path>
              <a:path w="2244090" h="2222500">
                <a:moveTo>
                  <a:pt x="2139950" y="114300"/>
                </a:moveTo>
                <a:lnTo>
                  <a:pt x="2124735" y="114300"/>
                </a:lnTo>
                <a:lnTo>
                  <a:pt x="2118398" y="101600"/>
                </a:lnTo>
                <a:lnTo>
                  <a:pt x="2133663" y="101600"/>
                </a:lnTo>
                <a:lnTo>
                  <a:pt x="2139950" y="114300"/>
                </a:lnTo>
                <a:close/>
              </a:path>
              <a:path w="2244090" h="2222500">
                <a:moveTo>
                  <a:pt x="106730" y="127000"/>
                </a:moveTo>
                <a:lnTo>
                  <a:pt x="91401" y="127000"/>
                </a:lnTo>
                <a:lnTo>
                  <a:pt x="97383" y="114300"/>
                </a:lnTo>
                <a:lnTo>
                  <a:pt x="112763" y="114300"/>
                </a:lnTo>
                <a:lnTo>
                  <a:pt x="106730" y="127000"/>
                </a:lnTo>
                <a:close/>
              </a:path>
              <a:path w="2244090" h="2222500">
                <a:moveTo>
                  <a:pt x="2152065" y="127000"/>
                </a:moveTo>
                <a:lnTo>
                  <a:pt x="2136736" y="127000"/>
                </a:lnTo>
                <a:lnTo>
                  <a:pt x="2130704" y="114300"/>
                </a:lnTo>
                <a:lnTo>
                  <a:pt x="2146084" y="114300"/>
                </a:lnTo>
                <a:lnTo>
                  <a:pt x="2152065" y="127000"/>
                </a:lnTo>
                <a:close/>
              </a:path>
              <a:path w="2244090" h="2222500">
                <a:moveTo>
                  <a:pt x="95338" y="139700"/>
                </a:moveTo>
                <a:lnTo>
                  <a:pt x="79933" y="139700"/>
                </a:lnTo>
                <a:lnTo>
                  <a:pt x="85585" y="127000"/>
                </a:lnTo>
                <a:lnTo>
                  <a:pt x="101053" y="127000"/>
                </a:lnTo>
                <a:lnTo>
                  <a:pt x="95338" y="139700"/>
                </a:lnTo>
                <a:close/>
              </a:path>
              <a:path w="2244090" h="2222500">
                <a:moveTo>
                  <a:pt x="2163533" y="139700"/>
                </a:moveTo>
                <a:lnTo>
                  <a:pt x="2148141" y="139700"/>
                </a:lnTo>
                <a:lnTo>
                  <a:pt x="2142413" y="127000"/>
                </a:lnTo>
                <a:lnTo>
                  <a:pt x="2157882" y="127000"/>
                </a:lnTo>
                <a:lnTo>
                  <a:pt x="2163533" y="139700"/>
                </a:lnTo>
                <a:close/>
              </a:path>
              <a:path w="2244090" h="2222500">
                <a:moveTo>
                  <a:pt x="79438" y="165100"/>
                </a:moveTo>
                <a:lnTo>
                  <a:pt x="63982" y="165100"/>
                </a:lnTo>
                <a:lnTo>
                  <a:pt x="69126" y="152400"/>
                </a:lnTo>
                <a:lnTo>
                  <a:pt x="74447" y="139700"/>
                </a:lnTo>
                <a:lnTo>
                  <a:pt x="89966" y="139700"/>
                </a:lnTo>
                <a:lnTo>
                  <a:pt x="84569" y="152400"/>
                </a:lnTo>
                <a:lnTo>
                  <a:pt x="79438" y="165100"/>
                </a:lnTo>
                <a:close/>
              </a:path>
              <a:path w="2244090" h="2222500">
                <a:moveTo>
                  <a:pt x="2179485" y="165100"/>
                </a:moveTo>
                <a:lnTo>
                  <a:pt x="2164041" y="165100"/>
                </a:lnTo>
                <a:lnTo>
                  <a:pt x="2158809" y="152400"/>
                </a:lnTo>
                <a:lnTo>
                  <a:pt x="2153500" y="139700"/>
                </a:lnTo>
                <a:lnTo>
                  <a:pt x="2169020" y="139700"/>
                </a:lnTo>
                <a:lnTo>
                  <a:pt x="2174341" y="152400"/>
                </a:lnTo>
                <a:lnTo>
                  <a:pt x="2179485" y="165100"/>
                </a:lnTo>
                <a:close/>
              </a:path>
              <a:path w="2244090" h="2222500">
                <a:moveTo>
                  <a:pt x="69659" y="177800"/>
                </a:moveTo>
                <a:lnTo>
                  <a:pt x="54216" y="177800"/>
                </a:lnTo>
                <a:lnTo>
                  <a:pt x="59016" y="165100"/>
                </a:lnTo>
                <a:lnTo>
                  <a:pt x="74549" y="165100"/>
                </a:lnTo>
                <a:lnTo>
                  <a:pt x="69659" y="177800"/>
                </a:lnTo>
                <a:close/>
              </a:path>
              <a:path w="2244090" h="2222500">
                <a:moveTo>
                  <a:pt x="2189251" y="177800"/>
                </a:moveTo>
                <a:lnTo>
                  <a:pt x="2173808" y="177800"/>
                </a:lnTo>
                <a:lnTo>
                  <a:pt x="2168918" y="165100"/>
                </a:lnTo>
                <a:lnTo>
                  <a:pt x="2184463" y="165100"/>
                </a:lnTo>
                <a:lnTo>
                  <a:pt x="2189251" y="177800"/>
                </a:lnTo>
                <a:close/>
              </a:path>
              <a:path w="2244090" h="2222500">
                <a:moveTo>
                  <a:pt x="52209" y="203200"/>
                </a:moveTo>
                <a:lnTo>
                  <a:pt x="40944" y="203200"/>
                </a:lnTo>
                <a:lnTo>
                  <a:pt x="45186" y="190500"/>
                </a:lnTo>
                <a:lnTo>
                  <a:pt x="49606" y="177800"/>
                </a:lnTo>
                <a:lnTo>
                  <a:pt x="65112" y="177800"/>
                </a:lnTo>
                <a:lnTo>
                  <a:pt x="60578" y="190500"/>
                </a:lnTo>
                <a:lnTo>
                  <a:pt x="56375" y="190500"/>
                </a:lnTo>
                <a:lnTo>
                  <a:pt x="52209" y="203200"/>
                </a:lnTo>
                <a:close/>
              </a:path>
              <a:path w="2244090" h="2222500">
                <a:moveTo>
                  <a:pt x="2202522" y="203200"/>
                </a:moveTo>
                <a:lnTo>
                  <a:pt x="2191257" y="203200"/>
                </a:lnTo>
                <a:lnTo>
                  <a:pt x="2187092" y="190500"/>
                </a:lnTo>
                <a:lnTo>
                  <a:pt x="2182888" y="190500"/>
                </a:lnTo>
                <a:lnTo>
                  <a:pt x="2178354" y="177800"/>
                </a:lnTo>
                <a:lnTo>
                  <a:pt x="2193861" y="177800"/>
                </a:lnTo>
                <a:lnTo>
                  <a:pt x="2198293" y="190500"/>
                </a:lnTo>
                <a:lnTo>
                  <a:pt x="2202522" y="203200"/>
                </a:lnTo>
                <a:close/>
              </a:path>
              <a:path w="2244090" h="2222500">
                <a:moveTo>
                  <a:pt x="41046" y="228600"/>
                </a:moveTo>
                <a:lnTo>
                  <a:pt x="29375" y="228600"/>
                </a:lnTo>
                <a:lnTo>
                  <a:pt x="33032" y="215900"/>
                </a:lnTo>
                <a:lnTo>
                  <a:pt x="36893" y="203200"/>
                </a:lnTo>
                <a:lnTo>
                  <a:pt x="52285" y="203200"/>
                </a:lnTo>
                <a:lnTo>
                  <a:pt x="48298" y="215900"/>
                </a:lnTo>
                <a:lnTo>
                  <a:pt x="44640" y="215900"/>
                </a:lnTo>
                <a:lnTo>
                  <a:pt x="41046" y="228600"/>
                </a:lnTo>
                <a:close/>
              </a:path>
              <a:path w="2244090" h="2222500">
                <a:moveTo>
                  <a:pt x="2214092" y="228600"/>
                </a:moveTo>
                <a:lnTo>
                  <a:pt x="2202433" y="228600"/>
                </a:lnTo>
                <a:lnTo>
                  <a:pt x="2198827" y="215900"/>
                </a:lnTo>
                <a:lnTo>
                  <a:pt x="2195169" y="215900"/>
                </a:lnTo>
                <a:lnTo>
                  <a:pt x="2191194" y="203200"/>
                </a:lnTo>
                <a:lnTo>
                  <a:pt x="2206574" y="203200"/>
                </a:lnTo>
                <a:lnTo>
                  <a:pt x="2210434" y="215900"/>
                </a:lnTo>
                <a:lnTo>
                  <a:pt x="2214092" y="228600"/>
                </a:lnTo>
                <a:close/>
              </a:path>
              <a:path w="2244090" h="2222500">
                <a:moveTo>
                  <a:pt x="31610" y="254000"/>
                </a:moveTo>
                <a:lnTo>
                  <a:pt x="19596" y="254000"/>
                </a:lnTo>
                <a:lnTo>
                  <a:pt x="22656" y="241300"/>
                </a:lnTo>
                <a:lnTo>
                  <a:pt x="25920" y="228600"/>
                </a:lnTo>
                <a:lnTo>
                  <a:pt x="41109" y="228600"/>
                </a:lnTo>
                <a:lnTo>
                  <a:pt x="37706" y="241300"/>
                </a:lnTo>
                <a:lnTo>
                  <a:pt x="34607" y="241300"/>
                </a:lnTo>
                <a:lnTo>
                  <a:pt x="31610" y="254000"/>
                </a:lnTo>
                <a:close/>
              </a:path>
              <a:path w="2244090" h="2222500">
                <a:moveTo>
                  <a:pt x="2223871" y="254000"/>
                </a:moveTo>
                <a:lnTo>
                  <a:pt x="2211870" y="254000"/>
                </a:lnTo>
                <a:lnTo>
                  <a:pt x="2208860" y="241300"/>
                </a:lnTo>
                <a:lnTo>
                  <a:pt x="2205774" y="241300"/>
                </a:lnTo>
                <a:lnTo>
                  <a:pt x="2202370" y="228600"/>
                </a:lnTo>
                <a:lnTo>
                  <a:pt x="2217559" y="228600"/>
                </a:lnTo>
                <a:lnTo>
                  <a:pt x="2220810" y="241300"/>
                </a:lnTo>
                <a:lnTo>
                  <a:pt x="2223871" y="254000"/>
                </a:lnTo>
                <a:close/>
              </a:path>
              <a:path w="2244090" h="2222500">
                <a:moveTo>
                  <a:pt x="23977" y="279400"/>
                </a:moveTo>
                <a:lnTo>
                  <a:pt x="11696" y="279400"/>
                </a:lnTo>
                <a:lnTo>
                  <a:pt x="14122" y="266700"/>
                </a:lnTo>
                <a:lnTo>
                  <a:pt x="16751" y="254000"/>
                </a:lnTo>
                <a:lnTo>
                  <a:pt x="31661" y="254000"/>
                </a:lnTo>
                <a:lnTo>
                  <a:pt x="28854" y="266700"/>
                </a:lnTo>
                <a:lnTo>
                  <a:pt x="26352" y="266700"/>
                </a:lnTo>
                <a:lnTo>
                  <a:pt x="23977" y="279400"/>
                </a:lnTo>
                <a:close/>
              </a:path>
              <a:path w="2244090" h="2222500">
                <a:moveTo>
                  <a:pt x="2231771" y="279400"/>
                </a:moveTo>
                <a:lnTo>
                  <a:pt x="2219490" y="279400"/>
                </a:lnTo>
                <a:lnTo>
                  <a:pt x="2217115" y="266700"/>
                </a:lnTo>
                <a:lnTo>
                  <a:pt x="2214613" y="266700"/>
                </a:lnTo>
                <a:lnTo>
                  <a:pt x="2211819" y="254000"/>
                </a:lnTo>
                <a:lnTo>
                  <a:pt x="2226716" y="254000"/>
                </a:lnTo>
                <a:lnTo>
                  <a:pt x="2229357" y="266700"/>
                </a:lnTo>
                <a:lnTo>
                  <a:pt x="2231771" y="279400"/>
                </a:lnTo>
                <a:close/>
              </a:path>
              <a:path w="2244090" h="2222500">
                <a:moveTo>
                  <a:pt x="16751" y="317500"/>
                </a:moveTo>
                <a:lnTo>
                  <a:pt x="4203" y="317500"/>
                </a:lnTo>
                <a:lnTo>
                  <a:pt x="5740" y="304800"/>
                </a:lnTo>
                <a:lnTo>
                  <a:pt x="7505" y="292100"/>
                </a:lnTo>
                <a:lnTo>
                  <a:pt x="9486" y="279400"/>
                </a:lnTo>
                <a:lnTo>
                  <a:pt x="24015" y="279400"/>
                </a:lnTo>
                <a:lnTo>
                  <a:pt x="21843" y="292100"/>
                </a:lnTo>
                <a:lnTo>
                  <a:pt x="19964" y="292100"/>
                </a:lnTo>
                <a:lnTo>
                  <a:pt x="18224" y="304800"/>
                </a:lnTo>
                <a:lnTo>
                  <a:pt x="16751" y="317500"/>
                </a:lnTo>
                <a:close/>
              </a:path>
              <a:path w="2244090" h="2222500">
                <a:moveTo>
                  <a:pt x="2239263" y="317500"/>
                </a:moveTo>
                <a:lnTo>
                  <a:pt x="2226729" y="317500"/>
                </a:lnTo>
                <a:lnTo>
                  <a:pt x="2225217" y="304800"/>
                </a:lnTo>
                <a:lnTo>
                  <a:pt x="2223503" y="292100"/>
                </a:lnTo>
                <a:lnTo>
                  <a:pt x="2221623" y="292100"/>
                </a:lnTo>
                <a:lnTo>
                  <a:pt x="2219452" y="279400"/>
                </a:lnTo>
                <a:lnTo>
                  <a:pt x="2233980" y="279400"/>
                </a:lnTo>
                <a:lnTo>
                  <a:pt x="2235961" y="292100"/>
                </a:lnTo>
                <a:lnTo>
                  <a:pt x="2237727" y="304800"/>
                </a:lnTo>
                <a:lnTo>
                  <a:pt x="2239263" y="317500"/>
                </a:lnTo>
                <a:close/>
              </a:path>
              <a:path w="2244090" h="2222500">
                <a:moveTo>
                  <a:pt x="13042" y="355600"/>
                </a:moveTo>
                <a:lnTo>
                  <a:pt x="368" y="355600"/>
                </a:lnTo>
                <a:lnTo>
                  <a:pt x="977" y="342900"/>
                </a:lnTo>
                <a:lnTo>
                  <a:pt x="1816" y="330200"/>
                </a:lnTo>
                <a:lnTo>
                  <a:pt x="2895" y="317500"/>
                </a:lnTo>
                <a:lnTo>
                  <a:pt x="15506" y="317500"/>
                </a:lnTo>
                <a:lnTo>
                  <a:pt x="14439" y="330200"/>
                </a:lnTo>
                <a:lnTo>
                  <a:pt x="13627" y="342900"/>
                </a:lnTo>
                <a:lnTo>
                  <a:pt x="13042" y="355600"/>
                </a:lnTo>
                <a:close/>
              </a:path>
              <a:path w="2244090" h="2222500">
                <a:moveTo>
                  <a:pt x="2243099" y="355600"/>
                </a:moveTo>
                <a:lnTo>
                  <a:pt x="2230424" y="355600"/>
                </a:lnTo>
                <a:lnTo>
                  <a:pt x="2229827" y="342900"/>
                </a:lnTo>
                <a:lnTo>
                  <a:pt x="2229015" y="330200"/>
                </a:lnTo>
                <a:lnTo>
                  <a:pt x="2227973" y="317500"/>
                </a:lnTo>
                <a:lnTo>
                  <a:pt x="2240572" y="317500"/>
                </a:lnTo>
                <a:lnTo>
                  <a:pt x="2241651" y="330200"/>
                </a:lnTo>
                <a:lnTo>
                  <a:pt x="2242502" y="342900"/>
                </a:lnTo>
                <a:lnTo>
                  <a:pt x="2243099" y="355600"/>
                </a:lnTo>
                <a:close/>
              </a:path>
              <a:path w="2244090" h="2222500">
                <a:moveTo>
                  <a:pt x="14465" y="1879600"/>
                </a:moveTo>
                <a:lnTo>
                  <a:pt x="977" y="1879600"/>
                </a:lnTo>
                <a:lnTo>
                  <a:pt x="368" y="1866900"/>
                </a:lnTo>
                <a:lnTo>
                  <a:pt x="0" y="1854200"/>
                </a:lnTo>
                <a:lnTo>
                  <a:pt x="0" y="355600"/>
                </a:lnTo>
                <a:lnTo>
                  <a:pt x="12700" y="355600"/>
                </a:lnTo>
                <a:lnTo>
                  <a:pt x="12700" y="1854200"/>
                </a:lnTo>
                <a:lnTo>
                  <a:pt x="13055" y="1866900"/>
                </a:lnTo>
                <a:lnTo>
                  <a:pt x="13627" y="1866900"/>
                </a:lnTo>
                <a:lnTo>
                  <a:pt x="14465" y="1879600"/>
                </a:lnTo>
                <a:close/>
              </a:path>
              <a:path w="2244090" h="2222500">
                <a:moveTo>
                  <a:pt x="2242502" y="1879600"/>
                </a:moveTo>
                <a:lnTo>
                  <a:pt x="2229015" y="1879600"/>
                </a:lnTo>
                <a:lnTo>
                  <a:pt x="2229840" y="1866900"/>
                </a:lnTo>
                <a:lnTo>
                  <a:pt x="2230412" y="1866900"/>
                </a:lnTo>
                <a:lnTo>
                  <a:pt x="2230780" y="1854200"/>
                </a:lnTo>
                <a:lnTo>
                  <a:pt x="2230767" y="355600"/>
                </a:lnTo>
                <a:lnTo>
                  <a:pt x="2243467" y="355600"/>
                </a:lnTo>
                <a:lnTo>
                  <a:pt x="2243467" y="1854200"/>
                </a:lnTo>
                <a:lnTo>
                  <a:pt x="2243099" y="1866900"/>
                </a:lnTo>
                <a:lnTo>
                  <a:pt x="2242502" y="1879600"/>
                </a:lnTo>
                <a:close/>
              </a:path>
              <a:path w="2244090" h="2222500">
                <a:moveTo>
                  <a:pt x="16763" y="1905000"/>
                </a:moveTo>
                <a:lnTo>
                  <a:pt x="4203" y="1905000"/>
                </a:lnTo>
                <a:lnTo>
                  <a:pt x="2895" y="1892300"/>
                </a:lnTo>
                <a:lnTo>
                  <a:pt x="1816" y="1879600"/>
                </a:lnTo>
                <a:lnTo>
                  <a:pt x="14439" y="1879600"/>
                </a:lnTo>
                <a:lnTo>
                  <a:pt x="15506" y="1892300"/>
                </a:lnTo>
                <a:lnTo>
                  <a:pt x="16763" y="1905000"/>
                </a:lnTo>
                <a:close/>
              </a:path>
              <a:path w="2244090" h="2222500">
                <a:moveTo>
                  <a:pt x="2239263" y="1905000"/>
                </a:moveTo>
                <a:lnTo>
                  <a:pt x="2226703" y="1905000"/>
                </a:lnTo>
                <a:lnTo>
                  <a:pt x="2227986" y="1892300"/>
                </a:lnTo>
                <a:lnTo>
                  <a:pt x="2229027" y="1879600"/>
                </a:lnTo>
                <a:lnTo>
                  <a:pt x="2241651" y="1879600"/>
                </a:lnTo>
                <a:lnTo>
                  <a:pt x="2240572" y="1892300"/>
                </a:lnTo>
                <a:lnTo>
                  <a:pt x="2239263" y="1905000"/>
                </a:lnTo>
                <a:close/>
              </a:path>
              <a:path w="2244090" h="2222500">
                <a:moveTo>
                  <a:pt x="26352" y="1943100"/>
                </a:moveTo>
                <a:lnTo>
                  <a:pt x="11696" y="1943100"/>
                </a:lnTo>
                <a:lnTo>
                  <a:pt x="9486" y="1930400"/>
                </a:lnTo>
                <a:lnTo>
                  <a:pt x="7505" y="1917700"/>
                </a:lnTo>
                <a:lnTo>
                  <a:pt x="5740" y="1905000"/>
                </a:lnTo>
                <a:lnTo>
                  <a:pt x="18224" y="1905000"/>
                </a:lnTo>
                <a:lnTo>
                  <a:pt x="19964" y="1917700"/>
                </a:lnTo>
                <a:lnTo>
                  <a:pt x="21882" y="1930400"/>
                </a:lnTo>
                <a:lnTo>
                  <a:pt x="23977" y="1930400"/>
                </a:lnTo>
                <a:lnTo>
                  <a:pt x="26352" y="1943100"/>
                </a:lnTo>
                <a:close/>
              </a:path>
              <a:path w="2244090" h="2222500">
                <a:moveTo>
                  <a:pt x="2231771" y="1943100"/>
                </a:moveTo>
                <a:lnTo>
                  <a:pt x="2217115" y="1943100"/>
                </a:lnTo>
                <a:lnTo>
                  <a:pt x="2219490" y="1930400"/>
                </a:lnTo>
                <a:lnTo>
                  <a:pt x="2221585" y="1930400"/>
                </a:lnTo>
                <a:lnTo>
                  <a:pt x="2223541" y="1917700"/>
                </a:lnTo>
                <a:lnTo>
                  <a:pt x="2225243" y="1905000"/>
                </a:lnTo>
                <a:lnTo>
                  <a:pt x="2237727" y="1905000"/>
                </a:lnTo>
                <a:lnTo>
                  <a:pt x="2235961" y="1917700"/>
                </a:lnTo>
                <a:lnTo>
                  <a:pt x="2233980" y="1930400"/>
                </a:lnTo>
                <a:lnTo>
                  <a:pt x="2231771" y="1943100"/>
                </a:lnTo>
                <a:close/>
              </a:path>
              <a:path w="2244090" h="2222500">
                <a:moveTo>
                  <a:pt x="34607" y="1968500"/>
                </a:moveTo>
                <a:lnTo>
                  <a:pt x="19596" y="1968500"/>
                </a:lnTo>
                <a:lnTo>
                  <a:pt x="16751" y="1955800"/>
                </a:lnTo>
                <a:lnTo>
                  <a:pt x="14122" y="1943100"/>
                </a:lnTo>
                <a:lnTo>
                  <a:pt x="26314" y="1943100"/>
                </a:lnTo>
                <a:lnTo>
                  <a:pt x="28905" y="1955800"/>
                </a:lnTo>
                <a:lnTo>
                  <a:pt x="31610" y="1955800"/>
                </a:lnTo>
                <a:lnTo>
                  <a:pt x="34607" y="1968500"/>
                </a:lnTo>
                <a:close/>
              </a:path>
              <a:path w="2244090" h="2222500">
                <a:moveTo>
                  <a:pt x="2223871" y="1968500"/>
                </a:moveTo>
                <a:lnTo>
                  <a:pt x="2208860" y="1968500"/>
                </a:lnTo>
                <a:lnTo>
                  <a:pt x="2211870" y="1955800"/>
                </a:lnTo>
                <a:lnTo>
                  <a:pt x="2214562" y="1955800"/>
                </a:lnTo>
                <a:lnTo>
                  <a:pt x="2217153" y="1943100"/>
                </a:lnTo>
                <a:lnTo>
                  <a:pt x="2229357" y="1943100"/>
                </a:lnTo>
                <a:lnTo>
                  <a:pt x="2226716" y="1955800"/>
                </a:lnTo>
                <a:lnTo>
                  <a:pt x="2223871" y="1968500"/>
                </a:lnTo>
                <a:close/>
              </a:path>
              <a:path w="2244090" h="2222500">
                <a:moveTo>
                  <a:pt x="44640" y="1993900"/>
                </a:moveTo>
                <a:lnTo>
                  <a:pt x="29375" y="1993900"/>
                </a:lnTo>
                <a:lnTo>
                  <a:pt x="25920" y="1981200"/>
                </a:lnTo>
                <a:lnTo>
                  <a:pt x="22656" y="1968500"/>
                </a:lnTo>
                <a:lnTo>
                  <a:pt x="34556" y="1968500"/>
                </a:lnTo>
                <a:lnTo>
                  <a:pt x="37757" y="1981200"/>
                </a:lnTo>
                <a:lnTo>
                  <a:pt x="41046" y="1981200"/>
                </a:lnTo>
                <a:lnTo>
                  <a:pt x="44640" y="1993900"/>
                </a:lnTo>
                <a:close/>
              </a:path>
              <a:path w="2244090" h="2222500">
                <a:moveTo>
                  <a:pt x="2214092" y="1993900"/>
                </a:moveTo>
                <a:lnTo>
                  <a:pt x="2198827" y="1993900"/>
                </a:lnTo>
                <a:lnTo>
                  <a:pt x="2202433" y="1981200"/>
                </a:lnTo>
                <a:lnTo>
                  <a:pt x="2205710" y="1981200"/>
                </a:lnTo>
                <a:lnTo>
                  <a:pt x="2208910" y="1968500"/>
                </a:lnTo>
                <a:lnTo>
                  <a:pt x="2220810" y="1968500"/>
                </a:lnTo>
                <a:lnTo>
                  <a:pt x="2217559" y="1981200"/>
                </a:lnTo>
                <a:lnTo>
                  <a:pt x="2214092" y="1993900"/>
                </a:lnTo>
                <a:close/>
              </a:path>
              <a:path w="2244090" h="2222500">
                <a:moveTo>
                  <a:pt x="56375" y="2019300"/>
                </a:moveTo>
                <a:lnTo>
                  <a:pt x="40944" y="2019300"/>
                </a:lnTo>
                <a:lnTo>
                  <a:pt x="36893" y="2006600"/>
                </a:lnTo>
                <a:lnTo>
                  <a:pt x="33032" y="1993900"/>
                </a:lnTo>
                <a:lnTo>
                  <a:pt x="44576" y="1993900"/>
                </a:lnTo>
                <a:lnTo>
                  <a:pt x="48374" y="2006600"/>
                </a:lnTo>
                <a:lnTo>
                  <a:pt x="52209" y="2006600"/>
                </a:lnTo>
                <a:lnTo>
                  <a:pt x="56375" y="2019300"/>
                </a:lnTo>
                <a:close/>
              </a:path>
              <a:path w="2244090" h="2222500">
                <a:moveTo>
                  <a:pt x="2202522" y="2019300"/>
                </a:moveTo>
                <a:lnTo>
                  <a:pt x="2187092" y="2019300"/>
                </a:lnTo>
                <a:lnTo>
                  <a:pt x="2191257" y="2006600"/>
                </a:lnTo>
                <a:lnTo>
                  <a:pt x="2195106" y="2006600"/>
                </a:lnTo>
                <a:lnTo>
                  <a:pt x="2198890" y="1993900"/>
                </a:lnTo>
                <a:lnTo>
                  <a:pt x="2210434" y="1993900"/>
                </a:lnTo>
                <a:lnTo>
                  <a:pt x="2206574" y="2006600"/>
                </a:lnTo>
                <a:lnTo>
                  <a:pt x="2202522" y="2019300"/>
                </a:lnTo>
                <a:close/>
              </a:path>
              <a:path w="2244090" h="2222500">
                <a:moveTo>
                  <a:pt x="69748" y="2044700"/>
                </a:moveTo>
                <a:lnTo>
                  <a:pt x="54216" y="2044700"/>
                </a:lnTo>
                <a:lnTo>
                  <a:pt x="49606" y="2032000"/>
                </a:lnTo>
                <a:lnTo>
                  <a:pt x="45186" y="2019300"/>
                </a:lnTo>
                <a:lnTo>
                  <a:pt x="60578" y="2019300"/>
                </a:lnTo>
                <a:lnTo>
                  <a:pt x="65112" y="2032000"/>
                </a:lnTo>
                <a:lnTo>
                  <a:pt x="69748" y="2044700"/>
                </a:lnTo>
                <a:close/>
              </a:path>
              <a:path w="2244090" h="2222500">
                <a:moveTo>
                  <a:pt x="2189251" y="2044700"/>
                </a:moveTo>
                <a:lnTo>
                  <a:pt x="2173731" y="2044700"/>
                </a:lnTo>
                <a:lnTo>
                  <a:pt x="2178430" y="2032000"/>
                </a:lnTo>
                <a:lnTo>
                  <a:pt x="2182888" y="2019300"/>
                </a:lnTo>
                <a:lnTo>
                  <a:pt x="2198293" y="2019300"/>
                </a:lnTo>
                <a:lnTo>
                  <a:pt x="2193861" y="2032000"/>
                </a:lnTo>
                <a:lnTo>
                  <a:pt x="2189251" y="2044700"/>
                </a:lnTo>
                <a:close/>
              </a:path>
              <a:path w="2244090" h="2222500">
                <a:moveTo>
                  <a:pt x="79527" y="2057400"/>
                </a:moveTo>
                <a:lnTo>
                  <a:pt x="63982" y="2057400"/>
                </a:lnTo>
                <a:lnTo>
                  <a:pt x="59016" y="2044700"/>
                </a:lnTo>
                <a:lnTo>
                  <a:pt x="74460" y="2044700"/>
                </a:lnTo>
                <a:lnTo>
                  <a:pt x="79527" y="2057400"/>
                </a:lnTo>
                <a:close/>
              </a:path>
              <a:path w="2244090" h="2222500">
                <a:moveTo>
                  <a:pt x="2179485" y="2057400"/>
                </a:moveTo>
                <a:lnTo>
                  <a:pt x="2163953" y="2057400"/>
                </a:lnTo>
                <a:lnTo>
                  <a:pt x="2169007" y="2044700"/>
                </a:lnTo>
                <a:lnTo>
                  <a:pt x="2184463" y="2044700"/>
                </a:lnTo>
                <a:lnTo>
                  <a:pt x="2179485" y="2057400"/>
                </a:lnTo>
                <a:close/>
              </a:path>
              <a:path w="2244090" h="2222500">
                <a:moveTo>
                  <a:pt x="101053" y="2082800"/>
                </a:moveTo>
                <a:lnTo>
                  <a:pt x="79933" y="2082800"/>
                </a:lnTo>
                <a:lnTo>
                  <a:pt x="74447" y="2070100"/>
                </a:lnTo>
                <a:lnTo>
                  <a:pt x="69126" y="2057400"/>
                </a:lnTo>
                <a:lnTo>
                  <a:pt x="84569" y="2057400"/>
                </a:lnTo>
                <a:lnTo>
                  <a:pt x="89966" y="2070100"/>
                </a:lnTo>
                <a:lnTo>
                  <a:pt x="95338" y="2070100"/>
                </a:lnTo>
                <a:lnTo>
                  <a:pt x="101053" y="2082800"/>
                </a:lnTo>
                <a:close/>
              </a:path>
              <a:path w="2244090" h="2222500">
                <a:moveTo>
                  <a:pt x="2163533" y="2082800"/>
                </a:moveTo>
                <a:lnTo>
                  <a:pt x="2142413" y="2082800"/>
                </a:lnTo>
                <a:lnTo>
                  <a:pt x="2148141" y="2070100"/>
                </a:lnTo>
                <a:lnTo>
                  <a:pt x="2153500" y="2070100"/>
                </a:lnTo>
                <a:lnTo>
                  <a:pt x="2158898" y="2057400"/>
                </a:lnTo>
                <a:lnTo>
                  <a:pt x="2174341" y="2057400"/>
                </a:lnTo>
                <a:lnTo>
                  <a:pt x="2169020" y="2070100"/>
                </a:lnTo>
                <a:lnTo>
                  <a:pt x="2163533" y="2082800"/>
                </a:lnTo>
                <a:close/>
              </a:path>
              <a:path w="2244090" h="2222500">
                <a:moveTo>
                  <a:pt x="112763" y="2095500"/>
                </a:moveTo>
                <a:lnTo>
                  <a:pt x="91401" y="2095500"/>
                </a:lnTo>
                <a:lnTo>
                  <a:pt x="85585" y="2082800"/>
                </a:lnTo>
                <a:lnTo>
                  <a:pt x="106730" y="2082800"/>
                </a:lnTo>
                <a:lnTo>
                  <a:pt x="112763" y="2095500"/>
                </a:lnTo>
                <a:close/>
              </a:path>
              <a:path w="2244090" h="2222500">
                <a:moveTo>
                  <a:pt x="2152065" y="2095500"/>
                </a:moveTo>
                <a:lnTo>
                  <a:pt x="2130704" y="2095500"/>
                </a:lnTo>
                <a:lnTo>
                  <a:pt x="2136736" y="2082800"/>
                </a:lnTo>
                <a:lnTo>
                  <a:pt x="2157882" y="2082800"/>
                </a:lnTo>
                <a:lnTo>
                  <a:pt x="2152065" y="2095500"/>
                </a:lnTo>
                <a:close/>
              </a:path>
              <a:path w="2244090" h="2222500">
                <a:moveTo>
                  <a:pt x="125069" y="2108200"/>
                </a:moveTo>
                <a:lnTo>
                  <a:pt x="103517" y="2108200"/>
                </a:lnTo>
                <a:lnTo>
                  <a:pt x="97383" y="2095500"/>
                </a:lnTo>
                <a:lnTo>
                  <a:pt x="118732" y="2095500"/>
                </a:lnTo>
                <a:lnTo>
                  <a:pt x="125069" y="2108200"/>
                </a:lnTo>
                <a:close/>
              </a:path>
              <a:path w="2244090" h="2222500">
                <a:moveTo>
                  <a:pt x="2139950" y="2108200"/>
                </a:moveTo>
                <a:lnTo>
                  <a:pt x="2118398" y="2108200"/>
                </a:lnTo>
                <a:lnTo>
                  <a:pt x="2124735" y="2095500"/>
                </a:lnTo>
                <a:lnTo>
                  <a:pt x="2146084" y="2095500"/>
                </a:lnTo>
                <a:lnTo>
                  <a:pt x="2139950" y="2108200"/>
                </a:lnTo>
                <a:close/>
              </a:path>
              <a:path w="2244090" h="2222500">
                <a:moveTo>
                  <a:pt x="137947" y="2120900"/>
                </a:moveTo>
                <a:lnTo>
                  <a:pt x="116255" y="2120900"/>
                </a:lnTo>
                <a:lnTo>
                  <a:pt x="109804" y="2108200"/>
                </a:lnTo>
                <a:lnTo>
                  <a:pt x="131330" y="2108200"/>
                </a:lnTo>
                <a:lnTo>
                  <a:pt x="137947" y="2120900"/>
                </a:lnTo>
                <a:close/>
              </a:path>
              <a:path w="2244090" h="2222500">
                <a:moveTo>
                  <a:pt x="2127224" y="2120900"/>
                </a:moveTo>
                <a:lnTo>
                  <a:pt x="2105520" y="2120900"/>
                </a:lnTo>
                <a:lnTo>
                  <a:pt x="2112136" y="2108200"/>
                </a:lnTo>
                <a:lnTo>
                  <a:pt x="2133663" y="2108200"/>
                </a:lnTo>
                <a:lnTo>
                  <a:pt x="2127224" y="2120900"/>
                </a:lnTo>
                <a:close/>
              </a:path>
              <a:path w="2244090" h="2222500">
                <a:moveTo>
                  <a:pt x="151384" y="2133600"/>
                </a:moveTo>
                <a:lnTo>
                  <a:pt x="129578" y="2133600"/>
                </a:lnTo>
                <a:lnTo>
                  <a:pt x="122847" y="2120900"/>
                </a:lnTo>
                <a:lnTo>
                  <a:pt x="144487" y="2120900"/>
                </a:lnTo>
                <a:lnTo>
                  <a:pt x="151384" y="2133600"/>
                </a:lnTo>
                <a:close/>
              </a:path>
              <a:path w="2244090" h="2222500">
                <a:moveTo>
                  <a:pt x="2113889" y="2133600"/>
                </a:moveTo>
                <a:lnTo>
                  <a:pt x="2092083" y="2133600"/>
                </a:lnTo>
                <a:lnTo>
                  <a:pt x="2098992" y="2120900"/>
                </a:lnTo>
                <a:lnTo>
                  <a:pt x="2120633" y="2120900"/>
                </a:lnTo>
                <a:lnTo>
                  <a:pt x="2113889" y="2133600"/>
                </a:lnTo>
                <a:close/>
              </a:path>
              <a:path w="2244090" h="2222500">
                <a:moveTo>
                  <a:pt x="165353" y="2146300"/>
                </a:moveTo>
                <a:lnTo>
                  <a:pt x="143484" y="2146300"/>
                </a:lnTo>
                <a:lnTo>
                  <a:pt x="136461" y="2133600"/>
                </a:lnTo>
                <a:lnTo>
                  <a:pt x="158178" y="2133600"/>
                </a:lnTo>
                <a:lnTo>
                  <a:pt x="165353" y="2146300"/>
                </a:lnTo>
                <a:close/>
              </a:path>
              <a:path w="2244090" h="2222500">
                <a:moveTo>
                  <a:pt x="2099995" y="2146300"/>
                </a:moveTo>
                <a:lnTo>
                  <a:pt x="2078113" y="2146300"/>
                </a:lnTo>
                <a:lnTo>
                  <a:pt x="2085289" y="2133600"/>
                </a:lnTo>
                <a:lnTo>
                  <a:pt x="2107006" y="2133600"/>
                </a:lnTo>
                <a:lnTo>
                  <a:pt x="2099995" y="2146300"/>
                </a:lnTo>
                <a:close/>
              </a:path>
              <a:path w="2244090" h="2222500">
                <a:moveTo>
                  <a:pt x="187236" y="2159000"/>
                </a:moveTo>
                <a:lnTo>
                  <a:pt x="165353" y="2159000"/>
                </a:lnTo>
                <a:lnTo>
                  <a:pt x="157924" y="2146300"/>
                </a:lnTo>
                <a:lnTo>
                  <a:pt x="179692" y="2146300"/>
                </a:lnTo>
                <a:lnTo>
                  <a:pt x="187236" y="2159000"/>
                </a:lnTo>
                <a:close/>
              </a:path>
              <a:path w="2244090" h="2222500">
                <a:moveTo>
                  <a:pt x="2078113" y="2159000"/>
                </a:moveTo>
                <a:lnTo>
                  <a:pt x="2056231" y="2159000"/>
                </a:lnTo>
                <a:lnTo>
                  <a:pt x="2063775" y="2146300"/>
                </a:lnTo>
                <a:lnTo>
                  <a:pt x="2085543" y="2146300"/>
                </a:lnTo>
                <a:lnTo>
                  <a:pt x="2078113" y="2159000"/>
                </a:lnTo>
                <a:close/>
              </a:path>
              <a:path w="2244090" h="2222500">
                <a:moveTo>
                  <a:pt x="210197" y="2171700"/>
                </a:moveTo>
                <a:lnTo>
                  <a:pt x="180581" y="2171700"/>
                </a:lnTo>
                <a:lnTo>
                  <a:pt x="172897" y="2159000"/>
                </a:lnTo>
                <a:lnTo>
                  <a:pt x="202298" y="2159000"/>
                </a:lnTo>
                <a:lnTo>
                  <a:pt x="210197" y="2171700"/>
                </a:lnTo>
                <a:close/>
              </a:path>
              <a:path w="2244090" h="2222500">
                <a:moveTo>
                  <a:pt x="2062886" y="2171700"/>
                </a:moveTo>
                <a:lnTo>
                  <a:pt x="2033282" y="2171700"/>
                </a:lnTo>
                <a:lnTo>
                  <a:pt x="2041182" y="2159000"/>
                </a:lnTo>
                <a:lnTo>
                  <a:pt x="2070569" y="2159000"/>
                </a:lnTo>
                <a:lnTo>
                  <a:pt x="2062886" y="2171700"/>
                </a:lnTo>
                <a:close/>
              </a:path>
              <a:path w="2244090" h="2222500">
                <a:moveTo>
                  <a:pt x="234124" y="2184400"/>
                </a:moveTo>
                <a:lnTo>
                  <a:pt x="204330" y="2184400"/>
                </a:lnTo>
                <a:lnTo>
                  <a:pt x="196303" y="2171700"/>
                </a:lnTo>
                <a:lnTo>
                  <a:pt x="225907" y="2171700"/>
                </a:lnTo>
                <a:lnTo>
                  <a:pt x="234124" y="2184400"/>
                </a:lnTo>
                <a:close/>
              </a:path>
              <a:path w="2244090" h="2222500">
                <a:moveTo>
                  <a:pt x="2039137" y="2184400"/>
                </a:moveTo>
                <a:lnTo>
                  <a:pt x="2009343" y="2184400"/>
                </a:lnTo>
                <a:lnTo>
                  <a:pt x="2017572" y="2171700"/>
                </a:lnTo>
                <a:lnTo>
                  <a:pt x="2047176" y="2171700"/>
                </a:lnTo>
                <a:lnTo>
                  <a:pt x="2039137" y="2184400"/>
                </a:lnTo>
                <a:close/>
              </a:path>
              <a:path w="2244090" h="2222500">
                <a:moveTo>
                  <a:pt x="267449" y="2197100"/>
                </a:moveTo>
                <a:lnTo>
                  <a:pt x="237578" y="2197100"/>
                </a:lnTo>
                <a:lnTo>
                  <a:pt x="229107" y="2184400"/>
                </a:lnTo>
                <a:lnTo>
                  <a:pt x="258825" y="2184400"/>
                </a:lnTo>
                <a:lnTo>
                  <a:pt x="267449" y="2197100"/>
                </a:lnTo>
                <a:close/>
              </a:path>
              <a:path w="2244090" h="2222500">
                <a:moveTo>
                  <a:pt x="2005888" y="2197100"/>
                </a:moveTo>
                <a:lnTo>
                  <a:pt x="1976031" y="2197100"/>
                </a:lnTo>
                <a:lnTo>
                  <a:pt x="1984641" y="2184400"/>
                </a:lnTo>
                <a:lnTo>
                  <a:pt x="2014359" y="2184400"/>
                </a:lnTo>
                <a:lnTo>
                  <a:pt x="2005888" y="2197100"/>
                </a:lnTo>
                <a:close/>
              </a:path>
              <a:path w="2244090" h="2222500">
                <a:moveTo>
                  <a:pt x="329095" y="2209800"/>
                </a:moveTo>
                <a:lnTo>
                  <a:pt x="272453" y="2209800"/>
                </a:lnTo>
                <a:lnTo>
                  <a:pt x="263601" y="2197100"/>
                </a:lnTo>
                <a:lnTo>
                  <a:pt x="319900" y="2197100"/>
                </a:lnTo>
                <a:lnTo>
                  <a:pt x="329095" y="2209800"/>
                </a:lnTo>
                <a:close/>
              </a:path>
              <a:path w="2244090" h="2222500">
                <a:moveTo>
                  <a:pt x="1971014" y="2209800"/>
                </a:moveTo>
                <a:lnTo>
                  <a:pt x="1914385" y="2209800"/>
                </a:lnTo>
                <a:lnTo>
                  <a:pt x="1923580" y="2197100"/>
                </a:lnTo>
                <a:lnTo>
                  <a:pt x="1979879" y="2197100"/>
                </a:lnTo>
                <a:lnTo>
                  <a:pt x="1971014" y="2209800"/>
                </a:lnTo>
                <a:close/>
              </a:path>
              <a:path w="2244090" h="2222500">
                <a:moveTo>
                  <a:pt x="1916061" y="2222500"/>
                </a:moveTo>
                <a:lnTo>
                  <a:pt x="327405" y="2222500"/>
                </a:lnTo>
                <a:lnTo>
                  <a:pt x="318058" y="2209800"/>
                </a:lnTo>
                <a:lnTo>
                  <a:pt x="1925421" y="2209800"/>
                </a:lnTo>
                <a:lnTo>
                  <a:pt x="1916061" y="22225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94058" y="3278301"/>
            <a:ext cx="1623695" cy="2244725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华文楷体"/>
                <a:cs typeface="华文楷体"/>
              </a:rPr>
              <a:t>峰值：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48500"/>
              </a:lnSpc>
              <a:spcBef>
                <a:spcPts val="180"/>
              </a:spcBef>
            </a:pP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>
                <a:latin typeface="Times New Roman"/>
                <a:cs typeface="Times New Roman"/>
              </a:rPr>
              <a:t>m </a:t>
            </a:r>
            <a:r>
              <a:rPr dirty="0" sz="2400" spc="-5">
                <a:latin typeface="宋体"/>
                <a:cs typeface="宋体"/>
              </a:rPr>
              <a:t>＝</a:t>
            </a:r>
            <a:r>
              <a:rPr dirty="0" sz="2400" spc="-5" i="1">
                <a:latin typeface="Times New Roman"/>
                <a:cs typeface="Times New Roman"/>
              </a:rPr>
              <a:t>NωBS  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 </a:t>
            </a:r>
            <a:r>
              <a:rPr dirty="0" sz="2400">
                <a:latin typeface="宋体"/>
                <a:cs typeface="宋体"/>
              </a:rPr>
              <a:t>＝</a:t>
            </a:r>
            <a:r>
              <a:rPr dirty="0" sz="2400" spc="-860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E</a:t>
            </a:r>
            <a:r>
              <a:rPr dirty="0" baseline="-17921" sz="2325">
                <a:latin typeface="Times New Roman"/>
                <a:cs typeface="Times New Roman"/>
              </a:rPr>
              <a:t>m </a:t>
            </a:r>
            <a:r>
              <a:rPr dirty="0" sz="2400" spc="-5">
                <a:latin typeface="Times New Roman"/>
                <a:cs typeface="Times New Roman"/>
              </a:rPr>
              <a:t>/</a:t>
            </a:r>
            <a:r>
              <a:rPr dirty="0" sz="2400" spc="-5" i="1">
                <a:latin typeface="Times New Roman"/>
                <a:cs typeface="Times New Roman"/>
              </a:rPr>
              <a:t>R </a:t>
            </a:r>
            <a:r>
              <a:rPr dirty="0" baseline="-17921" sz="2325" spc="15">
                <a:latin typeface="宋体"/>
                <a:cs typeface="宋体"/>
              </a:rPr>
              <a:t>总 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baseline="-17921" sz="2325">
                <a:latin typeface="Times New Roman"/>
                <a:cs typeface="Times New Roman"/>
              </a:rPr>
              <a:t>m </a:t>
            </a:r>
            <a:r>
              <a:rPr dirty="0" sz="2400">
                <a:latin typeface="宋体"/>
                <a:cs typeface="宋体"/>
              </a:rPr>
              <a:t>＝</a:t>
            </a:r>
            <a:r>
              <a:rPr dirty="0" sz="2400" spc="-840">
                <a:latin typeface="宋体"/>
                <a:cs typeface="宋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 </a:t>
            </a:r>
            <a:r>
              <a:rPr dirty="0" sz="2400" spc="-5" i="1">
                <a:latin typeface="Times New Roman"/>
                <a:cs typeface="Times New Roman"/>
              </a:rPr>
              <a:t>R </a:t>
            </a:r>
            <a:r>
              <a:rPr dirty="0" baseline="-17921" sz="2325" spc="15">
                <a:latin typeface="宋体"/>
                <a:cs typeface="宋体"/>
              </a:rPr>
              <a:t>外</a:t>
            </a:r>
            <a:endParaRPr baseline="-17921" sz="2325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52871" y="2389632"/>
            <a:ext cx="1633727" cy="734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4583" y="1311275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927604" y="1685544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27248" y="1909572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90633" y="195573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80284" y="2184704"/>
            <a:ext cx="3808095" cy="2766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14604" indent="5080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华文楷体"/>
                <a:cs typeface="华文楷体"/>
              </a:rPr>
              <a:t>如图所示是通过一个</a:t>
            </a:r>
            <a:r>
              <a:rPr dirty="0" sz="2000" spc="-5" i="1">
                <a:latin typeface="Times New Roman"/>
                <a:cs typeface="Times New Roman"/>
              </a:rPr>
              <a:t>R</a:t>
            </a:r>
            <a:r>
              <a:rPr dirty="0" sz="2000">
                <a:latin typeface="华文楷体"/>
                <a:cs typeface="华文楷体"/>
              </a:rPr>
              <a:t>为</a:t>
            </a:r>
            <a:r>
              <a:rPr dirty="0" sz="2000" spc="-5">
                <a:latin typeface="Times New Roman"/>
                <a:cs typeface="Times New Roman"/>
              </a:rPr>
              <a:t>1Ω</a:t>
            </a:r>
            <a:r>
              <a:rPr dirty="0" sz="2000">
                <a:latin typeface="华文楷体"/>
                <a:cs typeface="华文楷体"/>
              </a:rPr>
              <a:t>的 </a:t>
            </a:r>
            <a:r>
              <a:rPr dirty="0" sz="2000">
                <a:latin typeface="华文楷体"/>
                <a:cs typeface="华文楷体"/>
              </a:rPr>
              <a:t>电阻的电</a:t>
            </a:r>
            <a:r>
              <a:rPr dirty="0" sz="2000" spc="5">
                <a:latin typeface="华文楷体"/>
                <a:cs typeface="华文楷体"/>
              </a:rPr>
              <a:t>流</a:t>
            </a:r>
            <a:r>
              <a:rPr dirty="0" sz="2000" spc="-50">
                <a:latin typeface="华文楷体"/>
                <a:cs typeface="华文楷体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华文楷体"/>
                <a:cs typeface="华文楷体"/>
              </a:rPr>
              <a:t>随时间变化的曲线</a:t>
            </a:r>
            <a:r>
              <a:rPr dirty="0" sz="2000" spc="5">
                <a:latin typeface="华文楷体"/>
                <a:cs typeface="华文楷体"/>
              </a:rPr>
              <a:t>。 </a:t>
            </a:r>
            <a:r>
              <a:rPr dirty="0" sz="2000">
                <a:latin typeface="华文楷体"/>
                <a:cs typeface="华文楷体"/>
              </a:rPr>
              <a:t>这个电流不是恒定电流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marL="12700" marR="104139" indent="508000">
              <a:lnSpc>
                <a:spcPts val="2370"/>
              </a:lnSpc>
              <a:spcBef>
                <a:spcPts val="105"/>
              </a:spcBef>
              <a:buFont typeface="Times New Roman"/>
              <a:buAutoNum type="arabicPeriod"/>
              <a:tabLst>
                <a:tab pos="774700" algn="l"/>
              </a:tabLst>
            </a:pPr>
            <a:r>
              <a:rPr dirty="0" sz="2000">
                <a:latin typeface="华文楷体"/>
                <a:cs typeface="华文楷体"/>
              </a:rPr>
              <a:t>怎样计算通电</a:t>
            </a:r>
            <a:r>
              <a:rPr dirty="0" sz="2000" spc="-5">
                <a:latin typeface="Times New Roman"/>
                <a:cs typeface="Times New Roman"/>
              </a:rPr>
              <a:t>1s</a:t>
            </a:r>
            <a:r>
              <a:rPr dirty="0" sz="2000">
                <a:latin typeface="华文楷体"/>
                <a:cs typeface="华文楷体"/>
              </a:rPr>
              <a:t>内电阻</a:t>
            </a:r>
            <a:r>
              <a:rPr dirty="0" sz="2000" spc="-5" i="1">
                <a:latin typeface="Times New Roman"/>
                <a:cs typeface="Times New Roman"/>
              </a:rPr>
              <a:t>R</a:t>
            </a:r>
            <a:r>
              <a:rPr dirty="0" sz="2000">
                <a:latin typeface="华文楷体"/>
                <a:cs typeface="华文楷体"/>
              </a:rPr>
              <a:t>中 </a:t>
            </a:r>
            <a:r>
              <a:rPr dirty="0" sz="2000">
                <a:latin typeface="华文楷体"/>
                <a:cs typeface="华文楷体"/>
              </a:rPr>
              <a:t>产生的热量</a:t>
            </a:r>
            <a:r>
              <a:rPr dirty="0" sz="2000" spc="5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  <a:p>
            <a:pPr algn="just" marL="12700" marR="5080" indent="508000">
              <a:lnSpc>
                <a:spcPts val="2400"/>
              </a:lnSpc>
              <a:spcBef>
                <a:spcPts val="35"/>
              </a:spcBef>
              <a:buFont typeface="Times New Roman"/>
              <a:buAutoNum type="arabicPeriod"/>
              <a:tabLst>
                <a:tab pos="774700" algn="l"/>
              </a:tabLst>
            </a:pPr>
            <a:r>
              <a:rPr dirty="0" sz="2000">
                <a:latin typeface="华文楷体"/>
                <a:cs typeface="华文楷体"/>
              </a:rPr>
              <a:t>如果有一个大小、方向</a:t>
            </a:r>
            <a:r>
              <a:rPr dirty="0" sz="2000" spc="5">
                <a:latin typeface="华文楷体"/>
                <a:cs typeface="华文楷体"/>
              </a:rPr>
              <a:t>都 </a:t>
            </a:r>
            <a:r>
              <a:rPr dirty="0" sz="2000">
                <a:latin typeface="华文楷体"/>
                <a:cs typeface="华文楷体"/>
              </a:rPr>
              <a:t>不变的恒定电流通过这个电阻</a:t>
            </a:r>
            <a:r>
              <a:rPr dirty="0" sz="2000" i="1">
                <a:latin typeface="Times New Roman"/>
                <a:cs typeface="Times New Roman"/>
              </a:rPr>
              <a:t>R</a:t>
            </a:r>
            <a:r>
              <a:rPr dirty="0" sz="2000">
                <a:latin typeface="华文楷体"/>
                <a:cs typeface="华文楷体"/>
              </a:rPr>
              <a:t>，</a:t>
            </a:r>
            <a:endParaRPr sz="2000">
              <a:latin typeface="华文楷体"/>
              <a:cs typeface="华文楷体"/>
            </a:endParaRPr>
          </a:p>
          <a:p>
            <a:pPr marL="12700" marR="5080">
              <a:lnSpc>
                <a:spcPts val="2370"/>
              </a:lnSpc>
              <a:spcBef>
                <a:spcPts val="20"/>
              </a:spcBef>
            </a:pPr>
            <a:r>
              <a:rPr dirty="0" sz="2000">
                <a:latin typeface="华文楷体"/>
                <a:cs typeface="华文楷体"/>
              </a:rPr>
              <a:t>也能在</a:t>
            </a:r>
            <a:r>
              <a:rPr dirty="0" sz="2000" spc="-5">
                <a:latin typeface="Times New Roman"/>
                <a:cs typeface="Times New Roman"/>
              </a:rPr>
              <a:t>1s</a:t>
            </a:r>
            <a:r>
              <a:rPr dirty="0" sz="2000">
                <a:latin typeface="华文楷体"/>
                <a:cs typeface="华文楷体"/>
              </a:rPr>
              <a:t>内产生同样的热，这个</a:t>
            </a:r>
            <a:r>
              <a:rPr dirty="0" sz="2000">
                <a:latin typeface="华文楷体"/>
                <a:cs typeface="华文楷体"/>
              </a:rPr>
              <a:t>电 </a:t>
            </a:r>
            <a:r>
              <a:rPr dirty="0" sz="2000">
                <a:latin typeface="华文楷体"/>
                <a:cs typeface="华文楷体"/>
              </a:rPr>
              <a:t>流是多大</a:t>
            </a:r>
            <a:r>
              <a:rPr dirty="0" sz="2000" spc="5">
                <a:latin typeface="华文楷体"/>
                <a:cs typeface="华文楷体"/>
              </a:rPr>
              <a:t>？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07480" y="2804160"/>
            <a:ext cx="2886455" cy="1609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43188" y="4695444"/>
            <a:ext cx="608076" cy="690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6872" y="17114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66515" y="1935479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29393" y="1981695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6720" y="2455951"/>
            <a:ext cx="96456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68044" algn="l"/>
              </a:tabLst>
            </a:pPr>
            <a:r>
              <a:rPr dirty="0" sz="1300">
                <a:latin typeface="Times New Roman"/>
                <a:cs typeface="Times New Roman"/>
              </a:rPr>
              <a:t>2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830" y="2659735"/>
            <a:ext cx="1057275" cy="2254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5780" algn="l"/>
                <a:tab pos="960755" algn="l"/>
              </a:tabLst>
            </a:pPr>
            <a:r>
              <a:rPr dirty="0" sz="1300">
                <a:latin typeface="Times New Roman"/>
                <a:cs typeface="Times New Roman"/>
              </a:rPr>
              <a:t>1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1</a:t>
            </a:r>
            <a:r>
              <a:rPr dirty="0" sz="1300">
                <a:latin typeface="Times New Roman"/>
                <a:cs typeface="Times New Roman"/>
              </a:rPr>
              <a:t>	</a:t>
            </a:r>
            <a:r>
              <a:rPr dirty="0" sz="130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7136" y="2463901"/>
            <a:ext cx="3504565" cy="370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72110" algn="l"/>
                <a:tab pos="906144" algn="l"/>
                <a:tab pos="1320800" algn="l"/>
                <a:tab pos="1812289" algn="l"/>
              </a:tabLst>
            </a:pPr>
            <a:r>
              <a:rPr dirty="0" sz="2250" spc="10" i="1">
                <a:latin typeface="Times New Roman"/>
                <a:cs typeface="Times New Roman"/>
              </a:rPr>
              <a:t>Q	</a:t>
            </a:r>
            <a:r>
              <a:rPr dirty="0" sz="2250" spc="5">
                <a:latin typeface="Symbol"/>
                <a:cs typeface="Symbol"/>
              </a:rPr>
              <a:t></a:t>
            </a:r>
            <a:r>
              <a:rPr dirty="0" sz="2250" spc="120">
                <a:latin typeface="Times New Roman"/>
                <a:cs typeface="Times New Roman"/>
              </a:rPr>
              <a:t> </a:t>
            </a:r>
            <a:r>
              <a:rPr dirty="0" sz="2250" spc="5" i="1">
                <a:latin typeface="Times New Roman"/>
                <a:cs typeface="Times New Roman"/>
              </a:rPr>
              <a:t>I	</a:t>
            </a:r>
            <a:r>
              <a:rPr dirty="0" sz="2250" spc="15" i="1">
                <a:latin typeface="Times New Roman"/>
                <a:cs typeface="Times New Roman"/>
              </a:rPr>
              <a:t>Rt	</a:t>
            </a:r>
            <a:r>
              <a:rPr dirty="0" sz="2250" spc="5">
                <a:latin typeface="Symbol"/>
                <a:cs typeface="Symbol"/>
              </a:rPr>
              <a:t></a:t>
            </a:r>
            <a:r>
              <a:rPr dirty="0" sz="2250" spc="-195">
                <a:latin typeface="Times New Roman"/>
                <a:cs typeface="Times New Roman"/>
              </a:rPr>
              <a:t> </a:t>
            </a:r>
            <a:r>
              <a:rPr dirty="0" sz="2250" spc="5">
                <a:latin typeface="Times New Roman"/>
                <a:cs typeface="Times New Roman"/>
              </a:rPr>
              <a:t>1	</a:t>
            </a:r>
            <a:r>
              <a:rPr dirty="0" sz="2250" spc="120">
                <a:latin typeface="Symbol"/>
                <a:cs typeface="Symbol"/>
              </a:rPr>
              <a:t></a:t>
            </a:r>
            <a:r>
              <a:rPr dirty="0" sz="2250" spc="120">
                <a:latin typeface="Times New Roman"/>
                <a:cs typeface="Times New Roman"/>
              </a:rPr>
              <a:t>1</a:t>
            </a:r>
            <a:r>
              <a:rPr dirty="0" sz="2250" spc="120">
                <a:latin typeface="Symbol"/>
                <a:cs typeface="Symbol"/>
              </a:rPr>
              <a:t></a:t>
            </a:r>
            <a:r>
              <a:rPr dirty="0" sz="2250" spc="-275">
                <a:latin typeface="Times New Roman"/>
                <a:cs typeface="Times New Roman"/>
              </a:rPr>
              <a:t> </a:t>
            </a:r>
            <a:r>
              <a:rPr dirty="0" sz="2250" spc="25">
                <a:latin typeface="Times New Roman"/>
                <a:cs typeface="Times New Roman"/>
              </a:rPr>
              <a:t>0.2J=0.2J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46747" y="2830067"/>
            <a:ext cx="2886455" cy="1609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38501" y="2555392"/>
            <a:ext cx="196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5945" y="3156013"/>
            <a:ext cx="3339465" cy="10414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0520">
              <a:lnSpc>
                <a:spcPct val="100000"/>
              </a:lnSpc>
              <a:spcBef>
                <a:spcPts val="105"/>
              </a:spcBef>
            </a:pPr>
            <a:r>
              <a:rPr dirty="0" sz="2450" spc="-40" i="1">
                <a:latin typeface="Times New Roman"/>
                <a:cs typeface="Times New Roman"/>
              </a:rPr>
              <a:t>Q</a:t>
            </a:r>
            <a:r>
              <a:rPr dirty="0" sz="2450" spc="-40">
                <a:latin typeface="Times New Roman"/>
                <a:cs typeface="Times New Roman"/>
              </a:rPr>
              <a:t>=</a:t>
            </a:r>
            <a:r>
              <a:rPr dirty="0" sz="2450" spc="-40" i="1">
                <a:latin typeface="Times New Roman"/>
                <a:cs typeface="Times New Roman"/>
              </a:rPr>
              <a:t>Q</a:t>
            </a:r>
            <a:r>
              <a:rPr dirty="0" baseline="-25793" sz="2100" spc="-60">
                <a:latin typeface="Times New Roman"/>
                <a:cs typeface="Times New Roman"/>
              </a:rPr>
              <a:t>1 </a:t>
            </a:r>
            <a:r>
              <a:rPr dirty="0" sz="2450" spc="-30">
                <a:latin typeface="Times New Roman"/>
                <a:cs typeface="Times New Roman"/>
              </a:rPr>
              <a:t>+</a:t>
            </a:r>
            <a:r>
              <a:rPr dirty="0" sz="2450" spc="-30" i="1">
                <a:latin typeface="Times New Roman"/>
                <a:cs typeface="Times New Roman"/>
              </a:rPr>
              <a:t>Q</a:t>
            </a:r>
            <a:r>
              <a:rPr dirty="0" baseline="-25793" sz="2100" spc="-44">
                <a:latin typeface="Times New Roman"/>
                <a:cs typeface="Times New Roman"/>
              </a:rPr>
              <a:t>2 </a:t>
            </a:r>
            <a:r>
              <a:rPr dirty="0" sz="2450" spc="-45">
                <a:latin typeface="Times New Roman"/>
                <a:cs typeface="Times New Roman"/>
              </a:rPr>
              <a:t>+</a:t>
            </a:r>
            <a:r>
              <a:rPr dirty="0" sz="2450" spc="-45" i="1">
                <a:latin typeface="Times New Roman"/>
                <a:cs typeface="Times New Roman"/>
              </a:rPr>
              <a:t>Q</a:t>
            </a:r>
            <a:r>
              <a:rPr dirty="0" baseline="-25793" sz="2100" spc="-67">
                <a:latin typeface="Times New Roman"/>
                <a:cs typeface="Times New Roman"/>
              </a:rPr>
              <a:t>3 </a:t>
            </a:r>
            <a:r>
              <a:rPr dirty="0" sz="2450" spc="-30">
                <a:latin typeface="Times New Roman"/>
                <a:cs typeface="Times New Roman"/>
              </a:rPr>
              <a:t>+</a:t>
            </a:r>
            <a:r>
              <a:rPr dirty="0" sz="2450" spc="-30" i="1">
                <a:latin typeface="Times New Roman"/>
                <a:cs typeface="Times New Roman"/>
              </a:rPr>
              <a:t>Q</a:t>
            </a:r>
            <a:r>
              <a:rPr dirty="0" baseline="-25793" sz="2100" spc="-44">
                <a:latin typeface="Times New Roman"/>
                <a:cs typeface="Times New Roman"/>
              </a:rPr>
              <a:t>4</a:t>
            </a:r>
            <a:r>
              <a:rPr dirty="0" baseline="-25793" sz="2100" spc="-292">
                <a:latin typeface="Times New Roman"/>
                <a:cs typeface="Times New Roman"/>
              </a:rPr>
              <a:t> </a:t>
            </a:r>
            <a:r>
              <a:rPr dirty="0" sz="2450" spc="25">
                <a:latin typeface="Times New Roman"/>
                <a:cs typeface="Times New Roman"/>
              </a:rPr>
              <a:t>=2.8J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  <a:tabLst>
                <a:tab pos="330200" algn="l"/>
              </a:tabLst>
            </a:pPr>
            <a:r>
              <a:rPr dirty="0" baseline="-2777" sz="3000" spc="-7">
                <a:latin typeface="Times New Roman"/>
                <a:cs typeface="Times New Roman"/>
              </a:rPr>
              <a:t>2.	</a:t>
            </a:r>
            <a:r>
              <a:rPr dirty="0" sz="2450" spc="5" i="1">
                <a:latin typeface="Times New Roman"/>
                <a:cs typeface="Times New Roman"/>
              </a:rPr>
              <a:t>Q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>
                <a:latin typeface="Times New Roman"/>
                <a:cs typeface="Times New Roman"/>
              </a:rPr>
              <a:t> </a:t>
            </a:r>
            <a:r>
              <a:rPr dirty="0" sz="2450" i="1">
                <a:latin typeface="Times New Roman"/>
                <a:cs typeface="Times New Roman"/>
              </a:rPr>
              <a:t>I</a:t>
            </a:r>
            <a:r>
              <a:rPr dirty="0" sz="2450" spc="-420" i="1">
                <a:latin typeface="Times New Roman"/>
                <a:cs typeface="Times New Roman"/>
              </a:rPr>
              <a:t> </a:t>
            </a:r>
            <a:r>
              <a:rPr dirty="0" baseline="43650" sz="2100" spc="15">
                <a:latin typeface="Times New Roman"/>
                <a:cs typeface="Times New Roman"/>
              </a:rPr>
              <a:t>2 </a:t>
            </a:r>
            <a:r>
              <a:rPr dirty="0" sz="2450" i="1">
                <a:latin typeface="Times New Roman"/>
                <a:cs typeface="Times New Roman"/>
              </a:rPr>
              <a:t>Rt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08488" y="4800853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5" h="0">
                <a:moveTo>
                  <a:pt x="0" y="0"/>
                </a:moveTo>
                <a:lnTo>
                  <a:pt x="330580" y="0"/>
                </a:lnTo>
              </a:path>
            </a:pathLst>
          </a:custGeom>
          <a:ln w="151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04869" y="4859045"/>
            <a:ext cx="29845" cy="38735"/>
          </a:xfrm>
          <a:custGeom>
            <a:avLst/>
            <a:gdLst/>
            <a:ahLst/>
            <a:cxnLst/>
            <a:rect l="l" t="t" r="r" b="b"/>
            <a:pathLst>
              <a:path w="29845" h="38735">
                <a:moveTo>
                  <a:pt x="0" y="38265"/>
                </a:moveTo>
                <a:lnTo>
                  <a:pt x="29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34409" y="4859045"/>
            <a:ext cx="74295" cy="286385"/>
          </a:xfrm>
          <a:custGeom>
            <a:avLst/>
            <a:gdLst/>
            <a:ahLst/>
            <a:cxnLst/>
            <a:rect l="l" t="t" r="r" b="b"/>
            <a:pathLst>
              <a:path w="74295" h="286385">
                <a:moveTo>
                  <a:pt x="0" y="0"/>
                </a:moveTo>
                <a:lnTo>
                  <a:pt x="74269" y="28616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08679" y="4390313"/>
            <a:ext cx="82550" cy="755015"/>
          </a:xfrm>
          <a:custGeom>
            <a:avLst/>
            <a:gdLst/>
            <a:ahLst/>
            <a:cxnLst/>
            <a:rect l="l" t="t" r="r" b="b"/>
            <a:pathLst>
              <a:path w="82550" h="755014">
                <a:moveTo>
                  <a:pt x="0" y="754900"/>
                </a:moveTo>
                <a:lnTo>
                  <a:pt x="8224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0924" y="4390313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 h="0">
                <a:moveTo>
                  <a:pt x="0" y="0"/>
                </a:moveTo>
                <a:lnTo>
                  <a:pt x="37209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00869" y="4383138"/>
            <a:ext cx="562610" cy="762635"/>
          </a:xfrm>
          <a:custGeom>
            <a:avLst/>
            <a:gdLst/>
            <a:ahLst/>
            <a:cxnLst/>
            <a:rect l="l" t="t" r="r" b="b"/>
            <a:pathLst>
              <a:path w="562610" h="762635">
                <a:moveTo>
                  <a:pt x="122929" y="695921"/>
                </a:moveTo>
                <a:lnTo>
                  <a:pt x="107810" y="695921"/>
                </a:lnTo>
                <a:lnTo>
                  <a:pt x="183667" y="0"/>
                </a:lnTo>
                <a:lnTo>
                  <a:pt x="562152" y="0"/>
                </a:lnTo>
                <a:lnTo>
                  <a:pt x="562152" y="15151"/>
                </a:lnTo>
                <a:lnTo>
                  <a:pt x="196443" y="15151"/>
                </a:lnTo>
                <a:lnTo>
                  <a:pt x="122929" y="695921"/>
                </a:lnTo>
                <a:close/>
              </a:path>
              <a:path w="562610" h="762635">
                <a:moveTo>
                  <a:pt x="7988" y="517359"/>
                </a:moveTo>
                <a:lnTo>
                  <a:pt x="0" y="510971"/>
                </a:lnTo>
                <a:lnTo>
                  <a:pt x="42329" y="457568"/>
                </a:lnTo>
                <a:lnTo>
                  <a:pt x="52621" y="495033"/>
                </a:lnTo>
                <a:lnTo>
                  <a:pt x="25552" y="495033"/>
                </a:lnTo>
                <a:lnTo>
                  <a:pt x="7988" y="517359"/>
                </a:lnTo>
                <a:close/>
              </a:path>
              <a:path w="562610" h="762635">
                <a:moveTo>
                  <a:pt x="115785" y="762076"/>
                </a:moveTo>
                <a:lnTo>
                  <a:pt x="100622" y="762076"/>
                </a:lnTo>
                <a:lnTo>
                  <a:pt x="25552" y="495033"/>
                </a:lnTo>
                <a:lnTo>
                  <a:pt x="52621" y="495033"/>
                </a:lnTo>
                <a:lnTo>
                  <a:pt x="107810" y="695921"/>
                </a:lnTo>
                <a:lnTo>
                  <a:pt x="122929" y="695921"/>
                </a:lnTo>
                <a:lnTo>
                  <a:pt x="115785" y="762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96434" y="4800853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 h="0">
                <a:moveTo>
                  <a:pt x="0" y="0"/>
                </a:moveTo>
                <a:lnTo>
                  <a:pt x="459943" y="0"/>
                </a:lnTo>
              </a:path>
            </a:pathLst>
          </a:custGeom>
          <a:ln w="151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92815" y="4855857"/>
            <a:ext cx="29845" cy="38735"/>
          </a:xfrm>
          <a:custGeom>
            <a:avLst/>
            <a:gdLst/>
            <a:ahLst/>
            <a:cxnLst/>
            <a:rect l="l" t="t" r="r" b="b"/>
            <a:pathLst>
              <a:path w="29845" h="38735">
                <a:moveTo>
                  <a:pt x="0" y="38252"/>
                </a:moveTo>
                <a:lnTo>
                  <a:pt x="29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22356" y="4855857"/>
            <a:ext cx="74295" cy="285115"/>
          </a:xfrm>
          <a:custGeom>
            <a:avLst/>
            <a:gdLst/>
            <a:ahLst/>
            <a:cxnLst/>
            <a:rect l="l" t="t" r="r" b="b"/>
            <a:pathLst>
              <a:path w="74295" h="285114">
                <a:moveTo>
                  <a:pt x="0" y="0"/>
                </a:moveTo>
                <a:lnTo>
                  <a:pt x="74269" y="28458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96625" y="4390313"/>
            <a:ext cx="82550" cy="750570"/>
          </a:xfrm>
          <a:custGeom>
            <a:avLst/>
            <a:gdLst/>
            <a:ahLst/>
            <a:cxnLst/>
            <a:rect l="l" t="t" r="r" b="b"/>
            <a:pathLst>
              <a:path w="82550" h="750570">
                <a:moveTo>
                  <a:pt x="0" y="750125"/>
                </a:moveTo>
                <a:lnTo>
                  <a:pt x="8224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78870" y="4390313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 h="0">
                <a:moveTo>
                  <a:pt x="0" y="0"/>
                </a:moveTo>
                <a:lnTo>
                  <a:pt x="5014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88815" y="4383138"/>
            <a:ext cx="691515" cy="757555"/>
          </a:xfrm>
          <a:custGeom>
            <a:avLst/>
            <a:gdLst/>
            <a:ahLst/>
            <a:cxnLst/>
            <a:rect l="l" t="t" r="r" b="b"/>
            <a:pathLst>
              <a:path w="691514" h="757554">
                <a:moveTo>
                  <a:pt x="122977" y="691133"/>
                </a:moveTo>
                <a:lnTo>
                  <a:pt x="107810" y="691133"/>
                </a:lnTo>
                <a:lnTo>
                  <a:pt x="183667" y="0"/>
                </a:lnTo>
                <a:lnTo>
                  <a:pt x="691514" y="0"/>
                </a:lnTo>
                <a:lnTo>
                  <a:pt x="691514" y="15151"/>
                </a:lnTo>
                <a:lnTo>
                  <a:pt x="196443" y="15151"/>
                </a:lnTo>
                <a:lnTo>
                  <a:pt x="122977" y="691133"/>
                </a:lnTo>
                <a:close/>
              </a:path>
              <a:path w="691514" h="757554">
                <a:moveTo>
                  <a:pt x="7988" y="514172"/>
                </a:moveTo>
                <a:lnTo>
                  <a:pt x="0" y="507784"/>
                </a:lnTo>
                <a:lnTo>
                  <a:pt x="42329" y="454380"/>
                </a:lnTo>
                <a:lnTo>
                  <a:pt x="52691" y="491845"/>
                </a:lnTo>
                <a:lnTo>
                  <a:pt x="25552" y="491845"/>
                </a:lnTo>
                <a:lnTo>
                  <a:pt x="7988" y="514172"/>
                </a:lnTo>
                <a:close/>
              </a:path>
              <a:path w="691514" h="757554">
                <a:moveTo>
                  <a:pt x="115785" y="757301"/>
                </a:moveTo>
                <a:lnTo>
                  <a:pt x="100622" y="757301"/>
                </a:lnTo>
                <a:lnTo>
                  <a:pt x="25552" y="491845"/>
                </a:lnTo>
                <a:lnTo>
                  <a:pt x="52691" y="491845"/>
                </a:lnTo>
                <a:lnTo>
                  <a:pt x="107810" y="691133"/>
                </a:lnTo>
                <a:lnTo>
                  <a:pt x="122977" y="691133"/>
                </a:lnTo>
                <a:lnTo>
                  <a:pt x="115785" y="757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037814" y="4558233"/>
            <a:ext cx="40005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5" i="1">
                <a:latin typeface="Times New Roman"/>
                <a:cs typeface="Times New Roman"/>
              </a:rPr>
              <a:t>I</a:t>
            </a:r>
            <a:r>
              <a:rPr dirty="0" sz="2400" spc="125" i="1">
                <a:latin typeface="Times New Roman"/>
                <a:cs typeface="Times New Roman"/>
              </a:rPr>
              <a:t> </a:t>
            </a:r>
            <a:r>
              <a:rPr dirty="0" sz="2400" spc="1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46093" y="4365320"/>
            <a:ext cx="58166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0050" algn="l"/>
              </a:tabLst>
            </a:pPr>
            <a:r>
              <a:rPr dirty="0" sz="2400" spc="10" i="1">
                <a:latin typeface="Times New Roman"/>
                <a:cs typeface="Times New Roman"/>
              </a:rPr>
              <a:t>Q</a:t>
            </a:r>
            <a:r>
              <a:rPr dirty="0" sz="2400" spc="10" i="1">
                <a:latin typeface="Times New Roman"/>
                <a:cs typeface="Times New Roman"/>
              </a:rPr>
              <a:t>	</a:t>
            </a:r>
            <a:r>
              <a:rPr dirty="0" baseline="-34722" sz="3600" spc="15">
                <a:latin typeface="Symbol"/>
                <a:cs typeface="Symbol"/>
              </a:rPr>
              <a:t></a:t>
            </a:r>
            <a:endParaRPr baseline="-34722" sz="36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29251" y="4558233"/>
            <a:ext cx="152082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5940" algn="l"/>
              </a:tabLst>
            </a:pPr>
            <a:r>
              <a:rPr dirty="0" baseline="34722" sz="3600" spc="7">
                <a:latin typeface="Times New Roman"/>
                <a:cs typeface="Times New Roman"/>
              </a:rPr>
              <a:t>2.8	</a:t>
            </a:r>
            <a:r>
              <a:rPr dirty="0" sz="2400" spc="10">
                <a:latin typeface="Symbol"/>
                <a:cs typeface="Symbol"/>
              </a:rPr>
              <a:t></a:t>
            </a:r>
            <a:r>
              <a:rPr dirty="0" sz="2400" spc="-395">
                <a:latin typeface="Times New Roman"/>
                <a:cs typeface="Times New Roman"/>
              </a:rPr>
              <a:t> </a:t>
            </a:r>
            <a:r>
              <a:rPr dirty="0" sz="2400" spc="20">
                <a:latin typeface="Times New Roman"/>
                <a:cs typeface="Times New Roman"/>
              </a:rPr>
              <a:t>1.67A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24528" y="4797374"/>
            <a:ext cx="1360170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57250" algn="l"/>
              </a:tabLst>
            </a:pPr>
            <a:r>
              <a:rPr dirty="0" sz="2400" spc="5" i="1">
                <a:latin typeface="Times New Roman"/>
                <a:cs typeface="Times New Roman"/>
              </a:rPr>
              <a:t>R</a:t>
            </a:r>
            <a:r>
              <a:rPr dirty="0" sz="2400" spc="5" i="1">
                <a:latin typeface="Times New Roman"/>
                <a:cs typeface="Times New Roman"/>
              </a:rPr>
              <a:t>t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40">
                <a:latin typeface="Times New Roman"/>
                <a:cs typeface="Times New Roman"/>
              </a:rPr>
              <a:t>1</a:t>
            </a:r>
            <a:r>
              <a:rPr dirty="0" sz="2400" spc="80">
                <a:latin typeface="Symbol"/>
                <a:cs typeface="Symbol"/>
              </a:rPr>
              <a:t></a:t>
            </a:r>
            <a:r>
              <a:rPr dirty="0" sz="2400" spc="5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982456" y="4721352"/>
            <a:ext cx="608076" cy="690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2951" y="1601977"/>
            <a:ext cx="32264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二、</a:t>
            </a:r>
            <a:r>
              <a:rPr dirty="0">
                <a:latin typeface="微软雅黑"/>
                <a:cs typeface="微软雅黑"/>
              </a:rPr>
              <a:t>峰值和有效</a:t>
            </a:r>
            <a:r>
              <a:rPr dirty="0" spc="5">
                <a:latin typeface="微软雅黑"/>
                <a:cs typeface="微软雅黑"/>
              </a:rPr>
              <a:t>值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54966" y="1993290"/>
            <a:ext cx="5430880" cy="14758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19627" y="3791711"/>
            <a:ext cx="2267712" cy="1353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60591" y="3791711"/>
            <a:ext cx="2267712" cy="1347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09811" y="2377858"/>
            <a:ext cx="6439535" cy="269557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just" marL="12700" marR="5080" indent="571500">
              <a:lnSpc>
                <a:spcPct val="99600"/>
              </a:lnSpc>
              <a:spcBef>
                <a:spcPts val="115"/>
              </a:spcBef>
            </a:pPr>
            <a:r>
              <a:rPr dirty="0" sz="2000">
                <a:latin typeface="华文楷体"/>
                <a:cs typeface="华文楷体"/>
              </a:rPr>
              <a:t>让交变电流与恒</a:t>
            </a:r>
            <a:r>
              <a:rPr dirty="0" sz="2000" spc="-1720">
                <a:latin typeface="华文楷体"/>
                <a:cs typeface="华文楷体"/>
              </a:rPr>
              <a:t>定</a:t>
            </a:r>
            <a:r>
              <a:rPr dirty="0" baseline="19444" sz="3000" spc="-427">
                <a:latin typeface="华文楷体"/>
                <a:cs typeface="华文楷体"/>
              </a:rPr>
              <a:t>从</a:t>
            </a:r>
            <a:r>
              <a:rPr dirty="0" sz="2000" spc="-1720">
                <a:latin typeface="华文楷体"/>
                <a:cs typeface="华文楷体"/>
              </a:rPr>
              <a:t>电</a:t>
            </a:r>
            <a:r>
              <a:rPr dirty="0" baseline="19444" sz="3000" spc="-427">
                <a:latin typeface="华文楷体"/>
                <a:cs typeface="华文楷体"/>
              </a:rPr>
              <a:t>有</a:t>
            </a:r>
            <a:r>
              <a:rPr dirty="0" sz="2000" spc="-1720">
                <a:latin typeface="华文楷体"/>
                <a:cs typeface="华文楷体"/>
              </a:rPr>
              <a:t>流</a:t>
            </a:r>
            <a:r>
              <a:rPr dirty="0" baseline="19444" sz="3000" spc="-427">
                <a:latin typeface="华文楷体"/>
                <a:cs typeface="华文楷体"/>
              </a:rPr>
              <a:t>效</a:t>
            </a:r>
            <a:r>
              <a:rPr dirty="0" sz="2000" spc="-1720">
                <a:latin typeface="华文楷体"/>
                <a:cs typeface="华文楷体"/>
              </a:rPr>
              <a:t>分</a:t>
            </a:r>
            <a:r>
              <a:rPr dirty="0" baseline="19444" sz="3000" spc="-427">
                <a:latin typeface="华文楷体"/>
                <a:cs typeface="华文楷体"/>
              </a:rPr>
              <a:t>值</a:t>
            </a:r>
            <a:r>
              <a:rPr dirty="0" sz="2000" spc="-1720">
                <a:latin typeface="华文楷体"/>
                <a:cs typeface="华文楷体"/>
              </a:rPr>
              <a:t>别</a:t>
            </a:r>
            <a:r>
              <a:rPr dirty="0" baseline="19444" sz="3000" spc="-427">
                <a:latin typeface="华文楷体"/>
                <a:cs typeface="华文楷体"/>
              </a:rPr>
              <a:t>的</a:t>
            </a:r>
            <a:r>
              <a:rPr dirty="0" sz="2000" spc="-1720">
                <a:latin typeface="华文楷体"/>
                <a:cs typeface="华文楷体"/>
              </a:rPr>
              <a:t>通</a:t>
            </a:r>
            <a:r>
              <a:rPr dirty="0" baseline="19444" sz="3000" spc="-427">
                <a:latin typeface="华文楷体"/>
                <a:cs typeface="华文楷体"/>
              </a:rPr>
              <a:t>定</a:t>
            </a:r>
            <a:r>
              <a:rPr dirty="0" sz="2000" spc="-1720">
                <a:latin typeface="华文楷体"/>
                <a:cs typeface="华文楷体"/>
              </a:rPr>
              <a:t>过</a:t>
            </a:r>
            <a:r>
              <a:rPr dirty="0" baseline="19444" sz="3000" spc="-427">
                <a:latin typeface="华文楷体"/>
                <a:cs typeface="华文楷体"/>
              </a:rPr>
              <a:t>义</a:t>
            </a:r>
            <a:r>
              <a:rPr dirty="0" sz="2000" spc="-1720">
                <a:latin typeface="华文楷体"/>
                <a:cs typeface="华文楷体"/>
              </a:rPr>
              <a:t>大</a:t>
            </a:r>
            <a:r>
              <a:rPr dirty="0" baseline="19444" sz="3000" spc="-427">
                <a:latin typeface="华文楷体"/>
                <a:cs typeface="华文楷体"/>
              </a:rPr>
              <a:t>看</a:t>
            </a:r>
            <a:r>
              <a:rPr dirty="0" sz="2000" spc="-1720">
                <a:latin typeface="华文楷体"/>
                <a:cs typeface="华文楷体"/>
              </a:rPr>
              <a:t>小</a:t>
            </a:r>
            <a:r>
              <a:rPr dirty="0" baseline="19444" sz="3000" spc="-427">
                <a:latin typeface="华文楷体"/>
                <a:cs typeface="华文楷体"/>
              </a:rPr>
              <a:t>，</a:t>
            </a:r>
            <a:r>
              <a:rPr dirty="0" sz="2000" spc="-1720">
                <a:latin typeface="华文楷体"/>
                <a:cs typeface="华文楷体"/>
              </a:rPr>
              <a:t>相</a:t>
            </a:r>
            <a:r>
              <a:rPr dirty="0" baseline="19444" sz="3000" spc="-427">
                <a:latin typeface="华文楷体"/>
                <a:cs typeface="华文楷体"/>
              </a:rPr>
              <a:t>“</a:t>
            </a:r>
            <a:r>
              <a:rPr dirty="0" sz="2000" spc="-1720">
                <a:latin typeface="华文楷体"/>
                <a:cs typeface="华文楷体"/>
              </a:rPr>
              <a:t>同</a:t>
            </a:r>
            <a:r>
              <a:rPr dirty="0" baseline="19444" sz="3000" spc="-427">
                <a:latin typeface="华文楷体"/>
                <a:cs typeface="华文楷体"/>
              </a:rPr>
              <a:t>有</a:t>
            </a:r>
            <a:r>
              <a:rPr dirty="0" sz="2000" spc="-1720">
                <a:latin typeface="华文楷体"/>
                <a:cs typeface="华文楷体"/>
              </a:rPr>
              <a:t>的</a:t>
            </a:r>
            <a:r>
              <a:rPr dirty="0" baseline="19444" sz="3000" spc="-427">
                <a:latin typeface="华文楷体"/>
                <a:cs typeface="华文楷体"/>
              </a:rPr>
              <a:t>效</a:t>
            </a:r>
            <a:r>
              <a:rPr dirty="0" sz="2000" spc="-1720">
                <a:latin typeface="华文楷体"/>
                <a:cs typeface="华文楷体"/>
              </a:rPr>
              <a:t>电</a:t>
            </a:r>
            <a:r>
              <a:rPr dirty="0" baseline="19444" sz="3000" spc="-427">
                <a:latin typeface="华文楷体"/>
                <a:cs typeface="华文楷体"/>
              </a:rPr>
              <a:t>”</a:t>
            </a:r>
            <a:r>
              <a:rPr dirty="0" sz="2000">
                <a:latin typeface="华文楷体"/>
                <a:cs typeface="华文楷体"/>
              </a:rPr>
              <a:t>阻，</a:t>
            </a:r>
            <a:r>
              <a:rPr dirty="0" sz="2000">
                <a:latin typeface="华文楷体"/>
                <a:cs typeface="华文楷体"/>
              </a:rPr>
              <a:t>如 </a:t>
            </a:r>
            <a:r>
              <a:rPr dirty="0" sz="2000">
                <a:latin typeface="华文楷体"/>
                <a:cs typeface="华文楷体"/>
              </a:rPr>
              <a:t>果在交变电流的一个</a:t>
            </a:r>
            <a:r>
              <a:rPr dirty="0" sz="2000" spc="-1220">
                <a:latin typeface="华文楷体"/>
                <a:cs typeface="华文楷体"/>
              </a:rPr>
              <a:t>周</a:t>
            </a:r>
            <a:r>
              <a:rPr dirty="0" baseline="18055" sz="3000" spc="-1177">
                <a:latin typeface="华文楷体"/>
                <a:cs typeface="华文楷体"/>
              </a:rPr>
              <a:t>指</a:t>
            </a:r>
            <a:r>
              <a:rPr dirty="0" sz="2000" spc="-1220">
                <a:latin typeface="华文楷体"/>
                <a:cs typeface="华文楷体"/>
              </a:rPr>
              <a:t>期</a:t>
            </a:r>
            <a:r>
              <a:rPr dirty="0" baseline="18055" sz="3000" spc="-1177">
                <a:latin typeface="华文楷体"/>
                <a:cs typeface="华文楷体"/>
              </a:rPr>
              <a:t>的</a:t>
            </a:r>
            <a:r>
              <a:rPr dirty="0" sz="2000" spc="-1220">
                <a:latin typeface="华文楷体"/>
                <a:cs typeface="华文楷体"/>
              </a:rPr>
              <a:t>内</a:t>
            </a:r>
            <a:r>
              <a:rPr dirty="0" baseline="18055" sz="3000" spc="-1177">
                <a:latin typeface="华文楷体"/>
                <a:cs typeface="华文楷体"/>
              </a:rPr>
              <a:t>是</a:t>
            </a:r>
            <a:r>
              <a:rPr dirty="0" sz="2000" spc="-1220">
                <a:latin typeface="华文楷体"/>
                <a:cs typeface="华文楷体"/>
              </a:rPr>
              <a:t>它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电</a:t>
            </a:r>
            <a:r>
              <a:rPr dirty="0" sz="2000" spc="-1220">
                <a:latin typeface="华文楷体"/>
                <a:cs typeface="华文楷体"/>
              </a:rPr>
              <a:t>们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流</a:t>
            </a:r>
            <a:r>
              <a:rPr dirty="0" sz="2000" spc="-1220">
                <a:latin typeface="华文楷体"/>
                <a:cs typeface="华文楷体"/>
              </a:rPr>
              <a:t>产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热</a:t>
            </a:r>
            <a:r>
              <a:rPr dirty="0" sz="2000" spc="-1220">
                <a:latin typeface="华文楷体"/>
                <a:cs typeface="华文楷体"/>
              </a:rPr>
              <a:t>生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效</a:t>
            </a:r>
            <a:r>
              <a:rPr dirty="0" sz="2000" spc="-1220">
                <a:latin typeface="华文楷体"/>
                <a:cs typeface="华文楷体"/>
              </a:rPr>
              <a:t>的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应</a:t>
            </a:r>
            <a:r>
              <a:rPr dirty="0" sz="2000" spc="-1220">
                <a:latin typeface="华文楷体"/>
                <a:cs typeface="华文楷体"/>
              </a:rPr>
              <a:t>热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的</a:t>
            </a:r>
            <a:r>
              <a:rPr dirty="0" sz="2000" spc="-1220">
                <a:latin typeface="华文楷体"/>
                <a:cs typeface="华文楷体"/>
              </a:rPr>
              <a:t>量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等</a:t>
            </a:r>
            <a:r>
              <a:rPr dirty="0" sz="2000" spc="-1220">
                <a:latin typeface="华文楷体"/>
                <a:cs typeface="华文楷体"/>
              </a:rPr>
              <a:t>相</a:t>
            </a:r>
            <a:r>
              <a:rPr dirty="0" baseline="18055" sz="3000" spc="-1177">
                <a:solidFill>
                  <a:srgbClr val="FF0000"/>
                </a:solidFill>
                <a:latin typeface="华文楷体"/>
                <a:cs typeface="华文楷体"/>
              </a:rPr>
              <a:t>效</a:t>
            </a:r>
            <a:r>
              <a:rPr dirty="0" sz="2000" spc="-1220">
                <a:latin typeface="华文楷体"/>
                <a:cs typeface="华文楷体"/>
              </a:rPr>
              <a:t>等</a:t>
            </a:r>
            <a:r>
              <a:rPr dirty="0" baseline="18055" sz="3000" spc="-1177">
                <a:latin typeface="华文楷体"/>
                <a:cs typeface="华文楷体"/>
              </a:rPr>
              <a:t>。</a:t>
            </a:r>
            <a:r>
              <a:rPr dirty="0" sz="2000">
                <a:latin typeface="华文楷体"/>
                <a:cs typeface="华文楷体"/>
              </a:rPr>
              <a:t>，而这</a:t>
            </a:r>
            <a:r>
              <a:rPr dirty="0" sz="2000" spc="5">
                <a:latin typeface="华文楷体"/>
                <a:cs typeface="华文楷体"/>
              </a:rPr>
              <a:t>个 </a:t>
            </a:r>
            <a:r>
              <a:rPr dirty="0" sz="2000">
                <a:latin typeface="华文楷体"/>
                <a:cs typeface="华文楷体"/>
              </a:rPr>
              <a:t>恒定电流的电流与电压分别</a:t>
            </a:r>
            <a:r>
              <a:rPr dirty="0" sz="2000" spc="5">
                <a:latin typeface="华文楷体"/>
                <a:cs typeface="华文楷体"/>
              </a:rPr>
              <a:t>为</a:t>
            </a:r>
            <a:r>
              <a:rPr dirty="0" sz="2000" spc="-30">
                <a:latin typeface="华文楷体"/>
                <a:cs typeface="华文楷体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sz="2000">
                <a:latin typeface="华文楷体"/>
                <a:cs typeface="华文楷体"/>
              </a:rPr>
              <a:t>、</a:t>
            </a:r>
            <a:r>
              <a:rPr dirty="0" sz="2000" spc="-5" i="1">
                <a:latin typeface="Times New Roman"/>
                <a:cs typeface="Times New Roman"/>
              </a:rPr>
              <a:t>U</a:t>
            </a:r>
            <a:r>
              <a:rPr dirty="0" sz="2000" spc="-5">
                <a:latin typeface="华文楷体"/>
                <a:cs typeface="华文楷体"/>
              </a:rPr>
              <a:t>，</a:t>
            </a:r>
            <a:r>
              <a:rPr dirty="0" sz="2000">
                <a:latin typeface="华文楷体"/>
                <a:cs typeface="华文楷体"/>
              </a:rPr>
              <a:t>我们就</a:t>
            </a:r>
            <a:r>
              <a:rPr dirty="0" sz="2000" spc="5">
                <a:latin typeface="华文楷体"/>
                <a:cs typeface="华文楷体"/>
              </a:rPr>
              <a:t>把</a:t>
            </a:r>
            <a:r>
              <a:rPr dirty="0" sz="2000" spc="-30">
                <a:latin typeface="华文楷体"/>
                <a:cs typeface="华文楷体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</a:t>
            </a:r>
            <a:r>
              <a:rPr dirty="0" sz="2000">
                <a:latin typeface="华文楷体"/>
                <a:cs typeface="华文楷体"/>
              </a:rPr>
              <a:t>、</a:t>
            </a:r>
            <a:r>
              <a:rPr dirty="0" sz="2000" i="1">
                <a:latin typeface="Times New Roman"/>
                <a:cs typeface="Times New Roman"/>
              </a:rPr>
              <a:t>U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500">
                <a:latin typeface="华文楷体"/>
                <a:cs typeface="华文楷体"/>
              </a:rPr>
              <a:t>叫</a:t>
            </a:r>
            <a:r>
              <a:rPr dirty="0" sz="2000" spc="5">
                <a:latin typeface="华文楷体"/>
                <a:cs typeface="华文楷体"/>
              </a:rPr>
              <a:t>作 </a:t>
            </a:r>
            <a:r>
              <a:rPr dirty="0" sz="2000">
                <a:latin typeface="华文楷体"/>
                <a:cs typeface="华文楷体"/>
              </a:rPr>
              <a:t>这一交变电流的</a:t>
            </a: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有效值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  <a:p>
            <a:pPr algn="r" marR="1693545">
              <a:lnSpc>
                <a:spcPct val="100000"/>
              </a:lnSpc>
              <a:spcBef>
                <a:spcPts val="1689"/>
              </a:spcBef>
              <a:tabLst>
                <a:tab pos="3112135" algn="l"/>
              </a:tabLst>
            </a:pPr>
            <a:r>
              <a:rPr dirty="0" sz="2000" i="1">
                <a:latin typeface="Times New Roman"/>
                <a:cs typeface="Times New Roman"/>
              </a:rPr>
              <a:t>R</a:t>
            </a:r>
            <a:r>
              <a:rPr dirty="0" sz="2000" i="1">
                <a:latin typeface="Times New Roman"/>
                <a:cs typeface="Times New Roman"/>
              </a:rPr>
              <a:t>	</a:t>
            </a:r>
            <a:r>
              <a:rPr dirty="0" sz="2000" i="1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algn="r" marR="1633220">
              <a:lnSpc>
                <a:spcPct val="100000"/>
              </a:lnSpc>
              <a:spcBef>
                <a:spcPts val="1945"/>
              </a:spcBef>
            </a:pPr>
            <a:r>
              <a:rPr dirty="0" sz="2400" b="1">
                <a:latin typeface="Times New Roman"/>
                <a:cs typeface="Times New Roman"/>
              </a:rPr>
              <a:t>~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40849" y="4211408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37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51371" y="4201248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20">
                <a:moveTo>
                  <a:pt x="0" y="0"/>
                </a:moveTo>
                <a:lnTo>
                  <a:pt x="0" y="2737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2775" y="1640446"/>
            <a:ext cx="32264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二、</a:t>
            </a:r>
            <a:r>
              <a:rPr dirty="0">
                <a:latin typeface="微软雅黑"/>
                <a:cs typeface="微软雅黑"/>
              </a:rPr>
              <a:t>峰值和有效</a:t>
            </a:r>
            <a:r>
              <a:rPr dirty="0" spc="5">
                <a:latin typeface="微软雅黑"/>
                <a:cs typeface="微软雅黑"/>
              </a:rPr>
              <a:t>值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8460" y="2479230"/>
            <a:ext cx="5867400" cy="7696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indent="685800">
              <a:lnSpc>
                <a:spcPts val="2880"/>
              </a:lnSpc>
              <a:spcBef>
                <a:spcPts val="60"/>
              </a:spcBef>
            </a:pPr>
            <a:r>
              <a:rPr dirty="0" sz="2400">
                <a:latin typeface="华文楷体"/>
                <a:cs typeface="华文楷体"/>
              </a:rPr>
              <a:t>理论计算表明，正弦式交变电流的有效 值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sz="2400">
                <a:latin typeface="华文楷体"/>
                <a:cs typeface="华文楷体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sz="2400">
                <a:latin typeface="华文楷体"/>
                <a:cs typeface="华文楷体"/>
              </a:rPr>
              <a:t>与峰值</a:t>
            </a: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sz="2400">
                <a:latin typeface="华文楷体"/>
                <a:cs typeface="华文楷体"/>
              </a:rPr>
              <a:t>、</a:t>
            </a:r>
            <a:r>
              <a:rPr dirty="0" sz="2400" i="1">
                <a:latin typeface="Times New Roman"/>
                <a:cs typeface="Times New Roman"/>
              </a:rPr>
              <a:t>U</a:t>
            </a:r>
            <a:r>
              <a:rPr dirty="0" baseline="-17921" sz="2325">
                <a:latin typeface="Times New Roman"/>
                <a:cs typeface="Times New Roman"/>
              </a:rPr>
              <a:t>m</a:t>
            </a:r>
            <a:r>
              <a:rPr dirty="0" baseline="-17921" sz="2325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华文楷体"/>
                <a:cs typeface="华文楷体"/>
              </a:rPr>
              <a:t>之间有如下关系：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81664" y="4581817"/>
            <a:ext cx="29845" cy="15875"/>
          </a:xfrm>
          <a:custGeom>
            <a:avLst/>
            <a:gdLst/>
            <a:ahLst/>
            <a:cxnLst/>
            <a:rect l="l" t="t" r="r" b="b"/>
            <a:pathLst>
              <a:path w="29845" h="15875">
                <a:moveTo>
                  <a:pt x="0" y="15493"/>
                </a:moveTo>
                <a:lnTo>
                  <a:pt x="2948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11154" y="4581817"/>
            <a:ext cx="67945" cy="111125"/>
          </a:xfrm>
          <a:custGeom>
            <a:avLst/>
            <a:gdLst/>
            <a:ahLst/>
            <a:cxnLst/>
            <a:rect l="l" t="t" r="r" b="b"/>
            <a:pathLst>
              <a:path w="67945" h="111125">
                <a:moveTo>
                  <a:pt x="0" y="0"/>
                </a:moveTo>
                <a:lnTo>
                  <a:pt x="67843" y="11061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8997" y="4398200"/>
            <a:ext cx="75565" cy="294640"/>
          </a:xfrm>
          <a:custGeom>
            <a:avLst/>
            <a:gdLst/>
            <a:ahLst/>
            <a:cxnLst/>
            <a:rect l="l" t="t" r="r" b="b"/>
            <a:pathLst>
              <a:path w="75564" h="294639">
                <a:moveTo>
                  <a:pt x="0" y="294233"/>
                </a:moveTo>
                <a:lnTo>
                  <a:pt x="752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79455" y="4391571"/>
            <a:ext cx="337820" cy="300990"/>
          </a:xfrm>
          <a:custGeom>
            <a:avLst/>
            <a:gdLst/>
            <a:ahLst/>
            <a:cxnLst/>
            <a:rect l="l" t="t" r="r" b="b"/>
            <a:pathLst>
              <a:path w="337820" h="300989">
                <a:moveTo>
                  <a:pt x="114413" y="271373"/>
                </a:moveTo>
                <a:lnTo>
                  <a:pt x="100279" y="271373"/>
                </a:lnTo>
                <a:lnTo>
                  <a:pt x="169583" y="0"/>
                </a:lnTo>
                <a:lnTo>
                  <a:pt x="337705" y="0"/>
                </a:lnTo>
                <a:lnTo>
                  <a:pt x="337705" y="14008"/>
                </a:lnTo>
                <a:lnTo>
                  <a:pt x="179908" y="14008"/>
                </a:lnTo>
                <a:lnTo>
                  <a:pt x="114413" y="271373"/>
                </a:lnTo>
                <a:close/>
              </a:path>
              <a:path w="337820" h="300989">
                <a:moveTo>
                  <a:pt x="4419" y="210159"/>
                </a:moveTo>
                <a:lnTo>
                  <a:pt x="0" y="202056"/>
                </a:lnTo>
                <a:lnTo>
                  <a:pt x="39077" y="180670"/>
                </a:lnTo>
                <a:lnTo>
                  <a:pt x="52008" y="199834"/>
                </a:lnTo>
                <a:lnTo>
                  <a:pt x="24333" y="199834"/>
                </a:lnTo>
                <a:lnTo>
                  <a:pt x="4419" y="210159"/>
                </a:lnTo>
                <a:close/>
              </a:path>
              <a:path w="337820" h="300989">
                <a:moveTo>
                  <a:pt x="106908" y="300863"/>
                </a:moveTo>
                <a:lnTo>
                  <a:pt x="92900" y="300863"/>
                </a:lnTo>
                <a:lnTo>
                  <a:pt x="24333" y="199834"/>
                </a:lnTo>
                <a:lnTo>
                  <a:pt x="52008" y="199834"/>
                </a:lnTo>
                <a:lnTo>
                  <a:pt x="100279" y="271373"/>
                </a:lnTo>
                <a:lnTo>
                  <a:pt x="114413" y="271373"/>
                </a:lnTo>
                <a:lnTo>
                  <a:pt x="106908" y="300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57331" y="4356163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1939" y="0"/>
                </a:lnTo>
              </a:path>
            </a:pathLst>
          </a:custGeom>
          <a:ln w="140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64240" y="5384888"/>
            <a:ext cx="29845" cy="15875"/>
          </a:xfrm>
          <a:custGeom>
            <a:avLst/>
            <a:gdLst/>
            <a:ahLst/>
            <a:cxnLst/>
            <a:rect l="l" t="t" r="r" b="b"/>
            <a:pathLst>
              <a:path w="29845" h="15875">
                <a:moveTo>
                  <a:pt x="0" y="15481"/>
                </a:moveTo>
                <a:lnTo>
                  <a:pt x="2950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93742" y="5384888"/>
            <a:ext cx="67945" cy="111125"/>
          </a:xfrm>
          <a:custGeom>
            <a:avLst/>
            <a:gdLst/>
            <a:ahLst/>
            <a:cxnLst/>
            <a:rect l="l" t="t" r="r" b="b"/>
            <a:pathLst>
              <a:path w="67945" h="111125">
                <a:moveTo>
                  <a:pt x="0" y="0"/>
                </a:moveTo>
                <a:lnTo>
                  <a:pt x="67830" y="11060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61573" y="5201259"/>
            <a:ext cx="75565" cy="294640"/>
          </a:xfrm>
          <a:custGeom>
            <a:avLst/>
            <a:gdLst/>
            <a:ahLst/>
            <a:cxnLst/>
            <a:rect l="l" t="t" r="r" b="b"/>
            <a:pathLst>
              <a:path w="75564" h="294639">
                <a:moveTo>
                  <a:pt x="0" y="294233"/>
                </a:moveTo>
                <a:lnTo>
                  <a:pt x="752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36782" y="5201259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 h="0">
                <a:moveTo>
                  <a:pt x="0" y="0"/>
                </a:moveTo>
                <a:lnTo>
                  <a:pt x="16295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62030" y="5194630"/>
            <a:ext cx="337820" cy="300990"/>
          </a:xfrm>
          <a:custGeom>
            <a:avLst/>
            <a:gdLst/>
            <a:ahLst/>
            <a:cxnLst/>
            <a:rect l="l" t="t" r="r" b="b"/>
            <a:pathLst>
              <a:path w="337820" h="300989">
                <a:moveTo>
                  <a:pt x="114425" y="271373"/>
                </a:moveTo>
                <a:lnTo>
                  <a:pt x="100279" y="271373"/>
                </a:lnTo>
                <a:lnTo>
                  <a:pt x="169595" y="0"/>
                </a:lnTo>
                <a:lnTo>
                  <a:pt x="337705" y="0"/>
                </a:lnTo>
                <a:lnTo>
                  <a:pt x="337705" y="14008"/>
                </a:lnTo>
                <a:lnTo>
                  <a:pt x="179920" y="14008"/>
                </a:lnTo>
                <a:lnTo>
                  <a:pt x="114425" y="271373"/>
                </a:lnTo>
                <a:close/>
              </a:path>
              <a:path w="337820" h="300989">
                <a:moveTo>
                  <a:pt x="4432" y="210159"/>
                </a:moveTo>
                <a:lnTo>
                  <a:pt x="0" y="202056"/>
                </a:lnTo>
                <a:lnTo>
                  <a:pt x="39077" y="180670"/>
                </a:lnTo>
                <a:lnTo>
                  <a:pt x="52008" y="199834"/>
                </a:lnTo>
                <a:lnTo>
                  <a:pt x="24333" y="199834"/>
                </a:lnTo>
                <a:lnTo>
                  <a:pt x="4432" y="210159"/>
                </a:lnTo>
                <a:close/>
              </a:path>
              <a:path w="337820" h="300989">
                <a:moveTo>
                  <a:pt x="106921" y="300863"/>
                </a:moveTo>
                <a:lnTo>
                  <a:pt x="92913" y="300863"/>
                </a:lnTo>
                <a:lnTo>
                  <a:pt x="24333" y="199834"/>
                </a:lnTo>
                <a:lnTo>
                  <a:pt x="52008" y="199834"/>
                </a:lnTo>
                <a:lnTo>
                  <a:pt x="100279" y="271373"/>
                </a:lnTo>
                <a:lnTo>
                  <a:pt x="114425" y="271373"/>
                </a:lnTo>
                <a:lnTo>
                  <a:pt x="106921" y="3008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36960" y="5159235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0" y="0"/>
                </a:moveTo>
                <a:lnTo>
                  <a:pt x="387845" y="0"/>
                </a:lnTo>
              </a:path>
            </a:pathLst>
          </a:custGeom>
          <a:ln w="140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049111" y="5127536"/>
            <a:ext cx="153035" cy="22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25">
                <a:latin typeface="Times New Roman"/>
                <a:cs typeface="Times New Roman"/>
              </a:rPr>
              <a:t>m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4041" y="4375493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36617" y="5178552"/>
            <a:ext cx="1670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8757" y="4132148"/>
            <a:ext cx="2007870" cy="414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080"/>
              </a:lnSpc>
              <a:spcBef>
                <a:spcPts val="125"/>
              </a:spcBef>
              <a:tabLst>
                <a:tab pos="491490" algn="l"/>
                <a:tab pos="884555" algn="l"/>
              </a:tabLst>
            </a:pPr>
            <a:r>
              <a:rPr dirty="0" sz="2200" spc="5" i="1">
                <a:latin typeface="Times New Roman"/>
                <a:cs typeface="Times New Roman"/>
              </a:rPr>
              <a:t>I</a:t>
            </a:r>
            <a:r>
              <a:rPr dirty="0" sz="2200" spc="204" i="1">
                <a:latin typeface="Times New Roman"/>
                <a:cs typeface="Times New Roman"/>
              </a:rPr>
              <a:t>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10">
                <a:latin typeface="Times New Roman"/>
                <a:cs typeface="Times New Roman"/>
              </a:rPr>
              <a:t>	</a:t>
            </a:r>
            <a:r>
              <a:rPr dirty="0" baseline="35353" sz="3300" spc="120" i="1">
                <a:latin typeface="Times New Roman"/>
                <a:cs typeface="Times New Roman"/>
              </a:rPr>
              <a:t>I</a:t>
            </a:r>
            <a:r>
              <a:rPr dirty="0" u="sng" baseline="37777" sz="1875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baseline="37777" sz="1875" spc="120">
                <a:latin typeface="Times New Roman"/>
                <a:cs typeface="Times New Roman"/>
              </a:rPr>
              <a:t>	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spc="30">
                <a:latin typeface="Times New Roman"/>
                <a:cs typeface="Times New Roman"/>
              </a:rPr>
              <a:t>0.707</a:t>
            </a:r>
            <a:r>
              <a:rPr dirty="0" sz="2200" spc="30" i="1">
                <a:latin typeface="Times New Roman"/>
                <a:cs typeface="Times New Roman"/>
              </a:rPr>
              <a:t>I</a:t>
            </a:r>
            <a:endParaRPr sz="2200">
              <a:latin typeface="Times New Roman"/>
              <a:cs typeface="Times New Roman"/>
            </a:endParaRPr>
          </a:p>
          <a:p>
            <a:pPr algn="r" marR="5080">
              <a:lnSpc>
                <a:spcPts val="940"/>
              </a:lnSpc>
            </a:pPr>
            <a:r>
              <a:rPr dirty="0" sz="1250" spc="25">
                <a:latin typeface="Times New Roman"/>
                <a:cs typeface="Times New Roman"/>
              </a:rPr>
              <a:t>m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93375" y="4935207"/>
            <a:ext cx="205803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5" i="1">
                <a:latin typeface="Times New Roman"/>
                <a:cs typeface="Times New Roman"/>
              </a:rPr>
              <a:t>U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baseline="35353" sz="3300" spc="157" i="1">
                <a:latin typeface="Times New Roman"/>
                <a:cs typeface="Times New Roman"/>
              </a:rPr>
              <a:t>U</a:t>
            </a:r>
            <a:r>
              <a:rPr dirty="0" baseline="37777" sz="1875" spc="157">
                <a:latin typeface="Times New Roman"/>
                <a:cs typeface="Times New Roman"/>
              </a:rPr>
              <a:t>m </a:t>
            </a:r>
            <a:r>
              <a:rPr dirty="0" sz="2200" spc="10">
                <a:latin typeface="Symbol"/>
                <a:cs typeface="Symbol"/>
              </a:rPr>
              <a:t></a:t>
            </a:r>
            <a:r>
              <a:rPr dirty="0" sz="2200" spc="120">
                <a:latin typeface="Times New Roman"/>
                <a:cs typeface="Times New Roman"/>
              </a:rPr>
              <a:t> </a:t>
            </a:r>
            <a:r>
              <a:rPr dirty="0" sz="2200" spc="-15">
                <a:latin typeface="Times New Roman"/>
                <a:cs typeface="Times New Roman"/>
              </a:rPr>
              <a:t>0.707</a:t>
            </a:r>
            <a:r>
              <a:rPr dirty="0" sz="2200" spc="-15" i="1">
                <a:latin typeface="Times New Roman"/>
                <a:cs typeface="Times New Roman"/>
              </a:rPr>
              <a:t>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91617" y="4235703"/>
            <a:ext cx="0" cy="881380"/>
          </a:xfrm>
          <a:custGeom>
            <a:avLst/>
            <a:gdLst/>
            <a:ahLst/>
            <a:cxnLst/>
            <a:rect l="l" t="t" r="r" b="b"/>
            <a:pathLst>
              <a:path w="0" h="881379">
                <a:moveTo>
                  <a:pt x="0" y="0"/>
                </a:moveTo>
                <a:lnTo>
                  <a:pt x="0" y="880999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10667" y="4235703"/>
            <a:ext cx="0" cy="881380"/>
          </a:xfrm>
          <a:custGeom>
            <a:avLst/>
            <a:gdLst/>
            <a:ahLst/>
            <a:cxnLst/>
            <a:rect l="l" t="t" r="r" b="b"/>
            <a:pathLst>
              <a:path w="0" h="881379">
                <a:moveTo>
                  <a:pt x="0" y="0"/>
                </a:moveTo>
                <a:lnTo>
                  <a:pt x="0" y="880999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86360" y="4498149"/>
            <a:ext cx="522605" cy="336550"/>
          </a:xfrm>
          <a:custGeom>
            <a:avLst/>
            <a:gdLst/>
            <a:ahLst/>
            <a:cxnLst/>
            <a:rect l="l" t="t" r="r" b="b"/>
            <a:pathLst>
              <a:path w="522604" h="336550">
                <a:moveTo>
                  <a:pt x="4992" y="320038"/>
                </a:moveTo>
                <a:lnTo>
                  <a:pt x="0" y="311924"/>
                </a:lnTo>
                <a:lnTo>
                  <a:pt x="507301" y="0"/>
                </a:lnTo>
                <a:lnTo>
                  <a:pt x="512288" y="8104"/>
                </a:lnTo>
                <a:lnTo>
                  <a:pt x="4992" y="320038"/>
                </a:lnTo>
                <a:close/>
              </a:path>
              <a:path w="522604" h="336550">
                <a:moveTo>
                  <a:pt x="512288" y="8104"/>
                </a:moveTo>
                <a:lnTo>
                  <a:pt x="507301" y="0"/>
                </a:lnTo>
                <a:lnTo>
                  <a:pt x="512292" y="8102"/>
                </a:lnTo>
                <a:close/>
              </a:path>
              <a:path w="522604" h="336550">
                <a:moveTo>
                  <a:pt x="14973" y="336257"/>
                </a:moveTo>
                <a:lnTo>
                  <a:pt x="9982" y="328142"/>
                </a:lnTo>
                <a:lnTo>
                  <a:pt x="517281" y="16219"/>
                </a:lnTo>
                <a:lnTo>
                  <a:pt x="522274" y="24333"/>
                </a:lnTo>
                <a:lnTo>
                  <a:pt x="14973" y="336257"/>
                </a:lnTo>
                <a:close/>
              </a:path>
              <a:path w="522604" h="336550">
                <a:moveTo>
                  <a:pt x="4991" y="320039"/>
                </a:moveTo>
                <a:lnTo>
                  <a:pt x="0" y="311924"/>
                </a:lnTo>
                <a:lnTo>
                  <a:pt x="4992" y="3200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04163" y="4235450"/>
            <a:ext cx="2191385" cy="8813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marL="18415" marR="132080">
              <a:lnSpc>
                <a:spcPct val="100000"/>
              </a:lnSpc>
              <a:spcBef>
                <a:spcPts val="550"/>
              </a:spcBef>
            </a:pPr>
            <a:r>
              <a:rPr dirty="0" sz="2000">
                <a:latin typeface="华文楷体"/>
                <a:cs typeface="华文楷体"/>
              </a:rPr>
              <a:t>这两个关系式只</a:t>
            </a:r>
            <a:r>
              <a:rPr dirty="0" sz="2000">
                <a:latin typeface="华文楷体"/>
                <a:cs typeface="华文楷体"/>
              </a:rPr>
              <a:t>适 </a:t>
            </a:r>
            <a:r>
              <a:rPr dirty="0" sz="2000">
                <a:latin typeface="华文楷体"/>
                <a:cs typeface="华文楷体"/>
              </a:rPr>
              <a:t>用于正弦式电流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6727" y="2363723"/>
            <a:ext cx="6614159" cy="1491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48152" y="2335148"/>
            <a:ext cx="6671309" cy="1549400"/>
          </a:xfrm>
          <a:custGeom>
            <a:avLst/>
            <a:gdLst/>
            <a:ahLst/>
            <a:cxnLst/>
            <a:rect l="l" t="t" r="r" b="b"/>
            <a:pathLst>
              <a:path w="6671309" h="1549400">
                <a:moveTo>
                  <a:pt x="6671310" y="1549146"/>
                </a:moveTo>
                <a:lnTo>
                  <a:pt x="0" y="1549146"/>
                </a:lnTo>
                <a:lnTo>
                  <a:pt x="0" y="0"/>
                </a:lnTo>
                <a:lnTo>
                  <a:pt x="6671310" y="0"/>
                </a:lnTo>
                <a:lnTo>
                  <a:pt x="667131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520571"/>
                </a:lnTo>
                <a:lnTo>
                  <a:pt x="14287" y="1520571"/>
                </a:lnTo>
                <a:lnTo>
                  <a:pt x="28575" y="1534858"/>
                </a:lnTo>
                <a:lnTo>
                  <a:pt x="6671310" y="1534858"/>
                </a:lnTo>
                <a:lnTo>
                  <a:pt x="6671310" y="1549146"/>
                </a:lnTo>
                <a:close/>
              </a:path>
              <a:path w="6671309" h="1549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671309" h="1549400">
                <a:moveTo>
                  <a:pt x="664273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642735" y="14287"/>
                </a:lnTo>
                <a:lnTo>
                  <a:pt x="6642735" y="28575"/>
                </a:lnTo>
                <a:close/>
              </a:path>
              <a:path w="6671309" h="1549400">
                <a:moveTo>
                  <a:pt x="6642735" y="1534858"/>
                </a:moveTo>
                <a:lnTo>
                  <a:pt x="6642735" y="14287"/>
                </a:lnTo>
                <a:lnTo>
                  <a:pt x="6657022" y="28575"/>
                </a:lnTo>
                <a:lnTo>
                  <a:pt x="6671310" y="28575"/>
                </a:lnTo>
                <a:lnTo>
                  <a:pt x="6671310" y="1520571"/>
                </a:lnTo>
                <a:lnTo>
                  <a:pt x="6657022" y="1520571"/>
                </a:lnTo>
                <a:lnTo>
                  <a:pt x="6642735" y="1534858"/>
                </a:lnTo>
                <a:close/>
              </a:path>
              <a:path w="6671309" h="1549400">
                <a:moveTo>
                  <a:pt x="6671310" y="28575"/>
                </a:moveTo>
                <a:lnTo>
                  <a:pt x="6657022" y="28575"/>
                </a:lnTo>
                <a:lnTo>
                  <a:pt x="6642735" y="14287"/>
                </a:lnTo>
                <a:lnTo>
                  <a:pt x="6671310" y="14287"/>
                </a:lnTo>
                <a:lnTo>
                  <a:pt x="6671310" y="28575"/>
                </a:lnTo>
                <a:close/>
              </a:path>
              <a:path w="6671309" h="1549400">
                <a:moveTo>
                  <a:pt x="28575" y="1534858"/>
                </a:moveTo>
                <a:lnTo>
                  <a:pt x="14287" y="1520571"/>
                </a:lnTo>
                <a:lnTo>
                  <a:pt x="28575" y="1520571"/>
                </a:lnTo>
                <a:lnTo>
                  <a:pt x="28575" y="1534858"/>
                </a:lnTo>
                <a:close/>
              </a:path>
              <a:path w="6671309" h="1549400">
                <a:moveTo>
                  <a:pt x="6642735" y="1534858"/>
                </a:moveTo>
                <a:lnTo>
                  <a:pt x="28575" y="1534858"/>
                </a:lnTo>
                <a:lnTo>
                  <a:pt x="28575" y="1520571"/>
                </a:lnTo>
                <a:lnTo>
                  <a:pt x="6642735" y="1520571"/>
                </a:lnTo>
                <a:lnTo>
                  <a:pt x="6642735" y="1534858"/>
                </a:lnTo>
                <a:close/>
              </a:path>
              <a:path w="6671309" h="1549400">
                <a:moveTo>
                  <a:pt x="6671310" y="1534858"/>
                </a:moveTo>
                <a:lnTo>
                  <a:pt x="6642735" y="1534858"/>
                </a:lnTo>
                <a:lnTo>
                  <a:pt x="6657022" y="1520571"/>
                </a:lnTo>
                <a:lnTo>
                  <a:pt x="6671310" y="1520571"/>
                </a:lnTo>
                <a:lnTo>
                  <a:pt x="6671310" y="153485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23374" y="2614853"/>
            <a:ext cx="1756892" cy="504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572" y="1321815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做一做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116579" y="169621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16223" y="1918716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79609" y="196627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01620" y="2307818"/>
            <a:ext cx="66922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6865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华文楷体"/>
                <a:cs typeface="华文楷体"/>
              </a:rPr>
              <a:t>、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华文楷体"/>
                <a:cs typeface="华文楷体"/>
              </a:rPr>
              <a:t>是两个完全相同的电热器，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华文楷体"/>
                <a:cs typeface="华文楷体"/>
              </a:rPr>
              <a:t>通以图甲 所示的方波交变电流</a:t>
            </a:r>
            <a:r>
              <a:rPr dirty="0" sz="2400" spc="-5">
                <a:latin typeface="华文楷体"/>
                <a:cs typeface="华文楷体"/>
              </a:rPr>
              <a:t>，</a:t>
            </a:r>
            <a:r>
              <a:rPr dirty="0" sz="2400" spc="-5">
                <a:latin typeface="Times New Roman"/>
                <a:cs typeface="Times New Roman"/>
              </a:rPr>
              <a:t>B</a:t>
            </a:r>
            <a:r>
              <a:rPr dirty="0" sz="2400">
                <a:latin typeface="华文楷体"/>
                <a:cs typeface="华文楷体"/>
              </a:rPr>
              <a:t>通以图乙所示的正弦交变 电流。两电热器的电功率之比</a:t>
            </a:r>
            <a:r>
              <a:rPr dirty="0" sz="2400" spc="-30">
                <a:latin typeface="华文楷体"/>
                <a:cs typeface="华文楷体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P</a:t>
            </a:r>
            <a:r>
              <a:rPr dirty="0" baseline="-17921" sz="2325">
                <a:latin typeface="Times New Roman"/>
                <a:cs typeface="Times New Roman"/>
              </a:rPr>
              <a:t>A</a:t>
            </a:r>
            <a:r>
              <a:rPr dirty="0" baseline="-17921" sz="2325" spc="262">
                <a:latin typeface="Times New Roman"/>
                <a:cs typeface="Times New Roman"/>
              </a:rPr>
              <a:t> </a:t>
            </a:r>
            <a:r>
              <a:rPr dirty="0" sz="2400">
                <a:latin typeface="宋体"/>
                <a:cs typeface="宋体"/>
              </a:rPr>
              <a:t>∶</a:t>
            </a:r>
            <a:r>
              <a:rPr dirty="0" sz="2400" spc="-630">
                <a:latin typeface="宋体"/>
                <a:cs typeface="宋体"/>
              </a:rPr>
              <a:t> </a:t>
            </a:r>
            <a:r>
              <a:rPr dirty="0" sz="2400" spc="-5" i="1">
                <a:latin typeface="Times New Roman"/>
                <a:cs typeface="Times New Roman"/>
              </a:rPr>
              <a:t>P</a:t>
            </a:r>
            <a:r>
              <a:rPr dirty="0" baseline="-17921" sz="2325" spc="-7">
                <a:latin typeface="Times New Roman"/>
                <a:cs typeface="Times New Roman"/>
              </a:rPr>
              <a:t>B</a:t>
            </a:r>
            <a:r>
              <a:rPr dirty="0" sz="2400">
                <a:latin typeface="华文楷体"/>
                <a:cs typeface="华文楷体"/>
              </a:rPr>
              <a:t>等于多少？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7788" y="3581400"/>
            <a:ext cx="4553712" cy="1813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04147" y="4849367"/>
            <a:ext cx="611124" cy="728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33633" y="5392915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图甲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82193" y="5397728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图乙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50" y="1325511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做一做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983992" y="1699260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83635" y="1923288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46500" y="196997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57144" y="2168651"/>
            <a:ext cx="2028444" cy="1616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98552" y="252638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4" h="0">
                <a:moveTo>
                  <a:pt x="0" y="0"/>
                </a:moveTo>
                <a:lnTo>
                  <a:pt x="17701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22273" y="2526385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 h="0">
                <a:moveTo>
                  <a:pt x="0" y="0"/>
                </a:moveTo>
                <a:lnTo>
                  <a:pt x="177012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79907" y="2125751"/>
            <a:ext cx="9779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8185" y="2337777"/>
            <a:ext cx="21526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9287" y="2495829"/>
            <a:ext cx="9779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8767" y="2495829"/>
            <a:ext cx="129539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2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6637" y="2520048"/>
            <a:ext cx="14986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85852" y="2171814"/>
            <a:ext cx="66421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7690" algn="l"/>
              </a:tabLst>
            </a:pPr>
            <a:r>
              <a:rPr dirty="0" sz="1950" i="1">
                <a:latin typeface="Times New Roman"/>
                <a:cs typeface="Times New Roman"/>
              </a:rPr>
              <a:t>T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 i="1">
                <a:latin typeface="Times New Roman"/>
                <a:cs typeface="Times New Roman"/>
              </a:rPr>
              <a:t>I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21664" y="2122040"/>
            <a:ext cx="180975" cy="7219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950" i="1">
                <a:latin typeface="Times New Roman"/>
                <a:cs typeface="Times New Roman"/>
              </a:rPr>
              <a:t>T</a:t>
            </a:r>
            <a:endParaRPr sz="195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400"/>
              </a:spcBef>
            </a:pPr>
            <a:r>
              <a:rPr dirty="0" sz="1950">
                <a:latin typeface="Times New Roman"/>
                <a:cs typeface="Times New Roman"/>
              </a:rPr>
              <a:t>2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35660" y="2327300"/>
            <a:ext cx="17780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5" i="1">
                <a:latin typeface="Times New Roman"/>
                <a:cs typeface="Times New Roman"/>
              </a:rPr>
              <a:t>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86067" y="2188514"/>
            <a:ext cx="51689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8305" algn="l"/>
              </a:tabLst>
            </a:pPr>
            <a:r>
              <a:rPr dirty="0" sz="1950">
                <a:latin typeface="Symbol"/>
                <a:cs typeface="Symbol"/>
              </a:rPr>
              <a:t>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>
                <a:latin typeface="Symbol"/>
                <a:cs typeface="Symbol"/>
              </a:rPr>
              <a:t>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6319" y="2327300"/>
            <a:ext cx="123698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87120" algn="l"/>
              </a:tabLst>
            </a:pPr>
            <a:r>
              <a:rPr dirty="0" sz="1950" spc="5" i="1">
                <a:latin typeface="Times New Roman"/>
                <a:cs typeface="Times New Roman"/>
              </a:rPr>
              <a:t>Q</a:t>
            </a:r>
            <a:r>
              <a:rPr dirty="0" sz="1950" spc="-25" i="1">
                <a:latin typeface="Times New Roman"/>
                <a:cs typeface="Times New Roman"/>
              </a:rPr>
              <a:t> </a:t>
            </a:r>
            <a:r>
              <a:rPr dirty="0" sz="1950">
                <a:latin typeface="Symbol"/>
                <a:cs typeface="Symbol"/>
              </a:rPr>
              <a:t>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I</a:t>
            </a:r>
            <a:r>
              <a:rPr dirty="0" sz="1950" spc="-250" i="1">
                <a:latin typeface="Times New Roman"/>
                <a:cs typeface="Times New Roman"/>
              </a:rPr>
              <a:t> </a:t>
            </a:r>
            <a:r>
              <a:rPr dirty="0" baseline="42929" sz="1650" spc="22">
                <a:latin typeface="Times New Roman"/>
                <a:cs typeface="Times New Roman"/>
              </a:rPr>
              <a:t>2</a:t>
            </a:r>
            <a:r>
              <a:rPr dirty="0" baseline="42929" sz="1650" spc="-112">
                <a:latin typeface="Times New Roman"/>
                <a:cs typeface="Times New Roman"/>
              </a:rPr>
              <a:t> </a:t>
            </a:r>
            <a:r>
              <a:rPr dirty="0" sz="1950" spc="5" i="1">
                <a:latin typeface="Times New Roman"/>
                <a:cs typeface="Times New Roman"/>
              </a:rPr>
              <a:t>R</a:t>
            </a:r>
            <a:r>
              <a:rPr dirty="0" sz="1950" i="1">
                <a:latin typeface="Times New Roman"/>
                <a:cs typeface="Times New Roman"/>
              </a:rPr>
              <a:t>	</a:t>
            </a:r>
            <a:r>
              <a:rPr dirty="0" sz="1950">
                <a:latin typeface="Symbol"/>
                <a:cs typeface="Symbol"/>
              </a:rPr>
              <a:t>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72438" y="2327300"/>
            <a:ext cx="827405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6720" algn="l"/>
              </a:tabLst>
            </a:pPr>
            <a:r>
              <a:rPr dirty="0" sz="1950">
                <a:latin typeface="Symbol"/>
                <a:cs typeface="Symbol"/>
              </a:rPr>
              <a:t></a:t>
            </a:r>
            <a:r>
              <a:rPr dirty="0" sz="1950" spc="45">
                <a:latin typeface="Times New Roman"/>
                <a:cs typeface="Times New Roman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I	</a:t>
            </a:r>
            <a:r>
              <a:rPr dirty="0" baseline="42929" sz="1650" spc="22">
                <a:latin typeface="Times New Roman"/>
                <a:cs typeface="Times New Roman"/>
              </a:rPr>
              <a:t>2</a:t>
            </a:r>
            <a:r>
              <a:rPr dirty="0" baseline="42929" sz="1650" spc="-202">
                <a:latin typeface="Times New Roman"/>
                <a:cs typeface="Times New Roman"/>
              </a:rPr>
              <a:t> </a:t>
            </a:r>
            <a:r>
              <a:rPr dirty="0" sz="1950" i="1">
                <a:latin typeface="Times New Roman"/>
                <a:cs typeface="Times New Roman"/>
              </a:rPr>
              <a:t>RT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86067" y="2396045"/>
            <a:ext cx="51689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>
                <a:latin typeface="Symbol"/>
                <a:cs typeface="Symbol"/>
              </a:rPr>
              <a:t></a:t>
            </a:r>
            <a:r>
              <a:rPr dirty="0" sz="1950">
                <a:latin typeface="Times New Roman"/>
                <a:cs typeface="Times New Roman"/>
              </a:rPr>
              <a:t> </a:t>
            </a:r>
            <a:r>
              <a:rPr dirty="0" baseline="-28490" sz="2925">
                <a:latin typeface="Times New Roman"/>
                <a:cs typeface="Times New Roman"/>
              </a:rPr>
              <a:t>2</a:t>
            </a:r>
            <a:r>
              <a:rPr dirty="0" baseline="-28490" sz="2925" spc="-247">
                <a:latin typeface="Times New Roman"/>
                <a:cs typeface="Times New Roman"/>
              </a:rPr>
              <a:t> </a:t>
            </a:r>
            <a:r>
              <a:rPr dirty="0" sz="1950" spc="-320">
                <a:latin typeface="Symbol"/>
                <a:cs typeface="Symbol"/>
              </a:rPr>
              <a:t>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86067" y="2550884"/>
            <a:ext cx="516890" cy="324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8305" algn="l"/>
              </a:tabLst>
            </a:pPr>
            <a:r>
              <a:rPr dirty="0" sz="1950">
                <a:latin typeface="Symbol"/>
                <a:cs typeface="Symbol"/>
              </a:rPr>
              <a:t>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>
                <a:latin typeface="Symbol"/>
                <a:cs typeface="Symbol"/>
              </a:rPr>
              <a:t>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932373" y="3319360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 h="0">
                <a:moveTo>
                  <a:pt x="0" y="0"/>
                </a:moveTo>
                <a:lnTo>
                  <a:pt x="134061" y="0"/>
                </a:lnTo>
              </a:path>
            </a:pathLst>
          </a:custGeom>
          <a:ln w="121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69571" y="3366046"/>
            <a:ext cx="24130" cy="31115"/>
          </a:xfrm>
          <a:custGeom>
            <a:avLst/>
            <a:gdLst/>
            <a:ahLst/>
            <a:cxnLst/>
            <a:rect l="l" t="t" r="r" b="b"/>
            <a:pathLst>
              <a:path w="24129" h="31114">
                <a:moveTo>
                  <a:pt x="0" y="30695"/>
                </a:moveTo>
                <a:lnTo>
                  <a:pt x="2362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93194" y="3366046"/>
            <a:ext cx="59690" cy="229870"/>
          </a:xfrm>
          <a:custGeom>
            <a:avLst/>
            <a:gdLst/>
            <a:ahLst/>
            <a:cxnLst/>
            <a:rect l="l" t="t" r="r" b="b"/>
            <a:pathLst>
              <a:path w="59689" h="229870">
                <a:moveTo>
                  <a:pt x="0" y="0"/>
                </a:moveTo>
                <a:lnTo>
                  <a:pt x="59372" y="22959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52566" y="2989999"/>
            <a:ext cx="66040" cy="605790"/>
          </a:xfrm>
          <a:custGeom>
            <a:avLst/>
            <a:gdLst/>
            <a:ahLst/>
            <a:cxnLst/>
            <a:rect l="l" t="t" r="r" b="b"/>
            <a:pathLst>
              <a:path w="66039" h="605789">
                <a:moveTo>
                  <a:pt x="0" y="605637"/>
                </a:moveTo>
                <a:lnTo>
                  <a:pt x="6576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18327" y="2989999"/>
            <a:ext cx="167640" cy="0"/>
          </a:xfrm>
          <a:custGeom>
            <a:avLst/>
            <a:gdLst/>
            <a:ahLst/>
            <a:cxnLst/>
            <a:rect l="l" t="t" r="r" b="b"/>
            <a:pathLst>
              <a:path w="167639" h="0">
                <a:moveTo>
                  <a:pt x="0" y="0"/>
                </a:moveTo>
                <a:lnTo>
                  <a:pt x="16727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66371" y="2984245"/>
            <a:ext cx="319405" cy="611505"/>
          </a:xfrm>
          <a:custGeom>
            <a:avLst/>
            <a:gdLst/>
            <a:ahLst/>
            <a:cxnLst/>
            <a:rect l="l" t="t" r="r" b="b"/>
            <a:pathLst>
              <a:path w="319404" h="611504">
                <a:moveTo>
                  <a:pt x="98293" y="558317"/>
                </a:moveTo>
                <a:lnTo>
                  <a:pt x="86194" y="558317"/>
                </a:lnTo>
                <a:lnTo>
                  <a:pt x="146837" y="0"/>
                </a:lnTo>
                <a:lnTo>
                  <a:pt x="319227" y="0"/>
                </a:lnTo>
                <a:lnTo>
                  <a:pt x="319227" y="12153"/>
                </a:lnTo>
                <a:lnTo>
                  <a:pt x="157060" y="12153"/>
                </a:lnTo>
                <a:lnTo>
                  <a:pt x="98293" y="558317"/>
                </a:lnTo>
                <a:close/>
              </a:path>
              <a:path w="319404" h="611504">
                <a:moveTo>
                  <a:pt x="6388" y="415061"/>
                </a:moveTo>
                <a:lnTo>
                  <a:pt x="0" y="409943"/>
                </a:lnTo>
                <a:lnTo>
                  <a:pt x="33845" y="367093"/>
                </a:lnTo>
                <a:lnTo>
                  <a:pt x="42074" y="397154"/>
                </a:lnTo>
                <a:lnTo>
                  <a:pt x="20434" y="397154"/>
                </a:lnTo>
                <a:lnTo>
                  <a:pt x="6388" y="415061"/>
                </a:lnTo>
                <a:close/>
              </a:path>
              <a:path w="319404" h="611504">
                <a:moveTo>
                  <a:pt x="92582" y="611390"/>
                </a:moveTo>
                <a:lnTo>
                  <a:pt x="80441" y="611390"/>
                </a:lnTo>
                <a:lnTo>
                  <a:pt x="20434" y="397154"/>
                </a:lnTo>
                <a:lnTo>
                  <a:pt x="42074" y="397154"/>
                </a:lnTo>
                <a:lnTo>
                  <a:pt x="86194" y="558317"/>
                </a:lnTo>
                <a:lnTo>
                  <a:pt x="98293" y="558317"/>
                </a:lnTo>
                <a:lnTo>
                  <a:pt x="92582" y="611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370614" y="3291039"/>
            <a:ext cx="12763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5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66268" y="3291039"/>
            <a:ext cx="9588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5">
                <a:latin typeface="Times New Roman"/>
                <a:cs typeface="Times New Roman"/>
              </a:rPr>
              <a:t>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25413" y="3316719"/>
            <a:ext cx="14732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0"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27331" y="2970085"/>
            <a:ext cx="25209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0">
                <a:latin typeface="Times New Roman"/>
                <a:cs typeface="Times New Roman"/>
              </a:rPr>
              <a:t>5</a:t>
            </a:r>
            <a:r>
              <a:rPr dirty="0" sz="1900" spc="-360">
                <a:latin typeface="Times New Roman"/>
                <a:cs typeface="Times New Roman"/>
              </a:rPr>
              <a:t> </a:t>
            </a:r>
            <a:r>
              <a:rPr dirty="0" baseline="-35087" sz="2850" spc="7" i="1">
                <a:latin typeface="Times New Roman"/>
                <a:cs typeface="Times New Roman"/>
              </a:rPr>
              <a:t>I</a:t>
            </a:r>
            <a:endParaRPr baseline="-35087" sz="28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74843" y="3124860"/>
            <a:ext cx="44323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5910" algn="l"/>
              </a:tabLst>
            </a:pPr>
            <a:r>
              <a:rPr dirty="0" sz="1900" spc="5" i="1">
                <a:latin typeface="Times New Roman"/>
                <a:cs typeface="Times New Roman"/>
              </a:rPr>
              <a:t>I</a:t>
            </a:r>
            <a:r>
              <a:rPr dirty="0" sz="1900" spc="5" i="1">
                <a:latin typeface="Times New Roman"/>
                <a:cs typeface="Times New Roman"/>
              </a:rPr>
              <a:t>	</a:t>
            </a:r>
            <a:r>
              <a:rPr dirty="0" sz="1900" spc="1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57144" y="3892296"/>
            <a:ext cx="1988820" cy="1813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788901" y="4276153"/>
            <a:ext cx="28575" cy="15240"/>
          </a:xfrm>
          <a:custGeom>
            <a:avLst/>
            <a:gdLst/>
            <a:ahLst/>
            <a:cxnLst/>
            <a:rect l="l" t="t" r="r" b="b"/>
            <a:pathLst>
              <a:path w="28575" h="15239">
                <a:moveTo>
                  <a:pt x="0" y="14681"/>
                </a:moveTo>
                <a:lnTo>
                  <a:pt x="279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16866" y="4276153"/>
            <a:ext cx="64769" cy="105410"/>
          </a:xfrm>
          <a:custGeom>
            <a:avLst/>
            <a:gdLst/>
            <a:ahLst/>
            <a:cxnLst/>
            <a:rect l="l" t="t" r="r" b="b"/>
            <a:pathLst>
              <a:path w="64770" h="105410">
                <a:moveTo>
                  <a:pt x="0" y="0"/>
                </a:moveTo>
                <a:lnTo>
                  <a:pt x="64312" y="10481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81179" y="4102176"/>
            <a:ext cx="71755" cy="279400"/>
          </a:xfrm>
          <a:custGeom>
            <a:avLst/>
            <a:gdLst/>
            <a:ahLst/>
            <a:cxnLst/>
            <a:rect l="l" t="t" r="r" b="b"/>
            <a:pathLst>
              <a:path w="71754" h="279400">
                <a:moveTo>
                  <a:pt x="0" y="278790"/>
                </a:moveTo>
                <a:lnTo>
                  <a:pt x="7129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52477" y="4102176"/>
            <a:ext cx="154940" cy="0"/>
          </a:xfrm>
          <a:custGeom>
            <a:avLst/>
            <a:gdLst/>
            <a:ahLst/>
            <a:cxnLst/>
            <a:rect l="l" t="t" r="r" b="b"/>
            <a:pathLst>
              <a:path w="154939" h="0">
                <a:moveTo>
                  <a:pt x="0" y="0"/>
                </a:moveTo>
                <a:lnTo>
                  <a:pt x="154482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786805" y="4095889"/>
            <a:ext cx="320675" cy="285115"/>
          </a:xfrm>
          <a:custGeom>
            <a:avLst/>
            <a:gdLst/>
            <a:ahLst/>
            <a:cxnLst/>
            <a:rect l="l" t="t" r="r" b="b"/>
            <a:pathLst>
              <a:path w="320675" h="285114">
                <a:moveTo>
                  <a:pt x="108472" y="257136"/>
                </a:moveTo>
                <a:lnTo>
                  <a:pt x="95072" y="257136"/>
                </a:lnTo>
                <a:lnTo>
                  <a:pt x="160782" y="0"/>
                </a:lnTo>
                <a:lnTo>
                  <a:pt x="320154" y="0"/>
                </a:lnTo>
                <a:lnTo>
                  <a:pt x="320154" y="13271"/>
                </a:lnTo>
                <a:lnTo>
                  <a:pt x="170561" y="13271"/>
                </a:lnTo>
                <a:lnTo>
                  <a:pt x="108472" y="257136"/>
                </a:lnTo>
                <a:close/>
              </a:path>
              <a:path w="320675" h="285114">
                <a:moveTo>
                  <a:pt x="4190" y="199135"/>
                </a:moveTo>
                <a:lnTo>
                  <a:pt x="0" y="191452"/>
                </a:lnTo>
                <a:lnTo>
                  <a:pt x="37045" y="171183"/>
                </a:lnTo>
                <a:lnTo>
                  <a:pt x="49314" y="189356"/>
                </a:lnTo>
                <a:lnTo>
                  <a:pt x="23063" y="189356"/>
                </a:lnTo>
                <a:lnTo>
                  <a:pt x="4190" y="199135"/>
                </a:lnTo>
                <a:close/>
              </a:path>
              <a:path w="320675" h="285114">
                <a:moveTo>
                  <a:pt x="101358" y="285076"/>
                </a:moveTo>
                <a:lnTo>
                  <a:pt x="88074" y="285076"/>
                </a:lnTo>
                <a:lnTo>
                  <a:pt x="23063" y="189356"/>
                </a:lnTo>
                <a:lnTo>
                  <a:pt x="49314" y="189356"/>
                </a:lnTo>
                <a:lnTo>
                  <a:pt x="95072" y="257136"/>
                </a:lnTo>
                <a:lnTo>
                  <a:pt x="108472" y="257136"/>
                </a:lnTo>
                <a:lnTo>
                  <a:pt x="101358" y="285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65837" y="4062348"/>
            <a:ext cx="362585" cy="0"/>
          </a:xfrm>
          <a:custGeom>
            <a:avLst/>
            <a:gdLst/>
            <a:ahLst/>
            <a:cxnLst/>
            <a:rect l="l" t="t" r="r" b="b"/>
            <a:pathLst>
              <a:path w="362585" h="0">
                <a:moveTo>
                  <a:pt x="0" y="0"/>
                </a:moveTo>
                <a:lnTo>
                  <a:pt x="362102" y="0"/>
                </a:lnTo>
              </a:path>
            </a:pathLst>
          </a:custGeom>
          <a:ln w="132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348389" y="4031526"/>
            <a:ext cx="128905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1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51664" y="4079786"/>
            <a:ext cx="16002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5">
                <a:latin typeface="Times New Roman"/>
                <a:cs typeface="Times New Roman"/>
              </a:rPr>
              <a:t>2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43538" y="3849204"/>
            <a:ext cx="11493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i="1">
                <a:latin typeface="Times New Roman"/>
                <a:cs typeface="Times New Roman"/>
              </a:rPr>
              <a:t>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39232" y="3677310"/>
            <a:ext cx="50419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0515" algn="l"/>
              </a:tabLst>
            </a:pPr>
            <a:r>
              <a:rPr dirty="0" baseline="-35714" sz="3150" spc="7">
                <a:latin typeface="Symbol"/>
                <a:cs typeface="Symbol"/>
              </a:rPr>
              <a:t></a:t>
            </a:r>
            <a:r>
              <a:rPr dirty="0" baseline="-35714" sz="3150" spc="7">
                <a:latin typeface="Times New Roman"/>
                <a:cs typeface="Times New Roman"/>
              </a:rPr>
              <a:t>	</a:t>
            </a:r>
            <a:r>
              <a:rPr dirty="0" sz="2100" spc="105" i="1">
                <a:latin typeface="Times New Roman"/>
                <a:cs typeface="Times New Roman"/>
              </a:rPr>
              <a:t>I</a:t>
            </a:r>
            <a:r>
              <a:rPr dirty="0" baseline="-25462" sz="1800" spc="15">
                <a:latin typeface="Times New Roman"/>
                <a:cs typeface="Times New Roman"/>
              </a:rPr>
              <a:t>0</a:t>
            </a:r>
            <a:endParaRPr baseline="-25462"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05755" y="4587684"/>
            <a:ext cx="2448560" cy="10013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20"/>
              </a:spcBef>
            </a:pPr>
            <a:r>
              <a:rPr dirty="0" sz="2050" spc="10" i="1">
                <a:latin typeface="Times New Roman"/>
                <a:cs typeface="Times New Roman"/>
              </a:rPr>
              <a:t>P </a:t>
            </a: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I</a:t>
            </a:r>
            <a:r>
              <a:rPr dirty="0" sz="2050" spc="-180" i="1">
                <a:latin typeface="Times New Roman"/>
                <a:cs typeface="Times New Roman"/>
              </a:rPr>
              <a:t> </a:t>
            </a:r>
            <a:r>
              <a:rPr dirty="0" baseline="43981" sz="1800" spc="-7">
                <a:latin typeface="Times New Roman"/>
                <a:cs typeface="Times New Roman"/>
              </a:rPr>
              <a:t>2</a:t>
            </a:r>
            <a:r>
              <a:rPr dirty="0" baseline="43981" sz="1800" spc="-262">
                <a:latin typeface="Times New Roman"/>
                <a:cs typeface="Times New Roman"/>
              </a:rPr>
              <a:t> </a:t>
            </a:r>
            <a:r>
              <a:rPr dirty="0" sz="2050" spc="10" i="1">
                <a:latin typeface="Times New Roman"/>
                <a:cs typeface="Times New Roman"/>
              </a:rPr>
              <a:t>R</a:t>
            </a:r>
            <a:r>
              <a:rPr dirty="0" sz="2050" spc="-55" i="1">
                <a:latin typeface="Times New Roman"/>
                <a:cs typeface="Times New Roman"/>
              </a:rPr>
              <a:t> </a:t>
            </a:r>
            <a:r>
              <a:rPr dirty="0" sz="2050" spc="295">
                <a:latin typeface="Symbol"/>
                <a:cs typeface="Symbol"/>
              </a:rPr>
              <a:t>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I</a:t>
            </a:r>
            <a:r>
              <a:rPr dirty="0" sz="2050" spc="-180" i="1">
                <a:latin typeface="Times New Roman"/>
                <a:cs typeface="Times New Roman"/>
              </a:rPr>
              <a:t> </a:t>
            </a:r>
            <a:r>
              <a:rPr dirty="0" baseline="43981" sz="1800" spc="-7">
                <a:latin typeface="Times New Roman"/>
                <a:cs typeface="Times New Roman"/>
              </a:rPr>
              <a:t>2</a:t>
            </a:r>
            <a:endParaRPr baseline="43981"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1920"/>
              </a:lnSpc>
              <a:tabLst>
                <a:tab pos="310515" algn="l"/>
                <a:tab pos="737235" algn="l"/>
                <a:tab pos="1176655" algn="l"/>
              </a:tabLst>
            </a:pPr>
            <a:r>
              <a:rPr dirty="0" sz="2050" spc="10" i="1">
                <a:latin typeface="Times New Roman"/>
                <a:cs typeface="Times New Roman"/>
              </a:rPr>
              <a:t>P	</a:t>
            </a:r>
            <a:r>
              <a:rPr dirty="0" sz="2050" spc="5">
                <a:latin typeface="Times New Roman"/>
                <a:cs typeface="Times New Roman"/>
              </a:rPr>
              <a:t>:</a:t>
            </a:r>
            <a:r>
              <a:rPr dirty="0" sz="2050" spc="-100">
                <a:latin typeface="Times New Roman"/>
                <a:cs typeface="Times New Roman"/>
              </a:rPr>
              <a:t> </a:t>
            </a:r>
            <a:r>
              <a:rPr dirty="0" sz="2050" spc="10" i="1">
                <a:latin typeface="Times New Roman"/>
                <a:cs typeface="Times New Roman"/>
              </a:rPr>
              <a:t>P	</a:t>
            </a: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75">
                <a:latin typeface="Times New Roman"/>
                <a:cs typeface="Times New Roman"/>
              </a:rPr>
              <a:t> </a:t>
            </a:r>
            <a:r>
              <a:rPr dirty="0" sz="2050" spc="5" i="1">
                <a:latin typeface="Times New Roman"/>
                <a:cs typeface="Times New Roman"/>
              </a:rPr>
              <a:t>I	</a:t>
            </a:r>
            <a:r>
              <a:rPr dirty="0" baseline="41666" sz="1800" spc="-7">
                <a:latin typeface="Times New Roman"/>
                <a:cs typeface="Times New Roman"/>
              </a:rPr>
              <a:t>2 </a:t>
            </a:r>
            <a:r>
              <a:rPr dirty="0" sz="2050" spc="5">
                <a:latin typeface="Times New Roman"/>
                <a:cs typeface="Times New Roman"/>
              </a:rPr>
              <a:t>: </a:t>
            </a:r>
            <a:r>
              <a:rPr dirty="0" sz="2050" spc="5" i="1">
                <a:latin typeface="Times New Roman"/>
                <a:cs typeface="Times New Roman"/>
              </a:rPr>
              <a:t>I </a:t>
            </a:r>
            <a:r>
              <a:rPr dirty="0" baseline="41666" sz="1800" spc="-7">
                <a:latin typeface="Times New Roman"/>
                <a:cs typeface="Times New Roman"/>
              </a:rPr>
              <a:t>2 </a:t>
            </a:r>
            <a:r>
              <a:rPr dirty="0" sz="2050" spc="10">
                <a:latin typeface="Symbol"/>
                <a:cs typeface="Symbol"/>
              </a:rPr>
              <a:t></a:t>
            </a:r>
            <a:r>
              <a:rPr dirty="0" sz="2050" spc="10">
                <a:latin typeface="Times New Roman"/>
                <a:cs typeface="Times New Roman"/>
              </a:rPr>
              <a:t> 5 </a:t>
            </a:r>
            <a:r>
              <a:rPr dirty="0" sz="2050" spc="5">
                <a:latin typeface="Times New Roman"/>
                <a:cs typeface="Times New Roman"/>
              </a:rPr>
              <a:t>:</a:t>
            </a:r>
            <a:r>
              <a:rPr dirty="0" sz="2050" spc="-204">
                <a:latin typeface="Times New Roman"/>
                <a:cs typeface="Times New Roman"/>
              </a:rPr>
              <a:t> </a:t>
            </a:r>
            <a:r>
              <a:rPr dirty="0" sz="2050" spc="10">
                <a:latin typeface="Times New Roman"/>
                <a:cs typeface="Times New Roman"/>
              </a:rPr>
              <a:t>4</a:t>
            </a:r>
            <a:endParaRPr sz="2050">
              <a:latin typeface="Times New Roman"/>
              <a:cs typeface="Times New Roman"/>
            </a:endParaRPr>
          </a:p>
          <a:p>
            <a:pPr marL="130810">
              <a:lnSpc>
                <a:spcPts val="900"/>
              </a:lnSpc>
              <a:tabLst>
                <a:tab pos="554355" algn="l"/>
                <a:tab pos="1058545" algn="l"/>
                <a:tab pos="1553210" algn="l"/>
              </a:tabLst>
            </a:pPr>
            <a:r>
              <a:rPr dirty="0" sz="1200" spc="-5">
                <a:latin typeface="Times New Roman"/>
                <a:cs typeface="Times New Roman"/>
              </a:rPr>
              <a:t>A	B	A	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671559" y="4852415"/>
            <a:ext cx="611124" cy="728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7889" y="1612798"/>
            <a:ext cx="60712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三、</a:t>
            </a:r>
            <a:r>
              <a:rPr dirty="0">
                <a:latin typeface="微软雅黑"/>
                <a:cs typeface="微软雅黑"/>
              </a:rPr>
              <a:t>正弦式交变电流的公式和图</a:t>
            </a:r>
            <a:r>
              <a:rPr dirty="0" spc="5">
                <a:latin typeface="微软雅黑"/>
                <a:cs typeface="微软雅黑"/>
              </a:rPr>
              <a:t>像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8988" y="2777706"/>
            <a:ext cx="6350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详细 描述 交变 电流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7092" y="2592920"/>
            <a:ext cx="255104" cy="1945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88549" y="2373553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公式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8549" y="4300689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图像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7663" y="2374552"/>
            <a:ext cx="1772920" cy="4737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60"/>
              </a:lnSpc>
            </a:pPr>
            <a:r>
              <a:rPr dirty="0" sz="2650" spc="15" i="1">
                <a:latin typeface="Times New Roman"/>
                <a:cs typeface="Times New Roman"/>
              </a:rPr>
              <a:t>u </a:t>
            </a:r>
            <a:r>
              <a:rPr dirty="0" sz="2650" spc="20">
                <a:latin typeface="Symbol"/>
                <a:cs typeface="Symbol"/>
              </a:rPr>
              <a:t></a:t>
            </a:r>
            <a:r>
              <a:rPr dirty="0" sz="2650" spc="20">
                <a:latin typeface="Times New Roman"/>
                <a:cs typeface="Times New Roman"/>
              </a:rPr>
              <a:t> </a:t>
            </a:r>
            <a:r>
              <a:rPr dirty="0" sz="2650" spc="100" i="1">
                <a:latin typeface="Times New Roman"/>
                <a:cs typeface="Times New Roman"/>
              </a:rPr>
              <a:t>U</a:t>
            </a:r>
            <a:r>
              <a:rPr dirty="0" baseline="-25089" sz="2325" spc="150">
                <a:latin typeface="Times New Roman"/>
                <a:cs typeface="Times New Roman"/>
              </a:rPr>
              <a:t>m</a:t>
            </a:r>
            <a:r>
              <a:rPr dirty="0" baseline="-25089" sz="2325" spc="-202">
                <a:latin typeface="Times New Roman"/>
                <a:cs typeface="Times New Roman"/>
              </a:rPr>
              <a:t> </a:t>
            </a:r>
            <a:r>
              <a:rPr dirty="0" sz="2650" spc="-150">
                <a:latin typeface="Times New Roman"/>
                <a:cs typeface="Times New Roman"/>
              </a:rPr>
              <a:t>sin</a:t>
            </a:r>
            <a:r>
              <a:rPr dirty="0" sz="2800" spc="-150" i="1">
                <a:latin typeface="Symbol"/>
                <a:cs typeface="Symbol"/>
              </a:rPr>
              <a:t></a:t>
            </a:r>
            <a:r>
              <a:rPr dirty="0" sz="2650" spc="-150" i="1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28032" y="2200655"/>
            <a:ext cx="3877310" cy="807720"/>
          </a:xfrm>
          <a:custGeom>
            <a:avLst/>
            <a:gdLst/>
            <a:ahLst/>
            <a:cxnLst/>
            <a:rect l="l" t="t" r="r" b="b"/>
            <a:pathLst>
              <a:path w="3877309" h="807719">
                <a:moveTo>
                  <a:pt x="0" y="0"/>
                </a:moveTo>
                <a:lnTo>
                  <a:pt x="3877056" y="0"/>
                </a:lnTo>
                <a:lnTo>
                  <a:pt x="3877056" y="807720"/>
                </a:lnTo>
                <a:lnTo>
                  <a:pt x="0" y="80772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00635" y="2617584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 h="0">
                <a:moveTo>
                  <a:pt x="0" y="0"/>
                </a:moveTo>
                <a:lnTo>
                  <a:pt x="390334" y="0"/>
                </a:lnTo>
              </a:path>
            </a:pathLst>
          </a:custGeom>
          <a:ln w="154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61796" y="2598039"/>
            <a:ext cx="33020" cy="17145"/>
          </a:xfrm>
          <a:custGeom>
            <a:avLst/>
            <a:gdLst/>
            <a:ahLst/>
            <a:cxnLst/>
            <a:rect l="l" t="t" r="r" b="b"/>
            <a:pathLst>
              <a:path w="33020" h="17144">
                <a:moveTo>
                  <a:pt x="0" y="17106"/>
                </a:moveTo>
                <a:lnTo>
                  <a:pt x="3253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94334" y="2598039"/>
            <a:ext cx="74930" cy="122555"/>
          </a:xfrm>
          <a:custGeom>
            <a:avLst/>
            <a:gdLst/>
            <a:ahLst/>
            <a:cxnLst/>
            <a:rect l="l" t="t" r="r" b="b"/>
            <a:pathLst>
              <a:path w="74929" h="122555">
                <a:moveTo>
                  <a:pt x="0" y="0"/>
                </a:moveTo>
                <a:lnTo>
                  <a:pt x="74815" y="1221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69150" y="2395296"/>
            <a:ext cx="83185" cy="325120"/>
          </a:xfrm>
          <a:custGeom>
            <a:avLst/>
            <a:gdLst/>
            <a:ahLst/>
            <a:cxnLst/>
            <a:rect l="l" t="t" r="r" b="b"/>
            <a:pathLst>
              <a:path w="83184" h="325119">
                <a:moveTo>
                  <a:pt x="0" y="324878"/>
                </a:moveTo>
                <a:lnTo>
                  <a:pt x="8294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52093" y="2395296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 h="0">
                <a:moveTo>
                  <a:pt x="0" y="0"/>
                </a:moveTo>
                <a:lnTo>
                  <a:pt x="1797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59358" y="2387968"/>
            <a:ext cx="372745" cy="332740"/>
          </a:xfrm>
          <a:custGeom>
            <a:avLst/>
            <a:gdLst/>
            <a:ahLst/>
            <a:cxnLst/>
            <a:rect l="l" t="t" r="r" b="b"/>
            <a:pathLst>
              <a:path w="372745" h="332739">
                <a:moveTo>
                  <a:pt x="126195" y="299643"/>
                </a:moveTo>
                <a:lnTo>
                  <a:pt x="110604" y="299643"/>
                </a:lnTo>
                <a:lnTo>
                  <a:pt x="187045" y="0"/>
                </a:lnTo>
                <a:lnTo>
                  <a:pt x="372452" y="0"/>
                </a:lnTo>
                <a:lnTo>
                  <a:pt x="372452" y="15468"/>
                </a:lnTo>
                <a:lnTo>
                  <a:pt x="198424" y="15468"/>
                </a:lnTo>
                <a:lnTo>
                  <a:pt x="126195" y="299643"/>
                </a:lnTo>
                <a:close/>
              </a:path>
              <a:path w="372745" h="332739">
                <a:moveTo>
                  <a:pt x="4889" y="232054"/>
                </a:moveTo>
                <a:lnTo>
                  <a:pt x="0" y="223100"/>
                </a:lnTo>
                <a:lnTo>
                  <a:pt x="43103" y="199491"/>
                </a:lnTo>
                <a:lnTo>
                  <a:pt x="57372" y="220662"/>
                </a:lnTo>
                <a:lnTo>
                  <a:pt x="26835" y="220662"/>
                </a:lnTo>
                <a:lnTo>
                  <a:pt x="4889" y="232054"/>
                </a:lnTo>
                <a:close/>
              </a:path>
              <a:path w="372745" h="332739">
                <a:moveTo>
                  <a:pt x="117919" y="332206"/>
                </a:moveTo>
                <a:lnTo>
                  <a:pt x="102463" y="332206"/>
                </a:lnTo>
                <a:lnTo>
                  <a:pt x="26835" y="220662"/>
                </a:lnTo>
                <a:lnTo>
                  <a:pt x="57372" y="220662"/>
                </a:lnTo>
                <a:lnTo>
                  <a:pt x="110604" y="299643"/>
                </a:lnTo>
                <a:lnTo>
                  <a:pt x="126195" y="299643"/>
                </a:lnTo>
                <a:lnTo>
                  <a:pt x="117919" y="332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119770" y="2617584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 h="0">
                <a:moveTo>
                  <a:pt x="0" y="0"/>
                </a:moveTo>
                <a:lnTo>
                  <a:pt x="390334" y="0"/>
                </a:lnTo>
              </a:path>
            </a:pathLst>
          </a:custGeom>
          <a:ln w="154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67959" y="2584030"/>
            <a:ext cx="153670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400" spc="15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65370" y="2355377"/>
            <a:ext cx="3786504" cy="661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ts val="1580"/>
              </a:lnSpc>
              <a:spcBef>
                <a:spcPts val="135"/>
              </a:spcBef>
              <a:tabLst>
                <a:tab pos="910590" algn="l"/>
                <a:tab pos="1943735" algn="l"/>
                <a:tab pos="2399665" algn="l"/>
              </a:tabLst>
            </a:pPr>
            <a:r>
              <a:rPr dirty="0" sz="2450" i="1">
                <a:latin typeface="Times New Roman"/>
                <a:cs typeface="Times New Roman"/>
              </a:rPr>
              <a:t>u</a:t>
            </a:r>
            <a:r>
              <a:rPr dirty="0" sz="2450" spc="40" i="1">
                <a:latin typeface="Times New Roman"/>
                <a:cs typeface="Times New Roman"/>
              </a:rPr>
              <a:t> 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 spc="-275">
                <a:latin typeface="Times New Roman"/>
                <a:cs typeface="Times New Roman"/>
              </a:rPr>
              <a:t> </a:t>
            </a:r>
            <a:r>
              <a:rPr dirty="0" sz="2450" spc="5" i="1">
                <a:latin typeface="Times New Roman"/>
                <a:cs typeface="Times New Roman"/>
              </a:rPr>
              <a:t>U	</a:t>
            </a:r>
            <a:r>
              <a:rPr dirty="0" sz="2450">
                <a:latin typeface="Times New Roman"/>
                <a:cs typeface="Times New Roman"/>
              </a:rPr>
              <a:t>sin</a:t>
            </a:r>
            <a:r>
              <a:rPr dirty="0" sz="2450" spc="5">
                <a:latin typeface="Times New Roman"/>
                <a:cs typeface="Times New Roman"/>
              </a:rPr>
              <a:t> </a:t>
            </a:r>
            <a:r>
              <a:rPr dirty="0" baseline="35147" sz="3675" spc="-262">
                <a:latin typeface="Times New Roman"/>
                <a:cs typeface="Times New Roman"/>
              </a:rPr>
              <a:t>2</a:t>
            </a:r>
            <a:r>
              <a:rPr dirty="0" baseline="33769" sz="3825" spc="-262" i="1">
                <a:latin typeface="Symbol"/>
                <a:cs typeface="Symbol"/>
              </a:rPr>
              <a:t></a:t>
            </a:r>
            <a:r>
              <a:rPr dirty="0" baseline="33769" sz="3825" spc="-262">
                <a:latin typeface="Times New Roman"/>
                <a:cs typeface="Times New Roman"/>
              </a:rPr>
              <a:t>	</a:t>
            </a:r>
            <a:r>
              <a:rPr dirty="0" sz="2450">
                <a:latin typeface="Symbol"/>
                <a:cs typeface="Symbol"/>
              </a:rPr>
              <a:t>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100">
                <a:latin typeface="Times New Roman"/>
                <a:cs typeface="Times New Roman"/>
              </a:rPr>
              <a:t>2</a:t>
            </a:r>
            <a:r>
              <a:rPr dirty="0" sz="2450" spc="-100" i="1">
                <a:latin typeface="Times New Roman"/>
                <a:cs typeface="Times New Roman"/>
              </a:rPr>
              <a:t>U </a:t>
            </a:r>
            <a:r>
              <a:rPr dirty="0" sz="2450">
                <a:latin typeface="Times New Roman"/>
                <a:cs typeface="Times New Roman"/>
              </a:rPr>
              <a:t>sin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baseline="35147" sz="3675" spc="-262">
                <a:latin typeface="Times New Roman"/>
                <a:cs typeface="Times New Roman"/>
              </a:rPr>
              <a:t>2</a:t>
            </a:r>
            <a:r>
              <a:rPr dirty="0" baseline="33769" sz="3825" spc="-262" i="1">
                <a:latin typeface="Symbol"/>
                <a:cs typeface="Symbol"/>
              </a:rPr>
              <a:t></a:t>
            </a:r>
            <a:endParaRPr baseline="33769" sz="3825">
              <a:latin typeface="Symbol"/>
              <a:cs typeface="Symbol"/>
            </a:endParaRPr>
          </a:p>
          <a:p>
            <a:pPr marL="1768475">
              <a:lnSpc>
                <a:spcPts val="950"/>
              </a:lnSpc>
              <a:tabLst>
                <a:tab pos="3686175" algn="l"/>
              </a:tabLst>
            </a:pPr>
            <a:r>
              <a:rPr dirty="0" sz="2450" i="1">
                <a:latin typeface="Times New Roman"/>
                <a:cs typeface="Times New Roman"/>
              </a:rPr>
              <a:t>t</a:t>
            </a:r>
            <a:r>
              <a:rPr dirty="0" sz="2450" i="1">
                <a:latin typeface="Times New Roman"/>
                <a:cs typeface="Times New Roman"/>
              </a:rPr>
              <a:t>	</a:t>
            </a:r>
            <a:r>
              <a:rPr dirty="0" sz="2450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  <a:p>
            <a:pPr marL="1417955">
              <a:lnSpc>
                <a:spcPts val="2430"/>
              </a:lnSpc>
              <a:tabLst>
                <a:tab pos="3336290" algn="l"/>
              </a:tabLst>
            </a:pPr>
            <a:r>
              <a:rPr dirty="0" sz="2450" i="1">
                <a:latin typeface="Times New Roman"/>
                <a:cs typeface="Times New Roman"/>
              </a:rPr>
              <a:t>T	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43271" y="3209544"/>
            <a:ext cx="2959607" cy="2383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7720" y="1338783"/>
            <a:ext cx="1168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想一想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2831592" y="1712976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29711" y="1937004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93770" y="198325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87751" y="3444240"/>
            <a:ext cx="3642360" cy="1735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41354" y="3961891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1354" y="4076191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1354" y="4190491"/>
            <a:ext cx="28575" cy="85725"/>
          </a:xfrm>
          <a:custGeom>
            <a:avLst/>
            <a:gdLst/>
            <a:ahLst/>
            <a:cxnLst/>
            <a:rect l="l" t="t" r="r" b="b"/>
            <a:pathLst>
              <a:path w="28575" h="85725">
                <a:moveTo>
                  <a:pt x="28575" y="85725"/>
                </a:moveTo>
                <a:lnTo>
                  <a:pt x="0" y="85725"/>
                </a:lnTo>
                <a:lnTo>
                  <a:pt x="0" y="0"/>
                </a:lnTo>
                <a:lnTo>
                  <a:pt x="28575" y="0"/>
                </a:lnTo>
                <a:lnTo>
                  <a:pt x="2857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41354" y="4304791"/>
            <a:ext cx="28575" cy="80645"/>
          </a:xfrm>
          <a:custGeom>
            <a:avLst/>
            <a:gdLst/>
            <a:ahLst/>
            <a:cxnLst/>
            <a:rect l="l" t="t" r="r" b="b"/>
            <a:pathLst>
              <a:path w="28575" h="80645">
                <a:moveTo>
                  <a:pt x="28575" y="80175"/>
                </a:moveTo>
                <a:lnTo>
                  <a:pt x="0" y="80175"/>
                </a:lnTo>
                <a:lnTo>
                  <a:pt x="0" y="0"/>
                </a:lnTo>
                <a:lnTo>
                  <a:pt x="28575" y="0"/>
                </a:lnTo>
                <a:lnTo>
                  <a:pt x="28575" y="80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69274" y="5026520"/>
            <a:ext cx="29845" cy="15240"/>
          </a:xfrm>
          <a:custGeom>
            <a:avLst/>
            <a:gdLst/>
            <a:ahLst/>
            <a:cxnLst/>
            <a:rect l="l" t="t" r="r" b="b"/>
            <a:pathLst>
              <a:path w="29845" h="15239">
                <a:moveTo>
                  <a:pt x="0" y="14668"/>
                </a:moveTo>
                <a:lnTo>
                  <a:pt x="29540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98815" y="5026520"/>
            <a:ext cx="67945" cy="104775"/>
          </a:xfrm>
          <a:custGeom>
            <a:avLst/>
            <a:gdLst/>
            <a:ahLst/>
            <a:cxnLst/>
            <a:rect l="l" t="t" r="r" b="b"/>
            <a:pathLst>
              <a:path w="67945" h="104775">
                <a:moveTo>
                  <a:pt x="0" y="0"/>
                </a:moveTo>
                <a:lnTo>
                  <a:pt x="67919" y="104711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66734" y="4852708"/>
            <a:ext cx="75565" cy="278765"/>
          </a:xfrm>
          <a:custGeom>
            <a:avLst/>
            <a:gdLst/>
            <a:ahLst/>
            <a:cxnLst/>
            <a:rect l="l" t="t" r="r" b="b"/>
            <a:pathLst>
              <a:path w="75565" h="278764">
                <a:moveTo>
                  <a:pt x="0" y="278523"/>
                </a:moveTo>
                <a:lnTo>
                  <a:pt x="75311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242045" y="4852708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5" h="0">
                <a:moveTo>
                  <a:pt x="0" y="0"/>
                </a:moveTo>
                <a:lnTo>
                  <a:pt x="163182" y="0"/>
                </a:lnTo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67065" y="4846434"/>
            <a:ext cx="338455" cy="285115"/>
          </a:xfrm>
          <a:custGeom>
            <a:avLst/>
            <a:gdLst/>
            <a:ahLst/>
            <a:cxnLst/>
            <a:rect l="l" t="t" r="r" b="b"/>
            <a:pathLst>
              <a:path w="338454" h="285114">
                <a:moveTo>
                  <a:pt x="114578" y="256870"/>
                </a:moveTo>
                <a:lnTo>
                  <a:pt x="100418" y="256870"/>
                </a:lnTo>
                <a:lnTo>
                  <a:pt x="169811" y="0"/>
                </a:lnTo>
                <a:lnTo>
                  <a:pt x="338162" y="0"/>
                </a:lnTo>
                <a:lnTo>
                  <a:pt x="338162" y="13258"/>
                </a:lnTo>
                <a:lnTo>
                  <a:pt x="180149" y="13258"/>
                </a:lnTo>
                <a:lnTo>
                  <a:pt x="114578" y="256870"/>
                </a:lnTo>
                <a:close/>
              </a:path>
              <a:path w="338454" h="285114">
                <a:moveTo>
                  <a:pt x="4432" y="198932"/>
                </a:moveTo>
                <a:lnTo>
                  <a:pt x="0" y="191262"/>
                </a:lnTo>
                <a:lnTo>
                  <a:pt x="39128" y="171018"/>
                </a:lnTo>
                <a:lnTo>
                  <a:pt x="52084" y="189166"/>
                </a:lnTo>
                <a:lnTo>
                  <a:pt x="24358" y="189166"/>
                </a:lnTo>
                <a:lnTo>
                  <a:pt x="4432" y="198932"/>
                </a:lnTo>
                <a:close/>
              </a:path>
              <a:path w="338454" h="285114">
                <a:moveTo>
                  <a:pt x="107060" y="284797"/>
                </a:moveTo>
                <a:lnTo>
                  <a:pt x="93027" y="284797"/>
                </a:lnTo>
                <a:lnTo>
                  <a:pt x="24358" y="189166"/>
                </a:lnTo>
                <a:lnTo>
                  <a:pt x="52084" y="189166"/>
                </a:lnTo>
                <a:lnTo>
                  <a:pt x="100418" y="256870"/>
                </a:lnTo>
                <a:lnTo>
                  <a:pt x="114578" y="256870"/>
                </a:lnTo>
                <a:lnTo>
                  <a:pt x="107060" y="28479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55354" y="2205558"/>
            <a:ext cx="6391910" cy="2927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533400">
              <a:lnSpc>
                <a:spcPct val="99300"/>
              </a:lnSpc>
              <a:spcBef>
                <a:spcPts val="120"/>
              </a:spcBef>
            </a:pPr>
            <a:r>
              <a:rPr dirty="0" sz="2400">
                <a:latin typeface="华文楷体"/>
                <a:cs typeface="华文楷体"/>
              </a:rPr>
              <a:t>下图是一个正弦式交变电流的波形图。根据 </a:t>
            </a:r>
            <a:r>
              <a:rPr dirty="0" sz="2400" spc="-5" i="1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5" i="1">
                <a:latin typeface="Times New Roman"/>
                <a:cs typeface="Times New Roman"/>
              </a:rPr>
              <a:t>t</a:t>
            </a:r>
            <a:r>
              <a:rPr dirty="0" sz="2400">
                <a:latin typeface="华文楷体"/>
                <a:cs typeface="华文楷体"/>
              </a:rPr>
              <a:t>图像求出它的周期、频率、电</a:t>
            </a:r>
            <a:r>
              <a:rPr dirty="0" sz="2400" spc="-5">
                <a:latin typeface="华文楷体"/>
                <a:cs typeface="华文楷体"/>
              </a:rPr>
              <a:t>流</a:t>
            </a:r>
            <a:r>
              <a:rPr dirty="0" sz="2400">
                <a:latin typeface="华文楷体"/>
                <a:cs typeface="华文楷体"/>
              </a:rPr>
              <a:t>的峰值、电流 的有效值。</a:t>
            </a:r>
            <a:endParaRPr sz="2400">
              <a:latin typeface="华文楷体"/>
              <a:cs typeface="华文楷体"/>
            </a:endParaRPr>
          </a:p>
          <a:p>
            <a:pPr marL="4029710">
              <a:lnSpc>
                <a:spcPct val="100000"/>
              </a:lnSpc>
              <a:spcBef>
                <a:spcPts val="590"/>
              </a:spcBef>
            </a:pP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周期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0.2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4034790">
              <a:lnSpc>
                <a:spcPct val="100000"/>
              </a:lnSpc>
              <a:spcBef>
                <a:spcPts val="1235"/>
              </a:spcBef>
            </a:pP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频率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5H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  <a:p>
            <a:pPr marL="4013835">
              <a:lnSpc>
                <a:spcPct val="100000"/>
              </a:lnSpc>
              <a:spcBef>
                <a:spcPts val="1435"/>
              </a:spcBef>
            </a:pP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电流的峰值</a:t>
            </a:r>
            <a:r>
              <a:rPr dirty="0" sz="2000" spc="-5">
                <a:solidFill>
                  <a:srgbClr val="FF0000"/>
                </a:solidFill>
                <a:latin typeface="Times New Roman"/>
                <a:cs typeface="Times New Roman"/>
              </a:rPr>
              <a:t>10A</a:t>
            </a:r>
            <a:endParaRPr sz="2000">
              <a:latin typeface="Times New Roman"/>
              <a:cs typeface="Times New Roman"/>
            </a:endParaRPr>
          </a:p>
          <a:p>
            <a:pPr marL="4017645">
              <a:lnSpc>
                <a:spcPct val="100000"/>
              </a:lnSpc>
              <a:spcBef>
                <a:spcPts val="1260"/>
              </a:spcBef>
              <a:tabLst>
                <a:tab pos="5899150" algn="l"/>
              </a:tabLst>
            </a:pPr>
            <a:r>
              <a:rPr dirty="0" sz="2000">
                <a:solidFill>
                  <a:srgbClr val="FF0000"/>
                </a:solidFill>
                <a:latin typeface="华文楷体"/>
                <a:cs typeface="华文楷体"/>
              </a:rPr>
              <a:t>电流的有效</a:t>
            </a:r>
            <a:r>
              <a:rPr dirty="0" sz="2000" spc="180">
                <a:solidFill>
                  <a:srgbClr val="FF0000"/>
                </a:solidFill>
                <a:latin typeface="华文楷体"/>
                <a:cs typeface="华文楷体"/>
              </a:rPr>
              <a:t>值</a:t>
            </a:r>
            <a:r>
              <a:rPr dirty="0" baseline="-9259" sz="3150" spc="7">
                <a:solidFill>
                  <a:srgbClr val="FF0000"/>
                </a:solidFill>
                <a:latin typeface="Times New Roman"/>
                <a:cs typeface="Times New Roman"/>
              </a:rPr>
              <a:t>5	2</a:t>
            </a:r>
            <a:r>
              <a:rPr dirty="0" baseline="-9259" sz="3150" spc="8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4247" y="3989832"/>
            <a:ext cx="3102863" cy="14798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92779" y="3799332"/>
            <a:ext cx="2159508" cy="1670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72967" y="1645920"/>
            <a:ext cx="2177796" cy="173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08320" y="1645920"/>
            <a:ext cx="3279648" cy="1528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3010" y="1589519"/>
            <a:ext cx="688403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四、</a:t>
            </a:r>
            <a:r>
              <a:rPr dirty="0">
                <a:latin typeface="微软雅黑"/>
                <a:cs typeface="微软雅黑"/>
              </a:rPr>
              <a:t>电感器和电容器对交变电流的作</a:t>
            </a:r>
            <a:r>
              <a:rPr dirty="0" spc="5">
                <a:latin typeface="微软雅黑"/>
                <a:cs typeface="微软雅黑"/>
              </a:rPr>
              <a:t>用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50107" y="2444495"/>
            <a:ext cx="4399788" cy="3227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72815" y="2972676"/>
            <a:ext cx="737387" cy="339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22313" y="4229976"/>
            <a:ext cx="737450" cy="370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27248" y="2272283"/>
            <a:ext cx="4654296" cy="34274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04388" y="2261616"/>
            <a:ext cx="4687823" cy="35006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50107" y="2136648"/>
            <a:ext cx="4719828" cy="36210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96775" y="3779443"/>
            <a:ext cx="1903095" cy="725805"/>
          </a:xfrm>
          <a:custGeom>
            <a:avLst/>
            <a:gdLst/>
            <a:ahLst/>
            <a:cxnLst/>
            <a:rect l="l" t="t" r="r" b="b"/>
            <a:pathLst>
              <a:path w="1903095" h="725804">
                <a:moveTo>
                  <a:pt x="1903094" y="725805"/>
                </a:moveTo>
                <a:lnTo>
                  <a:pt x="0" y="725805"/>
                </a:lnTo>
                <a:lnTo>
                  <a:pt x="0" y="0"/>
                </a:lnTo>
                <a:lnTo>
                  <a:pt x="1903094" y="0"/>
                </a:lnTo>
                <a:lnTo>
                  <a:pt x="1903094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97230"/>
                </a:lnTo>
                <a:lnTo>
                  <a:pt x="14287" y="697230"/>
                </a:lnTo>
                <a:lnTo>
                  <a:pt x="28575" y="711517"/>
                </a:lnTo>
                <a:lnTo>
                  <a:pt x="1903094" y="711517"/>
                </a:lnTo>
                <a:lnTo>
                  <a:pt x="1903094" y="725805"/>
                </a:lnTo>
                <a:close/>
              </a:path>
              <a:path w="1903095" h="7258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903095" h="725804">
                <a:moveTo>
                  <a:pt x="1874519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74519" y="14287"/>
                </a:lnTo>
                <a:lnTo>
                  <a:pt x="1874519" y="28575"/>
                </a:lnTo>
                <a:close/>
              </a:path>
              <a:path w="1903095" h="725804">
                <a:moveTo>
                  <a:pt x="1874519" y="711517"/>
                </a:moveTo>
                <a:lnTo>
                  <a:pt x="1874519" y="14287"/>
                </a:lnTo>
                <a:lnTo>
                  <a:pt x="1888807" y="28575"/>
                </a:lnTo>
                <a:lnTo>
                  <a:pt x="1903094" y="28575"/>
                </a:lnTo>
                <a:lnTo>
                  <a:pt x="1903094" y="697230"/>
                </a:lnTo>
                <a:lnTo>
                  <a:pt x="1888807" y="697230"/>
                </a:lnTo>
                <a:lnTo>
                  <a:pt x="1874519" y="711517"/>
                </a:lnTo>
                <a:close/>
              </a:path>
              <a:path w="1903095" h="725804">
                <a:moveTo>
                  <a:pt x="1903094" y="28575"/>
                </a:moveTo>
                <a:lnTo>
                  <a:pt x="1888807" y="28575"/>
                </a:lnTo>
                <a:lnTo>
                  <a:pt x="1874519" y="14287"/>
                </a:lnTo>
                <a:lnTo>
                  <a:pt x="1903094" y="14287"/>
                </a:lnTo>
                <a:lnTo>
                  <a:pt x="1903094" y="28575"/>
                </a:lnTo>
                <a:close/>
              </a:path>
              <a:path w="1903095" h="725804">
                <a:moveTo>
                  <a:pt x="28575" y="711517"/>
                </a:moveTo>
                <a:lnTo>
                  <a:pt x="14287" y="697230"/>
                </a:lnTo>
                <a:lnTo>
                  <a:pt x="28575" y="697230"/>
                </a:lnTo>
                <a:lnTo>
                  <a:pt x="28575" y="711517"/>
                </a:lnTo>
                <a:close/>
              </a:path>
              <a:path w="1903095" h="725804">
                <a:moveTo>
                  <a:pt x="1874519" y="711517"/>
                </a:moveTo>
                <a:lnTo>
                  <a:pt x="28575" y="711517"/>
                </a:lnTo>
                <a:lnTo>
                  <a:pt x="28575" y="697230"/>
                </a:lnTo>
                <a:lnTo>
                  <a:pt x="1874519" y="697230"/>
                </a:lnTo>
                <a:lnTo>
                  <a:pt x="1874519" y="711517"/>
                </a:lnTo>
                <a:close/>
              </a:path>
              <a:path w="1903095" h="725804">
                <a:moveTo>
                  <a:pt x="1903094" y="711517"/>
                </a:moveTo>
                <a:lnTo>
                  <a:pt x="1874519" y="711517"/>
                </a:lnTo>
                <a:lnTo>
                  <a:pt x="1888807" y="697230"/>
                </a:lnTo>
                <a:lnTo>
                  <a:pt x="1903094" y="697230"/>
                </a:lnTo>
                <a:lnTo>
                  <a:pt x="1903094" y="711517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48300" y="3307079"/>
            <a:ext cx="3881628" cy="20116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9725" y="3278504"/>
            <a:ext cx="3938904" cy="2068830"/>
          </a:xfrm>
          <a:custGeom>
            <a:avLst/>
            <a:gdLst/>
            <a:ahLst/>
            <a:cxnLst/>
            <a:rect l="l" t="t" r="r" b="b"/>
            <a:pathLst>
              <a:path w="3938904" h="2068829">
                <a:moveTo>
                  <a:pt x="3938778" y="2068830"/>
                </a:moveTo>
                <a:lnTo>
                  <a:pt x="0" y="2068830"/>
                </a:lnTo>
                <a:lnTo>
                  <a:pt x="0" y="0"/>
                </a:lnTo>
                <a:lnTo>
                  <a:pt x="3938778" y="0"/>
                </a:lnTo>
                <a:lnTo>
                  <a:pt x="3938778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040255"/>
                </a:lnTo>
                <a:lnTo>
                  <a:pt x="14287" y="2040255"/>
                </a:lnTo>
                <a:lnTo>
                  <a:pt x="28575" y="2054542"/>
                </a:lnTo>
                <a:lnTo>
                  <a:pt x="3938778" y="2054542"/>
                </a:lnTo>
                <a:lnTo>
                  <a:pt x="3938778" y="2068830"/>
                </a:lnTo>
                <a:close/>
              </a:path>
              <a:path w="3938904" h="20688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938904" h="2068829">
                <a:moveTo>
                  <a:pt x="3910203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910203" y="14287"/>
                </a:lnTo>
                <a:lnTo>
                  <a:pt x="3910203" y="28575"/>
                </a:lnTo>
                <a:close/>
              </a:path>
              <a:path w="3938904" h="2068829">
                <a:moveTo>
                  <a:pt x="3910203" y="2054542"/>
                </a:moveTo>
                <a:lnTo>
                  <a:pt x="3910203" y="14287"/>
                </a:lnTo>
                <a:lnTo>
                  <a:pt x="3924490" y="28575"/>
                </a:lnTo>
                <a:lnTo>
                  <a:pt x="3938778" y="28575"/>
                </a:lnTo>
                <a:lnTo>
                  <a:pt x="3938778" y="2040255"/>
                </a:lnTo>
                <a:lnTo>
                  <a:pt x="3924490" y="2040255"/>
                </a:lnTo>
                <a:lnTo>
                  <a:pt x="3910203" y="2054542"/>
                </a:lnTo>
                <a:close/>
              </a:path>
              <a:path w="3938904" h="2068829">
                <a:moveTo>
                  <a:pt x="3938778" y="28575"/>
                </a:moveTo>
                <a:lnTo>
                  <a:pt x="3924490" y="28575"/>
                </a:lnTo>
                <a:lnTo>
                  <a:pt x="3910203" y="14287"/>
                </a:lnTo>
                <a:lnTo>
                  <a:pt x="3938778" y="14287"/>
                </a:lnTo>
                <a:lnTo>
                  <a:pt x="3938778" y="28575"/>
                </a:lnTo>
                <a:close/>
              </a:path>
              <a:path w="3938904" h="2068829">
                <a:moveTo>
                  <a:pt x="28575" y="2054542"/>
                </a:moveTo>
                <a:lnTo>
                  <a:pt x="14287" y="2040255"/>
                </a:lnTo>
                <a:lnTo>
                  <a:pt x="28575" y="2040255"/>
                </a:lnTo>
                <a:lnTo>
                  <a:pt x="28575" y="2054542"/>
                </a:lnTo>
                <a:close/>
              </a:path>
              <a:path w="3938904" h="2068829">
                <a:moveTo>
                  <a:pt x="3910203" y="2054542"/>
                </a:moveTo>
                <a:lnTo>
                  <a:pt x="28575" y="2054542"/>
                </a:lnTo>
                <a:lnTo>
                  <a:pt x="28575" y="2040255"/>
                </a:lnTo>
                <a:lnTo>
                  <a:pt x="3910203" y="2040255"/>
                </a:lnTo>
                <a:lnTo>
                  <a:pt x="3910203" y="2054542"/>
                </a:lnTo>
                <a:close/>
              </a:path>
              <a:path w="3938904" h="2068829">
                <a:moveTo>
                  <a:pt x="3938778" y="2054542"/>
                </a:moveTo>
                <a:lnTo>
                  <a:pt x="3910203" y="2054542"/>
                </a:lnTo>
                <a:lnTo>
                  <a:pt x="3924490" y="2040255"/>
                </a:lnTo>
                <a:lnTo>
                  <a:pt x="3938778" y="2040255"/>
                </a:lnTo>
                <a:lnTo>
                  <a:pt x="3938778" y="205454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9795" y="1627632"/>
            <a:ext cx="7028688" cy="3953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3679" y="1844039"/>
            <a:ext cx="6428232" cy="3595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4366" y="1611921"/>
            <a:ext cx="688403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四</a:t>
            </a:r>
            <a:r>
              <a:rPr dirty="0" sz="3000" spc="-5"/>
              <a:t>、</a:t>
            </a:r>
            <a:r>
              <a:rPr dirty="0">
                <a:latin typeface="微软雅黑"/>
                <a:cs typeface="微软雅黑"/>
              </a:rPr>
              <a:t>电感器和电容器对交变电流的作</a:t>
            </a:r>
            <a:r>
              <a:rPr dirty="0" spc="5">
                <a:latin typeface="微软雅黑"/>
                <a:cs typeface="微软雅黑"/>
              </a:rPr>
              <a:t>用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1464" y="2467355"/>
            <a:ext cx="4399788" cy="3227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54136" y="2995079"/>
            <a:ext cx="737444" cy="339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03666" y="4252379"/>
            <a:ext cx="737422" cy="370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08603" y="2295144"/>
            <a:ext cx="4654296" cy="34274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85744" y="2284476"/>
            <a:ext cx="4687824" cy="35006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31464" y="2159507"/>
            <a:ext cx="4719828" cy="36210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78131" y="3801846"/>
            <a:ext cx="1903095" cy="725805"/>
          </a:xfrm>
          <a:custGeom>
            <a:avLst/>
            <a:gdLst/>
            <a:ahLst/>
            <a:cxnLst/>
            <a:rect l="l" t="t" r="r" b="b"/>
            <a:pathLst>
              <a:path w="1903095" h="725804">
                <a:moveTo>
                  <a:pt x="1903095" y="725804"/>
                </a:moveTo>
                <a:lnTo>
                  <a:pt x="0" y="725804"/>
                </a:lnTo>
                <a:lnTo>
                  <a:pt x="0" y="0"/>
                </a:lnTo>
                <a:lnTo>
                  <a:pt x="1903095" y="0"/>
                </a:lnTo>
                <a:lnTo>
                  <a:pt x="190309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97229"/>
                </a:lnTo>
                <a:lnTo>
                  <a:pt x="14287" y="697229"/>
                </a:lnTo>
                <a:lnTo>
                  <a:pt x="28575" y="711517"/>
                </a:lnTo>
                <a:lnTo>
                  <a:pt x="1903095" y="711517"/>
                </a:lnTo>
                <a:lnTo>
                  <a:pt x="1903095" y="725804"/>
                </a:lnTo>
                <a:close/>
              </a:path>
              <a:path w="1903095" h="7258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903095" h="725804">
                <a:moveTo>
                  <a:pt x="187452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874520" y="14287"/>
                </a:lnTo>
                <a:lnTo>
                  <a:pt x="1874520" y="28575"/>
                </a:lnTo>
                <a:close/>
              </a:path>
              <a:path w="1903095" h="725804">
                <a:moveTo>
                  <a:pt x="1874520" y="711517"/>
                </a:moveTo>
                <a:lnTo>
                  <a:pt x="1874520" y="14287"/>
                </a:lnTo>
                <a:lnTo>
                  <a:pt x="1888807" y="28575"/>
                </a:lnTo>
                <a:lnTo>
                  <a:pt x="1903095" y="28575"/>
                </a:lnTo>
                <a:lnTo>
                  <a:pt x="1903095" y="697229"/>
                </a:lnTo>
                <a:lnTo>
                  <a:pt x="1888807" y="697229"/>
                </a:lnTo>
                <a:lnTo>
                  <a:pt x="1874520" y="711517"/>
                </a:lnTo>
                <a:close/>
              </a:path>
              <a:path w="1903095" h="725804">
                <a:moveTo>
                  <a:pt x="1903095" y="28575"/>
                </a:moveTo>
                <a:lnTo>
                  <a:pt x="1888807" y="28575"/>
                </a:lnTo>
                <a:lnTo>
                  <a:pt x="1874520" y="14287"/>
                </a:lnTo>
                <a:lnTo>
                  <a:pt x="1903095" y="14287"/>
                </a:lnTo>
                <a:lnTo>
                  <a:pt x="1903095" y="28575"/>
                </a:lnTo>
                <a:close/>
              </a:path>
              <a:path w="1903095" h="725804">
                <a:moveTo>
                  <a:pt x="28575" y="711517"/>
                </a:moveTo>
                <a:lnTo>
                  <a:pt x="14287" y="697229"/>
                </a:lnTo>
                <a:lnTo>
                  <a:pt x="28575" y="697229"/>
                </a:lnTo>
                <a:lnTo>
                  <a:pt x="28575" y="711517"/>
                </a:lnTo>
                <a:close/>
              </a:path>
              <a:path w="1903095" h="725804">
                <a:moveTo>
                  <a:pt x="1874520" y="711517"/>
                </a:moveTo>
                <a:lnTo>
                  <a:pt x="28575" y="711517"/>
                </a:lnTo>
                <a:lnTo>
                  <a:pt x="28575" y="697229"/>
                </a:lnTo>
                <a:lnTo>
                  <a:pt x="1874520" y="697229"/>
                </a:lnTo>
                <a:lnTo>
                  <a:pt x="1874520" y="711517"/>
                </a:lnTo>
                <a:close/>
              </a:path>
              <a:path w="1903095" h="725804">
                <a:moveTo>
                  <a:pt x="1903095" y="711517"/>
                </a:moveTo>
                <a:lnTo>
                  <a:pt x="1874520" y="711517"/>
                </a:lnTo>
                <a:lnTo>
                  <a:pt x="1888807" y="697229"/>
                </a:lnTo>
                <a:lnTo>
                  <a:pt x="1903095" y="697229"/>
                </a:lnTo>
                <a:lnTo>
                  <a:pt x="1903095" y="711517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29655" y="3329940"/>
            <a:ext cx="3881628" cy="20116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54979" y="3255264"/>
            <a:ext cx="3994645" cy="24490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26404" y="3226689"/>
            <a:ext cx="4064000" cy="2506345"/>
          </a:xfrm>
          <a:custGeom>
            <a:avLst/>
            <a:gdLst/>
            <a:ahLst/>
            <a:cxnLst/>
            <a:rect l="l" t="t" r="r" b="b"/>
            <a:pathLst>
              <a:path w="4064000" h="2506345">
                <a:moveTo>
                  <a:pt x="4063746" y="2506218"/>
                </a:moveTo>
                <a:lnTo>
                  <a:pt x="0" y="2506218"/>
                </a:lnTo>
                <a:lnTo>
                  <a:pt x="0" y="0"/>
                </a:lnTo>
                <a:lnTo>
                  <a:pt x="4063746" y="0"/>
                </a:lnTo>
                <a:lnTo>
                  <a:pt x="4063746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477643"/>
                </a:lnTo>
                <a:lnTo>
                  <a:pt x="14287" y="2477643"/>
                </a:lnTo>
                <a:lnTo>
                  <a:pt x="28575" y="2491930"/>
                </a:lnTo>
                <a:lnTo>
                  <a:pt x="4063746" y="2491930"/>
                </a:lnTo>
                <a:lnTo>
                  <a:pt x="4063746" y="2506218"/>
                </a:lnTo>
                <a:close/>
              </a:path>
              <a:path w="4064000" h="250634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064000" h="2506345">
                <a:moveTo>
                  <a:pt x="4035171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035171" y="14287"/>
                </a:lnTo>
                <a:lnTo>
                  <a:pt x="4035171" y="28575"/>
                </a:lnTo>
                <a:close/>
              </a:path>
              <a:path w="4064000" h="2506345">
                <a:moveTo>
                  <a:pt x="4035171" y="2491930"/>
                </a:moveTo>
                <a:lnTo>
                  <a:pt x="4035171" y="14287"/>
                </a:lnTo>
                <a:lnTo>
                  <a:pt x="4049458" y="28575"/>
                </a:lnTo>
                <a:lnTo>
                  <a:pt x="4063746" y="28575"/>
                </a:lnTo>
                <a:lnTo>
                  <a:pt x="4063746" y="2477643"/>
                </a:lnTo>
                <a:lnTo>
                  <a:pt x="4049458" y="2477643"/>
                </a:lnTo>
                <a:lnTo>
                  <a:pt x="4035171" y="2491930"/>
                </a:lnTo>
                <a:close/>
              </a:path>
              <a:path w="4064000" h="2506345">
                <a:moveTo>
                  <a:pt x="4063746" y="28575"/>
                </a:moveTo>
                <a:lnTo>
                  <a:pt x="4049458" y="28575"/>
                </a:lnTo>
                <a:lnTo>
                  <a:pt x="4035171" y="14287"/>
                </a:lnTo>
                <a:lnTo>
                  <a:pt x="4063746" y="14287"/>
                </a:lnTo>
                <a:lnTo>
                  <a:pt x="4063746" y="28575"/>
                </a:lnTo>
                <a:close/>
              </a:path>
              <a:path w="4064000" h="2506345">
                <a:moveTo>
                  <a:pt x="28575" y="2491930"/>
                </a:moveTo>
                <a:lnTo>
                  <a:pt x="14287" y="2477643"/>
                </a:lnTo>
                <a:lnTo>
                  <a:pt x="28575" y="2477643"/>
                </a:lnTo>
                <a:lnTo>
                  <a:pt x="28575" y="2491930"/>
                </a:lnTo>
                <a:close/>
              </a:path>
              <a:path w="4064000" h="2506345">
                <a:moveTo>
                  <a:pt x="4035171" y="2491930"/>
                </a:moveTo>
                <a:lnTo>
                  <a:pt x="28575" y="2491930"/>
                </a:lnTo>
                <a:lnTo>
                  <a:pt x="28575" y="2477643"/>
                </a:lnTo>
                <a:lnTo>
                  <a:pt x="4035171" y="2477643"/>
                </a:lnTo>
                <a:lnTo>
                  <a:pt x="4035171" y="2491930"/>
                </a:lnTo>
                <a:close/>
              </a:path>
              <a:path w="4064000" h="2506345">
                <a:moveTo>
                  <a:pt x="4063746" y="2491930"/>
                </a:moveTo>
                <a:lnTo>
                  <a:pt x="4035171" y="2491930"/>
                </a:lnTo>
                <a:lnTo>
                  <a:pt x="4049458" y="2477643"/>
                </a:lnTo>
                <a:lnTo>
                  <a:pt x="4063746" y="2477643"/>
                </a:lnTo>
                <a:lnTo>
                  <a:pt x="4063746" y="249193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08903" y="4803647"/>
            <a:ext cx="425450" cy="2794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000" spc="-5" b="1">
                <a:latin typeface="Times New Roman"/>
                <a:cs typeface="Times New Roman"/>
              </a:rPr>
              <a:t>5μF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48143" y="4803647"/>
            <a:ext cx="492759" cy="2717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000" spc="-5" b="1">
                <a:latin typeface="Times New Roman"/>
                <a:cs typeface="Times New Roman"/>
              </a:rPr>
              <a:t>20μF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26068" y="4837176"/>
            <a:ext cx="471170" cy="2698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1000" spc="-5" b="1">
                <a:latin typeface="Times New Roman"/>
                <a:cs typeface="Times New Roman"/>
              </a:rPr>
              <a:t>23μF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1627632"/>
            <a:ext cx="7050024" cy="3965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23972" y="1656588"/>
            <a:ext cx="6803135" cy="3825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58439" y="1682495"/>
            <a:ext cx="6870192" cy="3861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44139" y="1656588"/>
            <a:ext cx="6982967" cy="39151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422" y="1601977"/>
            <a:ext cx="6884034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四、</a:t>
            </a:r>
            <a:r>
              <a:rPr dirty="0">
                <a:latin typeface="微软雅黑"/>
                <a:cs typeface="微软雅黑"/>
              </a:rPr>
              <a:t>电感器和电容器对交变电流的作</a:t>
            </a:r>
            <a:r>
              <a:rPr dirty="0" spc="5">
                <a:latin typeface="微软雅黑"/>
                <a:cs typeface="微软雅黑"/>
              </a:rPr>
              <a:t>用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78268" y="3954779"/>
            <a:ext cx="1385316" cy="1385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01719" y="2469565"/>
            <a:ext cx="316547" cy="9808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07957" y="2360485"/>
            <a:ext cx="4344035" cy="2559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45920">
              <a:lnSpc>
                <a:spcPct val="100000"/>
              </a:lnSpc>
              <a:spcBef>
                <a:spcPts val="100"/>
              </a:spcBef>
            </a:pPr>
            <a:r>
              <a:rPr dirty="0" baseline="1157" sz="3600">
                <a:latin typeface="华文楷体"/>
                <a:cs typeface="华文楷体"/>
              </a:rPr>
              <a:t>电感器</a:t>
            </a:r>
            <a:r>
              <a:rPr dirty="0" baseline="1157" sz="3600" spc="240">
                <a:latin typeface="华文楷体"/>
                <a:cs typeface="华文楷体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——</a:t>
            </a:r>
            <a:r>
              <a:rPr dirty="0" sz="2400">
                <a:latin typeface="华文楷体"/>
                <a:cs typeface="华文楷体"/>
              </a:rPr>
              <a:t>感抗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167132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华文楷体"/>
                <a:cs typeface="华文楷体"/>
              </a:rPr>
              <a:t>电容</a:t>
            </a:r>
            <a:r>
              <a:rPr dirty="0" sz="2400" spc="550">
                <a:latin typeface="华文楷体"/>
                <a:cs typeface="华文楷体"/>
              </a:rPr>
              <a:t>器</a:t>
            </a:r>
            <a:r>
              <a:rPr dirty="0" baseline="1157" sz="3600">
                <a:latin typeface="Times New Roman"/>
                <a:cs typeface="Times New Roman"/>
              </a:rPr>
              <a:t>——</a:t>
            </a:r>
            <a:r>
              <a:rPr dirty="0" baseline="1157" sz="3600">
                <a:latin typeface="华文楷体"/>
                <a:cs typeface="华文楷体"/>
              </a:rPr>
              <a:t>容抗</a:t>
            </a:r>
            <a:endParaRPr baseline="1157" sz="36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Times New Roman"/>
              <a:cs typeface="Times New Roman"/>
            </a:endParaRPr>
          </a:p>
          <a:p>
            <a:pPr algn="just" marL="12700" marR="5080" indent="508000">
              <a:lnSpc>
                <a:spcPct val="99400"/>
              </a:lnSpc>
            </a:pPr>
            <a:r>
              <a:rPr dirty="0" sz="2000">
                <a:latin typeface="华文楷体"/>
                <a:cs typeface="华文楷体"/>
              </a:rPr>
              <a:t>扼流圈是电工技术和电子技术常</a:t>
            </a:r>
            <a:r>
              <a:rPr dirty="0" sz="2000">
                <a:latin typeface="华文楷体"/>
                <a:cs typeface="华文楷体"/>
              </a:rPr>
              <a:t>用 </a:t>
            </a:r>
            <a:r>
              <a:rPr dirty="0" sz="2000">
                <a:latin typeface="华文楷体"/>
                <a:cs typeface="华文楷体"/>
              </a:rPr>
              <a:t>的元件，它利用了电感器对交流的阻</a:t>
            </a:r>
            <a:r>
              <a:rPr dirty="0" sz="2000">
                <a:latin typeface="华文楷体"/>
                <a:cs typeface="华文楷体"/>
              </a:rPr>
              <a:t>碍 </a:t>
            </a:r>
            <a:r>
              <a:rPr dirty="0" sz="2000">
                <a:latin typeface="华文楷体"/>
                <a:cs typeface="华文楷体"/>
              </a:rPr>
              <a:t>作用，分为</a:t>
            </a:r>
            <a:r>
              <a:rPr dirty="0" sz="2000">
                <a:solidFill>
                  <a:srgbClr val="00AFEF"/>
                </a:solidFill>
                <a:latin typeface="华文楷体"/>
                <a:cs typeface="华文楷体"/>
              </a:rPr>
              <a:t>高频扼流圈</a:t>
            </a:r>
            <a:r>
              <a:rPr dirty="0" sz="2000">
                <a:latin typeface="华文楷体"/>
                <a:cs typeface="华文楷体"/>
              </a:rPr>
              <a:t>和</a:t>
            </a:r>
            <a:r>
              <a:rPr dirty="0" sz="2000">
                <a:solidFill>
                  <a:srgbClr val="00AFEF"/>
                </a:solidFill>
                <a:latin typeface="华文楷体"/>
                <a:cs typeface="华文楷体"/>
              </a:rPr>
              <a:t>低频扼流圈</a:t>
            </a:r>
            <a:r>
              <a:rPr dirty="0" sz="2000" spc="5">
                <a:latin typeface="华文楷体"/>
                <a:cs typeface="华文楷体"/>
              </a:rPr>
              <a:t>。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3941" y="1535404"/>
            <a:ext cx="1651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课堂小</a:t>
            </a:r>
            <a:r>
              <a:rPr dirty="0" spc="5"/>
              <a:t>结</a:t>
            </a:r>
          </a:p>
        </p:txBody>
      </p:sp>
      <p:sp>
        <p:nvSpPr>
          <p:cNvPr id="3" name="object 3"/>
          <p:cNvSpPr/>
          <p:nvPr/>
        </p:nvSpPr>
        <p:spPr>
          <a:xfrm>
            <a:off x="2909316" y="1911095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1" y="0"/>
                </a:lnTo>
                <a:lnTo>
                  <a:pt x="362711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07435" y="213512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71290" y="21817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98139" y="2442336"/>
            <a:ext cx="5234305" cy="2371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2773045" indent="-1905">
              <a:lnSpc>
                <a:spcPct val="1536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一、周期和频率 二、峰值和有效值</a:t>
            </a:r>
            <a:endParaRPr sz="2400">
              <a:latin typeface="华文楷体"/>
              <a:cs typeface="华文楷体"/>
            </a:endParaRPr>
          </a:p>
          <a:p>
            <a:pPr marL="28575">
              <a:lnSpc>
                <a:spcPct val="100000"/>
              </a:lnSpc>
              <a:spcBef>
                <a:spcPts val="2055"/>
              </a:spcBef>
            </a:pPr>
            <a:r>
              <a:rPr dirty="0" sz="2400">
                <a:latin typeface="华文楷体"/>
                <a:cs typeface="华文楷体"/>
              </a:rPr>
              <a:t>三、正弦式交变电流的公式和图像</a:t>
            </a:r>
            <a:endParaRPr sz="2400">
              <a:latin typeface="华文楷体"/>
              <a:cs typeface="华文楷体"/>
            </a:endParaRPr>
          </a:p>
          <a:p>
            <a:pPr marL="39370">
              <a:lnSpc>
                <a:spcPct val="100000"/>
              </a:lnSpc>
              <a:spcBef>
                <a:spcPts val="1800"/>
              </a:spcBef>
            </a:pPr>
            <a:r>
              <a:rPr dirty="0" sz="2400">
                <a:latin typeface="华文楷体"/>
                <a:cs typeface="华文楷体"/>
              </a:rPr>
              <a:t>四、电感器和电容器对交变电流的作用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52394" y="2868764"/>
            <a:ext cx="194310" cy="1791335"/>
          </a:xfrm>
          <a:custGeom>
            <a:avLst/>
            <a:gdLst/>
            <a:ahLst/>
            <a:cxnLst/>
            <a:rect l="l" t="t" r="r" b="b"/>
            <a:pathLst>
              <a:path w="194310" h="1791335">
                <a:moveTo>
                  <a:pt x="108534" y="881243"/>
                </a:moveTo>
                <a:lnTo>
                  <a:pt x="108620" y="16586"/>
                </a:lnTo>
                <a:lnTo>
                  <a:pt x="148005" y="2349"/>
                </a:lnTo>
                <a:lnTo>
                  <a:pt x="194183" y="0"/>
                </a:lnTo>
                <a:lnTo>
                  <a:pt x="194246" y="7619"/>
                </a:lnTo>
                <a:lnTo>
                  <a:pt x="185877" y="7683"/>
                </a:lnTo>
                <a:lnTo>
                  <a:pt x="177812" y="7886"/>
                </a:lnTo>
                <a:lnTo>
                  <a:pt x="170318" y="8216"/>
                </a:lnTo>
                <a:lnTo>
                  <a:pt x="162572" y="8674"/>
                </a:lnTo>
                <a:lnTo>
                  <a:pt x="155498" y="9245"/>
                </a:lnTo>
                <a:lnTo>
                  <a:pt x="148805" y="9931"/>
                </a:lnTo>
                <a:lnTo>
                  <a:pt x="142625" y="10706"/>
                </a:lnTo>
                <a:lnTo>
                  <a:pt x="137061" y="11544"/>
                </a:lnTo>
                <a:lnTo>
                  <a:pt x="131930" y="12484"/>
                </a:lnTo>
                <a:lnTo>
                  <a:pt x="127152" y="13538"/>
                </a:lnTo>
                <a:lnTo>
                  <a:pt x="123249" y="14617"/>
                </a:lnTo>
                <a:lnTo>
                  <a:pt x="120027" y="15735"/>
                </a:lnTo>
                <a:lnTo>
                  <a:pt x="118192" y="16586"/>
                </a:lnTo>
                <a:lnTo>
                  <a:pt x="117602" y="16852"/>
                </a:lnTo>
                <a:lnTo>
                  <a:pt x="117038" y="17272"/>
                </a:lnTo>
                <a:lnTo>
                  <a:pt x="116814" y="17272"/>
                </a:lnTo>
                <a:lnTo>
                  <a:pt x="116217" y="17322"/>
                </a:lnTo>
                <a:lnTo>
                  <a:pt x="116044" y="17894"/>
                </a:lnTo>
                <a:lnTo>
                  <a:pt x="115582" y="18630"/>
                </a:lnTo>
                <a:lnTo>
                  <a:pt x="116154" y="18630"/>
                </a:lnTo>
                <a:lnTo>
                  <a:pt x="116154" y="880605"/>
                </a:lnTo>
                <a:lnTo>
                  <a:pt x="109118" y="880605"/>
                </a:lnTo>
                <a:lnTo>
                  <a:pt x="108839" y="880910"/>
                </a:lnTo>
                <a:lnTo>
                  <a:pt x="108712" y="881048"/>
                </a:lnTo>
                <a:lnTo>
                  <a:pt x="108534" y="881243"/>
                </a:lnTo>
                <a:close/>
              </a:path>
              <a:path w="194310" h="1791335">
                <a:moveTo>
                  <a:pt x="170027" y="8229"/>
                </a:moveTo>
                <a:lnTo>
                  <a:pt x="170318" y="8216"/>
                </a:lnTo>
                <a:lnTo>
                  <a:pt x="170027" y="8229"/>
                </a:lnTo>
                <a:close/>
              </a:path>
              <a:path w="194310" h="1791335">
                <a:moveTo>
                  <a:pt x="148818" y="9931"/>
                </a:moveTo>
                <a:close/>
              </a:path>
              <a:path w="194310" h="1791335">
                <a:moveTo>
                  <a:pt x="142625" y="10706"/>
                </a:moveTo>
                <a:close/>
              </a:path>
              <a:path w="194310" h="1791335">
                <a:moveTo>
                  <a:pt x="136893" y="11569"/>
                </a:moveTo>
                <a:lnTo>
                  <a:pt x="137061" y="11544"/>
                </a:lnTo>
                <a:lnTo>
                  <a:pt x="136893" y="11569"/>
                </a:lnTo>
                <a:close/>
              </a:path>
              <a:path w="194310" h="1791335">
                <a:moveTo>
                  <a:pt x="131724" y="12522"/>
                </a:moveTo>
                <a:lnTo>
                  <a:pt x="131864" y="12484"/>
                </a:lnTo>
                <a:lnTo>
                  <a:pt x="131724" y="12522"/>
                </a:lnTo>
                <a:close/>
              </a:path>
              <a:path w="194310" h="1791335">
                <a:moveTo>
                  <a:pt x="127190" y="13538"/>
                </a:moveTo>
                <a:lnTo>
                  <a:pt x="127330" y="13500"/>
                </a:lnTo>
                <a:lnTo>
                  <a:pt x="127190" y="13538"/>
                </a:lnTo>
                <a:close/>
              </a:path>
              <a:path w="194310" h="1791335">
                <a:moveTo>
                  <a:pt x="123328" y="14590"/>
                </a:moveTo>
                <a:lnTo>
                  <a:pt x="123469" y="14541"/>
                </a:lnTo>
                <a:lnTo>
                  <a:pt x="123328" y="14590"/>
                </a:lnTo>
                <a:close/>
              </a:path>
              <a:path w="194310" h="1791335">
                <a:moveTo>
                  <a:pt x="123249" y="14617"/>
                </a:moveTo>
                <a:close/>
              </a:path>
              <a:path w="194310" h="1791335">
                <a:moveTo>
                  <a:pt x="120238" y="15662"/>
                </a:moveTo>
                <a:lnTo>
                  <a:pt x="120393" y="15608"/>
                </a:lnTo>
                <a:lnTo>
                  <a:pt x="120238" y="15662"/>
                </a:lnTo>
                <a:close/>
              </a:path>
              <a:path w="194310" h="1791335">
                <a:moveTo>
                  <a:pt x="120076" y="15735"/>
                </a:moveTo>
                <a:lnTo>
                  <a:pt x="120238" y="15662"/>
                </a:lnTo>
                <a:lnTo>
                  <a:pt x="120076" y="15735"/>
                </a:lnTo>
                <a:close/>
              </a:path>
              <a:path w="194310" h="1791335">
                <a:moveTo>
                  <a:pt x="117602" y="16852"/>
                </a:moveTo>
                <a:lnTo>
                  <a:pt x="118097" y="16586"/>
                </a:lnTo>
                <a:lnTo>
                  <a:pt x="117878" y="16728"/>
                </a:lnTo>
                <a:lnTo>
                  <a:pt x="117602" y="16852"/>
                </a:lnTo>
                <a:close/>
              </a:path>
              <a:path w="194310" h="1791335">
                <a:moveTo>
                  <a:pt x="117878" y="16728"/>
                </a:moveTo>
                <a:lnTo>
                  <a:pt x="118097" y="16586"/>
                </a:lnTo>
                <a:lnTo>
                  <a:pt x="117878" y="16728"/>
                </a:lnTo>
                <a:close/>
              </a:path>
              <a:path w="194310" h="1791335">
                <a:moveTo>
                  <a:pt x="117685" y="16852"/>
                </a:moveTo>
                <a:lnTo>
                  <a:pt x="117878" y="16728"/>
                </a:lnTo>
                <a:lnTo>
                  <a:pt x="117685" y="16852"/>
                </a:lnTo>
                <a:close/>
              </a:path>
              <a:path w="194310" h="1791335">
                <a:moveTo>
                  <a:pt x="116154" y="17844"/>
                </a:moveTo>
                <a:lnTo>
                  <a:pt x="116814" y="17272"/>
                </a:lnTo>
                <a:lnTo>
                  <a:pt x="116470" y="17640"/>
                </a:lnTo>
                <a:lnTo>
                  <a:pt x="116154" y="17844"/>
                </a:lnTo>
                <a:close/>
              </a:path>
              <a:path w="194310" h="1791335">
                <a:moveTo>
                  <a:pt x="116495" y="17623"/>
                </a:moveTo>
                <a:lnTo>
                  <a:pt x="116814" y="17272"/>
                </a:lnTo>
                <a:lnTo>
                  <a:pt x="117038" y="17272"/>
                </a:lnTo>
                <a:lnTo>
                  <a:pt x="116495" y="17623"/>
                </a:lnTo>
                <a:close/>
              </a:path>
              <a:path w="194310" h="1791335">
                <a:moveTo>
                  <a:pt x="116154" y="17829"/>
                </a:moveTo>
                <a:lnTo>
                  <a:pt x="116230" y="17640"/>
                </a:lnTo>
                <a:lnTo>
                  <a:pt x="116217" y="17322"/>
                </a:lnTo>
                <a:lnTo>
                  <a:pt x="116754" y="17322"/>
                </a:lnTo>
                <a:lnTo>
                  <a:pt x="116154" y="17829"/>
                </a:lnTo>
                <a:close/>
              </a:path>
              <a:path w="194310" h="1791335">
                <a:moveTo>
                  <a:pt x="116154" y="17531"/>
                </a:moveTo>
                <a:close/>
              </a:path>
              <a:path w="194310" h="1791335">
                <a:moveTo>
                  <a:pt x="116154" y="18000"/>
                </a:moveTo>
                <a:lnTo>
                  <a:pt x="116177" y="17829"/>
                </a:lnTo>
                <a:lnTo>
                  <a:pt x="116495" y="17623"/>
                </a:lnTo>
                <a:lnTo>
                  <a:pt x="116154" y="18000"/>
                </a:lnTo>
                <a:close/>
              </a:path>
              <a:path w="194310" h="1791335">
                <a:moveTo>
                  <a:pt x="116154" y="17756"/>
                </a:moveTo>
                <a:close/>
              </a:path>
              <a:path w="194310" h="1791335">
                <a:moveTo>
                  <a:pt x="116078" y="17894"/>
                </a:moveTo>
                <a:close/>
              </a:path>
              <a:path w="194310" h="1791335">
                <a:moveTo>
                  <a:pt x="116135" y="18021"/>
                </a:moveTo>
                <a:lnTo>
                  <a:pt x="116154" y="17844"/>
                </a:lnTo>
                <a:lnTo>
                  <a:pt x="116135" y="18021"/>
                </a:lnTo>
                <a:close/>
              </a:path>
              <a:path w="194310" h="1791335">
                <a:moveTo>
                  <a:pt x="116112" y="17894"/>
                </a:moveTo>
                <a:close/>
              </a:path>
              <a:path w="194310" h="1791335">
                <a:moveTo>
                  <a:pt x="116116" y="18021"/>
                </a:moveTo>
                <a:lnTo>
                  <a:pt x="116126" y="17864"/>
                </a:lnTo>
                <a:lnTo>
                  <a:pt x="116116" y="18021"/>
                </a:lnTo>
                <a:close/>
              </a:path>
              <a:path w="194310" h="1791335">
                <a:moveTo>
                  <a:pt x="115940" y="18236"/>
                </a:moveTo>
                <a:lnTo>
                  <a:pt x="116064" y="17894"/>
                </a:lnTo>
                <a:lnTo>
                  <a:pt x="115940" y="18236"/>
                </a:lnTo>
                <a:close/>
              </a:path>
              <a:path w="194310" h="1791335">
                <a:moveTo>
                  <a:pt x="115582" y="18630"/>
                </a:moveTo>
                <a:lnTo>
                  <a:pt x="116026" y="17952"/>
                </a:lnTo>
                <a:lnTo>
                  <a:pt x="115940" y="18236"/>
                </a:lnTo>
                <a:lnTo>
                  <a:pt x="115582" y="18630"/>
                </a:lnTo>
                <a:close/>
              </a:path>
              <a:path w="194310" h="1791335">
                <a:moveTo>
                  <a:pt x="116154" y="18326"/>
                </a:moveTo>
                <a:lnTo>
                  <a:pt x="115912" y="18326"/>
                </a:lnTo>
                <a:lnTo>
                  <a:pt x="116154" y="18000"/>
                </a:lnTo>
                <a:lnTo>
                  <a:pt x="116154" y="18326"/>
                </a:lnTo>
                <a:close/>
              </a:path>
              <a:path w="194310" h="1791335">
                <a:moveTo>
                  <a:pt x="115969" y="18204"/>
                </a:moveTo>
                <a:lnTo>
                  <a:pt x="116054" y="18021"/>
                </a:lnTo>
                <a:lnTo>
                  <a:pt x="115969" y="18204"/>
                </a:lnTo>
                <a:close/>
              </a:path>
              <a:path w="194310" h="1791335">
                <a:moveTo>
                  <a:pt x="116154" y="18630"/>
                </a:moveTo>
                <a:lnTo>
                  <a:pt x="115582" y="18630"/>
                </a:lnTo>
                <a:lnTo>
                  <a:pt x="115940" y="18236"/>
                </a:lnTo>
                <a:lnTo>
                  <a:pt x="116154" y="18326"/>
                </a:lnTo>
                <a:lnTo>
                  <a:pt x="116154" y="18630"/>
                </a:lnTo>
                <a:close/>
              </a:path>
              <a:path w="194310" h="1791335">
                <a:moveTo>
                  <a:pt x="108653" y="881311"/>
                </a:moveTo>
                <a:lnTo>
                  <a:pt x="108733" y="881048"/>
                </a:lnTo>
                <a:lnTo>
                  <a:pt x="109118" y="880605"/>
                </a:lnTo>
                <a:lnTo>
                  <a:pt x="108653" y="881311"/>
                </a:lnTo>
                <a:close/>
              </a:path>
              <a:path w="194310" h="1791335">
                <a:moveTo>
                  <a:pt x="116154" y="881786"/>
                </a:moveTo>
                <a:lnTo>
                  <a:pt x="108534" y="881786"/>
                </a:lnTo>
                <a:lnTo>
                  <a:pt x="108597" y="881497"/>
                </a:lnTo>
                <a:lnTo>
                  <a:pt x="108717" y="881214"/>
                </a:lnTo>
                <a:lnTo>
                  <a:pt x="109118" y="880605"/>
                </a:lnTo>
                <a:lnTo>
                  <a:pt x="116154" y="880605"/>
                </a:lnTo>
                <a:lnTo>
                  <a:pt x="116154" y="881786"/>
                </a:lnTo>
                <a:close/>
              </a:path>
              <a:path w="194310" h="1791335">
                <a:moveTo>
                  <a:pt x="108743" y="881014"/>
                </a:moveTo>
                <a:close/>
              </a:path>
              <a:path w="194310" h="1791335">
                <a:moveTo>
                  <a:pt x="108633" y="881341"/>
                </a:moveTo>
                <a:lnTo>
                  <a:pt x="108743" y="881014"/>
                </a:lnTo>
                <a:lnTo>
                  <a:pt x="108633" y="881341"/>
                </a:lnTo>
                <a:close/>
              </a:path>
              <a:path w="194310" h="1791335">
                <a:moveTo>
                  <a:pt x="108636" y="881214"/>
                </a:moveTo>
                <a:lnTo>
                  <a:pt x="108712" y="881048"/>
                </a:lnTo>
                <a:lnTo>
                  <a:pt x="108636" y="881214"/>
                </a:lnTo>
                <a:close/>
              </a:path>
              <a:path w="194310" h="1791335">
                <a:moveTo>
                  <a:pt x="108534" y="881391"/>
                </a:moveTo>
                <a:lnTo>
                  <a:pt x="108560" y="881214"/>
                </a:lnTo>
                <a:lnTo>
                  <a:pt x="108534" y="881391"/>
                </a:lnTo>
                <a:close/>
              </a:path>
              <a:path w="194310" h="1791335">
                <a:moveTo>
                  <a:pt x="108561" y="881373"/>
                </a:moveTo>
                <a:lnTo>
                  <a:pt x="108572" y="881214"/>
                </a:lnTo>
                <a:lnTo>
                  <a:pt x="108561" y="881373"/>
                </a:lnTo>
                <a:close/>
              </a:path>
              <a:path w="194310" h="1791335">
                <a:moveTo>
                  <a:pt x="108200" y="881607"/>
                </a:moveTo>
                <a:lnTo>
                  <a:pt x="108534" y="881243"/>
                </a:lnTo>
                <a:lnTo>
                  <a:pt x="108428" y="881459"/>
                </a:lnTo>
                <a:lnTo>
                  <a:pt x="108200" y="881607"/>
                </a:lnTo>
                <a:close/>
              </a:path>
              <a:path w="194310" h="1791335">
                <a:moveTo>
                  <a:pt x="108566" y="881370"/>
                </a:moveTo>
                <a:close/>
              </a:path>
              <a:path w="194310" h="1791335">
                <a:moveTo>
                  <a:pt x="108555" y="881459"/>
                </a:moveTo>
                <a:close/>
              </a:path>
              <a:path w="194310" h="1791335">
                <a:moveTo>
                  <a:pt x="107873" y="881964"/>
                </a:moveTo>
                <a:lnTo>
                  <a:pt x="108200" y="881607"/>
                </a:lnTo>
                <a:lnTo>
                  <a:pt x="108534" y="881391"/>
                </a:lnTo>
                <a:lnTo>
                  <a:pt x="107873" y="881964"/>
                </a:lnTo>
                <a:close/>
              </a:path>
              <a:path w="194310" h="1791335">
                <a:moveTo>
                  <a:pt x="116154" y="881964"/>
                </a:moveTo>
                <a:lnTo>
                  <a:pt x="107873" y="881964"/>
                </a:lnTo>
                <a:lnTo>
                  <a:pt x="108534" y="881406"/>
                </a:lnTo>
                <a:lnTo>
                  <a:pt x="108470" y="881913"/>
                </a:lnTo>
                <a:lnTo>
                  <a:pt x="116154" y="881913"/>
                </a:lnTo>
                <a:close/>
              </a:path>
              <a:path w="194310" h="1791335">
                <a:moveTo>
                  <a:pt x="108515" y="881608"/>
                </a:moveTo>
                <a:close/>
              </a:path>
              <a:path w="194310" h="1791335">
                <a:moveTo>
                  <a:pt x="116067" y="882650"/>
                </a:moveTo>
                <a:lnTo>
                  <a:pt x="106591" y="882650"/>
                </a:lnTo>
                <a:lnTo>
                  <a:pt x="107086" y="882383"/>
                </a:lnTo>
                <a:lnTo>
                  <a:pt x="108200" y="881607"/>
                </a:lnTo>
                <a:lnTo>
                  <a:pt x="107873" y="881964"/>
                </a:lnTo>
                <a:lnTo>
                  <a:pt x="116154" y="881964"/>
                </a:lnTo>
                <a:lnTo>
                  <a:pt x="116067" y="882650"/>
                </a:lnTo>
                <a:close/>
              </a:path>
              <a:path w="194310" h="1791335">
                <a:moveTo>
                  <a:pt x="116154" y="881913"/>
                </a:moveTo>
                <a:lnTo>
                  <a:pt x="108470" y="881913"/>
                </a:lnTo>
                <a:lnTo>
                  <a:pt x="108534" y="881704"/>
                </a:lnTo>
                <a:lnTo>
                  <a:pt x="116154" y="881786"/>
                </a:lnTo>
                <a:close/>
              </a:path>
              <a:path w="194310" h="1791335">
                <a:moveTo>
                  <a:pt x="106810" y="882507"/>
                </a:moveTo>
                <a:lnTo>
                  <a:pt x="107002" y="882383"/>
                </a:lnTo>
                <a:lnTo>
                  <a:pt x="106810" y="882507"/>
                </a:lnTo>
                <a:close/>
              </a:path>
              <a:path w="194310" h="1791335">
                <a:moveTo>
                  <a:pt x="106591" y="882650"/>
                </a:moveTo>
                <a:lnTo>
                  <a:pt x="106810" y="882507"/>
                </a:lnTo>
                <a:lnTo>
                  <a:pt x="107086" y="882383"/>
                </a:lnTo>
                <a:lnTo>
                  <a:pt x="106591" y="882650"/>
                </a:lnTo>
                <a:close/>
              </a:path>
              <a:path w="194310" h="1791335">
                <a:moveTo>
                  <a:pt x="115908" y="883627"/>
                </a:moveTo>
                <a:lnTo>
                  <a:pt x="104330" y="883627"/>
                </a:lnTo>
                <a:lnTo>
                  <a:pt x="104660" y="883500"/>
                </a:lnTo>
                <a:lnTo>
                  <a:pt x="106810" y="882507"/>
                </a:lnTo>
                <a:lnTo>
                  <a:pt x="106591" y="882650"/>
                </a:lnTo>
                <a:lnTo>
                  <a:pt x="116067" y="882650"/>
                </a:lnTo>
                <a:lnTo>
                  <a:pt x="115908" y="883627"/>
                </a:lnTo>
                <a:close/>
              </a:path>
              <a:path w="194310" h="1791335">
                <a:moveTo>
                  <a:pt x="104449" y="883574"/>
                </a:moveTo>
                <a:lnTo>
                  <a:pt x="104611" y="883500"/>
                </a:lnTo>
                <a:lnTo>
                  <a:pt x="104449" y="883574"/>
                </a:lnTo>
                <a:close/>
              </a:path>
              <a:path w="194310" h="1791335">
                <a:moveTo>
                  <a:pt x="115421" y="884694"/>
                </a:moveTo>
                <a:lnTo>
                  <a:pt x="101218" y="884694"/>
                </a:lnTo>
                <a:lnTo>
                  <a:pt x="101460" y="884618"/>
                </a:lnTo>
                <a:lnTo>
                  <a:pt x="104449" y="883574"/>
                </a:lnTo>
                <a:lnTo>
                  <a:pt x="115908" y="883627"/>
                </a:lnTo>
                <a:lnTo>
                  <a:pt x="115421" y="884694"/>
                </a:lnTo>
                <a:close/>
              </a:path>
              <a:path w="194310" h="1791335">
                <a:moveTo>
                  <a:pt x="101355" y="884647"/>
                </a:moveTo>
                <a:close/>
              </a:path>
              <a:path w="194310" h="1791335">
                <a:moveTo>
                  <a:pt x="114741" y="885748"/>
                </a:moveTo>
                <a:lnTo>
                  <a:pt x="97358" y="885748"/>
                </a:lnTo>
                <a:lnTo>
                  <a:pt x="101355" y="884647"/>
                </a:lnTo>
                <a:lnTo>
                  <a:pt x="101218" y="884694"/>
                </a:lnTo>
                <a:lnTo>
                  <a:pt x="115421" y="884694"/>
                </a:lnTo>
                <a:lnTo>
                  <a:pt x="115138" y="885316"/>
                </a:lnTo>
                <a:lnTo>
                  <a:pt x="114741" y="885748"/>
                </a:lnTo>
                <a:close/>
              </a:path>
              <a:path w="194310" h="1791335">
                <a:moveTo>
                  <a:pt x="113821" y="886752"/>
                </a:moveTo>
                <a:lnTo>
                  <a:pt x="92824" y="886752"/>
                </a:lnTo>
                <a:lnTo>
                  <a:pt x="97536" y="885698"/>
                </a:lnTo>
                <a:lnTo>
                  <a:pt x="97358" y="885748"/>
                </a:lnTo>
                <a:lnTo>
                  <a:pt x="114741" y="885748"/>
                </a:lnTo>
                <a:lnTo>
                  <a:pt x="113821" y="886752"/>
                </a:lnTo>
                <a:close/>
              </a:path>
              <a:path w="194310" h="1791335">
                <a:moveTo>
                  <a:pt x="112822" y="887691"/>
                </a:moveTo>
                <a:lnTo>
                  <a:pt x="87680" y="887691"/>
                </a:lnTo>
                <a:lnTo>
                  <a:pt x="92964" y="886713"/>
                </a:lnTo>
                <a:lnTo>
                  <a:pt x="92824" y="886752"/>
                </a:lnTo>
                <a:lnTo>
                  <a:pt x="113821" y="886752"/>
                </a:lnTo>
                <a:lnTo>
                  <a:pt x="113156" y="887476"/>
                </a:lnTo>
                <a:lnTo>
                  <a:pt x="112822" y="887691"/>
                </a:lnTo>
                <a:close/>
              </a:path>
              <a:path w="194310" h="1791335">
                <a:moveTo>
                  <a:pt x="111485" y="888555"/>
                </a:moveTo>
                <a:lnTo>
                  <a:pt x="81978" y="888555"/>
                </a:lnTo>
                <a:lnTo>
                  <a:pt x="87795" y="887666"/>
                </a:lnTo>
                <a:lnTo>
                  <a:pt x="112822" y="887691"/>
                </a:lnTo>
                <a:lnTo>
                  <a:pt x="111485" y="888555"/>
                </a:lnTo>
                <a:close/>
              </a:path>
              <a:path w="194310" h="1791335">
                <a:moveTo>
                  <a:pt x="30505" y="899241"/>
                </a:moveTo>
                <a:lnTo>
                  <a:pt x="0" y="898982"/>
                </a:lnTo>
                <a:lnTo>
                  <a:pt x="0" y="891882"/>
                </a:lnTo>
                <a:lnTo>
                  <a:pt x="38811" y="891552"/>
                </a:lnTo>
                <a:lnTo>
                  <a:pt x="46875" y="891349"/>
                </a:lnTo>
                <a:lnTo>
                  <a:pt x="54660" y="891019"/>
                </a:lnTo>
                <a:lnTo>
                  <a:pt x="62115" y="890562"/>
                </a:lnTo>
                <a:lnTo>
                  <a:pt x="69189" y="889990"/>
                </a:lnTo>
                <a:lnTo>
                  <a:pt x="75869" y="889317"/>
                </a:lnTo>
                <a:lnTo>
                  <a:pt x="82080" y="888530"/>
                </a:lnTo>
                <a:lnTo>
                  <a:pt x="111485" y="888555"/>
                </a:lnTo>
                <a:lnTo>
                  <a:pt x="110502" y="889190"/>
                </a:lnTo>
                <a:lnTo>
                  <a:pt x="107327" y="890638"/>
                </a:lnTo>
                <a:lnTo>
                  <a:pt x="104472" y="891628"/>
                </a:lnTo>
                <a:lnTo>
                  <a:pt x="30505" y="891628"/>
                </a:lnTo>
                <a:lnTo>
                  <a:pt x="30505" y="899241"/>
                </a:lnTo>
                <a:close/>
              </a:path>
              <a:path w="194310" h="1791335">
                <a:moveTo>
                  <a:pt x="30913" y="899245"/>
                </a:moveTo>
                <a:lnTo>
                  <a:pt x="30505" y="899241"/>
                </a:lnTo>
                <a:lnTo>
                  <a:pt x="30505" y="891628"/>
                </a:lnTo>
                <a:lnTo>
                  <a:pt x="69850" y="893279"/>
                </a:lnTo>
                <a:lnTo>
                  <a:pt x="87434" y="895432"/>
                </a:lnTo>
                <a:lnTo>
                  <a:pt x="83070" y="896086"/>
                </a:lnTo>
                <a:lnTo>
                  <a:pt x="38912" y="899172"/>
                </a:lnTo>
                <a:lnTo>
                  <a:pt x="30913" y="899245"/>
                </a:lnTo>
                <a:close/>
              </a:path>
              <a:path w="194310" h="1791335">
                <a:moveTo>
                  <a:pt x="87434" y="895432"/>
                </a:moveTo>
                <a:lnTo>
                  <a:pt x="47104" y="891908"/>
                </a:lnTo>
                <a:lnTo>
                  <a:pt x="30505" y="891628"/>
                </a:lnTo>
                <a:lnTo>
                  <a:pt x="104472" y="891628"/>
                </a:lnTo>
                <a:lnTo>
                  <a:pt x="103593" y="891933"/>
                </a:lnTo>
                <a:lnTo>
                  <a:pt x="99288" y="893114"/>
                </a:lnTo>
                <a:lnTo>
                  <a:pt x="94411" y="894207"/>
                </a:lnTo>
                <a:lnTo>
                  <a:pt x="89001" y="895197"/>
                </a:lnTo>
                <a:lnTo>
                  <a:pt x="87434" y="895432"/>
                </a:lnTo>
                <a:close/>
              </a:path>
              <a:path w="194310" h="1791335">
                <a:moveTo>
                  <a:pt x="54660" y="899858"/>
                </a:moveTo>
                <a:lnTo>
                  <a:pt x="46812" y="899515"/>
                </a:lnTo>
                <a:lnTo>
                  <a:pt x="38747" y="899312"/>
                </a:lnTo>
                <a:lnTo>
                  <a:pt x="30913" y="899245"/>
                </a:lnTo>
                <a:lnTo>
                  <a:pt x="38912" y="899172"/>
                </a:lnTo>
                <a:lnTo>
                  <a:pt x="83070" y="896086"/>
                </a:lnTo>
                <a:lnTo>
                  <a:pt x="87434" y="895432"/>
                </a:lnTo>
                <a:lnTo>
                  <a:pt x="89001" y="895667"/>
                </a:lnTo>
                <a:lnTo>
                  <a:pt x="94411" y="896658"/>
                </a:lnTo>
                <a:lnTo>
                  <a:pt x="99288" y="897750"/>
                </a:lnTo>
                <a:lnTo>
                  <a:pt x="103740" y="898982"/>
                </a:lnTo>
                <a:lnTo>
                  <a:pt x="106229" y="899845"/>
                </a:lnTo>
                <a:lnTo>
                  <a:pt x="54584" y="899845"/>
                </a:lnTo>
                <a:close/>
              </a:path>
              <a:path w="194310" h="1791335">
                <a:moveTo>
                  <a:pt x="115456" y="906246"/>
                </a:moveTo>
                <a:lnTo>
                  <a:pt x="101460" y="906246"/>
                </a:lnTo>
                <a:lnTo>
                  <a:pt x="97358" y="905116"/>
                </a:lnTo>
                <a:lnTo>
                  <a:pt x="92824" y="904113"/>
                </a:lnTo>
                <a:lnTo>
                  <a:pt x="87680" y="903173"/>
                </a:lnTo>
                <a:lnTo>
                  <a:pt x="81978" y="902309"/>
                </a:lnTo>
                <a:lnTo>
                  <a:pt x="75780" y="901547"/>
                </a:lnTo>
                <a:lnTo>
                  <a:pt x="69113" y="900874"/>
                </a:lnTo>
                <a:lnTo>
                  <a:pt x="62039" y="900302"/>
                </a:lnTo>
                <a:lnTo>
                  <a:pt x="54584" y="899845"/>
                </a:lnTo>
                <a:lnTo>
                  <a:pt x="106266" y="899858"/>
                </a:lnTo>
                <a:lnTo>
                  <a:pt x="107327" y="900226"/>
                </a:lnTo>
                <a:lnTo>
                  <a:pt x="110502" y="901674"/>
                </a:lnTo>
                <a:lnTo>
                  <a:pt x="113156" y="903389"/>
                </a:lnTo>
                <a:lnTo>
                  <a:pt x="115138" y="905548"/>
                </a:lnTo>
                <a:lnTo>
                  <a:pt x="115456" y="906246"/>
                </a:lnTo>
                <a:close/>
              </a:path>
              <a:path w="194310" h="1791335">
                <a:moveTo>
                  <a:pt x="115939" y="907364"/>
                </a:moveTo>
                <a:lnTo>
                  <a:pt x="104660" y="907364"/>
                </a:lnTo>
                <a:lnTo>
                  <a:pt x="101355" y="906217"/>
                </a:lnTo>
                <a:lnTo>
                  <a:pt x="115456" y="906246"/>
                </a:lnTo>
                <a:lnTo>
                  <a:pt x="115908" y="907237"/>
                </a:lnTo>
                <a:lnTo>
                  <a:pt x="115939" y="907364"/>
                </a:lnTo>
                <a:close/>
              </a:path>
              <a:path w="194310" h="1791335">
                <a:moveTo>
                  <a:pt x="116108" y="908481"/>
                </a:moveTo>
                <a:lnTo>
                  <a:pt x="107086" y="908481"/>
                </a:lnTo>
                <a:lnTo>
                  <a:pt x="106591" y="908215"/>
                </a:lnTo>
                <a:lnTo>
                  <a:pt x="104449" y="907290"/>
                </a:lnTo>
                <a:lnTo>
                  <a:pt x="104660" y="907364"/>
                </a:lnTo>
                <a:lnTo>
                  <a:pt x="115939" y="907364"/>
                </a:lnTo>
                <a:lnTo>
                  <a:pt x="116108" y="908481"/>
                </a:lnTo>
                <a:close/>
              </a:path>
              <a:path w="194310" h="1791335">
                <a:moveTo>
                  <a:pt x="106810" y="908357"/>
                </a:moveTo>
                <a:lnTo>
                  <a:pt x="106495" y="908215"/>
                </a:lnTo>
                <a:lnTo>
                  <a:pt x="106810" y="908357"/>
                </a:lnTo>
                <a:close/>
              </a:path>
              <a:path w="194310" h="1791335">
                <a:moveTo>
                  <a:pt x="107086" y="908481"/>
                </a:moveTo>
                <a:lnTo>
                  <a:pt x="106810" y="908357"/>
                </a:lnTo>
                <a:lnTo>
                  <a:pt x="106591" y="908215"/>
                </a:lnTo>
                <a:lnTo>
                  <a:pt x="107086" y="908481"/>
                </a:lnTo>
                <a:close/>
              </a:path>
              <a:path w="194310" h="1791335">
                <a:moveTo>
                  <a:pt x="108200" y="909257"/>
                </a:moveTo>
                <a:lnTo>
                  <a:pt x="106810" y="908357"/>
                </a:lnTo>
                <a:lnTo>
                  <a:pt x="107086" y="908481"/>
                </a:lnTo>
                <a:lnTo>
                  <a:pt x="116108" y="908481"/>
                </a:lnTo>
                <a:lnTo>
                  <a:pt x="116154" y="908900"/>
                </a:lnTo>
                <a:lnTo>
                  <a:pt x="107873" y="908900"/>
                </a:lnTo>
                <a:lnTo>
                  <a:pt x="108200" y="909257"/>
                </a:lnTo>
                <a:close/>
              </a:path>
              <a:path w="194310" h="1791335">
                <a:moveTo>
                  <a:pt x="108534" y="909473"/>
                </a:moveTo>
                <a:lnTo>
                  <a:pt x="108218" y="909269"/>
                </a:lnTo>
                <a:lnTo>
                  <a:pt x="107873" y="908900"/>
                </a:lnTo>
                <a:lnTo>
                  <a:pt x="108534" y="909473"/>
                </a:lnTo>
                <a:close/>
              </a:path>
              <a:path w="194310" h="1791335">
                <a:moveTo>
                  <a:pt x="108534" y="909458"/>
                </a:moveTo>
                <a:lnTo>
                  <a:pt x="107873" y="908900"/>
                </a:lnTo>
                <a:lnTo>
                  <a:pt x="116154" y="908900"/>
                </a:lnTo>
                <a:lnTo>
                  <a:pt x="108470" y="908951"/>
                </a:lnTo>
                <a:lnTo>
                  <a:pt x="108458" y="909269"/>
                </a:lnTo>
                <a:lnTo>
                  <a:pt x="108534" y="909458"/>
                </a:lnTo>
                <a:close/>
              </a:path>
              <a:path w="194310" h="1791335">
                <a:moveTo>
                  <a:pt x="116154" y="910259"/>
                </a:moveTo>
                <a:lnTo>
                  <a:pt x="109118" y="910259"/>
                </a:lnTo>
                <a:lnTo>
                  <a:pt x="108658" y="909570"/>
                </a:lnTo>
                <a:lnTo>
                  <a:pt x="108534" y="909078"/>
                </a:lnTo>
                <a:lnTo>
                  <a:pt x="116154" y="908951"/>
                </a:lnTo>
                <a:lnTo>
                  <a:pt x="116154" y="910259"/>
                </a:lnTo>
                <a:close/>
              </a:path>
              <a:path w="194310" h="1791335">
                <a:moveTo>
                  <a:pt x="108534" y="909160"/>
                </a:moveTo>
                <a:close/>
              </a:path>
              <a:path w="194310" h="1791335">
                <a:moveTo>
                  <a:pt x="108534" y="909621"/>
                </a:moveTo>
                <a:lnTo>
                  <a:pt x="108200" y="909257"/>
                </a:lnTo>
                <a:lnTo>
                  <a:pt x="108511" y="909458"/>
                </a:lnTo>
                <a:lnTo>
                  <a:pt x="108534" y="909621"/>
                </a:lnTo>
                <a:close/>
              </a:path>
              <a:path w="194310" h="1791335">
                <a:moveTo>
                  <a:pt x="108533" y="909382"/>
                </a:moveTo>
                <a:close/>
              </a:path>
              <a:path w="194310" h="1791335">
                <a:moveTo>
                  <a:pt x="108627" y="909523"/>
                </a:moveTo>
                <a:close/>
              </a:path>
              <a:path w="194310" h="1791335">
                <a:moveTo>
                  <a:pt x="108610" y="909523"/>
                </a:moveTo>
                <a:close/>
              </a:path>
              <a:path w="194310" h="1791335">
                <a:moveTo>
                  <a:pt x="108634" y="909650"/>
                </a:moveTo>
                <a:lnTo>
                  <a:pt x="108561" y="909493"/>
                </a:lnTo>
                <a:lnTo>
                  <a:pt x="108634" y="909650"/>
                </a:lnTo>
                <a:close/>
              </a:path>
              <a:path w="194310" h="1791335">
                <a:moveTo>
                  <a:pt x="108743" y="909850"/>
                </a:moveTo>
                <a:lnTo>
                  <a:pt x="108575" y="909523"/>
                </a:lnTo>
                <a:lnTo>
                  <a:pt x="108743" y="909850"/>
                </a:lnTo>
                <a:close/>
              </a:path>
              <a:path w="194310" h="1791335">
                <a:moveTo>
                  <a:pt x="109118" y="910259"/>
                </a:moveTo>
                <a:lnTo>
                  <a:pt x="108743" y="909850"/>
                </a:lnTo>
                <a:lnTo>
                  <a:pt x="108658" y="909570"/>
                </a:lnTo>
                <a:lnTo>
                  <a:pt x="109118" y="910259"/>
                </a:lnTo>
                <a:close/>
              </a:path>
              <a:path w="194310" h="1791335">
                <a:moveTo>
                  <a:pt x="194183" y="1790865"/>
                </a:moveTo>
                <a:lnTo>
                  <a:pt x="154851" y="1789214"/>
                </a:lnTo>
                <a:lnTo>
                  <a:pt x="117360" y="1782267"/>
                </a:lnTo>
                <a:lnTo>
                  <a:pt x="108534" y="909621"/>
                </a:lnTo>
                <a:lnTo>
                  <a:pt x="108710" y="909814"/>
                </a:lnTo>
                <a:lnTo>
                  <a:pt x="108775" y="909954"/>
                </a:lnTo>
                <a:lnTo>
                  <a:pt x="109118" y="910259"/>
                </a:lnTo>
                <a:lnTo>
                  <a:pt x="116154" y="910259"/>
                </a:lnTo>
                <a:lnTo>
                  <a:pt x="116154" y="1772234"/>
                </a:lnTo>
                <a:lnTo>
                  <a:pt x="115582" y="1772234"/>
                </a:lnTo>
                <a:lnTo>
                  <a:pt x="115981" y="1772843"/>
                </a:lnTo>
                <a:lnTo>
                  <a:pt x="116217" y="1773542"/>
                </a:lnTo>
                <a:lnTo>
                  <a:pt x="116754" y="1773542"/>
                </a:lnTo>
                <a:lnTo>
                  <a:pt x="117038" y="1773593"/>
                </a:lnTo>
                <a:lnTo>
                  <a:pt x="117685" y="1774012"/>
                </a:lnTo>
                <a:lnTo>
                  <a:pt x="118097" y="1774278"/>
                </a:lnTo>
                <a:lnTo>
                  <a:pt x="120076" y="1775129"/>
                </a:lnTo>
                <a:lnTo>
                  <a:pt x="123249" y="1776247"/>
                </a:lnTo>
                <a:lnTo>
                  <a:pt x="127190" y="1777326"/>
                </a:lnTo>
                <a:lnTo>
                  <a:pt x="155575" y="1781619"/>
                </a:lnTo>
                <a:lnTo>
                  <a:pt x="162648" y="1782190"/>
                </a:lnTo>
                <a:lnTo>
                  <a:pt x="170103" y="1782648"/>
                </a:lnTo>
                <a:lnTo>
                  <a:pt x="177876" y="1782978"/>
                </a:lnTo>
                <a:lnTo>
                  <a:pt x="185940" y="1783181"/>
                </a:lnTo>
                <a:lnTo>
                  <a:pt x="194246" y="1783245"/>
                </a:lnTo>
                <a:lnTo>
                  <a:pt x="194183" y="1790865"/>
                </a:lnTo>
                <a:close/>
              </a:path>
              <a:path w="194310" h="1791335">
                <a:moveTo>
                  <a:pt x="108710" y="909814"/>
                </a:moveTo>
                <a:lnTo>
                  <a:pt x="108560" y="909650"/>
                </a:lnTo>
                <a:lnTo>
                  <a:pt x="108710" y="909814"/>
                </a:lnTo>
                <a:close/>
              </a:path>
              <a:path w="194310" h="1791335">
                <a:moveTo>
                  <a:pt x="108839" y="909954"/>
                </a:moveTo>
                <a:close/>
              </a:path>
              <a:path w="194310" h="1791335">
                <a:moveTo>
                  <a:pt x="116026" y="1772912"/>
                </a:moveTo>
                <a:lnTo>
                  <a:pt x="115582" y="1772234"/>
                </a:lnTo>
                <a:lnTo>
                  <a:pt x="115949" y="1772660"/>
                </a:lnTo>
                <a:lnTo>
                  <a:pt x="116026" y="1772912"/>
                </a:lnTo>
                <a:close/>
              </a:path>
              <a:path w="194310" h="1791335">
                <a:moveTo>
                  <a:pt x="116154" y="1772864"/>
                </a:moveTo>
                <a:lnTo>
                  <a:pt x="115969" y="1772660"/>
                </a:lnTo>
                <a:lnTo>
                  <a:pt x="115582" y="1772234"/>
                </a:lnTo>
                <a:lnTo>
                  <a:pt x="116154" y="1772234"/>
                </a:lnTo>
                <a:lnTo>
                  <a:pt x="116154" y="1772864"/>
                </a:lnTo>
                <a:close/>
              </a:path>
              <a:path w="194310" h="1791335">
                <a:moveTo>
                  <a:pt x="115940" y="1772628"/>
                </a:moveTo>
                <a:close/>
              </a:path>
              <a:path w="194310" h="1791335">
                <a:moveTo>
                  <a:pt x="116112" y="1772970"/>
                </a:moveTo>
                <a:lnTo>
                  <a:pt x="115940" y="1772628"/>
                </a:lnTo>
                <a:lnTo>
                  <a:pt x="116112" y="1772970"/>
                </a:lnTo>
                <a:close/>
              </a:path>
              <a:path w="194310" h="1791335">
                <a:moveTo>
                  <a:pt x="116135" y="1772843"/>
                </a:moveTo>
                <a:lnTo>
                  <a:pt x="115969" y="1772660"/>
                </a:lnTo>
                <a:lnTo>
                  <a:pt x="116135" y="1772843"/>
                </a:lnTo>
                <a:close/>
              </a:path>
              <a:path w="194310" h="1791335">
                <a:moveTo>
                  <a:pt x="116126" y="1773000"/>
                </a:moveTo>
                <a:lnTo>
                  <a:pt x="116054" y="1772843"/>
                </a:lnTo>
                <a:lnTo>
                  <a:pt x="116126" y="1773000"/>
                </a:lnTo>
                <a:close/>
              </a:path>
              <a:path w="194310" h="1791335">
                <a:moveTo>
                  <a:pt x="116154" y="1773020"/>
                </a:moveTo>
                <a:lnTo>
                  <a:pt x="116116" y="1772843"/>
                </a:lnTo>
                <a:lnTo>
                  <a:pt x="116154" y="1773020"/>
                </a:lnTo>
                <a:close/>
              </a:path>
              <a:path w="194310" h="1791335">
                <a:moveTo>
                  <a:pt x="116495" y="1773241"/>
                </a:moveTo>
                <a:lnTo>
                  <a:pt x="116236" y="1773073"/>
                </a:lnTo>
                <a:lnTo>
                  <a:pt x="116154" y="1772864"/>
                </a:lnTo>
                <a:lnTo>
                  <a:pt x="116495" y="1773241"/>
                </a:lnTo>
                <a:close/>
              </a:path>
              <a:path w="194310" h="1791335">
                <a:moveTo>
                  <a:pt x="116126" y="1773002"/>
                </a:moveTo>
                <a:close/>
              </a:path>
              <a:path w="194310" h="1791335">
                <a:moveTo>
                  <a:pt x="116814" y="1773593"/>
                </a:moveTo>
                <a:lnTo>
                  <a:pt x="116154" y="1773020"/>
                </a:lnTo>
                <a:lnTo>
                  <a:pt x="116470" y="1773224"/>
                </a:lnTo>
                <a:lnTo>
                  <a:pt x="116814" y="1773593"/>
                </a:lnTo>
                <a:close/>
              </a:path>
              <a:path w="194310" h="1791335">
                <a:moveTo>
                  <a:pt x="116378" y="1773224"/>
                </a:moveTo>
                <a:lnTo>
                  <a:pt x="116230" y="1773224"/>
                </a:lnTo>
                <a:lnTo>
                  <a:pt x="116154" y="1773035"/>
                </a:lnTo>
                <a:lnTo>
                  <a:pt x="116378" y="1773224"/>
                </a:lnTo>
                <a:close/>
              </a:path>
              <a:path w="194310" h="1791335">
                <a:moveTo>
                  <a:pt x="116754" y="1773542"/>
                </a:moveTo>
                <a:lnTo>
                  <a:pt x="116217" y="1773542"/>
                </a:lnTo>
                <a:lnTo>
                  <a:pt x="116154" y="1773108"/>
                </a:lnTo>
                <a:lnTo>
                  <a:pt x="116378" y="1773224"/>
                </a:lnTo>
                <a:lnTo>
                  <a:pt x="116754" y="1773542"/>
                </a:lnTo>
                <a:close/>
              </a:path>
              <a:path w="194310" h="1791335">
                <a:moveTo>
                  <a:pt x="117038" y="1773593"/>
                </a:moveTo>
                <a:lnTo>
                  <a:pt x="116814" y="1773593"/>
                </a:lnTo>
                <a:lnTo>
                  <a:pt x="116495" y="1773241"/>
                </a:lnTo>
                <a:lnTo>
                  <a:pt x="117038" y="1773593"/>
                </a:lnTo>
                <a:close/>
              </a:path>
              <a:path w="194310" h="1791335">
                <a:moveTo>
                  <a:pt x="116179" y="1773415"/>
                </a:moveTo>
                <a:close/>
              </a:path>
              <a:path w="194310" h="1791335">
                <a:moveTo>
                  <a:pt x="118097" y="1774278"/>
                </a:moveTo>
                <a:lnTo>
                  <a:pt x="117602" y="1774012"/>
                </a:lnTo>
                <a:lnTo>
                  <a:pt x="117878" y="1774136"/>
                </a:lnTo>
                <a:lnTo>
                  <a:pt x="118097" y="1774278"/>
                </a:lnTo>
                <a:close/>
              </a:path>
              <a:path w="194310" h="1791335">
                <a:moveTo>
                  <a:pt x="117878" y="1774136"/>
                </a:moveTo>
                <a:lnTo>
                  <a:pt x="117602" y="1774012"/>
                </a:lnTo>
                <a:lnTo>
                  <a:pt x="117878" y="1774136"/>
                </a:lnTo>
                <a:close/>
              </a:path>
              <a:path w="194310" h="1791335">
                <a:moveTo>
                  <a:pt x="118192" y="1774278"/>
                </a:moveTo>
                <a:lnTo>
                  <a:pt x="117878" y="1774136"/>
                </a:lnTo>
                <a:lnTo>
                  <a:pt x="118192" y="1774278"/>
                </a:lnTo>
                <a:close/>
              </a:path>
              <a:path w="194310" h="1791335">
                <a:moveTo>
                  <a:pt x="120238" y="1775203"/>
                </a:moveTo>
                <a:lnTo>
                  <a:pt x="120027" y="1775129"/>
                </a:lnTo>
                <a:lnTo>
                  <a:pt x="120238" y="177520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同学们</a:t>
            </a:r>
            <a:r>
              <a:rPr dirty="0"/>
              <a:t>，再见</a:t>
            </a:r>
            <a:r>
              <a:rPr dirty="0" spc="5"/>
              <a:t>！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211067" y="1732788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46D1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0711" y="195529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9BF0EE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74414" y="200245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46D1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13832" y="3621023"/>
            <a:ext cx="1037843" cy="1237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2025-04-20T10:36:56Z</dcterms:created>
  <dcterms:modified xsi:type="dcterms:W3CDTF">2025-04-20T10:36:56Z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