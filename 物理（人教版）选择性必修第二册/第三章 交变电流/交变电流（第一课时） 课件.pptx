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670526" y="1392732"/>
            <a:ext cx="2850946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45189" y="1386243"/>
            <a:ext cx="2101621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6862" y="2499131"/>
            <a:ext cx="11098275" cy="198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Relationship Id="rId3" Type="http://schemas.openxmlformats.org/officeDocument/2006/relationships/image" Target="../media/image20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18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FFFF"/>
                </a:solidFill>
                <a:latin typeface="微软雅黑"/>
                <a:cs typeface="微软雅黑"/>
              </a:rPr>
              <a:t>国家中小学课程资源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34982" y="2073452"/>
            <a:ext cx="61214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交变电流（第一课时）</a:t>
            </a:r>
            <a:endParaRPr sz="48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34705" y="3569668"/>
          <a:ext cx="9156700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0575"/>
                <a:gridCol w="1343025"/>
                <a:gridCol w="4483100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主讲人：高小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燕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校：北京师范大学附属中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4734" y="2251748"/>
            <a:ext cx="490283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385622"/>
                </a:solidFill>
                <a:latin typeface="微软雅黑"/>
                <a:cs typeface="微软雅黑"/>
              </a:rPr>
              <a:t>交变电流</a:t>
            </a:r>
            <a:r>
              <a:rPr dirty="0" b="1">
                <a:solidFill>
                  <a:srgbClr val="385622"/>
                </a:solidFill>
                <a:latin typeface="微软雅黑"/>
                <a:cs typeface="微软雅黑"/>
              </a:rPr>
              <a:t>（第一课时</a:t>
            </a:r>
            <a:r>
              <a:rPr dirty="0" spc="5" b="1">
                <a:solidFill>
                  <a:srgbClr val="385622"/>
                </a:solidFill>
                <a:latin typeface="微软雅黑"/>
                <a:cs typeface="微软雅黑"/>
              </a:rPr>
              <a:t>）</a:t>
            </a:r>
            <a:endParaRPr sz="4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52166" y="3936009"/>
            <a:ext cx="2625725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4700"/>
              </a:lnSpc>
              <a:spcBef>
                <a:spcPts val="95"/>
              </a:spcBef>
              <a:tabLst>
                <a:tab pos="624840" algn="l"/>
                <a:tab pos="2303780" algn="l"/>
              </a:tabLst>
            </a:pPr>
            <a:r>
              <a:rPr dirty="0" sz="2400" spc="-5" b="1">
                <a:solidFill>
                  <a:srgbClr val="385622"/>
                </a:solidFill>
                <a:latin typeface="华文楷体"/>
                <a:cs typeface="华文楷体"/>
              </a:rPr>
              <a:t>年</a:t>
            </a:r>
            <a:r>
              <a:rPr dirty="0" sz="2400" spc="-5" b="1">
                <a:solidFill>
                  <a:srgbClr val="385622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385622"/>
                </a:solidFill>
                <a:latin typeface="华文楷体"/>
                <a:cs typeface="华文楷体"/>
              </a:rPr>
              <a:t>级：高</a:t>
            </a:r>
            <a:r>
              <a:rPr dirty="0" sz="2400" spc="-5" b="1">
                <a:solidFill>
                  <a:srgbClr val="385622"/>
                </a:solidFill>
                <a:latin typeface="华文楷体"/>
                <a:cs typeface="华文楷体"/>
              </a:rPr>
              <a:t>二</a:t>
            </a:r>
            <a:r>
              <a:rPr dirty="0" sz="2400" b="1">
                <a:solidFill>
                  <a:srgbClr val="385622"/>
                </a:solidFill>
                <a:latin typeface="华文楷体"/>
                <a:cs typeface="华文楷体"/>
              </a:rPr>
              <a:t>	</a:t>
            </a:r>
            <a:r>
              <a:rPr dirty="0" sz="2400" spc="-580" b="1">
                <a:solidFill>
                  <a:srgbClr val="385622"/>
                </a:solidFill>
                <a:latin typeface="华文楷体"/>
                <a:cs typeface="华文楷体"/>
              </a:rPr>
              <a:t> </a:t>
            </a:r>
            <a:r>
              <a:rPr dirty="0" sz="2400" spc="-5" b="1">
                <a:solidFill>
                  <a:srgbClr val="385622"/>
                </a:solidFill>
                <a:latin typeface="华文楷体"/>
                <a:cs typeface="华文楷体"/>
              </a:rPr>
              <a:t>学 </a:t>
            </a:r>
            <a:r>
              <a:rPr dirty="0" sz="2400" b="1">
                <a:solidFill>
                  <a:srgbClr val="385622"/>
                </a:solidFill>
                <a:latin typeface="华文楷体"/>
                <a:cs typeface="华文楷体"/>
              </a:rPr>
              <a:t>主讲人：高小</a:t>
            </a:r>
            <a:r>
              <a:rPr dirty="0" sz="2400" spc="-5" b="1">
                <a:solidFill>
                  <a:srgbClr val="385622"/>
                </a:solidFill>
                <a:latin typeface="华文楷体"/>
                <a:cs typeface="华文楷体"/>
              </a:rPr>
              <a:t>燕</a:t>
            </a:r>
            <a:r>
              <a:rPr dirty="0" sz="2400" b="1">
                <a:solidFill>
                  <a:srgbClr val="385622"/>
                </a:solidFill>
                <a:latin typeface="华文楷体"/>
                <a:cs typeface="华文楷体"/>
              </a:rPr>
              <a:t>	</a:t>
            </a:r>
            <a:r>
              <a:rPr dirty="0" sz="2400" spc="-5" b="1">
                <a:solidFill>
                  <a:srgbClr val="385622"/>
                </a:solidFill>
                <a:latin typeface="华文楷体"/>
                <a:cs typeface="华文楷体"/>
              </a:rPr>
              <a:t>学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6656" y="3936009"/>
            <a:ext cx="3689985" cy="93726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810"/>
              </a:spcBef>
            </a:pPr>
            <a:r>
              <a:rPr dirty="0" sz="2400" b="1">
                <a:solidFill>
                  <a:srgbClr val="385622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400" spc="-5" b="1">
                <a:solidFill>
                  <a:srgbClr val="385622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400" b="1">
                <a:solidFill>
                  <a:srgbClr val="385622"/>
                </a:solidFill>
                <a:latin typeface="华文楷体"/>
                <a:cs typeface="华文楷体"/>
              </a:rPr>
              <a:t>校：北京师范大学附属中</a:t>
            </a:r>
            <a:r>
              <a:rPr dirty="0" sz="2400" spc="-5" b="1">
                <a:solidFill>
                  <a:srgbClr val="385622"/>
                </a:solidFill>
                <a:latin typeface="华文楷体"/>
                <a:cs typeface="华文楷体"/>
              </a:rPr>
              <a:t>学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84384" y="1996592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433834" y="1407020"/>
            <a:ext cx="20580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黑体"/>
                <a:cs typeface="黑体"/>
              </a:rPr>
              <a:t>演示实验</a:t>
            </a:r>
            <a:r>
              <a:rPr dirty="0" sz="3200" spc="5">
                <a:latin typeface="黑体"/>
                <a:cs typeface="黑体"/>
              </a:rPr>
              <a:t>一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21151" y="172669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20796" y="1949195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030245" y="2201316"/>
            <a:ext cx="4902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用示波器观察电池供给的电压的波形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85516" y="2822448"/>
            <a:ext cx="6219444" cy="3525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42500" y="1810848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91950" y="1221282"/>
            <a:ext cx="20580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黑体"/>
                <a:cs typeface="黑体"/>
              </a:rPr>
              <a:t>演示实验</a:t>
            </a:r>
            <a:r>
              <a:rPr dirty="0" sz="3200" spc="5">
                <a:latin typeface="黑体"/>
                <a:cs typeface="黑体"/>
              </a:rPr>
              <a:t>二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79192" y="1540763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78835" y="1763267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588374" y="2015578"/>
            <a:ext cx="6426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用示波器观察学生电源交流挡供给的电压的波形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52344" y="2538983"/>
            <a:ext cx="6536435" cy="3677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3937" y="1480502"/>
            <a:ext cx="612140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在显示屏上显示的电压（或电流）随时间变化 的图像，在电工技术和电子技术中常常叫作波 形图。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61944" y="2683764"/>
            <a:ext cx="4847844" cy="34091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9795" y="1839429"/>
            <a:ext cx="5388610" cy="0"/>
          </a:xfrm>
          <a:custGeom>
            <a:avLst/>
            <a:gdLst/>
            <a:ahLst/>
            <a:cxnLst/>
            <a:rect l="l" t="t" r="r" b="b"/>
            <a:pathLst>
              <a:path w="5388609" h="0">
                <a:moveTo>
                  <a:pt x="0" y="0"/>
                </a:moveTo>
                <a:lnTo>
                  <a:pt x="5388000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82566" y="1277797"/>
            <a:ext cx="24644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一、交变电</a:t>
            </a:r>
            <a:r>
              <a:rPr dirty="0" spc="5"/>
              <a:t>流</a:t>
            </a:r>
          </a:p>
        </p:txBody>
      </p:sp>
      <p:sp>
        <p:nvSpPr>
          <p:cNvPr id="4" name="object 4"/>
          <p:cNvSpPr/>
          <p:nvPr/>
        </p:nvSpPr>
        <p:spPr>
          <a:xfrm>
            <a:off x="2494788" y="1569719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692907" y="179222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78864" y="2426195"/>
            <a:ext cx="943927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2555" indent="4572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很多用电器中的电流、电压大小和方向也随时间做周期性变化</a:t>
            </a:r>
            <a:r>
              <a:rPr dirty="0" sz="2400" spc="-5">
                <a:latin typeface="华文楷体"/>
                <a:cs typeface="华文楷体"/>
              </a:rPr>
              <a:t>，</a:t>
            </a:r>
            <a:r>
              <a:rPr dirty="0" sz="2400">
                <a:latin typeface="华文楷体"/>
                <a:cs typeface="华文楷体"/>
              </a:rPr>
              <a:t>这 样的电流叫作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交变电流</a:t>
            </a:r>
            <a:r>
              <a:rPr dirty="0" sz="2400" spc="-5">
                <a:latin typeface="华文楷体"/>
                <a:cs typeface="华文楷体"/>
              </a:rPr>
              <a:t>（alternating</a:t>
            </a:r>
            <a:r>
              <a:rPr dirty="0" sz="2400" spc="-10">
                <a:latin typeface="华文楷体"/>
                <a:cs typeface="华文楷体"/>
              </a:rPr>
              <a:t> </a:t>
            </a:r>
            <a:r>
              <a:rPr dirty="0" sz="2400" spc="-5">
                <a:latin typeface="华文楷体"/>
                <a:cs typeface="华文楷体"/>
              </a:rPr>
              <a:t>current， </a:t>
            </a:r>
            <a:r>
              <a:rPr dirty="0" sz="2400">
                <a:latin typeface="华文楷体"/>
                <a:cs typeface="华文楷体"/>
              </a:rPr>
              <a:t>AC），简称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交流</a:t>
            </a:r>
            <a:r>
              <a:rPr dirty="0" sz="2400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5080" indent="381000">
              <a:lnSpc>
                <a:spcPct val="100000"/>
              </a:lnSpc>
            </a:pPr>
            <a:r>
              <a:rPr dirty="0" sz="2400">
                <a:latin typeface="华文楷体"/>
                <a:cs typeface="华文楷体"/>
              </a:rPr>
              <a:t>方向不随时间变化的电流称</a:t>
            </a:r>
            <a:r>
              <a:rPr dirty="0" sz="2400" spc="-5">
                <a:latin typeface="华文楷体"/>
                <a:cs typeface="华文楷体"/>
              </a:rPr>
              <a:t>为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直流电</a:t>
            </a:r>
            <a:r>
              <a:rPr dirty="0" sz="2400" spc="-5">
                <a:latin typeface="华文楷体"/>
                <a:cs typeface="华文楷体"/>
              </a:rPr>
              <a:t>（direct</a:t>
            </a:r>
            <a:r>
              <a:rPr dirty="0" sz="2400" spc="-45">
                <a:latin typeface="华文楷体"/>
                <a:cs typeface="华文楷体"/>
              </a:rPr>
              <a:t> </a:t>
            </a:r>
            <a:r>
              <a:rPr dirty="0" sz="2400" spc="-5">
                <a:latin typeface="华文楷体"/>
                <a:cs typeface="华文楷体"/>
              </a:rPr>
              <a:t>current，DC），</a:t>
            </a:r>
            <a:r>
              <a:rPr dirty="0" sz="2400">
                <a:latin typeface="华文楷体"/>
                <a:cs typeface="华文楷体"/>
              </a:rPr>
              <a:t>简称直 流。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13925" y="171083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63375" y="1121270"/>
            <a:ext cx="20580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黑体"/>
                <a:cs typeface="黑体"/>
              </a:rPr>
              <a:t>演示实验</a:t>
            </a:r>
            <a:r>
              <a:rPr dirty="0" sz="3200" spc="5">
                <a:latin typeface="黑体"/>
                <a:cs typeface="黑体"/>
              </a:rPr>
              <a:t>三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51760" y="1440180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19" h="364489">
                <a:moveTo>
                  <a:pt x="0" y="0"/>
                </a:moveTo>
                <a:lnTo>
                  <a:pt x="362712" y="0"/>
                </a:lnTo>
                <a:lnTo>
                  <a:pt x="362712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49879" y="1664207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559799" y="1915566"/>
            <a:ext cx="6426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用示波器观察学生电源直流挡供给的电压的波形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81072" y="2389632"/>
            <a:ext cx="6841235" cy="384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71063" y="1982298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20513" y="1392732"/>
            <a:ext cx="20580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黑体"/>
                <a:cs typeface="黑体"/>
              </a:rPr>
              <a:t>演示实验</a:t>
            </a:r>
            <a:r>
              <a:rPr dirty="0" sz="3200" spc="5">
                <a:latin typeface="黑体"/>
                <a:cs typeface="黑体"/>
              </a:rPr>
              <a:t>四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09088" y="1711451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19" h="364489">
                <a:moveTo>
                  <a:pt x="0" y="0"/>
                </a:moveTo>
                <a:lnTo>
                  <a:pt x="362712" y="0"/>
                </a:lnTo>
                <a:lnTo>
                  <a:pt x="362712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07207" y="1935479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516936" y="2187028"/>
            <a:ext cx="4597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日常使用的充电器输出电压的波形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38400" y="2660904"/>
            <a:ext cx="6509004" cy="36606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13988" y="1982298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805180">
              <a:lnSpc>
                <a:spcPct val="100000"/>
              </a:lnSpc>
              <a:spcBef>
                <a:spcPts val="105"/>
              </a:spcBef>
            </a:pPr>
            <a:r>
              <a:rPr dirty="0"/>
              <a:t>演示实验</a:t>
            </a:r>
            <a:r>
              <a:rPr dirty="0" spc="5"/>
              <a:t>五</a:t>
            </a:r>
          </a:p>
        </p:txBody>
      </p:sp>
      <p:sp>
        <p:nvSpPr>
          <p:cNvPr id="4" name="object 4"/>
          <p:cNvSpPr/>
          <p:nvPr/>
        </p:nvSpPr>
        <p:spPr>
          <a:xfrm>
            <a:off x="3151632" y="1711451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51276" y="1935479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059861" y="2315057"/>
            <a:ext cx="520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观察演示实验，二极管发光情况如何？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88435" y="2784348"/>
            <a:ext cx="2142743" cy="2855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548541" y="3402469"/>
            <a:ext cx="3777195" cy="19941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459096" y="3422650"/>
            <a:ext cx="4818380" cy="1866900"/>
          </a:xfrm>
          <a:custGeom>
            <a:avLst/>
            <a:gdLst/>
            <a:ahLst/>
            <a:cxnLst/>
            <a:rect l="l" t="t" r="r" b="b"/>
            <a:pathLst>
              <a:path w="4818380" h="1866900">
                <a:moveTo>
                  <a:pt x="4595749" y="12700"/>
                </a:moveTo>
                <a:lnTo>
                  <a:pt x="1428826" y="12700"/>
                </a:lnTo>
                <a:lnTo>
                  <a:pt x="1436293" y="0"/>
                </a:lnTo>
                <a:lnTo>
                  <a:pt x="4588281" y="0"/>
                </a:lnTo>
                <a:lnTo>
                  <a:pt x="4595749" y="12700"/>
                </a:lnTo>
                <a:close/>
              </a:path>
              <a:path w="4818380" h="1866900">
                <a:moveTo>
                  <a:pt x="1432521" y="25400"/>
                </a:moveTo>
                <a:lnTo>
                  <a:pt x="1392720" y="25400"/>
                </a:lnTo>
                <a:lnTo>
                  <a:pt x="1399768" y="12700"/>
                </a:lnTo>
                <a:lnTo>
                  <a:pt x="1439837" y="12700"/>
                </a:lnTo>
                <a:lnTo>
                  <a:pt x="1432521" y="25400"/>
                </a:lnTo>
                <a:close/>
              </a:path>
              <a:path w="4818380" h="1866900">
                <a:moveTo>
                  <a:pt x="4631842" y="25400"/>
                </a:moveTo>
                <a:lnTo>
                  <a:pt x="4592053" y="25400"/>
                </a:lnTo>
                <a:lnTo>
                  <a:pt x="4584738" y="12700"/>
                </a:lnTo>
                <a:lnTo>
                  <a:pt x="4624793" y="12700"/>
                </a:lnTo>
                <a:lnTo>
                  <a:pt x="4631842" y="25400"/>
                </a:lnTo>
                <a:close/>
              </a:path>
              <a:path w="4818380" h="1866900">
                <a:moveTo>
                  <a:pt x="1397889" y="38100"/>
                </a:moveTo>
                <a:lnTo>
                  <a:pt x="1372133" y="38100"/>
                </a:lnTo>
                <a:lnTo>
                  <a:pt x="1378902" y="25400"/>
                </a:lnTo>
                <a:lnTo>
                  <a:pt x="1404797" y="25400"/>
                </a:lnTo>
                <a:lnTo>
                  <a:pt x="1397889" y="38100"/>
                </a:lnTo>
                <a:close/>
              </a:path>
              <a:path w="4818380" h="1866900">
                <a:moveTo>
                  <a:pt x="4652441" y="38100"/>
                </a:moveTo>
                <a:lnTo>
                  <a:pt x="4626686" y="38100"/>
                </a:lnTo>
                <a:lnTo>
                  <a:pt x="4619777" y="25400"/>
                </a:lnTo>
                <a:lnTo>
                  <a:pt x="4645672" y="25400"/>
                </a:lnTo>
                <a:lnTo>
                  <a:pt x="4652441" y="38100"/>
                </a:lnTo>
                <a:close/>
              </a:path>
              <a:path w="4818380" h="1866900">
                <a:moveTo>
                  <a:pt x="1371727" y="50800"/>
                </a:moveTo>
                <a:lnTo>
                  <a:pt x="1346060" y="50800"/>
                </a:lnTo>
                <a:lnTo>
                  <a:pt x="1352423" y="38100"/>
                </a:lnTo>
                <a:lnTo>
                  <a:pt x="1378267" y="38100"/>
                </a:lnTo>
                <a:lnTo>
                  <a:pt x="1371727" y="50800"/>
                </a:lnTo>
                <a:close/>
              </a:path>
              <a:path w="4818380" h="1866900">
                <a:moveTo>
                  <a:pt x="4678502" y="50800"/>
                </a:moveTo>
                <a:lnTo>
                  <a:pt x="4652848" y="50800"/>
                </a:lnTo>
                <a:lnTo>
                  <a:pt x="4646307" y="38100"/>
                </a:lnTo>
                <a:lnTo>
                  <a:pt x="4672139" y="38100"/>
                </a:lnTo>
                <a:lnTo>
                  <a:pt x="4678502" y="50800"/>
                </a:lnTo>
                <a:close/>
              </a:path>
              <a:path w="4818380" h="1866900">
                <a:moveTo>
                  <a:pt x="1353108" y="63500"/>
                </a:moveTo>
                <a:lnTo>
                  <a:pt x="1327645" y="63500"/>
                </a:lnTo>
                <a:lnTo>
                  <a:pt x="1333665" y="50800"/>
                </a:lnTo>
                <a:lnTo>
                  <a:pt x="1359344" y="50800"/>
                </a:lnTo>
                <a:lnTo>
                  <a:pt x="1353108" y="63500"/>
                </a:lnTo>
                <a:close/>
              </a:path>
              <a:path w="4818380" h="1866900">
                <a:moveTo>
                  <a:pt x="4696929" y="63500"/>
                </a:moveTo>
                <a:lnTo>
                  <a:pt x="4671466" y="63500"/>
                </a:lnTo>
                <a:lnTo>
                  <a:pt x="4665230" y="50800"/>
                </a:lnTo>
                <a:lnTo>
                  <a:pt x="4690897" y="50800"/>
                </a:lnTo>
                <a:lnTo>
                  <a:pt x="4696929" y="63500"/>
                </a:lnTo>
                <a:close/>
              </a:path>
              <a:path w="4818380" h="1866900">
                <a:moveTo>
                  <a:pt x="1335430" y="76200"/>
                </a:moveTo>
                <a:lnTo>
                  <a:pt x="1315935" y="76200"/>
                </a:lnTo>
                <a:lnTo>
                  <a:pt x="1321727" y="63500"/>
                </a:lnTo>
                <a:lnTo>
                  <a:pt x="1341335" y="63500"/>
                </a:lnTo>
                <a:lnTo>
                  <a:pt x="1335430" y="76200"/>
                </a:lnTo>
                <a:close/>
              </a:path>
              <a:path w="4818380" h="1866900">
                <a:moveTo>
                  <a:pt x="4708639" y="76200"/>
                </a:moveTo>
                <a:lnTo>
                  <a:pt x="4689144" y="76200"/>
                </a:lnTo>
                <a:lnTo>
                  <a:pt x="4683239" y="63500"/>
                </a:lnTo>
                <a:lnTo>
                  <a:pt x="4702848" y="63500"/>
                </a:lnTo>
                <a:lnTo>
                  <a:pt x="4708639" y="76200"/>
                </a:lnTo>
                <a:close/>
              </a:path>
              <a:path w="4818380" h="1866900">
                <a:moveTo>
                  <a:pt x="1318742" y="88900"/>
                </a:moveTo>
                <a:lnTo>
                  <a:pt x="1299273" y="88900"/>
                </a:lnTo>
                <a:lnTo>
                  <a:pt x="1304709" y="76200"/>
                </a:lnTo>
                <a:lnTo>
                  <a:pt x="1324305" y="76200"/>
                </a:lnTo>
                <a:lnTo>
                  <a:pt x="1318742" y="88900"/>
                </a:lnTo>
                <a:close/>
              </a:path>
              <a:path w="4818380" h="1866900">
                <a:moveTo>
                  <a:pt x="4725288" y="88900"/>
                </a:moveTo>
                <a:lnTo>
                  <a:pt x="4705832" y="88900"/>
                </a:lnTo>
                <a:lnTo>
                  <a:pt x="4700270" y="76200"/>
                </a:lnTo>
                <a:lnTo>
                  <a:pt x="4719866" y="76200"/>
                </a:lnTo>
                <a:lnTo>
                  <a:pt x="4725288" y="88900"/>
                </a:lnTo>
                <a:close/>
              </a:path>
              <a:path w="4818380" h="1866900">
                <a:moveTo>
                  <a:pt x="1303121" y="101600"/>
                </a:moveTo>
                <a:lnTo>
                  <a:pt x="1288808" y="101600"/>
                </a:lnTo>
                <a:lnTo>
                  <a:pt x="1293977" y="88900"/>
                </a:lnTo>
                <a:lnTo>
                  <a:pt x="1308315" y="88900"/>
                </a:lnTo>
                <a:lnTo>
                  <a:pt x="1303121" y="101600"/>
                </a:lnTo>
                <a:close/>
              </a:path>
              <a:path w="4818380" h="1866900">
                <a:moveTo>
                  <a:pt x="1308201" y="101600"/>
                </a:moveTo>
                <a:lnTo>
                  <a:pt x="1308315" y="88900"/>
                </a:lnTo>
                <a:lnTo>
                  <a:pt x="1313522" y="88900"/>
                </a:lnTo>
                <a:lnTo>
                  <a:pt x="1308201" y="101600"/>
                </a:lnTo>
                <a:close/>
              </a:path>
              <a:path w="4818380" h="1866900">
                <a:moveTo>
                  <a:pt x="4716373" y="101600"/>
                </a:moveTo>
                <a:lnTo>
                  <a:pt x="4711052" y="88900"/>
                </a:lnTo>
                <a:lnTo>
                  <a:pt x="4716259" y="88900"/>
                </a:lnTo>
                <a:lnTo>
                  <a:pt x="4716373" y="101600"/>
                </a:lnTo>
                <a:close/>
              </a:path>
              <a:path w="4818380" h="1866900">
                <a:moveTo>
                  <a:pt x="4735766" y="101600"/>
                </a:moveTo>
                <a:lnTo>
                  <a:pt x="4721453" y="101600"/>
                </a:lnTo>
                <a:lnTo>
                  <a:pt x="4716259" y="88900"/>
                </a:lnTo>
                <a:lnTo>
                  <a:pt x="4730597" y="88900"/>
                </a:lnTo>
                <a:lnTo>
                  <a:pt x="4735766" y="101600"/>
                </a:lnTo>
                <a:close/>
              </a:path>
              <a:path w="4818380" h="1866900">
                <a:moveTo>
                  <a:pt x="1293329" y="114300"/>
                </a:moveTo>
                <a:lnTo>
                  <a:pt x="1278877" y="114300"/>
                </a:lnTo>
                <a:lnTo>
                  <a:pt x="1283779" y="101600"/>
                </a:lnTo>
                <a:lnTo>
                  <a:pt x="1298257" y="101600"/>
                </a:lnTo>
                <a:lnTo>
                  <a:pt x="1293329" y="114300"/>
                </a:lnTo>
                <a:close/>
              </a:path>
              <a:path w="4818380" h="1866900">
                <a:moveTo>
                  <a:pt x="4745697" y="114300"/>
                </a:moveTo>
                <a:lnTo>
                  <a:pt x="4731245" y="114300"/>
                </a:lnTo>
                <a:lnTo>
                  <a:pt x="4726317" y="101600"/>
                </a:lnTo>
                <a:lnTo>
                  <a:pt x="4740795" y="101600"/>
                </a:lnTo>
                <a:lnTo>
                  <a:pt x="4745697" y="114300"/>
                </a:lnTo>
                <a:close/>
              </a:path>
              <a:path w="4818380" h="1866900">
                <a:moveTo>
                  <a:pt x="1284046" y="127000"/>
                </a:moveTo>
                <a:lnTo>
                  <a:pt x="1269491" y="127000"/>
                </a:lnTo>
                <a:lnTo>
                  <a:pt x="1274114" y="114300"/>
                </a:lnTo>
                <a:lnTo>
                  <a:pt x="1288719" y="114300"/>
                </a:lnTo>
                <a:lnTo>
                  <a:pt x="1284046" y="127000"/>
                </a:lnTo>
                <a:close/>
              </a:path>
              <a:path w="4818380" h="1866900">
                <a:moveTo>
                  <a:pt x="4755083" y="127000"/>
                </a:moveTo>
                <a:lnTo>
                  <a:pt x="4740516" y="127000"/>
                </a:lnTo>
                <a:lnTo>
                  <a:pt x="4735855" y="114300"/>
                </a:lnTo>
                <a:lnTo>
                  <a:pt x="4750460" y="114300"/>
                </a:lnTo>
                <a:lnTo>
                  <a:pt x="4755083" y="127000"/>
                </a:lnTo>
                <a:close/>
              </a:path>
              <a:path w="4818380" h="1866900">
                <a:moveTo>
                  <a:pt x="1275308" y="139700"/>
                </a:moveTo>
                <a:lnTo>
                  <a:pt x="1256487" y="139700"/>
                </a:lnTo>
                <a:lnTo>
                  <a:pt x="1260678" y="127000"/>
                </a:lnTo>
                <a:lnTo>
                  <a:pt x="1279702" y="127000"/>
                </a:lnTo>
                <a:lnTo>
                  <a:pt x="1275308" y="139700"/>
                </a:lnTo>
                <a:close/>
              </a:path>
              <a:path w="4818380" h="1866900">
                <a:moveTo>
                  <a:pt x="4768087" y="139700"/>
                </a:moveTo>
                <a:lnTo>
                  <a:pt x="4749253" y="139700"/>
                </a:lnTo>
                <a:lnTo>
                  <a:pt x="4744872" y="127000"/>
                </a:lnTo>
                <a:lnTo>
                  <a:pt x="4763897" y="127000"/>
                </a:lnTo>
                <a:lnTo>
                  <a:pt x="4768087" y="139700"/>
                </a:lnTo>
                <a:close/>
              </a:path>
              <a:path w="4818380" h="1866900">
                <a:moveTo>
                  <a:pt x="1255966" y="165100"/>
                </a:moveTo>
                <a:lnTo>
                  <a:pt x="1244841" y="165100"/>
                </a:lnTo>
                <a:lnTo>
                  <a:pt x="1248562" y="152400"/>
                </a:lnTo>
                <a:lnTo>
                  <a:pt x="1252448" y="139700"/>
                </a:lnTo>
                <a:lnTo>
                  <a:pt x="1271244" y="139700"/>
                </a:lnTo>
                <a:lnTo>
                  <a:pt x="1267142" y="152400"/>
                </a:lnTo>
                <a:lnTo>
                  <a:pt x="1259611" y="152400"/>
                </a:lnTo>
                <a:lnTo>
                  <a:pt x="1255966" y="165100"/>
                </a:lnTo>
                <a:close/>
              </a:path>
              <a:path w="4818380" h="1866900">
                <a:moveTo>
                  <a:pt x="4779733" y="165100"/>
                </a:moveTo>
                <a:lnTo>
                  <a:pt x="4768608" y="165100"/>
                </a:lnTo>
                <a:lnTo>
                  <a:pt x="4764951" y="152400"/>
                </a:lnTo>
                <a:lnTo>
                  <a:pt x="4757432" y="152400"/>
                </a:lnTo>
                <a:lnTo>
                  <a:pt x="4753330" y="139700"/>
                </a:lnTo>
                <a:lnTo>
                  <a:pt x="4772126" y="139700"/>
                </a:lnTo>
                <a:lnTo>
                  <a:pt x="4776000" y="152400"/>
                </a:lnTo>
                <a:lnTo>
                  <a:pt x="4779733" y="165100"/>
                </a:lnTo>
                <a:close/>
              </a:path>
              <a:path w="4818380" h="1866900">
                <a:moveTo>
                  <a:pt x="1259535" y="165100"/>
                </a:moveTo>
                <a:lnTo>
                  <a:pt x="1259611" y="152400"/>
                </a:lnTo>
                <a:lnTo>
                  <a:pt x="1263345" y="152400"/>
                </a:lnTo>
                <a:lnTo>
                  <a:pt x="1259535" y="165100"/>
                </a:lnTo>
                <a:close/>
              </a:path>
              <a:path w="4818380" h="1866900">
                <a:moveTo>
                  <a:pt x="4765039" y="165100"/>
                </a:moveTo>
                <a:lnTo>
                  <a:pt x="4761230" y="152400"/>
                </a:lnTo>
                <a:lnTo>
                  <a:pt x="4764951" y="152400"/>
                </a:lnTo>
                <a:lnTo>
                  <a:pt x="4765039" y="165100"/>
                </a:lnTo>
                <a:close/>
              </a:path>
              <a:path w="4818380" h="1866900">
                <a:moveTo>
                  <a:pt x="1252537" y="177800"/>
                </a:moveTo>
                <a:lnTo>
                  <a:pt x="1237856" y="177800"/>
                </a:lnTo>
                <a:lnTo>
                  <a:pt x="1241259" y="165100"/>
                </a:lnTo>
                <a:lnTo>
                  <a:pt x="1256029" y="165100"/>
                </a:lnTo>
                <a:lnTo>
                  <a:pt x="1252537" y="177800"/>
                </a:lnTo>
                <a:close/>
              </a:path>
              <a:path w="4818380" h="1866900">
                <a:moveTo>
                  <a:pt x="4786718" y="177800"/>
                </a:moveTo>
                <a:lnTo>
                  <a:pt x="4772037" y="177800"/>
                </a:lnTo>
                <a:lnTo>
                  <a:pt x="4768532" y="165100"/>
                </a:lnTo>
                <a:lnTo>
                  <a:pt x="4783302" y="165100"/>
                </a:lnTo>
                <a:lnTo>
                  <a:pt x="4786718" y="177800"/>
                </a:lnTo>
                <a:close/>
              </a:path>
              <a:path w="4818380" h="1866900">
                <a:moveTo>
                  <a:pt x="1246149" y="190500"/>
                </a:moveTo>
                <a:lnTo>
                  <a:pt x="1231518" y="190500"/>
                </a:lnTo>
                <a:lnTo>
                  <a:pt x="1234605" y="177800"/>
                </a:lnTo>
                <a:lnTo>
                  <a:pt x="1249324" y="177800"/>
                </a:lnTo>
                <a:lnTo>
                  <a:pt x="1246149" y="190500"/>
                </a:lnTo>
                <a:close/>
              </a:path>
              <a:path w="4818380" h="1866900">
                <a:moveTo>
                  <a:pt x="4793043" y="190500"/>
                </a:moveTo>
                <a:lnTo>
                  <a:pt x="4778425" y="190500"/>
                </a:lnTo>
                <a:lnTo>
                  <a:pt x="4775238" y="177800"/>
                </a:lnTo>
                <a:lnTo>
                  <a:pt x="4789970" y="177800"/>
                </a:lnTo>
                <a:lnTo>
                  <a:pt x="4793043" y="190500"/>
                </a:lnTo>
                <a:close/>
              </a:path>
              <a:path w="4818380" h="1866900">
                <a:moveTo>
                  <a:pt x="1240396" y="203200"/>
                </a:moveTo>
                <a:lnTo>
                  <a:pt x="1225854" y="203200"/>
                </a:lnTo>
                <a:lnTo>
                  <a:pt x="1228610" y="190500"/>
                </a:lnTo>
                <a:lnTo>
                  <a:pt x="1243253" y="190500"/>
                </a:lnTo>
                <a:lnTo>
                  <a:pt x="1240396" y="203200"/>
                </a:lnTo>
                <a:close/>
              </a:path>
              <a:path w="4818380" h="1866900">
                <a:moveTo>
                  <a:pt x="4798707" y="203200"/>
                </a:moveTo>
                <a:lnTo>
                  <a:pt x="4784178" y="203200"/>
                </a:lnTo>
                <a:lnTo>
                  <a:pt x="4781321" y="190500"/>
                </a:lnTo>
                <a:lnTo>
                  <a:pt x="4795964" y="190500"/>
                </a:lnTo>
                <a:lnTo>
                  <a:pt x="4798707" y="203200"/>
                </a:lnTo>
                <a:close/>
              </a:path>
              <a:path w="4818380" h="1866900">
                <a:moveTo>
                  <a:pt x="1230858" y="228600"/>
                </a:moveTo>
                <a:lnTo>
                  <a:pt x="1218666" y="228600"/>
                </a:lnTo>
                <a:lnTo>
                  <a:pt x="1220889" y="215900"/>
                </a:lnTo>
                <a:lnTo>
                  <a:pt x="1223289" y="203200"/>
                </a:lnTo>
                <a:lnTo>
                  <a:pt x="1237818" y="203200"/>
                </a:lnTo>
                <a:lnTo>
                  <a:pt x="1235290" y="215900"/>
                </a:lnTo>
                <a:lnTo>
                  <a:pt x="1233042" y="215900"/>
                </a:lnTo>
                <a:lnTo>
                  <a:pt x="1230858" y="228600"/>
                </a:lnTo>
                <a:close/>
              </a:path>
              <a:path w="4818380" h="1866900">
                <a:moveTo>
                  <a:pt x="4805908" y="228600"/>
                </a:moveTo>
                <a:lnTo>
                  <a:pt x="4793703" y="228600"/>
                </a:lnTo>
                <a:lnTo>
                  <a:pt x="4791532" y="215900"/>
                </a:lnTo>
                <a:lnTo>
                  <a:pt x="4789284" y="215900"/>
                </a:lnTo>
                <a:lnTo>
                  <a:pt x="4786757" y="203200"/>
                </a:lnTo>
                <a:lnTo>
                  <a:pt x="4801285" y="203200"/>
                </a:lnTo>
                <a:lnTo>
                  <a:pt x="4803686" y="215900"/>
                </a:lnTo>
                <a:lnTo>
                  <a:pt x="4805908" y="228600"/>
                </a:lnTo>
                <a:close/>
              </a:path>
              <a:path w="4818380" h="1866900">
                <a:moveTo>
                  <a:pt x="1227124" y="241300"/>
                </a:moveTo>
                <a:lnTo>
                  <a:pt x="1214767" y="241300"/>
                </a:lnTo>
                <a:lnTo>
                  <a:pt x="1216621" y="228600"/>
                </a:lnTo>
                <a:lnTo>
                  <a:pt x="1228940" y="228600"/>
                </a:lnTo>
                <a:lnTo>
                  <a:pt x="1227124" y="241300"/>
                </a:lnTo>
                <a:close/>
              </a:path>
              <a:path w="4818380" h="1866900">
                <a:moveTo>
                  <a:pt x="4809807" y="241300"/>
                </a:moveTo>
                <a:lnTo>
                  <a:pt x="4797450" y="241300"/>
                </a:lnTo>
                <a:lnTo>
                  <a:pt x="4795621" y="228600"/>
                </a:lnTo>
                <a:lnTo>
                  <a:pt x="4807940" y="228600"/>
                </a:lnTo>
                <a:lnTo>
                  <a:pt x="4809807" y="241300"/>
                </a:lnTo>
                <a:close/>
              </a:path>
              <a:path w="4818380" h="1866900">
                <a:moveTo>
                  <a:pt x="1222857" y="266700"/>
                </a:moveTo>
                <a:lnTo>
                  <a:pt x="1210310" y="266700"/>
                </a:lnTo>
                <a:lnTo>
                  <a:pt x="1211605" y="254000"/>
                </a:lnTo>
                <a:lnTo>
                  <a:pt x="1213091" y="241300"/>
                </a:lnTo>
                <a:lnTo>
                  <a:pt x="1227162" y="241300"/>
                </a:lnTo>
                <a:lnTo>
                  <a:pt x="1225524" y="254000"/>
                </a:lnTo>
                <a:lnTo>
                  <a:pt x="1224127" y="254000"/>
                </a:lnTo>
                <a:lnTo>
                  <a:pt x="1222857" y="266700"/>
                </a:lnTo>
                <a:close/>
              </a:path>
              <a:path w="4818380" h="1866900">
                <a:moveTo>
                  <a:pt x="4814252" y="266700"/>
                </a:moveTo>
                <a:lnTo>
                  <a:pt x="4801717" y="266700"/>
                </a:lnTo>
                <a:lnTo>
                  <a:pt x="4800447" y="254000"/>
                </a:lnTo>
                <a:lnTo>
                  <a:pt x="4799050" y="254000"/>
                </a:lnTo>
                <a:lnTo>
                  <a:pt x="4797412" y="241300"/>
                </a:lnTo>
                <a:lnTo>
                  <a:pt x="4811471" y="241300"/>
                </a:lnTo>
                <a:lnTo>
                  <a:pt x="4812957" y="254000"/>
                </a:lnTo>
                <a:lnTo>
                  <a:pt x="4814252" y="266700"/>
                </a:lnTo>
                <a:close/>
              </a:path>
              <a:path w="4818380" h="1866900">
                <a:moveTo>
                  <a:pt x="1220927" y="279400"/>
                </a:moveTo>
                <a:lnTo>
                  <a:pt x="1208303" y="279400"/>
                </a:lnTo>
                <a:lnTo>
                  <a:pt x="1209217" y="266700"/>
                </a:lnTo>
                <a:lnTo>
                  <a:pt x="1221816" y="266700"/>
                </a:lnTo>
                <a:lnTo>
                  <a:pt x="1220927" y="279400"/>
                </a:lnTo>
                <a:close/>
              </a:path>
              <a:path w="4818380" h="1866900">
                <a:moveTo>
                  <a:pt x="4816271" y="279400"/>
                </a:moveTo>
                <a:lnTo>
                  <a:pt x="4803635" y="279400"/>
                </a:lnTo>
                <a:lnTo>
                  <a:pt x="4802746" y="266700"/>
                </a:lnTo>
                <a:lnTo>
                  <a:pt x="4815357" y="266700"/>
                </a:lnTo>
                <a:lnTo>
                  <a:pt x="4816271" y="279400"/>
                </a:lnTo>
                <a:close/>
              </a:path>
              <a:path w="4818380" h="1866900">
                <a:moveTo>
                  <a:pt x="1219466" y="304800"/>
                </a:moveTo>
                <a:lnTo>
                  <a:pt x="1206779" y="304800"/>
                </a:lnTo>
                <a:lnTo>
                  <a:pt x="1207084" y="292100"/>
                </a:lnTo>
                <a:lnTo>
                  <a:pt x="1207592" y="279400"/>
                </a:lnTo>
                <a:lnTo>
                  <a:pt x="1220952" y="279400"/>
                </a:lnTo>
                <a:lnTo>
                  <a:pt x="1220254" y="292100"/>
                </a:lnTo>
                <a:lnTo>
                  <a:pt x="1219771" y="292100"/>
                </a:lnTo>
                <a:lnTo>
                  <a:pt x="1219466" y="304800"/>
                </a:lnTo>
                <a:close/>
              </a:path>
              <a:path w="4818380" h="1866900">
                <a:moveTo>
                  <a:pt x="4817795" y="304800"/>
                </a:moveTo>
                <a:lnTo>
                  <a:pt x="4805095" y="304800"/>
                </a:lnTo>
                <a:lnTo>
                  <a:pt x="4804803" y="292100"/>
                </a:lnTo>
                <a:lnTo>
                  <a:pt x="4804321" y="292100"/>
                </a:lnTo>
                <a:lnTo>
                  <a:pt x="4803622" y="279400"/>
                </a:lnTo>
                <a:lnTo>
                  <a:pt x="4816970" y="279400"/>
                </a:lnTo>
                <a:lnTo>
                  <a:pt x="4817491" y="292100"/>
                </a:lnTo>
                <a:lnTo>
                  <a:pt x="4817795" y="304800"/>
                </a:lnTo>
                <a:close/>
              </a:path>
              <a:path w="4818380" h="1866900">
                <a:moveTo>
                  <a:pt x="66173" y="1351730"/>
                </a:moveTo>
                <a:lnTo>
                  <a:pt x="46049" y="1348280"/>
                </a:lnTo>
                <a:lnTo>
                  <a:pt x="1211605" y="1079500"/>
                </a:lnTo>
                <a:lnTo>
                  <a:pt x="1206677" y="1079500"/>
                </a:lnTo>
                <a:lnTo>
                  <a:pt x="1206677" y="304800"/>
                </a:lnTo>
                <a:lnTo>
                  <a:pt x="1219377" y="304800"/>
                </a:lnTo>
                <a:lnTo>
                  <a:pt x="1219377" y="1092200"/>
                </a:lnTo>
                <a:lnTo>
                  <a:pt x="66173" y="1351730"/>
                </a:lnTo>
                <a:close/>
              </a:path>
              <a:path w="4818380" h="1866900">
                <a:moveTo>
                  <a:pt x="4817795" y="1562100"/>
                </a:moveTo>
                <a:lnTo>
                  <a:pt x="4805095" y="1562100"/>
                </a:lnTo>
                <a:lnTo>
                  <a:pt x="4805197" y="304800"/>
                </a:lnTo>
                <a:lnTo>
                  <a:pt x="4817897" y="304800"/>
                </a:lnTo>
                <a:lnTo>
                  <a:pt x="4817795" y="1562100"/>
                </a:lnTo>
                <a:close/>
              </a:path>
              <a:path w="4818380" h="1866900">
                <a:moveTo>
                  <a:pt x="34064" y="1351044"/>
                </a:moveTo>
                <a:lnTo>
                  <a:pt x="33908" y="1346200"/>
                </a:lnTo>
                <a:lnTo>
                  <a:pt x="46049" y="1348280"/>
                </a:lnTo>
                <a:lnTo>
                  <a:pt x="34064" y="1351044"/>
                </a:lnTo>
                <a:close/>
              </a:path>
              <a:path w="4818380" h="1866900">
                <a:moveTo>
                  <a:pt x="34315" y="1358900"/>
                </a:moveTo>
                <a:lnTo>
                  <a:pt x="34064" y="1351044"/>
                </a:lnTo>
                <a:lnTo>
                  <a:pt x="46049" y="1348280"/>
                </a:lnTo>
                <a:lnTo>
                  <a:pt x="66173" y="1351730"/>
                </a:lnTo>
                <a:lnTo>
                  <a:pt x="34315" y="1358900"/>
                </a:lnTo>
                <a:close/>
              </a:path>
              <a:path w="4818380" h="1866900">
                <a:moveTo>
                  <a:pt x="1219479" y="1562100"/>
                </a:moveTo>
                <a:lnTo>
                  <a:pt x="1206779" y="1562100"/>
                </a:lnTo>
                <a:lnTo>
                  <a:pt x="1206677" y="1549400"/>
                </a:lnTo>
                <a:lnTo>
                  <a:pt x="1211999" y="1549400"/>
                </a:lnTo>
                <a:lnTo>
                  <a:pt x="0" y="1358900"/>
                </a:lnTo>
                <a:lnTo>
                  <a:pt x="34064" y="1351044"/>
                </a:lnTo>
                <a:lnTo>
                  <a:pt x="34315" y="1358900"/>
                </a:lnTo>
                <a:lnTo>
                  <a:pt x="108000" y="1358900"/>
                </a:lnTo>
                <a:lnTo>
                  <a:pt x="1219377" y="1549400"/>
                </a:lnTo>
                <a:lnTo>
                  <a:pt x="1219479" y="1562100"/>
                </a:lnTo>
                <a:close/>
              </a:path>
              <a:path w="4818380" h="1866900">
                <a:moveTo>
                  <a:pt x="108000" y="1358900"/>
                </a:moveTo>
                <a:lnTo>
                  <a:pt x="34315" y="1358900"/>
                </a:lnTo>
                <a:lnTo>
                  <a:pt x="66173" y="1351730"/>
                </a:lnTo>
                <a:lnTo>
                  <a:pt x="108000" y="1358900"/>
                </a:lnTo>
                <a:close/>
              </a:path>
              <a:path w="4818380" h="1866900">
                <a:moveTo>
                  <a:pt x="1221816" y="1587500"/>
                </a:moveTo>
                <a:lnTo>
                  <a:pt x="1208303" y="1587500"/>
                </a:lnTo>
                <a:lnTo>
                  <a:pt x="1207592" y="1574800"/>
                </a:lnTo>
                <a:lnTo>
                  <a:pt x="1207084" y="1562100"/>
                </a:lnTo>
                <a:lnTo>
                  <a:pt x="1219758" y="1562100"/>
                </a:lnTo>
                <a:lnTo>
                  <a:pt x="1220266" y="1574800"/>
                </a:lnTo>
                <a:lnTo>
                  <a:pt x="1220927" y="1574800"/>
                </a:lnTo>
                <a:lnTo>
                  <a:pt x="1221816" y="1587500"/>
                </a:lnTo>
                <a:close/>
              </a:path>
              <a:path w="4818380" h="1866900">
                <a:moveTo>
                  <a:pt x="4816271" y="1587500"/>
                </a:moveTo>
                <a:lnTo>
                  <a:pt x="4802746" y="1587500"/>
                </a:lnTo>
                <a:lnTo>
                  <a:pt x="4803635" y="1574800"/>
                </a:lnTo>
                <a:lnTo>
                  <a:pt x="4804308" y="1574800"/>
                </a:lnTo>
                <a:lnTo>
                  <a:pt x="4804803" y="1562100"/>
                </a:lnTo>
                <a:lnTo>
                  <a:pt x="4817491" y="1562100"/>
                </a:lnTo>
                <a:lnTo>
                  <a:pt x="4816970" y="1574800"/>
                </a:lnTo>
                <a:lnTo>
                  <a:pt x="4816271" y="1587500"/>
                </a:lnTo>
                <a:close/>
              </a:path>
              <a:path w="4818380" h="1866900">
                <a:moveTo>
                  <a:pt x="1222882" y="1600200"/>
                </a:moveTo>
                <a:lnTo>
                  <a:pt x="1210310" y="1600200"/>
                </a:lnTo>
                <a:lnTo>
                  <a:pt x="1209217" y="1587500"/>
                </a:lnTo>
                <a:lnTo>
                  <a:pt x="1221803" y="1587500"/>
                </a:lnTo>
                <a:lnTo>
                  <a:pt x="1222882" y="1600200"/>
                </a:lnTo>
                <a:close/>
              </a:path>
              <a:path w="4818380" h="1866900">
                <a:moveTo>
                  <a:pt x="4814252" y="1600200"/>
                </a:moveTo>
                <a:lnTo>
                  <a:pt x="4801692" y="1600200"/>
                </a:lnTo>
                <a:lnTo>
                  <a:pt x="4802771" y="1587500"/>
                </a:lnTo>
                <a:lnTo>
                  <a:pt x="4815357" y="1587500"/>
                </a:lnTo>
                <a:lnTo>
                  <a:pt x="4814252" y="1600200"/>
                </a:lnTo>
                <a:close/>
              </a:path>
              <a:path w="4818380" h="1866900">
                <a:moveTo>
                  <a:pt x="1228940" y="1625600"/>
                </a:moveTo>
                <a:lnTo>
                  <a:pt x="1214767" y="1625600"/>
                </a:lnTo>
                <a:lnTo>
                  <a:pt x="1213091" y="1612900"/>
                </a:lnTo>
                <a:lnTo>
                  <a:pt x="1211605" y="1600200"/>
                </a:lnTo>
                <a:lnTo>
                  <a:pt x="1224102" y="1600200"/>
                </a:lnTo>
                <a:lnTo>
                  <a:pt x="1225550" y="1612900"/>
                </a:lnTo>
                <a:lnTo>
                  <a:pt x="1227124" y="1612900"/>
                </a:lnTo>
                <a:lnTo>
                  <a:pt x="1228940" y="1625600"/>
                </a:lnTo>
                <a:close/>
              </a:path>
              <a:path w="4818380" h="1866900">
                <a:moveTo>
                  <a:pt x="4809807" y="1625600"/>
                </a:moveTo>
                <a:lnTo>
                  <a:pt x="4795621" y="1625600"/>
                </a:lnTo>
                <a:lnTo>
                  <a:pt x="4797450" y="1612900"/>
                </a:lnTo>
                <a:lnTo>
                  <a:pt x="4799012" y="1612900"/>
                </a:lnTo>
                <a:lnTo>
                  <a:pt x="4800473" y="1600200"/>
                </a:lnTo>
                <a:lnTo>
                  <a:pt x="4812957" y="1600200"/>
                </a:lnTo>
                <a:lnTo>
                  <a:pt x="4811471" y="1612900"/>
                </a:lnTo>
                <a:lnTo>
                  <a:pt x="4809807" y="1625600"/>
                </a:lnTo>
                <a:close/>
              </a:path>
              <a:path w="4818380" h="1866900">
                <a:moveTo>
                  <a:pt x="1230909" y="1638300"/>
                </a:moveTo>
                <a:lnTo>
                  <a:pt x="1218666" y="1638300"/>
                </a:lnTo>
                <a:lnTo>
                  <a:pt x="1216621" y="1625600"/>
                </a:lnTo>
                <a:lnTo>
                  <a:pt x="1228902" y="1625600"/>
                </a:lnTo>
                <a:lnTo>
                  <a:pt x="1230909" y="1638300"/>
                </a:lnTo>
                <a:close/>
              </a:path>
              <a:path w="4818380" h="1866900">
                <a:moveTo>
                  <a:pt x="4805908" y="1638300"/>
                </a:moveTo>
                <a:lnTo>
                  <a:pt x="4793665" y="1638300"/>
                </a:lnTo>
                <a:lnTo>
                  <a:pt x="4795659" y="1625600"/>
                </a:lnTo>
                <a:lnTo>
                  <a:pt x="4807940" y="1625600"/>
                </a:lnTo>
                <a:lnTo>
                  <a:pt x="4805908" y="1638300"/>
                </a:lnTo>
                <a:close/>
              </a:path>
              <a:path w="4818380" h="1866900">
                <a:moveTo>
                  <a:pt x="1240447" y="1663700"/>
                </a:moveTo>
                <a:lnTo>
                  <a:pt x="1225854" y="1663700"/>
                </a:lnTo>
                <a:lnTo>
                  <a:pt x="1223289" y="1651000"/>
                </a:lnTo>
                <a:lnTo>
                  <a:pt x="1220889" y="1638300"/>
                </a:lnTo>
                <a:lnTo>
                  <a:pt x="1232992" y="1638300"/>
                </a:lnTo>
                <a:lnTo>
                  <a:pt x="1235341" y="1651000"/>
                </a:lnTo>
                <a:lnTo>
                  <a:pt x="1237754" y="1651000"/>
                </a:lnTo>
                <a:lnTo>
                  <a:pt x="1240447" y="1663700"/>
                </a:lnTo>
                <a:close/>
              </a:path>
              <a:path w="4818380" h="1866900">
                <a:moveTo>
                  <a:pt x="4798707" y="1663700"/>
                </a:moveTo>
                <a:lnTo>
                  <a:pt x="4784115" y="1663700"/>
                </a:lnTo>
                <a:lnTo>
                  <a:pt x="4786807" y="1651000"/>
                </a:lnTo>
                <a:lnTo>
                  <a:pt x="4789233" y="1651000"/>
                </a:lnTo>
                <a:lnTo>
                  <a:pt x="4791583" y="1638300"/>
                </a:lnTo>
                <a:lnTo>
                  <a:pt x="4803686" y="1638300"/>
                </a:lnTo>
                <a:lnTo>
                  <a:pt x="4801285" y="1651000"/>
                </a:lnTo>
                <a:lnTo>
                  <a:pt x="4798707" y="1663700"/>
                </a:lnTo>
                <a:close/>
              </a:path>
              <a:path w="4818380" h="1866900">
                <a:moveTo>
                  <a:pt x="1246212" y="1676400"/>
                </a:moveTo>
                <a:lnTo>
                  <a:pt x="1231518" y="1676400"/>
                </a:lnTo>
                <a:lnTo>
                  <a:pt x="1228610" y="1663700"/>
                </a:lnTo>
                <a:lnTo>
                  <a:pt x="1243190" y="1663700"/>
                </a:lnTo>
                <a:lnTo>
                  <a:pt x="1246212" y="1676400"/>
                </a:lnTo>
                <a:close/>
              </a:path>
              <a:path w="4818380" h="1866900">
                <a:moveTo>
                  <a:pt x="4793043" y="1676400"/>
                </a:moveTo>
                <a:lnTo>
                  <a:pt x="4778362" y="1676400"/>
                </a:lnTo>
                <a:lnTo>
                  <a:pt x="4781384" y="1663700"/>
                </a:lnTo>
                <a:lnTo>
                  <a:pt x="4795964" y="1663700"/>
                </a:lnTo>
                <a:lnTo>
                  <a:pt x="4793043" y="1676400"/>
                </a:lnTo>
                <a:close/>
              </a:path>
              <a:path w="4818380" h="1866900">
                <a:moveTo>
                  <a:pt x="1252601" y="1689100"/>
                </a:moveTo>
                <a:lnTo>
                  <a:pt x="1237856" y="1689100"/>
                </a:lnTo>
                <a:lnTo>
                  <a:pt x="1234605" y="1676400"/>
                </a:lnTo>
                <a:lnTo>
                  <a:pt x="1249260" y="1676400"/>
                </a:lnTo>
                <a:lnTo>
                  <a:pt x="1252601" y="1689100"/>
                </a:lnTo>
                <a:close/>
              </a:path>
              <a:path w="4818380" h="1866900">
                <a:moveTo>
                  <a:pt x="4786718" y="1689100"/>
                </a:moveTo>
                <a:lnTo>
                  <a:pt x="4771961" y="1689100"/>
                </a:lnTo>
                <a:lnTo>
                  <a:pt x="4775314" y="1676400"/>
                </a:lnTo>
                <a:lnTo>
                  <a:pt x="4789970" y="1676400"/>
                </a:lnTo>
                <a:lnTo>
                  <a:pt x="4786718" y="1689100"/>
                </a:lnTo>
                <a:close/>
              </a:path>
              <a:path w="4818380" h="1866900">
                <a:moveTo>
                  <a:pt x="1259611" y="1701800"/>
                </a:moveTo>
                <a:lnTo>
                  <a:pt x="1244841" y="1701800"/>
                </a:lnTo>
                <a:lnTo>
                  <a:pt x="1241259" y="1689100"/>
                </a:lnTo>
                <a:lnTo>
                  <a:pt x="1255966" y="1689100"/>
                </a:lnTo>
                <a:lnTo>
                  <a:pt x="1259611" y="1701800"/>
                </a:lnTo>
                <a:close/>
              </a:path>
              <a:path w="4818380" h="1866900">
                <a:moveTo>
                  <a:pt x="4779733" y="1701800"/>
                </a:moveTo>
                <a:lnTo>
                  <a:pt x="4764951" y="1701800"/>
                </a:lnTo>
                <a:lnTo>
                  <a:pt x="4768608" y="1689100"/>
                </a:lnTo>
                <a:lnTo>
                  <a:pt x="4783302" y="1689100"/>
                </a:lnTo>
                <a:lnTo>
                  <a:pt x="4779733" y="1701800"/>
                </a:lnTo>
                <a:close/>
              </a:path>
              <a:path w="4818380" h="1866900">
                <a:moveTo>
                  <a:pt x="1267218" y="1714500"/>
                </a:moveTo>
                <a:lnTo>
                  <a:pt x="1252448" y="1714500"/>
                </a:lnTo>
                <a:lnTo>
                  <a:pt x="1248562" y="1701800"/>
                </a:lnTo>
                <a:lnTo>
                  <a:pt x="1263268" y="1701800"/>
                </a:lnTo>
                <a:lnTo>
                  <a:pt x="1267218" y="1714500"/>
                </a:lnTo>
                <a:close/>
              </a:path>
              <a:path w="4818380" h="1866900">
                <a:moveTo>
                  <a:pt x="4772126" y="1714500"/>
                </a:moveTo>
                <a:lnTo>
                  <a:pt x="4757356" y="1714500"/>
                </a:lnTo>
                <a:lnTo>
                  <a:pt x="4761306" y="1701800"/>
                </a:lnTo>
                <a:lnTo>
                  <a:pt x="4776000" y="1701800"/>
                </a:lnTo>
                <a:lnTo>
                  <a:pt x="4772126" y="1714500"/>
                </a:lnTo>
                <a:close/>
              </a:path>
              <a:path w="4818380" h="1866900">
                <a:moveTo>
                  <a:pt x="1275397" y="1727200"/>
                </a:moveTo>
                <a:lnTo>
                  <a:pt x="1260678" y="1727200"/>
                </a:lnTo>
                <a:lnTo>
                  <a:pt x="1256487" y="1714500"/>
                </a:lnTo>
                <a:lnTo>
                  <a:pt x="1271155" y="1714500"/>
                </a:lnTo>
                <a:lnTo>
                  <a:pt x="1275397" y="1727200"/>
                </a:lnTo>
                <a:close/>
              </a:path>
              <a:path w="4818380" h="1866900">
                <a:moveTo>
                  <a:pt x="4763897" y="1727200"/>
                </a:moveTo>
                <a:lnTo>
                  <a:pt x="4749164" y="1727200"/>
                </a:lnTo>
                <a:lnTo>
                  <a:pt x="4753419" y="1714500"/>
                </a:lnTo>
                <a:lnTo>
                  <a:pt x="4768087" y="1714500"/>
                </a:lnTo>
                <a:lnTo>
                  <a:pt x="4763897" y="1727200"/>
                </a:lnTo>
                <a:close/>
              </a:path>
              <a:path w="4818380" h="1866900">
                <a:moveTo>
                  <a:pt x="1284147" y="1739900"/>
                </a:moveTo>
                <a:lnTo>
                  <a:pt x="1269491" y="1739900"/>
                </a:lnTo>
                <a:lnTo>
                  <a:pt x="1265008" y="1727200"/>
                </a:lnTo>
                <a:lnTo>
                  <a:pt x="1279613" y="1727200"/>
                </a:lnTo>
                <a:lnTo>
                  <a:pt x="1284147" y="1739900"/>
                </a:lnTo>
                <a:close/>
              </a:path>
              <a:path w="4818380" h="1866900">
                <a:moveTo>
                  <a:pt x="4755083" y="1739900"/>
                </a:moveTo>
                <a:lnTo>
                  <a:pt x="4740427" y="1739900"/>
                </a:lnTo>
                <a:lnTo>
                  <a:pt x="4744961" y="1727200"/>
                </a:lnTo>
                <a:lnTo>
                  <a:pt x="4759566" y="1727200"/>
                </a:lnTo>
                <a:lnTo>
                  <a:pt x="4755083" y="1739900"/>
                </a:lnTo>
                <a:close/>
              </a:path>
              <a:path w="4818380" h="1866900">
                <a:moveTo>
                  <a:pt x="1293418" y="1752600"/>
                </a:moveTo>
                <a:lnTo>
                  <a:pt x="1278877" y="1752600"/>
                </a:lnTo>
                <a:lnTo>
                  <a:pt x="1274114" y="1739900"/>
                </a:lnTo>
                <a:lnTo>
                  <a:pt x="1288618" y="1739900"/>
                </a:lnTo>
                <a:lnTo>
                  <a:pt x="1293418" y="1752600"/>
                </a:lnTo>
                <a:close/>
              </a:path>
              <a:path w="4818380" h="1866900">
                <a:moveTo>
                  <a:pt x="4745697" y="1752600"/>
                </a:moveTo>
                <a:lnTo>
                  <a:pt x="4731143" y="1752600"/>
                </a:lnTo>
                <a:lnTo>
                  <a:pt x="4735957" y="1739900"/>
                </a:lnTo>
                <a:lnTo>
                  <a:pt x="4750460" y="1739900"/>
                </a:lnTo>
                <a:lnTo>
                  <a:pt x="4745697" y="1752600"/>
                </a:lnTo>
                <a:close/>
              </a:path>
              <a:path w="4818380" h="1866900">
                <a:moveTo>
                  <a:pt x="1308315" y="1765300"/>
                </a:moveTo>
                <a:lnTo>
                  <a:pt x="1288808" y="1765300"/>
                </a:lnTo>
                <a:lnTo>
                  <a:pt x="1283779" y="1752600"/>
                </a:lnTo>
                <a:lnTo>
                  <a:pt x="1303121" y="1752600"/>
                </a:lnTo>
                <a:lnTo>
                  <a:pt x="1308315" y="1765300"/>
                </a:lnTo>
                <a:close/>
              </a:path>
              <a:path w="4818380" h="1866900">
                <a:moveTo>
                  <a:pt x="4735766" y="1765300"/>
                </a:moveTo>
                <a:lnTo>
                  <a:pt x="4716259" y="1765300"/>
                </a:lnTo>
                <a:lnTo>
                  <a:pt x="4721453" y="1752600"/>
                </a:lnTo>
                <a:lnTo>
                  <a:pt x="4740795" y="1752600"/>
                </a:lnTo>
                <a:lnTo>
                  <a:pt x="4735766" y="1765300"/>
                </a:lnTo>
                <a:close/>
              </a:path>
              <a:path w="4818380" h="1866900">
                <a:moveTo>
                  <a:pt x="1318856" y="1778000"/>
                </a:moveTo>
                <a:lnTo>
                  <a:pt x="1299273" y="1778000"/>
                </a:lnTo>
                <a:lnTo>
                  <a:pt x="1293977" y="1765300"/>
                </a:lnTo>
                <a:lnTo>
                  <a:pt x="1313408" y="1765300"/>
                </a:lnTo>
                <a:lnTo>
                  <a:pt x="1318856" y="1778000"/>
                </a:lnTo>
                <a:close/>
              </a:path>
              <a:path w="4818380" h="1866900">
                <a:moveTo>
                  <a:pt x="4725288" y="1778000"/>
                </a:moveTo>
                <a:lnTo>
                  <a:pt x="4705718" y="1778000"/>
                </a:lnTo>
                <a:lnTo>
                  <a:pt x="4711153" y="1765300"/>
                </a:lnTo>
                <a:lnTo>
                  <a:pt x="4730597" y="1765300"/>
                </a:lnTo>
                <a:lnTo>
                  <a:pt x="4725288" y="1778000"/>
                </a:lnTo>
                <a:close/>
              </a:path>
              <a:path w="4818380" h="1866900">
                <a:moveTo>
                  <a:pt x="1335544" y="1790700"/>
                </a:moveTo>
                <a:lnTo>
                  <a:pt x="1315935" y="1790700"/>
                </a:lnTo>
                <a:lnTo>
                  <a:pt x="1310258" y="1778000"/>
                </a:lnTo>
                <a:lnTo>
                  <a:pt x="1329753" y="1778000"/>
                </a:lnTo>
                <a:lnTo>
                  <a:pt x="1335544" y="1790700"/>
                </a:lnTo>
                <a:close/>
              </a:path>
              <a:path w="4818380" h="1866900">
                <a:moveTo>
                  <a:pt x="4708639" y="1790700"/>
                </a:moveTo>
                <a:lnTo>
                  <a:pt x="4689017" y="1790700"/>
                </a:lnTo>
                <a:lnTo>
                  <a:pt x="4694821" y="1778000"/>
                </a:lnTo>
                <a:lnTo>
                  <a:pt x="4714316" y="1778000"/>
                </a:lnTo>
                <a:lnTo>
                  <a:pt x="4708639" y="1790700"/>
                </a:lnTo>
                <a:close/>
              </a:path>
              <a:path w="4818380" h="1866900">
                <a:moveTo>
                  <a:pt x="1353235" y="1803400"/>
                </a:moveTo>
                <a:lnTo>
                  <a:pt x="1327645" y="1803400"/>
                </a:lnTo>
                <a:lnTo>
                  <a:pt x="1321727" y="1790700"/>
                </a:lnTo>
                <a:lnTo>
                  <a:pt x="1347114" y="1790700"/>
                </a:lnTo>
                <a:lnTo>
                  <a:pt x="1353235" y="1803400"/>
                </a:lnTo>
                <a:close/>
              </a:path>
              <a:path w="4818380" h="1866900">
                <a:moveTo>
                  <a:pt x="4696929" y="1803400"/>
                </a:moveTo>
                <a:lnTo>
                  <a:pt x="4671339" y="1803400"/>
                </a:lnTo>
                <a:lnTo>
                  <a:pt x="4677460" y="1790700"/>
                </a:lnTo>
                <a:lnTo>
                  <a:pt x="4702848" y="1790700"/>
                </a:lnTo>
                <a:lnTo>
                  <a:pt x="4696929" y="1803400"/>
                </a:lnTo>
                <a:close/>
              </a:path>
              <a:path w="4818380" h="1866900">
                <a:moveTo>
                  <a:pt x="1371853" y="1816100"/>
                </a:moveTo>
                <a:lnTo>
                  <a:pt x="1346060" y="1816100"/>
                </a:lnTo>
                <a:lnTo>
                  <a:pt x="1339811" y="1803400"/>
                </a:lnTo>
                <a:lnTo>
                  <a:pt x="1365427" y="1803400"/>
                </a:lnTo>
                <a:lnTo>
                  <a:pt x="1371853" y="1816100"/>
                </a:lnTo>
                <a:close/>
              </a:path>
              <a:path w="4818380" h="1866900">
                <a:moveTo>
                  <a:pt x="4678502" y="1816100"/>
                </a:moveTo>
                <a:lnTo>
                  <a:pt x="4652708" y="1816100"/>
                </a:lnTo>
                <a:lnTo>
                  <a:pt x="4659147" y="1803400"/>
                </a:lnTo>
                <a:lnTo>
                  <a:pt x="4684763" y="1803400"/>
                </a:lnTo>
                <a:lnTo>
                  <a:pt x="4678502" y="1816100"/>
                </a:lnTo>
                <a:close/>
              </a:path>
              <a:path w="4818380" h="1866900">
                <a:moveTo>
                  <a:pt x="1391348" y="1828800"/>
                </a:moveTo>
                <a:lnTo>
                  <a:pt x="1365465" y="1828800"/>
                </a:lnTo>
                <a:lnTo>
                  <a:pt x="1358887" y="1816100"/>
                </a:lnTo>
                <a:lnTo>
                  <a:pt x="1384617" y="1816100"/>
                </a:lnTo>
                <a:lnTo>
                  <a:pt x="1391348" y="1828800"/>
                </a:lnTo>
                <a:close/>
              </a:path>
              <a:path w="4818380" h="1866900">
                <a:moveTo>
                  <a:pt x="4659109" y="1828800"/>
                </a:moveTo>
                <a:lnTo>
                  <a:pt x="4633226" y="1828800"/>
                </a:lnTo>
                <a:lnTo>
                  <a:pt x="4639945" y="1816100"/>
                </a:lnTo>
                <a:lnTo>
                  <a:pt x="4665675" y="1816100"/>
                </a:lnTo>
                <a:lnTo>
                  <a:pt x="4659109" y="1828800"/>
                </a:lnTo>
                <a:close/>
              </a:path>
              <a:path w="4818380" h="1866900">
                <a:moveTo>
                  <a:pt x="1425587" y="1841500"/>
                </a:moveTo>
                <a:lnTo>
                  <a:pt x="1392720" y="1841500"/>
                </a:lnTo>
                <a:lnTo>
                  <a:pt x="1385760" y="1828800"/>
                </a:lnTo>
                <a:lnTo>
                  <a:pt x="1418424" y="1828800"/>
                </a:lnTo>
                <a:lnTo>
                  <a:pt x="1425587" y="1841500"/>
                </a:lnTo>
                <a:close/>
              </a:path>
              <a:path w="4818380" h="1866900">
                <a:moveTo>
                  <a:pt x="4631842" y="1841500"/>
                </a:moveTo>
                <a:lnTo>
                  <a:pt x="4598987" y="1841500"/>
                </a:lnTo>
                <a:lnTo>
                  <a:pt x="4606150" y="1828800"/>
                </a:lnTo>
                <a:lnTo>
                  <a:pt x="4638802" y="1828800"/>
                </a:lnTo>
                <a:lnTo>
                  <a:pt x="4631842" y="1841500"/>
                </a:lnTo>
                <a:close/>
              </a:path>
              <a:path w="4818380" h="1866900">
                <a:moveTo>
                  <a:pt x="1469199" y="1854200"/>
                </a:moveTo>
                <a:lnTo>
                  <a:pt x="1421434" y="1854200"/>
                </a:lnTo>
                <a:lnTo>
                  <a:pt x="1414132" y="1841500"/>
                </a:lnTo>
                <a:lnTo>
                  <a:pt x="1461592" y="1841500"/>
                </a:lnTo>
                <a:lnTo>
                  <a:pt x="1469199" y="1854200"/>
                </a:lnTo>
                <a:close/>
              </a:path>
              <a:path w="4818380" h="1866900">
                <a:moveTo>
                  <a:pt x="4603127" y="1854200"/>
                </a:moveTo>
                <a:lnTo>
                  <a:pt x="4555375" y="1854200"/>
                </a:lnTo>
                <a:lnTo>
                  <a:pt x="4562970" y="1841500"/>
                </a:lnTo>
                <a:lnTo>
                  <a:pt x="4610442" y="1841500"/>
                </a:lnTo>
                <a:lnTo>
                  <a:pt x="4603127" y="1854200"/>
                </a:lnTo>
                <a:close/>
              </a:path>
              <a:path w="4818380" h="1866900">
                <a:moveTo>
                  <a:pt x="4549876" y="1866900"/>
                </a:moveTo>
                <a:lnTo>
                  <a:pt x="1474698" y="1866900"/>
                </a:lnTo>
                <a:lnTo>
                  <a:pt x="1466888" y="1854200"/>
                </a:lnTo>
                <a:lnTo>
                  <a:pt x="4557687" y="1854200"/>
                </a:lnTo>
                <a:lnTo>
                  <a:pt x="4549876" y="186690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80944" y="2784030"/>
            <a:ext cx="6313932" cy="3578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713988" y="1982298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805180">
              <a:lnSpc>
                <a:spcPct val="100000"/>
              </a:lnSpc>
              <a:spcBef>
                <a:spcPts val="105"/>
              </a:spcBef>
            </a:pPr>
            <a:r>
              <a:rPr dirty="0"/>
              <a:t>演示实验</a:t>
            </a:r>
            <a:r>
              <a:rPr dirty="0" spc="5"/>
              <a:t>五</a:t>
            </a:r>
          </a:p>
        </p:txBody>
      </p:sp>
      <p:sp>
        <p:nvSpPr>
          <p:cNvPr id="5" name="object 5"/>
          <p:cNvSpPr/>
          <p:nvPr/>
        </p:nvSpPr>
        <p:spPr>
          <a:xfrm>
            <a:off x="3151632" y="1711451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51276" y="1935479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059861" y="2315057"/>
            <a:ext cx="520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观察演示实验，二极管发光情况如何？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71050" y="1982298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20500" y="1392732"/>
            <a:ext cx="20580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黑体"/>
                <a:cs typeface="黑体"/>
              </a:rPr>
              <a:t>演示实验</a:t>
            </a:r>
            <a:r>
              <a:rPr dirty="0" sz="3200" spc="5">
                <a:latin typeface="黑体"/>
                <a:cs typeface="黑体"/>
              </a:rPr>
              <a:t>六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08504" y="1711451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19" h="364489">
                <a:moveTo>
                  <a:pt x="0" y="0"/>
                </a:moveTo>
                <a:lnTo>
                  <a:pt x="362712" y="0"/>
                </a:lnTo>
                <a:lnTo>
                  <a:pt x="362712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08148" y="1935479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4" h="245744">
                <a:moveTo>
                  <a:pt x="0" y="0"/>
                </a:moveTo>
                <a:lnTo>
                  <a:pt x="245363" y="0"/>
                </a:lnTo>
                <a:lnTo>
                  <a:pt x="245363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02408" y="2315057"/>
            <a:ext cx="520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观察演示实验，二极管发光情况如何？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24100" y="2779776"/>
            <a:ext cx="6079236" cy="3419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28213" y="1982298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77663" y="1392732"/>
            <a:ext cx="20580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黑体"/>
                <a:cs typeface="黑体"/>
              </a:rPr>
              <a:t>演示实验</a:t>
            </a:r>
            <a:r>
              <a:rPr dirty="0" sz="3200" spc="5">
                <a:latin typeface="黑体"/>
                <a:cs typeface="黑体"/>
              </a:rPr>
              <a:t>六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64892" y="1711451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64535" y="1935479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74086" y="2315057"/>
            <a:ext cx="520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观察演示实验，二极管发光情况如何？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14600" y="2787624"/>
            <a:ext cx="6470903" cy="3307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42550" y="1982298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92000" y="1392732"/>
            <a:ext cx="20580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演示实验</a:t>
            </a:r>
            <a:r>
              <a:rPr dirty="0" spc="5"/>
              <a:t>七</a:t>
            </a:r>
          </a:p>
        </p:txBody>
      </p:sp>
      <p:sp>
        <p:nvSpPr>
          <p:cNvPr id="4" name="object 4"/>
          <p:cNvSpPr/>
          <p:nvPr/>
        </p:nvSpPr>
        <p:spPr>
          <a:xfrm>
            <a:off x="3080004" y="1711451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79647" y="1935479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988424" y="2315057"/>
            <a:ext cx="2463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手摇发电机的图像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31592" y="2889504"/>
            <a:ext cx="6062472" cy="3410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449529" y="2100186"/>
            <a:ext cx="2664040" cy="9802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923757" y="3134499"/>
            <a:ext cx="50177" cy="5024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065479" y="2194966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交变电流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6300" y="1450238"/>
            <a:ext cx="36836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二、交变电流的产</a:t>
            </a:r>
            <a:r>
              <a:rPr dirty="0" spc="5"/>
              <a:t>生</a:t>
            </a:r>
          </a:p>
        </p:txBody>
      </p:sp>
      <p:sp>
        <p:nvSpPr>
          <p:cNvPr id="3" name="object 3"/>
          <p:cNvSpPr/>
          <p:nvPr/>
        </p:nvSpPr>
        <p:spPr>
          <a:xfrm>
            <a:off x="4479035" y="2529839"/>
            <a:ext cx="3073908" cy="2560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9650" y="209660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37104" y="1825751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19" h="364489">
                <a:moveTo>
                  <a:pt x="0" y="0"/>
                </a:moveTo>
                <a:lnTo>
                  <a:pt x="362712" y="0"/>
                </a:lnTo>
                <a:lnTo>
                  <a:pt x="362712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36748" y="2049779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4" h="245744">
                <a:moveTo>
                  <a:pt x="0" y="0"/>
                </a:moveTo>
                <a:lnTo>
                  <a:pt x="245363" y="0"/>
                </a:lnTo>
                <a:lnTo>
                  <a:pt x="245363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91129" y="5324170"/>
            <a:ext cx="20751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ABC</a:t>
            </a:r>
            <a:r>
              <a:rPr dirty="0" sz="2400" b="1" i="1">
                <a:latin typeface="Times New Roman"/>
                <a:cs typeface="Times New Roman"/>
              </a:rPr>
              <a:t>D</a:t>
            </a:r>
            <a:r>
              <a:rPr dirty="0" sz="2400" b="1">
                <a:latin typeface="Times New Roman"/>
                <a:cs typeface="Times New Roman"/>
              </a:rPr>
              <a:t>——</a:t>
            </a:r>
            <a:r>
              <a:rPr dirty="0" sz="2400" b="1">
                <a:latin typeface="华文楷体"/>
                <a:cs typeface="华文楷体"/>
              </a:rPr>
              <a:t>线</a:t>
            </a:r>
            <a:r>
              <a:rPr dirty="0" sz="2400" spc="-5" b="1">
                <a:latin typeface="华文楷体"/>
                <a:cs typeface="华文楷体"/>
              </a:rPr>
              <a:t>圈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022215" y="5359374"/>
            <a:ext cx="19907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K</a:t>
            </a:r>
            <a:r>
              <a:rPr dirty="0" sz="2400" b="1">
                <a:latin typeface="华文楷体"/>
                <a:cs typeface="华文楷体"/>
              </a:rPr>
              <a:t>、</a:t>
            </a:r>
            <a:r>
              <a:rPr dirty="0" sz="2400" spc="-5" b="1">
                <a:latin typeface="Times New Roman"/>
                <a:cs typeface="Times New Roman"/>
              </a:rPr>
              <a:t>L</a:t>
            </a:r>
            <a:r>
              <a:rPr dirty="0" sz="2400" b="1">
                <a:latin typeface="Times New Roman"/>
                <a:cs typeface="Times New Roman"/>
              </a:rPr>
              <a:t>——</a:t>
            </a:r>
            <a:r>
              <a:rPr dirty="0" sz="2400" b="1">
                <a:latin typeface="华文楷体"/>
                <a:cs typeface="华文楷体"/>
              </a:rPr>
              <a:t>圆</a:t>
            </a:r>
            <a:r>
              <a:rPr dirty="0" sz="2400" spc="-5" b="1">
                <a:latin typeface="华文楷体"/>
                <a:cs typeface="华文楷体"/>
              </a:rPr>
              <a:t>环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46302" y="5360695"/>
            <a:ext cx="20161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E</a:t>
            </a:r>
            <a:r>
              <a:rPr dirty="0" sz="2400" spc="-5" b="1">
                <a:latin typeface="华文楷体"/>
                <a:cs typeface="华文楷体"/>
              </a:rPr>
              <a:t>、</a:t>
            </a:r>
            <a:r>
              <a:rPr dirty="0" sz="2400" spc="-70" b="1">
                <a:latin typeface="华文楷体"/>
                <a:cs typeface="华文楷体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F——</a:t>
            </a:r>
            <a:r>
              <a:rPr dirty="0" sz="2400" b="1">
                <a:latin typeface="华文楷体"/>
                <a:cs typeface="华文楷体"/>
              </a:rPr>
              <a:t>电</a:t>
            </a:r>
            <a:r>
              <a:rPr dirty="0" sz="2400" spc="-5" b="1">
                <a:latin typeface="华文楷体"/>
                <a:cs typeface="华文楷体"/>
              </a:rPr>
              <a:t>刷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99662" y="193942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2313" y="1386243"/>
            <a:ext cx="16516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分步探</a:t>
            </a:r>
            <a:r>
              <a:rPr dirty="0" spc="5"/>
              <a:t>究</a:t>
            </a:r>
          </a:p>
        </p:txBody>
      </p:sp>
      <p:sp>
        <p:nvSpPr>
          <p:cNvPr id="4" name="object 4"/>
          <p:cNvSpPr/>
          <p:nvPr/>
        </p:nvSpPr>
        <p:spPr>
          <a:xfrm>
            <a:off x="2936748" y="1668779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36392" y="1892807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52229" y="4322330"/>
            <a:ext cx="6959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在线圈转动的过程中，哪些边会产生感应电动势？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01111" y="2232660"/>
            <a:ext cx="6714744" cy="1961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42525" y="193942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105"/>
              </a:spcBef>
            </a:pPr>
            <a:r>
              <a:rPr dirty="0"/>
              <a:t>分步探</a:t>
            </a:r>
            <a:r>
              <a:rPr dirty="0" spc="5"/>
              <a:t>究</a:t>
            </a:r>
          </a:p>
        </p:txBody>
      </p:sp>
      <p:sp>
        <p:nvSpPr>
          <p:cNvPr id="4" name="object 4"/>
          <p:cNvSpPr/>
          <p:nvPr/>
        </p:nvSpPr>
        <p:spPr>
          <a:xfrm>
            <a:off x="2979420" y="1668779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79064" y="1892807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95092" y="4322330"/>
            <a:ext cx="654494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在线圈由甲图转到乙图所示位置的过程中</a:t>
            </a:r>
            <a:r>
              <a:rPr dirty="0" sz="2400" spc="-5">
                <a:latin typeface="华文楷体"/>
                <a:cs typeface="华文楷体"/>
              </a:rPr>
              <a:t>，</a:t>
            </a:r>
            <a:r>
              <a:rPr dirty="0" sz="2400" spc="-5" i="1">
                <a:latin typeface="Times New Roman"/>
                <a:cs typeface="Times New Roman"/>
              </a:rPr>
              <a:t>AB  </a:t>
            </a:r>
            <a:r>
              <a:rPr dirty="0" sz="2400">
                <a:latin typeface="华文楷体"/>
                <a:cs typeface="华文楷体"/>
              </a:rPr>
              <a:t>边中电流向哪个方向流动？</a:t>
            </a:r>
            <a:r>
              <a:rPr dirty="0" sz="2400" spc="-5" i="1">
                <a:latin typeface="Times New Roman"/>
                <a:cs typeface="Times New Roman"/>
              </a:rPr>
              <a:t>C</a:t>
            </a:r>
            <a:r>
              <a:rPr dirty="0" sz="2400" i="1">
                <a:latin typeface="Times New Roman"/>
                <a:cs typeface="Times New Roman"/>
              </a:rPr>
              <a:t>D</a:t>
            </a:r>
            <a:r>
              <a:rPr dirty="0" sz="2400">
                <a:latin typeface="华文楷体"/>
                <a:cs typeface="华文楷体"/>
              </a:rPr>
              <a:t>边中电流向哪个方 向流动？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43783" y="2232660"/>
            <a:ext cx="6714744" cy="1961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42525" y="193942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105"/>
              </a:spcBef>
            </a:pPr>
            <a:r>
              <a:rPr dirty="0"/>
              <a:t>分步探</a:t>
            </a:r>
            <a:r>
              <a:rPr dirty="0" spc="5"/>
              <a:t>究</a:t>
            </a:r>
          </a:p>
        </p:txBody>
      </p:sp>
      <p:sp>
        <p:nvSpPr>
          <p:cNvPr id="4" name="object 4"/>
          <p:cNvSpPr/>
          <p:nvPr/>
        </p:nvSpPr>
        <p:spPr>
          <a:xfrm>
            <a:off x="2979420" y="1668779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79064" y="1892807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95092" y="4322330"/>
            <a:ext cx="641794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3.</a:t>
            </a:r>
            <a:r>
              <a:rPr dirty="0" sz="2400">
                <a:latin typeface="华文楷体"/>
                <a:cs typeface="华文楷体"/>
              </a:rPr>
              <a:t>在线圈由丙图转到丁图所示位置的过程中，</a:t>
            </a:r>
            <a:r>
              <a:rPr dirty="0" sz="2400" spc="-5" i="1">
                <a:latin typeface="Times New Roman"/>
                <a:cs typeface="Times New Roman"/>
              </a:rPr>
              <a:t>A</a:t>
            </a:r>
            <a:r>
              <a:rPr dirty="0" sz="2400" i="1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华文楷体"/>
                <a:cs typeface="华文楷体"/>
              </a:rPr>
              <a:t>边中电流向哪个方向流动？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43783" y="2232660"/>
            <a:ext cx="6714744" cy="1961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27476" y="2936748"/>
            <a:ext cx="2124455" cy="2115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588252" y="2936748"/>
            <a:ext cx="1984248" cy="21031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900928" y="3826764"/>
            <a:ext cx="490855" cy="127000"/>
          </a:xfrm>
          <a:custGeom>
            <a:avLst/>
            <a:gdLst/>
            <a:ahLst/>
            <a:cxnLst/>
            <a:rect l="l" t="t" r="r" b="b"/>
            <a:pathLst>
              <a:path w="490854" h="127000">
                <a:moveTo>
                  <a:pt x="327660" y="126491"/>
                </a:moveTo>
                <a:lnTo>
                  <a:pt x="327660" y="94487"/>
                </a:lnTo>
                <a:lnTo>
                  <a:pt x="0" y="94487"/>
                </a:lnTo>
                <a:lnTo>
                  <a:pt x="0" y="32003"/>
                </a:lnTo>
                <a:lnTo>
                  <a:pt x="327660" y="32003"/>
                </a:lnTo>
                <a:lnTo>
                  <a:pt x="327660" y="0"/>
                </a:lnTo>
                <a:lnTo>
                  <a:pt x="490727" y="62484"/>
                </a:lnTo>
                <a:lnTo>
                  <a:pt x="327660" y="12649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95784" y="3820236"/>
            <a:ext cx="509905" cy="139700"/>
          </a:xfrm>
          <a:custGeom>
            <a:avLst/>
            <a:gdLst/>
            <a:ahLst/>
            <a:cxnLst/>
            <a:rect l="l" t="t" r="r" b="b"/>
            <a:pathLst>
              <a:path w="509904" h="139700">
                <a:moveTo>
                  <a:pt x="328371" y="38303"/>
                </a:moveTo>
                <a:lnTo>
                  <a:pt x="328371" y="0"/>
                </a:lnTo>
                <a:lnTo>
                  <a:pt x="346400" y="6934"/>
                </a:lnTo>
                <a:lnTo>
                  <a:pt x="337896" y="6934"/>
                </a:lnTo>
                <a:lnTo>
                  <a:pt x="331419" y="11379"/>
                </a:lnTo>
                <a:lnTo>
                  <a:pt x="337896" y="13870"/>
                </a:lnTo>
                <a:lnTo>
                  <a:pt x="337896" y="33540"/>
                </a:lnTo>
                <a:lnTo>
                  <a:pt x="333133" y="33540"/>
                </a:lnTo>
                <a:lnTo>
                  <a:pt x="328371" y="38303"/>
                </a:lnTo>
                <a:close/>
              </a:path>
              <a:path w="509904" h="139700">
                <a:moveTo>
                  <a:pt x="337896" y="13870"/>
                </a:moveTo>
                <a:lnTo>
                  <a:pt x="331419" y="11379"/>
                </a:lnTo>
                <a:lnTo>
                  <a:pt x="337896" y="6934"/>
                </a:lnTo>
                <a:lnTo>
                  <a:pt x="337896" y="13870"/>
                </a:lnTo>
                <a:close/>
              </a:path>
              <a:path w="509904" h="139700">
                <a:moveTo>
                  <a:pt x="482981" y="69672"/>
                </a:moveTo>
                <a:lnTo>
                  <a:pt x="337896" y="13870"/>
                </a:lnTo>
                <a:lnTo>
                  <a:pt x="337896" y="6934"/>
                </a:lnTo>
                <a:lnTo>
                  <a:pt x="346400" y="6934"/>
                </a:lnTo>
                <a:lnTo>
                  <a:pt x="497966" y="65227"/>
                </a:lnTo>
                <a:lnTo>
                  <a:pt x="494538" y="65227"/>
                </a:lnTo>
                <a:lnTo>
                  <a:pt x="482981" y="69672"/>
                </a:lnTo>
                <a:close/>
              </a:path>
              <a:path w="509904" h="139700">
                <a:moveTo>
                  <a:pt x="328371" y="105803"/>
                </a:moveTo>
                <a:lnTo>
                  <a:pt x="0" y="105803"/>
                </a:lnTo>
                <a:lnTo>
                  <a:pt x="0" y="33540"/>
                </a:lnTo>
                <a:lnTo>
                  <a:pt x="328371" y="33540"/>
                </a:lnTo>
                <a:lnTo>
                  <a:pt x="328371" y="38303"/>
                </a:lnTo>
                <a:lnTo>
                  <a:pt x="9525" y="38303"/>
                </a:lnTo>
                <a:lnTo>
                  <a:pt x="4762" y="43065"/>
                </a:lnTo>
                <a:lnTo>
                  <a:pt x="9525" y="43065"/>
                </a:lnTo>
                <a:lnTo>
                  <a:pt x="9525" y="96278"/>
                </a:lnTo>
                <a:lnTo>
                  <a:pt x="4762" y="96278"/>
                </a:lnTo>
                <a:lnTo>
                  <a:pt x="9525" y="101041"/>
                </a:lnTo>
                <a:lnTo>
                  <a:pt x="328371" y="101041"/>
                </a:lnTo>
                <a:lnTo>
                  <a:pt x="328371" y="105803"/>
                </a:lnTo>
                <a:close/>
              </a:path>
              <a:path w="509904" h="139700">
                <a:moveTo>
                  <a:pt x="337896" y="43065"/>
                </a:moveTo>
                <a:lnTo>
                  <a:pt x="9525" y="43065"/>
                </a:lnTo>
                <a:lnTo>
                  <a:pt x="9525" y="38303"/>
                </a:lnTo>
                <a:lnTo>
                  <a:pt x="328371" y="38303"/>
                </a:lnTo>
                <a:lnTo>
                  <a:pt x="333133" y="33540"/>
                </a:lnTo>
                <a:lnTo>
                  <a:pt x="337896" y="33540"/>
                </a:lnTo>
                <a:lnTo>
                  <a:pt x="337896" y="43065"/>
                </a:lnTo>
                <a:close/>
              </a:path>
              <a:path w="509904" h="139700">
                <a:moveTo>
                  <a:pt x="9525" y="43065"/>
                </a:moveTo>
                <a:lnTo>
                  <a:pt x="4762" y="43065"/>
                </a:lnTo>
                <a:lnTo>
                  <a:pt x="9525" y="38303"/>
                </a:lnTo>
                <a:lnTo>
                  <a:pt x="9525" y="43065"/>
                </a:lnTo>
                <a:close/>
              </a:path>
              <a:path w="509904" h="139700">
                <a:moveTo>
                  <a:pt x="494538" y="74117"/>
                </a:moveTo>
                <a:lnTo>
                  <a:pt x="482981" y="69672"/>
                </a:lnTo>
                <a:lnTo>
                  <a:pt x="494538" y="65227"/>
                </a:lnTo>
                <a:lnTo>
                  <a:pt x="494538" y="74117"/>
                </a:lnTo>
                <a:close/>
              </a:path>
              <a:path w="509904" h="139700">
                <a:moveTo>
                  <a:pt x="497966" y="74117"/>
                </a:moveTo>
                <a:lnTo>
                  <a:pt x="494538" y="74117"/>
                </a:lnTo>
                <a:lnTo>
                  <a:pt x="494538" y="65227"/>
                </a:lnTo>
                <a:lnTo>
                  <a:pt x="497966" y="65227"/>
                </a:lnTo>
                <a:lnTo>
                  <a:pt x="509524" y="69672"/>
                </a:lnTo>
                <a:lnTo>
                  <a:pt x="497966" y="74117"/>
                </a:lnTo>
                <a:close/>
              </a:path>
              <a:path w="509904" h="139700">
                <a:moveTo>
                  <a:pt x="346400" y="132410"/>
                </a:moveTo>
                <a:lnTo>
                  <a:pt x="337896" y="132410"/>
                </a:lnTo>
                <a:lnTo>
                  <a:pt x="337896" y="125474"/>
                </a:lnTo>
                <a:lnTo>
                  <a:pt x="482981" y="69672"/>
                </a:lnTo>
                <a:lnTo>
                  <a:pt x="494538" y="74117"/>
                </a:lnTo>
                <a:lnTo>
                  <a:pt x="497966" y="74117"/>
                </a:lnTo>
                <a:lnTo>
                  <a:pt x="346400" y="132410"/>
                </a:lnTo>
                <a:close/>
              </a:path>
              <a:path w="509904" h="139700">
                <a:moveTo>
                  <a:pt x="9525" y="101041"/>
                </a:moveTo>
                <a:lnTo>
                  <a:pt x="4762" y="96278"/>
                </a:lnTo>
                <a:lnTo>
                  <a:pt x="9525" y="96278"/>
                </a:lnTo>
                <a:lnTo>
                  <a:pt x="9525" y="101041"/>
                </a:lnTo>
                <a:close/>
              </a:path>
              <a:path w="509904" h="139700">
                <a:moveTo>
                  <a:pt x="337896" y="105803"/>
                </a:moveTo>
                <a:lnTo>
                  <a:pt x="333133" y="105803"/>
                </a:lnTo>
                <a:lnTo>
                  <a:pt x="328371" y="101041"/>
                </a:lnTo>
                <a:lnTo>
                  <a:pt x="9525" y="101041"/>
                </a:lnTo>
                <a:lnTo>
                  <a:pt x="9525" y="96278"/>
                </a:lnTo>
                <a:lnTo>
                  <a:pt x="337896" y="96278"/>
                </a:lnTo>
                <a:lnTo>
                  <a:pt x="337896" y="105803"/>
                </a:lnTo>
                <a:close/>
              </a:path>
              <a:path w="509904" h="139700">
                <a:moveTo>
                  <a:pt x="328371" y="139344"/>
                </a:moveTo>
                <a:lnTo>
                  <a:pt x="328371" y="101041"/>
                </a:lnTo>
                <a:lnTo>
                  <a:pt x="333133" y="105803"/>
                </a:lnTo>
                <a:lnTo>
                  <a:pt x="337896" y="105803"/>
                </a:lnTo>
                <a:lnTo>
                  <a:pt x="337896" y="125474"/>
                </a:lnTo>
                <a:lnTo>
                  <a:pt x="331419" y="127965"/>
                </a:lnTo>
                <a:lnTo>
                  <a:pt x="337896" y="132410"/>
                </a:lnTo>
                <a:lnTo>
                  <a:pt x="346400" y="132410"/>
                </a:lnTo>
                <a:lnTo>
                  <a:pt x="328371" y="139344"/>
                </a:lnTo>
                <a:close/>
              </a:path>
              <a:path w="509904" h="139700">
                <a:moveTo>
                  <a:pt x="337896" y="132410"/>
                </a:moveTo>
                <a:lnTo>
                  <a:pt x="331419" y="127965"/>
                </a:lnTo>
                <a:lnTo>
                  <a:pt x="337896" y="125474"/>
                </a:lnTo>
                <a:lnTo>
                  <a:pt x="337896" y="1324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50502" y="1919438"/>
            <a:ext cx="6959600" cy="900430"/>
          </a:xfrm>
          <a:prstGeom prst="rect"/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在线圈转动的过程中，哪些边会产生感应电动势？</a:t>
            </a:r>
            <a:endParaRPr sz="2400">
              <a:latin typeface="华文楷体"/>
              <a:cs typeface="华文楷体"/>
            </a:endParaRPr>
          </a:p>
          <a:p>
            <a:pPr marL="1502410">
              <a:lnSpc>
                <a:spcPct val="100000"/>
              </a:lnSpc>
              <a:spcBef>
                <a:spcPts val="345"/>
              </a:spcBef>
            </a:pPr>
            <a:r>
              <a:rPr dirty="0" sz="2800" b="1" i="1">
                <a:solidFill>
                  <a:srgbClr val="CC3300"/>
                </a:solidFill>
                <a:latin typeface="Times New Roman"/>
                <a:cs typeface="Times New Roman"/>
              </a:rPr>
              <a:t>AB</a:t>
            </a:r>
            <a:r>
              <a:rPr dirty="0" sz="2800" spc="-5" b="1">
                <a:solidFill>
                  <a:srgbClr val="CC3300"/>
                </a:solidFill>
                <a:latin typeface="黑体"/>
                <a:cs typeface="黑体"/>
              </a:rPr>
              <a:t>和</a:t>
            </a:r>
            <a:r>
              <a:rPr dirty="0" sz="2800" spc="-5" b="1" i="1">
                <a:solidFill>
                  <a:srgbClr val="CC3300"/>
                </a:solidFill>
                <a:latin typeface="Times New Roman"/>
                <a:cs typeface="Times New Roman"/>
              </a:rPr>
              <a:t>CD</a:t>
            </a:r>
            <a:r>
              <a:rPr dirty="0" sz="2800" spc="-20" b="1">
                <a:solidFill>
                  <a:srgbClr val="CC3300"/>
                </a:solidFill>
                <a:latin typeface="黑体"/>
                <a:cs typeface="黑体"/>
              </a:rPr>
              <a:t>边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71572" y="2878835"/>
            <a:ext cx="6057900" cy="34076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6202" y="1957704"/>
            <a:ext cx="692594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在线圈由甲图转到乙图所示位置的过程中</a:t>
            </a:r>
            <a:r>
              <a:rPr dirty="0" sz="2400" spc="-5">
                <a:latin typeface="华文楷体"/>
                <a:cs typeface="华文楷体"/>
              </a:rPr>
              <a:t>，</a:t>
            </a:r>
            <a:r>
              <a:rPr dirty="0" sz="2400" spc="-5" i="1">
                <a:latin typeface="Times New Roman"/>
                <a:cs typeface="Times New Roman"/>
              </a:rPr>
              <a:t>AB</a:t>
            </a:r>
            <a:r>
              <a:rPr dirty="0" sz="2400" spc="-40" i="1">
                <a:latin typeface="Times New Roman"/>
                <a:cs typeface="Times New Roman"/>
              </a:rPr>
              <a:t> </a:t>
            </a:r>
            <a:r>
              <a:rPr dirty="0" sz="2400">
                <a:latin typeface="华文楷体"/>
                <a:cs typeface="华文楷体"/>
              </a:rPr>
              <a:t>边 中电流向哪个方向流动？</a:t>
            </a:r>
            <a:r>
              <a:rPr dirty="0" sz="2400" spc="-95">
                <a:latin typeface="华文楷体"/>
                <a:cs typeface="华文楷体"/>
              </a:rPr>
              <a:t> </a:t>
            </a:r>
            <a:r>
              <a:rPr dirty="0" sz="2400" spc="-5" i="1">
                <a:latin typeface="Times New Roman"/>
                <a:cs typeface="Times New Roman"/>
              </a:rPr>
              <a:t>CD</a:t>
            </a:r>
            <a:r>
              <a:rPr dirty="0" sz="2400">
                <a:latin typeface="华文楷体"/>
                <a:cs typeface="华文楷体"/>
              </a:rPr>
              <a:t>边中电流向哪个方向流 动？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07891" y="3230879"/>
            <a:ext cx="2124456" cy="2115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42759" y="3243072"/>
            <a:ext cx="1984248" cy="21031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46291" y="4294632"/>
            <a:ext cx="492759" cy="125095"/>
          </a:xfrm>
          <a:custGeom>
            <a:avLst/>
            <a:gdLst/>
            <a:ahLst/>
            <a:cxnLst/>
            <a:rect l="l" t="t" r="r" b="b"/>
            <a:pathLst>
              <a:path w="492759" h="125095">
                <a:moveTo>
                  <a:pt x="329184" y="124967"/>
                </a:moveTo>
                <a:lnTo>
                  <a:pt x="329184" y="94487"/>
                </a:lnTo>
                <a:lnTo>
                  <a:pt x="0" y="94487"/>
                </a:lnTo>
                <a:lnTo>
                  <a:pt x="0" y="30479"/>
                </a:lnTo>
                <a:lnTo>
                  <a:pt x="329184" y="30479"/>
                </a:lnTo>
                <a:lnTo>
                  <a:pt x="329184" y="0"/>
                </a:lnTo>
                <a:lnTo>
                  <a:pt x="492252" y="62483"/>
                </a:lnTo>
                <a:lnTo>
                  <a:pt x="329184" y="12496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141846" y="4287367"/>
            <a:ext cx="509905" cy="139700"/>
          </a:xfrm>
          <a:custGeom>
            <a:avLst/>
            <a:gdLst/>
            <a:ahLst/>
            <a:cxnLst/>
            <a:rect l="l" t="t" r="r" b="b"/>
            <a:pathLst>
              <a:path w="509904" h="139700">
                <a:moveTo>
                  <a:pt x="328383" y="38303"/>
                </a:moveTo>
                <a:lnTo>
                  <a:pt x="328383" y="0"/>
                </a:lnTo>
                <a:lnTo>
                  <a:pt x="346412" y="6934"/>
                </a:lnTo>
                <a:lnTo>
                  <a:pt x="337908" y="6934"/>
                </a:lnTo>
                <a:lnTo>
                  <a:pt x="331431" y="11379"/>
                </a:lnTo>
                <a:lnTo>
                  <a:pt x="337908" y="13870"/>
                </a:lnTo>
                <a:lnTo>
                  <a:pt x="337908" y="33540"/>
                </a:lnTo>
                <a:lnTo>
                  <a:pt x="333146" y="33540"/>
                </a:lnTo>
                <a:lnTo>
                  <a:pt x="328383" y="38303"/>
                </a:lnTo>
                <a:close/>
              </a:path>
              <a:path w="509904" h="139700">
                <a:moveTo>
                  <a:pt x="337908" y="13870"/>
                </a:moveTo>
                <a:lnTo>
                  <a:pt x="331431" y="11379"/>
                </a:lnTo>
                <a:lnTo>
                  <a:pt x="337908" y="6934"/>
                </a:lnTo>
                <a:lnTo>
                  <a:pt x="337908" y="13870"/>
                </a:lnTo>
                <a:close/>
              </a:path>
              <a:path w="509904" h="139700">
                <a:moveTo>
                  <a:pt x="482993" y="69672"/>
                </a:moveTo>
                <a:lnTo>
                  <a:pt x="337908" y="13870"/>
                </a:lnTo>
                <a:lnTo>
                  <a:pt x="337908" y="6934"/>
                </a:lnTo>
                <a:lnTo>
                  <a:pt x="346412" y="6934"/>
                </a:lnTo>
                <a:lnTo>
                  <a:pt x="497967" y="65227"/>
                </a:lnTo>
                <a:lnTo>
                  <a:pt x="494550" y="65227"/>
                </a:lnTo>
                <a:lnTo>
                  <a:pt x="482993" y="69672"/>
                </a:lnTo>
                <a:close/>
              </a:path>
              <a:path w="509904" h="139700">
                <a:moveTo>
                  <a:pt x="328383" y="105803"/>
                </a:moveTo>
                <a:lnTo>
                  <a:pt x="0" y="105803"/>
                </a:lnTo>
                <a:lnTo>
                  <a:pt x="0" y="33540"/>
                </a:lnTo>
                <a:lnTo>
                  <a:pt x="328383" y="33540"/>
                </a:lnTo>
                <a:lnTo>
                  <a:pt x="328383" y="38303"/>
                </a:lnTo>
                <a:lnTo>
                  <a:pt x="9525" y="38303"/>
                </a:lnTo>
                <a:lnTo>
                  <a:pt x="4762" y="43065"/>
                </a:lnTo>
                <a:lnTo>
                  <a:pt x="9525" y="43065"/>
                </a:lnTo>
                <a:lnTo>
                  <a:pt x="9525" y="96278"/>
                </a:lnTo>
                <a:lnTo>
                  <a:pt x="4762" y="96278"/>
                </a:lnTo>
                <a:lnTo>
                  <a:pt x="9525" y="101041"/>
                </a:lnTo>
                <a:lnTo>
                  <a:pt x="328383" y="101041"/>
                </a:lnTo>
                <a:lnTo>
                  <a:pt x="328383" y="105803"/>
                </a:lnTo>
                <a:close/>
              </a:path>
              <a:path w="509904" h="139700">
                <a:moveTo>
                  <a:pt x="337908" y="43065"/>
                </a:moveTo>
                <a:lnTo>
                  <a:pt x="9525" y="43065"/>
                </a:lnTo>
                <a:lnTo>
                  <a:pt x="9525" y="38303"/>
                </a:lnTo>
                <a:lnTo>
                  <a:pt x="328383" y="38303"/>
                </a:lnTo>
                <a:lnTo>
                  <a:pt x="333146" y="33540"/>
                </a:lnTo>
                <a:lnTo>
                  <a:pt x="337908" y="33540"/>
                </a:lnTo>
                <a:lnTo>
                  <a:pt x="337908" y="43065"/>
                </a:lnTo>
                <a:close/>
              </a:path>
              <a:path w="509904" h="139700">
                <a:moveTo>
                  <a:pt x="9525" y="43065"/>
                </a:moveTo>
                <a:lnTo>
                  <a:pt x="4762" y="43065"/>
                </a:lnTo>
                <a:lnTo>
                  <a:pt x="9525" y="38303"/>
                </a:lnTo>
                <a:lnTo>
                  <a:pt x="9525" y="43065"/>
                </a:lnTo>
                <a:close/>
              </a:path>
              <a:path w="509904" h="139700">
                <a:moveTo>
                  <a:pt x="494550" y="74117"/>
                </a:moveTo>
                <a:lnTo>
                  <a:pt x="482993" y="69672"/>
                </a:lnTo>
                <a:lnTo>
                  <a:pt x="494550" y="65227"/>
                </a:lnTo>
                <a:lnTo>
                  <a:pt x="494550" y="74117"/>
                </a:lnTo>
                <a:close/>
              </a:path>
              <a:path w="509904" h="139700">
                <a:moveTo>
                  <a:pt x="497969" y="74117"/>
                </a:moveTo>
                <a:lnTo>
                  <a:pt x="494550" y="74117"/>
                </a:lnTo>
                <a:lnTo>
                  <a:pt x="494550" y="65227"/>
                </a:lnTo>
                <a:lnTo>
                  <a:pt x="497967" y="65227"/>
                </a:lnTo>
                <a:lnTo>
                  <a:pt x="509523" y="69672"/>
                </a:lnTo>
                <a:lnTo>
                  <a:pt x="497969" y="74117"/>
                </a:lnTo>
                <a:close/>
              </a:path>
              <a:path w="509904" h="139700">
                <a:moveTo>
                  <a:pt x="346441" y="132410"/>
                </a:moveTo>
                <a:lnTo>
                  <a:pt x="337908" y="132410"/>
                </a:lnTo>
                <a:lnTo>
                  <a:pt x="337908" y="125474"/>
                </a:lnTo>
                <a:lnTo>
                  <a:pt x="482993" y="69672"/>
                </a:lnTo>
                <a:lnTo>
                  <a:pt x="494550" y="74117"/>
                </a:lnTo>
                <a:lnTo>
                  <a:pt x="497969" y="74117"/>
                </a:lnTo>
                <a:lnTo>
                  <a:pt x="346441" y="132410"/>
                </a:lnTo>
                <a:close/>
              </a:path>
              <a:path w="509904" h="139700">
                <a:moveTo>
                  <a:pt x="9525" y="101041"/>
                </a:moveTo>
                <a:lnTo>
                  <a:pt x="4762" y="96278"/>
                </a:lnTo>
                <a:lnTo>
                  <a:pt x="9525" y="96278"/>
                </a:lnTo>
                <a:lnTo>
                  <a:pt x="9525" y="101041"/>
                </a:lnTo>
                <a:close/>
              </a:path>
              <a:path w="509904" h="139700">
                <a:moveTo>
                  <a:pt x="337908" y="105803"/>
                </a:moveTo>
                <a:lnTo>
                  <a:pt x="333146" y="105803"/>
                </a:lnTo>
                <a:lnTo>
                  <a:pt x="328383" y="101041"/>
                </a:lnTo>
                <a:lnTo>
                  <a:pt x="9525" y="101041"/>
                </a:lnTo>
                <a:lnTo>
                  <a:pt x="9525" y="96278"/>
                </a:lnTo>
                <a:lnTo>
                  <a:pt x="337908" y="96278"/>
                </a:lnTo>
                <a:lnTo>
                  <a:pt x="337908" y="105803"/>
                </a:lnTo>
                <a:close/>
              </a:path>
              <a:path w="509904" h="139700">
                <a:moveTo>
                  <a:pt x="328383" y="139357"/>
                </a:moveTo>
                <a:lnTo>
                  <a:pt x="328383" y="101041"/>
                </a:lnTo>
                <a:lnTo>
                  <a:pt x="333146" y="105803"/>
                </a:lnTo>
                <a:lnTo>
                  <a:pt x="337908" y="105803"/>
                </a:lnTo>
                <a:lnTo>
                  <a:pt x="337908" y="125474"/>
                </a:lnTo>
                <a:lnTo>
                  <a:pt x="331431" y="127965"/>
                </a:lnTo>
                <a:lnTo>
                  <a:pt x="337908" y="132410"/>
                </a:lnTo>
                <a:lnTo>
                  <a:pt x="346441" y="132410"/>
                </a:lnTo>
                <a:lnTo>
                  <a:pt x="328383" y="139357"/>
                </a:lnTo>
                <a:close/>
              </a:path>
              <a:path w="509904" h="139700">
                <a:moveTo>
                  <a:pt x="337908" y="132410"/>
                </a:moveTo>
                <a:lnTo>
                  <a:pt x="331431" y="127965"/>
                </a:lnTo>
                <a:lnTo>
                  <a:pt x="337908" y="125474"/>
                </a:lnTo>
                <a:lnTo>
                  <a:pt x="337908" y="1324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0477" y="1186294"/>
            <a:ext cx="6925945" cy="15176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在线圈由甲图转到乙图所示位置的过程中</a:t>
            </a:r>
            <a:r>
              <a:rPr dirty="0" sz="2400" spc="-5">
                <a:latin typeface="华文楷体"/>
                <a:cs typeface="华文楷体"/>
              </a:rPr>
              <a:t>，</a:t>
            </a:r>
            <a:r>
              <a:rPr dirty="0" sz="2400" spc="-5" i="1">
                <a:latin typeface="Times New Roman"/>
                <a:cs typeface="Times New Roman"/>
              </a:rPr>
              <a:t>AB</a:t>
            </a:r>
            <a:r>
              <a:rPr dirty="0" sz="2400" spc="-40" i="1">
                <a:latin typeface="Times New Roman"/>
                <a:cs typeface="Times New Roman"/>
              </a:rPr>
              <a:t> </a:t>
            </a:r>
            <a:r>
              <a:rPr dirty="0" sz="2400">
                <a:latin typeface="华文楷体"/>
                <a:cs typeface="华文楷体"/>
              </a:rPr>
              <a:t>边 中电流向哪个方向流动？</a:t>
            </a:r>
            <a:r>
              <a:rPr dirty="0" sz="2400" spc="-95">
                <a:latin typeface="华文楷体"/>
                <a:cs typeface="华文楷体"/>
              </a:rPr>
              <a:t> </a:t>
            </a:r>
            <a:r>
              <a:rPr dirty="0" sz="2400" spc="-5" i="1">
                <a:latin typeface="Times New Roman"/>
                <a:cs typeface="Times New Roman"/>
              </a:rPr>
              <a:t>CD</a:t>
            </a:r>
            <a:r>
              <a:rPr dirty="0" sz="2400">
                <a:latin typeface="华文楷体"/>
                <a:cs typeface="华文楷体"/>
              </a:rPr>
              <a:t>边中电流向哪个方向流 动？</a:t>
            </a:r>
            <a:endParaRPr sz="2400">
              <a:latin typeface="华文楷体"/>
              <a:cs typeface="华文楷体"/>
            </a:endParaRPr>
          </a:p>
          <a:p>
            <a:pPr marL="1359535">
              <a:lnSpc>
                <a:spcPts val="3105"/>
              </a:lnSpc>
            </a:pPr>
            <a:r>
              <a:rPr dirty="0" sz="2800" b="1">
                <a:solidFill>
                  <a:srgbClr val="CC3300"/>
                </a:solidFill>
                <a:latin typeface="黑体"/>
                <a:cs typeface="黑体"/>
              </a:rPr>
              <a:t>由</a:t>
            </a:r>
            <a:r>
              <a:rPr dirty="0" sz="2800" b="1" i="1">
                <a:solidFill>
                  <a:srgbClr val="CC3300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CC3300"/>
                </a:solidFill>
                <a:latin typeface="Times New Roman"/>
                <a:cs typeface="Times New Roman"/>
              </a:rPr>
              <a:t>→</a:t>
            </a:r>
            <a:r>
              <a:rPr dirty="0" sz="2800" b="1" i="1">
                <a:solidFill>
                  <a:srgbClr val="CC3300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CC3300"/>
                </a:solidFill>
                <a:latin typeface="黑体"/>
                <a:cs typeface="黑体"/>
              </a:rPr>
              <a:t>；</a:t>
            </a:r>
            <a:r>
              <a:rPr dirty="0" sz="2800" b="1" i="1">
                <a:solidFill>
                  <a:srgbClr val="CC3300"/>
                </a:solidFill>
                <a:latin typeface="Times New Roman"/>
                <a:cs typeface="Times New Roman"/>
              </a:rPr>
              <a:t>D</a:t>
            </a:r>
            <a:r>
              <a:rPr dirty="0" sz="2800" spc="-5" b="1" i="1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CC3300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CC3300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68523" y="2763011"/>
            <a:ext cx="6190487" cy="3482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6683" y="2939795"/>
            <a:ext cx="2124456" cy="2115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541007" y="2939795"/>
            <a:ext cx="1996440" cy="21153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36164" y="1957704"/>
            <a:ext cx="6798309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3.</a:t>
            </a:r>
            <a:r>
              <a:rPr dirty="0" sz="2400">
                <a:latin typeface="华文楷体"/>
                <a:cs typeface="华文楷体"/>
              </a:rPr>
              <a:t>在线圈由丙图转到丁图所示位置的过程中</a:t>
            </a:r>
            <a:r>
              <a:rPr dirty="0" sz="2400" spc="-5">
                <a:latin typeface="华文楷体"/>
                <a:cs typeface="华文楷体"/>
              </a:rPr>
              <a:t>，</a:t>
            </a:r>
            <a:r>
              <a:rPr dirty="0" sz="2400" spc="-5" i="1">
                <a:latin typeface="Times New Roman"/>
                <a:cs typeface="Times New Roman"/>
              </a:rPr>
              <a:t>AB</a:t>
            </a:r>
            <a:r>
              <a:rPr dirty="0" sz="2400" spc="-95" i="1">
                <a:latin typeface="Times New Roman"/>
                <a:cs typeface="Times New Roman"/>
              </a:rPr>
              <a:t> </a:t>
            </a:r>
            <a:r>
              <a:rPr dirty="0" sz="2400">
                <a:latin typeface="华文楷体"/>
                <a:cs typeface="华文楷体"/>
              </a:rPr>
              <a:t>边 中电流向哪个方向流动？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79947" y="4084320"/>
            <a:ext cx="492759" cy="127000"/>
          </a:xfrm>
          <a:custGeom>
            <a:avLst/>
            <a:gdLst/>
            <a:ahLst/>
            <a:cxnLst/>
            <a:rect l="l" t="t" r="r" b="b"/>
            <a:pathLst>
              <a:path w="492760" h="127000">
                <a:moveTo>
                  <a:pt x="329184" y="126491"/>
                </a:moveTo>
                <a:lnTo>
                  <a:pt x="329184" y="94487"/>
                </a:lnTo>
                <a:lnTo>
                  <a:pt x="0" y="94487"/>
                </a:lnTo>
                <a:lnTo>
                  <a:pt x="0" y="32003"/>
                </a:lnTo>
                <a:lnTo>
                  <a:pt x="329184" y="32003"/>
                </a:lnTo>
                <a:lnTo>
                  <a:pt x="329184" y="0"/>
                </a:lnTo>
                <a:lnTo>
                  <a:pt x="492251" y="62483"/>
                </a:lnTo>
                <a:lnTo>
                  <a:pt x="329184" y="12649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75503" y="4077817"/>
            <a:ext cx="509905" cy="139700"/>
          </a:xfrm>
          <a:custGeom>
            <a:avLst/>
            <a:gdLst/>
            <a:ahLst/>
            <a:cxnLst/>
            <a:rect l="l" t="t" r="r" b="b"/>
            <a:pathLst>
              <a:path w="509904" h="139700">
                <a:moveTo>
                  <a:pt x="328383" y="38303"/>
                </a:moveTo>
                <a:lnTo>
                  <a:pt x="328383" y="0"/>
                </a:lnTo>
                <a:lnTo>
                  <a:pt x="346412" y="6934"/>
                </a:lnTo>
                <a:lnTo>
                  <a:pt x="337908" y="6934"/>
                </a:lnTo>
                <a:lnTo>
                  <a:pt x="331431" y="11379"/>
                </a:lnTo>
                <a:lnTo>
                  <a:pt x="337908" y="13870"/>
                </a:lnTo>
                <a:lnTo>
                  <a:pt x="337908" y="33540"/>
                </a:lnTo>
                <a:lnTo>
                  <a:pt x="333146" y="33540"/>
                </a:lnTo>
                <a:lnTo>
                  <a:pt x="328383" y="38303"/>
                </a:lnTo>
                <a:close/>
              </a:path>
              <a:path w="509904" h="139700">
                <a:moveTo>
                  <a:pt x="337908" y="13870"/>
                </a:moveTo>
                <a:lnTo>
                  <a:pt x="331431" y="11379"/>
                </a:lnTo>
                <a:lnTo>
                  <a:pt x="337908" y="6934"/>
                </a:lnTo>
                <a:lnTo>
                  <a:pt x="337908" y="13870"/>
                </a:lnTo>
                <a:close/>
              </a:path>
              <a:path w="509904" h="139700">
                <a:moveTo>
                  <a:pt x="482993" y="69672"/>
                </a:moveTo>
                <a:lnTo>
                  <a:pt x="337908" y="13870"/>
                </a:lnTo>
                <a:lnTo>
                  <a:pt x="337908" y="6934"/>
                </a:lnTo>
                <a:lnTo>
                  <a:pt x="346412" y="6934"/>
                </a:lnTo>
                <a:lnTo>
                  <a:pt x="497967" y="65227"/>
                </a:lnTo>
                <a:lnTo>
                  <a:pt x="494550" y="65227"/>
                </a:lnTo>
                <a:lnTo>
                  <a:pt x="482993" y="69672"/>
                </a:lnTo>
                <a:close/>
              </a:path>
              <a:path w="509904" h="139700">
                <a:moveTo>
                  <a:pt x="328383" y="105803"/>
                </a:moveTo>
                <a:lnTo>
                  <a:pt x="0" y="105803"/>
                </a:lnTo>
                <a:lnTo>
                  <a:pt x="0" y="33540"/>
                </a:lnTo>
                <a:lnTo>
                  <a:pt x="328383" y="33540"/>
                </a:lnTo>
                <a:lnTo>
                  <a:pt x="328383" y="38303"/>
                </a:lnTo>
                <a:lnTo>
                  <a:pt x="9525" y="38303"/>
                </a:lnTo>
                <a:lnTo>
                  <a:pt x="4762" y="43065"/>
                </a:lnTo>
                <a:lnTo>
                  <a:pt x="9525" y="43065"/>
                </a:lnTo>
                <a:lnTo>
                  <a:pt x="9525" y="96278"/>
                </a:lnTo>
                <a:lnTo>
                  <a:pt x="4762" y="96278"/>
                </a:lnTo>
                <a:lnTo>
                  <a:pt x="9525" y="101041"/>
                </a:lnTo>
                <a:lnTo>
                  <a:pt x="328383" y="101041"/>
                </a:lnTo>
                <a:lnTo>
                  <a:pt x="328383" y="105803"/>
                </a:lnTo>
                <a:close/>
              </a:path>
              <a:path w="509904" h="139700">
                <a:moveTo>
                  <a:pt x="337908" y="43065"/>
                </a:moveTo>
                <a:lnTo>
                  <a:pt x="9525" y="43065"/>
                </a:lnTo>
                <a:lnTo>
                  <a:pt x="9525" y="38303"/>
                </a:lnTo>
                <a:lnTo>
                  <a:pt x="328383" y="38303"/>
                </a:lnTo>
                <a:lnTo>
                  <a:pt x="333146" y="33540"/>
                </a:lnTo>
                <a:lnTo>
                  <a:pt x="337908" y="33540"/>
                </a:lnTo>
                <a:lnTo>
                  <a:pt x="337908" y="43065"/>
                </a:lnTo>
                <a:close/>
              </a:path>
              <a:path w="509904" h="139700">
                <a:moveTo>
                  <a:pt x="9525" y="43065"/>
                </a:moveTo>
                <a:lnTo>
                  <a:pt x="4762" y="43065"/>
                </a:lnTo>
                <a:lnTo>
                  <a:pt x="9525" y="38303"/>
                </a:lnTo>
                <a:lnTo>
                  <a:pt x="9525" y="43065"/>
                </a:lnTo>
                <a:close/>
              </a:path>
              <a:path w="509904" h="139700">
                <a:moveTo>
                  <a:pt x="494550" y="74117"/>
                </a:moveTo>
                <a:lnTo>
                  <a:pt x="482993" y="69672"/>
                </a:lnTo>
                <a:lnTo>
                  <a:pt x="494550" y="65227"/>
                </a:lnTo>
                <a:lnTo>
                  <a:pt x="494550" y="74117"/>
                </a:lnTo>
                <a:close/>
              </a:path>
              <a:path w="509904" h="139700">
                <a:moveTo>
                  <a:pt x="497967" y="74117"/>
                </a:moveTo>
                <a:lnTo>
                  <a:pt x="494550" y="74117"/>
                </a:lnTo>
                <a:lnTo>
                  <a:pt x="494550" y="65227"/>
                </a:lnTo>
                <a:lnTo>
                  <a:pt x="497967" y="65227"/>
                </a:lnTo>
                <a:lnTo>
                  <a:pt x="509523" y="69672"/>
                </a:lnTo>
                <a:lnTo>
                  <a:pt x="497967" y="74117"/>
                </a:lnTo>
                <a:close/>
              </a:path>
              <a:path w="509904" h="139700">
                <a:moveTo>
                  <a:pt x="346412" y="132410"/>
                </a:moveTo>
                <a:lnTo>
                  <a:pt x="337908" y="132410"/>
                </a:lnTo>
                <a:lnTo>
                  <a:pt x="337908" y="125474"/>
                </a:lnTo>
                <a:lnTo>
                  <a:pt x="482993" y="69672"/>
                </a:lnTo>
                <a:lnTo>
                  <a:pt x="494550" y="74117"/>
                </a:lnTo>
                <a:lnTo>
                  <a:pt x="497967" y="74117"/>
                </a:lnTo>
                <a:lnTo>
                  <a:pt x="346412" y="132410"/>
                </a:lnTo>
                <a:close/>
              </a:path>
              <a:path w="509904" h="139700">
                <a:moveTo>
                  <a:pt x="9525" y="101041"/>
                </a:moveTo>
                <a:lnTo>
                  <a:pt x="4762" y="96278"/>
                </a:lnTo>
                <a:lnTo>
                  <a:pt x="9525" y="96278"/>
                </a:lnTo>
                <a:lnTo>
                  <a:pt x="9525" y="101041"/>
                </a:lnTo>
                <a:close/>
              </a:path>
              <a:path w="509904" h="139700">
                <a:moveTo>
                  <a:pt x="337908" y="105803"/>
                </a:moveTo>
                <a:lnTo>
                  <a:pt x="333146" y="105803"/>
                </a:lnTo>
                <a:lnTo>
                  <a:pt x="328383" y="101041"/>
                </a:lnTo>
                <a:lnTo>
                  <a:pt x="9525" y="101041"/>
                </a:lnTo>
                <a:lnTo>
                  <a:pt x="9525" y="96278"/>
                </a:lnTo>
                <a:lnTo>
                  <a:pt x="337908" y="96278"/>
                </a:lnTo>
                <a:lnTo>
                  <a:pt x="337908" y="105803"/>
                </a:lnTo>
                <a:close/>
              </a:path>
              <a:path w="509904" h="139700">
                <a:moveTo>
                  <a:pt x="328383" y="139344"/>
                </a:moveTo>
                <a:lnTo>
                  <a:pt x="328383" y="101041"/>
                </a:lnTo>
                <a:lnTo>
                  <a:pt x="333146" y="105803"/>
                </a:lnTo>
                <a:lnTo>
                  <a:pt x="337908" y="105803"/>
                </a:lnTo>
                <a:lnTo>
                  <a:pt x="337908" y="125474"/>
                </a:lnTo>
                <a:lnTo>
                  <a:pt x="331431" y="127965"/>
                </a:lnTo>
                <a:lnTo>
                  <a:pt x="337908" y="132410"/>
                </a:lnTo>
                <a:lnTo>
                  <a:pt x="346412" y="132410"/>
                </a:lnTo>
                <a:lnTo>
                  <a:pt x="328383" y="139344"/>
                </a:lnTo>
                <a:close/>
              </a:path>
              <a:path w="509904" h="139700">
                <a:moveTo>
                  <a:pt x="337908" y="132410"/>
                </a:moveTo>
                <a:lnTo>
                  <a:pt x="331431" y="127965"/>
                </a:lnTo>
                <a:lnTo>
                  <a:pt x="337908" y="125474"/>
                </a:lnTo>
                <a:lnTo>
                  <a:pt x="337908" y="1324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9064" y="1957704"/>
            <a:ext cx="6798309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3.</a:t>
            </a:r>
            <a:r>
              <a:rPr dirty="0" sz="2400">
                <a:latin typeface="华文楷体"/>
                <a:cs typeface="华文楷体"/>
              </a:rPr>
              <a:t>在线圈由丙图转到丁图所示位置的过程中</a:t>
            </a:r>
            <a:r>
              <a:rPr dirty="0" sz="2400" spc="-5">
                <a:latin typeface="华文楷体"/>
                <a:cs typeface="华文楷体"/>
              </a:rPr>
              <a:t>，</a:t>
            </a:r>
            <a:r>
              <a:rPr dirty="0" sz="2400" spc="-5" i="1">
                <a:latin typeface="Times New Roman"/>
                <a:cs typeface="Times New Roman"/>
              </a:rPr>
              <a:t>AB</a:t>
            </a:r>
            <a:r>
              <a:rPr dirty="0" sz="2400" spc="-85" i="1">
                <a:latin typeface="Times New Roman"/>
                <a:cs typeface="Times New Roman"/>
              </a:rPr>
              <a:t> </a:t>
            </a:r>
            <a:r>
              <a:rPr dirty="0" sz="2400">
                <a:latin typeface="华文楷体"/>
                <a:cs typeface="华文楷体"/>
              </a:rPr>
              <a:t>边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9064" y="2323465"/>
            <a:ext cx="3378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中电流向哪个方向流动？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25665" y="2279751"/>
            <a:ext cx="121285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CC3300"/>
                </a:solidFill>
                <a:latin typeface="黑体"/>
                <a:cs typeface="黑体"/>
              </a:rPr>
              <a:t>由</a:t>
            </a:r>
            <a:r>
              <a:rPr dirty="0" sz="2800" b="1" i="1">
                <a:solidFill>
                  <a:srgbClr val="CC3300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CC3300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CC33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61944" y="2787395"/>
            <a:ext cx="5623559" cy="3163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4165" y="2410091"/>
            <a:ext cx="60699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中性面：线圈与磁场方向</a:t>
            </a:r>
            <a:r>
              <a:rPr dirty="0" sz="2800">
                <a:solidFill>
                  <a:srgbClr val="FF0000"/>
                </a:solidFill>
                <a:latin typeface="华文楷体"/>
                <a:cs typeface="华文楷体"/>
              </a:rPr>
              <a:t>垂直</a:t>
            </a:r>
            <a:r>
              <a:rPr dirty="0" sz="2800">
                <a:latin typeface="华文楷体"/>
                <a:cs typeface="华文楷体"/>
              </a:rPr>
              <a:t>的平面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4165" y="4241228"/>
            <a:ext cx="6781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线圈每次经过中性面时电流方向改变</a:t>
            </a:r>
            <a:r>
              <a:rPr dirty="0" sz="2800">
                <a:solidFill>
                  <a:srgbClr val="FF0000"/>
                </a:solidFill>
                <a:latin typeface="华文楷体"/>
                <a:cs typeface="华文楷体"/>
              </a:rPr>
              <a:t>一次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27492" y="1610867"/>
            <a:ext cx="3462528" cy="4096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3695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67020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00345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033670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66995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00320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33645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66970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00295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633620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66945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00270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433595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366920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300245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33570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166895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100220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033545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966870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900195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833520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766845" y="512565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486289" y="5198008"/>
            <a:ext cx="17208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945492" y="5115458"/>
            <a:ext cx="0" cy="99695"/>
          </a:xfrm>
          <a:custGeom>
            <a:avLst/>
            <a:gdLst/>
            <a:ahLst/>
            <a:cxnLst/>
            <a:rect l="l" t="t" r="r" b="b"/>
            <a:pathLst>
              <a:path w="0" h="99695">
                <a:moveTo>
                  <a:pt x="0" y="0"/>
                </a:moveTo>
                <a:lnTo>
                  <a:pt x="0" y="99199"/>
                </a:lnTo>
              </a:path>
            </a:pathLst>
          </a:custGeom>
          <a:ln w="127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822202" y="5115458"/>
            <a:ext cx="0" cy="99695"/>
          </a:xfrm>
          <a:custGeom>
            <a:avLst/>
            <a:gdLst/>
            <a:ahLst/>
            <a:cxnLst/>
            <a:rect l="l" t="t" r="r" b="b"/>
            <a:pathLst>
              <a:path w="0" h="99695">
                <a:moveTo>
                  <a:pt x="0" y="0"/>
                </a:moveTo>
                <a:lnTo>
                  <a:pt x="0" y="99199"/>
                </a:lnTo>
              </a:path>
            </a:pathLst>
          </a:custGeom>
          <a:ln w="127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192084" y="5115458"/>
            <a:ext cx="0" cy="99695"/>
          </a:xfrm>
          <a:custGeom>
            <a:avLst/>
            <a:gdLst/>
            <a:ahLst/>
            <a:cxnLst/>
            <a:rect l="l" t="t" r="r" b="b"/>
            <a:pathLst>
              <a:path w="0" h="99695">
                <a:moveTo>
                  <a:pt x="0" y="0"/>
                </a:moveTo>
                <a:lnTo>
                  <a:pt x="0" y="99199"/>
                </a:lnTo>
              </a:path>
            </a:pathLst>
          </a:custGeom>
          <a:ln w="127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068794" y="5115458"/>
            <a:ext cx="0" cy="99695"/>
          </a:xfrm>
          <a:custGeom>
            <a:avLst/>
            <a:gdLst/>
            <a:ahLst/>
            <a:cxnLst/>
            <a:rect l="l" t="t" r="r" b="b"/>
            <a:pathLst>
              <a:path w="0" h="99695">
                <a:moveTo>
                  <a:pt x="0" y="0"/>
                </a:moveTo>
                <a:lnTo>
                  <a:pt x="0" y="99199"/>
                </a:lnTo>
              </a:path>
            </a:pathLst>
          </a:custGeom>
          <a:ln w="127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614572" y="4281513"/>
            <a:ext cx="171450" cy="1689100"/>
          </a:xfrm>
          <a:custGeom>
            <a:avLst/>
            <a:gdLst/>
            <a:ahLst/>
            <a:cxnLst/>
            <a:rect l="l" t="t" r="r" b="b"/>
            <a:pathLst>
              <a:path w="171450" h="1689100">
                <a:moveTo>
                  <a:pt x="18846" y="170738"/>
                </a:moveTo>
                <a:lnTo>
                  <a:pt x="0" y="151485"/>
                </a:lnTo>
                <a:lnTo>
                  <a:pt x="330" y="148170"/>
                </a:lnTo>
                <a:lnTo>
                  <a:pt x="1219" y="144983"/>
                </a:lnTo>
                <a:lnTo>
                  <a:pt x="2654" y="141986"/>
                </a:lnTo>
                <a:lnTo>
                  <a:pt x="86677" y="0"/>
                </a:lnTo>
                <a:lnTo>
                  <a:pt x="108347" y="37680"/>
                </a:lnTo>
                <a:lnTo>
                  <a:pt x="67386" y="37680"/>
                </a:lnTo>
                <a:lnTo>
                  <a:pt x="66947" y="108149"/>
                </a:lnTo>
                <a:lnTo>
                  <a:pt x="35445" y="161391"/>
                </a:lnTo>
                <a:lnTo>
                  <a:pt x="22161" y="170484"/>
                </a:lnTo>
                <a:lnTo>
                  <a:pt x="18846" y="170738"/>
                </a:lnTo>
                <a:close/>
              </a:path>
              <a:path w="171450" h="1689100">
                <a:moveTo>
                  <a:pt x="66947" y="108149"/>
                </a:moveTo>
                <a:lnTo>
                  <a:pt x="67386" y="37680"/>
                </a:lnTo>
                <a:lnTo>
                  <a:pt x="105486" y="37922"/>
                </a:lnTo>
                <a:lnTo>
                  <a:pt x="105427" y="47294"/>
                </a:lnTo>
                <a:lnTo>
                  <a:pt x="69926" y="47294"/>
                </a:lnTo>
                <a:lnTo>
                  <a:pt x="86203" y="75602"/>
                </a:lnTo>
                <a:lnTo>
                  <a:pt x="66947" y="108149"/>
                </a:lnTo>
                <a:close/>
              </a:path>
              <a:path w="171450" h="1689100">
                <a:moveTo>
                  <a:pt x="152374" y="171564"/>
                </a:moveTo>
                <a:lnTo>
                  <a:pt x="105047" y="108374"/>
                </a:lnTo>
                <a:lnTo>
                  <a:pt x="105486" y="37922"/>
                </a:lnTo>
                <a:lnTo>
                  <a:pt x="67386" y="37680"/>
                </a:lnTo>
                <a:lnTo>
                  <a:pt x="108347" y="37680"/>
                </a:lnTo>
                <a:lnTo>
                  <a:pt x="168922" y="143014"/>
                </a:lnTo>
                <a:lnTo>
                  <a:pt x="170319" y="146037"/>
                </a:lnTo>
                <a:lnTo>
                  <a:pt x="171170" y="149237"/>
                </a:lnTo>
                <a:lnTo>
                  <a:pt x="171450" y="152552"/>
                </a:lnTo>
                <a:lnTo>
                  <a:pt x="171157" y="155854"/>
                </a:lnTo>
                <a:lnTo>
                  <a:pt x="155676" y="171284"/>
                </a:lnTo>
                <a:lnTo>
                  <a:pt x="152374" y="171564"/>
                </a:lnTo>
                <a:close/>
              </a:path>
              <a:path w="171450" h="1689100">
                <a:moveTo>
                  <a:pt x="86203" y="75602"/>
                </a:moveTo>
                <a:lnTo>
                  <a:pt x="69926" y="47294"/>
                </a:lnTo>
                <a:lnTo>
                  <a:pt x="102831" y="47498"/>
                </a:lnTo>
                <a:lnTo>
                  <a:pt x="86203" y="75602"/>
                </a:lnTo>
                <a:close/>
              </a:path>
              <a:path w="171450" h="1689100">
                <a:moveTo>
                  <a:pt x="105047" y="108374"/>
                </a:moveTo>
                <a:lnTo>
                  <a:pt x="86203" y="75602"/>
                </a:lnTo>
                <a:lnTo>
                  <a:pt x="102831" y="47498"/>
                </a:lnTo>
                <a:lnTo>
                  <a:pt x="69926" y="47294"/>
                </a:lnTo>
                <a:lnTo>
                  <a:pt x="105427" y="47294"/>
                </a:lnTo>
                <a:lnTo>
                  <a:pt x="105047" y="108374"/>
                </a:lnTo>
                <a:close/>
              </a:path>
              <a:path w="171450" h="1689100">
                <a:moveTo>
                  <a:pt x="95199" y="1688668"/>
                </a:moveTo>
                <a:lnTo>
                  <a:pt x="57099" y="1688426"/>
                </a:lnTo>
                <a:lnTo>
                  <a:pt x="66947" y="108149"/>
                </a:lnTo>
                <a:lnTo>
                  <a:pt x="86203" y="75602"/>
                </a:lnTo>
                <a:lnTo>
                  <a:pt x="105047" y="108374"/>
                </a:lnTo>
                <a:lnTo>
                  <a:pt x="95199" y="16886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418090" y="5128933"/>
            <a:ext cx="5448300" cy="171450"/>
          </a:xfrm>
          <a:custGeom>
            <a:avLst/>
            <a:gdLst/>
            <a:ahLst/>
            <a:cxnLst/>
            <a:rect l="l" t="t" r="r" b="b"/>
            <a:pathLst>
              <a:path w="5448300" h="171450">
                <a:moveTo>
                  <a:pt x="5372344" y="85725"/>
                </a:moveTo>
                <a:lnTo>
                  <a:pt x="5286260" y="35509"/>
                </a:lnTo>
                <a:lnTo>
                  <a:pt x="5276811" y="18961"/>
                </a:lnTo>
                <a:lnTo>
                  <a:pt x="5277116" y="15659"/>
                </a:lnTo>
                <a:lnTo>
                  <a:pt x="5295950" y="0"/>
                </a:lnTo>
                <a:lnTo>
                  <a:pt x="5299252" y="304"/>
                </a:lnTo>
                <a:lnTo>
                  <a:pt x="5302465" y="1181"/>
                </a:lnTo>
                <a:lnTo>
                  <a:pt x="5305463" y="2590"/>
                </a:lnTo>
                <a:lnTo>
                  <a:pt x="5415314" y="66675"/>
                </a:lnTo>
                <a:lnTo>
                  <a:pt x="5410161" y="66675"/>
                </a:lnTo>
                <a:lnTo>
                  <a:pt x="5410161" y="69265"/>
                </a:lnTo>
                <a:lnTo>
                  <a:pt x="5400560" y="69265"/>
                </a:lnTo>
                <a:lnTo>
                  <a:pt x="5372344" y="85725"/>
                </a:lnTo>
                <a:close/>
              </a:path>
              <a:path w="5448300" h="171450">
                <a:moveTo>
                  <a:pt x="5339687" y="104775"/>
                </a:moveTo>
                <a:lnTo>
                  <a:pt x="0" y="104775"/>
                </a:lnTo>
                <a:lnTo>
                  <a:pt x="0" y="66675"/>
                </a:lnTo>
                <a:lnTo>
                  <a:pt x="5339687" y="66675"/>
                </a:lnTo>
                <a:lnTo>
                  <a:pt x="5372344" y="85725"/>
                </a:lnTo>
                <a:lnTo>
                  <a:pt x="5339687" y="104775"/>
                </a:lnTo>
                <a:close/>
              </a:path>
              <a:path w="5448300" h="171450">
                <a:moveTo>
                  <a:pt x="5415314" y="104775"/>
                </a:moveTo>
                <a:lnTo>
                  <a:pt x="5410161" y="104775"/>
                </a:lnTo>
                <a:lnTo>
                  <a:pt x="5410161" y="66675"/>
                </a:lnTo>
                <a:lnTo>
                  <a:pt x="5415314" y="66675"/>
                </a:lnTo>
                <a:lnTo>
                  <a:pt x="5447969" y="85725"/>
                </a:lnTo>
                <a:lnTo>
                  <a:pt x="5415314" y="104775"/>
                </a:lnTo>
                <a:close/>
              </a:path>
              <a:path w="5448300" h="171450">
                <a:moveTo>
                  <a:pt x="5400560" y="102184"/>
                </a:moveTo>
                <a:lnTo>
                  <a:pt x="5372344" y="85725"/>
                </a:lnTo>
                <a:lnTo>
                  <a:pt x="5400560" y="69265"/>
                </a:lnTo>
                <a:lnTo>
                  <a:pt x="5400560" y="102184"/>
                </a:lnTo>
                <a:close/>
              </a:path>
              <a:path w="5448300" h="171450">
                <a:moveTo>
                  <a:pt x="5410161" y="102184"/>
                </a:moveTo>
                <a:lnTo>
                  <a:pt x="5400560" y="102184"/>
                </a:lnTo>
                <a:lnTo>
                  <a:pt x="5400560" y="69265"/>
                </a:lnTo>
                <a:lnTo>
                  <a:pt x="5410161" y="69265"/>
                </a:lnTo>
                <a:lnTo>
                  <a:pt x="5410161" y="102184"/>
                </a:lnTo>
                <a:close/>
              </a:path>
              <a:path w="5448300" h="171450">
                <a:moveTo>
                  <a:pt x="5295950" y="171450"/>
                </a:moveTo>
                <a:lnTo>
                  <a:pt x="5276811" y="152488"/>
                </a:lnTo>
                <a:lnTo>
                  <a:pt x="5277091" y="149174"/>
                </a:lnTo>
                <a:lnTo>
                  <a:pt x="5372344" y="85725"/>
                </a:lnTo>
                <a:lnTo>
                  <a:pt x="5400560" y="102184"/>
                </a:lnTo>
                <a:lnTo>
                  <a:pt x="5410161" y="102184"/>
                </a:lnTo>
                <a:lnTo>
                  <a:pt x="5410161" y="104775"/>
                </a:lnTo>
                <a:lnTo>
                  <a:pt x="5415314" y="104775"/>
                </a:lnTo>
                <a:lnTo>
                  <a:pt x="5305463" y="168859"/>
                </a:lnTo>
                <a:lnTo>
                  <a:pt x="5302465" y="170268"/>
                </a:lnTo>
                <a:lnTo>
                  <a:pt x="5299252" y="171145"/>
                </a:lnTo>
                <a:lnTo>
                  <a:pt x="5295950" y="171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327171" y="4138612"/>
            <a:ext cx="234315" cy="643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14300">
              <a:lnSpc>
                <a:spcPct val="144800"/>
              </a:lnSpc>
              <a:spcBef>
                <a:spcPts val="100"/>
              </a:spcBef>
            </a:pPr>
            <a:r>
              <a:rPr dirty="0" sz="1400" b="1" i="1">
                <a:solidFill>
                  <a:srgbClr val="0000FF"/>
                </a:solidFill>
                <a:latin typeface="Times New Roman"/>
                <a:cs typeface="Times New Roman"/>
              </a:rPr>
              <a:t>e </a:t>
            </a:r>
            <a:r>
              <a:rPr dirty="0" sz="1400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 i="1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dirty="0" baseline="-18518" sz="1350" spc="7" b="1" i="1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endParaRPr baseline="-18518" sz="13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99715" y="5253418"/>
            <a:ext cx="755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661346" y="5179644"/>
            <a:ext cx="80949" cy="808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780788" y="4620831"/>
            <a:ext cx="72390" cy="71755"/>
          </a:xfrm>
          <a:custGeom>
            <a:avLst/>
            <a:gdLst/>
            <a:ahLst/>
            <a:cxnLst/>
            <a:rect l="l" t="t" r="r" b="b"/>
            <a:pathLst>
              <a:path w="72389" h="71754">
                <a:moveTo>
                  <a:pt x="36195" y="71437"/>
                </a:moveTo>
                <a:lnTo>
                  <a:pt x="22286" y="68619"/>
                </a:lnTo>
                <a:lnTo>
                  <a:pt x="10882" y="60885"/>
                </a:lnTo>
                <a:lnTo>
                  <a:pt x="3085" y="49315"/>
                </a:lnTo>
                <a:lnTo>
                  <a:pt x="0" y="34988"/>
                </a:lnTo>
                <a:lnTo>
                  <a:pt x="3085" y="21511"/>
                </a:lnTo>
                <a:lnTo>
                  <a:pt x="10882" y="10374"/>
                </a:lnTo>
                <a:lnTo>
                  <a:pt x="22286" y="2796"/>
                </a:lnTo>
                <a:lnTo>
                  <a:pt x="36195" y="0"/>
                </a:lnTo>
                <a:lnTo>
                  <a:pt x="50097" y="2808"/>
                </a:lnTo>
                <a:lnTo>
                  <a:pt x="61453" y="10466"/>
                </a:lnTo>
                <a:lnTo>
                  <a:pt x="69111" y="21822"/>
                </a:lnTo>
                <a:lnTo>
                  <a:pt x="71920" y="35725"/>
                </a:lnTo>
                <a:lnTo>
                  <a:pt x="69111" y="49625"/>
                </a:lnTo>
                <a:lnTo>
                  <a:pt x="61453" y="60977"/>
                </a:lnTo>
                <a:lnTo>
                  <a:pt x="50097" y="68630"/>
                </a:lnTo>
                <a:lnTo>
                  <a:pt x="36195" y="71437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776508" y="461608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40716" y="80949"/>
                </a:moveTo>
                <a:lnTo>
                  <a:pt x="40233" y="80949"/>
                </a:lnTo>
                <a:lnTo>
                  <a:pt x="36106" y="80721"/>
                </a:lnTo>
                <a:lnTo>
                  <a:pt x="3276" y="56438"/>
                </a:lnTo>
                <a:lnTo>
                  <a:pt x="0" y="40716"/>
                </a:lnTo>
                <a:lnTo>
                  <a:pt x="0" y="40233"/>
                </a:lnTo>
                <a:lnTo>
                  <a:pt x="20980" y="4991"/>
                </a:lnTo>
                <a:lnTo>
                  <a:pt x="40233" y="0"/>
                </a:lnTo>
                <a:lnTo>
                  <a:pt x="40716" y="0"/>
                </a:lnTo>
                <a:lnTo>
                  <a:pt x="66535" y="9512"/>
                </a:lnTo>
                <a:lnTo>
                  <a:pt x="40233" y="9512"/>
                </a:lnTo>
                <a:lnTo>
                  <a:pt x="40475" y="9524"/>
                </a:lnTo>
                <a:lnTo>
                  <a:pt x="37071" y="9690"/>
                </a:lnTo>
                <a:lnTo>
                  <a:pt x="37288" y="9690"/>
                </a:lnTo>
                <a:lnTo>
                  <a:pt x="34588" y="10096"/>
                </a:lnTo>
                <a:lnTo>
                  <a:pt x="34210" y="10145"/>
                </a:lnTo>
                <a:lnTo>
                  <a:pt x="31585" y="10833"/>
                </a:lnTo>
                <a:lnTo>
                  <a:pt x="31218" y="10917"/>
                </a:lnTo>
                <a:lnTo>
                  <a:pt x="28726" y="11849"/>
                </a:lnTo>
                <a:lnTo>
                  <a:pt x="28264" y="12014"/>
                </a:lnTo>
                <a:lnTo>
                  <a:pt x="25986" y="13131"/>
                </a:lnTo>
                <a:lnTo>
                  <a:pt x="25514" y="13360"/>
                </a:lnTo>
                <a:lnTo>
                  <a:pt x="23392" y="14668"/>
                </a:lnTo>
                <a:lnTo>
                  <a:pt x="23012" y="14897"/>
                </a:lnTo>
                <a:lnTo>
                  <a:pt x="21001" y="16433"/>
                </a:lnTo>
                <a:lnTo>
                  <a:pt x="18788" y="18414"/>
                </a:lnTo>
                <a:lnTo>
                  <a:pt x="16757" y="20599"/>
                </a:lnTo>
                <a:lnTo>
                  <a:pt x="16433" y="20954"/>
                </a:lnTo>
                <a:lnTo>
                  <a:pt x="14952" y="22974"/>
                </a:lnTo>
                <a:lnTo>
                  <a:pt x="14781" y="23193"/>
                </a:lnTo>
                <a:lnTo>
                  <a:pt x="14703" y="23355"/>
                </a:lnTo>
                <a:lnTo>
                  <a:pt x="13391" y="25514"/>
                </a:lnTo>
                <a:lnTo>
                  <a:pt x="12068" y="28206"/>
                </a:lnTo>
                <a:lnTo>
                  <a:pt x="10996" y="31038"/>
                </a:lnTo>
                <a:lnTo>
                  <a:pt x="10213" y="33997"/>
                </a:lnTo>
                <a:lnTo>
                  <a:pt x="9800" y="36575"/>
                </a:lnTo>
                <a:lnTo>
                  <a:pt x="9702" y="37058"/>
                </a:lnTo>
                <a:lnTo>
                  <a:pt x="9537" y="40233"/>
                </a:lnTo>
                <a:lnTo>
                  <a:pt x="9651" y="43408"/>
                </a:lnTo>
                <a:lnTo>
                  <a:pt x="10125" y="46481"/>
                </a:lnTo>
                <a:lnTo>
                  <a:pt x="10855" y="49453"/>
                </a:lnTo>
                <a:lnTo>
                  <a:pt x="11871" y="52285"/>
                </a:lnTo>
                <a:lnTo>
                  <a:pt x="11974" y="52585"/>
                </a:lnTo>
                <a:lnTo>
                  <a:pt x="12068" y="52743"/>
                </a:lnTo>
                <a:lnTo>
                  <a:pt x="13165" y="55029"/>
                </a:lnTo>
                <a:lnTo>
                  <a:pt x="13281" y="55287"/>
                </a:lnTo>
                <a:lnTo>
                  <a:pt x="13391" y="55435"/>
                </a:lnTo>
                <a:lnTo>
                  <a:pt x="14703" y="57594"/>
                </a:lnTo>
                <a:lnTo>
                  <a:pt x="16449" y="59969"/>
                </a:lnTo>
                <a:lnTo>
                  <a:pt x="16725" y="60337"/>
                </a:lnTo>
                <a:lnTo>
                  <a:pt x="18454" y="62204"/>
                </a:lnTo>
                <a:lnTo>
                  <a:pt x="18745" y="62522"/>
                </a:lnTo>
                <a:lnTo>
                  <a:pt x="20635" y="64223"/>
                </a:lnTo>
                <a:lnTo>
                  <a:pt x="20954" y="64515"/>
                </a:lnTo>
                <a:lnTo>
                  <a:pt x="23016" y="66027"/>
                </a:lnTo>
                <a:lnTo>
                  <a:pt x="23355" y="66281"/>
                </a:lnTo>
                <a:lnTo>
                  <a:pt x="25562" y="67589"/>
                </a:lnTo>
                <a:lnTo>
                  <a:pt x="25920" y="67805"/>
                </a:lnTo>
                <a:lnTo>
                  <a:pt x="28244" y="68910"/>
                </a:lnTo>
                <a:lnTo>
                  <a:pt x="28638" y="69100"/>
                </a:lnTo>
                <a:lnTo>
                  <a:pt x="31115" y="69976"/>
                </a:lnTo>
                <a:lnTo>
                  <a:pt x="31496" y="70116"/>
                </a:lnTo>
                <a:lnTo>
                  <a:pt x="34119" y="70764"/>
                </a:lnTo>
                <a:lnTo>
                  <a:pt x="34467" y="70853"/>
                </a:lnTo>
                <a:lnTo>
                  <a:pt x="37203" y="71247"/>
                </a:lnTo>
                <a:lnTo>
                  <a:pt x="37071" y="71247"/>
                </a:lnTo>
                <a:lnTo>
                  <a:pt x="37541" y="71297"/>
                </a:lnTo>
                <a:lnTo>
                  <a:pt x="38043" y="71297"/>
                </a:lnTo>
                <a:lnTo>
                  <a:pt x="40475" y="71424"/>
                </a:lnTo>
                <a:lnTo>
                  <a:pt x="40233" y="71437"/>
                </a:lnTo>
                <a:lnTo>
                  <a:pt x="66535" y="71437"/>
                </a:lnTo>
                <a:lnTo>
                  <a:pt x="66052" y="71843"/>
                </a:lnTo>
                <a:lnTo>
                  <a:pt x="44843" y="80721"/>
                </a:lnTo>
                <a:lnTo>
                  <a:pt x="40716" y="80949"/>
                </a:lnTo>
                <a:close/>
              </a:path>
              <a:path w="81279" h="81279">
                <a:moveTo>
                  <a:pt x="40475" y="9524"/>
                </a:moveTo>
                <a:lnTo>
                  <a:pt x="40233" y="9512"/>
                </a:lnTo>
                <a:lnTo>
                  <a:pt x="40716" y="9512"/>
                </a:lnTo>
                <a:lnTo>
                  <a:pt x="40475" y="9524"/>
                </a:lnTo>
                <a:close/>
              </a:path>
              <a:path w="81279" h="81279">
                <a:moveTo>
                  <a:pt x="43552" y="9673"/>
                </a:moveTo>
                <a:lnTo>
                  <a:pt x="40475" y="9524"/>
                </a:lnTo>
                <a:lnTo>
                  <a:pt x="66548" y="9524"/>
                </a:lnTo>
                <a:lnTo>
                  <a:pt x="66688" y="9651"/>
                </a:lnTo>
                <a:lnTo>
                  <a:pt x="43408" y="9651"/>
                </a:lnTo>
                <a:lnTo>
                  <a:pt x="43552" y="9673"/>
                </a:lnTo>
                <a:close/>
              </a:path>
              <a:path w="81279" h="81279">
                <a:moveTo>
                  <a:pt x="37392" y="9674"/>
                </a:moveTo>
                <a:lnTo>
                  <a:pt x="37541" y="9651"/>
                </a:lnTo>
                <a:lnTo>
                  <a:pt x="37852" y="9651"/>
                </a:lnTo>
                <a:lnTo>
                  <a:pt x="37392" y="9674"/>
                </a:lnTo>
                <a:close/>
              </a:path>
              <a:path w="81279" h="81279">
                <a:moveTo>
                  <a:pt x="66730" y="9690"/>
                </a:moveTo>
                <a:lnTo>
                  <a:pt x="43891" y="9690"/>
                </a:lnTo>
                <a:lnTo>
                  <a:pt x="43408" y="9651"/>
                </a:lnTo>
                <a:lnTo>
                  <a:pt x="66688" y="9651"/>
                </a:lnTo>
                <a:close/>
              </a:path>
              <a:path w="81279" h="81279">
                <a:moveTo>
                  <a:pt x="46684" y="10145"/>
                </a:moveTo>
                <a:lnTo>
                  <a:pt x="43552" y="9673"/>
                </a:lnTo>
                <a:lnTo>
                  <a:pt x="43891" y="9690"/>
                </a:lnTo>
                <a:lnTo>
                  <a:pt x="66730" y="9690"/>
                </a:lnTo>
                <a:lnTo>
                  <a:pt x="67177" y="10096"/>
                </a:lnTo>
                <a:lnTo>
                  <a:pt x="46494" y="10096"/>
                </a:lnTo>
                <a:lnTo>
                  <a:pt x="46684" y="10145"/>
                </a:lnTo>
                <a:close/>
              </a:path>
              <a:path w="81279" h="81279">
                <a:moveTo>
                  <a:pt x="37288" y="9690"/>
                </a:moveTo>
                <a:lnTo>
                  <a:pt x="37071" y="9690"/>
                </a:lnTo>
                <a:lnTo>
                  <a:pt x="37392" y="9674"/>
                </a:lnTo>
                <a:close/>
              </a:path>
              <a:path w="81279" h="81279">
                <a:moveTo>
                  <a:pt x="34294" y="10140"/>
                </a:moveTo>
                <a:lnTo>
                  <a:pt x="34467" y="10096"/>
                </a:lnTo>
                <a:lnTo>
                  <a:pt x="34294" y="10140"/>
                </a:lnTo>
                <a:close/>
              </a:path>
              <a:path w="81279" h="81279">
                <a:moveTo>
                  <a:pt x="67274" y="10185"/>
                </a:moveTo>
                <a:lnTo>
                  <a:pt x="46951" y="10185"/>
                </a:lnTo>
                <a:lnTo>
                  <a:pt x="46494" y="10096"/>
                </a:lnTo>
                <a:lnTo>
                  <a:pt x="67177" y="10096"/>
                </a:lnTo>
                <a:close/>
              </a:path>
              <a:path w="81279" h="81279">
                <a:moveTo>
                  <a:pt x="34119" y="10185"/>
                </a:moveTo>
                <a:lnTo>
                  <a:pt x="34294" y="10140"/>
                </a:lnTo>
                <a:lnTo>
                  <a:pt x="34119" y="10185"/>
                </a:lnTo>
                <a:close/>
              </a:path>
              <a:path w="81279" h="81279">
                <a:moveTo>
                  <a:pt x="68140" y="10972"/>
                </a:moveTo>
                <a:lnTo>
                  <a:pt x="49911" y="10972"/>
                </a:lnTo>
                <a:lnTo>
                  <a:pt x="49466" y="10833"/>
                </a:lnTo>
                <a:lnTo>
                  <a:pt x="46684" y="10145"/>
                </a:lnTo>
                <a:lnTo>
                  <a:pt x="46951" y="10185"/>
                </a:lnTo>
                <a:lnTo>
                  <a:pt x="67274" y="10185"/>
                </a:lnTo>
                <a:lnTo>
                  <a:pt x="68140" y="10972"/>
                </a:lnTo>
                <a:close/>
              </a:path>
              <a:path w="81279" h="81279">
                <a:moveTo>
                  <a:pt x="31290" y="10908"/>
                </a:moveTo>
                <a:lnTo>
                  <a:pt x="31496" y="10833"/>
                </a:lnTo>
                <a:lnTo>
                  <a:pt x="31290" y="10908"/>
                </a:lnTo>
                <a:close/>
              </a:path>
              <a:path w="81279" h="81279">
                <a:moveTo>
                  <a:pt x="49696" y="10917"/>
                </a:moveTo>
                <a:lnTo>
                  <a:pt x="49366" y="10833"/>
                </a:lnTo>
                <a:lnTo>
                  <a:pt x="49696" y="10917"/>
                </a:lnTo>
                <a:close/>
              </a:path>
              <a:path w="81279" h="81279">
                <a:moveTo>
                  <a:pt x="31115" y="10972"/>
                </a:moveTo>
                <a:lnTo>
                  <a:pt x="31290" y="10908"/>
                </a:lnTo>
                <a:lnTo>
                  <a:pt x="31115" y="10972"/>
                </a:lnTo>
                <a:close/>
              </a:path>
              <a:path w="81279" h="81279">
                <a:moveTo>
                  <a:pt x="69276" y="12039"/>
                </a:moveTo>
                <a:lnTo>
                  <a:pt x="52743" y="12039"/>
                </a:lnTo>
                <a:lnTo>
                  <a:pt x="52311" y="11849"/>
                </a:lnTo>
                <a:lnTo>
                  <a:pt x="49696" y="10917"/>
                </a:lnTo>
                <a:lnTo>
                  <a:pt x="49911" y="10972"/>
                </a:lnTo>
                <a:lnTo>
                  <a:pt x="68140" y="10972"/>
                </a:lnTo>
                <a:lnTo>
                  <a:pt x="68935" y="11696"/>
                </a:lnTo>
                <a:lnTo>
                  <a:pt x="69276" y="12039"/>
                </a:lnTo>
                <a:close/>
              </a:path>
              <a:path w="81279" h="81279">
                <a:moveTo>
                  <a:pt x="28363" y="11981"/>
                </a:moveTo>
                <a:lnTo>
                  <a:pt x="28638" y="11849"/>
                </a:lnTo>
                <a:lnTo>
                  <a:pt x="28363" y="11981"/>
                </a:lnTo>
                <a:close/>
              </a:path>
              <a:path w="81279" h="81279">
                <a:moveTo>
                  <a:pt x="52584" y="11981"/>
                </a:moveTo>
                <a:lnTo>
                  <a:pt x="52225" y="11849"/>
                </a:lnTo>
                <a:lnTo>
                  <a:pt x="52584" y="11981"/>
                </a:lnTo>
                <a:close/>
              </a:path>
              <a:path w="81279" h="81279">
                <a:moveTo>
                  <a:pt x="70478" y="13360"/>
                </a:moveTo>
                <a:lnTo>
                  <a:pt x="55435" y="13360"/>
                </a:lnTo>
                <a:lnTo>
                  <a:pt x="55029" y="13131"/>
                </a:lnTo>
                <a:lnTo>
                  <a:pt x="52584" y="11981"/>
                </a:lnTo>
                <a:lnTo>
                  <a:pt x="52743" y="12039"/>
                </a:lnTo>
                <a:lnTo>
                  <a:pt x="69276" y="12039"/>
                </a:lnTo>
                <a:lnTo>
                  <a:pt x="70478" y="13360"/>
                </a:lnTo>
                <a:close/>
              </a:path>
              <a:path w="81279" h="81279">
                <a:moveTo>
                  <a:pt x="28244" y="12039"/>
                </a:moveTo>
                <a:close/>
              </a:path>
              <a:path w="81279" h="81279">
                <a:moveTo>
                  <a:pt x="25662" y="13288"/>
                </a:moveTo>
                <a:lnTo>
                  <a:pt x="25920" y="13131"/>
                </a:lnTo>
                <a:lnTo>
                  <a:pt x="25662" y="13288"/>
                </a:lnTo>
                <a:close/>
              </a:path>
              <a:path w="81279" h="81279">
                <a:moveTo>
                  <a:pt x="55287" y="13288"/>
                </a:moveTo>
                <a:lnTo>
                  <a:pt x="54962" y="13131"/>
                </a:lnTo>
                <a:lnTo>
                  <a:pt x="55287" y="13288"/>
                </a:lnTo>
                <a:close/>
              </a:path>
              <a:path w="81279" h="81279">
                <a:moveTo>
                  <a:pt x="25544" y="13360"/>
                </a:moveTo>
                <a:close/>
              </a:path>
              <a:path w="81279" h="81279">
                <a:moveTo>
                  <a:pt x="71875" y="14922"/>
                </a:moveTo>
                <a:lnTo>
                  <a:pt x="57975" y="14922"/>
                </a:lnTo>
                <a:lnTo>
                  <a:pt x="57594" y="14668"/>
                </a:lnTo>
                <a:lnTo>
                  <a:pt x="55287" y="13288"/>
                </a:lnTo>
                <a:lnTo>
                  <a:pt x="55435" y="13360"/>
                </a:lnTo>
                <a:lnTo>
                  <a:pt x="70478" y="13360"/>
                </a:lnTo>
                <a:lnTo>
                  <a:pt x="71875" y="14922"/>
                </a:lnTo>
                <a:close/>
              </a:path>
              <a:path w="81279" h="81279">
                <a:moveTo>
                  <a:pt x="23197" y="14786"/>
                </a:moveTo>
                <a:lnTo>
                  <a:pt x="23355" y="14668"/>
                </a:lnTo>
                <a:lnTo>
                  <a:pt x="23197" y="14786"/>
                </a:lnTo>
                <a:close/>
              </a:path>
              <a:path w="81279" h="81279">
                <a:moveTo>
                  <a:pt x="57756" y="14789"/>
                </a:moveTo>
                <a:lnTo>
                  <a:pt x="57557" y="14668"/>
                </a:lnTo>
                <a:lnTo>
                  <a:pt x="57756" y="14789"/>
                </a:lnTo>
                <a:close/>
              </a:path>
              <a:path w="81279" h="81279">
                <a:moveTo>
                  <a:pt x="23016" y="14922"/>
                </a:moveTo>
                <a:lnTo>
                  <a:pt x="23197" y="14786"/>
                </a:lnTo>
                <a:lnTo>
                  <a:pt x="23016" y="14922"/>
                </a:lnTo>
                <a:close/>
              </a:path>
              <a:path w="81279" h="81279">
                <a:moveTo>
                  <a:pt x="73221" y="16725"/>
                </a:moveTo>
                <a:lnTo>
                  <a:pt x="60350" y="16725"/>
                </a:lnTo>
                <a:lnTo>
                  <a:pt x="59994" y="16433"/>
                </a:lnTo>
                <a:lnTo>
                  <a:pt x="57756" y="14789"/>
                </a:lnTo>
                <a:lnTo>
                  <a:pt x="57975" y="14922"/>
                </a:lnTo>
                <a:lnTo>
                  <a:pt x="71875" y="14922"/>
                </a:lnTo>
                <a:lnTo>
                  <a:pt x="73221" y="16725"/>
                </a:lnTo>
                <a:close/>
              </a:path>
              <a:path w="81279" h="81279">
                <a:moveTo>
                  <a:pt x="20742" y="16627"/>
                </a:moveTo>
                <a:lnTo>
                  <a:pt x="20954" y="16433"/>
                </a:lnTo>
                <a:lnTo>
                  <a:pt x="20742" y="16627"/>
                </a:lnTo>
                <a:close/>
              </a:path>
              <a:path w="81279" h="81279">
                <a:moveTo>
                  <a:pt x="60157" y="16582"/>
                </a:moveTo>
                <a:lnTo>
                  <a:pt x="59959" y="16433"/>
                </a:lnTo>
                <a:lnTo>
                  <a:pt x="60157" y="16582"/>
                </a:lnTo>
                <a:close/>
              </a:path>
              <a:path w="81279" h="81279">
                <a:moveTo>
                  <a:pt x="74600" y="18745"/>
                </a:moveTo>
                <a:lnTo>
                  <a:pt x="62534" y="18745"/>
                </a:lnTo>
                <a:lnTo>
                  <a:pt x="62204" y="18414"/>
                </a:lnTo>
                <a:lnTo>
                  <a:pt x="60157" y="16582"/>
                </a:lnTo>
                <a:lnTo>
                  <a:pt x="60350" y="16725"/>
                </a:lnTo>
                <a:lnTo>
                  <a:pt x="73221" y="16725"/>
                </a:lnTo>
                <a:lnTo>
                  <a:pt x="73913" y="17652"/>
                </a:lnTo>
                <a:lnTo>
                  <a:pt x="74600" y="18745"/>
                </a:lnTo>
                <a:close/>
              </a:path>
              <a:path w="81279" h="81279">
                <a:moveTo>
                  <a:pt x="20635" y="16725"/>
                </a:moveTo>
                <a:close/>
              </a:path>
              <a:path w="81279" h="81279">
                <a:moveTo>
                  <a:pt x="18529" y="18652"/>
                </a:moveTo>
                <a:lnTo>
                  <a:pt x="18745" y="18414"/>
                </a:lnTo>
                <a:lnTo>
                  <a:pt x="18529" y="18652"/>
                </a:lnTo>
                <a:close/>
              </a:path>
              <a:path w="81279" h="81279">
                <a:moveTo>
                  <a:pt x="62361" y="18587"/>
                </a:moveTo>
                <a:lnTo>
                  <a:pt x="62171" y="18414"/>
                </a:lnTo>
                <a:lnTo>
                  <a:pt x="62361" y="18587"/>
                </a:lnTo>
                <a:close/>
              </a:path>
              <a:path w="81279" h="81279">
                <a:moveTo>
                  <a:pt x="75943" y="20954"/>
                </a:moveTo>
                <a:lnTo>
                  <a:pt x="64515" y="20954"/>
                </a:lnTo>
                <a:lnTo>
                  <a:pt x="64223" y="20599"/>
                </a:lnTo>
                <a:lnTo>
                  <a:pt x="62361" y="18587"/>
                </a:lnTo>
                <a:lnTo>
                  <a:pt x="62534" y="18745"/>
                </a:lnTo>
                <a:lnTo>
                  <a:pt x="74600" y="18745"/>
                </a:lnTo>
                <a:lnTo>
                  <a:pt x="75943" y="20954"/>
                </a:lnTo>
                <a:close/>
              </a:path>
              <a:path w="81279" h="81279">
                <a:moveTo>
                  <a:pt x="18444" y="18745"/>
                </a:moveTo>
                <a:close/>
              </a:path>
              <a:path w="81279" h="81279">
                <a:moveTo>
                  <a:pt x="16582" y="20792"/>
                </a:moveTo>
                <a:lnTo>
                  <a:pt x="16725" y="20599"/>
                </a:lnTo>
                <a:lnTo>
                  <a:pt x="16582" y="20792"/>
                </a:lnTo>
                <a:close/>
              </a:path>
              <a:path w="81279" h="81279">
                <a:moveTo>
                  <a:pt x="64367" y="20792"/>
                </a:moveTo>
                <a:lnTo>
                  <a:pt x="64192" y="20599"/>
                </a:lnTo>
                <a:lnTo>
                  <a:pt x="64367" y="20792"/>
                </a:lnTo>
                <a:close/>
              </a:path>
              <a:path w="81279" h="81279">
                <a:moveTo>
                  <a:pt x="16460" y="20954"/>
                </a:moveTo>
                <a:lnTo>
                  <a:pt x="16582" y="20792"/>
                </a:lnTo>
                <a:lnTo>
                  <a:pt x="16460" y="20954"/>
                </a:lnTo>
                <a:close/>
              </a:path>
              <a:path w="81279" h="81279">
                <a:moveTo>
                  <a:pt x="77122" y="23355"/>
                </a:moveTo>
                <a:lnTo>
                  <a:pt x="66281" y="23355"/>
                </a:lnTo>
                <a:lnTo>
                  <a:pt x="66027" y="22974"/>
                </a:lnTo>
                <a:lnTo>
                  <a:pt x="64367" y="20792"/>
                </a:lnTo>
                <a:lnTo>
                  <a:pt x="64515" y="20954"/>
                </a:lnTo>
                <a:lnTo>
                  <a:pt x="75943" y="20954"/>
                </a:lnTo>
                <a:lnTo>
                  <a:pt x="76174" y="21386"/>
                </a:lnTo>
                <a:lnTo>
                  <a:pt x="77122" y="23355"/>
                </a:lnTo>
                <a:close/>
              </a:path>
              <a:path w="81279" h="81279">
                <a:moveTo>
                  <a:pt x="14857" y="23102"/>
                </a:moveTo>
                <a:lnTo>
                  <a:pt x="14935" y="22974"/>
                </a:lnTo>
                <a:lnTo>
                  <a:pt x="14857" y="23102"/>
                </a:lnTo>
                <a:close/>
              </a:path>
              <a:path w="81279" h="81279">
                <a:moveTo>
                  <a:pt x="66160" y="23193"/>
                </a:moveTo>
                <a:lnTo>
                  <a:pt x="65996" y="22974"/>
                </a:lnTo>
                <a:lnTo>
                  <a:pt x="66160" y="23193"/>
                </a:lnTo>
                <a:close/>
              </a:path>
              <a:path w="81279" h="81279">
                <a:moveTo>
                  <a:pt x="14703" y="23355"/>
                </a:moveTo>
                <a:lnTo>
                  <a:pt x="14857" y="23102"/>
                </a:lnTo>
                <a:lnTo>
                  <a:pt x="14703" y="23355"/>
                </a:lnTo>
                <a:close/>
              </a:path>
              <a:path w="81279" h="81279">
                <a:moveTo>
                  <a:pt x="78223" y="25920"/>
                </a:moveTo>
                <a:lnTo>
                  <a:pt x="67817" y="25920"/>
                </a:lnTo>
                <a:lnTo>
                  <a:pt x="67589" y="25514"/>
                </a:lnTo>
                <a:lnTo>
                  <a:pt x="66160" y="23193"/>
                </a:lnTo>
                <a:lnTo>
                  <a:pt x="66281" y="23355"/>
                </a:lnTo>
                <a:lnTo>
                  <a:pt x="77122" y="23355"/>
                </a:lnTo>
                <a:lnTo>
                  <a:pt x="77863" y="24930"/>
                </a:lnTo>
                <a:lnTo>
                  <a:pt x="78223" y="25920"/>
                </a:lnTo>
                <a:close/>
              </a:path>
              <a:path w="81279" h="81279">
                <a:moveTo>
                  <a:pt x="13243" y="25757"/>
                </a:moveTo>
                <a:lnTo>
                  <a:pt x="13360" y="25514"/>
                </a:lnTo>
                <a:lnTo>
                  <a:pt x="13243" y="25757"/>
                </a:lnTo>
                <a:close/>
              </a:path>
              <a:path w="81279" h="81279">
                <a:moveTo>
                  <a:pt x="67661" y="25662"/>
                </a:moveTo>
                <a:lnTo>
                  <a:pt x="67571" y="25514"/>
                </a:lnTo>
                <a:lnTo>
                  <a:pt x="67661" y="25662"/>
                </a:lnTo>
                <a:close/>
              </a:path>
              <a:path w="81279" h="81279">
                <a:moveTo>
                  <a:pt x="79189" y="28638"/>
                </a:moveTo>
                <a:lnTo>
                  <a:pt x="69100" y="28638"/>
                </a:lnTo>
                <a:lnTo>
                  <a:pt x="68910" y="28206"/>
                </a:lnTo>
                <a:lnTo>
                  <a:pt x="67661" y="25662"/>
                </a:lnTo>
                <a:lnTo>
                  <a:pt x="67817" y="25920"/>
                </a:lnTo>
                <a:lnTo>
                  <a:pt x="78223" y="25920"/>
                </a:lnTo>
                <a:lnTo>
                  <a:pt x="79189" y="28638"/>
                </a:lnTo>
                <a:close/>
              </a:path>
              <a:path w="81279" h="81279">
                <a:moveTo>
                  <a:pt x="13165" y="25920"/>
                </a:moveTo>
                <a:lnTo>
                  <a:pt x="13243" y="25757"/>
                </a:lnTo>
                <a:lnTo>
                  <a:pt x="13165" y="25920"/>
                </a:lnTo>
                <a:close/>
              </a:path>
              <a:path w="81279" h="81279">
                <a:moveTo>
                  <a:pt x="11942" y="28469"/>
                </a:moveTo>
                <a:lnTo>
                  <a:pt x="12039" y="28206"/>
                </a:lnTo>
                <a:lnTo>
                  <a:pt x="11942" y="28469"/>
                </a:lnTo>
                <a:close/>
              </a:path>
              <a:path w="81279" h="81279">
                <a:moveTo>
                  <a:pt x="68968" y="28365"/>
                </a:moveTo>
                <a:lnTo>
                  <a:pt x="68891" y="28206"/>
                </a:lnTo>
                <a:lnTo>
                  <a:pt x="68968" y="28365"/>
                </a:lnTo>
                <a:close/>
              </a:path>
              <a:path w="81279" h="81279">
                <a:moveTo>
                  <a:pt x="79928" y="31483"/>
                </a:moveTo>
                <a:lnTo>
                  <a:pt x="70116" y="31483"/>
                </a:lnTo>
                <a:lnTo>
                  <a:pt x="69976" y="31038"/>
                </a:lnTo>
                <a:lnTo>
                  <a:pt x="68968" y="28365"/>
                </a:lnTo>
                <a:lnTo>
                  <a:pt x="69100" y="28638"/>
                </a:lnTo>
                <a:lnTo>
                  <a:pt x="79189" y="28638"/>
                </a:lnTo>
                <a:lnTo>
                  <a:pt x="79928" y="31483"/>
                </a:lnTo>
                <a:close/>
              </a:path>
              <a:path w="81279" h="81279">
                <a:moveTo>
                  <a:pt x="11880" y="28638"/>
                </a:moveTo>
                <a:lnTo>
                  <a:pt x="11942" y="28469"/>
                </a:lnTo>
                <a:lnTo>
                  <a:pt x="11880" y="28638"/>
                </a:lnTo>
                <a:close/>
              </a:path>
              <a:path w="81279" h="81279">
                <a:moveTo>
                  <a:pt x="10917" y="31253"/>
                </a:moveTo>
                <a:lnTo>
                  <a:pt x="10972" y="31038"/>
                </a:lnTo>
                <a:lnTo>
                  <a:pt x="10917" y="31253"/>
                </a:lnTo>
                <a:close/>
              </a:path>
              <a:path w="81279" h="81279">
                <a:moveTo>
                  <a:pt x="70032" y="31253"/>
                </a:moveTo>
                <a:lnTo>
                  <a:pt x="69953" y="31038"/>
                </a:lnTo>
                <a:lnTo>
                  <a:pt x="70032" y="31253"/>
                </a:lnTo>
                <a:close/>
              </a:path>
              <a:path w="81279" h="81279">
                <a:moveTo>
                  <a:pt x="10858" y="31483"/>
                </a:moveTo>
                <a:lnTo>
                  <a:pt x="10917" y="31253"/>
                </a:lnTo>
                <a:lnTo>
                  <a:pt x="10858" y="31483"/>
                </a:lnTo>
                <a:close/>
              </a:path>
              <a:path w="81279" h="81279">
                <a:moveTo>
                  <a:pt x="80467" y="34455"/>
                </a:moveTo>
                <a:lnTo>
                  <a:pt x="70853" y="34455"/>
                </a:lnTo>
                <a:lnTo>
                  <a:pt x="70764" y="33997"/>
                </a:lnTo>
                <a:lnTo>
                  <a:pt x="70032" y="31253"/>
                </a:lnTo>
                <a:lnTo>
                  <a:pt x="70116" y="31483"/>
                </a:lnTo>
                <a:lnTo>
                  <a:pt x="79928" y="31483"/>
                </a:lnTo>
                <a:lnTo>
                  <a:pt x="80086" y="32092"/>
                </a:lnTo>
                <a:lnTo>
                  <a:pt x="80175" y="32550"/>
                </a:lnTo>
                <a:lnTo>
                  <a:pt x="80467" y="34455"/>
                </a:lnTo>
                <a:close/>
              </a:path>
              <a:path w="81279" h="81279">
                <a:moveTo>
                  <a:pt x="10174" y="34150"/>
                </a:moveTo>
                <a:lnTo>
                  <a:pt x="10198" y="33997"/>
                </a:lnTo>
                <a:lnTo>
                  <a:pt x="10174" y="34150"/>
                </a:lnTo>
                <a:close/>
              </a:path>
              <a:path w="81279" h="81279">
                <a:moveTo>
                  <a:pt x="70804" y="34265"/>
                </a:moveTo>
                <a:lnTo>
                  <a:pt x="70736" y="33997"/>
                </a:lnTo>
                <a:lnTo>
                  <a:pt x="70804" y="34265"/>
                </a:lnTo>
                <a:close/>
              </a:path>
              <a:path w="81279" h="81279">
                <a:moveTo>
                  <a:pt x="10127" y="34455"/>
                </a:moveTo>
                <a:lnTo>
                  <a:pt x="10174" y="34150"/>
                </a:lnTo>
                <a:lnTo>
                  <a:pt x="10127" y="34455"/>
                </a:lnTo>
                <a:close/>
              </a:path>
              <a:path w="81279" h="81279">
                <a:moveTo>
                  <a:pt x="80818" y="37541"/>
                </a:moveTo>
                <a:lnTo>
                  <a:pt x="71297" y="37541"/>
                </a:lnTo>
                <a:lnTo>
                  <a:pt x="71259" y="37058"/>
                </a:lnTo>
                <a:lnTo>
                  <a:pt x="71152" y="36575"/>
                </a:lnTo>
                <a:lnTo>
                  <a:pt x="70804" y="34265"/>
                </a:lnTo>
                <a:lnTo>
                  <a:pt x="70853" y="34455"/>
                </a:lnTo>
                <a:lnTo>
                  <a:pt x="80467" y="34455"/>
                </a:lnTo>
                <a:lnTo>
                  <a:pt x="80721" y="36106"/>
                </a:lnTo>
                <a:lnTo>
                  <a:pt x="80818" y="37541"/>
                </a:lnTo>
                <a:close/>
              </a:path>
              <a:path w="81279" h="81279">
                <a:moveTo>
                  <a:pt x="9690" y="37289"/>
                </a:moveTo>
                <a:lnTo>
                  <a:pt x="9702" y="37058"/>
                </a:lnTo>
                <a:lnTo>
                  <a:pt x="9690" y="37289"/>
                </a:lnTo>
                <a:close/>
              </a:path>
              <a:path w="81279" h="81279">
                <a:moveTo>
                  <a:pt x="71276" y="37397"/>
                </a:moveTo>
                <a:lnTo>
                  <a:pt x="71225" y="37058"/>
                </a:lnTo>
                <a:lnTo>
                  <a:pt x="71276" y="37397"/>
                </a:lnTo>
                <a:close/>
              </a:path>
              <a:path w="81279" h="81279">
                <a:moveTo>
                  <a:pt x="9677" y="37541"/>
                </a:moveTo>
                <a:lnTo>
                  <a:pt x="9690" y="37289"/>
                </a:lnTo>
                <a:lnTo>
                  <a:pt x="9677" y="37541"/>
                </a:lnTo>
                <a:close/>
              </a:path>
              <a:path w="81279" h="81279">
                <a:moveTo>
                  <a:pt x="80949" y="40716"/>
                </a:moveTo>
                <a:lnTo>
                  <a:pt x="71437" y="40716"/>
                </a:lnTo>
                <a:lnTo>
                  <a:pt x="71437" y="40233"/>
                </a:lnTo>
                <a:lnTo>
                  <a:pt x="71276" y="37397"/>
                </a:lnTo>
                <a:lnTo>
                  <a:pt x="71297" y="37541"/>
                </a:lnTo>
                <a:lnTo>
                  <a:pt x="80818" y="37541"/>
                </a:lnTo>
                <a:lnTo>
                  <a:pt x="80949" y="40233"/>
                </a:lnTo>
                <a:lnTo>
                  <a:pt x="80949" y="40716"/>
                </a:lnTo>
                <a:close/>
              </a:path>
              <a:path w="81279" h="81279">
                <a:moveTo>
                  <a:pt x="9524" y="40474"/>
                </a:moveTo>
                <a:lnTo>
                  <a:pt x="9512" y="40233"/>
                </a:lnTo>
                <a:lnTo>
                  <a:pt x="9524" y="40474"/>
                </a:lnTo>
                <a:close/>
              </a:path>
              <a:path w="81279" h="81279">
                <a:moveTo>
                  <a:pt x="71425" y="40474"/>
                </a:moveTo>
                <a:lnTo>
                  <a:pt x="71414" y="40233"/>
                </a:lnTo>
                <a:lnTo>
                  <a:pt x="71425" y="40474"/>
                </a:lnTo>
                <a:close/>
              </a:path>
              <a:path w="81279" h="81279">
                <a:moveTo>
                  <a:pt x="9537" y="40716"/>
                </a:moveTo>
                <a:lnTo>
                  <a:pt x="9524" y="40474"/>
                </a:lnTo>
                <a:lnTo>
                  <a:pt x="9537" y="40716"/>
                </a:lnTo>
                <a:close/>
              </a:path>
              <a:path w="81279" h="81279">
                <a:moveTo>
                  <a:pt x="80794" y="43891"/>
                </a:moveTo>
                <a:lnTo>
                  <a:pt x="71259" y="43891"/>
                </a:lnTo>
                <a:lnTo>
                  <a:pt x="71297" y="43408"/>
                </a:lnTo>
                <a:lnTo>
                  <a:pt x="71425" y="40474"/>
                </a:lnTo>
                <a:lnTo>
                  <a:pt x="71437" y="40716"/>
                </a:lnTo>
                <a:lnTo>
                  <a:pt x="80949" y="40716"/>
                </a:lnTo>
                <a:lnTo>
                  <a:pt x="80794" y="43891"/>
                </a:lnTo>
                <a:close/>
              </a:path>
              <a:path w="81279" h="81279">
                <a:moveTo>
                  <a:pt x="9690" y="43660"/>
                </a:moveTo>
                <a:lnTo>
                  <a:pt x="9651" y="43408"/>
                </a:lnTo>
                <a:lnTo>
                  <a:pt x="9690" y="43660"/>
                </a:lnTo>
                <a:close/>
              </a:path>
              <a:path w="81279" h="81279">
                <a:moveTo>
                  <a:pt x="71276" y="43552"/>
                </a:moveTo>
                <a:lnTo>
                  <a:pt x="71283" y="43408"/>
                </a:lnTo>
                <a:lnTo>
                  <a:pt x="71276" y="43552"/>
                </a:lnTo>
                <a:close/>
              </a:path>
              <a:path w="81279" h="81279">
                <a:moveTo>
                  <a:pt x="80396" y="46951"/>
                </a:moveTo>
                <a:lnTo>
                  <a:pt x="70764" y="46951"/>
                </a:lnTo>
                <a:lnTo>
                  <a:pt x="70853" y="46481"/>
                </a:lnTo>
                <a:lnTo>
                  <a:pt x="71276" y="43552"/>
                </a:lnTo>
                <a:lnTo>
                  <a:pt x="71259" y="43891"/>
                </a:lnTo>
                <a:lnTo>
                  <a:pt x="80794" y="43891"/>
                </a:lnTo>
                <a:lnTo>
                  <a:pt x="80721" y="44843"/>
                </a:lnTo>
                <a:lnTo>
                  <a:pt x="80396" y="46951"/>
                </a:lnTo>
                <a:close/>
              </a:path>
              <a:path w="81279" h="81279">
                <a:moveTo>
                  <a:pt x="9726" y="43891"/>
                </a:moveTo>
                <a:lnTo>
                  <a:pt x="9690" y="43660"/>
                </a:lnTo>
                <a:lnTo>
                  <a:pt x="9726" y="43891"/>
                </a:lnTo>
                <a:close/>
              </a:path>
              <a:path w="81279" h="81279">
                <a:moveTo>
                  <a:pt x="10170" y="46769"/>
                </a:moveTo>
                <a:lnTo>
                  <a:pt x="10096" y="46481"/>
                </a:lnTo>
                <a:lnTo>
                  <a:pt x="10170" y="46769"/>
                </a:lnTo>
                <a:close/>
              </a:path>
              <a:path w="81279" h="81279">
                <a:moveTo>
                  <a:pt x="70809" y="46654"/>
                </a:moveTo>
                <a:lnTo>
                  <a:pt x="70835" y="46481"/>
                </a:lnTo>
                <a:lnTo>
                  <a:pt x="70809" y="46654"/>
                </a:lnTo>
                <a:close/>
              </a:path>
              <a:path w="81279" h="81279">
                <a:moveTo>
                  <a:pt x="79812" y="49911"/>
                </a:moveTo>
                <a:lnTo>
                  <a:pt x="69976" y="49911"/>
                </a:lnTo>
                <a:lnTo>
                  <a:pt x="70116" y="49453"/>
                </a:lnTo>
                <a:lnTo>
                  <a:pt x="70809" y="46654"/>
                </a:lnTo>
                <a:lnTo>
                  <a:pt x="70764" y="46951"/>
                </a:lnTo>
                <a:lnTo>
                  <a:pt x="80396" y="46951"/>
                </a:lnTo>
                <a:lnTo>
                  <a:pt x="80086" y="48856"/>
                </a:lnTo>
                <a:lnTo>
                  <a:pt x="79812" y="49911"/>
                </a:lnTo>
                <a:close/>
              </a:path>
              <a:path w="81279" h="81279">
                <a:moveTo>
                  <a:pt x="10216" y="46951"/>
                </a:moveTo>
                <a:lnTo>
                  <a:pt x="10170" y="46769"/>
                </a:lnTo>
                <a:lnTo>
                  <a:pt x="10216" y="46951"/>
                </a:lnTo>
                <a:close/>
              </a:path>
              <a:path w="81279" h="81279">
                <a:moveTo>
                  <a:pt x="10908" y="49659"/>
                </a:moveTo>
                <a:lnTo>
                  <a:pt x="10833" y="49453"/>
                </a:lnTo>
                <a:lnTo>
                  <a:pt x="10908" y="49659"/>
                </a:lnTo>
                <a:close/>
              </a:path>
              <a:path w="81279" h="81279">
                <a:moveTo>
                  <a:pt x="70041" y="49659"/>
                </a:moveTo>
                <a:lnTo>
                  <a:pt x="70093" y="49453"/>
                </a:lnTo>
                <a:lnTo>
                  <a:pt x="70041" y="49659"/>
                </a:lnTo>
                <a:close/>
              </a:path>
              <a:path w="81279" h="81279">
                <a:moveTo>
                  <a:pt x="11000" y="49911"/>
                </a:moveTo>
                <a:lnTo>
                  <a:pt x="10908" y="49659"/>
                </a:lnTo>
                <a:lnTo>
                  <a:pt x="11000" y="49911"/>
                </a:lnTo>
                <a:close/>
              </a:path>
              <a:path w="81279" h="81279">
                <a:moveTo>
                  <a:pt x="79052" y="52743"/>
                </a:moveTo>
                <a:lnTo>
                  <a:pt x="68910" y="52743"/>
                </a:lnTo>
                <a:lnTo>
                  <a:pt x="69100" y="52311"/>
                </a:lnTo>
                <a:lnTo>
                  <a:pt x="70041" y="49659"/>
                </a:lnTo>
                <a:lnTo>
                  <a:pt x="69976" y="49911"/>
                </a:lnTo>
                <a:lnTo>
                  <a:pt x="79812" y="49911"/>
                </a:lnTo>
                <a:lnTo>
                  <a:pt x="79197" y="52285"/>
                </a:lnTo>
                <a:lnTo>
                  <a:pt x="79052" y="52743"/>
                </a:lnTo>
                <a:close/>
              </a:path>
              <a:path w="81279" h="81279">
                <a:moveTo>
                  <a:pt x="11944" y="52483"/>
                </a:moveTo>
                <a:lnTo>
                  <a:pt x="11861" y="52311"/>
                </a:lnTo>
                <a:lnTo>
                  <a:pt x="11944" y="52483"/>
                </a:lnTo>
                <a:close/>
              </a:path>
              <a:path w="81279" h="81279">
                <a:moveTo>
                  <a:pt x="68967" y="52585"/>
                </a:moveTo>
                <a:lnTo>
                  <a:pt x="69068" y="52311"/>
                </a:lnTo>
                <a:lnTo>
                  <a:pt x="68967" y="52585"/>
                </a:lnTo>
                <a:close/>
              </a:path>
              <a:path w="81279" h="81279">
                <a:moveTo>
                  <a:pt x="12068" y="52743"/>
                </a:moveTo>
                <a:lnTo>
                  <a:pt x="11944" y="52483"/>
                </a:lnTo>
                <a:lnTo>
                  <a:pt x="12068" y="52743"/>
                </a:lnTo>
                <a:close/>
              </a:path>
              <a:path w="81279" h="81279">
                <a:moveTo>
                  <a:pt x="78075" y="55435"/>
                </a:moveTo>
                <a:lnTo>
                  <a:pt x="67589" y="55435"/>
                </a:lnTo>
                <a:lnTo>
                  <a:pt x="67817" y="55029"/>
                </a:lnTo>
                <a:lnTo>
                  <a:pt x="68967" y="52585"/>
                </a:lnTo>
                <a:lnTo>
                  <a:pt x="68910" y="52743"/>
                </a:lnTo>
                <a:lnTo>
                  <a:pt x="79052" y="52743"/>
                </a:lnTo>
                <a:lnTo>
                  <a:pt x="78075" y="55435"/>
                </a:lnTo>
                <a:close/>
              </a:path>
              <a:path w="81279" h="81279">
                <a:moveTo>
                  <a:pt x="13243" y="55192"/>
                </a:moveTo>
                <a:lnTo>
                  <a:pt x="13144" y="55029"/>
                </a:lnTo>
                <a:lnTo>
                  <a:pt x="13243" y="55192"/>
                </a:lnTo>
                <a:close/>
              </a:path>
              <a:path w="81279" h="81279">
                <a:moveTo>
                  <a:pt x="67661" y="55287"/>
                </a:moveTo>
                <a:lnTo>
                  <a:pt x="67785" y="55029"/>
                </a:lnTo>
                <a:lnTo>
                  <a:pt x="67661" y="55287"/>
                </a:lnTo>
                <a:close/>
              </a:path>
              <a:path w="81279" h="81279">
                <a:moveTo>
                  <a:pt x="13391" y="55435"/>
                </a:moveTo>
                <a:lnTo>
                  <a:pt x="13243" y="55192"/>
                </a:lnTo>
                <a:lnTo>
                  <a:pt x="13391" y="55435"/>
                </a:lnTo>
                <a:close/>
              </a:path>
              <a:path w="81279" h="81279">
                <a:moveTo>
                  <a:pt x="76931" y="57975"/>
                </a:moveTo>
                <a:lnTo>
                  <a:pt x="66027" y="57975"/>
                </a:lnTo>
                <a:lnTo>
                  <a:pt x="66281" y="57594"/>
                </a:lnTo>
                <a:lnTo>
                  <a:pt x="67661" y="55287"/>
                </a:lnTo>
                <a:lnTo>
                  <a:pt x="67589" y="55435"/>
                </a:lnTo>
                <a:lnTo>
                  <a:pt x="78075" y="55435"/>
                </a:lnTo>
                <a:lnTo>
                  <a:pt x="77863" y="56019"/>
                </a:lnTo>
                <a:lnTo>
                  <a:pt x="76931" y="57975"/>
                </a:lnTo>
                <a:close/>
              </a:path>
              <a:path w="81279" h="81279">
                <a:moveTo>
                  <a:pt x="14853" y="57841"/>
                </a:moveTo>
                <a:lnTo>
                  <a:pt x="14668" y="57594"/>
                </a:lnTo>
                <a:lnTo>
                  <a:pt x="14853" y="57841"/>
                </a:lnTo>
                <a:close/>
              </a:path>
              <a:path w="81279" h="81279">
                <a:moveTo>
                  <a:pt x="66162" y="57752"/>
                </a:moveTo>
                <a:lnTo>
                  <a:pt x="66258" y="57594"/>
                </a:lnTo>
                <a:lnTo>
                  <a:pt x="66162" y="57752"/>
                </a:lnTo>
                <a:close/>
              </a:path>
              <a:path w="81279" h="81279">
                <a:moveTo>
                  <a:pt x="75734" y="60337"/>
                </a:moveTo>
                <a:lnTo>
                  <a:pt x="64223" y="60337"/>
                </a:lnTo>
                <a:lnTo>
                  <a:pt x="64515" y="59994"/>
                </a:lnTo>
                <a:lnTo>
                  <a:pt x="66162" y="57752"/>
                </a:lnTo>
                <a:lnTo>
                  <a:pt x="66027" y="57975"/>
                </a:lnTo>
                <a:lnTo>
                  <a:pt x="76931" y="57975"/>
                </a:lnTo>
                <a:lnTo>
                  <a:pt x="76174" y="59562"/>
                </a:lnTo>
                <a:lnTo>
                  <a:pt x="75734" y="60337"/>
                </a:lnTo>
                <a:close/>
              </a:path>
              <a:path w="81279" h="81279">
                <a:moveTo>
                  <a:pt x="14954" y="57975"/>
                </a:moveTo>
                <a:lnTo>
                  <a:pt x="14853" y="57841"/>
                </a:lnTo>
                <a:lnTo>
                  <a:pt x="14954" y="57975"/>
                </a:lnTo>
                <a:close/>
              </a:path>
              <a:path w="81279" h="81279">
                <a:moveTo>
                  <a:pt x="16627" y="60207"/>
                </a:moveTo>
                <a:lnTo>
                  <a:pt x="16433" y="59994"/>
                </a:lnTo>
                <a:lnTo>
                  <a:pt x="16627" y="60207"/>
                </a:lnTo>
                <a:close/>
              </a:path>
              <a:path w="81279" h="81279">
                <a:moveTo>
                  <a:pt x="64321" y="60207"/>
                </a:moveTo>
                <a:lnTo>
                  <a:pt x="64481" y="59994"/>
                </a:lnTo>
                <a:lnTo>
                  <a:pt x="64321" y="60207"/>
                </a:lnTo>
                <a:close/>
              </a:path>
              <a:path w="81279" h="81279">
                <a:moveTo>
                  <a:pt x="16747" y="60337"/>
                </a:moveTo>
                <a:lnTo>
                  <a:pt x="16627" y="60207"/>
                </a:lnTo>
                <a:lnTo>
                  <a:pt x="16747" y="60337"/>
                </a:lnTo>
                <a:close/>
              </a:path>
              <a:path w="81279" h="81279">
                <a:moveTo>
                  <a:pt x="74407" y="62522"/>
                </a:moveTo>
                <a:lnTo>
                  <a:pt x="62204" y="62522"/>
                </a:lnTo>
                <a:lnTo>
                  <a:pt x="62534" y="62204"/>
                </a:lnTo>
                <a:lnTo>
                  <a:pt x="64321" y="60207"/>
                </a:lnTo>
                <a:lnTo>
                  <a:pt x="64223" y="60337"/>
                </a:lnTo>
                <a:lnTo>
                  <a:pt x="75734" y="60337"/>
                </a:lnTo>
                <a:lnTo>
                  <a:pt x="74407" y="62522"/>
                </a:lnTo>
                <a:close/>
              </a:path>
              <a:path w="81279" h="81279">
                <a:moveTo>
                  <a:pt x="18593" y="62356"/>
                </a:moveTo>
                <a:lnTo>
                  <a:pt x="18427" y="62204"/>
                </a:lnTo>
                <a:lnTo>
                  <a:pt x="18593" y="62356"/>
                </a:lnTo>
                <a:close/>
              </a:path>
              <a:path w="81279" h="81279">
                <a:moveTo>
                  <a:pt x="62297" y="62420"/>
                </a:moveTo>
                <a:lnTo>
                  <a:pt x="62494" y="62204"/>
                </a:lnTo>
                <a:lnTo>
                  <a:pt x="62297" y="62420"/>
                </a:lnTo>
                <a:close/>
              </a:path>
              <a:path w="81279" h="81279">
                <a:moveTo>
                  <a:pt x="18774" y="62522"/>
                </a:moveTo>
                <a:lnTo>
                  <a:pt x="18593" y="62356"/>
                </a:lnTo>
                <a:lnTo>
                  <a:pt x="18774" y="62522"/>
                </a:lnTo>
                <a:close/>
              </a:path>
              <a:path w="81279" h="81279">
                <a:moveTo>
                  <a:pt x="72999" y="64515"/>
                </a:moveTo>
                <a:lnTo>
                  <a:pt x="59994" y="64515"/>
                </a:lnTo>
                <a:lnTo>
                  <a:pt x="60350" y="64223"/>
                </a:lnTo>
                <a:lnTo>
                  <a:pt x="62297" y="62420"/>
                </a:lnTo>
                <a:lnTo>
                  <a:pt x="74407" y="62522"/>
                </a:lnTo>
                <a:lnTo>
                  <a:pt x="73913" y="63296"/>
                </a:lnTo>
                <a:lnTo>
                  <a:pt x="72999" y="64515"/>
                </a:lnTo>
                <a:close/>
              </a:path>
              <a:path w="81279" h="81279">
                <a:moveTo>
                  <a:pt x="20742" y="64321"/>
                </a:moveTo>
                <a:lnTo>
                  <a:pt x="20612" y="64223"/>
                </a:lnTo>
                <a:lnTo>
                  <a:pt x="20742" y="64321"/>
                </a:lnTo>
                <a:close/>
              </a:path>
              <a:path w="81279" h="81279">
                <a:moveTo>
                  <a:pt x="60157" y="64367"/>
                </a:moveTo>
                <a:lnTo>
                  <a:pt x="60315" y="64223"/>
                </a:lnTo>
                <a:lnTo>
                  <a:pt x="60157" y="64367"/>
                </a:lnTo>
                <a:close/>
              </a:path>
              <a:path w="81279" h="81279">
                <a:moveTo>
                  <a:pt x="21001" y="64515"/>
                </a:moveTo>
                <a:lnTo>
                  <a:pt x="20742" y="64321"/>
                </a:lnTo>
                <a:lnTo>
                  <a:pt x="21001" y="64515"/>
                </a:lnTo>
                <a:close/>
              </a:path>
              <a:path w="81279" h="81279">
                <a:moveTo>
                  <a:pt x="71658" y="66281"/>
                </a:moveTo>
                <a:lnTo>
                  <a:pt x="57594" y="66281"/>
                </a:lnTo>
                <a:lnTo>
                  <a:pt x="57975" y="66027"/>
                </a:lnTo>
                <a:lnTo>
                  <a:pt x="60157" y="64367"/>
                </a:lnTo>
                <a:lnTo>
                  <a:pt x="59994" y="64515"/>
                </a:lnTo>
                <a:lnTo>
                  <a:pt x="72999" y="64515"/>
                </a:lnTo>
                <a:lnTo>
                  <a:pt x="71658" y="66281"/>
                </a:lnTo>
                <a:close/>
              </a:path>
              <a:path w="81279" h="81279">
                <a:moveTo>
                  <a:pt x="23190" y="66158"/>
                </a:moveTo>
                <a:lnTo>
                  <a:pt x="22974" y="66027"/>
                </a:lnTo>
                <a:lnTo>
                  <a:pt x="23190" y="66158"/>
                </a:lnTo>
                <a:close/>
              </a:path>
              <a:path w="81279" h="81279">
                <a:moveTo>
                  <a:pt x="57762" y="66155"/>
                </a:moveTo>
                <a:lnTo>
                  <a:pt x="57934" y="66027"/>
                </a:lnTo>
                <a:lnTo>
                  <a:pt x="57762" y="66155"/>
                </a:lnTo>
                <a:close/>
              </a:path>
              <a:path w="81279" h="81279">
                <a:moveTo>
                  <a:pt x="70281" y="67805"/>
                </a:moveTo>
                <a:lnTo>
                  <a:pt x="55029" y="67805"/>
                </a:lnTo>
                <a:lnTo>
                  <a:pt x="55435" y="67589"/>
                </a:lnTo>
                <a:lnTo>
                  <a:pt x="57762" y="66155"/>
                </a:lnTo>
                <a:lnTo>
                  <a:pt x="57594" y="66281"/>
                </a:lnTo>
                <a:lnTo>
                  <a:pt x="71658" y="66281"/>
                </a:lnTo>
                <a:lnTo>
                  <a:pt x="70281" y="67805"/>
                </a:lnTo>
                <a:close/>
              </a:path>
              <a:path w="81279" h="81279">
                <a:moveTo>
                  <a:pt x="23395" y="66281"/>
                </a:moveTo>
                <a:lnTo>
                  <a:pt x="23190" y="66158"/>
                </a:lnTo>
                <a:lnTo>
                  <a:pt x="23395" y="66281"/>
                </a:lnTo>
                <a:close/>
              </a:path>
              <a:path w="81279" h="81279">
                <a:moveTo>
                  <a:pt x="25759" y="67707"/>
                </a:moveTo>
                <a:lnTo>
                  <a:pt x="25514" y="67589"/>
                </a:lnTo>
                <a:lnTo>
                  <a:pt x="25759" y="67707"/>
                </a:lnTo>
                <a:close/>
              </a:path>
              <a:path w="81279" h="81279">
                <a:moveTo>
                  <a:pt x="55190" y="67707"/>
                </a:moveTo>
                <a:lnTo>
                  <a:pt x="55386" y="67589"/>
                </a:lnTo>
                <a:lnTo>
                  <a:pt x="55190" y="67707"/>
                </a:lnTo>
                <a:close/>
              </a:path>
              <a:path w="81279" h="81279">
                <a:moveTo>
                  <a:pt x="25960" y="67805"/>
                </a:moveTo>
                <a:lnTo>
                  <a:pt x="25759" y="67707"/>
                </a:lnTo>
                <a:lnTo>
                  <a:pt x="25960" y="67805"/>
                </a:lnTo>
                <a:close/>
              </a:path>
              <a:path w="81279" h="81279">
                <a:moveTo>
                  <a:pt x="69087" y="69100"/>
                </a:moveTo>
                <a:lnTo>
                  <a:pt x="52311" y="69100"/>
                </a:lnTo>
                <a:lnTo>
                  <a:pt x="52743" y="68910"/>
                </a:lnTo>
                <a:lnTo>
                  <a:pt x="55190" y="67707"/>
                </a:lnTo>
                <a:lnTo>
                  <a:pt x="55029" y="67805"/>
                </a:lnTo>
                <a:lnTo>
                  <a:pt x="70281" y="67805"/>
                </a:lnTo>
                <a:lnTo>
                  <a:pt x="69087" y="69100"/>
                </a:lnTo>
                <a:close/>
              </a:path>
              <a:path w="81279" h="81279">
                <a:moveTo>
                  <a:pt x="28363" y="68967"/>
                </a:moveTo>
                <a:lnTo>
                  <a:pt x="28206" y="68910"/>
                </a:lnTo>
                <a:lnTo>
                  <a:pt x="28363" y="68967"/>
                </a:lnTo>
                <a:close/>
              </a:path>
              <a:path w="81279" h="81279">
                <a:moveTo>
                  <a:pt x="52584" y="68968"/>
                </a:moveTo>
                <a:lnTo>
                  <a:pt x="52743" y="68910"/>
                </a:lnTo>
                <a:lnTo>
                  <a:pt x="52584" y="68968"/>
                </a:lnTo>
                <a:close/>
              </a:path>
              <a:path w="81279" h="81279">
                <a:moveTo>
                  <a:pt x="28726" y="69100"/>
                </a:moveTo>
                <a:lnTo>
                  <a:pt x="28363" y="68967"/>
                </a:lnTo>
                <a:lnTo>
                  <a:pt x="28726" y="69100"/>
                </a:lnTo>
                <a:close/>
              </a:path>
              <a:path w="81279" h="81279">
                <a:moveTo>
                  <a:pt x="67986" y="70116"/>
                </a:moveTo>
                <a:lnTo>
                  <a:pt x="49466" y="70116"/>
                </a:lnTo>
                <a:lnTo>
                  <a:pt x="49911" y="69976"/>
                </a:lnTo>
                <a:lnTo>
                  <a:pt x="52584" y="68968"/>
                </a:lnTo>
                <a:lnTo>
                  <a:pt x="52311" y="69100"/>
                </a:lnTo>
                <a:lnTo>
                  <a:pt x="69087" y="69100"/>
                </a:lnTo>
                <a:lnTo>
                  <a:pt x="67986" y="70116"/>
                </a:lnTo>
                <a:close/>
              </a:path>
              <a:path w="81279" h="81279">
                <a:moveTo>
                  <a:pt x="31290" y="70041"/>
                </a:moveTo>
                <a:lnTo>
                  <a:pt x="31038" y="69976"/>
                </a:lnTo>
                <a:lnTo>
                  <a:pt x="31290" y="70041"/>
                </a:lnTo>
                <a:close/>
              </a:path>
              <a:path w="81279" h="81279">
                <a:moveTo>
                  <a:pt x="49696" y="70032"/>
                </a:moveTo>
                <a:lnTo>
                  <a:pt x="49845" y="69976"/>
                </a:lnTo>
                <a:lnTo>
                  <a:pt x="49696" y="70032"/>
                </a:lnTo>
                <a:close/>
              </a:path>
              <a:path w="81279" h="81279">
                <a:moveTo>
                  <a:pt x="67177" y="70853"/>
                </a:moveTo>
                <a:lnTo>
                  <a:pt x="46494" y="70853"/>
                </a:lnTo>
                <a:lnTo>
                  <a:pt x="46951" y="70764"/>
                </a:lnTo>
                <a:lnTo>
                  <a:pt x="49696" y="70032"/>
                </a:lnTo>
                <a:lnTo>
                  <a:pt x="49466" y="70116"/>
                </a:lnTo>
                <a:lnTo>
                  <a:pt x="67986" y="70116"/>
                </a:lnTo>
                <a:lnTo>
                  <a:pt x="67177" y="70853"/>
                </a:lnTo>
                <a:close/>
              </a:path>
              <a:path w="81279" h="81279">
                <a:moveTo>
                  <a:pt x="31585" y="70116"/>
                </a:moveTo>
                <a:lnTo>
                  <a:pt x="31290" y="70041"/>
                </a:lnTo>
                <a:lnTo>
                  <a:pt x="31585" y="70116"/>
                </a:lnTo>
                <a:close/>
              </a:path>
              <a:path w="81279" h="81279">
                <a:moveTo>
                  <a:pt x="34294" y="70809"/>
                </a:moveTo>
                <a:lnTo>
                  <a:pt x="33997" y="70764"/>
                </a:lnTo>
                <a:lnTo>
                  <a:pt x="34294" y="70809"/>
                </a:lnTo>
                <a:close/>
              </a:path>
              <a:path w="81279" h="81279">
                <a:moveTo>
                  <a:pt x="46684" y="70804"/>
                </a:moveTo>
                <a:lnTo>
                  <a:pt x="46841" y="70764"/>
                </a:lnTo>
                <a:lnTo>
                  <a:pt x="46684" y="70804"/>
                </a:lnTo>
                <a:close/>
              </a:path>
              <a:path w="81279" h="81279">
                <a:moveTo>
                  <a:pt x="43669" y="71258"/>
                </a:moveTo>
                <a:lnTo>
                  <a:pt x="46684" y="70804"/>
                </a:lnTo>
                <a:lnTo>
                  <a:pt x="46494" y="70853"/>
                </a:lnTo>
                <a:lnTo>
                  <a:pt x="67177" y="70853"/>
                </a:lnTo>
                <a:lnTo>
                  <a:pt x="66744" y="71247"/>
                </a:lnTo>
                <a:lnTo>
                  <a:pt x="43669" y="71258"/>
                </a:lnTo>
                <a:close/>
              </a:path>
              <a:path w="81279" h="81279">
                <a:moveTo>
                  <a:pt x="34588" y="70853"/>
                </a:moveTo>
                <a:lnTo>
                  <a:pt x="34294" y="70809"/>
                </a:lnTo>
                <a:lnTo>
                  <a:pt x="34588" y="70853"/>
                </a:lnTo>
                <a:close/>
              </a:path>
              <a:path w="81279" h="81279">
                <a:moveTo>
                  <a:pt x="66688" y="71297"/>
                </a:moveTo>
                <a:lnTo>
                  <a:pt x="43408" y="71297"/>
                </a:lnTo>
                <a:lnTo>
                  <a:pt x="43891" y="71247"/>
                </a:lnTo>
                <a:lnTo>
                  <a:pt x="66744" y="71247"/>
                </a:lnTo>
                <a:close/>
              </a:path>
              <a:path w="81279" h="81279">
                <a:moveTo>
                  <a:pt x="38043" y="71297"/>
                </a:moveTo>
                <a:lnTo>
                  <a:pt x="37541" y="71297"/>
                </a:lnTo>
                <a:lnTo>
                  <a:pt x="37274" y="71257"/>
                </a:lnTo>
                <a:lnTo>
                  <a:pt x="38043" y="71297"/>
                </a:lnTo>
                <a:close/>
              </a:path>
              <a:path w="81279" h="81279">
                <a:moveTo>
                  <a:pt x="66535" y="71437"/>
                </a:moveTo>
                <a:lnTo>
                  <a:pt x="40475" y="71424"/>
                </a:lnTo>
                <a:lnTo>
                  <a:pt x="43669" y="71258"/>
                </a:lnTo>
                <a:lnTo>
                  <a:pt x="43408" y="71297"/>
                </a:lnTo>
                <a:lnTo>
                  <a:pt x="66688" y="71297"/>
                </a:lnTo>
                <a:lnTo>
                  <a:pt x="66535" y="71437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900673" y="5165978"/>
            <a:ext cx="80949" cy="809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029907" y="5706579"/>
            <a:ext cx="80949" cy="808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141487" y="5169268"/>
            <a:ext cx="80949" cy="809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395727" y="1908048"/>
            <a:ext cx="6795516" cy="18653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3014751" y="1313814"/>
            <a:ext cx="60699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定性画出感应电动势随时间的变化曲</a:t>
            </a:r>
            <a:r>
              <a:rPr dirty="0" sz="2800" spc="-5"/>
              <a:t>线</a:t>
            </a:r>
            <a:endParaRPr sz="2800"/>
          </a:p>
        </p:txBody>
      </p:sp>
      <p:sp>
        <p:nvSpPr>
          <p:cNvPr id="42" name="object 42"/>
          <p:cNvSpPr txBox="1"/>
          <p:nvPr/>
        </p:nvSpPr>
        <p:spPr>
          <a:xfrm>
            <a:off x="3655390" y="3834485"/>
            <a:ext cx="416941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华文楷体"/>
                <a:cs typeface="华文楷体"/>
              </a:rPr>
              <a:t>电流从</a:t>
            </a:r>
            <a:r>
              <a:rPr dirty="0" sz="2000" spc="-5" b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sz="2000" b="1">
                <a:latin typeface="华文楷体"/>
                <a:cs typeface="华文楷体"/>
              </a:rPr>
              <a:t>经过负载流向</a:t>
            </a:r>
            <a:r>
              <a:rPr dirty="0" sz="2000" spc="-5" b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dirty="0" sz="2000" b="1">
                <a:latin typeface="华文楷体"/>
                <a:cs typeface="华文楷体"/>
              </a:rPr>
              <a:t>的方向记为</a:t>
            </a:r>
            <a:r>
              <a:rPr dirty="0" sz="2000" b="1">
                <a:solidFill>
                  <a:srgbClr val="FF0000"/>
                </a:solidFill>
                <a:latin typeface="华文楷体"/>
                <a:cs typeface="华文楷体"/>
              </a:rPr>
              <a:t>正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796993" y="4640707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26" y="9994"/>
                </a:moveTo>
                <a:lnTo>
                  <a:pt x="0" y="469"/>
                </a:lnTo>
                <a:lnTo>
                  <a:pt x="38100" y="0"/>
                </a:lnTo>
                <a:lnTo>
                  <a:pt x="38214" y="9525"/>
                </a:lnTo>
                <a:lnTo>
                  <a:pt x="126" y="99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730331" y="4641519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57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663656" y="4642332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57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596993" y="4643132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94"/>
                </a:moveTo>
                <a:lnTo>
                  <a:pt x="0" y="469"/>
                </a:lnTo>
                <a:lnTo>
                  <a:pt x="38087" y="0"/>
                </a:lnTo>
                <a:lnTo>
                  <a:pt x="38214" y="9525"/>
                </a:lnTo>
                <a:lnTo>
                  <a:pt x="114" y="99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530318" y="4643945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94"/>
                </a:moveTo>
                <a:lnTo>
                  <a:pt x="0" y="469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463643" y="4644758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26" y="9982"/>
                </a:moveTo>
                <a:lnTo>
                  <a:pt x="0" y="457"/>
                </a:lnTo>
                <a:lnTo>
                  <a:pt x="38100" y="0"/>
                </a:lnTo>
                <a:lnTo>
                  <a:pt x="38214" y="9525"/>
                </a:lnTo>
                <a:lnTo>
                  <a:pt x="126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396981" y="4645571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57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330306" y="4646371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94"/>
                </a:moveTo>
                <a:lnTo>
                  <a:pt x="0" y="469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263644" y="4647184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57"/>
                </a:lnTo>
                <a:lnTo>
                  <a:pt x="38087" y="0"/>
                </a:lnTo>
                <a:lnTo>
                  <a:pt x="38201" y="9525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196969" y="4647996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57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130294" y="4648796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94"/>
                </a:moveTo>
                <a:lnTo>
                  <a:pt x="0" y="469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063631" y="4649609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69"/>
                </a:lnTo>
                <a:lnTo>
                  <a:pt x="38087" y="0"/>
                </a:lnTo>
                <a:lnTo>
                  <a:pt x="38214" y="9525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996956" y="4650422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57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930281" y="4651235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26" y="9982"/>
                </a:moveTo>
                <a:lnTo>
                  <a:pt x="0" y="457"/>
                </a:lnTo>
                <a:lnTo>
                  <a:pt x="38100" y="0"/>
                </a:lnTo>
                <a:lnTo>
                  <a:pt x="38214" y="9512"/>
                </a:lnTo>
                <a:lnTo>
                  <a:pt x="126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863619" y="4652035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94"/>
                </a:moveTo>
                <a:lnTo>
                  <a:pt x="0" y="469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796944" y="4652848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57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730281" y="4653660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57"/>
                </a:lnTo>
                <a:lnTo>
                  <a:pt x="38087" y="0"/>
                </a:lnTo>
                <a:lnTo>
                  <a:pt x="38214" y="9525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670871" y="4654461"/>
            <a:ext cx="31115" cy="10160"/>
          </a:xfrm>
          <a:custGeom>
            <a:avLst/>
            <a:gdLst/>
            <a:ahLst/>
            <a:cxnLst/>
            <a:rect l="l" t="t" r="r" b="b"/>
            <a:pathLst>
              <a:path w="31114" h="10160">
                <a:moveTo>
                  <a:pt x="114" y="9906"/>
                </a:moveTo>
                <a:lnTo>
                  <a:pt x="0" y="381"/>
                </a:lnTo>
                <a:lnTo>
                  <a:pt x="30835" y="0"/>
                </a:lnTo>
                <a:lnTo>
                  <a:pt x="30949" y="9525"/>
                </a:lnTo>
                <a:lnTo>
                  <a:pt x="114" y="990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3763454" y="5238724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solidFill>
                  <a:srgbClr val="0000FF"/>
                </a:solidFill>
                <a:latin typeface="宋体"/>
                <a:cs typeface="宋体"/>
              </a:rPr>
              <a:t>甲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4705654" y="5267287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solidFill>
                  <a:srgbClr val="0000FF"/>
                </a:solidFill>
                <a:latin typeface="宋体"/>
                <a:cs typeface="宋体"/>
              </a:rPr>
              <a:t>乙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821527" y="5276341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solidFill>
                  <a:srgbClr val="0000FF"/>
                </a:solidFill>
                <a:latin typeface="宋体"/>
                <a:cs typeface="宋体"/>
              </a:rPr>
              <a:t>丙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011174" y="5290375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solidFill>
                  <a:srgbClr val="0000FF"/>
                </a:solidFill>
                <a:latin typeface="宋体"/>
                <a:cs typeface="宋体"/>
              </a:rPr>
              <a:t>丁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095894" y="5331967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solidFill>
                  <a:srgbClr val="0000FF"/>
                </a:solidFill>
                <a:latin typeface="宋体"/>
                <a:cs typeface="宋体"/>
              </a:rPr>
              <a:t>甲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3638" y="213945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241188" y="1493100"/>
            <a:ext cx="1245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黑体"/>
                <a:cs typeface="黑体"/>
              </a:rPr>
              <a:t>做一</a:t>
            </a:r>
            <a:r>
              <a:rPr dirty="0" sz="3200" spc="5">
                <a:latin typeface="黑体"/>
                <a:cs typeface="黑体"/>
              </a:rPr>
              <a:t>做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91027" y="1868423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2" y="0"/>
                </a:lnTo>
                <a:lnTo>
                  <a:pt x="362712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90672" y="2092451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6803" y="2477135"/>
            <a:ext cx="10948035" cy="9372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>
              <a:lnSpc>
                <a:spcPct val="99400"/>
              </a:lnSpc>
              <a:spcBef>
                <a:spcPts val="120"/>
              </a:spcBef>
            </a:pPr>
            <a:r>
              <a:rPr dirty="0" sz="2000" spc="-5">
                <a:latin typeface="Times New Roman"/>
                <a:cs typeface="Times New Roman"/>
              </a:rPr>
              <a:t>1.</a:t>
            </a:r>
            <a:r>
              <a:rPr dirty="0" sz="2000">
                <a:latin typeface="华文楷体"/>
                <a:cs typeface="华文楷体"/>
              </a:rPr>
              <a:t>有人说，在图</a:t>
            </a:r>
            <a:r>
              <a:rPr dirty="0" sz="2000" spc="-5">
                <a:latin typeface="Times New Roman"/>
                <a:cs typeface="Times New Roman"/>
              </a:rPr>
              <a:t>3.1-3</a:t>
            </a:r>
            <a:r>
              <a:rPr dirty="0" sz="2000">
                <a:latin typeface="华文楷体"/>
                <a:cs typeface="华文楷体"/>
              </a:rPr>
              <a:t>中，线圈平面转到中性面的瞬间，穿过线圈的磁通量最大，因而线圈中的感</a:t>
            </a:r>
            <a:r>
              <a:rPr dirty="0" sz="2000" spc="5">
                <a:latin typeface="华文楷体"/>
                <a:cs typeface="华文楷体"/>
              </a:rPr>
              <a:t>应 </a:t>
            </a:r>
            <a:r>
              <a:rPr dirty="0" sz="2000">
                <a:latin typeface="华文楷体"/>
                <a:cs typeface="华文楷体"/>
              </a:rPr>
              <a:t>电动势最大；线圈平面跟中性面垂直的瞬间，穿过线圈的磁通量为</a:t>
            </a:r>
            <a:r>
              <a:rPr dirty="0" sz="2000" spc="-5">
                <a:latin typeface="Times New Roman"/>
                <a:cs typeface="Times New Roman"/>
              </a:rPr>
              <a:t>0</a:t>
            </a:r>
            <a:r>
              <a:rPr dirty="0" sz="2000">
                <a:latin typeface="华文楷体"/>
                <a:cs typeface="华文楷体"/>
              </a:rPr>
              <a:t>，因而感应电动势为</a:t>
            </a:r>
            <a:r>
              <a:rPr dirty="0" sz="2000" spc="-5">
                <a:latin typeface="Times New Roman"/>
                <a:cs typeface="Times New Roman"/>
              </a:rPr>
              <a:t>0</a:t>
            </a:r>
            <a:r>
              <a:rPr dirty="0" sz="2000">
                <a:latin typeface="华文楷体"/>
                <a:cs typeface="华文楷体"/>
              </a:rPr>
              <a:t>。这种</a:t>
            </a:r>
            <a:r>
              <a:rPr dirty="0" sz="2000">
                <a:latin typeface="华文楷体"/>
                <a:cs typeface="华文楷体"/>
              </a:rPr>
              <a:t>说 </a:t>
            </a:r>
            <a:r>
              <a:rPr dirty="0" sz="2000">
                <a:latin typeface="华文楷体"/>
                <a:cs typeface="华文楷体"/>
              </a:rPr>
              <a:t>法对不对？为什么</a:t>
            </a:r>
            <a:r>
              <a:rPr dirty="0" sz="2000" spc="5">
                <a:latin typeface="华文楷体"/>
                <a:cs typeface="华文楷体"/>
              </a:rPr>
              <a:t>？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29155" y="3617976"/>
            <a:ext cx="8442960" cy="2318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6513" y="213945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384063" y="1493100"/>
            <a:ext cx="1245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黑体"/>
                <a:cs typeface="黑体"/>
              </a:rPr>
              <a:t>做一</a:t>
            </a:r>
            <a:r>
              <a:rPr dirty="0" sz="3200" spc="5">
                <a:latin typeface="黑体"/>
                <a:cs typeface="黑体"/>
              </a:rPr>
              <a:t>做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34283" y="1868423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32404" y="209245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8" y="0"/>
                </a:lnTo>
                <a:lnTo>
                  <a:pt x="246888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26377" y="2420162"/>
            <a:ext cx="115716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imes New Roman"/>
                <a:cs typeface="Times New Roman"/>
              </a:rPr>
              <a:t>2.</a:t>
            </a:r>
            <a:r>
              <a:rPr dirty="0" sz="2000">
                <a:latin typeface="华文楷体"/>
                <a:cs typeface="华文楷体"/>
              </a:rPr>
              <a:t>下列各情况中，线圈都以角速度</a:t>
            </a:r>
            <a:r>
              <a:rPr dirty="0" sz="2000" spc="-10" i="1">
                <a:latin typeface="Times New Roman"/>
                <a:cs typeface="Times New Roman"/>
              </a:rPr>
              <a:t>ω</a:t>
            </a:r>
            <a:r>
              <a:rPr dirty="0" sz="2000">
                <a:latin typeface="华文楷体"/>
                <a:cs typeface="华文楷体"/>
              </a:rPr>
              <a:t>绕图中的转动轴匀速转动，能产生交变电流的是哪些？请简述理由</a:t>
            </a:r>
            <a:r>
              <a:rPr dirty="0" sz="2000" spc="5">
                <a:latin typeface="华文楷体"/>
                <a:cs typeface="华文楷体"/>
              </a:rPr>
              <a:t>。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15639" y="2889504"/>
            <a:ext cx="5186171" cy="3518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08108" y="199657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92458" y="1350225"/>
            <a:ext cx="16516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课堂小</a:t>
            </a:r>
            <a:r>
              <a:rPr dirty="0" spc="5"/>
              <a:t>结</a:t>
            </a:r>
          </a:p>
        </p:txBody>
      </p:sp>
      <p:sp>
        <p:nvSpPr>
          <p:cNvPr id="4" name="object 4"/>
          <p:cNvSpPr/>
          <p:nvPr/>
        </p:nvSpPr>
        <p:spPr>
          <a:xfrm>
            <a:off x="2945892" y="1726692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1" y="0"/>
                </a:lnTo>
                <a:lnTo>
                  <a:pt x="362711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44011" y="1949195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79095" indent="-266700">
              <a:lnSpc>
                <a:spcPct val="100000"/>
              </a:lnSpc>
              <a:spcBef>
                <a:spcPts val="95"/>
              </a:spcBef>
              <a:buSzPct val="96428"/>
              <a:buFont typeface="Times New Roman"/>
              <a:buAutoNum type="arabicPeriod"/>
              <a:tabLst>
                <a:tab pos="380365" algn="l"/>
              </a:tabLst>
            </a:pPr>
            <a:r>
              <a:rPr dirty="0"/>
              <a:t>交变电流的概</a:t>
            </a:r>
            <a:r>
              <a:rPr dirty="0" spc="-10"/>
              <a:t>念</a:t>
            </a:r>
          </a:p>
          <a:p>
            <a:pPr marL="112395">
              <a:lnSpc>
                <a:spcPct val="100000"/>
              </a:lnSpc>
              <a:spcBef>
                <a:spcPts val="5"/>
              </a:spcBef>
            </a:pPr>
            <a:r>
              <a:rPr dirty="0" sz="2400" b="0">
                <a:latin typeface="华文楷体"/>
                <a:cs typeface="华文楷体"/>
              </a:rPr>
              <a:t>电动势、电流、电压大小和方向随时间做周期性变化，这样的电流叫作</a:t>
            </a:r>
            <a:r>
              <a:rPr dirty="0" sz="2400" b="0">
                <a:solidFill>
                  <a:srgbClr val="FF0000"/>
                </a:solidFill>
                <a:latin typeface="华文楷体"/>
                <a:cs typeface="华文楷体"/>
              </a:rPr>
              <a:t>交变电流。</a:t>
            </a:r>
            <a:endParaRPr sz="2400">
              <a:latin typeface="华文楷体"/>
              <a:cs typeface="华文楷体"/>
            </a:endParaRPr>
          </a:p>
          <a:p>
            <a:pPr marL="99695"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marL="379095" indent="-266700">
              <a:lnSpc>
                <a:spcPct val="100000"/>
              </a:lnSpc>
              <a:buSzPct val="96428"/>
              <a:buFont typeface="Times New Roman"/>
              <a:buAutoNum type="arabicPeriod" startAt="2"/>
              <a:tabLst>
                <a:tab pos="380365" algn="l"/>
              </a:tabLst>
            </a:pPr>
            <a:r>
              <a:rPr dirty="0"/>
              <a:t>探究交变电流的产生过</a:t>
            </a:r>
            <a:r>
              <a:rPr dirty="0" spc="-10"/>
              <a:t>程</a:t>
            </a:r>
          </a:p>
          <a:p>
            <a:pPr algn="ctr" marL="99695" marR="6850380">
              <a:lnSpc>
                <a:spcPct val="100000"/>
              </a:lnSpc>
              <a:spcBef>
                <a:spcPts val="45"/>
              </a:spcBef>
            </a:pPr>
            <a:r>
              <a:rPr dirty="0" sz="2400" b="0">
                <a:latin typeface="华文楷体"/>
                <a:cs typeface="华文楷体"/>
              </a:rPr>
              <a:t>线圈在匀强磁场中匀速转动。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2025-04-20T10:32:08Z</dcterms:created>
  <dcterms:modified xsi:type="dcterms:W3CDTF">2025-04-20T10:32:08Z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