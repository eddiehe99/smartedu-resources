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9144000" cy="5143500"/>
  <p:notesSz cx="9144000" cy="51435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8739" y="-79998"/>
            <a:ext cx="8986520" cy="11855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1F1F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1F1F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737616" y="1360932"/>
            <a:ext cx="3136392" cy="17465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4768596" y="1360932"/>
            <a:ext cx="3089148" cy="177698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3713797" y="3387852"/>
            <a:ext cx="852106" cy="7162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bk object 20"/>
          <p:cNvSpPr/>
          <p:nvPr/>
        </p:nvSpPr>
        <p:spPr>
          <a:xfrm>
            <a:off x="4552188" y="3384803"/>
            <a:ext cx="25908" cy="777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bk object 21"/>
          <p:cNvSpPr/>
          <p:nvPr/>
        </p:nvSpPr>
        <p:spPr>
          <a:xfrm>
            <a:off x="3790188" y="3136392"/>
            <a:ext cx="1527048" cy="164896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bk object 22"/>
          <p:cNvSpPr/>
          <p:nvPr/>
        </p:nvSpPr>
        <p:spPr>
          <a:xfrm>
            <a:off x="4524235" y="3387852"/>
            <a:ext cx="852436" cy="7162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bk object 23"/>
          <p:cNvSpPr/>
          <p:nvPr/>
        </p:nvSpPr>
        <p:spPr>
          <a:xfrm>
            <a:off x="5362955" y="3384803"/>
            <a:ext cx="25908" cy="7772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1F1F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-6426"/>
            <a:ext cx="2058670" cy="634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F1F1F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40841" y="1242809"/>
            <a:ext cx="7062317" cy="19545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image" Target="../media/image14.jpg"/><Relationship Id="rId5" Type="http://schemas.openxmlformats.org/officeDocument/2006/relationships/image" Target="../media/image15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jpg"/><Relationship Id="rId9" Type="http://schemas.openxmlformats.org/officeDocument/2006/relationships/image" Target="../media/image28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9.jpg"/><Relationship Id="rId3" Type="http://schemas.openxmlformats.org/officeDocument/2006/relationships/image" Target="../media/image30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76700" y="1688464"/>
            <a:ext cx="1855470" cy="4686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900" spc="5">
                <a:solidFill>
                  <a:srgbClr val="000000"/>
                </a:solidFill>
                <a:latin typeface="微软雅黑"/>
                <a:cs typeface="微软雅黑"/>
              </a:rPr>
              <a:t>选 修 </a:t>
            </a:r>
            <a:r>
              <a:rPr dirty="0" sz="2900">
                <a:solidFill>
                  <a:srgbClr val="000000"/>
                </a:solidFill>
                <a:latin typeface="微软雅黑"/>
                <a:cs typeface="微软雅黑"/>
              </a:rPr>
              <a:t>3 –</a:t>
            </a:r>
            <a:r>
              <a:rPr dirty="0" sz="2900" spc="-120">
                <a:solidFill>
                  <a:srgbClr val="000000"/>
                </a:solidFill>
                <a:latin typeface="微软雅黑"/>
                <a:cs typeface="微软雅黑"/>
              </a:rPr>
              <a:t> </a:t>
            </a:r>
            <a:r>
              <a:rPr dirty="0" sz="2900">
                <a:solidFill>
                  <a:srgbClr val="000000"/>
                </a:solidFill>
                <a:latin typeface="微软雅黑"/>
                <a:cs typeface="微软雅黑"/>
              </a:rPr>
              <a:t>2</a:t>
            </a:r>
            <a:endParaRPr sz="29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66565" y="2379345"/>
            <a:ext cx="144907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190" b="1">
                <a:latin typeface="宋体"/>
                <a:cs typeface="宋体"/>
              </a:rPr>
              <a:t>变压</a:t>
            </a:r>
            <a:r>
              <a:rPr dirty="0" sz="3600" spc="-15" b="1">
                <a:latin typeface="宋体"/>
                <a:cs typeface="宋体"/>
              </a:rPr>
              <a:t>器</a:t>
            </a:r>
            <a:endParaRPr sz="3600">
              <a:latin typeface="宋体"/>
              <a:cs typeface="宋体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261795" y="3689184"/>
          <a:ext cx="7327900" cy="8528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08375"/>
                <a:gridCol w="577214"/>
                <a:gridCol w="3242310"/>
              </a:tblGrid>
              <a:tr h="426237">
                <a:tc>
                  <a:txBody>
                    <a:bodyPr/>
                    <a:lstStyle/>
                    <a:p>
                      <a:pPr marL="31750">
                        <a:lnSpc>
                          <a:spcPts val="2845"/>
                        </a:lnSpc>
                      </a:pPr>
                      <a:r>
                        <a:rPr dirty="0" sz="2400" b="1">
                          <a:latin typeface="华文楷体"/>
                          <a:cs typeface="华文楷体"/>
                        </a:rPr>
                        <a:t>主讲人：赵贺</a:t>
                      </a:r>
                      <a:r>
                        <a:rPr dirty="0" sz="2400" spc="-5" b="1">
                          <a:latin typeface="华文楷体"/>
                          <a:cs typeface="华文楷体"/>
                        </a:rPr>
                        <a:t>林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0650">
                        <a:lnSpc>
                          <a:spcPts val="2845"/>
                        </a:lnSpc>
                      </a:pPr>
                      <a:r>
                        <a:rPr dirty="0" sz="2400" b="1">
                          <a:latin typeface="华文楷体"/>
                          <a:cs typeface="华文楷体"/>
                        </a:rPr>
                        <a:t>学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ts val="2845"/>
                        </a:lnSpc>
                      </a:pPr>
                      <a:r>
                        <a:rPr dirty="0" sz="2400" b="1">
                          <a:latin typeface="华文楷体"/>
                          <a:cs typeface="华文楷体"/>
                        </a:rPr>
                        <a:t>校：北京市第八十中</a:t>
                      </a:r>
                      <a:r>
                        <a:rPr dirty="0" sz="2400" spc="-5" b="1">
                          <a:latin typeface="华文楷体"/>
                          <a:cs typeface="华文楷体"/>
                        </a:rPr>
                        <a:t>学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</a:tr>
              <a:tr h="426237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00"/>
                        </a:spcBef>
                        <a:tabLst>
                          <a:tab pos="643890" algn="l"/>
                        </a:tabLst>
                      </a:pPr>
                      <a:r>
                        <a:rPr dirty="0" sz="2400" spc="-5" b="1">
                          <a:latin typeface="华文楷体"/>
                          <a:cs typeface="华文楷体"/>
                        </a:rPr>
                        <a:t>学	</a:t>
                      </a:r>
                      <a:r>
                        <a:rPr dirty="0" sz="2400" b="1">
                          <a:latin typeface="华文楷体"/>
                          <a:cs typeface="华文楷体"/>
                        </a:rPr>
                        <a:t>科：物理（人教版</a:t>
                      </a:r>
                      <a:r>
                        <a:rPr dirty="0" sz="2400" spc="-5" b="1">
                          <a:latin typeface="华文楷体"/>
                          <a:cs typeface="华文楷体"/>
                        </a:rPr>
                        <a:t>）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25400"/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2400" b="1">
                          <a:latin typeface="华文楷体"/>
                          <a:cs typeface="华文楷体"/>
                        </a:rPr>
                        <a:t>年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25400"/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2400" b="1">
                          <a:latin typeface="华文楷体"/>
                          <a:cs typeface="华文楷体"/>
                        </a:rPr>
                        <a:t>级：高二下学</a:t>
                      </a:r>
                      <a:r>
                        <a:rPr dirty="0" sz="2400" spc="-5" b="1">
                          <a:latin typeface="华文楷体"/>
                          <a:cs typeface="华文楷体"/>
                        </a:rPr>
                        <a:t>期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25400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60189" y="2561208"/>
            <a:ext cx="432434" cy="1391920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algn="just" marL="12700" marR="5080">
              <a:lnSpc>
                <a:spcPts val="3450"/>
              </a:lnSpc>
              <a:spcBef>
                <a:spcPts val="545"/>
              </a:spcBef>
            </a:pPr>
            <a:r>
              <a:rPr dirty="0" sz="3200" spc="-10" b="1">
                <a:latin typeface="宋体"/>
                <a:cs typeface="宋体"/>
              </a:rPr>
              <a:t>变 压 器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21080" y="1898904"/>
            <a:ext cx="3035808" cy="32232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335523" y="1929383"/>
            <a:ext cx="3049524" cy="31744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8739" y="0"/>
            <a:ext cx="8543290" cy="2183765"/>
          </a:xfrm>
          <a:prstGeom prst="rect">
            <a:avLst/>
          </a:prstGeom>
        </p:spPr>
        <p:txBody>
          <a:bodyPr wrap="square" lIns="0" tIns="3327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20"/>
              </a:spcBef>
            </a:pPr>
            <a:r>
              <a:rPr dirty="0" sz="4000" b="1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 b="1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  <a:p>
            <a:pPr marL="655320" marR="5080" indent="-283210">
              <a:lnSpc>
                <a:spcPct val="125000"/>
              </a:lnSpc>
              <a:spcBef>
                <a:spcPts val="670"/>
              </a:spcBef>
            </a:pPr>
            <a:r>
              <a:rPr dirty="0" sz="2000" b="1">
                <a:solidFill>
                  <a:srgbClr val="FF0000"/>
                </a:solidFill>
                <a:latin typeface="宋体"/>
                <a:cs typeface="宋体"/>
              </a:rPr>
              <a:t>思考与讨论？</a:t>
            </a:r>
            <a:r>
              <a:rPr dirty="0" sz="2000">
                <a:latin typeface="宋体"/>
                <a:cs typeface="宋体"/>
              </a:rPr>
              <a:t>大型发电机发出的交流，电压为几万伏，而远距离输电</a:t>
            </a:r>
            <a:r>
              <a:rPr dirty="0" sz="2000" spc="5">
                <a:latin typeface="宋体"/>
                <a:cs typeface="宋体"/>
              </a:rPr>
              <a:t>却 </a:t>
            </a:r>
            <a:r>
              <a:rPr dirty="0" sz="2000">
                <a:latin typeface="宋体"/>
                <a:cs typeface="宋体"/>
              </a:rPr>
              <a:t>需要几十万伏以上的电压。生活各种用电设备所需电压也不相同。</a:t>
            </a:r>
            <a:r>
              <a:rPr dirty="0" sz="2000" spc="5">
                <a:latin typeface="宋体"/>
                <a:cs typeface="宋体"/>
              </a:rPr>
              <a:t>我 </a:t>
            </a:r>
            <a:r>
              <a:rPr dirty="0" sz="2000">
                <a:latin typeface="宋体"/>
                <a:cs typeface="宋体"/>
              </a:rPr>
              <a:t>们需要改变电压，以适应各种不同的需要，我们利用什么设备来实现</a:t>
            </a:r>
            <a:r>
              <a:rPr dirty="0" sz="2000" spc="5">
                <a:latin typeface="宋体"/>
                <a:cs typeface="宋体"/>
              </a:rPr>
              <a:t>？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0"/>
            <a:ext cx="2832100" cy="118554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4000" b="1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 b="1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  <a:p>
            <a:pPr marL="317500">
              <a:lnSpc>
                <a:spcPct val="100000"/>
              </a:lnSpc>
              <a:spcBef>
                <a:spcPts val="395"/>
              </a:spcBef>
            </a:pPr>
            <a:r>
              <a:rPr dirty="0" sz="2800" b="1">
                <a:solidFill>
                  <a:srgbClr val="44536A"/>
                </a:solidFill>
                <a:latin typeface="宋体"/>
                <a:cs typeface="宋体"/>
              </a:rPr>
              <a:t>1.</a:t>
            </a:r>
            <a:r>
              <a:rPr dirty="0" sz="2800" b="1">
                <a:solidFill>
                  <a:srgbClr val="44536A"/>
                </a:solidFill>
                <a:latin typeface="宋体"/>
                <a:cs typeface="宋体"/>
              </a:rPr>
              <a:t>变压器的结</a:t>
            </a:r>
            <a:r>
              <a:rPr dirty="0" sz="2800" spc="-20" b="1">
                <a:solidFill>
                  <a:srgbClr val="44536A"/>
                </a:solidFill>
                <a:latin typeface="宋体"/>
                <a:cs typeface="宋体"/>
              </a:rPr>
              <a:t>构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81113" y="1565960"/>
            <a:ext cx="9436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0000"/>
                </a:solidFill>
                <a:latin typeface="宋体"/>
                <a:cs typeface="宋体"/>
              </a:rPr>
              <a:t>电路符</a:t>
            </a:r>
            <a:r>
              <a:rPr dirty="0" sz="1800" spc="-10" b="1">
                <a:solidFill>
                  <a:srgbClr val="FF0000"/>
                </a:solidFill>
                <a:latin typeface="宋体"/>
                <a:cs typeface="宋体"/>
              </a:rPr>
              <a:t>号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77184" y="1865376"/>
            <a:ext cx="2592324" cy="17358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367659" y="1855851"/>
            <a:ext cx="2611755" cy="1755139"/>
          </a:xfrm>
          <a:custGeom>
            <a:avLst/>
            <a:gdLst/>
            <a:ahLst/>
            <a:cxnLst/>
            <a:rect l="l" t="t" r="r" b="b"/>
            <a:pathLst>
              <a:path w="2611754" h="1755139">
                <a:moveTo>
                  <a:pt x="2611374" y="1754886"/>
                </a:moveTo>
                <a:lnTo>
                  <a:pt x="0" y="1754886"/>
                </a:lnTo>
                <a:lnTo>
                  <a:pt x="0" y="0"/>
                </a:lnTo>
                <a:lnTo>
                  <a:pt x="2611374" y="0"/>
                </a:lnTo>
                <a:lnTo>
                  <a:pt x="2611374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745361"/>
                </a:lnTo>
                <a:lnTo>
                  <a:pt x="4762" y="1745361"/>
                </a:lnTo>
                <a:lnTo>
                  <a:pt x="9525" y="1750123"/>
                </a:lnTo>
                <a:lnTo>
                  <a:pt x="2611374" y="1750123"/>
                </a:lnTo>
                <a:lnTo>
                  <a:pt x="2611374" y="1754886"/>
                </a:lnTo>
                <a:close/>
              </a:path>
              <a:path w="2611754" h="1755139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611754" h="1755139">
                <a:moveTo>
                  <a:pt x="2601849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601849" y="4762"/>
                </a:lnTo>
                <a:lnTo>
                  <a:pt x="2601849" y="9525"/>
                </a:lnTo>
                <a:close/>
              </a:path>
              <a:path w="2611754" h="1755139">
                <a:moveTo>
                  <a:pt x="2601849" y="1750123"/>
                </a:moveTo>
                <a:lnTo>
                  <a:pt x="2601849" y="4762"/>
                </a:lnTo>
                <a:lnTo>
                  <a:pt x="2606611" y="9525"/>
                </a:lnTo>
                <a:lnTo>
                  <a:pt x="2611374" y="9525"/>
                </a:lnTo>
                <a:lnTo>
                  <a:pt x="2611374" y="1745361"/>
                </a:lnTo>
                <a:lnTo>
                  <a:pt x="2606611" y="1745361"/>
                </a:lnTo>
                <a:lnTo>
                  <a:pt x="2601849" y="1750123"/>
                </a:lnTo>
                <a:close/>
              </a:path>
              <a:path w="2611754" h="1755139">
                <a:moveTo>
                  <a:pt x="2611374" y="9525"/>
                </a:moveTo>
                <a:lnTo>
                  <a:pt x="2606611" y="9525"/>
                </a:lnTo>
                <a:lnTo>
                  <a:pt x="2601849" y="4762"/>
                </a:lnTo>
                <a:lnTo>
                  <a:pt x="2611374" y="4762"/>
                </a:lnTo>
                <a:lnTo>
                  <a:pt x="2611374" y="9525"/>
                </a:lnTo>
                <a:close/>
              </a:path>
              <a:path w="2611754" h="1755139">
                <a:moveTo>
                  <a:pt x="9525" y="1750123"/>
                </a:moveTo>
                <a:lnTo>
                  <a:pt x="4762" y="1745361"/>
                </a:lnTo>
                <a:lnTo>
                  <a:pt x="9525" y="1745361"/>
                </a:lnTo>
                <a:lnTo>
                  <a:pt x="9525" y="1750123"/>
                </a:lnTo>
                <a:close/>
              </a:path>
              <a:path w="2611754" h="1755139">
                <a:moveTo>
                  <a:pt x="2601849" y="1750123"/>
                </a:moveTo>
                <a:lnTo>
                  <a:pt x="9525" y="1750123"/>
                </a:lnTo>
                <a:lnTo>
                  <a:pt x="9525" y="1745361"/>
                </a:lnTo>
                <a:lnTo>
                  <a:pt x="2601849" y="1745361"/>
                </a:lnTo>
                <a:lnTo>
                  <a:pt x="2601849" y="1750123"/>
                </a:lnTo>
                <a:close/>
              </a:path>
              <a:path w="2611754" h="1755139">
                <a:moveTo>
                  <a:pt x="2611374" y="1750123"/>
                </a:moveTo>
                <a:lnTo>
                  <a:pt x="2601849" y="1750123"/>
                </a:lnTo>
                <a:lnTo>
                  <a:pt x="2606611" y="1745361"/>
                </a:lnTo>
                <a:lnTo>
                  <a:pt x="2611374" y="1745361"/>
                </a:lnTo>
                <a:lnTo>
                  <a:pt x="2611374" y="1750123"/>
                </a:lnTo>
                <a:close/>
              </a:path>
            </a:pathLst>
          </a:custGeom>
          <a:solidFill>
            <a:srgbClr val="99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37031" y="1277111"/>
            <a:ext cx="2321052" cy="11750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37031" y="2734055"/>
            <a:ext cx="2369820" cy="137922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766559" y="2139695"/>
            <a:ext cx="1638300" cy="112471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291328" y="2820923"/>
            <a:ext cx="2731007" cy="17023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281803" y="2811398"/>
            <a:ext cx="2750185" cy="1721485"/>
          </a:xfrm>
          <a:custGeom>
            <a:avLst/>
            <a:gdLst/>
            <a:ahLst/>
            <a:cxnLst/>
            <a:rect l="l" t="t" r="r" b="b"/>
            <a:pathLst>
              <a:path w="2750184" h="1721485">
                <a:moveTo>
                  <a:pt x="2750057" y="1721358"/>
                </a:moveTo>
                <a:lnTo>
                  <a:pt x="0" y="1721358"/>
                </a:lnTo>
                <a:lnTo>
                  <a:pt x="0" y="0"/>
                </a:lnTo>
                <a:lnTo>
                  <a:pt x="2750057" y="0"/>
                </a:lnTo>
                <a:lnTo>
                  <a:pt x="2750057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711833"/>
                </a:lnTo>
                <a:lnTo>
                  <a:pt x="4762" y="1711833"/>
                </a:lnTo>
                <a:lnTo>
                  <a:pt x="9525" y="1716595"/>
                </a:lnTo>
                <a:lnTo>
                  <a:pt x="2750057" y="1716595"/>
                </a:lnTo>
                <a:lnTo>
                  <a:pt x="2750057" y="1721358"/>
                </a:lnTo>
                <a:close/>
              </a:path>
              <a:path w="2750184" h="172148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750184" h="1721485">
                <a:moveTo>
                  <a:pt x="2740532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740532" y="4762"/>
                </a:lnTo>
                <a:lnTo>
                  <a:pt x="2740532" y="9525"/>
                </a:lnTo>
                <a:close/>
              </a:path>
              <a:path w="2750184" h="1721485">
                <a:moveTo>
                  <a:pt x="2740532" y="1716595"/>
                </a:moveTo>
                <a:lnTo>
                  <a:pt x="2740532" y="4762"/>
                </a:lnTo>
                <a:lnTo>
                  <a:pt x="2745295" y="9525"/>
                </a:lnTo>
                <a:lnTo>
                  <a:pt x="2750057" y="9525"/>
                </a:lnTo>
                <a:lnTo>
                  <a:pt x="2750057" y="1711833"/>
                </a:lnTo>
                <a:lnTo>
                  <a:pt x="2745295" y="1711833"/>
                </a:lnTo>
                <a:lnTo>
                  <a:pt x="2740532" y="1716595"/>
                </a:lnTo>
                <a:close/>
              </a:path>
              <a:path w="2750184" h="1721485">
                <a:moveTo>
                  <a:pt x="2750057" y="9525"/>
                </a:moveTo>
                <a:lnTo>
                  <a:pt x="2745295" y="9525"/>
                </a:lnTo>
                <a:lnTo>
                  <a:pt x="2740532" y="4762"/>
                </a:lnTo>
                <a:lnTo>
                  <a:pt x="2750057" y="4762"/>
                </a:lnTo>
                <a:lnTo>
                  <a:pt x="2750057" y="9525"/>
                </a:lnTo>
                <a:close/>
              </a:path>
              <a:path w="2750184" h="1721485">
                <a:moveTo>
                  <a:pt x="9525" y="1716595"/>
                </a:moveTo>
                <a:lnTo>
                  <a:pt x="4762" y="1711833"/>
                </a:lnTo>
                <a:lnTo>
                  <a:pt x="9525" y="1711833"/>
                </a:lnTo>
                <a:lnTo>
                  <a:pt x="9525" y="1716595"/>
                </a:lnTo>
                <a:close/>
              </a:path>
              <a:path w="2750184" h="1721485">
                <a:moveTo>
                  <a:pt x="2740532" y="1716595"/>
                </a:moveTo>
                <a:lnTo>
                  <a:pt x="9525" y="1716595"/>
                </a:lnTo>
                <a:lnTo>
                  <a:pt x="9525" y="1711833"/>
                </a:lnTo>
                <a:lnTo>
                  <a:pt x="2740532" y="1711833"/>
                </a:lnTo>
                <a:lnTo>
                  <a:pt x="2740532" y="1716595"/>
                </a:lnTo>
                <a:close/>
              </a:path>
              <a:path w="2750184" h="1721485">
                <a:moveTo>
                  <a:pt x="2750057" y="1716595"/>
                </a:moveTo>
                <a:lnTo>
                  <a:pt x="2740532" y="1716595"/>
                </a:lnTo>
                <a:lnTo>
                  <a:pt x="2745295" y="1711833"/>
                </a:lnTo>
                <a:lnTo>
                  <a:pt x="2750057" y="1711833"/>
                </a:lnTo>
                <a:lnTo>
                  <a:pt x="2750057" y="1716595"/>
                </a:lnTo>
                <a:close/>
              </a:path>
            </a:pathLst>
          </a:custGeom>
          <a:solidFill>
            <a:srgbClr val="99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684879" y="2392172"/>
            <a:ext cx="3383610" cy="3407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046886" y="2394559"/>
            <a:ext cx="640892" cy="32886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29462" y="2133370"/>
            <a:ext cx="4123690" cy="2329180"/>
          </a:xfrm>
          <a:prstGeom prst="rect">
            <a:avLst/>
          </a:prstGeom>
        </p:spPr>
        <p:txBody>
          <a:bodyPr wrap="square" lIns="0" tIns="1720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5"/>
              </a:spcBef>
            </a:pPr>
            <a:r>
              <a:rPr dirty="0" sz="2800" b="1">
                <a:latin typeface="宋体"/>
                <a:cs typeface="宋体"/>
              </a:rPr>
              <a:t>2.变压器的原理</a:t>
            </a:r>
            <a:r>
              <a:rPr dirty="0" sz="2800" spc="-5" b="1">
                <a:latin typeface="宋体"/>
                <a:cs typeface="宋体"/>
              </a:rPr>
              <a:t>---</a:t>
            </a:r>
            <a:endParaRPr sz="2800">
              <a:latin typeface="宋体"/>
              <a:cs typeface="宋体"/>
            </a:endParaRPr>
          </a:p>
          <a:p>
            <a:pPr marL="292100" marR="12700">
              <a:lnSpc>
                <a:spcPct val="100000"/>
              </a:lnSpc>
              <a:spcBef>
                <a:spcPts val="1085"/>
              </a:spcBef>
            </a:pPr>
            <a:r>
              <a:rPr dirty="0" sz="2400">
                <a:latin typeface="宋体"/>
                <a:cs typeface="宋体"/>
              </a:rPr>
              <a:t>   变压器通过闭合铁芯，利 用互感现象实现了电能到磁 场能再到电能的转化。</a:t>
            </a:r>
            <a:endParaRPr sz="2400">
              <a:latin typeface="宋体"/>
              <a:cs typeface="宋体"/>
            </a:endParaRPr>
          </a:p>
          <a:p>
            <a:pPr marL="147955">
              <a:lnSpc>
                <a:spcPct val="100000"/>
              </a:lnSpc>
              <a:spcBef>
                <a:spcPts val="915"/>
              </a:spcBef>
            </a:pPr>
            <a:r>
              <a:rPr dirty="0" sz="2400">
                <a:solidFill>
                  <a:srgbClr val="FF0000"/>
                </a:solidFill>
                <a:latin typeface="宋体"/>
                <a:cs typeface="宋体"/>
              </a:rPr>
              <a:t>电能---磁场能---电能的转换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8739" y="0"/>
            <a:ext cx="7687309" cy="1802764"/>
          </a:xfrm>
          <a:prstGeom prst="rect"/>
        </p:spPr>
        <p:txBody>
          <a:bodyPr wrap="square" lIns="0" tIns="3327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20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  <a:p>
            <a:pPr marL="781050" marR="5080">
              <a:lnSpc>
                <a:spcPct val="125000"/>
              </a:lnSpc>
              <a:spcBef>
                <a:spcPts val="670"/>
              </a:spcBef>
            </a:pPr>
            <a:r>
              <a:rPr dirty="0" sz="2000">
                <a:solidFill>
                  <a:srgbClr val="FF0000"/>
                </a:solidFill>
                <a:latin typeface="宋体"/>
                <a:cs typeface="宋体"/>
              </a:rPr>
              <a:t>思考</a:t>
            </a:r>
            <a:r>
              <a:rPr dirty="0" sz="2000" spc="-25">
                <a:solidFill>
                  <a:srgbClr val="FF0000"/>
                </a:solidFill>
                <a:latin typeface="宋体"/>
                <a:cs typeface="宋体"/>
              </a:rPr>
              <a:t> </a:t>
            </a:r>
            <a:r>
              <a:rPr dirty="0" sz="2000">
                <a:solidFill>
                  <a:srgbClr val="FF0000"/>
                </a:solidFill>
                <a:latin typeface="宋体"/>
                <a:cs typeface="宋体"/>
              </a:rPr>
              <a:t>：</a:t>
            </a:r>
            <a:r>
              <a:rPr dirty="0" sz="2000" spc="-20">
                <a:solidFill>
                  <a:srgbClr val="FF0000"/>
                </a:solidFill>
                <a:latin typeface="宋体"/>
                <a:cs typeface="宋体"/>
              </a:rPr>
              <a:t> </a:t>
            </a:r>
            <a:r>
              <a:rPr dirty="0" sz="2000">
                <a:solidFill>
                  <a:srgbClr val="000000"/>
                </a:solidFill>
                <a:latin typeface="宋体"/>
                <a:cs typeface="宋体"/>
              </a:rPr>
              <a:t>变压器原、副线圈之间并未直接用导线连接，变压</a:t>
            </a:r>
            <a:r>
              <a:rPr dirty="0" sz="2000" spc="-5">
                <a:solidFill>
                  <a:srgbClr val="000000"/>
                </a:solidFill>
                <a:latin typeface="宋体"/>
                <a:cs typeface="宋体"/>
              </a:rPr>
              <a:t>器 </a:t>
            </a:r>
            <a:r>
              <a:rPr dirty="0" sz="2000">
                <a:solidFill>
                  <a:srgbClr val="000000"/>
                </a:solidFill>
                <a:latin typeface="宋体"/>
                <a:cs typeface="宋体"/>
              </a:rPr>
              <a:t>是怎样传输电能的？</a:t>
            </a:r>
            <a:r>
              <a:rPr dirty="0" sz="2000" spc="-1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950720" y="1528572"/>
            <a:ext cx="4134611" cy="5623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127" y="69773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1007" y="737742"/>
            <a:ext cx="7809865" cy="3094990"/>
          </a:xfrm>
          <a:prstGeom prst="rect">
            <a:avLst/>
          </a:prstGeom>
        </p:spPr>
        <p:txBody>
          <a:bodyPr wrap="square" lIns="0" tIns="2260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80"/>
              </a:spcBef>
            </a:pPr>
            <a:r>
              <a:rPr dirty="0" sz="2800" b="1">
                <a:latin typeface="宋体"/>
                <a:cs typeface="宋体"/>
              </a:rPr>
              <a:t>3.理想变压</a:t>
            </a:r>
            <a:r>
              <a:rPr dirty="0" sz="2800" spc="-20" b="1">
                <a:latin typeface="宋体"/>
                <a:cs typeface="宋体"/>
              </a:rPr>
              <a:t>器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2080"/>
              </a:spcBef>
            </a:pPr>
            <a:r>
              <a:rPr dirty="0" sz="2800" b="1">
                <a:latin typeface="宋体"/>
                <a:cs typeface="宋体"/>
              </a:rPr>
              <a:t>  </a:t>
            </a:r>
            <a:r>
              <a:rPr dirty="0" sz="2400" b="1">
                <a:latin typeface="宋体"/>
                <a:cs typeface="宋体"/>
              </a:rPr>
              <a:t>无漏磁，不计线圈导线电阻，无损耗的理想化模型</a:t>
            </a:r>
            <a:r>
              <a:rPr dirty="0" sz="2400" spc="-10" b="1"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  <a:p>
            <a:pPr marL="404495" marR="5080" indent="659765">
              <a:lnSpc>
                <a:spcPts val="3600"/>
              </a:lnSpc>
              <a:spcBef>
                <a:spcPts val="5"/>
              </a:spcBef>
            </a:pPr>
            <a:r>
              <a:rPr dirty="0" sz="2400" b="1">
                <a:latin typeface="楷体"/>
                <a:cs typeface="楷体"/>
              </a:rPr>
              <a:t>现在，由于在材料和技术上采取了许多有效措施</a:t>
            </a:r>
            <a:r>
              <a:rPr dirty="0" sz="2400" spc="-10" b="1">
                <a:latin typeface="楷体"/>
                <a:cs typeface="楷体"/>
              </a:rPr>
              <a:t>， </a:t>
            </a:r>
            <a:r>
              <a:rPr dirty="0" sz="2400" b="1">
                <a:latin typeface="楷体"/>
                <a:cs typeface="楷体"/>
              </a:rPr>
              <a:t>实际变压器的效率都很高，特别是大型变压器，效</a:t>
            </a:r>
            <a:r>
              <a:rPr dirty="0" sz="2400" spc="-10" b="1">
                <a:latin typeface="楷体"/>
                <a:cs typeface="楷体"/>
              </a:rPr>
              <a:t>率 </a:t>
            </a:r>
            <a:r>
              <a:rPr dirty="0" sz="2400" b="1">
                <a:latin typeface="楷体"/>
                <a:cs typeface="楷体"/>
              </a:rPr>
              <a:t>可达97%-99.5%，所以理论研究时我们可以把它当</a:t>
            </a:r>
            <a:r>
              <a:rPr dirty="0" sz="2400" spc="-10" b="1">
                <a:latin typeface="楷体"/>
                <a:cs typeface="楷体"/>
              </a:rPr>
              <a:t>成</a:t>
            </a:r>
            <a:endParaRPr sz="2400">
              <a:latin typeface="楷体"/>
              <a:cs typeface="楷体"/>
            </a:endParaRPr>
          </a:p>
          <a:p>
            <a:pPr marL="404495">
              <a:lnSpc>
                <a:spcPct val="100000"/>
              </a:lnSpc>
              <a:spcBef>
                <a:spcPts val="480"/>
              </a:spcBef>
            </a:pPr>
            <a:r>
              <a:rPr dirty="0" sz="2400" b="1">
                <a:latin typeface="楷体"/>
                <a:cs typeface="楷体"/>
              </a:rPr>
              <a:t>100%－－理想变压器</a:t>
            </a:r>
            <a:r>
              <a:rPr dirty="0" sz="2400" spc="-10" b="1">
                <a:latin typeface="楷体"/>
                <a:cs typeface="楷体"/>
              </a:rPr>
              <a:t>。</a:t>
            </a:r>
            <a:endParaRPr sz="2400">
              <a:latin typeface="楷体"/>
              <a:cs typeface="楷体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127" y="69773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2200706" y="2807271"/>
            <a:ext cx="427355" cy="0"/>
          </a:xfrm>
          <a:custGeom>
            <a:avLst/>
            <a:gdLst/>
            <a:ahLst/>
            <a:cxnLst/>
            <a:rect l="l" t="t" r="r" b="b"/>
            <a:pathLst>
              <a:path w="427355" h="0">
                <a:moveTo>
                  <a:pt x="0" y="0"/>
                </a:moveTo>
                <a:lnTo>
                  <a:pt x="427164" y="0"/>
                </a:lnTo>
              </a:path>
            </a:pathLst>
          </a:custGeom>
          <a:ln w="165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023717" y="2807271"/>
            <a:ext cx="354330" cy="0"/>
          </a:xfrm>
          <a:custGeom>
            <a:avLst/>
            <a:gdLst/>
            <a:ahLst/>
            <a:cxnLst/>
            <a:rect l="l" t="t" r="r" b="b"/>
            <a:pathLst>
              <a:path w="354329" h="0">
                <a:moveTo>
                  <a:pt x="0" y="0"/>
                </a:moveTo>
                <a:lnTo>
                  <a:pt x="354088" y="0"/>
                </a:lnTo>
              </a:path>
            </a:pathLst>
          </a:custGeom>
          <a:ln w="165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291328" y="1434083"/>
            <a:ext cx="2880360" cy="18577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281803" y="1424558"/>
            <a:ext cx="2899410" cy="1877060"/>
          </a:xfrm>
          <a:custGeom>
            <a:avLst/>
            <a:gdLst/>
            <a:ahLst/>
            <a:cxnLst/>
            <a:rect l="l" t="t" r="r" b="b"/>
            <a:pathLst>
              <a:path w="2899409" h="1877060">
                <a:moveTo>
                  <a:pt x="2899410" y="1876805"/>
                </a:moveTo>
                <a:lnTo>
                  <a:pt x="0" y="1876805"/>
                </a:lnTo>
                <a:lnTo>
                  <a:pt x="0" y="0"/>
                </a:lnTo>
                <a:lnTo>
                  <a:pt x="2899410" y="0"/>
                </a:lnTo>
                <a:lnTo>
                  <a:pt x="2899410" y="4762"/>
                </a:lnTo>
                <a:lnTo>
                  <a:pt x="9525" y="4762"/>
                </a:lnTo>
                <a:lnTo>
                  <a:pt x="4762" y="9524"/>
                </a:lnTo>
                <a:lnTo>
                  <a:pt x="9525" y="9524"/>
                </a:lnTo>
                <a:lnTo>
                  <a:pt x="9525" y="1867280"/>
                </a:lnTo>
                <a:lnTo>
                  <a:pt x="4762" y="1867280"/>
                </a:lnTo>
                <a:lnTo>
                  <a:pt x="9525" y="1872043"/>
                </a:lnTo>
                <a:lnTo>
                  <a:pt x="2899410" y="1872043"/>
                </a:lnTo>
                <a:lnTo>
                  <a:pt x="2899410" y="1876805"/>
                </a:lnTo>
                <a:close/>
              </a:path>
              <a:path w="2899409" h="1877060">
                <a:moveTo>
                  <a:pt x="9525" y="9524"/>
                </a:moveTo>
                <a:lnTo>
                  <a:pt x="4762" y="9524"/>
                </a:lnTo>
                <a:lnTo>
                  <a:pt x="9525" y="4762"/>
                </a:lnTo>
                <a:lnTo>
                  <a:pt x="9525" y="9524"/>
                </a:lnTo>
                <a:close/>
              </a:path>
              <a:path w="2899409" h="1877060">
                <a:moveTo>
                  <a:pt x="2889885" y="9524"/>
                </a:moveTo>
                <a:lnTo>
                  <a:pt x="9525" y="9524"/>
                </a:lnTo>
                <a:lnTo>
                  <a:pt x="9525" y="4762"/>
                </a:lnTo>
                <a:lnTo>
                  <a:pt x="2889885" y="4762"/>
                </a:lnTo>
                <a:lnTo>
                  <a:pt x="2889885" y="9524"/>
                </a:lnTo>
                <a:close/>
              </a:path>
              <a:path w="2899409" h="1877060">
                <a:moveTo>
                  <a:pt x="2889885" y="1872043"/>
                </a:moveTo>
                <a:lnTo>
                  <a:pt x="2889885" y="4762"/>
                </a:lnTo>
                <a:lnTo>
                  <a:pt x="2894647" y="9524"/>
                </a:lnTo>
                <a:lnTo>
                  <a:pt x="2899410" y="9524"/>
                </a:lnTo>
                <a:lnTo>
                  <a:pt x="2899410" y="1867280"/>
                </a:lnTo>
                <a:lnTo>
                  <a:pt x="2894647" y="1867280"/>
                </a:lnTo>
                <a:lnTo>
                  <a:pt x="2889885" y="1872043"/>
                </a:lnTo>
                <a:close/>
              </a:path>
              <a:path w="2899409" h="1877060">
                <a:moveTo>
                  <a:pt x="2899410" y="9524"/>
                </a:moveTo>
                <a:lnTo>
                  <a:pt x="2894647" y="9524"/>
                </a:lnTo>
                <a:lnTo>
                  <a:pt x="2889885" y="4762"/>
                </a:lnTo>
                <a:lnTo>
                  <a:pt x="2899410" y="4762"/>
                </a:lnTo>
                <a:lnTo>
                  <a:pt x="2899410" y="9524"/>
                </a:lnTo>
                <a:close/>
              </a:path>
              <a:path w="2899409" h="1877060">
                <a:moveTo>
                  <a:pt x="9525" y="1872043"/>
                </a:moveTo>
                <a:lnTo>
                  <a:pt x="4762" y="1867280"/>
                </a:lnTo>
                <a:lnTo>
                  <a:pt x="9525" y="1867280"/>
                </a:lnTo>
                <a:lnTo>
                  <a:pt x="9525" y="1872043"/>
                </a:lnTo>
                <a:close/>
              </a:path>
              <a:path w="2899409" h="1877060">
                <a:moveTo>
                  <a:pt x="2889885" y="1872043"/>
                </a:moveTo>
                <a:lnTo>
                  <a:pt x="9525" y="1872043"/>
                </a:lnTo>
                <a:lnTo>
                  <a:pt x="9525" y="1867280"/>
                </a:lnTo>
                <a:lnTo>
                  <a:pt x="2889885" y="1867280"/>
                </a:lnTo>
                <a:lnTo>
                  <a:pt x="2889885" y="1872043"/>
                </a:lnTo>
                <a:close/>
              </a:path>
              <a:path w="2899409" h="1877060">
                <a:moveTo>
                  <a:pt x="2899410" y="1872043"/>
                </a:moveTo>
                <a:lnTo>
                  <a:pt x="2889885" y="1872043"/>
                </a:lnTo>
                <a:lnTo>
                  <a:pt x="2894647" y="1867280"/>
                </a:lnTo>
                <a:lnTo>
                  <a:pt x="2899410" y="1867280"/>
                </a:lnTo>
                <a:lnTo>
                  <a:pt x="2899410" y="1872043"/>
                </a:lnTo>
                <a:close/>
              </a:path>
            </a:pathLst>
          </a:custGeom>
          <a:solidFill>
            <a:srgbClr val="99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040841" y="1242809"/>
            <a:ext cx="3683000" cy="19545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dirty="0" sz="2400">
                <a:latin typeface="宋体"/>
                <a:cs typeface="宋体"/>
              </a:rPr>
              <a:t>原、副线圈的电压之比，等 于两个线圈的匝数之比。</a:t>
            </a:r>
            <a:endParaRPr sz="2400">
              <a:latin typeface="宋体"/>
              <a:cs typeface="宋体"/>
            </a:endParaRPr>
          </a:p>
          <a:p>
            <a:pPr marL="1147445" marR="1403350" indent="16510">
              <a:lnSpc>
                <a:spcPct val="117400"/>
              </a:lnSpc>
              <a:spcBef>
                <a:spcPts val="1215"/>
              </a:spcBef>
              <a:tabLst>
                <a:tab pos="1686560" algn="l"/>
                <a:tab pos="2001520" algn="l"/>
              </a:tabLst>
            </a:pPr>
            <a:r>
              <a:rPr dirty="0" sz="2400" spc="10" i="1">
                <a:latin typeface="Times New Roman"/>
                <a:cs typeface="Times New Roman"/>
              </a:rPr>
              <a:t>U</a:t>
            </a:r>
            <a:r>
              <a:rPr dirty="0" sz="2400" spc="-250" i="1">
                <a:latin typeface="Times New Roman"/>
                <a:cs typeface="Times New Roman"/>
              </a:rPr>
              <a:t> </a:t>
            </a:r>
            <a:r>
              <a:rPr dirty="0" baseline="-23809" sz="2100" spc="-7">
                <a:latin typeface="Times New Roman"/>
                <a:cs typeface="Times New Roman"/>
              </a:rPr>
              <a:t>1</a:t>
            </a:r>
            <a:r>
              <a:rPr dirty="0" baseline="-23809" sz="2100">
                <a:latin typeface="Times New Roman"/>
                <a:cs typeface="Times New Roman"/>
              </a:rPr>
              <a:t>	</a:t>
            </a:r>
            <a:r>
              <a:rPr dirty="0" baseline="-34722" sz="3600" spc="15">
                <a:latin typeface="Symbol"/>
                <a:cs typeface="Symbol"/>
              </a:rPr>
              <a:t></a:t>
            </a:r>
            <a:r>
              <a:rPr dirty="0" baseline="-34722" sz="3600">
                <a:latin typeface="Times New Roman"/>
                <a:cs typeface="Times New Roman"/>
              </a:rPr>
              <a:t>	</a:t>
            </a:r>
            <a:r>
              <a:rPr dirty="0" baseline="-34722" sz="3600" spc="-705">
                <a:latin typeface="Times New Roman"/>
                <a:cs typeface="Times New Roman"/>
              </a:rPr>
              <a:t> </a:t>
            </a:r>
            <a:r>
              <a:rPr dirty="0" sz="2400" spc="70" i="1">
                <a:latin typeface="Times New Roman"/>
                <a:cs typeface="Times New Roman"/>
              </a:rPr>
              <a:t>n</a:t>
            </a:r>
            <a:r>
              <a:rPr dirty="0" baseline="-23809" sz="2100" spc="-7">
                <a:latin typeface="Times New Roman"/>
                <a:cs typeface="Times New Roman"/>
              </a:rPr>
              <a:t>1  </a:t>
            </a:r>
            <a:r>
              <a:rPr dirty="0" sz="2400" spc="10" i="1">
                <a:latin typeface="Times New Roman"/>
                <a:cs typeface="Times New Roman"/>
              </a:rPr>
              <a:t>U</a:t>
            </a:r>
            <a:r>
              <a:rPr dirty="0" sz="2400" spc="-100" i="1">
                <a:latin typeface="Times New Roman"/>
                <a:cs typeface="Times New Roman"/>
              </a:rPr>
              <a:t> </a:t>
            </a:r>
            <a:r>
              <a:rPr dirty="0" baseline="-23809" sz="2100" spc="-7">
                <a:latin typeface="Times New Roman"/>
                <a:cs typeface="Times New Roman"/>
              </a:rPr>
              <a:t>2		</a:t>
            </a:r>
            <a:r>
              <a:rPr dirty="0" sz="2400" spc="5" i="1">
                <a:latin typeface="Times New Roman"/>
                <a:cs typeface="Times New Roman"/>
              </a:rPr>
              <a:t>n</a:t>
            </a:r>
            <a:r>
              <a:rPr dirty="0" sz="2400" spc="-470" i="1">
                <a:latin typeface="Times New Roman"/>
                <a:cs typeface="Times New Roman"/>
              </a:rPr>
              <a:t> </a:t>
            </a:r>
            <a:r>
              <a:rPr dirty="0" baseline="-23809" sz="2100" spc="-7">
                <a:latin typeface="Times New Roman"/>
                <a:cs typeface="Times New Roman"/>
              </a:rPr>
              <a:t>2</a:t>
            </a:r>
            <a:endParaRPr baseline="-23809" sz="2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7156" y="548627"/>
            <a:ext cx="556514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宋体"/>
                <a:cs typeface="宋体"/>
              </a:rPr>
              <a:t>4．理想变压器的电压与匝数的关</a:t>
            </a:r>
            <a:r>
              <a:rPr dirty="0" sz="2800" spc="-20" b="1">
                <a:latin typeface="宋体"/>
                <a:cs typeface="宋体"/>
              </a:rPr>
              <a:t>系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127" y="69773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6635" y="2806191"/>
            <a:ext cx="788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宋体"/>
                <a:cs typeface="宋体"/>
              </a:rPr>
              <a:t>所以</a:t>
            </a:r>
            <a:r>
              <a:rPr dirty="0" sz="2000" spc="5">
                <a:latin typeface="宋体"/>
                <a:cs typeface="宋体"/>
              </a:rPr>
              <a:t>：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37852" y="1642211"/>
            <a:ext cx="114744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59765" algn="l"/>
              </a:tabLst>
            </a:pPr>
            <a:r>
              <a:rPr dirty="0" sz="2000" spc="-5" i="1">
                <a:latin typeface="Times New Roman"/>
                <a:cs typeface="Times New Roman"/>
              </a:rPr>
              <a:t>P</a:t>
            </a:r>
            <a:r>
              <a:rPr dirty="0" baseline="-17094" sz="1950" spc="-7">
                <a:latin typeface="Times New Roman"/>
                <a:cs typeface="Times New Roman"/>
              </a:rPr>
              <a:t>2</a:t>
            </a:r>
            <a:r>
              <a:rPr dirty="0" sz="2000" spc="-5">
                <a:latin typeface="Times New Roman"/>
                <a:cs typeface="Times New Roman"/>
              </a:rPr>
              <a:t>=	</a:t>
            </a:r>
            <a:r>
              <a:rPr dirty="0" sz="2000" spc="-5" i="1">
                <a:latin typeface="Times New Roman"/>
                <a:cs typeface="Times New Roman"/>
              </a:rPr>
              <a:t>U</a:t>
            </a:r>
            <a:r>
              <a:rPr dirty="0" baseline="-17094" sz="1950" spc="-7">
                <a:latin typeface="Times New Roman"/>
                <a:cs typeface="Times New Roman"/>
              </a:rPr>
              <a:t>2</a:t>
            </a:r>
            <a:r>
              <a:rPr dirty="0" baseline="-17094" sz="1950" spc="-104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I</a:t>
            </a:r>
            <a:r>
              <a:rPr dirty="0" baseline="-17094" sz="1950" spc="-7">
                <a:latin typeface="Times New Roman"/>
                <a:cs typeface="Times New Roman"/>
              </a:rPr>
              <a:t>2</a:t>
            </a:r>
            <a:endParaRPr baseline="-17094" sz="19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9452" y="563370"/>
            <a:ext cx="5303520" cy="982344"/>
          </a:xfrm>
          <a:prstGeom prst="rect">
            <a:avLst/>
          </a:prstGeom>
        </p:spPr>
        <p:txBody>
          <a:bodyPr wrap="square" lIns="0" tIns="142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dirty="0" sz="2800" spc="-5" b="1">
                <a:latin typeface="Calibri"/>
                <a:cs typeface="Calibri"/>
              </a:rPr>
              <a:t>5.</a:t>
            </a:r>
            <a:r>
              <a:rPr dirty="0" sz="2800" b="1">
                <a:latin typeface="宋体"/>
                <a:cs typeface="宋体"/>
              </a:rPr>
              <a:t>理想变压器的电流与匝数的关</a:t>
            </a:r>
            <a:r>
              <a:rPr dirty="0" sz="2800" spc="-20" b="1">
                <a:latin typeface="宋体"/>
                <a:cs typeface="宋体"/>
              </a:rPr>
              <a:t>系</a:t>
            </a:r>
            <a:endParaRPr sz="2800">
              <a:latin typeface="宋体"/>
              <a:cs typeface="宋体"/>
            </a:endParaRPr>
          </a:p>
          <a:p>
            <a:pPr marL="179705">
              <a:lnSpc>
                <a:spcPct val="100000"/>
              </a:lnSpc>
              <a:spcBef>
                <a:spcPts val="745"/>
              </a:spcBef>
            </a:pPr>
            <a:r>
              <a:rPr dirty="0" sz="2000">
                <a:latin typeface="宋体"/>
                <a:cs typeface="宋体"/>
              </a:rPr>
              <a:t>由能量守恒有：</a:t>
            </a:r>
            <a:r>
              <a:rPr dirty="0" sz="2000" spc="969">
                <a:latin typeface="宋体"/>
                <a:cs typeface="宋体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P</a:t>
            </a:r>
            <a:r>
              <a:rPr dirty="0" baseline="-17094" sz="1950" spc="-7">
                <a:latin typeface="Times New Roman"/>
                <a:cs typeface="Times New Roman"/>
              </a:rPr>
              <a:t>1</a:t>
            </a:r>
            <a:r>
              <a:rPr dirty="0" sz="2000" spc="-5">
                <a:latin typeface="Times New Roman"/>
                <a:cs typeface="Times New Roman"/>
              </a:rPr>
              <a:t>= </a:t>
            </a:r>
            <a:r>
              <a:rPr dirty="0" sz="2000" spc="-5" i="1">
                <a:latin typeface="Times New Roman"/>
                <a:cs typeface="Times New Roman"/>
              </a:rPr>
              <a:t>P</a:t>
            </a:r>
            <a:r>
              <a:rPr dirty="0" baseline="-17094" sz="1950" spc="-7">
                <a:latin typeface="Times New Roman"/>
                <a:cs typeface="Times New Roman"/>
              </a:rPr>
              <a:t>2</a:t>
            </a:r>
            <a:endParaRPr baseline="-17094" sz="19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29649" y="2448064"/>
            <a:ext cx="8826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15">
                <a:latin typeface="Times New Roman"/>
                <a:cs typeface="Times New Roman"/>
              </a:rPr>
              <a:t>2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90978" y="2140724"/>
            <a:ext cx="33591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60350" algn="l"/>
              </a:tabLst>
            </a:pPr>
            <a:r>
              <a:rPr dirty="0" u="sng" sz="95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95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950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95587" y="2132399"/>
            <a:ext cx="337185" cy="45593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0"/>
              </a:spcBef>
              <a:tabLst>
                <a:tab pos="183515" algn="l"/>
              </a:tabLst>
            </a:pPr>
            <a:r>
              <a:rPr dirty="0" u="sng" sz="95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95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950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950" spc="-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sz="950">
              <a:latin typeface="Times New Roman"/>
              <a:cs typeface="Times New Roman"/>
            </a:endParaRPr>
          </a:p>
          <a:p>
            <a:pPr marL="32384">
              <a:lnSpc>
                <a:spcPct val="100000"/>
              </a:lnSpc>
              <a:spcBef>
                <a:spcPts val="160"/>
              </a:spcBef>
            </a:pPr>
            <a:r>
              <a:rPr dirty="0" sz="1650" spc="15" i="1">
                <a:latin typeface="Times New Roman"/>
                <a:cs typeface="Times New Roman"/>
              </a:rPr>
              <a:t>n</a:t>
            </a:r>
            <a:r>
              <a:rPr dirty="0" sz="1650" spc="-140" i="1">
                <a:latin typeface="Times New Roman"/>
                <a:cs typeface="Times New Roman"/>
              </a:rPr>
              <a:t> </a:t>
            </a:r>
            <a:r>
              <a:rPr dirty="0" baseline="-23391" sz="1425" spc="22">
                <a:latin typeface="Times New Roman"/>
                <a:cs typeface="Times New Roman"/>
              </a:rPr>
              <a:t>2</a:t>
            </a:r>
            <a:endParaRPr baseline="-23391" sz="1425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31312" y="1997875"/>
            <a:ext cx="132715" cy="2832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650" spc="15" i="1">
                <a:latin typeface="Times New Roman"/>
                <a:cs typeface="Times New Roman"/>
              </a:rPr>
              <a:t>n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83371" y="2305202"/>
            <a:ext cx="180975" cy="2832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650" spc="25" i="1">
                <a:latin typeface="Times New Roman"/>
                <a:cs typeface="Times New Roman"/>
              </a:rPr>
              <a:t>U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53880" y="2138172"/>
            <a:ext cx="143510" cy="2832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650" spc="20">
                <a:latin typeface="Symbol"/>
                <a:cs typeface="Symbol"/>
              </a:rPr>
              <a:t></a:t>
            </a:r>
            <a:endParaRPr sz="1650">
              <a:latin typeface="Symbol"/>
              <a:cs typeface="Symbo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762772" y="3166897"/>
            <a:ext cx="294005" cy="0"/>
          </a:xfrm>
          <a:custGeom>
            <a:avLst/>
            <a:gdLst/>
            <a:ahLst/>
            <a:cxnLst/>
            <a:rect l="l" t="t" r="r" b="b"/>
            <a:pathLst>
              <a:path w="294005" h="0">
                <a:moveTo>
                  <a:pt x="0" y="0"/>
                </a:moveTo>
                <a:lnTo>
                  <a:pt x="293789" y="0"/>
                </a:lnTo>
              </a:path>
            </a:pathLst>
          </a:custGeom>
          <a:ln w="1389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550464" y="3166897"/>
            <a:ext cx="292735" cy="0"/>
          </a:xfrm>
          <a:custGeom>
            <a:avLst/>
            <a:gdLst/>
            <a:ahLst/>
            <a:cxnLst/>
            <a:rect l="l" t="t" r="r" b="b"/>
            <a:pathLst>
              <a:path w="292735" h="0">
                <a:moveTo>
                  <a:pt x="0" y="0"/>
                </a:moveTo>
                <a:lnTo>
                  <a:pt x="292188" y="0"/>
                </a:lnTo>
              </a:path>
            </a:pathLst>
          </a:custGeom>
          <a:ln w="1389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918182" y="3349078"/>
            <a:ext cx="882650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96290" algn="l"/>
              </a:tabLst>
            </a:pPr>
            <a:r>
              <a:rPr dirty="0" sz="1150">
                <a:latin typeface="宋体"/>
                <a:cs typeface="宋体"/>
              </a:rPr>
              <a:t>2</a:t>
            </a:r>
            <a:r>
              <a:rPr dirty="0" sz="1150">
                <a:latin typeface="宋体"/>
                <a:cs typeface="宋体"/>
              </a:rPr>
              <a:t>	</a:t>
            </a:r>
            <a:r>
              <a:rPr dirty="0" sz="1150">
                <a:latin typeface="宋体"/>
                <a:cs typeface="宋体"/>
              </a:rPr>
              <a:t>1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36813" y="2781503"/>
            <a:ext cx="278130" cy="401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47625">
              <a:lnSpc>
                <a:spcPts val="2050"/>
              </a:lnSpc>
              <a:spcBef>
                <a:spcPts val="100"/>
              </a:spcBef>
            </a:pPr>
            <a:r>
              <a:rPr dirty="0" sz="2100" spc="-55" i="1">
                <a:latin typeface="宋体"/>
                <a:cs typeface="宋体"/>
              </a:rPr>
              <a:t>I</a:t>
            </a:r>
            <a:endParaRPr sz="2100">
              <a:latin typeface="宋体"/>
              <a:cs typeface="宋体"/>
            </a:endParaRPr>
          </a:p>
          <a:p>
            <a:pPr algn="r" marR="5080">
              <a:lnSpc>
                <a:spcPts val="910"/>
              </a:lnSpc>
            </a:pPr>
            <a:r>
              <a:rPr dirty="0" sz="1150">
                <a:latin typeface="宋体"/>
                <a:cs typeface="宋体"/>
              </a:rPr>
              <a:t>1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534920" y="2781503"/>
            <a:ext cx="268605" cy="401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37465">
              <a:lnSpc>
                <a:spcPts val="2050"/>
              </a:lnSpc>
              <a:spcBef>
                <a:spcPts val="100"/>
              </a:spcBef>
            </a:pPr>
            <a:r>
              <a:rPr dirty="0" sz="2100" spc="-55" i="1">
                <a:latin typeface="宋体"/>
                <a:cs typeface="宋体"/>
              </a:rPr>
              <a:t>n</a:t>
            </a:r>
            <a:endParaRPr sz="2100">
              <a:latin typeface="宋体"/>
              <a:cs typeface="宋体"/>
            </a:endParaRPr>
          </a:p>
          <a:p>
            <a:pPr algn="r" marR="5080">
              <a:lnSpc>
                <a:spcPts val="910"/>
              </a:lnSpc>
            </a:pPr>
            <a:r>
              <a:rPr dirty="0" sz="1150">
                <a:latin typeface="宋体"/>
                <a:cs typeface="宋体"/>
              </a:rPr>
              <a:t>2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28000" y="3148812"/>
            <a:ext cx="235585" cy="34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55" i="1">
                <a:latin typeface="宋体"/>
                <a:cs typeface="宋体"/>
              </a:rPr>
              <a:t>I</a:t>
            </a:r>
            <a:endParaRPr sz="2100">
              <a:latin typeface="宋体"/>
              <a:cs typeface="宋体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543721" y="3148812"/>
            <a:ext cx="235585" cy="34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55" i="1">
                <a:latin typeface="宋体"/>
                <a:cs typeface="宋体"/>
              </a:rPr>
              <a:t>n</a:t>
            </a:r>
            <a:endParaRPr sz="2100">
              <a:latin typeface="宋体"/>
              <a:cs typeface="宋体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207958" y="2964802"/>
            <a:ext cx="16510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>
                <a:latin typeface="Symbol"/>
                <a:cs typeface="Symbol"/>
              </a:rPr>
              <a:t>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74141" y="3349886"/>
            <a:ext cx="6550659" cy="1537970"/>
          </a:xfrm>
          <a:prstGeom prst="rect">
            <a:avLst/>
          </a:prstGeom>
        </p:spPr>
        <p:txBody>
          <a:bodyPr wrap="square" lIns="0" tIns="182245" rIns="0" bIns="0" rtlCol="0" vert="horz">
            <a:spAutoFit/>
          </a:bodyPr>
          <a:lstStyle/>
          <a:p>
            <a:pPr marL="156210">
              <a:lnSpc>
                <a:spcPct val="100000"/>
              </a:lnSpc>
              <a:spcBef>
                <a:spcPts val="1435"/>
              </a:spcBef>
            </a:pPr>
            <a:r>
              <a:rPr dirty="0" sz="2000" b="1">
                <a:latin typeface="宋体"/>
                <a:cs typeface="宋体"/>
              </a:rPr>
              <a:t>即：原、副线圈中的电流之比跟它们的线圈匝数成反比</a:t>
            </a:r>
            <a:r>
              <a:rPr dirty="0" sz="2000" spc="-5" b="1"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dirty="0" sz="1800" b="1">
                <a:solidFill>
                  <a:srgbClr val="FF0000"/>
                </a:solidFill>
                <a:latin typeface="宋体"/>
                <a:cs typeface="宋体"/>
              </a:rPr>
              <a:t>思考</a:t>
            </a:r>
            <a:r>
              <a:rPr dirty="0" sz="1600" b="1">
                <a:solidFill>
                  <a:srgbClr val="FF0000"/>
                </a:solidFill>
                <a:latin typeface="宋体"/>
                <a:cs typeface="宋体"/>
              </a:rPr>
              <a:t>：</a:t>
            </a:r>
            <a:r>
              <a:rPr dirty="0" sz="1600">
                <a:latin typeface="宋体"/>
                <a:cs typeface="宋体"/>
              </a:rPr>
              <a:t>上式成立条件</a:t>
            </a:r>
            <a:r>
              <a:rPr dirty="0" sz="1600" spc="-5">
                <a:latin typeface="宋体"/>
                <a:cs typeface="宋体"/>
              </a:rPr>
              <a:t>？</a:t>
            </a:r>
            <a:endParaRPr sz="1600">
              <a:latin typeface="宋体"/>
              <a:cs typeface="宋体"/>
            </a:endParaRPr>
          </a:p>
          <a:p>
            <a:pPr marL="12700" marR="637540">
              <a:lnSpc>
                <a:spcPct val="125000"/>
              </a:lnSpc>
              <a:spcBef>
                <a:spcPts val="20"/>
              </a:spcBef>
            </a:pPr>
            <a:r>
              <a:rPr dirty="0" sz="1600">
                <a:solidFill>
                  <a:srgbClr val="FF0000"/>
                </a:solidFill>
                <a:latin typeface="宋体"/>
                <a:cs typeface="宋体"/>
              </a:rPr>
              <a:t>（理想变压器，原线圈与交流电源相接，只有单个副线圈工作</a:t>
            </a:r>
            <a:r>
              <a:rPr dirty="0" sz="1600" spc="-5">
                <a:solidFill>
                  <a:srgbClr val="FF0000"/>
                </a:solidFill>
                <a:latin typeface="宋体"/>
                <a:cs typeface="宋体"/>
              </a:rPr>
              <a:t>） </a:t>
            </a:r>
            <a:r>
              <a:rPr dirty="0" sz="1600" spc="-5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课后思考多组副线圈时，原、副线圈中电压、电流与匝数的关系</a:t>
            </a:r>
            <a:r>
              <a:rPr dirty="0" sz="1600" spc="-5">
                <a:latin typeface="宋体"/>
                <a:cs typeface="宋体"/>
              </a:rPr>
              <a:t>？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19225" y="1551571"/>
            <a:ext cx="1845945" cy="920750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marL="278130">
              <a:lnSpc>
                <a:spcPct val="100000"/>
              </a:lnSpc>
              <a:spcBef>
                <a:spcPts val="705"/>
              </a:spcBef>
              <a:tabLst>
                <a:tab pos="1358900" algn="l"/>
              </a:tabLst>
            </a:pPr>
            <a:r>
              <a:rPr dirty="0" baseline="-2777" sz="3000">
                <a:latin typeface="宋体"/>
                <a:cs typeface="宋体"/>
              </a:rPr>
              <a:t>即</a:t>
            </a:r>
            <a:r>
              <a:rPr dirty="0" baseline="-2777" sz="3000" spc="-15">
                <a:latin typeface="宋体"/>
                <a:cs typeface="宋体"/>
              </a:rPr>
              <a:t>：</a:t>
            </a:r>
            <a:r>
              <a:rPr dirty="0" sz="2000" spc="-10" i="1">
                <a:latin typeface="Times New Roman"/>
                <a:cs typeface="Times New Roman"/>
              </a:rPr>
              <a:t>P</a:t>
            </a:r>
            <a:r>
              <a:rPr dirty="0" baseline="-17094" sz="1950" spc="-15">
                <a:latin typeface="Times New Roman"/>
                <a:cs typeface="Times New Roman"/>
              </a:rPr>
              <a:t>1</a:t>
            </a:r>
            <a:r>
              <a:rPr dirty="0" sz="2000" spc="-10">
                <a:latin typeface="Times New Roman"/>
                <a:cs typeface="Times New Roman"/>
              </a:rPr>
              <a:t>=	</a:t>
            </a:r>
            <a:r>
              <a:rPr dirty="0" sz="2000" spc="-5" i="1">
                <a:latin typeface="Times New Roman"/>
                <a:cs typeface="Times New Roman"/>
              </a:rPr>
              <a:t>U</a:t>
            </a:r>
            <a:r>
              <a:rPr dirty="0" baseline="-17094" sz="1950" spc="-7">
                <a:latin typeface="Times New Roman"/>
                <a:cs typeface="Times New Roman"/>
              </a:rPr>
              <a:t>1</a:t>
            </a:r>
            <a:r>
              <a:rPr dirty="0" baseline="-17094" sz="1950" spc="-104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I</a:t>
            </a:r>
            <a:r>
              <a:rPr dirty="0" baseline="-17094" sz="1950" spc="-7">
                <a:latin typeface="Times New Roman"/>
                <a:cs typeface="Times New Roman"/>
              </a:rPr>
              <a:t>1</a:t>
            </a:r>
            <a:endParaRPr baseline="-17094" sz="1950">
              <a:latin typeface="Times New Roman"/>
              <a:cs typeface="Times New Roman"/>
            </a:endParaRPr>
          </a:p>
          <a:p>
            <a:pPr algn="r" marR="403225">
              <a:lnSpc>
                <a:spcPts val="1535"/>
              </a:lnSpc>
              <a:spcBef>
                <a:spcPts val="545"/>
              </a:spcBef>
            </a:pPr>
            <a:r>
              <a:rPr dirty="0" sz="1650" spc="25" i="1">
                <a:latin typeface="Times New Roman"/>
                <a:cs typeface="Times New Roman"/>
              </a:rPr>
              <a:t>U</a:t>
            </a: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ts val="1955"/>
              </a:lnSpc>
            </a:pPr>
            <a:r>
              <a:rPr dirty="0" sz="2000">
                <a:latin typeface="宋体"/>
                <a:cs typeface="宋体"/>
              </a:rPr>
              <a:t>又因为</a:t>
            </a:r>
            <a:r>
              <a:rPr dirty="0" sz="2000" spc="5">
                <a:latin typeface="宋体"/>
                <a:cs typeface="宋体"/>
              </a:rPr>
              <a:t>：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388533" y="2517787"/>
            <a:ext cx="280035" cy="94106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华文新魏"/>
                <a:cs typeface="华文新魏"/>
              </a:rPr>
              <a:t>原 线 圈</a:t>
            </a:r>
            <a:endParaRPr sz="2000">
              <a:latin typeface="华文新魏"/>
              <a:cs typeface="华文新魏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382433" y="2478887"/>
            <a:ext cx="280035" cy="94106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华文新魏"/>
                <a:cs typeface="华文新魏"/>
              </a:rPr>
              <a:t>副 线 圈</a:t>
            </a:r>
            <a:endParaRPr sz="2000">
              <a:latin typeface="华文新魏"/>
              <a:cs typeface="华文新魏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250546" y="2818523"/>
            <a:ext cx="6356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华文新魏"/>
                <a:cs typeface="华文新魏"/>
              </a:rPr>
              <a:t>铁</a:t>
            </a:r>
            <a:r>
              <a:rPr dirty="0" sz="2400" spc="-5" b="1">
                <a:latin typeface="华文新魏"/>
                <a:cs typeface="华文新魏"/>
              </a:rPr>
              <a:t>芯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044681" y="1389633"/>
            <a:ext cx="2744787" cy="13338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4990071" y="1932432"/>
            <a:ext cx="29146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" b="1" i="1">
                <a:solidFill>
                  <a:srgbClr val="0033CC"/>
                </a:solidFill>
                <a:latin typeface="Times New Roman"/>
                <a:cs typeface="Times New Roman"/>
              </a:rPr>
              <a:t>U</a:t>
            </a:r>
            <a:r>
              <a:rPr dirty="0" baseline="-17094" sz="1950" spc="-7" b="1" i="1">
                <a:solidFill>
                  <a:srgbClr val="0033CC"/>
                </a:solidFill>
                <a:latin typeface="Times New Roman"/>
                <a:cs typeface="Times New Roman"/>
              </a:rPr>
              <a:t>1</a:t>
            </a:r>
            <a:endParaRPr baseline="-17094" sz="19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226858" y="1877517"/>
            <a:ext cx="29146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" b="1" i="1">
                <a:solidFill>
                  <a:srgbClr val="0033CC"/>
                </a:solidFill>
                <a:latin typeface="Times New Roman"/>
                <a:cs typeface="Times New Roman"/>
              </a:rPr>
              <a:t>U</a:t>
            </a:r>
            <a:r>
              <a:rPr dirty="0" baseline="-17094" sz="1950" spc="-7" b="1" i="1">
                <a:solidFill>
                  <a:srgbClr val="0033CC"/>
                </a:solidFill>
                <a:latin typeface="Times New Roman"/>
                <a:cs typeface="Times New Roman"/>
              </a:rPr>
              <a:t>2</a:t>
            </a:r>
            <a:endParaRPr baseline="-17094" sz="19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064808" y="1918703"/>
            <a:ext cx="24892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 b="1" i="1">
                <a:solidFill>
                  <a:srgbClr val="0033CC"/>
                </a:solidFill>
                <a:latin typeface="Times New Roman"/>
                <a:cs typeface="Times New Roman"/>
              </a:rPr>
              <a:t>n</a:t>
            </a:r>
            <a:r>
              <a:rPr dirty="0" baseline="-17094" sz="1950" spc="-7" b="1" i="1">
                <a:solidFill>
                  <a:srgbClr val="0033CC"/>
                </a:solidFill>
                <a:latin typeface="Times New Roman"/>
                <a:cs typeface="Times New Roman"/>
              </a:rPr>
              <a:t>1</a:t>
            </a:r>
            <a:endParaRPr baseline="-17094" sz="19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545821" y="1914131"/>
            <a:ext cx="24892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 b="1" i="1">
                <a:solidFill>
                  <a:srgbClr val="0033CC"/>
                </a:solidFill>
                <a:latin typeface="Times New Roman"/>
                <a:cs typeface="Times New Roman"/>
              </a:rPr>
              <a:t>n</a:t>
            </a:r>
            <a:r>
              <a:rPr dirty="0" baseline="-17094" sz="1950" spc="-7" b="1" i="1">
                <a:solidFill>
                  <a:srgbClr val="0033CC"/>
                </a:solidFill>
                <a:latin typeface="Times New Roman"/>
                <a:cs typeface="Times New Roman"/>
              </a:rPr>
              <a:t>2</a:t>
            </a:r>
            <a:endParaRPr baseline="-17094" sz="19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048500" y="1495044"/>
            <a:ext cx="352044" cy="2072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5582704" y="810069"/>
            <a:ext cx="1940166" cy="167368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288076" y="2480500"/>
            <a:ext cx="2802890" cy="0"/>
          </a:xfrm>
          <a:custGeom>
            <a:avLst/>
            <a:gdLst/>
            <a:ahLst/>
            <a:cxnLst/>
            <a:rect l="l" t="t" r="r" b="b"/>
            <a:pathLst>
              <a:path w="2802890" h="0">
                <a:moveTo>
                  <a:pt x="0" y="0"/>
                </a:moveTo>
                <a:lnTo>
                  <a:pt x="2802585" y="0"/>
                </a:lnTo>
              </a:path>
            </a:pathLst>
          </a:custGeom>
          <a:ln w="28575">
            <a:solidFill>
              <a:srgbClr val="4453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601868" y="1221460"/>
            <a:ext cx="1549042" cy="7322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202036" y="1610004"/>
            <a:ext cx="394955" cy="35242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890586" y="1911667"/>
            <a:ext cx="2654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solidFill>
                  <a:srgbClr val="44536A"/>
                </a:solidFill>
                <a:latin typeface="Times New Roman"/>
                <a:cs typeface="Times New Roman"/>
              </a:rPr>
              <a:t>U</a:t>
            </a:r>
            <a:r>
              <a:rPr dirty="0" baseline="-16908" sz="1725" spc="15" b="1" i="1">
                <a:solidFill>
                  <a:srgbClr val="44536A"/>
                </a:solidFill>
                <a:latin typeface="Times New Roman"/>
                <a:cs typeface="Times New Roman"/>
              </a:rPr>
              <a:t>2</a:t>
            </a:r>
            <a:endParaRPr baseline="-16908" sz="1725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958696" y="2182444"/>
            <a:ext cx="153416" cy="34039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152669" y="1906244"/>
            <a:ext cx="2654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solidFill>
                  <a:srgbClr val="44536A"/>
                </a:solidFill>
                <a:latin typeface="Times New Roman"/>
                <a:cs typeface="Times New Roman"/>
              </a:rPr>
              <a:t>U</a:t>
            </a:r>
            <a:r>
              <a:rPr dirty="0" baseline="-16908" sz="1725" spc="15" b="1" i="1">
                <a:solidFill>
                  <a:srgbClr val="44536A"/>
                </a:solidFill>
                <a:latin typeface="Times New Roman"/>
                <a:cs typeface="Times New Roman"/>
              </a:rPr>
              <a:t>1</a:t>
            </a:r>
            <a:endParaRPr baseline="-16908" sz="1725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229337" y="2159685"/>
            <a:ext cx="108789" cy="36315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818111" y="1921052"/>
            <a:ext cx="19558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 i="1">
                <a:solidFill>
                  <a:srgbClr val="44536A"/>
                </a:solidFill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41262" y="2083625"/>
            <a:ext cx="19558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 i="1">
                <a:solidFill>
                  <a:srgbClr val="44536A"/>
                </a:solidFill>
                <a:latin typeface="Times New Roman"/>
                <a:cs typeface="Times New Roman"/>
              </a:rPr>
              <a:t>B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82256" y="1331455"/>
            <a:ext cx="18097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 i="1">
                <a:solidFill>
                  <a:srgbClr val="44536A"/>
                </a:solidFill>
                <a:latin typeface="Times New Roman"/>
                <a:cs typeface="Times New Roman"/>
              </a:rPr>
              <a:t>P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284163" y="2851619"/>
            <a:ext cx="1766887" cy="8500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6186690" y="3288182"/>
            <a:ext cx="211454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" b="1" i="1">
                <a:solidFill>
                  <a:srgbClr val="44536A"/>
                </a:solidFill>
                <a:latin typeface="Times New Roman"/>
                <a:cs typeface="Times New Roman"/>
              </a:rPr>
              <a:t>U</a:t>
            </a:r>
            <a:r>
              <a:rPr dirty="0" baseline="-18518" sz="1350" spc="7" b="1" i="1">
                <a:solidFill>
                  <a:srgbClr val="44536A"/>
                </a:solidFill>
                <a:latin typeface="Times New Roman"/>
                <a:cs typeface="Times New Roman"/>
              </a:rPr>
              <a:t>1</a:t>
            </a:r>
            <a:endParaRPr baseline="-18518" sz="13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893253" y="3122041"/>
            <a:ext cx="23876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 i="1">
                <a:solidFill>
                  <a:srgbClr val="44536A"/>
                </a:solidFill>
                <a:latin typeface="Times New Roman"/>
                <a:cs typeface="Times New Roman"/>
              </a:rPr>
              <a:t>U</a:t>
            </a:r>
            <a:r>
              <a:rPr dirty="0" baseline="-15873" sz="1575" spc="-7" b="1" i="1">
                <a:solidFill>
                  <a:srgbClr val="44536A"/>
                </a:solidFill>
                <a:latin typeface="Times New Roman"/>
                <a:cs typeface="Times New Roman"/>
              </a:rPr>
              <a:t>2</a:t>
            </a:r>
            <a:endParaRPr baseline="-15873" sz="1575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758190" y="3270872"/>
            <a:ext cx="205104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 i="1">
                <a:solidFill>
                  <a:srgbClr val="44536A"/>
                </a:solidFill>
                <a:latin typeface="Times New Roman"/>
                <a:cs typeface="Times New Roman"/>
              </a:rPr>
              <a:t>n</a:t>
            </a:r>
            <a:r>
              <a:rPr dirty="0" baseline="-15873" sz="1575" spc="-7" b="1" i="1">
                <a:solidFill>
                  <a:srgbClr val="44536A"/>
                </a:solidFill>
                <a:latin typeface="Times New Roman"/>
                <a:cs typeface="Times New Roman"/>
              </a:rPr>
              <a:t>1</a:t>
            </a:r>
            <a:endParaRPr baseline="-15873" sz="1575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358265" y="3125622"/>
            <a:ext cx="205104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 i="1">
                <a:solidFill>
                  <a:srgbClr val="44536A"/>
                </a:solidFill>
                <a:latin typeface="Times New Roman"/>
                <a:cs typeface="Times New Roman"/>
              </a:rPr>
              <a:t>n</a:t>
            </a:r>
            <a:r>
              <a:rPr dirty="0" baseline="-15873" sz="1575" spc="-7" b="1" i="1">
                <a:solidFill>
                  <a:srgbClr val="44536A"/>
                </a:solidFill>
                <a:latin typeface="Times New Roman"/>
                <a:cs typeface="Times New Roman"/>
              </a:rPr>
              <a:t>2</a:t>
            </a:r>
            <a:endParaRPr baseline="-15873" sz="1575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568795" y="4068813"/>
            <a:ext cx="155638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0000"/>
                </a:solidFill>
                <a:latin typeface="宋体"/>
                <a:cs typeface="宋体"/>
              </a:rPr>
              <a:t>作升压变压</a:t>
            </a:r>
            <a:r>
              <a:rPr dirty="0" sz="2000" spc="-5" b="1">
                <a:solidFill>
                  <a:srgbClr val="FF0000"/>
                </a:solidFill>
                <a:latin typeface="宋体"/>
                <a:cs typeface="宋体"/>
              </a:rPr>
              <a:t>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447453" y="4070337"/>
            <a:ext cx="155638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0000"/>
                </a:solidFill>
                <a:latin typeface="宋体"/>
                <a:cs typeface="宋体"/>
              </a:rPr>
              <a:t>作降压变压</a:t>
            </a:r>
            <a:r>
              <a:rPr dirty="0" sz="2000" spc="-5" b="1">
                <a:solidFill>
                  <a:srgbClr val="FF0000"/>
                </a:solidFill>
                <a:latin typeface="宋体"/>
                <a:cs typeface="宋体"/>
              </a:rPr>
              <a:t>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40320" y="4176293"/>
            <a:ext cx="130111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宋体"/>
                <a:cs typeface="宋体"/>
              </a:rPr>
              <a:t>调压变压</a:t>
            </a:r>
            <a:r>
              <a:rPr dirty="0" sz="2000" spc="-5" b="1">
                <a:latin typeface="宋体"/>
                <a:cs typeface="宋体"/>
              </a:rPr>
              <a:t>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75716" y="455289"/>
            <a:ext cx="4494530" cy="1744345"/>
          </a:xfrm>
          <a:prstGeom prst="rect">
            <a:avLst/>
          </a:prstGeom>
        </p:spPr>
        <p:txBody>
          <a:bodyPr wrap="square" lIns="0" tIns="142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dirty="0" sz="2800" b="1">
                <a:latin typeface="宋体"/>
                <a:cs typeface="宋体"/>
              </a:rPr>
              <a:t>6.</a:t>
            </a:r>
            <a:r>
              <a:rPr dirty="0" sz="2800" spc="-15" b="1">
                <a:latin typeface="宋体"/>
                <a:cs typeface="宋体"/>
              </a:rPr>
              <a:t> </a:t>
            </a:r>
            <a:r>
              <a:rPr dirty="0" sz="2800" b="1">
                <a:latin typeface="宋体"/>
                <a:cs typeface="宋体"/>
              </a:rPr>
              <a:t>自藕变压器和互感</a:t>
            </a:r>
            <a:r>
              <a:rPr dirty="0" sz="2800" spc="-20" b="1">
                <a:latin typeface="宋体"/>
                <a:cs typeface="宋体"/>
              </a:rPr>
              <a:t>器</a:t>
            </a:r>
            <a:endParaRPr sz="2800">
              <a:latin typeface="宋体"/>
              <a:cs typeface="宋体"/>
            </a:endParaRPr>
          </a:p>
          <a:p>
            <a:pPr marL="205104">
              <a:lnSpc>
                <a:spcPct val="100000"/>
              </a:lnSpc>
              <a:spcBef>
                <a:spcPts val="745"/>
              </a:spcBef>
            </a:pPr>
            <a:r>
              <a:rPr dirty="0" sz="2000">
                <a:latin typeface="宋体"/>
                <a:cs typeface="宋体"/>
              </a:rPr>
              <a:t>（１）自耦变压器 </a:t>
            </a:r>
            <a:endParaRPr sz="2000">
              <a:latin typeface="宋体"/>
              <a:cs typeface="宋体"/>
            </a:endParaRPr>
          </a:p>
          <a:p>
            <a:pPr marL="433705" marR="5080" indent="-228600">
              <a:lnSpc>
                <a:spcPct val="125000"/>
              </a:lnSpc>
            </a:pPr>
            <a:r>
              <a:rPr dirty="0" sz="2000" spc="110">
                <a:latin typeface="宋体"/>
                <a:cs typeface="宋体"/>
              </a:rPr>
              <a:t>特点：铁芯上只有一个线圈</a:t>
            </a:r>
            <a:r>
              <a:rPr dirty="0" sz="2000" spc="114">
                <a:latin typeface="宋体"/>
                <a:cs typeface="宋体"/>
              </a:rPr>
              <a:t>，其中</a:t>
            </a:r>
            <a:r>
              <a:rPr dirty="0" sz="2000">
                <a:latin typeface="宋体"/>
                <a:cs typeface="宋体"/>
              </a:rPr>
              <a:t>有 </a:t>
            </a:r>
            <a:r>
              <a:rPr dirty="0" sz="2000">
                <a:latin typeface="宋体"/>
                <a:cs typeface="宋体"/>
              </a:rPr>
              <a:t>一部分线圈为原、副线圈共用</a:t>
            </a:r>
            <a:r>
              <a:rPr dirty="0" sz="2000" spc="5"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27532" y="2366772"/>
            <a:ext cx="1743456" cy="170992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3995420" y="3155378"/>
            <a:ext cx="205104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 i="1">
                <a:solidFill>
                  <a:srgbClr val="44536A"/>
                </a:solidFill>
                <a:latin typeface="Times New Roman"/>
                <a:cs typeface="Times New Roman"/>
              </a:rPr>
              <a:t>n</a:t>
            </a:r>
            <a:r>
              <a:rPr dirty="0" baseline="-15873" sz="1575" spc="-7" b="1" i="1">
                <a:solidFill>
                  <a:srgbClr val="44536A"/>
                </a:solidFill>
                <a:latin typeface="Times New Roman"/>
                <a:cs typeface="Times New Roman"/>
              </a:rPr>
              <a:t>1</a:t>
            </a:r>
            <a:endParaRPr baseline="-15873" sz="1575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430904" y="2892094"/>
            <a:ext cx="1833562" cy="86081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3368357" y="3173234"/>
            <a:ext cx="23876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 i="1">
                <a:solidFill>
                  <a:srgbClr val="44536A"/>
                </a:solidFill>
                <a:latin typeface="Times New Roman"/>
                <a:cs typeface="Times New Roman"/>
              </a:rPr>
              <a:t>U</a:t>
            </a:r>
            <a:r>
              <a:rPr dirty="0" baseline="-15873" sz="1575" spc="-7" b="1" i="1">
                <a:solidFill>
                  <a:srgbClr val="44536A"/>
                </a:solidFill>
                <a:latin typeface="Times New Roman"/>
                <a:cs typeface="Times New Roman"/>
              </a:rPr>
              <a:t>1</a:t>
            </a:r>
            <a:endParaRPr baseline="-15873" sz="1575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574857" y="3315246"/>
            <a:ext cx="69278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93395" algn="l"/>
              </a:tabLst>
            </a:pPr>
            <a:r>
              <a:rPr dirty="0" baseline="1736" sz="2400" spc="-7" b="1" i="1">
                <a:solidFill>
                  <a:srgbClr val="44536A"/>
                </a:solidFill>
                <a:latin typeface="Times New Roman"/>
                <a:cs typeface="Times New Roman"/>
              </a:rPr>
              <a:t>n</a:t>
            </a:r>
            <a:r>
              <a:rPr dirty="0" baseline="-13227" sz="1575" spc="-7" b="1" i="1">
                <a:solidFill>
                  <a:srgbClr val="44536A"/>
                </a:solidFill>
                <a:latin typeface="Times New Roman"/>
                <a:cs typeface="Times New Roman"/>
              </a:rPr>
              <a:t>2</a:t>
            </a:r>
            <a:r>
              <a:rPr dirty="0" baseline="-13227" sz="1575" spc="-7" b="1" i="1">
                <a:solidFill>
                  <a:srgbClr val="44536A"/>
                </a:solidFill>
                <a:latin typeface="Times New Roman"/>
                <a:cs typeface="Times New Roman"/>
              </a:rPr>
              <a:t>	</a:t>
            </a:r>
            <a:r>
              <a:rPr dirty="0" sz="1400" spc="-5" b="1" i="1">
                <a:solidFill>
                  <a:srgbClr val="44536A"/>
                </a:solidFill>
                <a:latin typeface="Times New Roman"/>
                <a:cs typeface="Times New Roman"/>
              </a:rPr>
              <a:t>U</a:t>
            </a:r>
            <a:r>
              <a:rPr dirty="0" baseline="-18518" sz="1350" spc="7" b="1" i="1">
                <a:solidFill>
                  <a:srgbClr val="44536A"/>
                </a:solidFill>
                <a:latin typeface="Times New Roman"/>
                <a:cs typeface="Times New Roman"/>
              </a:rPr>
              <a:t>2</a:t>
            </a:r>
            <a:endParaRPr baseline="-18518" sz="1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75239" y="4761801"/>
            <a:ext cx="1296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宋体"/>
                <a:cs typeface="宋体"/>
              </a:rPr>
              <a:t>钳形电流</a:t>
            </a:r>
            <a:r>
              <a:rPr dirty="0" sz="2000" spc="5">
                <a:latin typeface="宋体"/>
                <a:cs typeface="宋体"/>
              </a:rPr>
              <a:t>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739" y="0"/>
            <a:ext cx="2248535" cy="1283335"/>
          </a:xfrm>
          <a:prstGeom prst="rect"/>
        </p:spPr>
        <p:txBody>
          <a:bodyPr wrap="square" lIns="0" tIns="142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  <a:p>
            <a:pPr marL="269875">
              <a:lnSpc>
                <a:spcPct val="100000"/>
              </a:lnSpc>
              <a:spcBef>
                <a:spcPts val="720"/>
              </a:spcBef>
            </a:pPr>
            <a:r>
              <a:rPr dirty="0" sz="2800">
                <a:solidFill>
                  <a:srgbClr val="000000"/>
                </a:solidFill>
                <a:latin typeface="宋体"/>
                <a:cs typeface="宋体"/>
              </a:rPr>
              <a:t>（</a:t>
            </a:r>
            <a:r>
              <a:rPr dirty="0" sz="2800" spc="-5">
                <a:solidFill>
                  <a:srgbClr val="000000"/>
                </a:solidFill>
                <a:latin typeface="Calibri"/>
                <a:cs typeface="Calibri"/>
              </a:rPr>
              <a:t>2</a:t>
            </a:r>
            <a:r>
              <a:rPr dirty="0" sz="2800">
                <a:solidFill>
                  <a:srgbClr val="000000"/>
                </a:solidFill>
                <a:latin typeface="宋体"/>
                <a:cs typeface="宋体"/>
              </a:rPr>
              <a:t>）互感</a:t>
            </a:r>
            <a:r>
              <a:rPr dirty="0" sz="2800" spc="-20">
                <a:solidFill>
                  <a:srgbClr val="000000"/>
                </a:solidFill>
                <a:latin typeface="宋体"/>
                <a:cs typeface="宋体"/>
              </a:rPr>
              <a:t>器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05483" y="3361944"/>
            <a:ext cx="1876043" cy="12146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795771" y="3387852"/>
            <a:ext cx="1476755" cy="11856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534784" y="653923"/>
            <a:ext cx="1152525" cy="471805"/>
          </a:xfrm>
          <a:custGeom>
            <a:avLst/>
            <a:gdLst/>
            <a:ahLst/>
            <a:cxnLst/>
            <a:rect l="l" t="t" r="r" b="b"/>
            <a:pathLst>
              <a:path w="1152525" h="471805">
                <a:moveTo>
                  <a:pt x="1152525" y="471195"/>
                </a:moveTo>
                <a:lnTo>
                  <a:pt x="0" y="471195"/>
                </a:lnTo>
                <a:lnTo>
                  <a:pt x="0" y="0"/>
                </a:lnTo>
                <a:lnTo>
                  <a:pt x="1152525" y="0"/>
                </a:lnTo>
                <a:lnTo>
                  <a:pt x="1152525" y="4762"/>
                </a:lnTo>
                <a:lnTo>
                  <a:pt x="9525" y="4762"/>
                </a:lnTo>
                <a:lnTo>
                  <a:pt x="4762" y="9524"/>
                </a:lnTo>
                <a:lnTo>
                  <a:pt x="9525" y="9524"/>
                </a:lnTo>
                <a:lnTo>
                  <a:pt x="9525" y="461670"/>
                </a:lnTo>
                <a:lnTo>
                  <a:pt x="4762" y="461670"/>
                </a:lnTo>
                <a:lnTo>
                  <a:pt x="9525" y="466432"/>
                </a:lnTo>
                <a:lnTo>
                  <a:pt x="1152525" y="466432"/>
                </a:lnTo>
                <a:lnTo>
                  <a:pt x="1152525" y="471195"/>
                </a:lnTo>
                <a:close/>
              </a:path>
              <a:path w="1152525" h="471805">
                <a:moveTo>
                  <a:pt x="9525" y="9524"/>
                </a:moveTo>
                <a:lnTo>
                  <a:pt x="4762" y="9524"/>
                </a:lnTo>
                <a:lnTo>
                  <a:pt x="9525" y="4762"/>
                </a:lnTo>
                <a:lnTo>
                  <a:pt x="9525" y="9524"/>
                </a:lnTo>
                <a:close/>
              </a:path>
              <a:path w="1152525" h="471805">
                <a:moveTo>
                  <a:pt x="1143000" y="9524"/>
                </a:moveTo>
                <a:lnTo>
                  <a:pt x="9525" y="9524"/>
                </a:lnTo>
                <a:lnTo>
                  <a:pt x="9525" y="4762"/>
                </a:lnTo>
                <a:lnTo>
                  <a:pt x="1143000" y="4762"/>
                </a:lnTo>
                <a:lnTo>
                  <a:pt x="1143000" y="9524"/>
                </a:lnTo>
                <a:close/>
              </a:path>
              <a:path w="1152525" h="471805">
                <a:moveTo>
                  <a:pt x="1143000" y="466432"/>
                </a:moveTo>
                <a:lnTo>
                  <a:pt x="1143000" y="4762"/>
                </a:lnTo>
                <a:lnTo>
                  <a:pt x="1147762" y="9524"/>
                </a:lnTo>
                <a:lnTo>
                  <a:pt x="1152525" y="9524"/>
                </a:lnTo>
                <a:lnTo>
                  <a:pt x="1152525" y="461670"/>
                </a:lnTo>
                <a:lnTo>
                  <a:pt x="1147762" y="461670"/>
                </a:lnTo>
                <a:lnTo>
                  <a:pt x="1143000" y="466432"/>
                </a:lnTo>
                <a:close/>
              </a:path>
              <a:path w="1152525" h="471805">
                <a:moveTo>
                  <a:pt x="1152525" y="9524"/>
                </a:moveTo>
                <a:lnTo>
                  <a:pt x="1147762" y="9524"/>
                </a:lnTo>
                <a:lnTo>
                  <a:pt x="1143000" y="4762"/>
                </a:lnTo>
                <a:lnTo>
                  <a:pt x="1152525" y="4762"/>
                </a:lnTo>
                <a:lnTo>
                  <a:pt x="1152525" y="9524"/>
                </a:lnTo>
                <a:close/>
              </a:path>
              <a:path w="1152525" h="471805">
                <a:moveTo>
                  <a:pt x="9525" y="466432"/>
                </a:moveTo>
                <a:lnTo>
                  <a:pt x="4762" y="461670"/>
                </a:lnTo>
                <a:lnTo>
                  <a:pt x="9525" y="461670"/>
                </a:lnTo>
                <a:lnTo>
                  <a:pt x="9525" y="466432"/>
                </a:lnTo>
                <a:close/>
              </a:path>
              <a:path w="1152525" h="471805">
                <a:moveTo>
                  <a:pt x="1143000" y="466432"/>
                </a:moveTo>
                <a:lnTo>
                  <a:pt x="9525" y="466432"/>
                </a:lnTo>
                <a:lnTo>
                  <a:pt x="9525" y="461670"/>
                </a:lnTo>
                <a:lnTo>
                  <a:pt x="1143000" y="461670"/>
                </a:lnTo>
                <a:lnTo>
                  <a:pt x="1143000" y="466432"/>
                </a:lnTo>
                <a:close/>
              </a:path>
              <a:path w="1152525" h="471805">
                <a:moveTo>
                  <a:pt x="1152525" y="466432"/>
                </a:moveTo>
                <a:lnTo>
                  <a:pt x="1143000" y="466432"/>
                </a:lnTo>
                <a:lnTo>
                  <a:pt x="1147762" y="461670"/>
                </a:lnTo>
                <a:lnTo>
                  <a:pt x="1152525" y="461670"/>
                </a:lnTo>
                <a:lnTo>
                  <a:pt x="1152525" y="466432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18286" y="490327"/>
            <a:ext cx="6948805" cy="1797050"/>
          </a:xfrm>
          <a:prstGeom prst="rect">
            <a:avLst/>
          </a:prstGeom>
        </p:spPr>
        <p:txBody>
          <a:bodyPr wrap="square" lIns="0" tIns="1968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50"/>
              </a:spcBef>
            </a:pPr>
            <a:r>
              <a:rPr dirty="0" sz="2400" b="1">
                <a:latin typeface="宋体"/>
                <a:cs typeface="宋体"/>
              </a:rPr>
              <a:t>练</a:t>
            </a:r>
            <a:r>
              <a:rPr dirty="0" sz="2400" spc="-10" b="1">
                <a:latin typeface="宋体"/>
                <a:cs typeface="宋体"/>
              </a:rPr>
              <a:t>习</a:t>
            </a:r>
            <a:endParaRPr sz="2400">
              <a:latin typeface="宋体"/>
              <a:cs typeface="宋体"/>
            </a:endParaRPr>
          </a:p>
          <a:p>
            <a:pPr algn="just" marL="660400" marR="5080">
              <a:lnSpc>
                <a:spcPct val="125000"/>
              </a:lnSpc>
              <a:spcBef>
                <a:spcPts val="615"/>
              </a:spcBef>
            </a:pPr>
            <a:r>
              <a:rPr dirty="0" sz="2000" spc="-5">
                <a:latin typeface="Times New Roman"/>
                <a:cs typeface="Times New Roman"/>
              </a:rPr>
              <a:t>1.</a:t>
            </a:r>
            <a:r>
              <a:rPr dirty="0" sz="2000">
                <a:latin typeface="宋体"/>
                <a:cs typeface="宋体"/>
              </a:rPr>
              <a:t>有些机床为了安全，照明电灯用的电压是</a:t>
            </a:r>
            <a:r>
              <a:rPr dirty="0" sz="2000">
                <a:latin typeface="Times New Roman"/>
                <a:cs typeface="Times New Roman"/>
              </a:rPr>
              <a:t>36</a:t>
            </a:r>
            <a:r>
              <a:rPr dirty="0" sz="2000" spc="-130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V</a:t>
            </a:r>
            <a:r>
              <a:rPr dirty="0" sz="2000" spc="-5">
                <a:latin typeface="宋体"/>
                <a:cs typeface="宋体"/>
              </a:rPr>
              <a:t>，</a:t>
            </a:r>
            <a:r>
              <a:rPr dirty="0" sz="2000">
                <a:latin typeface="宋体"/>
                <a:cs typeface="宋体"/>
              </a:rPr>
              <a:t>这个</a:t>
            </a:r>
            <a:r>
              <a:rPr dirty="0" sz="2000" spc="5">
                <a:latin typeface="宋体"/>
                <a:cs typeface="宋体"/>
              </a:rPr>
              <a:t>电 </a:t>
            </a:r>
            <a:r>
              <a:rPr dirty="0" sz="2000">
                <a:latin typeface="宋体"/>
                <a:cs typeface="宋体"/>
              </a:rPr>
              <a:t>压是把</a:t>
            </a:r>
            <a:r>
              <a:rPr dirty="0" sz="2000" spc="-5">
                <a:latin typeface="Times New Roman"/>
                <a:cs typeface="Times New Roman"/>
              </a:rPr>
              <a:t>380</a:t>
            </a:r>
            <a:r>
              <a:rPr dirty="0" sz="2000" spc="-85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V</a:t>
            </a:r>
            <a:r>
              <a:rPr dirty="0" sz="2000">
                <a:latin typeface="宋体"/>
                <a:cs typeface="宋体"/>
              </a:rPr>
              <a:t>的电压降压后得到的。如果变压器的原线</a:t>
            </a:r>
            <a:r>
              <a:rPr dirty="0" sz="2000" spc="5">
                <a:latin typeface="宋体"/>
                <a:cs typeface="宋体"/>
              </a:rPr>
              <a:t>圈 是</a:t>
            </a:r>
            <a:r>
              <a:rPr dirty="0" sz="2000" spc="-509">
                <a:latin typeface="宋体"/>
                <a:cs typeface="宋体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1</a:t>
            </a:r>
            <a:r>
              <a:rPr dirty="0" sz="2000" spc="-5">
                <a:latin typeface="Times New Roman"/>
                <a:cs typeface="Times New Roman"/>
              </a:rPr>
              <a:t> 140</a:t>
            </a:r>
            <a:r>
              <a:rPr dirty="0" sz="2000">
                <a:latin typeface="宋体"/>
                <a:cs typeface="宋体"/>
              </a:rPr>
              <a:t>匝，副线圈是多少匝</a:t>
            </a:r>
            <a:r>
              <a:rPr dirty="0" sz="2000" spc="5">
                <a:latin typeface="宋体"/>
                <a:cs typeface="宋体"/>
              </a:rPr>
              <a:t>？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892437" y="2683344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 h="0">
                <a:moveTo>
                  <a:pt x="0" y="0"/>
                </a:moveTo>
                <a:lnTo>
                  <a:pt x="360972" y="0"/>
                </a:lnTo>
              </a:path>
            </a:pathLst>
          </a:custGeom>
          <a:ln w="1250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570300" y="2683344"/>
            <a:ext cx="283845" cy="0"/>
          </a:xfrm>
          <a:custGeom>
            <a:avLst/>
            <a:gdLst/>
            <a:ahLst/>
            <a:cxnLst/>
            <a:rect l="l" t="t" r="r" b="b"/>
            <a:pathLst>
              <a:path w="283845" h="0">
                <a:moveTo>
                  <a:pt x="0" y="0"/>
                </a:moveTo>
                <a:lnTo>
                  <a:pt x="283451" y="0"/>
                </a:lnTo>
              </a:path>
            </a:pathLst>
          </a:custGeom>
          <a:ln w="1250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129762" y="2522118"/>
            <a:ext cx="876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>
                <a:latin typeface="Times New Roman"/>
                <a:cs typeface="Times New Roman"/>
              </a:rPr>
              <a:t>1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07715" y="2821355"/>
            <a:ext cx="69786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622300" algn="l"/>
              </a:tabLst>
            </a:pPr>
            <a:r>
              <a:rPr dirty="0" sz="950" spc="10">
                <a:latin typeface="Times New Roman"/>
                <a:cs typeface="Times New Roman"/>
              </a:rPr>
              <a:t>2</a:t>
            </a:r>
            <a:r>
              <a:rPr dirty="0" sz="950" spc="10">
                <a:latin typeface="Times New Roman"/>
                <a:cs typeface="Times New Roman"/>
              </a:rPr>
              <a:t>	</a:t>
            </a:r>
            <a:r>
              <a:rPr dirty="0" sz="950" spc="10">
                <a:latin typeface="Times New Roman"/>
                <a:cs typeface="Times New Roman"/>
              </a:rPr>
              <a:t>2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69869" y="2376525"/>
            <a:ext cx="934085" cy="2832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728980" algn="l"/>
              </a:tabLst>
            </a:pPr>
            <a:r>
              <a:rPr dirty="0" sz="1650" spc="25" i="1">
                <a:latin typeface="Times New Roman"/>
                <a:cs typeface="Times New Roman"/>
              </a:rPr>
              <a:t>U	</a:t>
            </a:r>
            <a:r>
              <a:rPr dirty="0" sz="1650" spc="15" i="1">
                <a:latin typeface="Times New Roman"/>
                <a:cs typeface="Times New Roman"/>
              </a:rPr>
              <a:t>n</a:t>
            </a:r>
            <a:r>
              <a:rPr dirty="0" sz="1650" spc="-295" i="1">
                <a:latin typeface="Times New Roman"/>
                <a:cs typeface="Times New Roman"/>
              </a:rPr>
              <a:t> </a:t>
            </a:r>
            <a:r>
              <a:rPr dirty="0" baseline="-26315" sz="1425" spc="15">
                <a:latin typeface="Times New Roman"/>
                <a:cs typeface="Times New Roman"/>
              </a:rPr>
              <a:t>1</a:t>
            </a:r>
            <a:endParaRPr baseline="-26315" sz="1425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78988" y="2675763"/>
            <a:ext cx="826769" cy="2832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706120" algn="l"/>
              </a:tabLst>
            </a:pPr>
            <a:r>
              <a:rPr dirty="0" sz="1650" spc="25" i="1">
                <a:latin typeface="Times New Roman"/>
                <a:cs typeface="Times New Roman"/>
              </a:rPr>
              <a:t>U</a:t>
            </a:r>
            <a:r>
              <a:rPr dirty="0" sz="1650" spc="25" i="1">
                <a:latin typeface="Times New Roman"/>
                <a:cs typeface="Times New Roman"/>
              </a:rPr>
              <a:t>	</a:t>
            </a:r>
            <a:r>
              <a:rPr dirty="0" sz="1650" spc="15" i="1">
                <a:latin typeface="Times New Roman"/>
                <a:cs typeface="Times New Roman"/>
              </a:rPr>
              <a:t>n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20503" y="2510015"/>
            <a:ext cx="143510" cy="2832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650" spc="20">
                <a:latin typeface="Symbol"/>
                <a:cs typeface="Symbol"/>
              </a:rPr>
              <a:t></a:t>
            </a:r>
            <a:endParaRPr sz="1650">
              <a:latin typeface="Symbol"/>
              <a:cs typeface="Symbo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607570" y="2679166"/>
            <a:ext cx="553720" cy="0"/>
          </a:xfrm>
          <a:custGeom>
            <a:avLst/>
            <a:gdLst/>
            <a:ahLst/>
            <a:cxnLst/>
            <a:rect l="l" t="t" r="r" b="b"/>
            <a:pathLst>
              <a:path w="553720" h="0">
                <a:moveTo>
                  <a:pt x="0" y="0"/>
                </a:moveTo>
                <a:lnTo>
                  <a:pt x="553161" y="0"/>
                </a:lnTo>
              </a:path>
            </a:pathLst>
          </a:custGeom>
          <a:ln w="1250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177129" y="2651429"/>
            <a:ext cx="876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>
                <a:latin typeface="Times New Roman"/>
                <a:cs typeface="Times New Roman"/>
              </a:rPr>
              <a:t>2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41072" y="2817177"/>
            <a:ext cx="876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>
                <a:latin typeface="Times New Roman"/>
                <a:cs typeface="Times New Roman"/>
              </a:rPr>
              <a:t>1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31803" y="2505836"/>
            <a:ext cx="132715" cy="2832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650" spc="15" i="1">
                <a:latin typeface="Times New Roman"/>
                <a:cs typeface="Times New Roman"/>
              </a:rPr>
              <a:t>n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680849" y="2671584"/>
            <a:ext cx="180975" cy="2832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650" spc="25" i="1">
                <a:latin typeface="Times New Roman"/>
                <a:cs typeface="Times New Roman"/>
              </a:rPr>
              <a:t>U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357469" y="2372347"/>
            <a:ext cx="767080" cy="2832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baseline="-35353" sz="2475" spc="30">
                <a:latin typeface="Symbol"/>
                <a:cs typeface="Symbol"/>
              </a:rPr>
              <a:t></a:t>
            </a:r>
            <a:r>
              <a:rPr dirty="0" baseline="-35353" sz="2475" spc="30">
                <a:latin typeface="Times New Roman"/>
                <a:cs typeface="Times New Roman"/>
              </a:rPr>
              <a:t> </a:t>
            </a:r>
            <a:r>
              <a:rPr dirty="0" sz="1650" spc="25" i="1">
                <a:latin typeface="Times New Roman"/>
                <a:cs typeface="Times New Roman"/>
              </a:rPr>
              <a:t>U </a:t>
            </a:r>
            <a:r>
              <a:rPr dirty="0" baseline="-26315" sz="1425" spc="15">
                <a:latin typeface="Times New Roman"/>
                <a:cs typeface="Times New Roman"/>
              </a:rPr>
              <a:t>2 </a:t>
            </a:r>
            <a:r>
              <a:rPr dirty="0" sz="1650" spc="15" i="1">
                <a:latin typeface="Times New Roman"/>
                <a:cs typeface="Times New Roman"/>
              </a:rPr>
              <a:t>n</a:t>
            </a:r>
            <a:r>
              <a:rPr dirty="0" sz="1650" spc="-180" i="1">
                <a:latin typeface="Times New Roman"/>
                <a:cs typeface="Times New Roman"/>
              </a:rPr>
              <a:t> </a:t>
            </a:r>
            <a:r>
              <a:rPr dirty="0" baseline="-26315" sz="1425" spc="15">
                <a:latin typeface="Times New Roman"/>
                <a:cs typeface="Times New Roman"/>
              </a:rPr>
              <a:t>1</a:t>
            </a:r>
            <a:endParaRPr baseline="-26315" sz="1425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227927" y="2505836"/>
            <a:ext cx="859155" cy="2832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650" spc="20">
                <a:latin typeface="Symbol"/>
                <a:cs typeface="Symbol"/>
              </a:rPr>
              <a:t></a:t>
            </a:r>
            <a:r>
              <a:rPr dirty="0" sz="1650" spc="225">
                <a:latin typeface="Times New Roman"/>
                <a:cs typeface="Times New Roman"/>
              </a:rPr>
              <a:t> </a:t>
            </a:r>
            <a:r>
              <a:rPr dirty="0" sz="1650" spc="15">
                <a:latin typeface="Times New Roman"/>
                <a:cs typeface="Times New Roman"/>
              </a:rPr>
              <a:t>1</a:t>
            </a:r>
            <a:r>
              <a:rPr dirty="0" sz="1650" spc="-125">
                <a:latin typeface="Times New Roman"/>
                <a:cs typeface="Times New Roman"/>
              </a:rPr>
              <a:t> </a:t>
            </a:r>
            <a:r>
              <a:rPr dirty="0" sz="1650" spc="15">
                <a:latin typeface="Times New Roman"/>
                <a:cs typeface="Times New Roman"/>
              </a:rPr>
              <a:t>0</a:t>
            </a:r>
            <a:r>
              <a:rPr dirty="0" sz="1650" spc="-130">
                <a:latin typeface="Times New Roman"/>
                <a:cs typeface="Times New Roman"/>
              </a:rPr>
              <a:t> </a:t>
            </a:r>
            <a:r>
              <a:rPr dirty="0" sz="1650" spc="125">
                <a:latin typeface="Times New Roman"/>
                <a:cs typeface="Times New Roman"/>
              </a:rPr>
              <a:t>8</a:t>
            </a:r>
            <a:r>
              <a:rPr dirty="0" sz="1650" spc="35">
                <a:latin typeface="宋体"/>
                <a:cs typeface="宋体"/>
              </a:rPr>
              <a:t>匝</a:t>
            </a:r>
            <a:endParaRPr sz="1650">
              <a:latin typeface="宋体"/>
              <a:cs typeface="宋体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54391" y="2493543"/>
            <a:ext cx="9785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宋体"/>
                <a:cs typeface="宋体"/>
              </a:rPr>
              <a:t>解</a:t>
            </a:r>
            <a:r>
              <a:rPr dirty="0" sz="2000" spc="5">
                <a:latin typeface="宋体"/>
                <a:cs typeface="宋体"/>
              </a:rPr>
              <a:t>：</a:t>
            </a:r>
            <a:r>
              <a:rPr dirty="0" sz="2000" spc="400">
                <a:latin typeface="宋体"/>
                <a:cs typeface="宋体"/>
              </a:rPr>
              <a:t> </a:t>
            </a:r>
            <a:r>
              <a:rPr dirty="0" sz="2000" spc="5">
                <a:latin typeface="宋体"/>
                <a:cs typeface="宋体"/>
              </a:rPr>
              <a:t>∵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534992" y="2515158"/>
            <a:ext cx="280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5">
                <a:latin typeface="宋体"/>
                <a:cs typeface="宋体"/>
              </a:rPr>
              <a:t>∴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6277" y="688022"/>
            <a:ext cx="7646034" cy="2311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dirty="0" sz="2000" spc="-5">
                <a:latin typeface="宋体"/>
                <a:cs typeface="宋体"/>
              </a:rPr>
              <a:t>2.如图是街头变压器通过降压给用户供电的示意图。变压器的输入</a:t>
            </a:r>
            <a:r>
              <a:rPr dirty="0" sz="2000">
                <a:latin typeface="宋体"/>
                <a:cs typeface="宋体"/>
              </a:rPr>
              <a:t>电 </a:t>
            </a:r>
            <a:r>
              <a:rPr dirty="0" sz="2000">
                <a:latin typeface="宋体"/>
                <a:cs typeface="宋体"/>
              </a:rPr>
              <a:t>压是市区电网的电压，负载变化时输入电压不会有大的波动。输出</a:t>
            </a:r>
            <a:r>
              <a:rPr dirty="0" sz="2000">
                <a:latin typeface="宋体"/>
                <a:cs typeface="宋体"/>
              </a:rPr>
              <a:t>电 </a:t>
            </a:r>
            <a:r>
              <a:rPr dirty="0" sz="2000">
                <a:latin typeface="宋体"/>
                <a:cs typeface="宋体"/>
              </a:rPr>
              <a:t>压通过输电线输送给用户，两条输电线的总电阻用</a:t>
            </a:r>
            <a:r>
              <a:rPr dirty="0" sz="2000" spc="-5" i="1">
                <a:latin typeface="Times New Roman"/>
                <a:cs typeface="Times New Roman"/>
              </a:rPr>
              <a:t>R</a:t>
            </a:r>
            <a:r>
              <a:rPr dirty="0" baseline="-17094" sz="1950" spc="-7">
                <a:latin typeface="Times New Roman"/>
                <a:cs typeface="Times New Roman"/>
              </a:rPr>
              <a:t>0</a:t>
            </a:r>
            <a:r>
              <a:rPr dirty="0" sz="2000">
                <a:latin typeface="宋体"/>
                <a:cs typeface="宋体"/>
              </a:rPr>
              <a:t>表示，变阻器</a:t>
            </a:r>
            <a:r>
              <a:rPr dirty="0" sz="2000" i="1">
                <a:latin typeface="Times New Roman"/>
                <a:cs typeface="Times New Roman"/>
              </a:rPr>
              <a:t>R  </a:t>
            </a:r>
            <a:r>
              <a:rPr dirty="0" sz="2000">
                <a:latin typeface="宋体"/>
                <a:cs typeface="宋体"/>
              </a:rPr>
              <a:t>代表用户用电器的总电阻，当用电器增加时，相当于</a:t>
            </a:r>
            <a:r>
              <a:rPr dirty="0" sz="2000" spc="-5" i="1">
                <a:latin typeface="Times New Roman"/>
                <a:cs typeface="Times New Roman"/>
              </a:rPr>
              <a:t>R</a:t>
            </a:r>
            <a:r>
              <a:rPr dirty="0" sz="2000">
                <a:latin typeface="宋体"/>
                <a:cs typeface="宋体"/>
              </a:rPr>
              <a:t>的值减小（</a:t>
            </a:r>
            <a:r>
              <a:rPr dirty="0" sz="2000" spc="5">
                <a:latin typeface="宋体"/>
                <a:cs typeface="宋体"/>
              </a:rPr>
              <a:t>滑 </a:t>
            </a:r>
            <a:r>
              <a:rPr dirty="0" sz="2000">
                <a:latin typeface="宋体"/>
                <a:cs typeface="宋体"/>
              </a:rPr>
              <a:t>动片向下移）。如果变压器上的能量损失可以忽略，当用户的用电</a:t>
            </a:r>
            <a:r>
              <a:rPr dirty="0" sz="2000">
                <a:latin typeface="宋体"/>
                <a:cs typeface="宋体"/>
              </a:rPr>
              <a:t>器 </a:t>
            </a:r>
            <a:r>
              <a:rPr dirty="0" sz="2000">
                <a:latin typeface="宋体"/>
                <a:cs typeface="宋体"/>
              </a:rPr>
              <a:t>增加时，图中各表的读数如何变化</a:t>
            </a:r>
            <a:r>
              <a:rPr dirty="0" sz="2000" spc="5">
                <a:latin typeface="宋体"/>
                <a:cs typeface="宋体"/>
              </a:rPr>
              <a:t>？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60347" y="3363467"/>
            <a:ext cx="3061716" cy="10363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202234" y="514756"/>
            <a:ext cx="8942070" cy="471805"/>
          </a:xfrm>
          <a:custGeom>
            <a:avLst/>
            <a:gdLst/>
            <a:ahLst/>
            <a:cxnLst/>
            <a:rect l="l" t="t" r="r" b="b"/>
            <a:pathLst>
              <a:path w="8942070" h="471805">
                <a:moveTo>
                  <a:pt x="8941765" y="471195"/>
                </a:moveTo>
                <a:lnTo>
                  <a:pt x="0" y="471195"/>
                </a:lnTo>
                <a:lnTo>
                  <a:pt x="0" y="0"/>
                </a:lnTo>
                <a:lnTo>
                  <a:pt x="8941765" y="0"/>
                </a:lnTo>
                <a:lnTo>
                  <a:pt x="894176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461670"/>
                </a:lnTo>
                <a:lnTo>
                  <a:pt x="4762" y="461670"/>
                </a:lnTo>
                <a:lnTo>
                  <a:pt x="9525" y="466432"/>
                </a:lnTo>
                <a:lnTo>
                  <a:pt x="8941765" y="466432"/>
                </a:lnTo>
                <a:lnTo>
                  <a:pt x="8941765" y="471195"/>
                </a:lnTo>
                <a:close/>
              </a:path>
              <a:path w="8942070" h="47180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8942070" h="471805">
                <a:moveTo>
                  <a:pt x="8937002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8937002" y="4762"/>
                </a:lnTo>
                <a:lnTo>
                  <a:pt x="8937002" y="9525"/>
                </a:lnTo>
                <a:close/>
              </a:path>
              <a:path w="8942070" h="471805">
                <a:moveTo>
                  <a:pt x="8937002" y="466432"/>
                </a:moveTo>
                <a:lnTo>
                  <a:pt x="8937002" y="4762"/>
                </a:lnTo>
                <a:lnTo>
                  <a:pt x="8941765" y="9525"/>
                </a:lnTo>
                <a:lnTo>
                  <a:pt x="8941765" y="461670"/>
                </a:lnTo>
                <a:lnTo>
                  <a:pt x="8937002" y="466432"/>
                </a:lnTo>
                <a:close/>
              </a:path>
              <a:path w="8942070" h="471805">
                <a:moveTo>
                  <a:pt x="8941765" y="9525"/>
                </a:moveTo>
                <a:lnTo>
                  <a:pt x="8937002" y="4762"/>
                </a:lnTo>
                <a:lnTo>
                  <a:pt x="8941765" y="4762"/>
                </a:lnTo>
                <a:lnTo>
                  <a:pt x="8941765" y="9525"/>
                </a:lnTo>
                <a:close/>
              </a:path>
              <a:path w="8942070" h="471805">
                <a:moveTo>
                  <a:pt x="9525" y="466432"/>
                </a:moveTo>
                <a:lnTo>
                  <a:pt x="4762" y="461670"/>
                </a:lnTo>
                <a:lnTo>
                  <a:pt x="9525" y="461670"/>
                </a:lnTo>
                <a:lnTo>
                  <a:pt x="9525" y="466432"/>
                </a:lnTo>
                <a:close/>
              </a:path>
              <a:path w="8942070" h="471805">
                <a:moveTo>
                  <a:pt x="8937002" y="466432"/>
                </a:moveTo>
                <a:lnTo>
                  <a:pt x="9525" y="466432"/>
                </a:lnTo>
                <a:lnTo>
                  <a:pt x="9525" y="461670"/>
                </a:lnTo>
                <a:lnTo>
                  <a:pt x="8937002" y="461670"/>
                </a:lnTo>
                <a:lnTo>
                  <a:pt x="8937002" y="466432"/>
                </a:lnTo>
                <a:close/>
              </a:path>
              <a:path w="8942070" h="471805">
                <a:moveTo>
                  <a:pt x="8941765" y="466432"/>
                </a:moveTo>
                <a:lnTo>
                  <a:pt x="8937002" y="466432"/>
                </a:lnTo>
                <a:lnTo>
                  <a:pt x="8941765" y="461670"/>
                </a:lnTo>
                <a:lnTo>
                  <a:pt x="8941765" y="466432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85737" y="535394"/>
            <a:ext cx="84416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宋体"/>
                <a:cs typeface="宋体"/>
              </a:rPr>
              <a:t>解析变压器输入、输出电压、电流、功率大小之间的因果关系</a:t>
            </a:r>
            <a:r>
              <a:rPr dirty="0" sz="2400" spc="-10" b="1">
                <a:latin typeface="宋体"/>
                <a:cs typeface="宋体"/>
              </a:rPr>
              <a:t> 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1611" y="2555354"/>
            <a:ext cx="37820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宋体"/>
                <a:cs typeface="宋体"/>
              </a:rPr>
              <a:t>输入功</a:t>
            </a:r>
            <a:r>
              <a:rPr dirty="0" sz="2400" spc="-10" b="1">
                <a:latin typeface="宋体"/>
                <a:cs typeface="宋体"/>
              </a:rPr>
              <a:t>率</a:t>
            </a:r>
            <a:r>
              <a:rPr dirty="0" sz="2400" spc="-655" b="1">
                <a:latin typeface="宋体"/>
                <a:cs typeface="宋体"/>
              </a:rPr>
              <a:t> </a:t>
            </a:r>
            <a:r>
              <a:rPr dirty="0" sz="2400" b="1" i="1">
                <a:latin typeface="Times New Roman"/>
                <a:cs typeface="Times New Roman"/>
              </a:rPr>
              <a:t>P</a:t>
            </a:r>
            <a:r>
              <a:rPr dirty="0" baseline="-17921" sz="2325" b="1">
                <a:latin typeface="Times New Roman"/>
                <a:cs typeface="Times New Roman"/>
              </a:rPr>
              <a:t>1</a:t>
            </a:r>
            <a:r>
              <a:rPr dirty="0" baseline="-17921" sz="2325" spc="-44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宋体"/>
                <a:cs typeface="宋体"/>
              </a:rPr>
              <a:t>等于输出功率</a:t>
            </a:r>
            <a:r>
              <a:rPr dirty="0" sz="2400" b="1" i="1">
                <a:latin typeface="Times New Roman"/>
                <a:cs typeface="Times New Roman"/>
              </a:rPr>
              <a:t>P</a:t>
            </a:r>
            <a:r>
              <a:rPr dirty="0" baseline="-17921" sz="2325" b="1">
                <a:latin typeface="Times New Roman"/>
                <a:cs typeface="Times New Roman"/>
              </a:rPr>
              <a:t>2</a:t>
            </a:r>
            <a:endParaRPr baseline="-17921" sz="2325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99407" y="2596311"/>
            <a:ext cx="15125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宋体"/>
                <a:cs typeface="宋体"/>
              </a:rPr>
              <a:t>即：</a:t>
            </a:r>
            <a:r>
              <a:rPr dirty="0" sz="2400" spc="-5" i="1">
                <a:latin typeface="Times New Roman"/>
                <a:cs typeface="Times New Roman"/>
              </a:rPr>
              <a:t>P</a:t>
            </a:r>
            <a:r>
              <a:rPr dirty="0" baseline="-17921" sz="2325" spc="7">
                <a:latin typeface="Times New Roman"/>
                <a:cs typeface="Times New Roman"/>
              </a:rPr>
              <a:t>1</a:t>
            </a:r>
            <a:r>
              <a:rPr dirty="0" sz="2400">
                <a:latin typeface="华文新魏"/>
                <a:cs typeface="华文新魏"/>
              </a:rPr>
              <a:t>＝</a:t>
            </a:r>
            <a:r>
              <a:rPr dirty="0" sz="2400" spc="-5" i="1">
                <a:latin typeface="Times New Roman"/>
                <a:cs typeface="Times New Roman"/>
              </a:rPr>
              <a:t>P</a:t>
            </a:r>
            <a:r>
              <a:rPr dirty="0" baseline="-17921" sz="2325" spc="7">
                <a:latin typeface="Times New Roman"/>
                <a:cs typeface="Times New Roman"/>
              </a:rPr>
              <a:t>2</a:t>
            </a:r>
            <a:endParaRPr baseline="-17921" sz="2325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1002" y="1950110"/>
            <a:ext cx="23914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Times New Roman"/>
                <a:cs typeface="Times New Roman"/>
              </a:rPr>
              <a:t>I</a:t>
            </a:r>
            <a:r>
              <a:rPr dirty="0" baseline="-17921" sz="2325" spc="7">
                <a:latin typeface="Times New Roman"/>
                <a:cs typeface="Times New Roman"/>
              </a:rPr>
              <a:t>2</a:t>
            </a:r>
            <a:r>
              <a:rPr dirty="0" sz="2400" spc="5">
                <a:latin typeface="黑体"/>
                <a:cs typeface="黑体"/>
              </a:rPr>
              <a:t>由</a:t>
            </a:r>
            <a:r>
              <a:rPr dirty="0" sz="2400" spc="5" b="1" i="1">
                <a:latin typeface="Times New Roman"/>
                <a:cs typeface="Times New Roman"/>
              </a:rPr>
              <a:t>U</a:t>
            </a:r>
            <a:r>
              <a:rPr dirty="0" baseline="-17921" sz="2325" spc="7">
                <a:latin typeface="黑体"/>
                <a:cs typeface="黑体"/>
              </a:rPr>
              <a:t>2</a:t>
            </a:r>
            <a:r>
              <a:rPr dirty="0" sz="2400" spc="5">
                <a:latin typeface="黑体"/>
                <a:cs typeface="黑体"/>
              </a:rPr>
              <a:t>和负载决定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0745" y="3263036"/>
            <a:ext cx="28054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Times New Roman"/>
                <a:cs typeface="Times New Roman"/>
              </a:rPr>
              <a:t>I</a:t>
            </a:r>
            <a:r>
              <a:rPr dirty="0" baseline="-17921" sz="2325" b="1">
                <a:latin typeface="宋体"/>
                <a:cs typeface="宋体"/>
              </a:rPr>
              <a:t>1</a:t>
            </a:r>
            <a:r>
              <a:rPr dirty="0" baseline="-17921" sz="2325" spc="-44" b="1">
                <a:latin typeface="宋体"/>
                <a:cs typeface="宋体"/>
              </a:rPr>
              <a:t> </a:t>
            </a:r>
            <a:r>
              <a:rPr dirty="0" sz="2400" b="1">
                <a:latin typeface="宋体"/>
                <a:cs typeface="宋体"/>
              </a:rPr>
              <a:t>由</a:t>
            </a:r>
            <a:r>
              <a:rPr dirty="0" sz="2400" b="1" i="1">
                <a:latin typeface="Times New Roman"/>
                <a:cs typeface="Times New Roman"/>
              </a:rPr>
              <a:t>I</a:t>
            </a:r>
            <a:r>
              <a:rPr dirty="0" baseline="-17921" sz="2325" b="1">
                <a:latin typeface="宋体"/>
                <a:cs typeface="宋体"/>
              </a:rPr>
              <a:t>2</a:t>
            </a:r>
            <a:r>
              <a:rPr dirty="0" baseline="-17921" sz="2325" spc="-44" b="1">
                <a:latin typeface="宋体"/>
                <a:cs typeface="宋体"/>
              </a:rPr>
              <a:t> </a:t>
            </a:r>
            <a:r>
              <a:rPr dirty="0" sz="2400" b="1">
                <a:latin typeface="宋体"/>
                <a:cs typeface="宋体"/>
              </a:rPr>
              <a:t>和匝数比决</a:t>
            </a:r>
            <a:r>
              <a:rPr dirty="0" sz="2400" spc="-10" b="1">
                <a:latin typeface="宋体"/>
                <a:cs typeface="宋体"/>
              </a:rPr>
              <a:t>定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16863" y="3810000"/>
            <a:ext cx="3349752" cy="11338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09892" y="1033703"/>
            <a:ext cx="18738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Times New Roman"/>
                <a:cs typeface="Times New Roman"/>
              </a:rPr>
              <a:t>U</a:t>
            </a:r>
            <a:r>
              <a:rPr dirty="0" baseline="-17921" sz="2325" spc="7" b="1">
                <a:latin typeface="Times New Roman"/>
                <a:cs typeface="Times New Roman"/>
              </a:rPr>
              <a:t>1</a:t>
            </a:r>
            <a:r>
              <a:rPr dirty="0" sz="2400" b="1">
                <a:latin typeface="宋体"/>
                <a:cs typeface="宋体"/>
              </a:rPr>
              <a:t>由电源决</a:t>
            </a:r>
            <a:r>
              <a:rPr dirty="0" sz="2400" spc="-10" b="1">
                <a:latin typeface="宋体"/>
                <a:cs typeface="宋体"/>
              </a:rPr>
              <a:t>定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770632" y="1202436"/>
            <a:ext cx="864235" cy="99060"/>
          </a:xfrm>
          <a:custGeom>
            <a:avLst/>
            <a:gdLst/>
            <a:ahLst/>
            <a:cxnLst/>
            <a:rect l="l" t="t" r="r" b="b"/>
            <a:pathLst>
              <a:path w="864235" h="99059">
                <a:moveTo>
                  <a:pt x="813816" y="99059"/>
                </a:moveTo>
                <a:lnTo>
                  <a:pt x="813816" y="74675"/>
                </a:lnTo>
                <a:lnTo>
                  <a:pt x="0" y="74675"/>
                </a:lnTo>
                <a:lnTo>
                  <a:pt x="0" y="24383"/>
                </a:lnTo>
                <a:lnTo>
                  <a:pt x="813816" y="24383"/>
                </a:lnTo>
                <a:lnTo>
                  <a:pt x="813816" y="0"/>
                </a:lnTo>
                <a:lnTo>
                  <a:pt x="864107" y="48767"/>
                </a:lnTo>
                <a:lnTo>
                  <a:pt x="813816" y="9905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763850" y="1187361"/>
            <a:ext cx="879475" cy="129539"/>
          </a:xfrm>
          <a:custGeom>
            <a:avLst/>
            <a:gdLst/>
            <a:ahLst/>
            <a:cxnLst/>
            <a:rect l="l" t="t" r="r" b="b"/>
            <a:pathLst>
              <a:path w="879475" h="129540">
                <a:moveTo>
                  <a:pt x="814870" y="39941"/>
                </a:moveTo>
                <a:lnTo>
                  <a:pt x="814870" y="0"/>
                </a:lnTo>
                <a:lnTo>
                  <a:pt x="830202" y="15328"/>
                </a:lnTo>
                <a:lnTo>
                  <a:pt x="827570" y="15328"/>
                </a:lnTo>
                <a:lnTo>
                  <a:pt x="816736" y="19812"/>
                </a:lnTo>
                <a:lnTo>
                  <a:pt x="827570" y="30645"/>
                </a:lnTo>
                <a:lnTo>
                  <a:pt x="827570" y="33591"/>
                </a:lnTo>
                <a:lnTo>
                  <a:pt x="821220" y="33591"/>
                </a:lnTo>
                <a:lnTo>
                  <a:pt x="814870" y="39941"/>
                </a:lnTo>
                <a:close/>
              </a:path>
              <a:path w="879475" h="129540">
                <a:moveTo>
                  <a:pt x="827570" y="30645"/>
                </a:moveTo>
                <a:lnTo>
                  <a:pt x="816736" y="19812"/>
                </a:lnTo>
                <a:lnTo>
                  <a:pt x="827570" y="15328"/>
                </a:lnTo>
                <a:lnTo>
                  <a:pt x="827570" y="30645"/>
                </a:lnTo>
                <a:close/>
              </a:path>
              <a:path w="879475" h="129540">
                <a:moveTo>
                  <a:pt x="861472" y="64547"/>
                </a:moveTo>
                <a:lnTo>
                  <a:pt x="827570" y="30645"/>
                </a:lnTo>
                <a:lnTo>
                  <a:pt x="827570" y="15328"/>
                </a:lnTo>
                <a:lnTo>
                  <a:pt x="830202" y="15328"/>
                </a:lnTo>
                <a:lnTo>
                  <a:pt x="874940" y="60058"/>
                </a:lnTo>
                <a:lnTo>
                  <a:pt x="865962" y="60058"/>
                </a:lnTo>
                <a:lnTo>
                  <a:pt x="861472" y="64547"/>
                </a:lnTo>
                <a:close/>
              </a:path>
              <a:path w="879475" h="129540">
                <a:moveTo>
                  <a:pt x="814870" y="95504"/>
                </a:moveTo>
                <a:lnTo>
                  <a:pt x="0" y="95504"/>
                </a:lnTo>
                <a:lnTo>
                  <a:pt x="0" y="33591"/>
                </a:lnTo>
                <a:lnTo>
                  <a:pt x="814870" y="33591"/>
                </a:lnTo>
                <a:lnTo>
                  <a:pt x="814870" y="39941"/>
                </a:lnTo>
                <a:lnTo>
                  <a:pt x="12700" y="39941"/>
                </a:lnTo>
                <a:lnTo>
                  <a:pt x="6350" y="46291"/>
                </a:lnTo>
                <a:lnTo>
                  <a:pt x="12700" y="46291"/>
                </a:lnTo>
                <a:lnTo>
                  <a:pt x="12700" y="82804"/>
                </a:lnTo>
                <a:lnTo>
                  <a:pt x="6350" y="82804"/>
                </a:lnTo>
                <a:lnTo>
                  <a:pt x="12700" y="89154"/>
                </a:lnTo>
                <a:lnTo>
                  <a:pt x="814870" y="89154"/>
                </a:lnTo>
                <a:lnTo>
                  <a:pt x="814870" y="95504"/>
                </a:lnTo>
                <a:close/>
              </a:path>
              <a:path w="879475" h="129540">
                <a:moveTo>
                  <a:pt x="827570" y="46291"/>
                </a:moveTo>
                <a:lnTo>
                  <a:pt x="12700" y="46291"/>
                </a:lnTo>
                <a:lnTo>
                  <a:pt x="12700" y="39941"/>
                </a:lnTo>
                <a:lnTo>
                  <a:pt x="814870" y="39941"/>
                </a:lnTo>
                <a:lnTo>
                  <a:pt x="821220" y="33591"/>
                </a:lnTo>
                <a:lnTo>
                  <a:pt x="827570" y="33591"/>
                </a:lnTo>
                <a:lnTo>
                  <a:pt x="827570" y="46291"/>
                </a:lnTo>
                <a:close/>
              </a:path>
              <a:path w="879475" h="129540">
                <a:moveTo>
                  <a:pt x="12700" y="46291"/>
                </a:moveTo>
                <a:lnTo>
                  <a:pt x="6350" y="46291"/>
                </a:lnTo>
                <a:lnTo>
                  <a:pt x="12700" y="39941"/>
                </a:lnTo>
                <a:lnTo>
                  <a:pt x="12700" y="46291"/>
                </a:lnTo>
                <a:close/>
              </a:path>
              <a:path w="879475" h="129540">
                <a:moveTo>
                  <a:pt x="865962" y="69037"/>
                </a:moveTo>
                <a:lnTo>
                  <a:pt x="861479" y="64541"/>
                </a:lnTo>
                <a:lnTo>
                  <a:pt x="865962" y="60058"/>
                </a:lnTo>
                <a:lnTo>
                  <a:pt x="865962" y="69037"/>
                </a:lnTo>
                <a:close/>
              </a:path>
              <a:path w="879475" h="129540">
                <a:moveTo>
                  <a:pt x="874928" y="69037"/>
                </a:moveTo>
                <a:lnTo>
                  <a:pt x="865962" y="69037"/>
                </a:lnTo>
                <a:lnTo>
                  <a:pt x="865962" y="60058"/>
                </a:lnTo>
                <a:lnTo>
                  <a:pt x="874940" y="60058"/>
                </a:lnTo>
                <a:lnTo>
                  <a:pt x="879417" y="64547"/>
                </a:lnTo>
                <a:lnTo>
                  <a:pt x="874928" y="69037"/>
                </a:lnTo>
                <a:close/>
              </a:path>
              <a:path w="879475" h="129540">
                <a:moveTo>
                  <a:pt x="830198" y="113766"/>
                </a:moveTo>
                <a:lnTo>
                  <a:pt x="827570" y="113766"/>
                </a:lnTo>
                <a:lnTo>
                  <a:pt x="827570" y="98450"/>
                </a:lnTo>
                <a:lnTo>
                  <a:pt x="861472" y="64547"/>
                </a:lnTo>
                <a:lnTo>
                  <a:pt x="865962" y="69037"/>
                </a:lnTo>
                <a:lnTo>
                  <a:pt x="874928" y="69037"/>
                </a:lnTo>
                <a:lnTo>
                  <a:pt x="830198" y="113766"/>
                </a:lnTo>
                <a:close/>
              </a:path>
              <a:path w="879475" h="129540">
                <a:moveTo>
                  <a:pt x="12700" y="89154"/>
                </a:moveTo>
                <a:lnTo>
                  <a:pt x="6350" y="82804"/>
                </a:lnTo>
                <a:lnTo>
                  <a:pt x="12700" y="82804"/>
                </a:lnTo>
                <a:lnTo>
                  <a:pt x="12700" y="89154"/>
                </a:lnTo>
                <a:close/>
              </a:path>
              <a:path w="879475" h="129540">
                <a:moveTo>
                  <a:pt x="827570" y="95504"/>
                </a:moveTo>
                <a:lnTo>
                  <a:pt x="821220" y="95504"/>
                </a:lnTo>
                <a:lnTo>
                  <a:pt x="814870" y="89154"/>
                </a:lnTo>
                <a:lnTo>
                  <a:pt x="12700" y="89154"/>
                </a:lnTo>
                <a:lnTo>
                  <a:pt x="12700" y="82804"/>
                </a:lnTo>
                <a:lnTo>
                  <a:pt x="827570" y="82804"/>
                </a:lnTo>
                <a:lnTo>
                  <a:pt x="827570" y="95504"/>
                </a:lnTo>
                <a:close/>
              </a:path>
              <a:path w="879475" h="129540">
                <a:moveTo>
                  <a:pt x="814870" y="129095"/>
                </a:moveTo>
                <a:lnTo>
                  <a:pt x="814870" y="89154"/>
                </a:lnTo>
                <a:lnTo>
                  <a:pt x="821220" y="95504"/>
                </a:lnTo>
                <a:lnTo>
                  <a:pt x="827570" y="95504"/>
                </a:lnTo>
                <a:lnTo>
                  <a:pt x="827570" y="98450"/>
                </a:lnTo>
                <a:lnTo>
                  <a:pt x="816736" y="109283"/>
                </a:lnTo>
                <a:lnTo>
                  <a:pt x="827570" y="113766"/>
                </a:lnTo>
                <a:lnTo>
                  <a:pt x="830198" y="113766"/>
                </a:lnTo>
                <a:lnTo>
                  <a:pt x="814870" y="129095"/>
                </a:lnTo>
                <a:close/>
              </a:path>
              <a:path w="879475" h="129540">
                <a:moveTo>
                  <a:pt x="827570" y="113766"/>
                </a:moveTo>
                <a:lnTo>
                  <a:pt x="816736" y="109283"/>
                </a:lnTo>
                <a:lnTo>
                  <a:pt x="827570" y="98450"/>
                </a:lnTo>
                <a:lnTo>
                  <a:pt x="827570" y="113766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51611" y="1474089"/>
            <a:ext cx="28054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Times New Roman"/>
                <a:cs typeface="Times New Roman"/>
              </a:rPr>
              <a:t>U</a:t>
            </a:r>
            <a:r>
              <a:rPr dirty="0" baseline="-17921" sz="2325" spc="7" b="1">
                <a:latin typeface="Times New Roman"/>
                <a:cs typeface="Times New Roman"/>
              </a:rPr>
              <a:t>2</a:t>
            </a:r>
            <a:r>
              <a:rPr dirty="0" sz="2400" b="1">
                <a:latin typeface="宋体"/>
                <a:cs typeface="宋体"/>
              </a:rPr>
              <a:t>由</a:t>
            </a:r>
            <a:r>
              <a:rPr dirty="0" sz="2400" b="1" i="1">
                <a:latin typeface="Times New Roman"/>
                <a:cs typeface="Times New Roman"/>
              </a:rPr>
              <a:t>U</a:t>
            </a:r>
            <a:r>
              <a:rPr dirty="0" baseline="-17921" sz="2325" spc="7" b="1">
                <a:latin typeface="Times New Roman"/>
                <a:cs typeface="Times New Roman"/>
              </a:rPr>
              <a:t>1</a:t>
            </a:r>
            <a:r>
              <a:rPr dirty="0" sz="2400" b="1">
                <a:latin typeface="宋体"/>
                <a:cs typeface="宋体"/>
              </a:rPr>
              <a:t>和匝数比决</a:t>
            </a:r>
            <a:r>
              <a:rPr dirty="0" sz="2400" spc="-10" b="1">
                <a:latin typeface="宋体"/>
                <a:cs typeface="宋体"/>
              </a:rPr>
              <a:t>定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205984" y="1610867"/>
            <a:ext cx="864235" cy="97790"/>
          </a:xfrm>
          <a:custGeom>
            <a:avLst/>
            <a:gdLst/>
            <a:ahLst/>
            <a:cxnLst/>
            <a:rect l="l" t="t" r="r" b="b"/>
            <a:pathLst>
              <a:path w="864235" h="97789">
                <a:moveTo>
                  <a:pt x="815339" y="97535"/>
                </a:moveTo>
                <a:lnTo>
                  <a:pt x="815339" y="73151"/>
                </a:lnTo>
                <a:lnTo>
                  <a:pt x="0" y="73151"/>
                </a:lnTo>
                <a:lnTo>
                  <a:pt x="0" y="24383"/>
                </a:lnTo>
                <a:lnTo>
                  <a:pt x="815339" y="24383"/>
                </a:lnTo>
                <a:lnTo>
                  <a:pt x="815339" y="0"/>
                </a:lnTo>
                <a:lnTo>
                  <a:pt x="864107" y="48767"/>
                </a:lnTo>
                <a:lnTo>
                  <a:pt x="815339" y="9753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199976" y="1594992"/>
            <a:ext cx="879475" cy="129539"/>
          </a:xfrm>
          <a:custGeom>
            <a:avLst/>
            <a:gdLst/>
            <a:ahLst/>
            <a:cxnLst/>
            <a:rect l="l" t="t" r="r" b="b"/>
            <a:pathLst>
              <a:path w="879475" h="129539">
                <a:moveTo>
                  <a:pt x="814870" y="39941"/>
                </a:moveTo>
                <a:lnTo>
                  <a:pt x="814870" y="0"/>
                </a:lnTo>
                <a:lnTo>
                  <a:pt x="830199" y="15328"/>
                </a:lnTo>
                <a:lnTo>
                  <a:pt x="827570" y="15328"/>
                </a:lnTo>
                <a:lnTo>
                  <a:pt x="816737" y="19824"/>
                </a:lnTo>
                <a:lnTo>
                  <a:pt x="827570" y="30657"/>
                </a:lnTo>
                <a:lnTo>
                  <a:pt x="827570" y="33591"/>
                </a:lnTo>
                <a:lnTo>
                  <a:pt x="821220" y="33591"/>
                </a:lnTo>
                <a:lnTo>
                  <a:pt x="814870" y="39941"/>
                </a:lnTo>
                <a:close/>
              </a:path>
              <a:path w="879475" h="129539">
                <a:moveTo>
                  <a:pt x="827570" y="30657"/>
                </a:moveTo>
                <a:lnTo>
                  <a:pt x="816737" y="19824"/>
                </a:lnTo>
                <a:lnTo>
                  <a:pt x="827570" y="15328"/>
                </a:lnTo>
                <a:lnTo>
                  <a:pt x="827570" y="30657"/>
                </a:lnTo>
                <a:close/>
              </a:path>
              <a:path w="879475" h="129539">
                <a:moveTo>
                  <a:pt x="861460" y="64548"/>
                </a:moveTo>
                <a:lnTo>
                  <a:pt x="827570" y="30657"/>
                </a:lnTo>
                <a:lnTo>
                  <a:pt x="827570" y="15328"/>
                </a:lnTo>
                <a:lnTo>
                  <a:pt x="830199" y="15328"/>
                </a:lnTo>
                <a:lnTo>
                  <a:pt x="874928" y="60058"/>
                </a:lnTo>
                <a:lnTo>
                  <a:pt x="865949" y="60058"/>
                </a:lnTo>
                <a:lnTo>
                  <a:pt x="861460" y="64548"/>
                </a:lnTo>
                <a:close/>
              </a:path>
              <a:path w="879475" h="129539">
                <a:moveTo>
                  <a:pt x="814870" y="95516"/>
                </a:moveTo>
                <a:lnTo>
                  <a:pt x="0" y="95516"/>
                </a:lnTo>
                <a:lnTo>
                  <a:pt x="0" y="33591"/>
                </a:lnTo>
                <a:lnTo>
                  <a:pt x="814870" y="33591"/>
                </a:lnTo>
                <a:lnTo>
                  <a:pt x="814870" y="39941"/>
                </a:lnTo>
                <a:lnTo>
                  <a:pt x="12700" y="39941"/>
                </a:lnTo>
                <a:lnTo>
                  <a:pt x="6350" y="46291"/>
                </a:lnTo>
                <a:lnTo>
                  <a:pt x="12700" y="46291"/>
                </a:lnTo>
                <a:lnTo>
                  <a:pt x="12700" y="82816"/>
                </a:lnTo>
                <a:lnTo>
                  <a:pt x="6350" y="82816"/>
                </a:lnTo>
                <a:lnTo>
                  <a:pt x="12700" y="89166"/>
                </a:lnTo>
                <a:lnTo>
                  <a:pt x="814870" y="89166"/>
                </a:lnTo>
                <a:lnTo>
                  <a:pt x="814870" y="95516"/>
                </a:lnTo>
                <a:close/>
              </a:path>
              <a:path w="879475" h="129539">
                <a:moveTo>
                  <a:pt x="827570" y="46291"/>
                </a:moveTo>
                <a:lnTo>
                  <a:pt x="12700" y="46291"/>
                </a:lnTo>
                <a:lnTo>
                  <a:pt x="12700" y="39941"/>
                </a:lnTo>
                <a:lnTo>
                  <a:pt x="814870" y="39941"/>
                </a:lnTo>
                <a:lnTo>
                  <a:pt x="821220" y="33591"/>
                </a:lnTo>
                <a:lnTo>
                  <a:pt x="827570" y="33591"/>
                </a:lnTo>
                <a:lnTo>
                  <a:pt x="827570" y="46291"/>
                </a:lnTo>
                <a:close/>
              </a:path>
              <a:path w="879475" h="129539">
                <a:moveTo>
                  <a:pt x="12700" y="46291"/>
                </a:moveTo>
                <a:lnTo>
                  <a:pt x="6350" y="46291"/>
                </a:lnTo>
                <a:lnTo>
                  <a:pt x="12700" y="39941"/>
                </a:lnTo>
                <a:lnTo>
                  <a:pt x="12700" y="46291"/>
                </a:lnTo>
                <a:close/>
              </a:path>
              <a:path w="879475" h="129539">
                <a:moveTo>
                  <a:pt x="865949" y="69037"/>
                </a:moveTo>
                <a:lnTo>
                  <a:pt x="861460" y="64548"/>
                </a:lnTo>
                <a:lnTo>
                  <a:pt x="865949" y="60058"/>
                </a:lnTo>
                <a:lnTo>
                  <a:pt x="865949" y="69037"/>
                </a:lnTo>
                <a:close/>
              </a:path>
              <a:path w="879475" h="129539">
                <a:moveTo>
                  <a:pt x="874941" y="69037"/>
                </a:moveTo>
                <a:lnTo>
                  <a:pt x="865949" y="69037"/>
                </a:lnTo>
                <a:lnTo>
                  <a:pt x="865949" y="60058"/>
                </a:lnTo>
                <a:lnTo>
                  <a:pt x="874928" y="60058"/>
                </a:lnTo>
                <a:lnTo>
                  <a:pt x="879424" y="64554"/>
                </a:lnTo>
                <a:lnTo>
                  <a:pt x="874941" y="69037"/>
                </a:lnTo>
                <a:close/>
              </a:path>
              <a:path w="879475" h="129539">
                <a:moveTo>
                  <a:pt x="830199" y="113779"/>
                </a:moveTo>
                <a:lnTo>
                  <a:pt x="827570" y="113779"/>
                </a:lnTo>
                <a:lnTo>
                  <a:pt x="827570" y="98447"/>
                </a:lnTo>
                <a:lnTo>
                  <a:pt x="861466" y="64554"/>
                </a:lnTo>
                <a:lnTo>
                  <a:pt x="865949" y="69037"/>
                </a:lnTo>
                <a:lnTo>
                  <a:pt x="874941" y="69037"/>
                </a:lnTo>
                <a:lnTo>
                  <a:pt x="830199" y="113779"/>
                </a:lnTo>
                <a:close/>
              </a:path>
              <a:path w="879475" h="129539">
                <a:moveTo>
                  <a:pt x="12700" y="89166"/>
                </a:moveTo>
                <a:lnTo>
                  <a:pt x="6350" y="82816"/>
                </a:lnTo>
                <a:lnTo>
                  <a:pt x="12700" y="82816"/>
                </a:lnTo>
                <a:lnTo>
                  <a:pt x="12700" y="89166"/>
                </a:lnTo>
                <a:close/>
              </a:path>
              <a:path w="879475" h="129539">
                <a:moveTo>
                  <a:pt x="827570" y="95516"/>
                </a:moveTo>
                <a:lnTo>
                  <a:pt x="821220" y="95516"/>
                </a:lnTo>
                <a:lnTo>
                  <a:pt x="814870" y="89166"/>
                </a:lnTo>
                <a:lnTo>
                  <a:pt x="12700" y="89166"/>
                </a:lnTo>
                <a:lnTo>
                  <a:pt x="12700" y="82816"/>
                </a:lnTo>
                <a:lnTo>
                  <a:pt x="827570" y="82816"/>
                </a:lnTo>
                <a:lnTo>
                  <a:pt x="827570" y="95516"/>
                </a:lnTo>
                <a:close/>
              </a:path>
              <a:path w="879475" h="129539">
                <a:moveTo>
                  <a:pt x="814870" y="129108"/>
                </a:moveTo>
                <a:lnTo>
                  <a:pt x="814870" y="89166"/>
                </a:lnTo>
                <a:lnTo>
                  <a:pt x="821220" y="95516"/>
                </a:lnTo>
                <a:lnTo>
                  <a:pt x="827570" y="95516"/>
                </a:lnTo>
                <a:lnTo>
                  <a:pt x="827570" y="98447"/>
                </a:lnTo>
                <a:lnTo>
                  <a:pt x="816737" y="109283"/>
                </a:lnTo>
                <a:lnTo>
                  <a:pt x="827570" y="113779"/>
                </a:lnTo>
                <a:lnTo>
                  <a:pt x="830199" y="113779"/>
                </a:lnTo>
                <a:lnTo>
                  <a:pt x="814870" y="129108"/>
                </a:lnTo>
                <a:close/>
              </a:path>
              <a:path w="879475" h="129539">
                <a:moveTo>
                  <a:pt x="827570" y="113779"/>
                </a:moveTo>
                <a:lnTo>
                  <a:pt x="816737" y="109283"/>
                </a:lnTo>
                <a:lnTo>
                  <a:pt x="827570" y="98447"/>
                </a:lnTo>
                <a:lnTo>
                  <a:pt x="827570" y="113779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7479842" y="1640040"/>
            <a:ext cx="107950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 b="1">
                <a:latin typeface="Times New Roman"/>
                <a:cs typeface="Times New Roman"/>
              </a:rPr>
              <a:t>2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70827" y="1499704"/>
            <a:ext cx="166687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宋体"/>
                <a:cs typeface="宋体"/>
              </a:rPr>
              <a:t>电压</a:t>
            </a:r>
            <a:r>
              <a:rPr dirty="0" sz="2000" spc="500">
                <a:latin typeface="宋体"/>
                <a:cs typeface="宋体"/>
              </a:rPr>
              <a:t>表</a:t>
            </a:r>
            <a:r>
              <a:rPr dirty="0" sz="2000">
                <a:latin typeface="Times New Roman"/>
                <a:cs typeface="Times New Roman"/>
              </a:rPr>
              <a:t>V</a:t>
            </a:r>
            <a:r>
              <a:rPr dirty="0" sz="2000" spc="380">
                <a:latin typeface="Times New Roman"/>
                <a:cs typeface="Times New Roman"/>
              </a:rPr>
              <a:t> </a:t>
            </a:r>
            <a:r>
              <a:rPr dirty="0" sz="2000">
                <a:latin typeface="宋体"/>
                <a:cs typeface="宋体"/>
              </a:rPr>
              <a:t>不</a:t>
            </a:r>
            <a:r>
              <a:rPr dirty="0" sz="2000" spc="5">
                <a:latin typeface="宋体"/>
                <a:cs typeface="宋体"/>
              </a:rPr>
              <a:t>变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890515" y="3508247"/>
            <a:ext cx="864235" cy="99060"/>
          </a:xfrm>
          <a:custGeom>
            <a:avLst/>
            <a:gdLst/>
            <a:ahLst/>
            <a:cxnLst/>
            <a:rect l="l" t="t" r="r" b="b"/>
            <a:pathLst>
              <a:path w="864235" h="99060">
                <a:moveTo>
                  <a:pt x="815339" y="99060"/>
                </a:moveTo>
                <a:lnTo>
                  <a:pt x="815339" y="74675"/>
                </a:lnTo>
                <a:lnTo>
                  <a:pt x="0" y="74675"/>
                </a:lnTo>
                <a:lnTo>
                  <a:pt x="0" y="25907"/>
                </a:lnTo>
                <a:lnTo>
                  <a:pt x="815339" y="25907"/>
                </a:lnTo>
                <a:lnTo>
                  <a:pt x="815339" y="0"/>
                </a:lnTo>
                <a:lnTo>
                  <a:pt x="864108" y="50291"/>
                </a:lnTo>
                <a:lnTo>
                  <a:pt x="815339" y="9906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884178" y="3493604"/>
            <a:ext cx="879475" cy="129539"/>
          </a:xfrm>
          <a:custGeom>
            <a:avLst/>
            <a:gdLst/>
            <a:ahLst/>
            <a:cxnLst/>
            <a:rect l="l" t="t" r="r" b="b"/>
            <a:pathLst>
              <a:path w="879475" h="129539">
                <a:moveTo>
                  <a:pt x="814882" y="39941"/>
                </a:moveTo>
                <a:lnTo>
                  <a:pt x="814882" y="0"/>
                </a:lnTo>
                <a:lnTo>
                  <a:pt x="830208" y="15328"/>
                </a:lnTo>
                <a:lnTo>
                  <a:pt x="827582" y="15328"/>
                </a:lnTo>
                <a:lnTo>
                  <a:pt x="816737" y="19812"/>
                </a:lnTo>
                <a:lnTo>
                  <a:pt x="827582" y="30657"/>
                </a:lnTo>
                <a:lnTo>
                  <a:pt x="827582" y="33591"/>
                </a:lnTo>
                <a:lnTo>
                  <a:pt x="821232" y="33591"/>
                </a:lnTo>
                <a:lnTo>
                  <a:pt x="814882" y="39941"/>
                </a:lnTo>
                <a:close/>
              </a:path>
              <a:path w="879475" h="129539">
                <a:moveTo>
                  <a:pt x="827582" y="30657"/>
                </a:moveTo>
                <a:lnTo>
                  <a:pt x="816737" y="19812"/>
                </a:lnTo>
                <a:lnTo>
                  <a:pt x="827582" y="15328"/>
                </a:lnTo>
                <a:lnTo>
                  <a:pt x="827582" y="30657"/>
                </a:lnTo>
                <a:close/>
              </a:path>
              <a:path w="879475" h="129539">
                <a:moveTo>
                  <a:pt x="861472" y="64547"/>
                </a:moveTo>
                <a:lnTo>
                  <a:pt x="827582" y="30657"/>
                </a:lnTo>
                <a:lnTo>
                  <a:pt x="827582" y="15328"/>
                </a:lnTo>
                <a:lnTo>
                  <a:pt x="830208" y="15328"/>
                </a:lnTo>
                <a:lnTo>
                  <a:pt x="874929" y="60058"/>
                </a:lnTo>
                <a:lnTo>
                  <a:pt x="865962" y="60058"/>
                </a:lnTo>
                <a:lnTo>
                  <a:pt x="861472" y="64547"/>
                </a:lnTo>
                <a:close/>
              </a:path>
              <a:path w="879475" h="129539">
                <a:moveTo>
                  <a:pt x="814882" y="95504"/>
                </a:moveTo>
                <a:lnTo>
                  <a:pt x="0" y="95504"/>
                </a:lnTo>
                <a:lnTo>
                  <a:pt x="0" y="33591"/>
                </a:lnTo>
                <a:lnTo>
                  <a:pt x="814882" y="33591"/>
                </a:lnTo>
                <a:lnTo>
                  <a:pt x="814882" y="39941"/>
                </a:lnTo>
                <a:lnTo>
                  <a:pt x="12700" y="39941"/>
                </a:lnTo>
                <a:lnTo>
                  <a:pt x="6350" y="46291"/>
                </a:lnTo>
                <a:lnTo>
                  <a:pt x="12700" y="46291"/>
                </a:lnTo>
                <a:lnTo>
                  <a:pt x="12700" y="82804"/>
                </a:lnTo>
                <a:lnTo>
                  <a:pt x="6350" y="82804"/>
                </a:lnTo>
                <a:lnTo>
                  <a:pt x="12700" y="89154"/>
                </a:lnTo>
                <a:lnTo>
                  <a:pt x="814882" y="89154"/>
                </a:lnTo>
                <a:lnTo>
                  <a:pt x="814882" y="95504"/>
                </a:lnTo>
                <a:close/>
              </a:path>
              <a:path w="879475" h="129539">
                <a:moveTo>
                  <a:pt x="827582" y="46291"/>
                </a:moveTo>
                <a:lnTo>
                  <a:pt x="12700" y="46291"/>
                </a:lnTo>
                <a:lnTo>
                  <a:pt x="12700" y="39941"/>
                </a:lnTo>
                <a:lnTo>
                  <a:pt x="814882" y="39941"/>
                </a:lnTo>
                <a:lnTo>
                  <a:pt x="821232" y="33591"/>
                </a:lnTo>
                <a:lnTo>
                  <a:pt x="827582" y="33591"/>
                </a:lnTo>
                <a:lnTo>
                  <a:pt x="827582" y="46291"/>
                </a:lnTo>
                <a:close/>
              </a:path>
              <a:path w="879475" h="129539">
                <a:moveTo>
                  <a:pt x="12700" y="46291"/>
                </a:moveTo>
                <a:lnTo>
                  <a:pt x="6350" y="46291"/>
                </a:lnTo>
                <a:lnTo>
                  <a:pt x="12700" y="39941"/>
                </a:lnTo>
                <a:lnTo>
                  <a:pt x="12700" y="46291"/>
                </a:lnTo>
                <a:close/>
              </a:path>
              <a:path w="879475" h="129539">
                <a:moveTo>
                  <a:pt x="865962" y="69037"/>
                </a:moveTo>
                <a:lnTo>
                  <a:pt x="861472" y="64547"/>
                </a:lnTo>
                <a:lnTo>
                  <a:pt x="865962" y="60058"/>
                </a:lnTo>
                <a:lnTo>
                  <a:pt x="865962" y="69037"/>
                </a:lnTo>
                <a:close/>
              </a:path>
              <a:path w="879475" h="129539">
                <a:moveTo>
                  <a:pt x="874941" y="69037"/>
                </a:moveTo>
                <a:lnTo>
                  <a:pt x="865962" y="69037"/>
                </a:lnTo>
                <a:lnTo>
                  <a:pt x="865962" y="60058"/>
                </a:lnTo>
                <a:lnTo>
                  <a:pt x="874929" y="60058"/>
                </a:lnTo>
                <a:lnTo>
                  <a:pt x="879424" y="64554"/>
                </a:lnTo>
                <a:lnTo>
                  <a:pt x="874941" y="69037"/>
                </a:lnTo>
                <a:close/>
              </a:path>
              <a:path w="879475" h="129539">
                <a:moveTo>
                  <a:pt x="830211" y="113766"/>
                </a:moveTo>
                <a:lnTo>
                  <a:pt x="827582" y="113766"/>
                </a:lnTo>
                <a:lnTo>
                  <a:pt x="827582" y="98437"/>
                </a:lnTo>
                <a:lnTo>
                  <a:pt x="861479" y="64554"/>
                </a:lnTo>
                <a:lnTo>
                  <a:pt x="865962" y="69037"/>
                </a:lnTo>
                <a:lnTo>
                  <a:pt x="874941" y="69037"/>
                </a:lnTo>
                <a:lnTo>
                  <a:pt x="830211" y="113766"/>
                </a:lnTo>
                <a:close/>
              </a:path>
              <a:path w="879475" h="129539">
                <a:moveTo>
                  <a:pt x="12700" y="89154"/>
                </a:moveTo>
                <a:lnTo>
                  <a:pt x="6350" y="82804"/>
                </a:lnTo>
                <a:lnTo>
                  <a:pt x="12700" y="82804"/>
                </a:lnTo>
                <a:lnTo>
                  <a:pt x="12700" y="89154"/>
                </a:lnTo>
                <a:close/>
              </a:path>
              <a:path w="879475" h="129539">
                <a:moveTo>
                  <a:pt x="827582" y="95504"/>
                </a:moveTo>
                <a:lnTo>
                  <a:pt x="821232" y="95504"/>
                </a:lnTo>
                <a:lnTo>
                  <a:pt x="814882" y="89154"/>
                </a:lnTo>
                <a:lnTo>
                  <a:pt x="12700" y="89154"/>
                </a:lnTo>
                <a:lnTo>
                  <a:pt x="12700" y="82804"/>
                </a:lnTo>
                <a:lnTo>
                  <a:pt x="827582" y="82804"/>
                </a:lnTo>
                <a:lnTo>
                  <a:pt x="827582" y="95504"/>
                </a:lnTo>
                <a:close/>
              </a:path>
              <a:path w="879475" h="129539">
                <a:moveTo>
                  <a:pt x="814882" y="129095"/>
                </a:moveTo>
                <a:lnTo>
                  <a:pt x="814882" y="89154"/>
                </a:lnTo>
                <a:lnTo>
                  <a:pt x="821232" y="95504"/>
                </a:lnTo>
                <a:lnTo>
                  <a:pt x="827582" y="95504"/>
                </a:lnTo>
                <a:lnTo>
                  <a:pt x="827582" y="98437"/>
                </a:lnTo>
                <a:lnTo>
                  <a:pt x="816737" y="109283"/>
                </a:lnTo>
                <a:lnTo>
                  <a:pt x="827582" y="113766"/>
                </a:lnTo>
                <a:lnTo>
                  <a:pt x="830211" y="113766"/>
                </a:lnTo>
                <a:lnTo>
                  <a:pt x="814882" y="129095"/>
                </a:lnTo>
                <a:close/>
              </a:path>
              <a:path w="879475" h="129539">
                <a:moveTo>
                  <a:pt x="827582" y="113766"/>
                </a:moveTo>
                <a:lnTo>
                  <a:pt x="816737" y="109283"/>
                </a:lnTo>
                <a:lnTo>
                  <a:pt x="827582" y="98437"/>
                </a:lnTo>
                <a:lnTo>
                  <a:pt x="827582" y="113766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6332677" y="2155367"/>
            <a:ext cx="191770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latin typeface="宋体"/>
                <a:cs typeface="宋体"/>
              </a:rPr>
              <a:t>2 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149162" y="2015032"/>
            <a:ext cx="211963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63220" algn="l"/>
              </a:tabLst>
            </a:pPr>
            <a:r>
              <a:rPr dirty="0" sz="2000" i="1">
                <a:latin typeface="Times New Roman"/>
                <a:cs typeface="Times New Roman"/>
              </a:rPr>
              <a:t>U	</a:t>
            </a:r>
            <a:r>
              <a:rPr dirty="0" sz="2000">
                <a:latin typeface="宋体"/>
                <a:cs typeface="宋体"/>
              </a:rPr>
              <a:t>不变，</a:t>
            </a:r>
            <a:r>
              <a:rPr dirty="0" sz="2000" i="1">
                <a:latin typeface="Times New Roman"/>
                <a:cs typeface="Times New Roman"/>
              </a:rPr>
              <a:t>R</a:t>
            </a:r>
            <a:r>
              <a:rPr dirty="0" sz="2000" spc="-85" i="1">
                <a:latin typeface="Times New Roman"/>
                <a:cs typeface="Times New Roman"/>
              </a:rPr>
              <a:t> </a:t>
            </a:r>
            <a:r>
              <a:rPr dirty="0" sz="2000">
                <a:latin typeface="宋体"/>
                <a:cs typeface="宋体"/>
              </a:rPr>
              <a:t>变小</a:t>
            </a:r>
            <a:r>
              <a:rPr dirty="0" sz="2000" spc="5">
                <a:latin typeface="宋体"/>
                <a:cs typeface="宋体"/>
              </a:rPr>
              <a:t>，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812791" y="2144267"/>
            <a:ext cx="864235" cy="99060"/>
          </a:xfrm>
          <a:custGeom>
            <a:avLst/>
            <a:gdLst/>
            <a:ahLst/>
            <a:cxnLst/>
            <a:rect l="l" t="t" r="r" b="b"/>
            <a:pathLst>
              <a:path w="864235" h="99060">
                <a:moveTo>
                  <a:pt x="815340" y="99059"/>
                </a:moveTo>
                <a:lnTo>
                  <a:pt x="815340" y="74675"/>
                </a:lnTo>
                <a:lnTo>
                  <a:pt x="0" y="74675"/>
                </a:lnTo>
                <a:lnTo>
                  <a:pt x="0" y="24383"/>
                </a:lnTo>
                <a:lnTo>
                  <a:pt x="815340" y="24383"/>
                </a:lnTo>
                <a:lnTo>
                  <a:pt x="815340" y="0"/>
                </a:lnTo>
                <a:lnTo>
                  <a:pt x="864108" y="48768"/>
                </a:lnTo>
                <a:lnTo>
                  <a:pt x="815340" y="9905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806734" y="2129091"/>
            <a:ext cx="879475" cy="129539"/>
          </a:xfrm>
          <a:custGeom>
            <a:avLst/>
            <a:gdLst/>
            <a:ahLst/>
            <a:cxnLst/>
            <a:rect l="l" t="t" r="r" b="b"/>
            <a:pathLst>
              <a:path w="879475" h="129539">
                <a:moveTo>
                  <a:pt x="814882" y="39941"/>
                </a:moveTo>
                <a:lnTo>
                  <a:pt x="814882" y="0"/>
                </a:lnTo>
                <a:lnTo>
                  <a:pt x="830211" y="15328"/>
                </a:lnTo>
                <a:lnTo>
                  <a:pt x="827582" y="15328"/>
                </a:lnTo>
                <a:lnTo>
                  <a:pt x="816737" y="19812"/>
                </a:lnTo>
                <a:lnTo>
                  <a:pt x="827582" y="30657"/>
                </a:lnTo>
                <a:lnTo>
                  <a:pt x="827582" y="33591"/>
                </a:lnTo>
                <a:lnTo>
                  <a:pt x="821232" y="33591"/>
                </a:lnTo>
                <a:lnTo>
                  <a:pt x="814882" y="39941"/>
                </a:lnTo>
                <a:close/>
              </a:path>
              <a:path w="879475" h="129539">
                <a:moveTo>
                  <a:pt x="827582" y="30657"/>
                </a:moveTo>
                <a:lnTo>
                  <a:pt x="816737" y="19812"/>
                </a:lnTo>
                <a:lnTo>
                  <a:pt x="827582" y="15328"/>
                </a:lnTo>
                <a:lnTo>
                  <a:pt x="827582" y="30657"/>
                </a:lnTo>
                <a:close/>
              </a:path>
              <a:path w="879475" h="129539">
                <a:moveTo>
                  <a:pt x="861472" y="64547"/>
                </a:moveTo>
                <a:lnTo>
                  <a:pt x="827582" y="30657"/>
                </a:lnTo>
                <a:lnTo>
                  <a:pt x="827582" y="15328"/>
                </a:lnTo>
                <a:lnTo>
                  <a:pt x="830211" y="15328"/>
                </a:lnTo>
                <a:lnTo>
                  <a:pt x="874941" y="60058"/>
                </a:lnTo>
                <a:lnTo>
                  <a:pt x="865962" y="60058"/>
                </a:lnTo>
                <a:lnTo>
                  <a:pt x="861472" y="64547"/>
                </a:lnTo>
                <a:close/>
              </a:path>
              <a:path w="879475" h="129539">
                <a:moveTo>
                  <a:pt x="814882" y="95503"/>
                </a:moveTo>
                <a:lnTo>
                  <a:pt x="0" y="95503"/>
                </a:lnTo>
                <a:lnTo>
                  <a:pt x="0" y="33591"/>
                </a:lnTo>
                <a:lnTo>
                  <a:pt x="814882" y="33591"/>
                </a:lnTo>
                <a:lnTo>
                  <a:pt x="814882" y="39941"/>
                </a:lnTo>
                <a:lnTo>
                  <a:pt x="12700" y="39941"/>
                </a:lnTo>
                <a:lnTo>
                  <a:pt x="6350" y="46291"/>
                </a:lnTo>
                <a:lnTo>
                  <a:pt x="12700" y="46291"/>
                </a:lnTo>
                <a:lnTo>
                  <a:pt x="12700" y="82803"/>
                </a:lnTo>
                <a:lnTo>
                  <a:pt x="6350" y="82803"/>
                </a:lnTo>
                <a:lnTo>
                  <a:pt x="12700" y="89153"/>
                </a:lnTo>
                <a:lnTo>
                  <a:pt x="814882" y="89153"/>
                </a:lnTo>
                <a:lnTo>
                  <a:pt x="814882" y="95503"/>
                </a:lnTo>
                <a:close/>
              </a:path>
              <a:path w="879475" h="129539">
                <a:moveTo>
                  <a:pt x="827582" y="46291"/>
                </a:moveTo>
                <a:lnTo>
                  <a:pt x="12700" y="46291"/>
                </a:lnTo>
                <a:lnTo>
                  <a:pt x="12700" y="39941"/>
                </a:lnTo>
                <a:lnTo>
                  <a:pt x="814882" y="39941"/>
                </a:lnTo>
                <a:lnTo>
                  <a:pt x="821232" y="33591"/>
                </a:lnTo>
                <a:lnTo>
                  <a:pt x="827582" y="33591"/>
                </a:lnTo>
                <a:lnTo>
                  <a:pt x="827582" y="46291"/>
                </a:lnTo>
                <a:close/>
              </a:path>
              <a:path w="879475" h="129539">
                <a:moveTo>
                  <a:pt x="12700" y="46291"/>
                </a:moveTo>
                <a:lnTo>
                  <a:pt x="6350" y="46291"/>
                </a:lnTo>
                <a:lnTo>
                  <a:pt x="12700" y="39941"/>
                </a:lnTo>
                <a:lnTo>
                  <a:pt x="12700" y="46291"/>
                </a:lnTo>
                <a:close/>
              </a:path>
              <a:path w="879475" h="129539">
                <a:moveTo>
                  <a:pt x="865962" y="69037"/>
                </a:moveTo>
                <a:lnTo>
                  <a:pt x="861479" y="64541"/>
                </a:lnTo>
                <a:lnTo>
                  <a:pt x="865962" y="60058"/>
                </a:lnTo>
                <a:lnTo>
                  <a:pt x="865962" y="69037"/>
                </a:lnTo>
                <a:close/>
              </a:path>
              <a:path w="879475" h="129539">
                <a:moveTo>
                  <a:pt x="874929" y="69037"/>
                </a:moveTo>
                <a:lnTo>
                  <a:pt x="865962" y="69037"/>
                </a:lnTo>
                <a:lnTo>
                  <a:pt x="865962" y="60058"/>
                </a:lnTo>
                <a:lnTo>
                  <a:pt x="874941" y="60058"/>
                </a:lnTo>
                <a:lnTo>
                  <a:pt x="879417" y="64547"/>
                </a:lnTo>
                <a:lnTo>
                  <a:pt x="874929" y="69037"/>
                </a:lnTo>
                <a:close/>
              </a:path>
              <a:path w="879475" h="129539">
                <a:moveTo>
                  <a:pt x="830208" y="113766"/>
                </a:moveTo>
                <a:lnTo>
                  <a:pt x="827582" y="113766"/>
                </a:lnTo>
                <a:lnTo>
                  <a:pt x="827582" y="98437"/>
                </a:lnTo>
                <a:lnTo>
                  <a:pt x="861472" y="64547"/>
                </a:lnTo>
                <a:lnTo>
                  <a:pt x="865962" y="69037"/>
                </a:lnTo>
                <a:lnTo>
                  <a:pt x="874929" y="69037"/>
                </a:lnTo>
                <a:lnTo>
                  <a:pt x="830208" y="113766"/>
                </a:lnTo>
                <a:close/>
              </a:path>
              <a:path w="879475" h="129539">
                <a:moveTo>
                  <a:pt x="12700" y="89153"/>
                </a:moveTo>
                <a:lnTo>
                  <a:pt x="6350" y="82803"/>
                </a:lnTo>
                <a:lnTo>
                  <a:pt x="12700" y="82803"/>
                </a:lnTo>
                <a:lnTo>
                  <a:pt x="12700" y="89153"/>
                </a:lnTo>
                <a:close/>
              </a:path>
              <a:path w="879475" h="129539">
                <a:moveTo>
                  <a:pt x="827582" y="95503"/>
                </a:moveTo>
                <a:lnTo>
                  <a:pt x="821232" y="95503"/>
                </a:lnTo>
                <a:lnTo>
                  <a:pt x="814882" y="89153"/>
                </a:lnTo>
                <a:lnTo>
                  <a:pt x="12700" y="89153"/>
                </a:lnTo>
                <a:lnTo>
                  <a:pt x="12700" y="82803"/>
                </a:lnTo>
                <a:lnTo>
                  <a:pt x="827582" y="82803"/>
                </a:lnTo>
                <a:lnTo>
                  <a:pt x="827582" y="95503"/>
                </a:lnTo>
                <a:close/>
              </a:path>
              <a:path w="879475" h="129539">
                <a:moveTo>
                  <a:pt x="814882" y="129095"/>
                </a:moveTo>
                <a:lnTo>
                  <a:pt x="814882" y="89153"/>
                </a:lnTo>
                <a:lnTo>
                  <a:pt x="821232" y="95503"/>
                </a:lnTo>
                <a:lnTo>
                  <a:pt x="827582" y="95503"/>
                </a:lnTo>
                <a:lnTo>
                  <a:pt x="827582" y="98437"/>
                </a:lnTo>
                <a:lnTo>
                  <a:pt x="816737" y="109283"/>
                </a:lnTo>
                <a:lnTo>
                  <a:pt x="827582" y="113766"/>
                </a:lnTo>
                <a:lnTo>
                  <a:pt x="830208" y="113766"/>
                </a:lnTo>
                <a:lnTo>
                  <a:pt x="814882" y="129095"/>
                </a:lnTo>
                <a:close/>
              </a:path>
              <a:path w="879475" h="129539">
                <a:moveTo>
                  <a:pt x="827582" y="113766"/>
                </a:moveTo>
                <a:lnTo>
                  <a:pt x="816737" y="109283"/>
                </a:lnTo>
                <a:lnTo>
                  <a:pt x="827582" y="98437"/>
                </a:lnTo>
                <a:lnTo>
                  <a:pt x="827582" y="113766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012179" y="2799588"/>
            <a:ext cx="431800" cy="97790"/>
          </a:xfrm>
          <a:custGeom>
            <a:avLst/>
            <a:gdLst/>
            <a:ahLst/>
            <a:cxnLst/>
            <a:rect l="l" t="t" r="r" b="b"/>
            <a:pathLst>
              <a:path w="431800" h="97789">
                <a:moveTo>
                  <a:pt x="382524" y="97536"/>
                </a:moveTo>
                <a:lnTo>
                  <a:pt x="382524" y="73151"/>
                </a:lnTo>
                <a:lnTo>
                  <a:pt x="0" y="73151"/>
                </a:lnTo>
                <a:lnTo>
                  <a:pt x="0" y="24384"/>
                </a:lnTo>
                <a:lnTo>
                  <a:pt x="382524" y="24384"/>
                </a:lnTo>
                <a:lnTo>
                  <a:pt x="382524" y="0"/>
                </a:lnTo>
                <a:lnTo>
                  <a:pt x="431292" y="48768"/>
                </a:lnTo>
                <a:lnTo>
                  <a:pt x="382524" y="97536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005804" y="2783547"/>
            <a:ext cx="447675" cy="129539"/>
          </a:xfrm>
          <a:custGeom>
            <a:avLst/>
            <a:gdLst/>
            <a:ahLst/>
            <a:cxnLst/>
            <a:rect l="l" t="t" r="r" b="b"/>
            <a:pathLst>
              <a:path w="447675" h="129539">
                <a:moveTo>
                  <a:pt x="382828" y="39941"/>
                </a:moveTo>
                <a:lnTo>
                  <a:pt x="382828" y="0"/>
                </a:lnTo>
                <a:lnTo>
                  <a:pt x="398157" y="15328"/>
                </a:lnTo>
                <a:lnTo>
                  <a:pt x="395528" y="15328"/>
                </a:lnTo>
                <a:lnTo>
                  <a:pt x="384695" y="19824"/>
                </a:lnTo>
                <a:lnTo>
                  <a:pt x="395528" y="30657"/>
                </a:lnTo>
                <a:lnTo>
                  <a:pt x="395528" y="33591"/>
                </a:lnTo>
                <a:lnTo>
                  <a:pt x="389178" y="33591"/>
                </a:lnTo>
                <a:lnTo>
                  <a:pt x="382828" y="39941"/>
                </a:lnTo>
                <a:close/>
              </a:path>
              <a:path w="447675" h="129539">
                <a:moveTo>
                  <a:pt x="395528" y="30657"/>
                </a:moveTo>
                <a:lnTo>
                  <a:pt x="384695" y="19824"/>
                </a:lnTo>
                <a:lnTo>
                  <a:pt x="395528" y="15328"/>
                </a:lnTo>
                <a:lnTo>
                  <a:pt x="395528" y="30657"/>
                </a:lnTo>
                <a:close/>
              </a:path>
              <a:path w="447675" h="129539">
                <a:moveTo>
                  <a:pt x="429419" y="64548"/>
                </a:moveTo>
                <a:lnTo>
                  <a:pt x="395528" y="30657"/>
                </a:lnTo>
                <a:lnTo>
                  <a:pt x="395528" y="15328"/>
                </a:lnTo>
                <a:lnTo>
                  <a:pt x="398157" y="15328"/>
                </a:lnTo>
                <a:lnTo>
                  <a:pt x="442887" y="60058"/>
                </a:lnTo>
                <a:lnTo>
                  <a:pt x="433908" y="60058"/>
                </a:lnTo>
                <a:lnTo>
                  <a:pt x="429419" y="64548"/>
                </a:lnTo>
                <a:close/>
              </a:path>
              <a:path w="447675" h="129539">
                <a:moveTo>
                  <a:pt x="382828" y="95516"/>
                </a:moveTo>
                <a:lnTo>
                  <a:pt x="0" y="95516"/>
                </a:lnTo>
                <a:lnTo>
                  <a:pt x="0" y="33591"/>
                </a:lnTo>
                <a:lnTo>
                  <a:pt x="382828" y="33591"/>
                </a:lnTo>
                <a:lnTo>
                  <a:pt x="382828" y="39941"/>
                </a:lnTo>
                <a:lnTo>
                  <a:pt x="12700" y="39941"/>
                </a:lnTo>
                <a:lnTo>
                  <a:pt x="6350" y="46291"/>
                </a:lnTo>
                <a:lnTo>
                  <a:pt x="12700" y="46291"/>
                </a:lnTo>
                <a:lnTo>
                  <a:pt x="12700" y="82816"/>
                </a:lnTo>
                <a:lnTo>
                  <a:pt x="6350" y="82816"/>
                </a:lnTo>
                <a:lnTo>
                  <a:pt x="12700" y="89166"/>
                </a:lnTo>
                <a:lnTo>
                  <a:pt x="382828" y="89166"/>
                </a:lnTo>
                <a:lnTo>
                  <a:pt x="382828" y="95516"/>
                </a:lnTo>
                <a:close/>
              </a:path>
              <a:path w="447675" h="129539">
                <a:moveTo>
                  <a:pt x="395528" y="46291"/>
                </a:moveTo>
                <a:lnTo>
                  <a:pt x="12700" y="46291"/>
                </a:lnTo>
                <a:lnTo>
                  <a:pt x="12700" y="39941"/>
                </a:lnTo>
                <a:lnTo>
                  <a:pt x="382828" y="39941"/>
                </a:lnTo>
                <a:lnTo>
                  <a:pt x="389178" y="33591"/>
                </a:lnTo>
                <a:lnTo>
                  <a:pt x="395528" y="33591"/>
                </a:lnTo>
                <a:lnTo>
                  <a:pt x="395528" y="46291"/>
                </a:lnTo>
                <a:close/>
              </a:path>
              <a:path w="447675" h="129539">
                <a:moveTo>
                  <a:pt x="12700" y="46291"/>
                </a:moveTo>
                <a:lnTo>
                  <a:pt x="6350" y="46291"/>
                </a:lnTo>
                <a:lnTo>
                  <a:pt x="12700" y="39941"/>
                </a:lnTo>
                <a:lnTo>
                  <a:pt x="12700" y="46291"/>
                </a:lnTo>
                <a:close/>
              </a:path>
              <a:path w="447675" h="129539">
                <a:moveTo>
                  <a:pt x="433908" y="69037"/>
                </a:moveTo>
                <a:lnTo>
                  <a:pt x="429419" y="64548"/>
                </a:lnTo>
                <a:lnTo>
                  <a:pt x="433908" y="60058"/>
                </a:lnTo>
                <a:lnTo>
                  <a:pt x="433908" y="69037"/>
                </a:lnTo>
                <a:close/>
              </a:path>
              <a:path w="447675" h="129539">
                <a:moveTo>
                  <a:pt x="442899" y="69037"/>
                </a:moveTo>
                <a:lnTo>
                  <a:pt x="433908" y="69037"/>
                </a:lnTo>
                <a:lnTo>
                  <a:pt x="433908" y="60058"/>
                </a:lnTo>
                <a:lnTo>
                  <a:pt x="442887" y="60058"/>
                </a:lnTo>
                <a:lnTo>
                  <a:pt x="447382" y="64554"/>
                </a:lnTo>
                <a:lnTo>
                  <a:pt x="442899" y="69037"/>
                </a:lnTo>
                <a:close/>
              </a:path>
              <a:path w="447675" h="129539">
                <a:moveTo>
                  <a:pt x="398157" y="113779"/>
                </a:moveTo>
                <a:lnTo>
                  <a:pt x="395528" y="113779"/>
                </a:lnTo>
                <a:lnTo>
                  <a:pt x="395528" y="98447"/>
                </a:lnTo>
                <a:lnTo>
                  <a:pt x="429425" y="64554"/>
                </a:lnTo>
                <a:lnTo>
                  <a:pt x="433908" y="69037"/>
                </a:lnTo>
                <a:lnTo>
                  <a:pt x="442899" y="69037"/>
                </a:lnTo>
                <a:lnTo>
                  <a:pt x="398157" y="113779"/>
                </a:lnTo>
                <a:close/>
              </a:path>
              <a:path w="447675" h="129539">
                <a:moveTo>
                  <a:pt x="12700" y="89166"/>
                </a:moveTo>
                <a:lnTo>
                  <a:pt x="6350" y="82816"/>
                </a:lnTo>
                <a:lnTo>
                  <a:pt x="12700" y="82816"/>
                </a:lnTo>
                <a:lnTo>
                  <a:pt x="12700" y="89166"/>
                </a:lnTo>
                <a:close/>
              </a:path>
              <a:path w="447675" h="129539">
                <a:moveTo>
                  <a:pt x="395528" y="95516"/>
                </a:moveTo>
                <a:lnTo>
                  <a:pt x="389178" y="95516"/>
                </a:lnTo>
                <a:lnTo>
                  <a:pt x="382828" y="89166"/>
                </a:lnTo>
                <a:lnTo>
                  <a:pt x="12700" y="89166"/>
                </a:lnTo>
                <a:lnTo>
                  <a:pt x="12700" y="82816"/>
                </a:lnTo>
                <a:lnTo>
                  <a:pt x="395528" y="82816"/>
                </a:lnTo>
                <a:lnTo>
                  <a:pt x="395528" y="95516"/>
                </a:lnTo>
                <a:close/>
              </a:path>
              <a:path w="447675" h="129539">
                <a:moveTo>
                  <a:pt x="382828" y="129108"/>
                </a:moveTo>
                <a:lnTo>
                  <a:pt x="382828" y="89166"/>
                </a:lnTo>
                <a:lnTo>
                  <a:pt x="389178" y="95516"/>
                </a:lnTo>
                <a:lnTo>
                  <a:pt x="395528" y="95516"/>
                </a:lnTo>
                <a:lnTo>
                  <a:pt x="395528" y="98447"/>
                </a:lnTo>
                <a:lnTo>
                  <a:pt x="384695" y="109283"/>
                </a:lnTo>
                <a:lnTo>
                  <a:pt x="395528" y="113779"/>
                </a:lnTo>
                <a:lnTo>
                  <a:pt x="398157" y="113779"/>
                </a:lnTo>
                <a:lnTo>
                  <a:pt x="382828" y="129108"/>
                </a:lnTo>
                <a:close/>
              </a:path>
              <a:path w="447675" h="129539">
                <a:moveTo>
                  <a:pt x="395528" y="113779"/>
                </a:moveTo>
                <a:lnTo>
                  <a:pt x="384695" y="109283"/>
                </a:lnTo>
                <a:lnTo>
                  <a:pt x="395528" y="98447"/>
                </a:lnTo>
                <a:lnTo>
                  <a:pt x="395528" y="113779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4411840" y="3955986"/>
            <a:ext cx="3641725" cy="787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dirty="0" sz="2000">
                <a:latin typeface="宋体"/>
                <a:cs typeface="宋体"/>
              </a:rPr>
              <a:t>电压</a:t>
            </a:r>
            <a:r>
              <a:rPr dirty="0" sz="2000" spc="500">
                <a:latin typeface="宋体"/>
                <a:cs typeface="宋体"/>
              </a:rPr>
              <a:t>表</a:t>
            </a:r>
            <a:r>
              <a:rPr dirty="0" sz="2000">
                <a:latin typeface="Times New Roman"/>
                <a:cs typeface="Times New Roman"/>
              </a:rPr>
              <a:t>V</a:t>
            </a:r>
            <a:r>
              <a:rPr dirty="0" baseline="-17921" sz="2325" b="1">
                <a:latin typeface="Times New Roman"/>
                <a:cs typeface="Times New Roman"/>
              </a:rPr>
              <a:t>2</a:t>
            </a:r>
            <a:r>
              <a:rPr dirty="0" baseline="-17921" sz="2325" spc="-22" b="1">
                <a:latin typeface="Times New Roman"/>
                <a:cs typeface="Times New Roman"/>
              </a:rPr>
              <a:t> </a:t>
            </a:r>
            <a:r>
              <a:rPr dirty="0" sz="2000">
                <a:latin typeface="宋体"/>
                <a:cs typeface="宋体"/>
              </a:rPr>
              <a:t>不变</a:t>
            </a:r>
            <a:r>
              <a:rPr dirty="0" sz="2000" spc="5">
                <a:latin typeface="宋体"/>
                <a:cs typeface="宋体"/>
              </a:rPr>
              <a:t>，</a:t>
            </a:r>
            <a:r>
              <a:rPr dirty="0" sz="2000" spc="-525">
                <a:latin typeface="宋体"/>
                <a:cs typeface="宋体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I</a:t>
            </a:r>
            <a:r>
              <a:rPr dirty="0" baseline="-17094" sz="1950" spc="-7">
                <a:latin typeface="Times New Roman"/>
                <a:cs typeface="Times New Roman"/>
              </a:rPr>
              <a:t>2</a:t>
            </a:r>
            <a:r>
              <a:rPr dirty="0" baseline="-17094" sz="1950" spc="450">
                <a:latin typeface="Times New Roman"/>
                <a:cs typeface="Times New Roman"/>
              </a:rPr>
              <a:t> </a:t>
            </a:r>
            <a:r>
              <a:rPr dirty="0" sz="2000">
                <a:latin typeface="宋体"/>
                <a:cs typeface="宋体"/>
              </a:rPr>
              <a:t>变</a:t>
            </a:r>
            <a:r>
              <a:rPr dirty="0" sz="2000" spc="5">
                <a:latin typeface="宋体"/>
                <a:cs typeface="宋体"/>
              </a:rPr>
              <a:t>大</a:t>
            </a:r>
            <a:r>
              <a:rPr dirty="0" sz="2000" spc="-520">
                <a:latin typeface="宋体"/>
                <a:cs typeface="宋体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R</a:t>
            </a:r>
            <a:r>
              <a:rPr dirty="0" baseline="-17921" sz="2325" b="1">
                <a:latin typeface="Times New Roman"/>
                <a:cs typeface="Times New Roman"/>
              </a:rPr>
              <a:t>0</a:t>
            </a:r>
            <a:r>
              <a:rPr dirty="0" baseline="-17921" sz="2325" spc="-22" b="1">
                <a:latin typeface="Times New Roman"/>
                <a:cs typeface="Times New Roman"/>
              </a:rPr>
              <a:t> </a:t>
            </a:r>
            <a:r>
              <a:rPr dirty="0" sz="2000">
                <a:latin typeface="宋体"/>
                <a:cs typeface="宋体"/>
              </a:rPr>
              <a:t>两</a:t>
            </a:r>
            <a:r>
              <a:rPr dirty="0" sz="2000" spc="5">
                <a:latin typeface="宋体"/>
                <a:cs typeface="宋体"/>
              </a:rPr>
              <a:t>端 </a:t>
            </a:r>
            <a:r>
              <a:rPr dirty="0" sz="2000">
                <a:latin typeface="宋体"/>
                <a:cs typeface="宋体"/>
              </a:rPr>
              <a:t>电压变大，所</a:t>
            </a:r>
            <a:r>
              <a:rPr dirty="0" sz="2000" spc="500">
                <a:latin typeface="宋体"/>
                <a:cs typeface="宋体"/>
              </a:rPr>
              <a:t>以</a:t>
            </a:r>
            <a:r>
              <a:rPr dirty="0" sz="2000">
                <a:latin typeface="Times New Roman"/>
                <a:cs typeface="Times New Roman"/>
              </a:rPr>
              <a:t>V</a:t>
            </a:r>
            <a:r>
              <a:rPr dirty="0" baseline="-17921" sz="2325" b="1">
                <a:latin typeface="Times New Roman"/>
                <a:cs typeface="Times New Roman"/>
              </a:rPr>
              <a:t>3</a:t>
            </a:r>
            <a:r>
              <a:rPr dirty="0" baseline="-17921" sz="2325" spc="-15" b="1">
                <a:latin typeface="Times New Roman"/>
                <a:cs typeface="Times New Roman"/>
              </a:rPr>
              <a:t> </a:t>
            </a:r>
            <a:r>
              <a:rPr dirty="0" sz="2000">
                <a:latin typeface="宋体"/>
                <a:cs typeface="宋体"/>
              </a:rPr>
              <a:t>变小</a:t>
            </a:r>
            <a:r>
              <a:rPr dirty="0" sz="2000" spc="5"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117289" y="1677962"/>
            <a:ext cx="525145" cy="0"/>
          </a:xfrm>
          <a:custGeom>
            <a:avLst/>
            <a:gdLst/>
            <a:ahLst/>
            <a:cxnLst/>
            <a:rect l="l" t="t" r="r" b="b"/>
            <a:pathLst>
              <a:path w="525145" h="0">
                <a:moveTo>
                  <a:pt x="0" y="0"/>
                </a:moveTo>
                <a:lnTo>
                  <a:pt x="524738" y="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3559314" y="1526704"/>
            <a:ext cx="272415" cy="2482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50" spc="5" i="1">
                <a:latin typeface="Times New Roman"/>
                <a:cs typeface="Times New Roman"/>
              </a:rPr>
              <a:t>U</a:t>
            </a:r>
            <a:r>
              <a:rPr dirty="0" sz="1450" spc="20" i="1">
                <a:latin typeface="Times New Roman"/>
                <a:cs typeface="Times New Roman"/>
              </a:rPr>
              <a:t> </a:t>
            </a:r>
            <a:r>
              <a:rPr dirty="0" baseline="-26143" sz="1275" spc="-7">
                <a:latin typeface="Times New Roman"/>
                <a:cs typeface="Times New Roman"/>
              </a:rPr>
              <a:t>2</a:t>
            </a:r>
            <a:endParaRPr baseline="-26143" sz="1275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272013" y="1670367"/>
            <a:ext cx="189230" cy="2482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50" i="1">
                <a:latin typeface="Times New Roman"/>
                <a:cs typeface="Times New Roman"/>
              </a:rPr>
              <a:t>n</a:t>
            </a:r>
            <a:r>
              <a:rPr dirty="0" sz="1450" spc="-285" i="1">
                <a:latin typeface="Times New Roman"/>
                <a:cs typeface="Times New Roman"/>
              </a:rPr>
              <a:t> </a:t>
            </a:r>
            <a:r>
              <a:rPr dirty="0" baseline="-26143" sz="1275" spc="-7">
                <a:latin typeface="Times New Roman"/>
                <a:cs typeface="Times New Roman"/>
              </a:rPr>
              <a:t>1</a:t>
            </a:r>
            <a:endParaRPr baseline="-26143" sz="1275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904437" y="902051"/>
            <a:ext cx="1717675" cy="756920"/>
          </a:xfrm>
          <a:prstGeom prst="rect">
            <a:avLst/>
          </a:prstGeom>
        </p:spPr>
        <p:txBody>
          <a:bodyPr wrap="square" lIns="0" tIns="130810" rIns="0" bIns="0" rtlCol="0" vert="horz">
            <a:spAutoFit/>
          </a:bodyPr>
          <a:lstStyle/>
          <a:p>
            <a:pPr marL="167640">
              <a:lnSpc>
                <a:spcPct val="100000"/>
              </a:lnSpc>
              <a:spcBef>
                <a:spcPts val="1030"/>
              </a:spcBef>
            </a:pPr>
            <a:r>
              <a:rPr dirty="0" sz="2000">
                <a:latin typeface="宋体"/>
                <a:cs typeface="宋体"/>
              </a:rPr>
              <a:t>电压表</a:t>
            </a:r>
            <a:r>
              <a:rPr dirty="0" sz="2000" spc="-5">
                <a:latin typeface="Times New Roman"/>
                <a:cs typeface="Times New Roman"/>
              </a:rPr>
              <a:t>V</a:t>
            </a:r>
            <a:r>
              <a:rPr dirty="0" baseline="-17094" sz="1950" spc="-7">
                <a:latin typeface="Times New Roman"/>
                <a:cs typeface="Times New Roman"/>
              </a:rPr>
              <a:t>1</a:t>
            </a:r>
            <a:r>
              <a:rPr dirty="0" sz="2000">
                <a:latin typeface="宋体"/>
                <a:cs typeface="宋体"/>
              </a:rPr>
              <a:t>不</a:t>
            </a:r>
            <a:r>
              <a:rPr dirty="0" sz="2000" spc="5">
                <a:latin typeface="宋体"/>
                <a:cs typeface="宋体"/>
              </a:rPr>
              <a:t>变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dirty="0" baseline="-34482" sz="2175" spc="7">
                <a:latin typeface="Symbol"/>
                <a:cs typeface="Symbol"/>
              </a:rPr>
              <a:t></a:t>
            </a:r>
            <a:r>
              <a:rPr dirty="0" baseline="-34482" sz="2175" spc="7">
                <a:latin typeface="Times New Roman"/>
                <a:cs typeface="Times New Roman"/>
              </a:rPr>
              <a:t> </a:t>
            </a:r>
            <a:r>
              <a:rPr dirty="0" sz="1450" spc="5" i="1">
                <a:latin typeface="Times New Roman"/>
                <a:cs typeface="Times New Roman"/>
              </a:rPr>
              <a:t>U </a:t>
            </a:r>
            <a:r>
              <a:rPr dirty="0" baseline="-26143" sz="1275" spc="-7">
                <a:latin typeface="Times New Roman"/>
                <a:cs typeface="Times New Roman"/>
              </a:rPr>
              <a:t>1 </a:t>
            </a:r>
            <a:r>
              <a:rPr dirty="0" sz="1450" i="1">
                <a:latin typeface="Times New Roman"/>
                <a:cs typeface="Times New Roman"/>
              </a:rPr>
              <a:t>n</a:t>
            </a:r>
            <a:r>
              <a:rPr dirty="0" sz="1450" spc="-190" i="1">
                <a:latin typeface="Times New Roman"/>
                <a:cs typeface="Times New Roman"/>
              </a:rPr>
              <a:t> </a:t>
            </a:r>
            <a:r>
              <a:rPr dirty="0" baseline="-26143" sz="1275" spc="-7">
                <a:latin typeface="Times New Roman"/>
                <a:cs typeface="Times New Roman"/>
              </a:rPr>
              <a:t>2</a:t>
            </a:r>
            <a:endParaRPr baseline="-26143" sz="1275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148721" y="3512223"/>
            <a:ext cx="478155" cy="0"/>
          </a:xfrm>
          <a:custGeom>
            <a:avLst/>
            <a:gdLst/>
            <a:ahLst/>
            <a:cxnLst/>
            <a:rect l="l" t="t" r="r" b="b"/>
            <a:pathLst>
              <a:path w="478154" h="0">
                <a:moveTo>
                  <a:pt x="0" y="0"/>
                </a:moveTo>
                <a:lnTo>
                  <a:pt x="477862" y="0"/>
                </a:lnTo>
              </a:path>
            </a:pathLst>
          </a:custGeom>
          <a:ln w="119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4164672" y="3217735"/>
            <a:ext cx="417830" cy="2717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600" i="1">
                <a:latin typeface="Times New Roman"/>
                <a:cs typeface="Times New Roman"/>
              </a:rPr>
              <a:t>I </a:t>
            </a:r>
            <a:r>
              <a:rPr dirty="0" baseline="-24691" sz="1350" spc="22">
                <a:latin typeface="Times New Roman"/>
                <a:cs typeface="Times New Roman"/>
              </a:rPr>
              <a:t>2 </a:t>
            </a:r>
            <a:r>
              <a:rPr dirty="0" sz="1600" spc="5" i="1">
                <a:latin typeface="Times New Roman"/>
                <a:cs typeface="Times New Roman"/>
              </a:rPr>
              <a:t>n</a:t>
            </a:r>
            <a:r>
              <a:rPr dirty="0" sz="1600" spc="-315" i="1">
                <a:latin typeface="Times New Roman"/>
                <a:cs typeface="Times New Roman"/>
              </a:rPr>
              <a:t> </a:t>
            </a:r>
            <a:r>
              <a:rPr dirty="0" baseline="-24691" sz="1350" spc="22">
                <a:latin typeface="Times New Roman"/>
                <a:cs typeface="Times New Roman"/>
              </a:rPr>
              <a:t>2</a:t>
            </a:r>
            <a:endParaRPr baseline="-24691" sz="13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268558" y="3507244"/>
            <a:ext cx="207645" cy="2717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600" spc="5" i="1">
                <a:latin typeface="Times New Roman"/>
                <a:cs typeface="Times New Roman"/>
              </a:rPr>
              <a:t>n</a:t>
            </a:r>
            <a:r>
              <a:rPr dirty="0" sz="1600" spc="-305" i="1">
                <a:latin typeface="Times New Roman"/>
                <a:cs typeface="Times New Roman"/>
              </a:rPr>
              <a:t> </a:t>
            </a:r>
            <a:r>
              <a:rPr dirty="0" baseline="-24691" sz="1350" spc="22">
                <a:latin typeface="Times New Roman"/>
                <a:cs typeface="Times New Roman"/>
              </a:rPr>
              <a:t>1</a:t>
            </a:r>
            <a:endParaRPr baseline="-24691" sz="13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615880" y="3346894"/>
            <a:ext cx="434975" cy="2717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07645" algn="l"/>
              </a:tabLst>
            </a:pPr>
            <a:r>
              <a:rPr dirty="0" sz="1600" i="1">
                <a:latin typeface="Times New Roman"/>
                <a:cs typeface="Times New Roman"/>
              </a:rPr>
              <a:t>I	</a:t>
            </a:r>
            <a:r>
              <a:rPr dirty="0" baseline="-24691" sz="1350" spc="22">
                <a:latin typeface="Times New Roman"/>
                <a:cs typeface="Times New Roman"/>
              </a:rPr>
              <a:t>1</a:t>
            </a:r>
            <a:r>
              <a:rPr dirty="0" baseline="-24691" sz="1350" spc="37">
                <a:latin typeface="Times New Roman"/>
                <a:cs typeface="Times New Roman"/>
              </a:rPr>
              <a:t> </a:t>
            </a:r>
            <a:r>
              <a:rPr dirty="0" sz="1600" spc="5">
                <a:latin typeface="Symbol"/>
                <a:cs typeface="Symbol"/>
              </a:rPr>
              <a:t></a:t>
            </a:r>
            <a:endParaRPr sz="1600">
              <a:latin typeface="Symbol"/>
              <a:cs typeface="Symbo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3700551" y="2200935"/>
            <a:ext cx="662940" cy="0"/>
          </a:xfrm>
          <a:custGeom>
            <a:avLst/>
            <a:gdLst/>
            <a:ahLst/>
            <a:cxnLst/>
            <a:rect l="l" t="t" r="r" b="b"/>
            <a:pathLst>
              <a:path w="662939" h="0">
                <a:moveTo>
                  <a:pt x="0" y="0"/>
                </a:moveTo>
                <a:lnTo>
                  <a:pt x="662901" y="0"/>
                </a:lnTo>
              </a:path>
            </a:pathLst>
          </a:custGeom>
          <a:ln w="1068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3238004" y="2049729"/>
            <a:ext cx="377190" cy="2482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50" i="1">
                <a:latin typeface="Times New Roman"/>
                <a:cs typeface="Times New Roman"/>
              </a:rPr>
              <a:t>I </a:t>
            </a:r>
            <a:r>
              <a:rPr dirty="0" baseline="-26143" sz="1275" spc="-7">
                <a:latin typeface="Times New Roman"/>
                <a:cs typeface="Times New Roman"/>
              </a:rPr>
              <a:t>2</a:t>
            </a:r>
            <a:r>
              <a:rPr dirty="0" baseline="-26143" sz="1275" spc="270">
                <a:latin typeface="Times New Roman"/>
                <a:cs typeface="Times New Roman"/>
              </a:rPr>
              <a:t> </a:t>
            </a:r>
            <a:r>
              <a:rPr dirty="0" sz="1450" spc="5">
                <a:latin typeface="Symbol"/>
                <a:cs typeface="Symbol"/>
              </a:rPr>
              <a:t></a:t>
            </a:r>
            <a:endParaRPr sz="1450">
              <a:latin typeface="Symbol"/>
              <a:cs typeface="Symbo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710317" y="1896597"/>
            <a:ext cx="636270" cy="54483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algn="ctr" marR="43815">
              <a:lnSpc>
                <a:spcPct val="100000"/>
              </a:lnSpc>
              <a:spcBef>
                <a:spcPts val="400"/>
              </a:spcBef>
            </a:pPr>
            <a:r>
              <a:rPr dirty="0" sz="1450" spc="5" i="1">
                <a:latin typeface="Times New Roman"/>
                <a:cs typeface="Times New Roman"/>
              </a:rPr>
              <a:t>U</a:t>
            </a:r>
            <a:r>
              <a:rPr dirty="0" sz="1450" spc="75" i="1">
                <a:latin typeface="Times New Roman"/>
                <a:cs typeface="Times New Roman"/>
              </a:rPr>
              <a:t> </a:t>
            </a:r>
            <a:r>
              <a:rPr dirty="0" baseline="-26143" sz="1275" spc="-7">
                <a:latin typeface="Times New Roman"/>
                <a:cs typeface="Times New Roman"/>
              </a:rPr>
              <a:t>2</a:t>
            </a:r>
            <a:endParaRPr baseline="-26143" sz="1275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305"/>
              </a:spcBef>
            </a:pPr>
            <a:r>
              <a:rPr dirty="0" sz="1450" spc="5" i="1">
                <a:latin typeface="Times New Roman"/>
                <a:cs typeface="Times New Roman"/>
              </a:rPr>
              <a:t>R </a:t>
            </a:r>
            <a:r>
              <a:rPr dirty="0" sz="1450" spc="5">
                <a:latin typeface="Symbol"/>
                <a:cs typeface="Symbol"/>
              </a:rPr>
              <a:t></a:t>
            </a:r>
            <a:r>
              <a:rPr dirty="0" sz="1450" spc="5">
                <a:latin typeface="Times New Roman"/>
                <a:cs typeface="Times New Roman"/>
              </a:rPr>
              <a:t> </a:t>
            </a:r>
            <a:r>
              <a:rPr dirty="0" sz="1450" spc="5" i="1">
                <a:latin typeface="Times New Roman"/>
                <a:cs typeface="Times New Roman"/>
              </a:rPr>
              <a:t>R</a:t>
            </a:r>
            <a:r>
              <a:rPr dirty="0" sz="1450" spc="-130" i="1">
                <a:latin typeface="Times New Roman"/>
                <a:cs typeface="Times New Roman"/>
              </a:rPr>
              <a:t> </a:t>
            </a:r>
            <a:r>
              <a:rPr dirty="0" sz="850" spc="-5">
                <a:latin typeface="Times New Roman"/>
                <a:cs typeface="Times New Roman"/>
              </a:rPr>
              <a:t>0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994577" y="3433038"/>
            <a:ext cx="233934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96315" algn="l"/>
              </a:tabLst>
            </a:pPr>
            <a:r>
              <a:rPr dirty="0" baseline="1388" sz="3000" spc="-7" i="1">
                <a:latin typeface="Times New Roman"/>
                <a:cs typeface="Times New Roman"/>
              </a:rPr>
              <a:t>I</a:t>
            </a:r>
            <a:r>
              <a:rPr dirty="0" baseline="-14957" sz="1950" spc="-7">
                <a:latin typeface="宋体"/>
                <a:cs typeface="宋体"/>
              </a:rPr>
              <a:t>2 </a:t>
            </a:r>
            <a:r>
              <a:rPr dirty="0" baseline="1388" sz="3000">
                <a:latin typeface="宋体"/>
                <a:cs typeface="宋体"/>
              </a:rPr>
              <a:t>变</a:t>
            </a:r>
            <a:r>
              <a:rPr dirty="0" baseline="1388" sz="3000" spc="7">
                <a:latin typeface="宋体"/>
                <a:cs typeface="宋体"/>
              </a:rPr>
              <a:t>大	</a:t>
            </a:r>
            <a:r>
              <a:rPr dirty="0" sz="2000">
                <a:latin typeface="宋体"/>
                <a:cs typeface="宋体"/>
              </a:rPr>
              <a:t>所</a:t>
            </a:r>
            <a:r>
              <a:rPr dirty="0" sz="2000" spc="5">
                <a:latin typeface="宋体"/>
                <a:cs typeface="宋体"/>
              </a:rPr>
              <a:t>以</a:t>
            </a:r>
            <a:r>
              <a:rPr dirty="0" sz="2000" spc="-540">
                <a:latin typeface="宋体"/>
                <a:cs typeface="宋体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I</a:t>
            </a:r>
            <a:r>
              <a:rPr dirty="0" baseline="-17094" sz="1950" spc="-7">
                <a:latin typeface="宋体"/>
                <a:cs typeface="宋体"/>
              </a:rPr>
              <a:t>1</a:t>
            </a:r>
            <a:r>
              <a:rPr dirty="0" baseline="-17094" sz="1950" spc="-82">
                <a:latin typeface="宋体"/>
                <a:cs typeface="宋体"/>
              </a:rPr>
              <a:t> </a:t>
            </a:r>
            <a:r>
              <a:rPr dirty="0" sz="2000">
                <a:latin typeface="宋体"/>
                <a:cs typeface="宋体"/>
              </a:rPr>
              <a:t>变</a:t>
            </a:r>
            <a:r>
              <a:rPr dirty="0" sz="2000" spc="5">
                <a:latin typeface="宋体"/>
                <a:cs typeface="宋体"/>
              </a:rPr>
              <a:t>大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149162" y="2397302"/>
            <a:ext cx="2827655" cy="9118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2285"/>
              </a:lnSpc>
              <a:spcBef>
                <a:spcPts val="105"/>
              </a:spcBef>
            </a:pPr>
            <a:r>
              <a:rPr dirty="0" sz="2000">
                <a:latin typeface="宋体"/>
                <a:cs typeface="宋体"/>
              </a:rPr>
              <a:t>所以</a:t>
            </a:r>
            <a:r>
              <a:rPr dirty="0" baseline="-11111" sz="3000" spc="509">
                <a:latin typeface="宋体"/>
                <a:cs typeface="宋体"/>
              </a:rPr>
              <a:t> </a:t>
            </a:r>
            <a:r>
              <a:rPr dirty="0" baseline="2777" sz="3000" spc="-7" i="1">
                <a:latin typeface="Times New Roman"/>
                <a:cs typeface="Times New Roman"/>
              </a:rPr>
              <a:t>I</a:t>
            </a:r>
            <a:r>
              <a:rPr dirty="0" baseline="-12820" sz="1950" spc="-7">
                <a:latin typeface="宋体"/>
                <a:cs typeface="宋体"/>
              </a:rPr>
              <a:t>2 </a:t>
            </a:r>
            <a:r>
              <a:rPr dirty="0" baseline="2777" sz="3000">
                <a:latin typeface="宋体"/>
                <a:cs typeface="宋体"/>
              </a:rPr>
              <a:t>变</a:t>
            </a:r>
            <a:r>
              <a:rPr dirty="0" baseline="2777" sz="3000" spc="7">
                <a:latin typeface="宋体"/>
                <a:cs typeface="宋体"/>
              </a:rPr>
              <a:t>大</a:t>
            </a:r>
            <a:endParaRPr baseline="2777" sz="3000">
              <a:latin typeface="宋体"/>
              <a:cs typeface="宋体"/>
            </a:endParaRPr>
          </a:p>
          <a:p>
            <a:pPr marL="334010">
              <a:lnSpc>
                <a:spcPts val="2285"/>
              </a:lnSpc>
            </a:pPr>
            <a:r>
              <a:rPr dirty="0" sz="2000" spc="-5" i="1">
                <a:latin typeface="Times New Roman"/>
                <a:cs typeface="Times New Roman"/>
              </a:rPr>
              <a:t>P</a:t>
            </a:r>
            <a:r>
              <a:rPr dirty="0" baseline="-17094" sz="1950" spc="-7">
                <a:latin typeface="Times New Roman"/>
                <a:cs typeface="Times New Roman"/>
              </a:rPr>
              <a:t>2 </a:t>
            </a:r>
            <a:r>
              <a:rPr dirty="0" sz="2000">
                <a:latin typeface="Times New Roman"/>
                <a:cs typeface="Times New Roman"/>
              </a:rPr>
              <a:t>=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U</a:t>
            </a:r>
            <a:r>
              <a:rPr dirty="0" baseline="-17094" sz="1950" spc="-7">
                <a:latin typeface="Times New Roman"/>
                <a:cs typeface="Times New Roman"/>
              </a:rPr>
              <a:t>2 </a:t>
            </a:r>
            <a:r>
              <a:rPr dirty="0" sz="2000" spc="-5" i="1">
                <a:latin typeface="Times New Roman"/>
                <a:cs typeface="Times New Roman"/>
              </a:rPr>
              <a:t>I</a:t>
            </a:r>
            <a:r>
              <a:rPr dirty="0" baseline="-17094" sz="1950" spc="-7">
                <a:latin typeface="Times New Roman"/>
                <a:cs typeface="Times New Roman"/>
              </a:rPr>
              <a:t>2</a:t>
            </a:r>
            <a:r>
              <a:rPr dirty="0" baseline="-17094" sz="1950">
                <a:latin typeface="Times New Roman"/>
                <a:cs typeface="Times New Roman"/>
              </a:rPr>
              <a:t> </a:t>
            </a:r>
            <a:r>
              <a:rPr dirty="0" sz="2000">
                <a:latin typeface="宋体"/>
                <a:cs typeface="宋体"/>
              </a:rPr>
              <a:t>变</a:t>
            </a:r>
            <a:r>
              <a:rPr dirty="0" sz="2000" spc="5">
                <a:latin typeface="宋体"/>
                <a:cs typeface="宋体"/>
              </a:rPr>
              <a:t>大</a:t>
            </a:r>
            <a:endParaRPr sz="2000">
              <a:latin typeface="宋体"/>
              <a:cs typeface="宋体"/>
            </a:endParaRPr>
          </a:p>
          <a:p>
            <a:pPr marL="334010">
              <a:lnSpc>
                <a:spcPct val="100000"/>
              </a:lnSpc>
            </a:pPr>
            <a:r>
              <a:rPr dirty="0" sz="2000" spc="-5" i="1">
                <a:latin typeface="Times New Roman"/>
                <a:cs typeface="Times New Roman"/>
              </a:rPr>
              <a:t>P</a:t>
            </a:r>
            <a:r>
              <a:rPr dirty="0" baseline="-17094" sz="1950" spc="-7">
                <a:latin typeface="Times New Roman"/>
                <a:cs typeface="Times New Roman"/>
              </a:rPr>
              <a:t>1</a:t>
            </a:r>
            <a:r>
              <a:rPr dirty="0" baseline="-17094" sz="1950" spc="-22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=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U</a:t>
            </a:r>
            <a:r>
              <a:rPr dirty="0" baseline="-17094" sz="1950" spc="-7">
                <a:latin typeface="Times New Roman"/>
                <a:cs typeface="Times New Roman"/>
              </a:rPr>
              <a:t>1</a:t>
            </a:r>
            <a:r>
              <a:rPr dirty="0" baseline="-17094" sz="1950" spc="-15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I</a:t>
            </a:r>
            <a:r>
              <a:rPr dirty="0" baseline="-17094" sz="1950" spc="-7">
                <a:latin typeface="Times New Roman"/>
                <a:cs typeface="Times New Roman"/>
              </a:rPr>
              <a:t>1</a:t>
            </a:r>
            <a:r>
              <a:rPr dirty="0" baseline="-17094" sz="1950" spc="-22">
                <a:latin typeface="Times New Roman"/>
                <a:cs typeface="Times New Roman"/>
              </a:rPr>
              <a:t> </a:t>
            </a:r>
            <a:r>
              <a:rPr dirty="0" sz="2000">
                <a:latin typeface="宋体"/>
                <a:cs typeface="宋体"/>
              </a:rPr>
              <a:t>变大</a:t>
            </a:r>
            <a:r>
              <a:rPr dirty="0" sz="2000" spc="-5">
                <a:latin typeface="宋体"/>
                <a:cs typeface="宋体"/>
              </a:rPr>
              <a:t>，</a:t>
            </a:r>
            <a:r>
              <a:rPr dirty="0" sz="2000" spc="-5" i="1">
                <a:latin typeface="Times New Roman"/>
                <a:cs typeface="Times New Roman"/>
              </a:rPr>
              <a:t>I</a:t>
            </a:r>
            <a:r>
              <a:rPr dirty="0" baseline="-17094" sz="1950" spc="-7">
                <a:latin typeface="Times New Roman"/>
                <a:cs typeface="Times New Roman"/>
              </a:rPr>
              <a:t>1</a:t>
            </a:r>
            <a:r>
              <a:rPr dirty="0" baseline="-17094" sz="195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宋体"/>
                <a:cs typeface="宋体"/>
              </a:rPr>
              <a:t>变</a:t>
            </a:r>
            <a:r>
              <a:rPr dirty="0" sz="2000" spc="5">
                <a:latin typeface="宋体"/>
                <a:cs typeface="宋体"/>
              </a:rPr>
              <a:t>大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78331" y="337291"/>
            <a:ext cx="7138034" cy="4060825"/>
          </a:xfrm>
          <a:prstGeom prst="rect">
            <a:avLst/>
          </a:prstGeom>
        </p:spPr>
        <p:txBody>
          <a:bodyPr wrap="square" lIns="0" tIns="240665" rIns="0" bIns="0" rtlCol="0" vert="horz">
            <a:spAutoFit/>
          </a:bodyPr>
          <a:lstStyle/>
          <a:p>
            <a:pPr algn="ctr" marR="98425">
              <a:lnSpc>
                <a:spcPct val="100000"/>
              </a:lnSpc>
              <a:spcBef>
                <a:spcPts val="1895"/>
              </a:spcBef>
            </a:pPr>
            <a:r>
              <a:rPr dirty="0" sz="2800" b="1">
                <a:latin typeface="宋体"/>
                <a:cs typeface="宋体"/>
              </a:rPr>
              <a:t>小</a:t>
            </a:r>
            <a:r>
              <a:rPr dirty="0" sz="2800" spc="-5" b="1">
                <a:latin typeface="宋体"/>
                <a:cs typeface="宋体"/>
              </a:rPr>
              <a:t> </a:t>
            </a:r>
            <a:r>
              <a:rPr dirty="0" sz="2800" spc="-20" b="1">
                <a:latin typeface="宋体"/>
                <a:cs typeface="宋体"/>
              </a:rPr>
              <a:t>结</a:t>
            </a:r>
            <a:endParaRPr sz="2800">
              <a:latin typeface="宋体"/>
              <a:cs typeface="宋体"/>
            </a:endParaRPr>
          </a:p>
          <a:p>
            <a:pPr marL="384810" indent="-228600">
              <a:lnSpc>
                <a:spcPct val="100000"/>
              </a:lnSpc>
              <a:spcBef>
                <a:spcPts val="1540"/>
              </a:spcBef>
              <a:buFont typeface="Arial"/>
              <a:buChar char="•"/>
              <a:tabLst>
                <a:tab pos="385445" algn="l"/>
              </a:tabLst>
            </a:pPr>
            <a:r>
              <a:rPr dirty="0" sz="2400">
                <a:latin typeface="华文楷体"/>
                <a:cs typeface="华文楷体"/>
              </a:rPr>
              <a:t>变压器的基本结构和原理</a:t>
            </a:r>
            <a:endParaRPr sz="2400">
              <a:latin typeface="华文楷体"/>
              <a:cs typeface="华文楷体"/>
            </a:endParaRPr>
          </a:p>
          <a:p>
            <a:pPr marL="384810" indent="-228600">
              <a:lnSpc>
                <a:spcPct val="100000"/>
              </a:lnSpc>
              <a:spcBef>
                <a:spcPts val="710"/>
              </a:spcBef>
              <a:buFont typeface="Arial"/>
              <a:buChar char="•"/>
              <a:tabLst>
                <a:tab pos="385445" algn="l"/>
              </a:tabLst>
            </a:pPr>
            <a:r>
              <a:rPr dirty="0" sz="2400">
                <a:latin typeface="华文楷体"/>
                <a:cs typeface="华文楷体"/>
              </a:rPr>
              <a:t>理想变压器的电压、电流与匝数的关系</a:t>
            </a:r>
            <a:endParaRPr sz="2400">
              <a:latin typeface="华文楷体"/>
              <a:cs typeface="华文楷体"/>
            </a:endParaRPr>
          </a:p>
          <a:p>
            <a:pPr marL="384810" indent="-228600">
              <a:lnSpc>
                <a:spcPct val="100000"/>
              </a:lnSpc>
              <a:spcBef>
                <a:spcPts val="710"/>
              </a:spcBef>
              <a:buFont typeface="Arial"/>
              <a:buChar char="•"/>
              <a:tabLst>
                <a:tab pos="385445" algn="l"/>
              </a:tabLst>
            </a:pPr>
            <a:r>
              <a:rPr dirty="0" sz="2400">
                <a:latin typeface="华文楷体"/>
                <a:cs typeface="华文楷体"/>
              </a:rPr>
              <a:t>变压器有关题目的分析方法</a:t>
            </a:r>
            <a:endParaRPr sz="24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00" b="1">
                <a:latin typeface="楷体"/>
                <a:cs typeface="楷体"/>
              </a:rPr>
              <a:t>课后作业</a:t>
            </a:r>
            <a:r>
              <a:rPr dirty="0" sz="2000" spc="-5" b="1">
                <a:latin typeface="楷体"/>
                <a:cs typeface="楷体"/>
              </a:rPr>
              <a:t>：</a:t>
            </a:r>
            <a:endParaRPr sz="2000">
              <a:latin typeface="楷体"/>
              <a:cs typeface="楷体"/>
            </a:endParaRPr>
          </a:p>
          <a:p>
            <a:pPr marL="267335" indent="-254635">
              <a:lnSpc>
                <a:spcPct val="100000"/>
              </a:lnSpc>
              <a:spcBef>
                <a:spcPts val="600"/>
              </a:spcBef>
              <a:buSzPct val="95000"/>
              <a:buAutoNum type="arabicPeriod"/>
              <a:tabLst>
                <a:tab pos="267970" algn="l"/>
              </a:tabLst>
            </a:pPr>
            <a:r>
              <a:rPr dirty="0" sz="2000">
                <a:latin typeface="楷体"/>
                <a:cs typeface="楷体"/>
              </a:rPr>
              <a:t>完成课后练</a:t>
            </a:r>
            <a:r>
              <a:rPr dirty="0" sz="2000" spc="5">
                <a:latin typeface="楷体"/>
                <a:cs typeface="楷体"/>
              </a:rPr>
              <a:t>习</a:t>
            </a:r>
            <a:endParaRPr sz="2000">
              <a:latin typeface="楷体"/>
              <a:cs typeface="楷体"/>
            </a:endParaRPr>
          </a:p>
          <a:p>
            <a:pPr marL="12700" marR="5080">
              <a:lnSpc>
                <a:spcPct val="125000"/>
              </a:lnSpc>
              <a:buSzPct val="95000"/>
              <a:buAutoNum type="arabicPeriod"/>
              <a:tabLst>
                <a:tab pos="267970" algn="l"/>
              </a:tabLst>
            </a:pPr>
            <a:r>
              <a:rPr dirty="0" sz="2000">
                <a:latin typeface="楷体"/>
                <a:cs typeface="楷体"/>
              </a:rPr>
              <a:t>思考：当理想变压器负载有多组副线圈工作时，线圈中电压</a:t>
            </a:r>
            <a:r>
              <a:rPr dirty="0" sz="2000">
                <a:latin typeface="楷体"/>
                <a:cs typeface="楷体"/>
              </a:rPr>
              <a:t>、 </a:t>
            </a:r>
            <a:r>
              <a:rPr dirty="0" sz="2000">
                <a:latin typeface="楷体"/>
                <a:cs typeface="楷体"/>
              </a:rPr>
              <a:t>电流和匝数的关系</a:t>
            </a:r>
            <a:r>
              <a:rPr dirty="0" sz="2000" spc="5">
                <a:latin typeface="楷体"/>
                <a:cs typeface="楷体"/>
              </a:rPr>
              <a:t>。</a:t>
            </a:r>
            <a:endParaRPr sz="2000">
              <a:latin typeface="楷体"/>
              <a:cs typeface="楷体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2025-04-20T10:39:51Z</dcterms:created>
  <dcterms:modified xsi:type="dcterms:W3CDTF">2025-04-20T10:39:51Z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2023-10-17T00:00:00Z</vt:filetime>
  </property>
  <property fmtid="{D5CDD505-2E9C-101B-9397-08002B2CF9AE}" pid="3" name="Creator">
    <vt:lpwstr>WPS 演示</vt:lpwstr>
  </property>
  <property fmtid="{D5CDD505-2E9C-101B-9397-08002B2CF9AE}" pid="4" name="LastSaved">
    <vt:filetime>2025-04-20T00:00:00Z</vt:filetime>
  </property>
</Properties>
</file>