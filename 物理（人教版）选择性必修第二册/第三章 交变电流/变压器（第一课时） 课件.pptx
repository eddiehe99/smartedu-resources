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17700" y="1954047"/>
            <a:ext cx="8356599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73022" y="855182"/>
            <a:ext cx="9445954" cy="842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51952" y="2568854"/>
            <a:ext cx="9088094" cy="2999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5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5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8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28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18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18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jp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FFFF"/>
                </a:solidFill>
                <a:latin typeface="微软雅黑"/>
                <a:cs typeface="微软雅黑"/>
              </a:rPr>
              <a:t>国家中小学课程资源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949382" y="2073452"/>
            <a:ext cx="429323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变压器</a:t>
            </a:r>
            <a:r>
              <a:rPr dirty="0" sz="3200" b="1">
                <a:solidFill>
                  <a:srgbClr val="FFFFFF"/>
                </a:solidFill>
                <a:latin typeface="微软雅黑"/>
                <a:cs typeface="微软雅黑"/>
              </a:rPr>
              <a:t>（第一课时</a:t>
            </a:r>
            <a:r>
              <a:rPr dirty="0" sz="3200" spc="5" b="1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32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47621" y="3578381"/>
          <a:ext cx="9156700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0575"/>
                <a:gridCol w="1343025"/>
                <a:gridCol w="4483100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主讲人：岳凌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月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校：北京师范大学附属中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1483" y="1998840"/>
            <a:ext cx="429323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3A5543"/>
                </a:solidFill>
                <a:latin typeface="微软雅黑"/>
                <a:cs typeface="微软雅黑"/>
              </a:rPr>
              <a:t>变压器</a:t>
            </a:r>
            <a:r>
              <a:rPr dirty="0" sz="3200" b="1">
                <a:solidFill>
                  <a:srgbClr val="3A5543"/>
                </a:solidFill>
                <a:latin typeface="微软雅黑"/>
                <a:cs typeface="微软雅黑"/>
              </a:rPr>
              <a:t>（第一课时</a:t>
            </a:r>
            <a:r>
              <a:rPr dirty="0" sz="3200" spc="5" b="1">
                <a:solidFill>
                  <a:srgbClr val="3A5543"/>
                </a:solidFill>
                <a:latin typeface="微软雅黑"/>
                <a:cs typeface="微软雅黑"/>
              </a:rPr>
              <a:t>）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60980" y="3504298"/>
          <a:ext cx="7093584" cy="852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7135"/>
                <a:gridCol w="768350"/>
                <a:gridCol w="3848735"/>
              </a:tblGrid>
              <a:tr h="426237">
                <a:tc>
                  <a:txBody>
                    <a:bodyPr/>
                    <a:lstStyle/>
                    <a:p>
                      <a:pPr marL="31750">
                        <a:lnSpc>
                          <a:spcPts val="2845"/>
                        </a:lnSpc>
                        <a:tabLst>
                          <a:tab pos="643890" algn="l"/>
                        </a:tabLst>
                      </a:pPr>
                      <a:r>
                        <a:rPr dirty="0" sz="2400" spc="-5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400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400" spc="-5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4145">
                        <a:lnSpc>
                          <a:spcPts val="2845"/>
                        </a:lnSpc>
                      </a:pPr>
                      <a:r>
                        <a:rPr dirty="0" sz="2400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ts val="2845"/>
                        </a:lnSpc>
                      </a:pPr>
                      <a:r>
                        <a:rPr dirty="0" sz="2400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400" spc="-5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2623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主讲人：岳凌</a:t>
                      </a:r>
                      <a:r>
                        <a:rPr dirty="0" sz="2400" spc="-5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月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校：北京师范大学附属中</a:t>
                      </a:r>
                      <a:r>
                        <a:rPr dirty="0" sz="2400" spc="-5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1353" y="5062029"/>
            <a:ext cx="180530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三峡水电</a:t>
            </a:r>
            <a:r>
              <a:rPr dirty="0" sz="2800" spc="-10" b="1">
                <a:latin typeface="华文楷体"/>
                <a:cs typeface="华文楷体"/>
              </a:rPr>
              <a:t>站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92907" y="1440180"/>
            <a:ext cx="6806183" cy="3471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05213" y="5027295"/>
            <a:ext cx="501142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三峡工程右岸电站外送输电线</a:t>
            </a:r>
            <a:r>
              <a:rPr dirty="0" sz="2800" spc="-10" b="1">
                <a:latin typeface="华文楷体"/>
                <a:cs typeface="华文楷体"/>
              </a:rPr>
              <a:t>路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939783" y="4094988"/>
            <a:ext cx="979931" cy="1112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40507" y="1176527"/>
            <a:ext cx="6213348" cy="36819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14827" y="1399032"/>
            <a:ext cx="4175760" cy="1808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65829" y="3512184"/>
            <a:ext cx="150241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输出：</a:t>
            </a:r>
            <a:r>
              <a:rPr dirty="0" sz="2800" spc="-5" b="1">
                <a:latin typeface="华文楷体"/>
                <a:cs typeface="华文楷体"/>
              </a:rPr>
              <a:t>5</a:t>
            </a:r>
            <a:r>
              <a:rPr dirty="0" sz="2800" spc="-10" b="1">
                <a:latin typeface="华文楷体"/>
                <a:cs typeface="华文楷体"/>
              </a:rPr>
              <a:t>V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43262" y="2321636"/>
            <a:ext cx="2063114" cy="1790700"/>
          </a:xfrm>
          <a:custGeom>
            <a:avLst/>
            <a:gdLst/>
            <a:ahLst/>
            <a:cxnLst/>
            <a:rect l="l" t="t" r="r" b="b"/>
            <a:pathLst>
              <a:path w="2063114" h="1790700">
                <a:moveTo>
                  <a:pt x="339128" y="1193800"/>
                </a:moveTo>
                <a:lnTo>
                  <a:pt x="424103" y="0"/>
                </a:lnTo>
                <a:lnTo>
                  <a:pt x="448365" y="63499"/>
                </a:lnTo>
                <a:lnTo>
                  <a:pt x="420382" y="63499"/>
                </a:lnTo>
                <a:lnTo>
                  <a:pt x="443627" y="125035"/>
                </a:lnTo>
                <a:lnTo>
                  <a:pt x="368494" y="1181100"/>
                </a:lnTo>
                <a:lnTo>
                  <a:pt x="353377" y="1181100"/>
                </a:lnTo>
                <a:lnTo>
                  <a:pt x="339128" y="1193800"/>
                </a:lnTo>
                <a:close/>
              </a:path>
              <a:path w="2063114" h="1790700">
                <a:moveTo>
                  <a:pt x="443627" y="125035"/>
                </a:moveTo>
                <a:lnTo>
                  <a:pt x="420382" y="63499"/>
                </a:lnTo>
                <a:lnTo>
                  <a:pt x="448005" y="63499"/>
                </a:lnTo>
                <a:lnTo>
                  <a:pt x="443627" y="125035"/>
                </a:lnTo>
                <a:close/>
              </a:path>
              <a:path w="2063114" h="1790700">
                <a:moveTo>
                  <a:pt x="2018614" y="1206500"/>
                </a:moveTo>
                <a:lnTo>
                  <a:pt x="852144" y="1206500"/>
                </a:lnTo>
                <a:lnTo>
                  <a:pt x="443627" y="125035"/>
                </a:lnTo>
                <a:lnTo>
                  <a:pt x="448005" y="63499"/>
                </a:lnTo>
                <a:lnTo>
                  <a:pt x="448365" y="63499"/>
                </a:lnTo>
                <a:lnTo>
                  <a:pt x="875372" y="1181100"/>
                </a:lnTo>
                <a:lnTo>
                  <a:pt x="1995449" y="1181100"/>
                </a:lnTo>
                <a:lnTo>
                  <a:pt x="2000351" y="1193800"/>
                </a:lnTo>
                <a:lnTo>
                  <a:pt x="2014270" y="1193800"/>
                </a:lnTo>
                <a:lnTo>
                  <a:pt x="2018614" y="1206500"/>
                </a:lnTo>
                <a:close/>
              </a:path>
              <a:path w="2063114" h="1790700">
                <a:moveTo>
                  <a:pt x="339128" y="1193800"/>
                </a:moveTo>
                <a:lnTo>
                  <a:pt x="62750" y="1193800"/>
                </a:lnTo>
                <a:lnTo>
                  <a:pt x="67665" y="1181100"/>
                </a:lnTo>
                <a:lnTo>
                  <a:pt x="340032" y="1181100"/>
                </a:lnTo>
                <a:lnTo>
                  <a:pt x="339128" y="1193800"/>
                </a:lnTo>
                <a:close/>
              </a:path>
              <a:path w="2063114" h="1790700">
                <a:moveTo>
                  <a:pt x="366687" y="1206500"/>
                </a:moveTo>
                <a:lnTo>
                  <a:pt x="44500" y="1206500"/>
                </a:lnTo>
                <a:lnTo>
                  <a:pt x="48844" y="1193800"/>
                </a:lnTo>
                <a:lnTo>
                  <a:pt x="339128" y="1193800"/>
                </a:lnTo>
                <a:lnTo>
                  <a:pt x="353377" y="1181100"/>
                </a:lnTo>
                <a:lnTo>
                  <a:pt x="368494" y="1181100"/>
                </a:lnTo>
                <a:lnTo>
                  <a:pt x="366687" y="1206500"/>
                </a:lnTo>
                <a:close/>
              </a:path>
              <a:path w="2063114" h="1790700">
                <a:moveTo>
                  <a:pt x="78473" y="1219200"/>
                </a:moveTo>
                <a:lnTo>
                  <a:pt x="28790" y="1219200"/>
                </a:lnTo>
                <a:lnTo>
                  <a:pt x="32448" y="1206500"/>
                </a:lnTo>
                <a:lnTo>
                  <a:pt x="82854" y="1206500"/>
                </a:lnTo>
                <a:lnTo>
                  <a:pt x="78473" y="1219200"/>
                </a:lnTo>
                <a:close/>
              </a:path>
              <a:path w="2063114" h="1790700">
                <a:moveTo>
                  <a:pt x="2034324" y="1219200"/>
                </a:moveTo>
                <a:lnTo>
                  <a:pt x="1984641" y="1219200"/>
                </a:lnTo>
                <a:lnTo>
                  <a:pt x="1980260" y="1206500"/>
                </a:lnTo>
                <a:lnTo>
                  <a:pt x="2030666" y="1206500"/>
                </a:lnTo>
                <a:lnTo>
                  <a:pt x="2034324" y="1219200"/>
                </a:lnTo>
                <a:close/>
              </a:path>
              <a:path w="2063114" h="1790700">
                <a:moveTo>
                  <a:pt x="55257" y="1231900"/>
                </a:moveTo>
                <a:lnTo>
                  <a:pt x="18923" y="1231900"/>
                </a:lnTo>
                <a:lnTo>
                  <a:pt x="22021" y="1219200"/>
                </a:lnTo>
                <a:lnTo>
                  <a:pt x="58762" y="1219200"/>
                </a:lnTo>
                <a:lnTo>
                  <a:pt x="55257" y="1231900"/>
                </a:lnTo>
                <a:close/>
              </a:path>
              <a:path w="2063114" h="1790700">
                <a:moveTo>
                  <a:pt x="58242" y="1231900"/>
                </a:moveTo>
                <a:lnTo>
                  <a:pt x="58762" y="1219200"/>
                </a:lnTo>
                <a:lnTo>
                  <a:pt x="61887" y="1219200"/>
                </a:lnTo>
                <a:lnTo>
                  <a:pt x="58242" y="1231900"/>
                </a:lnTo>
                <a:close/>
              </a:path>
              <a:path w="2063114" h="1790700">
                <a:moveTo>
                  <a:pt x="2004872" y="1231900"/>
                </a:moveTo>
                <a:lnTo>
                  <a:pt x="2001227" y="1219200"/>
                </a:lnTo>
                <a:lnTo>
                  <a:pt x="2004352" y="1219200"/>
                </a:lnTo>
                <a:lnTo>
                  <a:pt x="2004872" y="1231900"/>
                </a:lnTo>
                <a:close/>
              </a:path>
              <a:path w="2063114" h="1790700">
                <a:moveTo>
                  <a:pt x="2044191" y="1231900"/>
                </a:moveTo>
                <a:lnTo>
                  <a:pt x="2007857" y="1231900"/>
                </a:lnTo>
                <a:lnTo>
                  <a:pt x="2004352" y="1219200"/>
                </a:lnTo>
                <a:lnTo>
                  <a:pt x="2041093" y="1219200"/>
                </a:lnTo>
                <a:lnTo>
                  <a:pt x="2044191" y="1231900"/>
                </a:lnTo>
                <a:close/>
              </a:path>
              <a:path w="2063114" h="1790700">
                <a:moveTo>
                  <a:pt x="44691" y="1244600"/>
                </a:moveTo>
                <a:lnTo>
                  <a:pt x="10934" y="1244600"/>
                </a:lnTo>
                <a:lnTo>
                  <a:pt x="13373" y="1231900"/>
                </a:lnTo>
                <a:lnTo>
                  <a:pt x="47561" y="1231900"/>
                </a:lnTo>
                <a:lnTo>
                  <a:pt x="44691" y="1244600"/>
                </a:lnTo>
                <a:close/>
              </a:path>
              <a:path w="2063114" h="1790700">
                <a:moveTo>
                  <a:pt x="2052180" y="1244600"/>
                </a:moveTo>
                <a:lnTo>
                  <a:pt x="2018423" y="1244600"/>
                </a:lnTo>
                <a:lnTo>
                  <a:pt x="2015553" y="1231900"/>
                </a:lnTo>
                <a:lnTo>
                  <a:pt x="2049741" y="1231900"/>
                </a:lnTo>
                <a:lnTo>
                  <a:pt x="2052180" y="1244600"/>
                </a:lnTo>
                <a:close/>
              </a:path>
              <a:path w="2063114" h="1790700">
                <a:moveTo>
                  <a:pt x="36525" y="1257300"/>
                </a:moveTo>
                <a:lnTo>
                  <a:pt x="4978" y="1257300"/>
                </a:lnTo>
                <a:lnTo>
                  <a:pt x="6718" y="1244600"/>
                </a:lnTo>
                <a:lnTo>
                  <a:pt x="38658" y="1244600"/>
                </a:lnTo>
                <a:lnTo>
                  <a:pt x="36525" y="1257300"/>
                </a:lnTo>
                <a:close/>
              </a:path>
              <a:path w="2063114" h="1790700">
                <a:moveTo>
                  <a:pt x="2058136" y="1257300"/>
                </a:moveTo>
                <a:lnTo>
                  <a:pt x="2026589" y="1257300"/>
                </a:lnTo>
                <a:lnTo>
                  <a:pt x="2024456" y="1244600"/>
                </a:lnTo>
                <a:lnTo>
                  <a:pt x="2056396" y="1244600"/>
                </a:lnTo>
                <a:lnTo>
                  <a:pt x="2058136" y="1257300"/>
                </a:lnTo>
                <a:close/>
              </a:path>
              <a:path w="2063114" h="1790700">
                <a:moveTo>
                  <a:pt x="32156" y="1270000"/>
                </a:moveTo>
                <a:lnTo>
                  <a:pt x="2247" y="1270000"/>
                </a:lnTo>
                <a:lnTo>
                  <a:pt x="3479" y="1257300"/>
                </a:lnTo>
                <a:lnTo>
                  <a:pt x="33680" y="1257300"/>
                </a:lnTo>
                <a:lnTo>
                  <a:pt x="32156" y="1270000"/>
                </a:lnTo>
                <a:close/>
              </a:path>
              <a:path w="2063114" h="1790700">
                <a:moveTo>
                  <a:pt x="2060867" y="1270000"/>
                </a:moveTo>
                <a:lnTo>
                  <a:pt x="2030958" y="1270000"/>
                </a:lnTo>
                <a:lnTo>
                  <a:pt x="2029434" y="1257300"/>
                </a:lnTo>
                <a:lnTo>
                  <a:pt x="2059635" y="1257300"/>
                </a:lnTo>
                <a:lnTo>
                  <a:pt x="2060867" y="1270000"/>
                </a:lnTo>
                <a:close/>
              </a:path>
              <a:path w="2063114" h="1790700">
                <a:moveTo>
                  <a:pt x="28955" y="1282700"/>
                </a:moveTo>
                <a:lnTo>
                  <a:pt x="571" y="1282700"/>
                </a:lnTo>
                <a:lnTo>
                  <a:pt x="1269" y="1270000"/>
                </a:lnTo>
                <a:lnTo>
                  <a:pt x="29578" y="1270000"/>
                </a:lnTo>
                <a:lnTo>
                  <a:pt x="28955" y="1282700"/>
                </a:lnTo>
                <a:close/>
              </a:path>
              <a:path w="2063114" h="1790700">
                <a:moveTo>
                  <a:pt x="29463" y="1282700"/>
                </a:moveTo>
                <a:lnTo>
                  <a:pt x="29578" y="1270000"/>
                </a:lnTo>
                <a:lnTo>
                  <a:pt x="30314" y="1270000"/>
                </a:lnTo>
                <a:lnTo>
                  <a:pt x="29463" y="1282700"/>
                </a:lnTo>
                <a:close/>
              </a:path>
              <a:path w="2063114" h="1790700">
                <a:moveTo>
                  <a:pt x="2033651" y="1282700"/>
                </a:moveTo>
                <a:lnTo>
                  <a:pt x="2032800" y="1270000"/>
                </a:lnTo>
                <a:lnTo>
                  <a:pt x="2033536" y="1270000"/>
                </a:lnTo>
                <a:lnTo>
                  <a:pt x="2033651" y="1282700"/>
                </a:lnTo>
                <a:close/>
              </a:path>
              <a:path w="2063114" h="1790700">
                <a:moveTo>
                  <a:pt x="2062543" y="1282700"/>
                </a:moveTo>
                <a:lnTo>
                  <a:pt x="2034159" y="1282700"/>
                </a:lnTo>
                <a:lnTo>
                  <a:pt x="2033536" y="1270000"/>
                </a:lnTo>
                <a:lnTo>
                  <a:pt x="2061845" y="1270000"/>
                </a:lnTo>
                <a:lnTo>
                  <a:pt x="2062543" y="1282700"/>
                </a:lnTo>
                <a:close/>
              </a:path>
              <a:path w="2063114" h="1790700">
                <a:moveTo>
                  <a:pt x="28575" y="1676400"/>
                </a:moveTo>
                <a:lnTo>
                  <a:pt x="0" y="1676400"/>
                </a:lnTo>
                <a:lnTo>
                  <a:pt x="0" y="1282700"/>
                </a:lnTo>
                <a:lnTo>
                  <a:pt x="28575" y="1282700"/>
                </a:lnTo>
                <a:lnTo>
                  <a:pt x="28575" y="1676400"/>
                </a:lnTo>
                <a:close/>
              </a:path>
              <a:path w="2063114" h="1790700">
                <a:moveTo>
                  <a:pt x="28575" y="1295400"/>
                </a:moveTo>
                <a:lnTo>
                  <a:pt x="28575" y="1282700"/>
                </a:lnTo>
                <a:lnTo>
                  <a:pt x="28575" y="1295400"/>
                </a:lnTo>
                <a:close/>
              </a:path>
              <a:path w="2063114" h="1790700">
                <a:moveTo>
                  <a:pt x="2034539" y="1295400"/>
                </a:moveTo>
                <a:lnTo>
                  <a:pt x="2034413" y="1282700"/>
                </a:lnTo>
                <a:lnTo>
                  <a:pt x="2034539" y="1295400"/>
                </a:lnTo>
                <a:close/>
              </a:path>
              <a:path w="2063114" h="1790700">
                <a:moveTo>
                  <a:pt x="2063114" y="1676400"/>
                </a:moveTo>
                <a:lnTo>
                  <a:pt x="2034539" y="1676400"/>
                </a:lnTo>
                <a:lnTo>
                  <a:pt x="2034539" y="1282700"/>
                </a:lnTo>
                <a:lnTo>
                  <a:pt x="2063114" y="1282700"/>
                </a:lnTo>
                <a:lnTo>
                  <a:pt x="2063114" y="1676400"/>
                </a:lnTo>
                <a:close/>
              </a:path>
              <a:path w="2063114" h="1790700">
                <a:moveTo>
                  <a:pt x="29032" y="1689100"/>
                </a:moveTo>
                <a:lnTo>
                  <a:pt x="571" y="1689100"/>
                </a:lnTo>
                <a:lnTo>
                  <a:pt x="139" y="1676400"/>
                </a:lnTo>
                <a:lnTo>
                  <a:pt x="28663" y="1676400"/>
                </a:lnTo>
                <a:lnTo>
                  <a:pt x="29032" y="1689100"/>
                </a:lnTo>
                <a:close/>
              </a:path>
              <a:path w="2063114" h="1790700">
                <a:moveTo>
                  <a:pt x="2062543" y="1689100"/>
                </a:moveTo>
                <a:lnTo>
                  <a:pt x="2034082" y="1689100"/>
                </a:lnTo>
                <a:lnTo>
                  <a:pt x="2034451" y="1676400"/>
                </a:lnTo>
                <a:lnTo>
                  <a:pt x="2062975" y="1676400"/>
                </a:lnTo>
                <a:lnTo>
                  <a:pt x="2062543" y="1689100"/>
                </a:lnTo>
                <a:close/>
              </a:path>
              <a:path w="2063114" h="1790700">
                <a:moveTo>
                  <a:pt x="31241" y="1701800"/>
                </a:moveTo>
                <a:lnTo>
                  <a:pt x="2247" y="1701800"/>
                </a:lnTo>
                <a:lnTo>
                  <a:pt x="1269" y="1689100"/>
                </a:lnTo>
                <a:lnTo>
                  <a:pt x="30175" y="1689100"/>
                </a:lnTo>
                <a:lnTo>
                  <a:pt x="31241" y="1701800"/>
                </a:lnTo>
                <a:close/>
              </a:path>
              <a:path w="2063114" h="1790700">
                <a:moveTo>
                  <a:pt x="32372" y="1701800"/>
                </a:moveTo>
                <a:lnTo>
                  <a:pt x="31241" y="1701800"/>
                </a:lnTo>
                <a:lnTo>
                  <a:pt x="31064" y="1689100"/>
                </a:lnTo>
                <a:lnTo>
                  <a:pt x="32372" y="1701800"/>
                </a:lnTo>
                <a:close/>
              </a:path>
              <a:path w="2063114" h="1790700">
                <a:moveTo>
                  <a:pt x="2031873" y="1701800"/>
                </a:moveTo>
                <a:lnTo>
                  <a:pt x="2030742" y="1701800"/>
                </a:lnTo>
                <a:lnTo>
                  <a:pt x="2032050" y="1689100"/>
                </a:lnTo>
                <a:lnTo>
                  <a:pt x="2031873" y="1701800"/>
                </a:lnTo>
                <a:close/>
              </a:path>
              <a:path w="2063114" h="1790700">
                <a:moveTo>
                  <a:pt x="2060867" y="1701800"/>
                </a:moveTo>
                <a:lnTo>
                  <a:pt x="2031873" y="1701800"/>
                </a:lnTo>
                <a:lnTo>
                  <a:pt x="2032939" y="1689100"/>
                </a:lnTo>
                <a:lnTo>
                  <a:pt x="2061845" y="1689100"/>
                </a:lnTo>
                <a:lnTo>
                  <a:pt x="2060867" y="1701800"/>
                </a:lnTo>
                <a:close/>
              </a:path>
              <a:path w="2063114" h="1790700">
                <a:moveTo>
                  <a:pt x="36829" y="1714500"/>
                </a:moveTo>
                <a:lnTo>
                  <a:pt x="6718" y="1714500"/>
                </a:lnTo>
                <a:lnTo>
                  <a:pt x="4978" y="1701800"/>
                </a:lnTo>
                <a:lnTo>
                  <a:pt x="34886" y="1701800"/>
                </a:lnTo>
                <a:lnTo>
                  <a:pt x="36829" y="1714500"/>
                </a:lnTo>
                <a:close/>
              </a:path>
              <a:path w="2063114" h="1790700">
                <a:moveTo>
                  <a:pt x="2056396" y="1714500"/>
                </a:moveTo>
                <a:lnTo>
                  <a:pt x="2026285" y="1714500"/>
                </a:lnTo>
                <a:lnTo>
                  <a:pt x="2028228" y="1701800"/>
                </a:lnTo>
                <a:lnTo>
                  <a:pt x="2058136" y="1701800"/>
                </a:lnTo>
                <a:lnTo>
                  <a:pt x="2056396" y="1714500"/>
                </a:lnTo>
                <a:close/>
              </a:path>
              <a:path w="2063114" h="1790700">
                <a:moveTo>
                  <a:pt x="42799" y="1727200"/>
                </a:moveTo>
                <a:lnTo>
                  <a:pt x="10934" y="1727200"/>
                </a:lnTo>
                <a:lnTo>
                  <a:pt x="8712" y="1714500"/>
                </a:lnTo>
                <a:lnTo>
                  <a:pt x="40284" y="1714500"/>
                </a:lnTo>
                <a:lnTo>
                  <a:pt x="42799" y="1727200"/>
                </a:lnTo>
                <a:close/>
              </a:path>
              <a:path w="2063114" h="1790700">
                <a:moveTo>
                  <a:pt x="45110" y="1727200"/>
                </a:moveTo>
                <a:lnTo>
                  <a:pt x="42799" y="1727200"/>
                </a:lnTo>
                <a:lnTo>
                  <a:pt x="42417" y="1714500"/>
                </a:lnTo>
                <a:lnTo>
                  <a:pt x="45110" y="1727200"/>
                </a:lnTo>
                <a:close/>
              </a:path>
              <a:path w="2063114" h="1790700">
                <a:moveTo>
                  <a:pt x="2020315" y="1727200"/>
                </a:moveTo>
                <a:lnTo>
                  <a:pt x="2018004" y="1727200"/>
                </a:lnTo>
                <a:lnTo>
                  <a:pt x="2020697" y="1714500"/>
                </a:lnTo>
                <a:lnTo>
                  <a:pt x="2020315" y="1727200"/>
                </a:lnTo>
                <a:close/>
              </a:path>
              <a:path w="2063114" h="1790700">
                <a:moveTo>
                  <a:pt x="2052180" y="1727200"/>
                </a:moveTo>
                <a:lnTo>
                  <a:pt x="2020315" y="1727200"/>
                </a:lnTo>
                <a:lnTo>
                  <a:pt x="2022830" y="1714500"/>
                </a:lnTo>
                <a:lnTo>
                  <a:pt x="2054402" y="1714500"/>
                </a:lnTo>
                <a:lnTo>
                  <a:pt x="2052180" y="1727200"/>
                </a:lnTo>
                <a:close/>
              </a:path>
              <a:path w="2063114" h="1790700">
                <a:moveTo>
                  <a:pt x="55765" y="1739900"/>
                </a:moveTo>
                <a:lnTo>
                  <a:pt x="18923" y="1739900"/>
                </a:lnTo>
                <a:lnTo>
                  <a:pt x="16040" y="1727200"/>
                </a:lnTo>
                <a:lnTo>
                  <a:pt x="52412" y="1727200"/>
                </a:lnTo>
                <a:lnTo>
                  <a:pt x="55765" y="1739900"/>
                </a:lnTo>
                <a:close/>
              </a:path>
              <a:path w="2063114" h="1790700">
                <a:moveTo>
                  <a:pt x="2044191" y="1739900"/>
                </a:moveTo>
                <a:lnTo>
                  <a:pt x="2007349" y="1739900"/>
                </a:lnTo>
                <a:lnTo>
                  <a:pt x="2010702" y="1727200"/>
                </a:lnTo>
                <a:lnTo>
                  <a:pt x="2047074" y="1727200"/>
                </a:lnTo>
                <a:lnTo>
                  <a:pt x="2044191" y="1739900"/>
                </a:lnTo>
                <a:close/>
              </a:path>
              <a:path w="2063114" h="1790700">
                <a:moveTo>
                  <a:pt x="71920" y="1752600"/>
                </a:moveTo>
                <a:lnTo>
                  <a:pt x="28790" y="1752600"/>
                </a:lnTo>
                <a:lnTo>
                  <a:pt x="25298" y="1739900"/>
                </a:lnTo>
                <a:lnTo>
                  <a:pt x="67881" y="1739900"/>
                </a:lnTo>
                <a:lnTo>
                  <a:pt x="71920" y="1752600"/>
                </a:lnTo>
                <a:close/>
              </a:path>
              <a:path w="2063114" h="1790700">
                <a:moveTo>
                  <a:pt x="2034324" y="1752600"/>
                </a:moveTo>
                <a:lnTo>
                  <a:pt x="1991194" y="1752600"/>
                </a:lnTo>
                <a:lnTo>
                  <a:pt x="1995233" y="1739900"/>
                </a:lnTo>
                <a:lnTo>
                  <a:pt x="2037816" y="1739900"/>
                </a:lnTo>
                <a:lnTo>
                  <a:pt x="2034324" y="1752600"/>
                </a:lnTo>
                <a:close/>
              </a:path>
              <a:path w="2063114" h="1790700">
                <a:moveTo>
                  <a:pt x="2022805" y="1765300"/>
                </a:moveTo>
                <a:lnTo>
                  <a:pt x="40309" y="1765300"/>
                </a:lnTo>
                <a:lnTo>
                  <a:pt x="36296" y="1752600"/>
                </a:lnTo>
                <a:lnTo>
                  <a:pt x="2026818" y="1752600"/>
                </a:lnTo>
                <a:lnTo>
                  <a:pt x="2022805" y="1765300"/>
                </a:lnTo>
                <a:close/>
              </a:path>
              <a:path w="2063114" h="1790700">
                <a:moveTo>
                  <a:pt x="2005139" y="1778000"/>
                </a:moveTo>
                <a:lnTo>
                  <a:pt x="57975" y="1778000"/>
                </a:lnTo>
                <a:lnTo>
                  <a:pt x="53339" y="1765300"/>
                </a:lnTo>
                <a:lnTo>
                  <a:pt x="2009775" y="1765300"/>
                </a:lnTo>
                <a:lnTo>
                  <a:pt x="2005139" y="1778000"/>
                </a:lnTo>
                <a:close/>
              </a:path>
              <a:path w="2063114" h="1790700">
                <a:moveTo>
                  <a:pt x="1969173" y="1790700"/>
                </a:moveTo>
                <a:lnTo>
                  <a:pt x="93941" y="1790700"/>
                </a:lnTo>
                <a:lnTo>
                  <a:pt x="88493" y="1778000"/>
                </a:lnTo>
                <a:lnTo>
                  <a:pt x="1974621" y="1778000"/>
                </a:lnTo>
                <a:lnTo>
                  <a:pt x="1969173" y="1790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257288" y="2004060"/>
            <a:ext cx="1554479" cy="31683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36123" y="3142018"/>
            <a:ext cx="3935729" cy="2032000"/>
          </a:xfrm>
          <a:custGeom>
            <a:avLst/>
            <a:gdLst/>
            <a:ahLst/>
            <a:cxnLst/>
            <a:rect l="l" t="t" r="r" b="b"/>
            <a:pathLst>
              <a:path w="3935729" h="2032000">
                <a:moveTo>
                  <a:pt x="3838478" y="75469"/>
                </a:moveTo>
                <a:lnTo>
                  <a:pt x="3825487" y="52558"/>
                </a:lnTo>
                <a:lnTo>
                  <a:pt x="3926433" y="0"/>
                </a:lnTo>
                <a:lnTo>
                  <a:pt x="3935488" y="12699"/>
                </a:lnTo>
                <a:lnTo>
                  <a:pt x="3838478" y="75469"/>
                </a:lnTo>
                <a:close/>
              </a:path>
              <a:path w="3935729" h="2032000">
                <a:moveTo>
                  <a:pt x="3806303" y="62546"/>
                </a:moveTo>
                <a:lnTo>
                  <a:pt x="3824490" y="50799"/>
                </a:lnTo>
                <a:lnTo>
                  <a:pt x="3825487" y="52558"/>
                </a:lnTo>
                <a:lnTo>
                  <a:pt x="3806303" y="62546"/>
                </a:lnTo>
                <a:close/>
              </a:path>
              <a:path w="3935729" h="2032000">
                <a:moveTo>
                  <a:pt x="3561678" y="220538"/>
                </a:moveTo>
                <a:lnTo>
                  <a:pt x="3806303" y="62546"/>
                </a:lnTo>
                <a:lnTo>
                  <a:pt x="3825487" y="52558"/>
                </a:lnTo>
                <a:lnTo>
                  <a:pt x="3838478" y="75469"/>
                </a:lnTo>
                <a:lnTo>
                  <a:pt x="3830986" y="80316"/>
                </a:lnTo>
                <a:lnTo>
                  <a:pt x="3561678" y="220538"/>
                </a:lnTo>
                <a:close/>
              </a:path>
              <a:path w="3935729" h="2032000">
                <a:moveTo>
                  <a:pt x="1204620" y="1447800"/>
                </a:moveTo>
                <a:lnTo>
                  <a:pt x="44500" y="1447800"/>
                </a:lnTo>
                <a:lnTo>
                  <a:pt x="48844" y="1435100"/>
                </a:lnTo>
                <a:lnTo>
                  <a:pt x="67678" y="1435100"/>
                </a:lnTo>
                <a:lnTo>
                  <a:pt x="72707" y="1422400"/>
                </a:lnTo>
                <a:lnTo>
                  <a:pt x="1194485" y="1422400"/>
                </a:lnTo>
                <a:lnTo>
                  <a:pt x="3806303" y="62546"/>
                </a:lnTo>
                <a:lnTo>
                  <a:pt x="3561678" y="220538"/>
                </a:lnTo>
                <a:lnTo>
                  <a:pt x="1204620" y="1447800"/>
                </a:lnTo>
                <a:close/>
              </a:path>
              <a:path w="3935729" h="2032000">
                <a:moveTo>
                  <a:pt x="3830986" y="80316"/>
                </a:moveTo>
                <a:lnTo>
                  <a:pt x="3838478" y="75469"/>
                </a:lnTo>
                <a:lnTo>
                  <a:pt x="3838892" y="76199"/>
                </a:lnTo>
                <a:lnTo>
                  <a:pt x="3830986" y="80316"/>
                </a:lnTo>
                <a:close/>
              </a:path>
              <a:path w="3935729" h="2032000">
                <a:moveTo>
                  <a:pt x="1717522" y="1447800"/>
                </a:moveTo>
                <a:lnTo>
                  <a:pt x="1661464" y="1447800"/>
                </a:lnTo>
                <a:lnTo>
                  <a:pt x="3561678" y="220538"/>
                </a:lnTo>
                <a:lnTo>
                  <a:pt x="3830986" y="80316"/>
                </a:lnTo>
                <a:lnTo>
                  <a:pt x="1756778" y="1422400"/>
                </a:lnTo>
                <a:lnTo>
                  <a:pt x="1709737" y="1422400"/>
                </a:lnTo>
                <a:lnTo>
                  <a:pt x="1717522" y="1447800"/>
                </a:lnTo>
                <a:close/>
              </a:path>
              <a:path w="3935729" h="2032000">
                <a:moveTo>
                  <a:pt x="1717522" y="1447800"/>
                </a:moveTo>
                <a:lnTo>
                  <a:pt x="1709737" y="1422400"/>
                </a:lnTo>
                <a:lnTo>
                  <a:pt x="1756778" y="1422400"/>
                </a:lnTo>
                <a:lnTo>
                  <a:pt x="1717522" y="1447800"/>
                </a:lnTo>
                <a:close/>
              </a:path>
              <a:path w="3935729" h="2032000">
                <a:moveTo>
                  <a:pt x="2018626" y="1447800"/>
                </a:moveTo>
                <a:lnTo>
                  <a:pt x="1717522" y="1447800"/>
                </a:lnTo>
                <a:lnTo>
                  <a:pt x="1756778" y="1422400"/>
                </a:lnTo>
                <a:lnTo>
                  <a:pt x="1990420" y="1422400"/>
                </a:lnTo>
                <a:lnTo>
                  <a:pt x="1995449" y="1435100"/>
                </a:lnTo>
                <a:lnTo>
                  <a:pt x="2014283" y="1435100"/>
                </a:lnTo>
                <a:lnTo>
                  <a:pt x="2018626" y="1447800"/>
                </a:lnTo>
                <a:close/>
              </a:path>
              <a:path w="3935729" h="2032000">
                <a:moveTo>
                  <a:pt x="82207" y="1460500"/>
                </a:moveTo>
                <a:lnTo>
                  <a:pt x="28790" y="1460500"/>
                </a:lnTo>
                <a:lnTo>
                  <a:pt x="32461" y="1447800"/>
                </a:lnTo>
                <a:lnTo>
                  <a:pt x="86690" y="1447800"/>
                </a:lnTo>
                <a:lnTo>
                  <a:pt x="82207" y="1460500"/>
                </a:lnTo>
                <a:close/>
              </a:path>
              <a:path w="3935729" h="2032000">
                <a:moveTo>
                  <a:pt x="2034336" y="1460500"/>
                </a:moveTo>
                <a:lnTo>
                  <a:pt x="1980920" y="1460500"/>
                </a:lnTo>
                <a:lnTo>
                  <a:pt x="1976437" y="1447800"/>
                </a:lnTo>
                <a:lnTo>
                  <a:pt x="2030666" y="1447800"/>
                </a:lnTo>
                <a:lnTo>
                  <a:pt x="2034336" y="1460500"/>
                </a:lnTo>
                <a:close/>
              </a:path>
              <a:path w="3935729" h="2032000">
                <a:moveTo>
                  <a:pt x="58242" y="1473200"/>
                </a:moveTo>
                <a:lnTo>
                  <a:pt x="18935" y="1473200"/>
                </a:lnTo>
                <a:lnTo>
                  <a:pt x="22021" y="1460500"/>
                </a:lnTo>
                <a:lnTo>
                  <a:pt x="61887" y="1460500"/>
                </a:lnTo>
                <a:lnTo>
                  <a:pt x="58242" y="1473200"/>
                </a:lnTo>
                <a:close/>
              </a:path>
              <a:path w="3935729" h="2032000">
                <a:moveTo>
                  <a:pt x="2044192" y="1473200"/>
                </a:moveTo>
                <a:lnTo>
                  <a:pt x="2004885" y="1473200"/>
                </a:lnTo>
                <a:lnTo>
                  <a:pt x="2001240" y="1460500"/>
                </a:lnTo>
                <a:lnTo>
                  <a:pt x="2041105" y="1460500"/>
                </a:lnTo>
                <a:lnTo>
                  <a:pt x="2044192" y="1473200"/>
                </a:lnTo>
                <a:close/>
              </a:path>
              <a:path w="3935729" h="2032000">
                <a:moveTo>
                  <a:pt x="47129" y="1485900"/>
                </a:moveTo>
                <a:lnTo>
                  <a:pt x="10934" y="1485900"/>
                </a:lnTo>
                <a:lnTo>
                  <a:pt x="13385" y="1473200"/>
                </a:lnTo>
                <a:lnTo>
                  <a:pt x="50164" y="1473200"/>
                </a:lnTo>
                <a:lnTo>
                  <a:pt x="47129" y="1485900"/>
                </a:lnTo>
                <a:close/>
              </a:path>
              <a:path w="3935729" h="2032000">
                <a:moveTo>
                  <a:pt x="2052193" y="1485900"/>
                </a:moveTo>
                <a:lnTo>
                  <a:pt x="2015998" y="1485900"/>
                </a:lnTo>
                <a:lnTo>
                  <a:pt x="2012962" y="1473200"/>
                </a:lnTo>
                <a:lnTo>
                  <a:pt x="2049741" y="1473200"/>
                </a:lnTo>
                <a:lnTo>
                  <a:pt x="2052193" y="1485900"/>
                </a:lnTo>
                <a:close/>
              </a:path>
              <a:path w="3935729" h="2032000">
                <a:moveTo>
                  <a:pt x="38328" y="1498600"/>
                </a:moveTo>
                <a:lnTo>
                  <a:pt x="6731" y="1498600"/>
                </a:lnTo>
                <a:lnTo>
                  <a:pt x="8712" y="1485900"/>
                </a:lnTo>
                <a:lnTo>
                  <a:pt x="40652" y="1485900"/>
                </a:lnTo>
                <a:lnTo>
                  <a:pt x="38328" y="1498600"/>
                </a:lnTo>
                <a:close/>
              </a:path>
              <a:path w="3935729" h="2032000">
                <a:moveTo>
                  <a:pt x="2056396" y="1498600"/>
                </a:moveTo>
                <a:lnTo>
                  <a:pt x="2024799" y="1498600"/>
                </a:lnTo>
                <a:lnTo>
                  <a:pt x="2022475" y="1485900"/>
                </a:lnTo>
                <a:lnTo>
                  <a:pt x="2054415" y="1485900"/>
                </a:lnTo>
                <a:lnTo>
                  <a:pt x="2056396" y="1498600"/>
                </a:lnTo>
                <a:close/>
              </a:path>
              <a:path w="3935729" h="2032000">
                <a:moveTo>
                  <a:pt x="32169" y="1511300"/>
                </a:moveTo>
                <a:lnTo>
                  <a:pt x="2247" y="1511300"/>
                </a:lnTo>
                <a:lnTo>
                  <a:pt x="3492" y="1498600"/>
                </a:lnTo>
                <a:lnTo>
                  <a:pt x="33680" y="1498600"/>
                </a:lnTo>
                <a:lnTo>
                  <a:pt x="32169" y="1511300"/>
                </a:lnTo>
                <a:close/>
              </a:path>
              <a:path w="3935729" h="2032000">
                <a:moveTo>
                  <a:pt x="2060879" y="1511300"/>
                </a:moveTo>
                <a:lnTo>
                  <a:pt x="2030958" y="1511300"/>
                </a:lnTo>
                <a:lnTo>
                  <a:pt x="2029447" y="1498600"/>
                </a:lnTo>
                <a:lnTo>
                  <a:pt x="2059635" y="1498600"/>
                </a:lnTo>
                <a:lnTo>
                  <a:pt x="2060879" y="1511300"/>
                </a:lnTo>
                <a:close/>
              </a:path>
              <a:path w="3935729" h="2032000">
                <a:moveTo>
                  <a:pt x="29463" y="1524000"/>
                </a:moveTo>
                <a:lnTo>
                  <a:pt x="571" y="1524000"/>
                </a:lnTo>
                <a:lnTo>
                  <a:pt x="1282" y="1511300"/>
                </a:lnTo>
                <a:lnTo>
                  <a:pt x="30314" y="1511300"/>
                </a:lnTo>
                <a:lnTo>
                  <a:pt x="29463" y="1524000"/>
                </a:lnTo>
                <a:close/>
              </a:path>
              <a:path w="3935729" h="2032000">
                <a:moveTo>
                  <a:pt x="2062556" y="1524000"/>
                </a:moveTo>
                <a:lnTo>
                  <a:pt x="2033651" y="1524000"/>
                </a:lnTo>
                <a:lnTo>
                  <a:pt x="2032812" y="1511300"/>
                </a:lnTo>
                <a:lnTo>
                  <a:pt x="2061845" y="1511300"/>
                </a:lnTo>
                <a:lnTo>
                  <a:pt x="2062556" y="1524000"/>
                </a:lnTo>
                <a:close/>
              </a:path>
              <a:path w="3935729" h="2032000">
                <a:moveTo>
                  <a:pt x="29032" y="1930400"/>
                </a:moveTo>
                <a:lnTo>
                  <a:pt x="139" y="1930400"/>
                </a:lnTo>
                <a:lnTo>
                  <a:pt x="0" y="1917700"/>
                </a:lnTo>
                <a:lnTo>
                  <a:pt x="0" y="1536700"/>
                </a:lnTo>
                <a:lnTo>
                  <a:pt x="139" y="1524000"/>
                </a:lnTo>
                <a:lnTo>
                  <a:pt x="28701" y="1524000"/>
                </a:lnTo>
                <a:lnTo>
                  <a:pt x="28663" y="1917700"/>
                </a:lnTo>
                <a:lnTo>
                  <a:pt x="29032" y="1930400"/>
                </a:lnTo>
                <a:close/>
              </a:path>
              <a:path w="3935729" h="2032000">
                <a:moveTo>
                  <a:pt x="2062975" y="1930400"/>
                </a:moveTo>
                <a:lnTo>
                  <a:pt x="2034082" y="1930400"/>
                </a:lnTo>
                <a:lnTo>
                  <a:pt x="2034463" y="1917700"/>
                </a:lnTo>
                <a:lnTo>
                  <a:pt x="2034539" y="1536700"/>
                </a:lnTo>
                <a:lnTo>
                  <a:pt x="2034425" y="1524000"/>
                </a:lnTo>
                <a:lnTo>
                  <a:pt x="2062975" y="1524000"/>
                </a:lnTo>
                <a:lnTo>
                  <a:pt x="2063114" y="1536700"/>
                </a:lnTo>
                <a:lnTo>
                  <a:pt x="2063114" y="1917700"/>
                </a:lnTo>
                <a:lnTo>
                  <a:pt x="2062975" y="1930400"/>
                </a:lnTo>
                <a:close/>
              </a:path>
              <a:path w="3935729" h="2032000">
                <a:moveTo>
                  <a:pt x="31254" y="1943100"/>
                </a:moveTo>
                <a:lnTo>
                  <a:pt x="2247" y="1943100"/>
                </a:lnTo>
                <a:lnTo>
                  <a:pt x="1282" y="1930400"/>
                </a:lnTo>
                <a:lnTo>
                  <a:pt x="30175" y="1930400"/>
                </a:lnTo>
                <a:lnTo>
                  <a:pt x="31254" y="1943100"/>
                </a:lnTo>
                <a:close/>
              </a:path>
              <a:path w="3935729" h="2032000">
                <a:moveTo>
                  <a:pt x="2060879" y="1943100"/>
                </a:moveTo>
                <a:lnTo>
                  <a:pt x="2031873" y="1943100"/>
                </a:lnTo>
                <a:lnTo>
                  <a:pt x="2032952" y="1930400"/>
                </a:lnTo>
                <a:lnTo>
                  <a:pt x="2061845" y="1930400"/>
                </a:lnTo>
                <a:lnTo>
                  <a:pt x="2060879" y="1943100"/>
                </a:lnTo>
                <a:close/>
              </a:path>
              <a:path w="3935729" h="2032000">
                <a:moveTo>
                  <a:pt x="35166" y="1955800"/>
                </a:moveTo>
                <a:lnTo>
                  <a:pt x="4991" y="1955800"/>
                </a:lnTo>
                <a:lnTo>
                  <a:pt x="3492" y="1943100"/>
                </a:lnTo>
                <a:lnTo>
                  <a:pt x="33439" y="1943100"/>
                </a:lnTo>
                <a:lnTo>
                  <a:pt x="35166" y="1955800"/>
                </a:lnTo>
                <a:close/>
              </a:path>
              <a:path w="3935729" h="2032000">
                <a:moveTo>
                  <a:pt x="2058136" y="1955800"/>
                </a:moveTo>
                <a:lnTo>
                  <a:pt x="2027961" y="1955800"/>
                </a:lnTo>
                <a:lnTo>
                  <a:pt x="2029688" y="1943100"/>
                </a:lnTo>
                <a:lnTo>
                  <a:pt x="2059635" y="1943100"/>
                </a:lnTo>
                <a:lnTo>
                  <a:pt x="2058136" y="1955800"/>
                </a:lnTo>
                <a:close/>
              </a:path>
              <a:path w="3935729" h="2032000">
                <a:moveTo>
                  <a:pt x="42799" y="1968500"/>
                </a:moveTo>
                <a:lnTo>
                  <a:pt x="10934" y="1968500"/>
                </a:lnTo>
                <a:lnTo>
                  <a:pt x="8712" y="1955800"/>
                </a:lnTo>
                <a:lnTo>
                  <a:pt x="40297" y="1955800"/>
                </a:lnTo>
                <a:lnTo>
                  <a:pt x="42799" y="1968500"/>
                </a:lnTo>
                <a:close/>
              </a:path>
              <a:path w="3935729" h="2032000">
                <a:moveTo>
                  <a:pt x="2052193" y="1968500"/>
                </a:moveTo>
                <a:lnTo>
                  <a:pt x="2020316" y="1968500"/>
                </a:lnTo>
                <a:lnTo>
                  <a:pt x="2022830" y="1955800"/>
                </a:lnTo>
                <a:lnTo>
                  <a:pt x="2054415" y="1955800"/>
                </a:lnTo>
                <a:lnTo>
                  <a:pt x="2052193" y="1968500"/>
                </a:lnTo>
                <a:close/>
              </a:path>
              <a:path w="3935729" h="2032000">
                <a:moveTo>
                  <a:pt x="52908" y="1981200"/>
                </a:moveTo>
                <a:lnTo>
                  <a:pt x="16052" y="1981200"/>
                </a:lnTo>
                <a:lnTo>
                  <a:pt x="13385" y="1968500"/>
                </a:lnTo>
                <a:lnTo>
                  <a:pt x="49707" y="1968500"/>
                </a:lnTo>
                <a:lnTo>
                  <a:pt x="52908" y="1981200"/>
                </a:lnTo>
                <a:close/>
              </a:path>
              <a:path w="3935729" h="2032000">
                <a:moveTo>
                  <a:pt x="2047074" y="1981200"/>
                </a:moveTo>
                <a:lnTo>
                  <a:pt x="2010219" y="1981200"/>
                </a:lnTo>
                <a:lnTo>
                  <a:pt x="2013419" y="1968500"/>
                </a:lnTo>
                <a:lnTo>
                  <a:pt x="2049741" y="1968500"/>
                </a:lnTo>
                <a:lnTo>
                  <a:pt x="2047074" y="1981200"/>
                </a:lnTo>
                <a:close/>
              </a:path>
              <a:path w="3935729" h="2032000">
                <a:moveTo>
                  <a:pt x="68478" y="1993900"/>
                </a:moveTo>
                <a:lnTo>
                  <a:pt x="25311" y="1993900"/>
                </a:lnTo>
                <a:lnTo>
                  <a:pt x="22021" y="1981200"/>
                </a:lnTo>
                <a:lnTo>
                  <a:pt x="64554" y="1981200"/>
                </a:lnTo>
                <a:lnTo>
                  <a:pt x="68478" y="1993900"/>
                </a:lnTo>
                <a:close/>
              </a:path>
              <a:path w="3935729" h="2032000">
                <a:moveTo>
                  <a:pt x="2037816" y="1993900"/>
                </a:moveTo>
                <a:lnTo>
                  <a:pt x="1994649" y="1993900"/>
                </a:lnTo>
                <a:lnTo>
                  <a:pt x="1998573" y="1981200"/>
                </a:lnTo>
                <a:lnTo>
                  <a:pt x="2041105" y="1981200"/>
                </a:lnTo>
                <a:lnTo>
                  <a:pt x="2037816" y="1993900"/>
                </a:lnTo>
                <a:close/>
              </a:path>
              <a:path w="3935729" h="2032000">
                <a:moveTo>
                  <a:pt x="106921" y="2006600"/>
                </a:moveTo>
                <a:lnTo>
                  <a:pt x="36296" y="2006600"/>
                </a:lnTo>
                <a:lnTo>
                  <a:pt x="32461" y="1993900"/>
                </a:lnTo>
                <a:lnTo>
                  <a:pt x="102019" y="1993900"/>
                </a:lnTo>
                <a:lnTo>
                  <a:pt x="106921" y="2006600"/>
                </a:lnTo>
                <a:close/>
              </a:path>
              <a:path w="3935729" h="2032000">
                <a:moveTo>
                  <a:pt x="2026818" y="2006600"/>
                </a:moveTo>
                <a:lnTo>
                  <a:pt x="1956206" y="2006600"/>
                </a:lnTo>
                <a:lnTo>
                  <a:pt x="1961095" y="1993900"/>
                </a:lnTo>
                <a:lnTo>
                  <a:pt x="2030666" y="1993900"/>
                </a:lnTo>
                <a:lnTo>
                  <a:pt x="2026818" y="2006600"/>
                </a:lnTo>
                <a:close/>
              </a:path>
              <a:path w="3935729" h="2032000">
                <a:moveTo>
                  <a:pt x="2009787" y="2019300"/>
                </a:moveTo>
                <a:lnTo>
                  <a:pt x="53339" y="2019300"/>
                </a:lnTo>
                <a:lnTo>
                  <a:pt x="48844" y="2006600"/>
                </a:lnTo>
                <a:lnTo>
                  <a:pt x="2014283" y="2006600"/>
                </a:lnTo>
                <a:lnTo>
                  <a:pt x="2009787" y="2019300"/>
                </a:lnTo>
                <a:close/>
              </a:path>
              <a:path w="3935729" h="2032000">
                <a:moveTo>
                  <a:pt x="1979993" y="2032000"/>
                </a:moveTo>
                <a:lnTo>
                  <a:pt x="83134" y="2032000"/>
                </a:lnTo>
                <a:lnTo>
                  <a:pt x="77863" y="2019300"/>
                </a:lnTo>
                <a:lnTo>
                  <a:pt x="1985264" y="2019300"/>
                </a:lnTo>
                <a:lnTo>
                  <a:pt x="1979993" y="20320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56849" y="4610201"/>
            <a:ext cx="167005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输出：</a:t>
            </a:r>
            <a:r>
              <a:rPr dirty="0" sz="2800" spc="-5" b="1">
                <a:latin typeface="华文楷体"/>
                <a:cs typeface="华文楷体"/>
              </a:rPr>
              <a:t>59</a:t>
            </a:r>
            <a:r>
              <a:rPr dirty="0" sz="2800" spc="-10" b="1">
                <a:latin typeface="华文楷体"/>
                <a:cs typeface="华文楷体"/>
              </a:rPr>
              <a:t>V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32192" y="2781300"/>
            <a:ext cx="792480" cy="114300"/>
          </a:xfrm>
          <a:custGeom>
            <a:avLst/>
            <a:gdLst/>
            <a:ahLst/>
            <a:cxnLst/>
            <a:rect l="l" t="t" r="r" b="b"/>
            <a:pathLst>
              <a:path w="792479" h="114300">
                <a:moveTo>
                  <a:pt x="0" y="0"/>
                </a:moveTo>
                <a:lnTo>
                  <a:pt x="792479" y="0"/>
                </a:lnTo>
                <a:lnTo>
                  <a:pt x="792479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25080" y="2774950"/>
            <a:ext cx="805180" cy="127000"/>
          </a:xfrm>
          <a:custGeom>
            <a:avLst/>
            <a:gdLst/>
            <a:ahLst/>
            <a:cxnLst/>
            <a:rect l="l" t="t" r="r" b="b"/>
            <a:pathLst>
              <a:path w="805179" h="127000">
                <a:moveTo>
                  <a:pt x="805179" y="127000"/>
                </a:moveTo>
                <a:lnTo>
                  <a:pt x="0" y="127000"/>
                </a:lnTo>
                <a:lnTo>
                  <a:pt x="0" y="0"/>
                </a:lnTo>
                <a:lnTo>
                  <a:pt x="805179" y="0"/>
                </a:lnTo>
                <a:lnTo>
                  <a:pt x="805179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14300"/>
                </a:lnTo>
                <a:lnTo>
                  <a:pt x="6350" y="114300"/>
                </a:lnTo>
                <a:lnTo>
                  <a:pt x="12700" y="120650"/>
                </a:lnTo>
                <a:lnTo>
                  <a:pt x="805179" y="120650"/>
                </a:lnTo>
                <a:lnTo>
                  <a:pt x="805179" y="127000"/>
                </a:lnTo>
                <a:close/>
              </a:path>
              <a:path w="805179" h="12700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805179" h="127000">
                <a:moveTo>
                  <a:pt x="792479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92479" y="6350"/>
                </a:lnTo>
                <a:lnTo>
                  <a:pt x="792479" y="12700"/>
                </a:lnTo>
                <a:close/>
              </a:path>
              <a:path w="805179" h="127000">
                <a:moveTo>
                  <a:pt x="792479" y="120650"/>
                </a:moveTo>
                <a:lnTo>
                  <a:pt x="792479" y="6350"/>
                </a:lnTo>
                <a:lnTo>
                  <a:pt x="798829" y="12700"/>
                </a:lnTo>
                <a:lnTo>
                  <a:pt x="805179" y="12700"/>
                </a:lnTo>
                <a:lnTo>
                  <a:pt x="805179" y="114300"/>
                </a:lnTo>
                <a:lnTo>
                  <a:pt x="798829" y="114300"/>
                </a:lnTo>
                <a:lnTo>
                  <a:pt x="792479" y="120650"/>
                </a:lnTo>
                <a:close/>
              </a:path>
              <a:path w="805179" h="127000">
                <a:moveTo>
                  <a:pt x="805179" y="12700"/>
                </a:moveTo>
                <a:lnTo>
                  <a:pt x="798829" y="12700"/>
                </a:lnTo>
                <a:lnTo>
                  <a:pt x="792479" y="6350"/>
                </a:lnTo>
                <a:lnTo>
                  <a:pt x="805179" y="6350"/>
                </a:lnTo>
                <a:lnTo>
                  <a:pt x="805179" y="12700"/>
                </a:lnTo>
                <a:close/>
              </a:path>
              <a:path w="805179" h="127000">
                <a:moveTo>
                  <a:pt x="12700" y="120650"/>
                </a:moveTo>
                <a:lnTo>
                  <a:pt x="6350" y="114300"/>
                </a:lnTo>
                <a:lnTo>
                  <a:pt x="12700" y="114300"/>
                </a:lnTo>
                <a:lnTo>
                  <a:pt x="12700" y="120650"/>
                </a:lnTo>
                <a:close/>
              </a:path>
              <a:path w="805179" h="127000">
                <a:moveTo>
                  <a:pt x="792479" y="120650"/>
                </a:moveTo>
                <a:lnTo>
                  <a:pt x="12700" y="120650"/>
                </a:lnTo>
                <a:lnTo>
                  <a:pt x="12700" y="114300"/>
                </a:lnTo>
                <a:lnTo>
                  <a:pt x="792479" y="114300"/>
                </a:lnTo>
                <a:lnTo>
                  <a:pt x="792479" y="120650"/>
                </a:lnTo>
                <a:close/>
              </a:path>
              <a:path w="805179" h="127000">
                <a:moveTo>
                  <a:pt x="805179" y="120650"/>
                </a:moveTo>
                <a:lnTo>
                  <a:pt x="792479" y="120650"/>
                </a:lnTo>
                <a:lnTo>
                  <a:pt x="798829" y="114300"/>
                </a:lnTo>
                <a:lnTo>
                  <a:pt x="805179" y="114300"/>
                </a:lnTo>
                <a:lnTo>
                  <a:pt x="805179" y="1206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40752" y="4183379"/>
            <a:ext cx="944880" cy="266700"/>
          </a:xfrm>
          <a:custGeom>
            <a:avLst/>
            <a:gdLst/>
            <a:ahLst/>
            <a:cxnLst/>
            <a:rect l="l" t="t" r="r" b="b"/>
            <a:pathLst>
              <a:path w="944879" h="266700">
                <a:moveTo>
                  <a:pt x="0" y="0"/>
                </a:moveTo>
                <a:lnTo>
                  <a:pt x="944879" y="0"/>
                </a:lnTo>
                <a:lnTo>
                  <a:pt x="944879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09715" y="1604772"/>
            <a:ext cx="4218432" cy="32064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558528" y="4430267"/>
            <a:ext cx="769620" cy="381000"/>
          </a:xfrm>
          <a:custGeom>
            <a:avLst/>
            <a:gdLst/>
            <a:ahLst/>
            <a:cxnLst/>
            <a:rect l="l" t="t" r="r" b="b"/>
            <a:pathLst>
              <a:path w="769620" h="381000">
                <a:moveTo>
                  <a:pt x="0" y="0"/>
                </a:moveTo>
                <a:lnTo>
                  <a:pt x="769620" y="0"/>
                </a:lnTo>
                <a:lnTo>
                  <a:pt x="76962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63851" y="1604772"/>
            <a:ext cx="4232148" cy="32064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799588" y="3544823"/>
            <a:ext cx="1499870" cy="48323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2384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dirty="0" sz="1800" b="1">
                <a:latin typeface="宋体"/>
                <a:cs typeface="宋体"/>
              </a:rPr>
              <a:t>偏转线</a:t>
            </a:r>
            <a:r>
              <a:rPr dirty="0" sz="1800" spc="-10" b="1">
                <a:latin typeface="宋体"/>
                <a:cs typeface="宋体"/>
              </a:rPr>
              <a:t>圈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46732" y="1604772"/>
            <a:ext cx="2737485" cy="306705"/>
          </a:xfrm>
          <a:custGeom>
            <a:avLst/>
            <a:gdLst/>
            <a:ahLst/>
            <a:cxnLst/>
            <a:rect l="l" t="t" r="r" b="b"/>
            <a:pathLst>
              <a:path w="2737485" h="306705">
                <a:moveTo>
                  <a:pt x="0" y="0"/>
                </a:moveTo>
                <a:lnTo>
                  <a:pt x="2737104" y="0"/>
                </a:lnTo>
                <a:lnTo>
                  <a:pt x="2737104" y="306323"/>
                </a:lnTo>
                <a:lnTo>
                  <a:pt x="0" y="3063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49067" y="1165860"/>
            <a:ext cx="7293864" cy="3916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29277" y="915034"/>
            <a:ext cx="36830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一、变压器的结构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91928" y="1672297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29711" y="1402080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27832" y="1626107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8" y="0"/>
                </a:lnTo>
                <a:lnTo>
                  <a:pt x="246888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04516" y="1906523"/>
            <a:ext cx="6984492" cy="39578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7905" y="4267072"/>
            <a:ext cx="25177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变压器连接方</a:t>
            </a:r>
            <a:r>
              <a:rPr dirty="0" sz="2800" spc="-10" b="1">
                <a:latin typeface="华文楷体"/>
                <a:cs typeface="华文楷体"/>
              </a:rPr>
              <a:t>式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01111" y="1304544"/>
            <a:ext cx="3435096" cy="2467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420611" y="1632204"/>
            <a:ext cx="2484119" cy="1664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643547" y="4267072"/>
            <a:ext cx="216154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变压器示意</a:t>
            </a:r>
            <a:r>
              <a:rPr dirty="0" sz="2800" spc="-10" b="1">
                <a:latin typeface="华文楷体"/>
                <a:cs typeface="华文楷体"/>
              </a:rPr>
              <a:t>图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25823" y="2889504"/>
            <a:ext cx="3630168" cy="26075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224411" y="922769"/>
            <a:ext cx="1397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想一想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44062" y="165607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81300" y="1385316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80944" y="1609344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4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182505" y="1956726"/>
            <a:ext cx="5723890" cy="10020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变压器原、副线圈不在一个回路 </a:t>
            </a:r>
            <a:r>
              <a:rPr dirty="0" sz="3200" b="1">
                <a:latin typeface="华文楷体"/>
                <a:cs typeface="华文楷体"/>
              </a:rPr>
              <a:t>中，是如何传递能量的？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07680" y="3951732"/>
            <a:ext cx="979931" cy="11125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52116" y="1930907"/>
            <a:ext cx="7516368" cy="3895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84269" y="935583"/>
            <a:ext cx="45974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二、变压器的工作原理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22052" y="170500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59251" y="1434083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58896" y="1658111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32432" y="1010411"/>
            <a:ext cx="8161020" cy="4590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71544" y="2878835"/>
            <a:ext cx="3777996" cy="27142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296306" y="968489"/>
            <a:ext cx="1397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想一想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56978" y="174752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94076" y="1476755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93720" y="170078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95421" y="1942274"/>
            <a:ext cx="5723890" cy="10020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变压器原、副线圈不在一个回路 </a:t>
            </a:r>
            <a:r>
              <a:rPr dirty="0" sz="3200" b="1">
                <a:latin typeface="华文楷体"/>
                <a:cs typeface="华文楷体"/>
              </a:rPr>
              <a:t>中，是如何传递能量的？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88452" y="4018788"/>
            <a:ext cx="1168907" cy="13274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55982" y="2125103"/>
            <a:ext cx="3507104" cy="2869565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3200" spc="-5" b="1">
                <a:latin typeface="华文楷体"/>
                <a:cs typeface="华文楷体"/>
              </a:rPr>
              <a:t>1</a:t>
            </a:r>
            <a:r>
              <a:rPr dirty="0" sz="3200" b="1">
                <a:latin typeface="华文楷体"/>
                <a:cs typeface="华文楷体"/>
              </a:rPr>
              <a:t>、线圈导线有电阻</a:t>
            </a:r>
            <a:endParaRPr sz="32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3200" spc="-5" b="1">
                <a:latin typeface="华文楷体"/>
                <a:cs typeface="华文楷体"/>
              </a:rPr>
              <a:t>2</a:t>
            </a:r>
            <a:r>
              <a:rPr dirty="0" sz="3200" b="1">
                <a:latin typeface="华文楷体"/>
                <a:cs typeface="华文楷体"/>
              </a:rPr>
              <a:t>、铁芯中产生涡轮</a:t>
            </a:r>
            <a:endParaRPr sz="3200">
              <a:latin typeface="华文楷体"/>
              <a:cs typeface="华文楷体"/>
            </a:endParaRPr>
          </a:p>
          <a:p>
            <a:pPr marL="46355" marR="5080">
              <a:lnSpc>
                <a:spcPct val="100000"/>
              </a:lnSpc>
              <a:spcBef>
                <a:spcPts val="1390"/>
              </a:spcBef>
            </a:pPr>
            <a:r>
              <a:rPr dirty="0" sz="3200" spc="-5" b="1">
                <a:latin typeface="华文楷体"/>
                <a:cs typeface="华文楷体"/>
              </a:rPr>
              <a:t>3</a:t>
            </a:r>
            <a:r>
              <a:rPr dirty="0" sz="3200" b="1">
                <a:latin typeface="华文楷体"/>
                <a:cs typeface="华文楷体"/>
              </a:rPr>
              <a:t>、交变电流产生的 </a:t>
            </a:r>
            <a:r>
              <a:rPr dirty="0" sz="3200" b="1">
                <a:latin typeface="华文楷体"/>
                <a:cs typeface="华文楷体"/>
              </a:rPr>
              <a:t>磁场不可能完全局 限在铁芯内。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47745" y="1120775"/>
            <a:ext cx="55118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三、变压器能量损耗的原因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64852" y="186502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02051" y="1594103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01695" y="1818132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4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587751" y="2287523"/>
            <a:ext cx="3177540" cy="2901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657588" y="5437632"/>
            <a:ext cx="347472" cy="3474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440923" y="5433059"/>
            <a:ext cx="347472" cy="3474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6345" y="1120775"/>
            <a:ext cx="50546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四、减少能量损耗的方法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64852" y="186502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02051" y="1594103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01695" y="1818132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4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283064" y="2086038"/>
            <a:ext cx="550799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latin typeface="华文楷体"/>
                <a:cs typeface="华文楷体"/>
              </a:rPr>
              <a:t>1</a:t>
            </a:r>
            <a:r>
              <a:rPr dirty="0" sz="3200" b="1">
                <a:latin typeface="华文楷体"/>
                <a:cs typeface="华文楷体"/>
              </a:rPr>
              <a:t>、合理选择导线的直径和材质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9620" y="2865120"/>
            <a:ext cx="2947416" cy="2689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6345" y="1120775"/>
            <a:ext cx="50546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四、减少能量损耗的方法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64852" y="186502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02051" y="1594103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01695" y="1818132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4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14701" y="2144090"/>
            <a:ext cx="67290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latin typeface="华文楷体"/>
                <a:cs typeface="华文楷体"/>
              </a:rPr>
              <a:t>2</a:t>
            </a:r>
            <a:r>
              <a:rPr dirty="0" sz="3200" b="1">
                <a:latin typeface="华文楷体"/>
                <a:cs typeface="华文楷体"/>
              </a:rPr>
              <a:t>、铁芯用彼此绝缘的多层硅钢片制成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47641" y="2744723"/>
            <a:ext cx="2711195" cy="2740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6345" y="1120775"/>
            <a:ext cx="50546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四、减少能量损耗的方法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64852" y="186502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02051" y="1594103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01695" y="1818132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4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92207" y="2086038"/>
            <a:ext cx="46939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latin typeface="华文楷体"/>
                <a:cs typeface="华文楷体"/>
              </a:rPr>
              <a:t>3</a:t>
            </a:r>
            <a:r>
              <a:rPr dirty="0" sz="3200" b="1">
                <a:latin typeface="华文楷体"/>
                <a:cs typeface="华文楷体"/>
              </a:rPr>
              <a:t>、采用闭合铁芯减少漏磁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65903" y="2912364"/>
            <a:ext cx="2898648" cy="2491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49557" y="5117376"/>
            <a:ext cx="20605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铁芯的作用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46020" y="1034796"/>
            <a:ext cx="7286244" cy="41193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53639" y="1034796"/>
            <a:ext cx="7286244" cy="40980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149557" y="5117376"/>
            <a:ext cx="20605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铁芯的作用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410" y="5140731"/>
            <a:ext cx="28746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闭合铁芯的作用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93264" y="1097280"/>
            <a:ext cx="7217664" cy="39349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99360" y="1110996"/>
            <a:ext cx="7193280" cy="40462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658410" y="5140731"/>
            <a:ext cx="28746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闭合铁芯的作用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26200" y="4233100"/>
            <a:ext cx="3586479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变电站中的大型变压</a:t>
            </a:r>
            <a:r>
              <a:rPr dirty="0" sz="2800" spc="-10" b="1">
                <a:latin typeface="华文楷体"/>
                <a:cs typeface="华文楷体"/>
              </a:rPr>
              <a:t>器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05901" y="3555326"/>
            <a:ext cx="3688715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3333FF"/>
                </a:solidFill>
                <a:latin typeface="华文楷体"/>
                <a:cs typeface="华文楷体"/>
              </a:rPr>
              <a:t>大型变压器满负荷工 </a:t>
            </a:r>
            <a:r>
              <a:rPr dirty="0" sz="3200" b="1">
                <a:solidFill>
                  <a:srgbClr val="3333FF"/>
                </a:solidFill>
                <a:latin typeface="华文楷体"/>
                <a:cs typeface="华文楷体"/>
              </a:rPr>
              <a:t>作时效率可达</a:t>
            </a:r>
            <a:r>
              <a:rPr dirty="0" sz="3200" spc="-5" b="1">
                <a:solidFill>
                  <a:srgbClr val="3333FF"/>
                </a:solidFill>
                <a:latin typeface="华文楷体"/>
                <a:cs typeface="华文楷体"/>
              </a:rPr>
              <a:t>95%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31279" y="1473708"/>
            <a:ext cx="3515868" cy="2636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921752" y="2505455"/>
            <a:ext cx="266700" cy="131445"/>
          </a:xfrm>
          <a:custGeom>
            <a:avLst/>
            <a:gdLst/>
            <a:ahLst/>
            <a:cxnLst/>
            <a:rect l="l" t="t" r="r" b="b"/>
            <a:pathLst>
              <a:path w="266700" h="131444">
                <a:moveTo>
                  <a:pt x="0" y="0"/>
                </a:moveTo>
                <a:lnTo>
                  <a:pt x="266700" y="0"/>
                </a:lnTo>
                <a:lnTo>
                  <a:pt x="266700" y="131064"/>
                </a:lnTo>
                <a:lnTo>
                  <a:pt x="0" y="131064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95119" y="1457248"/>
            <a:ext cx="3688715" cy="14897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我们将变压器输出功 率与输入功率之比叫 </a:t>
            </a:r>
            <a:r>
              <a:rPr dirty="0" sz="3200" b="1">
                <a:latin typeface="华文楷体"/>
                <a:cs typeface="华文楷体"/>
              </a:rPr>
              <a:t>作</a:t>
            </a:r>
            <a:r>
              <a:rPr dirty="0" sz="3200" b="1">
                <a:solidFill>
                  <a:srgbClr val="FF0000"/>
                </a:solidFill>
                <a:latin typeface="华文楷体"/>
                <a:cs typeface="华文楷体"/>
              </a:rPr>
              <a:t>变压器的效率。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42805" y="2467686"/>
            <a:ext cx="5316855" cy="18999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0000"/>
                </a:solidFill>
                <a:latin typeface="华文楷体"/>
                <a:cs typeface="华文楷体"/>
              </a:rPr>
              <a:t>理想化模型</a:t>
            </a:r>
            <a:endParaRPr sz="3200">
              <a:latin typeface="华文楷体"/>
              <a:cs typeface="华文楷体"/>
            </a:endParaRPr>
          </a:p>
          <a:p>
            <a:pPr marL="12700" marR="5080">
              <a:lnSpc>
                <a:spcPct val="100000"/>
              </a:lnSpc>
              <a:spcBef>
                <a:spcPts val="3229"/>
              </a:spcBef>
            </a:pPr>
            <a:r>
              <a:rPr dirty="0" sz="3200" b="1">
                <a:latin typeface="华文楷体"/>
                <a:cs typeface="华文楷体"/>
              </a:rPr>
              <a:t>我们把没有能量损失的变压器 </a:t>
            </a:r>
            <a:r>
              <a:rPr dirty="0" sz="3200" b="1">
                <a:latin typeface="华文楷体"/>
                <a:cs typeface="华文楷体"/>
              </a:rPr>
              <a:t>叫作理想变压器。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45039" y="200218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83051" y="1731264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2" y="0"/>
                </a:lnTo>
                <a:lnTo>
                  <a:pt x="362712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81171" y="1955292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11001" y="1201064"/>
            <a:ext cx="32258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五、理想变压器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5303" y="992466"/>
            <a:ext cx="6979920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3200" b="1">
                <a:latin typeface="华文楷体"/>
                <a:cs typeface="华文楷体"/>
              </a:rPr>
              <a:t>如何保证输入电压为</a:t>
            </a:r>
            <a:r>
              <a:rPr dirty="0" sz="3200" spc="-5" b="1">
                <a:latin typeface="华文楷体"/>
                <a:cs typeface="华文楷体"/>
              </a:rPr>
              <a:t>20k</a:t>
            </a:r>
            <a:r>
              <a:rPr dirty="0" sz="3200" b="1">
                <a:latin typeface="华文楷体"/>
                <a:cs typeface="华文楷体"/>
              </a:rPr>
              <a:t>V</a:t>
            </a:r>
            <a:r>
              <a:rPr dirty="0" sz="3200" b="1">
                <a:latin typeface="华文楷体"/>
                <a:cs typeface="华文楷体"/>
              </a:rPr>
              <a:t>时，输出电压 </a:t>
            </a:r>
            <a:r>
              <a:rPr dirty="0" sz="3200" b="1">
                <a:latin typeface="华文楷体"/>
                <a:cs typeface="华文楷体"/>
              </a:rPr>
              <a:t>为</a:t>
            </a:r>
            <a:r>
              <a:rPr dirty="0" sz="3200" spc="-5" b="1">
                <a:latin typeface="华文楷体"/>
                <a:cs typeface="华文楷体"/>
              </a:rPr>
              <a:t>550kV？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28644" y="2685288"/>
            <a:ext cx="5149596" cy="2766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9807" y="2000275"/>
            <a:ext cx="8166100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请基于以下情景，推导理想变压器原、副线圈 </a:t>
            </a:r>
            <a:r>
              <a:rPr dirty="0" sz="3200" b="1">
                <a:latin typeface="华文楷体"/>
                <a:cs typeface="华文楷体"/>
              </a:rPr>
              <a:t>电压之比与原、副线圈匝数的关系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10709" y="5087239"/>
            <a:ext cx="28746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3333FF"/>
                </a:solidFill>
                <a:latin typeface="华文楷体"/>
                <a:cs typeface="华文楷体"/>
              </a:rPr>
              <a:t>理想变压器模型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55364" y="2996183"/>
            <a:ext cx="3465576" cy="21686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52916" y="4146803"/>
            <a:ext cx="949451" cy="10774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51771" y="17392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89504" y="14691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1" y="0"/>
                </a:lnTo>
                <a:lnTo>
                  <a:pt x="362711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87623" y="1693164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397258" y="1028281"/>
            <a:ext cx="1397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想一想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56276" y="4530852"/>
            <a:ext cx="1484630" cy="982980"/>
          </a:xfrm>
          <a:custGeom>
            <a:avLst/>
            <a:gdLst/>
            <a:ahLst/>
            <a:cxnLst/>
            <a:rect l="l" t="t" r="r" b="b"/>
            <a:pathLst>
              <a:path w="1484629" h="982979">
                <a:moveTo>
                  <a:pt x="0" y="0"/>
                </a:moveTo>
                <a:lnTo>
                  <a:pt x="1484376" y="0"/>
                </a:lnTo>
                <a:lnTo>
                  <a:pt x="1484376" y="982979"/>
                </a:lnTo>
                <a:lnTo>
                  <a:pt x="0" y="982979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18970" y="1104633"/>
            <a:ext cx="613092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原、副线圈中感应电动势分别为：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59623" y="1237488"/>
            <a:ext cx="2947416" cy="18440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87064" y="2046528"/>
            <a:ext cx="556895" cy="0"/>
          </a:xfrm>
          <a:custGeom>
            <a:avLst/>
            <a:gdLst/>
            <a:ahLst/>
            <a:cxnLst/>
            <a:rect l="l" t="t" r="r" b="b"/>
            <a:pathLst>
              <a:path w="556895" h="0">
                <a:moveTo>
                  <a:pt x="0" y="0"/>
                </a:moveTo>
                <a:lnTo>
                  <a:pt x="556437" y="0"/>
                </a:lnTo>
              </a:path>
            </a:pathLst>
          </a:custGeom>
          <a:ln w="167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046387" y="2009610"/>
            <a:ext cx="586740" cy="262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74345" algn="l"/>
              </a:tabLst>
            </a:pPr>
            <a:r>
              <a:rPr dirty="0" sz="1550">
                <a:latin typeface="Times New Roman"/>
                <a:cs typeface="Times New Roman"/>
              </a:rPr>
              <a:t>1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88308" y="2043150"/>
            <a:ext cx="337820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>
                <a:latin typeface="Times New Roman"/>
                <a:cs typeface="Times New Roman"/>
              </a:rPr>
              <a:t>Δ</a:t>
            </a:r>
            <a:r>
              <a:rPr dirty="0" sz="2650" spc="10" i="1">
                <a:latin typeface="Times New Roman"/>
                <a:cs typeface="Times New Roman"/>
              </a:rPr>
              <a:t>t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60903" y="1760184"/>
            <a:ext cx="1445895" cy="4572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41375" algn="l"/>
              </a:tabLst>
            </a:pPr>
            <a:r>
              <a:rPr dirty="0" sz="2650" spc="20" i="1">
                <a:latin typeface="Times New Roman"/>
                <a:cs typeface="Times New Roman"/>
              </a:rPr>
              <a:t>E</a:t>
            </a:r>
            <a:r>
              <a:rPr dirty="0" sz="2650" spc="150" i="1">
                <a:latin typeface="Times New Roman"/>
                <a:cs typeface="Times New Roman"/>
              </a:rPr>
              <a:t> </a:t>
            </a:r>
            <a:r>
              <a:rPr dirty="0" sz="2650" spc="25">
                <a:latin typeface="Times New Roman"/>
                <a:cs typeface="Times New Roman"/>
              </a:rPr>
              <a:t>=</a:t>
            </a:r>
            <a:r>
              <a:rPr dirty="0" sz="2650" spc="25" i="1">
                <a:latin typeface="Times New Roman"/>
                <a:cs typeface="Times New Roman"/>
              </a:rPr>
              <a:t>n	</a:t>
            </a:r>
            <a:r>
              <a:rPr dirty="0" baseline="35639" sz="3975" spc="-209">
                <a:latin typeface="Times New Roman"/>
                <a:cs typeface="Times New Roman"/>
              </a:rPr>
              <a:t>Δ</a:t>
            </a:r>
            <a:r>
              <a:rPr dirty="0" baseline="33730" sz="4200" spc="-209" i="1">
                <a:latin typeface="Symbol"/>
                <a:cs typeface="Symbol"/>
              </a:rPr>
              <a:t></a:t>
            </a:r>
            <a:endParaRPr baseline="33730" sz="4200">
              <a:latin typeface="Symbol"/>
              <a:cs typeface="Symbo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33605" y="206794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 h="0">
                <a:moveTo>
                  <a:pt x="0" y="0"/>
                </a:moveTo>
                <a:lnTo>
                  <a:pt x="562114" y="0"/>
                </a:lnTo>
              </a:path>
            </a:pathLst>
          </a:custGeom>
          <a:ln w="169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034750" y="2032774"/>
            <a:ext cx="622935" cy="262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11175" algn="l"/>
              </a:tabLst>
            </a:pPr>
            <a:r>
              <a:rPr dirty="0" sz="1550">
                <a:latin typeface="Times New Roman"/>
                <a:cs typeface="Times New Roman"/>
              </a:rPr>
              <a:t>2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25962" y="1782460"/>
            <a:ext cx="1529715" cy="4572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63855" algn="l"/>
                <a:tab pos="923290" algn="l"/>
              </a:tabLst>
            </a:pPr>
            <a:r>
              <a:rPr dirty="0" sz="2650" spc="20" i="1">
                <a:latin typeface="Times New Roman"/>
                <a:cs typeface="Times New Roman"/>
              </a:rPr>
              <a:t>E	</a:t>
            </a:r>
            <a:r>
              <a:rPr dirty="0" sz="2650" spc="10">
                <a:latin typeface="Times New Roman"/>
                <a:cs typeface="Times New Roman"/>
              </a:rPr>
              <a:t>=</a:t>
            </a:r>
            <a:r>
              <a:rPr dirty="0" sz="2650" spc="10" i="1">
                <a:latin typeface="Times New Roman"/>
                <a:cs typeface="Times New Roman"/>
              </a:rPr>
              <a:t>n	</a:t>
            </a:r>
            <a:r>
              <a:rPr dirty="0" baseline="35639" sz="3975" spc="-195">
                <a:latin typeface="Times New Roman"/>
                <a:cs typeface="Times New Roman"/>
              </a:rPr>
              <a:t>Δ</a:t>
            </a:r>
            <a:r>
              <a:rPr dirty="0" baseline="33730" sz="4200" spc="-195" i="1">
                <a:latin typeface="Symbol"/>
                <a:cs typeface="Symbol"/>
              </a:rPr>
              <a:t></a:t>
            </a:r>
            <a:endParaRPr baseline="33730" sz="42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70733" y="2610180"/>
            <a:ext cx="43243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则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07446" y="2927934"/>
            <a:ext cx="380365" cy="0"/>
          </a:xfrm>
          <a:custGeom>
            <a:avLst/>
            <a:gdLst/>
            <a:ahLst/>
            <a:cxnLst/>
            <a:rect l="l" t="t" r="r" b="b"/>
            <a:pathLst>
              <a:path w="380364" h="0">
                <a:moveTo>
                  <a:pt x="0" y="0"/>
                </a:moveTo>
                <a:lnTo>
                  <a:pt x="380085" y="0"/>
                </a:lnTo>
              </a:path>
            </a:pathLst>
          </a:custGeom>
          <a:ln w="165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743196" y="2927934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 h="0">
                <a:moveTo>
                  <a:pt x="0" y="0"/>
                </a:moveTo>
                <a:lnTo>
                  <a:pt x="326910" y="0"/>
                </a:lnTo>
              </a:path>
            </a:pathLst>
          </a:custGeom>
          <a:ln w="165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026128" y="2382398"/>
            <a:ext cx="1012825" cy="970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7780">
              <a:lnSpc>
                <a:spcPct val="119200"/>
              </a:lnSpc>
              <a:spcBef>
                <a:spcPts val="95"/>
              </a:spcBef>
              <a:tabLst>
                <a:tab pos="450215" algn="l"/>
                <a:tab pos="741680" algn="l"/>
              </a:tabLst>
            </a:pPr>
            <a:r>
              <a:rPr dirty="0" sz="2600" spc="-70" i="1">
                <a:latin typeface="Times New Roman"/>
                <a:cs typeface="Times New Roman"/>
              </a:rPr>
              <a:t>E</a:t>
            </a:r>
            <a:r>
              <a:rPr dirty="0" baseline="-25925" sz="2250" spc="-104">
                <a:latin typeface="Times New Roman"/>
                <a:cs typeface="Times New Roman"/>
              </a:rPr>
              <a:t>1	</a:t>
            </a:r>
            <a:r>
              <a:rPr dirty="0" baseline="-35256" sz="3900" spc="37">
                <a:latin typeface="Symbol"/>
                <a:cs typeface="Symbol"/>
              </a:rPr>
              <a:t></a:t>
            </a:r>
            <a:r>
              <a:rPr dirty="0" baseline="-35256" sz="3900" spc="37">
                <a:latin typeface="Times New Roman"/>
                <a:cs typeface="Times New Roman"/>
              </a:rPr>
              <a:t> </a:t>
            </a:r>
            <a:r>
              <a:rPr dirty="0" sz="2600" spc="-95" i="1">
                <a:latin typeface="Times New Roman"/>
                <a:cs typeface="Times New Roman"/>
              </a:rPr>
              <a:t>n</a:t>
            </a:r>
            <a:r>
              <a:rPr dirty="0" baseline="-25925" sz="2250" spc="-142">
                <a:latin typeface="Times New Roman"/>
                <a:cs typeface="Times New Roman"/>
              </a:rPr>
              <a:t>1  </a:t>
            </a:r>
            <a:r>
              <a:rPr dirty="0" sz="2600" spc="15" i="1">
                <a:latin typeface="Times New Roman"/>
                <a:cs typeface="Times New Roman"/>
              </a:rPr>
              <a:t>E</a:t>
            </a:r>
            <a:r>
              <a:rPr dirty="0" baseline="-25925" sz="2250" spc="22">
                <a:latin typeface="Times New Roman"/>
                <a:cs typeface="Times New Roman"/>
              </a:rPr>
              <a:t>2</a:t>
            </a:r>
            <a:r>
              <a:rPr dirty="0" baseline="-25925" sz="2250">
                <a:latin typeface="Times New Roman"/>
                <a:cs typeface="Times New Roman"/>
              </a:rPr>
              <a:t>		</a:t>
            </a:r>
            <a:r>
              <a:rPr dirty="0" sz="2600" spc="-40" i="1">
                <a:latin typeface="Times New Roman"/>
                <a:cs typeface="Times New Roman"/>
              </a:rPr>
              <a:t>n</a:t>
            </a:r>
            <a:r>
              <a:rPr dirty="0" baseline="-25925" sz="2250" spc="22">
                <a:latin typeface="Times New Roman"/>
                <a:cs typeface="Times New Roman"/>
              </a:rPr>
              <a:t>2</a:t>
            </a:r>
            <a:endParaRPr baseline="-25925" sz="22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12365" y="3384994"/>
            <a:ext cx="4095750" cy="988694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 marR="5080">
              <a:lnSpc>
                <a:spcPts val="3740"/>
              </a:lnSpc>
              <a:spcBef>
                <a:spcPts val="310"/>
              </a:spcBef>
            </a:pPr>
            <a:r>
              <a:rPr dirty="0" sz="3200" b="1">
                <a:latin typeface="华文楷体"/>
                <a:cs typeface="华文楷体"/>
              </a:rPr>
              <a:t>若不考虑原线圈电阻则 若不考虑副线圈电阻则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50304" y="3351359"/>
            <a:ext cx="1046480" cy="974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335">
              <a:lnSpc>
                <a:spcPct val="122000"/>
              </a:lnSpc>
              <a:spcBef>
                <a:spcPts val="95"/>
              </a:spcBef>
            </a:pPr>
            <a:r>
              <a:rPr dirty="0" sz="2550" spc="35" i="1">
                <a:latin typeface="Times New Roman"/>
                <a:cs typeface="Times New Roman"/>
              </a:rPr>
              <a:t>U</a:t>
            </a:r>
            <a:r>
              <a:rPr dirty="0" baseline="-24904" sz="2175" spc="52">
                <a:latin typeface="Times New Roman"/>
                <a:cs typeface="Times New Roman"/>
              </a:rPr>
              <a:t>1 </a:t>
            </a:r>
            <a:r>
              <a:rPr dirty="0" sz="2550" spc="10">
                <a:latin typeface="Symbol"/>
                <a:cs typeface="Symbol"/>
              </a:rPr>
              <a:t></a:t>
            </a:r>
            <a:r>
              <a:rPr dirty="0" sz="2550" spc="10">
                <a:latin typeface="Times New Roman"/>
                <a:cs typeface="Times New Roman"/>
              </a:rPr>
              <a:t> </a:t>
            </a:r>
            <a:r>
              <a:rPr dirty="0" sz="2550" spc="-65" i="1">
                <a:latin typeface="Times New Roman"/>
                <a:cs typeface="Times New Roman"/>
              </a:rPr>
              <a:t>E</a:t>
            </a:r>
            <a:r>
              <a:rPr dirty="0" baseline="-24904" sz="2175" spc="-97">
                <a:latin typeface="Times New Roman"/>
                <a:cs typeface="Times New Roman"/>
              </a:rPr>
              <a:t>1  </a:t>
            </a:r>
            <a:r>
              <a:rPr dirty="0" sz="2550" spc="105" i="1">
                <a:latin typeface="Times New Roman"/>
                <a:cs typeface="Times New Roman"/>
              </a:rPr>
              <a:t>U</a:t>
            </a:r>
            <a:r>
              <a:rPr dirty="0" baseline="-24904" sz="2175" spc="157">
                <a:latin typeface="Times New Roman"/>
                <a:cs typeface="Times New Roman"/>
              </a:rPr>
              <a:t>2 </a:t>
            </a:r>
            <a:r>
              <a:rPr dirty="0" sz="2550" spc="10">
                <a:latin typeface="Symbol"/>
                <a:cs typeface="Symbol"/>
              </a:rPr>
              <a:t></a:t>
            </a:r>
            <a:r>
              <a:rPr dirty="0" sz="2550" spc="-125">
                <a:latin typeface="Times New Roman"/>
                <a:cs typeface="Times New Roman"/>
              </a:rPr>
              <a:t> </a:t>
            </a:r>
            <a:r>
              <a:rPr dirty="0" sz="2550" spc="5" i="1">
                <a:latin typeface="Times New Roman"/>
                <a:cs typeface="Times New Roman"/>
              </a:rPr>
              <a:t>E</a:t>
            </a:r>
            <a:r>
              <a:rPr dirty="0" baseline="-24904" sz="2175" spc="7">
                <a:latin typeface="Times New Roman"/>
                <a:cs typeface="Times New Roman"/>
              </a:rPr>
              <a:t>2</a:t>
            </a:r>
            <a:endParaRPr baseline="-24904" sz="217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36005" y="1957334"/>
            <a:ext cx="600710" cy="1166495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650" spc="15">
                <a:latin typeface="Times New Roman"/>
                <a:cs typeface="Times New Roman"/>
              </a:rPr>
              <a:t>Δ</a:t>
            </a:r>
            <a:r>
              <a:rPr dirty="0" sz="2650" spc="15" i="1">
                <a:latin typeface="Times New Roman"/>
                <a:cs typeface="Times New Roman"/>
              </a:rPr>
              <a:t>t</a:t>
            </a:r>
            <a:endParaRPr sz="265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1050"/>
              </a:spcBef>
            </a:pPr>
            <a:r>
              <a:rPr dirty="0" sz="3200" b="1">
                <a:solidFill>
                  <a:srgbClr val="FF0000"/>
                </a:solidFill>
                <a:latin typeface="华文楷体"/>
                <a:cs typeface="华文楷体"/>
              </a:rPr>
              <a:t>①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55330" y="3137179"/>
            <a:ext cx="432434" cy="1346835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dirty="0" sz="3200" b="1">
                <a:solidFill>
                  <a:srgbClr val="FF0000"/>
                </a:solidFill>
                <a:latin typeface="华文楷体"/>
                <a:cs typeface="华文楷体"/>
              </a:rPr>
              <a:t>②</a:t>
            </a:r>
            <a:endParaRPr sz="32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dirty="0" sz="3200" b="1">
                <a:solidFill>
                  <a:srgbClr val="FF0000"/>
                </a:solidFill>
                <a:latin typeface="华文楷体"/>
                <a:cs typeface="华文楷体"/>
              </a:rPr>
              <a:t>③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87574" y="4799812"/>
            <a:ext cx="20605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0000"/>
                </a:solidFill>
                <a:latin typeface="华文楷体"/>
                <a:cs typeface="华文楷体"/>
              </a:rPr>
              <a:t>由①②③得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76951" y="4997932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504" y="0"/>
                </a:lnTo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89294" y="4997932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964" y="0"/>
                </a:lnTo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365712" y="4412808"/>
            <a:ext cx="1139825" cy="1042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19050">
              <a:lnSpc>
                <a:spcPct val="117000"/>
              </a:lnSpc>
              <a:spcBef>
                <a:spcPts val="100"/>
              </a:spcBef>
              <a:tabLst>
                <a:tab pos="536575" algn="l"/>
                <a:tab pos="848994" algn="l"/>
              </a:tabLst>
            </a:pPr>
            <a:r>
              <a:rPr dirty="0" sz="2850" spc="5" i="1">
                <a:latin typeface="Times New Roman"/>
                <a:cs typeface="Times New Roman"/>
              </a:rPr>
              <a:t>U</a:t>
            </a:r>
            <a:r>
              <a:rPr dirty="0" baseline="-25252" sz="2475" spc="7">
                <a:latin typeface="Times New Roman"/>
                <a:cs typeface="Times New Roman"/>
              </a:rPr>
              <a:t>1	</a:t>
            </a:r>
            <a:r>
              <a:rPr dirty="0" baseline="-35087" sz="4275" spc="-7">
                <a:latin typeface="Symbol"/>
                <a:cs typeface="Symbol"/>
              </a:rPr>
              <a:t></a:t>
            </a:r>
            <a:r>
              <a:rPr dirty="0" baseline="-35087" sz="4275" spc="-7">
                <a:latin typeface="Times New Roman"/>
                <a:cs typeface="Times New Roman"/>
              </a:rPr>
              <a:t> </a:t>
            </a:r>
            <a:r>
              <a:rPr dirty="0" sz="2850" spc="-125" i="1">
                <a:latin typeface="Times New Roman"/>
                <a:cs typeface="Times New Roman"/>
              </a:rPr>
              <a:t>n</a:t>
            </a:r>
            <a:r>
              <a:rPr dirty="0" baseline="-25252" sz="2475" spc="-187">
                <a:latin typeface="Times New Roman"/>
                <a:cs typeface="Times New Roman"/>
              </a:rPr>
              <a:t>1  </a:t>
            </a:r>
            <a:r>
              <a:rPr dirty="0" sz="2850" spc="190" i="1">
                <a:latin typeface="Times New Roman"/>
                <a:cs typeface="Times New Roman"/>
              </a:rPr>
              <a:t>U</a:t>
            </a:r>
            <a:r>
              <a:rPr dirty="0" baseline="-25252" sz="2475" spc="-7">
                <a:latin typeface="Times New Roman"/>
                <a:cs typeface="Times New Roman"/>
              </a:rPr>
              <a:t>2</a:t>
            </a:r>
            <a:r>
              <a:rPr dirty="0" baseline="-25252" sz="2475">
                <a:latin typeface="Times New Roman"/>
                <a:cs typeface="Times New Roman"/>
              </a:rPr>
              <a:t>		</a:t>
            </a:r>
            <a:r>
              <a:rPr dirty="0" sz="2850" spc="-70" i="1">
                <a:latin typeface="Times New Roman"/>
                <a:cs typeface="Times New Roman"/>
              </a:rPr>
              <a:t>n</a:t>
            </a:r>
            <a:r>
              <a:rPr dirty="0" baseline="-25252" sz="2475" spc="-7">
                <a:latin typeface="Times New Roman"/>
                <a:cs typeface="Times New Roman"/>
              </a:rPr>
              <a:t>2</a:t>
            </a:r>
            <a:endParaRPr baseline="-25252" sz="2475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8151" y="926591"/>
            <a:ext cx="8638032" cy="7665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21914" y="1558125"/>
            <a:ext cx="7465695" cy="3113405"/>
          </a:xfrm>
          <a:prstGeom prst="rect">
            <a:avLst/>
          </a:prstGeom>
        </p:spPr>
        <p:txBody>
          <a:bodyPr wrap="square" lIns="0" tIns="175895" rIns="0" bIns="0" rtlCol="0" vert="horz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385"/>
              </a:spcBef>
            </a:pPr>
            <a:r>
              <a:rPr dirty="0" sz="3200" b="1">
                <a:solidFill>
                  <a:srgbClr val="FF0000"/>
                </a:solidFill>
                <a:latin typeface="华文楷体"/>
                <a:cs typeface="华文楷体"/>
              </a:rPr>
              <a:t>探究变压器原、副线圈电压与匝数的关系</a:t>
            </a:r>
            <a:endParaRPr sz="3200">
              <a:latin typeface="华文楷体"/>
              <a:cs typeface="华文楷体"/>
            </a:endParaRPr>
          </a:p>
          <a:p>
            <a:pPr marL="239395" marR="5080">
              <a:lnSpc>
                <a:spcPct val="100000"/>
              </a:lnSpc>
              <a:spcBef>
                <a:spcPts val="1285"/>
              </a:spcBef>
            </a:pPr>
            <a:r>
              <a:rPr dirty="0" sz="3200" b="1">
                <a:latin typeface="华文楷体"/>
                <a:cs typeface="华文楷体"/>
              </a:rPr>
              <a:t>实</a:t>
            </a:r>
            <a:r>
              <a:rPr dirty="0" sz="3200" spc="-5" b="1">
                <a:latin typeface="华文楷体"/>
                <a:cs typeface="华文楷体"/>
              </a:rPr>
              <a:t>验1</a:t>
            </a:r>
            <a:r>
              <a:rPr dirty="0" sz="3200" spc="-65" b="1">
                <a:latin typeface="华文楷体"/>
                <a:cs typeface="华文楷体"/>
              </a:rPr>
              <a:t> </a:t>
            </a:r>
            <a:r>
              <a:rPr dirty="0" sz="3200" b="1">
                <a:latin typeface="华文楷体"/>
                <a:cs typeface="华文楷体"/>
              </a:rPr>
              <a:t>控制输入电压和原线圈匝数不变，  改变副线圈匝数，测量输出电压</a:t>
            </a:r>
            <a:endParaRPr sz="3200">
              <a:latin typeface="华文楷体"/>
              <a:cs typeface="华文楷体"/>
            </a:endParaRPr>
          </a:p>
          <a:p>
            <a:pPr marL="239395" marR="299085">
              <a:lnSpc>
                <a:spcPct val="100000"/>
              </a:lnSpc>
              <a:spcBef>
                <a:spcPts val="2540"/>
              </a:spcBef>
            </a:pPr>
            <a:r>
              <a:rPr dirty="0" sz="3200" b="1">
                <a:solidFill>
                  <a:srgbClr val="0000FF"/>
                </a:solidFill>
                <a:latin typeface="华文楷体"/>
                <a:cs typeface="华文楷体"/>
              </a:rPr>
              <a:t>请同学们自己设计实验电路和实验数据 </a:t>
            </a:r>
            <a:r>
              <a:rPr dirty="0" sz="3200" b="1">
                <a:solidFill>
                  <a:srgbClr val="0000FF"/>
                </a:solidFill>
                <a:latin typeface="华文楷体"/>
                <a:cs typeface="华文楷体"/>
              </a:rPr>
              <a:t>记录表格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49283" y="4351020"/>
            <a:ext cx="864107" cy="9799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15311" y="1513332"/>
            <a:ext cx="8029956" cy="33787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096756" y="3983735"/>
            <a:ext cx="979931" cy="11125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33372" y="1171955"/>
            <a:ext cx="8523732" cy="4514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4504" y="1034313"/>
            <a:ext cx="84810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0000"/>
                </a:solidFill>
                <a:latin typeface="华文楷体"/>
                <a:cs typeface="华文楷体"/>
              </a:rPr>
              <a:t>探究变压器原、副线圈电压与匝数的关系</a:t>
            </a:r>
            <a:r>
              <a:rPr dirty="0" sz="3600" spc="-5" b="1">
                <a:solidFill>
                  <a:srgbClr val="FF0000"/>
                </a:solidFill>
                <a:latin typeface="华文楷体"/>
                <a:cs typeface="华文楷体"/>
              </a:rPr>
              <a:t>1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45664" y="1808988"/>
            <a:ext cx="7034784" cy="39578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671954" y="2520188"/>
          <a:ext cx="8854440" cy="2999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2745"/>
                <a:gridCol w="1888489"/>
                <a:gridCol w="2001520"/>
                <a:gridCol w="1667510"/>
                <a:gridCol w="1635125"/>
              </a:tblGrid>
              <a:tr h="853439">
                <a:tc>
                  <a:txBody>
                    <a:bodyPr/>
                    <a:lstStyle/>
                    <a:p>
                      <a:pPr marL="68580">
                        <a:lnSpc>
                          <a:spcPts val="3200"/>
                        </a:lnSpc>
                      </a:pPr>
                      <a:r>
                        <a:rPr dirty="0" sz="2800" b="1">
                          <a:latin typeface="宋体"/>
                          <a:cs typeface="宋体"/>
                        </a:rPr>
                        <a:t>实验次</a:t>
                      </a:r>
                      <a:r>
                        <a:rPr dirty="0" sz="2800" spc="-20" b="1">
                          <a:latin typeface="宋体"/>
                          <a:cs typeface="宋体"/>
                        </a:rPr>
                        <a:t>数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3195"/>
                        </a:lnSpc>
                      </a:pPr>
                      <a:r>
                        <a:rPr dirty="0" sz="2800" b="1">
                          <a:latin typeface="宋体"/>
                          <a:cs typeface="宋体"/>
                        </a:rPr>
                        <a:t>原线圈</a:t>
                      </a:r>
                      <a:r>
                        <a:rPr dirty="0" sz="2800" spc="-20" b="1">
                          <a:latin typeface="宋体"/>
                          <a:cs typeface="宋体"/>
                        </a:rPr>
                        <a:t>匝</a:t>
                      </a:r>
                      <a:endParaRPr sz="2800">
                        <a:latin typeface="宋体"/>
                        <a:cs typeface="宋体"/>
                      </a:endParaRPr>
                    </a:p>
                    <a:p>
                      <a:pPr marL="67945">
                        <a:lnSpc>
                          <a:spcPts val="3354"/>
                        </a:lnSpc>
                      </a:pPr>
                      <a:r>
                        <a:rPr dirty="0" sz="2800" b="1">
                          <a:latin typeface="宋体"/>
                          <a:cs typeface="宋体"/>
                        </a:rPr>
                        <a:t>数</a:t>
                      </a:r>
                      <a:r>
                        <a:rPr dirty="0" sz="2800" b="1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baseline="-16975" sz="2700" b="1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800" b="1">
                          <a:latin typeface="宋体"/>
                          <a:cs typeface="宋体"/>
                        </a:rPr>
                        <a:t>（匝</a:t>
                      </a:r>
                      <a:r>
                        <a:rPr dirty="0" sz="2800" spc="-20" b="1">
                          <a:latin typeface="宋体"/>
                          <a:cs typeface="宋体"/>
                        </a:rPr>
                        <a:t>）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195"/>
                        </a:lnSpc>
                      </a:pPr>
                      <a:r>
                        <a:rPr dirty="0" sz="2800" b="1">
                          <a:latin typeface="宋体"/>
                          <a:cs typeface="宋体"/>
                        </a:rPr>
                        <a:t>副线圈匝</a:t>
                      </a:r>
                      <a:r>
                        <a:rPr dirty="0" sz="2800" spc="-20" b="1">
                          <a:latin typeface="宋体"/>
                          <a:cs typeface="宋体"/>
                        </a:rPr>
                        <a:t>数</a:t>
                      </a:r>
                      <a:endParaRPr sz="2800">
                        <a:latin typeface="宋体"/>
                        <a:cs typeface="宋体"/>
                      </a:endParaRPr>
                    </a:p>
                    <a:p>
                      <a:pPr marL="68580">
                        <a:lnSpc>
                          <a:spcPts val="3354"/>
                        </a:lnSpc>
                      </a:pPr>
                      <a:r>
                        <a:rPr dirty="0" sz="2800" b="1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baseline="-16975" sz="2700" b="1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2800" b="1">
                          <a:latin typeface="宋体"/>
                          <a:cs typeface="宋体"/>
                        </a:rPr>
                        <a:t>（匝</a:t>
                      </a:r>
                      <a:r>
                        <a:rPr dirty="0" sz="2800" spc="-20" b="1">
                          <a:latin typeface="宋体"/>
                          <a:cs typeface="宋体"/>
                        </a:rPr>
                        <a:t>）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195"/>
                        </a:lnSpc>
                      </a:pPr>
                      <a:r>
                        <a:rPr dirty="0" sz="2800" b="1">
                          <a:latin typeface="宋体"/>
                          <a:cs typeface="宋体"/>
                        </a:rPr>
                        <a:t>输入电</a:t>
                      </a:r>
                      <a:r>
                        <a:rPr dirty="0" sz="2800" spc="-20" b="1">
                          <a:latin typeface="宋体"/>
                          <a:cs typeface="宋体"/>
                        </a:rPr>
                        <a:t>压</a:t>
                      </a:r>
                      <a:endParaRPr sz="2800">
                        <a:latin typeface="宋体"/>
                        <a:cs typeface="宋体"/>
                      </a:endParaRPr>
                    </a:p>
                    <a:p>
                      <a:pPr marL="68580">
                        <a:lnSpc>
                          <a:spcPts val="3354"/>
                        </a:lnSpc>
                      </a:pPr>
                      <a:r>
                        <a:rPr dirty="0" sz="2800" spc="-5" b="1" i="1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dirty="0" baseline="-16975" sz="2700" spc="-7" b="1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800" spc="-5" b="1"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2800" spc="-5" b="1">
                          <a:latin typeface="宋体"/>
                          <a:cs typeface="宋体"/>
                        </a:rPr>
                        <a:t>）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3195"/>
                        </a:lnSpc>
                      </a:pPr>
                      <a:r>
                        <a:rPr dirty="0" sz="2800" b="1">
                          <a:latin typeface="宋体"/>
                          <a:cs typeface="宋体"/>
                        </a:rPr>
                        <a:t>输出电</a:t>
                      </a:r>
                      <a:r>
                        <a:rPr dirty="0" sz="2800" spc="-20" b="1">
                          <a:latin typeface="宋体"/>
                          <a:cs typeface="宋体"/>
                        </a:rPr>
                        <a:t>压</a:t>
                      </a:r>
                      <a:endParaRPr sz="2800">
                        <a:latin typeface="宋体"/>
                        <a:cs typeface="宋体"/>
                      </a:endParaRPr>
                    </a:p>
                    <a:p>
                      <a:pPr marL="67945">
                        <a:lnSpc>
                          <a:spcPts val="3354"/>
                        </a:lnSpc>
                      </a:pPr>
                      <a:r>
                        <a:rPr dirty="0" sz="2800" spc="-5" b="1" i="1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dirty="0" baseline="-16975" sz="2700" spc="-7" b="1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2800" spc="-5" b="1"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2800" spc="-5" b="1">
                          <a:latin typeface="宋体"/>
                          <a:cs typeface="宋体"/>
                        </a:rPr>
                        <a:t>）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ts val="3190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90"/>
                        </a:lnSpc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400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90"/>
                        </a:lnSpc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200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ts val="3190"/>
                        </a:lnSpc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4.25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54659">
                        <a:lnSpc>
                          <a:spcPts val="3190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1.99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ts val="3190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90"/>
                        </a:lnSpc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400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90"/>
                        </a:lnSpc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800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ts val="3190"/>
                        </a:lnSpc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4.25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54659">
                        <a:lnSpc>
                          <a:spcPts val="3190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7.88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ts val="3190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90"/>
                        </a:lnSpc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400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90"/>
                        </a:lnSpc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1400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ts val="3190"/>
                        </a:lnSpc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4.24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54659">
                        <a:lnSpc>
                          <a:spcPts val="3190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13.78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ts val="3190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ts val="3190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83142" y="1755267"/>
            <a:ext cx="735203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0000"/>
                </a:solidFill>
                <a:latin typeface="华文楷体"/>
                <a:cs typeface="华文楷体"/>
              </a:rPr>
              <a:t>探究变压器原、副线圈电压与匝数的关系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06296" y="926591"/>
            <a:ext cx="9430512" cy="8366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800843" y="943355"/>
            <a:ext cx="1114425" cy="818515"/>
          </a:xfrm>
          <a:custGeom>
            <a:avLst/>
            <a:gdLst/>
            <a:ahLst/>
            <a:cxnLst/>
            <a:rect l="l" t="t" r="r" b="b"/>
            <a:pathLst>
              <a:path w="1114425" h="818514">
                <a:moveTo>
                  <a:pt x="0" y="0"/>
                </a:moveTo>
                <a:lnTo>
                  <a:pt x="1114044" y="0"/>
                </a:lnTo>
                <a:lnTo>
                  <a:pt x="1114044" y="818388"/>
                </a:lnTo>
                <a:lnTo>
                  <a:pt x="0" y="818388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914876" y="1328686"/>
            <a:ext cx="346710" cy="0"/>
          </a:xfrm>
          <a:custGeom>
            <a:avLst/>
            <a:gdLst/>
            <a:ahLst/>
            <a:cxnLst/>
            <a:rect l="l" t="t" r="r" b="b"/>
            <a:pathLst>
              <a:path w="346709" h="0">
                <a:moveTo>
                  <a:pt x="0" y="0"/>
                </a:moveTo>
                <a:lnTo>
                  <a:pt x="346443" y="0"/>
                </a:lnTo>
              </a:path>
            </a:pathLst>
          </a:custGeom>
          <a:ln w="143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568609" y="1328686"/>
            <a:ext cx="282575" cy="0"/>
          </a:xfrm>
          <a:custGeom>
            <a:avLst/>
            <a:gdLst/>
            <a:ahLst/>
            <a:cxnLst/>
            <a:rect l="l" t="t" r="r" b="b"/>
            <a:pathLst>
              <a:path w="282575" h="0">
                <a:moveTo>
                  <a:pt x="0" y="0"/>
                </a:moveTo>
                <a:lnTo>
                  <a:pt x="282422" y="0"/>
                </a:lnTo>
              </a:path>
            </a:pathLst>
          </a:custGeom>
          <a:ln w="143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8532495" marR="5080" indent="15240">
              <a:lnSpc>
                <a:spcPct val="119100"/>
              </a:lnSpc>
              <a:spcBef>
                <a:spcPts val="95"/>
              </a:spcBef>
              <a:tabLst>
                <a:tab pos="9210040" algn="l"/>
              </a:tabLst>
            </a:pPr>
            <a:r>
              <a:rPr dirty="0" sz="2250" spc="25" i="1">
                <a:latin typeface="Times New Roman"/>
                <a:cs typeface="Times New Roman"/>
              </a:rPr>
              <a:t>U</a:t>
            </a:r>
            <a:r>
              <a:rPr dirty="0" baseline="-25641" sz="1950" spc="37"/>
              <a:t>1 </a:t>
            </a:r>
            <a:r>
              <a:rPr dirty="0" baseline="-35802" sz="3375" spc="7">
                <a:latin typeface="Symbol"/>
                <a:cs typeface="Symbol"/>
              </a:rPr>
              <a:t></a:t>
            </a:r>
            <a:r>
              <a:rPr dirty="0" baseline="-35802" sz="3375" spc="7"/>
              <a:t> </a:t>
            </a:r>
            <a:r>
              <a:rPr dirty="0" sz="2250" spc="-85" i="1">
                <a:latin typeface="Times New Roman"/>
                <a:cs typeface="Times New Roman"/>
              </a:rPr>
              <a:t>n</a:t>
            </a:r>
            <a:r>
              <a:rPr dirty="0" baseline="-25641" sz="1950" spc="-127"/>
              <a:t>1  </a:t>
            </a:r>
            <a:r>
              <a:rPr dirty="0" sz="2250" spc="185" i="1">
                <a:latin typeface="Times New Roman"/>
                <a:cs typeface="Times New Roman"/>
              </a:rPr>
              <a:t>U</a:t>
            </a:r>
            <a:r>
              <a:rPr dirty="0" baseline="-25641" sz="1950"/>
              <a:t>2</a:t>
            </a:r>
            <a:r>
              <a:rPr dirty="0" baseline="-25641" sz="1950"/>
              <a:t>	</a:t>
            </a:r>
            <a:r>
              <a:rPr dirty="0" sz="2250" spc="-30" i="1">
                <a:latin typeface="Times New Roman"/>
                <a:cs typeface="Times New Roman"/>
              </a:rPr>
              <a:t>n</a:t>
            </a:r>
            <a:r>
              <a:rPr dirty="0" baseline="-25641" sz="1950"/>
              <a:t>2</a:t>
            </a:r>
            <a:endParaRPr baseline="-25641"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06296" y="926591"/>
            <a:ext cx="9430512" cy="8366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2870">
              <a:lnSpc>
                <a:spcPct val="100000"/>
              </a:lnSpc>
              <a:spcBef>
                <a:spcPts val="100"/>
              </a:spcBef>
            </a:pPr>
            <a:r>
              <a:rPr dirty="0"/>
              <a:t>探究变压器原、副线圈电压与匝数的关</a:t>
            </a:r>
            <a:r>
              <a:rPr dirty="0" spc="-5"/>
              <a:t>系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60320" y="3008757"/>
            <a:ext cx="825309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72870" algn="l"/>
              </a:tabLst>
            </a:pPr>
            <a:r>
              <a:rPr dirty="0" sz="3600" b="1">
                <a:latin typeface="华文楷体"/>
                <a:cs typeface="华文楷体"/>
              </a:rPr>
              <a:t>实验</a:t>
            </a:r>
            <a:r>
              <a:rPr dirty="0" sz="3600" spc="-5" b="1">
                <a:latin typeface="华文楷体"/>
                <a:cs typeface="华文楷体"/>
              </a:rPr>
              <a:t>2</a:t>
            </a:r>
            <a:r>
              <a:rPr dirty="0" sz="3600" b="1">
                <a:latin typeface="华文楷体"/>
                <a:cs typeface="华文楷体"/>
              </a:rPr>
              <a:t>	</a:t>
            </a:r>
            <a:r>
              <a:rPr dirty="0" sz="3600" b="1">
                <a:latin typeface="华文楷体"/>
                <a:cs typeface="华文楷体"/>
              </a:rPr>
              <a:t>控制输入电压和副线圈匝数不变</a:t>
            </a:r>
            <a:r>
              <a:rPr dirty="0" sz="3600" spc="-5" b="1">
                <a:latin typeface="华文楷体"/>
                <a:cs typeface="华文楷体"/>
              </a:rPr>
              <a:t>， </a:t>
            </a:r>
            <a:r>
              <a:rPr dirty="0" sz="3600" b="1">
                <a:latin typeface="华文楷体"/>
                <a:cs typeface="华文楷体"/>
              </a:rPr>
              <a:t>改变原线圈匝数，测量输出电</a:t>
            </a:r>
            <a:r>
              <a:rPr dirty="0" sz="3600" spc="-5" b="1">
                <a:latin typeface="华文楷体"/>
                <a:cs typeface="华文楷体"/>
              </a:rPr>
              <a:t>压</a:t>
            </a:r>
            <a:endParaRPr sz="36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3104" y="923747"/>
            <a:ext cx="84810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0000"/>
                </a:solidFill>
                <a:latin typeface="华文楷体"/>
                <a:cs typeface="华文楷体"/>
              </a:rPr>
              <a:t>探究变压器原、副线圈电压与匝数的关系</a:t>
            </a:r>
            <a:r>
              <a:rPr dirty="0" sz="3600" spc="-5" b="1">
                <a:solidFill>
                  <a:srgbClr val="FF0000"/>
                </a:solidFill>
                <a:latin typeface="华文楷体"/>
                <a:cs typeface="华文楷体"/>
              </a:rPr>
              <a:t>2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50592" y="1746504"/>
            <a:ext cx="7208520" cy="4055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06296" y="926591"/>
            <a:ext cx="9430512" cy="8366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68462" y="2568854"/>
          <a:ext cx="8871585" cy="2999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5920"/>
                <a:gridCol w="1892300"/>
                <a:gridCol w="2005329"/>
                <a:gridCol w="1670684"/>
                <a:gridCol w="1638300"/>
              </a:tblGrid>
              <a:tr h="853439">
                <a:tc>
                  <a:txBody>
                    <a:bodyPr/>
                    <a:lstStyle/>
                    <a:p>
                      <a:pPr marL="68580">
                        <a:lnSpc>
                          <a:spcPts val="3200"/>
                        </a:lnSpc>
                      </a:pPr>
                      <a:r>
                        <a:rPr dirty="0" sz="2800" b="1">
                          <a:latin typeface="宋体"/>
                          <a:cs typeface="宋体"/>
                        </a:rPr>
                        <a:t>实验次</a:t>
                      </a:r>
                      <a:r>
                        <a:rPr dirty="0" sz="2800" spc="-20" b="1">
                          <a:latin typeface="宋体"/>
                          <a:cs typeface="宋体"/>
                        </a:rPr>
                        <a:t>数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195"/>
                        </a:lnSpc>
                      </a:pPr>
                      <a:r>
                        <a:rPr dirty="0" sz="2800" b="1">
                          <a:latin typeface="宋体"/>
                          <a:cs typeface="宋体"/>
                        </a:rPr>
                        <a:t>原线圈</a:t>
                      </a:r>
                      <a:r>
                        <a:rPr dirty="0" sz="2800" spc="-20" b="1">
                          <a:latin typeface="宋体"/>
                          <a:cs typeface="宋体"/>
                        </a:rPr>
                        <a:t>匝</a:t>
                      </a:r>
                      <a:endParaRPr sz="2800">
                        <a:latin typeface="宋体"/>
                        <a:cs typeface="宋体"/>
                      </a:endParaRPr>
                    </a:p>
                    <a:p>
                      <a:pPr marL="68580">
                        <a:lnSpc>
                          <a:spcPts val="3354"/>
                        </a:lnSpc>
                      </a:pPr>
                      <a:r>
                        <a:rPr dirty="0" sz="2800" b="1">
                          <a:latin typeface="宋体"/>
                          <a:cs typeface="宋体"/>
                        </a:rPr>
                        <a:t>数</a:t>
                      </a:r>
                      <a:r>
                        <a:rPr dirty="0" sz="2800" b="1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baseline="-16975" sz="2700" b="1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800" b="1">
                          <a:latin typeface="宋体"/>
                          <a:cs typeface="宋体"/>
                        </a:rPr>
                        <a:t>（匝</a:t>
                      </a:r>
                      <a:r>
                        <a:rPr dirty="0" sz="2800" spc="-20" b="1">
                          <a:latin typeface="宋体"/>
                          <a:cs typeface="宋体"/>
                        </a:rPr>
                        <a:t>）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195"/>
                        </a:lnSpc>
                      </a:pPr>
                      <a:r>
                        <a:rPr dirty="0" sz="2800" b="1">
                          <a:latin typeface="宋体"/>
                          <a:cs typeface="宋体"/>
                        </a:rPr>
                        <a:t>副线圈匝</a:t>
                      </a:r>
                      <a:r>
                        <a:rPr dirty="0" sz="2800" spc="-20" b="1">
                          <a:latin typeface="宋体"/>
                          <a:cs typeface="宋体"/>
                        </a:rPr>
                        <a:t>数</a:t>
                      </a:r>
                      <a:endParaRPr sz="2800">
                        <a:latin typeface="宋体"/>
                        <a:cs typeface="宋体"/>
                      </a:endParaRPr>
                    </a:p>
                    <a:p>
                      <a:pPr marL="68580">
                        <a:lnSpc>
                          <a:spcPts val="3354"/>
                        </a:lnSpc>
                      </a:pPr>
                      <a:r>
                        <a:rPr dirty="0" sz="2800" b="1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baseline="-16975" sz="2700" b="1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2800" b="1">
                          <a:latin typeface="宋体"/>
                          <a:cs typeface="宋体"/>
                        </a:rPr>
                        <a:t>（匝</a:t>
                      </a:r>
                      <a:r>
                        <a:rPr dirty="0" sz="2800" spc="-20" b="1">
                          <a:latin typeface="宋体"/>
                          <a:cs typeface="宋体"/>
                        </a:rPr>
                        <a:t>）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3195"/>
                        </a:lnSpc>
                      </a:pPr>
                      <a:r>
                        <a:rPr dirty="0" sz="2800" b="1">
                          <a:latin typeface="宋体"/>
                          <a:cs typeface="宋体"/>
                        </a:rPr>
                        <a:t>输入电</a:t>
                      </a:r>
                      <a:r>
                        <a:rPr dirty="0" sz="2800" spc="-20" b="1">
                          <a:latin typeface="宋体"/>
                          <a:cs typeface="宋体"/>
                        </a:rPr>
                        <a:t>压</a:t>
                      </a:r>
                      <a:endParaRPr sz="2800">
                        <a:latin typeface="宋体"/>
                        <a:cs typeface="宋体"/>
                      </a:endParaRPr>
                    </a:p>
                    <a:p>
                      <a:pPr marL="67945">
                        <a:lnSpc>
                          <a:spcPts val="3354"/>
                        </a:lnSpc>
                      </a:pPr>
                      <a:r>
                        <a:rPr dirty="0" sz="2800" spc="-5" b="1" i="1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dirty="0" baseline="-16975" sz="2700" spc="-7" b="1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800" spc="-5" b="1"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2800" spc="-5" b="1">
                          <a:latin typeface="宋体"/>
                          <a:cs typeface="宋体"/>
                        </a:rPr>
                        <a:t>）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3195"/>
                        </a:lnSpc>
                      </a:pPr>
                      <a:r>
                        <a:rPr dirty="0" sz="2800" b="1">
                          <a:latin typeface="宋体"/>
                          <a:cs typeface="宋体"/>
                        </a:rPr>
                        <a:t>输出电</a:t>
                      </a:r>
                      <a:r>
                        <a:rPr dirty="0" sz="2800" spc="-20" b="1">
                          <a:latin typeface="宋体"/>
                          <a:cs typeface="宋体"/>
                        </a:rPr>
                        <a:t>压</a:t>
                      </a:r>
                      <a:endParaRPr sz="2800">
                        <a:latin typeface="宋体"/>
                        <a:cs typeface="宋体"/>
                      </a:endParaRPr>
                    </a:p>
                    <a:p>
                      <a:pPr marL="67945">
                        <a:lnSpc>
                          <a:spcPts val="3354"/>
                        </a:lnSpc>
                      </a:pPr>
                      <a:r>
                        <a:rPr dirty="0" sz="2800" spc="-5" b="1" i="1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dirty="0" baseline="-16975" sz="2700" spc="-7" b="1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2800" spc="-5" b="1"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2800" spc="-5" b="1">
                          <a:latin typeface="宋体"/>
                          <a:cs typeface="宋体"/>
                        </a:rPr>
                        <a:t>）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ts val="3190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0">
                        <a:lnSpc>
                          <a:spcPts val="3190"/>
                        </a:lnSpc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400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90"/>
                        </a:lnSpc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200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3875">
                        <a:lnSpc>
                          <a:spcPts val="3190"/>
                        </a:lnSpc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4.25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55930">
                        <a:lnSpc>
                          <a:spcPts val="3190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1.99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ts val="3190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0">
                        <a:lnSpc>
                          <a:spcPts val="3190"/>
                        </a:lnSpc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400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90"/>
                        </a:lnSpc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800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3875">
                        <a:lnSpc>
                          <a:spcPts val="3190"/>
                        </a:lnSpc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4.25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55930">
                        <a:lnSpc>
                          <a:spcPts val="3190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7.88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ts val="3190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0">
                        <a:lnSpc>
                          <a:spcPts val="3190"/>
                        </a:lnSpc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400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6430">
                        <a:lnSpc>
                          <a:spcPts val="3190"/>
                        </a:lnSpc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1400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3875">
                        <a:lnSpc>
                          <a:spcPts val="3190"/>
                        </a:lnSpc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4.24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55930">
                        <a:lnSpc>
                          <a:spcPts val="3190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13.78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ts val="3190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27380">
                        <a:lnSpc>
                          <a:spcPts val="3190"/>
                        </a:lnSpc>
                      </a:pPr>
                      <a:r>
                        <a:rPr dirty="0" sz="2800" b="1">
                          <a:solidFill>
                            <a:srgbClr val="3333FF"/>
                          </a:solidFill>
                          <a:latin typeface="Times New Roman"/>
                          <a:cs typeface="Times New Roman"/>
                        </a:rPr>
                        <a:t>100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265">
                        <a:lnSpc>
                          <a:spcPts val="3190"/>
                        </a:lnSpc>
                      </a:pPr>
                      <a:r>
                        <a:rPr dirty="0" sz="2800" spc="-5" b="1">
                          <a:solidFill>
                            <a:srgbClr val="3333FF"/>
                          </a:solidFill>
                          <a:latin typeface="Times New Roman"/>
                          <a:cs typeface="Times New Roman"/>
                        </a:rPr>
                        <a:t>200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7630">
                        <a:lnSpc>
                          <a:spcPts val="3190"/>
                        </a:lnSpc>
                      </a:pPr>
                      <a:r>
                        <a:rPr dirty="0" sz="2800" spc="-5" b="1">
                          <a:solidFill>
                            <a:srgbClr val="3333FF"/>
                          </a:solidFill>
                          <a:latin typeface="Times New Roman"/>
                          <a:cs typeface="Times New Roman"/>
                        </a:rPr>
                        <a:t>6.6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0">
                        <a:lnSpc>
                          <a:spcPts val="3190"/>
                        </a:lnSpc>
                      </a:pPr>
                      <a:r>
                        <a:rPr dirty="0" sz="2800" spc="-5" b="1">
                          <a:solidFill>
                            <a:srgbClr val="3333FF"/>
                          </a:solidFill>
                          <a:latin typeface="Times New Roman"/>
                          <a:cs typeface="Times New Roman"/>
                        </a:rPr>
                        <a:t>12.9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ts val="3190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27380">
                        <a:lnSpc>
                          <a:spcPts val="3190"/>
                        </a:lnSpc>
                      </a:pPr>
                      <a:r>
                        <a:rPr dirty="0" sz="2800" b="1">
                          <a:solidFill>
                            <a:srgbClr val="3333FF"/>
                          </a:solidFill>
                          <a:latin typeface="Times New Roman"/>
                          <a:cs typeface="Times New Roman"/>
                        </a:rPr>
                        <a:t>400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265">
                        <a:lnSpc>
                          <a:spcPts val="3190"/>
                        </a:lnSpc>
                      </a:pPr>
                      <a:r>
                        <a:rPr dirty="0" sz="2800" spc="-5" b="1">
                          <a:solidFill>
                            <a:srgbClr val="3333FF"/>
                          </a:solidFill>
                          <a:latin typeface="Times New Roman"/>
                          <a:cs typeface="Times New Roman"/>
                        </a:rPr>
                        <a:t>200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7630">
                        <a:lnSpc>
                          <a:spcPts val="3190"/>
                        </a:lnSpc>
                      </a:pPr>
                      <a:r>
                        <a:rPr dirty="0" sz="2800" spc="-5" b="1">
                          <a:solidFill>
                            <a:srgbClr val="3333FF"/>
                          </a:solidFill>
                          <a:latin typeface="Times New Roman"/>
                          <a:cs typeface="Times New Roman"/>
                        </a:rPr>
                        <a:t>6.6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265">
                        <a:lnSpc>
                          <a:spcPts val="3190"/>
                        </a:lnSpc>
                      </a:pPr>
                      <a:r>
                        <a:rPr dirty="0" sz="2800" spc="-5" b="1">
                          <a:solidFill>
                            <a:srgbClr val="3333FF"/>
                          </a:solidFill>
                          <a:latin typeface="Times New Roman"/>
                          <a:cs typeface="Times New Roman"/>
                        </a:rPr>
                        <a:t>3.1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011032" y="1814868"/>
            <a:ext cx="82657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0000"/>
                </a:solidFill>
                <a:latin typeface="华文楷体"/>
                <a:cs typeface="华文楷体"/>
              </a:rPr>
              <a:t>探究变压器原、副线圈电压与匝数的关</a:t>
            </a:r>
            <a:r>
              <a:rPr dirty="0" sz="3600" spc="-5" b="1">
                <a:solidFill>
                  <a:srgbClr val="FF0000"/>
                </a:solidFill>
                <a:latin typeface="华文楷体"/>
                <a:cs typeface="华文楷体"/>
              </a:rPr>
              <a:t>系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00843" y="943355"/>
            <a:ext cx="1114425" cy="818515"/>
          </a:xfrm>
          <a:custGeom>
            <a:avLst/>
            <a:gdLst/>
            <a:ahLst/>
            <a:cxnLst/>
            <a:rect l="l" t="t" r="r" b="b"/>
            <a:pathLst>
              <a:path w="1114425" h="818514">
                <a:moveTo>
                  <a:pt x="0" y="0"/>
                </a:moveTo>
                <a:lnTo>
                  <a:pt x="1114044" y="0"/>
                </a:lnTo>
                <a:lnTo>
                  <a:pt x="1114044" y="818388"/>
                </a:lnTo>
                <a:lnTo>
                  <a:pt x="0" y="818388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914876" y="1328686"/>
            <a:ext cx="346710" cy="0"/>
          </a:xfrm>
          <a:custGeom>
            <a:avLst/>
            <a:gdLst/>
            <a:ahLst/>
            <a:cxnLst/>
            <a:rect l="l" t="t" r="r" b="b"/>
            <a:pathLst>
              <a:path w="346709" h="0">
                <a:moveTo>
                  <a:pt x="0" y="0"/>
                </a:moveTo>
                <a:lnTo>
                  <a:pt x="346443" y="0"/>
                </a:lnTo>
              </a:path>
            </a:pathLst>
          </a:custGeom>
          <a:ln w="143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568609" y="1328686"/>
            <a:ext cx="282575" cy="0"/>
          </a:xfrm>
          <a:custGeom>
            <a:avLst/>
            <a:gdLst/>
            <a:ahLst/>
            <a:cxnLst/>
            <a:rect l="l" t="t" r="r" b="b"/>
            <a:pathLst>
              <a:path w="282575" h="0">
                <a:moveTo>
                  <a:pt x="0" y="0"/>
                </a:moveTo>
                <a:lnTo>
                  <a:pt x="282422" y="0"/>
                </a:lnTo>
              </a:path>
            </a:pathLst>
          </a:custGeom>
          <a:ln w="143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8532495" marR="5080" indent="15240">
              <a:lnSpc>
                <a:spcPct val="119100"/>
              </a:lnSpc>
              <a:spcBef>
                <a:spcPts val="95"/>
              </a:spcBef>
              <a:tabLst>
                <a:tab pos="9210040" algn="l"/>
              </a:tabLst>
            </a:pPr>
            <a:r>
              <a:rPr dirty="0" sz="2250" spc="25" i="1">
                <a:latin typeface="Times New Roman"/>
                <a:cs typeface="Times New Roman"/>
              </a:rPr>
              <a:t>U</a:t>
            </a:r>
            <a:r>
              <a:rPr dirty="0" baseline="-25641" sz="1950" spc="37"/>
              <a:t>1 </a:t>
            </a:r>
            <a:r>
              <a:rPr dirty="0" baseline="-35802" sz="3375" spc="7">
                <a:latin typeface="Symbol"/>
                <a:cs typeface="Symbol"/>
              </a:rPr>
              <a:t></a:t>
            </a:r>
            <a:r>
              <a:rPr dirty="0" baseline="-35802" sz="3375" spc="7"/>
              <a:t> </a:t>
            </a:r>
            <a:r>
              <a:rPr dirty="0" sz="2250" spc="-85" i="1">
                <a:latin typeface="Times New Roman"/>
                <a:cs typeface="Times New Roman"/>
              </a:rPr>
              <a:t>n</a:t>
            </a:r>
            <a:r>
              <a:rPr dirty="0" baseline="-25641" sz="1950" spc="-127"/>
              <a:t>1  </a:t>
            </a:r>
            <a:r>
              <a:rPr dirty="0" sz="2250" spc="185" i="1">
                <a:latin typeface="Times New Roman"/>
                <a:cs typeface="Times New Roman"/>
              </a:rPr>
              <a:t>U</a:t>
            </a:r>
            <a:r>
              <a:rPr dirty="0" baseline="-25641" sz="1950"/>
              <a:t>2</a:t>
            </a:r>
            <a:r>
              <a:rPr dirty="0" baseline="-25641" sz="1950"/>
              <a:t>	</a:t>
            </a:r>
            <a:r>
              <a:rPr dirty="0" sz="2250" spc="-30" i="1">
                <a:latin typeface="Times New Roman"/>
                <a:cs typeface="Times New Roman"/>
              </a:rPr>
              <a:t>n</a:t>
            </a:r>
            <a:r>
              <a:rPr dirty="0" baseline="-25641" sz="1950"/>
              <a:t>2</a:t>
            </a:r>
            <a:endParaRPr baseline="-25641"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800843" y="5740908"/>
            <a:ext cx="347472" cy="3474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451592" y="5740908"/>
            <a:ext cx="347472" cy="3474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1771" y="17392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89504" y="14691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1" y="0"/>
                </a:lnTo>
                <a:lnTo>
                  <a:pt x="362711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87623" y="1693164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254258" y="1028281"/>
            <a:ext cx="3683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六、变压器的分类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79356" y="1974494"/>
            <a:ext cx="6130925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如果副线圈的电压比原线圈的电压 低，这样的变压器叫作</a:t>
            </a:r>
            <a:r>
              <a:rPr dirty="0" sz="3200" b="1">
                <a:solidFill>
                  <a:srgbClr val="FF0000"/>
                </a:solidFill>
                <a:latin typeface="华文楷体"/>
                <a:cs typeface="华文楷体"/>
              </a:rPr>
              <a:t>降压变压器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33344" y="3660647"/>
            <a:ext cx="2983992" cy="12923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818376" y="3119627"/>
            <a:ext cx="1234440" cy="25161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103364" y="3791711"/>
            <a:ext cx="624840" cy="0"/>
          </a:xfrm>
          <a:custGeom>
            <a:avLst/>
            <a:gdLst/>
            <a:ahLst/>
            <a:cxnLst/>
            <a:rect l="l" t="t" r="r" b="b"/>
            <a:pathLst>
              <a:path w="624840" h="0">
                <a:moveTo>
                  <a:pt x="0" y="0"/>
                </a:moveTo>
                <a:lnTo>
                  <a:pt x="624840" y="0"/>
                </a:lnTo>
              </a:path>
            </a:pathLst>
          </a:custGeom>
          <a:ln w="6400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096353" y="3753294"/>
            <a:ext cx="639445" cy="76200"/>
          </a:xfrm>
          <a:custGeom>
            <a:avLst/>
            <a:gdLst/>
            <a:ahLst/>
            <a:cxnLst/>
            <a:rect l="l" t="t" r="r" b="b"/>
            <a:pathLst>
              <a:path w="639445" h="76200">
                <a:moveTo>
                  <a:pt x="638848" y="76123"/>
                </a:moveTo>
                <a:lnTo>
                  <a:pt x="0" y="76123"/>
                </a:lnTo>
                <a:lnTo>
                  <a:pt x="0" y="0"/>
                </a:lnTo>
                <a:lnTo>
                  <a:pt x="638848" y="0"/>
                </a:lnTo>
                <a:lnTo>
                  <a:pt x="638848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63423"/>
                </a:lnTo>
                <a:lnTo>
                  <a:pt x="6350" y="63423"/>
                </a:lnTo>
                <a:lnTo>
                  <a:pt x="12700" y="69773"/>
                </a:lnTo>
                <a:lnTo>
                  <a:pt x="638848" y="69773"/>
                </a:lnTo>
                <a:lnTo>
                  <a:pt x="638848" y="76123"/>
                </a:lnTo>
                <a:close/>
              </a:path>
              <a:path w="639445" h="7620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639445" h="76200">
                <a:moveTo>
                  <a:pt x="626148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626148" y="6350"/>
                </a:lnTo>
                <a:lnTo>
                  <a:pt x="626148" y="12700"/>
                </a:lnTo>
                <a:close/>
              </a:path>
              <a:path w="639445" h="76200">
                <a:moveTo>
                  <a:pt x="626148" y="69773"/>
                </a:moveTo>
                <a:lnTo>
                  <a:pt x="626148" y="6350"/>
                </a:lnTo>
                <a:lnTo>
                  <a:pt x="632498" y="12700"/>
                </a:lnTo>
                <a:lnTo>
                  <a:pt x="638848" y="12700"/>
                </a:lnTo>
                <a:lnTo>
                  <a:pt x="638848" y="63423"/>
                </a:lnTo>
                <a:lnTo>
                  <a:pt x="632498" y="63423"/>
                </a:lnTo>
                <a:lnTo>
                  <a:pt x="626148" y="69773"/>
                </a:lnTo>
                <a:close/>
              </a:path>
              <a:path w="639445" h="76200">
                <a:moveTo>
                  <a:pt x="638848" y="12700"/>
                </a:moveTo>
                <a:lnTo>
                  <a:pt x="632498" y="12700"/>
                </a:lnTo>
                <a:lnTo>
                  <a:pt x="626148" y="6350"/>
                </a:lnTo>
                <a:lnTo>
                  <a:pt x="638848" y="6350"/>
                </a:lnTo>
                <a:lnTo>
                  <a:pt x="638848" y="12700"/>
                </a:lnTo>
                <a:close/>
              </a:path>
              <a:path w="639445" h="76200">
                <a:moveTo>
                  <a:pt x="12700" y="69773"/>
                </a:moveTo>
                <a:lnTo>
                  <a:pt x="6350" y="63423"/>
                </a:lnTo>
                <a:lnTo>
                  <a:pt x="12700" y="63423"/>
                </a:lnTo>
                <a:lnTo>
                  <a:pt x="12700" y="69773"/>
                </a:lnTo>
                <a:close/>
              </a:path>
              <a:path w="639445" h="76200">
                <a:moveTo>
                  <a:pt x="626148" y="69773"/>
                </a:moveTo>
                <a:lnTo>
                  <a:pt x="12700" y="69773"/>
                </a:lnTo>
                <a:lnTo>
                  <a:pt x="12700" y="63423"/>
                </a:lnTo>
                <a:lnTo>
                  <a:pt x="626148" y="63423"/>
                </a:lnTo>
                <a:lnTo>
                  <a:pt x="626148" y="69773"/>
                </a:lnTo>
                <a:close/>
              </a:path>
              <a:path w="639445" h="76200">
                <a:moveTo>
                  <a:pt x="638848" y="69773"/>
                </a:moveTo>
                <a:lnTo>
                  <a:pt x="626148" y="69773"/>
                </a:lnTo>
                <a:lnTo>
                  <a:pt x="632498" y="63423"/>
                </a:lnTo>
                <a:lnTo>
                  <a:pt x="638848" y="63423"/>
                </a:lnTo>
                <a:lnTo>
                  <a:pt x="638848" y="697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094219" y="4855464"/>
            <a:ext cx="678180" cy="196850"/>
          </a:xfrm>
          <a:custGeom>
            <a:avLst/>
            <a:gdLst/>
            <a:ahLst/>
            <a:cxnLst/>
            <a:rect l="l" t="t" r="r" b="b"/>
            <a:pathLst>
              <a:path w="678179" h="196850">
                <a:moveTo>
                  <a:pt x="0" y="0"/>
                </a:moveTo>
                <a:lnTo>
                  <a:pt x="678179" y="0"/>
                </a:lnTo>
                <a:lnTo>
                  <a:pt x="678179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1771" y="17392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89504" y="14691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1" y="0"/>
                </a:lnTo>
                <a:lnTo>
                  <a:pt x="362711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87623" y="1693164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254258" y="1028281"/>
            <a:ext cx="3683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六、变压器的分类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67824" y="2019274"/>
            <a:ext cx="6944995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如果副线圈的电压比原线圈的电压高， </a:t>
            </a:r>
            <a:r>
              <a:rPr dirty="0" sz="3200" b="1">
                <a:latin typeface="华文楷体"/>
                <a:cs typeface="华文楷体"/>
              </a:rPr>
              <a:t>这样的变压器叫作</a:t>
            </a:r>
            <a:r>
              <a:rPr dirty="0" sz="3200" b="1">
                <a:solidFill>
                  <a:srgbClr val="FF0000"/>
                </a:solidFill>
                <a:latin typeface="华文楷体"/>
                <a:cs typeface="华文楷体"/>
              </a:rPr>
              <a:t>升压变压器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56076" y="3179064"/>
            <a:ext cx="4596383" cy="23180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7035" y="1074382"/>
            <a:ext cx="6979920" cy="119507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dirty="0" sz="3200" b="1">
                <a:solidFill>
                  <a:srgbClr val="FF0000"/>
                </a:solidFill>
                <a:latin typeface="华文楷体"/>
                <a:cs typeface="华文楷体"/>
              </a:rPr>
              <a:t>想一想</a:t>
            </a:r>
            <a:r>
              <a:rPr dirty="0" sz="3200" b="1">
                <a:latin typeface="华文楷体"/>
                <a:cs typeface="华文楷体"/>
              </a:rPr>
              <a:t>：如何保证输入电压为</a:t>
            </a:r>
            <a:r>
              <a:rPr dirty="0" sz="3200" spc="-5" b="1">
                <a:latin typeface="华文楷体"/>
                <a:cs typeface="华文楷体"/>
              </a:rPr>
              <a:t>20k</a:t>
            </a:r>
            <a:r>
              <a:rPr dirty="0" sz="3200" b="1">
                <a:latin typeface="华文楷体"/>
                <a:cs typeface="华文楷体"/>
              </a:rPr>
              <a:t>V</a:t>
            </a:r>
            <a:r>
              <a:rPr dirty="0" sz="3200" b="1">
                <a:latin typeface="华文楷体"/>
                <a:cs typeface="华文楷体"/>
              </a:rPr>
              <a:t>时， </a:t>
            </a:r>
            <a:r>
              <a:rPr dirty="0" sz="3200" b="1">
                <a:latin typeface="华文楷体"/>
                <a:cs typeface="华文楷体"/>
              </a:rPr>
              <a:t>输出电压为</a:t>
            </a:r>
            <a:r>
              <a:rPr dirty="0" sz="3200" spc="-5" b="1">
                <a:latin typeface="华文楷体"/>
                <a:cs typeface="华文楷体"/>
              </a:rPr>
              <a:t>550kV？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884919" y="4250435"/>
            <a:ext cx="979931" cy="1112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70503" y="2345435"/>
            <a:ext cx="5224272" cy="30175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539983" y="5465064"/>
            <a:ext cx="347472" cy="3474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52016" y="998219"/>
            <a:ext cx="8721852" cy="4668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67428" y="4710328"/>
            <a:ext cx="513080" cy="0"/>
          </a:xfrm>
          <a:custGeom>
            <a:avLst/>
            <a:gdLst/>
            <a:ahLst/>
            <a:cxnLst/>
            <a:rect l="l" t="t" r="r" b="b"/>
            <a:pathLst>
              <a:path w="513079" h="0">
                <a:moveTo>
                  <a:pt x="0" y="0"/>
                </a:moveTo>
                <a:lnTo>
                  <a:pt x="513003" y="0"/>
                </a:lnTo>
              </a:path>
            </a:pathLst>
          </a:custGeom>
          <a:ln w="21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335435" y="4710328"/>
            <a:ext cx="1211580" cy="0"/>
          </a:xfrm>
          <a:custGeom>
            <a:avLst/>
            <a:gdLst/>
            <a:ahLst/>
            <a:cxnLst/>
            <a:rect l="l" t="t" r="r" b="b"/>
            <a:pathLst>
              <a:path w="1211579" h="0">
                <a:moveTo>
                  <a:pt x="0" y="0"/>
                </a:moveTo>
                <a:lnTo>
                  <a:pt x="1211135" y="0"/>
                </a:lnTo>
              </a:path>
            </a:pathLst>
          </a:custGeom>
          <a:ln w="21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341342" y="4710341"/>
            <a:ext cx="2190115" cy="534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07110" algn="l"/>
              </a:tabLst>
            </a:pPr>
            <a:r>
              <a:rPr dirty="0" sz="3350" spc="260" i="1">
                <a:latin typeface="Times New Roman"/>
                <a:cs typeface="Times New Roman"/>
              </a:rPr>
              <a:t>U</a:t>
            </a:r>
            <a:r>
              <a:rPr dirty="0" baseline="-24853" sz="2850" spc="22">
                <a:latin typeface="Times New Roman"/>
                <a:cs typeface="Times New Roman"/>
              </a:rPr>
              <a:t>2</a:t>
            </a:r>
            <a:r>
              <a:rPr dirty="0" baseline="-24853" sz="2850">
                <a:latin typeface="Times New Roman"/>
                <a:cs typeface="Times New Roman"/>
              </a:rPr>
              <a:t>	</a:t>
            </a:r>
            <a:r>
              <a:rPr dirty="0" sz="3350" spc="10">
                <a:latin typeface="Times New Roman"/>
                <a:cs typeface="Times New Roman"/>
              </a:rPr>
              <a:t>55</a:t>
            </a:r>
            <a:r>
              <a:rPr dirty="0" sz="3350" spc="60">
                <a:latin typeface="Times New Roman"/>
                <a:cs typeface="Times New Roman"/>
              </a:rPr>
              <a:t>0</a:t>
            </a:r>
            <a:r>
              <a:rPr dirty="0" sz="3350" spc="10">
                <a:latin typeface="Times New Roman"/>
                <a:cs typeface="Times New Roman"/>
              </a:rPr>
              <a:t>k</a:t>
            </a:r>
            <a:r>
              <a:rPr dirty="0" sz="3350" spc="-10">
                <a:latin typeface="Times New Roman"/>
                <a:cs typeface="Times New Roman"/>
              </a:rPr>
              <a:t>V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81473" y="4380115"/>
            <a:ext cx="3195320" cy="534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80695" algn="l"/>
                <a:tab pos="1678305" algn="l"/>
              </a:tabLst>
            </a:pPr>
            <a:r>
              <a:rPr dirty="0" sz="3350" spc="-10">
                <a:latin typeface="Symbol"/>
                <a:cs typeface="Symbol"/>
              </a:rPr>
              <a:t></a:t>
            </a:r>
            <a:r>
              <a:rPr dirty="0" sz="3350" spc="-10">
                <a:latin typeface="Times New Roman"/>
                <a:cs typeface="Times New Roman"/>
              </a:rPr>
              <a:t>	</a:t>
            </a:r>
            <a:r>
              <a:rPr dirty="0" baseline="34825" sz="5025" spc="22">
                <a:latin typeface="Times New Roman"/>
                <a:cs typeface="Times New Roman"/>
              </a:rPr>
              <a:t>20kV	</a:t>
            </a:r>
            <a:r>
              <a:rPr dirty="0" sz="3350" spc="-10">
                <a:latin typeface="Symbol"/>
                <a:cs typeface="Symbol"/>
              </a:rPr>
              <a:t></a:t>
            </a:r>
            <a:r>
              <a:rPr dirty="0" sz="3350" spc="-165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0.0364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75099" y="3245002"/>
            <a:ext cx="437515" cy="0"/>
          </a:xfrm>
          <a:custGeom>
            <a:avLst/>
            <a:gdLst/>
            <a:ahLst/>
            <a:cxnLst/>
            <a:rect l="l" t="t" r="r" b="b"/>
            <a:pathLst>
              <a:path w="437514" h="0">
                <a:moveTo>
                  <a:pt x="0" y="0"/>
                </a:moveTo>
                <a:lnTo>
                  <a:pt x="436892" y="0"/>
                </a:lnTo>
              </a:path>
            </a:pathLst>
          </a:custGeom>
          <a:ln w="219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87340" y="3245002"/>
            <a:ext cx="1111885" cy="0"/>
          </a:xfrm>
          <a:custGeom>
            <a:avLst/>
            <a:gdLst/>
            <a:ahLst/>
            <a:cxnLst/>
            <a:rect l="l" t="t" r="r" b="b"/>
            <a:pathLst>
              <a:path w="1111885" h="0">
                <a:moveTo>
                  <a:pt x="0" y="0"/>
                </a:moveTo>
                <a:lnTo>
                  <a:pt x="1111465" y="0"/>
                </a:lnTo>
              </a:path>
            </a:pathLst>
          </a:custGeom>
          <a:ln w="219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413656" y="2620632"/>
            <a:ext cx="341630" cy="558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500" spc="-280" i="1">
                <a:latin typeface="Times New Roman"/>
                <a:cs typeface="Times New Roman"/>
              </a:rPr>
              <a:t>n</a:t>
            </a:r>
            <a:r>
              <a:rPr dirty="0" baseline="-25000" sz="3000" spc="15">
                <a:latin typeface="Times New Roman"/>
                <a:cs typeface="Times New Roman"/>
              </a:rPr>
              <a:t>1</a:t>
            </a:r>
            <a:endParaRPr baseline="-25000" sz="3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918125" y="2900045"/>
            <a:ext cx="3183255" cy="558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4665" algn="l"/>
              </a:tabLst>
            </a:pPr>
            <a:r>
              <a:rPr dirty="0" sz="3500" spc="-5">
                <a:latin typeface="Symbol"/>
                <a:cs typeface="Symbol"/>
              </a:rPr>
              <a:t></a:t>
            </a:r>
            <a:r>
              <a:rPr dirty="0" sz="3500" spc="-5">
                <a:latin typeface="Times New Roman"/>
                <a:cs typeface="Times New Roman"/>
              </a:rPr>
              <a:t>	</a:t>
            </a:r>
            <a:r>
              <a:rPr dirty="0" baseline="34920" sz="5250" spc="-157">
                <a:latin typeface="Times New Roman"/>
                <a:cs typeface="Times New Roman"/>
              </a:rPr>
              <a:t>36 </a:t>
            </a:r>
            <a:r>
              <a:rPr dirty="0" baseline="34920" sz="5250" spc="-15">
                <a:latin typeface="宋体"/>
                <a:cs typeface="宋体"/>
              </a:rPr>
              <a:t>匝</a:t>
            </a:r>
            <a:r>
              <a:rPr dirty="0" baseline="34920" sz="5250" spc="-1170">
                <a:latin typeface="宋体"/>
                <a:cs typeface="宋体"/>
              </a:rPr>
              <a:t> </a:t>
            </a:r>
            <a:r>
              <a:rPr dirty="0" sz="3500" spc="-5">
                <a:latin typeface="Symbol"/>
                <a:cs typeface="Symbol"/>
              </a:rPr>
              <a:t></a:t>
            </a:r>
            <a:r>
              <a:rPr dirty="0" sz="3500" spc="-5"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0.0629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64761" y="3244976"/>
            <a:ext cx="2036445" cy="1402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935990" algn="l"/>
              </a:tabLst>
            </a:pPr>
            <a:r>
              <a:rPr dirty="0" sz="3500" spc="-60" i="1">
                <a:latin typeface="Times New Roman"/>
                <a:cs typeface="Times New Roman"/>
              </a:rPr>
              <a:t>n</a:t>
            </a:r>
            <a:r>
              <a:rPr dirty="0" baseline="-25000" sz="3000" spc="15">
                <a:latin typeface="Times New Roman"/>
                <a:cs typeface="Times New Roman"/>
              </a:rPr>
              <a:t>2</a:t>
            </a:r>
            <a:r>
              <a:rPr dirty="0" baseline="-25000" sz="3000">
                <a:latin typeface="Times New Roman"/>
                <a:cs typeface="Times New Roman"/>
              </a:rPr>
              <a:t>	</a:t>
            </a:r>
            <a:r>
              <a:rPr dirty="0" sz="3500" spc="5">
                <a:latin typeface="Times New Roman"/>
                <a:cs typeface="Times New Roman"/>
              </a:rPr>
              <a:t>57</a:t>
            </a:r>
            <a:r>
              <a:rPr dirty="0" sz="3500" spc="-215">
                <a:latin typeface="Times New Roman"/>
                <a:cs typeface="Times New Roman"/>
              </a:rPr>
              <a:t>2</a:t>
            </a:r>
            <a:r>
              <a:rPr dirty="0" sz="3500" spc="-10">
                <a:latin typeface="宋体"/>
                <a:cs typeface="宋体"/>
              </a:rPr>
              <a:t>匝</a:t>
            </a:r>
            <a:endParaRPr sz="35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625"/>
              </a:spcBef>
            </a:pPr>
            <a:r>
              <a:rPr dirty="0" sz="3350" spc="30" i="1">
                <a:latin typeface="Times New Roman"/>
                <a:cs typeface="Times New Roman"/>
              </a:rPr>
              <a:t>U</a:t>
            </a:r>
            <a:r>
              <a:rPr dirty="0" baseline="-24853" sz="2850" spc="44">
                <a:latin typeface="Times New Roman"/>
                <a:cs typeface="Times New Roman"/>
              </a:rPr>
              <a:t>1</a:t>
            </a:r>
            <a:endParaRPr baseline="-24853" sz="2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563342" y="1063777"/>
            <a:ext cx="6932930" cy="1341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dirty="0" sz="3600" b="1">
                <a:solidFill>
                  <a:srgbClr val="FF0000"/>
                </a:solidFill>
                <a:latin typeface="华文楷体"/>
                <a:cs typeface="华文楷体"/>
              </a:rPr>
              <a:t>想一想</a:t>
            </a:r>
            <a:r>
              <a:rPr dirty="0" sz="3600" b="1">
                <a:latin typeface="华文楷体"/>
                <a:cs typeface="华文楷体"/>
              </a:rPr>
              <a:t>：如何保证输入电压为</a:t>
            </a:r>
            <a:r>
              <a:rPr dirty="0" sz="3600" b="1">
                <a:latin typeface="华文楷体"/>
                <a:cs typeface="华文楷体"/>
              </a:rPr>
              <a:t>20k</a:t>
            </a:r>
            <a:r>
              <a:rPr dirty="0" sz="3600" spc="-5" b="1">
                <a:latin typeface="华文楷体"/>
                <a:cs typeface="华文楷体"/>
              </a:rPr>
              <a:t>V </a:t>
            </a:r>
            <a:r>
              <a:rPr dirty="0" sz="3600" b="1">
                <a:latin typeface="华文楷体"/>
                <a:cs typeface="华文楷体"/>
              </a:rPr>
              <a:t>时，输出电压为</a:t>
            </a:r>
            <a:r>
              <a:rPr dirty="0" sz="3600" spc="-5" b="1">
                <a:latin typeface="华文楷体"/>
                <a:cs typeface="华文楷体"/>
              </a:rPr>
              <a:t>550kV？</a:t>
            </a:r>
            <a:endParaRPr sz="36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0239" y="1060703"/>
            <a:ext cx="8311896" cy="47106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52924" y="3055658"/>
            <a:ext cx="399415" cy="0"/>
          </a:xfrm>
          <a:custGeom>
            <a:avLst/>
            <a:gdLst/>
            <a:ahLst/>
            <a:cxnLst/>
            <a:rect l="l" t="t" r="r" b="b"/>
            <a:pathLst>
              <a:path w="399414" h="0">
                <a:moveTo>
                  <a:pt x="0" y="0"/>
                </a:moveTo>
                <a:lnTo>
                  <a:pt x="399122" y="0"/>
                </a:lnTo>
              </a:path>
            </a:pathLst>
          </a:custGeom>
          <a:ln w="200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286286" y="3055658"/>
            <a:ext cx="1015365" cy="0"/>
          </a:xfrm>
          <a:custGeom>
            <a:avLst/>
            <a:gdLst/>
            <a:ahLst/>
            <a:cxnLst/>
            <a:rect l="l" t="t" r="r" b="b"/>
            <a:pathLst>
              <a:path w="1015364" h="0">
                <a:moveTo>
                  <a:pt x="0" y="0"/>
                </a:moveTo>
                <a:lnTo>
                  <a:pt x="1015352" y="0"/>
                </a:lnTo>
              </a:path>
            </a:pathLst>
          </a:custGeom>
          <a:ln w="200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87062" y="2484793"/>
            <a:ext cx="314325" cy="511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50" spc="-229" i="1">
                <a:latin typeface="Times New Roman"/>
                <a:cs typeface="Times New Roman"/>
              </a:rPr>
              <a:t>n</a:t>
            </a:r>
            <a:r>
              <a:rPr dirty="0" baseline="-24024" sz="2775" spc="-7">
                <a:latin typeface="Times New Roman"/>
                <a:cs typeface="Times New Roman"/>
              </a:rPr>
              <a:t>1</a:t>
            </a:r>
            <a:endParaRPr baseline="-24024" sz="2775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47907" y="2740088"/>
            <a:ext cx="2910205" cy="511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52755" algn="l"/>
              </a:tabLst>
            </a:pPr>
            <a:r>
              <a:rPr dirty="0" sz="3150" spc="20">
                <a:latin typeface="Symbol"/>
                <a:cs typeface="Symbol"/>
              </a:rPr>
              <a:t></a:t>
            </a:r>
            <a:r>
              <a:rPr dirty="0" sz="3150" spc="20">
                <a:latin typeface="Times New Roman"/>
                <a:cs typeface="Times New Roman"/>
              </a:rPr>
              <a:t>	</a:t>
            </a:r>
            <a:r>
              <a:rPr dirty="0" baseline="35273" sz="4725" spc="-104">
                <a:latin typeface="Times New Roman"/>
                <a:cs typeface="Times New Roman"/>
              </a:rPr>
              <a:t>36 </a:t>
            </a:r>
            <a:r>
              <a:rPr dirty="0" baseline="35273" sz="4725" spc="52">
                <a:latin typeface="宋体"/>
                <a:cs typeface="宋体"/>
              </a:rPr>
              <a:t>匝</a:t>
            </a:r>
            <a:r>
              <a:rPr dirty="0" baseline="35273" sz="4725" spc="-1087">
                <a:latin typeface="宋体"/>
                <a:cs typeface="宋体"/>
              </a:rPr>
              <a:t> </a:t>
            </a:r>
            <a:r>
              <a:rPr dirty="0" sz="3150" spc="20">
                <a:latin typeface="Symbol"/>
                <a:cs typeface="Symbol"/>
              </a:rPr>
              <a:t></a:t>
            </a:r>
            <a:r>
              <a:rPr dirty="0" sz="3150" spc="20">
                <a:latin typeface="Times New Roman"/>
                <a:cs typeface="Times New Roman"/>
              </a:rPr>
              <a:t> </a:t>
            </a:r>
            <a:r>
              <a:rPr dirty="0" sz="3150" spc="25">
                <a:latin typeface="Times New Roman"/>
                <a:cs typeface="Times New Roman"/>
              </a:rPr>
              <a:t>0.0629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63342" y="1063777"/>
            <a:ext cx="6932930" cy="1341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dirty="0" sz="3600" b="1">
                <a:solidFill>
                  <a:srgbClr val="FF0000"/>
                </a:solidFill>
                <a:latin typeface="华文楷体"/>
                <a:cs typeface="华文楷体"/>
              </a:rPr>
              <a:t>想一想</a:t>
            </a:r>
            <a:r>
              <a:rPr dirty="0" sz="3600" b="1">
                <a:latin typeface="华文楷体"/>
                <a:cs typeface="华文楷体"/>
              </a:rPr>
              <a:t>：如何保证输入电压为</a:t>
            </a:r>
            <a:r>
              <a:rPr dirty="0" sz="3600" b="1">
                <a:latin typeface="华文楷体"/>
                <a:cs typeface="华文楷体"/>
              </a:rPr>
              <a:t>20k</a:t>
            </a:r>
            <a:r>
              <a:rPr dirty="0" sz="3600" spc="-5" b="1">
                <a:latin typeface="华文楷体"/>
                <a:cs typeface="华文楷体"/>
              </a:rPr>
              <a:t>V </a:t>
            </a:r>
            <a:r>
              <a:rPr dirty="0" sz="3600" b="1">
                <a:latin typeface="华文楷体"/>
                <a:cs typeface="华文楷体"/>
              </a:rPr>
              <a:t>时，输出电压为</a:t>
            </a:r>
            <a:r>
              <a:rPr dirty="0" sz="3600" spc="-5" b="1">
                <a:latin typeface="华文楷体"/>
                <a:cs typeface="华文楷体"/>
              </a:rPr>
              <a:t>550kV？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17072" y="4329366"/>
            <a:ext cx="543560" cy="0"/>
          </a:xfrm>
          <a:custGeom>
            <a:avLst/>
            <a:gdLst/>
            <a:ahLst/>
            <a:cxnLst/>
            <a:rect l="l" t="t" r="r" b="b"/>
            <a:pathLst>
              <a:path w="543560" h="0">
                <a:moveTo>
                  <a:pt x="0" y="0"/>
                </a:moveTo>
                <a:lnTo>
                  <a:pt x="542988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34177" y="5111483"/>
            <a:ext cx="39370" cy="22225"/>
          </a:xfrm>
          <a:custGeom>
            <a:avLst/>
            <a:gdLst/>
            <a:ahLst/>
            <a:cxnLst/>
            <a:rect l="l" t="t" r="r" b="b"/>
            <a:pathLst>
              <a:path w="39370" h="22225">
                <a:moveTo>
                  <a:pt x="0" y="21907"/>
                </a:moveTo>
                <a:lnTo>
                  <a:pt x="3935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73534" y="5111483"/>
            <a:ext cx="93980" cy="153035"/>
          </a:xfrm>
          <a:custGeom>
            <a:avLst/>
            <a:gdLst/>
            <a:ahLst/>
            <a:cxnLst/>
            <a:rect l="l" t="t" r="r" b="b"/>
            <a:pathLst>
              <a:path w="93979" h="153035">
                <a:moveTo>
                  <a:pt x="0" y="0"/>
                </a:moveTo>
                <a:lnTo>
                  <a:pt x="93865" y="1524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67400" y="4860404"/>
            <a:ext cx="103505" cy="403860"/>
          </a:xfrm>
          <a:custGeom>
            <a:avLst/>
            <a:gdLst/>
            <a:ahLst/>
            <a:cxnLst/>
            <a:rect l="l" t="t" r="r" b="b"/>
            <a:pathLst>
              <a:path w="103504" h="403860">
                <a:moveTo>
                  <a:pt x="0" y="403517"/>
                </a:moveTo>
                <a:lnTo>
                  <a:pt x="10294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70346" y="4860404"/>
            <a:ext cx="199390" cy="0"/>
          </a:xfrm>
          <a:custGeom>
            <a:avLst/>
            <a:gdLst/>
            <a:ahLst/>
            <a:cxnLst/>
            <a:rect l="l" t="t" r="r" b="b"/>
            <a:pathLst>
              <a:path w="199389" h="0">
                <a:moveTo>
                  <a:pt x="0" y="0"/>
                </a:moveTo>
                <a:lnTo>
                  <a:pt x="19881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31141" y="4851437"/>
            <a:ext cx="438150" cy="412750"/>
          </a:xfrm>
          <a:custGeom>
            <a:avLst/>
            <a:gdLst/>
            <a:ahLst/>
            <a:cxnLst/>
            <a:rect l="l" t="t" r="r" b="b"/>
            <a:pathLst>
              <a:path w="438150" h="412750">
                <a:moveTo>
                  <a:pt x="156464" y="372618"/>
                </a:moveTo>
                <a:lnTo>
                  <a:pt x="137261" y="372618"/>
                </a:lnTo>
                <a:lnTo>
                  <a:pt x="232130" y="0"/>
                </a:lnTo>
                <a:lnTo>
                  <a:pt x="438023" y="0"/>
                </a:lnTo>
                <a:lnTo>
                  <a:pt x="438023" y="18935"/>
                </a:lnTo>
                <a:lnTo>
                  <a:pt x="246265" y="18935"/>
                </a:lnTo>
                <a:lnTo>
                  <a:pt x="156464" y="372618"/>
                </a:lnTo>
                <a:close/>
              </a:path>
              <a:path w="438150" h="412750">
                <a:moveTo>
                  <a:pt x="6057" y="287934"/>
                </a:moveTo>
                <a:lnTo>
                  <a:pt x="0" y="276974"/>
                </a:lnTo>
                <a:lnTo>
                  <a:pt x="53492" y="248081"/>
                </a:lnTo>
                <a:lnTo>
                  <a:pt x="69578" y="271995"/>
                </a:lnTo>
                <a:lnTo>
                  <a:pt x="32296" y="271995"/>
                </a:lnTo>
                <a:lnTo>
                  <a:pt x="6057" y="287934"/>
                </a:lnTo>
                <a:close/>
              </a:path>
              <a:path w="438150" h="412750">
                <a:moveTo>
                  <a:pt x="146342" y="412483"/>
                </a:moveTo>
                <a:lnTo>
                  <a:pt x="127165" y="412483"/>
                </a:lnTo>
                <a:lnTo>
                  <a:pt x="32296" y="271995"/>
                </a:lnTo>
                <a:lnTo>
                  <a:pt x="69578" y="271995"/>
                </a:lnTo>
                <a:lnTo>
                  <a:pt x="137261" y="372618"/>
                </a:lnTo>
                <a:lnTo>
                  <a:pt x="156464" y="372618"/>
                </a:lnTo>
                <a:lnTo>
                  <a:pt x="146342" y="4124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402122" y="4809591"/>
            <a:ext cx="1096645" cy="0"/>
          </a:xfrm>
          <a:custGeom>
            <a:avLst/>
            <a:gdLst/>
            <a:ahLst/>
            <a:cxnLst/>
            <a:rect l="l" t="t" r="r" b="b"/>
            <a:pathLst>
              <a:path w="1096645" h="0">
                <a:moveTo>
                  <a:pt x="0" y="0"/>
                </a:moveTo>
                <a:lnTo>
                  <a:pt x="1096060" y="0"/>
                </a:lnTo>
              </a:path>
            </a:pathLst>
          </a:custGeom>
          <a:ln w="90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371846" y="4329366"/>
            <a:ext cx="1156970" cy="0"/>
          </a:xfrm>
          <a:custGeom>
            <a:avLst/>
            <a:gdLst/>
            <a:ahLst/>
            <a:cxnLst/>
            <a:rect l="l" t="t" r="r" b="b"/>
            <a:pathLst>
              <a:path w="1156970" h="0">
                <a:moveTo>
                  <a:pt x="0" y="0"/>
                </a:moveTo>
                <a:lnTo>
                  <a:pt x="1156627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701095" y="4672622"/>
            <a:ext cx="13716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25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401538" y="4278007"/>
            <a:ext cx="1085215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000" spc="20">
                <a:latin typeface="Times New Roman"/>
                <a:cs typeface="Times New Roman"/>
              </a:rPr>
              <a:t>55</a:t>
            </a:r>
            <a:r>
              <a:rPr dirty="0" sz="3000" spc="70">
                <a:latin typeface="Times New Roman"/>
                <a:cs typeface="Times New Roman"/>
              </a:rPr>
              <a:t>0</a:t>
            </a:r>
            <a:r>
              <a:rPr dirty="0" sz="3000" spc="20">
                <a:latin typeface="Times New Roman"/>
                <a:cs typeface="Times New Roman"/>
              </a:rPr>
              <a:t>k</a:t>
            </a:r>
            <a:r>
              <a:rPr dirty="0" sz="3000" spc="20">
                <a:latin typeface="Times New Roman"/>
                <a:cs typeface="Times New Roman"/>
              </a:rPr>
              <a:t>V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62687" y="4835956"/>
            <a:ext cx="21844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000" spc="15">
                <a:latin typeface="Times New Roman"/>
                <a:cs typeface="Times New Roman"/>
              </a:rPr>
              <a:t>3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52823" y="2789433"/>
            <a:ext cx="1851660" cy="1483360"/>
          </a:xfrm>
          <a:prstGeom prst="rect">
            <a:avLst/>
          </a:prstGeom>
        </p:spPr>
        <p:txBody>
          <a:bodyPr wrap="square" lIns="0" tIns="2832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2230"/>
              </a:spcBef>
              <a:tabLst>
                <a:tab pos="845819" algn="l"/>
              </a:tabLst>
            </a:pPr>
            <a:r>
              <a:rPr dirty="0" sz="3150" spc="-30" i="1">
                <a:latin typeface="Times New Roman"/>
                <a:cs typeface="Times New Roman"/>
              </a:rPr>
              <a:t>n</a:t>
            </a:r>
            <a:r>
              <a:rPr dirty="0" baseline="-24024" sz="2775" spc="-7">
                <a:latin typeface="Times New Roman"/>
                <a:cs typeface="Times New Roman"/>
              </a:rPr>
              <a:t>2</a:t>
            </a:r>
            <a:r>
              <a:rPr dirty="0" baseline="-24024" sz="2775">
                <a:latin typeface="Times New Roman"/>
                <a:cs typeface="Times New Roman"/>
              </a:rPr>
              <a:t>	</a:t>
            </a:r>
            <a:r>
              <a:rPr dirty="0" sz="3150" spc="30">
                <a:latin typeface="Times New Roman"/>
                <a:cs typeface="Times New Roman"/>
              </a:rPr>
              <a:t>57</a:t>
            </a:r>
            <a:r>
              <a:rPr dirty="0" sz="3150" spc="-175">
                <a:latin typeface="Times New Roman"/>
                <a:cs typeface="Times New Roman"/>
              </a:rPr>
              <a:t>2</a:t>
            </a:r>
            <a:r>
              <a:rPr dirty="0" sz="3150" spc="35">
                <a:latin typeface="宋体"/>
                <a:cs typeface="宋体"/>
              </a:rPr>
              <a:t>匝</a:t>
            </a:r>
            <a:endParaRPr sz="31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970"/>
              </a:spcBef>
            </a:pPr>
            <a:r>
              <a:rPr dirty="0" sz="3000" spc="50" i="1">
                <a:latin typeface="Times New Roman"/>
                <a:cs typeface="Times New Roman"/>
              </a:rPr>
              <a:t>U</a:t>
            </a:r>
            <a:r>
              <a:rPr dirty="0" baseline="-26143" sz="2550" spc="75">
                <a:latin typeface="Times New Roman"/>
                <a:cs typeface="Times New Roman"/>
              </a:rPr>
              <a:t>1</a:t>
            </a:r>
            <a:endParaRPr baseline="-26143" sz="25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50307" y="4032923"/>
            <a:ext cx="295529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6725" algn="l"/>
                <a:tab pos="1580515" algn="l"/>
              </a:tabLst>
            </a:pPr>
            <a:r>
              <a:rPr dirty="0" sz="3000" spc="15">
                <a:latin typeface="Symbol"/>
                <a:cs typeface="Symbol"/>
              </a:rPr>
              <a:t></a:t>
            </a:r>
            <a:r>
              <a:rPr dirty="0" sz="3000" spc="15">
                <a:latin typeface="Times New Roman"/>
                <a:cs typeface="Times New Roman"/>
              </a:rPr>
              <a:t>	</a:t>
            </a:r>
            <a:r>
              <a:rPr dirty="0" baseline="35185" sz="4500" spc="44">
                <a:latin typeface="Times New Roman"/>
                <a:cs typeface="Times New Roman"/>
              </a:rPr>
              <a:t>20kV	</a:t>
            </a:r>
            <a:r>
              <a:rPr dirty="0" sz="3000" spc="15">
                <a:latin typeface="Symbol"/>
                <a:cs typeface="Symbol"/>
              </a:rPr>
              <a:t></a:t>
            </a:r>
            <a:r>
              <a:rPr dirty="0" sz="3000" spc="-145">
                <a:latin typeface="Times New Roman"/>
                <a:cs typeface="Times New Roman"/>
              </a:rPr>
              <a:t> </a:t>
            </a:r>
            <a:r>
              <a:rPr dirty="0" sz="3000" spc="15">
                <a:latin typeface="Times New Roman"/>
                <a:cs typeface="Times New Roman"/>
              </a:rPr>
              <a:t>0.0629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92256" y="4337786"/>
            <a:ext cx="536575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-11111" sz="4500" spc="30" i="1">
                <a:latin typeface="Times New Roman"/>
                <a:cs typeface="Times New Roman"/>
              </a:rPr>
              <a:t>U</a:t>
            </a:r>
            <a:r>
              <a:rPr dirty="0" baseline="-11111" sz="4500" spc="367" i="1">
                <a:latin typeface="Times New Roman"/>
                <a:cs typeface="Times New Roman"/>
              </a:rPr>
              <a:t> </a:t>
            </a:r>
            <a:r>
              <a:rPr dirty="0" sz="3000" spc="5">
                <a:latin typeface="Symbol"/>
                <a:cs typeface="Symbol"/>
              </a:rPr>
              <a:t></a:t>
            </a:r>
            <a:endParaRPr sz="30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1771" y="17392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89504" y="14691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1" y="0"/>
                </a:lnTo>
                <a:lnTo>
                  <a:pt x="362711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87623" y="1693164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8658" y="1028281"/>
            <a:ext cx="1854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课堂小结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92679" y="2109216"/>
            <a:ext cx="5731764" cy="5836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392679" y="2092680"/>
            <a:ext cx="57321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科学思维——建构理想化模型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94271" y="2877146"/>
            <a:ext cx="2639695" cy="675005"/>
          </a:xfrm>
          <a:custGeom>
            <a:avLst/>
            <a:gdLst/>
            <a:ahLst/>
            <a:cxnLst/>
            <a:rect l="l" t="t" r="r" b="b"/>
            <a:pathLst>
              <a:path w="2639695" h="675004">
                <a:moveTo>
                  <a:pt x="2624912" y="674903"/>
                </a:moveTo>
                <a:lnTo>
                  <a:pt x="14287" y="674903"/>
                </a:lnTo>
                <a:lnTo>
                  <a:pt x="11493" y="674623"/>
                </a:lnTo>
                <a:lnTo>
                  <a:pt x="0" y="660615"/>
                </a:lnTo>
                <a:lnTo>
                  <a:pt x="0" y="14287"/>
                </a:lnTo>
                <a:lnTo>
                  <a:pt x="14287" y="0"/>
                </a:lnTo>
                <a:lnTo>
                  <a:pt x="2624912" y="0"/>
                </a:lnTo>
                <a:lnTo>
                  <a:pt x="2639199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646328"/>
                </a:lnTo>
                <a:lnTo>
                  <a:pt x="14287" y="646328"/>
                </a:lnTo>
                <a:lnTo>
                  <a:pt x="28575" y="660615"/>
                </a:lnTo>
                <a:lnTo>
                  <a:pt x="2639199" y="660615"/>
                </a:lnTo>
                <a:lnTo>
                  <a:pt x="2638920" y="663409"/>
                </a:lnTo>
                <a:lnTo>
                  <a:pt x="2627693" y="674623"/>
                </a:lnTo>
                <a:lnTo>
                  <a:pt x="2624912" y="674903"/>
                </a:lnTo>
                <a:close/>
              </a:path>
              <a:path w="2639695" h="675004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2639695" h="675004">
                <a:moveTo>
                  <a:pt x="2610624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2610624" y="14287"/>
                </a:lnTo>
                <a:lnTo>
                  <a:pt x="2610624" y="28574"/>
                </a:lnTo>
                <a:close/>
              </a:path>
              <a:path w="2639695" h="675004">
                <a:moveTo>
                  <a:pt x="2610624" y="660615"/>
                </a:moveTo>
                <a:lnTo>
                  <a:pt x="2610624" y="14287"/>
                </a:lnTo>
                <a:lnTo>
                  <a:pt x="2624912" y="28574"/>
                </a:lnTo>
                <a:lnTo>
                  <a:pt x="2639199" y="28574"/>
                </a:lnTo>
                <a:lnTo>
                  <a:pt x="2639199" y="646328"/>
                </a:lnTo>
                <a:lnTo>
                  <a:pt x="2624912" y="646328"/>
                </a:lnTo>
                <a:lnTo>
                  <a:pt x="2610624" y="660615"/>
                </a:lnTo>
                <a:close/>
              </a:path>
              <a:path w="2639695" h="675004">
                <a:moveTo>
                  <a:pt x="2639199" y="28574"/>
                </a:moveTo>
                <a:lnTo>
                  <a:pt x="2624912" y="28574"/>
                </a:lnTo>
                <a:lnTo>
                  <a:pt x="2610624" y="14287"/>
                </a:lnTo>
                <a:lnTo>
                  <a:pt x="2639199" y="14287"/>
                </a:lnTo>
                <a:lnTo>
                  <a:pt x="2639199" y="28574"/>
                </a:lnTo>
                <a:close/>
              </a:path>
              <a:path w="2639695" h="675004">
                <a:moveTo>
                  <a:pt x="28575" y="660615"/>
                </a:moveTo>
                <a:lnTo>
                  <a:pt x="14287" y="646328"/>
                </a:lnTo>
                <a:lnTo>
                  <a:pt x="28575" y="646328"/>
                </a:lnTo>
                <a:lnTo>
                  <a:pt x="28575" y="660615"/>
                </a:lnTo>
                <a:close/>
              </a:path>
              <a:path w="2639695" h="675004">
                <a:moveTo>
                  <a:pt x="2610624" y="660615"/>
                </a:moveTo>
                <a:lnTo>
                  <a:pt x="28575" y="660615"/>
                </a:lnTo>
                <a:lnTo>
                  <a:pt x="28575" y="646328"/>
                </a:lnTo>
                <a:lnTo>
                  <a:pt x="2610624" y="646328"/>
                </a:lnTo>
                <a:lnTo>
                  <a:pt x="2610624" y="660615"/>
                </a:lnTo>
                <a:close/>
              </a:path>
              <a:path w="2639695" h="675004">
                <a:moveTo>
                  <a:pt x="2639199" y="660615"/>
                </a:moveTo>
                <a:lnTo>
                  <a:pt x="2610624" y="660615"/>
                </a:lnTo>
                <a:lnTo>
                  <a:pt x="2624912" y="646328"/>
                </a:lnTo>
                <a:lnTo>
                  <a:pt x="2639199" y="646328"/>
                </a:lnTo>
                <a:lnTo>
                  <a:pt x="2639199" y="660615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902233" y="2920009"/>
            <a:ext cx="20605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理想变压器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75008" y="3104642"/>
            <a:ext cx="1167130" cy="228600"/>
          </a:xfrm>
          <a:custGeom>
            <a:avLst/>
            <a:gdLst/>
            <a:ahLst/>
            <a:cxnLst/>
            <a:rect l="l" t="t" r="r" b="b"/>
            <a:pathLst>
              <a:path w="1167129" h="228600">
                <a:moveTo>
                  <a:pt x="1092378" y="153098"/>
                </a:moveTo>
                <a:lnTo>
                  <a:pt x="994740" y="153098"/>
                </a:lnTo>
                <a:lnTo>
                  <a:pt x="995667" y="76898"/>
                </a:lnTo>
                <a:lnTo>
                  <a:pt x="938525" y="76198"/>
                </a:lnTo>
                <a:lnTo>
                  <a:pt x="939457" y="0"/>
                </a:lnTo>
                <a:lnTo>
                  <a:pt x="1166647" y="117093"/>
                </a:lnTo>
                <a:lnTo>
                  <a:pt x="1092378" y="153098"/>
                </a:lnTo>
                <a:close/>
              </a:path>
              <a:path w="1167129" h="228600">
                <a:moveTo>
                  <a:pt x="937594" y="152398"/>
                </a:moveTo>
                <a:lnTo>
                  <a:pt x="0" y="140919"/>
                </a:lnTo>
                <a:lnTo>
                  <a:pt x="927" y="64719"/>
                </a:lnTo>
                <a:lnTo>
                  <a:pt x="938525" y="76198"/>
                </a:lnTo>
                <a:lnTo>
                  <a:pt x="937594" y="152398"/>
                </a:lnTo>
                <a:close/>
              </a:path>
              <a:path w="1167129" h="228600">
                <a:moveTo>
                  <a:pt x="994740" y="153098"/>
                </a:moveTo>
                <a:lnTo>
                  <a:pt x="937594" y="152398"/>
                </a:lnTo>
                <a:lnTo>
                  <a:pt x="938525" y="76198"/>
                </a:lnTo>
                <a:lnTo>
                  <a:pt x="995667" y="76898"/>
                </a:lnTo>
                <a:lnTo>
                  <a:pt x="994740" y="153098"/>
                </a:lnTo>
                <a:close/>
              </a:path>
              <a:path w="1167129" h="228600">
                <a:moveTo>
                  <a:pt x="936663" y="228587"/>
                </a:moveTo>
                <a:lnTo>
                  <a:pt x="937594" y="152398"/>
                </a:lnTo>
                <a:lnTo>
                  <a:pt x="994740" y="153098"/>
                </a:lnTo>
                <a:lnTo>
                  <a:pt x="1092378" y="153098"/>
                </a:lnTo>
                <a:lnTo>
                  <a:pt x="936663" y="228587"/>
                </a:lnTo>
                <a:close/>
              </a:path>
            </a:pathLst>
          </a:custGeom>
          <a:solidFill>
            <a:srgbClr val="00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858528" y="2877146"/>
            <a:ext cx="2536825" cy="613410"/>
          </a:xfrm>
          <a:custGeom>
            <a:avLst/>
            <a:gdLst/>
            <a:ahLst/>
            <a:cxnLst/>
            <a:rect l="l" t="t" r="r" b="b"/>
            <a:pathLst>
              <a:path w="2536825" h="613410">
                <a:moveTo>
                  <a:pt x="2522512" y="613346"/>
                </a:moveTo>
                <a:lnTo>
                  <a:pt x="14287" y="613346"/>
                </a:lnTo>
                <a:lnTo>
                  <a:pt x="11506" y="613079"/>
                </a:lnTo>
                <a:lnTo>
                  <a:pt x="0" y="599058"/>
                </a:lnTo>
                <a:lnTo>
                  <a:pt x="0" y="14287"/>
                </a:lnTo>
                <a:lnTo>
                  <a:pt x="14287" y="0"/>
                </a:lnTo>
                <a:lnTo>
                  <a:pt x="2522512" y="0"/>
                </a:lnTo>
                <a:lnTo>
                  <a:pt x="2536799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584771"/>
                </a:lnTo>
                <a:lnTo>
                  <a:pt x="14287" y="584771"/>
                </a:lnTo>
                <a:lnTo>
                  <a:pt x="28575" y="599058"/>
                </a:lnTo>
                <a:lnTo>
                  <a:pt x="2536799" y="599058"/>
                </a:lnTo>
                <a:lnTo>
                  <a:pt x="2536532" y="601852"/>
                </a:lnTo>
                <a:lnTo>
                  <a:pt x="2525306" y="613079"/>
                </a:lnTo>
                <a:lnTo>
                  <a:pt x="2522512" y="613346"/>
                </a:lnTo>
                <a:close/>
              </a:path>
              <a:path w="2536825" h="613410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2536825" h="613410">
                <a:moveTo>
                  <a:pt x="2508224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2508224" y="14287"/>
                </a:lnTo>
                <a:lnTo>
                  <a:pt x="2508224" y="28574"/>
                </a:lnTo>
                <a:close/>
              </a:path>
              <a:path w="2536825" h="613410">
                <a:moveTo>
                  <a:pt x="2508224" y="599058"/>
                </a:moveTo>
                <a:lnTo>
                  <a:pt x="2508224" y="14287"/>
                </a:lnTo>
                <a:lnTo>
                  <a:pt x="2522512" y="28574"/>
                </a:lnTo>
                <a:lnTo>
                  <a:pt x="2536799" y="28574"/>
                </a:lnTo>
                <a:lnTo>
                  <a:pt x="2536799" y="584771"/>
                </a:lnTo>
                <a:lnTo>
                  <a:pt x="2522512" y="584771"/>
                </a:lnTo>
                <a:lnTo>
                  <a:pt x="2508224" y="599058"/>
                </a:lnTo>
                <a:close/>
              </a:path>
              <a:path w="2536825" h="613410">
                <a:moveTo>
                  <a:pt x="2536799" y="28574"/>
                </a:moveTo>
                <a:lnTo>
                  <a:pt x="2522512" y="28574"/>
                </a:lnTo>
                <a:lnTo>
                  <a:pt x="2508224" y="14287"/>
                </a:lnTo>
                <a:lnTo>
                  <a:pt x="2536799" y="14287"/>
                </a:lnTo>
                <a:lnTo>
                  <a:pt x="2536799" y="28574"/>
                </a:lnTo>
                <a:close/>
              </a:path>
              <a:path w="2536825" h="613410">
                <a:moveTo>
                  <a:pt x="28575" y="599058"/>
                </a:moveTo>
                <a:lnTo>
                  <a:pt x="14287" y="584771"/>
                </a:lnTo>
                <a:lnTo>
                  <a:pt x="28575" y="584771"/>
                </a:lnTo>
                <a:lnTo>
                  <a:pt x="28575" y="599058"/>
                </a:lnTo>
                <a:close/>
              </a:path>
              <a:path w="2536825" h="613410">
                <a:moveTo>
                  <a:pt x="2508224" y="599058"/>
                </a:moveTo>
                <a:lnTo>
                  <a:pt x="28575" y="599058"/>
                </a:lnTo>
                <a:lnTo>
                  <a:pt x="28575" y="584771"/>
                </a:lnTo>
                <a:lnTo>
                  <a:pt x="2508224" y="584771"/>
                </a:lnTo>
                <a:lnTo>
                  <a:pt x="2508224" y="599058"/>
                </a:lnTo>
                <a:close/>
              </a:path>
              <a:path w="2536825" h="613410">
                <a:moveTo>
                  <a:pt x="2536799" y="599058"/>
                </a:moveTo>
                <a:lnTo>
                  <a:pt x="2508224" y="599058"/>
                </a:lnTo>
                <a:lnTo>
                  <a:pt x="2522512" y="584771"/>
                </a:lnTo>
                <a:lnTo>
                  <a:pt x="2536799" y="584771"/>
                </a:lnTo>
                <a:lnTo>
                  <a:pt x="2536799" y="599058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951556" y="2875559"/>
            <a:ext cx="20605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实际变压器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41655" y="3599815"/>
            <a:ext cx="1229995" cy="726440"/>
          </a:xfrm>
          <a:custGeom>
            <a:avLst/>
            <a:gdLst/>
            <a:ahLst/>
            <a:cxnLst/>
            <a:rect l="l" t="t" r="r" b="b"/>
            <a:pathLst>
              <a:path w="1229995" h="726439">
                <a:moveTo>
                  <a:pt x="217326" y="645587"/>
                </a:moveTo>
                <a:lnTo>
                  <a:pt x="179472" y="579455"/>
                </a:lnTo>
                <a:lnTo>
                  <a:pt x="1191831" y="0"/>
                </a:lnTo>
                <a:lnTo>
                  <a:pt x="1229677" y="66141"/>
                </a:lnTo>
                <a:lnTo>
                  <a:pt x="217326" y="645587"/>
                </a:lnTo>
                <a:close/>
              </a:path>
              <a:path w="1229995" h="726439">
                <a:moveTo>
                  <a:pt x="0" y="726084"/>
                </a:moveTo>
                <a:lnTo>
                  <a:pt x="141617" y="513321"/>
                </a:lnTo>
                <a:lnTo>
                  <a:pt x="179472" y="579455"/>
                </a:lnTo>
                <a:lnTo>
                  <a:pt x="129870" y="607847"/>
                </a:lnTo>
                <a:lnTo>
                  <a:pt x="167728" y="673976"/>
                </a:lnTo>
                <a:lnTo>
                  <a:pt x="233576" y="673976"/>
                </a:lnTo>
                <a:lnTo>
                  <a:pt x="255181" y="711720"/>
                </a:lnTo>
                <a:lnTo>
                  <a:pt x="0" y="726084"/>
                </a:lnTo>
                <a:close/>
              </a:path>
              <a:path w="1229995" h="726439">
                <a:moveTo>
                  <a:pt x="167728" y="673976"/>
                </a:moveTo>
                <a:lnTo>
                  <a:pt x="129870" y="607847"/>
                </a:lnTo>
                <a:lnTo>
                  <a:pt x="179472" y="579455"/>
                </a:lnTo>
                <a:lnTo>
                  <a:pt x="217326" y="645587"/>
                </a:lnTo>
                <a:lnTo>
                  <a:pt x="167728" y="673976"/>
                </a:lnTo>
                <a:close/>
              </a:path>
              <a:path w="1229995" h="726439">
                <a:moveTo>
                  <a:pt x="233576" y="673976"/>
                </a:moveTo>
                <a:lnTo>
                  <a:pt x="167728" y="673976"/>
                </a:lnTo>
                <a:lnTo>
                  <a:pt x="217326" y="645587"/>
                </a:lnTo>
                <a:lnTo>
                  <a:pt x="233576" y="67397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077017" y="3632885"/>
            <a:ext cx="1322070" cy="714375"/>
          </a:xfrm>
          <a:custGeom>
            <a:avLst/>
            <a:gdLst/>
            <a:ahLst/>
            <a:cxnLst/>
            <a:rect l="l" t="t" r="r" b="b"/>
            <a:pathLst>
              <a:path w="1322070" h="714375">
                <a:moveTo>
                  <a:pt x="149796" y="207086"/>
                </a:moveTo>
                <a:lnTo>
                  <a:pt x="0" y="0"/>
                </a:lnTo>
                <a:lnTo>
                  <a:pt x="255549" y="4419"/>
                </a:lnTo>
                <a:lnTo>
                  <a:pt x="234091" y="45542"/>
                </a:lnTo>
                <a:lnTo>
                  <a:pt x="169633" y="45542"/>
                </a:lnTo>
                <a:lnTo>
                  <a:pt x="134378" y="113093"/>
                </a:lnTo>
                <a:lnTo>
                  <a:pt x="185046" y="139532"/>
                </a:lnTo>
                <a:lnTo>
                  <a:pt x="149796" y="207086"/>
                </a:lnTo>
                <a:close/>
              </a:path>
              <a:path w="1322070" h="714375">
                <a:moveTo>
                  <a:pt x="185046" y="139532"/>
                </a:moveTo>
                <a:lnTo>
                  <a:pt x="134378" y="113093"/>
                </a:lnTo>
                <a:lnTo>
                  <a:pt x="169633" y="45542"/>
                </a:lnTo>
                <a:lnTo>
                  <a:pt x="220296" y="71978"/>
                </a:lnTo>
                <a:lnTo>
                  <a:pt x="185046" y="139532"/>
                </a:lnTo>
                <a:close/>
              </a:path>
              <a:path w="1322070" h="714375">
                <a:moveTo>
                  <a:pt x="220296" y="71978"/>
                </a:moveTo>
                <a:lnTo>
                  <a:pt x="169633" y="45542"/>
                </a:lnTo>
                <a:lnTo>
                  <a:pt x="234091" y="45542"/>
                </a:lnTo>
                <a:lnTo>
                  <a:pt x="220296" y="71978"/>
                </a:lnTo>
                <a:close/>
              </a:path>
              <a:path w="1322070" h="714375">
                <a:moveTo>
                  <a:pt x="1286395" y="714235"/>
                </a:moveTo>
                <a:lnTo>
                  <a:pt x="185046" y="139532"/>
                </a:lnTo>
                <a:lnTo>
                  <a:pt x="220296" y="71978"/>
                </a:lnTo>
                <a:lnTo>
                  <a:pt x="1321650" y="646684"/>
                </a:lnTo>
                <a:lnTo>
                  <a:pt x="1286395" y="71423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11978" y="4398314"/>
            <a:ext cx="1713230" cy="1106170"/>
          </a:xfrm>
          <a:custGeom>
            <a:avLst/>
            <a:gdLst/>
            <a:ahLst/>
            <a:cxnLst/>
            <a:rect l="l" t="t" r="r" b="b"/>
            <a:pathLst>
              <a:path w="1713229" h="1106170">
                <a:moveTo>
                  <a:pt x="1698675" y="1105789"/>
                </a:moveTo>
                <a:lnTo>
                  <a:pt x="14287" y="1105789"/>
                </a:lnTo>
                <a:lnTo>
                  <a:pt x="11493" y="1105522"/>
                </a:lnTo>
                <a:lnTo>
                  <a:pt x="0" y="1091501"/>
                </a:lnTo>
                <a:lnTo>
                  <a:pt x="0" y="14287"/>
                </a:lnTo>
                <a:lnTo>
                  <a:pt x="14287" y="0"/>
                </a:lnTo>
                <a:lnTo>
                  <a:pt x="1698675" y="0"/>
                </a:lnTo>
                <a:lnTo>
                  <a:pt x="1712963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077214"/>
                </a:lnTo>
                <a:lnTo>
                  <a:pt x="14287" y="1077214"/>
                </a:lnTo>
                <a:lnTo>
                  <a:pt x="28575" y="1091501"/>
                </a:lnTo>
                <a:lnTo>
                  <a:pt x="1712963" y="1091501"/>
                </a:lnTo>
                <a:lnTo>
                  <a:pt x="1712683" y="1094295"/>
                </a:lnTo>
                <a:lnTo>
                  <a:pt x="1701469" y="1105522"/>
                </a:lnTo>
                <a:lnTo>
                  <a:pt x="1698675" y="1105789"/>
                </a:lnTo>
                <a:close/>
              </a:path>
              <a:path w="1713229" h="110617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713229" h="1106170">
                <a:moveTo>
                  <a:pt x="1684388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684388" y="14287"/>
                </a:lnTo>
                <a:lnTo>
                  <a:pt x="1684388" y="28575"/>
                </a:lnTo>
                <a:close/>
              </a:path>
              <a:path w="1713229" h="1106170">
                <a:moveTo>
                  <a:pt x="1684388" y="1091501"/>
                </a:moveTo>
                <a:lnTo>
                  <a:pt x="1684388" y="14287"/>
                </a:lnTo>
                <a:lnTo>
                  <a:pt x="1698675" y="28575"/>
                </a:lnTo>
                <a:lnTo>
                  <a:pt x="1712963" y="28575"/>
                </a:lnTo>
                <a:lnTo>
                  <a:pt x="1712963" y="1077214"/>
                </a:lnTo>
                <a:lnTo>
                  <a:pt x="1698675" y="1077214"/>
                </a:lnTo>
                <a:lnTo>
                  <a:pt x="1684388" y="1091501"/>
                </a:lnTo>
                <a:close/>
              </a:path>
              <a:path w="1713229" h="1106170">
                <a:moveTo>
                  <a:pt x="1712963" y="28575"/>
                </a:moveTo>
                <a:lnTo>
                  <a:pt x="1698675" y="28575"/>
                </a:lnTo>
                <a:lnTo>
                  <a:pt x="1684388" y="14287"/>
                </a:lnTo>
                <a:lnTo>
                  <a:pt x="1712963" y="14287"/>
                </a:lnTo>
                <a:lnTo>
                  <a:pt x="1712963" y="28575"/>
                </a:lnTo>
                <a:close/>
              </a:path>
              <a:path w="1713229" h="1106170">
                <a:moveTo>
                  <a:pt x="28575" y="1091501"/>
                </a:moveTo>
                <a:lnTo>
                  <a:pt x="14287" y="1077214"/>
                </a:lnTo>
                <a:lnTo>
                  <a:pt x="28575" y="1077214"/>
                </a:lnTo>
                <a:lnTo>
                  <a:pt x="28575" y="1091501"/>
                </a:lnTo>
                <a:close/>
              </a:path>
              <a:path w="1713229" h="1106170">
                <a:moveTo>
                  <a:pt x="1684388" y="1091501"/>
                </a:moveTo>
                <a:lnTo>
                  <a:pt x="28575" y="1091501"/>
                </a:lnTo>
                <a:lnTo>
                  <a:pt x="28575" y="1077214"/>
                </a:lnTo>
                <a:lnTo>
                  <a:pt x="1684388" y="1077214"/>
                </a:lnTo>
                <a:lnTo>
                  <a:pt x="1684388" y="1091501"/>
                </a:lnTo>
                <a:close/>
              </a:path>
              <a:path w="1713229" h="1106170">
                <a:moveTo>
                  <a:pt x="1712963" y="1091501"/>
                </a:moveTo>
                <a:lnTo>
                  <a:pt x="1684388" y="1091501"/>
                </a:lnTo>
                <a:lnTo>
                  <a:pt x="1698675" y="1077214"/>
                </a:lnTo>
                <a:lnTo>
                  <a:pt x="1712963" y="1077214"/>
                </a:lnTo>
                <a:lnTo>
                  <a:pt x="1712963" y="1091501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367731" y="4866856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504" y="0"/>
                </a:lnTo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180086" y="4866856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951" y="0"/>
                </a:lnTo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343804" y="4281706"/>
            <a:ext cx="1152525" cy="1042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050">
              <a:lnSpc>
                <a:spcPct val="117000"/>
              </a:lnSpc>
              <a:spcBef>
                <a:spcPts val="100"/>
              </a:spcBef>
              <a:tabLst>
                <a:tab pos="549275" algn="l"/>
                <a:tab pos="861694" algn="l"/>
              </a:tabLst>
            </a:pPr>
            <a:r>
              <a:rPr dirty="0" sz="2850" spc="5" i="1">
                <a:latin typeface="Times New Roman"/>
                <a:cs typeface="Times New Roman"/>
              </a:rPr>
              <a:t>U</a:t>
            </a:r>
            <a:r>
              <a:rPr dirty="0" baseline="-25252" sz="2475" spc="7">
                <a:latin typeface="Times New Roman"/>
                <a:cs typeface="Times New Roman"/>
              </a:rPr>
              <a:t>1	</a:t>
            </a:r>
            <a:r>
              <a:rPr dirty="0" baseline="-35087" sz="4275" spc="-7">
                <a:latin typeface="Symbol"/>
                <a:cs typeface="Symbol"/>
              </a:rPr>
              <a:t></a:t>
            </a:r>
            <a:r>
              <a:rPr dirty="0" baseline="-35087" sz="4275" spc="-7">
                <a:latin typeface="Times New Roman"/>
                <a:cs typeface="Times New Roman"/>
              </a:rPr>
              <a:t> </a:t>
            </a:r>
            <a:r>
              <a:rPr dirty="0" sz="2850" spc="-125" i="1">
                <a:latin typeface="Times New Roman"/>
                <a:cs typeface="Times New Roman"/>
              </a:rPr>
              <a:t>n</a:t>
            </a:r>
            <a:r>
              <a:rPr dirty="0" baseline="-25252" sz="2475" spc="-187">
                <a:latin typeface="Times New Roman"/>
                <a:cs typeface="Times New Roman"/>
              </a:rPr>
              <a:t>1  </a:t>
            </a:r>
            <a:r>
              <a:rPr dirty="0" sz="2850" spc="190" i="1">
                <a:latin typeface="Times New Roman"/>
                <a:cs typeface="Times New Roman"/>
              </a:rPr>
              <a:t>U</a:t>
            </a:r>
            <a:r>
              <a:rPr dirty="0" baseline="-25252" sz="2475" spc="-7">
                <a:latin typeface="Times New Roman"/>
                <a:cs typeface="Times New Roman"/>
              </a:rPr>
              <a:t>2</a:t>
            </a:r>
            <a:r>
              <a:rPr dirty="0" baseline="-25252" sz="2475">
                <a:latin typeface="Times New Roman"/>
                <a:cs typeface="Times New Roman"/>
              </a:rPr>
              <a:t>		</a:t>
            </a:r>
            <a:r>
              <a:rPr dirty="0" sz="2850" spc="-70" i="1">
                <a:latin typeface="Times New Roman"/>
                <a:cs typeface="Times New Roman"/>
              </a:rPr>
              <a:t>n</a:t>
            </a:r>
            <a:r>
              <a:rPr dirty="0" baseline="-25252" sz="2475" spc="-7">
                <a:latin typeface="Times New Roman"/>
                <a:cs typeface="Times New Roman"/>
              </a:rPr>
              <a:t>2</a:t>
            </a:r>
            <a:endParaRPr baseline="-25252" sz="2475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2025-04-20T10:43:14Z</dcterms:created>
  <dcterms:modified xsi:type="dcterms:W3CDTF">2025-04-20T10:43:14Z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