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Default Extension="png" ContentType="image/png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1">
                <a:solidFill>
                  <a:srgbClr val="F1F1F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1">
                <a:solidFill>
                  <a:srgbClr val="F1F1F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147194" y="3627461"/>
            <a:ext cx="1269235" cy="6228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2929006" y="2189301"/>
            <a:ext cx="9262982" cy="22564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3234111" y="4583182"/>
            <a:ext cx="8957945" cy="0"/>
          </a:xfrm>
          <a:custGeom>
            <a:avLst/>
            <a:gdLst/>
            <a:ahLst/>
            <a:cxnLst/>
            <a:rect l="l" t="t" r="r" b="b"/>
            <a:pathLst>
              <a:path w="8957945" h="0">
                <a:moveTo>
                  <a:pt x="0" y="0"/>
                </a:moveTo>
                <a:lnTo>
                  <a:pt x="8957889" y="0"/>
                </a:lnTo>
              </a:path>
            </a:pathLst>
          </a:custGeom>
          <a:ln w="122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1">
                <a:solidFill>
                  <a:srgbClr val="F1F1F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1840" y="-31432"/>
            <a:ext cx="2058670" cy="6343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1">
                <a:solidFill>
                  <a:srgbClr val="F1F1F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4675" y="1481137"/>
            <a:ext cx="11042650" cy="4525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26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Relationship Id="rId3" Type="http://schemas.openxmlformats.org/officeDocument/2006/relationships/image" Target="../media/image27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image" Target="../media/image34.png"/><Relationship Id="rId9" Type="http://schemas.openxmlformats.org/officeDocument/2006/relationships/image" Target="../media/image35.png"/><Relationship Id="rId10" Type="http://schemas.openxmlformats.org/officeDocument/2006/relationships/image" Target="../media/image36.png"/><Relationship Id="rId11" Type="http://schemas.openxmlformats.org/officeDocument/2006/relationships/image" Target="../media/image37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Relationship Id="rId8" Type="http://schemas.openxmlformats.org/officeDocument/2006/relationships/image" Target="../media/image44.png"/><Relationship Id="rId9" Type="http://schemas.openxmlformats.org/officeDocument/2006/relationships/image" Target="../media/image45.png"/><Relationship Id="rId10" Type="http://schemas.openxmlformats.org/officeDocument/2006/relationships/image" Target="../media/image46.png"/><Relationship Id="rId11" Type="http://schemas.openxmlformats.org/officeDocument/2006/relationships/image" Target="../media/image47.png"/><Relationship Id="rId12" Type="http://schemas.openxmlformats.org/officeDocument/2006/relationships/image" Target="../media/image48.png"/><Relationship Id="rId13" Type="http://schemas.openxmlformats.org/officeDocument/2006/relationships/image" Target="../media/image49.png"/><Relationship Id="rId14" Type="http://schemas.openxmlformats.org/officeDocument/2006/relationships/image" Target="../media/image50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77627" y="2525712"/>
            <a:ext cx="561403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>
                <a:solidFill>
                  <a:srgbClr val="FFFFFF"/>
                </a:solidFill>
                <a:latin typeface="微软雅黑"/>
                <a:cs typeface="微软雅黑"/>
              </a:rPr>
              <a:t>描述交变电流的物理</a:t>
            </a:r>
            <a:r>
              <a:rPr dirty="0" sz="4400" spc="5">
                <a:solidFill>
                  <a:srgbClr val="FFFFFF"/>
                </a:solidFill>
                <a:latin typeface="微软雅黑"/>
                <a:cs typeface="微软雅黑"/>
              </a:rPr>
              <a:t>量</a:t>
            </a:r>
            <a:endParaRPr sz="44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60202" y="3478212"/>
            <a:ext cx="3386454" cy="937260"/>
          </a:xfrm>
          <a:prstGeom prst="rect">
            <a:avLst/>
          </a:prstGeom>
        </p:spPr>
        <p:txBody>
          <a:bodyPr wrap="square" lIns="0" tIns="1028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dirty="0" sz="2400" b="1" i="1">
                <a:solidFill>
                  <a:srgbClr val="FFFFFF"/>
                </a:solidFill>
                <a:latin typeface="华文楷体"/>
                <a:cs typeface="华文楷体"/>
              </a:rPr>
              <a:t>主讲人：姜连</a:t>
            </a:r>
            <a:r>
              <a:rPr dirty="0" sz="2400" spc="-5" b="1" i="1">
                <a:solidFill>
                  <a:srgbClr val="FFFFFF"/>
                </a:solidFill>
                <a:latin typeface="华文楷体"/>
                <a:cs typeface="华文楷体"/>
              </a:rPr>
              <a:t>国</a:t>
            </a:r>
            <a:endParaRPr sz="24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  <a:tabLst>
                <a:tab pos="624840" algn="l"/>
              </a:tabLst>
            </a:pPr>
            <a:r>
              <a:rPr dirty="0" sz="2400" spc="-5" b="1" i="1">
                <a:solidFill>
                  <a:srgbClr val="FFFFFF"/>
                </a:solidFill>
                <a:latin typeface="华文楷体"/>
                <a:cs typeface="华文楷体"/>
              </a:rPr>
              <a:t>学</a:t>
            </a:r>
            <a:r>
              <a:rPr dirty="0" sz="2400" spc="-5" b="1" i="1">
                <a:solidFill>
                  <a:srgbClr val="FFFFFF"/>
                </a:solidFill>
                <a:latin typeface="华文楷体"/>
                <a:cs typeface="华文楷体"/>
              </a:rPr>
              <a:t>	</a:t>
            </a:r>
            <a:r>
              <a:rPr dirty="0" sz="2400" b="1" i="1">
                <a:solidFill>
                  <a:srgbClr val="FFFFFF"/>
                </a:solidFill>
                <a:latin typeface="华文楷体"/>
                <a:cs typeface="华文楷体"/>
              </a:rPr>
              <a:t>科：物理（人教版</a:t>
            </a:r>
            <a:r>
              <a:rPr dirty="0" sz="2400" spc="-5" b="1" i="1">
                <a:solidFill>
                  <a:srgbClr val="FFFFFF"/>
                </a:solidFill>
                <a:latin typeface="华文楷体"/>
                <a:cs typeface="华文楷体"/>
              </a:rPr>
              <a:t>）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29232" y="3478212"/>
            <a:ext cx="3846829" cy="9372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5715">
              <a:lnSpc>
                <a:spcPct val="124700"/>
              </a:lnSpc>
              <a:spcBef>
                <a:spcPts val="95"/>
              </a:spcBef>
              <a:tabLst>
                <a:tab pos="624840" algn="l"/>
              </a:tabLst>
            </a:pPr>
            <a:r>
              <a:rPr dirty="0" sz="2400" spc="-5" b="1" i="1">
                <a:solidFill>
                  <a:srgbClr val="FFFFFF"/>
                </a:solidFill>
                <a:latin typeface="华文楷体"/>
                <a:cs typeface="华文楷体"/>
              </a:rPr>
              <a:t>学	</a:t>
            </a:r>
            <a:r>
              <a:rPr dirty="0" sz="2400" b="1" i="1">
                <a:solidFill>
                  <a:srgbClr val="FFFFFF"/>
                </a:solidFill>
                <a:latin typeface="华文楷体"/>
                <a:cs typeface="华文楷体"/>
              </a:rPr>
              <a:t>校：北京市第八十中</a:t>
            </a:r>
            <a:r>
              <a:rPr dirty="0" sz="2400" spc="-5" b="1" i="1">
                <a:solidFill>
                  <a:srgbClr val="FFFFFF"/>
                </a:solidFill>
                <a:latin typeface="华文楷体"/>
                <a:cs typeface="华文楷体"/>
              </a:rPr>
              <a:t>学 </a:t>
            </a:r>
            <a:r>
              <a:rPr dirty="0" sz="2400" spc="-5" b="1" i="1">
                <a:solidFill>
                  <a:srgbClr val="FFFFFF"/>
                </a:solidFill>
                <a:latin typeface="华文楷体"/>
                <a:cs typeface="华文楷体"/>
              </a:rPr>
              <a:t>年</a:t>
            </a:r>
            <a:r>
              <a:rPr dirty="0" sz="2400" b="1" i="1">
                <a:solidFill>
                  <a:srgbClr val="FFFFFF"/>
                </a:solidFill>
                <a:latin typeface="华文楷体"/>
                <a:cs typeface="华文楷体"/>
              </a:rPr>
              <a:t>	</a:t>
            </a:r>
            <a:r>
              <a:rPr dirty="0" sz="2400" b="1" i="1">
                <a:solidFill>
                  <a:srgbClr val="FFFFFF"/>
                </a:solidFill>
                <a:latin typeface="华文楷体"/>
                <a:cs typeface="华文楷体"/>
              </a:rPr>
              <a:t>级：高二下学</a:t>
            </a:r>
            <a:r>
              <a:rPr dirty="0" sz="2400" spc="605" b="1" i="1">
                <a:solidFill>
                  <a:srgbClr val="FFFFFF"/>
                </a:solidFill>
                <a:latin typeface="华文楷体"/>
                <a:cs typeface="华文楷体"/>
              </a:rPr>
              <a:t>期</a:t>
            </a:r>
            <a:r>
              <a:rPr dirty="0" sz="2400" b="1" i="1">
                <a:solidFill>
                  <a:srgbClr val="FFFFFF"/>
                </a:solidFill>
                <a:latin typeface="华文楷体"/>
                <a:cs typeface="华文楷体"/>
              </a:rPr>
              <a:t>选修</a:t>
            </a:r>
            <a:r>
              <a:rPr dirty="0" sz="2400" spc="-5" b="1" i="1">
                <a:solidFill>
                  <a:srgbClr val="FFFFFF"/>
                </a:solidFill>
                <a:latin typeface="华文楷体"/>
                <a:cs typeface="华文楷体"/>
              </a:rPr>
              <a:t>3</a:t>
            </a:r>
            <a:r>
              <a:rPr dirty="0" sz="2400" spc="-5" b="1" i="1">
                <a:solidFill>
                  <a:srgbClr val="FFFFFF"/>
                </a:solidFill>
                <a:latin typeface="华文楷体"/>
                <a:cs typeface="华文楷体"/>
              </a:rPr>
              <a:t>-</a:t>
            </a:r>
            <a:r>
              <a:rPr dirty="0" sz="2400" spc="-5" b="1" i="1">
                <a:solidFill>
                  <a:srgbClr val="FFFFFF"/>
                </a:solidFill>
                <a:latin typeface="华文楷体"/>
                <a:cs typeface="华文楷体"/>
              </a:rPr>
              <a:t>2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77240" y="877252"/>
            <a:ext cx="9767570" cy="401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400" b="1">
                <a:solidFill>
                  <a:srgbClr val="EC7C30"/>
                </a:solidFill>
                <a:latin typeface="黑体"/>
                <a:cs typeface="黑体"/>
              </a:rPr>
              <a:t>复习回</a:t>
            </a:r>
            <a:r>
              <a:rPr dirty="0" sz="5400" spc="-25" b="1">
                <a:solidFill>
                  <a:srgbClr val="EC7C30"/>
                </a:solidFill>
                <a:latin typeface="黑体"/>
                <a:cs typeface="黑体"/>
              </a:rPr>
              <a:t>顾</a:t>
            </a:r>
            <a:endParaRPr sz="54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4750">
              <a:latin typeface="Times New Roman"/>
              <a:cs typeface="Times New Roman"/>
            </a:endParaRPr>
          </a:p>
          <a:p>
            <a:pPr marL="1588770" indent="-508000">
              <a:lnSpc>
                <a:spcPct val="100000"/>
              </a:lnSpc>
              <a:buFont typeface="Times New Roman"/>
              <a:buAutoNum type="arabicPeriod"/>
              <a:tabLst>
                <a:tab pos="1589405" algn="l"/>
              </a:tabLst>
            </a:pPr>
            <a:r>
              <a:rPr dirty="0" sz="4000" b="1">
                <a:solidFill>
                  <a:srgbClr val="0000FF"/>
                </a:solidFill>
                <a:latin typeface="黑体"/>
                <a:cs typeface="黑体"/>
              </a:rPr>
              <a:t>什么叫交变电流、正弦式交变电流</a:t>
            </a:r>
            <a:r>
              <a:rPr dirty="0" sz="4000" spc="-25" b="1">
                <a:solidFill>
                  <a:srgbClr val="0000FF"/>
                </a:solidFill>
                <a:latin typeface="黑体"/>
                <a:cs typeface="黑体"/>
              </a:rPr>
              <a:t>？</a:t>
            </a:r>
            <a:endParaRPr sz="4000">
              <a:latin typeface="黑体"/>
              <a:cs typeface="黑体"/>
            </a:endParaRPr>
          </a:p>
          <a:p>
            <a:pPr marL="1600200" indent="-508000">
              <a:lnSpc>
                <a:spcPct val="100000"/>
              </a:lnSpc>
              <a:spcBef>
                <a:spcPts val="2615"/>
              </a:spcBef>
              <a:buFont typeface="Times New Roman"/>
              <a:buAutoNum type="arabicPeriod"/>
              <a:tabLst>
                <a:tab pos="1600200" algn="l"/>
              </a:tabLst>
            </a:pPr>
            <a:r>
              <a:rPr dirty="0" sz="4000" b="1">
                <a:solidFill>
                  <a:srgbClr val="0000FF"/>
                </a:solidFill>
                <a:latin typeface="黑体"/>
                <a:cs typeface="黑体"/>
              </a:rPr>
              <a:t>正弦式交变电流的产生条件</a:t>
            </a:r>
            <a:r>
              <a:rPr dirty="0" sz="4000" spc="-5" b="1">
                <a:solidFill>
                  <a:srgbClr val="0000FF"/>
                </a:solidFill>
                <a:latin typeface="Times New Roman"/>
                <a:cs typeface="Times New Roman"/>
              </a:rPr>
              <a:t>?</a:t>
            </a:r>
            <a:endParaRPr sz="4000">
              <a:latin typeface="Times New Roman"/>
              <a:cs typeface="Times New Roman"/>
            </a:endParaRPr>
          </a:p>
          <a:p>
            <a:pPr marL="1588770" indent="-508000">
              <a:lnSpc>
                <a:spcPct val="100000"/>
              </a:lnSpc>
              <a:spcBef>
                <a:spcPts val="2400"/>
              </a:spcBef>
              <a:buFont typeface="Times New Roman"/>
              <a:buAutoNum type="arabicPeriod"/>
              <a:tabLst>
                <a:tab pos="1589405" algn="l"/>
              </a:tabLst>
            </a:pPr>
            <a:r>
              <a:rPr dirty="0" sz="4000" b="1">
                <a:solidFill>
                  <a:srgbClr val="0000FF"/>
                </a:solidFill>
                <a:latin typeface="黑体"/>
                <a:cs typeface="黑体"/>
              </a:rPr>
              <a:t>什么叫中性面</a:t>
            </a:r>
            <a:r>
              <a:rPr dirty="0" sz="4000" spc="-5" b="1">
                <a:solidFill>
                  <a:srgbClr val="0000FF"/>
                </a:solidFill>
                <a:latin typeface="Times New Roman"/>
                <a:cs typeface="Times New Roman"/>
              </a:rPr>
              <a:t>?</a:t>
            </a:r>
            <a:r>
              <a:rPr dirty="0" sz="4000" b="1">
                <a:solidFill>
                  <a:srgbClr val="0000FF"/>
                </a:solidFill>
                <a:latin typeface="黑体"/>
                <a:cs typeface="黑体"/>
              </a:rPr>
              <a:t>中性面有什么特点</a:t>
            </a:r>
            <a:r>
              <a:rPr dirty="0" sz="4000" spc="-5" b="1">
                <a:solidFill>
                  <a:srgbClr val="0000FF"/>
                </a:solidFill>
                <a:latin typeface="Times New Roman"/>
                <a:cs typeface="Times New Roman"/>
              </a:rPr>
              <a:t>?</a:t>
            </a:r>
            <a:endParaRPr sz="4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145415"/>
            <a:ext cx="6377305" cy="8483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38888" sz="6000"/>
              <a:t>高中物</a:t>
            </a:r>
            <a:r>
              <a:rPr dirty="0" baseline="38888" sz="6000" spc="-15"/>
              <a:t>理</a:t>
            </a:r>
            <a:r>
              <a:rPr dirty="0" baseline="38888" sz="6000" spc="569"/>
              <a:t> </a:t>
            </a:r>
            <a:r>
              <a:rPr dirty="0" sz="5400" spc="25" i="0">
                <a:solidFill>
                  <a:srgbClr val="C00000"/>
                </a:solidFill>
                <a:latin typeface="思源黑体 CN"/>
                <a:cs typeface="思源黑体 CN"/>
              </a:rPr>
              <a:t>瞬时值表达</a:t>
            </a:r>
            <a:r>
              <a:rPr dirty="0" sz="5400" i="0">
                <a:solidFill>
                  <a:srgbClr val="C00000"/>
                </a:solidFill>
                <a:latin typeface="思源黑体 CN"/>
                <a:cs typeface="思源黑体 CN"/>
              </a:rPr>
              <a:t>式</a:t>
            </a:r>
            <a:endParaRPr sz="5400">
              <a:latin typeface="思源黑体 CN"/>
              <a:cs typeface="思源黑体 C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96975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 h="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56576" y="2511551"/>
            <a:ext cx="4061460" cy="37368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891539" y="1208404"/>
            <a:ext cx="10109200" cy="2952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4572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solidFill>
                  <a:srgbClr val="0000FF"/>
                </a:solidFill>
                <a:latin typeface="黑体"/>
                <a:cs typeface="黑体"/>
              </a:rPr>
              <a:t>设</a:t>
            </a:r>
            <a:r>
              <a:rPr dirty="0" sz="3600" b="1" i="1">
                <a:solidFill>
                  <a:srgbClr val="0000FF"/>
                </a:solidFill>
                <a:latin typeface="Times New Roman"/>
                <a:cs typeface="Times New Roman"/>
              </a:rPr>
              <a:t>N</a:t>
            </a:r>
            <a:r>
              <a:rPr dirty="0" sz="3600" b="1">
                <a:solidFill>
                  <a:srgbClr val="0000FF"/>
                </a:solidFill>
                <a:latin typeface="黑体"/>
                <a:cs typeface="黑体"/>
              </a:rPr>
              <a:t>匝线圈绕垂直于匀强磁场方向的轴匀速转动</a:t>
            </a:r>
            <a:r>
              <a:rPr dirty="0" sz="3600" b="1">
                <a:solidFill>
                  <a:srgbClr val="0000FF"/>
                </a:solidFill>
                <a:latin typeface="Times New Roman"/>
                <a:cs typeface="Times New Roman"/>
              </a:rPr>
              <a:t>, </a:t>
            </a:r>
            <a:r>
              <a:rPr dirty="0" sz="3600" b="1">
                <a:solidFill>
                  <a:srgbClr val="0000FF"/>
                </a:solidFill>
                <a:latin typeface="黑体"/>
                <a:cs typeface="黑体"/>
              </a:rPr>
              <a:t>线圈的面积为</a:t>
            </a:r>
            <a:r>
              <a:rPr dirty="0" sz="3600" spc="-5" b="1" i="1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  <a:r>
              <a:rPr dirty="0" sz="3600" spc="-5" b="1">
                <a:solidFill>
                  <a:srgbClr val="0000FF"/>
                </a:solidFill>
                <a:latin typeface="Times New Roman"/>
                <a:cs typeface="Times New Roman"/>
              </a:rPr>
              <a:t>,</a:t>
            </a:r>
            <a:r>
              <a:rPr dirty="0" sz="3600" b="1">
                <a:solidFill>
                  <a:srgbClr val="0000FF"/>
                </a:solidFill>
                <a:latin typeface="黑体"/>
                <a:cs typeface="黑体"/>
              </a:rPr>
              <a:t>线圈转动的角速度为</a:t>
            </a:r>
            <a:r>
              <a:rPr dirty="0" sz="3600" b="1" i="1">
                <a:solidFill>
                  <a:srgbClr val="0000FF"/>
                </a:solidFill>
                <a:latin typeface="Times New Roman"/>
                <a:cs typeface="Times New Roman"/>
              </a:rPr>
              <a:t>ω</a:t>
            </a:r>
            <a:r>
              <a:rPr dirty="0" sz="3600" b="1">
                <a:solidFill>
                  <a:srgbClr val="0000FF"/>
                </a:solidFill>
                <a:latin typeface="Times New Roman"/>
                <a:cs typeface="Times New Roman"/>
              </a:rPr>
              <a:t>,</a:t>
            </a:r>
            <a:r>
              <a:rPr dirty="0" sz="3600" b="1">
                <a:solidFill>
                  <a:srgbClr val="0000FF"/>
                </a:solidFill>
                <a:latin typeface="黑体"/>
                <a:cs typeface="黑体"/>
              </a:rPr>
              <a:t>磁感应强</a:t>
            </a:r>
            <a:r>
              <a:rPr dirty="0" sz="3600" spc="-15" b="1">
                <a:solidFill>
                  <a:srgbClr val="0000FF"/>
                </a:solidFill>
                <a:latin typeface="黑体"/>
                <a:cs typeface="黑体"/>
              </a:rPr>
              <a:t>度 </a:t>
            </a:r>
            <a:r>
              <a:rPr dirty="0" sz="3600" b="1">
                <a:solidFill>
                  <a:srgbClr val="0000FF"/>
                </a:solidFill>
                <a:latin typeface="黑体"/>
                <a:cs typeface="黑体"/>
              </a:rPr>
              <a:t>为</a:t>
            </a:r>
            <a:r>
              <a:rPr dirty="0" sz="3600" spc="-5" b="1" i="1">
                <a:solidFill>
                  <a:srgbClr val="0000FF"/>
                </a:solidFill>
                <a:latin typeface="Times New Roman"/>
                <a:cs typeface="Times New Roman"/>
              </a:rPr>
              <a:t>B</a:t>
            </a:r>
            <a:r>
              <a:rPr dirty="0" sz="3600" spc="-15" b="1">
                <a:solidFill>
                  <a:srgbClr val="0000FF"/>
                </a:solidFill>
                <a:latin typeface="黑体"/>
                <a:cs typeface="黑体"/>
              </a:rPr>
              <a:t>。</a:t>
            </a:r>
            <a:endParaRPr sz="3600">
              <a:latin typeface="黑体"/>
              <a:cs typeface="黑体"/>
            </a:endParaRPr>
          </a:p>
          <a:p>
            <a:pPr marL="824865">
              <a:lnSpc>
                <a:spcPct val="100000"/>
              </a:lnSpc>
              <a:spcBef>
                <a:spcPts val="335"/>
              </a:spcBef>
            </a:pPr>
            <a:r>
              <a:rPr dirty="0" sz="4000" spc="-5" b="1" i="1">
                <a:solidFill>
                  <a:srgbClr val="0000FF"/>
                </a:solidFill>
                <a:latin typeface="Times New Roman"/>
                <a:cs typeface="Times New Roman"/>
              </a:rPr>
              <a:t>e=</a:t>
            </a:r>
            <a:r>
              <a:rPr dirty="0" sz="4000" spc="-5" b="1" i="1">
                <a:solidFill>
                  <a:srgbClr val="FF3300"/>
                </a:solidFill>
                <a:latin typeface="Times New Roman"/>
                <a:cs typeface="Times New Roman"/>
              </a:rPr>
              <a:t>NBSω</a:t>
            </a:r>
            <a:r>
              <a:rPr dirty="0" sz="4000" spc="-5" b="1">
                <a:solidFill>
                  <a:srgbClr val="0000FF"/>
                </a:solidFill>
                <a:latin typeface="Times New Roman"/>
                <a:cs typeface="Times New Roman"/>
              </a:rPr>
              <a:t>sin</a:t>
            </a:r>
            <a:r>
              <a:rPr dirty="0" sz="4000" spc="-5" b="1" i="1">
                <a:solidFill>
                  <a:srgbClr val="0000FF"/>
                </a:solidFill>
                <a:latin typeface="Times New Roman"/>
                <a:cs typeface="Times New Roman"/>
              </a:rPr>
              <a:t>ωt</a:t>
            </a:r>
            <a:endParaRPr sz="4000">
              <a:latin typeface="Times New Roman"/>
              <a:cs typeface="Times New Roman"/>
            </a:endParaRPr>
          </a:p>
          <a:p>
            <a:pPr marL="1129665">
              <a:lnSpc>
                <a:spcPct val="100000"/>
              </a:lnSpc>
              <a:spcBef>
                <a:spcPts val="630"/>
              </a:spcBef>
            </a:pPr>
            <a:r>
              <a:rPr dirty="0" sz="3600" spc="-5" b="1" i="1">
                <a:solidFill>
                  <a:srgbClr val="FF3300"/>
                </a:solidFill>
                <a:latin typeface="Times New Roman"/>
                <a:cs typeface="Times New Roman"/>
              </a:rPr>
              <a:t>E</a:t>
            </a:r>
            <a:r>
              <a:rPr dirty="0" baseline="-16548" sz="3525" spc="-7" b="1">
                <a:solidFill>
                  <a:srgbClr val="FF3300"/>
                </a:solidFill>
                <a:latin typeface="Times New Roman"/>
                <a:cs typeface="Times New Roman"/>
              </a:rPr>
              <a:t>m</a:t>
            </a:r>
            <a:r>
              <a:rPr dirty="0" sz="3600" spc="-5" b="1">
                <a:solidFill>
                  <a:srgbClr val="FF3300"/>
                </a:solidFill>
                <a:latin typeface="Times New Roman"/>
                <a:cs typeface="Times New Roman"/>
              </a:rPr>
              <a:t>=</a:t>
            </a:r>
            <a:r>
              <a:rPr dirty="0" sz="3600" spc="-5" b="1" i="1">
                <a:solidFill>
                  <a:srgbClr val="FF3300"/>
                </a:solidFill>
                <a:latin typeface="Times New Roman"/>
                <a:cs typeface="Times New Roman"/>
              </a:rPr>
              <a:t>NBSω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07374" y="4705984"/>
            <a:ext cx="118618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03580" algn="l"/>
              </a:tabLst>
            </a:pPr>
            <a:r>
              <a:rPr dirty="0" sz="2800" b="1" i="1">
                <a:latin typeface="Times New Roman"/>
                <a:cs typeface="Times New Roman"/>
              </a:rPr>
              <a:t>R</a:t>
            </a:r>
            <a:r>
              <a:rPr dirty="0" baseline="-16975" sz="2700" spc="22" b="1">
                <a:latin typeface="宋体"/>
                <a:cs typeface="宋体"/>
              </a:rPr>
              <a:t>总</a:t>
            </a:r>
            <a:r>
              <a:rPr dirty="0" baseline="-16975" sz="2700" b="1">
                <a:latin typeface="宋体"/>
                <a:cs typeface="宋体"/>
              </a:rPr>
              <a:t>	</a:t>
            </a:r>
            <a:r>
              <a:rPr dirty="0" sz="2800" b="1" i="1">
                <a:latin typeface="Times New Roman"/>
                <a:cs typeface="Times New Roman"/>
              </a:rPr>
              <a:t>R</a:t>
            </a:r>
            <a:r>
              <a:rPr dirty="0" baseline="-16975" sz="2700" spc="22" b="1">
                <a:latin typeface="宋体"/>
                <a:cs typeface="宋体"/>
              </a:rPr>
              <a:t>总</a:t>
            </a:r>
            <a:endParaRPr baseline="-16975" sz="27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82668" y="4703279"/>
            <a:ext cx="219075" cy="3035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00" spc="20" b="1">
                <a:solidFill>
                  <a:srgbClr val="0000FF"/>
                </a:solidFill>
                <a:latin typeface="Times New Roman"/>
                <a:cs typeface="Times New Roman"/>
              </a:rPr>
              <a:t>m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01673" y="4509604"/>
            <a:ext cx="397891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18159" algn="l"/>
                <a:tab pos="935990" algn="l"/>
                <a:tab pos="3174365" algn="l"/>
              </a:tabLst>
            </a:pPr>
            <a:r>
              <a:rPr dirty="0" sz="2800" spc="-5" b="1" i="1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dirty="0" sz="2800" spc="-5" b="1">
                <a:solidFill>
                  <a:srgbClr val="0000FF"/>
                </a:solidFill>
                <a:latin typeface="Times New Roman"/>
                <a:cs typeface="Times New Roman"/>
              </a:rPr>
              <a:t>=</a:t>
            </a:r>
            <a:r>
              <a:rPr dirty="0" sz="2800" spc="-5" b="1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u="heavy" baseline="35714" sz="4200" spc="-7" b="1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</a:t>
            </a:r>
            <a:r>
              <a:rPr dirty="0" baseline="35714" sz="4200" spc="-7" b="1" i="1">
                <a:latin typeface="Times New Roman"/>
                <a:cs typeface="Times New Roman"/>
              </a:rPr>
              <a:t>	</a:t>
            </a:r>
            <a:r>
              <a:rPr dirty="0" sz="2800" spc="-5" b="1">
                <a:solidFill>
                  <a:srgbClr val="0000FF"/>
                </a:solidFill>
                <a:latin typeface="Times New Roman"/>
                <a:cs typeface="Times New Roman"/>
              </a:rPr>
              <a:t>=</a:t>
            </a:r>
            <a:r>
              <a:rPr dirty="0" sz="2800" spc="-145" b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35714" sz="4200" b="1" i="1">
                <a:latin typeface="Times New Roman"/>
                <a:cs typeface="Times New Roman"/>
              </a:rPr>
              <a:t>E</a:t>
            </a:r>
            <a:r>
              <a:rPr dirty="0" baseline="38580" sz="2700" spc="30" b="1">
                <a:latin typeface="Times New Roman"/>
                <a:cs typeface="Times New Roman"/>
              </a:rPr>
              <a:t>m</a:t>
            </a:r>
            <a:r>
              <a:rPr dirty="0" baseline="38580" sz="2700" spc="-292" b="1"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0000FF"/>
                </a:solidFill>
                <a:latin typeface="Times New Roman"/>
                <a:cs typeface="Times New Roman"/>
              </a:rPr>
              <a:t>sin</a:t>
            </a:r>
            <a:r>
              <a:rPr dirty="0" sz="2800" spc="-5" b="1" i="1">
                <a:solidFill>
                  <a:srgbClr val="0000FF"/>
                </a:solidFill>
                <a:latin typeface="Times New Roman"/>
                <a:cs typeface="Times New Roman"/>
              </a:rPr>
              <a:t>ωt</a:t>
            </a:r>
            <a:r>
              <a:rPr dirty="0" sz="2800" b="1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0000FF"/>
                </a:solidFill>
                <a:latin typeface="Times New Roman"/>
                <a:cs typeface="Times New Roman"/>
              </a:rPr>
              <a:t>=</a:t>
            </a:r>
            <a:r>
              <a:rPr dirty="0" sz="2800" spc="-5" b="1" i="1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dirty="0" sz="2800" b="1" i="1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>
                <a:solidFill>
                  <a:srgbClr val="0000FF"/>
                </a:solidFill>
                <a:latin typeface="Times New Roman"/>
                <a:cs typeface="Times New Roman"/>
              </a:rPr>
              <a:t>sin</a:t>
            </a:r>
            <a:r>
              <a:rPr dirty="0" sz="2800" spc="-5" b="1" i="1">
                <a:solidFill>
                  <a:srgbClr val="0000FF"/>
                </a:solidFill>
                <a:latin typeface="Times New Roman"/>
                <a:cs typeface="Times New Roman"/>
              </a:rPr>
              <a:t>ωt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683751" y="4776990"/>
            <a:ext cx="332105" cy="0"/>
          </a:xfrm>
          <a:custGeom>
            <a:avLst/>
            <a:gdLst/>
            <a:ahLst/>
            <a:cxnLst/>
            <a:rect l="l" t="t" r="r" b="b"/>
            <a:pathLst>
              <a:path w="332105" h="0">
                <a:moveTo>
                  <a:pt x="0" y="0"/>
                </a:moveTo>
                <a:lnTo>
                  <a:pt x="331787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339214" y="5478360"/>
            <a:ext cx="421132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0000FF"/>
                </a:solidFill>
                <a:latin typeface="Times New Roman"/>
                <a:cs typeface="Times New Roman"/>
              </a:rPr>
              <a:t>u</a:t>
            </a:r>
            <a:r>
              <a:rPr dirty="0" sz="2800" spc="-5" b="1">
                <a:solidFill>
                  <a:srgbClr val="0000FF"/>
                </a:solidFill>
                <a:latin typeface="Times New Roman"/>
                <a:cs typeface="Times New Roman"/>
              </a:rPr>
              <a:t>=</a:t>
            </a:r>
            <a:r>
              <a:rPr dirty="0" sz="2800" spc="-5" b="1" i="1">
                <a:solidFill>
                  <a:srgbClr val="0000FF"/>
                </a:solidFill>
                <a:latin typeface="Times New Roman"/>
                <a:cs typeface="Times New Roman"/>
              </a:rPr>
              <a:t>iR </a:t>
            </a:r>
            <a:r>
              <a:rPr dirty="0" sz="2800" spc="-5" b="1">
                <a:solidFill>
                  <a:srgbClr val="0000FF"/>
                </a:solidFill>
                <a:latin typeface="Times New Roman"/>
                <a:cs typeface="Times New Roman"/>
              </a:rPr>
              <a:t>= </a:t>
            </a:r>
            <a:r>
              <a:rPr dirty="0" sz="2800" spc="5" b="1" i="1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dirty="0" baseline="-16975" sz="2700" spc="7" b="1">
                <a:solidFill>
                  <a:srgbClr val="0000FF"/>
                </a:solidFill>
                <a:latin typeface="Times New Roman"/>
                <a:cs typeface="Times New Roman"/>
              </a:rPr>
              <a:t>m </a:t>
            </a:r>
            <a:r>
              <a:rPr dirty="0" sz="2800" spc="-5" b="1" i="1">
                <a:solidFill>
                  <a:srgbClr val="0000FF"/>
                </a:solidFill>
                <a:latin typeface="Times New Roman"/>
                <a:cs typeface="Times New Roman"/>
              </a:rPr>
              <a:t>R</a:t>
            </a:r>
            <a:r>
              <a:rPr dirty="0" sz="2800" spc="-5" b="1">
                <a:solidFill>
                  <a:srgbClr val="0000FF"/>
                </a:solidFill>
                <a:latin typeface="Times New Roman"/>
                <a:cs typeface="Times New Roman"/>
              </a:rPr>
              <a:t>sin</a:t>
            </a:r>
            <a:r>
              <a:rPr dirty="0" sz="2800" spc="-5" b="1" i="1">
                <a:solidFill>
                  <a:srgbClr val="0000FF"/>
                </a:solidFill>
                <a:latin typeface="Times New Roman"/>
                <a:cs typeface="Times New Roman"/>
              </a:rPr>
              <a:t>ωt </a:t>
            </a:r>
            <a:r>
              <a:rPr dirty="0" sz="2800" b="1">
                <a:solidFill>
                  <a:srgbClr val="0000FF"/>
                </a:solidFill>
                <a:latin typeface="Times New Roman"/>
                <a:cs typeface="Times New Roman"/>
              </a:rPr>
              <a:t>=</a:t>
            </a:r>
            <a:r>
              <a:rPr dirty="0" sz="2800" b="1" i="1">
                <a:solidFill>
                  <a:srgbClr val="0000FF"/>
                </a:solidFill>
                <a:latin typeface="Times New Roman"/>
                <a:cs typeface="Times New Roman"/>
              </a:rPr>
              <a:t>U</a:t>
            </a:r>
            <a:r>
              <a:rPr dirty="0" baseline="-16975" sz="2700" b="1">
                <a:solidFill>
                  <a:srgbClr val="0000FF"/>
                </a:solidFill>
                <a:latin typeface="Times New Roman"/>
                <a:cs typeface="Times New Roman"/>
              </a:rPr>
              <a:t>m</a:t>
            </a:r>
            <a:r>
              <a:rPr dirty="0" baseline="-16975" sz="2700" spc="15" b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0000FF"/>
                </a:solidFill>
                <a:latin typeface="Times New Roman"/>
                <a:cs typeface="Times New Roman"/>
              </a:rPr>
              <a:t>sin</a:t>
            </a:r>
            <a:r>
              <a:rPr dirty="0" sz="2800" spc="-5" b="1" i="1">
                <a:solidFill>
                  <a:srgbClr val="0000FF"/>
                </a:solidFill>
                <a:latin typeface="Times New Roman"/>
                <a:cs typeface="Times New Roman"/>
              </a:rPr>
              <a:t>ωt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819643" y="2442972"/>
            <a:ext cx="1242060" cy="353695"/>
          </a:xfrm>
          <a:custGeom>
            <a:avLst/>
            <a:gdLst/>
            <a:ahLst/>
            <a:cxnLst/>
            <a:rect l="l" t="t" r="r" b="b"/>
            <a:pathLst>
              <a:path w="1242059" h="353694">
                <a:moveTo>
                  <a:pt x="0" y="0"/>
                </a:moveTo>
                <a:lnTo>
                  <a:pt x="1242059" y="0"/>
                </a:lnTo>
                <a:lnTo>
                  <a:pt x="1242059" y="353568"/>
                </a:lnTo>
                <a:lnTo>
                  <a:pt x="0" y="35356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981455" y="1068324"/>
            <a:ext cx="5142230" cy="1379220"/>
          </a:xfrm>
          <a:custGeom>
            <a:avLst/>
            <a:gdLst/>
            <a:ahLst/>
            <a:cxnLst/>
            <a:rect l="l" t="t" r="r" b="b"/>
            <a:pathLst>
              <a:path w="5142230" h="1379220">
                <a:moveTo>
                  <a:pt x="5141531" y="571563"/>
                </a:moveTo>
                <a:lnTo>
                  <a:pt x="671131" y="571563"/>
                </a:lnTo>
                <a:lnTo>
                  <a:pt x="670560" y="400812"/>
                </a:lnTo>
                <a:lnTo>
                  <a:pt x="670560" y="114300"/>
                </a:lnTo>
                <a:lnTo>
                  <a:pt x="679862" y="69842"/>
                </a:lnTo>
                <a:lnTo>
                  <a:pt x="704464" y="33523"/>
                </a:lnTo>
                <a:lnTo>
                  <a:pt x="740688" y="9017"/>
                </a:lnTo>
                <a:lnTo>
                  <a:pt x="784860" y="0"/>
                </a:lnTo>
                <a:lnTo>
                  <a:pt x="5027676" y="0"/>
                </a:lnTo>
                <a:lnTo>
                  <a:pt x="5071919" y="9017"/>
                </a:lnTo>
                <a:lnTo>
                  <a:pt x="5108167" y="33523"/>
                </a:lnTo>
                <a:lnTo>
                  <a:pt x="5132744" y="69842"/>
                </a:lnTo>
                <a:lnTo>
                  <a:pt x="5141976" y="114300"/>
                </a:lnTo>
                <a:lnTo>
                  <a:pt x="5141976" y="571500"/>
                </a:lnTo>
                <a:lnTo>
                  <a:pt x="5141531" y="571563"/>
                </a:lnTo>
                <a:close/>
              </a:path>
              <a:path w="5142230" h="1379220">
                <a:moveTo>
                  <a:pt x="5027676" y="685800"/>
                </a:moveTo>
                <a:lnTo>
                  <a:pt x="784860" y="685800"/>
                </a:lnTo>
                <a:lnTo>
                  <a:pt x="740688" y="676854"/>
                </a:lnTo>
                <a:lnTo>
                  <a:pt x="704464" y="652372"/>
                </a:lnTo>
                <a:lnTo>
                  <a:pt x="679862" y="616028"/>
                </a:lnTo>
                <a:lnTo>
                  <a:pt x="670560" y="571500"/>
                </a:lnTo>
                <a:lnTo>
                  <a:pt x="671131" y="571563"/>
                </a:lnTo>
                <a:lnTo>
                  <a:pt x="5141531" y="571563"/>
                </a:lnTo>
                <a:lnTo>
                  <a:pt x="5132556" y="616055"/>
                </a:lnTo>
                <a:lnTo>
                  <a:pt x="5108111" y="652379"/>
                </a:lnTo>
                <a:lnTo>
                  <a:pt x="5071912" y="676855"/>
                </a:lnTo>
                <a:lnTo>
                  <a:pt x="5027676" y="685800"/>
                </a:lnTo>
                <a:close/>
              </a:path>
              <a:path w="5142230" h="1379220">
                <a:moveTo>
                  <a:pt x="0" y="1379220"/>
                </a:moveTo>
                <a:lnTo>
                  <a:pt x="1415795" y="685800"/>
                </a:lnTo>
                <a:lnTo>
                  <a:pt x="2534411" y="685800"/>
                </a:lnTo>
                <a:lnTo>
                  <a:pt x="0" y="1379220"/>
                </a:lnTo>
                <a:close/>
              </a:path>
            </a:pathLst>
          </a:custGeom>
          <a:solidFill>
            <a:srgbClr val="969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21727" y="1032649"/>
            <a:ext cx="8015605" cy="37395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366520">
              <a:lnSpc>
                <a:spcPct val="100000"/>
              </a:lnSpc>
              <a:spcBef>
                <a:spcPts val="105"/>
              </a:spcBef>
            </a:pPr>
            <a:r>
              <a:rPr dirty="0" sz="4400" b="1">
                <a:solidFill>
                  <a:srgbClr val="FF0066"/>
                </a:solidFill>
                <a:latin typeface="华文行楷"/>
                <a:cs typeface="华文行楷"/>
              </a:rPr>
              <a:t>阅读并思考</a:t>
            </a:r>
            <a:endParaRPr sz="4400">
              <a:latin typeface="华文行楷"/>
              <a:cs typeface="华文行楷"/>
            </a:endParaRPr>
          </a:p>
          <a:p>
            <a:pPr marL="473709" indent="-461009">
              <a:lnSpc>
                <a:spcPct val="100000"/>
              </a:lnSpc>
              <a:spcBef>
                <a:spcPts val="4050"/>
              </a:spcBef>
              <a:buSzPct val="97222"/>
              <a:buAutoNum type="arabicPeriod"/>
              <a:tabLst>
                <a:tab pos="473709" algn="l"/>
              </a:tabLst>
            </a:pPr>
            <a:r>
              <a:rPr dirty="0" sz="3600" b="1">
                <a:solidFill>
                  <a:srgbClr val="0000FF"/>
                </a:solidFill>
                <a:latin typeface="宋体"/>
                <a:cs typeface="宋体"/>
              </a:rPr>
              <a:t>什么叫交变电流的周期</a:t>
            </a:r>
            <a:r>
              <a:rPr dirty="0" sz="3600" spc="-15" b="1">
                <a:solidFill>
                  <a:srgbClr val="0000FF"/>
                </a:solidFill>
                <a:latin typeface="宋体"/>
                <a:cs typeface="宋体"/>
              </a:rPr>
              <a:t>?</a:t>
            </a:r>
            <a:endParaRPr sz="3600">
              <a:latin typeface="宋体"/>
              <a:cs typeface="宋体"/>
            </a:endParaRPr>
          </a:p>
          <a:p>
            <a:pPr marL="473709" indent="-461009">
              <a:lnSpc>
                <a:spcPct val="100000"/>
              </a:lnSpc>
              <a:spcBef>
                <a:spcPts val="480"/>
              </a:spcBef>
              <a:buSzPct val="97222"/>
              <a:buAutoNum type="arabicPeriod"/>
              <a:tabLst>
                <a:tab pos="473709" algn="l"/>
              </a:tabLst>
            </a:pPr>
            <a:r>
              <a:rPr dirty="0" sz="3600" b="1">
                <a:solidFill>
                  <a:srgbClr val="0000FF"/>
                </a:solidFill>
                <a:latin typeface="宋体"/>
                <a:cs typeface="宋体"/>
              </a:rPr>
              <a:t>什么叫交变电流的频率</a:t>
            </a:r>
            <a:r>
              <a:rPr dirty="0" sz="3600" spc="-15" b="1">
                <a:solidFill>
                  <a:srgbClr val="0000FF"/>
                </a:solidFill>
                <a:latin typeface="宋体"/>
                <a:cs typeface="宋体"/>
              </a:rPr>
              <a:t>?</a:t>
            </a:r>
            <a:endParaRPr sz="3600">
              <a:latin typeface="宋体"/>
              <a:cs typeface="宋体"/>
            </a:endParaRPr>
          </a:p>
          <a:p>
            <a:pPr marL="472440" indent="-459740">
              <a:lnSpc>
                <a:spcPct val="100000"/>
              </a:lnSpc>
              <a:spcBef>
                <a:spcPts val="930"/>
              </a:spcBef>
              <a:buSzPct val="93333"/>
              <a:buFont typeface=""/>
              <a:buAutoNum type="arabicPeriod"/>
              <a:tabLst>
                <a:tab pos="472440" algn="l"/>
              </a:tabLst>
            </a:pPr>
            <a:r>
              <a:rPr dirty="0" sz="3750" spc="-1140" b="1" i="1">
                <a:solidFill>
                  <a:srgbClr val="0000FF"/>
                </a:solidFill>
                <a:latin typeface="宋体"/>
                <a:cs typeface="宋体"/>
              </a:rPr>
              <a:t>ω</a:t>
            </a:r>
            <a:r>
              <a:rPr dirty="0" sz="3600" b="1">
                <a:solidFill>
                  <a:srgbClr val="0000FF"/>
                </a:solidFill>
                <a:latin typeface="宋体"/>
                <a:cs typeface="宋体"/>
              </a:rPr>
              <a:t>的物理意义是什么</a:t>
            </a:r>
            <a:r>
              <a:rPr dirty="0" sz="3600" spc="-15" b="1">
                <a:solidFill>
                  <a:srgbClr val="0000FF"/>
                </a:solidFill>
                <a:latin typeface="宋体"/>
                <a:cs typeface="宋体"/>
              </a:rPr>
              <a:t>？</a:t>
            </a:r>
            <a:endParaRPr sz="3600">
              <a:latin typeface="宋体"/>
              <a:cs typeface="宋体"/>
            </a:endParaRPr>
          </a:p>
          <a:p>
            <a:pPr marL="469900" indent="-457200">
              <a:lnSpc>
                <a:spcPct val="100000"/>
              </a:lnSpc>
              <a:spcBef>
                <a:spcPts val="1035"/>
              </a:spcBef>
              <a:buFont typeface="Times New Roman"/>
              <a:buAutoNum type="arabicPeriod"/>
              <a:tabLst>
                <a:tab pos="469900" algn="l"/>
              </a:tabLst>
            </a:pPr>
            <a:r>
              <a:rPr dirty="0" sz="3600" b="1">
                <a:solidFill>
                  <a:srgbClr val="0000FF"/>
                </a:solidFill>
                <a:latin typeface="宋体"/>
                <a:cs typeface="宋体"/>
              </a:rPr>
              <a:t>交变电流的周期</a:t>
            </a:r>
            <a:r>
              <a:rPr dirty="0" sz="3600" b="1" i="1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  <a:r>
              <a:rPr dirty="0" sz="3600" b="1">
                <a:solidFill>
                  <a:srgbClr val="0000FF"/>
                </a:solidFill>
                <a:latin typeface="宋体"/>
                <a:cs typeface="宋体"/>
              </a:rPr>
              <a:t>、频率</a:t>
            </a:r>
            <a:r>
              <a:rPr dirty="0" sz="3600" b="1" i="1">
                <a:solidFill>
                  <a:srgbClr val="0000FF"/>
                </a:solidFill>
                <a:latin typeface="Times New Roman"/>
                <a:cs typeface="Times New Roman"/>
              </a:rPr>
              <a:t>f</a:t>
            </a:r>
            <a:r>
              <a:rPr dirty="0" sz="3600" spc="-80" b="1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3600" b="1">
                <a:solidFill>
                  <a:srgbClr val="0000FF"/>
                </a:solidFill>
                <a:latin typeface="宋体"/>
                <a:cs typeface="宋体"/>
              </a:rPr>
              <a:t>和</a:t>
            </a:r>
            <a:r>
              <a:rPr dirty="0" sz="3600" b="1" i="1">
                <a:solidFill>
                  <a:srgbClr val="0000FF"/>
                </a:solidFill>
                <a:latin typeface="Times New Roman"/>
                <a:cs typeface="Times New Roman"/>
              </a:rPr>
              <a:t>ω</a:t>
            </a:r>
            <a:r>
              <a:rPr dirty="0" sz="3600" b="1">
                <a:solidFill>
                  <a:srgbClr val="0000FF"/>
                </a:solidFill>
                <a:latin typeface="宋体"/>
                <a:cs typeface="宋体"/>
              </a:rPr>
              <a:t>的关系</a:t>
            </a:r>
            <a:r>
              <a:rPr dirty="0" sz="3600" b="1">
                <a:solidFill>
                  <a:srgbClr val="0000FF"/>
                </a:solidFill>
                <a:latin typeface="Times New Roman"/>
                <a:cs typeface="Times New Roman"/>
              </a:rPr>
              <a:t>?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1840" y="0"/>
            <a:ext cx="2058670" cy="634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b="1" i="1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 b="1" i="1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23577" y="134620"/>
            <a:ext cx="4307840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i="0">
                <a:solidFill>
                  <a:srgbClr val="FF0000"/>
                </a:solidFill>
                <a:latin typeface="黑体"/>
                <a:cs typeface="黑体"/>
              </a:rPr>
              <a:t>一、周期和频</a:t>
            </a:r>
            <a:r>
              <a:rPr dirty="0" sz="4800" spc="-20" i="0">
                <a:solidFill>
                  <a:srgbClr val="FF0000"/>
                </a:solidFill>
                <a:latin typeface="黑体"/>
                <a:cs typeface="黑体"/>
              </a:rPr>
              <a:t>率</a:t>
            </a:r>
            <a:endParaRPr sz="4800">
              <a:latin typeface="黑体"/>
              <a:cs typeface="黑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2590" y="844550"/>
            <a:ext cx="8746490" cy="4063365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1701800">
              <a:lnSpc>
                <a:spcPct val="100000"/>
              </a:lnSpc>
              <a:spcBef>
                <a:spcPts val="720"/>
              </a:spcBef>
            </a:pPr>
            <a:r>
              <a:rPr dirty="0" sz="3600" b="1">
                <a:latin typeface="黑体"/>
                <a:cs typeface="黑体"/>
              </a:rPr>
              <a:t>物理意义：表示交流电</a:t>
            </a:r>
            <a:r>
              <a:rPr dirty="0" sz="3600" b="1">
                <a:solidFill>
                  <a:srgbClr val="0000FF"/>
                </a:solidFill>
                <a:latin typeface="黑体"/>
                <a:cs typeface="黑体"/>
              </a:rPr>
              <a:t>变化的快</a:t>
            </a:r>
            <a:r>
              <a:rPr dirty="0" sz="3600" spc="-15" b="1">
                <a:solidFill>
                  <a:srgbClr val="0000FF"/>
                </a:solidFill>
                <a:latin typeface="黑体"/>
                <a:cs typeface="黑体"/>
              </a:rPr>
              <a:t>慢</a:t>
            </a:r>
            <a:endParaRPr sz="3600">
              <a:latin typeface="黑体"/>
              <a:cs typeface="黑体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dirty="0" sz="3600" b="1">
                <a:solidFill>
                  <a:srgbClr val="0000FF"/>
                </a:solidFill>
                <a:latin typeface="黑体"/>
                <a:cs typeface="黑体"/>
              </a:rPr>
              <a:t>1、周期</a:t>
            </a:r>
            <a:r>
              <a:rPr dirty="0" sz="3600" spc="-10" b="1" i="1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  <a:r>
              <a:rPr dirty="0" sz="3600" spc="-10" b="1">
                <a:solidFill>
                  <a:srgbClr val="0000FF"/>
                </a:solidFill>
                <a:latin typeface="黑体"/>
                <a:cs typeface="黑体"/>
              </a:rPr>
              <a:t>：</a:t>
            </a:r>
            <a:endParaRPr sz="3600">
              <a:latin typeface="黑体"/>
              <a:cs typeface="黑体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3600" b="1">
                <a:latin typeface="黑体"/>
                <a:cs typeface="黑体"/>
              </a:rPr>
              <a:t>交变电流完成</a:t>
            </a:r>
            <a:r>
              <a:rPr dirty="0" sz="3600" b="1">
                <a:solidFill>
                  <a:srgbClr val="0000FF"/>
                </a:solidFill>
                <a:latin typeface="黑体"/>
                <a:cs typeface="黑体"/>
              </a:rPr>
              <a:t>一次周期性变化</a:t>
            </a:r>
            <a:r>
              <a:rPr dirty="0" sz="3600" b="1">
                <a:latin typeface="黑体"/>
                <a:cs typeface="黑体"/>
              </a:rPr>
              <a:t>所需的时间</a:t>
            </a:r>
            <a:r>
              <a:rPr dirty="0" sz="3600" spc="-15" b="1">
                <a:latin typeface="黑体"/>
                <a:cs typeface="黑体"/>
              </a:rPr>
              <a:t>。</a:t>
            </a:r>
            <a:endParaRPr sz="3600">
              <a:latin typeface="黑体"/>
              <a:cs typeface="黑体"/>
            </a:endParaRPr>
          </a:p>
          <a:p>
            <a:pPr marL="23495">
              <a:lnSpc>
                <a:spcPct val="100000"/>
              </a:lnSpc>
              <a:spcBef>
                <a:spcPts val="420"/>
              </a:spcBef>
            </a:pPr>
            <a:r>
              <a:rPr dirty="0" sz="3600" b="1">
                <a:solidFill>
                  <a:srgbClr val="0000FF"/>
                </a:solidFill>
                <a:latin typeface="黑体"/>
                <a:cs typeface="黑体"/>
              </a:rPr>
              <a:t>2、频</a:t>
            </a:r>
            <a:r>
              <a:rPr dirty="0" sz="3600" spc="-15" b="1">
                <a:solidFill>
                  <a:srgbClr val="0000FF"/>
                </a:solidFill>
                <a:latin typeface="黑体"/>
                <a:cs typeface="黑体"/>
              </a:rPr>
              <a:t>率</a:t>
            </a:r>
            <a:r>
              <a:rPr dirty="0" sz="3600" spc="10" b="1">
                <a:solidFill>
                  <a:srgbClr val="0000FF"/>
                </a:solidFill>
                <a:latin typeface="黑体"/>
                <a:cs typeface="黑体"/>
              </a:rPr>
              <a:t> </a:t>
            </a:r>
            <a:r>
              <a:rPr dirty="0" sz="3600" b="1" i="1">
                <a:solidFill>
                  <a:srgbClr val="0000FF"/>
                </a:solidFill>
                <a:latin typeface="Times New Roman"/>
                <a:cs typeface="Times New Roman"/>
              </a:rPr>
              <a:t>f</a:t>
            </a:r>
            <a:r>
              <a:rPr dirty="0" sz="3600" spc="-5" b="1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3600" spc="-15" b="1">
                <a:solidFill>
                  <a:srgbClr val="0000FF"/>
                </a:solidFill>
                <a:latin typeface="黑体"/>
                <a:cs typeface="黑体"/>
              </a:rPr>
              <a:t>：</a:t>
            </a:r>
            <a:endParaRPr sz="3600">
              <a:latin typeface="黑体"/>
              <a:cs typeface="黑体"/>
            </a:endParaRPr>
          </a:p>
          <a:p>
            <a:pPr marL="484505" marR="452755" indent="-461009">
              <a:lnSpc>
                <a:spcPts val="4160"/>
              </a:lnSpc>
              <a:spcBef>
                <a:spcPts val="285"/>
              </a:spcBef>
            </a:pPr>
            <a:r>
              <a:rPr dirty="0" sz="3600" b="1">
                <a:latin typeface="黑体"/>
                <a:cs typeface="黑体"/>
              </a:rPr>
              <a:t>交变电流一秒内完成</a:t>
            </a:r>
            <a:r>
              <a:rPr dirty="0" sz="3600" b="1">
                <a:solidFill>
                  <a:srgbClr val="0000FF"/>
                </a:solidFill>
                <a:latin typeface="黑体"/>
                <a:cs typeface="黑体"/>
              </a:rPr>
              <a:t>周期性变化</a:t>
            </a:r>
            <a:r>
              <a:rPr dirty="0" sz="3600" b="1">
                <a:latin typeface="黑体"/>
                <a:cs typeface="黑体"/>
              </a:rPr>
              <a:t>的次数</a:t>
            </a:r>
            <a:r>
              <a:rPr dirty="0" sz="3600" spc="-15" b="1">
                <a:latin typeface="黑体"/>
                <a:cs typeface="黑体"/>
              </a:rPr>
              <a:t>。 </a:t>
            </a:r>
            <a:r>
              <a:rPr dirty="0" sz="3600" b="1">
                <a:solidFill>
                  <a:srgbClr val="0000FF"/>
                </a:solidFill>
                <a:latin typeface="黑体"/>
                <a:cs typeface="黑体"/>
              </a:rPr>
              <a:t>角频率</a:t>
            </a:r>
            <a:r>
              <a:rPr dirty="0" sz="3600" b="1" i="1">
                <a:solidFill>
                  <a:srgbClr val="0000FF"/>
                </a:solidFill>
                <a:latin typeface="Times New Roman"/>
                <a:cs typeface="Times New Roman"/>
              </a:rPr>
              <a:t>ω</a:t>
            </a:r>
            <a:r>
              <a:rPr dirty="0" sz="3600" spc="-5" b="1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3600" spc="-15" b="1">
                <a:solidFill>
                  <a:srgbClr val="0000FF"/>
                </a:solidFill>
                <a:latin typeface="黑体"/>
                <a:cs typeface="黑体"/>
              </a:rPr>
              <a:t>：</a:t>
            </a:r>
            <a:endParaRPr sz="3600">
              <a:latin typeface="黑体"/>
              <a:cs typeface="黑体"/>
            </a:endParaRPr>
          </a:p>
          <a:p>
            <a:pPr marL="23495">
              <a:lnSpc>
                <a:spcPts val="4230"/>
              </a:lnSpc>
            </a:pPr>
            <a:r>
              <a:rPr dirty="0" sz="3600" b="1">
                <a:latin typeface="黑体"/>
                <a:cs typeface="黑体"/>
              </a:rPr>
              <a:t>线圈在磁场中转动的</a:t>
            </a:r>
            <a:r>
              <a:rPr dirty="0" sz="3600" b="1">
                <a:solidFill>
                  <a:srgbClr val="0000FF"/>
                </a:solidFill>
                <a:latin typeface="黑体"/>
                <a:cs typeface="黑体"/>
              </a:rPr>
              <a:t>角速</a:t>
            </a:r>
            <a:r>
              <a:rPr dirty="0" sz="3600" spc="-15" b="1">
                <a:solidFill>
                  <a:srgbClr val="0000FF"/>
                </a:solidFill>
                <a:latin typeface="黑体"/>
                <a:cs typeface="黑体"/>
              </a:rPr>
              <a:t>度</a:t>
            </a:r>
            <a:endParaRPr sz="3600">
              <a:latin typeface="黑体"/>
              <a:cs typeface="黑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6727" y="5020309"/>
            <a:ext cx="209042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solidFill>
                  <a:srgbClr val="0000FF"/>
                </a:solidFill>
                <a:latin typeface="黑体"/>
                <a:cs typeface="黑体"/>
              </a:rPr>
              <a:t>3</a:t>
            </a:r>
            <a:r>
              <a:rPr dirty="0" sz="3600" b="1">
                <a:solidFill>
                  <a:srgbClr val="0000FF"/>
                </a:solidFill>
                <a:latin typeface="黑体"/>
                <a:cs typeface="黑体"/>
              </a:rPr>
              <a:t>、关系</a:t>
            </a:r>
            <a:r>
              <a:rPr dirty="0" sz="3600" spc="-15" b="1">
                <a:solidFill>
                  <a:srgbClr val="0000FF"/>
                </a:solidFill>
                <a:latin typeface="黑体"/>
                <a:cs typeface="黑体"/>
              </a:rPr>
              <a:t>：</a:t>
            </a:r>
            <a:endParaRPr sz="3600">
              <a:latin typeface="黑体"/>
              <a:cs typeface="黑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809616" y="5491022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 h="0">
                <a:moveTo>
                  <a:pt x="0" y="0"/>
                </a:moveTo>
                <a:lnTo>
                  <a:pt x="449249" y="0"/>
                </a:lnTo>
              </a:path>
            </a:pathLst>
          </a:custGeom>
          <a:ln w="2319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00130" y="5494820"/>
            <a:ext cx="367665" cy="6229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900" spc="520" i="1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  <a:endParaRPr sz="39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53484" y="5106454"/>
            <a:ext cx="1346835" cy="6229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464820" algn="l"/>
                <a:tab pos="1026160" algn="l"/>
              </a:tabLst>
            </a:pPr>
            <a:r>
              <a:rPr dirty="0" sz="3900" spc="260" i="1">
                <a:solidFill>
                  <a:srgbClr val="0000FF"/>
                </a:solidFill>
                <a:latin typeface="Times New Roman"/>
                <a:cs typeface="Times New Roman"/>
              </a:rPr>
              <a:t>f</a:t>
            </a:r>
            <a:r>
              <a:rPr dirty="0" sz="3900" spc="260" i="1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sz="3900" spc="515">
                <a:solidFill>
                  <a:srgbClr val="0000FF"/>
                </a:solidFill>
                <a:latin typeface="Symbol"/>
                <a:cs typeface="Symbol"/>
              </a:rPr>
              <a:t></a:t>
            </a:r>
            <a:r>
              <a:rPr dirty="0" sz="3900" spc="515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baseline="34900" sz="5850" spc="697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endParaRPr baseline="34900" sz="58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521041" y="5502033"/>
            <a:ext cx="692150" cy="0"/>
          </a:xfrm>
          <a:custGeom>
            <a:avLst/>
            <a:gdLst/>
            <a:ahLst/>
            <a:cxnLst/>
            <a:rect l="l" t="t" r="r" b="b"/>
            <a:pathLst>
              <a:path w="692150" h="0">
                <a:moveTo>
                  <a:pt x="0" y="0"/>
                </a:moveTo>
                <a:lnTo>
                  <a:pt x="692010" y="0"/>
                </a:lnTo>
              </a:path>
            </a:pathLst>
          </a:custGeom>
          <a:ln w="22402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7657033" y="5506529"/>
            <a:ext cx="327025" cy="6578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150" spc="60" i="1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  <a:endParaRPr sz="41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00374" y="5067041"/>
            <a:ext cx="3199765" cy="6921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350" spc="-65" i="1">
                <a:solidFill>
                  <a:srgbClr val="0000FF"/>
                </a:solidFill>
                <a:latin typeface="Symbol"/>
                <a:cs typeface="Symbol"/>
              </a:rPr>
              <a:t></a:t>
            </a:r>
            <a:r>
              <a:rPr dirty="0" sz="4150" spc="-65">
                <a:solidFill>
                  <a:srgbClr val="0000FF"/>
                </a:solidFill>
                <a:latin typeface="Symbol"/>
                <a:cs typeface="Symbol"/>
              </a:rPr>
              <a:t></a:t>
            </a:r>
            <a:r>
              <a:rPr dirty="0" sz="4150" spc="-6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34805" sz="6225" spc="-359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dirty="0" baseline="33205" sz="6525" spc="-359" i="1">
                <a:solidFill>
                  <a:srgbClr val="0000FF"/>
                </a:solidFill>
                <a:latin typeface="Symbol"/>
                <a:cs typeface="Symbol"/>
              </a:rPr>
              <a:t></a:t>
            </a:r>
            <a:r>
              <a:rPr dirty="0" baseline="33205" sz="6525" spc="-359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4150" spc="60">
                <a:solidFill>
                  <a:srgbClr val="0000FF"/>
                </a:solidFill>
                <a:latin typeface="Symbol"/>
                <a:cs typeface="Symbol"/>
              </a:rPr>
              <a:t></a:t>
            </a:r>
            <a:r>
              <a:rPr dirty="0" sz="4150" spc="16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4150" spc="-8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dirty="0" sz="4350" spc="-80" i="1">
                <a:solidFill>
                  <a:srgbClr val="0000FF"/>
                </a:solidFill>
                <a:latin typeface="Symbol"/>
                <a:cs typeface="Symbol"/>
              </a:rPr>
              <a:t></a:t>
            </a:r>
            <a:r>
              <a:rPr dirty="0" sz="4150" spc="-80" i="1">
                <a:solidFill>
                  <a:srgbClr val="0000FF"/>
                </a:solidFill>
                <a:latin typeface="Times New Roman"/>
                <a:cs typeface="Times New Roman"/>
              </a:rPr>
              <a:t>f</a:t>
            </a:r>
            <a:endParaRPr sz="41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76983" y="6041135"/>
            <a:ext cx="6670675" cy="646430"/>
          </a:xfrm>
          <a:prstGeom prst="rect">
            <a:avLst/>
          </a:prstGeom>
          <a:solidFill>
            <a:srgbClr val="5B9BD4"/>
          </a:solidFill>
        </p:spPr>
        <p:txBody>
          <a:bodyPr wrap="square" lIns="0" tIns="1905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150"/>
              </a:spcBef>
            </a:pPr>
            <a:r>
              <a:rPr dirty="0" sz="3600" b="1">
                <a:solidFill>
                  <a:srgbClr val="FF0000"/>
                </a:solidFill>
                <a:latin typeface="黑体"/>
                <a:cs typeface="黑体"/>
              </a:rPr>
              <a:t>一个周期内电流方向改变两次</a:t>
            </a:r>
            <a:r>
              <a:rPr dirty="0" sz="3600" spc="-15" b="1">
                <a:solidFill>
                  <a:srgbClr val="FF0000"/>
                </a:solidFill>
                <a:latin typeface="黑体"/>
                <a:cs typeface="黑体"/>
              </a:rPr>
              <a:t>。</a:t>
            </a:r>
            <a:endParaRPr sz="36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4389" y="1447891"/>
            <a:ext cx="7248525" cy="1269365"/>
          </a:xfrm>
          <a:prstGeom prst="rect">
            <a:avLst/>
          </a:prstGeom>
        </p:spPr>
        <p:txBody>
          <a:bodyPr wrap="square" lIns="0" tIns="1219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60"/>
              </a:spcBef>
              <a:tabLst>
                <a:tab pos="1384935" algn="l"/>
              </a:tabLst>
            </a:pPr>
            <a:r>
              <a:rPr dirty="0" sz="3600" b="1" i="1">
                <a:solidFill>
                  <a:srgbClr val="990033"/>
                </a:solidFill>
                <a:latin typeface="华文楷体"/>
                <a:cs typeface="华文楷体"/>
              </a:rPr>
              <a:t>例题</a:t>
            </a:r>
            <a:r>
              <a:rPr dirty="0" sz="3600" b="1">
                <a:solidFill>
                  <a:srgbClr val="990033"/>
                </a:solidFill>
                <a:latin typeface="Times New Roman"/>
                <a:cs typeface="Times New Roman"/>
              </a:rPr>
              <a:t>1	</a:t>
            </a:r>
            <a:r>
              <a:rPr dirty="0" sz="3200" b="1" i="1">
                <a:solidFill>
                  <a:srgbClr val="000099"/>
                </a:solidFill>
                <a:latin typeface="华文楷体"/>
                <a:cs typeface="华文楷体"/>
              </a:rPr>
              <a:t>某发电机产生的电动势为</a:t>
            </a:r>
            <a:r>
              <a:rPr dirty="0" sz="3200" spc="-25" b="1" i="1">
                <a:solidFill>
                  <a:srgbClr val="000099"/>
                </a:solidFill>
                <a:latin typeface="华文楷体"/>
                <a:cs typeface="华文楷体"/>
              </a:rPr>
              <a:t> </a:t>
            </a:r>
            <a:r>
              <a:rPr dirty="0" sz="3200" b="1" i="1">
                <a:solidFill>
                  <a:srgbClr val="000099"/>
                </a:solidFill>
                <a:latin typeface="Times New Roman"/>
                <a:cs typeface="Times New Roman"/>
              </a:rPr>
              <a:t>u</a:t>
            </a:r>
            <a:r>
              <a:rPr dirty="0" sz="3200" spc="-25" b="1" i="1">
                <a:solidFill>
                  <a:srgbClr val="000099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000099"/>
                </a:solidFill>
                <a:latin typeface="Times New Roman"/>
                <a:cs typeface="Times New Roman"/>
              </a:rPr>
              <a:t>=</a:t>
            </a:r>
            <a:r>
              <a:rPr dirty="0" sz="3200" spc="-25" b="1">
                <a:solidFill>
                  <a:srgbClr val="000099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000099"/>
                </a:solidFill>
                <a:latin typeface="Times New Roman"/>
                <a:cs typeface="Times New Roman"/>
              </a:rPr>
              <a:t>220</a:t>
            </a:r>
            <a:endParaRPr sz="32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770"/>
              </a:spcBef>
            </a:pPr>
            <a:r>
              <a:rPr dirty="0" sz="3200" b="1" i="1">
                <a:solidFill>
                  <a:srgbClr val="000099"/>
                </a:solidFill>
                <a:latin typeface="华文楷体"/>
                <a:cs typeface="华文楷体"/>
              </a:rPr>
              <a:t>求周期、频率和线圈转动的角速度。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162049" y="1944014"/>
            <a:ext cx="45720" cy="25400"/>
          </a:xfrm>
          <a:custGeom>
            <a:avLst/>
            <a:gdLst/>
            <a:ahLst/>
            <a:cxnLst/>
            <a:rect l="l" t="t" r="r" b="b"/>
            <a:pathLst>
              <a:path w="45720" h="25400">
                <a:moveTo>
                  <a:pt x="0" y="24853"/>
                </a:moveTo>
                <a:lnTo>
                  <a:pt x="45338" y="0"/>
                </a:lnTo>
              </a:path>
            </a:pathLst>
          </a:custGeom>
          <a:ln w="31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207387" y="1944014"/>
            <a:ext cx="104775" cy="177800"/>
          </a:xfrm>
          <a:custGeom>
            <a:avLst/>
            <a:gdLst/>
            <a:ahLst/>
            <a:cxnLst/>
            <a:rect l="l" t="t" r="r" b="b"/>
            <a:pathLst>
              <a:path w="104775" h="177800">
                <a:moveTo>
                  <a:pt x="0" y="0"/>
                </a:moveTo>
                <a:lnTo>
                  <a:pt x="104292" y="177558"/>
                </a:lnTo>
              </a:path>
            </a:pathLst>
          </a:custGeom>
          <a:ln w="31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311680" y="1649260"/>
            <a:ext cx="116205" cy="472440"/>
          </a:xfrm>
          <a:custGeom>
            <a:avLst/>
            <a:gdLst/>
            <a:ahLst/>
            <a:cxnLst/>
            <a:rect l="l" t="t" r="r" b="b"/>
            <a:pathLst>
              <a:path w="116204" h="472439">
                <a:moveTo>
                  <a:pt x="0" y="472313"/>
                </a:moveTo>
                <a:lnTo>
                  <a:pt x="115633" y="0"/>
                </a:lnTo>
              </a:path>
            </a:pathLst>
          </a:custGeom>
          <a:ln w="31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427313" y="1649260"/>
            <a:ext cx="250825" cy="0"/>
          </a:xfrm>
          <a:custGeom>
            <a:avLst/>
            <a:gdLst/>
            <a:ahLst/>
            <a:cxnLst/>
            <a:rect l="l" t="t" r="r" b="b"/>
            <a:pathLst>
              <a:path w="250825" h="0">
                <a:moveTo>
                  <a:pt x="0" y="0"/>
                </a:moveTo>
                <a:lnTo>
                  <a:pt x="250520" y="0"/>
                </a:lnTo>
              </a:path>
            </a:pathLst>
          </a:custGeom>
          <a:ln w="31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158645" y="1638604"/>
            <a:ext cx="519430" cy="483234"/>
          </a:xfrm>
          <a:custGeom>
            <a:avLst/>
            <a:gdLst/>
            <a:ahLst/>
            <a:cxnLst/>
            <a:rect l="l" t="t" r="r" b="b"/>
            <a:pathLst>
              <a:path w="519429" h="483235">
                <a:moveTo>
                  <a:pt x="175915" y="435622"/>
                </a:moveTo>
                <a:lnTo>
                  <a:pt x="154165" y="435622"/>
                </a:lnTo>
                <a:lnTo>
                  <a:pt x="260730" y="0"/>
                </a:lnTo>
                <a:lnTo>
                  <a:pt x="519188" y="0"/>
                </a:lnTo>
                <a:lnTo>
                  <a:pt x="519188" y="22491"/>
                </a:lnTo>
                <a:lnTo>
                  <a:pt x="276605" y="22491"/>
                </a:lnTo>
                <a:lnTo>
                  <a:pt x="175915" y="435622"/>
                </a:lnTo>
                <a:close/>
              </a:path>
              <a:path w="519429" h="483235">
                <a:moveTo>
                  <a:pt x="6794" y="337362"/>
                </a:moveTo>
                <a:lnTo>
                  <a:pt x="0" y="324345"/>
                </a:lnTo>
                <a:lnTo>
                  <a:pt x="60083" y="290017"/>
                </a:lnTo>
                <a:lnTo>
                  <a:pt x="79975" y="320801"/>
                </a:lnTo>
                <a:lnTo>
                  <a:pt x="37401" y="320801"/>
                </a:lnTo>
                <a:lnTo>
                  <a:pt x="6794" y="337362"/>
                </a:lnTo>
                <a:close/>
              </a:path>
              <a:path w="519429" h="483235">
                <a:moveTo>
                  <a:pt x="164376" y="482968"/>
                </a:moveTo>
                <a:lnTo>
                  <a:pt x="142836" y="482968"/>
                </a:lnTo>
                <a:lnTo>
                  <a:pt x="37401" y="320801"/>
                </a:lnTo>
                <a:lnTo>
                  <a:pt x="79975" y="320801"/>
                </a:lnTo>
                <a:lnTo>
                  <a:pt x="154165" y="435622"/>
                </a:lnTo>
                <a:lnTo>
                  <a:pt x="175915" y="435622"/>
                </a:lnTo>
                <a:lnTo>
                  <a:pt x="164376" y="482968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8433879" y="1560677"/>
            <a:ext cx="2706370" cy="5702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448309" algn="l"/>
              </a:tabLst>
            </a:pPr>
            <a:r>
              <a:rPr dirty="0" baseline="-7824" sz="5325" spc="-15">
                <a:solidFill>
                  <a:srgbClr val="0000FF"/>
                </a:solidFill>
                <a:latin typeface="Times New Roman"/>
                <a:cs typeface="Times New Roman"/>
              </a:rPr>
              <a:t>2	</a:t>
            </a:r>
            <a:r>
              <a:rPr dirty="0" sz="3200" spc="-5" b="1">
                <a:solidFill>
                  <a:srgbClr val="000099"/>
                </a:solidFill>
                <a:latin typeface="Times New Roman"/>
                <a:cs typeface="Times New Roman"/>
              </a:rPr>
              <a:t>sin100π</a:t>
            </a:r>
            <a:r>
              <a:rPr dirty="0" sz="3200" spc="-5" b="1" i="1">
                <a:solidFill>
                  <a:srgbClr val="000099"/>
                </a:solidFill>
                <a:latin typeface="Times New Roman"/>
                <a:cs typeface="Times New Roman"/>
              </a:rPr>
              <a:t>t</a:t>
            </a:r>
            <a:r>
              <a:rPr dirty="0" sz="3200" spc="-70" b="1" i="1">
                <a:solidFill>
                  <a:srgbClr val="000099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000099"/>
                </a:solidFill>
                <a:latin typeface="Times New Roman"/>
                <a:cs typeface="Times New Roman"/>
              </a:rPr>
              <a:t>V</a:t>
            </a:r>
            <a:r>
              <a:rPr dirty="0" sz="3200" b="1" i="1">
                <a:solidFill>
                  <a:srgbClr val="000099"/>
                </a:solidFill>
                <a:latin typeface="华文楷体"/>
                <a:cs typeface="华文楷体"/>
              </a:rPr>
              <a:t>。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03901" y="2781748"/>
            <a:ext cx="3266440" cy="708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450" spc="-130" i="1">
                <a:solidFill>
                  <a:srgbClr val="0000FF"/>
                </a:solidFill>
                <a:latin typeface="Symbol"/>
                <a:cs typeface="Symbol"/>
              </a:rPr>
              <a:t></a:t>
            </a:r>
            <a:r>
              <a:rPr dirty="0" sz="4250" spc="-130">
                <a:solidFill>
                  <a:srgbClr val="0000FF"/>
                </a:solidFill>
                <a:latin typeface="Symbol"/>
                <a:cs typeface="Symbol"/>
              </a:rPr>
              <a:t></a:t>
            </a:r>
            <a:r>
              <a:rPr dirty="0" sz="4250" spc="-5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4250" spc="-75">
                <a:solidFill>
                  <a:srgbClr val="0000FF"/>
                </a:solidFill>
                <a:latin typeface="Times New Roman"/>
                <a:cs typeface="Times New Roman"/>
              </a:rPr>
              <a:t>100</a:t>
            </a:r>
            <a:r>
              <a:rPr dirty="0" sz="4450" spc="-75" i="1">
                <a:solidFill>
                  <a:srgbClr val="0000FF"/>
                </a:solidFill>
                <a:latin typeface="Symbol"/>
                <a:cs typeface="Symbol"/>
              </a:rPr>
              <a:t></a:t>
            </a:r>
            <a:r>
              <a:rPr dirty="0" sz="4250" spc="-75">
                <a:solidFill>
                  <a:srgbClr val="0000FF"/>
                </a:solidFill>
                <a:latin typeface="Times New Roman"/>
                <a:cs typeface="Times New Roman"/>
              </a:rPr>
              <a:t>rad/s</a:t>
            </a:r>
            <a:endParaRPr sz="42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627782" y="4406201"/>
            <a:ext cx="616585" cy="0"/>
          </a:xfrm>
          <a:custGeom>
            <a:avLst/>
            <a:gdLst/>
            <a:ahLst/>
            <a:cxnLst/>
            <a:rect l="l" t="t" r="r" b="b"/>
            <a:pathLst>
              <a:path w="616585" h="0">
                <a:moveTo>
                  <a:pt x="0" y="0"/>
                </a:moveTo>
                <a:lnTo>
                  <a:pt x="616127" y="0"/>
                </a:lnTo>
              </a:path>
            </a:pathLst>
          </a:custGeom>
          <a:ln w="23876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775599" y="4013104"/>
            <a:ext cx="3202305" cy="625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997200" algn="l"/>
              </a:tabLst>
            </a:pPr>
            <a:r>
              <a:rPr dirty="0" sz="3700" spc="95" i="1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  <a:r>
              <a:rPr dirty="0" sz="3700" spc="434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3700" spc="95">
                <a:solidFill>
                  <a:srgbClr val="0000FF"/>
                </a:solidFill>
                <a:latin typeface="Symbol"/>
                <a:cs typeface="Symbol"/>
              </a:rPr>
              <a:t></a:t>
            </a:r>
            <a:r>
              <a:rPr dirty="0" sz="3700" spc="28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35285" sz="5550" spc="-562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dirty="0" baseline="33475" sz="5850" spc="-22" i="1">
                <a:solidFill>
                  <a:srgbClr val="0000FF"/>
                </a:solidFill>
                <a:latin typeface="Symbol"/>
                <a:cs typeface="Symbol"/>
              </a:rPr>
              <a:t></a:t>
            </a:r>
            <a:r>
              <a:rPr dirty="0" baseline="33475" sz="5850" spc="-757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3700" spc="95">
                <a:solidFill>
                  <a:srgbClr val="0000FF"/>
                </a:solidFill>
                <a:latin typeface="Symbol"/>
                <a:cs typeface="Symbol"/>
              </a:rPr>
              <a:t></a:t>
            </a:r>
            <a:r>
              <a:rPr dirty="0" sz="3700" spc="-8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3700" spc="85">
                <a:solidFill>
                  <a:srgbClr val="0000FF"/>
                </a:solidFill>
                <a:latin typeface="Times New Roman"/>
                <a:cs typeface="Times New Roman"/>
              </a:rPr>
              <a:t>0</a:t>
            </a:r>
            <a:r>
              <a:rPr dirty="0" sz="3700" spc="-145">
                <a:solidFill>
                  <a:srgbClr val="0000FF"/>
                </a:solidFill>
                <a:latin typeface="Times New Roman"/>
                <a:cs typeface="Times New Roman"/>
              </a:rPr>
              <a:t>.</a:t>
            </a:r>
            <a:r>
              <a:rPr dirty="0" sz="3700" spc="85">
                <a:solidFill>
                  <a:srgbClr val="0000FF"/>
                </a:solidFill>
                <a:latin typeface="Times New Roman"/>
                <a:cs typeface="Times New Roman"/>
              </a:rPr>
              <a:t>02</a:t>
            </a:r>
            <a:r>
              <a:rPr dirty="0" sz="370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sz="3700" spc="65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  <a:endParaRPr sz="37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739224" y="5481891"/>
            <a:ext cx="354965" cy="0"/>
          </a:xfrm>
          <a:custGeom>
            <a:avLst/>
            <a:gdLst/>
            <a:ahLst/>
            <a:cxnLst/>
            <a:rect l="l" t="t" r="r" b="b"/>
            <a:pathLst>
              <a:path w="354964" h="0">
                <a:moveTo>
                  <a:pt x="0" y="0"/>
                </a:moveTo>
                <a:lnTo>
                  <a:pt x="354609" y="0"/>
                </a:lnTo>
              </a:path>
            </a:pathLst>
          </a:custGeom>
          <a:ln w="23888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2726524" y="5484291"/>
            <a:ext cx="299720" cy="5930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700" spc="95" i="1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  <a:endParaRPr sz="37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971065" y="4240608"/>
            <a:ext cx="2884170" cy="1468120"/>
          </a:xfrm>
          <a:prstGeom prst="rect">
            <a:avLst/>
          </a:prstGeom>
        </p:spPr>
        <p:txBody>
          <a:bodyPr wrap="square" lIns="0" tIns="158115" rIns="0" bIns="0" rtlCol="0" vert="horz">
            <a:spAutoFit/>
          </a:bodyPr>
          <a:lstStyle/>
          <a:p>
            <a:pPr marL="736600">
              <a:lnSpc>
                <a:spcPct val="100000"/>
              </a:lnSpc>
              <a:spcBef>
                <a:spcPts val="1245"/>
              </a:spcBef>
            </a:pPr>
            <a:r>
              <a:rPr dirty="0" sz="3900" spc="-15" i="1">
                <a:solidFill>
                  <a:srgbClr val="0000FF"/>
                </a:solidFill>
                <a:latin typeface="Symbol"/>
                <a:cs typeface="Symbol"/>
              </a:rPr>
              <a:t></a:t>
            </a:r>
            <a:endParaRPr sz="3900">
              <a:latin typeface="Symbol"/>
              <a:cs typeface="Symbol"/>
            </a:endParaRPr>
          </a:p>
          <a:p>
            <a:pPr marL="12700">
              <a:lnSpc>
                <a:spcPct val="100000"/>
              </a:lnSpc>
              <a:spcBef>
                <a:spcPts val="1085"/>
              </a:spcBef>
              <a:tabLst>
                <a:tab pos="374650" algn="l"/>
                <a:tab pos="821690" algn="l"/>
                <a:tab pos="1252220" algn="l"/>
                <a:tab pos="2298065" algn="l"/>
              </a:tabLst>
            </a:pPr>
            <a:r>
              <a:rPr dirty="0" sz="3700" spc="45" i="1">
                <a:solidFill>
                  <a:srgbClr val="0000FF"/>
                </a:solidFill>
                <a:latin typeface="Times New Roman"/>
                <a:cs typeface="Times New Roman"/>
              </a:rPr>
              <a:t>f</a:t>
            </a:r>
            <a:r>
              <a:rPr dirty="0" sz="3700" spc="45" i="1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sz="3700" spc="95">
                <a:solidFill>
                  <a:srgbClr val="0000FF"/>
                </a:solidFill>
                <a:latin typeface="Symbol"/>
                <a:cs typeface="Symbol"/>
              </a:rPr>
              <a:t></a:t>
            </a:r>
            <a:r>
              <a:rPr dirty="0" sz="3700" spc="95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baseline="35285" sz="5550" spc="127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r>
              <a:rPr dirty="0" baseline="35285" sz="5550" spc="127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sz="3700" spc="95">
                <a:solidFill>
                  <a:srgbClr val="0000FF"/>
                </a:solidFill>
                <a:latin typeface="Symbol"/>
                <a:cs typeface="Symbol"/>
              </a:rPr>
              <a:t></a:t>
            </a:r>
            <a:r>
              <a:rPr dirty="0" sz="3700" spc="-13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3700" spc="85">
                <a:solidFill>
                  <a:srgbClr val="0000FF"/>
                </a:solidFill>
                <a:latin typeface="Times New Roman"/>
                <a:cs typeface="Times New Roman"/>
              </a:rPr>
              <a:t>50</a:t>
            </a:r>
            <a:r>
              <a:rPr dirty="0" sz="370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sz="3700" spc="110">
                <a:solidFill>
                  <a:srgbClr val="0000FF"/>
                </a:solidFill>
                <a:latin typeface="Times New Roman"/>
                <a:cs typeface="Times New Roman"/>
              </a:rPr>
              <a:t>H</a:t>
            </a:r>
            <a:r>
              <a:rPr dirty="0" sz="3700" spc="75">
                <a:solidFill>
                  <a:srgbClr val="0000FF"/>
                </a:solidFill>
                <a:latin typeface="Times New Roman"/>
                <a:cs typeface="Times New Roman"/>
              </a:rPr>
              <a:t>z</a:t>
            </a:r>
            <a:endParaRPr sz="37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70324" y="3040753"/>
            <a:ext cx="3673475" cy="664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200" spc="-730" b="1" i="1">
                <a:solidFill>
                  <a:srgbClr val="FF0000"/>
                </a:solidFill>
                <a:latin typeface="方正舒体"/>
                <a:cs typeface="方正舒体"/>
              </a:rPr>
              <a:t>e=NBSω</a:t>
            </a:r>
            <a:r>
              <a:rPr dirty="0" sz="4000" spc="-730" b="1">
                <a:solidFill>
                  <a:srgbClr val="FF0000"/>
                </a:solidFill>
                <a:latin typeface="方正舒体"/>
                <a:cs typeface="方正舒体"/>
              </a:rPr>
              <a:t>sin</a:t>
            </a:r>
            <a:r>
              <a:rPr dirty="0" sz="4000" spc="-730" b="1" i="1">
                <a:solidFill>
                  <a:srgbClr val="FF0000"/>
                </a:solidFill>
                <a:latin typeface="Times New Roman"/>
                <a:cs typeface="Times New Roman"/>
              </a:rPr>
              <a:t>ω</a:t>
            </a:r>
            <a:r>
              <a:rPr dirty="0" sz="4200" spc="-730" b="1" i="1">
                <a:solidFill>
                  <a:srgbClr val="FF0000"/>
                </a:solidFill>
                <a:latin typeface="方正舒体"/>
                <a:cs typeface="方正舒体"/>
              </a:rPr>
              <a:t>t</a:t>
            </a:r>
            <a:endParaRPr sz="4200">
              <a:latin typeface="方正舒体"/>
              <a:cs typeface="方正舒体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99539" y="970279"/>
            <a:ext cx="843216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99235" algn="l"/>
              </a:tabLst>
            </a:pPr>
            <a:r>
              <a:rPr dirty="0" sz="3600" b="1" i="1">
                <a:solidFill>
                  <a:srgbClr val="990033"/>
                </a:solidFill>
                <a:latin typeface="华文楷体"/>
                <a:cs typeface="华文楷体"/>
              </a:rPr>
              <a:t>例题</a:t>
            </a:r>
            <a:r>
              <a:rPr dirty="0" sz="3600" b="1">
                <a:solidFill>
                  <a:srgbClr val="990033"/>
                </a:solidFill>
                <a:latin typeface="Times New Roman"/>
                <a:cs typeface="Times New Roman"/>
              </a:rPr>
              <a:t>2	</a:t>
            </a:r>
            <a:r>
              <a:rPr dirty="0" sz="3200" b="1" i="1">
                <a:solidFill>
                  <a:srgbClr val="000099"/>
                </a:solidFill>
                <a:latin typeface="华文楷体"/>
                <a:cs typeface="华文楷体"/>
              </a:rPr>
              <a:t>我国生产和生活用交流电的电压周期如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65140" y="1772285"/>
            <a:ext cx="419925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282315" algn="l"/>
              </a:tabLst>
            </a:pPr>
            <a:r>
              <a:rPr dirty="0" sz="3200" spc="-5" b="1">
                <a:solidFill>
                  <a:srgbClr val="000099"/>
                </a:solidFill>
                <a:latin typeface="Times New Roman"/>
                <a:cs typeface="Times New Roman"/>
              </a:rPr>
              <a:t>s</a:t>
            </a:r>
            <a:r>
              <a:rPr dirty="0" sz="3200" b="1" i="1">
                <a:solidFill>
                  <a:srgbClr val="000099"/>
                </a:solidFill>
                <a:latin typeface="华文楷体"/>
                <a:cs typeface="华文楷体"/>
              </a:rPr>
              <a:t>，频率</a:t>
            </a:r>
            <a:r>
              <a:rPr dirty="0" sz="3200" b="1" i="1">
                <a:solidFill>
                  <a:srgbClr val="000099"/>
                </a:solidFill>
                <a:latin typeface="Times New Roman"/>
                <a:cs typeface="Times New Roman"/>
              </a:rPr>
              <a:t>f</a:t>
            </a:r>
            <a:r>
              <a:rPr dirty="0" sz="3200" spc="-5" b="1" i="1">
                <a:solidFill>
                  <a:srgbClr val="000099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000099"/>
                </a:solidFill>
                <a:latin typeface="Times New Roman"/>
                <a:cs typeface="Times New Roman"/>
              </a:rPr>
              <a:t>=</a:t>
            </a:r>
            <a:r>
              <a:rPr dirty="0" sz="3200" b="1">
                <a:solidFill>
                  <a:srgbClr val="000099"/>
                </a:solidFill>
                <a:latin typeface="Times New Roman"/>
                <a:cs typeface="Times New Roman"/>
              </a:rPr>
              <a:t>	</a:t>
            </a:r>
            <a:r>
              <a:rPr dirty="0" sz="3200" spc="-5" b="1">
                <a:solidFill>
                  <a:srgbClr val="000099"/>
                </a:solidFill>
                <a:latin typeface="Times New Roman"/>
                <a:cs typeface="Times New Roman"/>
              </a:rPr>
              <a:t>Hz</a:t>
            </a:r>
            <a:r>
              <a:rPr dirty="0" sz="3200" b="1" i="1">
                <a:solidFill>
                  <a:srgbClr val="000099"/>
                </a:solidFill>
                <a:latin typeface="华文楷体"/>
                <a:cs typeface="华文楷体"/>
              </a:rPr>
              <a:t>，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952240" y="2282189"/>
            <a:ext cx="1524000" cy="0"/>
          </a:xfrm>
          <a:custGeom>
            <a:avLst/>
            <a:gdLst/>
            <a:ahLst/>
            <a:cxnLst/>
            <a:rect l="l" t="t" r="r" b="b"/>
            <a:pathLst>
              <a:path w="1524000" h="0">
                <a:moveTo>
                  <a:pt x="0" y="0"/>
                </a:moveTo>
                <a:lnTo>
                  <a:pt x="1524000" y="0"/>
                </a:lnTo>
              </a:path>
            </a:pathLst>
          </a:custGeom>
          <a:ln w="19812">
            <a:solidFill>
              <a:srgbClr val="0000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527290" y="2282189"/>
            <a:ext cx="1320800" cy="0"/>
          </a:xfrm>
          <a:custGeom>
            <a:avLst/>
            <a:gdLst/>
            <a:ahLst/>
            <a:cxnLst/>
            <a:rect l="l" t="t" r="r" b="b"/>
            <a:pathLst>
              <a:path w="1320800" h="0">
                <a:moveTo>
                  <a:pt x="0" y="0"/>
                </a:moveTo>
                <a:lnTo>
                  <a:pt x="1320800" y="0"/>
                </a:lnTo>
              </a:path>
            </a:pathLst>
          </a:custGeom>
          <a:ln w="19812">
            <a:solidFill>
              <a:srgbClr val="0000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021070" y="2503805"/>
            <a:ext cx="370967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 b="1">
                <a:solidFill>
                  <a:srgbClr val="000099"/>
                </a:solidFill>
                <a:latin typeface="Times New Roman"/>
                <a:cs typeface="Times New Roman"/>
              </a:rPr>
              <a:t>rad/s</a:t>
            </a:r>
            <a:r>
              <a:rPr dirty="0" sz="3200" spc="-5" b="1" i="1">
                <a:solidFill>
                  <a:srgbClr val="000099"/>
                </a:solidFill>
                <a:latin typeface="华文楷体"/>
                <a:cs typeface="华文楷体"/>
              </a:rPr>
              <a:t>，</a:t>
            </a:r>
            <a:r>
              <a:rPr dirty="0" sz="3200" b="1" i="1">
                <a:solidFill>
                  <a:srgbClr val="000099"/>
                </a:solidFill>
                <a:latin typeface="华文楷体"/>
                <a:cs typeface="华文楷体"/>
              </a:rPr>
              <a:t>在</a:t>
            </a:r>
            <a:r>
              <a:rPr dirty="0" sz="3200" spc="-5" b="1">
                <a:solidFill>
                  <a:srgbClr val="000099"/>
                </a:solidFill>
                <a:latin typeface="Times New Roman"/>
                <a:cs typeface="Times New Roman"/>
              </a:rPr>
              <a:t>1s</a:t>
            </a:r>
            <a:r>
              <a:rPr dirty="0" sz="3200" b="1" i="1">
                <a:solidFill>
                  <a:srgbClr val="000099"/>
                </a:solidFill>
                <a:latin typeface="华文楷体"/>
                <a:cs typeface="华文楷体"/>
              </a:rPr>
              <a:t>内电流的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28139" y="3235325"/>
            <a:ext cx="409321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265804" algn="l"/>
              </a:tabLst>
            </a:pPr>
            <a:r>
              <a:rPr dirty="0" sz="3200" b="1" i="1">
                <a:solidFill>
                  <a:srgbClr val="000099"/>
                </a:solidFill>
                <a:latin typeface="华文楷体"/>
                <a:cs typeface="华文楷体"/>
              </a:rPr>
              <a:t>方向变化</a:t>
            </a:r>
            <a:r>
              <a:rPr dirty="0" sz="3200" b="1" i="1">
                <a:solidFill>
                  <a:srgbClr val="000099"/>
                </a:solidFill>
                <a:latin typeface="华文楷体"/>
                <a:cs typeface="华文楷体"/>
              </a:rPr>
              <a:t>	</a:t>
            </a:r>
            <a:r>
              <a:rPr dirty="0" sz="3200" b="1" i="1">
                <a:solidFill>
                  <a:srgbClr val="000099"/>
                </a:solidFill>
                <a:latin typeface="华文楷体"/>
                <a:cs typeface="华文楷体"/>
              </a:rPr>
              <a:t>次。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472179" y="3745229"/>
            <a:ext cx="1422400" cy="0"/>
          </a:xfrm>
          <a:custGeom>
            <a:avLst/>
            <a:gdLst/>
            <a:ahLst/>
            <a:cxnLst/>
            <a:rect l="l" t="t" r="r" b="b"/>
            <a:pathLst>
              <a:path w="1422400" h="0">
                <a:moveTo>
                  <a:pt x="0" y="0"/>
                </a:moveTo>
                <a:lnTo>
                  <a:pt x="1422400" y="0"/>
                </a:lnTo>
              </a:path>
            </a:pathLst>
          </a:custGeom>
          <a:ln w="19812">
            <a:solidFill>
              <a:srgbClr val="0000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561201" y="4487926"/>
            <a:ext cx="2705100" cy="76200"/>
          </a:xfrm>
          <a:custGeom>
            <a:avLst/>
            <a:gdLst/>
            <a:ahLst/>
            <a:cxnLst/>
            <a:rect l="l" t="t" r="r" b="b"/>
            <a:pathLst>
              <a:path w="2705100" h="76200">
                <a:moveTo>
                  <a:pt x="2628430" y="76200"/>
                </a:moveTo>
                <a:lnTo>
                  <a:pt x="2666530" y="38100"/>
                </a:lnTo>
                <a:lnTo>
                  <a:pt x="2628430" y="0"/>
                </a:lnTo>
                <a:lnTo>
                  <a:pt x="2695105" y="33337"/>
                </a:lnTo>
                <a:lnTo>
                  <a:pt x="2676055" y="33337"/>
                </a:lnTo>
                <a:lnTo>
                  <a:pt x="2676055" y="42862"/>
                </a:lnTo>
                <a:lnTo>
                  <a:pt x="2695105" y="42862"/>
                </a:lnTo>
                <a:lnTo>
                  <a:pt x="2628430" y="76200"/>
                </a:lnTo>
                <a:close/>
              </a:path>
              <a:path w="2705100" h="76200">
                <a:moveTo>
                  <a:pt x="2661767" y="42862"/>
                </a:moveTo>
                <a:lnTo>
                  <a:pt x="0" y="42862"/>
                </a:lnTo>
                <a:lnTo>
                  <a:pt x="0" y="33337"/>
                </a:lnTo>
                <a:lnTo>
                  <a:pt x="2661767" y="33337"/>
                </a:lnTo>
                <a:lnTo>
                  <a:pt x="2666530" y="38100"/>
                </a:lnTo>
                <a:lnTo>
                  <a:pt x="2661767" y="42862"/>
                </a:lnTo>
                <a:close/>
              </a:path>
              <a:path w="2705100" h="76200">
                <a:moveTo>
                  <a:pt x="2695105" y="42862"/>
                </a:moveTo>
                <a:lnTo>
                  <a:pt x="2676055" y="42862"/>
                </a:lnTo>
                <a:lnTo>
                  <a:pt x="2676055" y="33337"/>
                </a:lnTo>
                <a:lnTo>
                  <a:pt x="2695105" y="33337"/>
                </a:lnTo>
                <a:lnTo>
                  <a:pt x="2704630" y="38100"/>
                </a:lnTo>
                <a:lnTo>
                  <a:pt x="2695105" y="4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499059" y="3720477"/>
            <a:ext cx="76200" cy="1561465"/>
          </a:xfrm>
          <a:custGeom>
            <a:avLst/>
            <a:gdLst/>
            <a:ahLst/>
            <a:cxnLst/>
            <a:rect l="l" t="t" r="r" b="b"/>
            <a:pathLst>
              <a:path w="76200" h="1561464">
                <a:moveTo>
                  <a:pt x="0" y="76200"/>
                </a:moveTo>
                <a:lnTo>
                  <a:pt x="38099" y="0"/>
                </a:lnTo>
                <a:lnTo>
                  <a:pt x="52387" y="28575"/>
                </a:lnTo>
                <a:lnTo>
                  <a:pt x="33337" y="28575"/>
                </a:lnTo>
                <a:lnTo>
                  <a:pt x="33337" y="42862"/>
                </a:lnTo>
                <a:lnTo>
                  <a:pt x="0" y="76200"/>
                </a:lnTo>
                <a:close/>
              </a:path>
              <a:path w="76200" h="1561464">
                <a:moveTo>
                  <a:pt x="33337" y="42862"/>
                </a:moveTo>
                <a:lnTo>
                  <a:pt x="33337" y="28575"/>
                </a:lnTo>
                <a:lnTo>
                  <a:pt x="42862" y="28575"/>
                </a:lnTo>
                <a:lnTo>
                  <a:pt x="42862" y="38100"/>
                </a:lnTo>
                <a:lnTo>
                  <a:pt x="38099" y="38100"/>
                </a:lnTo>
                <a:lnTo>
                  <a:pt x="33337" y="42862"/>
                </a:lnTo>
                <a:close/>
              </a:path>
              <a:path w="76200" h="1561464">
                <a:moveTo>
                  <a:pt x="76199" y="76200"/>
                </a:moveTo>
                <a:lnTo>
                  <a:pt x="42862" y="42862"/>
                </a:lnTo>
                <a:lnTo>
                  <a:pt x="42862" y="28575"/>
                </a:lnTo>
                <a:lnTo>
                  <a:pt x="52387" y="28575"/>
                </a:lnTo>
                <a:lnTo>
                  <a:pt x="76199" y="76200"/>
                </a:lnTo>
                <a:close/>
              </a:path>
              <a:path w="76200" h="1561464">
                <a:moveTo>
                  <a:pt x="42862" y="1561134"/>
                </a:moveTo>
                <a:lnTo>
                  <a:pt x="33337" y="1561134"/>
                </a:lnTo>
                <a:lnTo>
                  <a:pt x="33337" y="42862"/>
                </a:lnTo>
                <a:lnTo>
                  <a:pt x="38099" y="38100"/>
                </a:lnTo>
                <a:lnTo>
                  <a:pt x="42862" y="42862"/>
                </a:lnTo>
                <a:lnTo>
                  <a:pt x="42862" y="1561134"/>
                </a:lnTo>
                <a:close/>
              </a:path>
              <a:path w="76200" h="1561464">
                <a:moveTo>
                  <a:pt x="42862" y="42862"/>
                </a:moveTo>
                <a:lnTo>
                  <a:pt x="38099" y="38100"/>
                </a:lnTo>
                <a:lnTo>
                  <a:pt x="42862" y="38100"/>
                </a:lnTo>
                <a:lnTo>
                  <a:pt x="42862" y="4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638288" y="4482756"/>
            <a:ext cx="9525" cy="42545"/>
          </a:xfrm>
          <a:custGeom>
            <a:avLst/>
            <a:gdLst/>
            <a:ahLst/>
            <a:cxnLst/>
            <a:rect l="l" t="t" r="r" b="b"/>
            <a:pathLst>
              <a:path w="9525" h="42545">
                <a:moveTo>
                  <a:pt x="9525" y="42189"/>
                </a:moveTo>
                <a:lnTo>
                  <a:pt x="9525" y="0"/>
                </a:lnTo>
                <a:lnTo>
                  <a:pt x="0" y="0"/>
                </a:lnTo>
                <a:lnTo>
                  <a:pt x="0" y="42189"/>
                </a:lnTo>
                <a:lnTo>
                  <a:pt x="9525" y="421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724951" y="4468698"/>
            <a:ext cx="9525" cy="56515"/>
          </a:xfrm>
          <a:custGeom>
            <a:avLst/>
            <a:gdLst/>
            <a:ahLst/>
            <a:cxnLst/>
            <a:rect l="l" t="t" r="r" b="b"/>
            <a:pathLst>
              <a:path w="9525" h="56514">
                <a:moveTo>
                  <a:pt x="9525" y="56248"/>
                </a:moveTo>
                <a:lnTo>
                  <a:pt x="9525" y="0"/>
                </a:lnTo>
                <a:lnTo>
                  <a:pt x="0" y="0"/>
                </a:lnTo>
                <a:lnTo>
                  <a:pt x="0" y="56248"/>
                </a:lnTo>
                <a:lnTo>
                  <a:pt x="9525" y="562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529946" y="4013873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596621" y="4013873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663296" y="4013873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729971" y="4013873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796646" y="4013873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863321" y="4013873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929996" y="4013873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996671" y="4013873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063346" y="4013873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534746" y="5040566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601421" y="5040566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668096" y="5040566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734771" y="5040566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801446" y="5040566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6868121" y="5040566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934796" y="5040566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001471" y="5040566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068146" y="5040566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134821" y="5040566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201496" y="5040566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268171" y="5040566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334846" y="5040566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7401521" y="5040566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7468196" y="5040566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7534871" y="5040566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7601546" y="5040566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7668221" y="5040566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7734896" y="5040566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7801571" y="5040566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7868246" y="5040566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7934921" y="5040566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8001596" y="5040566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8068271" y="5040566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8134946" y="5040566"/>
            <a:ext cx="29845" cy="9525"/>
          </a:xfrm>
          <a:custGeom>
            <a:avLst/>
            <a:gdLst/>
            <a:ahLst/>
            <a:cxnLst/>
            <a:rect l="l" t="t" r="r" b="b"/>
            <a:pathLst>
              <a:path w="29845" h="9525">
                <a:moveTo>
                  <a:pt x="29794" y="9525"/>
                </a:moveTo>
                <a:lnTo>
                  <a:pt x="0" y="9525"/>
                </a:lnTo>
                <a:lnTo>
                  <a:pt x="0" y="0"/>
                </a:lnTo>
                <a:lnTo>
                  <a:pt x="29794" y="0"/>
                </a:lnTo>
                <a:lnTo>
                  <a:pt x="29794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7085291" y="4027068"/>
            <a:ext cx="0" cy="498475"/>
          </a:xfrm>
          <a:custGeom>
            <a:avLst/>
            <a:gdLst/>
            <a:ahLst/>
            <a:cxnLst/>
            <a:rect l="l" t="t" r="r" b="b"/>
            <a:pathLst>
              <a:path w="0" h="498475">
                <a:moveTo>
                  <a:pt x="0" y="0"/>
                </a:moveTo>
                <a:lnTo>
                  <a:pt x="0" y="49787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8191182" y="4524946"/>
            <a:ext cx="0" cy="498475"/>
          </a:xfrm>
          <a:custGeom>
            <a:avLst/>
            <a:gdLst/>
            <a:ahLst/>
            <a:cxnLst/>
            <a:rect l="l" t="t" r="r" b="b"/>
            <a:pathLst>
              <a:path w="0" h="498475">
                <a:moveTo>
                  <a:pt x="0" y="0"/>
                </a:moveTo>
                <a:lnTo>
                  <a:pt x="0" y="49787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6527038" y="4009110"/>
            <a:ext cx="2205990" cy="1038860"/>
          </a:xfrm>
          <a:custGeom>
            <a:avLst/>
            <a:gdLst/>
            <a:ahLst/>
            <a:cxnLst/>
            <a:rect l="l" t="t" r="r" b="b"/>
            <a:pathLst>
              <a:path w="2205990" h="1038860">
                <a:moveTo>
                  <a:pt x="15430" y="520700"/>
                </a:moveTo>
                <a:lnTo>
                  <a:pt x="0" y="509270"/>
                </a:lnTo>
                <a:lnTo>
                  <a:pt x="103009" y="368300"/>
                </a:lnTo>
                <a:lnTo>
                  <a:pt x="120218" y="345439"/>
                </a:lnTo>
                <a:lnTo>
                  <a:pt x="137439" y="323850"/>
                </a:lnTo>
                <a:lnTo>
                  <a:pt x="154673" y="300989"/>
                </a:lnTo>
                <a:lnTo>
                  <a:pt x="189191" y="257810"/>
                </a:lnTo>
                <a:lnTo>
                  <a:pt x="223761" y="217170"/>
                </a:lnTo>
                <a:lnTo>
                  <a:pt x="275755" y="160020"/>
                </a:lnTo>
                <a:lnTo>
                  <a:pt x="310527" y="125729"/>
                </a:lnTo>
                <a:lnTo>
                  <a:pt x="354088" y="87629"/>
                </a:lnTo>
                <a:lnTo>
                  <a:pt x="362826" y="81279"/>
                </a:lnTo>
                <a:lnTo>
                  <a:pt x="371589" y="73660"/>
                </a:lnTo>
                <a:lnTo>
                  <a:pt x="389127" y="60960"/>
                </a:lnTo>
                <a:lnTo>
                  <a:pt x="397916" y="55879"/>
                </a:lnTo>
                <a:lnTo>
                  <a:pt x="406704" y="49529"/>
                </a:lnTo>
                <a:lnTo>
                  <a:pt x="442036" y="29210"/>
                </a:lnTo>
                <a:lnTo>
                  <a:pt x="477596" y="13970"/>
                </a:lnTo>
                <a:lnTo>
                  <a:pt x="495465" y="8889"/>
                </a:lnTo>
                <a:lnTo>
                  <a:pt x="504088" y="6350"/>
                </a:lnTo>
                <a:lnTo>
                  <a:pt x="513397" y="3810"/>
                </a:lnTo>
                <a:lnTo>
                  <a:pt x="540410" y="0"/>
                </a:lnTo>
                <a:lnTo>
                  <a:pt x="576287" y="0"/>
                </a:lnTo>
                <a:lnTo>
                  <a:pt x="585901" y="1270"/>
                </a:lnTo>
                <a:lnTo>
                  <a:pt x="594512" y="3810"/>
                </a:lnTo>
                <a:lnTo>
                  <a:pt x="604011" y="5079"/>
                </a:lnTo>
                <a:lnTo>
                  <a:pt x="613028" y="8889"/>
                </a:lnTo>
                <a:lnTo>
                  <a:pt x="622007" y="11429"/>
                </a:lnTo>
                <a:lnTo>
                  <a:pt x="639847" y="19050"/>
                </a:lnTo>
                <a:lnTo>
                  <a:pt x="542010" y="19050"/>
                </a:lnTo>
                <a:lnTo>
                  <a:pt x="533387" y="20320"/>
                </a:lnTo>
                <a:lnTo>
                  <a:pt x="533768" y="20320"/>
                </a:lnTo>
                <a:lnTo>
                  <a:pt x="525144" y="21589"/>
                </a:lnTo>
                <a:lnTo>
                  <a:pt x="525526" y="21589"/>
                </a:lnTo>
                <a:lnTo>
                  <a:pt x="516902" y="22860"/>
                </a:lnTo>
                <a:lnTo>
                  <a:pt x="517258" y="22860"/>
                </a:lnTo>
                <a:lnTo>
                  <a:pt x="508634" y="24129"/>
                </a:lnTo>
                <a:lnTo>
                  <a:pt x="508977" y="24129"/>
                </a:lnTo>
                <a:lnTo>
                  <a:pt x="500354" y="26670"/>
                </a:lnTo>
                <a:lnTo>
                  <a:pt x="500672" y="26670"/>
                </a:lnTo>
                <a:lnTo>
                  <a:pt x="492061" y="29210"/>
                </a:lnTo>
                <a:lnTo>
                  <a:pt x="492366" y="29210"/>
                </a:lnTo>
                <a:lnTo>
                  <a:pt x="483742" y="31750"/>
                </a:lnTo>
                <a:lnTo>
                  <a:pt x="484035" y="31750"/>
                </a:lnTo>
                <a:lnTo>
                  <a:pt x="475424" y="35560"/>
                </a:lnTo>
                <a:lnTo>
                  <a:pt x="475703" y="35560"/>
                </a:lnTo>
                <a:lnTo>
                  <a:pt x="469955" y="38100"/>
                </a:lnTo>
                <a:lnTo>
                  <a:pt x="467347" y="38100"/>
                </a:lnTo>
                <a:lnTo>
                  <a:pt x="460879" y="41910"/>
                </a:lnTo>
                <a:lnTo>
                  <a:pt x="458965" y="41910"/>
                </a:lnTo>
                <a:lnTo>
                  <a:pt x="450354" y="46989"/>
                </a:lnTo>
                <a:lnTo>
                  <a:pt x="450583" y="46989"/>
                </a:lnTo>
                <a:lnTo>
                  <a:pt x="441959" y="50800"/>
                </a:lnTo>
                <a:lnTo>
                  <a:pt x="442188" y="50800"/>
                </a:lnTo>
                <a:lnTo>
                  <a:pt x="433565" y="55879"/>
                </a:lnTo>
                <a:lnTo>
                  <a:pt x="433768" y="55879"/>
                </a:lnTo>
                <a:lnTo>
                  <a:pt x="425157" y="60960"/>
                </a:lnTo>
                <a:lnTo>
                  <a:pt x="425348" y="60960"/>
                </a:lnTo>
                <a:lnTo>
                  <a:pt x="416725" y="66039"/>
                </a:lnTo>
                <a:lnTo>
                  <a:pt x="416915" y="66039"/>
                </a:lnTo>
                <a:lnTo>
                  <a:pt x="408292" y="71120"/>
                </a:lnTo>
                <a:lnTo>
                  <a:pt x="408470" y="71120"/>
                </a:lnTo>
                <a:lnTo>
                  <a:pt x="399846" y="77470"/>
                </a:lnTo>
                <a:lnTo>
                  <a:pt x="400011" y="77470"/>
                </a:lnTo>
                <a:lnTo>
                  <a:pt x="391388" y="82550"/>
                </a:lnTo>
                <a:lnTo>
                  <a:pt x="391540" y="82550"/>
                </a:lnTo>
                <a:lnTo>
                  <a:pt x="382930" y="88900"/>
                </a:lnTo>
                <a:lnTo>
                  <a:pt x="383070" y="88900"/>
                </a:lnTo>
                <a:lnTo>
                  <a:pt x="375884" y="95250"/>
                </a:lnTo>
                <a:lnTo>
                  <a:pt x="374586" y="95250"/>
                </a:lnTo>
                <a:lnTo>
                  <a:pt x="365975" y="102870"/>
                </a:lnTo>
                <a:lnTo>
                  <a:pt x="357479" y="109220"/>
                </a:lnTo>
                <a:lnTo>
                  <a:pt x="348983" y="116839"/>
                </a:lnTo>
                <a:lnTo>
                  <a:pt x="340474" y="124460"/>
                </a:lnTo>
                <a:lnTo>
                  <a:pt x="340626" y="124460"/>
                </a:lnTo>
                <a:lnTo>
                  <a:pt x="323405" y="139700"/>
                </a:lnTo>
                <a:lnTo>
                  <a:pt x="323583" y="139700"/>
                </a:lnTo>
                <a:lnTo>
                  <a:pt x="306362" y="156210"/>
                </a:lnTo>
                <a:lnTo>
                  <a:pt x="306527" y="156210"/>
                </a:lnTo>
                <a:lnTo>
                  <a:pt x="289305" y="173989"/>
                </a:lnTo>
                <a:lnTo>
                  <a:pt x="289445" y="173989"/>
                </a:lnTo>
                <a:lnTo>
                  <a:pt x="272237" y="191770"/>
                </a:lnTo>
                <a:lnTo>
                  <a:pt x="255142" y="210820"/>
                </a:lnTo>
                <a:lnTo>
                  <a:pt x="238048" y="229870"/>
                </a:lnTo>
                <a:lnTo>
                  <a:pt x="220941" y="250189"/>
                </a:lnTo>
                <a:lnTo>
                  <a:pt x="203834" y="270510"/>
                </a:lnTo>
                <a:lnTo>
                  <a:pt x="186715" y="292100"/>
                </a:lnTo>
                <a:lnTo>
                  <a:pt x="169595" y="313689"/>
                </a:lnTo>
                <a:lnTo>
                  <a:pt x="152463" y="335279"/>
                </a:lnTo>
                <a:lnTo>
                  <a:pt x="136297" y="356870"/>
                </a:lnTo>
                <a:lnTo>
                  <a:pt x="135381" y="356870"/>
                </a:lnTo>
                <a:lnTo>
                  <a:pt x="118211" y="379729"/>
                </a:lnTo>
                <a:lnTo>
                  <a:pt x="83934" y="426720"/>
                </a:lnTo>
                <a:lnTo>
                  <a:pt x="49682" y="473710"/>
                </a:lnTo>
                <a:lnTo>
                  <a:pt x="15430" y="520700"/>
                </a:lnTo>
                <a:close/>
              </a:path>
              <a:path w="2205990" h="1038860">
                <a:moveTo>
                  <a:pt x="690219" y="72389"/>
                </a:moveTo>
                <a:lnTo>
                  <a:pt x="681634" y="66039"/>
                </a:lnTo>
                <a:lnTo>
                  <a:pt x="681837" y="66039"/>
                </a:lnTo>
                <a:lnTo>
                  <a:pt x="673252" y="59689"/>
                </a:lnTo>
                <a:lnTo>
                  <a:pt x="673455" y="59689"/>
                </a:lnTo>
                <a:lnTo>
                  <a:pt x="664870" y="54610"/>
                </a:lnTo>
                <a:lnTo>
                  <a:pt x="665098" y="54610"/>
                </a:lnTo>
                <a:lnTo>
                  <a:pt x="656513" y="49529"/>
                </a:lnTo>
                <a:lnTo>
                  <a:pt x="656767" y="49529"/>
                </a:lnTo>
                <a:lnTo>
                  <a:pt x="648182" y="44450"/>
                </a:lnTo>
                <a:lnTo>
                  <a:pt x="648449" y="44450"/>
                </a:lnTo>
                <a:lnTo>
                  <a:pt x="639864" y="40639"/>
                </a:lnTo>
                <a:lnTo>
                  <a:pt x="640156" y="40639"/>
                </a:lnTo>
                <a:lnTo>
                  <a:pt x="631570" y="35560"/>
                </a:lnTo>
                <a:lnTo>
                  <a:pt x="631888" y="35560"/>
                </a:lnTo>
                <a:lnTo>
                  <a:pt x="623290" y="33020"/>
                </a:lnTo>
                <a:lnTo>
                  <a:pt x="623646" y="33020"/>
                </a:lnTo>
                <a:lnTo>
                  <a:pt x="615048" y="29210"/>
                </a:lnTo>
                <a:lnTo>
                  <a:pt x="615416" y="29210"/>
                </a:lnTo>
                <a:lnTo>
                  <a:pt x="606818" y="26670"/>
                </a:lnTo>
                <a:lnTo>
                  <a:pt x="607225" y="26670"/>
                </a:lnTo>
                <a:lnTo>
                  <a:pt x="598627" y="24129"/>
                </a:lnTo>
                <a:lnTo>
                  <a:pt x="599058" y="24129"/>
                </a:lnTo>
                <a:lnTo>
                  <a:pt x="590448" y="21589"/>
                </a:lnTo>
                <a:lnTo>
                  <a:pt x="590918" y="21589"/>
                </a:lnTo>
                <a:lnTo>
                  <a:pt x="582307" y="20320"/>
                </a:lnTo>
                <a:lnTo>
                  <a:pt x="582790" y="20320"/>
                </a:lnTo>
                <a:lnTo>
                  <a:pt x="574179" y="19050"/>
                </a:lnTo>
                <a:lnTo>
                  <a:pt x="639847" y="19050"/>
                </a:lnTo>
                <a:lnTo>
                  <a:pt x="648766" y="22860"/>
                </a:lnTo>
                <a:lnTo>
                  <a:pt x="675284" y="38100"/>
                </a:lnTo>
                <a:lnTo>
                  <a:pt x="719099" y="69850"/>
                </a:lnTo>
                <a:lnTo>
                  <a:pt x="720549" y="71120"/>
                </a:lnTo>
                <a:lnTo>
                  <a:pt x="690041" y="71120"/>
                </a:lnTo>
                <a:lnTo>
                  <a:pt x="690219" y="72389"/>
                </a:lnTo>
                <a:close/>
              </a:path>
              <a:path w="2205990" h="1038860">
                <a:moveTo>
                  <a:pt x="467080" y="39370"/>
                </a:moveTo>
                <a:lnTo>
                  <a:pt x="467347" y="38100"/>
                </a:lnTo>
                <a:lnTo>
                  <a:pt x="469955" y="38100"/>
                </a:lnTo>
                <a:lnTo>
                  <a:pt x="467080" y="39370"/>
                </a:lnTo>
                <a:close/>
              </a:path>
              <a:path w="2205990" h="1038860">
                <a:moveTo>
                  <a:pt x="458723" y="43179"/>
                </a:moveTo>
                <a:lnTo>
                  <a:pt x="458965" y="41910"/>
                </a:lnTo>
                <a:lnTo>
                  <a:pt x="460879" y="41910"/>
                </a:lnTo>
                <a:lnTo>
                  <a:pt x="458723" y="43179"/>
                </a:lnTo>
                <a:close/>
              </a:path>
              <a:path w="2205990" h="1038860">
                <a:moveTo>
                  <a:pt x="1110983" y="530860"/>
                </a:moveTo>
                <a:lnTo>
                  <a:pt x="1093533" y="514350"/>
                </a:lnTo>
                <a:lnTo>
                  <a:pt x="1084859" y="505460"/>
                </a:lnTo>
                <a:lnTo>
                  <a:pt x="1049820" y="469900"/>
                </a:lnTo>
                <a:lnTo>
                  <a:pt x="1015072" y="431800"/>
                </a:lnTo>
                <a:lnTo>
                  <a:pt x="963180" y="370839"/>
                </a:lnTo>
                <a:lnTo>
                  <a:pt x="894359" y="287020"/>
                </a:lnTo>
                <a:lnTo>
                  <a:pt x="860056" y="245110"/>
                </a:lnTo>
                <a:lnTo>
                  <a:pt x="842949" y="224789"/>
                </a:lnTo>
                <a:lnTo>
                  <a:pt x="825842" y="204470"/>
                </a:lnTo>
                <a:lnTo>
                  <a:pt x="808774" y="185420"/>
                </a:lnTo>
                <a:lnTo>
                  <a:pt x="791717" y="166370"/>
                </a:lnTo>
                <a:lnTo>
                  <a:pt x="774674" y="148589"/>
                </a:lnTo>
                <a:lnTo>
                  <a:pt x="774826" y="148589"/>
                </a:lnTo>
                <a:lnTo>
                  <a:pt x="757669" y="130810"/>
                </a:lnTo>
                <a:lnTo>
                  <a:pt x="757847" y="130810"/>
                </a:lnTo>
                <a:lnTo>
                  <a:pt x="740689" y="114300"/>
                </a:lnTo>
                <a:lnTo>
                  <a:pt x="740841" y="114300"/>
                </a:lnTo>
                <a:lnTo>
                  <a:pt x="732269" y="106679"/>
                </a:lnTo>
                <a:lnTo>
                  <a:pt x="723798" y="99060"/>
                </a:lnTo>
                <a:lnTo>
                  <a:pt x="715340" y="91439"/>
                </a:lnTo>
                <a:lnTo>
                  <a:pt x="715479" y="91439"/>
                </a:lnTo>
                <a:lnTo>
                  <a:pt x="706894" y="85089"/>
                </a:lnTo>
                <a:lnTo>
                  <a:pt x="707047" y="85089"/>
                </a:lnTo>
                <a:lnTo>
                  <a:pt x="698461" y="78739"/>
                </a:lnTo>
                <a:lnTo>
                  <a:pt x="698626" y="78739"/>
                </a:lnTo>
                <a:lnTo>
                  <a:pt x="690041" y="71120"/>
                </a:lnTo>
                <a:lnTo>
                  <a:pt x="720549" y="71120"/>
                </a:lnTo>
                <a:lnTo>
                  <a:pt x="753935" y="100329"/>
                </a:lnTo>
                <a:lnTo>
                  <a:pt x="805814" y="153670"/>
                </a:lnTo>
                <a:lnTo>
                  <a:pt x="840308" y="191770"/>
                </a:lnTo>
                <a:lnTo>
                  <a:pt x="874750" y="232410"/>
                </a:lnTo>
                <a:lnTo>
                  <a:pt x="943508" y="316229"/>
                </a:lnTo>
                <a:lnTo>
                  <a:pt x="977900" y="358139"/>
                </a:lnTo>
                <a:lnTo>
                  <a:pt x="995083" y="378460"/>
                </a:lnTo>
                <a:lnTo>
                  <a:pt x="1012266" y="398779"/>
                </a:lnTo>
                <a:lnTo>
                  <a:pt x="1029461" y="419100"/>
                </a:lnTo>
                <a:lnTo>
                  <a:pt x="1046645" y="438150"/>
                </a:lnTo>
                <a:lnTo>
                  <a:pt x="1063828" y="457200"/>
                </a:lnTo>
                <a:lnTo>
                  <a:pt x="1081011" y="474979"/>
                </a:lnTo>
                <a:lnTo>
                  <a:pt x="1080858" y="474979"/>
                </a:lnTo>
                <a:lnTo>
                  <a:pt x="1098181" y="491489"/>
                </a:lnTo>
                <a:lnTo>
                  <a:pt x="1098041" y="491489"/>
                </a:lnTo>
                <a:lnTo>
                  <a:pt x="1106716" y="500379"/>
                </a:lnTo>
                <a:lnTo>
                  <a:pt x="1124064" y="516889"/>
                </a:lnTo>
                <a:lnTo>
                  <a:pt x="1132890" y="524510"/>
                </a:lnTo>
                <a:lnTo>
                  <a:pt x="1137865" y="529589"/>
                </a:lnTo>
                <a:lnTo>
                  <a:pt x="1110894" y="529589"/>
                </a:lnTo>
                <a:lnTo>
                  <a:pt x="1110983" y="530860"/>
                </a:lnTo>
                <a:close/>
              </a:path>
              <a:path w="2205990" h="1038860">
                <a:moveTo>
                  <a:pt x="374446" y="96520"/>
                </a:moveTo>
                <a:lnTo>
                  <a:pt x="374586" y="95250"/>
                </a:lnTo>
                <a:lnTo>
                  <a:pt x="375884" y="95250"/>
                </a:lnTo>
                <a:lnTo>
                  <a:pt x="374446" y="96520"/>
                </a:lnTo>
                <a:close/>
              </a:path>
              <a:path w="2205990" h="1038860">
                <a:moveTo>
                  <a:pt x="135343" y="358139"/>
                </a:moveTo>
                <a:lnTo>
                  <a:pt x="135381" y="356870"/>
                </a:lnTo>
                <a:lnTo>
                  <a:pt x="136297" y="356870"/>
                </a:lnTo>
                <a:lnTo>
                  <a:pt x="135343" y="358139"/>
                </a:lnTo>
                <a:close/>
              </a:path>
              <a:path w="2205990" h="1038860">
                <a:moveTo>
                  <a:pt x="1889841" y="928370"/>
                </a:moveTo>
                <a:lnTo>
                  <a:pt x="1861781" y="928370"/>
                </a:lnTo>
                <a:lnTo>
                  <a:pt x="1870087" y="920750"/>
                </a:lnTo>
                <a:lnTo>
                  <a:pt x="1878279" y="913129"/>
                </a:lnTo>
                <a:lnTo>
                  <a:pt x="1878126" y="913129"/>
                </a:lnTo>
                <a:lnTo>
                  <a:pt x="1894712" y="896620"/>
                </a:lnTo>
                <a:lnTo>
                  <a:pt x="1894535" y="896620"/>
                </a:lnTo>
                <a:lnTo>
                  <a:pt x="1911108" y="880110"/>
                </a:lnTo>
                <a:lnTo>
                  <a:pt x="1910956" y="880110"/>
                </a:lnTo>
                <a:lnTo>
                  <a:pt x="1927504" y="862329"/>
                </a:lnTo>
                <a:lnTo>
                  <a:pt x="1927364" y="862329"/>
                </a:lnTo>
                <a:lnTo>
                  <a:pt x="1943887" y="844550"/>
                </a:lnTo>
                <a:lnTo>
                  <a:pt x="1960283" y="825500"/>
                </a:lnTo>
                <a:lnTo>
                  <a:pt x="1976678" y="805179"/>
                </a:lnTo>
                <a:lnTo>
                  <a:pt x="1993074" y="784860"/>
                </a:lnTo>
                <a:lnTo>
                  <a:pt x="2009470" y="764539"/>
                </a:lnTo>
                <a:lnTo>
                  <a:pt x="2025853" y="742950"/>
                </a:lnTo>
                <a:lnTo>
                  <a:pt x="2042248" y="721360"/>
                </a:lnTo>
                <a:lnTo>
                  <a:pt x="2058644" y="698500"/>
                </a:lnTo>
                <a:lnTo>
                  <a:pt x="2075052" y="675639"/>
                </a:lnTo>
                <a:lnTo>
                  <a:pt x="2091448" y="652779"/>
                </a:lnTo>
                <a:lnTo>
                  <a:pt x="2124278" y="605789"/>
                </a:lnTo>
                <a:lnTo>
                  <a:pt x="2157120" y="557529"/>
                </a:lnTo>
                <a:lnTo>
                  <a:pt x="2190000" y="509270"/>
                </a:lnTo>
                <a:lnTo>
                  <a:pt x="2205723" y="520700"/>
                </a:lnTo>
                <a:lnTo>
                  <a:pt x="2172817" y="568960"/>
                </a:lnTo>
                <a:lnTo>
                  <a:pt x="2139899" y="615950"/>
                </a:lnTo>
                <a:lnTo>
                  <a:pt x="2106980" y="664210"/>
                </a:lnTo>
                <a:lnTo>
                  <a:pt x="2074011" y="709929"/>
                </a:lnTo>
                <a:lnTo>
                  <a:pt x="2057565" y="731520"/>
                </a:lnTo>
                <a:lnTo>
                  <a:pt x="2040991" y="754379"/>
                </a:lnTo>
                <a:lnTo>
                  <a:pt x="2007908" y="797560"/>
                </a:lnTo>
                <a:lnTo>
                  <a:pt x="1991423" y="817879"/>
                </a:lnTo>
                <a:lnTo>
                  <a:pt x="1974722" y="836929"/>
                </a:lnTo>
                <a:lnTo>
                  <a:pt x="1958212" y="857250"/>
                </a:lnTo>
                <a:lnTo>
                  <a:pt x="1907971" y="910589"/>
                </a:lnTo>
                <a:lnTo>
                  <a:pt x="1891245" y="927100"/>
                </a:lnTo>
                <a:lnTo>
                  <a:pt x="1889841" y="928370"/>
                </a:lnTo>
                <a:close/>
              </a:path>
              <a:path w="2205990" h="1038860">
                <a:moveTo>
                  <a:pt x="1136853" y="556260"/>
                </a:moveTo>
                <a:lnTo>
                  <a:pt x="1119441" y="538479"/>
                </a:lnTo>
                <a:lnTo>
                  <a:pt x="1119581" y="538479"/>
                </a:lnTo>
                <a:lnTo>
                  <a:pt x="1110894" y="529589"/>
                </a:lnTo>
                <a:lnTo>
                  <a:pt x="1137865" y="529589"/>
                </a:lnTo>
                <a:lnTo>
                  <a:pt x="1150302" y="542289"/>
                </a:lnTo>
                <a:lnTo>
                  <a:pt x="1150442" y="542289"/>
                </a:lnTo>
                <a:lnTo>
                  <a:pt x="1162987" y="554989"/>
                </a:lnTo>
                <a:lnTo>
                  <a:pt x="1136700" y="554989"/>
                </a:lnTo>
                <a:lnTo>
                  <a:pt x="1136853" y="556260"/>
                </a:lnTo>
                <a:close/>
              </a:path>
              <a:path w="2205990" h="1038860">
                <a:moveTo>
                  <a:pt x="1171473" y="593089"/>
                </a:moveTo>
                <a:lnTo>
                  <a:pt x="1154010" y="574039"/>
                </a:lnTo>
                <a:lnTo>
                  <a:pt x="1136700" y="554989"/>
                </a:lnTo>
                <a:lnTo>
                  <a:pt x="1162987" y="554989"/>
                </a:lnTo>
                <a:lnTo>
                  <a:pt x="1168006" y="560070"/>
                </a:lnTo>
                <a:lnTo>
                  <a:pt x="1185570" y="579120"/>
                </a:lnTo>
                <a:lnTo>
                  <a:pt x="1196550" y="591820"/>
                </a:lnTo>
                <a:lnTo>
                  <a:pt x="1171359" y="591820"/>
                </a:lnTo>
                <a:lnTo>
                  <a:pt x="1171473" y="593089"/>
                </a:lnTo>
                <a:close/>
              </a:path>
              <a:path w="2205990" h="1038860">
                <a:moveTo>
                  <a:pt x="1684172" y="1038860"/>
                </a:moveTo>
                <a:lnTo>
                  <a:pt x="1648675" y="1038860"/>
                </a:lnTo>
                <a:lnTo>
                  <a:pt x="1639608" y="1037589"/>
                </a:lnTo>
                <a:lnTo>
                  <a:pt x="1621523" y="1032510"/>
                </a:lnTo>
                <a:lnTo>
                  <a:pt x="1612087" y="1029970"/>
                </a:lnTo>
                <a:lnTo>
                  <a:pt x="1603120" y="1027429"/>
                </a:lnTo>
                <a:lnTo>
                  <a:pt x="1594510" y="1023620"/>
                </a:lnTo>
                <a:lnTo>
                  <a:pt x="1585226" y="1019810"/>
                </a:lnTo>
                <a:lnTo>
                  <a:pt x="1549628" y="999489"/>
                </a:lnTo>
                <a:lnTo>
                  <a:pt x="1540751" y="993139"/>
                </a:lnTo>
                <a:lnTo>
                  <a:pt x="1531886" y="988060"/>
                </a:lnTo>
                <a:lnTo>
                  <a:pt x="1523034" y="980439"/>
                </a:lnTo>
                <a:lnTo>
                  <a:pt x="1514182" y="974089"/>
                </a:lnTo>
                <a:lnTo>
                  <a:pt x="1505343" y="966470"/>
                </a:lnTo>
                <a:lnTo>
                  <a:pt x="1496504" y="960120"/>
                </a:lnTo>
                <a:lnTo>
                  <a:pt x="1487665" y="951229"/>
                </a:lnTo>
                <a:lnTo>
                  <a:pt x="1469961" y="935989"/>
                </a:lnTo>
                <a:lnTo>
                  <a:pt x="1434680" y="900429"/>
                </a:lnTo>
                <a:lnTo>
                  <a:pt x="1399425" y="862329"/>
                </a:lnTo>
                <a:lnTo>
                  <a:pt x="1346568" y="801370"/>
                </a:lnTo>
                <a:lnTo>
                  <a:pt x="1311402" y="758189"/>
                </a:lnTo>
                <a:lnTo>
                  <a:pt x="1276261" y="716279"/>
                </a:lnTo>
                <a:lnTo>
                  <a:pt x="1241170" y="673100"/>
                </a:lnTo>
                <a:lnTo>
                  <a:pt x="1223683" y="652779"/>
                </a:lnTo>
                <a:lnTo>
                  <a:pt x="1206207" y="632460"/>
                </a:lnTo>
                <a:lnTo>
                  <a:pt x="1188770" y="612139"/>
                </a:lnTo>
                <a:lnTo>
                  <a:pt x="1171359" y="591820"/>
                </a:lnTo>
                <a:lnTo>
                  <a:pt x="1196550" y="591820"/>
                </a:lnTo>
                <a:lnTo>
                  <a:pt x="1238275" y="640079"/>
                </a:lnTo>
                <a:lnTo>
                  <a:pt x="1255864" y="661670"/>
                </a:lnTo>
                <a:lnTo>
                  <a:pt x="1290993" y="703579"/>
                </a:lnTo>
                <a:lnTo>
                  <a:pt x="1326133" y="746760"/>
                </a:lnTo>
                <a:lnTo>
                  <a:pt x="1361236" y="788670"/>
                </a:lnTo>
                <a:lnTo>
                  <a:pt x="1378750" y="810260"/>
                </a:lnTo>
                <a:lnTo>
                  <a:pt x="1396237" y="830579"/>
                </a:lnTo>
                <a:lnTo>
                  <a:pt x="1397270" y="830579"/>
                </a:lnTo>
                <a:lnTo>
                  <a:pt x="1413713" y="849629"/>
                </a:lnTo>
                <a:lnTo>
                  <a:pt x="1431150" y="868679"/>
                </a:lnTo>
                <a:lnTo>
                  <a:pt x="1448561" y="887729"/>
                </a:lnTo>
                <a:lnTo>
                  <a:pt x="1448422" y="887729"/>
                </a:lnTo>
                <a:lnTo>
                  <a:pt x="1465922" y="905510"/>
                </a:lnTo>
                <a:lnTo>
                  <a:pt x="1465745" y="905510"/>
                </a:lnTo>
                <a:lnTo>
                  <a:pt x="1483220" y="922020"/>
                </a:lnTo>
                <a:lnTo>
                  <a:pt x="1483080" y="922020"/>
                </a:lnTo>
                <a:lnTo>
                  <a:pt x="1491805" y="929639"/>
                </a:lnTo>
                <a:lnTo>
                  <a:pt x="1500416" y="937260"/>
                </a:lnTo>
                <a:lnTo>
                  <a:pt x="1509013" y="944879"/>
                </a:lnTo>
                <a:lnTo>
                  <a:pt x="1517599" y="952500"/>
                </a:lnTo>
                <a:lnTo>
                  <a:pt x="1517446" y="952500"/>
                </a:lnTo>
                <a:lnTo>
                  <a:pt x="1526146" y="958850"/>
                </a:lnTo>
                <a:lnTo>
                  <a:pt x="1525993" y="958850"/>
                </a:lnTo>
                <a:lnTo>
                  <a:pt x="1534680" y="966470"/>
                </a:lnTo>
                <a:lnTo>
                  <a:pt x="1536252" y="966470"/>
                </a:lnTo>
                <a:lnTo>
                  <a:pt x="1543202" y="971550"/>
                </a:lnTo>
                <a:lnTo>
                  <a:pt x="1543011" y="971550"/>
                </a:lnTo>
                <a:lnTo>
                  <a:pt x="1551685" y="977900"/>
                </a:lnTo>
                <a:lnTo>
                  <a:pt x="1551482" y="977900"/>
                </a:lnTo>
                <a:lnTo>
                  <a:pt x="1560144" y="984250"/>
                </a:lnTo>
                <a:lnTo>
                  <a:pt x="1561647" y="984250"/>
                </a:lnTo>
                <a:lnTo>
                  <a:pt x="1568577" y="989329"/>
                </a:lnTo>
                <a:lnTo>
                  <a:pt x="1568322" y="989329"/>
                </a:lnTo>
                <a:lnTo>
                  <a:pt x="1576971" y="994410"/>
                </a:lnTo>
                <a:lnTo>
                  <a:pt x="1578863" y="994410"/>
                </a:lnTo>
                <a:lnTo>
                  <a:pt x="1585340" y="998220"/>
                </a:lnTo>
                <a:lnTo>
                  <a:pt x="1585048" y="998220"/>
                </a:lnTo>
                <a:lnTo>
                  <a:pt x="1593672" y="1002029"/>
                </a:lnTo>
                <a:lnTo>
                  <a:pt x="1593354" y="1002029"/>
                </a:lnTo>
                <a:lnTo>
                  <a:pt x="1601965" y="1005839"/>
                </a:lnTo>
                <a:lnTo>
                  <a:pt x="1601609" y="1005839"/>
                </a:lnTo>
                <a:lnTo>
                  <a:pt x="1610220" y="1009650"/>
                </a:lnTo>
                <a:lnTo>
                  <a:pt x="1609839" y="1009650"/>
                </a:lnTo>
                <a:lnTo>
                  <a:pt x="1618437" y="1012189"/>
                </a:lnTo>
                <a:lnTo>
                  <a:pt x="1618018" y="1012189"/>
                </a:lnTo>
                <a:lnTo>
                  <a:pt x="1626603" y="1014729"/>
                </a:lnTo>
                <a:lnTo>
                  <a:pt x="1626158" y="1014729"/>
                </a:lnTo>
                <a:lnTo>
                  <a:pt x="1634731" y="1017270"/>
                </a:lnTo>
                <a:lnTo>
                  <a:pt x="1634261" y="1017270"/>
                </a:lnTo>
                <a:lnTo>
                  <a:pt x="1642821" y="1018539"/>
                </a:lnTo>
                <a:lnTo>
                  <a:pt x="1642313" y="1018539"/>
                </a:lnTo>
                <a:lnTo>
                  <a:pt x="1650860" y="1019810"/>
                </a:lnTo>
                <a:lnTo>
                  <a:pt x="1757513" y="1019810"/>
                </a:lnTo>
                <a:lnTo>
                  <a:pt x="1745919" y="1024889"/>
                </a:lnTo>
                <a:lnTo>
                  <a:pt x="1710778" y="1035050"/>
                </a:lnTo>
                <a:lnTo>
                  <a:pt x="1684172" y="1038860"/>
                </a:lnTo>
                <a:close/>
              </a:path>
              <a:path w="2205990" h="1038860">
                <a:moveTo>
                  <a:pt x="1397270" y="830579"/>
                </a:moveTo>
                <a:lnTo>
                  <a:pt x="1396237" y="830579"/>
                </a:lnTo>
                <a:lnTo>
                  <a:pt x="1396174" y="829310"/>
                </a:lnTo>
                <a:lnTo>
                  <a:pt x="1397270" y="830579"/>
                </a:lnTo>
                <a:close/>
              </a:path>
              <a:path w="2205990" h="1038860">
                <a:moveTo>
                  <a:pt x="1874397" y="942339"/>
                </a:moveTo>
                <a:lnTo>
                  <a:pt x="1845386" y="942339"/>
                </a:lnTo>
                <a:lnTo>
                  <a:pt x="1853704" y="934720"/>
                </a:lnTo>
                <a:lnTo>
                  <a:pt x="1861896" y="927100"/>
                </a:lnTo>
                <a:lnTo>
                  <a:pt x="1861781" y="928370"/>
                </a:lnTo>
                <a:lnTo>
                  <a:pt x="1889841" y="928370"/>
                </a:lnTo>
                <a:lnTo>
                  <a:pt x="1874397" y="942339"/>
                </a:lnTo>
                <a:close/>
              </a:path>
              <a:path w="2205990" h="1038860">
                <a:moveTo>
                  <a:pt x="1783528" y="1007110"/>
                </a:moveTo>
                <a:lnTo>
                  <a:pt x="1739226" y="1007110"/>
                </a:lnTo>
                <a:lnTo>
                  <a:pt x="1747646" y="1003300"/>
                </a:lnTo>
                <a:lnTo>
                  <a:pt x="1747354" y="1003300"/>
                </a:lnTo>
                <a:lnTo>
                  <a:pt x="1755762" y="999489"/>
                </a:lnTo>
                <a:lnTo>
                  <a:pt x="1755495" y="999489"/>
                </a:lnTo>
                <a:lnTo>
                  <a:pt x="1763890" y="995679"/>
                </a:lnTo>
                <a:lnTo>
                  <a:pt x="1763636" y="995679"/>
                </a:lnTo>
                <a:lnTo>
                  <a:pt x="1772030" y="991870"/>
                </a:lnTo>
                <a:lnTo>
                  <a:pt x="1771789" y="991870"/>
                </a:lnTo>
                <a:lnTo>
                  <a:pt x="1780171" y="986789"/>
                </a:lnTo>
                <a:lnTo>
                  <a:pt x="1779943" y="986789"/>
                </a:lnTo>
                <a:lnTo>
                  <a:pt x="1788325" y="982979"/>
                </a:lnTo>
                <a:lnTo>
                  <a:pt x="1788109" y="982979"/>
                </a:lnTo>
                <a:lnTo>
                  <a:pt x="1796478" y="977900"/>
                </a:lnTo>
                <a:lnTo>
                  <a:pt x="1796275" y="977900"/>
                </a:lnTo>
                <a:lnTo>
                  <a:pt x="1804644" y="972820"/>
                </a:lnTo>
                <a:lnTo>
                  <a:pt x="1804454" y="972820"/>
                </a:lnTo>
                <a:lnTo>
                  <a:pt x="1812810" y="966470"/>
                </a:lnTo>
                <a:lnTo>
                  <a:pt x="1812632" y="966470"/>
                </a:lnTo>
                <a:lnTo>
                  <a:pt x="1820976" y="961389"/>
                </a:lnTo>
                <a:lnTo>
                  <a:pt x="1820811" y="961389"/>
                </a:lnTo>
                <a:lnTo>
                  <a:pt x="1829155" y="955039"/>
                </a:lnTo>
                <a:lnTo>
                  <a:pt x="1829003" y="955039"/>
                </a:lnTo>
                <a:lnTo>
                  <a:pt x="1837334" y="948689"/>
                </a:lnTo>
                <a:lnTo>
                  <a:pt x="1837194" y="948689"/>
                </a:lnTo>
                <a:lnTo>
                  <a:pt x="1845525" y="941070"/>
                </a:lnTo>
                <a:lnTo>
                  <a:pt x="1845386" y="942339"/>
                </a:lnTo>
                <a:lnTo>
                  <a:pt x="1874397" y="942339"/>
                </a:lnTo>
                <a:lnTo>
                  <a:pt x="1865972" y="949960"/>
                </a:lnTo>
                <a:lnTo>
                  <a:pt x="1857514" y="956310"/>
                </a:lnTo>
                <a:lnTo>
                  <a:pt x="1849056" y="963929"/>
                </a:lnTo>
                <a:lnTo>
                  <a:pt x="1823542" y="982979"/>
                </a:lnTo>
                <a:lnTo>
                  <a:pt x="1815007" y="988060"/>
                </a:lnTo>
                <a:lnTo>
                  <a:pt x="1806447" y="994410"/>
                </a:lnTo>
                <a:lnTo>
                  <a:pt x="1789277" y="1004570"/>
                </a:lnTo>
                <a:lnTo>
                  <a:pt x="1783528" y="1007110"/>
                </a:lnTo>
                <a:close/>
              </a:path>
              <a:path w="2205990" h="1038860">
                <a:moveTo>
                  <a:pt x="1536252" y="966470"/>
                </a:moveTo>
                <a:lnTo>
                  <a:pt x="1534680" y="966470"/>
                </a:lnTo>
                <a:lnTo>
                  <a:pt x="1534515" y="965200"/>
                </a:lnTo>
                <a:lnTo>
                  <a:pt x="1536252" y="966470"/>
                </a:lnTo>
                <a:close/>
              </a:path>
              <a:path w="2205990" h="1038860">
                <a:moveTo>
                  <a:pt x="1561647" y="984250"/>
                </a:moveTo>
                <a:lnTo>
                  <a:pt x="1560144" y="984250"/>
                </a:lnTo>
                <a:lnTo>
                  <a:pt x="1559915" y="982979"/>
                </a:lnTo>
                <a:lnTo>
                  <a:pt x="1561647" y="984250"/>
                </a:lnTo>
                <a:close/>
              </a:path>
              <a:path w="2205990" h="1038860">
                <a:moveTo>
                  <a:pt x="1578863" y="994410"/>
                </a:moveTo>
                <a:lnTo>
                  <a:pt x="1576971" y="994410"/>
                </a:lnTo>
                <a:lnTo>
                  <a:pt x="1576704" y="993139"/>
                </a:lnTo>
                <a:lnTo>
                  <a:pt x="1578863" y="994410"/>
                </a:lnTo>
                <a:close/>
              </a:path>
              <a:path w="2205990" h="1038860">
                <a:moveTo>
                  <a:pt x="1757513" y="1019810"/>
                </a:moveTo>
                <a:lnTo>
                  <a:pt x="1682521" y="1019810"/>
                </a:lnTo>
                <a:lnTo>
                  <a:pt x="1690992" y="1018539"/>
                </a:lnTo>
                <a:lnTo>
                  <a:pt x="1690598" y="1018539"/>
                </a:lnTo>
                <a:lnTo>
                  <a:pt x="1699069" y="1017270"/>
                </a:lnTo>
                <a:lnTo>
                  <a:pt x="1698688" y="1017270"/>
                </a:lnTo>
                <a:lnTo>
                  <a:pt x="1707159" y="1016000"/>
                </a:lnTo>
                <a:lnTo>
                  <a:pt x="1706791" y="1016000"/>
                </a:lnTo>
                <a:lnTo>
                  <a:pt x="1715236" y="1014729"/>
                </a:lnTo>
                <a:lnTo>
                  <a:pt x="1714880" y="1014729"/>
                </a:lnTo>
                <a:lnTo>
                  <a:pt x="1723326" y="1012189"/>
                </a:lnTo>
                <a:lnTo>
                  <a:pt x="1722996" y="1012189"/>
                </a:lnTo>
                <a:lnTo>
                  <a:pt x="1731429" y="1009650"/>
                </a:lnTo>
                <a:lnTo>
                  <a:pt x="1731111" y="1009650"/>
                </a:lnTo>
                <a:lnTo>
                  <a:pt x="1739531" y="1005839"/>
                </a:lnTo>
                <a:lnTo>
                  <a:pt x="1739226" y="1007110"/>
                </a:lnTo>
                <a:lnTo>
                  <a:pt x="1783528" y="1007110"/>
                </a:lnTo>
                <a:lnTo>
                  <a:pt x="1780654" y="1008379"/>
                </a:lnTo>
                <a:lnTo>
                  <a:pt x="1772005" y="1013460"/>
                </a:lnTo>
                <a:lnTo>
                  <a:pt x="1757513" y="10198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7587157" y="4531537"/>
            <a:ext cx="12700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8670213" y="4525911"/>
            <a:ext cx="12700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>
                <a:latin typeface="Times New Roman"/>
                <a:cs typeface="Times New Roman"/>
              </a:rPr>
              <a:t>2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9110167" y="4547476"/>
            <a:ext cx="59309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>
                <a:latin typeface="Times New Roman"/>
                <a:cs typeface="Times New Roman"/>
              </a:rPr>
              <a:t>t</a:t>
            </a:r>
            <a:r>
              <a:rPr dirty="0" sz="1600" spc="-70" b="1">
                <a:latin typeface="Times New Roman"/>
                <a:cs typeface="Times New Roman"/>
              </a:rPr>
              <a:t> </a:t>
            </a:r>
            <a:r>
              <a:rPr dirty="0" sz="1600" spc="-5" b="1">
                <a:latin typeface="Times New Roman"/>
                <a:cs typeface="Times New Roman"/>
              </a:rPr>
              <a:t>/10</a:t>
            </a:r>
            <a:r>
              <a:rPr dirty="0" baseline="21164" sz="1575" spc="-7" b="1">
                <a:latin typeface="Times New Roman"/>
                <a:cs typeface="Times New Roman"/>
              </a:rPr>
              <a:t>-2</a:t>
            </a:r>
            <a:r>
              <a:rPr dirty="0" sz="1600" spc="-5" b="1">
                <a:latin typeface="Times New Roman"/>
                <a:cs typeface="Times New Roman"/>
              </a:rPr>
              <a:t>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577431" y="3482339"/>
            <a:ext cx="33020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 i="1">
                <a:latin typeface="Times New Roman"/>
                <a:cs typeface="Times New Roman"/>
              </a:rPr>
              <a:t>U</a:t>
            </a:r>
            <a:r>
              <a:rPr dirty="0" sz="1600" spc="-5" b="1">
                <a:latin typeface="Times New Roman"/>
                <a:cs typeface="Times New Roman"/>
              </a:rPr>
              <a:t>/v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993231" y="3860203"/>
            <a:ext cx="31877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>
                <a:latin typeface="Times New Roman"/>
                <a:cs typeface="Times New Roman"/>
              </a:rPr>
              <a:t>3</a:t>
            </a:r>
            <a:r>
              <a:rPr dirty="0" sz="1600" spc="-95" b="1">
                <a:latin typeface="Times New Roman"/>
                <a:cs typeface="Times New Roman"/>
              </a:rPr>
              <a:t>1</a:t>
            </a:r>
            <a:r>
              <a:rPr dirty="0" sz="1600" spc="-5" b="1"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882640" y="4858765"/>
            <a:ext cx="386715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>
                <a:latin typeface="Times New Roman"/>
                <a:cs typeface="Times New Roman"/>
              </a:rPr>
              <a:t>-3</a:t>
            </a:r>
            <a:r>
              <a:rPr dirty="0" sz="1600" spc="-95" b="1">
                <a:latin typeface="Times New Roman"/>
                <a:cs typeface="Times New Roman"/>
              </a:rPr>
              <a:t>1</a:t>
            </a:r>
            <a:r>
              <a:rPr dirty="0" sz="1600" spc="-5" b="1"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171133" y="4338383"/>
            <a:ext cx="12700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>
                <a:latin typeface="Times New Roman"/>
                <a:cs typeface="Times New Roman"/>
              </a:rPr>
              <a:t>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2082164" y="4579937"/>
            <a:ext cx="2064385" cy="634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b="1">
                <a:solidFill>
                  <a:srgbClr val="FF0000"/>
                </a:solidFill>
                <a:latin typeface="方正舒体"/>
                <a:cs typeface="方正舒体"/>
              </a:rPr>
              <a:t>读图象</a:t>
            </a:r>
            <a:r>
              <a:rPr dirty="0" sz="4000" spc="-25" b="1">
                <a:solidFill>
                  <a:srgbClr val="FF0000"/>
                </a:solidFill>
                <a:latin typeface="方正舒体"/>
                <a:cs typeface="方正舒体"/>
              </a:rPr>
              <a:t>知</a:t>
            </a:r>
            <a:endParaRPr sz="4000">
              <a:latin typeface="方正舒体"/>
              <a:cs typeface="方正舒体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628139" y="1646610"/>
            <a:ext cx="3405504" cy="664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301875" algn="l"/>
              </a:tabLst>
            </a:pPr>
            <a:r>
              <a:rPr dirty="0" sz="3200" b="1" i="1">
                <a:solidFill>
                  <a:srgbClr val="000099"/>
                </a:solidFill>
                <a:latin typeface="华文楷体"/>
                <a:cs typeface="华文楷体"/>
              </a:rPr>
              <a:t>图，周期</a:t>
            </a:r>
            <a:r>
              <a:rPr dirty="0" sz="3200" b="1" i="1">
                <a:solidFill>
                  <a:srgbClr val="000099"/>
                </a:solidFill>
                <a:latin typeface="Times New Roman"/>
                <a:cs typeface="Times New Roman"/>
              </a:rPr>
              <a:t>T</a:t>
            </a:r>
            <a:r>
              <a:rPr dirty="0" sz="3200" b="1">
                <a:solidFill>
                  <a:srgbClr val="000099"/>
                </a:solidFill>
                <a:latin typeface="Times New Roman"/>
                <a:cs typeface="Times New Roman"/>
              </a:rPr>
              <a:t>=	</a:t>
            </a:r>
            <a:r>
              <a:rPr dirty="0" baseline="5291" sz="6300" spc="-1567" b="1" i="1">
                <a:solidFill>
                  <a:srgbClr val="FF0000"/>
                </a:solidFill>
                <a:latin typeface="方正舒体"/>
                <a:cs typeface="方正舒体"/>
              </a:rPr>
              <a:t>0.02</a:t>
            </a:r>
            <a:endParaRPr baseline="5291" sz="6300">
              <a:latin typeface="方正舒体"/>
              <a:cs typeface="方正舒体"/>
            </a:endParaRPr>
          </a:p>
        </p:txBody>
      </p:sp>
      <p:sp>
        <p:nvSpPr>
          <p:cNvPr id="59" name="object 59"/>
          <p:cNvSpPr txBox="1">
            <a:spLocks noGrp="1"/>
          </p:cNvSpPr>
          <p:nvPr>
            <p:ph type="title"/>
          </p:nvPr>
        </p:nvSpPr>
        <p:spPr>
          <a:xfrm>
            <a:off x="7773699" y="1606606"/>
            <a:ext cx="701040" cy="6648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200" spc="-785">
                <a:solidFill>
                  <a:srgbClr val="FF0000"/>
                </a:solidFill>
                <a:latin typeface="方正舒体"/>
                <a:cs typeface="方正舒体"/>
              </a:rPr>
              <a:t>50</a:t>
            </a:r>
            <a:endParaRPr sz="4200">
              <a:latin typeface="方正舒体"/>
              <a:cs typeface="方正舒体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628139" y="2378131"/>
            <a:ext cx="4118610" cy="664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250440" algn="l"/>
                <a:tab pos="2992120" algn="l"/>
              </a:tabLst>
            </a:pPr>
            <a:r>
              <a:rPr dirty="0" sz="3200" b="1" i="1">
                <a:solidFill>
                  <a:srgbClr val="000099"/>
                </a:solidFill>
                <a:latin typeface="华文楷体"/>
                <a:cs typeface="华文楷体"/>
              </a:rPr>
              <a:t>线圈角速度	</a:t>
            </a:r>
            <a:r>
              <a:rPr dirty="0" sz="3200" b="1">
                <a:solidFill>
                  <a:srgbClr val="000099"/>
                </a:solidFill>
                <a:latin typeface="Times New Roman"/>
                <a:cs typeface="Times New Roman"/>
              </a:rPr>
              <a:t>ω=	</a:t>
            </a:r>
            <a:r>
              <a:rPr dirty="0" u="heavy" baseline="5952" sz="6300" spc="-1162" b="1" i="1">
                <a:solidFill>
                  <a:srgbClr val="FF0000"/>
                </a:solidFill>
                <a:uFill>
                  <a:solidFill>
                    <a:srgbClr val="000099"/>
                  </a:solidFill>
                </a:uFill>
                <a:latin typeface="方正舒体"/>
                <a:cs typeface="方正舒体"/>
              </a:rPr>
              <a:t>100</a:t>
            </a:r>
            <a:r>
              <a:rPr dirty="0" u="heavy" baseline="6250" sz="6000" spc="-1162" b="1" i="1">
                <a:solidFill>
                  <a:srgbClr val="FF0000"/>
                </a:solidFill>
                <a:uFill>
                  <a:solidFill>
                    <a:srgbClr val="000099"/>
                  </a:solidFill>
                </a:uFill>
                <a:latin typeface="Times New Roman"/>
                <a:cs typeface="Times New Roman"/>
              </a:rPr>
              <a:t>π</a:t>
            </a:r>
            <a:endParaRPr baseline="6250" sz="60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3579524" y="3059168"/>
            <a:ext cx="876300" cy="664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200" spc="-994" b="1" i="1">
                <a:solidFill>
                  <a:srgbClr val="FF0000"/>
                </a:solidFill>
                <a:latin typeface="方正舒体"/>
                <a:cs typeface="方正舒体"/>
              </a:rPr>
              <a:t>100</a:t>
            </a:r>
            <a:endParaRPr sz="4200">
              <a:latin typeface="方正舒体"/>
              <a:cs typeface="方正舒体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1840" y="0"/>
            <a:ext cx="2058670" cy="634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b="1" i="1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 b="1" i="1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07372" y="4413250"/>
            <a:ext cx="1559560" cy="676910"/>
          </a:xfrm>
          <a:custGeom>
            <a:avLst/>
            <a:gdLst/>
            <a:ahLst/>
            <a:cxnLst/>
            <a:rect l="l" t="t" r="r" b="b"/>
            <a:pathLst>
              <a:path w="1559560" h="676910">
                <a:moveTo>
                  <a:pt x="809409" y="1270"/>
                </a:moveTo>
                <a:lnTo>
                  <a:pt x="742213" y="1270"/>
                </a:lnTo>
                <a:lnTo>
                  <a:pt x="753833" y="0"/>
                </a:lnTo>
                <a:lnTo>
                  <a:pt x="797788" y="0"/>
                </a:lnTo>
                <a:lnTo>
                  <a:pt x="809409" y="1270"/>
                </a:lnTo>
                <a:close/>
              </a:path>
              <a:path w="1559560" h="676910">
                <a:moveTo>
                  <a:pt x="30454" y="666750"/>
                </a:moveTo>
                <a:lnTo>
                  <a:pt x="42252" y="588010"/>
                </a:lnTo>
                <a:lnTo>
                  <a:pt x="127025" y="478789"/>
                </a:lnTo>
                <a:lnTo>
                  <a:pt x="169494" y="425450"/>
                </a:lnTo>
                <a:lnTo>
                  <a:pt x="190728" y="400050"/>
                </a:lnTo>
                <a:lnTo>
                  <a:pt x="211950" y="373379"/>
                </a:lnTo>
                <a:lnTo>
                  <a:pt x="233222" y="349250"/>
                </a:lnTo>
                <a:lnTo>
                  <a:pt x="254546" y="323850"/>
                </a:lnTo>
                <a:lnTo>
                  <a:pt x="275831" y="300989"/>
                </a:lnTo>
                <a:lnTo>
                  <a:pt x="297103" y="276860"/>
                </a:lnTo>
                <a:lnTo>
                  <a:pt x="318376" y="254000"/>
                </a:lnTo>
                <a:lnTo>
                  <a:pt x="328942" y="243839"/>
                </a:lnTo>
                <a:lnTo>
                  <a:pt x="339877" y="232410"/>
                </a:lnTo>
                <a:lnTo>
                  <a:pt x="361289" y="210820"/>
                </a:lnTo>
                <a:lnTo>
                  <a:pt x="382612" y="190500"/>
                </a:lnTo>
                <a:lnTo>
                  <a:pt x="393331" y="181610"/>
                </a:lnTo>
                <a:lnTo>
                  <a:pt x="404075" y="171450"/>
                </a:lnTo>
                <a:lnTo>
                  <a:pt x="414870" y="162560"/>
                </a:lnTo>
                <a:lnTo>
                  <a:pt x="425716" y="152400"/>
                </a:lnTo>
                <a:lnTo>
                  <a:pt x="447116" y="135889"/>
                </a:lnTo>
                <a:lnTo>
                  <a:pt x="468617" y="118110"/>
                </a:lnTo>
                <a:lnTo>
                  <a:pt x="512000" y="87629"/>
                </a:lnTo>
                <a:lnTo>
                  <a:pt x="522871" y="81279"/>
                </a:lnTo>
                <a:lnTo>
                  <a:pt x="533730" y="73660"/>
                </a:lnTo>
                <a:lnTo>
                  <a:pt x="555447" y="60960"/>
                </a:lnTo>
                <a:lnTo>
                  <a:pt x="566331" y="55879"/>
                </a:lnTo>
                <a:lnTo>
                  <a:pt x="577240" y="49529"/>
                </a:lnTo>
                <a:lnTo>
                  <a:pt x="610120" y="34289"/>
                </a:lnTo>
                <a:lnTo>
                  <a:pt x="621080" y="30479"/>
                </a:lnTo>
                <a:lnTo>
                  <a:pt x="632053" y="25400"/>
                </a:lnTo>
                <a:lnTo>
                  <a:pt x="654075" y="17779"/>
                </a:lnTo>
                <a:lnTo>
                  <a:pt x="665137" y="15239"/>
                </a:lnTo>
                <a:lnTo>
                  <a:pt x="676249" y="11429"/>
                </a:lnTo>
                <a:lnTo>
                  <a:pt x="687362" y="8889"/>
                </a:lnTo>
                <a:lnTo>
                  <a:pt x="698461" y="7620"/>
                </a:lnTo>
                <a:lnTo>
                  <a:pt x="709536" y="5079"/>
                </a:lnTo>
                <a:lnTo>
                  <a:pt x="720610" y="3810"/>
                </a:lnTo>
                <a:lnTo>
                  <a:pt x="731672" y="1270"/>
                </a:lnTo>
                <a:lnTo>
                  <a:pt x="820470" y="1270"/>
                </a:lnTo>
                <a:lnTo>
                  <a:pt x="831532" y="3810"/>
                </a:lnTo>
                <a:lnTo>
                  <a:pt x="842594" y="5079"/>
                </a:lnTo>
                <a:lnTo>
                  <a:pt x="853655" y="7620"/>
                </a:lnTo>
                <a:lnTo>
                  <a:pt x="864781" y="8889"/>
                </a:lnTo>
                <a:lnTo>
                  <a:pt x="875919" y="12700"/>
                </a:lnTo>
                <a:lnTo>
                  <a:pt x="886485" y="15239"/>
                </a:lnTo>
                <a:lnTo>
                  <a:pt x="898029" y="19050"/>
                </a:lnTo>
                <a:lnTo>
                  <a:pt x="909027" y="21589"/>
                </a:lnTo>
                <a:lnTo>
                  <a:pt x="919988" y="26670"/>
                </a:lnTo>
                <a:lnTo>
                  <a:pt x="941882" y="34289"/>
                </a:lnTo>
                <a:lnTo>
                  <a:pt x="950107" y="38100"/>
                </a:lnTo>
                <a:lnTo>
                  <a:pt x="745972" y="38100"/>
                </a:lnTo>
                <a:lnTo>
                  <a:pt x="735431" y="39370"/>
                </a:lnTo>
                <a:lnTo>
                  <a:pt x="735964" y="39370"/>
                </a:lnTo>
                <a:lnTo>
                  <a:pt x="725424" y="40639"/>
                </a:lnTo>
                <a:lnTo>
                  <a:pt x="725944" y="40639"/>
                </a:lnTo>
                <a:lnTo>
                  <a:pt x="720674" y="41910"/>
                </a:lnTo>
                <a:lnTo>
                  <a:pt x="715911" y="41910"/>
                </a:lnTo>
                <a:lnTo>
                  <a:pt x="705345" y="44450"/>
                </a:lnTo>
                <a:lnTo>
                  <a:pt x="705840" y="44450"/>
                </a:lnTo>
                <a:lnTo>
                  <a:pt x="695236" y="46989"/>
                </a:lnTo>
                <a:lnTo>
                  <a:pt x="695756" y="46989"/>
                </a:lnTo>
                <a:lnTo>
                  <a:pt x="685164" y="49529"/>
                </a:lnTo>
                <a:lnTo>
                  <a:pt x="685698" y="49529"/>
                </a:lnTo>
                <a:lnTo>
                  <a:pt x="675132" y="52070"/>
                </a:lnTo>
                <a:lnTo>
                  <a:pt x="675639" y="52070"/>
                </a:lnTo>
                <a:lnTo>
                  <a:pt x="665099" y="54610"/>
                </a:lnTo>
                <a:lnTo>
                  <a:pt x="665581" y="54610"/>
                </a:lnTo>
                <a:lnTo>
                  <a:pt x="655040" y="58420"/>
                </a:lnTo>
                <a:lnTo>
                  <a:pt x="655497" y="58420"/>
                </a:lnTo>
                <a:lnTo>
                  <a:pt x="644956" y="62229"/>
                </a:lnTo>
                <a:lnTo>
                  <a:pt x="645388" y="62229"/>
                </a:lnTo>
                <a:lnTo>
                  <a:pt x="634834" y="66039"/>
                </a:lnTo>
                <a:lnTo>
                  <a:pt x="635228" y="66039"/>
                </a:lnTo>
                <a:lnTo>
                  <a:pt x="624662" y="69850"/>
                </a:lnTo>
                <a:lnTo>
                  <a:pt x="625030" y="69850"/>
                </a:lnTo>
                <a:lnTo>
                  <a:pt x="617086" y="73660"/>
                </a:lnTo>
                <a:lnTo>
                  <a:pt x="614807" y="73660"/>
                </a:lnTo>
                <a:lnTo>
                  <a:pt x="604202" y="78739"/>
                </a:lnTo>
                <a:lnTo>
                  <a:pt x="604583" y="78739"/>
                </a:lnTo>
                <a:lnTo>
                  <a:pt x="594017" y="83820"/>
                </a:lnTo>
                <a:lnTo>
                  <a:pt x="594372" y="83820"/>
                </a:lnTo>
                <a:lnTo>
                  <a:pt x="583819" y="88900"/>
                </a:lnTo>
                <a:lnTo>
                  <a:pt x="584161" y="88900"/>
                </a:lnTo>
                <a:lnTo>
                  <a:pt x="573620" y="95250"/>
                </a:lnTo>
                <a:lnTo>
                  <a:pt x="573951" y="95250"/>
                </a:lnTo>
                <a:lnTo>
                  <a:pt x="563410" y="100329"/>
                </a:lnTo>
                <a:lnTo>
                  <a:pt x="563714" y="100329"/>
                </a:lnTo>
                <a:lnTo>
                  <a:pt x="553173" y="106679"/>
                </a:lnTo>
                <a:lnTo>
                  <a:pt x="553453" y="106679"/>
                </a:lnTo>
                <a:lnTo>
                  <a:pt x="542886" y="113029"/>
                </a:lnTo>
                <a:lnTo>
                  <a:pt x="543166" y="113029"/>
                </a:lnTo>
                <a:lnTo>
                  <a:pt x="532561" y="119379"/>
                </a:lnTo>
                <a:lnTo>
                  <a:pt x="532866" y="119379"/>
                </a:lnTo>
                <a:lnTo>
                  <a:pt x="522262" y="127000"/>
                </a:lnTo>
                <a:lnTo>
                  <a:pt x="522566" y="127000"/>
                </a:lnTo>
                <a:lnTo>
                  <a:pt x="512000" y="133350"/>
                </a:lnTo>
                <a:lnTo>
                  <a:pt x="512279" y="133350"/>
                </a:lnTo>
                <a:lnTo>
                  <a:pt x="501726" y="140970"/>
                </a:lnTo>
                <a:lnTo>
                  <a:pt x="501980" y="140970"/>
                </a:lnTo>
                <a:lnTo>
                  <a:pt x="491439" y="148589"/>
                </a:lnTo>
                <a:lnTo>
                  <a:pt x="491655" y="148589"/>
                </a:lnTo>
                <a:lnTo>
                  <a:pt x="482619" y="156210"/>
                </a:lnTo>
                <a:lnTo>
                  <a:pt x="481304" y="156210"/>
                </a:lnTo>
                <a:lnTo>
                  <a:pt x="470763" y="165100"/>
                </a:lnTo>
                <a:lnTo>
                  <a:pt x="470992" y="165100"/>
                </a:lnTo>
                <a:lnTo>
                  <a:pt x="451345" y="181610"/>
                </a:lnTo>
                <a:lnTo>
                  <a:pt x="450088" y="181610"/>
                </a:lnTo>
                <a:lnTo>
                  <a:pt x="439483" y="190500"/>
                </a:lnTo>
                <a:lnTo>
                  <a:pt x="439712" y="190500"/>
                </a:lnTo>
                <a:lnTo>
                  <a:pt x="430455" y="199389"/>
                </a:lnTo>
                <a:lnTo>
                  <a:pt x="429336" y="199389"/>
                </a:lnTo>
                <a:lnTo>
                  <a:pt x="418795" y="209550"/>
                </a:lnTo>
                <a:lnTo>
                  <a:pt x="418973" y="209550"/>
                </a:lnTo>
                <a:lnTo>
                  <a:pt x="408432" y="218439"/>
                </a:lnTo>
                <a:lnTo>
                  <a:pt x="408660" y="218439"/>
                </a:lnTo>
                <a:lnTo>
                  <a:pt x="387565" y="238760"/>
                </a:lnTo>
                <a:lnTo>
                  <a:pt x="387819" y="238760"/>
                </a:lnTo>
                <a:lnTo>
                  <a:pt x="366649" y="259079"/>
                </a:lnTo>
                <a:lnTo>
                  <a:pt x="366826" y="259079"/>
                </a:lnTo>
                <a:lnTo>
                  <a:pt x="357411" y="269239"/>
                </a:lnTo>
                <a:lnTo>
                  <a:pt x="356387" y="269239"/>
                </a:lnTo>
                <a:lnTo>
                  <a:pt x="345821" y="280670"/>
                </a:lnTo>
                <a:lnTo>
                  <a:pt x="345998" y="280670"/>
                </a:lnTo>
                <a:lnTo>
                  <a:pt x="324916" y="303529"/>
                </a:lnTo>
                <a:lnTo>
                  <a:pt x="325107" y="303529"/>
                </a:lnTo>
                <a:lnTo>
                  <a:pt x="304012" y="326389"/>
                </a:lnTo>
                <a:lnTo>
                  <a:pt x="282956" y="349250"/>
                </a:lnTo>
                <a:lnTo>
                  <a:pt x="283121" y="349250"/>
                </a:lnTo>
                <a:lnTo>
                  <a:pt x="261950" y="373379"/>
                </a:lnTo>
                <a:lnTo>
                  <a:pt x="262140" y="373379"/>
                </a:lnTo>
                <a:lnTo>
                  <a:pt x="241058" y="398779"/>
                </a:lnTo>
                <a:lnTo>
                  <a:pt x="220091" y="424179"/>
                </a:lnTo>
                <a:lnTo>
                  <a:pt x="198996" y="449579"/>
                </a:lnTo>
                <a:lnTo>
                  <a:pt x="177927" y="476250"/>
                </a:lnTo>
                <a:lnTo>
                  <a:pt x="156959" y="502920"/>
                </a:lnTo>
                <a:lnTo>
                  <a:pt x="114769" y="556260"/>
                </a:lnTo>
                <a:lnTo>
                  <a:pt x="73366" y="610870"/>
                </a:lnTo>
                <a:lnTo>
                  <a:pt x="72478" y="610870"/>
                </a:lnTo>
                <a:lnTo>
                  <a:pt x="51371" y="638810"/>
                </a:lnTo>
                <a:lnTo>
                  <a:pt x="30454" y="666750"/>
                </a:lnTo>
                <a:close/>
              </a:path>
              <a:path w="1559560" h="676910">
                <a:moveTo>
                  <a:pt x="745439" y="39370"/>
                </a:moveTo>
                <a:lnTo>
                  <a:pt x="745972" y="38100"/>
                </a:lnTo>
                <a:lnTo>
                  <a:pt x="755992" y="38100"/>
                </a:lnTo>
                <a:lnTo>
                  <a:pt x="745439" y="39370"/>
                </a:lnTo>
                <a:close/>
              </a:path>
              <a:path w="1559560" h="676910">
                <a:moveTo>
                  <a:pt x="806183" y="39370"/>
                </a:moveTo>
                <a:lnTo>
                  <a:pt x="795629" y="38100"/>
                </a:lnTo>
                <a:lnTo>
                  <a:pt x="805649" y="38100"/>
                </a:lnTo>
                <a:lnTo>
                  <a:pt x="806183" y="39370"/>
                </a:lnTo>
                <a:close/>
              </a:path>
              <a:path w="1559560" h="676910">
                <a:moveTo>
                  <a:pt x="836218" y="43179"/>
                </a:moveTo>
                <a:lnTo>
                  <a:pt x="825677" y="40639"/>
                </a:lnTo>
                <a:lnTo>
                  <a:pt x="826198" y="40639"/>
                </a:lnTo>
                <a:lnTo>
                  <a:pt x="815657" y="39370"/>
                </a:lnTo>
                <a:lnTo>
                  <a:pt x="816190" y="39370"/>
                </a:lnTo>
                <a:lnTo>
                  <a:pt x="805649" y="38100"/>
                </a:lnTo>
                <a:lnTo>
                  <a:pt x="950107" y="38100"/>
                </a:lnTo>
                <a:lnTo>
                  <a:pt x="958332" y="41910"/>
                </a:lnTo>
                <a:lnTo>
                  <a:pt x="835710" y="41910"/>
                </a:lnTo>
                <a:lnTo>
                  <a:pt x="836218" y="43179"/>
                </a:lnTo>
                <a:close/>
              </a:path>
              <a:path w="1559560" h="676910">
                <a:moveTo>
                  <a:pt x="715403" y="43179"/>
                </a:moveTo>
                <a:lnTo>
                  <a:pt x="715911" y="41910"/>
                </a:lnTo>
                <a:lnTo>
                  <a:pt x="720674" y="41910"/>
                </a:lnTo>
                <a:lnTo>
                  <a:pt x="715403" y="43179"/>
                </a:lnTo>
                <a:close/>
              </a:path>
              <a:path w="1559560" h="676910">
                <a:moveTo>
                  <a:pt x="937183" y="74929"/>
                </a:moveTo>
                <a:lnTo>
                  <a:pt x="926592" y="69850"/>
                </a:lnTo>
                <a:lnTo>
                  <a:pt x="926960" y="69850"/>
                </a:lnTo>
                <a:lnTo>
                  <a:pt x="916393" y="66039"/>
                </a:lnTo>
                <a:lnTo>
                  <a:pt x="916787" y="66039"/>
                </a:lnTo>
                <a:lnTo>
                  <a:pt x="906233" y="62229"/>
                </a:lnTo>
                <a:lnTo>
                  <a:pt x="906665" y="62229"/>
                </a:lnTo>
                <a:lnTo>
                  <a:pt x="896124" y="58420"/>
                </a:lnTo>
                <a:lnTo>
                  <a:pt x="896581" y="58420"/>
                </a:lnTo>
                <a:lnTo>
                  <a:pt x="886040" y="54610"/>
                </a:lnTo>
                <a:lnTo>
                  <a:pt x="886523" y="54610"/>
                </a:lnTo>
                <a:lnTo>
                  <a:pt x="875982" y="52070"/>
                </a:lnTo>
                <a:lnTo>
                  <a:pt x="876490" y="52070"/>
                </a:lnTo>
                <a:lnTo>
                  <a:pt x="865924" y="49529"/>
                </a:lnTo>
                <a:lnTo>
                  <a:pt x="866457" y="49529"/>
                </a:lnTo>
                <a:lnTo>
                  <a:pt x="855865" y="46989"/>
                </a:lnTo>
                <a:lnTo>
                  <a:pt x="856386" y="46989"/>
                </a:lnTo>
                <a:lnTo>
                  <a:pt x="845781" y="44450"/>
                </a:lnTo>
                <a:lnTo>
                  <a:pt x="846277" y="44450"/>
                </a:lnTo>
                <a:lnTo>
                  <a:pt x="835710" y="41910"/>
                </a:lnTo>
                <a:lnTo>
                  <a:pt x="958332" y="41910"/>
                </a:lnTo>
                <a:lnTo>
                  <a:pt x="963815" y="44450"/>
                </a:lnTo>
                <a:lnTo>
                  <a:pt x="974382" y="49529"/>
                </a:lnTo>
                <a:lnTo>
                  <a:pt x="985634" y="55879"/>
                </a:lnTo>
                <a:lnTo>
                  <a:pt x="996175" y="60960"/>
                </a:lnTo>
                <a:lnTo>
                  <a:pt x="1007338" y="67310"/>
                </a:lnTo>
                <a:lnTo>
                  <a:pt x="1018184" y="73660"/>
                </a:lnTo>
                <a:lnTo>
                  <a:pt x="936815" y="73660"/>
                </a:lnTo>
                <a:lnTo>
                  <a:pt x="937183" y="74929"/>
                </a:lnTo>
                <a:close/>
              </a:path>
              <a:path w="1559560" h="676910">
                <a:moveTo>
                  <a:pt x="614438" y="74929"/>
                </a:moveTo>
                <a:lnTo>
                  <a:pt x="614807" y="73660"/>
                </a:lnTo>
                <a:lnTo>
                  <a:pt x="617086" y="73660"/>
                </a:lnTo>
                <a:lnTo>
                  <a:pt x="614438" y="74929"/>
                </a:lnTo>
                <a:close/>
              </a:path>
              <a:path w="1559560" h="676910">
                <a:moveTo>
                  <a:pt x="1070508" y="157479"/>
                </a:moveTo>
                <a:lnTo>
                  <a:pt x="1059967" y="148589"/>
                </a:lnTo>
                <a:lnTo>
                  <a:pt x="1060183" y="148589"/>
                </a:lnTo>
                <a:lnTo>
                  <a:pt x="1049642" y="140970"/>
                </a:lnTo>
                <a:lnTo>
                  <a:pt x="1049896" y="140970"/>
                </a:lnTo>
                <a:lnTo>
                  <a:pt x="1039342" y="133350"/>
                </a:lnTo>
                <a:lnTo>
                  <a:pt x="1039622" y="133350"/>
                </a:lnTo>
                <a:lnTo>
                  <a:pt x="1029055" y="127000"/>
                </a:lnTo>
                <a:lnTo>
                  <a:pt x="1029360" y="127000"/>
                </a:lnTo>
                <a:lnTo>
                  <a:pt x="1018755" y="119379"/>
                </a:lnTo>
                <a:lnTo>
                  <a:pt x="1019060" y="119379"/>
                </a:lnTo>
                <a:lnTo>
                  <a:pt x="1008456" y="113029"/>
                </a:lnTo>
                <a:lnTo>
                  <a:pt x="1008735" y="113029"/>
                </a:lnTo>
                <a:lnTo>
                  <a:pt x="998169" y="106679"/>
                </a:lnTo>
                <a:lnTo>
                  <a:pt x="998448" y="106679"/>
                </a:lnTo>
                <a:lnTo>
                  <a:pt x="987907" y="100329"/>
                </a:lnTo>
                <a:lnTo>
                  <a:pt x="988212" y="100329"/>
                </a:lnTo>
                <a:lnTo>
                  <a:pt x="977671" y="95250"/>
                </a:lnTo>
                <a:lnTo>
                  <a:pt x="978001" y="95250"/>
                </a:lnTo>
                <a:lnTo>
                  <a:pt x="967460" y="88900"/>
                </a:lnTo>
                <a:lnTo>
                  <a:pt x="967803" y="88900"/>
                </a:lnTo>
                <a:lnTo>
                  <a:pt x="957249" y="83820"/>
                </a:lnTo>
                <a:lnTo>
                  <a:pt x="957605" y="83820"/>
                </a:lnTo>
                <a:lnTo>
                  <a:pt x="947038" y="78739"/>
                </a:lnTo>
                <a:lnTo>
                  <a:pt x="947420" y="78739"/>
                </a:lnTo>
                <a:lnTo>
                  <a:pt x="936815" y="73660"/>
                </a:lnTo>
                <a:lnTo>
                  <a:pt x="1018184" y="73660"/>
                </a:lnTo>
                <a:lnTo>
                  <a:pt x="1029017" y="81279"/>
                </a:lnTo>
                <a:lnTo>
                  <a:pt x="1039914" y="87629"/>
                </a:lnTo>
                <a:lnTo>
                  <a:pt x="1083221" y="118110"/>
                </a:lnTo>
                <a:lnTo>
                  <a:pt x="1104734" y="135889"/>
                </a:lnTo>
                <a:lnTo>
                  <a:pt x="1126159" y="152400"/>
                </a:lnTo>
                <a:lnTo>
                  <a:pt x="1130217" y="156210"/>
                </a:lnTo>
                <a:lnTo>
                  <a:pt x="1070317" y="156210"/>
                </a:lnTo>
                <a:lnTo>
                  <a:pt x="1070508" y="157479"/>
                </a:lnTo>
                <a:close/>
              </a:path>
              <a:path w="1559560" h="676910">
                <a:moveTo>
                  <a:pt x="481114" y="157479"/>
                </a:moveTo>
                <a:lnTo>
                  <a:pt x="481304" y="156210"/>
                </a:lnTo>
                <a:lnTo>
                  <a:pt x="482619" y="156210"/>
                </a:lnTo>
                <a:lnTo>
                  <a:pt x="481114" y="157479"/>
                </a:lnTo>
                <a:close/>
              </a:path>
              <a:path w="1559560" h="676910">
                <a:moveTo>
                  <a:pt x="1101788" y="182879"/>
                </a:moveTo>
                <a:lnTo>
                  <a:pt x="1080630" y="165100"/>
                </a:lnTo>
                <a:lnTo>
                  <a:pt x="1080858" y="165100"/>
                </a:lnTo>
                <a:lnTo>
                  <a:pt x="1070317" y="156210"/>
                </a:lnTo>
                <a:lnTo>
                  <a:pt x="1130217" y="156210"/>
                </a:lnTo>
                <a:lnTo>
                  <a:pt x="1136980" y="162560"/>
                </a:lnTo>
                <a:lnTo>
                  <a:pt x="1147749" y="171450"/>
                </a:lnTo>
                <a:lnTo>
                  <a:pt x="1158290" y="181610"/>
                </a:lnTo>
                <a:lnTo>
                  <a:pt x="1101534" y="181610"/>
                </a:lnTo>
                <a:lnTo>
                  <a:pt x="1101788" y="182879"/>
                </a:lnTo>
                <a:close/>
              </a:path>
              <a:path w="1559560" h="676910">
                <a:moveTo>
                  <a:pt x="449834" y="182879"/>
                </a:moveTo>
                <a:lnTo>
                  <a:pt x="450088" y="181610"/>
                </a:lnTo>
                <a:lnTo>
                  <a:pt x="451345" y="181610"/>
                </a:lnTo>
                <a:lnTo>
                  <a:pt x="449834" y="182879"/>
                </a:lnTo>
                <a:close/>
              </a:path>
              <a:path w="1559560" h="676910">
                <a:moveTo>
                  <a:pt x="1122489" y="200660"/>
                </a:moveTo>
                <a:lnTo>
                  <a:pt x="1111910" y="190500"/>
                </a:lnTo>
                <a:lnTo>
                  <a:pt x="1112139" y="190500"/>
                </a:lnTo>
                <a:lnTo>
                  <a:pt x="1101534" y="181610"/>
                </a:lnTo>
                <a:lnTo>
                  <a:pt x="1158481" y="181610"/>
                </a:lnTo>
                <a:lnTo>
                  <a:pt x="1169238" y="190500"/>
                </a:lnTo>
                <a:lnTo>
                  <a:pt x="1178572" y="199389"/>
                </a:lnTo>
                <a:lnTo>
                  <a:pt x="1122286" y="199389"/>
                </a:lnTo>
                <a:lnTo>
                  <a:pt x="1122489" y="200660"/>
                </a:lnTo>
                <a:close/>
              </a:path>
              <a:path w="1559560" h="676910">
                <a:moveTo>
                  <a:pt x="429133" y="200660"/>
                </a:moveTo>
                <a:lnTo>
                  <a:pt x="429336" y="199389"/>
                </a:lnTo>
                <a:lnTo>
                  <a:pt x="430455" y="199389"/>
                </a:lnTo>
                <a:lnTo>
                  <a:pt x="429133" y="200660"/>
                </a:lnTo>
                <a:close/>
              </a:path>
              <a:path w="1559560" h="676910">
                <a:moveTo>
                  <a:pt x="1195387" y="270510"/>
                </a:moveTo>
                <a:lnTo>
                  <a:pt x="1184795" y="259079"/>
                </a:lnTo>
                <a:lnTo>
                  <a:pt x="1184973" y="259079"/>
                </a:lnTo>
                <a:lnTo>
                  <a:pt x="1163815" y="238760"/>
                </a:lnTo>
                <a:lnTo>
                  <a:pt x="1164056" y="238760"/>
                </a:lnTo>
                <a:lnTo>
                  <a:pt x="1142961" y="218439"/>
                </a:lnTo>
                <a:lnTo>
                  <a:pt x="1143190" y="218439"/>
                </a:lnTo>
                <a:lnTo>
                  <a:pt x="1132649" y="209550"/>
                </a:lnTo>
                <a:lnTo>
                  <a:pt x="1132839" y="209550"/>
                </a:lnTo>
                <a:lnTo>
                  <a:pt x="1122286" y="199389"/>
                </a:lnTo>
                <a:lnTo>
                  <a:pt x="1178572" y="199389"/>
                </a:lnTo>
                <a:lnTo>
                  <a:pt x="1190574" y="210820"/>
                </a:lnTo>
                <a:lnTo>
                  <a:pt x="1211922" y="232410"/>
                </a:lnTo>
                <a:lnTo>
                  <a:pt x="1222679" y="243839"/>
                </a:lnTo>
                <a:lnTo>
                  <a:pt x="1233436" y="254000"/>
                </a:lnTo>
                <a:lnTo>
                  <a:pt x="1247618" y="269239"/>
                </a:lnTo>
                <a:lnTo>
                  <a:pt x="1195235" y="269239"/>
                </a:lnTo>
                <a:lnTo>
                  <a:pt x="1195387" y="270510"/>
                </a:lnTo>
                <a:close/>
              </a:path>
              <a:path w="1559560" h="676910">
                <a:moveTo>
                  <a:pt x="356235" y="270510"/>
                </a:moveTo>
                <a:lnTo>
                  <a:pt x="356387" y="269239"/>
                </a:lnTo>
                <a:lnTo>
                  <a:pt x="357411" y="269239"/>
                </a:lnTo>
                <a:lnTo>
                  <a:pt x="356235" y="270510"/>
                </a:lnTo>
                <a:close/>
              </a:path>
              <a:path w="1559560" h="676910">
                <a:moveTo>
                  <a:pt x="1521186" y="666707"/>
                </a:moveTo>
                <a:lnTo>
                  <a:pt x="1484350" y="618489"/>
                </a:lnTo>
                <a:lnTo>
                  <a:pt x="1459941" y="586739"/>
                </a:lnTo>
                <a:lnTo>
                  <a:pt x="1436814" y="556260"/>
                </a:lnTo>
                <a:lnTo>
                  <a:pt x="1394599" y="502920"/>
                </a:lnTo>
                <a:lnTo>
                  <a:pt x="1373581" y="476250"/>
                </a:lnTo>
                <a:lnTo>
                  <a:pt x="1352537" y="449579"/>
                </a:lnTo>
                <a:lnTo>
                  <a:pt x="1331455" y="424179"/>
                </a:lnTo>
                <a:lnTo>
                  <a:pt x="1310436" y="398779"/>
                </a:lnTo>
                <a:lnTo>
                  <a:pt x="1289481" y="373379"/>
                </a:lnTo>
                <a:lnTo>
                  <a:pt x="1289672" y="373379"/>
                </a:lnTo>
                <a:lnTo>
                  <a:pt x="1268501" y="349250"/>
                </a:lnTo>
                <a:lnTo>
                  <a:pt x="1268666" y="349250"/>
                </a:lnTo>
                <a:lnTo>
                  <a:pt x="1247495" y="326389"/>
                </a:lnTo>
                <a:lnTo>
                  <a:pt x="1226527" y="303529"/>
                </a:lnTo>
                <a:lnTo>
                  <a:pt x="1226705" y="303529"/>
                </a:lnTo>
                <a:lnTo>
                  <a:pt x="1205623" y="280670"/>
                </a:lnTo>
                <a:lnTo>
                  <a:pt x="1205801" y="280670"/>
                </a:lnTo>
                <a:lnTo>
                  <a:pt x="1195235" y="269239"/>
                </a:lnTo>
                <a:lnTo>
                  <a:pt x="1247618" y="269239"/>
                </a:lnTo>
                <a:lnTo>
                  <a:pt x="1254709" y="276860"/>
                </a:lnTo>
                <a:lnTo>
                  <a:pt x="1275905" y="300989"/>
                </a:lnTo>
                <a:lnTo>
                  <a:pt x="1297228" y="323850"/>
                </a:lnTo>
                <a:lnTo>
                  <a:pt x="1382217" y="425450"/>
                </a:lnTo>
                <a:lnTo>
                  <a:pt x="1424660" y="478789"/>
                </a:lnTo>
                <a:lnTo>
                  <a:pt x="1466964" y="533400"/>
                </a:lnTo>
                <a:lnTo>
                  <a:pt x="1490205" y="563879"/>
                </a:lnTo>
                <a:lnTo>
                  <a:pt x="1551660" y="643889"/>
                </a:lnTo>
                <a:lnTo>
                  <a:pt x="1521186" y="666707"/>
                </a:lnTo>
                <a:close/>
              </a:path>
              <a:path w="1559560" h="676910">
                <a:moveTo>
                  <a:pt x="72402" y="612139"/>
                </a:moveTo>
                <a:lnTo>
                  <a:pt x="72478" y="610870"/>
                </a:lnTo>
                <a:lnTo>
                  <a:pt x="73366" y="610870"/>
                </a:lnTo>
                <a:lnTo>
                  <a:pt x="72402" y="612139"/>
                </a:lnTo>
                <a:close/>
              </a:path>
              <a:path w="1559560" h="676910">
                <a:moveTo>
                  <a:pt x="1542465" y="666750"/>
                </a:moveTo>
                <a:lnTo>
                  <a:pt x="1521218" y="666750"/>
                </a:lnTo>
                <a:lnTo>
                  <a:pt x="1551660" y="643889"/>
                </a:lnTo>
                <a:lnTo>
                  <a:pt x="1559420" y="654050"/>
                </a:lnTo>
                <a:lnTo>
                  <a:pt x="1542465" y="666750"/>
                </a:lnTo>
                <a:close/>
              </a:path>
              <a:path w="1559560" h="676910">
                <a:moveTo>
                  <a:pt x="1528902" y="676910"/>
                </a:moveTo>
                <a:lnTo>
                  <a:pt x="1521129" y="666750"/>
                </a:lnTo>
                <a:lnTo>
                  <a:pt x="1542465" y="666750"/>
                </a:lnTo>
                <a:lnTo>
                  <a:pt x="1528902" y="6769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035287" y="4991696"/>
            <a:ext cx="5766435" cy="114300"/>
          </a:xfrm>
          <a:custGeom>
            <a:avLst/>
            <a:gdLst/>
            <a:ahLst/>
            <a:cxnLst/>
            <a:rect l="l" t="t" r="r" b="b"/>
            <a:pathLst>
              <a:path w="5766434" h="114300">
                <a:moveTo>
                  <a:pt x="5651495" y="38110"/>
                </a:moveTo>
                <a:lnTo>
                  <a:pt x="5651461" y="0"/>
                </a:lnTo>
                <a:lnTo>
                  <a:pt x="5727789" y="38087"/>
                </a:lnTo>
                <a:lnTo>
                  <a:pt x="5680075" y="38087"/>
                </a:lnTo>
                <a:lnTo>
                  <a:pt x="5651495" y="38110"/>
                </a:lnTo>
                <a:close/>
              </a:path>
              <a:path w="5766434" h="114300">
                <a:moveTo>
                  <a:pt x="5651529" y="76210"/>
                </a:moveTo>
                <a:lnTo>
                  <a:pt x="5651495" y="38110"/>
                </a:lnTo>
                <a:lnTo>
                  <a:pt x="5680075" y="38087"/>
                </a:lnTo>
                <a:lnTo>
                  <a:pt x="5680100" y="76187"/>
                </a:lnTo>
                <a:lnTo>
                  <a:pt x="5651529" y="76210"/>
                </a:lnTo>
                <a:close/>
              </a:path>
              <a:path w="5766434" h="114300">
                <a:moveTo>
                  <a:pt x="5651563" y="114300"/>
                </a:moveTo>
                <a:lnTo>
                  <a:pt x="5651529" y="76210"/>
                </a:lnTo>
                <a:lnTo>
                  <a:pt x="5680100" y="76187"/>
                </a:lnTo>
                <a:lnTo>
                  <a:pt x="5680075" y="38087"/>
                </a:lnTo>
                <a:lnTo>
                  <a:pt x="5727789" y="38087"/>
                </a:lnTo>
                <a:lnTo>
                  <a:pt x="5765812" y="57061"/>
                </a:lnTo>
                <a:lnTo>
                  <a:pt x="5651563" y="114300"/>
                </a:lnTo>
                <a:close/>
              </a:path>
              <a:path w="5766434" h="114300">
                <a:moveTo>
                  <a:pt x="25" y="80873"/>
                </a:moveTo>
                <a:lnTo>
                  <a:pt x="0" y="42773"/>
                </a:lnTo>
                <a:lnTo>
                  <a:pt x="5651495" y="38110"/>
                </a:lnTo>
                <a:lnTo>
                  <a:pt x="5651529" y="76210"/>
                </a:lnTo>
                <a:lnTo>
                  <a:pt x="25" y="808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978150" y="3830637"/>
            <a:ext cx="114300" cy="2320925"/>
          </a:xfrm>
          <a:custGeom>
            <a:avLst/>
            <a:gdLst/>
            <a:ahLst/>
            <a:cxnLst/>
            <a:rect l="l" t="t" r="r" b="b"/>
            <a:pathLst>
              <a:path w="114300" h="2320925">
                <a:moveTo>
                  <a:pt x="38100" y="114300"/>
                </a:moveTo>
                <a:lnTo>
                  <a:pt x="0" y="114300"/>
                </a:lnTo>
                <a:lnTo>
                  <a:pt x="57150" y="0"/>
                </a:lnTo>
                <a:lnTo>
                  <a:pt x="100012" y="85725"/>
                </a:lnTo>
                <a:lnTo>
                  <a:pt x="38100" y="85725"/>
                </a:lnTo>
                <a:lnTo>
                  <a:pt x="38100" y="114300"/>
                </a:lnTo>
                <a:close/>
              </a:path>
              <a:path w="114300" h="2320925">
                <a:moveTo>
                  <a:pt x="76200" y="2320925"/>
                </a:moveTo>
                <a:lnTo>
                  <a:pt x="38100" y="2320925"/>
                </a:lnTo>
                <a:lnTo>
                  <a:pt x="38100" y="85725"/>
                </a:lnTo>
                <a:lnTo>
                  <a:pt x="76200" y="85725"/>
                </a:lnTo>
                <a:lnTo>
                  <a:pt x="76200" y="2320925"/>
                </a:lnTo>
                <a:close/>
              </a:path>
              <a:path w="114300" h="2320925">
                <a:moveTo>
                  <a:pt x="114300" y="114300"/>
                </a:moveTo>
                <a:lnTo>
                  <a:pt x="76200" y="114300"/>
                </a:lnTo>
                <a:lnTo>
                  <a:pt x="76200" y="85725"/>
                </a:lnTo>
                <a:lnTo>
                  <a:pt x="100012" y="85725"/>
                </a:lnTo>
                <a:lnTo>
                  <a:pt x="114300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9378" y="5037709"/>
            <a:ext cx="1475105" cy="689610"/>
          </a:xfrm>
          <a:custGeom>
            <a:avLst/>
            <a:gdLst/>
            <a:ahLst/>
            <a:cxnLst/>
            <a:rect l="l" t="t" r="r" b="b"/>
            <a:pathLst>
              <a:path w="1475104" h="689610">
                <a:moveTo>
                  <a:pt x="1467523" y="31750"/>
                </a:moveTo>
                <a:lnTo>
                  <a:pt x="1436243" y="10195"/>
                </a:lnTo>
                <a:lnTo>
                  <a:pt x="1443520" y="0"/>
                </a:lnTo>
                <a:lnTo>
                  <a:pt x="1474851" y="21589"/>
                </a:lnTo>
                <a:lnTo>
                  <a:pt x="1467523" y="31750"/>
                </a:lnTo>
                <a:close/>
              </a:path>
              <a:path w="1475104" h="689610">
                <a:moveTo>
                  <a:pt x="765721" y="688339"/>
                </a:moveTo>
                <a:lnTo>
                  <a:pt x="702348" y="688339"/>
                </a:lnTo>
                <a:lnTo>
                  <a:pt x="680745" y="685800"/>
                </a:lnTo>
                <a:lnTo>
                  <a:pt x="670775" y="683260"/>
                </a:lnTo>
                <a:lnTo>
                  <a:pt x="660260" y="681989"/>
                </a:lnTo>
                <a:lnTo>
                  <a:pt x="649160" y="679450"/>
                </a:lnTo>
                <a:lnTo>
                  <a:pt x="639152" y="676910"/>
                </a:lnTo>
                <a:lnTo>
                  <a:pt x="618096" y="669289"/>
                </a:lnTo>
                <a:lnTo>
                  <a:pt x="607644" y="666750"/>
                </a:lnTo>
                <a:lnTo>
                  <a:pt x="597217" y="661670"/>
                </a:lnTo>
                <a:lnTo>
                  <a:pt x="586803" y="657860"/>
                </a:lnTo>
                <a:lnTo>
                  <a:pt x="576021" y="652779"/>
                </a:lnTo>
                <a:lnTo>
                  <a:pt x="566013" y="647700"/>
                </a:lnTo>
                <a:lnTo>
                  <a:pt x="555637" y="642620"/>
                </a:lnTo>
                <a:lnTo>
                  <a:pt x="544893" y="637539"/>
                </a:lnTo>
                <a:lnTo>
                  <a:pt x="534936" y="631189"/>
                </a:lnTo>
                <a:lnTo>
                  <a:pt x="524637" y="626110"/>
                </a:lnTo>
                <a:lnTo>
                  <a:pt x="504088" y="613410"/>
                </a:lnTo>
                <a:lnTo>
                  <a:pt x="493814" y="605789"/>
                </a:lnTo>
                <a:lnTo>
                  <a:pt x="483527" y="599439"/>
                </a:lnTo>
                <a:lnTo>
                  <a:pt x="462940" y="584200"/>
                </a:lnTo>
                <a:lnTo>
                  <a:pt x="452704" y="575310"/>
                </a:lnTo>
                <a:lnTo>
                  <a:pt x="442506" y="567689"/>
                </a:lnTo>
                <a:lnTo>
                  <a:pt x="401980" y="532129"/>
                </a:lnTo>
                <a:lnTo>
                  <a:pt x="391718" y="523239"/>
                </a:lnTo>
                <a:lnTo>
                  <a:pt x="381533" y="513079"/>
                </a:lnTo>
                <a:lnTo>
                  <a:pt x="371373" y="504189"/>
                </a:lnTo>
                <a:lnTo>
                  <a:pt x="361251" y="494029"/>
                </a:lnTo>
                <a:lnTo>
                  <a:pt x="320903" y="450850"/>
                </a:lnTo>
                <a:lnTo>
                  <a:pt x="310718" y="440689"/>
                </a:lnTo>
                <a:lnTo>
                  <a:pt x="280504" y="406400"/>
                </a:lnTo>
                <a:lnTo>
                  <a:pt x="240334" y="358139"/>
                </a:lnTo>
                <a:lnTo>
                  <a:pt x="200101" y="307339"/>
                </a:lnTo>
                <a:lnTo>
                  <a:pt x="119926" y="200660"/>
                </a:lnTo>
                <a:lnTo>
                  <a:pt x="39890" y="88900"/>
                </a:lnTo>
                <a:lnTo>
                  <a:pt x="19875" y="59689"/>
                </a:lnTo>
                <a:lnTo>
                  <a:pt x="0" y="31750"/>
                </a:lnTo>
                <a:lnTo>
                  <a:pt x="31267" y="10160"/>
                </a:lnTo>
                <a:lnTo>
                  <a:pt x="51079" y="38100"/>
                </a:lnTo>
                <a:lnTo>
                  <a:pt x="70954" y="66039"/>
                </a:lnTo>
                <a:lnTo>
                  <a:pt x="110921" y="121920"/>
                </a:lnTo>
                <a:lnTo>
                  <a:pt x="150774" y="177800"/>
                </a:lnTo>
                <a:lnTo>
                  <a:pt x="170611" y="204470"/>
                </a:lnTo>
                <a:lnTo>
                  <a:pt x="190487" y="231139"/>
                </a:lnTo>
                <a:lnTo>
                  <a:pt x="210388" y="257810"/>
                </a:lnTo>
                <a:lnTo>
                  <a:pt x="230238" y="283210"/>
                </a:lnTo>
                <a:lnTo>
                  <a:pt x="230111" y="283210"/>
                </a:lnTo>
                <a:lnTo>
                  <a:pt x="250024" y="308610"/>
                </a:lnTo>
                <a:lnTo>
                  <a:pt x="249847" y="308610"/>
                </a:lnTo>
                <a:lnTo>
                  <a:pt x="269824" y="334010"/>
                </a:lnTo>
                <a:lnTo>
                  <a:pt x="269684" y="334010"/>
                </a:lnTo>
                <a:lnTo>
                  <a:pt x="289661" y="358139"/>
                </a:lnTo>
                <a:lnTo>
                  <a:pt x="290608" y="358139"/>
                </a:lnTo>
                <a:lnTo>
                  <a:pt x="309473" y="381000"/>
                </a:lnTo>
                <a:lnTo>
                  <a:pt x="309295" y="381000"/>
                </a:lnTo>
                <a:lnTo>
                  <a:pt x="329196" y="403860"/>
                </a:lnTo>
                <a:lnTo>
                  <a:pt x="329018" y="403860"/>
                </a:lnTo>
                <a:lnTo>
                  <a:pt x="339001" y="415289"/>
                </a:lnTo>
                <a:lnTo>
                  <a:pt x="339960" y="415289"/>
                </a:lnTo>
                <a:lnTo>
                  <a:pt x="348856" y="425450"/>
                </a:lnTo>
                <a:lnTo>
                  <a:pt x="348691" y="425450"/>
                </a:lnTo>
                <a:lnTo>
                  <a:pt x="368668" y="447039"/>
                </a:lnTo>
                <a:lnTo>
                  <a:pt x="368439" y="447039"/>
                </a:lnTo>
                <a:lnTo>
                  <a:pt x="388340" y="467360"/>
                </a:lnTo>
                <a:lnTo>
                  <a:pt x="389369" y="467360"/>
                </a:lnTo>
                <a:lnTo>
                  <a:pt x="398081" y="476250"/>
                </a:lnTo>
                <a:lnTo>
                  <a:pt x="397903" y="476250"/>
                </a:lnTo>
                <a:lnTo>
                  <a:pt x="407860" y="486410"/>
                </a:lnTo>
                <a:lnTo>
                  <a:pt x="407670" y="486410"/>
                </a:lnTo>
                <a:lnTo>
                  <a:pt x="417652" y="495300"/>
                </a:lnTo>
                <a:lnTo>
                  <a:pt x="417436" y="495300"/>
                </a:lnTo>
                <a:lnTo>
                  <a:pt x="427431" y="504189"/>
                </a:lnTo>
                <a:lnTo>
                  <a:pt x="427189" y="504189"/>
                </a:lnTo>
                <a:lnTo>
                  <a:pt x="447179" y="521970"/>
                </a:lnTo>
                <a:lnTo>
                  <a:pt x="446938" y="521970"/>
                </a:lnTo>
                <a:lnTo>
                  <a:pt x="456907" y="529589"/>
                </a:lnTo>
                <a:lnTo>
                  <a:pt x="456717" y="529589"/>
                </a:lnTo>
                <a:lnTo>
                  <a:pt x="466661" y="538479"/>
                </a:lnTo>
                <a:lnTo>
                  <a:pt x="466445" y="538479"/>
                </a:lnTo>
                <a:lnTo>
                  <a:pt x="476402" y="546100"/>
                </a:lnTo>
                <a:lnTo>
                  <a:pt x="476148" y="546100"/>
                </a:lnTo>
                <a:lnTo>
                  <a:pt x="486117" y="553720"/>
                </a:lnTo>
                <a:lnTo>
                  <a:pt x="485838" y="553720"/>
                </a:lnTo>
                <a:lnTo>
                  <a:pt x="495820" y="561339"/>
                </a:lnTo>
                <a:lnTo>
                  <a:pt x="497171" y="561339"/>
                </a:lnTo>
                <a:lnTo>
                  <a:pt x="505510" y="567689"/>
                </a:lnTo>
                <a:lnTo>
                  <a:pt x="505218" y="567689"/>
                </a:lnTo>
                <a:lnTo>
                  <a:pt x="515226" y="574039"/>
                </a:lnTo>
                <a:lnTo>
                  <a:pt x="514946" y="574039"/>
                </a:lnTo>
                <a:lnTo>
                  <a:pt x="524929" y="580389"/>
                </a:lnTo>
                <a:lnTo>
                  <a:pt x="524637" y="580389"/>
                </a:lnTo>
                <a:lnTo>
                  <a:pt x="534593" y="586739"/>
                </a:lnTo>
                <a:lnTo>
                  <a:pt x="534276" y="586739"/>
                </a:lnTo>
                <a:lnTo>
                  <a:pt x="544233" y="593089"/>
                </a:lnTo>
                <a:lnTo>
                  <a:pt x="543902" y="593089"/>
                </a:lnTo>
                <a:lnTo>
                  <a:pt x="553847" y="598170"/>
                </a:lnTo>
                <a:lnTo>
                  <a:pt x="553504" y="598170"/>
                </a:lnTo>
                <a:lnTo>
                  <a:pt x="563460" y="604520"/>
                </a:lnTo>
                <a:lnTo>
                  <a:pt x="565089" y="604520"/>
                </a:lnTo>
                <a:lnTo>
                  <a:pt x="573074" y="609600"/>
                </a:lnTo>
                <a:lnTo>
                  <a:pt x="572681" y="609600"/>
                </a:lnTo>
                <a:lnTo>
                  <a:pt x="582688" y="613410"/>
                </a:lnTo>
                <a:lnTo>
                  <a:pt x="582307" y="613410"/>
                </a:lnTo>
                <a:lnTo>
                  <a:pt x="592315" y="618489"/>
                </a:lnTo>
                <a:lnTo>
                  <a:pt x="591934" y="618489"/>
                </a:lnTo>
                <a:lnTo>
                  <a:pt x="601916" y="622300"/>
                </a:lnTo>
                <a:lnTo>
                  <a:pt x="601497" y="622300"/>
                </a:lnTo>
                <a:lnTo>
                  <a:pt x="611454" y="627379"/>
                </a:lnTo>
                <a:lnTo>
                  <a:pt x="614324" y="627379"/>
                </a:lnTo>
                <a:lnTo>
                  <a:pt x="620953" y="629920"/>
                </a:lnTo>
                <a:lnTo>
                  <a:pt x="620483" y="629920"/>
                </a:lnTo>
                <a:lnTo>
                  <a:pt x="630427" y="633729"/>
                </a:lnTo>
                <a:lnTo>
                  <a:pt x="629920" y="633729"/>
                </a:lnTo>
                <a:lnTo>
                  <a:pt x="639876" y="637539"/>
                </a:lnTo>
                <a:lnTo>
                  <a:pt x="642658" y="637539"/>
                </a:lnTo>
                <a:lnTo>
                  <a:pt x="649312" y="640079"/>
                </a:lnTo>
                <a:lnTo>
                  <a:pt x="648741" y="640079"/>
                </a:lnTo>
                <a:lnTo>
                  <a:pt x="658749" y="642620"/>
                </a:lnTo>
                <a:lnTo>
                  <a:pt x="663194" y="642620"/>
                </a:lnTo>
                <a:lnTo>
                  <a:pt x="668197" y="643889"/>
                </a:lnTo>
                <a:lnTo>
                  <a:pt x="667664" y="643889"/>
                </a:lnTo>
                <a:lnTo>
                  <a:pt x="677646" y="646429"/>
                </a:lnTo>
                <a:lnTo>
                  <a:pt x="677100" y="646429"/>
                </a:lnTo>
                <a:lnTo>
                  <a:pt x="687057" y="647700"/>
                </a:lnTo>
                <a:lnTo>
                  <a:pt x="686498" y="647700"/>
                </a:lnTo>
                <a:lnTo>
                  <a:pt x="696442" y="648970"/>
                </a:lnTo>
                <a:lnTo>
                  <a:pt x="695883" y="648970"/>
                </a:lnTo>
                <a:lnTo>
                  <a:pt x="705827" y="650239"/>
                </a:lnTo>
                <a:lnTo>
                  <a:pt x="714628" y="650239"/>
                </a:lnTo>
                <a:lnTo>
                  <a:pt x="724611" y="651510"/>
                </a:lnTo>
                <a:lnTo>
                  <a:pt x="894066" y="651510"/>
                </a:lnTo>
                <a:lnTo>
                  <a:pt x="881100" y="657860"/>
                </a:lnTo>
                <a:lnTo>
                  <a:pt x="849896" y="669289"/>
                </a:lnTo>
                <a:lnTo>
                  <a:pt x="838885" y="673100"/>
                </a:lnTo>
                <a:lnTo>
                  <a:pt x="828332" y="676910"/>
                </a:lnTo>
                <a:lnTo>
                  <a:pt x="818324" y="679450"/>
                </a:lnTo>
                <a:lnTo>
                  <a:pt x="807770" y="681989"/>
                </a:lnTo>
                <a:lnTo>
                  <a:pt x="797255" y="683260"/>
                </a:lnTo>
                <a:lnTo>
                  <a:pt x="786752" y="685800"/>
                </a:lnTo>
                <a:lnTo>
                  <a:pt x="775665" y="687070"/>
                </a:lnTo>
                <a:lnTo>
                  <a:pt x="765721" y="688339"/>
                </a:lnTo>
                <a:close/>
              </a:path>
              <a:path w="1475104" h="689610">
                <a:moveTo>
                  <a:pt x="1436243" y="10195"/>
                </a:moveTo>
                <a:close/>
              </a:path>
              <a:path w="1475104" h="689610">
                <a:moveTo>
                  <a:pt x="1227302" y="358139"/>
                </a:moveTo>
                <a:lnTo>
                  <a:pt x="1177823" y="358139"/>
                </a:lnTo>
                <a:lnTo>
                  <a:pt x="1197813" y="334010"/>
                </a:lnTo>
                <a:lnTo>
                  <a:pt x="1197660" y="334010"/>
                </a:lnTo>
                <a:lnTo>
                  <a:pt x="1217650" y="308610"/>
                </a:lnTo>
                <a:lnTo>
                  <a:pt x="1217460" y="308610"/>
                </a:lnTo>
                <a:lnTo>
                  <a:pt x="1237373" y="283210"/>
                </a:lnTo>
                <a:lnTo>
                  <a:pt x="1257160" y="257810"/>
                </a:lnTo>
                <a:lnTo>
                  <a:pt x="1277086" y="231139"/>
                </a:lnTo>
                <a:lnTo>
                  <a:pt x="1296987" y="204470"/>
                </a:lnTo>
                <a:lnTo>
                  <a:pt x="1316786" y="177800"/>
                </a:lnTo>
                <a:lnTo>
                  <a:pt x="1356614" y="121920"/>
                </a:lnTo>
                <a:lnTo>
                  <a:pt x="1378470" y="91439"/>
                </a:lnTo>
                <a:lnTo>
                  <a:pt x="1401508" y="59689"/>
                </a:lnTo>
                <a:lnTo>
                  <a:pt x="1436243" y="10195"/>
                </a:lnTo>
                <a:lnTo>
                  <a:pt x="1467523" y="31750"/>
                </a:lnTo>
                <a:lnTo>
                  <a:pt x="1409496" y="114300"/>
                </a:lnTo>
                <a:lnTo>
                  <a:pt x="1387551" y="144779"/>
                </a:lnTo>
                <a:lnTo>
                  <a:pt x="1347622" y="199389"/>
                </a:lnTo>
                <a:lnTo>
                  <a:pt x="1327645" y="227329"/>
                </a:lnTo>
                <a:lnTo>
                  <a:pt x="1267510" y="307339"/>
                </a:lnTo>
                <a:lnTo>
                  <a:pt x="1227302" y="358139"/>
                </a:lnTo>
                <a:close/>
              </a:path>
              <a:path w="1475104" h="689610">
                <a:moveTo>
                  <a:pt x="290608" y="358139"/>
                </a:moveTo>
                <a:lnTo>
                  <a:pt x="289661" y="358139"/>
                </a:lnTo>
                <a:lnTo>
                  <a:pt x="289560" y="356870"/>
                </a:lnTo>
                <a:lnTo>
                  <a:pt x="290608" y="358139"/>
                </a:lnTo>
                <a:close/>
              </a:path>
              <a:path w="1475104" h="689610">
                <a:moveTo>
                  <a:pt x="1178698" y="415289"/>
                </a:moveTo>
                <a:lnTo>
                  <a:pt x="1128483" y="415289"/>
                </a:lnTo>
                <a:lnTo>
                  <a:pt x="1138466" y="403860"/>
                </a:lnTo>
                <a:lnTo>
                  <a:pt x="1138288" y="403860"/>
                </a:lnTo>
                <a:lnTo>
                  <a:pt x="1158201" y="381000"/>
                </a:lnTo>
                <a:lnTo>
                  <a:pt x="1158024" y="381000"/>
                </a:lnTo>
                <a:lnTo>
                  <a:pt x="1177937" y="356870"/>
                </a:lnTo>
                <a:lnTo>
                  <a:pt x="1177823" y="358139"/>
                </a:lnTo>
                <a:lnTo>
                  <a:pt x="1227302" y="358139"/>
                </a:lnTo>
                <a:lnTo>
                  <a:pt x="1207173" y="382270"/>
                </a:lnTo>
                <a:lnTo>
                  <a:pt x="1187157" y="405129"/>
                </a:lnTo>
                <a:lnTo>
                  <a:pt x="1178698" y="415289"/>
                </a:lnTo>
                <a:close/>
              </a:path>
              <a:path w="1475104" h="689610">
                <a:moveTo>
                  <a:pt x="339960" y="415289"/>
                </a:moveTo>
                <a:lnTo>
                  <a:pt x="339001" y="415289"/>
                </a:lnTo>
                <a:lnTo>
                  <a:pt x="338848" y="414020"/>
                </a:lnTo>
                <a:lnTo>
                  <a:pt x="339960" y="415289"/>
                </a:lnTo>
                <a:close/>
              </a:path>
              <a:path w="1475104" h="689610">
                <a:moveTo>
                  <a:pt x="1131351" y="467360"/>
                </a:moveTo>
                <a:lnTo>
                  <a:pt x="1079144" y="467360"/>
                </a:lnTo>
                <a:lnTo>
                  <a:pt x="1099058" y="447039"/>
                </a:lnTo>
                <a:lnTo>
                  <a:pt x="1098816" y="447039"/>
                </a:lnTo>
                <a:lnTo>
                  <a:pt x="1118806" y="425450"/>
                </a:lnTo>
                <a:lnTo>
                  <a:pt x="1118628" y="425450"/>
                </a:lnTo>
                <a:lnTo>
                  <a:pt x="1128636" y="414020"/>
                </a:lnTo>
                <a:lnTo>
                  <a:pt x="1128483" y="415289"/>
                </a:lnTo>
                <a:lnTo>
                  <a:pt x="1178698" y="415289"/>
                </a:lnTo>
                <a:lnTo>
                  <a:pt x="1167066" y="429260"/>
                </a:lnTo>
                <a:lnTo>
                  <a:pt x="1156919" y="440689"/>
                </a:lnTo>
                <a:lnTo>
                  <a:pt x="1146759" y="450850"/>
                </a:lnTo>
                <a:lnTo>
                  <a:pt x="1131351" y="467360"/>
                </a:lnTo>
                <a:close/>
              </a:path>
              <a:path w="1475104" h="689610">
                <a:moveTo>
                  <a:pt x="389369" y="467360"/>
                </a:moveTo>
                <a:lnTo>
                  <a:pt x="388340" y="467360"/>
                </a:lnTo>
                <a:lnTo>
                  <a:pt x="388124" y="466089"/>
                </a:lnTo>
                <a:lnTo>
                  <a:pt x="389369" y="467360"/>
                </a:lnTo>
                <a:close/>
              </a:path>
              <a:path w="1475104" h="689610">
                <a:moveTo>
                  <a:pt x="1032433" y="561339"/>
                </a:moveTo>
                <a:lnTo>
                  <a:pt x="971676" y="561339"/>
                </a:lnTo>
                <a:lnTo>
                  <a:pt x="981646" y="553720"/>
                </a:lnTo>
                <a:lnTo>
                  <a:pt x="981379" y="553720"/>
                </a:lnTo>
                <a:lnTo>
                  <a:pt x="991336" y="546100"/>
                </a:lnTo>
                <a:lnTo>
                  <a:pt x="991095" y="546100"/>
                </a:lnTo>
                <a:lnTo>
                  <a:pt x="1001039" y="538479"/>
                </a:lnTo>
                <a:lnTo>
                  <a:pt x="1000823" y="538479"/>
                </a:lnTo>
                <a:lnTo>
                  <a:pt x="1010780" y="529589"/>
                </a:lnTo>
                <a:lnTo>
                  <a:pt x="1010589" y="529589"/>
                </a:lnTo>
                <a:lnTo>
                  <a:pt x="1020546" y="521970"/>
                </a:lnTo>
                <a:lnTo>
                  <a:pt x="1020317" y="521970"/>
                </a:lnTo>
                <a:lnTo>
                  <a:pt x="1040295" y="504189"/>
                </a:lnTo>
                <a:lnTo>
                  <a:pt x="1040053" y="504189"/>
                </a:lnTo>
                <a:lnTo>
                  <a:pt x="1050061" y="495300"/>
                </a:lnTo>
                <a:lnTo>
                  <a:pt x="1049845" y="495300"/>
                </a:lnTo>
                <a:lnTo>
                  <a:pt x="1059814" y="486410"/>
                </a:lnTo>
                <a:lnTo>
                  <a:pt x="1059624" y="486410"/>
                </a:lnTo>
                <a:lnTo>
                  <a:pt x="1069581" y="476250"/>
                </a:lnTo>
                <a:lnTo>
                  <a:pt x="1069416" y="476250"/>
                </a:lnTo>
                <a:lnTo>
                  <a:pt x="1079360" y="466089"/>
                </a:lnTo>
                <a:lnTo>
                  <a:pt x="1079144" y="467360"/>
                </a:lnTo>
                <a:lnTo>
                  <a:pt x="1131351" y="467360"/>
                </a:lnTo>
                <a:lnTo>
                  <a:pt x="1106462" y="494029"/>
                </a:lnTo>
                <a:lnTo>
                  <a:pt x="1096289" y="504189"/>
                </a:lnTo>
                <a:lnTo>
                  <a:pt x="1086154" y="513079"/>
                </a:lnTo>
                <a:lnTo>
                  <a:pt x="1075982" y="523239"/>
                </a:lnTo>
                <a:lnTo>
                  <a:pt x="1032433" y="561339"/>
                </a:lnTo>
                <a:close/>
              </a:path>
              <a:path w="1475104" h="689610">
                <a:moveTo>
                  <a:pt x="497171" y="561339"/>
                </a:moveTo>
                <a:lnTo>
                  <a:pt x="495820" y="561339"/>
                </a:lnTo>
                <a:lnTo>
                  <a:pt x="495503" y="560070"/>
                </a:lnTo>
                <a:lnTo>
                  <a:pt x="497171" y="561339"/>
                </a:lnTo>
                <a:close/>
              </a:path>
              <a:path w="1475104" h="689610">
                <a:moveTo>
                  <a:pt x="975666" y="604520"/>
                </a:moveTo>
                <a:lnTo>
                  <a:pt x="904024" y="604520"/>
                </a:lnTo>
                <a:lnTo>
                  <a:pt x="913993" y="598170"/>
                </a:lnTo>
                <a:lnTo>
                  <a:pt x="913638" y="598170"/>
                </a:lnTo>
                <a:lnTo>
                  <a:pt x="923594" y="593089"/>
                </a:lnTo>
                <a:lnTo>
                  <a:pt x="923264" y="593089"/>
                </a:lnTo>
                <a:lnTo>
                  <a:pt x="933208" y="586739"/>
                </a:lnTo>
                <a:lnTo>
                  <a:pt x="932891" y="586739"/>
                </a:lnTo>
                <a:lnTo>
                  <a:pt x="942860" y="580389"/>
                </a:lnTo>
                <a:lnTo>
                  <a:pt x="942568" y="580389"/>
                </a:lnTo>
                <a:lnTo>
                  <a:pt x="952538" y="574039"/>
                </a:lnTo>
                <a:lnTo>
                  <a:pt x="952271" y="574039"/>
                </a:lnTo>
                <a:lnTo>
                  <a:pt x="962278" y="567689"/>
                </a:lnTo>
                <a:lnTo>
                  <a:pt x="961974" y="567689"/>
                </a:lnTo>
                <a:lnTo>
                  <a:pt x="971981" y="560070"/>
                </a:lnTo>
                <a:lnTo>
                  <a:pt x="971676" y="561339"/>
                </a:lnTo>
                <a:lnTo>
                  <a:pt x="1032433" y="561339"/>
                </a:lnTo>
                <a:lnTo>
                  <a:pt x="1025194" y="567689"/>
                </a:lnTo>
                <a:lnTo>
                  <a:pt x="1015022" y="575310"/>
                </a:lnTo>
                <a:lnTo>
                  <a:pt x="1004824" y="584200"/>
                </a:lnTo>
                <a:lnTo>
                  <a:pt x="994575" y="591820"/>
                </a:lnTo>
                <a:lnTo>
                  <a:pt x="984250" y="598170"/>
                </a:lnTo>
                <a:lnTo>
                  <a:pt x="975666" y="604520"/>
                </a:lnTo>
                <a:close/>
              </a:path>
              <a:path w="1475104" h="689610">
                <a:moveTo>
                  <a:pt x="565089" y="604520"/>
                </a:moveTo>
                <a:lnTo>
                  <a:pt x="563460" y="604520"/>
                </a:lnTo>
                <a:lnTo>
                  <a:pt x="563092" y="603250"/>
                </a:lnTo>
                <a:lnTo>
                  <a:pt x="565089" y="604520"/>
                </a:lnTo>
                <a:close/>
              </a:path>
              <a:path w="1475104" h="689610">
                <a:moveTo>
                  <a:pt x="940609" y="627379"/>
                </a:moveTo>
                <a:lnTo>
                  <a:pt x="856030" y="627379"/>
                </a:lnTo>
                <a:lnTo>
                  <a:pt x="866000" y="622300"/>
                </a:lnTo>
                <a:lnTo>
                  <a:pt x="865581" y="622300"/>
                </a:lnTo>
                <a:lnTo>
                  <a:pt x="875563" y="618489"/>
                </a:lnTo>
                <a:lnTo>
                  <a:pt x="875169" y="618489"/>
                </a:lnTo>
                <a:lnTo>
                  <a:pt x="885177" y="613410"/>
                </a:lnTo>
                <a:lnTo>
                  <a:pt x="884796" y="613410"/>
                </a:lnTo>
                <a:lnTo>
                  <a:pt x="894803" y="609600"/>
                </a:lnTo>
                <a:lnTo>
                  <a:pt x="894422" y="609600"/>
                </a:lnTo>
                <a:lnTo>
                  <a:pt x="904392" y="603250"/>
                </a:lnTo>
                <a:lnTo>
                  <a:pt x="904024" y="604520"/>
                </a:lnTo>
                <a:lnTo>
                  <a:pt x="975666" y="604520"/>
                </a:lnTo>
                <a:lnTo>
                  <a:pt x="973950" y="605789"/>
                </a:lnTo>
                <a:lnTo>
                  <a:pt x="963701" y="612139"/>
                </a:lnTo>
                <a:lnTo>
                  <a:pt x="953439" y="619760"/>
                </a:lnTo>
                <a:lnTo>
                  <a:pt x="943178" y="626110"/>
                </a:lnTo>
                <a:lnTo>
                  <a:pt x="940609" y="627379"/>
                </a:lnTo>
                <a:close/>
              </a:path>
              <a:path w="1475104" h="689610">
                <a:moveTo>
                  <a:pt x="614324" y="627379"/>
                </a:moveTo>
                <a:lnTo>
                  <a:pt x="611454" y="627379"/>
                </a:lnTo>
                <a:lnTo>
                  <a:pt x="611009" y="626110"/>
                </a:lnTo>
                <a:lnTo>
                  <a:pt x="614324" y="627379"/>
                </a:lnTo>
                <a:close/>
              </a:path>
              <a:path w="1475104" h="689610">
                <a:moveTo>
                  <a:pt x="922591" y="637539"/>
                </a:moveTo>
                <a:lnTo>
                  <a:pt x="827608" y="637539"/>
                </a:lnTo>
                <a:lnTo>
                  <a:pt x="837577" y="633729"/>
                </a:lnTo>
                <a:lnTo>
                  <a:pt x="837056" y="633729"/>
                </a:lnTo>
                <a:lnTo>
                  <a:pt x="847013" y="629920"/>
                </a:lnTo>
                <a:lnTo>
                  <a:pt x="846531" y="629920"/>
                </a:lnTo>
                <a:lnTo>
                  <a:pt x="856488" y="626110"/>
                </a:lnTo>
                <a:lnTo>
                  <a:pt x="856030" y="627379"/>
                </a:lnTo>
                <a:lnTo>
                  <a:pt x="940609" y="627379"/>
                </a:lnTo>
                <a:lnTo>
                  <a:pt x="932903" y="631189"/>
                </a:lnTo>
                <a:lnTo>
                  <a:pt x="922591" y="637539"/>
                </a:lnTo>
                <a:close/>
              </a:path>
              <a:path w="1475104" h="689610">
                <a:moveTo>
                  <a:pt x="642658" y="637539"/>
                </a:moveTo>
                <a:lnTo>
                  <a:pt x="639876" y="637539"/>
                </a:lnTo>
                <a:lnTo>
                  <a:pt x="639330" y="636270"/>
                </a:lnTo>
                <a:lnTo>
                  <a:pt x="642658" y="637539"/>
                </a:lnTo>
                <a:close/>
              </a:path>
              <a:path w="1475104" h="689610">
                <a:moveTo>
                  <a:pt x="912218" y="642620"/>
                </a:moveTo>
                <a:lnTo>
                  <a:pt x="808736" y="642620"/>
                </a:lnTo>
                <a:lnTo>
                  <a:pt x="818743" y="640079"/>
                </a:lnTo>
                <a:lnTo>
                  <a:pt x="818172" y="640079"/>
                </a:lnTo>
                <a:lnTo>
                  <a:pt x="828154" y="636270"/>
                </a:lnTo>
                <a:lnTo>
                  <a:pt x="827608" y="637539"/>
                </a:lnTo>
                <a:lnTo>
                  <a:pt x="922591" y="637539"/>
                </a:lnTo>
                <a:lnTo>
                  <a:pt x="912218" y="642620"/>
                </a:lnTo>
                <a:close/>
              </a:path>
              <a:path w="1475104" h="689610">
                <a:moveTo>
                  <a:pt x="663194" y="642620"/>
                </a:moveTo>
                <a:lnTo>
                  <a:pt x="658749" y="642620"/>
                </a:lnTo>
                <a:lnTo>
                  <a:pt x="658190" y="641350"/>
                </a:lnTo>
                <a:lnTo>
                  <a:pt x="663194" y="642620"/>
                </a:lnTo>
                <a:close/>
              </a:path>
              <a:path w="1475104" h="689610">
                <a:moveTo>
                  <a:pt x="894066" y="651510"/>
                </a:moveTo>
                <a:lnTo>
                  <a:pt x="742886" y="651510"/>
                </a:lnTo>
                <a:lnTo>
                  <a:pt x="752855" y="650239"/>
                </a:lnTo>
                <a:lnTo>
                  <a:pt x="761657" y="650239"/>
                </a:lnTo>
                <a:lnTo>
                  <a:pt x="771613" y="648970"/>
                </a:lnTo>
                <a:lnTo>
                  <a:pt x="771042" y="648970"/>
                </a:lnTo>
                <a:lnTo>
                  <a:pt x="780986" y="647700"/>
                </a:lnTo>
                <a:lnTo>
                  <a:pt x="780427" y="647700"/>
                </a:lnTo>
                <a:lnTo>
                  <a:pt x="790397" y="646429"/>
                </a:lnTo>
                <a:lnTo>
                  <a:pt x="789838" y="646429"/>
                </a:lnTo>
                <a:lnTo>
                  <a:pt x="799820" y="643889"/>
                </a:lnTo>
                <a:lnTo>
                  <a:pt x="799287" y="643889"/>
                </a:lnTo>
                <a:lnTo>
                  <a:pt x="809294" y="641350"/>
                </a:lnTo>
                <a:lnTo>
                  <a:pt x="808736" y="642620"/>
                </a:lnTo>
                <a:lnTo>
                  <a:pt x="912218" y="642620"/>
                </a:lnTo>
                <a:lnTo>
                  <a:pt x="894066" y="651510"/>
                </a:lnTo>
                <a:close/>
              </a:path>
              <a:path w="1475104" h="689610">
                <a:moveTo>
                  <a:pt x="744042" y="689610"/>
                </a:moveTo>
                <a:lnTo>
                  <a:pt x="723442" y="689610"/>
                </a:lnTo>
                <a:lnTo>
                  <a:pt x="712304" y="688339"/>
                </a:lnTo>
                <a:lnTo>
                  <a:pt x="755180" y="688339"/>
                </a:lnTo>
                <a:lnTo>
                  <a:pt x="744042" y="6896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315235" y="3434943"/>
            <a:ext cx="142836" cy="2691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393886" y="3434943"/>
            <a:ext cx="613448" cy="2696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022600" y="4425950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089275" y="4425950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155950" y="4425950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222625" y="4425950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289300" y="4425950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355975" y="4425950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422650" y="4425950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489325" y="4425950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556000" y="4425950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622675" y="4425950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689350" y="4425950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756025" y="4425950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822700" y="4425950"/>
            <a:ext cx="27305" cy="9525"/>
          </a:xfrm>
          <a:custGeom>
            <a:avLst/>
            <a:gdLst/>
            <a:ahLst/>
            <a:cxnLst/>
            <a:rect l="l" t="t" r="r" b="b"/>
            <a:pathLst>
              <a:path w="27304" h="9525">
                <a:moveTo>
                  <a:pt x="26987" y="9525"/>
                </a:moveTo>
                <a:lnTo>
                  <a:pt x="0" y="9525"/>
                </a:lnTo>
                <a:lnTo>
                  <a:pt x="0" y="0"/>
                </a:lnTo>
                <a:lnTo>
                  <a:pt x="26987" y="0"/>
                </a:lnTo>
                <a:lnTo>
                  <a:pt x="26987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210612" y="4364075"/>
            <a:ext cx="417118" cy="26874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8695105" y="5162537"/>
            <a:ext cx="147751" cy="23704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8850248" y="5130393"/>
            <a:ext cx="326707" cy="26963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113368" y="5642012"/>
            <a:ext cx="522300" cy="26874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141662" y="5695950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208337" y="5695950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275012" y="5695950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341687" y="5695950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408362" y="5695950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475037" y="5695950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541712" y="5695950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608387" y="5695950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675062" y="5695950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741737" y="5695950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808412" y="5695950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875087" y="5695950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941762" y="5695950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4008437" y="5695950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4075112" y="5695950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4141787" y="5695950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4208462" y="5695950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4275137" y="5695950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4341812" y="5695950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4408487" y="5695950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4475162" y="5695950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4541837" y="5695950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4608512" y="5695950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4675187" y="5695950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4741862" y="5695950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4808537" y="5695950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4875212" y="5695950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4941887" y="5695950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5008562" y="5695950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5075237" y="5695950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5141912" y="5695950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5208587" y="5695950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5672950" y="5111787"/>
            <a:ext cx="566102" cy="26874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4087037" y="5111787"/>
            <a:ext cx="557618" cy="26874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 txBox="1">
            <a:spLocks noGrp="1"/>
          </p:cNvSpPr>
          <p:nvPr>
            <p:ph type="title"/>
          </p:nvPr>
        </p:nvSpPr>
        <p:spPr>
          <a:xfrm>
            <a:off x="2272664" y="534670"/>
            <a:ext cx="6144260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i="0">
                <a:solidFill>
                  <a:srgbClr val="FF0000"/>
                </a:solidFill>
                <a:latin typeface="黑体"/>
                <a:cs typeface="黑体"/>
              </a:rPr>
              <a:t>二、交流电的“四值</a:t>
            </a:r>
            <a:r>
              <a:rPr dirty="0" sz="4800" spc="-20" i="0">
                <a:solidFill>
                  <a:srgbClr val="FF0000"/>
                </a:solidFill>
                <a:latin typeface="黑体"/>
                <a:cs typeface="黑体"/>
              </a:rPr>
              <a:t>”</a:t>
            </a:r>
            <a:endParaRPr sz="4800">
              <a:latin typeface="黑体"/>
              <a:cs typeface="黑体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510540" y="1792604"/>
            <a:ext cx="851598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solidFill>
                  <a:srgbClr val="000099"/>
                </a:solidFill>
                <a:latin typeface="Times New Roman"/>
                <a:cs typeface="Times New Roman"/>
              </a:rPr>
              <a:t>1</a:t>
            </a:r>
            <a:r>
              <a:rPr dirty="0" sz="3600" b="1">
                <a:solidFill>
                  <a:srgbClr val="000099"/>
                </a:solidFill>
                <a:latin typeface="黑体"/>
                <a:cs typeface="黑体"/>
              </a:rPr>
              <a:t>、峰值：</a:t>
            </a:r>
            <a:r>
              <a:rPr dirty="0" sz="3600" b="1">
                <a:latin typeface="黑体"/>
                <a:cs typeface="黑体"/>
              </a:rPr>
              <a:t>电流或电压所能达到的最大值</a:t>
            </a:r>
            <a:r>
              <a:rPr dirty="0" sz="3600" spc="-15" b="1">
                <a:latin typeface="黑体"/>
                <a:cs typeface="黑体"/>
              </a:rPr>
              <a:t>。</a:t>
            </a:r>
            <a:endParaRPr sz="3600">
              <a:latin typeface="黑体"/>
              <a:cs typeface="黑体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2059939" y="2530157"/>
            <a:ext cx="2510790" cy="6972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spc="-5" b="1" i="1">
                <a:solidFill>
                  <a:srgbClr val="FF3300"/>
                </a:solidFill>
                <a:latin typeface="Times New Roman"/>
                <a:cs typeface="Times New Roman"/>
              </a:rPr>
              <a:t>E</a:t>
            </a:r>
            <a:r>
              <a:rPr dirty="0" baseline="-17543" sz="4275" spc="-7" b="1">
                <a:solidFill>
                  <a:srgbClr val="FF3300"/>
                </a:solidFill>
                <a:latin typeface="Times New Roman"/>
                <a:cs typeface="Times New Roman"/>
              </a:rPr>
              <a:t>m</a:t>
            </a:r>
            <a:r>
              <a:rPr dirty="0" sz="4400" spc="-5" b="1">
                <a:solidFill>
                  <a:srgbClr val="FF3300"/>
                </a:solidFill>
                <a:latin typeface="Times New Roman"/>
                <a:cs typeface="Times New Roman"/>
              </a:rPr>
              <a:t>=</a:t>
            </a:r>
            <a:r>
              <a:rPr dirty="0" sz="4400" spc="-5" b="1" i="1">
                <a:solidFill>
                  <a:srgbClr val="FF3300"/>
                </a:solidFill>
                <a:latin typeface="Times New Roman"/>
                <a:cs typeface="Times New Roman"/>
              </a:rPr>
              <a:t>NBSω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6277813" y="3247898"/>
            <a:ext cx="1160780" cy="0"/>
          </a:xfrm>
          <a:custGeom>
            <a:avLst/>
            <a:gdLst/>
            <a:ahLst/>
            <a:cxnLst/>
            <a:rect l="l" t="t" r="r" b="b"/>
            <a:pathLst>
              <a:path w="1160779" h="0">
                <a:moveTo>
                  <a:pt x="0" y="0"/>
                </a:moveTo>
                <a:lnTo>
                  <a:pt x="1160576" y="0"/>
                </a:lnTo>
              </a:path>
            </a:pathLst>
          </a:custGeom>
          <a:ln w="26733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8022970" y="3247898"/>
            <a:ext cx="753745" cy="0"/>
          </a:xfrm>
          <a:custGeom>
            <a:avLst/>
            <a:gdLst/>
            <a:ahLst/>
            <a:cxnLst/>
            <a:rect l="l" t="t" r="r" b="b"/>
            <a:pathLst>
              <a:path w="753745" h="0">
                <a:moveTo>
                  <a:pt x="0" y="0"/>
                </a:moveTo>
                <a:lnTo>
                  <a:pt x="753668" y="0"/>
                </a:lnTo>
              </a:path>
            </a:pathLst>
          </a:custGeom>
          <a:ln w="26733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 txBox="1"/>
          <p:nvPr/>
        </p:nvSpPr>
        <p:spPr>
          <a:xfrm>
            <a:off x="5391086" y="3198634"/>
            <a:ext cx="262255" cy="394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400" spc="-5">
                <a:solidFill>
                  <a:srgbClr val="0000FF"/>
                </a:solidFill>
                <a:latin typeface="Times New Roman"/>
                <a:cs typeface="Times New Roman"/>
              </a:rPr>
              <a:t>m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5176164" y="2837624"/>
            <a:ext cx="965200" cy="6635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662940" algn="l"/>
              </a:tabLst>
            </a:pPr>
            <a:r>
              <a:rPr dirty="0" sz="4150" spc="-5" i="1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dirty="0" sz="4150" spc="-5" i="1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sz="4150" spc="-5">
                <a:solidFill>
                  <a:srgbClr val="0000FF"/>
                </a:solidFill>
                <a:latin typeface="Symbol"/>
                <a:cs typeface="Symbol"/>
              </a:rPr>
              <a:t></a:t>
            </a:r>
            <a:endParaRPr sz="4150">
              <a:latin typeface="Symbol"/>
              <a:cs typeface="Symbo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6316688" y="2389748"/>
            <a:ext cx="2377440" cy="1525905"/>
          </a:xfrm>
          <a:prstGeom prst="rect">
            <a:avLst/>
          </a:prstGeom>
        </p:spPr>
        <p:txBody>
          <a:bodyPr wrap="square" lIns="0" tIns="129540" rIns="0" bIns="0" rtlCol="0" vert="horz">
            <a:spAutoFit/>
          </a:bodyPr>
          <a:lstStyle/>
          <a:p>
            <a:pPr marL="233045">
              <a:lnSpc>
                <a:spcPct val="100000"/>
              </a:lnSpc>
              <a:spcBef>
                <a:spcPts val="1020"/>
              </a:spcBef>
              <a:tabLst>
                <a:tab pos="1267460" algn="l"/>
              </a:tabLst>
            </a:pPr>
            <a:r>
              <a:rPr dirty="0" sz="4150" spc="50" i="1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dirty="0" baseline="-25462" sz="3600" spc="75">
                <a:solidFill>
                  <a:srgbClr val="0000FF"/>
                </a:solidFill>
                <a:latin typeface="Times New Roman"/>
                <a:cs typeface="Times New Roman"/>
              </a:rPr>
              <a:t>m	</a:t>
            </a:r>
            <a:r>
              <a:rPr dirty="0" baseline="-35475" sz="6225" spc="-7">
                <a:solidFill>
                  <a:srgbClr val="0000FF"/>
                </a:solidFill>
                <a:latin typeface="Symbol"/>
                <a:cs typeface="Symbol"/>
              </a:rPr>
              <a:t></a:t>
            </a:r>
            <a:r>
              <a:rPr dirty="0" baseline="-35475" sz="6225" spc="-7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4150" spc="-5" i="1">
                <a:solidFill>
                  <a:srgbClr val="0000FF"/>
                </a:solidFill>
                <a:latin typeface="Times New Roman"/>
                <a:cs typeface="Times New Roman"/>
              </a:rPr>
              <a:t>U</a:t>
            </a:r>
            <a:r>
              <a:rPr dirty="0" sz="4150" spc="-675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-25462" sz="3600" spc="-7">
                <a:solidFill>
                  <a:srgbClr val="0000FF"/>
                </a:solidFill>
                <a:latin typeface="Times New Roman"/>
                <a:cs typeface="Times New Roman"/>
              </a:rPr>
              <a:t>m</a:t>
            </a:r>
            <a:endParaRPr baseline="-25462" sz="3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  <a:tabLst>
                <a:tab pos="1923414" algn="l"/>
              </a:tabLst>
            </a:pPr>
            <a:r>
              <a:rPr dirty="0" sz="4150" spc="-5" i="1">
                <a:solidFill>
                  <a:srgbClr val="0000FF"/>
                </a:solidFill>
                <a:latin typeface="Times New Roman"/>
                <a:cs typeface="Times New Roman"/>
              </a:rPr>
              <a:t>R</a:t>
            </a:r>
            <a:r>
              <a:rPr dirty="0" sz="4150" spc="-120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4150" spc="-5">
                <a:solidFill>
                  <a:srgbClr val="0000FF"/>
                </a:solidFill>
                <a:latin typeface="Symbol"/>
                <a:cs typeface="Symbol"/>
              </a:rPr>
              <a:t></a:t>
            </a:r>
            <a:r>
              <a:rPr dirty="0" sz="4150" spc="-13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4150" spc="-5" i="1">
                <a:solidFill>
                  <a:srgbClr val="0000FF"/>
                </a:solidFill>
                <a:latin typeface="Times New Roman"/>
                <a:cs typeface="Times New Roman"/>
              </a:rPr>
              <a:t>r	R</a:t>
            </a:r>
            <a:endParaRPr sz="415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4768215" y="3999547"/>
            <a:ext cx="5517515" cy="6972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b="1">
                <a:solidFill>
                  <a:srgbClr val="FF3300"/>
                </a:solidFill>
                <a:latin typeface="方正舒体"/>
                <a:cs typeface="方正舒体"/>
              </a:rPr>
              <a:t>由图象知：</a:t>
            </a:r>
            <a:r>
              <a:rPr dirty="0" sz="4400" b="1" i="1">
                <a:solidFill>
                  <a:srgbClr val="FF3300"/>
                </a:solidFill>
                <a:latin typeface="Times New Roman"/>
                <a:cs typeface="Times New Roman"/>
              </a:rPr>
              <a:t>I</a:t>
            </a:r>
            <a:r>
              <a:rPr dirty="0" baseline="-17543" sz="4275" b="1">
                <a:solidFill>
                  <a:srgbClr val="FF3300"/>
                </a:solidFill>
                <a:latin typeface="Times New Roman"/>
                <a:cs typeface="Times New Roman"/>
              </a:rPr>
              <a:t>m</a:t>
            </a:r>
            <a:r>
              <a:rPr dirty="0" sz="4400" b="1">
                <a:solidFill>
                  <a:srgbClr val="FF3300"/>
                </a:solidFill>
                <a:latin typeface="Times New Roman"/>
                <a:cs typeface="Times New Roman"/>
              </a:rPr>
              <a:t>=</a:t>
            </a:r>
            <a:r>
              <a:rPr dirty="0" sz="4400" spc="-45" b="1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dirty="0" sz="4400" spc="-5" b="1">
                <a:solidFill>
                  <a:srgbClr val="FF3300"/>
                </a:solidFill>
                <a:latin typeface="Times New Roman"/>
                <a:cs typeface="Times New Roman"/>
              </a:rPr>
              <a:t>0.5</a:t>
            </a:r>
            <a:r>
              <a:rPr dirty="0" sz="4400" spc="-35" b="1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dirty="0" sz="4400" b="1">
                <a:solidFill>
                  <a:srgbClr val="FF3300"/>
                </a:solidFill>
                <a:latin typeface="Times New Roman"/>
                <a:cs typeface="Times New Roman"/>
              </a:rPr>
              <a:t>mA</a:t>
            </a:r>
            <a:endParaRPr sz="4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1181100" y="2014727"/>
            <a:ext cx="9986772" cy="35158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669106" y="4129404"/>
            <a:ext cx="3332479" cy="1809114"/>
          </a:xfrm>
          <a:custGeom>
            <a:avLst/>
            <a:gdLst/>
            <a:ahLst/>
            <a:cxnLst/>
            <a:rect l="l" t="t" r="r" b="b"/>
            <a:pathLst>
              <a:path w="3332479" h="1809114">
                <a:moveTo>
                  <a:pt x="3231730" y="1772729"/>
                </a:moveTo>
                <a:lnTo>
                  <a:pt x="0" y="27940"/>
                </a:lnTo>
                <a:lnTo>
                  <a:pt x="15087" y="0"/>
                </a:lnTo>
                <a:lnTo>
                  <a:pt x="3246808" y="1744784"/>
                </a:lnTo>
                <a:lnTo>
                  <a:pt x="3262553" y="1771332"/>
                </a:lnTo>
                <a:lnTo>
                  <a:pt x="3231730" y="1772729"/>
                </a:lnTo>
                <a:close/>
              </a:path>
              <a:path w="3332479" h="1809114">
                <a:moveTo>
                  <a:pt x="3318121" y="1794725"/>
                </a:moveTo>
                <a:lnTo>
                  <a:pt x="3272472" y="1794725"/>
                </a:lnTo>
                <a:lnTo>
                  <a:pt x="3287560" y="1766785"/>
                </a:lnTo>
                <a:lnTo>
                  <a:pt x="3246808" y="1744784"/>
                </a:lnTo>
                <a:lnTo>
                  <a:pt x="3215335" y="1691716"/>
                </a:lnTo>
                <a:lnTo>
                  <a:pt x="3318121" y="1794725"/>
                </a:lnTo>
                <a:close/>
              </a:path>
              <a:path w="3332479" h="1809114">
                <a:moveTo>
                  <a:pt x="3272472" y="1794725"/>
                </a:moveTo>
                <a:lnTo>
                  <a:pt x="3231730" y="1772729"/>
                </a:lnTo>
                <a:lnTo>
                  <a:pt x="3262553" y="1771332"/>
                </a:lnTo>
                <a:lnTo>
                  <a:pt x="3246808" y="1744784"/>
                </a:lnTo>
                <a:lnTo>
                  <a:pt x="3287560" y="1766785"/>
                </a:lnTo>
                <a:lnTo>
                  <a:pt x="3272472" y="1794725"/>
                </a:lnTo>
                <a:close/>
              </a:path>
              <a:path w="3332479" h="1809114">
                <a:moveTo>
                  <a:pt x="3332403" y="1809038"/>
                </a:moveTo>
                <a:lnTo>
                  <a:pt x="3170085" y="1775523"/>
                </a:lnTo>
                <a:lnTo>
                  <a:pt x="3231730" y="1772729"/>
                </a:lnTo>
                <a:lnTo>
                  <a:pt x="3272472" y="1794725"/>
                </a:lnTo>
                <a:lnTo>
                  <a:pt x="3318121" y="1794725"/>
                </a:lnTo>
                <a:lnTo>
                  <a:pt x="3332403" y="18090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028522" y="5555602"/>
            <a:ext cx="2366645" cy="861694"/>
          </a:xfrm>
          <a:custGeom>
            <a:avLst/>
            <a:gdLst/>
            <a:ahLst/>
            <a:cxnLst/>
            <a:rect l="l" t="t" r="r" b="b"/>
            <a:pathLst>
              <a:path w="2366645" h="861695">
                <a:moveTo>
                  <a:pt x="2366302" y="861072"/>
                </a:moveTo>
                <a:lnTo>
                  <a:pt x="0" y="861072"/>
                </a:lnTo>
                <a:lnTo>
                  <a:pt x="0" y="0"/>
                </a:lnTo>
                <a:lnTo>
                  <a:pt x="2366302" y="0"/>
                </a:lnTo>
                <a:lnTo>
                  <a:pt x="2366302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832497"/>
                </a:lnTo>
                <a:lnTo>
                  <a:pt x="14287" y="832497"/>
                </a:lnTo>
                <a:lnTo>
                  <a:pt x="28575" y="846785"/>
                </a:lnTo>
                <a:lnTo>
                  <a:pt x="2366302" y="846785"/>
                </a:lnTo>
                <a:lnTo>
                  <a:pt x="2366302" y="861072"/>
                </a:lnTo>
                <a:close/>
              </a:path>
              <a:path w="2366645" h="861695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2366645" h="861695">
                <a:moveTo>
                  <a:pt x="2337727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2337727" y="14287"/>
                </a:lnTo>
                <a:lnTo>
                  <a:pt x="2337727" y="28575"/>
                </a:lnTo>
                <a:close/>
              </a:path>
              <a:path w="2366645" h="861695">
                <a:moveTo>
                  <a:pt x="2337727" y="846785"/>
                </a:moveTo>
                <a:lnTo>
                  <a:pt x="2337727" y="14287"/>
                </a:lnTo>
                <a:lnTo>
                  <a:pt x="2352014" y="28575"/>
                </a:lnTo>
                <a:lnTo>
                  <a:pt x="2366302" y="28575"/>
                </a:lnTo>
                <a:lnTo>
                  <a:pt x="2366302" y="832497"/>
                </a:lnTo>
                <a:lnTo>
                  <a:pt x="2352014" y="832497"/>
                </a:lnTo>
                <a:lnTo>
                  <a:pt x="2337727" y="846785"/>
                </a:lnTo>
                <a:close/>
              </a:path>
              <a:path w="2366645" h="861695">
                <a:moveTo>
                  <a:pt x="2366302" y="28575"/>
                </a:moveTo>
                <a:lnTo>
                  <a:pt x="2352014" y="28575"/>
                </a:lnTo>
                <a:lnTo>
                  <a:pt x="2337727" y="14287"/>
                </a:lnTo>
                <a:lnTo>
                  <a:pt x="2366302" y="14287"/>
                </a:lnTo>
                <a:lnTo>
                  <a:pt x="2366302" y="28575"/>
                </a:lnTo>
                <a:close/>
              </a:path>
              <a:path w="2366645" h="861695">
                <a:moveTo>
                  <a:pt x="28575" y="846785"/>
                </a:moveTo>
                <a:lnTo>
                  <a:pt x="14287" y="832497"/>
                </a:lnTo>
                <a:lnTo>
                  <a:pt x="28575" y="832497"/>
                </a:lnTo>
                <a:lnTo>
                  <a:pt x="28575" y="846785"/>
                </a:lnTo>
                <a:close/>
              </a:path>
              <a:path w="2366645" h="861695">
                <a:moveTo>
                  <a:pt x="2337727" y="846785"/>
                </a:moveTo>
                <a:lnTo>
                  <a:pt x="28575" y="846785"/>
                </a:lnTo>
                <a:lnTo>
                  <a:pt x="28575" y="832497"/>
                </a:lnTo>
                <a:lnTo>
                  <a:pt x="2337727" y="832497"/>
                </a:lnTo>
                <a:lnTo>
                  <a:pt x="2337727" y="846785"/>
                </a:lnTo>
                <a:close/>
              </a:path>
              <a:path w="2366645" h="861695">
                <a:moveTo>
                  <a:pt x="2366302" y="846785"/>
                </a:moveTo>
                <a:lnTo>
                  <a:pt x="2337727" y="846785"/>
                </a:lnTo>
                <a:lnTo>
                  <a:pt x="2352014" y="832497"/>
                </a:lnTo>
                <a:lnTo>
                  <a:pt x="2366302" y="832497"/>
                </a:lnTo>
                <a:lnTo>
                  <a:pt x="2366302" y="846785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7276490" y="5582589"/>
            <a:ext cx="124714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b="1">
                <a:solidFill>
                  <a:srgbClr val="0000FF"/>
                </a:solidFill>
                <a:latin typeface="方正舒体"/>
                <a:cs typeface="方正舒体"/>
              </a:rPr>
              <a:t>电</a:t>
            </a:r>
            <a:r>
              <a:rPr dirty="0" sz="4800" spc="-20" b="1">
                <a:solidFill>
                  <a:srgbClr val="0000FF"/>
                </a:solidFill>
                <a:latin typeface="方正舒体"/>
                <a:cs typeface="方正舒体"/>
              </a:rPr>
              <a:t>容</a:t>
            </a:r>
            <a:endParaRPr sz="4800">
              <a:latin typeface="方正舒体"/>
              <a:cs typeface="方正舒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137824" y="1540751"/>
            <a:ext cx="2626995" cy="1434465"/>
          </a:xfrm>
          <a:custGeom>
            <a:avLst/>
            <a:gdLst/>
            <a:ahLst/>
            <a:cxnLst/>
            <a:rect l="l" t="t" r="r" b="b"/>
            <a:pathLst>
              <a:path w="2626995" h="1434464">
                <a:moveTo>
                  <a:pt x="2526345" y="36499"/>
                </a:moveTo>
                <a:lnTo>
                  <a:pt x="2464701" y="33807"/>
                </a:lnTo>
                <a:lnTo>
                  <a:pt x="2626956" y="0"/>
                </a:lnTo>
                <a:lnTo>
                  <a:pt x="2612613" y="14427"/>
                </a:lnTo>
                <a:lnTo>
                  <a:pt x="2567051" y="14427"/>
                </a:lnTo>
                <a:lnTo>
                  <a:pt x="2526345" y="36499"/>
                </a:lnTo>
                <a:close/>
              </a:path>
              <a:path w="2626995" h="1434464">
                <a:moveTo>
                  <a:pt x="2541489" y="64411"/>
                </a:moveTo>
                <a:lnTo>
                  <a:pt x="2557183" y="37845"/>
                </a:lnTo>
                <a:lnTo>
                  <a:pt x="2526345" y="36499"/>
                </a:lnTo>
                <a:lnTo>
                  <a:pt x="2567051" y="14427"/>
                </a:lnTo>
                <a:lnTo>
                  <a:pt x="2582189" y="42341"/>
                </a:lnTo>
                <a:lnTo>
                  <a:pt x="2541489" y="64411"/>
                </a:lnTo>
                <a:close/>
              </a:path>
              <a:path w="2626995" h="1434464">
                <a:moveTo>
                  <a:pt x="2510104" y="117538"/>
                </a:moveTo>
                <a:lnTo>
                  <a:pt x="2541489" y="64411"/>
                </a:lnTo>
                <a:lnTo>
                  <a:pt x="2582189" y="42341"/>
                </a:lnTo>
                <a:lnTo>
                  <a:pt x="2567051" y="14427"/>
                </a:lnTo>
                <a:lnTo>
                  <a:pt x="2612613" y="14427"/>
                </a:lnTo>
                <a:lnTo>
                  <a:pt x="2510104" y="117538"/>
                </a:lnTo>
                <a:close/>
              </a:path>
              <a:path w="2626995" h="1434464">
                <a:moveTo>
                  <a:pt x="15138" y="1434312"/>
                </a:moveTo>
                <a:lnTo>
                  <a:pt x="0" y="1406397"/>
                </a:lnTo>
                <a:lnTo>
                  <a:pt x="2526345" y="36499"/>
                </a:lnTo>
                <a:lnTo>
                  <a:pt x="2557183" y="37845"/>
                </a:lnTo>
                <a:lnTo>
                  <a:pt x="2541489" y="64411"/>
                </a:lnTo>
                <a:lnTo>
                  <a:pt x="15138" y="14343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481864" y="798512"/>
            <a:ext cx="4507230" cy="738505"/>
          </a:xfrm>
          <a:custGeom>
            <a:avLst/>
            <a:gdLst/>
            <a:ahLst/>
            <a:cxnLst/>
            <a:rect l="l" t="t" r="r" b="b"/>
            <a:pathLst>
              <a:path w="4507230" h="738505">
                <a:moveTo>
                  <a:pt x="4506810" y="738301"/>
                </a:moveTo>
                <a:lnTo>
                  <a:pt x="0" y="738301"/>
                </a:lnTo>
                <a:lnTo>
                  <a:pt x="0" y="0"/>
                </a:lnTo>
                <a:lnTo>
                  <a:pt x="4506810" y="0"/>
                </a:lnTo>
                <a:lnTo>
                  <a:pt x="4506810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709726"/>
                </a:lnTo>
                <a:lnTo>
                  <a:pt x="14287" y="709726"/>
                </a:lnTo>
                <a:lnTo>
                  <a:pt x="28575" y="724014"/>
                </a:lnTo>
                <a:lnTo>
                  <a:pt x="4506810" y="724014"/>
                </a:lnTo>
                <a:lnTo>
                  <a:pt x="4506810" y="738301"/>
                </a:lnTo>
                <a:close/>
              </a:path>
              <a:path w="4507230" h="738505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4507230" h="738505">
                <a:moveTo>
                  <a:pt x="4478235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4478235" y="14287"/>
                </a:lnTo>
                <a:lnTo>
                  <a:pt x="4478235" y="28575"/>
                </a:lnTo>
                <a:close/>
              </a:path>
              <a:path w="4507230" h="738505">
                <a:moveTo>
                  <a:pt x="4478235" y="724014"/>
                </a:moveTo>
                <a:lnTo>
                  <a:pt x="4478235" y="14287"/>
                </a:lnTo>
                <a:lnTo>
                  <a:pt x="4492523" y="28575"/>
                </a:lnTo>
                <a:lnTo>
                  <a:pt x="4506810" y="28575"/>
                </a:lnTo>
                <a:lnTo>
                  <a:pt x="4506810" y="709726"/>
                </a:lnTo>
                <a:lnTo>
                  <a:pt x="4492523" y="709726"/>
                </a:lnTo>
                <a:lnTo>
                  <a:pt x="4478235" y="724014"/>
                </a:lnTo>
                <a:close/>
              </a:path>
              <a:path w="4507230" h="738505">
                <a:moveTo>
                  <a:pt x="4506810" y="28575"/>
                </a:moveTo>
                <a:lnTo>
                  <a:pt x="4492523" y="28575"/>
                </a:lnTo>
                <a:lnTo>
                  <a:pt x="4478235" y="14287"/>
                </a:lnTo>
                <a:lnTo>
                  <a:pt x="4506810" y="14287"/>
                </a:lnTo>
                <a:lnTo>
                  <a:pt x="4506810" y="28575"/>
                </a:lnTo>
                <a:close/>
              </a:path>
              <a:path w="4507230" h="738505">
                <a:moveTo>
                  <a:pt x="28575" y="724014"/>
                </a:moveTo>
                <a:lnTo>
                  <a:pt x="14287" y="709726"/>
                </a:lnTo>
                <a:lnTo>
                  <a:pt x="28575" y="709726"/>
                </a:lnTo>
                <a:lnTo>
                  <a:pt x="28575" y="724014"/>
                </a:lnTo>
                <a:close/>
              </a:path>
              <a:path w="4507230" h="738505">
                <a:moveTo>
                  <a:pt x="4478235" y="724014"/>
                </a:moveTo>
                <a:lnTo>
                  <a:pt x="28575" y="724014"/>
                </a:lnTo>
                <a:lnTo>
                  <a:pt x="28575" y="709726"/>
                </a:lnTo>
                <a:lnTo>
                  <a:pt x="4478235" y="709726"/>
                </a:lnTo>
                <a:lnTo>
                  <a:pt x="4478235" y="724014"/>
                </a:lnTo>
                <a:close/>
              </a:path>
              <a:path w="4507230" h="738505">
                <a:moveTo>
                  <a:pt x="4506810" y="724014"/>
                </a:moveTo>
                <a:lnTo>
                  <a:pt x="4478235" y="724014"/>
                </a:lnTo>
                <a:lnTo>
                  <a:pt x="4492523" y="709726"/>
                </a:lnTo>
                <a:lnTo>
                  <a:pt x="4506810" y="709726"/>
                </a:lnTo>
                <a:lnTo>
                  <a:pt x="4506810" y="724014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6963511" y="829310"/>
            <a:ext cx="4106545" cy="634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b="1">
                <a:solidFill>
                  <a:srgbClr val="C00000"/>
                </a:solidFill>
                <a:latin typeface="方正舒体"/>
                <a:cs typeface="方正舒体"/>
              </a:rPr>
              <a:t>耐压值（最大值</a:t>
            </a:r>
            <a:r>
              <a:rPr dirty="0" sz="4000" spc="-25" b="1">
                <a:solidFill>
                  <a:srgbClr val="C00000"/>
                </a:solidFill>
                <a:latin typeface="方正舒体"/>
                <a:cs typeface="方正舒体"/>
              </a:rPr>
              <a:t>）</a:t>
            </a:r>
            <a:endParaRPr sz="4000">
              <a:latin typeface="方正舒体"/>
              <a:cs typeface="方正舒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842211" y="869391"/>
            <a:ext cx="2185885" cy="44122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696478" y="1395171"/>
            <a:ext cx="1141945" cy="40788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863850" y="1420367"/>
            <a:ext cx="1585569" cy="38939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1840" y="0"/>
            <a:ext cx="4897120" cy="1766570"/>
          </a:xfrm>
          <a:prstGeom prst="rect">
            <a:avLst/>
          </a:prstGeom>
        </p:spPr>
        <p:txBody>
          <a:bodyPr wrap="square" lIns="0" tIns="2520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85"/>
              </a:spcBef>
            </a:pPr>
            <a:r>
              <a:rPr dirty="0" sz="4000" b="1" i="1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 b="1" i="1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  <a:p>
            <a:pPr marL="26670">
              <a:lnSpc>
                <a:spcPct val="100000"/>
              </a:lnSpc>
              <a:spcBef>
                <a:spcPts val="1980"/>
              </a:spcBef>
            </a:pPr>
            <a:r>
              <a:rPr dirty="0" sz="4000" spc="-5" b="1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dirty="0" sz="4000" b="1">
                <a:solidFill>
                  <a:srgbClr val="0000FF"/>
                </a:solidFill>
                <a:latin typeface="黑体"/>
                <a:cs typeface="黑体"/>
              </a:rPr>
              <a:t>、瞬时值</a:t>
            </a:r>
            <a:r>
              <a:rPr dirty="0" sz="4000" spc="-25" b="1">
                <a:solidFill>
                  <a:srgbClr val="0000FF"/>
                </a:solidFill>
                <a:latin typeface="黑体"/>
                <a:cs typeface="黑体"/>
              </a:rPr>
              <a:t>：</a:t>
            </a:r>
            <a:r>
              <a:rPr dirty="0" sz="4000" spc="-1010" b="1">
                <a:solidFill>
                  <a:srgbClr val="0000FF"/>
                </a:solidFill>
                <a:latin typeface="黑体"/>
                <a:cs typeface="黑体"/>
              </a:rPr>
              <a:t> </a:t>
            </a:r>
            <a:r>
              <a:rPr dirty="0" sz="4000" spc="-5" b="1" i="1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dirty="0" sz="4000" spc="-190" b="1" i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4200" spc="-1300" b="1" i="1">
                <a:solidFill>
                  <a:srgbClr val="C00000"/>
                </a:solidFill>
                <a:latin typeface="黑体"/>
                <a:cs typeface="黑体"/>
              </a:rPr>
              <a:t>、</a:t>
            </a:r>
            <a:r>
              <a:rPr dirty="0" sz="4000" spc="-5" b="1" i="1">
                <a:solidFill>
                  <a:srgbClr val="C00000"/>
                </a:solidFill>
                <a:latin typeface="Times New Roman"/>
                <a:cs typeface="Times New Roman"/>
              </a:rPr>
              <a:t>i</a:t>
            </a:r>
            <a:r>
              <a:rPr dirty="0" sz="4000" spc="-185" b="1" i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4200" spc="-1300" b="1" i="1">
                <a:solidFill>
                  <a:srgbClr val="C00000"/>
                </a:solidFill>
                <a:latin typeface="黑体"/>
                <a:cs typeface="黑体"/>
              </a:rPr>
              <a:t>、</a:t>
            </a:r>
            <a:r>
              <a:rPr dirty="0" sz="4000" spc="-5" b="1" i="1">
                <a:solidFill>
                  <a:srgbClr val="C00000"/>
                </a:solidFill>
                <a:latin typeface="Times New Roman"/>
                <a:cs typeface="Times New Roman"/>
              </a:rPr>
              <a:t>u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24583" y="1831912"/>
            <a:ext cx="3680460" cy="76962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506730" algn="l"/>
                <a:tab pos="1104265" algn="l"/>
                <a:tab pos="2043430" algn="l"/>
              </a:tabLst>
            </a:pPr>
            <a:r>
              <a:rPr dirty="0" sz="4650" spc="-5" b="0" i="1">
                <a:solidFill>
                  <a:srgbClr val="000000"/>
                </a:solidFill>
                <a:latin typeface="Times New Roman"/>
                <a:cs typeface="Times New Roman"/>
              </a:rPr>
              <a:t>e	</a:t>
            </a:r>
            <a:r>
              <a:rPr dirty="0" sz="4650" spc="-5" b="0" i="0">
                <a:solidFill>
                  <a:srgbClr val="000000"/>
                </a:solidFill>
                <a:latin typeface="Symbol"/>
                <a:cs typeface="Symbol"/>
              </a:rPr>
              <a:t></a:t>
            </a:r>
            <a:r>
              <a:rPr dirty="0" sz="4650" spc="-5" b="0" i="0">
                <a:solidFill>
                  <a:srgbClr val="000000"/>
                </a:solidFill>
                <a:latin typeface="Times New Roman"/>
                <a:cs typeface="Times New Roman"/>
              </a:rPr>
              <a:t>	</a:t>
            </a:r>
            <a:r>
              <a:rPr dirty="0" sz="4650" spc="-5" b="0" i="1">
                <a:solidFill>
                  <a:srgbClr val="000000"/>
                </a:solidFill>
                <a:latin typeface="Times New Roman"/>
                <a:cs typeface="Times New Roman"/>
              </a:rPr>
              <a:t>E</a:t>
            </a:r>
            <a:r>
              <a:rPr dirty="0" sz="4650" spc="-475" b="0" i="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baseline="-25157" sz="3975" spc="37" b="0" i="0">
                <a:solidFill>
                  <a:srgbClr val="000000"/>
                </a:solidFill>
                <a:latin typeface="Times New Roman"/>
                <a:cs typeface="Times New Roman"/>
              </a:rPr>
              <a:t>m	</a:t>
            </a:r>
            <a:r>
              <a:rPr dirty="0" sz="4650" spc="260" b="0" i="0">
                <a:solidFill>
                  <a:srgbClr val="000000"/>
                </a:solidFill>
                <a:latin typeface="Times New Roman"/>
                <a:cs typeface="Times New Roman"/>
              </a:rPr>
              <a:t>sin</a:t>
            </a:r>
            <a:r>
              <a:rPr dirty="0" sz="4650" spc="-315" b="0" i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4850" spc="-385" b="0">
                <a:solidFill>
                  <a:srgbClr val="000000"/>
                </a:solidFill>
                <a:latin typeface="Symbol"/>
                <a:cs typeface="Symbol"/>
              </a:rPr>
              <a:t></a:t>
            </a:r>
            <a:r>
              <a:rPr dirty="0" sz="4650" spc="-385" b="0" i="1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endParaRPr sz="46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595198" y="1530248"/>
            <a:ext cx="1560195" cy="676910"/>
          </a:xfrm>
          <a:custGeom>
            <a:avLst/>
            <a:gdLst/>
            <a:ahLst/>
            <a:cxnLst/>
            <a:rect l="l" t="t" r="r" b="b"/>
            <a:pathLst>
              <a:path w="1560195" h="676910">
                <a:moveTo>
                  <a:pt x="809536" y="1269"/>
                </a:moveTo>
                <a:lnTo>
                  <a:pt x="742327" y="1269"/>
                </a:lnTo>
                <a:lnTo>
                  <a:pt x="753948" y="0"/>
                </a:lnTo>
                <a:lnTo>
                  <a:pt x="798449" y="0"/>
                </a:lnTo>
                <a:lnTo>
                  <a:pt x="809536" y="1269"/>
                </a:lnTo>
                <a:close/>
              </a:path>
              <a:path w="1560195" h="676910">
                <a:moveTo>
                  <a:pt x="30441" y="666750"/>
                </a:moveTo>
                <a:lnTo>
                  <a:pt x="42240" y="588009"/>
                </a:lnTo>
                <a:lnTo>
                  <a:pt x="127038" y="478789"/>
                </a:lnTo>
                <a:lnTo>
                  <a:pt x="169519" y="425450"/>
                </a:lnTo>
                <a:lnTo>
                  <a:pt x="190753" y="400050"/>
                </a:lnTo>
                <a:lnTo>
                  <a:pt x="211975" y="373379"/>
                </a:lnTo>
                <a:lnTo>
                  <a:pt x="233260" y="349250"/>
                </a:lnTo>
                <a:lnTo>
                  <a:pt x="254584" y="323850"/>
                </a:lnTo>
                <a:lnTo>
                  <a:pt x="275869" y="300989"/>
                </a:lnTo>
                <a:lnTo>
                  <a:pt x="297141" y="276859"/>
                </a:lnTo>
                <a:lnTo>
                  <a:pt x="318427" y="254000"/>
                </a:lnTo>
                <a:lnTo>
                  <a:pt x="329145" y="243839"/>
                </a:lnTo>
                <a:lnTo>
                  <a:pt x="339928" y="232409"/>
                </a:lnTo>
                <a:lnTo>
                  <a:pt x="361340" y="210819"/>
                </a:lnTo>
                <a:lnTo>
                  <a:pt x="382663" y="190500"/>
                </a:lnTo>
                <a:lnTo>
                  <a:pt x="393382" y="181609"/>
                </a:lnTo>
                <a:lnTo>
                  <a:pt x="404139" y="171450"/>
                </a:lnTo>
                <a:lnTo>
                  <a:pt x="414921" y="162559"/>
                </a:lnTo>
                <a:lnTo>
                  <a:pt x="425780" y="152400"/>
                </a:lnTo>
                <a:lnTo>
                  <a:pt x="447192" y="135889"/>
                </a:lnTo>
                <a:lnTo>
                  <a:pt x="468693" y="118109"/>
                </a:lnTo>
                <a:lnTo>
                  <a:pt x="512076" y="87629"/>
                </a:lnTo>
                <a:lnTo>
                  <a:pt x="522947" y="81279"/>
                </a:lnTo>
                <a:lnTo>
                  <a:pt x="533806" y="73659"/>
                </a:lnTo>
                <a:lnTo>
                  <a:pt x="555536" y="60959"/>
                </a:lnTo>
                <a:lnTo>
                  <a:pt x="566420" y="55879"/>
                </a:lnTo>
                <a:lnTo>
                  <a:pt x="577329" y="49529"/>
                </a:lnTo>
                <a:lnTo>
                  <a:pt x="610209" y="34289"/>
                </a:lnTo>
                <a:lnTo>
                  <a:pt x="621182" y="30479"/>
                </a:lnTo>
                <a:lnTo>
                  <a:pt x="632155" y="25399"/>
                </a:lnTo>
                <a:lnTo>
                  <a:pt x="654176" y="17779"/>
                </a:lnTo>
                <a:lnTo>
                  <a:pt x="665238" y="15239"/>
                </a:lnTo>
                <a:lnTo>
                  <a:pt x="676351" y="11429"/>
                </a:lnTo>
                <a:lnTo>
                  <a:pt x="687463" y="8889"/>
                </a:lnTo>
                <a:lnTo>
                  <a:pt x="698563" y="7619"/>
                </a:lnTo>
                <a:lnTo>
                  <a:pt x="709650" y="5079"/>
                </a:lnTo>
                <a:lnTo>
                  <a:pt x="720725" y="3809"/>
                </a:lnTo>
                <a:lnTo>
                  <a:pt x="731253" y="1269"/>
                </a:lnTo>
                <a:lnTo>
                  <a:pt x="820597" y="1269"/>
                </a:lnTo>
                <a:lnTo>
                  <a:pt x="831659" y="3809"/>
                </a:lnTo>
                <a:lnTo>
                  <a:pt x="842721" y="5079"/>
                </a:lnTo>
                <a:lnTo>
                  <a:pt x="853795" y="7619"/>
                </a:lnTo>
                <a:lnTo>
                  <a:pt x="864908" y="8889"/>
                </a:lnTo>
                <a:lnTo>
                  <a:pt x="876046" y="12699"/>
                </a:lnTo>
                <a:lnTo>
                  <a:pt x="887133" y="15239"/>
                </a:lnTo>
                <a:lnTo>
                  <a:pt x="898169" y="19049"/>
                </a:lnTo>
                <a:lnTo>
                  <a:pt x="909167" y="21589"/>
                </a:lnTo>
                <a:lnTo>
                  <a:pt x="919708" y="25399"/>
                </a:lnTo>
                <a:lnTo>
                  <a:pt x="931075" y="30479"/>
                </a:lnTo>
                <a:lnTo>
                  <a:pt x="942022" y="34289"/>
                </a:lnTo>
                <a:lnTo>
                  <a:pt x="950252" y="38099"/>
                </a:lnTo>
                <a:lnTo>
                  <a:pt x="746086" y="38099"/>
                </a:lnTo>
                <a:lnTo>
                  <a:pt x="735545" y="39369"/>
                </a:lnTo>
                <a:lnTo>
                  <a:pt x="736079" y="39369"/>
                </a:lnTo>
                <a:lnTo>
                  <a:pt x="725538" y="40639"/>
                </a:lnTo>
                <a:lnTo>
                  <a:pt x="726058" y="40639"/>
                </a:lnTo>
                <a:lnTo>
                  <a:pt x="720782" y="41909"/>
                </a:lnTo>
                <a:lnTo>
                  <a:pt x="716013" y="41909"/>
                </a:lnTo>
                <a:lnTo>
                  <a:pt x="705446" y="44449"/>
                </a:lnTo>
                <a:lnTo>
                  <a:pt x="705942" y="44449"/>
                </a:lnTo>
                <a:lnTo>
                  <a:pt x="695350" y="46989"/>
                </a:lnTo>
                <a:lnTo>
                  <a:pt x="695871" y="46989"/>
                </a:lnTo>
                <a:lnTo>
                  <a:pt x="685266" y="49529"/>
                </a:lnTo>
                <a:lnTo>
                  <a:pt x="685800" y="49529"/>
                </a:lnTo>
                <a:lnTo>
                  <a:pt x="675233" y="52069"/>
                </a:lnTo>
                <a:lnTo>
                  <a:pt x="675741" y="52069"/>
                </a:lnTo>
                <a:lnTo>
                  <a:pt x="665200" y="54609"/>
                </a:lnTo>
                <a:lnTo>
                  <a:pt x="665683" y="54609"/>
                </a:lnTo>
                <a:lnTo>
                  <a:pt x="655142" y="58419"/>
                </a:lnTo>
                <a:lnTo>
                  <a:pt x="655599" y="58419"/>
                </a:lnTo>
                <a:lnTo>
                  <a:pt x="645058" y="62229"/>
                </a:lnTo>
                <a:lnTo>
                  <a:pt x="645477" y="62229"/>
                </a:lnTo>
                <a:lnTo>
                  <a:pt x="634936" y="66039"/>
                </a:lnTo>
                <a:lnTo>
                  <a:pt x="635330" y="66039"/>
                </a:lnTo>
                <a:lnTo>
                  <a:pt x="624763" y="69849"/>
                </a:lnTo>
                <a:lnTo>
                  <a:pt x="625132" y="69849"/>
                </a:lnTo>
                <a:lnTo>
                  <a:pt x="617178" y="73659"/>
                </a:lnTo>
                <a:lnTo>
                  <a:pt x="614895" y="73659"/>
                </a:lnTo>
                <a:lnTo>
                  <a:pt x="604291" y="78739"/>
                </a:lnTo>
                <a:lnTo>
                  <a:pt x="604672" y="78739"/>
                </a:lnTo>
                <a:lnTo>
                  <a:pt x="594093" y="83819"/>
                </a:lnTo>
                <a:lnTo>
                  <a:pt x="594461" y="83819"/>
                </a:lnTo>
                <a:lnTo>
                  <a:pt x="583907" y="88899"/>
                </a:lnTo>
                <a:lnTo>
                  <a:pt x="584250" y="88899"/>
                </a:lnTo>
                <a:lnTo>
                  <a:pt x="573709" y="95249"/>
                </a:lnTo>
                <a:lnTo>
                  <a:pt x="574027" y="95249"/>
                </a:lnTo>
                <a:lnTo>
                  <a:pt x="563486" y="100329"/>
                </a:lnTo>
                <a:lnTo>
                  <a:pt x="563803" y="100329"/>
                </a:lnTo>
                <a:lnTo>
                  <a:pt x="553250" y="106679"/>
                </a:lnTo>
                <a:lnTo>
                  <a:pt x="553542" y="106679"/>
                </a:lnTo>
                <a:lnTo>
                  <a:pt x="542963" y="113029"/>
                </a:lnTo>
                <a:lnTo>
                  <a:pt x="543242" y="113029"/>
                </a:lnTo>
                <a:lnTo>
                  <a:pt x="532637" y="119379"/>
                </a:lnTo>
                <a:lnTo>
                  <a:pt x="532942" y="119379"/>
                </a:lnTo>
                <a:lnTo>
                  <a:pt x="522338" y="127000"/>
                </a:lnTo>
                <a:lnTo>
                  <a:pt x="522643" y="127000"/>
                </a:lnTo>
                <a:lnTo>
                  <a:pt x="512076" y="133350"/>
                </a:lnTo>
                <a:lnTo>
                  <a:pt x="512356" y="133350"/>
                </a:lnTo>
                <a:lnTo>
                  <a:pt x="501802" y="140969"/>
                </a:lnTo>
                <a:lnTo>
                  <a:pt x="502043" y="140969"/>
                </a:lnTo>
                <a:lnTo>
                  <a:pt x="491502" y="148589"/>
                </a:lnTo>
                <a:lnTo>
                  <a:pt x="491731" y="148589"/>
                </a:lnTo>
                <a:lnTo>
                  <a:pt x="482696" y="156209"/>
                </a:lnTo>
                <a:lnTo>
                  <a:pt x="481380" y="156209"/>
                </a:lnTo>
                <a:lnTo>
                  <a:pt x="470827" y="165100"/>
                </a:lnTo>
                <a:lnTo>
                  <a:pt x="471068" y="165100"/>
                </a:lnTo>
                <a:lnTo>
                  <a:pt x="451409" y="181609"/>
                </a:lnTo>
                <a:lnTo>
                  <a:pt x="450151" y="181609"/>
                </a:lnTo>
                <a:lnTo>
                  <a:pt x="439547" y="190500"/>
                </a:lnTo>
                <a:lnTo>
                  <a:pt x="439762" y="190500"/>
                </a:lnTo>
                <a:lnTo>
                  <a:pt x="430517" y="199389"/>
                </a:lnTo>
                <a:lnTo>
                  <a:pt x="429399" y="199389"/>
                </a:lnTo>
                <a:lnTo>
                  <a:pt x="418846" y="209550"/>
                </a:lnTo>
                <a:lnTo>
                  <a:pt x="419023" y="209550"/>
                </a:lnTo>
                <a:lnTo>
                  <a:pt x="408482" y="218439"/>
                </a:lnTo>
                <a:lnTo>
                  <a:pt x="408711" y="218439"/>
                </a:lnTo>
                <a:lnTo>
                  <a:pt x="387616" y="238759"/>
                </a:lnTo>
                <a:lnTo>
                  <a:pt x="387870" y="238759"/>
                </a:lnTo>
                <a:lnTo>
                  <a:pt x="366699" y="259079"/>
                </a:lnTo>
                <a:lnTo>
                  <a:pt x="366877" y="259079"/>
                </a:lnTo>
                <a:lnTo>
                  <a:pt x="357451" y="269239"/>
                </a:lnTo>
                <a:lnTo>
                  <a:pt x="356425" y="269239"/>
                </a:lnTo>
                <a:lnTo>
                  <a:pt x="345859" y="280669"/>
                </a:lnTo>
                <a:lnTo>
                  <a:pt x="346049" y="280669"/>
                </a:lnTo>
                <a:lnTo>
                  <a:pt x="324954" y="303529"/>
                </a:lnTo>
                <a:lnTo>
                  <a:pt x="325145" y="303529"/>
                </a:lnTo>
                <a:lnTo>
                  <a:pt x="304050" y="326389"/>
                </a:lnTo>
                <a:lnTo>
                  <a:pt x="282994" y="349250"/>
                </a:lnTo>
                <a:lnTo>
                  <a:pt x="283146" y="349250"/>
                </a:lnTo>
                <a:lnTo>
                  <a:pt x="261975" y="373379"/>
                </a:lnTo>
                <a:lnTo>
                  <a:pt x="262178" y="373379"/>
                </a:lnTo>
                <a:lnTo>
                  <a:pt x="241084" y="398779"/>
                </a:lnTo>
                <a:lnTo>
                  <a:pt x="220116" y="424179"/>
                </a:lnTo>
                <a:lnTo>
                  <a:pt x="199021" y="449579"/>
                </a:lnTo>
                <a:lnTo>
                  <a:pt x="177939" y="476250"/>
                </a:lnTo>
                <a:lnTo>
                  <a:pt x="156972" y="502919"/>
                </a:lnTo>
                <a:lnTo>
                  <a:pt x="114769" y="556259"/>
                </a:lnTo>
                <a:lnTo>
                  <a:pt x="72402" y="612139"/>
                </a:lnTo>
                <a:lnTo>
                  <a:pt x="51371" y="638809"/>
                </a:lnTo>
                <a:lnTo>
                  <a:pt x="30441" y="666750"/>
                </a:lnTo>
                <a:close/>
              </a:path>
              <a:path w="1560195" h="676910">
                <a:moveTo>
                  <a:pt x="745553" y="39369"/>
                </a:moveTo>
                <a:lnTo>
                  <a:pt x="746086" y="38099"/>
                </a:lnTo>
                <a:lnTo>
                  <a:pt x="756107" y="38099"/>
                </a:lnTo>
                <a:lnTo>
                  <a:pt x="745553" y="39369"/>
                </a:lnTo>
                <a:close/>
              </a:path>
              <a:path w="1560195" h="676910">
                <a:moveTo>
                  <a:pt x="806310" y="39369"/>
                </a:moveTo>
                <a:lnTo>
                  <a:pt x="795756" y="38099"/>
                </a:lnTo>
                <a:lnTo>
                  <a:pt x="805776" y="38099"/>
                </a:lnTo>
                <a:lnTo>
                  <a:pt x="806310" y="39369"/>
                </a:lnTo>
                <a:close/>
              </a:path>
              <a:path w="1560195" h="676910">
                <a:moveTo>
                  <a:pt x="836358" y="43179"/>
                </a:moveTo>
                <a:lnTo>
                  <a:pt x="825804" y="40639"/>
                </a:lnTo>
                <a:lnTo>
                  <a:pt x="826325" y="40639"/>
                </a:lnTo>
                <a:lnTo>
                  <a:pt x="815784" y="39369"/>
                </a:lnTo>
                <a:lnTo>
                  <a:pt x="816317" y="39369"/>
                </a:lnTo>
                <a:lnTo>
                  <a:pt x="805776" y="38099"/>
                </a:lnTo>
                <a:lnTo>
                  <a:pt x="950252" y="38099"/>
                </a:lnTo>
                <a:lnTo>
                  <a:pt x="958481" y="41909"/>
                </a:lnTo>
                <a:lnTo>
                  <a:pt x="835837" y="41909"/>
                </a:lnTo>
                <a:lnTo>
                  <a:pt x="836358" y="43179"/>
                </a:lnTo>
                <a:close/>
              </a:path>
              <a:path w="1560195" h="676910">
                <a:moveTo>
                  <a:pt x="715505" y="43179"/>
                </a:moveTo>
                <a:lnTo>
                  <a:pt x="716013" y="41909"/>
                </a:lnTo>
                <a:lnTo>
                  <a:pt x="720782" y="41909"/>
                </a:lnTo>
                <a:lnTo>
                  <a:pt x="715505" y="43179"/>
                </a:lnTo>
                <a:close/>
              </a:path>
              <a:path w="1560195" h="676910">
                <a:moveTo>
                  <a:pt x="937336" y="74929"/>
                </a:moveTo>
                <a:lnTo>
                  <a:pt x="926731" y="69849"/>
                </a:lnTo>
                <a:lnTo>
                  <a:pt x="927100" y="69849"/>
                </a:lnTo>
                <a:lnTo>
                  <a:pt x="916533" y="66039"/>
                </a:lnTo>
                <a:lnTo>
                  <a:pt x="916927" y="66039"/>
                </a:lnTo>
                <a:lnTo>
                  <a:pt x="906386" y="62229"/>
                </a:lnTo>
                <a:lnTo>
                  <a:pt x="906805" y="62229"/>
                </a:lnTo>
                <a:lnTo>
                  <a:pt x="896264" y="58419"/>
                </a:lnTo>
                <a:lnTo>
                  <a:pt x="896721" y="58419"/>
                </a:lnTo>
                <a:lnTo>
                  <a:pt x="886180" y="54609"/>
                </a:lnTo>
                <a:lnTo>
                  <a:pt x="886663" y="54609"/>
                </a:lnTo>
                <a:lnTo>
                  <a:pt x="876122" y="52069"/>
                </a:lnTo>
                <a:lnTo>
                  <a:pt x="876630" y="52069"/>
                </a:lnTo>
                <a:lnTo>
                  <a:pt x="866051" y="49529"/>
                </a:lnTo>
                <a:lnTo>
                  <a:pt x="866597" y="49529"/>
                </a:lnTo>
                <a:lnTo>
                  <a:pt x="855992" y="46989"/>
                </a:lnTo>
                <a:lnTo>
                  <a:pt x="856513" y="46989"/>
                </a:lnTo>
                <a:lnTo>
                  <a:pt x="845921" y="44449"/>
                </a:lnTo>
                <a:lnTo>
                  <a:pt x="846416" y="44449"/>
                </a:lnTo>
                <a:lnTo>
                  <a:pt x="835837" y="41909"/>
                </a:lnTo>
                <a:lnTo>
                  <a:pt x="958481" y="41909"/>
                </a:lnTo>
                <a:lnTo>
                  <a:pt x="974890" y="49529"/>
                </a:lnTo>
                <a:lnTo>
                  <a:pt x="996645" y="62229"/>
                </a:lnTo>
                <a:lnTo>
                  <a:pt x="1007503" y="67309"/>
                </a:lnTo>
                <a:lnTo>
                  <a:pt x="1018336" y="73659"/>
                </a:lnTo>
                <a:lnTo>
                  <a:pt x="936967" y="73659"/>
                </a:lnTo>
                <a:lnTo>
                  <a:pt x="937336" y="74929"/>
                </a:lnTo>
                <a:close/>
              </a:path>
              <a:path w="1560195" h="676910">
                <a:moveTo>
                  <a:pt x="614527" y="74929"/>
                </a:moveTo>
                <a:lnTo>
                  <a:pt x="614895" y="73659"/>
                </a:lnTo>
                <a:lnTo>
                  <a:pt x="617178" y="73659"/>
                </a:lnTo>
                <a:lnTo>
                  <a:pt x="614527" y="74929"/>
                </a:lnTo>
                <a:close/>
              </a:path>
              <a:path w="1560195" h="676910">
                <a:moveTo>
                  <a:pt x="1070673" y="157479"/>
                </a:moveTo>
                <a:lnTo>
                  <a:pt x="1060132" y="148589"/>
                </a:lnTo>
                <a:lnTo>
                  <a:pt x="1060348" y="148589"/>
                </a:lnTo>
                <a:lnTo>
                  <a:pt x="1049807" y="140969"/>
                </a:lnTo>
                <a:lnTo>
                  <a:pt x="1050061" y="140969"/>
                </a:lnTo>
                <a:lnTo>
                  <a:pt x="1039507" y="133350"/>
                </a:lnTo>
                <a:lnTo>
                  <a:pt x="1039787" y="133350"/>
                </a:lnTo>
                <a:lnTo>
                  <a:pt x="1029220" y="127000"/>
                </a:lnTo>
                <a:lnTo>
                  <a:pt x="1029525" y="127000"/>
                </a:lnTo>
                <a:lnTo>
                  <a:pt x="1018921" y="119379"/>
                </a:lnTo>
                <a:lnTo>
                  <a:pt x="1019225" y="119379"/>
                </a:lnTo>
                <a:lnTo>
                  <a:pt x="1008621" y="113029"/>
                </a:lnTo>
                <a:lnTo>
                  <a:pt x="1008887" y="113029"/>
                </a:lnTo>
                <a:lnTo>
                  <a:pt x="998321" y="106679"/>
                </a:lnTo>
                <a:lnTo>
                  <a:pt x="998613" y="106679"/>
                </a:lnTo>
                <a:lnTo>
                  <a:pt x="988059" y="100329"/>
                </a:lnTo>
                <a:lnTo>
                  <a:pt x="988364" y="100329"/>
                </a:lnTo>
                <a:lnTo>
                  <a:pt x="977823" y="95249"/>
                </a:lnTo>
                <a:lnTo>
                  <a:pt x="978153" y="95249"/>
                </a:lnTo>
                <a:lnTo>
                  <a:pt x="967612" y="88899"/>
                </a:lnTo>
                <a:lnTo>
                  <a:pt x="967955" y="88899"/>
                </a:lnTo>
                <a:lnTo>
                  <a:pt x="957402" y="83819"/>
                </a:lnTo>
                <a:lnTo>
                  <a:pt x="957757" y="83819"/>
                </a:lnTo>
                <a:lnTo>
                  <a:pt x="947191" y="78739"/>
                </a:lnTo>
                <a:lnTo>
                  <a:pt x="947572" y="78739"/>
                </a:lnTo>
                <a:lnTo>
                  <a:pt x="936967" y="73659"/>
                </a:lnTo>
                <a:lnTo>
                  <a:pt x="1018336" y="73659"/>
                </a:lnTo>
                <a:lnTo>
                  <a:pt x="1029182" y="81279"/>
                </a:lnTo>
                <a:lnTo>
                  <a:pt x="1040079" y="87629"/>
                </a:lnTo>
                <a:lnTo>
                  <a:pt x="1061834" y="102869"/>
                </a:lnTo>
                <a:lnTo>
                  <a:pt x="1072387" y="110489"/>
                </a:lnTo>
                <a:lnTo>
                  <a:pt x="1083386" y="118109"/>
                </a:lnTo>
                <a:lnTo>
                  <a:pt x="1104912" y="135889"/>
                </a:lnTo>
                <a:lnTo>
                  <a:pt x="1126337" y="152400"/>
                </a:lnTo>
                <a:lnTo>
                  <a:pt x="1130395" y="156209"/>
                </a:lnTo>
                <a:lnTo>
                  <a:pt x="1070482" y="156209"/>
                </a:lnTo>
                <a:lnTo>
                  <a:pt x="1070673" y="157479"/>
                </a:lnTo>
                <a:close/>
              </a:path>
              <a:path w="1560195" h="676910">
                <a:moveTo>
                  <a:pt x="481190" y="157479"/>
                </a:moveTo>
                <a:lnTo>
                  <a:pt x="481380" y="156209"/>
                </a:lnTo>
                <a:lnTo>
                  <a:pt x="482696" y="156209"/>
                </a:lnTo>
                <a:lnTo>
                  <a:pt x="481190" y="157479"/>
                </a:lnTo>
                <a:close/>
              </a:path>
              <a:path w="1560195" h="676910">
                <a:moveTo>
                  <a:pt x="1101966" y="182879"/>
                </a:moveTo>
                <a:lnTo>
                  <a:pt x="1080795" y="165100"/>
                </a:lnTo>
                <a:lnTo>
                  <a:pt x="1081036" y="165100"/>
                </a:lnTo>
                <a:lnTo>
                  <a:pt x="1070482" y="156209"/>
                </a:lnTo>
                <a:lnTo>
                  <a:pt x="1130395" y="156209"/>
                </a:lnTo>
                <a:lnTo>
                  <a:pt x="1137157" y="162559"/>
                </a:lnTo>
                <a:lnTo>
                  <a:pt x="1147927" y="171450"/>
                </a:lnTo>
                <a:lnTo>
                  <a:pt x="1158659" y="181609"/>
                </a:lnTo>
                <a:lnTo>
                  <a:pt x="1101712" y="181609"/>
                </a:lnTo>
                <a:lnTo>
                  <a:pt x="1101966" y="182879"/>
                </a:lnTo>
                <a:close/>
              </a:path>
              <a:path w="1560195" h="676910">
                <a:moveTo>
                  <a:pt x="449897" y="182879"/>
                </a:moveTo>
                <a:lnTo>
                  <a:pt x="450151" y="181609"/>
                </a:lnTo>
                <a:lnTo>
                  <a:pt x="451409" y="181609"/>
                </a:lnTo>
                <a:lnTo>
                  <a:pt x="449897" y="182879"/>
                </a:lnTo>
                <a:close/>
              </a:path>
              <a:path w="1560195" h="676910">
                <a:moveTo>
                  <a:pt x="1122667" y="200659"/>
                </a:moveTo>
                <a:lnTo>
                  <a:pt x="1112100" y="190500"/>
                </a:lnTo>
                <a:lnTo>
                  <a:pt x="1112316" y="190500"/>
                </a:lnTo>
                <a:lnTo>
                  <a:pt x="1101712" y="181609"/>
                </a:lnTo>
                <a:lnTo>
                  <a:pt x="1158659" y="181609"/>
                </a:lnTo>
                <a:lnTo>
                  <a:pt x="1169428" y="190500"/>
                </a:lnTo>
                <a:lnTo>
                  <a:pt x="1178763" y="199389"/>
                </a:lnTo>
                <a:lnTo>
                  <a:pt x="1122464" y="199389"/>
                </a:lnTo>
                <a:lnTo>
                  <a:pt x="1122667" y="200659"/>
                </a:lnTo>
                <a:close/>
              </a:path>
              <a:path w="1560195" h="676910">
                <a:moveTo>
                  <a:pt x="429196" y="200659"/>
                </a:moveTo>
                <a:lnTo>
                  <a:pt x="429399" y="199389"/>
                </a:lnTo>
                <a:lnTo>
                  <a:pt x="430517" y="199389"/>
                </a:lnTo>
                <a:lnTo>
                  <a:pt x="429196" y="200659"/>
                </a:lnTo>
                <a:close/>
              </a:path>
              <a:path w="1560195" h="676910">
                <a:moveTo>
                  <a:pt x="1195590" y="270509"/>
                </a:moveTo>
                <a:lnTo>
                  <a:pt x="1184986" y="259079"/>
                </a:lnTo>
                <a:lnTo>
                  <a:pt x="1185163" y="259079"/>
                </a:lnTo>
                <a:lnTo>
                  <a:pt x="1163993" y="238759"/>
                </a:lnTo>
                <a:lnTo>
                  <a:pt x="1164234" y="238759"/>
                </a:lnTo>
                <a:lnTo>
                  <a:pt x="1143152" y="218439"/>
                </a:lnTo>
                <a:lnTo>
                  <a:pt x="1143380" y="218439"/>
                </a:lnTo>
                <a:lnTo>
                  <a:pt x="1132839" y="209550"/>
                </a:lnTo>
                <a:lnTo>
                  <a:pt x="1133017" y="209550"/>
                </a:lnTo>
                <a:lnTo>
                  <a:pt x="1122464" y="199389"/>
                </a:lnTo>
                <a:lnTo>
                  <a:pt x="1178763" y="199389"/>
                </a:lnTo>
                <a:lnTo>
                  <a:pt x="1190764" y="210819"/>
                </a:lnTo>
                <a:lnTo>
                  <a:pt x="1212113" y="232409"/>
                </a:lnTo>
                <a:lnTo>
                  <a:pt x="1222870" y="243839"/>
                </a:lnTo>
                <a:lnTo>
                  <a:pt x="1233627" y="254000"/>
                </a:lnTo>
                <a:lnTo>
                  <a:pt x="1247808" y="269239"/>
                </a:lnTo>
                <a:lnTo>
                  <a:pt x="1195425" y="269239"/>
                </a:lnTo>
                <a:lnTo>
                  <a:pt x="1195590" y="270509"/>
                </a:lnTo>
                <a:close/>
              </a:path>
              <a:path w="1560195" h="676910">
                <a:moveTo>
                  <a:pt x="356273" y="270509"/>
                </a:moveTo>
                <a:lnTo>
                  <a:pt x="356425" y="269239"/>
                </a:lnTo>
                <a:lnTo>
                  <a:pt x="357451" y="269239"/>
                </a:lnTo>
                <a:lnTo>
                  <a:pt x="356273" y="270509"/>
                </a:lnTo>
                <a:close/>
              </a:path>
              <a:path w="1560195" h="676910">
                <a:moveTo>
                  <a:pt x="1521440" y="666707"/>
                </a:moveTo>
                <a:lnTo>
                  <a:pt x="1484591" y="618489"/>
                </a:lnTo>
                <a:lnTo>
                  <a:pt x="1460182" y="586739"/>
                </a:lnTo>
                <a:lnTo>
                  <a:pt x="1437043" y="556259"/>
                </a:lnTo>
                <a:lnTo>
                  <a:pt x="1394828" y="502919"/>
                </a:lnTo>
                <a:lnTo>
                  <a:pt x="1373809" y="476250"/>
                </a:lnTo>
                <a:lnTo>
                  <a:pt x="1352753" y="449579"/>
                </a:lnTo>
                <a:lnTo>
                  <a:pt x="1331671" y="424179"/>
                </a:lnTo>
                <a:lnTo>
                  <a:pt x="1310652" y="398779"/>
                </a:lnTo>
                <a:lnTo>
                  <a:pt x="1289684" y="373379"/>
                </a:lnTo>
                <a:lnTo>
                  <a:pt x="1289888" y="373379"/>
                </a:lnTo>
                <a:lnTo>
                  <a:pt x="1268717" y="349250"/>
                </a:lnTo>
                <a:lnTo>
                  <a:pt x="1268869" y="349250"/>
                </a:lnTo>
                <a:lnTo>
                  <a:pt x="1247698" y="326389"/>
                </a:lnTo>
                <a:lnTo>
                  <a:pt x="1226718" y="303529"/>
                </a:lnTo>
                <a:lnTo>
                  <a:pt x="1226908" y="303529"/>
                </a:lnTo>
                <a:lnTo>
                  <a:pt x="1205814" y="280669"/>
                </a:lnTo>
                <a:lnTo>
                  <a:pt x="1206004" y="280669"/>
                </a:lnTo>
                <a:lnTo>
                  <a:pt x="1195425" y="269239"/>
                </a:lnTo>
                <a:lnTo>
                  <a:pt x="1247808" y="269239"/>
                </a:lnTo>
                <a:lnTo>
                  <a:pt x="1254899" y="276859"/>
                </a:lnTo>
                <a:lnTo>
                  <a:pt x="1318793" y="349250"/>
                </a:lnTo>
                <a:lnTo>
                  <a:pt x="1382445" y="425450"/>
                </a:lnTo>
                <a:lnTo>
                  <a:pt x="1424889" y="478789"/>
                </a:lnTo>
                <a:lnTo>
                  <a:pt x="1467192" y="533400"/>
                </a:lnTo>
                <a:lnTo>
                  <a:pt x="1490446" y="563879"/>
                </a:lnTo>
                <a:lnTo>
                  <a:pt x="1514944" y="595629"/>
                </a:lnTo>
                <a:lnTo>
                  <a:pt x="1551897" y="643893"/>
                </a:lnTo>
                <a:lnTo>
                  <a:pt x="1521440" y="666707"/>
                </a:lnTo>
                <a:close/>
              </a:path>
              <a:path w="1560195" h="676910">
                <a:moveTo>
                  <a:pt x="1542712" y="666750"/>
                </a:moveTo>
                <a:lnTo>
                  <a:pt x="1521472" y="666750"/>
                </a:lnTo>
                <a:lnTo>
                  <a:pt x="1551897" y="643893"/>
                </a:lnTo>
                <a:lnTo>
                  <a:pt x="1559674" y="654050"/>
                </a:lnTo>
                <a:lnTo>
                  <a:pt x="1542712" y="666750"/>
                </a:lnTo>
                <a:close/>
              </a:path>
              <a:path w="1560195" h="676910">
                <a:moveTo>
                  <a:pt x="1529143" y="676909"/>
                </a:moveTo>
                <a:lnTo>
                  <a:pt x="1521383" y="666750"/>
                </a:lnTo>
                <a:lnTo>
                  <a:pt x="1542712" y="666750"/>
                </a:lnTo>
                <a:lnTo>
                  <a:pt x="1529143" y="6769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623075" y="2117217"/>
            <a:ext cx="3979545" cy="114300"/>
          </a:xfrm>
          <a:custGeom>
            <a:avLst/>
            <a:gdLst/>
            <a:ahLst/>
            <a:cxnLst/>
            <a:rect l="l" t="t" r="r" b="b"/>
            <a:pathLst>
              <a:path w="3979545" h="114300">
                <a:moveTo>
                  <a:pt x="3864614" y="38098"/>
                </a:moveTo>
                <a:lnTo>
                  <a:pt x="3864533" y="0"/>
                </a:lnTo>
                <a:lnTo>
                  <a:pt x="3941014" y="38036"/>
                </a:lnTo>
                <a:lnTo>
                  <a:pt x="3893185" y="38036"/>
                </a:lnTo>
                <a:lnTo>
                  <a:pt x="3864614" y="38098"/>
                </a:lnTo>
                <a:close/>
              </a:path>
              <a:path w="3979545" h="114300">
                <a:moveTo>
                  <a:pt x="3864694" y="76198"/>
                </a:moveTo>
                <a:lnTo>
                  <a:pt x="3864614" y="38098"/>
                </a:lnTo>
                <a:lnTo>
                  <a:pt x="3893185" y="38036"/>
                </a:lnTo>
                <a:lnTo>
                  <a:pt x="3893273" y="76136"/>
                </a:lnTo>
                <a:lnTo>
                  <a:pt x="3864694" y="76198"/>
                </a:lnTo>
                <a:close/>
              </a:path>
              <a:path w="3979545" h="114300">
                <a:moveTo>
                  <a:pt x="3864775" y="114299"/>
                </a:moveTo>
                <a:lnTo>
                  <a:pt x="3864694" y="76198"/>
                </a:lnTo>
                <a:lnTo>
                  <a:pt x="3893273" y="76136"/>
                </a:lnTo>
                <a:lnTo>
                  <a:pt x="3893185" y="38036"/>
                </a:lnTo>
                <a:lnTo>
                  <a:pt x="3941014" y="38036"/>
                </a:lnTo>
                <a:lnTo>
                  <a:pt x="3978960" y="56908"/>
                </a:lnTo>
                <a:lnTo>
                  <a:pt x="3864775" y="114299"/>
                </a:lnTo>
                <a:close/>
              </a:path>
              <a:path w="3979545" h="114300">
                <a:moveTo>
                  <a:pt x="88" y="84581"/>
                </a:moveTo>
                <a:lnTo>
                  <a:pt x="0" y="46481"/>
                </a:lnTo>
                <a:lnTo>
                  <a:pt x="3864614" y="38098"/>
                </a:lnTo>
                <a:lnTo>
                  <a:pt x="3864694" y="76198"/>
                </a:lnTo>
                <a:lnTo>
                  <a:pt x="88" y="8458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565963" y="947610"/>
            <a:ext cx="114300" cy="2321560"/>
          </a:xfrm>
          <a:custGeom>
            <a:avLst/>
            <a:gdLst/>
            <a:ahLst/>
            <a:cxnLst/>
            <a:rect l="l" t="t" r="r" b="b"/>
            <a:pathLst>
              <a:path w="114300" h="2321560">
                <a:moveTo>
                  <a:pt x="38100" y="114287"/>
                </a:moveTo>
                <a:lnTo>
                  <a:pt x="0" y="114287"/>
                </a:lnTo>
                <a:lnTo>
                  <a:pt x="57150" y="0"/>
                </a:lnTo>
                <a:lnTo>
                  <a:pt x="100010" y="85712"/>
                </a:lnTo>
                <a:lnTo>
                  <a:pt x="38100" y="85712"/>
                </a:lnTo>
                <a:lnTo>
                  <a:pt x="38100" y="114287"/>
                </a:lnTo>
                <a:close/>
              </a:path>
              <a:path w="114300" h="2321560">
                <a:moveTo>
                  <a:pt x="76200" y="2321052"/>
                </a:moveTo>
                <a:lnTo>
                  <a:pt x="38100" y="2321052"/>
                </a:lnTo>
                <a:lnTo>
                  <a:pt x="38100" y="85712"/>
                </a:lnTo>
                <a:lnTo>
                  <a:pt x="76200" y="85712"/>
                </a:lnTo>
                <a:lnTo>
                  <a:pt x="76200" y="2321052"/>
                </a:lnTo>
                <a:close/>
              </a:path>
              <a:path w="114300" h="2321560">
                <a:moveTo>
                  <a:pt x="114300" y="114287"/>
                </a:moveTo>
                <a:lnTo>
                  <a:pt x="76200" y="114287"/>
                </a:lnTo>
                <a:lnTo>
                  <a:pt x="76200" y="85712"/>
                </a:lnTo>
                <a:lnTo>
                  <a:pt x="100010" y="85712"/>
                </a:lnTo>
                <a:lnTo>
                  <a:pt x="114300" y="1142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117458" y="2168893"/>
            <a:ext cx="1475105" cy="689610"/>
          </a:xfrm>
          <a:custGeom>
            <a:avLst/>
            <a:gdLst/>
            <a:ahLst/>
            <a:cxnLst/>
            <a:rect l="l" t="t" r="r" b="b"/>
            <a:pathLst>
              <a:path w="1475104" h="689610">
                <a:moveTo>
                  <a:pt x="1467751" y="31750"/>
                </a:moveTo>
                <a:lnTo>
                  <a:pt x="1436480" y="10201"/>
                </a:lnTo>
                <a:lnTo>
                  <a:pt x="1443761" y="0"/>
                </a:lnTo>
                <a:lnTo>
                  <a:pt x="1475092" y="21589"/>
                </a:lnTo>
                <a:lnTo>
                  <a:pt x="1467751" y="31750"/>
                </a:lnTo>
                <a:close/>
              </a:path>
              <a:path w="1475104" h="689610">
                <a:moveTo>
                  <a:pt x="765835" y="688339"/>
                </a:moveTo>
                <a:lnTo>
                  <a:pt x="702462" y="688339"/>
                </a:lnTo>
                <a:lnTo>
                  <a:pt x="691362" y="687069"/>
                </a:lnTo>
                <a:lnTo>
                  <a:pt x="681405" y="685800"/>
                </a:lnTo>
                <a:lnTo>
                  <a:pt x="670890" y="683260"/>
                </a:lnTo>
                <a:lnTo>
                  <a:pt x="660361" y="681989"/>
                </a:lnTo>
                <a:lnTo>
                  <a:pt x="649820" y="679450"/>
                </a:lnTo>
                <a:lnTo>
                  <a:pt x="638683" y="676910"/>
                </a:lnTo>
                <a:lnTo>
                  <a:pt x="628700" y="673100"/>
                </a:lnTo>
                <a:lnTo>
                  <a:pt x="618197" y="670560"/>
                </a:lnTo>
                <a:lnTo>
                  <a:pt x="607733" y="666750"/>
                </a:lnTo>
                <a:lnTo>
                  <a:pt x="597306" y="661669"/>
                </a:lnTo>
                <a:lnTo>
                  <a:pt x="586892" y="657860"/>
                </a:lnTo>
                <a:lnTo>
                  <a:pt x="535025" y="632460"/>
                </a:lnTo>
                <a:lnTo>
                  <a:pt x="504164" y="613410"/>
                </a:lnTo>
                <a:lnTo>
                  <a:pt x="493890" y="605789"/>
                </a:lnTo>
                <a:lnTo>
                  <a:pt x="483603" y="599439"/>
                </a:lnTo>
                <a:lnTo>
                  <a:pt x="463016" y="584200"/>
                </a:lnTo>
                <a:lnTo>
                  <a:pt x="452780" y="575310"/>
                </a:lnTo>
                <a:lnTo>
                  <a:pt x="442582" y="567689"/>
                </a:lnTo>
                <a:lnTo>
                  <a:pt x="402043" y="532130"/>
                </a:lnTo>
                <a:lnTo>
                  <a:pt x="391782" y="523239"/>
                </a:lnTo>
                <a:lnTo>
                  <a:pt x="381584" y="513080"/>
                </a:lnTo>
                <a:lnTo>
                  <a:pt x="371436" y="504189"/>
                </a:lnTo>
                <a:lnTo>
                  <a:pt x="361086" y="494030"/>
                </a:lnTo>
                <a:lnTo>
                  <a:pt x="341172" y="472439"/>
                </a:lnTo>
                <a:lnTo>
                  <a:pt x="320954" y="450850"/>
                </a:lnTo>
                <a:lnTo>
                  <a:pt x="280543" y="406400"/>
                </a:lnTo>
                <a:lnTo>
                  <a:pt x="240360" y="358139"/>
                </a:lnTo>
                <a:lnTo>
                  <a:pt x="200126" y="307339"/>
                </a:lnTo>
                <a:lnTo>
                  <a:pt x="119951" y="200660"/>
                </a:lnTo>
                <a:lnTo>
                  <a:pt x="39890" y="88900"/>
                </a:lnTo>
                <a:lnTo>
                  <a:pt x="19875" y="59689"/>
                </a:lnTo>
                <a:lnTo>
                  <a:pt x="0" y="31750"/>
                </a:lnTo>
                <a:lnTo>
                  <a:pt x="31254" y="10160"/>
                </a:lnTo>
                <a:lnTo>
                  <a:pt x="51079" y="38100"/>
                </a:lnTo>
                <a:lnTo>
                  <a:pt x="70954" y="66039"/>
                </a:lnTo>
                <a:lnTo>
                  <a:pt x="110921" y="121919"/>
                </a:lnTo>
                <a:lnTo>
                  <a:pt x="150787" y="177800"/>
                </a:lnTo>
                <a:lnTo>
                  <a:pt x="170637" y="204469"/>
                </a:lnTo>
                <a:lnTo>
                  <a:pt x="190512" y="231139"/>
                </a:lnTo>
                <a:lnTo>
                  <a:pt x="210413" y="257810"/>
                </a:lnTo>
                <a:lnTo>
                  <a:pt x="230263" y="283210"/>
                </a:lnTo>
                <a:lnTo>
                  <a:pt x="250050" y="308610"/>
                </a:lnTo>
                <a:lnTo>
                  <a:pt x="249872" y="308610"/>
                </a:lnTo>
                <a:lnTo>
                  <a:pt x="269862" y="334010"/>
                </a:lnTo>
                <a:lnTo>
                  <a:pt x="269709" y="334010"/>
                </a:lnTo>
                <a:lnTo>
                  <a:pt x="289699" y="358139"/>
                </a:lnTo>
                <a:lnTo>
                  <a:pt x="290646" y="358139"/>
                </a:lnTo>
                <a:lnTo>
                  <a:pt x="309511" y="381000"/>
                </a:lnTo>
                <a:lnTo>
                  <a:pt x="309333" y="381000"/>
                </a:lnTo>
                <a:lnTo>
                  <a:pt x="329247" y="403860"/>
                </a:lnTo>
                <a:lnTo>
                  <a:pt x="329069" y="403860"/>
                </a:lnTo>
                <a:lnTo>
                  <a:pt x="339051" y="415289"/>
                </a:lnTo>
                <a:lnTo>
                  <a:pt x="340011" y="415289"/>
                </a:lnTo>
                <a:lnTo>
                  <a:pt x="348907" y="425450"/>
                </a:lnTo>
                <a:lnTo>
                  <a:pt x="348729" y="425450"/>
                </a:lnTo>
                <a:lnTo>
                  <a:pt x="368719" y="447039"/>
                </a:lnTo>
                <a:lnTo>
                  <a:pt x="368490" y="447039"/>
                </a:lnTo>
                <a:lnTo>
                  <a:pt x="388404" y="467360"/>
                </a:lnTo>
                <a:lnTo>
                  <a:pt x="388175" y="467360"/>
                </a:lnTo>
                <a:lnTo>
                  <a:pt x="398132" y="476250"/>
                </a:lnTo>
                <a:lnTo>
                  <a:pt x="397954" y="476250"/>
                </a:lnTo>
                <a:lnTo>
                  <a:pt x="407924" y="486410"/>
                </a:lnTo>
                <a:lnTo>
                  <a:pt x="407720" y="486410"/>
                </a:lnTo>
                <a:lnTo>
                  <a:pt x="417702" y="495300"/>
                </a:lnTo>
                <a:lnTo>
                  <a:pt x="417487" y="495300"/>
                </a:lnTo>
                <a:lnTo>
                  <a:pt x="427494" y="504189"/>
                </a:lnTo>
                <a:lnTo>
                  <a:pt x="427253" y="504189"/>
                </a:lnTo>
                <a:lnTo>
                  <a:pt x="447243" y="521969"/>
                </a:lnTo>
                <a:lnTo>
                  <a:pt x="447001" y="521969"/>
                </a:lnTo>
                <a:lnTo>
                  <a:pt x="456971" y="529589"/>
                </a:lnTo>
                <a:lnTo>
                  <a:pt x="456780" y="529589"/>
                </a:lnTo>
                <a:lnTo>
                  <a:pt x="466725" y="538480"/>
                </a:lnTo>
                <a:lnTo>
                  <a:pt x="466509" y="538480"/>
                </a:lnTo>
                <a:lnTo>
                  <a:pt x="476465" y="546100"/>
                </a:lnTo>
                <a:lnTo>
                  <a:pt x="476224" y="546100"/>
                </a:lnTo>
                <a:lnTo>
                  <a:pt x="486181" y="553719"/>
                </a:lnTo>
                <a:lnTo>
                  <a:pt x="485901" y="553719"/>
                </a:lnTo>
                <a:lnTo>
                  <a:pt x="495884" y="561339"/>
                </a:lnTo>
                <a:lnTo>
                  <a:pt x="497247" y="561339"/>
                </a:lnTo>
                <a:lnTo>
                  <a:pt x="505587" y="567689"/>
                </a:lnTo>
                <a:lnTo>
                  <a:pt x="505294" y="567689"/>
                </a:lnTo>
                <a:lnTo>
                  <a:pt x="515302" y="574039"/>
                </a:lnTo>
                <a:lnTo>
                  <a:pt x="515023" y="574039"/>
                </a:lnTo>
                <a:lnTo>
                  <a:pt x="525005" y="581660"/>
                </a:lnTo>
                <a:lnTo>
                  <a:pt x="526704" y="581660"/>
                </a:lnTo>
                <a:lnTo>
                  <a:pt x="534670" y="586739"/>
                </a:lnTo>
                <a:lnTo>
                  <a:pt x="534365" y="586739"/>
                </a:lnTo>
                <a:lnTo>
                  <a:pt x="544309" y="593089"/>
                </a:lnTo>
                <a:lnTo>
                  <a:pt x="543979" y="593089"/>
                </a:lnTo>
                <a:lnTo>
                  <a:pt x="553935" y="598169"/>
                </a:lnTo>
                <a:lnTo>
                  <a:pt x="553580" y="598169"/>
                </a:lnTo>
                <a:lnTo>
                  <a:pt x="563549" y="604519"/>
                </a:lnTo>
                <a:lnTo>
                  <a:pt x="563181" y="604519"/>
                </a:lnTo>
                <a:lnTo>
                  <a:pt x="573151" y="609600"/>
                </a:lnTo>
                <a:lnTo>
                  <a:pt x="572770" y="609600"/>
                </a:lnTo>
                <a:lnTo>
                  <a:pt x="582777" y="613410"/>
                </a:lnTo>
                <a:lnTo>
                  <a:pt x="582396" y="613410"/>
                </a:lnTo>
                <a:lnTo>
                  <a:pt x="592404" y="618489"/>
                </a:lnTo>
                <a:lnTo>
                  <a:pt x="592023" y="618489"/>
                </a:lnTo>
                <a:lnTo>
                  <a:pt x="602005" y="622300"/>
                </a:lnTo>
                <a:lnTo>
                  <a:pt x="601586" y="622300"/>
                </a:lnTo>
                <a:lnTo>
                  <a:pt x="611543" y="627380"/>
                </a:lnTo>
                <a:lnTo>
                  <a:pt x="614417" y="627380"/>
                </a:lnTo>
                <a:lnTo>
                  <a:pt x="621055" y="629919"/>
                </a:lnTo>
                <a:lnTo>
                  <a:pt x="620572" y="629919"/>
                </a:lnTo>
                <a:lnTo>
                  <a:pt x="630529" y="633730"/>
                </a:lnTo>
                <a:lnTo>
                  <a:pt x="630008" y="633730"/>
                </a:lnTo>
                <a:lnTo>
                  <a:pt x="639978" y="637539"/>
                </a:lnTo>
                <a:lnTo>
                  <a:pt x="642759" y="637539"/>
                </a:lnTo>
                <a:lnTo>
                  <a:pt x="649414" y="640080"/>
                </a:lnTo>
                <a:lnTo>
                  <a:pt x="648843" y="640080"/>
                </a:lnTo>
                <a:lnTo>
                  <a:pt x="658850" y="642619"/>
                </a:lnTo>
                <a:lnTo>
                  <a:pt x="658291" y="642619"/>
                </a:lnTo>
                <a:lnTo>
                  <a:pt x="668299" y="643889"/>
                </a:lnTo>
                <a:lnTo>
                  <a:pt x="667766" y="643889"/>
                </a:lnTo>
                <a:lnTo>
                  <a:pt x="677748" y="646430"/>
                </a:lnTo>
                <a:lnTo>
                  <a:pt x="677202" y="646430"/>
                </a:lnTo>
                <a:lnTo>
                  <a:pt x="687158" y="647700"/>
                </a:lnTo>
                <a:lnTo>
                  <a:pt x="686600" y="647700"/>
                </a:lnTo>
                <a:lnTo>
                  <a:pt x="696556" y="648969"/>
                </a:lnTo>
                <a:lnTo>
                  <a:pt x="695985" y="648969"/>
                </a:lnTo>
                <a:lnTo>
                  <a:pt x="705942" y="650239"/>
                </a:lnTo>
                <a:lnTo>
                  <a:pt x="714743" y="650239"/>
                </a:lnTo>
                <a:lnTo>
                  <a:pt x="724725" y="651510"/>
                </a:lnTo>
                <a:lnTo>
                  <a:pt x="894206" y="651510"/>
                </a:lnTo>
                <a:lnTo>
                  <a:pt x="881240" y="657860"/>
                </a:lnTo>
                <a:lnTo>
                  <a:pt x="829030" y="676910"/>
                </a:lnTo>
                <a:lnTo>
                  <a:pt x="817905" y="679450"/>
                </a:lnTo>
                <a:lnTo>
                  <a:pt x="807897" y="681989"/>
                </a:lnTo>
                <a:lnTo>
                  <a:pt x="797382" y="683260"/>
                </a:lnTo>
                <a:lnTo>
                  <a:pt x="786866" y="685800"/>
                </a:lnTo>
                <a:lnTo>
                  <a:pt x="765835" y="688339"/>
                </a:lnTo>
                <a:close/>
              </a:path>
              <a:path w="1475104" h="689610">
                <a:moveTo>
                  <a:pt x="1436480" y="10201"/>
                </a:moveTo>
                <a:close/>
              </a:path>
              <a:path w="1475104" h="689610">
                <a:moveTo>
                  <a:pt x="1227505" y="358139"/>
                </a:moveTo>
                <a:lnTo>
                  <a:pt x="1178013" y="358139"/>
                </a:lnTo>
                <a:lnTo>
                  <a:pt x="1198003" y="334010"/>
                </a:lnTo>
                <a:lnTo>
                  <a:pt x="1197864" y="334010"/>
                </a:lnTo>
                <a:lnTo>
                  <a:pt x="1217841" y="308610"/>
                </a:lnTo>
                <a:lnTo>
                  <a:pt x="1217663" y="308610"/>
                </a:lnTo>
                <a:lnTo>
                  <a:pt x="1237576" y="283210"/>
                </a:lnTo>
                <a:lnTo>
                  <a:pt x="1257376" y="257810"/>
                </a:lnTo>
                <a:lnTo>
                  <a:pt x="1277302" y="231139"/>
                </a:lnTo>
                <a:lnTo>
                  <a:pt x="1297190" y="204469"/>
                </a:lnTo>
                <a:lnTo>
                  <a:pt x="1317002" y="177800"/>
                </a:lnTo>
                <a:lnTo>
                  <a:pt x="1356842" y="121919"/>
                </a:lnTo>
                <a:lnTo>
                  <a:pt x="1378699" y="91439"/>
                </a:lnTo>
                <a:lnTo>
                  <a:pt x="1401737" y="59689"/>
                </a:lnTo>
                <a:lnTo>
                  <a:pt x="1436480" y="10201"/>
                </a:lnTo>
                <a:lnTo>
                  <a:pt x="1467751" y="31750"/>
                </a:lnTo>
                <a:lnTo>
                  <a:pt x="1409725" y="114300"/>
                </a:lnTo>
                <a:lnTo>
                  <a:pt x="1387779" y="144780"/>
                </a:lnTo>
                <a:lnTo>
                  <a:pt x="1347838" y="199389"/>
                </a:lnTo>
                <a:lnTo>
                  <a:pt x="1327861" y="227330"/>
                </a:lnTo>
                <a:lnTo>
                  <a:pt x="1267714" y="307339"/>
                </a:lnTo>
                <a:lnTo>
                  <a:pt x="1227505" y="358139"/>
                </a:lnTo>
                <a:close/>
              </a:path>
              <a:path w="1475104" h="689610">
                <a:moveTo>
                  <a:pt x="290646" y="358139"/>
                </a:moveTo>
                <a:lnTo>
                  <a:pt x="289699" y="358139"/>
                </a:lnTo>
                <a:lnTo>
                  <a:pt x="289598" y="356869"/>
                </a:lnTo>
                <a:lnTo>
                  <a:pt x="290646" y="358139"/>
                </a:lnTo>
                <a:close/>
              </a:path>
              <a:path w="1475104" h="689610">
                <a:moveTo>
                  <a:pt x="1178888" y="415289"/>
                </a:moveTo>
                <a:lnTo>
                  <a:pt x="1128674" y="415289"/>
                </a:lnTo>
                <a:lnTo>
                  <a:pt x="1138656" y="403860"/>
                </a:lnTo>
                <a:lnTo>
                  <a:pt x="1138478" y="403860"/>
                </a:lnTo>
                <a:lnTo>
                  <a:pt x="1158392" y="381000"/>
                </a:lnTo>
                <a:lnTo>
                  <a:pt x="1158214" y="381000"/>
                </a:lnTo>
                <a:lnTo>
                  <a:pt x="1178128" y="356869"/>
                </a:lnTo>
                <a:lnTo>
                  <a:pt x="1178013" y="358139"/>
                </a:lnTo>
                <a:lnTo>
                  <a:pt x="1227505" y="358139"/>
                </a:lnTo>
                <a:lnTo>
                  <a:pt x="1207363" y="382269"/>
                </a:lnTo>
                <a:lnTo>
                  <a:pt x="1187348" y="405130"/>
                </a:lnTo>
                <a:lnTo>
                  <a:pt x="1178888" y="415289"/>
                </a:lnTo>
                <a:close/>
              </a:path>
              <a:path w="1475104" h="689610">
                <a:moveTo>
                  <a:pt x="340011" y="415289"/>
                </a:moveTo>
                <a:lnTo>
                  <a:pt x="339051" y="415289"/>
                </a:lnTo>
                <a:lnTo>
                  <a:pt x="338899" y="414019"/>
                </a:lnTo>
                <a:lnTo>
                  <a:pt x="340011" y="415289"/>
                </a:lnTo>
                <a:close/>
              </a:path>
              <a:path w="1475104" h="689610">
                <a:moveTo>
                  <a:pt x="1032598" y="561339"/>
                </a:moveTo>
                <a:lnTo>
                  <a:pt x="971829" y="561339"/>
                </a:lnTo>
                <a:lnTo>
                  <a:pt x="981811" y="553719"/>
                </a:lnTo>
                <a:lnTo>
                  <a:pt x="981532" y="553719"/>
                </a:lnTo>
                <a:lnTo>
                  <a:pt x="991501" y="546100"/>
                </a:lnTo>
                <a:lnTo>
                  <a:pt x="991247" y="546100"/>
                </a:lnTo>
                <a:lnTo>
                  <a:pt x="1001204" y="538480"/>
                </a:lnTo>
                <a:lnTo>
                  <a:pt x="1000988" y="538480"/>
                </a:lnTo>
                <a:lnTo>
                  <a:pt x="1010945" y="529589"/>
                </a:lnTo>
                <a:lnTo>
                  <a:pt x="1010754" y="529589"/>
                </a:lnTo>
                <a:lnTo>
                  <a:pt x="1020711" y="521969"/>
                </a:lnTo>
                <a:lnTo>
                  <a:pt x="1020483" y="521969"/>
                </a:lnTo>
                <a:lnTo>
                  <a:pt x="1040472" y="504189"/>
                </a:lnTo>
                <a:lnTo>
                  <a:pt x="1040218" y="504189"/>
                </a:lnTo>
                <a:lnTo>
                  <a:pt x="1050226" y="495300"/>
                </a:lnTo>
                <a:lnTo>
                  <a:pt x="1050010" y="495300"/>
                </a:lnTo>
                <a:lnTo>
                  <a:pt x="1059992" y="486410"/>
                </a:lnTo>
                <a:lnTo>
                  <a:pt x="1059802" y="486410"/>
                </a:lnTo>
                <a:lnTo>
                  <a:pt x="1069759" y="476250"/>
                </a:lnTo>
                <a:lnTo>
                  <a:pt x="1069594" y="476250"/>
                </a:lnTo>
                <a:lnTo>
                  <a:pt x="1079538" y="467360"/>
                </a:lnTo>
                <a:lnTo>
                  <a:pt x="1079322" y="467360"/>
                </a:lnTo>
                <a:lnTo>
                  <a:pt x="1099235" y="447039"/>
                </a:lnTo>
                <a:lnTo>
                  <a:pt x="1098994" y="447039"/>
                </a:lnTo>
                <a:lnTo>
                  <a:pt x="1118984" y="425450"/>
                </a:lnTo>
                <a:lnTo>
                  <a:pt x="1118806" y="425450"/>
                </a:lnTo>
                <a:lnTo>
                  <a:pt x="1128814" y="414019"/>
                </a:lnTo>
                <a:lnTo>
                  <a:pt x="1128674" y="415289"/>
                </a:lnTo>
                <a:lnTo>
                  <a:pt x="1178888" y="415289"/>
                </a:lnTo>
                <a:lnTo>
                  <a:pt x="1167257" y="429260"/>
                </a:lnTo>
                <a:lnTo>
                  <a:pt x="1157097" y="440689"/>
                </a:lnTo>
                <a:lnTo>
                  <a:pt x="1146949" y="450850"/>
                </a:lnTo>
                <a:lnTo>
                  <a:pt x="1106627" y="494030"/>
                </a:lnTo>
                <a:lnTo>
                  <a:pt x="1096454" y="504189"/>
                </a:lnTo>
                <a:lnTo>
                  <a:pt x="1086319" y="513080"/>
                </a:lnTo>
                <a:lnTo>
                  <a:pt x="1076147" y="523239"/>
                </a:lnTo>
                <a:lnTo>
                  <a:pt x="1032598" y="561339"/>
                </a:lnTo>
                <a:close/>
              </a:path>
              <a:path w="1475104" h="689610">
                <a:moveTo>
                  <a:pt x="497247" y="561339"/>
                </a:moveTo>
                <a:lnTo>
                  <a:pt x="495884" y="561339"/>
                </a:lnTo>
                <a:lnTo>
                  <a:pt x="495579" y="560069"/>
                </a:lnTo>
                <a:lnTo>
                  <a:pt x="497247" y="561339"/>
                </a:lnTo>
                <a:close/>
              </a:path>
              <a:path w="1475104" h="689610">
                <a:moveTo>
                  <a:pt x="1007893" y="581660"/>
                </a:moveTo>
                <a:lnTo>
                  <a:pt x="942721" y="581660"/>
                </a:lnTo>
                <a:lnTo>
                  <a:pt x="952690" y="574039"/>
                </a:lnTo>
                <a:lnTo>
                  <a:pt x="952423" y="574039"/>
                </a:lnTo>
                <a:lnTo>
                  <a:pt x="962431" y="567689"/>
                </a:lnTo>
                <a:lnTo>
                  <a:pt x="962126" y="567689"/>
                </a:lnTo>
                <a:lnTo>
                  <a:pt x="972134" y="560069"/>
                </a:lnTo>
                <a:lnTo>
                  <a:pt x="971829" y="561339"/>
                </a:lnTo>
                <a:lnTo>
                  <a:pt x="1032598" y="561339"/>
                </a:lnTo>
                <a:lnTo>
                  <a:pt x="1025359" y="567689"/>
                </a:lnTo>
                <a:lnTo>
                  <a:pt x="1015187" y="575310"/>
                </a:lnTo>
                <a:lnTo>
                  <a:pt x="1007893" y="581660"/>
                </a:lnTo>
                <a:close/>
              </a:path>
              <a:path w="1475104" h="689610">
                <a:moveTo>
                  <a:pt x="526704" y="581660"/>
                </a:moveTo>
                <a:lnTo>
                  <a:pt x="525005" y="581660"/>
                </a:lnTo>
                <a:lnTo>
                  <a:pt x="524713" y="580389"/>
                </a:lnTo>
                <a:lnTo>
                  <a:pt x="526704" y="581660"/>
                </a:lnTo>
                <a:close/>
              </a:path>
              <a:path w="1475104" h="689610">
                <a:moveTo>
                  <a:pt x="940758" y="627380"/>
                </a:moveTo>
                <a:lnTo>
                  <a:pt x="856170" y="627380"/>
                </a:lnTo>
                <a:lnTo>
                  <a:pt x="866140" y="622300"/>
                </a:lnTo>
                <a:lnTo>
                  <a:pt x="865720" y="622300"/>
                </a:lnTo>
                <a:lnTo>
                  <a:pt x="875703" y="618489"/>
                </a:lnTo>
                <a:lnTo>
                  <a:pt x="875309" y="618489"/>
                </a:lnTo>
                <a:lnTo>
                  <a:pt x="885317" y="613410"/>
                </a:lnTo>
                <a:lnTo>
                  <a:pt x="884936" y="613410"/>
                </a:lnTo>
                <a:lnTo>
                  <a:pt x="894943" y="609600"/>
                </a:lnTo>
                <a:lnTo>
                  <a:pt x="894562" y="609600"/>
                </a:lnTo>
                <a:lnTo>
                  <a:pt x="904544" y="604519"/>
                </a:lnTo>
                <a:lnTo>
                  <a:pt x="904176" y="604519"/>
                </a:lnTo>
                <a:lnTo>
                  <a:pt x="914133" y="598169"/>
                </a:lnTo>
                <a:lnTo>
                  <a:pt x="913790" y="598169"/>
                </a:lnTo>
                <a:lnTo>
                  <a:pt x="923734" y="593089"/>
                </a:lnTo>
                <a:lnTo>
                  <a:pt x="923404" y="593089"/>
                </a:lnTo>
                <a:lnTo>
                  <a:pt x="933361" y="586739"/>
                </a:lnTo>
                <a:lnTo>
                  <a:pt x="933043" y="586739"/>
                </a:lnTo>
                <a:lnTo>
                  <a:pt x="943013" y="580389"/>
                </a:lnTo>
                <a:lnTo>
                  <a:pt x="942721" y="581660"/>
                </a:lnTo>
                <a:lnTo>
                  <a:pt x="1007893" y="581660"/>
                </a:lnTo>
                <a:lnTo>
                  <a:pt x="1004976" y="584200"/>
                </a:lnTo>
                <a:lnTo>
                  <a:pt x="994727" y="591819"/>
                </a:lnTo>
                <a:lnTo>
                  <a:pt x="984402" y="598169"/>
                </a:lnTo>
                <a:lnTo>
                  <a:pt x="974102" y="605789"/>
                </a:lnTo>
                <a:lnTo>
                  <a:pt x="963853" y="612139"/>
                </a:lnTo>
                <a:lnTo>
                  <a:pt x="953592" y="619760"/>
                </a:lnTo>
                <a:lnTo>
                  <a:pt x="943330" y="626110"/>
                </a:lnTo>
                <a:lnTo>
                  <a:pt x="940758" y="627380"/>
                </a:lnTo>
                <a:close/>
              </a:path>
              <a:path w="1475104" h="689610">
                <a:moveTo>
                  <a:pt x="614417" y="627380"/>
                </a:moveTo>
                <a:lnTo>
                  <a:pt x="611543" y="627380"/>
                </a:lnTo>
                <a:lnTo>
                  <a:pt x="611098" y="626110"/>
                </a:lnTo>
                <a:lnTo>
                  <a:pt x="614417" y="627380"/>
                </a:lnTo>
                <a:close/>
              </a:path>
              <a:path w="1475104" h="689610">
                <a:moveTo>
                  <a:pt x="922731" y="637539"/>
                </a:moveTo>
                <a:lnTo>
                  <a:pt x="827747" y="637539"/>
                </a:lnTo>
                <a:lnTo>
                  <a:pt x="837704" y="633730"/>
                </a:lnTo>
                <a:lnTo>
                  <a:pt x="837196" y="633730"/>
                </a:lnTo>
                <a:lnTo>
                  <a:pt x="847153" y="629919"/>
                </a:lnTo>
                <a:lnTo>
                  <a:pt x="846670" y="629919"/>
                </a:lnTo>
                <a:lnTo>
                  <a:pt x="856615" y="626110"/>
                </a:lnTo>
                <a:lnTo>
                  <a:pt x="856170" y="627380"/>
                </a:lnTo>
                <a:lnTo>
                  <a:pt x="940758" y="627380"/>
                </a:lnTo>
                <a:lnTo>
                  <a:pt x="933043" y="631189"/>
                </a:lnTo>
                <a:lnTo>
                  <a:pt x="922731" y="637539"/>
                </a:lnTo>
                <a:close/>
              </a:path>
              <a:path w="1475104" h="689610">
                <a:moveTo>
                  <a:pt x="642759" y="637539"/>
                </a:moveTo>
                <a:lnTo>
                  <a:pt x="639978" y="637539"/>
                </a:lnTo>
                <a:lnTo>
                  <a:pt x="639432" y="636269"/>
                </a:lnTo>
                <a:lnTo>
                  <a:pt x="642759" y="637539"/>
                </a:lnTo>
                <a:close/>
              </a:path>
              <a:path w="1475104" h="689610">
                <a:moveTo>
                  <a:pt x="894206" y="651510"/>
                </a:moveTo>
                <a:lnTo>
                  <a:pt x="743000" y="651510"/>
                </a:lnTo>
                <a:lnTo>
                  <a:pt x="752983" y="650239"/>
                </a:lnTo>
                <a:lnTo>
                  <a:pt x="761784" y="650239"/>
                </a:lnTo>
                <a:lnTo>
                  <a:pt x="771728" y="648969"/>
                </a:lnTo>
                <a:lnTo>
                  <a:pt x="771169" y="648969"/>
                </a:lnTo>
                <a:lnTo>
                  <a:pt x="781113" y="647700"/>
                </a:lnTo>
                <a:lnTo>
                  <a:pt x="780554" y="647700"/>
                </a:lnTo>
                <a:lnTo>
                  <a:pt x="790511" y="646430"/>
                </a:lnTo>
                <a:lnTo>
                  <a:pt x="789965" y="646430"/>
                </a:lnTo>
                <a:lnTo>
                  <a:pt x="799947" y="643889"/>
                </a:lnTo>
                <a:lnTo>
                  <a:pt x="799414" y="643889"/>
                </a:lnTo>
                <a:lnTo>
                  <a:pt x="809421" y="642619"/>
                </a:lnTo>
                <a:lnTo>
                  <a:pt x="808875" y="642619"/>
                </a:lnTo>
                <a:lnTo>
                  <a:pt x="818883" y="640080"/>
                </a:lnTo>
                <a:lnTo>
                  <a:pt x="818311" y="640080"/>
                </a:lnTo>
                <a:lnTo>
                  <a:pt x="828281" y="636269"/>
                </a:lnTo>
                <a:lnTo>
                  <a:pt x="827747" y="637539"/>
                </a:lnTo>
                <a:lnTo>
                  <a:pt x="922731" y="637539"/>
                </a:lnTo>
                <a:lnTo>
                  <a:pt x="894206" y="651510"/>
                </a:lnTo>
                <a:close/>
              </a:path>
              <a:path w="1475104" h="689610">
                <a:moveTo>
                  <a:pt x="744740" y="689610"/>
                </a:moveTo>
                <a:lnTo>
                  <a:pt x="722985" y="689610"/>
                </a:lnTo>
                <a:lnTo>
                  <a:pt x="713003" y="688339"/>
                </a:lnTo>
                <a:lnTo>
                  <a:pt x="755294" y="688339"/>
                </a:lnTo>
                <a:lnTo>
                  <a:pt x="744740" y="6896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002007" y="915784"/>
            <a:ext cx="185991" cy="2007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130861" y="847318"/>
            <a:ext cx="430225" cy="2696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626377" y="1528584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59">
                <a:moveTo>
                  <a:pt x="127" y="10045"/>
                </a:moveTo>
                <a:lnTo>
                  <a:pt x="0" y="520"/>
                </a:lnTo>
                <a:lnTo>
                  <a:pt x="38100" y="0"/>
                </a:lnTo>
                <a:lnTo>
                  <a:pt x="38227" y="9525"/>
                </a:lnTo>
                <a:lnTo>
                  <a:pt x="127" y="100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693052" y="1527670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59">
                <a:moveTo>
                  <a:pt x="127" y="10045"/>
                </a:moveTo>
                <a:lnTo>
                  <a:pt x="0" y="520"/>
                </a:lnTo>
                <a:lnTo>
                  <a:pt x="38087" y="0"/>
                </a:lnTo>
                <a:lnTo>
                  <a:pt x="38214" y="9525"/>
                </a:lnTo>
                <a:lnTo>
                  <a:pt x="127" y="100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759714" y="1526768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59">
                <a:moveTo>
                  <a:pt x="126" y="10045"/>
                </a:moveTo>
                <a:lnTo>
                  <a:pt x="0" y="520"/>
                </a:lnTo>
                <a:lnTo>
                  <a:pt x="38100" y="0"/>
                </a:lnTo>
                <a:lnTo>
                  <a:pt x="38226" y="9524"/>
                </a:lnTo>
                <a:lnTo>
                  <a:pt x="126" y="100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826389" y="1525854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59">
                <a:moveTo>
                  <a:pt x="126" y="10045"/>
                </a:moveTo>
                <a:lnTo>
                  <a:pt x="0" y="520"/>
                </a:lnTo>
                <a:lnTo>
                  <a:pt x="38087" y="0"/>
                </a:lnTo>
                <a:lnTo>
                  <a:pt x="38226" y="9524"/>
                </a:lnTo>
                <a:lnTo>
                  <a:pt x="126" y="100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893052" y="1524952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59">
                <a:moveTo>
                  <a:pt x="126" y="10045"/>
                </a:moveTo>
                <a:lnTo>
                  <a:pt x="0" y="520"/>
                </a:lnTo>
                <a:lnTo>
                  <a:pt x="38100" y="0"/>
                </a:lnTo>
                <a:lnTo>
                  <a:pt x="38226" y="9525"/>
                </a:lnTo>
                <a:lnTo>
                  <a:pt x="126" y="100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959727" y="1524038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59">
                <a:moveTo>
                  <a:pt x="126" y="10045"/>
                </a:moveTo>
                <a:lnTo>
                  <a:pt x="0" y="520"/>
                </a:lnTo>
                <a:lnTo>
                  <a:pt x="38087" y="0"/>
                </a:lnTo>
                <a:lnTo>
                  <a:pt x="38226" y="9525"/>
                </a:lnTo>
                <a:lnTo>
                  <a:pt x="126" y="100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026388" y="1523136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59">
                <a:moveTo>
                  <a:pt x="126" y="10045"/>
                </a:moveTo>
                <a:lnTo>
                  <a:pt x="0" y="520"/>
                </a:lnTo>
                <a:lnTo>
                  <a:pt x="38100" y="0"/>
                </a:lnTo>
                <a:lnTo>
                  <a:pt x="38226" y="9524"/>
                </a:lnTo>
                <a:lnTo>
                  <a:pt x="126" y="100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093063" y="1522234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59">
                <a:moveTo>
                  <a:pt x="126" y="10033"/>
                </a:moveTo>
                <a:lnTo>
                  <a:pt x="0" y="508"/>
                </a:lnTo>
                <a:lnTo>
                  <a:pt x="38087" y="0"/>
                </a:lnTo>
                <a:lnTo>
                  <a:pt x="38226" y="9512"/>
                </a:lnTo>
                <a:lnTo>
                  <a:pt x="126" y="100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159726" y="1521320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59">
                <a:moveTo>
                  <a:pt x="126" y="10045"/>
                </a:moveTo>
                <a:lnTo>
                  <a:pt x="0" y="520"/>
                </a:lnTo>
                <a:lnTo>
                  <a:pt x="38100" y="0"/>
                </a:lnTo>
                <a:lnTo>
                  <a:pt x="38226" y="9525"/>
                </a:lnTo>
                <a:lnTo>
                  <a:pt x="126" y="100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226401" y="1520418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59">
                <a:moveTo>
                  <a:pt x="126" y="10032"/>
                </a:moveTo>
                <a:lnTo>
                  <a:pt x="0" y="507"/>
                </a:lnTo>
                <a:lnTo>
                  <a:pt x="38087" y="0"/>
                </a:lnTo>
                <a:lnTo>
                  <a:pt x="38226" y="9524"/>
                </a:lnTo>
                <a:lnTo>
                  <a:pt x="126" y="100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293064" y="1519504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59">
                <a:moveTo>
                  <a:pt x="127" y="10045"/>
                </a:moveTo>
                <a:lnTo>
                  <a:pt x="0" y="520"/>
                </a:lnTo>
                <a:lnTo>
                  <a:pt x="38100" y="0"/>
                </a:lnTo>
                <a:lnTo>
                  <a:pt x="38227" y="9524"/>
                </a:lnTo>
                <a:lnTo>
                  <a:pt x="127" y="100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074193" y="1397038"/>
            <a:ext cx="497192" cy="26874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0609630" y="2236774"/>
            <a:ext cx="147751" cy="23704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0764773" y="2204631"/>
            <a:ext cx="326707" cy="26963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010693" y="2759113"/>
            <a:ext cx="598792" cy="26874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668211" y="2850730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38100" y="9563"/>
                </a:moveTo>
                <a:lnTo>
                  <a:pt x="0" y="9525"/>
                </a:lnTo>
                <a:lnTo>
                  <a:pt x="12" y="0"/>
                </a:lnTo>
                <a:lnTo>
                  <a:pt x="38112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734886" y="2850794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38100" y="9563"/>
                </a:moveTo>
                <a:lnTo>
                  <a:pt x="0" y="9525"/>
                </a:lnTo>
                <a:lnTo>
                  <a:pt x="12" y="0"/>
                </a:lnTo>
                <a:lnTo>
                  <a:pt x="38112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6801561" y="2850857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38100" y="9563"/>
                </a:moveTo>
                <a:lnTo>
                  <a:pt x="0" y="9525"/>
                </a:lnTo>
                <a:lnTo>
                  <a:pt x="12" y="0"/>
                </a:lnTo>
                <a:lnTo>
                  <a:pt x="38112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868236" y="2850921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38100" y="9563"/>
                </a:moveTo>
                <a:lnTo>
                  <a:pt x="0" y="9525"/>
                </a:lnTo>
                <a:lnTo>
                  <a:pt x="12" y="0"/>
                </a:lnTo>
                <a:lnTo>
                  <a:pt x="38112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934911" y="2850984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38100" y="9563"/>
                </a:moveTo>
                <a:lnTo>
                  <a:pt x="0" y="9525"/>
                </a:lnTo>
                <a:lnTo>
                  <a:pt x="12" y="0"/>
                </a:lnTo>
                <a:lnTo>
                  <a:pt x="38112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001586" y="2851048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38100" y="9563"/>
                </a:moveTo>
                <a:lnTo>
                  <a:pt x="0" y="9525"/>
                </a:lnTo>
                <a:lnTo>
                  <a:pt x="12" y="0"/>
                </a:lnTo>
                <a:lnTo>
                  <a:pt x="38112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068261" y="2851111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38100" y="9563"/>
                </a:moveTo>
                <a:lnTo>
                  <a:pt x="0" y="9525"/>
                </a:lnTo>
                <a:lnTo>
                  <a:pt x="12" y="0"/>
                </a:lnTo>
                <a:lnTo>
                  <a:pt x="38112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134936" y="2851175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38100" y="9563"/>
                </a:moveTo>
                <a:lnTo>
                  <a:pt x="0" y="9525"/>
                </a:lnTo>
                <a:lnTo>
                  <a:pt x="12" y="0"/>
                </a:lnTo>
                <a:lnTo>
                  <a:pt x="38112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201611" y="2851238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38100" y="9563"/>
                </a:moveTo>
                <a:lnTo>
                  <a:pt x="0" y="9525"/>
                </a:lnTo>
                <a:lnTo>
                  <a:pt x="12" y="0"/>
                </a:lnTo>
                <a:lnTo>
                  <a:pt x="38112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268286" y="2851315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38100" y="9550"/>
                </a:moveTo>
                <a:lnTo>
                  <a:pt x="0" y="9524"/>
                </a:lnTo>
                <a:lnTo>
                  <a:pt x="12" y="0"/>
                </a:lnTo>
                <a:lnTo>
                  <a:pt x="38112" y="25"/>
                </a:lnTo>
                <a:lnTo>
                  <a:pt x="38100" y="95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7334961" y="2851378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38100" y="9563"/>
                </a:moveTo>
                <a:lnTo>
                  <a:pt x="0" y="9524"/>
                </a:lnTo>
                <a:lnTo>
                  <a:pt x="12" y="0"/>
                </a:lnTo>
                <a:lnTo>
                  <a:pt x="38112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7401636" y="2851442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38100" y="9563"/>
                </a:moveTo>
                <a:lnTo>
                  <a:pt x="0" y="9524"/>
                </a:lnTo>
                <a:lnTo>
                  <a:pt x="12" y="0"/>
                </a:lnTo>
                <a:lnTo>
                  <a:pt x="38112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7468311" y="2851505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38100" y="9563"/>
                </a:moveTo>
                <a:lnTo>
                  <a:pt x="0" y="9524"/>
                </a:lnTo>
                <a:lnTo>
                  <a:pt x="12" y="0"/>
                </a:lnTo>
                <a:lnTo>
                  <a:pt x="38112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7534986" y="2851569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38100" y="9563"/>
                </a:moveTo>
                <a:lnTo>
                  <a:pt x="0" y="9524"/>
                </a:lnTo>
                <a:lnTo>
                  <a:pt x="12" y="0"/>
                </a:lnTo>
                <a:lnTo>
                  <a:pt x="38112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7601661" y="2851632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38100" y="9563"/>
                </a:moveTo>
                <a:lnTo>
                  <a:pt x="0" y="9525"/>
                </a:lnTo>
                <a:lnTo>
                  <a:pt x="12" y="0"/>
                </a:lnTo>
                <a:lnTo>
                  <a:pt x="38112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7668336" y="2851696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38100" y="9563"/>
                </a:moveTo>
                <a:lnTo>
                  <a:pt x="0" y="9525"/>
                </a:lnTo>
                <a:lnTo>
                  <a:pt x="12" y="0"/>
                </a:lnTo>
                <a:lnTo>
                  <a:pt x="38112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7735011" y="2851759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38100" y="9563"/>
                </a:moveTo>
                <a:lnTo>
                  <a:pt x="0" y="9525"/>
                </a:lnTo>
                <a:lnTo>
                  <a:pt x="12" y="0"/>
                </a:lnTo>
                <a:lnTo>
                  <a:pt x="38112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7801686" y="2851823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38100" y="9563"/>
                </a:moveTo>
                <a:lnTo>
                  <a:pt x="0" y="9525"/>
                </a:lnTo>
                <a:lnTo>
                  <a:pt x="12" y="0"/>
                </a:lnTo>
                <a:lnTo>
                  <a:pt x="38112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7868361" y="2851886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38100" y="9563"/>
                </a:moveTo>
                <a:lnTo>
                  <a:pt x="0" y="9525"/>
                </a:lnTo>
                <a:lnTo>
                  <a:pt x="12" y="0"/>
                </a:lnTo>
                <a:lnTo>
                  <a:pt x="38112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7935036" y="2851950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38100" y="9563"/>
                </a:moveTo>
                <a:lnTo>
                  <a:pt x="0" y="9525"/>
                </a:lnTo>
                <a:lnTo>
                  <a:pt x="12" y="0"/>
                </a:lnTo>
                <a:lnTo>
                  <a:pt x="38112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8001711" y="2852013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38100" y="9563"/>
                </a:moveTo>
                <a:lnTo>
                  <a:pt x="0" y="9525"/>
                </a:lnTo>
                <a:lnTo>
                  <a:pt x="12" y="0"/>
                </a:lnTo>
                <a:lnTo>
                  <a:pt x="38112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8068386" y="2852077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38100" y="9563"/>
                </a:moveTo>
                <a:lnTo>
                  <a:pt x="0" y="9525"/>
                </a:lnTo>
                <a:lnTo>
                  <a:pt x="12" y="0"/>
                </a:lnTo>
                <a:lnTo>
                  <a:pt x="38112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8135061" y="2852140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38100" y="9563"/>
                </a:moveTo>
                <a:lnTo>
                  <a:pt x="0" y="9525"/>
                </a:lnTo>
                <a:lnTo>
                  <a:pt x="12" y="0"/>
                </a:lnTo>
                <a:lnTo>
                  <a:pt x="38112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8201736" y="2852204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38100" y="9563"/>
                </a:moveTo>
                <a:lnTo>
                  <a:pt x="0" y="9525"/>
                </a:lnTo>
                <a:lnTo>
                  <a:pt x="12" y="0"/>
                </a:lnTo>
                <a:lnTo>
                  <a:pt x="38112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8268411" y="2852267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38100" y="9563"/>
                </a:moveTo>
                <a:lnTo>
                  <a:pt x="0" y="9525"/>
                </a:lnTo>
                <a:lnTo>
                  <a:pt x="12" y="0"/>
                </a:lnTo>
                <a:lnTo>
                  <a:pt x="38112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8335086" y="2852343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38100" y="9550"/>
                </a:moveTo>
                <a:lnTo>
                  <a:pt x="0" y="9525"/>
                </a:lnTo>
                <a:lnTo>
                  <a:pt x="12" y="0"/>
                </a:lnTo>
                <a:lnTo>
                  <a:pt x="38112" y="25"/>
                </a:lnTo>
                <a:lnTo>
                  <a:pt x="38100" y="95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8401761" y="2852407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38100" y="9563"/>
                </a:moveTo>
                <a:lnTo>
                  <a:pt x="0" y="9525"/>
                </a:lnTo>
                <a:lnTo>
                  <a:pt x="12" y="0"/>
                </a:lnTo>
                <a:lnTo>
                  <a:pt x="38112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8468436" y="2852470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38100" y="9563"/>
                </a:moveTo>
                <a:lnTo>
                  <a:pt x="0" y="9524"/>
                </a:lnTo>
                <a:lnTo>
                  <a:pt x="12" y="0"/>
                </a:lnTo>
                <a:lnTo>
                  <a:pt x="38112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8535111" y="2852534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38100" y="9563"/>
                </a:moveTo>
                <a:lnTo>
                  <a:pt x="0" y="9524"/>
                </a:lnTo>
                <a:lnTo>
                  <a:pt x="12" y="0"/>
                </a:lnTo>
                <a:lnTo>
                  <a:pt x="38112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8601786" y="2852597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38100" y="9563"/>
                </a:moveTo>
                <a:lnTo>
                  <a:pt x="0" y="9524"/>
                </a:lnTo>
                <a:lnTo>
                  <a:pt x="12" y="0"/>
                </a:lnTo>
                <a:lnTo>
                  <a:pt x="38112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8668461" y="2852661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38100" y="9563"/>
                </a:moveTo>
                <a:lnTo>
                  <a:pt x="0" y="9524"/>
                </a:lnTo>
                <a:lnTo>
                  <a:pt x="12" y="0"/>
                </a:lnTo>
                <a:lnTo>
                  <a:pt x="38112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8735136" y="2852724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38100" y="9563"/>
                </a:moveTo>
                <a:lnTo>
                  <a:pt x="0" y="9524"/>
                </a:lnTo>
                <a:lnTo>
                  <a:pt x="12" y="0"/>
                </a:lnTo>
                <a:lnTo>
                  <a:pt x="38112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8801811" y="2852788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38100" y="9563"/>
                </a:moveTo>
                <a:lnTo>
                  <a:pt x="0" y="9524"/>
                </a:lnTo>
                <a:lnTo>
                  <a:pt x="12" y="0"/>
                </a:lnTo>
                <a:lnTo>
                  <a:pt x="38112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9260700" y="2257463"/>
            <a:ext cx="566102" cy="26874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7674788" y="2271750"/>
            <a:ext cx="557618" cy="26874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6287312" y="2055850"/>
            <a:ext cx="188823" cy="26874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/>
          <p:nvPr/>
        </p:nvSpPr>
        <p:spPr>
          <a:xfrm>
            <a:off x="837564" y="2994927"/>
            <a:ext cx="7294880" cy="1596390"/>
          </a:xfrm>
          <a:prstGeom prst="rect">
            <a:avLst/>
          </a:prstGeom>
        </p:spPr>
        <p:txBody>
          <a:bodyPr wrap="square" lIns="0" tIns="1892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90"/>
              </a:spcBef>
              <a:tabLst>
                <a:tab pos="1387475" algn="l"/>
              </a:tabLst>
            </a:pPr>
            <a:r>
              <a:rPr dirty="0" sz="3600" b="1">
                <a:solidFill>
                  <a:srgbClr val="990033"/>
                </a:solidFill>
                <a:latin typeface="宋体"/>
                <a:cs typeface="宋体"/>
              </a:rPr>
              <a:t>例题</a:t>
            </a:r>
            <a:r>
              <a:rPr dirty="0" sz="3600" b="1">
                <a:solidFill>
                  <a:srgbClr val="990033"/>
                </a:solidFill>
                <a:latin typeface="Times New Roman"/>
                <a:cs typeface="Times New Roman"/>
              </a:rPr>
              <a:t>3	</a:t>
            </a:r>
            <a:r>
              <a:rPr dirty="0" sz="3200" b="1" i="1">
                <a:solidFill>
                  <a:srgbClr val="000099"/>
                </a:solidFill>
                <a:latin typeface="华文楷体"/>
                <a:cs typeface="华文楷体"/>
              </a:rPr>
              <a:t>如图示，求</a:t>
            </a:r>
            <a:r>
              <a:rPr dirty="0" sz="3200" spc="-35" b="1" i="1">
                <a:solidFill>
                  <a:srgbClr val="000099"/>
                </a:solidFill>
                <a:latin typeface="华文楷体"/>
                <a:cs typeface="华文楷体"/>
              </a:rPr>
              <a:t> </a:t>
            </a:r>
            <a:r>
              <a:rPr dirty="0" sz="3200" b="1" i="1">
                <a:solidFill>
                  <a:srgbClr val="000099"/>
                </a:solidFill>
                <a:latin typeface="Times New Roman"/>
                <a:cs typeface="Times New Roman"/>
              </a:rPr>
              <a:t>t</a:t>
            </a:r>
            <a:r>
              <a:rPr dirty="0" sz="3200" spc="-35" b="1" i="1">
                <a:solidFill>
                  <a:srgbClr val="000099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000099"/>
                </a:solidFill>
                <a:latin typeface="Times New Roman"/>
                <a:cs typeface="Times New Roman"/>
              </a:rPr>
              <a:t>=0.0025s</a:t>
            </a:r>
            <a:r>
              <a:rPr dirty="0" sz="3200" b="1" i="1">
                <a:solidFill>
                  <a:srgbClr val="000099"/>
                </a:solidFill>
                <a:latin typeface="华文楷体"/>
                <a:cs typeface="华文楷体"/>
              </a:rPr>
              <a:t>时的电压值</a:t>
            </a:r>
            <a:endParaRPr sz="3200">
              <a:latin typeface="华文楷体"/>
              <a:cs typeface="华文楷体"/>
            </a:endParaRPr>
          </a:p>
          <a:p>
            <a:pPr marL="1236980">
              <a:lnSpc>
                <a:spcPct val="100000"/>
              </a:lnSpc>
              <a:spcBef>
                <a:spcPts val="1620"/>
              </a:spcBef>
            </a:pPr>
            <a:r>
              <a:rPr dirty="0" sz="4200" spc="-415" b="1" i="1">
                <a:solidFill>
                  <a:srgbClr val="FF0000"/>
                </a:solidFill>
                <a:latin typeface="方正舒体"/>
                <a:cs typeface="方正舒体"/>
              </a:rPr>
              <a:t>e=200</a:t>
            </a:r>
            <a:r>
              <a:rPr dirty="0" sz="4000" spc="-415" b="1">
                <a:solidFill>
                  <a:srgbClr val="FF0000"/>
                </a:solidFill>
                <a:latin typeface="方正舒体"/>
                <a:cs typeface="方正舒体"/>
              </a:rPr>
              <a:t>sin</a:t>
            </a:r>
            <a:r>
              <a:rPr dirty="0" sz="4000" spc="-415" b="1" i="1">
                <a:solidFill>
                  <a:srgbClr val="FF0000"/>
                </a:solidFill>
                <a:latin typeface="Times New Roman"/>
                <a:cs typeface="Times New Roman"/>
              </a:rPr>
              <a:t>100π</a:t>
            </a:r>
            <a:r>
              <a:rPr dirty="0" sz="4200" spc="-415" b="1" i="1">
                <a:solidFill>
                  <a:srgbClr val="FF0000"/>
                </a:solidFill>
                <a:latin typeface="方正舒体"/>
                <a:cs typeface="方正舒体"/>
              </a:rPr>
              <a:t>t</a:t>
            </a:r>
            <a:endParaRPr sz="4200">
              <a:latin typeface="方正舒体"/>
              <a:cs typeface="方正舒体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7417472" y="5450954"/>
            <a:ext cx="401320" cy="0"/>
          </a:xfrm>
          <a:custGeom>
            <a:avLst/>
            <a:gdLst/>
            <a:ahLst/>
            <a:cxnLst/>
            <a:rect l="l" t="t" r="r" b="b"/>
            <a:pathLst>
              <a:path w="401320" h="0">
                <a:moveTo>
                  <a:pt x="0" y="0"/>
                </a:moveTo>
                <a:lnTo>
                  <a:pt x="401218" y="0"/>
                </a:lnTo>
              </a:path>
            </a:pathLst>
          </a:custGeom>
          <a:ln w="26543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9740848" y="5418035"/>
            <a:ext cx="57150" cy="29209"/>
          </a:xfrm>
          <a:custGeom>
            <a:avLst/>
            <a:gdLst/>
            <a:ahLst/>
            <a:cxnLst/>
            <a:rect l="l" t="t" r="r" b="b"/>
            <a:pathLst>
              <a:path w="57150" h="29210">
                <a:moveTo>
                  <a:pt x="0" y="28803"/>
                </a:moveTo>
                <a:lnTo>
                  <a:pt x="56908" y="0"/>
                </a:lnTo>
              </a:path>
            </a:pathLst>
          </a:custGeom>
          <a:ln w="31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9797757" y="5418035"/>
            <a:ext cx="131445" cy="205740"/>
          </a:xfrm>
          <a:custGeom>
            <a:avLst/>
            <a:gdLst/>
            <a:ahLst/>
            <a:cxnLst/>
            <a:rect l="l" t="t" r="r" b="b"/>
            <a:pathLst>
              <a:path w="131445" h="205739">
                <a:moveTo>
                  <a:pt x="0" y="0"/>
                </a:moveTo>
                <a:lnTo>
                  <a:pt x="130886" y="205701"/>
                </a:lnTo>
              </a:path>
            </a:pathLst>
          </a:custGeom>
          <a:ln w="31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9928644" y="5076583"/>
            <a:ext cx="145415" cy="547370"/>
          </a:xfrm>
          <a:custGeom>
            <a:avLst/>
            <a:gdLst/>
            <a:ahLst/>
            <a:cxnLst/>
            <a:rect l="l" t="t" r="r" b="b"/>
            <a:pathLst>
              <a:path w="145415" h="547370">
                <a:moveTo>
                  <a:pt x="0" y="547154"/>
                </a:moveTo>
                <a:lnTo>
                  <a:pt x="145122" y="0"/>
                </a:lnTo>
              </a:path>
            </a:pathLst>
          </a:custGeom>
          <a:ln w="31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10073767" y="5076583"/>
            <a:ext cx="314960" cy="0"/>
          </a:xfrm>
          <a:custGeom>
            <a:avLst/>
            <a:gdLst/>
            <a:ahLst/>
            <a:cxnLst/>
            <a:rect l="l" t="t" r="r" b="b"/>
            <a:pathLst>
              <a:path w="314959" h="0">
                <a:moveTo>
                  <a:pt x="0" y="0"/>
                </a:moveTo>
                <a:lnTo>
                  <a:pt x="314439" y="0"/>
                </a:lnTo>
              </a:path>
            </a:pathLst>
          </a:custGeom>
          <a:ln w="31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9736581" y="5064252"/>
            <a:ext cx="652145" cy="560070"/>
          </a:xfrm>
          <a:custGeom>
            <a:avLst/>
            <a:gdLst/>
            <a:ahLst/>
            <a:cxnLst/>
            <a:rect l="l" t="t" r="r" b="b"/>
            <a:pathLst>
              <a:path w="652145" h="560070">
                <a:moveTo>
                  <a:pt x="220782" y="504634"/>
                </a:moveTo>
                <a:lnTo>
                  <a:pt x="193484" y="504634"/>
                </a:lnTo>
                <a:lnTo>
                  <a:pt x="327228" y="0"/>
                </a:lnTo>
                <a:lnTo>
                  <a:pt x="651624" y="0"/>
                </a:lnTo>
                <a:lnTo>
                  <a:pt x="651624" y="26047"/>
                </a:lnTo>
                <a:lnTo>
                  <a:pt x="347154" y="26047"/>
                </a:lnTo>
                <a:lnTo>
                  <a:pt x="220782" y="504634"/>
                </a:lnTo>
                <a:close/>
              </a:path>
              <a:path w="652145" h="560070">
                <a:moveTo>
                  <a:pt x="8534" y="390817"/>
                </a:moveTo>
                <a:lnTo>
                  <a:pt x="0" y="375729"/>
                </a:lnTo>
                <a:lnTo>
                  <a:pt x="75399" y="335965"/>
                </a:lnTo>
                <a:lnTo>
                  <a:pt x="100357" y="371614"/>
                </a:lnTo>
                <a:lnTo>
                  <a:pt x="46939" y="371614"/>
                </a:lnTo>
                <a:lnTo>
                  <a:pt x="8534" y="390817"/>
                </a:lnTo>
                <a:close/>
              </a:path>
              <a:path w="652145" h="560070">
                <a:moveTo>
                  <a:pt x="206298" y="559485"/>
                </a:moveTo>
                <a:lnTo>
                  <a:pt x="179260" y="559485"/>
                </a:lnTo>
                <a:lnTo>
                  <a:pt x="46939" y="371614"/>
                </a:lnTo>
                <a:lnTo>
                  <a:pt x="100357" y="371614"/>
                </a:lnTo>
                <a:lnTo>
                  <a:pt x="193484" y="504634"/>
                </a:lnTo>
                <a:lnTo>
                  <a:pt x="220782" y="504634"/>
                </a:lnTo>
                <a:lnTo>
                  <a:pt x="206298" y="559485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 txBox="1"/>
          <p:nvPr/>
        </p:nvSpPr>
        <p:spPr>
          <a:xfrm>
            <a:off x="7477328" y="5455958"/>
            <a:ext cx="299085" cy="6578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150" spc="75">
                <a:solidFill>
                  <a:srgbClr val="0000FF"/>
                </a:solidFill>
                <a:latin typeface="Times New Roman"/>
                <a:cs typeface="Times New Roman"/>
              </a:rPr>
              <a:t>4</a:t>
            </a:r>
            <a:endParaRPr sz="4150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958214" y="4631495"/>
            <a:ext cx="9930130" cy="10706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ts val="4225"/>
              </a:lnSpc>
              <a:spcBef>
                <a:spcPts val="120"/>
              </a:spcBef>
              <a:tabLst>
                <a:tab pos="6420485" algn="l"/>
              </a:tabLst>
            </a:pPr>
            <a:r>
              <a:rPr dirty="0" sz="3600" b="1">
                <a:latin typeface="黑体"/>
                <a:cs typeface="黑体"/>
              </a:rPr>
              <a:t>将</a:t>
            </a:r>
            <a:r>
              <a:rPr dirty="0" sz="3600" b="1" i="1">
                <a:latin typeface="Times New Roman"/>
                <a:cs typeface="Times New Roman"/>
              </a:rPr>
              <a:t>t </a:t>
            </a:r>
            <a:r>
              <a:rPr dirty="0" sz="3600" spc="-5" b="1">
                <a:latin typeface="Times New Roman"/>
                <a:cs typeface="Times New Roman"/>
              </a:rPr>
              <a:t>=0.0025s</a:t>
            </a:r>
            <a:r>
              <a:rPr dirty="0" sz="3600" b="1">
                <a:latin typeface="黑体"/>
                <a:cs typeface="黑体"/>
              </a:rPr>
              <a:t>代入</a:t>
            </a:r>
            <a:r>
              <a:rPr dirty="0" sz="3600" spc="-15" b="1">
                <a:latin typeface="黑体"/>
                <a:cs typeface="黑体"/>
              </a:rPr>
              <a:t>得	</a:t>
            </a:r>
            <a:r>
              <a:rPr dirty="0" baseline="-5108" sz="6525" spc="-44" i="1">
                <a:solidFill>
                  <a:srgbClr val="0000FF"/>
                </a:solidFill>
                <a:latin typeface="Symbol"/>
                <a:cs typeface="Symbol"/>
              </a:rPr>
              <a:t></a:t>
            </a:r>
            <a:endParaRPr baseline="-5108" sz="6525">
              <a:latin typeface="Symbol"/>
              <a:cs typeface="Symbol"/>
            </a:endParaRPr>
          </a:p>
          <a:p>
            <a:pPr marL="4051935">
              <a:lnSpc>
                <a:spcPts val="3985"/>
              </a:lnSpc>
              <a:tabLst>
                <a:tab pos="7044690" algn="l"/>
                <a:tab pos="9138285" algn="l"/>
              </a:tabLst>
            </a:pPr>
            <a:r>
              <a:rPr dirty="0" sz="4150" spc="65" i="1">
                <a:solidFill>
                  <a:srgbClr val="0000FF"/>
                </a:solidFill>
                <a:latin typeface="Times New Roman"/>
                <a:cs typeface="Times New Roman"/>
              </a:rPr>
              <a:t>e </a:t>
            </a:r>
            <a:r>
              <a:rPr dirty="0" sz="4150" spc="80">
                <a:solidFill>
                  <a:srgbClr val="0000FF"/>
                </a:solidFill>
                <a:latin typeface="Symbol"/>
                <a:cs typeface="Symbol"/>
              </a:rPr>
              <a:t></a:t>
            </a:r>
            <a:r>
              <a:rPr dirty="0" sz="4150" spc="-16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4150" spc="75">
                <a:solidFill>
                  <a:srgbClr val="0000FF"/>
                </a:solidFill>
                <a:latin typeface="Times New Roman"/>
                <a:cs typeface="Times New Roman"/>
              </a:rPr>
              <a:t>200</a:t>
            </a:r>
            <a:r>
              <a:rPr dirty="0" sz="4150" spc="-63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4150" spc="60">
                <a:solidFill>
                  <a:srgbClr val="0000FF"/>
                </a:solidFill>
                <a:latin typeface="Times New Roman"/>
                <a:cs typeface="Times New Roman"/>
              </a:rPr>
              <a:t>sin	</a:t>
            </a:r>
            <a:r>
              <a:rPr dirty="0" sz="4150" spc="105">
                <a:solidFill>
                  <a:srgbClr val="0000FF"/>
                </a:solidFill>
                <a:latin typeface="Times New Roman"/>
                <a:cs typeface="Times New Roman"/>
              </a:rPr>
              <a:t>V</a:t>
            </a:r>
            <a:r>
              <a:rPr dirty="0" sz="4150" spc="2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4150" spc="80">
                <a:solidFill>
                  <a:srgbClr val="0000FF"/>
                </a:solidFill>
                <a:latin typeface="Symbol"/>
                <a:cs typeface="Symbol"/>
              </a:rPr>
              <a:t></a:t>
            </a:r>
            <a:r>
              <a:rPr dirty="0" sz="4150" spc="-509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4150" spc="75">
                <a:solidFill>
                  <a:srgbClr val="0000FF"/>
                </a:solidFill>
                <a:latin typeface="Times New Roman"/>
                <a:cs typeface="Times New Roman"/>
              </a:rPr>
              <a:t>100	2</a:t>
            </a:r>
            <a:r>
              <a:rPr dirty="0" sz="4150" spc="-25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4150" spc="105">
                <a:solidFill>
                  <a:srgbClr val="0000FF"/>
                </a:solidFill>
                <a:latin typeface="Times New Roman"/>
                <a:cs typeface="Times New Roman"/>
              </a:rPr>
              <a:t>V</a:t>
            </a:r>
            <a:endParaRPr sz="4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228600"/>
            <a:ext cx="12192000" cy="4724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89940" y="4838065"/>
            <a:ext cx="7369175" cy="16713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3600" i="0">
                <a:solidFill>
                  <a:srgbClr val="FF0066"/>
                </a:solidFill>
                <a:latin typeface="宋体"/>
                <a:cs typeface="宋体"/>
              </a:rPr>
              <a:t>上述求解过程用到了哪种科学方法</a:t>
            </a:r>
            <a:r>
              <a:rPr dirty="0" sz="3600" spc="-15" i="0">
                <a:solidFill>
                  <a:srgbClr val="FF0066"/>
                </a:solidFill>
                <a:latin typeface="宋体"/>
                <a:cs typeface="宋体"/>
              </a:rPr>
              <a:t>？ </a:t>
            </a:r>
            <a:r>
              <a:rPr dirty="0" sz="3600" i="0">
                <a:solidFill>
                  <a:srgbClr val="FF0066"/>
                </a:solidFill>
                <a:latin typeface="宋体"/>
                <a:cs typeface="宋体"/>
              </a:rPr>
              <a:t>你从中得到什么启示</a:t>
            </a:r>
            <a:r>
              <a:rPr dirty="0" sz="3600" spc="-15" i="0">
                <a:solidFill>
                  <a:srgbClr val="FF0066"/>
                </a:solidFill>
                <a:latin typeface="宋体"/>
                <a:cs typeface="宋体"/>
              </a:rPr>
              <a:t>？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48000" y="4191000"/>
            <a:ext cx="1727200" cy="833755"/>
          </a:xfrm>
          <a:custGeom>
            <a:avLst/>
            <a:gdLst/>
            <a:ahLst/>
            <a:cxnLst/>
            <a:rect l="l" t="t" r="r" b="b"/>
            <a:pathLst>
              <a:path w="1727200" h="833754">
                <a:moveTo>
                  <a:pt x="0" y="0"/>
                </a:moveTo>
                <a:lnTo>
                  <a:pt x="0" y="833627"/>
                </a:lnTo>
                <a:lnTo>
                  <a:pt x="1726691" y="833627"/>
                </a:lnTo>
                <a:lnTo>
                  <a:pt x="1726691" y="0"/>
                </a:lnTo>
                <a:lnTo>
                  <a:pt x="0" y="0"/>
                </a:lnTo>
                <a:close/>
              </a:path>
            </a:pathLst>
          </a:custGeom>
          <a:solidFill>
            <a:srgbClr val="FF56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186747" y="4671567"/>
            <a:ext cx="94615" cy="40640"/>
          </a:xfrm>
          <a:custGeom>
            <a:avLst/>
            <a:gdLst/>
            <a:ahLst/>
            <a:cxnLst/>
            <a:rect l="l" t="t" r="r" b="b"/>
            <a:pathLst>
              <a:path w="94614" h="40639">
                <a:moveTo>
                  <a:pt x="0" y="40525"/>
                </a:moveTo>
                <a:lnTo>
                  <a:pt x="94411" y="0"/>
                </a:lnTo>
              </a:path>
            </a:pathLst>
          </a:custGeom>
          <a:ln w="270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281159" y="4683150"/>
            <a:ext cx="137160" cy="188595"/>
          </a:xfrm>
          <a:custGeom>
            <a:avLst/>
            <a:gdLst/>
            <a:ahLst/>
            <a:cxnLst/>
            <a:rect l="l" t="t" r="r" b="b"/>
            <a:pathLst>
              <a:path w="137160" h="188595">
                <a:moveTo>
                  <a:pt x="0" y="0"/>
                </a:moveTo>
                <a:lnTo>
                  <a:pt x="136817" y="188175"/>
                </a:lnTo>
              </a:path>
            </a:pathLst>
          </a:custGeom>
          <a:ln w="539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433394" y="4309694"/>
            <a:ext cx="181610" cy="561975"/>
          </a:xfrm>
          <a:custGeom>
            <a:avLst/>
            <a:gdLst/>
            <a:ahLst/>
            <a:cxnLst/>
            <a:rect l="l" t="t" r="r" b="b"/>
            <a:pathLst>
              <a:path w="181610" h="561975">
                <a:moveTo>
                  <a:pt x="0" y="561632"/>
                </a:moveTo>
                <a:lnTo>
                  <a:pt x="181140" y="0"/>
                </a:lnTo>
              </a:path>
            </a:pathLst>
          </a:custGeom>
          <a:ln w="270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614534" y="4309694"/>
            <a:ext cx="986790" cy="0"/>
          </a:xfrm>
          <a:custGeom>
            <a:avLst/>
            <a:gdLst/>
            <a:ahLst/>
            <a:cxnLst/>
            <a:rect l="l" t="t" r="r" b="b"/>
            <a:pathLst>
              <a:path w="986789" h="0">
                <a:moveTo>
                  <a:pt x="0" y="0"/>
                </a:moveTo>
                <a:lnTo>
                  <a:pt x="986599" y="0"/>
                </a:lnTo>
              </a:path>
            </a:pathLst>
          </a:custGeom>
          <a:ln w="270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048000" y="4272267"/>
            <a:ext cx="1727200" cy="6927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612775">
              <a:lnSpc>
                <a:spcPct val="100000"/>
              </a:lnSpc>
              <a:spcBef>
                <a:spcPts val="125"/>
              </a:spcBef>
            </a:pPr>
            <a:r>
              <a:rPr dirty="0" sz="4350" spc="10">
                <a:latin typeface="Times New Roman"/>
                <a:cs typeface="Times New Roman"/>
              </a:rPr>
              <a:t>2</a:t>
            </a:r>
            <a:r>
              <a:rPr dirty="0" sz="4350" spc="-390">
                <a:latin typeface="Times New Roman"/>
                <a:cs typeface="Times New Roman"/>
              </a:rPr>
              <a:t> </a:t>
            </a:r>
            <a:r>
              <a:rPr dirty="0" sz="4350" spc="190">
                <a:latin typeface="Times New Roman"/>
                <a:cs typeface="Times New Roman"/>
              </a:rPr>
              <a:t>.8</a:t>
            </a:r>
            <a:endParaRPr sz="43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1840" y="0"/>
            <a:ext cx="2918460" cy="1805305"/>
          </a:xfrm>
          <a:prstGeom prst="rect">
            <a:avLst/>
          </a:prstGeom>
        </p:spPr>
        <p:txBody>
          <a:bodyPr wrap="square" lIns="0" tIns="2927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05"/>
              </a:spcBef>
            </a:pPr>
            <a:r>
              <a:rPr dirty="0" sz="4000" b="1" i="1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 b="1" i="1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  <a:p>
            <a:pPr marL="96520">
              <a:lnSpc>
                <a:spcPct val="100000"/>
              </a:lnSpc>
              <a:spcBef>
                <a:spcPts val="2210"/>
              </a:spcBef>
            </a:pPr>
            <a:r>
              <a:rPr dirty="0" sz="4000" b="1">
                <a:solidFill>
                  <a:srgbClr val="0000CC"/>
                </a:solidFill>
                <a:latin typeface="黑体"/>
                <a:cs typeface="黑体"/>
              </a:rPr>
              <a:t>3.有效</a:t>
            </a:r>
            <a:r>
              <a:rPr dirty="0" sz="4000" spc="-25" b="1">
                <a:solidFill>
                  <a:srgbClr val="0000CC"/>
                </a:solidFill>
                <a:latin typeface="黑体"/>
                <a:cs typeface="黑体"/>
              </a:rPr>
              <a:t>值</a:t>
            </a:r>
            <a:r>
              <a:rPr dirty="0" sz="4000" spc="-50" b="1">
                <a:solidFill>
                  <a:srgbClr val="0000CC"/>
                </a:solidFill>
                <a:latin typeface="黑体"/>
                <a:cs typeface="黑体"/>
              </a:rPr>
              <a:t> </a:t>
            </a:r>
            <a:r>
              <a:rPr dirty="0" sz="4000" spc="-25" b="1">
                <a:solidFill>
                  <a:srgbClr val="0000CC"/>
                </a:solidFill>
                <a:latin typeface="黑体"/>
                <a:cs typeface="黑体"/>
              </a:rPr>
              <a:t>：</a:t>
            </a:r>
            <a:endParaRPr sz="4000">
              <a:latin typeface="黑体"/>
              <a:cs typeface="黑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0540" y="1775459"/>
            <a:ext cx="10582910" cy="1671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solidFill>
                  <a:srgbClr val="000099"/>
                </a:solidFill>
                <a:latin typeface="黑体"/>
                <a:cs typeface="黑体"/>
              </a:rPr>
              <a:t>定义：</a:t>
            </a:r>
            <a:r>
              <a:rPr dirty="0" sz="3600" b="1">
                <a:latin typeface="宋体"/>
                <a:cs typeface="宋体"/>
              </a:rPr>
              <a:t>让交流与恒定电流分别通过相同的电阻，如</a:t>
            </a:r>
            <a:r>
              <a:rPr dirty="0" sz="3600" spc="-15" b="1">
                <a:latin typeface="宋体"/>
                <a:cs typeface="宋体"/>
              </a:rPr>
              <a:t>果 </a:t>
            </a:r>
            <a:r>
              <a:rPr dirty="0" sz="3600" b="1">
                <a:latin typeface="宋体"/>
                <a:cs typeface="宋体"/>
              </a:rPr>
              <a:t>在交流的一个周期内它们产生的热量相等，就把这</a:t>
            </a:r>
            <a:r>
              <a:rPr dirty="0" sz="3600" spc="-15" b="1">
                <a:latin typeface="宋体"/>
                <a:cs typeface="宋体"/>
              </a:rPr>
              <a:t>个 </a:t>
            </a:r>
            <a:r>
              <a:rPr dirty="0" sz="3600" b="1">
                <a:latin typeface="宋体"/>
                <a:cs typeface="宋体"/>
              </a:rPr>
              <a:t>恒定电流的电流、电压值叫做这个交流的有效值</a:t>
            </a:r>
            <a:r>
              <a:rPr dirty="0" sz="3600" spc="-15" b="1">
                <a:latin typeface="宋体"/>
                <a:cs typeface="宋体"/>
              </a:rPr>
              <a:t>。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3540" y="4417059"/>
            <a:ext cx="821880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03225" indent="-39052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402590" algn="l"/>
                <a:tab pos="403225" algn="l"/>
              </a:tabLst>
            </a:pPr>
            <a:r>
              <a:rPr dirty="0" sz="3600" b="1">
                <a:solidFill>
                  <a:srgbClr val="FF0000"/>
                </a:solidFill>
                <a:latin typeface="黑体"/>
                <a:cs typeface="黑体"/>
              </a:rPr>
              <a:t>正弦交流电</a:t>
            </a:r>
            <a:r>
              <a:rPr dirty="0" sz="3600" b="1">
                <a:solidFill>
                  <a:srgbClr val="000099"/>
                </a:solidFill>
                <a:latin typeface="黑体"/>
                <a:cs typeface="黑体"/>
              </a:rPr>
              <a:t>的有效值与最大值的关系</a:t>
            </a:r>
            <a:r>
              <a:rPr dirty="0" sz="3600" spc="-15" b="1">
                <a:solidFill>
                  <a:srgbClr val="000099"/>
                </a:solidFill>
                <a:latin typeface="黑体"/>
                <a:cs typeface="黑体"/>
              </a:rPr>
              <a:t>：</a:t>
            </a:r>
            <a:endParaRPr sz="3600">
              <a:latin typeface="黑体"/>
              <a:cs typeface="黑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91942" y="6107519"/>
            <a:ext cx="63500" cy="27305"/>
          </a:xfrm>
          <a:custGeom>
            <a:avLst/>
            <a:gdLst/>
            <a:ahLst/>
            <a:cxnLst/>
            <a:rect l="l" t="t" r="r" b="b"/>
            <a:pathLst>
              <a:path w="63500" h="27304">
                <a:moveTo>
                  <a:pt x="0" y="27241"/>
                </a:moveTo>
                <a:lnTo>
                  <a:pt x="63411" y="0"/>
                </a:lnTo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55353" y="6107519"/>
            <a:ext cx="146050" cy="194945"/>
          </a:xfrm>
          <a:custGeom>
            <a:avLst/>
            <a:gdLst/>
            <a:ahLst/>
            <a:cxnLst/>
            <a:rect l="l" t="t" r="r" b="b"/>
            <a:pathLst>
              <a:path w="146050" h="194945">
                <a:moveTo>
                  <a:pt x="0" y="0"/>
                </a:moveTo>
                <a:lnTo>
                  <a:pt x="145872" y="194640"/>
                </a:lnTo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201225" y="5784392"/>
            <a:ext cx="161925" cy="518159"/>
          </a:xfrm>
          <a:custGeom>
            <a:avLst/>
            <a:gdLst/>
            <a:ahLst/>
            <a:cxnLst/>
            <a:rect l="l" t="t" r="r" b="b"/>
            <a:pathLst>
              <a:path w="161925" h="518160">
                <a:moveTo>
                  <a:pt x="0" y="517766"/>
                </a:moveTo>
                <a:lnTo>
                  <a:pt x="161734" y="0"/>
                </a:lnTo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987179" y="5772721"/>
            <a:ext cx="726440" cy="529590"/>
          </a:xfrm>
          <a:custGeom>
            <a:avLst/>
            <a:gdLst/>
            <a:ahLst/>
            <a:cxnLst/>
            <a:rect l="l" t="t" r="r" b="b"/>
            <a:pathLst>
              <a:path w="726439" h="529589">
                <a:moveTo>
                  <a:pt x="246048" y="477532"/>
                </a:moveTo>
                <a:lnTo>
                  <a:pt x="215633" y="477532"/>
                </a:lnTo>
                <a:lnTo>
                  <a:pt x="364680" y="0"/>
                </a:lnTo>
                <a:lnTo>
                  <a:pt x="726186" y="0"/>
                </a:lnTo>
                <a:lnTo>
                  <a:pt x="726186" y="24650"/>
                </a:lnTo>
                <a:lnTo>
                  <a:pt x="386880" y="24650"/>
                </a:lnTo>
                <a:lnTo>
                  <a:pt x="246048" y="477532"/>
                </a:lnTo>
                <a:close/>
              </a:path>
              <a:path w="726439" h="529589">
                <a:moveTo>
                  <a:pt x="9512" y="369824"/>
                </a:moveTo>
                <a:lnTo>
                  <a:pt x="0" y="355561"/>
                </a:lnTo>
                <a:lnTo>
                  <a:pt x="84035" y="317919"/>
                </a:lnTo>
                <a:lnTo>
                  <a:pt x="111856" y="351663"/>
                </a:lnTo>
                <a:lnTo>
                  <a:pt x="52323" y="351663"/>
                </a:lnTo>
                <a:lnTo>
                  <a:pt x="9512" y="369824"/>
                </a:lnTo>
                <a:close/>
              </a:path>
              <a:path w="726439" h="529589">
                <a:moveTo>
                  <a:pt x="229908" y="529437"/>
                </a:moveTo>
                <a:lnTo>
                  <a:pt x="199783" y="529437"/>
                </a:lnTo>
                <a:lnTo>
                  <a:pt x="52323" y="351663"/>
                </a:lnTo>
                <a:lnTo>
                  <a:pt x="111856" y="351663"/>
                </a:lnTo>
                <a:lnTo>
                  <a:pt x="215633" y="477532"/>
                </a:lnTo>
                <a:lnTo>
                  <a:pt x="246048" y="477532"/>
                </a:lnTo>
                <a:lnTo>
                  <a:pt x="229908" y="52943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939618" y="5710428"/>
            <a:ext cx="821690" cy="0"/>
          </a:xfrm>
          <a:custGeom>
            <a:avLst/>
            <a:gdLst/>
            <a:ahLst/>
            <a:cxnLst/>
            <a:rect l="l" t="t" r="r" b="b"/>
            <a:pathLst>
              <a:path w="821689" h="0">
                <a:moveTo>
                  <a:pt x="0" y="0"/>
                </a:moveTo>
                <a:lnTo>
                  <a:pt x="821321" y="0"/>
                </a:lnTo>
              </a:path>
            </a:pathLst>
          </a:custGeom>
          <a:ln w="2739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377209" y="5754395"/>
            <a:ext cx="274320" cy="6229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900" spc="5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endParaRPr sz="39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99462" y="5326164"/>
            <a:ext cx="1717675" cy="6229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554355" algn="l"/>
                <a:tab pos="1109345" algn="l"/>
              </a:tabLst>
            </a:pPr>
            <a:r>
              <a:rPr dirty="0" sz="3900" spc="10" i="1">
                <a:solidFill>
                  <a:srgbClr val="FF0000"/>
                </a:solidFill>
                <a:latin typeface="Times New Roman"/>
                <a:cs typeface="Times New Roman"/>
              </a:rPr>
              <a:t>E	</a:t>
            </a:r>
            <a:r>
              <a:rPr dirty="0" sz="3900" spc="5">
                <a:solidFill>
                  <a:srgbClr val="FF0000"/>
                </a:solidFill>
                <a:latin typeface="Symbol"/>
                <a:cs typeface="Symbol"/>
              </a:rPr>
              <a:t></a:t>
            </a:r>
            <a:r>
              <a:rPr dirty="0" sz="3900" spc="5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dirty="0" baseline="35612" sz="5850" spc="15" i="1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dirty="0" baseline="35612" sz="5850" spc="-802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u="sng" baseline="35802" sz="3375" spc="15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m</a:t>
            </a:r>
            <a:endParaRPr baseline="35802" sz="3375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615440" y="6149124"/>
            <a:ext cx="62230" cy="29209"/>
          </a:xfrm>
          <a:custGeom>
            <a:avLst/>
            <a:gdLst/>
            <a:ahLst/>
            <a:cxnLst/>
            <a:rect l="l" t="t" r="r" b="b"/>
            <a:pathLst>
              <a:path w="62229" h="29210">
                <a:moveTo>
                  <a:pt x="0" y="29171"/>
                </a:moveTo>
                <a:lnTo>
                  <a:pt x="61709" y="0"/>
                </a:lnTo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677150" y="6149124"/>
            <a:ext cx="142240" cy="208915"/>
          </a:xfrm>
          <a:custGeom>
            <a:avLst/>
            <a:gdLst/>
            <a:ahLst/>
            <a:cxnLst/>
            <a:rect l="l" t="t" r="r" b="b"/>
            <a:pathLst>
              <a:path w="142240" h="208914">
                <a:moveTo>
                  <a:pt x="0" y="0"/>
                </a:moveTo>
                <a:lnTo>
                  <a:pt x="141922" y="208445"/>
                </a:lnTo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819072" y="5803087"/>
            <a:ext cx="157480" cy="554990"/>
          </a:xfrm>
          <a:custGeom>
            <a:avLst/>
            <a:gdLst/>
            <a:ahLst/>
            <a:cxnLst/>
            <a:rect l="l" t="t" r="r" b="b"/>
            <a:pathLst>
              <a:path w="157479" h="554989">
                <a:moveTo>
                  <a:pt x="0" y="554482"/>
                </a:moveTo>
                <a:lnTo>
                  <a:pt x="157340" y="0"/>
                </a:lnTo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610817" y="5790590"/>
            <a:ext cx="706755" cy="567055"/>
          </a:xfrm>
          <a:custGeom>
            <a:avLst/>
            <a:gdLst/>
            <a:ahLst/>
            <a:cxnLst/>
            <a:rect l="l" t="t" r="r" b="b"/>
            <a:pathLst>
              <a:path w="706754" h="567054">
                <a:moveTo>
                  <a:pt x="239376" y="511390"/>
                </a:moveTo>
                <a:lnTo>
                  <a:pt x="209791" y="511390"/>
                </a:lnTo>
                <a:lnTo>
                  <a:pt x="354799" y="0"/>
                </a:lnTo>
                <a:lnTo>
                  <a:pt x="706501" y="0"/>
                </a:lnTo>
                <a:lnTo>
                  <a:pt x="706501" y="26403"/>
                </a:lnTo>
                <a:lnTo>
                  <a:pt x="376389" y="26403"/>
                </a:lnTo>
                <a:lnTo>
                  <a:pt x="239376" y="511390"/>
                </a:lnTo>
                <a:close/>
              </a:path>
              <a:path w="706754" h="567054">
                <a:moveTo>
                  <a:pt x="9258" y="396049"/>
                </a:moveTo>
                <a:lnTo>
                  <a:pt x="0" y="380758"/>
                </a:lnTo>
                <a:lnTo>
                  <a:pt x="81762" y="340461"/>
                </a:lnTo>
                <a:lnTo>
                  <a:pt x="108825" y="376593"/>
                </a:lnTo>
                <a:lnTo>
                  <a:pt x="50901" y="376593"/>
                </a:lnTo>
                <a:lnTo>
                  <a:pt x="9258" y="396049"/>
                </a:lnTo>
                <a:close/>
              </a:path>
              <a:path w="706754" h="567054">
                <a:moveTo>
                  <a:pt x="223672" y="566978"/>
                </a:moveTo>
                <a:lnTo>
                  <a:pt x="194360" y="566978"/>
                </a:lnTo>
                <a:lnTo>
                  <a:pt x="50901" y="376593"/>
                </a:lnTo>
                <a:lnTo>
                  <a:pt x="108825" y="376593"/>
                </a:lnTo>
                <a:lnTo>
                  <a:pt x="209791" y="511390"/>
                </a:lnTo>
                <a:lnTo>
                  <a:pt x="239376" y="511390"/>
                </a:lnTo>
                <a:lnTo>
                  <a:pt x="223672" y="56697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564539" y="5723877"/>
            <a:ext cx="799465" cy="0"/>
          </a:xfrm>
          <a:custGeom>
            <a:avLst/>
            <a:gdLst/>
            <a:ahLst/>
            <a:cxnLst/>
            <a:rect l="l" t="t" r="r" b="b"/>
            <a:pathLst>
              <a:path w="799465" h="0">
                <a:moveTo>
                  <a:pt x="0" y="0"/>
                </a:moveTo>
                <a:lnTo>
                  <a:pt x="799058" y="0"/>
                </a:lnTo>
              </a:path>
            </a:pathLst>
          </a:custGeom>
          <a:ln w="2785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7989938" y="5773000"/>
            <a:ext cx="291465" cy="6635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4150" spc="15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endParaRPr sz="41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4045902" y="834445"/>
            <a:ext cx="1950085" cy="6648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80" i="1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dirty="0" sz="4200" spc="-1300">
                <a:solidFill>
                  <a:srgbClr val="C00000"/>
                </a:solidFill>
                <a:latin typeface="黑体"/>
                <a:cs typeface="黑体"/>
              </a:rPr>
              <a:t>、</a:t>
            </a:r>
            <a:r>
              <a:rPr dirty="0" spc="-180" i="1">
                <a:solidFill>
                  <a:srgbClr val="C00000"/>
                </a:solidFill>
                <a:latin typeface="Times New Roman"/>
                <a:cs typeface="Times New Roman"/>
              </a:rPr>
              <a:t>U</a:t>
            </a:r>
            <a:r>
              <a:rPr dirty="0" sz="4200" spc="-1300">
                <a:solidFill>
                  <a:srgbClr val="C00000"/>
                </a:solidFill>
                <a:latin typeface="黑体"/>
                <a:cs typeface="黑体"/>
              </a:rPr>
              <a:t>、</a:t>
            </a:r>
            <a:r>
              <a:rPr dirty="0" spc="-5" i="1">
                <a:solidFill>
                  <a:srgbClr val="C00000"/>
                </a:solidFill>
                <a:latin typeface="Times New Roman"/>
                <a:cs typeface="Times New Roman"/>
              </a:rPr>
              <a:t>I</a:t>
            </a:r>
            <a:endParaRPr sz="42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350702" y="5269229"/>
            <a:ext cx="382968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41295" algn="l"/>
                <a:tab pos="3345815" algn="l"/>
              </a:tabLst>
            </a:pPr>
            <a:r>
              <a:rPr dirty="0" sz="4800" spc="1175" b="1">
                <a:solidFill>
                  <a:srgbClr val="0000FF"/>
                </a:solidFill>
                <a:latin typeface="华文行楷"/>
                <a:cs typeface="华文行楷"/>
              </a:rPr>
              <a:t>条件</a:t>
            </a:r>
            <a:r>
              <a:rPr dirty="0" sz="4800" spc="-5" b="1">
                <a:solidFill>
                  <a:srgbClr val="0000FF"/>
                </a:solidFill>
                <a:latin typeface="华文行楷"/>
                <a:cs typeface="华文行楷"/>
              </a:rPr>
              <a:t>？</a:t>
            </a:r>
            <a:r>
              <a:rPr dirty="0" sz="4800" spc="415" b="1">
                <a:solidFill>
                  <a:srgbClr val="0000FF"/>
                </a:solidFill>
                <a:latin typeface="华文行楷"/>
                <a:cs typeface="华文行楷"/>
              </a:rPr>
              <a:t> </a:t>
            </a:r>
            <a:r>
              <a:rPr dirty="0" baseline="3346" sz="6225" spc="15" i="1">
                <a:solidFill>
                  <a:srgbClr val="FF0000"/>
                </a:solidFill>
                <a:latin typeface="Times New Roman"/>
                <a:cs typeface="Times New Roman"/>
              </a:rPr>
              <a:t>I	</a:t>
            </a:r>
            <a:r>
              <a:rPr dirty="0" baseline="3346" sz="6225" spc="22">
                <a:solidFill>
                  <a:srgbClr val="FF0000"/>
                </a:solidFill>
                <a:latin typeface="Symbol"/>
                <a:cs typeface="Symbol"/>
              </a:rPr>
              <a:t></a:t>
            </a:r>
            <a:r>
              <a:rPr dirty="0" baseline="3346" sz="6225" spc="22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dirty="0" baseline="38821" sz="6225" spc="15" i="1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dirty="0" baseline="38821" sz="6225" spc="-1035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baseline="42824" sz="3600" spc="22">
                <a:solidFill>
                  <a:srgbClr val="FF0000"/>
                </a:solidFill>
                <a:latin typeface="Times New Roman"/>
                <a:cs typeface="Times New Roman"/>
              </a:rPr>
              <a:t>m</a:t>
            </a:r>
            <a:endParaRPr baseline="42824" sz="3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35940" y="3561397"/>
            <a:ext cx="716470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5115" indent="-27241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85115" algn="l"/>
              </a:tabLst>
            </a:pPr>
            <a:r>
              <a:rPr dirty="0" sz="3600" b="1">
                <a:solidFill>
                  <a:srgbClr val="000099"/>
                </a:solidFill>
                <a:latin typeface="华文行楷"/>
                <a:cs typeface="华文行楷"/>
              </a:rPr>
              <a:t>有效值是根据电流的热效应定义</a:t>
            </a:r>
            <a:r>
              <a:rPr dirty="0" sz="3600" spc="-5" b="1">
                <a:solidFill>
                  <a:srgbClr val="000099"/>
                </a:solidFill>
                <a:latin typeface="华文行楷"/>
                <a:cs typeface="华文行楷"/>
              </a:rPr>
              <a:t>的</a:t>
            </a:r>
            <a:endParaRPr sz="3600">
              <a:latin typeface="华文行楷"/>
              <a:cs typeface="华文行楷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136890" y="3497262"/>
            <a:ext cx="308356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b="1">
                <a:solidFill>
                  <a:srgbClr val="C00000"/>
                </a:solidFill>
                <a:latin typeface="方正舒体"/>
                <a:cs typeface="方正舒体"/>
              </a:rPr>
              <a:t>等效代替</a:t>
            </a:r>
            <a:r>
              <a:rPr dirty="0" sz="4800" spc="-20" b="1">
                <a:solidFill>
                  <a:srgbClr val="C00000"/>
                </a:solidFill>
                <a:latin typeface="方正舒体"/>
                <a:cs typeface="方正舒体"/>
              </a:rPr>
              <a:t>法</a:t>
            </a:r>
            <a:endParaRPr sz="4800">
              <a:latin typeface="方正舒体"/>
              <a:cs typeface="方正舒体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8665" y="738504"/>
            <a:ext cx="9181465" cy="4547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832485">
              <a:lnSpc>
                <a:spcPct val="100000"/>
              </a:lnSpc>
              <a:spcBef>
                <a:spcPts val="100"/>
              </a:spcBef>
            </a:pPr>
            <a:r>
              <a:rPr dirty="0" sz="4800" spc="1175" b="1">
                <a:solidFill>
                  <a:srgbClr val="C00000"/>
                </a:solidFill>
                <a:latin typeface="华文新魏"/>
                <a:cs typeface="华文新魏"/>
              </a:rPr>
              <a:t>说</a:t>
            </a:r>
            <a:r>
              <a:rPr dirty="0" sz="4800" b="1">
                <a:solidFill>
                  <a:srgbClr val="C00000"/>
                </a:solidFill>
                <a:latin typeface="华文新魏"/>
                <a:cs typeface="华文新魏"/>
              </a:rPr>
              <a:t>明：下述情况必须用有效</a:t>
            </a:r>
            <a:r>
              <a:rPr dirty="0" sz="4800" spc="-5" b="1">
                <a:solidFill>
                  <a:srgbClr val="C00000"/>
                </a:solidFill>
                <a:latin typeface="华文新魏"/>
                <a:cs typeface="华文新魏"/>
              </a:rPr>
              <a:t>值</a:t>
            </a:r>
            <a:endParaRPr sz="4800">
              <a:latin typeface="华文新魏"/>
              <a:cs typeface="华文新魏"/>
            </a:endParaRPr>
          </a:p>
          <a:p>
            <a:pPr marL="1383030" indent="-1146810">
              <a:lnSpc>
                <a:spcPct val="100000"/>
              </a:lnSpc>
              <a:spcBef>
                <a:spcPts val="3125"/>
              </a:spcBef>
              <a:buSzPct val="97222"/>
              <a:buAutoNum type="arabicPlain"/>
              <a:tabLst>
                <a:tab pos="1383665" algn="l"/>
              </a:tabLst>
            </a:pPr>
            <a:r>
              <a:rPr dirty="0" sz="3600" spc="15" b="1">
                <a:latin typeface="思源黑体 CN"/>
                <a:cs typeface="思源黑体 CN"/>
              </a:rPr>
              <a:t>求</a:t>
            </a:r>
            <a:r>
              <a:rPr dirty="0" sz="3600" spc="15" b="1">
                <a:solidFill>
                  <a:srgbClr val="000099"/>
                </a:solidFill>
                <a:latin typeface="思源黑体 CN"/>
                <a:cs typeface="思源黑体 CN"/>
              </a:rPr>
              <a:t>电功、电功率、电热</a:t>
            </a:r>
            <a:r>
              <a:rPr dirty="0" sz="3600" spc="15" b="1">
                <a:latin typeface="思源黑体 CN"/>
                <a:cs typeface="思源黑体 CN"/>
              </a:rPr>
              <a:t>时</a:t>
            </a:r>
            <a:r>
              <a:rPr dirty="0" sz="3600" b="1">
                <a:latin typeface="思源黑体 CN"/>
                <a:cs typeface="思源黑体 CN"/>
              </a:rPr>
              <a:t>；</a:t>
            </a:r>
            <a:endParaRPr sz="3600">
              <a:latin typeface="思源黑体 CN"/>
              <a:cs typeface="思源黑体 CN"/>
            </a:endParaRPr>
          </a:p>
          <a:p>
            <a:pPr marL="1379855" indent="-1146810">
              <a:lnSpc>
                <a:spcPct val="100000"/>
              </a:lnSpc>
              <a:spcBef>
                <a:spcPts val="1305"/>
              </a:spcBef>
              <a:buSzPct val="97222"/>
              <a:buAutoNum type="arabicPlain"/>
              <a:tabLst>
                <a:tab pos="1380490" algn="l"/>
              </a:tabLst>
            </a:pPr>
            <a:r>
              <a:rPr dirty="0" sz="3600" spc="15" b="1">
                <a:latin typeface="思源黑体 CN"/>
                <a:cs typeface="思源黑体 CN"/>
              </a:rPr>
              <a:t>交流用电器的</a:t>
            </a:r>
            <a:r>
              <a:rPr dirty="0" sz="3600" spc="15" b="1">
                <a:solidFill>
                  <a:srgbClr val="000099"/>
                </a:solidFill>
                <a:latin typeface="思源黑体 CN"/>
                <a:cs typeface="思源黑体 CN"/>
              </a:rPr>
              <a:t>额定电压</a:t>
            </a:r>
            <a:r>
              <a:rPr dirty="0" sz="3600" spc="15" b="1">
                <a:latin typeface="思源黑体 CN"/>
                <a:cs typeface="思源黑体 CN"/>
              </a:rPr>
              <a:t>和</a:t>
            </a:r>
            <a:r>
              <a:rPr dirty="0" sz="3600" spc="15" b="1">
                <a:solidFill>
                  <a:srgbClr val="000099"/>
                </a:solidFill>
                <a:latin typeface="思源黑体 CN"/>
                <a:cs typeface="思源黑体 CN"/>
              </a:rPr>
              <a:t>额定电流</a:t>
            </a:r>
            <a:r>
              <a:rPr dirty="0" sz="3600" b="1">
                <a:latin typeface="思源黑体 CN"/>
                <a:cs typeface="思源黑体 CN"/>
              </a:rPr>
              <a:t>；</a:t>
            </a:r>
            <a:endParaRPr sz="3600">
              <a:latin typeface="思源黑体 CN"/>
              <a:cs typeface="思源黑体 CN"/>
            </a:endParaRPr>
          </a:p>
          <a:p>
            <a:pPr algn="ctr" marR="912494">
              <a:lnSpc>
                <a:spcPct val="100000"/>
              </a:lnSpc>
              <a:spcBef>
                <a:spcPts val="2070"/>
              </a:spcBef>
            </a:pPr>
            <a:r>
              <a:rPr dirty="0" sz="3200" b="1">
                <a:latin typeface="宋体"/>
                <a:cs typeface="宋体"/>
              </a:rPr>
              <a:t> </a:t>
            </a:r>
            <a:r>
              <a:rPr dirty="0" sz="3600" spc="15" b="1">
                <a:latin typeface="思源黑体 CN"/>
                <a:cs typeface="思源黑体 CN"/>
              </a:rPr>
              <a:t>（</a:t>
            </a:r>
            <a:r>
              <a:rPr dirty="0" sz="3600" b="1">
                <a:latin typeface="Times New Roman"/>
                <a:cs typeface="Times New Roman"/>
              </a:rPr>
              <a:t>3</a:t>
            </a:r>
            <a:r>
              <a:rPr dirty="0" sz="3600" spc="15" b="1">
                <a:latin typeface="思源黑体 CN"/>
                <a:cs typeface="思源黑体 CN"/>
              </a:rPr>
              <a:t>）</a:t>
            </a:r>
            <a:r>
              <a:rPr dirty="0" sz="3600" spc="15" b="1">
                <a:solidFill>
                  <a:srgbClr val="000099"/>
                </a:solidFill>
                <a:latin typeface="思源黑体 CN"/>
                <a:cs typeface="思源黑体 CN"/>
              </a:rPr>
              <a:t>交流电流表和交流电压表</a:t>
            </a:r>
            <a:r>
              <a:rPr dirty="0" sz="3600" spc="15" b="1">
                <a:latin typeface="思源黑体 CN"/>
                <a:cs typeface="思源黑体 CN"/>
              </a:rPr>
              <a:t>的读数</a:t>
            </a:r>
            <a:r>
              <a:rPr dirty="0" sz="3600" b="1">
                <a:latin typeface="思源黑体 CN"/>
                <a:cs typeface="思源黑体 CN"/>
              </a:rPr>
              <a:t>；</a:t>
            </a:r>
            <a:endParaRPr sz="3600">
              <a:latin typeface="思源黑体 CN"/>
              <a:cs typeface="思源黑体 CN"/>
            </a:endParaRPr>
          </a:p>
          <a:p>
            <a:pPr marL="219075" marR="5080">
              <a:lnSpc>
                <a:spcPct val="100000"/>
              </a:lnSpc>
              <a:spcBef>
                <a:spcPts val="1739"/>
              </a:spcBef>
            </a:pPr>
            <a:r>
              <a:rPr dirty="0" sz="3600" spc="15" b="1">
                <a:latin typeface="思源黑体 CN"/>
                <a:cs typeface="思源黑体 CN"/>
              </a:rPr>
              <a:t>（</a:t>
            </a:r>
            <a:r>
              <a:rPr dirty="0" sz="3600" b="1">
                <a:latin typeface="Times New Roman"/>
                <a:cs typeface="Times New Roman"/>
              </a:rPr>
              <a:t>4</a:t>
            </a:r>
            <a:r>
              <a:rPr dirty="0" sz="3600" spc="15" b="1">
                <a:latin typeface="思源黑体 CN"/>
                <a:cs typeface="思源黑体 CN"/>
              </a:rPr>
              <a:t>）日常生活中常说的交流电电压电流值</a:t>
            </a:r>
            <a:r>
              <a:rPr dirty="0" sz="3600" b="1">
                <a:latin typeface="思源黑体 CN"/>
                <a:cs typeface="思源黑体 CN"/>
              </a:rPr>
              <a:t>， </a:t>
            </a:r>
            <a:r>
              <a:rPr dirty="0" sz="3600" spc="15" b="1">
                <a:latin typeface="思源黑体 CN"/>
                <a:cs typeface="思源黑体 CN"/>
              </a:rPr>
              <a:t>如家庭用电</a:t>
            </a:r>
            <a:r>
              <a:rPr dirty="0" sz="3600" b="1">
                <a:latin typeface="Times New Roman"/>
                <a:cs typeface="Times New Roman"/>
              </a:rPr>
              <a:t>220V</a:t>
            </a:r>
            <a:r>
              <a:rPr dirty="0" sz="3600" spc="15" b="1">
                <a:latin typeface="思源黑体 CN"/>
                <a:cs typeface="思源黑体 CN"/>
              </a:rPr>
              <a:t>、安全电压</a:t>
            </a:r>
            <a:r>
              <a:rPr dirty="0" sz="3600" b="1">
                <a:latin typeface="Times New Roman"/>
                <a:cs typeface="Times New Roman"/>
              </a:rPr>
              <a:t>36V</a:t>
            </a:r>
            <a:r>
              <a:rPr dirty="0" sz="3600" b="1">
                <a:latin typeface="思源黑体 CN"/>
                <a:cs typeface="思源黑体 CN"/>
              </a:rPr>
              <a:t>。</a:t>
            </a:r>
            <a:endParaRPr sz="3600">
              <a:latin typeface="思源黑体 CN"/>
              <a:cs typeface="思源黑体 C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2627" y="1309687"/>
            <a:ext cx="992314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62075" algn="l"/>
              </a:tabLst>
            </a:pPr>
            <a:r>
              <a:rPr dirty="0" sz="3600" i="0">
                <a:solidFill>
                  <a:srgbClr val="990033"/>
                </a:solidFill>
                <a:latin typeface="宋体"/>
                <a:cs typeface="宋体"/>
              </a:rPr>
              <a:t>例题</a:t>
            </a:r>
            <a:r>
              <a:rPr dirty="0" sz="3600" i="0">
                <a:solidFill>
                  <a:srgbClr val="990033"/>
                </a:solidFill>
                <a:latin typeface="Times New Roman"/>
                <a:cs typeface="Times New Roman"/>
              </a:rPr>
              <a:t>4	</a:t>
            </a:r>
            <a:r>
              <a:rPr dirty="0" sz="3200">
                <a:solidFill>
                  <a:srgbClr val="000099"/>
                </a:solidFill>
              </a:rPr>
              <a:t>如图所示为一交流电的电压随时间变化的图象，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807923" y="2630385"/>
            <a:ext cx="1560195" cy="676910"/>
          </a:xfrm>
          <a:custGeom>
            <a:avLst/>
            <a:gdLst/>
            <a:ahLst/>
            <a:cxnLst/>
            <a:rect l="l" t="t" r="r" b="b"/>
            <a:pathLst>
              <a:path w="1560195" h="676910">
                <a:moveTo>
                  <a:pt x="30441" y="666750"/>
                </a:moveTo>
                <a:lnTo>
                  <a:pt x="42240" y="588010"/>
                </a:lnTo>
                <a:lnTo>
                  <a:pt x="127038" y="478790"/>
                </a:lnTo>
                <a:lnTo>
                  <a:pt x="169519" y="425450"/>
                </a:lnTo>
                <a:lnTo>
                  <a:pt x="190753" y="400050"/>
                </a:lnTo>
                <a:lnTo>
                  <a:pt x="211975" y="373380"/>
                </a:lnTo>
                <a:lnTo>
                  <a:pt x="233260" y="349250"/>
                </a:lnTo>
                <a:lnTo>
                  <a:pt x="254584" y="323850"/>
                </a:lnTo>
                <a:lnTo>
                  <a:pt x="275869" y="300990"/>
                </a:lnTo>
                <a:lnTo>
                  <a:pt x="297141" y="276860"/>
                </a:lnTo>
                <a:lnTo>
                  <a:pt x="318427" y="254000"/>
                </a:lnTo>
                <a:lnTo>
                  <a:pt x="329145" y="243840"/>
                </a:lnTo>
                <a:lnTo>
                  <a:pt x="339928" y="232410"/>
                </a:lnTo>
                <a:lnTo>
                  <a:pt x="361340" y="210820"/>
                </a:lnTo>
                <a:lnTo>
                  <a:pt x="382663" y="190500"/>
                </a:lnTo>
                <a:lnTo>
                  <a:pt x="393382" y="181610"/>
                </a:lnTo>
                <a:lnTo>
                  <a:pt x="404139" y="171450"/>
                </a:lnTo>
                <a:lnTo>
                  <a:pt x="414921" y="162560"/>
                </a:lnTo>
                <a:lnTo>
                  <a:pt x="425780" y="152400"/>
                </a:lnTo>
                <a:lnTo>
                  <a:pt x="447192" y="135890"/>
                </a:lnTo>
                <a:lnTo>
                  <a:pt x="468693" y="118110"/>
                </a:lnTo>
                <a:lnTo>
                  <a:pt x="512076" y="87630"/>
                </a:lnTo>
                <a:lnTo>
                  <a:pt x="522947" y="81280"/>
                </a:lnTo>
                <a:lnTo>
                  <a:pt x="533806" y="73660"/>
                </a:lnTo>
                <a:lnTo>
                  <a:pt x="555536" y="60960"/>
                </a:lnTo>
                <a:lnTo>
                  <a:pt x="566420" y="55880"/>
                </a:lnTo>
                <a:lnTo>
                  <a:pt x="577329" y="49530"/>
                </a:lnTo>
                <a:lnTo>
                  <a:pt x="610209" y="34290"/>
                </a:lnTo>
                <a:lnTo>
                  <a:pt x="621182" y="30480"/>
                </a:lnTo>
                <a:lnTo>
                  <a:pt x="632155" y="25400"/>
                </a:lnTo>
                <a:lnTo>
                  <a:pt x="654176" y="17780"/>
                </a:lnTo>
                <a:lnTo>
                  <a:pt x="665238" y="15240"/>
                </a:lnTo>
                <a:lnTo>
                  <a:pt x="676351" y="11430"/>
                </a:lnTo>
                <a:lnTo>
                  <a:pt x="687463" y="8890"/>
                </a:lnTo>
                <a:lnTo>
                  <a:pt x="698563" y="7620"/>
                </a:lnTo>
                <a:lnTo>
                  <a:pt x="709650" y="5080"/>
                </a:lnTo>
                <a:lnTo>
                  <a:pt x="753948" y="0"/>
                </a:lnTo>
                <a:lnTo>
                  <a:pt x="798449" y="0"/>
                </a:lnTo>
                <a:lnTo>
                  <a:pt x="842721" y="5080"/>
                </a:lnTo>
                <a:lnTo>
                  <a:pt x="853795" y="7620"/>
                </a:lnTo>
                <a:lnTo>
                  <a:pt x="864908" y="8890"/>
                </a:lnTo>
                <a:lnTo>
                  <a:pt x="876046" y="12700"/>
                </a:lnTo>
                <a:lnTo>
                  <a:pt x="887133" y="15240"/>
                </a:lnTo>
                <a:lnTo>
                  <a:pt x="898169" y="19050"/>
                </a:lnTo>
                <a:lnTo>
                  <a:pt x="909167" y="21590"/>
                </a:lnTo>
                <a:lnTo>
                  <a:pt x="919708" y="25400"/>
                </a:lnTo>
                <a:lnTo>
                  <a:pt x="931075" y="30480"/>
                </a:lnTo>
                <a:lnTo>
                  <a:pt x="942022" y="34290"/>
                </a:lnTo>
                <a:lnTo>
                  <a:pt x="950252" y="38100"/>
                </a:lnTo>
                <a:lnTo>
                  <a:pt x="746086" y="38100"/>
                </a:lnTo>
                <a:lnTo>
                  <a:pt x="735545" y="39370"/>
                </a:lnTo>
                <a:lnTo>
                  <a:pt x="736079" y="39370"/>
                </a:lnTo>
                <a:lnTo>
                  <a:pt x="725538" y="40640"/>
                </a:lnTo>
                <a:lnTo>
                  <a:pt x="726058" y="40640"/>
                </a:lnTo>
                <a:lnTo>
                  <a:pt x="720782" y="41910"/>
                </a:lnTo>
                <a:lnTo>
                  <a:pt x="716013" y="41910"/>
                </a:lnTo>
                <a:lnTo>
                  <a:pt x="705446" y="44450"/>
                </a:lnTo>
                <a:lnTo>
                  <a:pt x="705942" y="44450"/>
                </a:lnTo>
                <a:lnTo>
                  <a:pt x="695350" y="46990"/>
                </a:lnTo>
                <a:lnTo>
                  <a:pt x="695871" y="46990"/>
                </a:lnTo>
                <a:lnTo>
                  <a:pt x="685266" y="49530"/>
                </a:lnTo>
                <a:lnTo>
                  <a:pt x="685800" y="49530"/>
                </a:lnTo>
                <a:lnTo>
                  <a:pt x="675233" y="52070"/>
                </a:lnTo>
                <a:lnTo>
                  <a:pt x="675741" y="52070"/>
                </a:lnTo>
                <a:lnTo>
                  <a:pt x="665200" y="54610"/>
                </a:lnTo>
                <a:lnTo>
                  <a:pt x="665683" y="54610"/>
                </a:lnTo>
                <a:lnTo>
                  <a:pt x="655142" y="58420"/>
                </a:lnTo>
                <a:lnTo>
                  <a:pt x="655599" y="58420"/>
                </a:lnTo>
                <a:lnTo>
                  <a:pt x="645058" y="62230"/>
                </a:lnTo>
                <a:lnTo>
                  <a:pt x="645477" y="62230"/>
                </a:lnTo>
                <a:lnTo>
                  <a:pt x="634936" y="66040"/>
                </a:lnTo>
                <a:lnTo>
                  <a:pt x="635330" y="66040"/>
                </a:lnTo>
                <a:lnTo>
                  <a:pt x="624763" y="69850"/>
                </a:lnTo>
                <a:lnTo>
                  <a:pt x="625132" y="69850"/>
                </a:lnTo>
                <a:lnTo>
                  <a:pt x="617178" y="73660"/>
                </a:lnTo>
                <a:lnTo>
                  <a:pt x="614895" y="73660"/>
                </a:lnTo>
                <a:lnTo>
                  <a:pt x="604291" y="78740"/>
                </a:lnTo>
                <a:lnTo>
                  <a:pt x="604672" y="78740"/>
                </a:lnTo>
                <a:lnTo>
                  <a:pt x="594093" y="83820"/>
                </a:lnTo>
                <a:lnTo>
                  <a:pt x="594461" y="83820"/>
                </a:lnTo>
                <a:lnTo>
                  <a:pt x="583907" y="88900"/>
                </a:lnTo>
                <a:lnTo>
                  <a:pt x="584250" y="88900"/>
                </a:lnTo>
                <a:lnTo>
                  <a:pt x="573709" y="95250"/>
                </a:lnTo>
                <a:lnTo>
                  <a:pt x="574027" y="95250"/>
                </a:lnTo>
                <a:lnTo>
                  <a:pt x="563486" y="100330"/>
                </a:lnTo>
                <a:lnTo>
                  <a:pt x="563803" y="100330"/>
                </a:lnTo>
                <a:lnTo>
                  <a:pt x="553250" y="106680"/>
                </a:lnTo>
                <a:lnTo>
                  <a:pt x="553542" y="106680"/>
                </a:lnTo>
                <a:lnTo>
                  <a:pt x="542963" y="113030"/>
                </a:lnTo>
                <a:lnTo>
                  <a:pt x="543242" y="113030"/>
                </a:lnTo>
                <a:lnTo>
                  <a:pt x="532637" y="119380"/>
                </a:lnTo>
                <a:lnTo>
                  <a:pt x="532942" y="119380"/>
                </a:lnTo>
                <a:lnTo>
                  <a:pt x="522338" y="127000"/>
                </a:lnTo>
                <a:lnTo>
                  <a:pt x="522643" y="127000"/>
                </a:lnTo>
                <a:lnTo>
                  <a:pt x="512076" y="133350"/>
                </a:lnTo>
                <a:lnTo>
                  <a:pt x="512356" y="133350"/>
                </a:lnTo>
                <a:lnTo>
                  <a:pt x="501802" y="140970"/>
                </a:lnTo>
                <a:lnTo>
                  <a:pt x="502043" y="140970"/>
                </a:lnTo>
                <a:lnTo>
                  <a:pt x="491502" y="148590"/>
                </a:lnTo>
                <a:lnTo>
                  <a:pt x="491731" y="148590"/>
                </a:lnTo>
                <a:lnTo>
                  <a:pt x="482696" y="156210"/>
                </a:lnTo>
                <a:lnTo>
                  <a:pt x="481380" y="156210"/>
                </a:lnTo>
                <a:lnTo>
                  <a:pt x="470827" y="165100"/>
                </a:lnTo>
                <a:lnTo>
                  <a:pt x="471068" y="165100"/>
                </a:lnTo>
                <a:lnTo>
                  <a:pt x="451409" y="181610"/>
                </a:lnTo>
                <a:lnTo>
                  <a:pt x="450151" y="181610"/>
                </a:lnTo>
                <a:lnTo>
                  <a:pt x="439547" y="190500"/>
                </a:lnTo>
                <a:lnTo>
                  <a:pt x="439762" y="190500"/>
                </a:lnTo>
                <a:lnTo>
                  <a:pt x="430517" y="199390"/>
                </a:lnTo>
                <a:lnTo>
                  <a:pt x="429399" y="199390"/>
                </a:lnTo>
                <a:lnTo>
                  <a:pt x="418846" y="209550"/>
                </a:lnTo>
                <a:lnTo>
                  <a:pt x="419023" y="209550"/>
                </a:lnTo>
                <a:lnTo>
                  <a:pt x="408482" y="218440"/>
                </a:lnTo>
                <a:lnTo>
                  <a:pt x="408711" y="218440"/>
                </a:lnTo>
                <a:lnTo>
                  <a:pt x="387616" y="238760"/>
                </a:lnTo>
                <a:lnTo>
                  <a:pt x="387870" y="238760"/>
                </a:lnTo>
                <a:lnTo>
                  <a:pt x="366699" y="259080"/>
                </a:lnTo>
                <a:lnTo>
                  <a:pt x="366877" y="259080"/>
                </a:lnTo>
                <a:lnTo>
                  <a:pt x="357451" y="269240"/>
                </a:lnTo>
                <a:lnTo>
                  <a:pt x="356425" y="269240"/>
                </a:lnTo>
                <a:lnTo>
                  <a:pt x="345859" y="280670"/>
                </a:lnTo>
                <a:lnTo>
                  <a:pt x="346049" y="280670"/>
                </a:lnTo>
                <a:lnTo>
                  <a:pt x="324954" y="303530"/>
                </a:lnTo>
                <a:lnTo>
                  <a:pt x="325145" y="303530"/>
                </a:lnTo>
                <a:lnTo>
                  <a:pt x="304050" y="326390"/>
                </a:lnTo>
                <a:lnTo>
                  <a:pt x="282994" y="349250"/>
                </a:lnTo>
                <a:lnTo>
                  <a:pt x="283146" y="349250"/>
                </a:lnTo>
                <a:lnTo>
                  <a:pt x="261975" y="373380"/>
                </a:lnTo>
                <a:lnTo>
                  <a:pt x="262178" y="373380"/>
                </a:lnTo>
                <a:lnTo>
                  <a:pt x="241084" y="398780"/>
                </a:lnTo>
                <a:lnTo>
                  <a:pt x="220116" y="424180"/>
                </a:lnTo>
                <a:lnTo>
                  <a:pt x="199021" y="449580"/>
                </a:lnTo>
                <a:lnTo>
                  <a:pt x="177939" y="476250"/>
                </a:lnTo>
                <a:lnTo>
                  <a:pt x="156972" y="502920"/>
                </a:lnTo>
                <a:lnTo>
                  <a:pt x="114769" y="556260"/>
                </a:lnTo>
                <a:lnTo>
                  <a:pt x="72402" y="612140"/>
                </a:lnTo>
                <a:lnTo>
                  <a:pt x="51371" y="638810"/>
                </a:lnTo>
                <a:lnTo>
                  <a:pt x="30441" y="666750"/>
                </a:lnTo>
                <a:close/>
              </a:path>
              <a:path w="1560195" h="676910">
                <a:moveTo>
                  <a:pt x="745553" y="39370"/>
                </a:moveTo>
                <a:lnTo>
                  <a:pt x="746086" y="38100"/>
                </a:lnTo>
                <a:lnTo>
                  <a:pt x="756107" y="38100"/>
                </a:lnTo>
                <a:lnTo>
                  <a:pt x="745553" y="39370"/>
                </a:lnTo>
                <a:close/>
              </a:path>
              <a:path w="1560195" h="676910">
                <a:moveTo>
                  <a:pt x="806310" y="39370"/>
                </a:moveTo>
                <a:lnTo>
                  <a:pt x="795756" y="38100"/>
                </a:lnTo>
                <a:lnTo>
                  <a:pt x="805776" y="38100"/>
                </a:lnTo>
                <a:lnTo>
                  <a:pt x="806310" y="39370"/>
                </a:lnTo>
                <a:close/>
              </a:path>
              <a:path w="1560195" h="676910">
                <a:moveTo>
                  <a:pt x="836358" y="43180"/>
                </a:moveTo>
                <a:lnTo>
                  <a:pt x="825804" y="40640"/>
                </a:lnTo>
                <a:lnTo>
                  <a:pt x="826325" y="40640"/>
                </a:lnTo>
                <a:lnTo>
                  <a:pt x="815784" y="39370"/>
                </a:lnTo>
                <a:lnTo>
                  <a:pt x="816317" y="39370"/>
                </a:lnTo>
                <a:lnTo>
                  <a:pt x="805776" y="38100"/>
                </a:lnTo>
                <a:lnTo>
                  <a:pt x="950252" y="38100"/>
                </a:lnTo>
                <a:lnTo>
                  <a:pt x="958481" y="41910"/>
                </a:lnTo>
                <a:lnTo>
                  <a:pt x="835837" y="41910"/>
                </a:lnTo>
                <a:lnTo>
                  <a:pt x="836358" y="43180"/>
                </a:lnTo>
                <a:close/>
              </a:path>
              <a:path w="1560195" h="676910">
                <a:moveTo>
                  <a:pt x="715505" y="43180"/>
                </a:moveTo>
                <a:lnTo>
                  <a:pt x="716013" y="41910"/>
                </a:lnTo>
                <a:lnTo>
                  <a:pt x="720782" y="41910"/>
                </a:lnTo>
                <a:lnTo>
                  <a:pt x="715505" y="43180"/>
                </a:lnTo>
                <a:close/>
              </a:path>
              <a:path w="1560195" h="676910">
                <a:moveTo>
                  <a:pt x="937336" y="74930"/>
                </a:moveTo>
                <a:lnTo>
                  <a:pt x="926731" y="69850"/>
                </a:lnTo>
                <a:lnTo>
                  <a:pt x="927100" y="69850"/>
                </a:lnTo>
                <a:lnTo>
                  <a:pt x="916533" y="66040"/>
                </a:lnTo>
                <a:lnTo>
                  <a:pt x="916927" y="66040"/>
                </a:lnTo>
                <a:lnTo>
                  <a:pt x="906386" y="62230"/>
                </a:lnTo>
                <a:lnTo>
                  <a:pt x="906805" y="62230"/>
                </a:lnTo>
                <a:lnTo>
                  <a:pt x="896264" y="58420"/>
                </a:lnTo>
                <a:lnTo>
                  <a:pt x="896721" y="58420"/>
                </a:lnTo>
                <a:lnTo>
                  <a:pt x="886180" y="54610"/>
                </a:lnTo>
                <a:lnTo>
                  <a:pt x="886663" y="54610"/>
                </a:lnTo>
                <a:lnTo>
                  <a:pt x="876122" y="52070"/>
                </a:lnTo>
                <a:lnTo>
                  <a:pt x="876630" y="52070"/>
                </a:lnTo>
                <a:lnTo>
                  <a:pt x="866051" y="49530"/>
                </a:lnTo>
                <a:lnTo>
                  <a:pt x="866597" y="49530"/>
                </a:lnTo>
                <a:lnTo>
                  <a:pt x="855992" y="46990"/>
                </a:lnTo>
                <a:lnTo>
                  <a:pt x="856513" y="46990"/>
                </a:lnTo>
                <a:lnTo>
                  <a:pt x="845921" y="44450"/>
                </a:lnTo>
                <a:lnTo>
                  <a:pt x="846416" y="44450"/>
                </a:lnTo>
                <a:lnTo>
                  <a:pt x="835837" y="41910"/>
                </a:lnTo>
                <a:lnTo>
                  <a:pt x="958481" y="41910"/>
                </a:lnTo>
                <a:lnTo>
                  <a:pt x="974890" y="49530"/>
                </a:lnTo>
                <a:lnTo>
                  <a:pt x="996645" y="62230"/>
                </a:lnTo>
                <a:lnTo>
                  <a:pt x="1007503" y="67310"/>
                </a:lnTo>
                <a:lnTo>
                  <a:pt x="1018336" y="73660"/>
                </a:lnTo>
                <a:lnTo>
                  <a:pt x="936967" y="73660"/>
                </a:lnTo>
                <a:lnTo>
                  <a:pt x="937336" y="74930"/>
                </a:lnTo>
                <a:close/>
              </a:path>
              <a:path w="1560195" h="676910">
                <a:moveTo>
                  <a:pt x="614527" y="74930"/>
                </a:moveTo>
                <a:lnTo>
                  <a:pt x="614895" y="73660"/>
                </a:lnTo>
                <a:lnTo>
                  <a:pt x="617178" y="73660"/>
                </a:lnTo>
                <a:lnTo>
                  <a:pt x="614527" y="74930"/>
                </a:lnTo>
                <a:close/>
              </a:path>
              <a:path w="1560195" h="676910">
                <a:moveTo>
                  <a:pt x="1070673" y="157480"/>
                </a:moveTo>
                <a:lnTo>
                  <a:pt x="1060132" y="148590"/>
                </a:lnTo>
                <a:lnTo>
                  <a:pt x="1060348" y="148590"/>
                </a:lnTo>
                <a:lnTo>
                  <a:pt x="1049807" y="140970"/>
                </a:lnTo>
                <a:lnTo>
                  <a:pt x="1050061" y="140970"/>
                </a:lnTo>
                <a:lnTo>
                  <a:pt x="1039507" y="133350"/>
                </a:lnTo>
                <a:lnTo>
                  <a:pt x="1039787" y="133350"/>
                </a:lnTo>
                <a:lnTo>
                  <a:pt x="1029220" y="127000"/>
                </a:lnTo>
                <a:lnTo>
                  <a:pt x="1029525" y="127000"/>
                </a:lnTo>
                <a:lnTo>
                  <a:pt x="1018921" y="119380"/>
                </a:lnTo>
                <a:lnTo>
                  <a:pt x="1019225" y="119380"/>
                </a:lnTo>
                <a:lnTo>
                  <a:pt x="1008621" y="113030"/>
                </a:lnTo>
                <a:lnTo>
                  <a:pt x="1008887" y="113030"/>
                </a:lnTo>
                <a:lnTo>
                  <a:pt x="998321" y="106680"/>
                </a:lnTo>
                <a:lnTo>
                  <a:pt x="998613" y="106680"/>
                </a:lnTo>
                <a:lnTo>
                  <a:pt x="988059" y="100330"/>
                </a:lnTo>
                <a:lnTo>
                  <a:pt x="988364" y="100330"/>
                </a:lnTo>
                <a:lnTo>
                  <a:pt x="977823" y="95250"/>
                </a:lnTo>
                <a:lnTo>
                  <a:pt x="978153" y="95250"/>
                </a:lnTo>
                <a:lnTo>
                  <a:pt x="967612" y="88900"/>
                </a:lnTo>
                <a:lnTo>
                  <a:pt x="967955" y="88900"/>
                </a:lnTo>
                <a:lnTo>
                  <a:pt x="957402" y="83820"/>
                </a:lnTo>
                <a:lnTo>
                  <a:pt x="957757" y="83820"/>
                </a:lnTo>
                <a:lnTo>
                  <a:pt x="947191" y="78740"/>
                </a:lnTo>
                <a:lnTo>
                  <a:pt x="947572" y="78740"/>
                </a:lnTo>
                <a:lnTo>
                  <a:pt x="936967" y="73660"/>
                </a:lnTo>
                <a:lnTo>
                  <a:pt x="1018336" y="73660"/>
                </a:lnTo>
                <a:lnTo>
                  <a:pt x="1029182" y="81280"/>
                </a:lnTo>
                <a:lnTo>
                  <a:pt x="1040079" y="87630"/>
                </a:lnTo>
                <a:lnTo>
                  <a:pt x="1061834" y="102870"/>
                </a:lnTo>
                <a:lnTo>
                  <a:pt x="1072387" y="110490"/>
                </a:lnTo>
                <a:lnTo>
                  <a:pt x="1083386" y="118110"/>
                </a:lnTo>
                <a:lnTo>
                  <a:pt x="1104912" y="135890"/>
                </a:lnTo>
                <a:lnTo>
                  <a:pt x="1126337" y="152400"/>
                </a:lnTo>
                <a:lnTo>
                  <a:pt x="1130395" y="156210"/>
                </a:lnTo>
                <a:lnTo>
                  <a:pt x="1070482" y="156210"/>
                </a:lnTo>
                <a:lnTo>
                  <a:pt x="1070673" y="157480"/>
                </a:lnTo>
                <a:close/>
              </a:path>
              <a:path w="1560195" h="676910">
                <a:moveTo>
                  <a:pt x="481190" y="157480"/>
                </a:moveTo>
                <a:lnTo>
                  <a:pt x="481380" y="156210"/>
                </a:lnTo>
                <a:lnTo>
                  <a:pt x="482696" y="156210"/>
                </a:lnTo>
                <a:lnTo>
                  <a:pt x="481190" y="157480"/>
                </a:lnTo>
                <a:close/>
              </a:path>
              <a:path w="1560195" h="676910">
                <a:moveTo>
                  <a:pt x="1101966" y="182880"/>
                </a:moveTo>
                <a:lnTo>
                  <a:pt x="1080795" y="165100"/>
                </a:lnTo>
                <a:lnTo>
                  <a:pt x="1081036" y="165100"/>
                </a:lnTo>
                <a:lnTo>
                  <a:pt x="1070482" y="156210"/>
                </a:lnTo>
                <a:lnTo>
                  <a:pt x="1130395" y="156210"/>
                </a:lnTo>
                <a:lnTo>
                  <a:pt x="1137157" y="162560"/>
                </a:lnTo>
                <a:lnTo>
                  <a:pt x="1147927" y="171450"/>
                </a:lnTo>
                <a:lnTo>
                  <a:pt x="1158659" y="181610"/>
                </a:lnTo>
                <a:lnTo>
                  <a:pt x="1101712" y="181610"/>
                </a:lnTo>
                <a:lnTo>
                  <a:pt x="1101966" y="182880"/>
                </a:lnTo>
                <a:close/>
              </a:path>
              <a:path w="1560195" h="676910">
                <a:moveTo>
                  <a:pt x="449897" y="182880"/>
                </a:moveTo>
                <a:lnTo>
                  <a:pt x="450151" y="181610"/>
                </a:lnTo>
                <a:lnTo>
                  <a:pt x="451409" y="181610"/>
                </a:lnTo>
                <a:lnTo>
                  <a:pt x="449897" y="182880"/>
                </a:lnTo>
                <a:close/>
              </a:path>
              <a:path w="1560195" h="676910">
                <a:moveTo>
                  <a:pt x="1122667" y="200660"/>
                </a:moveTo>
                <a:lnTo>
                  <a:pt x="1112100" y="190500"/>
                </a:lnTo>
                <a:lnTo>
                  <a:pt x="1112316" y="190500"/>
                </a:lnTo>
                <a:lnTo>
                  <a:pt x="1101712" y="181610"/>
                </a:lnTo>
                <a:lnTo>
                  <a:pt x="1158659" y="181610"/>
                </a:lnTo>
                <a:lnTo>
                  <a:pt x="1169428" y="190500"/>
                </a:lnTo>
                <a:lnTo>
                  <a:pt x="1178763" y="199390"/>
                </a:lnTo>
                <a:lnTo>
                  <a:pt x="1122464" y="199390"/>
                </a:lnTo>
                <a:lnTo>
                  <a:pt x="1122667" y="200660"/>
                </a:lnTo>
                <a:close/>
              </a:path>
              <a:path w="1560195" h="676910">
                <a:moveTo>
                  <a:pt x="429196" y="200660"/>
                </a:moveTo>
                <a:lnTo>
                  <a:pt x="429399" y="199390"/>
                </a:lnTo>
                <a:lnTo>
                  <a:pt x="430517" y="199390"/>
                </a:lnTo>
                <a:lnTo>
                  <a:pt x="429196" y="200660"/>
                </a:lnTo>
                <a:close/>
              </a:path>
              <a:path w="1560195" h="676910">
                <a:moveTo>
                  <a:pt x="1195590" y="270510"/>
                </a:moveTo>
                <a:lnTo>
                  <a:pt x="1184986" y="259080"/>
                </a:lnTo>
                <a:lnTo>
                  <a:pt x="1185163" y="259080"/>
                </a:lnTo>
                <a:lnTo>
                  <a:pt x="1163993" y="238760"/>
                </a:lnTo>
                <a:lnTo>
                  <a:pt x="1164234" y="238760"/>
                </a:lnTo>
                <a:lnTo>
                  <a:pt x="1143152" y="218440"/>
                </a:lnTo>
                <a:lnTo>
                  <a:pt x="1143380" y="218440"/>
                </a:lnTo>
                <a:lnTo>
                  <a:pt x="1132839" y="209550"/>
                </a:lnTo>
                <a:lnTo>
                  <a:pt x="1133017" y="209550"/>
                </a:lnTo>
                <a:lnTo>
                  <a:pt x="1122464" y="199390"/>
                </a:lnTo>
                <a:lnTo>
                  <a:pt x="1178763" y="199390"/>
                </a:lnTo>
                <a:lnTo>
                  <a:pt x="1190764" y="210820"/>
                </a:lnTo>
                <a:lnTo>
                  <a:pt x="1212113" y="232410"/>
                </a:lnTo>
                <a:lnTo>
                  <a:pt x="1222870" y="243840"/>
                </a:lnTo>
                <a:lnTo>
                  <a:pt x="1233627" y="254000"/>
                </a:lnTo>
                <a:lnTo>
                  <a:pt x="1247808" y="269240"/>
                </a:lnTo>
                <a:lnTo>
                  <a:pt x="1195425" y="269240"/>
                </a:lnTo>
                <a:lnTo>
                  <a:pt x="1195590" y="270510"/>
                </a:lnTo>
                <a:close/>
              </a:path>
              <a:path w="1560195" h="676910">
                <a:moveTo>
                  <a:pt x="356273" y="270510"/>
                </a:moveTo>
                <a:lnTo>
                  <a:pt x="356425" y="269240"/>
                </a:lnTo>
                <a:lnTo>
                  <a:pt x="357451" y="269240"/>
                </a:lnTo>
                <a:lnTo>
                  <a:pt x="356273" y="270510"/>
                </a:lnTo>
                <a:close/>
              </a:path>
              <a:path w="1560195" h="676910">
                <a:moveTo>
                  <a:pt x="1521440" y="666707"/>
                </a:moveTo>
                <a:lnTo>
                  <a:pt x="1484591" y="618490"/>
                </a:lnTo>
                <a:lnTo>
                  <a:pt x="1460182" y="586740"/>
                </a:lnTo>
                <a:lnTo>
                  <a:pt x="1437043" y="556260"/>
                </a:lnTo>
                <a:lnTo>
                  <a:pt x="1394828" y="502920"/>
                </a:lnTo>
                <a:lnTo>
                  <a:pt x="1373809" y="476250"/>
                </a:lnTo>
                <a:lnTo>
                  <a:pt x="1352753" y="449580"/>
                </a:lnTo>
                <a:lnTo>
                  <a:pt x="1331671" y="424180"/>
                </a:lnTo>
                <a:lnTo>
                  <a:pt x="1310652" y="398780"/>
                </a:lnTo>
                <a:lnTo>
                  <a:pt x="1289684" y="373380"/>
                </a:lnTo>
                <a:lnTo>
                  <a:pt x="1289888" y="373380"/>
                </a:lnTo>
                <a:lnTo>
                  <a:pt x="1268717" y="349250"/>
                </a:lnTo>
                <a:lnTo>
                  <a:pt x="1268869" y="349250"/>
                </a:lnTo>
                <a:lnTo>
                  <a:pt x="1247698" y="326390"/>
                </a:lnTo>
                <a:lnTo>
                  <a:pt x="1226718" y="303530"/>
                </a:lnTo>
                <a:lnTo>
                  <a:pt x="1226908" y="303530"/>
                </a:lnTo>
                <a:lnTo>
                  <a:pt x="1205814" y="280670"/>
                </a:lnTo>
                <a:lnTo>
                  <a:pt x="1206004" y="280670"/>
                </a:lnTo>
                <a:lnTo>
                  <a:pt x="1195425" y="269240"/>
                </a:lnTo>
                <a:lnTo>
                  <a:pt x="1247808" y="269240"/>
                </a:lnTo>
                <a:lnTo>
                  <a:pt x="1254899" y="276860"/>
                </a:lnTo>
                <a:lnTo>
                  <a:pt x="1318793" y="349250"/>
                </a:lnTo>
                <a:lnTo>
                  <a:pt x="1382445" y="425450"/>
                </a:lnTo>
                <a:lnTo>
                  <a:pt x="1424889" y="478790"/>
                </a:lnTo>
                <a:lnTo>
                  <a:pt x="1467192" y="533400"/>
                </a:lnTo>
                <a:lnTo>
                  <a:pt x="1490446" y="563880"/>
                </a:lnTo>
                <a:lnTo>
                  <a:pt x="1514944" y="595630"/>
                </a:lnTo>
                <a:lnTo>
                  <a:pt x="1551897" y="643893"/>
                </a:lnTo>
                <a:lnTo>
                  <a:pt x="1521440" y="666707"/>
                </a:lnTo>
                <a:close/>
              </a:path>
              <a:path w="1560195" h="676910">
                <a:moveTo>
                  <a:pt x="1542712" y="666750"/>
                </a:moveTo>
                <a:lnTo>
                  <a:pt x="1521472" y="666750"/>
                </a:lnTo>
                <a:lnTo>
                  <a:pt x="1551897" y="643893"/>
                </a:lnTo>
                <a:lnTo>
                  <a:pt x="1559674" y="654050"/>
                </a:lnTo>
                <a:lnTo>
                  <a:pt x="1542712" y="666750"/>
                </a:lnTo>
                <a:close/>
              </a:path>
              <a:path w="1560195" h="676910">
                <a:moveTo>
                  <a:pt x="1529143" y="676910"/>
                </a:moveTo>
                <a:lnTo>
                  <a:pt x="1521383" y="666750"/>
                </a:lnTo>
                <a:lnTo>
                  <a:pt x="1542712" y="666750"/>
                </a:lnTo>
                <a:lnTo>
                  <a:pt x="1529143" y="6769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835800" y="3217354"/>
            <a:ext cx="3979545" cy="114300"/>
          </a:xfrm>
          <a:custGeom>
            <a:avLst/>
            <a:gdLst/>
            <a:ahLst/>
            <a:cxnLst/>
            <a:rect l="l" t="t" r="r" b="b"/>
            <a:pathLst>
              <a:path w="3979545" h="114300">
                <a:moveTo>
                  <a:pt x="3864614" y="38098"/>
                </a:moveTo>
                <a:lnTo>
                  <a:pt x="3864533" y="0"/>
                </a:lnTo>
                <a:lnTo>
                  <a:pt x="3941014" y="38036"/>
                </a:lnTo>
                <a:lnTo>
                  <a:pt x="3893185" y="38036"/>
                </a:lnTo>
                <a:lnTo>
                  <a:pt x="3864614" y="38098"/>
                </a:lnTo>
                <a:close/>
              </a:path>
              <a:path w="3979545" h="114300">
                <a:moveTo>
                  <a:pt x="3864694" y="76198"/>
                </a:moveTo>
                <a:lnTo>
                  <a:pt x="3864614" y="38098"/>
                </a:lnTo>
                <a:lnTo>
                  <a:pt x="3893185" y="38036"/>
                </a:lnTo>
                <a:lnTo>
                  <a:pt x="3893273" y="76136"/>
                </a:lnTo>
                <a:lnTo>
                  <a:pt x="3864694" y="76198"/>
                </a:lnTo>
                <a:close/>
              </a:path>
              <a:path w="3979545" h="114300">
                <a:moveTo>
                  <a:pt x="3864775" y="114299"/>
                </a:moveTo>
                <a:lnTo>
                  <a:pt x="3864694" y="76198"/>
                </a:lnTo>
                <a:lnTo>
                  <a:pt x="3893273" y="76136"/>
                </a:lnTo>
                <a:lnTo>
                  <a:pt x="3893185" y="38036"/>
                </a:lnTo>
                <a:lnTo>
                  <a:pt x="3941014" y="38036"/>
                </a:lnTo>
                <a:lnTo>
                  <a:pt x="3978960" y="56908"/>
                </a:lnTo>
                <a:lnTo>
                  <a:pt x="3864775" y="114299"/>
                </a:lnTo>
                <a:close/>
              </a:path>
              <a:path w="3979545" h="114300">
                <a:moveTo>
                  <a:pt x="88" y="84581"/>
                </a:moveTo>
                <a:lnTo>
                  <a:pt x="0" y="46481"/>
                </a:lnTo>
                <a:lnTo>
                  <a:pt x="3864614" y="38098"/>
                </a:lnTo>
                <a:lnTo>
                  <a:pt x="3864694" y="76198"/>
                </a:lnTo>
                <a:lnTo>
                  <a:pt x="88" y="8458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778688" y="2047748"/>
            <a:ext cx="114300" cy="2321560"/>
          </a:xfrm>
          <a:custGeom>
            <a:avLst/>
            <a:gdLst/>
            <a:ahLst/>
            <a:cxnLst/>
            <a:rect l="l" t="t" r="r" b="b"/>
            <a:pathLst>
              <a:path w="114300" h="2321560">
                <a:moveTo>
                  <a:pt x="38100" y="114300"/>
                </a:moveTo>
                <a:lnTo>
                  <a:pt x="0" y="114300"/>
                </a:lnTo>
                <a:lnTo>
                  <a:pt x="57150" y="0"/>
                </a:lnTo>
                <a:lnTo>
                  <a:pt x="100012" y="85725"/>
                </a:lnTo>
                <a:lnTo>
                  <a:pt x="38100" y="85725"/>
                </a:lnTo>
                <a:lnTo>
                  <a:pt x="38100" y="114300"/>
                </a:lnTo>
                <a:close/>
              </a:path>
              <a:path w="114300" h="2321560">
                <a:moveTo>
                  <a:pt x="76200" y="2321052"/>
                </a:moveTo>
                <a:lnTo>
                  <a:pt x="38100" y="2321052"/>
                </a:lnTo>
                <a:lnTo>
                  <a:pt x="38100" y="85725"/>
                </a:lnTo>
                <a:lnTo>
                  <a:pt x="76200" y="85725"/>
                </a:lnTo>
                <a:lnTo>
                  <a:pt x="76200" y="2321052"/>
                </a:lnTo>
                <a:close/>
              </a:path>
              <a:path w="114300" h="2321560">
                <a:moveTo>
                  <a:pt x="114300" y="114300"/>
                </a:moveTo>
                <a:lnTo>
                  <a:pt x="76200" y="114300"/>
                </a:lnTo>
                <a:lnTo>
                  <a:pt x="76200" y="85725"/>
                </a:lnTo>
                <a:lnTo>
                  <a:pt x="100012" y="85725"/>
                </a:lnTo>
                <a:lnTo>
                  <a:pt x="114300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236614" y="1952066"/>
            <a:ext cx="276478" cy="2650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428676" y="1947456"/>
            <a:ext cx="430225" cy="2696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839102" y="2628722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127" y="10045"/>
                </a:moveTo>
                <a:lnTo>
                  <a:pt x="0" y="520"/>
                </a:lnTo>
                <a:lnTo>
                  <a:pt x="38100" y="0"/>
                </a:lnTo>
                <a:lnTo>
                  <a:pt x="38227" y="9525"/>
                </a:lnTo>
                <a:lnTo>
                  <a:pt x="127" y="100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905764" y="2627807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139" y="10045"/>
                </a:moveTo>
                <a:lnTo>
                  <a:pt x="0" y="520"/>
                </a:lnTo>
                <a:lnTo>
                  <a:pt x="38100" y="0"/>
                </a:lnTo>
                <a:lnTo>
                  <a:pt x="38226" y="9525"/>
                </a:lnTo>
                <a:lnTo>
                  <a:pt x="139" y="100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972439" y="2626906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126" y="10045"/>
                </a:moveTo>
                <a:lnTo>
                  <a:pt x="0" y="520"/>
                </a:lnTo>
                <a:lnTo>
                  <a:pt x="38100" y="0"/>
                </a:lnTo>
                <a:lnTo>
                  <a:pt x="38226" y="9525"/>
                </a:lnTo>
                <a:lnTo>
                  <a:pt x="126" y="100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039102" y="2625991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139" y="10045"/>
                </a:moveTo>
                <a:lnTo>
                  <a:pt x="0" y="520"/>
                </a:lnTo>
                <a:lnTo>
                  <a:pt x="38100" y="0"/>
                </a:lnTo>
                <a:lnTo>
                  <a:pt x="38226" y="9525"/>
                </a:lnTo>
                <a:lnTo>
                  <a:pt x="139" y="100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105777" y="2625089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126" y="10045"/>
                </a:moveTo>
                <a:lnTo>
                  <a:pt x="0" y="520"/>
                </a:lnTo>
                <a:lnTo>
                  <a:pt x="38100" y="0"/>
                </a:lnTo>
                <a:lnTo>
                  <a:pt x="38226" y="9525"/>
                </a:lnTo>
                <a:lnTo>
                  <a:pt x="126" y="100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172452" y="2624175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126" y="10045"/>
                </a:moveTo>
                <a:lnTo>
                  <a:pt x="0" y="520"/>
                </a:lnTo>
                <a:lnTo>
                  <a:pt x="38087" y="0"/>
                </a:lnTo>
                <a:lnTo>
                  <a:pt x="38214" y="9525"/>
                </a:lnTo>
                <a:lnTo>
                  <a:pt x="126" y="100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239113" y="2623273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126" y="10045"/>
                </a:moveTo>
                <a:lnTo>
                  <a:pt x="0" y="520"/>
                </a:lnTo>
                <a:lnTo>
                  <a:pt x="38100" y="0"/>
                </a:lnTo>
                <a:lnTo>
                  <a:pt x="38226" y="9524"/>
                </a:lnTo>
                <a:lnTo>
                  <a:pt x="126" y="100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305788" y="2622372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126" y="10033"/>
                </a:moveTo>
                <a:lnTo>
                  <a:pt x="0" y="508"/>
                </a:lnTo>
                <a:lnTo>
                  <a:pt x="38087" y="0"/>
                </a:lnTo>
                <a:lnTo>
                  <a:pt x="38214" y="9525"/>
                </a:lnTo>
                <a:lnTo>
                  <a:pt x="126" y="100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372451" y="2621457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126" y="10045"/>
                </a:moveTo>
                <a:lnTo>
                  <a:pt x="0" y="520"/>
                </a:lnTo>
                <a:lnTo>
                  <a:pt x="38100" y="0"/>
                </a:lnTo>
                <a:lnTo>
                  <a:pt x="38226" y="9525"/>
                </a:lnTo>
                <a:lnTo>
                  <a:pt x="126" y="100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439126" y="2620556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126" y="10033"/>
                </a:moveTo>
                <a:lnTo>
                  <a:pt x="0" y="508"/>
                </a:lnTo>
                <a:lnTo>
                  <a:pt x="38087" y="0"/>
                </a:lnTo>
                <a:lnTo>
                  <a:pt x="38226" y="9525"/>
                </a:lnTo>
                <a:lnTo>
                  <a:pt x="126" y="100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505789" y="2619641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127" y="10045"/>
                </a:moveTo>
                <a:lnTo>
                  <a:pt x="0" y="520"/>
                </a:lnTo>
                <a:lnTo>
                  <a:pt x="38100" y="0"/>
                </a:lnTo>
                <a:lnTo>
                  <a:pt x="38227" y="9525"/>
                </a:lnTo>
                <a:lnTo>
                  <a:pt x="127" y="100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286918" y="2497175"/>
            <a:ext cx="497192" cy="26874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0822355" y="3336912"/>
            <a:ext cx="147751" cy="23704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0977498" y="3304768"/>
            <a:ext cx="326707" cy="26963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223418" y="3859250"/>
            <a:ext cx="598792" cy="26874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880936" y="3950868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38100" y="9563"/>
                </a:moveTo>
                <a:lnTo>
                  <a:pt x="0" y="9525"/>
                </a:lnTo>
                <a:lnTo>
                  <a:pt x="12" y="0"/>
                </a:lnTo>
                <a:lnTo>
                  <a:pt x="38112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947611" y="3950931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38100" y="9563"/>
                </a:moveTo>
                <a:lnTo>
                  <a:pt x="0" y="9525"/>
                </a:lnTo>
                <a:lnTo>
                  <a:pt x="12" y="0"/>
                </a:lnTo>
                <a:lnTo>
                  <a:pt x="38112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014286" y="3950995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38100" y="9563"/>
                </a:moveTo>
                <a:lnTo>
                  <a:pt x="0" y="9525"/>
                </a:lnTo>
                <a:lnTo>
                  <a:pt x="12" y="0"/>
                </a:lnTo>
                <a:lnTo>
                  <a:pt x="38112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080961" y="3951058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38100" y="9563"/>
                </a:moveTo>
                <a:lnTo>
                  <a:pt x="0" y="9525"/>
                </a:lnTo>
                <a:lnTo>
                  <a:pt x="12" y="0"/>
                </a:lnTo>
                <a:lnTo>
                  <a:pt x="38112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147636" y="3951122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38100" y="9563"/>
                </a:moveTo>
                <a:lnTo>
                  <a:pt x="0" y="9525"/>
                </a:lnTo>
                <a:lnTo>
                  <a:pt x="12" y="0"/>
                </a:lnTo>
                <a:lnTo>
                  <a:pt x="38112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214311" y="3951185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38100" y="9563"/>
                </a:moveTo>
                <a:lnTo>
                  <a:pt x="0" y="9525"/>
                </a:lnTo>
                <a:lnTo>
                  <a:pt x="12" y="0"/>
                </a:lnTo>
                <a:lnTo>
                  <a:pt x="38112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280986" y="3951249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38100" y="9563"/>
                </a:moveTo>
                <a:lnTo>
                  <a:pt x="0" y="9525"/>
                </a:lnTo>
                <a:lnTo>
                  <a:pt x="12" y="0"/>
                </a:lnTo>
                <a:lnTo>
                  <a:pt x="38112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347661" y="3951313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38100" y="9563"/>
                </a:moveTo>
                <a:lnTo>
                  <a:pt x="0" y="9525"/>
                </a:lnTo>
                <a:lnTo>
                  <a:pt x="12" y="0"/>
                </a:lnTo>
                <a:lnTo>
                  <a:pt x="38112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414336" y="3951376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38100" y="9563"/>
                </a:moveTo>
                <a:lnTo>
                  <a:pt x="0" y="9525"/>
                </a:lnTo>
                <a:lnTo>
                  <a:pt x="12" y="0"/>
                </a:lnTo>
                <a:lnTo>
                  <a:pt x="38112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481011" y="3951452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38100" y="9550"/>
                </a:moveTo>
                <a:lnTo>
                  <a:pt x="0" y="9525"/>
                </a:lnTo>
                <a:lnTo>
                  <a:pt x="12" y="0"/>
                </a:lnTo>
                <a:lnTo>
                  <a:pt x="38112" y="25"/>
                </a:lnTo>
                <a:lnTo>
                  <a:pt x="38100" y="95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547686" y="3951516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38100" y="9550"/>
                </a:moveTo>
                <a:lnTo>
                  <a:pt x="0" y="9525"/>
                </a:lnTo>
                <a:lnTo>
                  <a:pt x="12" y="0"/>
                </a:lnTo>
                <a:lnTo>
                  <a:pt x="38112" y="25"/>
                </a:lnTo>
                <a:lnTo>
                  <a:pt x="38100" y="95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614361" y="3951579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38100" y="9563"/>
                </a:moveTo>
                <a:lnTo>
                  <a:pt x="0" y="9525"/>
                </a:lnTo>
                <a:lnTo>
                  <a:pt x="12" y="0"/>
                </a:lnTo>
                <a:lnTo>
                  <a:pt x="38112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7681036" y="3951643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38100" y="9563"/>
                </a:moveTo>
                <a:lnTo>
                  <a:pt x="0" y="9525"/>
                </a:lnTo>
                <a:lnTo>
                  <a:pt x="12" y="0"/>
                </a:lnTo>
                <a:lnTo>
                  <a:pt x="38112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7747711" y="3951706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38100" y="9563"/>
                </a:moveTo>
                <a:lnTo>
                  <a:pt x="0" y="9525"/>
                </a:lnTo>
                <a:lnTo>
                  <a:pt x="12" y="0"/>
                </a:lnTo>
                <a:lnTo>
                  <a:pt x="38112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7814386" y="3951770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38100" y="9563"/>
                </a:moveTo>
                <a:lnTo>
                  <a:pt x="0" y="9525"/>
                </a:lnTo>
                <a:lnTo>
                  <a:pt x="12" y="0"/>
                </a:lnTo>
                <a:lnTo>
                  <a:pt x="38112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7881061" y="3951833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38100" y="9563"/>
                </a:moveTo>
                <a:lnTo>
                  <a:pt x="0" y="9525"/>
                </a:lnTo>
                <a:lnTo>
                  <a:pt x="12" y="0"/>
                </a:lnTo>
                <a:lnTo>
                  <a:pt x="38112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7947736" y="3951897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38100" y="9563"/>
                </a:moveTo>
                <a:lnTo>
                  <a:pt x="0" y="9525"/>
                </a:lnTo>
                <a:lnTo>
                  <a:pt x="12" y="0"/>
                </a:lnTo>
                <a:lnTo>
                  <a:pt x="38112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8014411" y="3951960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38100" y="9563"/>
                </a:moveTo>
                <a:lnTo>
                  <a:pt x="0" y="9525"/>
                </a:lnTo>
                <a:lnTo>
                  <a:pt x="12" y="0"/>
                </a:lnTo>
                <a:lnTo>
                  <a:pt x="38112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8081086" y="3952024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38100" y="9563"/>
                </a:moveTo>
                <a:lnTo>
                  <a:pt x="0" y="9525"/>
                </a:lnTo>
                <a:lnTo>
                  <a:pt x="12" y="0"/>
                </a:lnTo>
                <a:lnTo>
                  <a:pt x="38112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8147761" y="3952087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38100" y="9563"/>
                </a:moveTo>
                <a:lnTo>
                  <a:pt x="0" y="9525"/>
                </a:lnTo>
                <a:lnTo>
                  <a:pt x="12" y="0"/>
                </a:lnTo>
                <a:lnTo>
                  <a:pt x="38112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8214436" y="3952151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38100" y="9563"/>
                </a:moveTo>
                <a:lnTo>
                  <a:pt x="0" y="9525"/>
                </a:lnTo>
                <a:lnTo>
                  <a:pt x="12" y="0"/>
                </a:lnTo>
                <a:lnTo>
                  <a:pt x="38112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8281111" y="3952214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38100" y="9563"/>
                </a:moveTo>
                <a:lnTo>
                  <a:pt x="0" y="9525"/>
                </a:lnTo>
                <a:lnTo>
                  <a:pt x="12" y="0"/>
                </a:lnTo>
                <a:lnTo>
                  <a:pt x="38112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8347786" y="3952278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38100" y="9563"/>
                </a:moveTo>
                <a:lnTo>
                  <a:pt x="0" y="9525"/>
                </a:lnTo>
                <a:lnTo>
                  <a:pt x="12" y="0"/>
                </a:lnTo>
                <a:lnTo>
                  <a:pt x="38112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8414461" y="3952341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38100" y="9563"/>
                </a:moveTo>
                <a:lnTo>
                  <a:pt x="0" y="9525"/>
                </a:lnTo>
                <a:lnTo>
                  <a:pt x="12" y="0"/>
                </a:lnTo>
                <a:lnTo>
                  <a:pt x="38112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8481136" y="3952405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38100" y="9563"/>
                </a:moveTo>
                <a:lnTo>
                  <a:pt x="0" y="9525"/>
                </a:lnTo>
                <a:lnTo>
                  <a:pt x="12" y="0"/>
                </a:lnTo>
                <a:lnTo>
                  <a:pt x="38112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8547811" y="3952481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38100" y="9550"/>
                </a:moveTo>
                <a:lnTo>
                  <a:pt x="0" y="9525"/>
                </a:lnTo>
                <a:lnTo>
                  <a:pt x="12" y="0"/>
                </a:lnTo>
                <a:lnTo>
                  <a:pt x="38112" y="25"/>
                </a:lnTo>
                <a:lnTo>
                  <a:pt x="38100" y="95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8614486" y="3952544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38100" y="9550"/>
                </a:moveTo>
                <a:lnTo>
                  <a:pt x="0" y="9525"/>
                </a:lnTo>
                <a:lnTo>
                  <a:pt x="12" y="0"/>
                </a:lnTo>
                <a:lnTo>
                  <a:pt x="38112" y="25"/>
                </a:lnTo>
                <a:lnTo>
                  <a:pt x="38100" y="95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8681161" y="3952608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38100" y="9563"/>
                </a:moveTo>
                <a:lnTo>
                  <a:pt x="0" y="9525"/>
                </a:lnTo>
                <a:lnTo>
                  <a:pt x="12" y="0"/>
                </a:lnTo>
                <a:lnTo>
                  <a:pt x="38112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8747836" y="3952671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38100" y="9563"/>
                </a:moveTo>
                <a:lnTo>
                  <a:pt x="0" y="9525"/>
                </a:lnTo>
                <a:lnTo>
                  <a:pt x="12" y="0"/>
                </a:lnTo>
                <a:lnTo>
                  <a:pt x="38112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8814511" y="3952735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38100" y="9563"/>
                </a:moveTo>
                <a:lnTo>
                  <a:pt x="0" y="9525"/>
                </a:lnTo>
                <a:lnTo>
                  <a:pt x="12" y="0"/>
                </a:lnTo>
                <a:lnTo>
                  <a:pt x="38112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8881186" y="3952798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38100" y="9563"/>
                </a:moveTo>
                <a:lnTo>
                  <a:pt x="0" y="9525"/>
                </a:lnTo>
                <a:lnTo>
                  <a:pt x="12" y="0"/>
                </a:lnTo>
                <a:lnTo>
                  <a:pt x="38112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8947861" y="3952862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38100" y="9563"/>
                </a:moveTo>
                <a:lnTo>
                  <a:pt x="0" y="9525"/>
                </a:lnTo>
                <a:lnTo>
                  <a:pt x="12" y="0"/>
                </a:lnTo>
                <a:lnTo>
                  <a:pt x="38112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9014536" y="3952925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38100" y="9563"/>
                </a:moveTo>
                <a:lnTo>
                  <a:pt x="0" y="9525"/>
                </a:lnTo>
                <a:lnTo>
                  <a:pt x="12" y="0"/>
                </a:lnTo>
                <a:lnTo>
                  <a:pt x="38112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9473425" y="3357600"/>
            <a:ext cx="566102" cy="26874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8035150" y="3371887"/>
            <a:ext cx="557618" cy="26874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6500037" y="3155988"/>
            <a:ext cx="188823" cy="26874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8339137" y="3954462"/>
            <a:ext cx="1456055" cy="0"/>
          </a:xfrm>
          <a:custGeom>
            <a:avLst/>
            <a:gdLst/>
            <a:ahLst/>
            <a:cxnLst/>
            <a:rect l="l" t="t" r="r" b="b"/>
            <a:pathLst>
              <a:path w="1456054" h="0">
                <a:moveTo>
                  <a:pt x="0" y="0"/>
                </a:moveTo>
                <a:lnTo>
                  <a:pt x="1455737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8339137" y="3903611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4" h="51435">
                <a:moveTo>
                  <a:pt x="12700" y="50914"/>
                </a:moveTo>
                <a:lnTo>
                  <a:pt x="0" y="50787"/>
                </a:lnTo>
                <a:lnTo>
                  <a:pt x="469" y="0"/>
                </a:lnTo>
                <a:lnTo>
                  <a:pt x="13169" y="114"/>
                </a:lnTo>
                <a:lnTo>
                  <a:pt x="12700" y="509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8339963" y="3814711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4" h="51435">
                <a:moveTo>
                  <a:pt x="12700" y="50914"/>
                </a:moveTo>
                <a:lnTo>
                  <a:pt x="0" y="50800"/>
                </a:lnTo>
                <a:lnTo>
                  <a:pt x="469" y="0"/>
                </a:lnTo>
                <a:lnTo>
                  <a:pt x="13169" y="114"/>
                </a:lnTo>
                <a:lnTo>
                  <a:pt x="12700" y="509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8340788" y="3725811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4" h="51435">
                <a:moveTo>
                  <a:pt x="12700" y="50914"/>
                </a:moveTo>
                <a:lnTo>
                  <a:pt x="0" y="50800"/>
                </a:lnTo>
                <a:lnTo>
                  <a:pt x="469" y="0"/>
                </a:lnTo>
                <a:lnTo>
                  <a:pt x="13169" y="114"/>
                </a:lnTo>
                <a:lnTo>
                  <a:pt x="12700" y="509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8341614" y="3636911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4" h="51435">
                <a:moveTo>
                  <a:pt x="12700" y="50926"/>
                </a:moveTo>
                <a:lnTo>
                  <a:pt x="0" y="50800"/>
                </a:lnTo>
                <a:lnTo>
                  <a:pt x="469" y="0"/>
                </a:lnTo>
                <a:lnTo>
                  <a:pt x="13169" y="126"/>
                </a:lnTo>
                <a:lnTo>
                  <a:pt x="12700" y="509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8342439" y="3548024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4" h="51435">
                <a:moveTo>
                  <a:pt x="12700" y="50914"/>
                </a:moveTo>
                <a:lnTo>
                  <a:pt x="0" y="50800"/>
                </a:lnTo>
                <a:lnTo>
                  <a:pt x="482" y="0"/>
                </a:lnTo>
                <a:lnTo>
                  <a:pt x="13182" y="114"/>
                </a:lnTo>
                <a:lnTo>
                  <a:pt x="12700" y="509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8343277" y="3459124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4" h="51435">
                <a:moveTo>
                  <a:pt x="12700" y="50914"/>
                </a:moveTo>
                <a:lnTo>
                  <a:pt x="0" y="50800"/>
                </a:lnTo>
                <a:lnTo>
                  <a:pt x="469" y="0"/>
                </a:lnTo>
                <a:lnTo>
                  <a:pt x="13169" y="114"/>
                </a:lnTo>
                <a:lnTo>
                  <a:pt x="12700" y="509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8344103" y="3370224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4" h="51435">
                <a:moveTo>
                  <a:pt x="12700" y="50914"/>
                </a:moveTo>
                <a:lnTo>
                  <a:pt x="0" y="50800"/>
                </a:lnTo>
                <a:lnTo>
                  <a:pt x="469" y="0"/>
                </a:lnTo>
                <a:lnTo>
                  <a:pt x="13169" y="126"/>
                </a:lnTo>
                <a:lnTo>
                  <a:pt x="12700" y="509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8344928" y="3281336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4" h="51435">
                <a:moveTo>
                  <a:pt x="12700" y="50914"/>
                </a:moveTo>
                <a:lnTo>
                  <a:pt x="0" y="50787"/>
                </a:lnTo>
                <a:lnTo>
                  <a:pt x="469" y="0"/>
                </a:lnTo>
                <a:lnTo>
                  <a:pt x="13169" y="114"/>
                </a:lnTo>
                <a:lnTo>
                  <a:pt x="12700" y="509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9779000" y="3900423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4" h="51435">
                <a:moveTo>
                  <a:pt x="12700" y="50926"/>
                </a:moveTo>
                <a:lnTo>
                  <a:pt x="0" y="50800"/>
                </a:lnTo>
                <a:lnTo>
                  <a:pt x="469" y="0"/>
                </a:lnTo>
                <a:lnTo>
                  <a:pt x="13169" y="126"/>
                </a:lnTo>
                <a:lnTo>
                  <a:pt x="12700" y="509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9779825" y="3811536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4" h="51435">
                <a:moveTo>
                  <a:pt x="12700" y="50914"/>
                </a:moveTo>
                <a:lnTo>
                  <a:pt x="0" y="50800"/>
                </a:lnTo>
                <a:lnTo>
                  <a:pt x="469" y="0"/>
                </a:lnTo>
                <a:lnTo>
                  <a:pt x="13169" y="114"/>
                </a:lnTo>
                <a:lnTo>
                  <a:pt x="12700" y="509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9780651" y="3722636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4" h="51435">
                <a:moveTo>
                  <a:pt x="12700" y="50914"/>
                </a:moveTo>
                <a:lnTo>
                  <a:pt x="0" y="50800"/>
                </a:lnTo>
                <a:lnTo>
                  <a:pt x="469" y="0"/>
                </a:lnTo>
                <a:lnTo>
                  <a:pt x="13169" y="114"/>
                </a:lnTo>
                <a:lnTo>
                  <a:pt x="12700" y="509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9781476" y="3633736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4" h="51435">
                <a:moveTo>
                  <a:pt x="12700" y="50926"/>
                </a:moveTo>
                <a:lnTo>
                  <a:pt x="0" y="50800"/>
                </a:lnTo>
                <a:lnTo>
                  <a:pt x="482" y="0"/>
                </a:lnTo>
                <a:lnTo>
                  <a:pt x="13182" y="126"/>
                </a:lnTo>
                <a:lnTo>
                  <a:pt x="12700" y="509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9782302" y="3544849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4" h="51435">
                <a:moveTo>
                  <a:pt x="12700" y="50914"/>
                </a:moveTo>
                <a:lnTo>
                  <a:pt x="0" y="50800"/>
                </a:lnTo>
                <a:lnTo>
                  <a:pt x="482" y="0"/>
                </a:lnTo>
                <a:lnTo>
                  <a:pt x="13182" y="114"/>
                </a:lnTo>
                <a:lnTo>
                  <a:pt x="12700" y="509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9783140" y="3455949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4" h="51435">
                <a:moveTo>
                  <a:pt x="12700" y="50914"/>
                </a:moveTo>
                <a:lnTo>
                  <a:pt x="0" y="50800"/>
                </a:lnTo>
                <a:lnTo>
                  <a:pt x="469" y="0"/>
                </a:lnTo>
                <a:lnTo>
                  <a:pt x="13169" y="114"/>
                </a:lnTo>
                <a:lnTo>
                  <a:pt x="12700" y="509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9783965" y="3367049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4" h="51435">
                <a:moveTo>
                  <a:pt x="12700" y="50914"/>
                </a:moveTo>
                <a:lnTo>
                  <a:pt x="0" y="50800"/>
                </a:lnTo>
                <a:lnTo>
                  <a:pt x="469" y="0"/>
                </a:lnTo>
                <a:lnTo>
                  <a:pt x="13169" y="126"/>
                </a:lnTo>
                <a:lnTo>
                  <a:pt x="12700" y="509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9784791" y="3278161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4" h="51435">
                <a:moveTo>
                  <a:pt x="12700" y="50914"/>
                </a:moveTo>
                <a:lnTo>
                  <a:pt x="0" y="50787"/>
                </a:lnTo>
                <a:lnTo>
                  <a:pt x="469" y="0"/>
                </a:lnTo>
                <a:lnTo>
                  <a:pt x="13169" y="114"/>
                </a:lnTo>
                <a:lnTo>
                  <a:pt x="12700" y="509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 txBox="1"/>
          <p:nvPr/>
        </p:nvSpPr>
        <p:spPr>
          <a:xfrm>
            <a:off x="702627" y="1872269"/>
            <a:ext cx="4502785" cy="1489075"/>
          </a:xfrm>
          <a:prstGeom prst="rect">
            <a:avLst/>
          </a:prstGeom>
        </p:spPr>
        <p:txBody>
          <a:bodyPr wrap="square" lIns="0" tIns="2387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80"/>
              </a:spcBef>
            </a:pPr>
            <a:r>
              <a:rPr dirty="0" sz="3200" b="1" i="1">
                <a:solidFill>
                  <a:srgbClr val="000099"/>
                </a:solidFill>
                <a:latin typeface="华文楷体"/>
                <a:cs typeface="华文楷体"/>
              </a:rPr>
              <a:t>求此交流电压的有效值。</a:t>
            </a:r>
            <a:endParaRPr sz="3200">
              <a:latin typeface="华文楷体"/>
              <a:cs typeface="华文楷体"/>
            </a:endParaRPr>
          </a:p>
          <a:p>
            <a:pPr marL="317500">
              <a:lnSpc>
                <a:spcPct val="100000"/>
              </a:lnSpc>
              <a:spcBef>
                <a:spcPts val="1880"/>
              </a:spcBef>
            </a:pPr>
            <a:r>
              <a:rPr dirty="0" sz="3200" b="1">
                <a:solidFill>
                  <a:srgbClr val="FF0000"/>
                </a:solidFill>
                <a:latin typeface="方正舒体"/>
                <a:cs typeface="方正舒体"/>
              </a:rPr>
              <a:t>提示：</a:t>
            </a:r>
            <a:r>
              <a:rPr dirty="0" sz="3200" spc="-150" b="1">
                <a:solidFill>
                  <a:srgbClr val="FF0000"/>
                </a:solidFill>
                <a:latin typeface="方正舒体"/>
                <a:cs typeface="方正舒体"/>
              </a:rPr>
              <a:t>设</a:t>
            </a:r>
            <a:r>
              <a:rPr dirty="0" sz="3350" spc="-125" b="1" i="1">
                <a:solidFill>
                  <a:srgbClr val="FF0000"/>
                </a:solidFill>
                <a:latin typeface="方正舒体"/>
                <a:cs typeface="方正舒体"/>
              </a:rPr>
              <a:t>R</a:t>
            </a:r>
            <a:endParaRPr sz="3350">
              <a:latin typeface="方正舒体"/>
              <a:cs typeface="方正舒体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2183764" y="4188548"/>
            <a:ext cx="37465" cy="19050"/>
          </a:xfrm>
          <a:custGeom>
            <a:avLst/>
            <a:gdLst/>
            <a:ahLst/>
            <a:cxnLst/>
            <a:rect l="l" t="t" r="r" b="b"/>
            <a:pathLst>
              <a:path w="37464" h="19050">
                <a:moveTo>
                  <a:pt x="0" y="18783"/>
                </a:moveTo>
                <a:lnTo>
                  <a:pt x="37211" y="0"/>
                </a:lnTo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2220976" y="4188548"/>
            <a:ext cx="85725" cy="134620"/>
          </a:xfrm>
          <a:custGeom>
            <a:avLst/>
            <a:gdLst/>
            <a:ahLst/>
            <a:cxnLst/>
            <a:rect l="l" t="t" r="r" b="b"/>
            <a:pathLst>
              <a:path w="85725" h="134620">
                <a:moveTo>
                  <a:pt x="0" y="0"/>
                </a:moveTo>
                <a:lnTo>
                  <a:pt x="85585" y="134213"/>
                </a:lnTo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2306561" y="3965752"/>
            <a:ext cx="95250" cy="357505"/>
          </a:xfrm>
          <a:custGeom>
            <a:avLst/>
            <a:gdLst/>
            <a:ahLst/>
            <a:cxnLst/>
            <a:rect l="l" t="t" r="r" b="b"/>
            <a:pathLst>
              <a:path w="95250" h="357504">
                <a:moveTo>
                  <a:pt x="0" y="357009"/>
                </a:moveTo>
                <a:lnTo>
                  <a:pt x="94894" y="0"/>
                </a:lnTo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2401455" y="3965752"/>
            <a:ext cx="205740" cy="0"/>
          </a:xfrm>
          <a:custGeom>
            <a:avLst/>
            <a:gdLst/>
            <a:ahLst/>
            <a:cxnLst/>
            <a:rect l="l" t="t" r="r" b="b"/>
            <a:pathLst>
              <a:path w="205739" h="0">
                <a:moveTo>
                  <a:pt x="0" y="0"/>
                </a:moveTo>
                <a:lnTo>
                  <a:pt x="205587" y="0"/>
                </a:lnTo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2180970" y="3957701"/>
            <a:ext cx="426084" cy="365125"/>
          </a:xfrm>
          <a:custGeom>
            <a:avLst/>
            <a:gdLst/>
            <a:ahLst/>
            <a:cxnLst/>
            <a:rect l="l" t="t" r="r" b="b"/>
            <a:pathLst>
              <a:path w="426085" h="365125">
                <a:moveTo>
                  <a:pt x="144356" y="329272"/>
                </a:moveTo>
                <a:lnTo>
                  <a:pt x="126517" y="329272"/>
                </a:lnTo>
                <a:lnTo>
                  <a:pt x="213969" y="0"/>
                </a:lnTo>
                <a:lnTo>
                  <a:pt x="426072" y="0"/>
                </a:lnTo>
                <a:lnTo>
                  <a:pt x="426072" y="16992"/>
                </a:lnTo>
                <a:lnTo>
                  <a:pt x="226987" y="16992"/>
                </a:lnTo>
                <a:lnTo>
                  <a:pt x="144356" y="329272"/>
                </a:lnTo>
                <a:close/>
              </a:path>
              <a:path w="426085" h="365125">
                <a:moveTo>
                  <a:pt x="5575" y="255003"/>
                </a:moveTo>
                <a:lnTo>
                  <a:pt x="0" y="245160"/>
                </a:lnTo>
                <a:lnTo>
                  <a:pt x="49301" y="219214"/>
                </a:lnTo>
                <a:lnTo>
                  <a:pt x="65624" y="242481"/>
                </a:lnTo>
                <a:lnTo>
                  <a:pt x="30695" y="242481"/>
                </a:lnTo>
                <a:lnTo>
                  <a:pt x="5575" y="255003"/>
                </a:lnTo>
                <a:close/>
              </a:path>
              <a:path w="426085" h="365125">
                <a:moveTo>
                  <a:pt x="134886" y="365061"/>
                </a:moveTo>
                <a:lnTo>
                  <a:pt x="117221" y="365061"/>
                </a:lnTo>
                <a:lnTo>
                  <a:pt x="30695" y="242481"/>
                </a:lnTo>
                <a:lnTo>
                  <a:pt x="65624" y="242481"/>
                </a:lnTo>
                <a:lnTo>
                  <a:pt x="126517" y="329272"/>
                </a:lnTo>
                <a:lnTo>
                  <a:pt x="144356" y="329272"/>
                </a:lnTo>
                <a:lnTo>
                  <a:pt x="134886" y="36506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2149335" y="3914749"/>
            <a:ext cx="489584" cy="0"/>
          </a:xfrm>
          <a:custGeom>
            <a:avLst/>
            <a:gdLst/>
            <a:ahLst/>
            <a:cxnLst/>
            <a:rect l="l" t="t" r="r" b="b"/>
            <a:pathLst>
              <a:path w="489585" h="0">
                <a:moveTo>
                  <a:pt x="0" y="0"/>
                </a:moveTo>
                <a:lnTo>
                  <a:pt x="489343" y="0"/>
                </a:lnTo>
              </a:path>
            </a:pathLst>
          </a:custGeom>
          <a:ln w="1733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3097314" y="3914749"/>
            <a:ext cx="273685" cy="0"/>
          </a:xfrm>
          <a:custGeom>
            <a:avLst/>
            <a:gdLst/>
            <a:ahLst/>
            <a:cxnLst/>
            <a:rect l="l" t="t" r="r" b="b"/>
            <a:pathLst>
              <a:path w="273685" h="0">
                <a:moveTo>
                  <a:pt x="0" y="0"/>
                </a:moveTo>
                <a:lnTo>
                  <a:pt x="273507" y="0"/>
                </a:lnTo>
              </a:path>
            </a:pathLst>
          </a:custGeom>
          <a:ln w="1733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3510369" y="3914749"/>
            <a:ext cx="257175" cy="0"/>
          </a:xfrm>
          <a:custGeom>
            <a:avLst/>
            <a:gdLst/>
            <a:ahLst/>
            <a:cxnLst/>
            <a:rect l="l" t="t" r="r" b="b"/>
            <a:pathLst>
              <a:path w="257175" h="0">
                <a:moveTo>
                  <a:pt x="0" y="0"/>
                </a:moveTo>
                <a:lnTo>
                  <a:pt x="256768" y="0"/>
                </a:lnTo>
              </a:path>
            </a:pathLst>
          </a:custGeom>
          <a:ln w="1733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4146702" y="3914749"/>
            <a:ext cx="530860" cy="0"/>
          </a:xfrm>
          <a:custGeom>
            <a:avLst/>
            <a:gdLst/>
            <a:ahLst/>
            <a:cxnLst/>
            <a:rect l="l" t="t" r="r" b="b"/>
            <a:pathLst>
              <a:path w="530860" h="0">
                <a:moveTo>
                  <a:pt x="0" y="0"/>
                </a:moveTo>
                <a:lnTo>
                  <a:pt x="530263" y="0"/>
                </a:lnTo>
              </a:path>
            </a:pathLst>
          </a:custGeom>
          <a:ln w="1733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 txBox="1"/>
          <p:nvPr/>
        </p:nvSpPr>
        <p:spPr>
          <a:xfrm>
            <a:off x="1478914" y="3880065"/>
            <a:ext cx="124460" cy="2622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5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2404567" y="3942740"/>
            <a:ext cx="196215" cy="43560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650" spc="15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3118104" y="3355619"/>
            <a:ext cx="1552575" cy="995680"/>
          </a:xfrm>
          <a:prstGeom prst="rect">
            <a:avLst/>
          </a:prstGeom>
        </p:spPr>
        <p:txBody>
          <a:bodyPr wrap="square" lIns="0" tIns="92710" rIns="0" bIns="0" rtlCol="0" vert="horz">
            <a:spAutoFit/>
          </a:bodyPr>
          <a:lstStyle/>
          <a:p>
            <a:pPr marL="26034">
              <a:lnSpc>
                <a:spcPct val="100000"/>
              </a:lnSpc>
              <a:spcBef>
                <a:spcPts val="730"/>
              </a:spcBef>
              <a:tabLst>
                <a:tab pos="391795" algn="l"/>
                <a:tab pos="743585" algn="l"/>
              </a:tabLst>
            </a:pPr>
            <a:r>
              <a:rPr dirty="0" sz="2650" spc="15">
                <a:solidFill>
                  <a:srgbClr val="FF0000"/>
                </a:solidFill>
                <a:latin typeface="Times New Roman"/>
                <a:cs typeface="Times New Roman"/>
              </a:rPr>
              <a:t>1	</a:t>
            </a:r>
            <a:r>
              <a:rPr dirty="0" sz="2650" spc="20" i="1">
                <a:solidFill>
                  <a:srgbClr val="FF0000"/>
                </a:solidFill>
                <a:latin typeface="Times New Roman"/>
                <a:cs typeface="Times New Roman"/>
              </a:rPr>
              <a:t>T	</a:t>
            </a:r>
            <a:r>
              <a:rPr dirty="0" baseline="-35639" sz="3975" spc="30">
                <a:solidFill>
                  <a:srgbClr val="FF0000"/>
                </a:solidFill>
                <a:latin typeface="Symbol"/>
                <a:cs typeface="Symbol"/>
              </a:rPr>
              <a:t></a:t>
            </a:r>
            <a:r>
              <a:rPr dirty="0" baseline="-35639" sz="3975" spc="-157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650" spc="55">
                <a:solidFill>
                  <a:srgbClr val="FF0000"/>
                </a:solidFill>
                <a:latin typeface="Times New Roman"/>
                <a:cs typeface="Times New Roman"/>
              </a:rPr>
              <a:t>100</a:t>
            </a:r>
            <a:endParaRPr sz="2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  <a:tabLst>
                <a:tab pos="436245" algn="l"/>
                <a:tab pos="1189990" algn="l"/>
              </a:tabLst>
            </a:pPr>
            <a:r>
              <a:rPr dirty="0" sz="2650" spc="20" i="1">
                <a:solidFill>
                  <a:srgbClr val="FF0000"/>
                </a:solidFill>
                <a:latin typeface="Times New Roman"/>
                <a:cs typeface="Times New Roman"/>
              </a:rPr>
              <a:t>R	</a:t>
            </a:r>
            <a:r>
              <a:rPr dirty="0" sz="2650" spc="15">
                <a:solidFill>
                  <a:srgbClr val="FF0000"/>
                </a:solidFill>
                <a:latin typeface="Times New Roman"/>
                <a:cs typeface="Times New Roman"/>
              </a:rPr>
              <a:t>2	</a:t>
            </a:r>
            <a:r>
              <a:rPr dirty="0" sz="2650" spc="20" i="1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1255649" y="3647465"/>
            <a:ext cx="1687195" cy="43560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41325" algn="l"/>
              </a:tabLst>
            </a:pPr>
            <a:r>
              <a:rPr dirty="0" sz="2650" spc="25" i="1">
                <a:solidFill>
                  <a:srgbClr val="FF0000"/>
                </a:solidFill>
                <a:latin typeface="Times New Roman"/>
                <a:cs typeface="Times New Roman"/>
              </a:rPr>
              <a:t>Q	</a:t>
            </a:r>
            <a:r>
              <a:rPr dirty="0" sz="2650" spc="-204">
                <a:solidFill>
                  <a:srgbClr val="FF0000"/>
                </a:solidFill>
                <a:latin typeface="Symbol"/>
                <a:cs typeface="Symbol"/>
              </a:rPr>
              <a:t></a:t>
            </a:r>
            <a:r>
              <a:rPr dirty="0" sz="2650" spc="-204">
                <a:solidFill>
                  <a:srgbClr val="FF0000"/>
                </a:solidFill>
                <a:latin typeface="宋体"/>
                <a:cs typeface="宋体"/>
              </a:rPr>
              <a:t>（</a:t>
            </a:r>
            <a:r>
              <a:rPr dirty="0" baseline="35639" sz="3975" spc="-307" i="1">
                <a:solidFill>
                  <a:srgbClr val="FF0000"/>
                </a:solidFill>
                <a:latin typeface="Times New Roman"/>
                <a:cs typeface="Times New Roman"/>
              </a:rPr>
              <a:t>U </a:t>
            </a:r>
            <a:r>
              <a:rPr dirty="0" baseline="35842" sz="2325">
                <a:solidFill>
                  <a:srgbClr val="FF0000"/>
                </a:solidFill>
                <a:latin typeface="Times New Roman"/>
                <a:cs typeface="Times New Roman"/>
              </a:rPr>
              <a:t>m</a:t>
            </a:r>
            <a:r>
              <a:rPr dirty="0" baseline="35842" sz="2325" spc="-82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650" spc="-610">
                <a:solidFill>
                  <a:srgbClr val="FF0000"/>
                </a:solidFill>
                <a:latin typeface="宋体"/>
                <a:cs typeface="宋体"/>
              </a:rPr>
              <a:t>）</a:t>
            </a:r>
            <a:r>
              <a:rPr dirty="0" baseline="43010" sz="2325" spc="-914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endParaRPr baseline="43010" sz="2325">
              <a:latin typeface="Times New Roman"/>
              <a:cs typeface="Times New Roman"/>
            </a:endParaRPr>
          </a:p>
        </p:txBody>
      </p:sp>
      <p:sp>
        <p:nvSpPr>
          <p:cNvPr id="90" name="object 90"/>
          <p:cNvSpPr/>
          <p:nvPr/>
        </p:nvSpPr>
        <p:spPr>
          <a:xfrm>
            <a:off x="3138170" y="5715101"/>
            <a:ext cx="558800" cy="0"/>
          </a:xfrm>
          <a:custGeom>
            <a:avLst/>
            <a:gdLst/>
            <a:ahLst/>
            <a:cxnLst/>
            <a:rect l="l" t="t" r="r" b="b"/>
            <a:pathLst>
              <a:path w="558800" h="0">
                <a:moveTo>
                  <a:pt x="0" y="0"/>
                </a:moveTo>
                <a:lnTo>
                  <a:pt x="558253" y="0"/>
                </a:lnTo>
              </a:path>
            </a:pathLst>
          </a:custGeom>
          <a:ln w="17348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 txBox="1"/>
          <p:nvPr/>
        </p:nvSpPr>
        <p:spPr>
          <a:xfrm>
            <a:off x="2039683" y="5677890"/>
            <a:ext cx="70612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89915" algn="l"/>
              </a:tabLst>
            </a:pPr>
            <a:r>
              <a:rPr dirty="0" sz="1550" spc="35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r>
              <a:rPr dirty="0" sz="1550" spc="35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dirty="0" sz="1550" spc="35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3301326" y="5711964"/>
            <a:ext cx="243204" cy="4413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700" spc="60" i="1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1202308" y="5443080"/>
            <a:ext cx="2494280" cy="4413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645920" algn="l"/>
              </a:tabLst>
            </a:pPr>
            <a:r>
              <a:rPr dirty="0" sz="2700" spc="70" i="1">
                <a:solidFill>
                  <a:srgbClr val="FF0000"/>
                </a:solidFill>
                <a:latin typeface="Times New Roman"/>
                <a:cs typeface="Times New Roman"/>
              </a:rPr>
              <a:t>Q </a:t>
            </a:r>
            <a:r>
              <a:rPr dirty="0" sz="2700" spc="55">
                <a:solidFill>
                  <a:srgbClr val="FF0000"/>
                </a:solidFill>
                <a:latin typeface="Symbol"/>
                <a:cs typeface="Symbol"/>
              </a:rPr>
              <a:t></a:t>
            </a:r>
            <a:r>
              <a:rPr dirty="0" sz="2700" spc="-16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700" spc="70" i="1">
                <a:solidFill>
                  <a:srgbClr val="FF0000"/>
                </a:solidFill>
                <a:latin typeface="Times New Roman"/>
                <a:cs typeface="Times New Roman"/>
              </a:rPr>
              <a:t>Q</a:t>
            </a:r>
            <a:r>
              <a:rPr dirty="0" sz="2700" spc="125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700" spc="45">
                <a:solidFill>
                  <a:srgbClr val="FF0000"/>
                </a:solidFill>
                <a:latin typeface="Times New Roman"/>
                <a:cs typeface="Times New Roman"/>
              </a:rPr>
              <a:t>+</a:t>
            </a:r>
            <a:r>
              <a:rPr dirty="0" sz="2700" spc="45" i="1">
                <a:solidFill>
                  <a:srgbClr val="FF0000"/>
                </a:solidFill>
                <a:latin typeface="Times New Roman"/>
                <a:cs typeface="Times New Roman"/>
              </a:rPr>
              <a:t>Q	</a:t>
            </a:r>
            <a:r>
              <a:rPr dirty="0" sz="2700" spc="55">
                <a:solidFill>
                  <a:srgbClr val="FF0000"/>
                </a:solidFill>
                <a:latin typeface="Symbol"/>
                <a:cs typeface="Symbol"/>
              </a:rPr>
              <a:t></a:t>
            </a:r>
            <a:r>
              <a:rPr dirty="0" sz="2700" spc="6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baseline="34979" sz="4050" spc="75">
                <a:solidFill>
                  <a:srgbClr val="FF0000"/>
                </a:solidFill>
                <a:latin typeface="Times New Roman"/>
                <a:cs typeface="Times New Roman"/>
              </a:rPr>
              <a:t>300</a:t>
            </a:r>
            <a:endParaRPr baseline="34979" sz="4050">
              <a:latin typeface="Times New Roman"/>
              <a:cs typeface="Times New Roman"/>
            </a:endParaRPr>
          </a:p>
        </p:txBody>
      </p:sp>
      <p:sp>
        <p:nvSpPr>
          <p:cNvPr id="94" name="object 94"/>
          <p:cNvSpPr/>
          <p:nvPr/>
        </p:nvSpPr>
        <p:spPr>
          <a:xfrm>
            <a:off x="3370313" y="4849901"/>
            <a:ext cx="570865" cy="0"/>
          </a:xfrm>
          <a:custGeom>
            <a:avLst/>
            <a:gdLst/>
            <a:ahLst/>
            <a:cxnLst/>
            <a:rect l="l" t="t" r="r" b="b"/>
            <a:pathLst>
              <a:path w="570864" h="0">
                <a:moveTo>
                  <a:pt x="0" y="0"/>
                </a:moveTo>
                <a:lnTo>
                  <a:pt x="570649" y="0"/>
                </a:lnTo>
              </a:path>
            </a:pathLst>
          </a:custGeom>
          <a:ln w="1736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 txBox="1"/>
          <p:nvPr/>
        </p:nvSpPr>
        <p:spPr>
          <a:xfrm>
            <a:off x="2425166" y="4355300"/>
            <a:ext cx="124460" cy="2622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5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1959876" y="4366082"/>
            <a:ext cx="1974850" cy="43560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772160" algn="l"/>
                <a:tab pos="1432560" algn="l"/>
              </a:tabLst>
            </a:pPr>
            <a:r>
              <a:rPr dirty="0" sz="2650" spc="25" i="1">
                <a:solidFill>
                  <a:srgbClr val="FF0000"/>
                </a:solidFill>
                <a:latin typeface="Times New Roman"/>
                <a:cs typeface="Times New Roman"/>
              </a:rPr>
              <a:t>U</a:t>
            </a:r>
            <a:r>
              <a:rPr dirty="0" sz="2650" spc="25" i="1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dirty="0" sz="2650" spc="20" i="1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dirty="0" sz="2650" spc="20" i="1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dirty="0" sz="2650" spc="80">
                <a:solidFill>
                  <a:srgbClr val="FF0000"/>
                </a:solidFill>
                <a:latin typeface="Times New Roman"/>
                <a:cs typeface="Times New Roman"/>
              </a:rPr>
              <a:t>20</a:t>
            </a:r>
            <a:r>
              <a:rPr dirty="0" sz="2650" spc="15">
                <a:solidFill>
                  <a:srgbClr val="FF0000"/>
                </a:solidFill>
                <a:latin typeface="Times New Roman"/>
                <a:cs typeface="Times New Roman"/>
              </a:rPr>
              <a:t>0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2171534" y="4851044"/>
            <a:ext cx="1602105" cy="43560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605155" algn="l"/>
                <a:tab pos="1380490" algn="l"/>
              </a:tabLst>
            </a:pPr>
            <a:r>
              <a:rPr dirty="0" sz="2650" spc="20" i="1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dirty="0" sz="2650" spc="20" i="1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dirty="0" sz="2650" spc="15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r>
              <a:rPr dirty="0" sz="2650" spc="15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dirty="0" sz="2650" spc="20" i="1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1217637" y="4453763"/>
            <a:ext cx="2067560" cy="43560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040130" algn="l"/>
                <a:tab pos="1374775" algn="l"/>
                <a:tab pos="1514475" algn="l"/>
                <a:tab pos="1821180" algn="l"/>
              </a:tabLst>
            </a:pPr>
            <a:r>
              <a:rPr dirty="0" baseline="-20964" sz="3975" spc="30" i="1">
                <a:solidFill>
                  <a:srgbClr val="FF0000"/>
                </a:solidFill>
                <a:latin typeface="Times New Roman"/>
                <a:cs typeface="Times New Roman"/>
              </a:rPr>
              <a:t>Q</a:t>
            </a:r>
            <a:r>
              <a:rPr dirty="0" baseline="-60931" sz="2325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r>
              <a:rPr dirty="0" baseline="-60931" sz="2325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dirty="0" baseline="-60931" sz="2325" spc="-292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baseline="-20964" sz="3975" spc="30">
                <a:solidFill>
                  <a:srgbClr val="FF0000"/>
                </a:solidFill>
                <a:latin typeface="Symbol"/>
                <a:cs typeface="Symbol"/>
              </a:rPr>
              <a:t></a:t>
            </a:r>
            <a:r>
              <a:rPr dirty="0" baseline="-20964" sz="3975" spc="157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u="heavy" sz="155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55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heavy" sz="155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m</a:t>
            </a:r>
            <a:r>
              <a:rPr dirty="0" u="heavy" sz="155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sz="155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dirty="0" u="heavy" sz="155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55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sz="1550" spc="-3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baseline="-20964" sz="3975" spc="30">
                <a:solidFill>
                  <a:srgbClr val="FF0000"/>
                </a:solidFill>
                <a:latin typeface="Symbol"/>
                <a:cs typeface="Symbol"/>
              </a:rPr>
              <a:t></a:t>
            </a:r>
            <a:endParaRPr baseline="-20964" sz="3975">
              <a:latin typeface="Symbol"/>
              <a:cs typeface="Symbol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4379277" y="5410200"/>
            <a:ext cx="432434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10" b="1">
                <a:solidFill>
                  <a:srgbClr val="FF0000"/>
                </a:solidFill>
                <a:latin typeface="方正舒体"/>
                <a:cs typeface="方正舒体"/>
              </a:rPr>
              <a:t>令</a:t>
            </a:r>
            <a:endParaRPr sz="3200">
              <a:latin typeface="方正舒体"/>
              <a:cs typeface="方正舒体"/>
            </a:endParaRPr>
          </a:p>
        </p:txBody>
      </p:sp>
      <p:sp>
        <p:nvSpPr>
          <p:cNvPr id="100" name="object 100"/>
          <p:cNvSpPr/>
          <p:nvPr/>
        </p:nvSpPr>
        <p:spPr>
          <a:xfrm>
            <a:off x="5596420" y="5794400"/>
            <a:ext cx="461009" cy="0"/>
          </a:xfrm>
          <a:custGeom>
            <a:avLst/>
            <a:gdLst/>
            <a:ahLst/>
            <a:cxnLst/>
            <a:rect l="l" t="t" r="r" b="b"/>
            <a:pathLst>
              <a:path w="461010" h="0">
                <a:moveTo>
                  <a:pt x="0" y="0"/>
                </a:moveTo>
                <a:lnTo>
                  <a:pt x="460844" y="0"/>
                </a:lnTo>
              </a:path>
            </a:pathLst>
          </a:custGeom>
          <a:ln w="1737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 txBox="1"/>
          <p:nvPr/>
        </p:nvSpPr>
        <p:spPr>
          <a:xfrm>
            <a:off x="5572505" y="5156708"/>
            <a:ext cx="447040" cy="43560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baseline="-25157" sz="3975" spc="202" i="1">
                <a:solidFill>
                  <a:srgbClr val="FF0000"/>
                </a:solidFill>
                <a:latin typeface="Times New Roman"/>
                <a:cs typeface="Times New Roman"/>
              </a:rPr>
              <a:t>U</a:t>
            </a:r>
            <a:r>
              <a:rPr dirty="0" baseline="-25157" sz="3975" spc="-450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550" spc="45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4949964" y="5527103"/>
            <a:ext cx="1439545" cy="703580"/>
          </a:xfrm>
          <a:prstGeom prst="rect">
            <a:avLst/>
          </a:prstGeom>
        </p:spPr>
        <p:txBody>
          <a:bodyPr wrap="square" lIns="0" tIns="152400" rIns="0" bIns="0" rtlCol="0" vert="horz">
            <a:spAutoFit/>
          </a:bodyPr>
          <a:lstStyle/>
          <a:p>
            <a:pPr marL="772160" marR="5080" indent="-760095">
              <a:lnSpc>
                <a:spcPct val="66500"/>
              </a:lnSpc>
              <a:spcBef>
                <a:spcPts val="1200"/>
              </a:spcBef>
              <a:tabLst>
                <a:tab pos="1225550" algn="l"/>
              </a:tabLst>
            </a:pPr>
            <a:r>
              <a:rPr dirty="0" sz="2650" spc="135" i="1">
                <a:solidFill>
                  <a:srgbClr val="FF0000"/>
                </a:solidFill>
                <a:latin typeface="Times New Roman"/>
                <a:cs typeface="Times New Roman"/>
              </a:rPr>
              <a:t>Q</a:t>
            </a:r>
            <a:r>
              <a:rPr dirty="0" sz="2650" spc="20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650" spc="105">
                <a:solidFill>
                  <a:srgbClr val="FF0000"/>
                </a:solidFill>
                <a:latin typeface="Symbol"/>
                <a:cs typeface="Symbol"/>
              </a:rPr>
              <a:t></a:t>
            </a:r>
            <a:r>
              <a:rPr dirty="0" sz="2650">
                <a:solidFill>
                  <a:srgbClr val="FF0000"/>
                </a:solidFill>
                <a:latin typeface="Times New Roman"/>
                <a:cs typeface="Times New Roman"/>
              </a:rPr>
              <a:t>		</a:t>
            </a:r>
            <a:r>
              <a:rPr dirty="0" sz="2650" spc="75" i="1">
                <a:solidFill>
                  <a:srgbClr val="FF0000"/>
                </a:solidFill>
                <a:latin typeface="Times New Roman"/>
                <a:cs typeface="Times New Roman"/>
              </a:rPr>
              <a:t>T </a:t>
            </a:r>
            <a:r>
              <a:rPr dirty="0" sz="2650" spc="45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650" spc="114" i="1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6798627" y="5440362"/>
            <a:ext cx="84074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0000"/>
                </a:solidFill>
                <a:latin typeface="方正舒体"/>
                <a:cs typeface="方正舒体"/>
              </a:rPr>
              <a:t>可</a:t>
            </a:r>
            <a:r>
              <a:rPr dirty="0" sz="3200" spc="-10" b="1">
                <a:solidFill>
                  <a:srgbClr val="FF0000"/>
                </a:solidFill>
                <a:latin typeface="方正舒体"/>
                <a:cs typeface="方正舒体"/>
              </a:rPr>
              <a:t>得</a:t>
            </a:r>
            <a:endParaRPr sz="3200">
              <a:latin typeface="方正舒体"/>
              <a:cs typeface="方正舒体"/>
            </a:endParaRPr>
          </a:p>
        </p:txBody>
      </p:sp>
      <p:sp>
        <p:nvSpPr>
          <p:cNvPr id="104" name="object 104"/>
          <p:cNvSpPr/>
          <p:nvPr/>
        </p:nvSpPr>
        <p:spPr>
          <a:xfrm>
            <a:off x="8888438" y="5795467"/>
            <a:ext cx="36830" cy="20320"/>
          </a:xfrm>
          <a:custGeom>
            <a:avLst/>
            <a:gdLst/>
            <a:ahLst/>
            <a:cxnLst/>
            <a:rect l="l" t="t" r="r" b="b"/>
            <a:pathLst>
              <a:path w="36829" h="20320">
                <a:moveTo>
                  <a:pt x="0" y="20053"/>
                </a:moveTo>
                <a:lnTo>
                  <a:pt x="36385" y="0"/>
                </a:lnTo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8924823" y="5795467"/>
            <a:ext cx="86995" cy="139700"/>
          </a:xfrm>
          <a:custGeom>
            <a:avLst/>
            <a:gdLst/>
            <a:ahLst/>
            <a:cxnLst/>
            <a:rect l="l" t="t" r="r" b="b"/>
            <a:pathLst>
              <a:path w="86995" h="139700">
                <a:moveTo>
                  <a:pt x="0" y="0"/>
                </a:moveTo>
                <a:lnTo>
                  <a:pt x="86779" y="139484"/>
                </a:lnTo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9011602" y="5565724"/>
            <a:ext cx="95250" cy="369570"/>
          </a:xfrm>
          <a:custGeom>
            <a:avLst/>
            <a:gdLst/>
            <a:ahLst/>
            <a:cxnLst/>
            <a:rect l="l" t="t" r="r" b="b"/>
            <a:pathLst>
              <a:path w="95250" h="369570">
                <a:moveTo>
                  <a:pt x="0" y="369227"/>
                </a:moveTo>
                <a:lnTo>
                  <a:pt x="95161" y="0"/>
                </a:lnTo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9106763" y="5565724"/>
            <a:ext cx="200660" cy="0"/>
          </a:xfrm>
          <a:custGeom>
            <a:avLst/>
            <a:gdLst/>
            <a:ahLst/>
            <a:cxnLst/>
            <a:rect l="l" t="t" r="r" b="b"/>
            <a:pathLst>
              <a:path w="200659" h="0">
                <a:moveTo>
                  <a:pt x="0" y="0"/>
                </a:moveTo>
                <a:lnTo>
                  <a:pt x="200596" y="0"/>
                </a:lnTo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8885643" y="5557520"/>
            <a:ext cx="422275" cy="377825"/>
          </a:xfrm>
          <a:custGeom>
            <a:avLst/>
            <a:gdLst/>
            <a:ahLst/>
            <a:cxnLst/>
            <a:rect l="l" t="t" r="r" b="b"/>
            <a:pathLst>
              <a:path w="422275" h="377825">
                <a:moveTo>
                  <a:pt x="144632" y="340969"/>
                </a:moveTo>
                <a:lnTo>
                  <a:pt x="126885" y="340969"/>
                </a:lnTo>
                <a:lnTo>
                  <a:pt x="214591" y="0"/>
                </a:lnTo>
                <a:lnTo>
                  <a:pt x="421716" y="0"/>
                </a:lnTo>
                <a:lnTo>
                  <a:pt x="421716" y="17322"/>
                </a:lnTo>
                <a:lnTo>
                  <a:pt x="227647" y="17322"/>
                </a:lnTo>
                <a:lnTo>
                  <a:pt x="144632" y="340969"/>
                </a:lnTo>
                <a:close/>
              </a:path>
              <a:path w="422275" h="377825">
                <a:moveTo>
                  <a:pt x="5587" y="263474"/>
                </a:moveTo>
                <a:lnTo>
                  <a:pt x="0" y="253453"/>
                </a:lnTo>
                <a:lnTo>
                  <a:pt x="49441" y="227012"/>
                </a:lnTo>
                <a:lnTo>
                  <a:pt x="64312" y="248894"/>
                </a:lnTo>
                <a:lnTo>
                  <a:pt x="29857" y="248894"/>
                </a:lnTo>
                <a:lnTo>
                  <a:pt x="5587" y="263474"/>
                </a:lnTo>
                <a:close/>
              </a:path>
              <a:path w="422275" h="377825">
                <a:moveTo>
                  <a:pt x="135280" y="377431"/>
                </a:moveTo>
                <a:lnTo>
                  <a:pt x="117551" y="377431"/>
                </a:lnTo>
                <a:lnTo>
                  <a:pt x="29857" y="248894"/>
                </a:lnTo>
                <a:lnTo>
                  <a:pt x="64312" y="248894"/>
                </a:lnTo>
                <a:lnTo>
                  <a:pt x="126885" y="340969"/>
                </a:lnTo>
                <a:lnTo>
                  <a:pt x="144632" y="340969"/>
                </a:lnTo>
                <a:lnTo>
                  <a:pt x="135280" y="37743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 txBox="1"/>
          <p:nvPr/>
        </p:nvSpPr>
        <p:spPr>
          <a:xfrm>
            <a:off x="7848486" y="5539219"/>
            <a:ext cx="1786889" cy="4470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398780" algn="l"/>
                <a:tab pos="1268095" algn="l"/>
              </a:tabLst>
            </a:pPr>
            <a:r>
              <a:rPr dirty="0" sz="2750" spc="10" i="1">
                <a:solidFill>
                  <a:srgbClr val="FF0000"/>
                </a:solidFill>
                <a:latin typeface="Times New Roman"/>
                <a:cs typeface="Times New Roman"/>
              </a:rPr>
              <a:t>U	</a:t>
            </a:r>
            <a:r>
              <a:rPr dirty="0" sz="2750" spc="5">
                <a:solidFill>
                  <a:srgbClr val="FF0000"/>
                </a:solidFill>
                <a:latin typeface="Symbol"/>
                <a:cs typeface="Symbol"/>
              </a:rPr>
              <a:t></a:t>
            </a:r>
            <a:r>
              <a:rPr dirty="0" sz="2750" spc="-9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750" spc="15">
                <a:solidFill>
                  <a:srgbClr val="FF0000"/>
                </a:solidFill>
                <a:latin typeface="Times New Roman"/>
                <a:cs typeface="Times New Roman"/>
              </a:rPr>
              <a:t>50	</a:t>
            </a:r>
            <a:r>
              <a:rPr dirty="0" sz="2750" spc="5">
                <a:solidFill>
                  <a:srgbClr val="FF0000"/>
                </a:solidFill>
                <a:latin typeface="Times New Roman"/>
                <a:cs typeface="Times New Roman"/>
              </a:rPr>
              <a:t>6</a:t>
            </a:r>
            <a:r>
              <a:rPr dirty="0" sz="2750" spc="-17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750" spc="10">
                <a:solidFill>
                  <a:srgbClr val="FF0000"/>
                </a:solidFill>
                <a:latin typeface="Times New Roman"/>
                <a:cs typeface="Times New Roman"/>
              </a:rPr>
              <a:t>V</a:t>
            </a:r>
            <a:endParaRPr sz="2750">
              <a:latin typeface="Times New Roman"/>
              <a:cs typeface="Times New Roman"/>
            </a:endParaRPr>
          </a:p>
        </p:txBody>
      </p:sp>
      <p:sp>
        <p:nvSpPr>
          <p:cNvPr id="110" name="object 110"/>
          <p:cNvSpPr/>
          <p:nvPr/>
        </p:nvSpPr>
        <p:spPr>
          <a:xfrm>
            <a:off x="4708144" y="4527296"/>
            <a:ext cx="5513285" cy="58882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1840" y="0"/>
            <a:ext cx="2058670" cy="634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b="1" i="1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 b="1" i="1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50314" y="839469"/>
            <a:ext cx="240601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10565" algn="l"/>
              </a:tabLst>
            </a:pPr>
            <a:r>
              <a:rPr dirty="0" sz="4400" spc="-5" i="0">
                <a:solidFill>
                  <a:srgbClr val="000099"/>
                </a:solidFill>
                <a:latin typeface="Times New Roman"/>
                <a:cs typeface="Times New Roman"/>
              </a:rPr>
              <a:t>4</a:t>
            </a:r>
            <a:r>
              <a:rPr dirty="0" sz="4400" i="0">
                <a:solidFill>
                  <a:srgbClr val="000099"/>
                </a:solidFill>
                <a:latin typeface="Times New Roman"/>
                <a:cs typeface="Times New Roman"/>
              </a:rPr>
              <a:t>.</a:t>
            </a:r>
            <a:r>
              <a:rPr dirty="0" sz="4400" i="0">
                <a:solidFill>
                  <a:srgbClr val="000099"/>
                </a:solidFill>
                <a:latin typeface="Times New Roman"/>
                <a:cs typeface="Times New Roman"/>
              </a:rPr>
              <a:t>	</a:t>
            </a:r>
            <a:r>
              <a:rPr dirty="0" sz="4400" i="0">
                <a:solidFill>
                  <a:srgbClr val="000099"/>
                </a:solidFill>
                <a:latin typeface="黑体"/>
                <a:cs typeface="黑体"/>
              </a:rPr>
              <a:t>平均</a:t>
            </a:r>
            <a:r>
              <a:rPr dirty="0" sz="4400" spc="-15" i="0">
                <a:solidFill>
                  <a:srgbClr val="000099"/>
                </a:solidFill>
                <a:latin typeface="黑体"/>
                <a:cs typeface="黑体"/>
              </a:rPr>
              <a:t>值</a:t>
            </a:r>
            <a:endParaRPr sz="4400">
              <a:latin typeface="黑体"/>
              <a:cs typeface="黑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16885" y="1935797"/>
            <a:ext cx="299085" cy="0"/>
          </a:xfrm>
          <a:custGeom>
            <a:avLst/>
            <a:gdLst/>
            <a:ahLst/>
            <a:cxnLst/>
            <a:rect l="l" t="t" r="r" b="b"/>
            <a:pathLst>
              <a:path w="299085" h="0">
                <a:moveTo>
                  <a:pt x="0" y="0"/>
                </a:moveTo>
                <a:lnTo>
                  <a:pt x="299072" y="0"/>
                </a:lnTo>
              </a:path>
            </a:pathLst>
          </a:custGeom>
          <a:ln w="2311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911487" y="1866755"/>
            <a:ext cx="2006600" cy="6159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650" spc="20" i="1">
                <a:solidFill>
                  <a:srgbClr val="FF0000"/>
                </a:solidFill>
                <a:latin typeface="Times New Roman"/>
                <a:cs typeface="Times New Roman"/>
              </a:rPr>
              <a:t>E </a:t>
            </a:r>
            <a:r>
              <a:rPr dirty="0" sz="3650" spc="20">
                <a:solidFill>
                  <a:srgbClr val="FF0000"/>
                </a:solidFill>
                <a:latin typeface="Symbol"/>
                <a:cs typeface="Symbol"/>
              </a:rPr>
              <a:t></a:t>
            </a:r>
            <a:r>
              <a:rPr dirty="0" sz="3650" spc="2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650" spc="20" i="1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dirty="0" sz="3650" spc="350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u="heavy" baseline="35007" sz="5475" spc="-27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Symbol"/>
                <a:cs typeface="Symbol"/>
              </a:rPr>
              <a:t></a:t>
            </a:r>
            <a:r>
              <a:rPr dirty="0" u="heavy" baseline="33189" sz="5775" spc="-270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Symbol"/>
                <a:cs typeface="Symbol"/>
              </a:rPr>
              <a:t></a:t>
            </a:r>
            <a:endParaRPr baseline="33189" sz="5775">
              <a:latin typeface="Symbol"/>
              <a:cs typeface="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53623" y="2255621"/>
            <a:ext cx="440055" cy="587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650">
                <a:solidFill>
                  <a:srgbClr val="FF0000"/>
                </a:solidFill>
                <a:latin typeface="Symbol"/>
                <a:cs typeface="Symbol"/>
              </a:rPr>
              <a:t></a:t>
            </a:r>
            <a:r>
              <a:rPr dirty="0" sz="3650" spc="10" i="1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endParaRPr sz="36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020143" y="2014512"/>
            <a:ext cx="280035" cy="0"/>
          </a:xfrm>
          <a:custGeom>
            <a:avLst/>
            <a:gdLst/>
            <a:ahLst/>
            <a:cxnLst/>
            <a:rect l="l" t="t" r="r" b="b"/>
            <a:pathLst>
              <a:path w="280035" h="0">
                <a:moveTo>
                  <a:pt x="0" y="0"/>
                </a:moveTo>
                <a:lnTo>
                  <a:pt x="279565" y="0"/>
                </a:lnTo>
              </a:path>
            </a:pathLst>
          </a:custGeom>
          <a:ln w="268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300036" y="1682864"/>
            <a:ext cx="280035" cy="0"/>
          </a:xfrm>
          <a:custGeom>
            <a:avLst/>
            <a:gdLst/>
            <a:ahLst/>
            <a:cxnLst/>
            <a:rect l="l" t="t" r="r" b="b"/>
            <a:pathLst>
              <a:path w="280034" h="0">
                <a:moveTo>
                  <a:pt x="0" y="0"/>
                </a:moveTo>
                <a:lnTo>
                  <a:pt x="279577" y="0"/>
                </a:lnTo>
              </a:path>
            </a:pathLst>
          </a:custGeom>
          <a:ln w="268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893788" y="2322868"/>
            <a:ext cx="1005205" cy="0"/>
          </a:xfrm>
          <a:custGeom>
            <a:avLst/>
            <a:gdLst/>
            <a:ahLst/>
            <a:cxnLst/>
            <a:rect l="l" t="t" r="r" b="b"/>
            <a:pathLst>
              <a:path w="1005204" h="0">
                <a:moveTo>
                  <a:pt x="0" y="0"/>
                </a:moveTo>
                <a:lnTo>
                  <a:pt x="1004709" y="0"/>
                </a:lnTo>
              </a:path>
            </a:pathLst>
          </a:custGeom>
          <a:ln w="268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7208710" y="1584756"/>
            <a:ext cx="347345" cy="6578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150" spc="-5" i="1">
                <a:latin typeface="Times New Roman"/>
                <a:cs typeface="Times New Roman"/>
              </a:rPr>
              <a:t>E</a:t>
            </a:r>
            <a:endParaRPr sz="41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33513" y="2327541"/>
            <a:ext cx="911860" cy="6578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150" spc="-5" i="1">
                <a:latin typeface="Times New Roman"/>
                <a:cs typeface="Times New Roman"/>
              </a:rPr>
              <a:t>R</a:t>
            </a:r>
            <a:r>
              <a:rPr dirty="0" sz="4150" spc="-760" i="1">
                <a:latin typeface="Times New Roman"/>
                <a:cs typeface="Times New Roman"/>
              </a:rPr>
              <a:t> </a:t>
            </a:r>
            <a:r>
              <a:rPr dirty="0" sz="4150" spc="65">
                <a:latin typeface="Times New Roman"/>
                <a:cs typeface="Times New Roman"/>
              </a:rPr>
              <a:t>+</a:t>
            </a:r>
            <a:r>
              <a:rPr dirty="0" sz="4150" spc="65" i="1">
                <a:latin typeface="Times New Roman"/>
                <a:cs typeface="Times New Roman"/>
              </a:rPr>
              <a:t>r</a:t>
            </a:r>
            <a:endParaRPr sz="41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89967" y="1916404"/>
            <a:ext cx="760095" cy="6578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57834" algn="l"/>
              </a:tabLst>
            </a:pPr>
            <a:r>
              <a:rPr dirty="0" sz="4150" spc="-5" i="1">
                <a:latin typeface="Times New Roman"/>
                <a:cs typeface="Times New Roman"/>
              </a:rPr>
              <a:t>I</a:t>
            </a:r>
            <a:r>
              <a:rPr dirty="0" sz="4150" spc="-5" i="1">
                <a:latin typeface="Times New Roman"/>
                <a:cs typeface="Times New Roman"/>
              </a:rPr>
              <a:t>	</a:t>
            </a:r>
            <a:r>
              <a:rPr dirty="0" sz="4150" spc="-5">
                <a:latin typeface="Symbol"/>
                <a:cs typeface="Symbol"/>
              </a:rPr>
              <a:t></a:t>
            </a:r>
            <a:endParaRPr sz="415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32472" y="3188970"/>
            <a:ext cx="10045700" cy="1245870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 marR="5080" indent="833755">
              <a:lnSpc>
                <a:spcPct val="100299"/>
              </a:lnSpc>
              <a:spcBef>
                <a:spcPts val="80"/>
              </a:spcBef>
            </a:pPr>
            <a:r>
              <a:rPr dirty="0" sz="4000" b="1">
                <a:solidFill>
                  <a:srgbClr val="000099"/>
                </a:solidFill>
                <a:latin typeface="宋体"/>
                <a:cs typeface="宋体"/>
              </a:rPr>
              <a:t>表示一段时间内电压或电流的平均大小</a:t>
            </a:r>
            <a:r>
              <a:rPr dirty="0" sz="4000" spc="-20" b="1">
                <a:solidFill>
                  <a:srgbClr val="000099"/>
                </a:solidFill>
                <a:latin typeface="宋体"/>
                <a:cs typeface="宋体"/>
              </a:rPr>
              <a:t>， </a:t>
            </a:r>
            <a:r>
              <a:rPr dirty="0" sz="4000" b="1">
                <a:solidFill>
                  <a:srgbClr val="000099"/>
                </a:solidFill>
                <a:latin typeface="宋体"/>
                <a:cs typeface="宋体"/>
              </a:rPr>
              <a:t>与初、末时刻及时间长短均有关系</a:t>
            </a:r>
            <a:r>
              <a:rPr dirty="0" sz="4000" spc="-25" b="1">
                <a:solidFill>
                  <a:srgbClr val="000099"/>
                </a:solidFill>
                <a:latin typeface="宋体"/>
                <a:cs typeface="宋体"/>
              </a:rPr>
              <a:t>。</a:t>
            </a:r>
            <a:endParaRPr sz="4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7144257" y="1627085"/>
            <a:ext cx="1559560" cy="676910"/>
          </a:xfrm>
          <a:custGeom>
            <a:avLst/>
            <a:gdLst/>
            <a:ahLst/>
            <a:cxnLst/>
            <a:rect l="l" t="t" r="r" b="b"/>
            <a:pathLst>
              <a:path w="1559559" h="676910">
                <a:moveTo>
                  <a:pt x="30454" y="666750"/>
                </a:moveTo>
                <a:lnTo>
                  <a:pt x="42240" y="588010"/>
                </a:lnTo>
                <a:lnTo>
                  <a:pt x="127012" y="478790"/>
                </a:lnTo>
                <a:lnTo>
                  <a:pt x="169468" y="425450"/>
                </a:lnTo>
                <a:lnTo>
                  <a:pt x="190703" y="400050"/>
                </a:lnTo>
                <a:lnTo>
                  <a:pt x="211912" y="373380"/>
                </a:lnTo>
                <a:lnTo>
                  <a:pt x="232994" y="349250"/>
                </a:lnTo>
                <a:lnTo>
                  <a:pt x="254508" y="323850"/>
                </a:lnTo>
                <a:lnTo>
                  <a:pt x="275793" y="300990"/>
                </a:lnTo>
                <a:lnTo>
                  <a:pt x="297065" y="276860"/>
                </a:lnTo>
                <a:lnTo>
                  <a:pt x="318338" y="254000"/>
                </a:lnTo>
                <a:lnTo>
                  <a:pt x="329057" y="243840"/>
                </a:lnTo>
                <a:lnTo>
                  <a:pt x="339839" y="232410"/>
                </a:lnTo>
                <a:lnTo>
                  <a:pt x="361238" y="210820"/>
                </a:lnTo>
                <a:lnTo>
                  <a:pt x="382549" y="190500"/>
                </a:lnTo>
                <a:lnTo>
                  <a:pt x="393268" y="181610"/>
                </a:lnTo>
                <a:lnTo>
                  <a:pt x="404012" y="171450"/>
                </a:lnTo>
                <a:lnTo>
                  <a:pt x="414807" y="162560"/>
                </a:lnTo>
                <a:lnTo>
                  <a:pt x="425653" y="152400"/>
                </a:lnTo>
                <a:lnTo>
                  <a:pt x="447065" y="135890"/>
                </a:lnTo>
                <a:lnTo>
                  <a:pt x="468553" y="118110"/>
                </a:lnTo>
                <a:lnTo>
                  <a:pt x="511924" y="87630"/>
                </a:lnTo>
                <a:lnTo>
                  <a:pt x="522795" y="81280"/>
                </a:lnTo>
                <a:lnTo>
                  <a:pt x="533653" y="73660"/>
                </a:lnTo>
                <a:lnTo>
                  <a:pt x="555371" y="60960"/>
                </a:lnTo>
                <a:lnTo>
                  <a:pt x="566254" y="55880"/>
                </a:lnTo>
                <a:lnTo>
                  <a:pt x="577164" y="49530"/>
                </a:lnTo>
                <a:lnTo>
                  <a:pt x="610031" y="34290"/>
                </a:lnTo>
                <a:lnTo>
                  <a:pt x="621004" y="30480"/>
                </a:lnTo>
                <a:lnTo>
                  <a:pt x="631977" y="25400"/>
                </a:lnTo>
                <a:lnTo>
                  <a:pt x="653986" y="17780"/>
                </a:lnTo>
                <a:lnTo>
                  <a:pt x="665048" y="15240"/>
                </a:lnTo>
                <a:lnTo>
                  <a:pt x="676148" y="11430"/>
                </a:lnTo>
                <a:lnTo>
                  <a:pt x="687273" y="8890"/>
                </a:lnTo>
                <a:lnTo>
                  <a:pt x="698360" y="7620"/>
                </a:lnTo>
                <a:lnTo>
                  <a:pt x="709447" y="5080"/>
                </a:lnTo>
                <a:lnTo>
                  <a:pt x="753732" y="0"/>
                </a:lnTo>
                <a:lnTo>
                  <a:pt x="798220" y="0"/>
                </a:lnTo>
                <a:lnTo>
                  <a:pt x="842479" y="5080"/>
                </a:lnTo>
                <a:lnTo>
                  <a:pt x="853554" y="7620"/>
                </a:lnTo>
                <a:lnTo>
                  <a:pt x="864666" y="8890"/>
                </a:lnTo>
                <a:lnTo>
                  <a:pt x="875804" y="12700"/>
                </a:lnTo>
                <a:lnTo>
                  <a:pt x="886879" y="15240"/>
                </a:lnTo>
                <a:lnTo>
                  <a:pt x="897915" y="19050"/>
                </a:lnTo>
                <a:lnTo>
                  <a:pt x="908900" y="21590"/>
                </a:lnTo>
                <a:lnTo>
                  <a:pt x="919873" y="26670"/>
                </a:lnTo>
                <a:lnTo>
                  <a:pt x="941755" y="34290"/>
                </a:lnTo>
                <a:lnTo>
                  <a:pt x="949969" y="38100"/>
                </a:lnTo>
                <a:lnTo>
                  <a:pt x="745871" y="38100"/>
                </a:lnTo>
                <a:lnTo>
                  <a:pt x="735342" y="39370"/>
                </a:lnTo>
                <a:lnTo>
                  <a:pt x="735863" y="39370"/>
                </a:lnTo>
                <a:lnTo>
                  <a:pt x="725335" y="40640"/>
                </a:lnTo>
                <a:lnTo>
                  <a:pt x="725855" y="40640"/>
                </a:lnTo>
                <a:lnTo>
                  <a:pt x="720578" y="41910"/>
                </a:lnTo>
                <a:lnTo>
                  <a:pt x="715822" y="41910"/>
                </a:lnTo>
                <a:lnTo>
                  <a:pt x="705243" y="44450"/>
                </a:lnTo>
                <a:lnTo>
                  <a:pt x="705751" y="44450"/>
                </a:lnTo>
                <a:lnTo>
                  <a:pt x="695147" y="46990"/>
                </a:lnTo>
                <a:lnTo>
                  <a:pt x="695667" y="46990"/>
                </a:lnTo>
                <a:lnTo>
                  <a:pt x="685076" y="49530"/>
                </a:lnTo>
                <a:lnTo>
                  <a:pt x="685609" y="49530"/>
                </a:lnTo>
                <a:lnTo>
                  <a:pt x="675043" y="52070"/>
                </a:lnTo>
                <a:lnTo>
                  <a:pt x="675551" y="52070"/>
                </a:lnTo>
                <a:lnTo>
                  <a:pt x="665010" y="54610"/>
                </a:lnTo>
                <a:lnTo>
                  <a:pt x="665492" y="54610"/>
                </a:lnTo>
                <a:lnTo>
                  <a:pt x="654951" y="58420"/>
                </a:lnTo>
                <a:lnTo>
                  <a:pt x="655408" y="58420"/>
                </a:lnTo>
                <a:lnTo>
                  <a:pt x="644867" y="62230"/>
                </a:lnTo>
                <a:lnTo>
                  <a:pt x="645299" y="62230"/>
                </a:lnTo>
                <a:lnTo>
                  <a:pt x="634758" y="66040"/>
                </a:lnTo>
                <a:lnTo>
                  <a:pt x="635152" y="66040"/>
                </a:lnTo>
                <a:lnTo>
                  <a:pt x="624586" y="69850"/>
                </a:lnTo>
                <a:lnTo>
                  <a:pt x="624954" y="69850"/>
                </a:lnTo>
                <a:lnTo>
                  <a:pt x="617010" y="73660"/>
                </a:lnTo>
                <a:lnTo>
                  <a:pt x="614730" y="73660"/>
                </a:lnTo>
                <a:lnTo>
                  <a:pt x="604126" y="78740"/>
                </a:lnTo>
                <a:lnTo>
                  <a:pt x="604507" y="78740"/>
                </a:lnTo>
                <a:lnTo>
                  <a:pt x="593940" y="83820"/>
                </a:lnTo>
                <a:lnTo>
                  <a:pt x="594296" y="83820"/>
                </a:lnTo>
                <a:lnTo>
                  <a:pt x="583742" y="88900"/>
                </a:lnTo>
                <a:lnTo>
                  <a:pt x="584085" y="88900"/>
                </a:lnTo>
                <a:lnTo>
                  <a:pt x="573544" y="95250"/>
                </a:lnTo>
                <a:lnTo>
                  <a:pt x="573874" y="95250"/>
                </a:lnTo>
                <a:lnTo>
                  <a:pt x="563333" y="100330"/>
                </a:lnTo>
                <a:lnTo>
                  <a:pt x="563651" y="100330"/>
                </a:lnTo>
                <a:lnTo>
                  <a:pt x="553097" y="106680"/>
                </a:lnTo>
                <a:lnTo>
                  <a:pt x="553389" y="106680"/>
                </a:lnTo>
                <a:lnTo>
                  <a:pt x="542823" y="113030"/>
                </a:lnTo>
                <a:lnTo>
                  <a:pt x="543090" y="113030"/>
                </a:lnTo>
                <a:lnTo>
                  <a:pt x="532498" y="119380"/>
                </a:lnTo>
                <a:lnTo>
                  <a:pt x="532790" y="119380"/>
                </a:lnTo>
                <a:lnTo>
                  <a:pt x="522198" y="127000"/>
                </a:lnTo>
                <a:lnTo>
                  <a:pt x="522503" y="127000"/>
                </a:lnTo>
                <a:lnTo>
                  <a:pt x="511937" y="133350"/>
                </a:lnTo>
                <a:lnTo>
                  <a:pt x="512216" y="133350"/>
                </a:lnTo>
                <a:lnTo>
                  <a:pt x="501662" y="140970"/>
                </a:lnTo>
                <a:lnTo>
                  <a:pt x="501916" y="140970"/>
                </a:lnTo>
                <a:lnTo>
                  <a:pt x="491375" y="148590"/>
                </a:lnTo>
                <a:lnTo>
                  <a:pt x="491591" y="148590"/>
                </a:lnTo>
                <a:lnTo>
                  <a:pt x="482556" y="156210"/>
                </a:lnTo>
                <a:lnTo>
                  <a:pt x="481253" y="156210"/>
                </a:lnTo>
                <a:lnTo>
                  <a:pt x="470700" y="165100"/>
                </a:lnTo>
                <a:lnTo>
                  <a:pt x="470941" y="165100"/>
                </a:lnTo>
                <a:lnTo>
                  <a:pt x="451282" y="181610"/>
                </a:lnTo>
                <a:lnTo>
                  <a:pt x="450024" y="181610"/>
                </a:lnTo>
                <a:lnTo>
                  <a:pt x="439432" y="190500"/>
                </a:lnTo>
                <a:lnTo>
                  <a:pt x="439648" y="190500"/>
                </a:lnTo>
                <a:lnTo>
                  <a:pt x="430403" y="199390"/>
                </a:lnTo>
                <a:lnTo>
                  <a:pt x="429285" y="199390"/>
                </a:lnTo>
                <a:lnTo>
                  <a:pt x="418731" y="209550"/>
                </a:lnTo>
                <a:lnTo>
                  <a:pt x="418909" y="209550"/>
                </a:lnTo>
                <a:lnTo>
                  <a:pt x="408381" y="218440"/>
                </a:lnTo>
                <a:lnTo>
                  <a:pt x="408609" y="218440"/>
                </a:lnTo>
                <a:lnTo>
                  <a:pt x="387527" y="238760"/>
                </a:lnTo>
                <a:lnTo>
                  <a:pt x="387769" y="238760"/>
                </a:lnTo>
                <a:lnTo>
                  <a:pt x="366598" y="259080"/>
                </a:lnTo>
                <a:lnTo>
                  <a:pt x="366788" y="259080"/>
                </a:lnTo>
                <a:lnTo>
                  <a:pt x="357362" y="269240"/>
                </a:lnTo>
                <a:lnTo>
                  <a:pt x="356336" y="269240"/>
                </a:lnTo>
                <a:lnTo>
                  <a:pt x="345770" y="280670"/>
                </a:lnTo>
                <a:lnTo>
                  <a:pt x="345960" y="280670"/>
                </a:lnTo>
                <a:lnTo>
                  <a:pt x="324878" y="303530"/>
                </a:lnTo>
                <a:lnTo>
                  <a:pt x="325056" y="303530"/>
                </a:lnTo>
                <a:lnTo>
                  <a:pt x="303974" y="326390"/>
                </a:lnTo>
                <a:lnTo>
                  <a:pt x="282930" y="349250"/>
                </a:lnTo>
                <a:lnTo>
                  <a:pt x="283083" y="349250"/>
                </a:lnTo>
                <a:lnTo>
                  <a:pt x="261912" y="373380"/>
                </a:lnTo>
                <a:lnTo>
                  <a:pt x="262115" y="373380"/>
                </a:lnTo>
                <a:lnTo>
                  <a:pt x="241020" y="398780"/>
                </a:lnTo>
                <a:lnTo>
                  <a:pt x="241160" y="398780"/>
                </a:lnTo>
                <a:lnTo>
                  <a:pt x="220065" y="424180"/>
                </a:lnTo>
                <a:lnTo>
                  <a:pt x="198970" y="449580"/>
                </a:lnTo>
                <a:lnTo>
                  <a:pt x="177901" y="476250"/>
                </a:lnTo>
                <a:lnTo>
                  <a:pt x="156933" y="502920"/>
                </a:lnTo>
                <a:lnTo>
                  <a:pt x="114757" y="556260"/>
                </a:lnTo>
                <a:lnTo>
                  <a:pt x="72390" y="612140"/>
                </a:lnTo>
                <a:lnTo>
                  <a:pt x="51371" y="638810"/>
                </a:lnTo>
                <a:lnTo>
                  <a:pt x="30454" y="666750"/>
                </a:lnTo>
                <a:close/>
              </a:path>
              <a:path w="1559559" h="676910">
                <a:moveTo>
                  <a:pt x="745337" y="39370"/>
                </a:moveTo>
                <a:lnTo>
                  <a:pt x="745871" y="38100"/>
                </a:lnTo>
                <a:lnTo>
                  <a:pt x="755891" y="38100"/>
                </a:lnTo>
                <a:lnTo>
                  <a:pt x="745337" y="39370"/>
                </a:lnTo>
                <a:close/>
              </a:path>
              <a:path w="1559559" h="676910">
                <a:moveTo>
                  <a:pt x="806069" y="39370"/>
                </a:moveTo>
                <a:lnTo>
                  <a:pt x="795527" y="38100"/>
                </a:lnTo>
                <a:lnTo>
                  <a:pt x="805535" y="38100"/>
                </a:lnTo>
                <a:lnTo>
                  <a:pt x="806069" y="39370"/>
                </a:lnTo>
                <a:close/>
              </a:path>
              <a:path w="1559559" h="676910">
                <a:moveTo>
                  <a:pt x="836104" y="43180"/>
                </a:moveTo>
                <a:lnTo>
                  <a:pt x="825563" y="40640"/>
                </a:lnTo>
                <a:lnTo>
                  <a:pt x="826084" y="40640"/>
                </a:lnTo>
                <a:lnTo>
                  <a:pt x="815543" y="39370"/>
                </a:lnTo>
                <a:lnTo>
                  <a:pt x="816076" y="39370"/>
                </a:lnTo>
                <a:lnTo>
                  <a:pt x="805535" y="38100"/>
                </a:lnTo>
                <a:lnTo>
                  <a:pt x="949969" y="38100"/>
                </a:lnTo>
                <a:lnTo>
                  <a:pt x="958183" y="41910"/>
                </a:lnTo>
                <a:lnTo>
                  <a:pt x="835596" y="41910"/>
                </a:lnTo>
                <a:lnTo>
                  <a:pt x="836104" y="43180"/>
                </a:lnTo>
                <a:close/>
              </a:path>
              <a:path w="1559559" h="676910">
                <a:moveTo>
                  <a:pt x="715302" y="43180"/>
                </a:moveTo>
                <a:lnTo>
                  <a:pt x="715822" y="41910"/>
                </a:lnTo>
                <a:lnTo>
                  <a:pt x="720578" y="41910"/>
                </a:lnTo>
                <a:lnTo>
                  <a:pt x="715302" y="43180"/>
                </a:lnTo>
                <a:close/>
              </a:path>
              <a:path w="1559559" h="676910">
                <a:moveTo>
                  <a:pt x="937056" y="74930"/>
                </a:moveTo>
                <a:lnTo>
                  <a:pt x="926465" y="69850"/>
                </a:lnTo>
                <a:lnTo>
                  <a:pt x="926833" y="69850"/>
                </a:lnTo>
                <a:lnTo>
                  <a:pt x="916266" y="66040"/>
                </a:lnTo>
                <a:lnTo>
                  <a:pt x="916660" y="66040"/>
                </a:lnTo>
                <a:lnTo>
                  <a:pt x="906119" y="62230"/>
                </a:lnTo>
                <a:lnTo>
                  <a:pt x="906538" y="62230"/>
                </a:lnTo>
                <a:lnTo>
                  <a:pt x="895997" y="58420"/>
                </a:lnTo>
                <a:lnTo>
                  <a:pt x="896454" y="58420"/>
                </a:lnTo>
                <a:lnTo>
                  <a:pt x="885926" y="54610"/>
                </a:lnTo>
                <a:lnTo>
                  <a:pt x="886409" y="54610"/>
                </a:lnTo>
                <a:lnTo>
                  <a:pt x="875855" y="52070"/>
                </a:lnTo>
                <a:lnTo>
                  <a:pt x="876376" y="52070"/>
                </a:lnTo>
                <a:lnTo>
                  <a:pt x="865809" y="49530"/>
                </a:lnTo>
                <a:lnTo>
                  <a:pt x="866343" y="49530"/>
                </a:lnTo>
                <a:lnTo>
                  <a:pt x="855738" y="46990"/>
                </a:lnTo>
                <a:lnTo>
                  <a:pt x="856259" y="46990"/>
                </a:lnTo>
                <a:lnTo>
                  <a:pt x="845667" y="44450"/>
                </a:lnTo>
                <a:lnTo>
                  <a:pt x="846162" y="44450"/>
                </a:lnTo>
                <a:lnTo>
                  <a:pt x="835596" y="41910"/>
                </a:lnTo>
                <a:lnTo>
                  <a:pt x="958183" y="41910"/>
                </a:lnTo>
                <a:lnTo>
                  <a:pt x="974610" y="49530"/>
                </a:lnTo>
                <a:lnTo>
                  <a:pt x="996365" y="62230"/>
                </a:lnTo>
                <a:lnTo>
                  <a:pt x="1007211" y="67310"/>
                </a:lnTo>
                <a:lnTo>
                  <a:pt x="1018044" y="73660"/>
                </a:lnTo>
                <a:lnTo>
                  <a:pt x="936688" y="73660"/>
                </a:lnTo>
                <a:lnTo>
                  <a:pt x="937056" y="74930"/>
                </a:lnTo>
                <a:close/>
              </a:path>
              <a:path w="1559559" h="676910">
                <a:moveTo>
                  <a:pt x="614362" y="74930"/>
                </a:moveTo>
                <a:lnTo>
                  <a:pt x="614730" y="73660"/>
                </a:lnTo>
                <a:lnTo>
                  <a:pt x="617010" y="73660"/>
                </a:lnTo>
                <a:lnTo>
                  <a:pt x="614362" y="74930"/>
                </a:lnTo>
                <a:close/>
              </a:path>
              <a:path w="1559559" h="676910">
                <a:moveTo>
                  <a:pt x="1070356" y="157480"/>
                </a:moveTo>
                <a:lnTo>
                  <a:pt x="1059815" y="148590"/>
                </a:lnTo>
                <a:lnTo>
                  <a:pt x="1060043" y="148590"/>
                </a:lnTo>
                <a:lnTo>
                  <a:pt x="1049502" y="140970"/>
                </a:lnTo>
                <a:lnTo>
                  <a:pt x="1049743" y="140970"/>
                </a:lnTo>
                <a:lnTo>
                  <a:pt x="1039202" y="133350"/>
                </a:lnTo>
                <a:lnTo>
                  <a:pt x="1039482" y="133350"/>
                </a:lnTo>
                <a:lnTo>
                  <a:pt x="1028915" y="127000"/>
                </a:lnTo>
                <a:lnTo>
                  <a:pt x="1029220" y="127000"/>
                </a:lnTo>
                <a:lnTo>
                  <a:pt x="1018616" y="119380"/>
                </a:lnTo>
                <a:lnTo>
                  <a:pt x="1018921" y="119380"/>
                </a:lnTo>
                <a:lnTo>
                  <a:pt x="1008316" y="113030"/>
                </a:lnTo>
                <a:lnTo>
                  <a:pt x="1008595" y="113030"/>
                </a:lnTo>
                <a:lnTo>
                  <a:pt x="998029" y="106680"/>
                </a:lnTo>
                <a:lnTo>
                  <a:pt x="998321" y="106680"/>
                </a:lnTo>
                <a:lnTo>
                  <a:pt x="987767" y="100330"/>
                </a:lnTo>
                <a:lnTo>
                  <a:pt x="988072" y="100330"/>
                </a:lnTo>
                <a:lnTo>
                  <a:pt x="977544" y="95250"/>
                </a:lnTo>
                <a:lnTo>
                  <a:pt x="977861" y="95250"/>
                </a:lnTo>
                <a:lnTo>
                  <a:pt x="967333" y="88900"/>
                </a:lnTo>
                <a:lnTo>
                  <a:pt x="967663" y="88900"/>
                </a:lnTo>
                <a:lnTo>
                  <a:pt x="957122" y="83820"/>
                </a:lnTo>
                <a:lnTo>
                  <a:pt x="957478" y="83820"/>
                </a:lnTo>
                <a:lnTo>
                  <a:pt x="946912" y="78740"/>
                </a:lnTo>
                <a:lnTo>
                  <a:pt x="947293" y="78740"/>
                </a:lnTo>
                <a:lnTo>
                  <a:pt x="936688" y="73660"/>
                </a:lnTo>
                <a:lnTo>
                  <a:pt x="1018044" y="73660"/>
                </a:lnTo>
                <a:lnTo>
                  <a:pt x="1028890" y="81280"/>
                </a:lnTo>
                <a:lnTo>
                  <a:pt x="1039774" y="87630"/>
                </a:lnTo>
                <a:lnTo>
                  <a:pt x="1061529" y="102870"/>
                </a:lnTo>
                <a:lnTo>
                  <a:pt x="1072083" y="110490"/>
                </a:lnTo>
                <a:lnTo>
                  <a:pt x="1083081" y="118110"/>
                </a:lnTo>
                <a:lnTo>
                  <a:pt x="1104595" y="135890"/>
                </a:lnTo>
                <a:lnTo>
                  <a:pt x="1126007" y="152400"/>
                </a:lnTo>
                <a:lnTo>
                  <a:pt x="1130065" y="156210"/>
                </a:lnTo>
                <a:lnTo>
                  <a:pt x="1070165" y="156210"/>
                </a:lnTo>
                <a:lnTo>
                  <a:pt x="1070356" y="157480"/>
                </a:lnTo>
                <a:close/>
              </a:path>
              <a:path w="1559559" h="676910">
                <a:moveTo>
                  <a:pt x="481050" y="157480"/>
                </a:moveTo>
                <a:lnTo>
                  <a:pt x="481253" y="156210"/>
                </a:lnTo>
                <a:lnTo>
                  <a:pt x="482556" y="156210"/>
                </a:lnTo>
                <a:lnTo>
                  <a:pt x="481050" y="157480"/>
                </a:lnTo>
                <a:close/>
              </a:path>
              <a:path w="1559559" h="676910">
                <a:moveTo>
                  <a:pt x="1101636" y="182880"/>
                </a:moveTo>
                <a:lnTo>
                  <a:pt x="1080477" y="165100"/>
                </a:lnTo>
                <a:lnTo>
                  <a:pt x="1080719" y="165100"/>
                </a:lnTo>
                <a:lnTo>
                  <a:pt x="1070165" y="156210"/>
                </a:lnTo>
                <a:lnTo>
                  <a:pt x="1130065" y="156210"/>
                </a:lnTo>
                <a:lnTo>
                  <a:pt x="1136827" y="162560"/>
                </a:lnTo>
                <a:lnTo>
                  <a:pt x="1147597" y="171450"/>
                </a:lnTo>
                <a:lnTo>
                  <a:pt x="1158316" y="181610"/>
                </a:lnTo>
                <a:lnTo>
                  <a:pt x="1101394" y="181610"/>
                </a:lnTo>
                <a:lnTo>
                  <a:pt x="1101636" y="182880"/>
                </a:lnTo>
                <a:close/>
              </a:path>
              <a:path w="1559559" h="676910">
                <a:moveTo>
                  <a:pt x="449770" y="182880"/>
                </a:moveTo>
                <a:lnTo>
                  <a:pt x="450024" y="181610"/>
                </a:lnTo>
                <a:lnTo>
                  <a:pt x="451282" y="181610"/>
                </a:lnTo>
                <a:lnTo>
                  <a:pt x="449770" y="182880"/>
                </a:lnTo>
                <a:close/>
              </a:path>
              <a:path w="1559559" h="676910">
                <a:moveTo>
                  <a:pt x="1122324" y="200660"/>
                </a:moveTo>
                <a:lnTo>
                  <a:pt x="1111758" y="190500"/>
                </a:lnTo>
                <a:lnTo>
                  <a:pt x="1111986" y="190500"/>
                </a:lnTo>
                <a:lnTo>
                  <a:pt x="1101394" y="181610"/>
                </a:lnTo>
                <a:lnTo>
                  <a:pt x="1158316" y="181610"/>
                </a:lnTo>
                <a:lnTo>
                  <a:pt x="1169085" y="190500"/>
                </a:lnTo>
                <a:lnTo>
                  <a:pt x="1178420" y="199390"/>
                </a:lnTo>
                <a:lnTo>
                  <a:pt x="1122133" y="199390"/>
                </a:lnTo>
                <a:lnTo>
                  <a:pt x="1122324" y="200660"/>
                </a:lnTo>
                <a:close/>
              </a:path>
              <a:path w="1559559" h="676910">
                <a:moveTo>
                  <a:pt x="429082" y="200660"/>
                </a:moveTo>
                <a:lnTo>
                  <a:pt x="429285" y="199390"/>
                </a:lnTo>
                <a:lnTo>
                  <a:pt x="430403" y="199390"/>
                </a:lnTo>
                <a:lnTo>
                  <a:pt x="429082" y="200660"/>
                </a:lnTo>
                <a:close/>
              </a:path>
              <a:path w="1559559" h="676910">
                <a:moveTo>
                  <a:pt x="1195222" y="270510"/>
                </a:moveTo>
                <a:lnTo>
                  <a:pt x="1184630" y="259080"/>
                </a:lnTo>
                <a:lnTo>
                  <a:pt x="1184808" y="259080"/>
                </a:lnTo>
                <a:lnTo>
                  <a:pt x="1163650" y="238760"/>
                </a:lnTo>
                <a:lnTo>
                  <a:pt x="1163891" y="238760"/>
                </a:lnTo>
                <a:lnTo>
                  <a:pt x="1142809" y="218440"/>
                </a:lnTo>
                <a:lnTo>
                  <a:pt x="1143038" y="218440"/>
                </a:lnTo>
                <a:lnTo>
                  <a:pt x="1132497" y="209550"/>
                </a:lnTo>
                <a:lnTo>
                  <a:pt x="1132674" y="209550"/>
                </a:lnTo>
                <a:lnTo>
                  <a:pt x="1122133" y="199390"/>
                </a:lnTo>
                <a:lnTo>
                  <a:pt x="1178420" y="199390"/>
                </a:lnTo>
                <a:lnTo>
                  <a:pt x="1190421" y="210820"/>
                </a:lnTo>
                <a:lnTo>
                  <a:pt x="1211757" y="232410"/>
                </a:lnTo>
                <a:lnTo>
                  <a:pt x="1222514" y="243840"/>
                </a:lnTo>
                <a:lnTo>
                  <a:pt x="1233271" y="254000"/>
                </a:lnTo>
                <a:lnTo>
                  <a:pt x="1247453" y="269240"/>
                </a:lnTo>
                <a:lnTo>
                  <a:pt x="1195070" y="269240"/>
                </a:lnTo>
                <a:lnTo>
                  <a:pt x="1195222" y="270510"/>
                </a:lnTo>
                <a:close/>
              </a:path>
              <a:path w="1559559" h="676910">
                <a:moveTo>
                  <a:pt x="356184" y="270510"/>
                </a:moveTo>
                <a:lnTo>
                  <a:pt x="356336" y="269240"/>
                </a:lnTo>
                <a:lnTo>
                  <a:pt x="357362" y="269240"/>
                </a:lnTo>
                <a:lnTo>
                  <a:pt x="356184" y="270510"/>
                </a:lnTo>
                <a:close/>
              </a:path>
              <a:path w="1559559" h="676910">
                <a:moveTo>
                  <a:pt x="1520983" y="666707"/>
                </a:moveTo>
                <a:lnTo>
                  <a:pt x="1484147" y="618490"/>
                </a:lnTo>
                <a:lnTo>
                  <a:pt x="1459738" y="586740"/>
                </a:lnTo>
                <a:lnTo>
                  <a:pt x="1436624" y="556260"/>
                </a:lnTo>
                <a:lnTo>
                  <a:pt x="1394409" y="502920"/>
                </a:lnTo>
                <a:lnTo>
                  <a:pt x="1373390" y="476250"/>
                </a:lnTo>
                <a:lnTo>
                  <a:pt x="1352346" y="449580"/>
                </a:lnTo>
                <a:lnTo>
                  <a:pt x="1331277" y="424180"/>
                </a:lnTo>
                <a:lnTo>
                  <a:pt x="1310259" y="398780"/>
                </a:lnTo>
                <a:lnTo>
                  <a:pt x="1289303" y="373380"/>
                </a:lnTo>
                <a:lnTo>
                  <a:pt x="1289494" y="373380"/>
                </a:lnTo>
                <a:lnTo>
                  <a:pt x="1268336" y="349250"/>
                </a:lnTo>
                <a:lnTo>
                  <a:pt x="1268488" y="349250"/>
                </a:lnTo>
                <a:lnTo>
                  <a:pt x="1247330" y="326390"/>
                </a:lnTo>
                <a:lnTo>
                  <a:pt x="1226350" y="303530"/>
                </a:lnTo>
                <a:lnTo>
                  <a:pt x="1226540" y="303530"/>
                </a:lnTo>
                <a:lnTo>
                  <a:pt x="1205458" y="280670"/>
                </a:lnTo>
                <a:lnTo>
                  <a:pt x="1205636" y="280670"/>
                </a:lnTo>
                <a:lnTo>
                  <a:pt x="1195070" y="269240"/>
                </a:lnTo>
                <a:lnTo>
                  <a:pt x="1247453" y="269240"/>
                </a:lnTo>
                <a:lnTo>
                  <a:pt x="1254544" y="276860"/>
                </a:lnTo>
                <a:lnTo>
                  <a:pt x="1318412" y="349250"/>
                </a:lnTo>
                <a:lnTo>
                  <a:pt x="1382039" y="425450"/>
                </a:lnTo>
                <a:lnTo>
                  <a:pt x="1424470" y="478790"/>
                </a:lnTo>
                <a:lnTo>
                  <a:pt x="1466761" y="533400"/>
                </a:lnTo>
                <a:lnTo>
                  <a:pt x="1490002" y="563880"/>
                </a:lnTo>
                <a:lnTo>
                  <a:pt x="1551457" y="643890"/>
                </a:lnTo>
                <a:lnTo>
                  <a:pt x="1520983" y="666707"/>
                </a:lnTo>
                <a:close/>
              </a:path>
              <a:path w="1559559" h="676910">
                <a:moveTo>
                  <a:pt x="1542255" y="666750"/>
                </a:moveTo>
                <a:lnTo>
                  <a:pt x="1521015" y="666750"/>
                </a:lnTo>
                <a:lnTo>
                  <a:pt x="1551457" y="643890"/>
                </a:lnTo>
                <a:lnTo>
                  <a:pt x="1559217" y="654050"/>
                </a:lnTo>
                <a:lnTo>
                  <a:pt x="1542255" y="666750"/>
                </a:lnTo>
                <a:close/>
              </a:path>
              <a:path w="1559559" h="676910">
                <a:moveTo>
                  <a:pt x="1528686" y="676910"/>
                </a:moveTo>
                <a:lnTo>
                  <a:pt x="1520926" y="666750"/>
                </a:lnTo>
                <a:lnTo>
                  <a:pt x="1542255" y="666750"/>
                </a:lnTo>
                <a:lnTo>
                  <a:pt x="1528686" y="6769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172185" y="2222576"/>
            <a:ext cx="3946525" cy="114300"/>
          </a:xfrm>
          <a:custGeom>
            <a:avLst/>
            <a:gdLst/>
            <a:ahLst/>
            <a:cxnLst/>
            <a:rect l="l" t="t" r="r" b="b"/>
            <a:pathLst>
              <a:path w="3946525" h="114300">
                <a:moveTo>
                  <a:pt x="3908323" y="76200"/>
                </a:moveTo>
                <a:lnTo>
                  <a:pt x="3860698" y="76200"/>
                </a:lnTo>
                <a:lnTo>
                  <a:pt x="3860711" y="38100"/>
                </a:lnTo>
                <a:lnTo>
                  <a:pt x="3832131" y="38098"/>
                </a:lnTo>
                <a:lnTo>
                  <a:pt x="3832136" y="0"/>
                </a:lnTo>
                <a:lnTo>
                  <a:pt x="3946423" y="57150"/>
                </a:lnTo>
                <a:lnTo>
                  <a:pt x="3908323" y="76200"/>
                </a:lnTo>
                <a:close/>
              </a:path>
              <a:path w="3946525" h="114300">
                <a:moveTo>
                  <a:pt x="3832127" y="76198"/>
                </a:moveTo>
                <a:lnTo>
                  <a:pt x="0" y="76060"/>
                </a:lnTo>
                <a:lnTo>
                  <a:pt x="0" y="37960"/>
                </a:lnTo>
                <a:lnTo>
                  <a:pt x="3832131" y="38098"/>
                </a:lnTo>
                <a:lnTo>
                  <a:pt x="3832127" y="76198"/>
                </a:lnTo>
                <a:close/>
              </a:path>
              <a:path w="3946525" h="114300">
                <a:moveTo>
                  <a:pt x="3860698" y="76200"/>
                </a:moveTo>
                <a:lnTo>
                  <a:pt x="3832127" y="76198"/>
                </a:lnTo>
                <a:lnTo>
                  <a:pt x="3832131" y="38098"/>
                </a:lnTo>
                <a:lnTo>
                  <a:pt x="3860711" y="38100"/>
                </a:lnTo>
                <a:lnTo>
                  <a:pt x="3860698" y="76200"/>
                </a:lnTo>
                <a:close/>
              </a:path>
              <a:path w="3946525" h="114300">
                <a:moveTo>
                  <a:pt x="3832123" y="114300"/>
                </a:moveTo>
                <a:lnTo>
                  <a:pt x="3832127" y="76198"/>
                </a:lnTo>
                <a:lnTo>
                  <a:pt x="3908323" y="76200"/>
                </a:lnTo>
                <a:lnTo>
                  <a:pt x="3832123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115035" y="1044447"/>
            <a:ext cx="114300" cy="2321560"/>
          </a:xfrm>
          <a:custGeom>
            <a:avLst/>
            <a:gdLst/>
            <a:ahLst/>
            <a:cxnLst/>
            <a:rect l="l" t="t" r="r" b="b"/>
            <a:pathLst>
              <a:path w="114300" h="2321560">
                <a:moveTo>
                  <a:pt x="38100" y="114299"/>
                </a:moveTo>
                <a:lnTo>
                  <a:pt x="0" y="114299"/>
                </a:lnTo>
                <a:lnTo>
                  <a:pt x="57150" y="0"/>
                </a:lnTo>
                <a:lnTo>
                  <a:pt x="100012" y="85724"/>
                </a:lnTo>
                <a:lnTo>
                  <a:pt x="38100" y="85724"/>
                </a:lnTo>
                <a:lnTo>
                  <a:pt x="38100" y="114299"/>
                </a:lnTo>
                <a:close/>
              </a:path>
              <a:path w="114300" h="2321560">
                <a:moveTo>
                  <a:pt x="76200" y="2321052"/>
                </a:moveTo>
                <a:lnTo>
                  <a:pt x="38100" y="2321052"/>
                </a:lnTo>
                <a:lnTo>
                  <a:pt x="38100" y="85724"/>
                </a:lnTo>
                <a:lnTo>
                  <a:pt x="76200" y="85724"/>
                </a:lnTo>
                <a:lnTo>
                  <a:pt x="76200" y="2321052"/>
                </a:lnTo>
                <a:close/>
              </a:path>
              <a:path w="114300" h="2321560">
                <a:moveTo>
                  <a:pt x="114300" y="114299"/>
                </a:moveTo>
                <a:lnTo>
                  <a:pt x="76200" y="114299"/>
                </a:lnTo>
                <a:lnTo>
                  <a:pt x="76200" y="85724"/>
                </a:lnTo>
                <a:lnTo>
                  <a:pt x="100012" y="85724"/>
                </a:lnTo>
                <a:lnTo>
                  <a:pt x="114300" y="1142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666060" y="2265730"/>
            <a:ext cx="1475105" cy="689610"/>
          </a:xfrm>
          <a:custGeom>
            <a:avLst/>
            <a:gdLst/>
            <a:ahLst/>
            <a:cxnLst/>
            <a:rect l="l" t="t" r="r" b="b"/>
            <a:pathLst>
              <a:path w="1475104" h="689610">
                <a:moveTo>
                  <a:pt x="1467319" y="31750"/>
                </a:moveTo>
                <a:lnTo>
                  <a:pt x="1436040" y="10195"/>
                </a:lnTo>
                <a:lnTo>
                  <a:pt x="1443316" y="0"/>
                </a:lnTo>
                <a:lnTo>
                  <a:pt x="1474660" y="21589"/>
                </a:lnTo>
                <a:lnTo>
                  <a:pt x="1467319" y="31750"/>
                </a:lnTo>
                <a:close/>
              </a:path>
              <a:path w="1475104" h="689610">
                <a:moveTo>
                  <a:pt x="765619" y="688339"/>
                </a:moveTo>
                <a:lnTo>
                  <a:pt x="702246" y="688339"/>
                </a:lnTo>
                <a:lnTo>
                  <a:pt x="691159" y="687069"/>
                </a:lnTo>
                <a:lnTo>
                  <a:pt x="681202" y="685800"/>
                </a:lnTo>
                <a:lnTo>
                  <a:pt x="670687" y="683260"/>
                </a:lnTo>
                <a:lnTo>
                  <a:pt x="660158" y="681989"/>
                </a:lnTo>
                <a:lnTo>
                  <a:pt x="649630" y="679450"/>
                </a:lnTo>
                <a:lnTo>
                  <a:pt x="638492" y="676910"/>
                </a:lnTo>
                <a:lnTo>
                  <a:pt x="628510" y="673100"/>
                </a:lnTo>
                <a:lnTo>
                  <a:pt x="618020" y="670560"/>
                </a:lnTo>
                <a:lnTo>
                  <a:pt x="607555" y="666750"/>
                </a:lnTo>
                <a:lnTo>
                  <a:pt x="597128" y="661669"/>
                </a:lnTo>
                <a:lnTo>
                  <a:pt x="586714" y="657860"/>
                </a:lnTo>
                <a:lnTo>
                  <a:pt x="555548" y="642619"/>
                </a:lnTo>
                <a:lnTo>
                  <a:pt x="544817" y="637539"/>
                </a:lnTo>
                <a:lnTo>
                  <a:pt x="534860" y="632460"/>
                </a:lnTo>
                <a:lnTo>
                  <a:pt x="504012" y="613410"/>
                </a:lnTo>
                <a:lnTo>
                  <a:pt x="493737" y="605789"/>
                </a:lnTo>
                <a:lnTo>
                  <a:pt x="483158" y="598169"/>
                </a:lnTo>
                <a:lnTo>
                  <a:pt x="473163" y="591819"/>
                </a:lnTo>
                <a:lnTo>
                  <a:pt x="462876" y="584200"/>
                </a:lnTo>
                <a:lnTo>
                  <a:pt x="452640" y="575310"/>
                </a:lnTo>
                <a:lnTo>
                  <a:pt x="442442" y="567689"/>
                </a:lnTo>
                <a:lnTo>
                  <a:pt x="401916" y="532130"/>
                </a:lnTo>
                <a:lnTo>
                  <a:pt x="391668" y="523239"/>
                </a:lnTo>
                <a:lnTo>
                  <a:pt x="381469" y="513080"/>
                </a:lnTo>
                <a:lnTo>
                  <a:pt x="371322" y="504189"/>
                </a:lnTo>
                <a:lnTo>
                  <a:pt x="361200" y="494030"/>
                </a:lnTo>
                <a:lnTo>
                  <a:pt x="320852" y="450850"/>
                </a:lnTo>
                <a:lnTo>
                  <a:pt x="310680" y="440689"/>
                </a:lnTo>
                <a:lnTo>
                  <a:pt x="280466" y="406400"/>
                </a:lnTo>
                <a:lnTo>
                  <a:pt x="240296" y="358139"/>
                </a:lnTo>
                <a:lnTo>
                  <a:pt x="200075" y="307339"/>
                </a:lnTo>
                <a:lnTo>
                  <a:pt x="119913" y="200660"/>
                </a:lnTo>
                <a:lnTo>
                  <a:pt x="39877" y="88900"/>
                </a:lnTo>
                <a:lnTo>
                  <a:pt x="19875" y="59689"/>
                </a:lnTo>
                <a:lnTo>
                  <a:pt x="0" y="31750"/>
                </a:lnTo>
                <a:lnTo>
                  <a:pt x="31254" y="10160"/>
                </a:lnTo>
                <a:lnTo>
                  <a:pt x="51079" y="38100"/>
                </a:lnTo>
                <a:lnTo>
                  <a:pt x="70942" y="66039"/>
                </a:lnTo>
                <a:lnTo>
                  <a:pt x="110909" y="121919"/>
                </a:lnTo>
                <a:lnTo>
                  <a:pt x="150749" y="177800"/>
                </a:lnTo>
                <a:lnTo>
                  <a:pt x="170599" y="204469"/>
                </a:lnTo>
                <a:lnTo>
                  <a:pt x="190461" y="231139"/>
                </a:lnTo>
                <a:lnTo>
                  <a:pt x="210362" y="257810"/>
                </a:lnTo>
                <a:lnTo>
                  <a:pt x="230200" y="283210"/>
                </a:lnTo>
                <a:lnTo>
                  <a:pt x="249986" y="308610"/>
                </a:lnTo>
                <a:lnTo>
                  <a:pt x="249809" y="308610"/>
                </a:lnTo>
                <a:lnTo>
                  <a:pt x="269786" y="334010"/>
                </a:lnTo>
                <a:lnTo>
                  <a:pt x="269646" y="334010"/>
                </a:lnTo>
                <a:lnTo>
                  <a:pt x="289623" y="358139"/>
                </a:lnTo>
                <a:lnTo>
                  <a:pt x="290569" y="358139"/>
                </a:lnTo>
                <a:lnTo>
                  <a:pt x="309422" y="381000"/>
                </a:lnTo>
                <a:lnTo>
                  <a:pt x="309257" y="381000"/>
                </a:lnTo>
                <a:lnTo>
                  <a:pt x="329158" y="403860"/>
                </a:lnTo>
                <a:lnTo>
                  <a:pt x="328980" y="403860"/>
                </a:lnTo>
                <a:lnTo>
                  <a:pt x="338963" y="415289"/>
                </a:lnTo>
                <a:lnTo>
                  <a:pt x="339922" y="415289"/>
                </a:lnTo>
                <a:lnTo>
                  <a:pt x="348818" y="425450"/>
                </a:lnTo>
                <a:lnTo>
                  <a:pt x="348640" y="425450"/>
                </a:lnTo>
                <a:lnTo>
                  <a:pt x="368617" y="447039"/>
                </a:lnTo>
                <a:lnTo>
                  <a:pt x="368388" y="447039"/>
                </a:lnTo>
                <a:lnTo>
                  <a:pt x="388289" y="467360"/>
                </a:lnTo>
                <a:lnTo>
                  <a:pt x="388073" y="467360"/>
                </a:lnTo>
                <a:lnTo>
                  <a:pt x="398018" y="476250"/>
                </a:lnTo>
                <a:lnTo>
                  <a:pt x="397852" y="476250"/>
                </a:lnTo>
                <a:lnTo>
                  <a:pt x="407809" y="486410"/>
                </a:lnTo>
                <a:lnTo>
                  <a:pt x="407619" y="486410"/>
                </a:lnTo>
                <a:lnTo>
                  <a:pt x="417588" y="495300"/>
                </a:lnTo>
                <a:lnTo>
                  <a:pt x="417372" y="495300"/>
                </a:lnTo>
                <a:lnTo>
                  <a:pt x="427380" y="504189"/>
                </a:lnTo>
                <a:lnTo>
                  <a:pt x="427139" y="504189"/>
                </a:lnTo>
                <a:lnTo>
                  <a:pt x="447116" y="521969"/>
                </a:lnTo>
                <a:lnTo>
                  <a:pt x="446887" y="521969"/>
                </a:lnTo>
                <a:lnTo>
                  <a:pt x="456844" y="529589"/>
                </a:lnTo>
                <a:lnTo>
                  <a:pt x="456653" y="529589"/>
                </a:lnTo>
                <a:lnTo>
                  <a:pt x="466598" y="538480"/>
                </a:lnTo>
                <a:lnTo>
                  <a:pt x="466382" y="538480"/>
                </a:lnTo>
                <a:lnTo>
                  <a:pt x="476338" y="546100"/>
                </a:lnTo>
                <a:lnTo>
                  <a:pt x="476084" y="546100"/>
                </a:lnTo>
                <a:lnTo>
                  <a:pt x="486054" y="553719"/>
                </a:lnTo>
                <a:lnTo>
                  <a:pt x="485775" y="553719"/>
                </a:lnTo>
                <a:lnTo>
                  <a:pt x="495744" y="561339"/>
                </a:lnTo>
                <a:lnTo>
                  <a:pt x="497107" y="561339"/>
                </a:lnTo>
                <a:lnTo>
                  <a:pt x="505447" y="567689"/>
                </a:lnTo>
                <a:lnTo>
                  <a:pt x="505155" y="567689"/>
                </a:lnTo>
                <a:lnTo>
                  <a:pt x="515150" y="574039"/>
                </a:lnTo>
                <a:lnTo>
                  <a:pt x="514883" y="574039"/>
                </a:lnTo>
                <a:lnTo>
                  <a:pt x="524852" y="581660"/>
                </a:lnTo>
                <a:lnTo>
                  <a:pt x="526552" y="581660"/>
                </a:lnTo>
                <a:lnTo>
                  <a:pt x="534517" y="586739"/>
                </a:lnTo>
                <a:lnTo>
                  <a:pt x="534212" y="586739"/>
                </a:lnTo>
                <a:lnTo>
                  <a:pt x="544156" y="593089"/>
                </a:lnTo>
                <a:lnTo>
                  <a:pt x="543826" y="593089"/>
                </a:lnTo>
                <a:lnTo>
                  <a:pt x="553770" y="598169"/>
                </a:lnTo>
                <a:lnTo>
                  <a:pt x="553427" y="598169"/>
                </a:lnTo>
                <a:lnTo>
                  <a:pt x="563384" y="604519"/>
                </a:lnTo>
                <a:lnTo>
                  <a:pt x="563016" y="604519"/>
                </a:lnTo>
                <a:lnTo>
                  <a:pt x="572998" y="609600"/>
                </a:lnTo>
                <a:lnTo>
                  <a:pt x="572604" y="609600"/>
                </a:lnTo>
                <a:lnTo>
                  <a:pt x="582612" y="613410"/>
                </a:lnTo>
                <a:lnTo>
                  <a:pt x="582231" y="613410"/>
                </a:lnTo>
                <a:lnTo>
                  <a:pt x="592239" y="618489"/>
                </a:lnTo>
                <a:lnTo>
                  <a:pt x="591858" y="618489"/>
                </a:lnTo>
                <a:lnTo>
                  <a:pt x="601827" y="622300"/>
                </a:lnTo>
                <a:lnTo>
                  <a:pt x="601408" y="622300"/>
                </a:lnTo>
                <a:lnTo>
                  <a:pt x="611377" y="627380"/>
                </a:lnTo>
                <a:lnTo>
                  <a:pt x="614239" y="627380"/>
                </a:lnTo>
                <a:lnTo>
                  <a:pt x="620877" y="629919"/>
                </a:lnTo>
                <a:lnTo>
                  <a:pt x="620395" y="629919"/>
                </a:lnTo>
                <a:lnTo>
                  <a:pt x="630339" y="633730"/>
                </a:lnTo>
                <a:lnTo>
                  <a:pt x="629831" y="633730"/>
                </a:lnTo>
                <a:lnTo>
                  <a:pt x="639787" y="637539"/>
                </a:lnTo>
                <a:lnTo>
                  <a:pt x="642577" y="637539"/>
                </a:lnTo>
                <a:lnTo>
                  <a:pt x="649224" y="640080"/>
                </a:lnTo>
                <a:lnTo>
                  <a:pt x="648652" y="640080"/>
                </a:lnTo>
                <a:lnTo>
                  <a:pt x="658660" y="642619"/>
                </a:lnTo>
                <a:lnTo>
                  <a:pt x="658101" y="642619"/>
                </a:lnTo>
                <a:lnTo>
                  <a:pt x="668108" y="643889"/>
                </a:lnTo>
                <a:lnTo>
                  <a:pt x="667575" y="643889"/>
                </a:lnTo>
                <a:lnTo>
                  <a:pt x="677557" y="646430"/>
                </a:lnTo>
                <a:lnTo>
                  <a:pt x="677011" y="646430"/>
                </a:lnTo>
                <a:lnTo>
                  <a:pt x="686968" y="647700"/>
                </a:lnTo>
                <a:lnTo>
                  <a:pt x="686409" y="647700"/>
                </a:lnTo>
                <a:lnTo>
                  <a:pt x="696353" y="648969"/>
                </a:lnTo>
                <a:lnTo>
                  <a:pt x="695782" y="648969"/>
                </a:lnTo>
                <a:lnTo>
                  <a:pt x="705726" y="650239"/>
                </a:lnTo>
                <a:lnTo>
                  <a:pt x="714527" y="650239"/>
                </a:lnTo>
                <a:lnTo>
                  <a:pt x="724509" y="651510"/>
                </a:lnTo>
                <a:lnTo>
                  <a:pt x="893961" y="651510"/>
                </a:lnTo>
                <a:lnTo>
                  <a:pt x="880986" y="657860"/>
                </a:lnTo>
                <a:lnTo>
                  <a:pt x="828789" y="676910"/>
                </a:lnTo>
                <a:lnTo>
                  <a:pt x="807656" y="681989"/>
                </a:lnTo>
                <a:lnTo>
                  <a:pt x="797153" y="683260"/>
                </a:lnTo>
                <a:lnTo>
                  <a:pt x="786638" y="685800"/>
                </a:lnTo>
                <a:lnTo>
                  <a:pt x="765619" y="688339"/>
                </a:lnTo>
                <a:close/>
              </a:path>
              <a:path w="1475104" h="689610">
                <a:moveTo>
                  <a:pt x="1436040" y="10195"/>
                </a:moveTo>
                <a:close/>
              </a:path>
              <a:path w="1475104" h="689610">
                <a:moveTo>
                  <a:pt x="1227137" y="358139"/>
                </a:moveTo>
                <a:lnTo>
                  <a:pt x="1177658" y="358139"/>
                </a:lnTo>
                <a:lnTo>
                  <a:pt x="1197648" y="334010"/>
                </a:lnTo>
                <a:lnTo>
                  <a:pt x="1197495" y="334010"/>
                </a:lnTo>
                <a:lnTo>
                  <a:pt x="1217472" y="308610"/>
                </a:lnTo>
                <a:lnTo>
                  <a:pt x="1217295" y="308610"/>
                </a:lnTo>
                <a:lnTo>
                  <a:pt x="1237208" y="283210"/>
                </a:lnTo>
                <a:lnTo>
                  <a:pt x="1256995" y="257810"/>
                </a:lnTo>
                <a:lnTo>
                  <a:pt x="1276908" y="231139"/>
                </a:lnTo>
                <a:lnTo>
                  <a:pt x="1296797" y="204469"/>
                </a:lnTo>
                <a:lnTo>
                  <a:pt x="1316596" y="177800"/>
                </a:lnTo>
                <a:lnTo>
                  <a:pt x="1356423" y="121919"/>
                </a:lnTo>
                <a:lnTo>
                  <a:pt x="1378280" y="91439"/>
                </a:lnTo>
                <a:lnTo>
                  <a:pt x="1401305" y="59689"/>
                </a:lnTo>
                <a:lnTo>
                  <a:pt x="1436040" y="10195"/>
                </a:lnTo>
                <a:lnTo>
                  <a:pt x="1467319" y="31750"/>
                </a:lnTo>
                <a:lnTo>
                  <a:pt x="1409306" y="114300"/>
                </a:lnTo>
                <a:lnTo>
                  <a:pt x="1387373" y="144780"/>
                </a:lnTo>
                <a:lnTo>
                  <a:pt x="1347444" y="199389"/>
                </a:lnTo>
                <a:lnTo>
                  <a:pt x="1327467" y="227330"/>
                </a:lnTo>
                <a:lnTo>
                  <a:pt x="1267333" y="307339"/>
                </a:lnTo>
                <a:lnTo>
                  <a:pt x="1247127" y="332739"/>
                </a:lnTo>
                <a:lnTo>
                  <a:pt x="1227137" y="358139"/>
                </a:lnTo>
                <a:close/>
              </a:path>
              <a:path w="1475104" h="689610">
                <a:moveTo>
                  <a:pt x="290569" y="358139"/>
                </a:moveTo>
                <a:lnTo>
                  <a:pt x="289623" y="358139"/>
                </a:lnTo>
                <a:lnTo>
                  <a:pt x="289521" y="356869"/>
                </a:lnTo>
                <a:lnTo>
                  <a:pt x="290569" y="358139"/>
                </a:lnTo>
                <a:close/>
              </a:path>
              <a:path w="1475104" h="689610">
                <a:moveTo>
                  <a:pt x="1178545" y="415289"/>
                </a:moveTo>
                <a:lnTo>
                  <a:pt x="1128331" y="415289"/>
                </a:lnTo>
                <a:lnTo>
                  <a:pt x="1138313" y="403860"/>
                </a:lnTo>
                <a:lnTo>
                  <a:pt x="1138123" y="403860"/>
                </a:lnTo>
                <a:lnTo>
                  <a:pt x="1158036" y="381000"/>
                </a:lnTo>
                <a:lnTo>
                  <a:pt x="1157859" y="381000"/>
                </a:lnTo>
                <a:lnTo>
                  <a:pt x="1177772" y="356869"/>
                </a:lnTo>
                <a:lnTo>
                  <a:pt x="1177658" y="358139"/>
                </a:lnTo>
                <a:lnTo>
                  <a:pt x="1227137" y="358139"/>
                </a:lnTo>
                <a:lnTo>
                  <a:pt x="1207020" y="382269"/>
                </a:lnTo>
                <a:lnTo>
                  <a:pt x="1187005" y="405130"/>
                </a:lnTo>
                <a:lnTo>
                  <a:pt x="1178545" y="415289"/>
                </a:lnTo>
                <a:close/>
              </a:path>
              <a:path w="1475104" h="689610">
                <a:moveTo>
                  <a:pt x="339922" y="415289"/>
                </a:moveTo>
                <a:lnTo>
                  <a:pt x="338963" y="415289"/>
                </a:lnTo>
                <a:lnTo>
                  <a:pt x="338810" y="414019"/>
                </a:lnTo>
                <a:lnTo>
                  <a:pt x="339922" y="415289"/>
                </a:lnTo>
                <a:close/>
              </a:path>
              <a:path w="1475104" h="689610">
                <a:moveTo>
                  <a:pt x="1032294" y="561339"/>
                </a:moveTo>
                <a:lnTo>
                  <a:pt x="971537" y="561339"/>
                </a:lnTo>
                <a:lnTo>
                  <a:pt x="981519" y="553719"/>
                </a:lnTo>
                <a:lnTo>
                  <a:pt x="981240" y="553719"/>
                </a:lnTo>
                <a:lnTo>
                  <a:pt x="991196" y="546100"/>
                </a:lnTo>
                <a:lnTo>
                  <a:pt x="990955" y="546100"/>
                </a:lnTo>
                <a:lnTo>
                  <a:pt x="1000899" y="538480"/>
                </a:lnTo>
                <a:lnTo>
                  <a:pt x="1000683" y="538480"/>
                </a:lnTo>
                <a:lnTo>
                  <a:pt x="1010640" y="529589"/>
                </a:lnTo>
                <a:lnTo>
                  <a:pt x="1010450" y="529589"/>
                </a:lnTo>
                <a:lnTo>
                  <a:pt x="1020406" y="521969"/>
                </a:lnTo>
                <a:lnTo>
                  <a:pt x="1020165" y="521969"/>
                </a:lnTo>
                <a:lnTo>
                  <a:pt x="1040155" y="504189"/>
                </a:lnTo>
                <a:lnTo>
                  <a:pt x="1039901" y="504189"/>
                </a:lnTo>
                <a:lnTo>
                  <a:pt x="1049909" y="495300"/>
                </a:lnTo>
                <a:lnTo>
                  <a:pt x="1049693" y="495300"/>
                </a:lnTo>
                <a:lnTo>
                  <a:pt x="1059675" y="486410"/>
                </a:lnTo>
                <a:lnTo>
                  <a:pt x="1059484" y="486410"/>
                </a:lnTo>
                <a:lnTo>
                  <a:pt x="1069441" y="476250"/>
                </a:lnTo>
                <a:lnTo>
                  <a:pt x="1069263" y="476250"/>
                </a:lnTo>
                <a:lnTo>
                  <a:pt x="1079207" y="467360"/>
                </a:lnTo>
                <a:lnTo>
                  <a:pt x="1078992" y="467360"/>
                </a:lnTo>
                <a:lnTo>
                  <a:pt x="1098905" y="447039"/>
                </a:lnTo>
                <a:lnTo>
                  <a:pt x="1098664" y="447039"/>
                </a:lnTo>
                <a:lnTo>
                  <a:pt x="1118654" y="425450"/>
                </a:lnTo>
                <a:lnTo>
                  <a:pt x="1118476" y="425450"/>
                </a:lnTo>
                <a:lnTo>
                  <a:pt x="1128483" y="414019"/>
                </a:lnTo>
                <a:lnTo>
                  <a:pt x="1128331" y="415289"/>
                </a:lnTo>
                <a:lnTo>
                  <a:pt x="1178545" y="415289"/>
                </a:lnTo>
                <a:lnTo>
                  <a:pt x="1166914" y="429260"/>
                </a:lnTo>
                <a:lnTo>
                  <a:pt x="1156766" y="440689"/>
                </a:lnTo>
                <a:lnTo>
                  <a:pt x="1146606" y="450850"/>
                </a:lnTo>
                <a:lnTo>
                  <a:pt x="1106309" y="494030"/>
                </a:lnTo>
                <a:lnTo>
                  <a:pt x="1096137" y="504189"/>
                </a:lnTo>
                <a:lnTo>
                  <a:pt x="1086002" y="513080"/>
                </a:lnTo>
                <a:lnTo>
                  <a:pt x="1075842" y="523239"/>
                </a:lnTo>
                <a:lnTo>
                  <a:pt x="1032294" y="561339"/>
                </a:lnTo>
                <a:close/>
              </a:path>
              <a:path w="1475104" h="689610">
                <a:moveTo>
                  <a:pt x="497107" y="561339"/>
                </a:moveTo>
                <a:lnTo>
                  <a:pt x="495744" y="561339"/>
                </a:lnTo>
                <a:lnTo>
                  <a:pt x="495439" y="560069"/>
                </a:lnTo>
                <a:lnTo>
                  <a:pt x="497107" y="561339"/>
                </a:lnTo>
                <a:close/>
              </a:path>
              <a:path w="1475104" h="689610">
                <a:moveTo>
                  <a:pt x="1007601" y="581660"/>
                </a:moveTo>
                <a:lnTo>
                  <a:pt x="942428" y="581660"/>
                </a:lnTo>
                <a:lnTo>
                  <a:pt x="952411" y="574039"/>
                </a:lnTo>
                <a:lnTo>
                  <a:pt x="952131" y="574039"/>
                </a:lnTo>
                <a:lnTo>
                  <a:pt x="962139" y="567689"/>
                </a:lnTo>
                <a:lnTo>
                  <a:pt x="961847" y="567689"/>
                </a:lnTo>
                <a:lnTo>
                  <a:pt x="971842" y="560069"/>
                </a:lnTo>
                <a:lnTo>
                  <a:pt x="971537" y="561339"/>
                </a:lnTo>
                <a:lnTo>
                  <a:pt x="1032294" y="561339"/>
                </a:lnTo>
                <a:lnTo>
                  <a:pt x="1025055" y="567689"/>
                </a:lnTo>
                <a:lnTo>
                  <a:pt x="1014895" y="575310"/>
                </a:lnTo>
                <a:lnTo>
                  <a:pt x="1007601" y="581660"/>
                </a:lnTo>
                <a:close/>
              </a:path>
              <a:path w="1475104" h="689610">
                <a:moveTo>
                  <a:pt x="526552" y="581660"/>
                </a:moveTo>
                <a:lnTo>
                  <a:pt x="524852" y="581660"/>
                </a:lnTo>
                <a:lnTo>
                  <a:pt x="524560" y="580389"/>
                </a:lnTo>
                <a:lnTo>
                  <a:pt x="526552" y="581660"/>
                </a:lnTo>
                <a:close/>
              </a:path>
              <a:path w="1475104" h="689610">
                <a:moveTo>
                  <a:pt x="940482" y="627380"/>
                </a:moveTo>
                <a:lnTo>
                  <a:pt x="855916" y="627380"/>
                </a:lnTo>
                <a:lnTo>
                  <a:pt x="865873" y="622300"/>
                </a:lnTo>
                <a:lnTo>
                  <a:pt x="865454" y="622300"/>
                </a:lnTo>
                <a:lnTo>
                  <a:pt x="875436" y="618489"/>
                </a:lnTo>
                <a:lnTo>
                  <a:pt x="875055" y="618489"/>
                </a:lnTo>
                <a:lnTo>
                  <a:pt x="885050" y="613410"/>
                </a:lnTo>
                <a:lnTo>
                  <a:pt x="884669" y="613410"/>
                </a:lnTo>
                <a:lnTo>
                  <a:pt x="894676" y="609600"/>
                </a:lnTo>
                <a:lnTo>
                  <a:pt x="894295" y="609600"/>
                </a:lnTo>
                <a:lnTo>
                  <a:pt x="904265" y="604519"/>
                </a:lnTo>
                <a:lnTo>
                  <a:pt x="903897" y="604519"/>
                </a:lnTo>
                <a:lnTo>
                  <a:pt x="913866" y="598169"/>
                </a:lnTo>
                <a:lnTo>
                  <a:pt x="913511" y="598169"/>
                </a:lnTo>
                <a:lnTo>
                  <a:pt x="923455" y="593089"/>
                </a:lnTo>
                <a:lnTo>
                  <a:pt x="923124" y="593089"/>
                </a:lnTo>
                <a:lnTo>
                  <a:pt x="933081" y="586739"/>
                </a:lnTo>
                <a:lnTo>
                  <a:pt x="932764" y="586739"/>
                </a:lnTo>
                <a:lnTo>
                  <a:pt x="942721" y="580389"/>
                </a:lnTo>
                <a:lnTo>
                  <a:pt x="942428" y="581660"/>
                </a:lnTo>
                <a:lnTo>
                  <a:pt x="1007601" y="581660"/>
                </a:lnTo>
                <a:lnTo>
                  <a:pt x="1004684" y="584200"/>
                </a:lnTo>
                <a:lnTo>
                  <a:pt x="994435" y="591819"/>
                </a:lnTo>
                <a:lnTo>
                  <a:pt x="984123" y="598169"/>
                </a:lnTo>
                <a:lnTo>
                  <a:pt x="973823" y="605789"/>
                </a:lnTo>
                <a:lnTo>
                  <a:pt x="963574" y="612139"/>
                </a:lnTo>
                <a:lnTo>
                  <a:pt x="953312" y="619760"/>
                </a:lnTo>
                <a:lnTo>
                  <a:pt x="943051" y="626110"/>
                </a:lnTo>
                <a:lnTo>
                  <a:pt x="940482" y="627380"/>
                </a:lnTo>
                <a:close/>
              </a:path>
              <a:path w="1475104" h="689610">
                <a:moveTo>
                  <a:pt x="614239" y="627380"/>
                </a:moveTo>
                <a:lnTo>
                  <a:pt x="611377" y="627380"/>
                </a:lnTo>
                <a:lnTo>
                  <a:pt x="610920" y="626110"/>
                </a:lnTo>
                <a:lnTo>
                  <a:pt x="614239" y="627380"/>
                </a:lnTo>
                <a:close/>
              </a:path>
              <a:path w="1475104" h="689610">
                <a:moveTo>
                  <a:pt x="922464" y="637539"/>
                </a:moveTo>
                <a:lnTo>
                  <a:pt x="827493" y="637539"/>
                </a:lnTo>
                <a:lnTo>
                  <a:pt x="837450" y="633730"/>
                </a:lnTo>
                <a:lnTo>
                  <a:pt x="836942" y="633730"/>
                </a:lnTo>
                <a:lnTo>
                  <a:pt x="846899" y="629919"/>
                </a:lnTo>
                <a:lnTo>
                  <a:pt x="846416" y="629919"/>
                </a:lnTo>
                <a:lnTo>
                  <a:pt x="856361" y="626110"/>
                </a:lnTo>
                <a:lnTo>
                  <a:pt x="855916" y="627380"/>
                </a:lnTo>
                <a:lnTo>
                  <a:pt x="940482" y="627380"/>
                </a:lnTo>
                <a:lnTo>
                  <a:pt x="932776" y="631189"/>
                </a:lnTo>
                <a:lnTo>
                  <a:pt x="922464" y="637539"/>
                </a:lnTo>
                <a:close/>
              </a:path>
              <a:path w="1475104" h="689610">
                <a:moveTo>
                  <a:pt x="642577" y="637539"/>
                </a:moveTo>
                <a:lnTo>
                  <a:pt x="639787" y="637539"/>
                </a:lnTo>
                <a:lnTo>
                  <a:pt x="639254" y="636269"/>
                </a:lnTo>
                <a:lnTo>
                  <a:pt x="642577" y="637539"/>
                </a:lnTo>
                <a:close/>
              </a:path>
              <a:path w="1475104" h="689610">
                <a:moveTo>
                  <a:pt x="893961" y="651510"/>
                </a:moveTo>
                <a:lnTo>
                  <a:pt x="742772" y="651510"/>
                </a:lnTo>
                <a:lnTo>
                  <a:pt x="752754" y="650239"/>
                </a:lnTo>
                <a:lnTo>
                  <a:pt x="761555" y="650239"/>
                </a:lnTo>
                <a:lnTo>
                  <a:pt x="771499" y="648969"/>
                </a:lnTo>
                <a:lnTo>
                  <a:pt x="770928" y="648969"/>
                </a:lnTo>
                <a:lnTo>
                  <a:pt x="780884" y="647700"/>
                </a:lnTo>
                <a:lnTo>
                  <a:pt x="780326" y="647700"/>
                </a:lnTo>
                <a:lnTo>
                  <a:pt x="790282" y="646430"/>
                </a:lnTo>
                <a:lnTo>
                  <a:pt x="789736" y="646430"/>
                </a:lnTo>
                <a:lnTo>
                  <a:pt x="799706" y="643889"/>
                </a:lnTo>
                <a:lnTo>
                  <a:pt x="799172" y="643889"/>
                </a:lnTo>
                <a:lnTo>
                  <a:pt x="809180" y="642619"/>
                </a:lnTo>
                <a:lnTo>
                  <a:pt x="808634" y="642619"/>
                </a:lnTo>
                <a:lnTo>
                  <a:pt x="818629" y="640080"/>
                </a:lnTo>
                <a:lnTo>
                  <a:pt x="818057" y="640080"/>
                </a:lnTo>
                <a:lnTo>
                  <a:pt x="828040" y="636269"/>
                </a:lnTo>
                <a:lnTo>
                  <a:pt x="827493" y="637539"/>
                </a:lnTo>
                <a:lnTo>
                  <a:pt x="922464" y="637539"/>
                </a:lnTo>
                <a:lnTo>
                  <a:pt x="893961" y="651510"/>
                </a:lnTo>
                <a:close/>
              </a:path>
              <a:path w="1475104" h="689610">
                <a:moveTo>
                  <a:pt x="744524" y="689610"/>
                </a:moveTo>
                <a:lnTo>
                  <a:pt x="722769" y="689610"/>
                </a:lnTo>
                <a:lnTo>
                  <a:pt x="712787" y="688339"/>
                </a:lnTo>
                <a:lnTo>
                  <a:pt x="755078" y="688339"/>
                </a:lnTo>
                <a:lnTo>
                  <a:pt x="744524" y="6896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551282" y="1012621"/>
            <a:ext cx="185991" cy="2007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680136" y="944156"/>
            <a:ext cx="430225" cy="2696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175436" y="1625422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126" y="10045"/>
                </a:moveTo>
                <a:lnTo>
                  <a:pt x="0" y="520"/>
                </a:lnTo>
                <a:lnTo>
                  <a:pt x="38100" y="0"/>
                </a:lnTo>
                <a:lnTo>
                  <a:pt x="38226" y="9525"/>
                </a:lnTo>
                <a:lnTo>
                  <a:pt x="126" y="100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242111" y="1624507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126" y="10045"/>
                </a:moveTo>
                <a:lnTo>
                  <a:pt x="0" y="520"/>
                </a:lnTo>
                <a:lnTo>
                  <a:pt x="38087" y="0"/>
                </a:lnTo>
                <a:lnTo>
                  <a:pt x="38226" y="9525"/>
                </a:lnTo>
                <a:lnTo>
                  <a:pt x="126" y="100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308774" y="1623606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126" y="10045"/>
                </a:moveTo>
                <a:lnTo>
                  <a:pt x="0" y="520"/>
                </a:lnTo>
                <a:lnTo>
                  <a:pt x="38100" y="0"/>
                </a:lnTo>
                <a:lnTo>
                  <a:pt x="38226" y="9524"/>
                </a:lnTo>
                <a:lnTo>
                  <a:pt x="126" y="100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375449" y="1622691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126" y="10045"/>
                </a:moveTo>
                <a:lnTo>
                  <a:pt x="0" y="520"/>
                </a:lnTo>
                <a:lnTo>
                  <a:pt x="38087" y="0"/>
                </a:lnTo>
                <a:lnTo>
                  <a:pt x="38226" y="9524"/>
                </a:lnTo>
                <a:lnTo>
                  <a:pt x="126" y="100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442110" y="1621789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126" y="10045"/>
                </a:moveTo>
                <a:lnTo>
                  <a:pt x="0" y="520"/>
                </a:lnTo>
                <a:lnTo>
                  <a:pt x="38100" y="0"/>
                </a:lnTo>
                <a:lnTo>
                  <a:pt x="38226" y="9525"/>
                </a:lnTo>
                <a:lnTo>
                  <a:pt x="126" y="100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508785" y="1620875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126" y="10045"/>
                </a:moveTo>
                <a:lnTo>
                  <a:pt x="0" y="520"/>
                </a:lnTo>
                <a:lnTo>
                  <a:pt x="38087" y="0"/>
                </a:lnTo>
                <a:lnTo>
                  <a:pt x="38226" y="9525"/>
                </a:lnTo>
                <a:lnTo>
                  <a:pt x="126" y="100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575448" y="1619973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139" y="10045"/>
                </a:moveTo>
                <a:lnTo>
                  <a:pt x="0" y="520"/>
                </a:lnTo>
                <a:lnTo>
                  <a:pt x="38100" y="0"/>
                </a:lnTo>
                <a:lnTo>
                  <a:pt x="38226" y="9524"/>
                </a:lnTo>
                <a:lnTo>
                  <a:pt x="139" y="100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642123" y="1619059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126" y="10045"/>
                </a:moveTo>
                <a:lnTo>
                  <a:pt x="0" y="520"/>
                </a:lnTo>
                <a:lnTo>
                  <a:pt x="38100" y="0"/>
                </a:lnTo>
                <a:lnTo>
                  <a:pt x="38226" y="9525"/>
                </a:lnTo>
                <a:lnTo>
                  <a:pt x="126" y="100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708786" y="1618157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139" y="10045"/>
                </a:moveTo>
                <a:lnTo>
                  <a:pt x="0" y="520"/>
                </a:lnTo>
                <a:lnTo>
                  <a:pt x="38100" y="0"/>
                </a:lnTo>
                <a:lnTo>
                  <a:pt x="38226" y="9525"/>
                </a:lnTo>
                <a:lnTo>
                  <a:pt x="139" y="100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775461" y="1617243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126" y="10045"/>
                </a:moveTo>
                <a:lnTo>
                  <a:pt x="0" y="520"/>
                </a:lnTo>
                <a:lnTo>
                  <a:pt x="38100" y="0"/>
                </a:lnTo>
                <a:lnTo>
                  <a:pt x="38226" y="9525"/>
                </a:lnTo>
                <a:lnTo>
                  <a:pt x="126" y="100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842122" y="1616341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139" y="10045"/>
                </a:moveTo>
                <a:lnTo>
                  <a:pt x="0" y="520"/>
                </a:lnTo>
                <a:lnTo>
                  <a:pt x="38100" y="0"/>
                </a:lnTo>
                <a:lnTo>
                  <a:pt x="38226" y="9524"/>
                </a:lnTo>
                <a:lnTo>
                  <a:pt x="139" y="100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605308" y="1498041"/>
            <a:ext cx="276478" cy="26041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826301" y="1670608"/>
            <a:ext cx="205282" cy="14817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1157318" y="2333612"/>
            <a:ext cx="147751" cy="23704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1312461" y="2301468"/>
            <a:ext cx="326707" cy="26963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562052" y="2945244"/>
            <a:ext cx="190753" cy="6931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695478" y="2860116"/>
            <a:ext cx="276478" cy="26041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916470" y="3032683"/>
            <a:ext cx="205282" cy="14817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217270" y="2947568"/>
            <a:ext cx="38100" cy="10160"/>
          </a:xfrm>
          <a:custGeom>
            <a:avLst/>
            <a:gdLst/>
            <a:ahLst/>
            <a:cxnLst/>
            <a:rect l="l" t="t" r="r" b="b"/>
            <a:pathLst>
              <a:path w="38100" h="10160">
                <a:moveTo>
                  <a:pt x="38100" y="9563"/>
                </a:moveTo>
                <a:lnTo>
                  <a:pt x="0" y="9525"/>
                </a:lnTo>
                <a:lnTo>
                  <a:pt x="0" y="0"/>
                </a:lnTo>
                <a:lnTo>
                  <a:pt x="38100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283945" y="2947631"/>
            <a:ext cx="38100" cy="10160"/>
          </a:xfrm>
          <a:custGeom>
            <a:avLst/>
            <a:gdLst/>
            <a:ahLst/>
            <a:cxnLst/>
            <a:rect l="l" t="t" r="r" b="b"/>
            <a:pathLst>
              <a:path w="38100" h="10160">
                <a:moveTo>
                  <a:pt x="38100" y="9563"/>
                </a:moveTo>
                <a:lnTo>
                  <a:pt x="0" y="9525"/>
                </a:lnTo>
                <a:lnTo>
                  <a:pt x="0" y="0"/>
                </a:lnTo>
                <a:lnTo>
                  <a:pt x="38100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350620" y="2947695"/>
            <a:ext cx="38100" cy="10160"/>
          </a:xfrm>
          <a:custGeom>
            <a:avLst/>
            <a:gdLst/>
            <a:ahLst/>
            <a:cxnLst/>
            <a:rect l="l" t="t" r="r" b="b"/>
            <a:pathLst>
              <a:path w="38100" h="10160">
                <a:moveTo>
                  <a:pt x="38100" y="9563"/>
                </a:moveTo>
                <a:lnTo>
                  <a:pt x="0" y="9525"/>
                </a:lnTo>
                <a:lnTo>
                  <a:pt x="0" y="0"/>
                </a:lnTo>
                <a:lnTo>
                  <a:pt x="38100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417295" y="2947758"/>
            <a:ext cx="38100" cy="10160"/>
          </a:xfrm>
          <a:custGeom>
            <a:avLst/>
            <a:gdLst/>
            <a:ahLst/>
            <a:cxnLst/>
            <a:rect l="l" t="t" r="r" b="b"/>
            <a:pathLst>
              <a:path w="38100" h="10160">
                <a:moveTo>
                  <a:pt x="38100" y="9563"/>
                </a:moveTo>
                <a:lnTo>
                  <a:pt x="0" y="9525"/>
                </a:lnTo>
                <a:lnTo>
                  <a:pt x="0" y="0"/>
                </a:lnTo>
                <a:lnTo>
                  <a:pt x="38100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483970" y="2947822"/>
            <a:ext cx="38100" cy="10160"/>
          </a:xfrm>
          <a:custGeom>
            <a:avLst/>
            <a:gdLst/>
            <a:ahLst/>
            <a:cxnLst/>
            <a:rect l="l" t="t" r="r" b="b"/>
            <a:pathLst>
              <a:path w="38100" h="10160">
                <a:moveTo>
                  <a:pt x="38100" y="9563"/>
                </a:moveTo>
                <a:lnTo>
                  <a:pt x="0" y="9525"/>
                </a:lnTo>
                <a:lnTo>
                  <a:pt x="0" y="0"/>
                </a:lnTo>
                <a:lnTo>
                  <a:pt x="38100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550645" y="2947885"/>
            <a:ext cx="38100" cy="10160"/>
          </a:xfrm>
          <a:custGeom>
            <a:avLst/>
            <a:gdLst/>
            <a:ahLst/>
            <a:cxnLst/>
            <a:rect l="l" t="t" r="r" b="b"/>
            <a:pathLst>
              <a:path w="38100" h="10160">
                <a:moveTo>
                  <a:pt x="38100" y="9563"/>
                </a:moveTo>
                <a:lnTo>
                  <a:pt x="0" y="9525"/>
                </a:lnTo>
                <a:lnTo>
                  <a:pt x="0" y="0"/>
                </a:lnTo>
                <a:lnTo>
                  <a:pt x="38100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617320" y="2947949"/>
            <a:ext cx="38100" cy="10160"/>
          </a:xfrm>
          <a:custGeom>
            <a:avLst/>
            <a:gdLst/>
            <a:ahLst/>
            <a:cxnLst/>
            <a:rect l="l" t="t" r="r" b="b"/>
            <a:pathLst>
              <a:path w="38100" h="10160">
                <a:moveTo>
                  <a:pt x="38100" y="9563"/>
                </a:moveTo>
                <a:lnTo>
                  <a:pt x="0" y="9525"/>
                </a:lnTo>
                <a:lnTo>
                  <a:pt x="0" y="0"/>
                </a:lnTo>
                <a:lnTo>
                  <a:pt x="38100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683995" y="2948012"/>
            <a:ext cx="38100" cy="10160"/>
          </a:xfrm>
          <a:custGeom>
            <a:avLst/>
            <a:gdLst/>
            <a:ahLst/>
            <a:cxnLst/>
            <a:rect l="l" t="t" r="r" b="b"/>
            <a:pathLst>
              <a:path w="38100" h="10160">
                <a:moveTo>
                  <a:pt x="38100" y="9563"/>
                </a:moveTo>
                <a:lnTo>
                  <a:pt x="0" y="9525"/>
                </a:lnTo>
                <a:lnTo>
                  <a:pt x="0" y="0"/>
                </a:lnTo>
                <a:lnTo>
                  <a:pt x="38100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7750670" y="2948076"/>
            <a:ext cx="38100" cy="10160"/>
          </a:xfrm>
          <a:custGeom>
            <a:avLst/>
            <a:gdLst/>
            <a:ahLst/>
            <a:cxnLst/>
            <a:rect l="l" t="t" r="r" b="b"/>
            <a:pathLst>
              <a:path w="38100" h="10160">
                <a:moveTo>
                  <a:pt x="38100" y="9563"/>
                </a:moveTo>
                <a:lnTo>
                  <a:pt x="0" y="9525"/>
                </a:lnTo>
                <a:lnTo>
                  <a:pt x="0" y="0"/>
                </a:lnTo>
                <a:lnTo>
                  <a:pt x="38100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7817345" y="2948152"/>
            <a:ext cx="38100" cy="10160"/>
          </a:xfrm>
          <a:custGeom>
            <a:avLst/>
            <a:gdLst/>
            <a:ahLst/>
            <a:cxnLst/>
            <a:rect l="l" t="t" r="r" b="b"/>
            <a:pathLst>
              <a:path w="38100" h="10160">
                <a:moveTo>
                  <a:pt x="38100" y="9550"/>
                </a:moveTo>
                <a:lnTo>
                  <a:pt x="0" y="9524"/>
                </a:lnTo>
                <a:lnTo>
                  <a:pt x="0" y="0"/>
                </a:lnTo>
                <a:lnTo>
                  <a:pt x="38100" y="25"/>
                </a:lnTo>
                <a:lnTo>
                  <a:pt x="38100" y="95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7884020" y="2948216"/>
            <a:ext cx="38100" cy="10160"/>
          </a:xfrm>
          <a:custGeom>
            <a:avLst/>
            <a:gdLst/>
            <a:ahLst/>
            <a:cxnLst/>
            <a:rect l="l" t="t" r="r" b="b"/>
            <a:pathLst>
              <a:path w="38100" h="10160">
                <a:moveTo>
                  <a:pt x="38100" y="9550"/>
                </a:moveTo>
                <a:lnTo>
                  <a:pt x="0" y="9524"/>
                </a:lnTo>
                <a:lnTo>
                  <a:pt x="0" y="0"/>
                </a:lnTo>
                <a:lnTo>
                  <a:pt x="38100" y="25"/>
                </a:lnTo>
                <a:lnTo>
                  <a:pt x="38100" y="95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7950695" y="2948279"/>
            <a:ext cx="38100" cy="10160"/>
          </a:xfrm>
          <a:custGeom>
            <a:avLst/>
            <a:gdLst/>
            <a:ahLst/>
            <a:cxnLst/>
            <a:rect l="l" t="t" r="r" b="b"/>
            <a:pathLst>
              <a:path w="38100" h="10160">
                <a:moveTo>
                  <a:pt x="38100" y="9563"/>
                </a:moveTo>
                <a:lnTo>
                  <a:pt x="0" y="9524"/>
                </a:lnTo>
                <a:lnTo>
                  <a:pt x="0" y="0"/>
                </a:lnTo>
                <a:lnTo>
                  <a:pt x="38100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8017370" y="2948343"/>
            <a:ext cx="38100" cy="10160"/>
          </a:xfrm>
          <a:custGeom>
            <a:avLst/>
            <a:gdLst/>
            <a:ahLst/>
            <a:cxnLst/>
            <a:rect l="l" t="t" r="r" b="b"/>
            <a:pathLst>
              <a:path w="38100" h="10160">
                <a:moveTo>
                  <a:pt x="38100" y="9563"/>
                </a:moveTo>
                <a:lnTo>
                  <a:pt x="0" y="9524"/>
                </a:lnTo>
                <a:lnTo>
                  <a:pt x="0" y="0"/>
                </a:lnTo>
                <a:lnTo>
                  <a:pt x="38100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8084045" y="2948406"/>
            <a:ext cx="38100" cy="10160"/>
          </a:xfrm>
          <a:custGeom>
            <a:avLst/>
            <a:gdLst/>
            <a:ahLst/>
            <a:cxnLst/>
            <a:rect l="l" t="t" r="r" b="b"/>
            <a:pathLst>
              <a:path w="38100" h="10160">
                <a:moveTo>
                  <a:pt x="38100" y="9563"/>
                </a:moveTo>
                <a:lnTo>
                  <a:pt x="0" y="9524"/>
                </a:lnTo>
                <a:lnTo>
                  <a:pt x="0" y="0"/>
                </a:lnTo>
                <a:lnTo>
                  <a:pt x="38100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8150720" y="2948470"/>
            <a:ext cx="38100" cy="10160"/>
          </a:xfrm>
          <a:custGeom>
            <a:avLst/>
            <a:gdLst/>
            <a:ahLst/>
            <a:cxnLst/>
            <a:rect l="l" t="t" r="r" b="b"/>
            <a:pathLst>
              <a:path w="38100" h="10160">
                <a:moveTo>
                  <a:pt x="38100" y="9563"/>
                </a:moveTo>
                <a:lnTo>
                  <a:pt x="0" y="9525"/>
                </a:lnTo>
                <a:lnTo>
                  <a:pt x="0" y="0"/>
                </a:lnTo>
                <a:lnTo>
                  <a:pt x="38100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8217395" y="2948533"/>
            <a:ext cx="38100" cy="10160"/>
          </a:xfrm>
          <a:custGeom>
            <a:avLst/>
            <a:gdLst/>
            <a:ahLst/>
            <a:cxnLst/>
            <a:rect l="l" t="t" r="r" b="b"/>
            <a:pathLst>
              <a:path w="38100" h="10160">
                <a:moveTo>
                  <a:pt x="38100" y="9563"/>
                </a:moveTo>
                <a:lnTo>
                  <a:pt x="0" y="9525"/>
                </a:lnTo>
                <a:lnTo>
                  <a:pt x="0" y="0"/>
                </a:lnTo>
                <a:lnTo>
                  <a:pt x="38100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8284070" y="2948597"/>
            <a:ext cx="38100" cy="10160"/>
          </a:xfrm>
          <a:custGeom>
            <a:avLst/>
            <a:gdLst/>
            <a:ahLst/>
            <a:cxnLst/>
            <a:rect l="l" t="t" r="r" b="b"/>
            <a:pathLst>
              <a:path w="38100" h="10160">
                <a:moveTo>
                  <a:pt x="38100" y="9563"/>
                </a:moveTo>
                <a:lnTo>
                  <a:pt x="0" y="9525"/>
                </a:lnTo>
                <a:lnTo>
                  <a:pt x="0" y="0"/>
                </a:lnTo>
                <a:lnTo>
                  <a:pt x="38100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8350745" y="2948660"/>
            <a:ext cx="38100" cy="10160"/>
          </a:xfrm>
          <a:custGeom>
            <a:avLst/>
            <a:gdLst/>
            <a:ahLst/>
            <a:cxnLst/>
            <a:rect l="l" t="t" r="r" b="b"/>
            <a:pathLst>
              <a:path w="38100" h="10160">
                <a:moveTo>
                  <a:pt x="38100" y="9563"/>
                </a:moveTo>
                <a:lnTo>
                  <a:pt x="0" y="9525"/>
                </a:lnTo>
                <a:lnTo>
                  <a:pt x="0" y="0"/>
                </a:lnTo>
                <a:lnTo>
                  <a:pt x="38100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8417420" y="2948724"/>
            <a:ext cx="38100" cy="10160"/>
          </a:xfrm>
          <a:custGeom>
            <a:avLst/>
            <a:gdLst/>
            <a:ahLst/>
            <a:cxnLst/>
            <a:rect l="l" t="t" r="r" b="b"/>
            <a:pathLst>
              <a:path w="38100" h="10160">
                <a:moveTo>
                  <a:pt x="38100" y="9563"/>
                </a:moveTo>
                <a:lnTo>
                  <a:pt x="0" y="9525"/>
                </a:lnTo>
                <a:lnTo>
                  <a:pt x="0" y="0"/>
                </a:lnTo>
                <a:lnTo>
                  <a:pt x="38100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8484095" y="2948787"/>
            <a:ext cx="38100" cy="10160"/>
          </a:xfrm>
          <a:custGeom>
            <a:avLst/>
            <a:gdLst/>
            <a:ahLst/>
            <a:cxnLst/>
            <a:rect l="l" t="t" r="r" b="b"/>
            <a:pathLst>
              <a:path w="38100" h="10160">
                <a:moveTo>
                  <a:pt x="38100" y="9563"/>
                </a:moveTo>
                <a:lnTo>
                  <a:pt x="0" y="9525"/>
                </a:lnTo>
                <a:lnTo>
                  <a:pt x="0" y="0"/>
                </a:lnTo>
                <a:lnTo>
                  <a:pt x="38100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8550770" y="2948851"/>
            <a:ext cx="38100" cy="10160"/>
          </a:xfrm>
          <a:custGeom>
            <a:avLst/>
            <a:gdLst/>
            <a:ahLst/>
            <a:cxnLst/>
            <a:rect l="l" t="t" r="r" b="b"/>
            <a:pathLst>
              <a:path w="38100" h="10160">
                <a:moveTo>
                  <a:pt x="38100" y="9563"/>
                </a:moveTo>
                <a:lnTo>
                  <a:pt x="0" y="9525"/>
                </a:lnTo>
                <a:lnTo>
                  <a:pt x="0" y="0"/>
                </a:lnTo>
                <a:lnTo>
                  <a:pt x="38100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8617445" y="2948914"/>
            <a:ext cx="38100" cy="10160"/>
          </a:xfrm>
          <a:custGeom>
            <a:avLst/>
            <a:gdLst/>
            <a:ahLst/>
            <a:cxnLst/>
            <a:rect l="l" t="t" r="r" b="b"/>
            <a:pathLst>
              <a:path w="38100" h="10160">
                <a:moveTo>
                  <a:pt x="38100" y="9563"/>
                </a:moveTo>
                <a:lnTo>
                  <a:pt x="0" y="9525"/>
                </a:lnTo>
                <a:lnTo>
                  <a:pt x="0" y="0"/>
                </a:lnTo>
                <a:lnTo>
                  <a:pt x="38100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8684120" y="2948978"/>
            <a:ext cx="38100" cy="10160"/>
          </a:xfrm>
          <a:custGeom>
            <a:avLst/>
            <a:gdLst/>
            <a:ahLst/>
            <a:cxnLst/>
            <a:rect l="l" t="t" r="r" b="b"/>
            <a:pathLst>
              <a:path w="38100" h="10160">
                <a:moveTo>
                  <a:pt x="38100" y="9563"/>
                </a:moveTo>
                <a:lnTo>
                  <a:pt x="0" y="9525"/>
                </a:lnTo>
                <a:lnTo>
                  <a:pt x="0" y="0"/>
                </a:lnTo>
                <a:lnTo>
                  <a:pt x="38100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8750795" y="2949041"/>
            <a:ext cx="38100" cy="10160"/>
          </a:xfrm>
          <a:custGeom>
            <a:avLst/>
            <a:gdLst/>
            <a:ahLst/>
            <a:cxnLst/>
            <a:rect l="l" t="t" r="r" b="b"/>
            <a:pathLst>
              <a:path w="38100" h="10160">
                <a:moveTo>
                  <a:pt x="38100" y="9563"/>
                </a:moveTo>
                <a:lnTo>
                  <a:pt x="0" y="9525"/>
                </a:lnTo>
                <a:lnTo>
                  <a:pt x="0" y="0"/>
                </a:lnTo>
                <a:lnTo>
                  <a:pt x="38100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8817470" y="2949117"/>
            <a:ext cx="38100" cy="10160"/>
          </a:xfrm>
          <a:custGeom>
            <a:avLst/>
            <a:gdLst/>
            <a:ahLst/>
            <a:cxnLst/>
            <a:rect l="l" t="t" r="r" b="b"/>
            <a:pathLst>
              <a:path w="38100" h="10160">
                <a:moveTo>
                  <a:pt x="38100" y="9550"/>
                </a:moveTo>
                <a:lnTo>
                  <a:pt x="0" y="9525"/>
                </a:lnTo>
                <a:lnTo>
                  <a:pt x="0" y="0"/>
                </a:lnTo>
                <a:lnTo>
                  <a:pt x="38100" y="25"/>
                </a:lnTo>
                <a:lnTo>
                  <a:pt x="38100" y="95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8884145" y="2949181"/>
            <a:ext cx="38100" cy="10160"/>
          </a:xfrm>
          <a:custGeom>
            <a:avLst/>
            <a:gdLst/>
            <a:ahLst/>
            <a:cxnLst/>
            <a:rect l="l" t="t" r="r" b="b"/>
            <a:pathLst>
              <a:path w="38100" h="10160">
                <a:moveTo>
                  <a:pt x="38100" y="9550"/>
                </a:moveTo>
                <a:lnTo>
                  <a:pt x="0" y="9525"/>
                </a:lnTo>
                <a:lnTo>
                  <a:pt x="0" y="0"/>
                </a:lnTo>
                <a:lnTo>
                  <a:pt x="38100" y="25"/>
                </a:lnTo>
                <a:lnTo>
                  <a:pt x="38100" y="95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8950820" y="2949244"/>
            <a:ext cx="38100" cy="10160"/>
          </a:xfrm>
          <a:custGeom>
            <a:avLst/>
            <a:gdLst/>
            <a:ahLst/>
            <a:cxnLst/>
            <a:rect l="l" t="t" r="r" b="b"/>
            <a:pathLst>
              <a:path w="38100" h="10160">
                <a:moveTo>
                  <a:pt x="38100" y="9563"/>
                </a:moveTo>
                <a:lnTo>
                  <a:pt x="0" y="9525"/>
                </a:lnTo>
                <a:lnTo>
                  <a:pt x="0" y="0"/>
                </a:lnTo>
                <a:lnTo>
                  <a:pt x="38100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9017495" y="2949308"/>
            <a:ext cx="38100" cy="10160"/>
          </a:xfrm>
          <a:custGeom>
            <a:avLst/>
            <a:gdLst/>
            <a:ahLst/>
            <a:cxnLst/>
            <a:rect l="l" t="t" r="r" b="b"/>
            <a:pathLst>
              <a:path w="38100" h="10160">
                <a:moveTo>
                  <a:pt x="38100" y="9563"/>
                </a:moveTo>
                <a:lnTo>
                  <a:pt x="0" y="9524"/>
                </a:lnTo>
                <a:lnTo>
                  <a:pt x="0" y="0"/>
                </a:lnTo>
                <a:lnTo>
                  <a:pt x="38100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9084170" y="2949371"/>
            <a:ext cx="38100" cy="10160"/>
          </a:xfrm>
          <a:custGeom>
            <a:avLst/>
            <a:gdLst/>
            <a:ahLst/>
            <a:cxnLst/>
            <a:rect l="l" t="t" r="r" b="b"/>
            <a:pathLst>
              <a:path w="38100" h="10160">
                <a:moveTo>
                  <a:pt x="38100" y="9563"/>
                </a:moveTo>
                <a:lnTo>
                  <a:pt x="0" y="9524"/>
                </a:lnTo>
                <a:lnTo>
                  <a:pt x="0" y="0"/>
                </a:lnTo>
                <a:lnTo>
                  <a:pt x="38100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9150845" y="2949435"/>
            <a:ext cx="38100" cy="10160"/>
          </a:xfrm>
          <a:custGeom>
            <a:avLst/>
            <a:gdLst/>
            <a:ahLst/>
            <a:cxnLst/>
            <a:rect l="l" t="t" r="r" b="b"/>
            <a:pathLst>
              <a:path w="38100" h="10160">
                <a:moveTo>
                  <a:pt x="38100" y="9563"/>
                </a:moveTo>
                <a:lnTo>
                  <a:pt x="0" y="9524"/>
                </a:lnTo>
                <a:lnTo>
                  <a:pt x="0" y="0"/>
                </a:lnTo>
                <a:lnTo>
                  <a:pt x="38100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9217520" y="2949498"/>
            <a:ext cx="38100" cy="10160"/>
          </a:xfrm>
          <a:custGeom>
            <a:avLst/>
            <a:gdLst/>
            <a:ahLst/>
            <a:cxnLst/>
            <a:rect l="l" t="t" r="r" b="b"/>
            <a:pathLst>
              <a:path w="38100" h="10160">
                <a:moveTo>
                  <a:pt x="38100" y="9563"/>
                </a:moveTo>
                <a:lnTo>
                  <a:pt x="0" y="9524"/>
                </a:lnTo>
                <a:lnTo>
                  <a:pt x="0" y="0"/>
                </a:lnTo>
                <a:lnTo>
                  <a:pt x="38100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9284195" y="2949562"/>
            <a:ext cx="38100" cy="10160"/>
          </a:xfrm>
          <a:custGeom>
            <a:avLst/>
            <a:gdLst/>
            <a:ahLst/>
            <a:cxnLst/>
            <a:rect l="l" t="t" r="r" b="b"/>
            <a:pathLst>
              <a:path w="38100" h="10160">
                <a:moveTo>
                  <a:pt x="38100" y="9563"/>
                </a:moveTo>
                <a:lnTo>
                  <a:pt x="0" y="9524"/>
                </a:lnTo>
                <a:lnTo>
                  <a:pt x="0" y="0"/>
                </a:lnTo>
                <a:lnTo>
                  <a:pt x="38100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9350870" y="2949625"/>
            <a:ext cx="38100" cy="10160"/>
          </a:xfrm>
          <a:custGeom>
            <a:avLst/>
            <a:gdLst/>
            <a:ahLst/>
            <a:cxnLst/>
            <a:rect l="l" t="t" r="r" b="b"/>
            <a:pathLst>
              <a:path w="38100" h="10160">
                <a:moveTo>
                  <a:pt x="38100" y="9563"/>
                </a:moveTo>
                <a:lnTo>
                  <a:pt x="0" y="9524"/>
                </a:lnTo>
                <a:lnTo>
                  <a:pt x="0" y="0"/>
                </a:lnTo>
                <a:lnTo>
                  <a:pt x="38100" y="38"/>
                </a:lnTo>
                <a:lnTo>
                  <a:pt x="38100" y="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10078808" y="2358466"/>
            <a:ext cx="245529" cy="26041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8492896" y="2372753"/>
            <a:ext cx="245529" cy="26041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8654986" y="2368143"/>
            <a:ext cx="280276" cy="269633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6836588" y="2152688"/>
            <a:ext cx="188823" cy="26874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 txBox="1"/>
          <p:nvPr/>
        </p:nvSpPr>
        <p:spPr>
          <a:xfrm>
            <a:off x="1243964" y="658495"/>
            <a:ext cx="5029835" cy="2275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4300"/>
              </a:lnSpc>
              <a:spcBef>
                <a:spcPts val="100"/>
              </a:spcBef>
              <a:tabLst>
                <a:tab pos="1387475" algn="l"/>
              </a:tabLst>
            </a:pPr>
            <a:r>
              <a:rPr dirty="0" sz="3600" b="1">
                <a:solidFill>
                  <a:srgbClr val="990033"/>
                </a:solidFill>
                <a:latin typeface="宋体"/>
                <a:cs typeface="宋体"/>
              </a:rPr>
              <a:t>例题</a:t>
            </a:r>
            <a:r>
              <a:rPr dirty="0" sz="3600" b="1">
                <a:solidFill>
                  <a:srgbClr val="990033"/>
                </a:solidFill>
                <a:latin typeface="Times New Roman"/>
                <a:cs typeface="Times New Roman"/>
              </a:rPr>
              <a:t>5	</a:t>
            </a:r>
            <a:r>
              <a:rPr dirty="0" sz="2800" b="1" i="1">
                <a:solidFill>
                  <a:srgbClr val="000099"/>
                </a:solidFill>
                <a:latin typeface="华文楷体"/>
                <a:cs typeface="华文楷体"/>
              </a:rPr>
              <a:t>如图示，已知最大值</a:t>
            </a:r>
            <a:r>
              <a:rPr dirty="0" sz="2800" spc="-10" b="1" i="1">
                <a:solidFill>
                  <a:srgbClr val="000099"/>
                </a:solidFill>
                <a:latin typeface="华文楷体"/>
                <a:cs typeface="华文楷体"/>
              </a:rPr>
              <a:t>为</a:t>
            </a:r>
            <a:endParaRPr sz="2800">
              <a:latin typeface="华文楷体"/>
              <a:cs typeface="华文楷体"/>
            </a:endParaRPr>
          </a:p>
          <a:p>
            <a:pPr marL="12700" marR="5080">
              <a:lnSpc>
                <a:spcPts val="3320"/>
              </a:lnSpc>
              <a:spcBef>
                <a:spcPts val="120"/>
              </a:spcBef>
            </a:pPr>
            <a:r>
              <a:rPr dirty="0" sz="2800" spc="5" b="1" i="1">
                <a:solidFill>
                  <a:srgbClr val="000099"/>
                </a:solidFill>
                <a:latin typeface="Times New Roman"/>
                <a:cs typeface="Times New Roman"/>
              </a:rPr>
              <a:t>E</a:t>
            </a:r>
            <a:r>
              <a:rPr dirty="0" baseline="-16975" sz="2700" spc="7" b="1">
                <a:solidFill>
                  <a:srgbClr val="000099"/>
                </a:solidFill>
                <a:latin typeface="Times New Roman"/>
                <a:cs typeface="Times New Roman"/>
              </a:rPr>
              <a:t>m</a:t>
            </a:r>
            <a:r>
              <a:rPr dirty="0" sz="2800" b="1" i="1">
                <a:solidFill>
                  <a:srgbClr val="000099"/>
                </a:solidFill>
                <a:latin typeface="华文楷体"/>
                <a:cs typeface="华文楷体"/>
              </a:rPr>
              <a:t>。求</a:t>
            </a:r>
            <a:r>
              <a:rPr dirty="0" sz="2800" spc="-10" b="1" i="1">
                <a:solidFill>
                  <a:srgbClr val="000099"/>
                </a:solidFill>
                <a:latin typeface="华文楷体"/>
                <a:cs typeface="华文楷体"/>
              </a:rPr>
              <a:t>从</a:t>
            </a:r>
            <a:r>
              <a:rPr dirty="0" sz="2800" spc="-30" b="1" i="1">
                <a:solidFill>
                  <a:srgbClr val="000099"/>
                </a:solidFill>
                <a:latin typeface="华文楷体"/>
                <a:cs typeface="华文楷体"/>
              </a:rPr>
              <a:t> </a:t>
            </a:r>
            <a:r>
              <a:rPr dirty="0" sz="2800" spc="-5" b="1" i="1">
                <a:solidFill>
                  <a:srgbClr val="000099"/>
                </a:solidFill>
                <a:latin typeface="Times New Roman"/>
                <a:cs typeface="Times New Roman"/>
              </a:rPr>
              <a:t>t</a:t>
            </a:r>
            <a:r>
              <a:rPr dirty="0" sz="2800" spc="-30" b="1" i="1">
                <a:solidFill>
                  <a:srgbClr val="000099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000099"/>
                </a:solidFill>
                <a:latin typeface="Times New Roman"/>
                <a:cs typeface="Times New Roman"/>
              </a:rPr>
              <a:t>=0</a:t>
            </a:r>
            <a:r>
              <a:rPr dirty="0" sz="2800" b="1" i="1">
                <a:solidFill>
                  <a:srgbClr val="000099"/>
                </a:solidFill>
                <a:latin typeface="华文楷体"/>
                <a:cs typeface="华文楷体"/>
              </a:rPr>
              <a:t>开始的各段时间</a:t>
            </a:r>
            <a:r>
              <a:rPr dirty="0" sz="2800" spc="-10" b="1" i="1">
                <a:solidFill>
                  <a:srgbClr val="000099"/>
                </a:solidFill>
                <a:latin typeface="华文楷体"/>
                <a:cs typeface="华文楷体"/>
              </a:rPr>
              <a:t>内 </a:t>
            </a:r>
            <a:r>
              <a:rPr dirty="0" sz="2800" b="1" i="1">
                <a:solidFill>
                  <a:srgbClr val="000099"/>
                </a:solidFill>
                <a:latin typeface="华文楷体"/>
                <a:cs typeface="华文楷体"/>
              </a:rPr>
              <a:t>电动势的平均值</a:t>
            </a:r>
            <a:r>
              <a:rPr dirty="0" sz="2800" spc="-10" b="1" i="1">
                <a:solidFill>
                  <a:srgbClr val="000099"/>
                </a:solidFill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  <a:p>
            <a:pPr marL="12700">
              <a:lnSpc>
                <a:spcPts val="3295"/>
              </a:lnSpc>
            </a:pPr>
            <a:r>
              <a:rPr dirty="0" sz="2800" spc="-5" b="1" i="1">
                <a:solidFill>
                  <a:srgbClr val="000099"/>
                </a:solidFill>
                <a:latin typeface="华文楷体"/>
                <a:cs typeface="华文楷体"/>
              </a:rPr>
              <a:t>（</a:t>
            </a:r>
            <a:r>
              <a:rPr dirty="0" sz="2800" spc="-5" b="1">
                <a:solidFill>
                  <a:srgbClr val="000099"/>
                </a:solidFill>
                <a:latin typeface="Times New Roman"/>
                <a:cs typeface="Times New Roman"/>
              </a:rPr>
              <a:t>1</a:t>
            </a:r>
            <a:r>
              <a:rPr dirty="0" sz="2800" spc="-5" b="1" i="1">
                <a:solidFill>
                  <a:srgbClr val="000099"/>
                </a:solidFill>
                <a:latin typeface="华文楷体"/>
                <a:cs typeface="华文楷体"/>
              </a:rPr>
              <a:t>）</a:t>
            </a:r>
            <a:r>
              <a:rPr dirty="0" sz="2800" spc="-5" b="1" i="1">
                <a:solidFill>
                  <a:srgbClr val="000099"/>
                </a:solidFill>
                <a:latin typeface="Times New Roman"/>
                <a:cs typeface="Times New Roman"/>
              </a:rPr>
              <a:t>T</a:t>
            </a:r>
            <a:r>
              <a:rPr dirty="0" sz="2800" spc="-5" b="1">
                <a:solidFill>
                  <a:srgbClr val="000099"/>
                </a:solidFill>
                <a:latin typeface="Times New Roman"/>
                <a:cs typeface="Times New Roman"/>
              </a:rPr>
              <a:t>/4</a:t>
            </a:r>
            <a:r>
              <a:rPr dirty="0" sz="2800" spc="-5" b="1" i="1">
                <a:solidFill>
                  <a:srgbClr val="000099"/>
                </a:solidFill>
                <a:latin typeface="华文楷体"/>
                <a:cs typeface="华文楷体"/>
              </a:rPr>
              <a:t>；</a:t>
            </a:r>
            <a:endParaRPr sz="28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</a:pPr>
            <a:r>
              <a:rPr dirty="0" sz="2800" spc="-5" b="1" i="1">
                <a:solidFill>
                  <a:srgbClr val="000099"/>
                </a:solidFill>
                <a:latin typeface="华文楷体"/>
                <a:cs typeface="华文楷体"/>
              </a:rPr>
              <a:t>（</a:t>
            </a:r>
            <a:r>
              <a:rPr dirty="0" sz="2800" spc="-5" b="1">
                <a:solidFill>
                  <a:srgbClr val="000099"/>
                </a:solidFill>
                <a:latin typeface="Times New Roman"/>
                <a:cs typeface="Times New Roman"/>
              </a:rPr>
              <a:t>2</a:t>
            </a:r>
            <a:r>
              <a:rPr dirty="0" sz="2800" spc="-5" b="1" i="1">
                <a:solidFill>
                  <a:srgbClr val="000099"/>
                </a:solidFill>
                <a:latin typeface="华文楷体"/>
                <a:cs typeface="华文楷体"/>
              </a:rPr>
              <a:t>）</a:t>
            </a:r>
            <a:r>
              <a:rPr dirty="0" sz="2800" spc="-5" b="1" i="1">
                <a:solidFill>
                  <a:srgbClr val="000099"/>
                </a:solidFill>
                <a:latin typeface="Times New Roman"/>
                <a:cs typeface="Times New Roman"/>
              </a:rPr>
              <a:t>T</a:t>
            </a:r>
            <a:r>
              <a:rPr dirty="0" sz="2800" spc="-5" b="1">
                <a:solidFill>
                  <a:srgbClr val="000099"/>
                </a:solidFill>
                <a:latin typeface="Times New Roman"/>
                <a:cs typeface="Times New Roman"/>
              </a:rPr>
              <a:t>/2</a:t>
            </a:r>
            <a:r>
              <a:rPr dirty="0" sz="2800" spc="-5" b="1" i="1">
                <a:solidFill>
                  <a:srgbClr val="000099"/>
                </a:solidFill>
                <a:latin typeface="华文楷体"/>
                <a:cs typeface="华文楷体"/>
              </a:rPr>
              <a:t>；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243964" y="2839130"/>
            <a:ext cx="3771900" cy="1563370"/>
          </a:xfrm>
          <a:prstGeom prst="rect">
            <a:avLst/>
          </a:prstGeom>
        </p:spPr>
        <p:txBody>
          <a:bodyPr wrap="square" lIns="0" tIns="825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dirty="0" sz="2800" spc="-5" b="1" i="1">
                <a:solidFill>
                  <a:srgbClr val="000099"/>
                </a:solidFill>
                <a:latin typeface="华文楷体"/>
                <a:cs typeface="华文楷体"/>
              </a:rPr>
              <a:t>（</a:t>
            </a:r>
            <a:r>
              <a:rPr dirty="0" sz="2800" spc="-5" b="1">
                <a:solidFill>
                  <a:srgbClr val="000099"/>
                </a:solidFill>
                <a:latin typeface="Times New Roman"/>
                <a:cs typeface="Times New Roman"/>
              </a:rPr>
              <a:t>3</a:t>
            </a:r>
            <a:r>
              <a:rPr dirty="0" sz="2800" spc="-5" b="1" i="1">
                <a:solidFill>
                  <a:srgbClr val="000099"/>
                </a:solidFill>
                <a:latin typeface="华文楷体"/>
                <a:cs typeface="华文楷体"/>
              </a:rPr>
              <a:t>）</a:t>
            </a:r>
            <a:r>
              <a:rPr dirty="0" sz="2800" spc="-5" b="1" i="1">
                <a:solidFill>
                  <a:srgbClr val="000099"/>
                </a:solidFill>
                <a:latin typeface="Times New Roman"/>
                <a:cs typeface="Times New Roman"/>
              </a:rPr>
              <a:t>T</a:t>
            </a:r>
            <a:r>
              <a:rPr dirty="0" sz="2800" spc="-10" b="1" i="1">
                <a:solidFill>
                  <a:srgbClr val="000099"/>
                </a:solidFill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  <a:p>
            <a:pPr marL="66675">
              <a:lnSpc>
                <a:spcPts val="3685"/>
              </a:lnSpc>
              <a:spcBef>
                <a:spcPts val="640"/>
              </a:spcBef>
            </a:pPr>
            <a:r>
              <a:rPr dirty="0" sz="3200" b="1">
                <a:solidFill>
                  <a:srgbClr val="FF0000"/>
                </a:solidFill>
                <a:latin typeface="方正舒体"/>
                <a:cs typeface="方正舒体"/>
              </a:rPr>
              <a:t>提示（</a:t>
            </a:r>
            <a:r>
              <a:rPr dirty="0" sz="3200" spc="-5" b="1">
                <a:solidFill>
                  <a:srgbClr val="FF0000"/>
                </a:solidFill>
                <a:latin typeface="方正舒体"/>
                <a:cs typeface="方正舒体"/>
              </a:rPr>
              <a:t>1</a:t>
            </a:r>
            <a:r>
              <a:rPr dirty="0" sz="3200" b="1">
                <a:solidFill>
                  <a:srgbClr val="FF0000"/>
                </a:solidFill>
                <a:latin typeface="方正舒体"/>
                <a:cs typeface="方正舒体"/>
              </a:rPr>
              <a:t>）</a:t>
            </a:r>
            <a:r>
              <a:rPr dirty="0" sz="3200" b="1">
                <a:solidFill>
                  <a:srgbClr val="FF0000"/>
                </a:solidFill>
                <a:latin typeface="方正舒体"/>
                <a:cs typeface="方正舒体"/>
              </a:rPr>
              <a:t>T</a:t>
            </a:r>
            <a:r>
              <a:rPr dirty="0" sz="3200" b="1">
                <a:solidFill>
                  <a:srgbClr val="FF0000"/>
                </a:solidFill>
                <a:latin typeface="方正舒体"/>
                <a:cs typeface="方正舒体"/>
              </a:rPr>
              <a:t>/</a:t>
            </a:r>
            <a:r>
              <a:rPr dirty="0" sz="3200" b="1">
                <a:solidFill>
                  <a:srgbClr val="FF0000"/>
                </a:solidFill>
                <a:latin typeface="方正舒体"/>
                <a:cs typeface="方正舒体"/>
              </a:rPr>
              <a:t>4</a:t>
            </a:r>
            <a:r>
              <a:rPr dirty="0" sz="3200" b="1">
                <a:solidFill>
                  <a:srgbClr val="FF0000"/>
                </a:solidFill>
                <a:latin typeface="方正舒体"/>
                <a:cs typeface="方正舒体"/>
              </a:rPr>
              <a:t>时间</a:t>
            </a:r>
            <a:r>
              <a:rPr dirty="0" sz="3200" spc="-10" b="1">
                <a:solidFill>
                  <a:srgbClr val="FF0000"/>
                </a:solidFill>
                <a:latin typeface="方正舒体"/>
                <a:cs typeface="方正舒体"/>
              </a:rPr>
              <a:t>内</a:t>
            </a:r>
            <a:endParaRPr sz="3200">
              <a:latin typeface="方正舒体"/>
              <a:cs typeface="方正舒体"/>
            </a:endParaRPr>
          </a:p>
          <a:p>
            <a:pPr marL="1169670">
              <a:lnSpc>
                <a:spcPts val="3865"/>
              </a:lnSpc>
              <a:tabLst>
                <a:tab pos="2439670" algn="l"/>
              </a:tabLst>
            </a:pPr>
            <a:r>
              <a:rPr dirty="0" sz="3200" spc="15">
                <a:solidFill>
                  <a:srgbClr val="FF0000"/>
                </a:solidFill>
                <a:latin typeface="Symbol"/>
                <a:cs typeface="Symbol"/>
              </a:rPr>
              <a:t></a:t>
            </a:r>
            <a:r>
              <a:rPr dirty="0" sz="3200" spc="-38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350" spc="-75" i="1">
                <a:solidFill>
                  <a:srgbClr val="FF0000"/>
                </a:solidFill>
                <a:latin typeface="Symbol"/>
                <a:cs typeface="Symbol"/>
              </a:rPr>
              <a:t></a:t>
            </a:r>
            <a:r>
              <a:rPr dirty="0" sz="3350" spc="65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200" spc="10">
                <a:solidFill>
                  <a:srgbClr val="FF0000"/>
                </a:solidFill>
                <a:latin typeface="Symbol"/>
                <a:cs typeface="Symbol"/>
              </a:rPr>
              <a:t></a:t>
            </a:r>
            <a:r>
              <a:rPr dirty="0" sz="3200" spc="1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dirty="0" sz="3200" spc="15" i="1">
                <a:solidFill>
                  <a:srgbClr val="FF0000"/>
                </a:solidFill>
                <a:latin typeface="Times New Roman"/>
                <a:cs typeface="Times New Roman"/>
              </a:rPr>
              <a:t>B</a:t>
            </a:r>
            <a:r>
              <a:rPr dirty="0" sz="3200" spc="-165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200" spc="10" i="1">
                <a:solidFill>
                  <a:srgbClr val="FF0000"/>
                </a:solidFill>
                <a:latin typeface="Times New Roman"/>
                <a:cs typeface="Times New Roman"/>
              </a:rPr>
              <a:t>S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2457348" y="4854105"/>
            <a:ext cx="132715" cy="2825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5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3200349" y="4873391"/>
            <a:ext cx="1480185" cy="4940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864869" algn="l"/>
              </a:tabLst>
            </a:pPr>
            <a:r>
              <a:rPr dirty="0" sz="2900" spc="5">
                <a:solidFill>
                  <a:srgbClr val="FF0000"/>
                </a:solidFill>
                <a:latin typeface="Times New Roman"/>
                <a:cs typeface="Times New Roman"/>
              </a:rPr>
              <a:t>4	2</a:t>
            </a:r>
            <a:r>
              <a:rPr dirty="0" sz="3050" spc="5" i="1">
                <a:solidFill>
                  <a:srgbClr val="FF0000"/>
                </a:solidFill>
                <a:latin typeface="Symbol"/>
                <a:cs typeface="Symbol"/>
              </a:rPr>
              <a:t></a:t>
            </a:r>
            <a:endParaRPr sz="3050">
              <a:latin typeface="Symbol"/>
              <a:cs typeface="Symbol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2038680" y="4601603"/>
            <a:ext cx="431165" cy="47053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00" spc="10">
                <a:solidFill>
                  <a:srgbClr val="FF0000"/>
                </a:solidFill>
                <a:latin typeface="Symbol"/>
                <a:cs typeface="Symbol"/>
              </a:rPr>
              <a:t></a:t>
            </a:r>
            <a:r>
              <a:rPr dirty="0" sz="2900" spc="-21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900" spc="5" i="1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2742920" y="4347065"/>
            <a:ext cx="1770380" cy="4940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407670" algn="l"/>
                <a:tab pos="895985" algn="l"/>
                <a:tab pos="1238885" algn="l"/>
              </a:tabLst>
            </a:pPr>
            <a:r>
              <a:rPr dirty="0" baseline="-35440" sz="4350" spc="15">
                <a:solidFill>
                  <a:srgbClr val="FF0000"/>
                </a:solidFill>
                <a:latin typeface="Symbol"/>
                <a:cs typeface="Symbol"/>
              </a:rPr>
              <a:t></a:t>
            </a:r>
            <a:r>
              <a:rPr dirty="0" baseline="-35440" sz="4350" spc="15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dirty="0" u="heavy" sz="2900" spc="10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</a:t>
            </a:r>
            <a:r>
              <a:rPr dirty="0" sz="2900" spc="10" i="1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dirty="0" baseline="-35440" sz="4350" spc="15">
                <a:solidFill>
                  <a:srgbClr val="FF0000"/>
                </a:solidFill>
                <a:latin typeface="Symbol"/>
                <a:cs typeface="Symbol"/>
              </a:rPr>
              <a:t></a:t>
            </a:r>
            <a:r>
              <a:rPr dirty="0" baseline="-35440" sz="4350" spc="15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dirty="0" u="heavy" sz="2900" spc="1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3050" spc="-75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Symbol"/>
                <a:cs typeface="Symbol"/>
              </a:rPr>
              <a:t></a:t>
            </a:r>
            <a:endParaRPr sz="3050">
              <a:latin typeface="Symbol"/>
              <a:cs typeface="Symbol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1468793" y="5619762"/>
            <a:ext cx="235585" cy="0"/>
          </a:xfrm>
          <a:custGeom>
            <a:avLst/>
            <a:gdLst/>
            <a:ahLst/>
            <a:cxnLst/>
            <a:rect l="l" t="t" r="r" b="b"/>
            <a:pathLst>
              <a:path w="235585" h="0">
                <a:moveTo>
                  <a:pt x="0" y="0"/>
                </a:moveTo>
                <a:lnTo>
                  <a:pt x="235534" y="0"/>
                </a:lnTo>
              </a:path>
            </a:pathLst>
          </a:custGeom>
          <a:ln w="20408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2755633" y="5827115"/>
            <a:ext cx="706755" cy="0"/>
          </a:xfrm>
          <a:custGeom>
            <a:avLst/>
            <a:gdLst/>
            <a:ahLst/>
            <a:cxnLst/>
            <a:rect l="l" t="t" r="r" b="b"/>
            <a:pathLst>
              <a:path w="706754" h="0">
                <a:moveTo>
                  <a:pt x="0" y="0"/>
                </a:moveTo>
                <a:lnTo>
                  <a:pt x="706602" y="0"/>
                </a:lnTo>
              </a:path>
            </a:pathLst>
          </a:custGeom>
          <a:ln w="20408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3962743" y="5827115"/>
            <a:ext cx="346075" cy="0"/>
          </a:xfrm>
          <a:custGeom>
            <a:avLst/>
            <a:gdLst/>
            <a:ahLst/>
            <a:cxnLst/>
            <a:rect l="l" t="t" r="r" b="b"/>
            <a:pathLst>
              <a:path w="346075" h="0">
                <a:moveTo>
                  <a:pt x="0" y="0"/>
                </a:moveTo>
                <a:lnTo>
                  <a:pt x="345948" y="0"/>
                </a:lnTo>
              </a:path>
            </a:pathLst>
          </a:custGeom>
          <a:ln w="20408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 txBox="1"/>
          <p:nvPr/>
        </p:nvSpPr>
        <p:spPr>
          <a:xfrm>
            <a:off x="1647456" y="5789231"/>
            <a:ext cx="127000" cy="2724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600" spc="-5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3218903" y="6065697"/>
            <a:ext cx="127000" cy="2724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600" spc="-5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1389849" y="5547804"/>
            <a:ext cx="2403475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1020" algn="l"/>
                <a:tab pos="930910" algn="l"/>
                <a:tab pos="1395095" algn="l"/>
                <a:tab pos="2197100" algn="l"/>
              </a:tabLst>
            </a:pPr>
            <a:r>
              <a:rPr dirty="0" sz="2800" spc="-25" i="1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dirty="0" sz="2800" spc="-25" i="1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dirty="0" sz="2800" spc="-20">
                <a:solidFill>
                  <a:srgbClr val="FF0000"/>
                </a:solidFill>
                <a:latin typeface="Symbol"/>
                <a:cs typeface="Symbol"/>
              </a:rPr>
              <a:t></a:t>
            </a:r>
            <a:r>
              <a:rPr dirty="0" sz="2800" spc="-2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dirty="0" sz="2800" spc="-25" i="1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dirty="0" sz="2800" spc="-25" i="1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dirty="0" baseline="34722" sz="4200" spc="-37">
                <a:solidFill>
                  <a:srgbClr val="FF0000"/>
                </a:solidFill>
                <a:latin typeface="Symbol"/>
                <a:cs typeface="Symbol"/>
              </a:rPr>
              <a:t></a:t>
            </a:r>
            <a:r>
              <a:rPr dirty="0" baseline="34722" sz="4200" spc="-202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baseline="34722" sz="4200" spc="-44">
                <a:solidFill>
                  <a:srgbClr val="FF0000"/>
                </a:solidFill>
                <a:latin typeface="Symbol"/>
                <a:cs typeface="Symbol"/>
              </a:rPr>
              <a:t></a:t>
            </a:r>
            <a:r>
              <a:rPr dirty="0" baseline="34722" sz="420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dirty="0" sz="2800" spc="-20">
                <a:solidFill>
                  <a:srgbClr val="FF0000"/>
                </a:solidFill>
                <a:latin typeface="Symbol"/>
                <a:cs typeface="Symbol"/>
              </a:rPr>
              <a:t>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2821444" y="5805524"/>
            <a:ext cx="1464945" cy="475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15060" algn="l"/>
              </a:tabLst>
            </a:pPr>
            <a:r>
              <a:rPr dirty="0" sz="2800" spc="-25">
                <a:solidFill>
                  <a:srgbClr val="FF0000"/>
                </a:solidFill>
                <a:latin typeface="Symbol"/>
                <a:cs typeface="Symbol"/>
              </a:rPr>
              <a:t></a:t>
            </a:r>
            <a:r>
              <a:rPr dirty="0" sz="2800" spc="-13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spc="-10" i="1">
                <a:solidFill>
                  <a:srgbClr val="FF0000"/>
                </a:solidFill>
                <a:latin typeface="Times New Roman"/>
                <a:cs typeface="Times New Roman"/>
              </a:rPr>
              <a:t>t	</a:t>
            </a:r>
            <a:r>
              <a:rPr dirty="0" sz="2950" spc="-105" i="1">
                <a:solidFill>
                  <a:srgbClr val="FF0000"/>
                </a:solidFill>
                <a:latin typeface="Symbol"/>
                <a:cs typeface="Symbol"/>
              </a:rPr>
              <a:t>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5658611" y="4466844"/>
            <a:ext cx="1667510" cy="958850"/>
          </a:xfrm>
          <a:custGeom>
            <a:avLst/>
            <a:gdLst/>
            <a:ahLst/>
            <a:cxnLst/>
            <a:rect l="l" t="t" r="r" b="b"/>
            <a:pathLst>
              <a:path w="1667509" h="958850">
                <a:moveTo>
                  <a:pt x="0" y="0"/>
                </a:moveTo>
                <a:lnTo>
                  <a:pt x="0" y="958595"/>
                </a:lnTo>
                <a:lnTo>
                  <a:pt x="1667256" y="958595"/>
                </a:lnTo>
                <a:lnTo>
                  <a:pt x="1667256" y="0"/>
                </a:lnTo>
                <a:lnTo>
                  <a:pt x="0" y="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5787072" y="4750930"/>
            <a:ext cx="199390" cy="0"/>
          </a:xfrm>
          <a:custGeom>
            <a:avLst/>
            <a:gdLst/>
            <a:ahLst/>
            <a:cxnLst/>
            <a:rect l="l" t="t" r="r" b="b"/>
            <a:pathLst>
              <a:path w="199389" h="0">
                <a:moveTo>
                  <a:pt x="0" y="0"/>
                </a:moveTo>
                <a:lnTo>
                  <a:pt x="199110" y="0"/>
                </a:lnTo>
              </a:path>
            </a:pathLst>
          </a:custGeom>
          <a:ln w="1926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9823704" y="4440935"/>
            <a:ext cx="1539240" cy="960119"/>
          </a:xfrm>
          <a:custGeom>
            <a:avLst/>
            <a:gdLst/>
            <a:ahLst/>
            <a:cxnLst/>
            <a:rect l="l" t="t" r="r" b="b"/>
            <a:pathLst>
              <a:path w="1539240" h="960120">
                <a:moveTo>
                  <a:pt x="0" y="0"/>
                </a:moveTo>
                <a:lnTo>
                  <a:pt x="0" y="960119"/>
                </a:lnTo>
                <a:lnTo>
                  <a:pt x="1539240" y="960119"/>
                </a:lnTo>
                <a:lnTo>
                  <a:pt x="153924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9908730" y="4725593"/>
            <a:ext cx="200025" cy="0"/>
          </a:xfrm>
          <a:custGeom>
            <a:avLst/>
            <a:gdLst/>
            <a:ahLst/>
            <a:cxnLst/>
            <a:rect l="l" t="t" r="r" b="b"/>
            <a:pathLst>
              <a:path w="200025" h="0">
                <a:moveTo>
                  <a:pt x="0" y="0"/>
                </a:moveTo>
                <a:lnTo>
                  <a:pt x="199656" y="0"/>
                </a:lnTo>
              </a:path>
            </a:pathLst>
          </a:custGeom>
          <a:ln w="19304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 txBox="1"/>
          <p:nvPr/>
        </p:nvSpPr>
        <p:spPr>
          <a:xfrm>
            <a:off x="11129606" y="4910632"/>
            <a:ext cx="19050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1700" spc="75">
                <a:solidFill>
                  <a:srgbClr val="0000FF"/>
                </a:solidFill>
                <a:latin typeface="Times New Roman"/>
                <a:cs typeface="Times New Roman"/>
              </a:rPr>
              <a:t>m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10504820" y="4928994"/>
            <a:ext cx="385445" cy="5067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3150" spc="-25" i="1">
                <a:solidFill>
                  <a:srgbClr val="0000FF"/>
                </a:solidFill>
                <a:latin typeface="Symbol"/>
                <a:cs typeface="Symbol"/>
              </a:rPr>
              <a:t></a:t>
            </a:r>
            <a:endParaRPr sz="3150">
              <a:latin typeface="Symbol"/>
              <a:cs typeface="Symbol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9896246" y="4651946"/>
            <a:ext cx="1221740" cy="4819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318135" algn="l"/>
                <a:tab pos="688975" algn="l"/>
                <a:tab pos="1076960" algn="l"/>
              </a:tabLst>
            </a:pPr>
            <a:r>
              <a:rPr dirty="0" sz="3000" spc="35" i="1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dirty="0" sz="3000" spc="35" i="1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sz="3000" spc="60">
                <a:solidFill>
                  <a:srgbClr val="0000FF"/>
                </a:solidFill>
                <a:latin typeface="Symbol"/>
                <a:cs typeface="Symbol"/>
              </a:rPr>
              <a:t></a:t>
            </a:r>
            <a:r>
              <a:rPr dirty="0" sz="3000" spc="6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u="heavy" baseline="35185" sz="4500" spc="82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baseline="35185" sz="4500" spc="82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sz="3000" spc="35" i="1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84" name="object 84"/>
          <p:cNvSpPr/>
          <p:nvPr/>
        </p:nvSpPr>
        <p:spPr>
          <a:xfrm>
            <a:off x="7708392" y="4463796"/>
            <a:ext cx="1682750" cy="949960"/>
          </a:xfrm>
          <a:custGeom>
            <a:avLst/>
            <a:gdLst/>
            <a:ahLst/>
            <a:cxnLst/>
            <a:rect l="l" t="t" r="r" b="b"/>
            <a:pathLst>
              <a:path w="1682750" h="949960">
                <a:moveTo>
                  <a:pt x="0" y="0"/>
                </a:moveTo>
                <a:lnTo>
                  <a:pt x="0" y="949451"/>
                </a:lnTo>
                <a:lnTo>
                  <a:pt x="1682496" y="949451"/>
                </a:lnTo>
                <a:lnTo>
                  <a:pt x="1682496" y="0"/>
                </a:lnTo>
                <a:lnTo>
                  <a:pt x="0" y="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7847825" y="4745570"/>
            <a:ext cx="197485" cy="0"/>
          </a:xfrm>
          <a:custGeom>
            <a:avLst/>
            <a:gdLst/>
            <a:ahLst/>
            <a:cxnLst/>
            <a:rect l="l" t="t" r="r" b="b"/>
            <a:pathLst>
              <a:path w="197484" h="0">
                <a:moveTo>
                  <a:pt x="0" y="0"/>
                </a:moveTo>
                <a:lnTo>
                  <a:pt x="197015" y="0"/>
                </a:lnTo>
              </a:path>
            </a:pathLst>
          </a:custGeom>
          <a:ln w="19062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 txBox="1"/>
          <p:nvPr/>
        </p:nvSpPr>
        <p:spPr>
          <a:xfrm>
            <a:off x="7091629" y="4935423"/>
            <a:ext cx="226822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  <a:tabLst>
                <a:tab pos="2077720" algn="l"/>
              </a:tabLst>
            </a:pPr>
            <a:r>
              <a:rPr dirty="0" sz="1700" spc="90">
                <a:solidFill>
                  <a:srgbClr val="0000FF"/>
                </a:solidFill>
                <a:latin typeface="Times New Roman"/>
                <a:cs typeface="Times New Roman"/>
              </a:rPr>
              <a:t>m</a:t>
            </a:r>
            <a:r>
              <a:rPr dirty="0" sz="1700" spc="9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baseline="1633" sz="2550" spc="112">
                <a:solidFill>
                  <a:srgbClr val="0000FF"/>
                </a:solidFill>
                <a:latin typeface="Times New Roman"/>
                <a:cs typeface="Times New Roman"/>
              </a:rPr>
              <a:t>m</a:t>
            </a:r>
            <a:endParaRPr baseline="1633" sz="2550">
              <a:latin typeface="Times New Roman"/>
              <a:cs typeface="Times New Roman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6380351" y="4951936"/>
            <a:ext cx="2446655" cy="50863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  <a:tabLst>
                <a:tab pos="2061210" algn="l"/>
              </a:tabLst>
            </a:pPr>
            <a:r>
              <a:rPr dirty="0" sz="3150" spc="-5" i="1">
                <a:solidFill>
                  <a:srgbClr val="0000FF"/>
                </a:solidFill>
                <a:latin typeface="Symbol"/>
                <a:cs typeface="Symbol"/>
              </a:rPr>
              <a:t></a:t>
            </a:r>
            <a:r>
              <a:rPr dirty="0" sz="3150" spc="-5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baseline="1792" sz="4650" spc="7" i="1">
                <a:solidFill>
                  <a:srgbClr val="0000FF"/>
                </a:solidFill>
                <a:latin typeface="Symbol"/>
                <a:cs typeface="Symbol"/>
              </a:rPr>
              <a:t></a:t>
            </a:r>
            <a:endParaRPr baseline="1792" sz="4650">
              <a:latin typeface="Symbol"/>
              <a:cs typeface="Symbol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5731078" y="4676863"/>
            <a:ext cx="3425190" cy="4819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730885" algn="l"/>
                <a:tab pos="1122045" algn="l"/>
                <a:tab pos="1999614" algn="l"/>
                <a:tab pos="2790825" algn="l"/>
              </a:tabLst>
            </a:pPr>
            <a:r>
              <a:rPr dirty="0" sz="3000" spc="90" i="1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dirty="0" sz="3000" spc="165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3000" spc="80">
                <a:solidFill>
                  <a:srgbClr val="0000FF"/>
                </a:solidFill>
                <a:latin typeface="Symbol"/>
                <a:cs typeface="Symbol"/>
              </a:rPr>
              <a:t></a:t>
            </a:r>
            <a:r>
              <a:rPr dirty="0" sz="3000" spc="8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u="heavy" baseline="35185" sz="4500" spc="104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baseline="35185" sz="4500" spc="104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sz="3000" spc="90" i="1">
                <a:solidFill>
                  <a:srgbClr val="0000FF"/>
                </a:solidFill>
                <a:latin typeface="Times New Roman"/>
                <a:cs typeface="Times New Roman"/>
              </a:rPr>
              <a:t>E	</a:t>
            </a:r>
            <a:r>
              <a:rPr dirty="0" sz="2950" spc="114" i="1">
                <a:solidFill>
                  <a:srgbClr val="0000FF"/>
                </a:solidFill>
                <a:latin typeface="Times New Roman"/>
                <a:cs typeface="Times New Roman"/>
              </a:rPr>
              <a:t>U</a:t>
            </a:r>
            <a:r>
              <a:rPr dirty="0" sz="2950" spc="360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950" spc="85">
                <a:solidFill>
                  <a:srgbClr val="0000FF"/>
                </a:solidFill>
                <a:latin typeface="Symbol"/>
                <a:cs typeface="Symbol"/>
              </a:rPr>
              <a:t></a:t>
            </a:r>
            <a:r>
              <a:rPr dirty="0" sz="2950" spc="85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u="heavy" baseline="36723" sz="4425" spc="12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baseline="36723" sz="4425" spc="397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950" spc="114" i="1">
                <a:solidFill>
                  <a:srgbClr val="0000FF"/>
                </a:solidFill>
                <a:latin typeface="Times New Roman"/>
                <a:cs typeface="Times New Roman"/>
              </a:rPr>
              <a:t>U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5730240" y="3292780"/>
            <a:ext cx="4662805" cy="1043305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marL="29845" marR="5080" indent="-17780">
              <a:lnSpc>
                <a:spcPts val="3979"/>
              </a:lnSpc>
              <a:spcBef>
                <a:spcPts val="280"/>
              </a:spcBef>
            </a:pPr>
            <a:r>
              <a:rPr dirty="0" sz="3200" b="1">
                <a:solidFill>
                  <a:srgbClr val="660066"/>
                </a:solidFill>
                <a:latin typeface="方正舒体"/>
                <a:cs typeface="方正舒体"/>
              </a:rPr>
              <a:t>在</a:t>
            </a:r>
            <a:r>
              <a:rPr dirty="0" sz="3200" spc="-150" b="1">
                <a:solidFill>
                  <a:srgbClr val="660066"/>
                </a:solidFill>
                <a:latin typeface="方正舒体"/>
                <a:cs typeface="方正舒体"/>
              </a:rPr>
              <a:t>从</a:t>
            </a:r>
            <a:r>
              <a:rPr dirty="0" sz="3350" spc="-330" b="1" i="1">
                <a:solidFill>
                  <a:srgbClr val="660066"/>
                </a:solidFill>
                <a:latin typeface="方正舒体"/>
                <a:cs typeface="方正舒体"/>
              </a:rPr>
              <a:t>t</a:t>
            </a:r>
            <a:r>
              <a:rPr dirty="0" sz="3200" spc="-330" b="1">
                <a:solidFill>
                  <a:srgbClr val="660066"/>
                </a:solidFill>
                <a:latin typeface="方正舒体"/>
                <a:cs typeface="方正舒体"/>
              </a:rPr>
              <a:t>=0</a:t>
            </a:r>
            <a:r>
              <a:rPr dirty="0" sz="3200" b="1">
                <a:solidFill>
                  <a:srgbClr val="660066"/>
                </a:solidFill>
                <a:latin typeface="方正舒体"/>
                <a:cs typeface="方正舒体"/>
              </a:rPr>
              <a:t>开始的T/4时间</a:t>
            </a:r>
            <a:r>
              <a:rPr dirty="0" sz="3200" spc="-10" b="1">
                <a:solidFill>
                  <a:srgbClr val="660066"/>
                </a:solidFill>
                <a:latin typeface="方正舒体"/>
                <a:cs typeface="方正舒体"/>
              </a:rPr>
              <a:t>内 </a:t>
            </a:r>
            <a:r>
              <a:rPr dirty="0" sz="3200" b="1">
                <a:solidFill>
                  <a:srgbClr val="660066"/>
                </a:solidFill>
                <a:latin typeface="方正舒体"/>
                <a:cs typeface="方正舒体"/>
              </a:rPr>
              <a:t>在</a:t>
            </a:r>
            <a:r>
              <a:rPr dirty="0" sz="3200" spc="-150" b="1">
                <a:solidFill>
                  <a:srgbClr val="660066"/>
                </a:solidFill>
                <a:latin typeface="方正舒体"/>
                <a:cs typeface="方正舒体"/>
              </a:rPr>
              <a:t>从</a:t>
            </a:r>
            <a:r>
              <a:rPr dirty="0" sz="3350" spc="-330" b="1" i="1">
                <a:solidFill>
                  <a:srgbClr val="660066"/>
                </a:solidFill>
                <a:latin typeface="方正舒体"/>
                <a:cs typeface="方正舒体"/>
              </a:rPr>
              <a:t>t</a:t>
            </a:r>
            <a:r>
              <a:rPr dirty="0" sz="3200" spc="-330" b="1">
                <a:solidFill>
                  <a:srgbClr val="660066"/>
                </a:solidFill>
                <a:latin typeface="方正舒体"/>
                <a:cs typeface="方正舒体"/>
              </a:rPr>
              <a:t>=0</a:t>
            </a:r>
            <a:r>
              <a:rPr dirty="0" sz="3200" b="1">
                <a:solidFill>
                  <a:srgbClr val="660066"/>
                </a:solidFill>
                <a:latin typeface="方正舒体"/>
                <a:cs typeface="方正舒体"/>
              </a:rPr>
              <a:t>开始的T/2时间</a:t>
            </a:r>
            <a:r>
              <a:rPr dirty="0" sz="3200" spc="-10" b="1">
                <a:solidFill>
                  <a:srgbClr val="660066"/>
                </a:solidFill>
                <a:latin typeface="方正舒体"/>
                <a:cs typeface="方正舒体"/>
              </a:rPr>
              <a:t>内</a:t>
            </a:r>
            <a:endParaRPr sz="3200">
              <a:latin typeface="方正舒体"/>
              <a:cs typeface="方正舒体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4012603" y="5384800"/>
            <a:ext cx="649732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98780" algn="l"/>
              </a:tabLst>
            </a:pPr>
            <a:r>
              <a:rPr dirty="0" baseline="16865" sz="4200" spc="-30">
                <a:solidFill>
                  <a:srgbClr val="FF0000"/>
                </a:solidFill>
                <a:latin typeface="Times New Roman"/>
                <a:cs typeface="Times New Roman"/>
              </a:rPr>
              <a:t>2	</a:t>
            </a:r>
            <a:r>
              <a:rPr dirty="0" baseline="-17857" sz="4200" spc="-37" i="1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dirty="0" baseline="-17857" sz="4200" spc="-104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baseline="-17857" sz="4200" spc="-37" i="1">
                <a:solidFill>
                  <a:srgbClr val="FF0000"/>
                </a:solidFill>
                <a:latin typeface="Times New Roman"/>
                <a:cs typeface="Times New Roman"/>
              </a:rPr>
              <a:t>B</a:t>
            </a:r>
            <a:r>
              <a:rPr dirty="0" baseline="-17857" sz="4200" spc="-209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baseline="-17857" sz="4200" spc="-30" i="1">
                <a:solidFill>
                  <a:srgbClr val="FF0000"/>
                </a:solidFill>
                <a:latin typeface="Times New Roman"/>
                <a:cs typeface="Times New Roman"/>
              </a:rPr>
              <a:t>S</a:t>
            </a:r>
            <a:r>
              <a:rPr dirty="0" baseline="-17857" sz="4200" spc="-569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baseline="-16949" sz="4425" spc="-195" i="1">
                <a:solidFill>
                  <a:srgbClr val="FF0000"/>
                </a:solidFill>
                <a:latin typeface="Symbol"/>
                <a:cs typeface="Symbol"/>
              </a:rPr>
              <a:t></a:t>
            </a:r>
            <a:r>
              <a:rPr dirty="0" baseline="-16949" sz="4425" spc="209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660066"/>
                </a:solidFill>
                <a:latin typeface="方正舒体"/>
                <a:cs typeface="方正舒体"/>
              </a:rPr>
              <a:t>在任意一个完整的T时间</a:t>
            </a:r>
            <a:r>
              <a:rPr dirty="0" sz="3200" spc="-10" b="1">
                <a:solidFill>
                  <a:srgbClr val="660066"/>
                </a:solidFill>
                <a:latin typeface="方正舒体"/>
                <a:cs typeface="方正舒体"/>
              </a:rPr>
              <a:t>内</a:t>
            </a:r>
            <a:endParaRPr sz="3200">
              <a:latin typeface="方正舒体"/>
              <a:cs typeface="方正舒体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6644640" y="5967984"/>
            <a:ext cx="3764279" cy="609600"/>
          </a:xfrm>
          <a:custGeom>
            <a:avLst/>
            <a:gdLst/>
            <a:ahLst/>
            <a:cxnLst/>
            <a:rect l="l" t="t" r="r" b="b"/>
            <a:pathLst>
              <a:path w="3764279" h="609600">
                <a:moveTo>
                  <a:pt x="0" y="0"/>
                </a:moveTo>
                <a:lnTo>
                  <a:pt x="0" y="609599"/>
                </a:lnTo>
                <a:lnTo>
                  <a:pt x="3764279" y="609599"/>
                </a:lnTo>
                <a:lnTo>
                  <a:pt x="376427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6784555" y="6072962"/>
            <a:ext cx="217170" cy="0"/>
          </a:xfrm>
          <a:custGeom>
            <a:avLst/>
            <a:gdLst/>
            <a:ahLst/>
            <a:cxnLst/>
            <a:rect l="l" t="t" r="r" b="b"/>
            <a:pathLst>
              <a:path w="217170" h="0">
                <a:moveTo>
                  <a:pt x="0" y="0"/>
                </a:moveTo>
                <a:lnTo>
                  <a:pt x="216649" y="0"/>
                </a:lnTo>
              </a:path>
            </a:pathLst>
          </a:custGeom>
          <a:ln w="21209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8158924" y="6072962"/>
            <a:ext cx="217170" cy="0"/>
          </a:xfrm>
          <a:custGeom>
            <a:avLst/>
            <a:gdLst/>
            <a:ahLst/>
            <a:cxnLst/>
            <a:rect l="l" t="t" r="r" b="b"/>
            <a:pathLst>
              <a:path w="217170" h="0">
                <a:moveTo>
                  <a:pt x="0" y="0"/>
                </a:moveTo>
                <a:lnTo>
                  <a:pt x="216649" y="0"/>
                </a:lnTo>
              </a:path>
            </a:pathLst>
          </a:custGeom>
          <a:ln w="21209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9479127" y="6072962"/>
            <a:ext cx="217170" cy="0"/>
          </a:xfrm>
          <a:custGeom>
            <a:avLst/>
            <a:gdLst/>
            <a:ahLst/>
            <a:cxnLst/>
            <a:rect l="l" t="t" r="r" b="b"/>
            <a:pathLst>
              <a:path w="217170" h="0">
                <a:moveTo>
                  <a:pt x="0" y="0"/>
                </a:moveTo>
                <a:lnTo>
                  <a:pt x="216661" y="0"/>
                </a:lnTo>
              </a:path>
            </a:pathLst>
          </a:custGeom>
          <a:ln w="21209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 txBox="1"/>
          <p:nvPr/>
        </p:nvSpPr>
        <p:spPr>
          <a:xfrm>
            <a:off x="6644640" y="5991580"/>
            <a:ext cx="3764279" cy="5346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78740">
              <a:lnSpc>
                <a:spcPct val="100000"/>
              </a:lnSpc>
              <a:spcBef>
                <a:spcPts val="90"/>
              </a:spcBef>
              <a:tabLst>
                <a:tab pos="1387475" algn="l"/>
                <a:tab pos="2825115" algn="l"/>
                <a:tab pos="3170555" algn="l"/>
              </a:tabLst>
            </a:pPr>
            <a:r>
              <a:rPr dirty="0" sz="3350" spc="40" i="1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dirty="0" sz="3350" spc="165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3350" spc="35">
                <a:solidFill>
                  <a:srgbClr val="0000FF"/>
                </a:solidFill>
                <a:latin typeface="Symbol"/>
                <a:cs typeface="Symbol"/>
              </a:rPr>
              <a:t></a:t>
            </a:r>
            <a:r>
              <a:rPr dirty="0" sz="3350" spc="-10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3350" spc="30">
                <a:solidFill>
                  <a:srgbClr val="0000FF"/>
                </a:solidFill>
                <a:latin typeface="Times New Roman"/>
                <a:cs typeface="Times New Roman"/>
              </a:rPr>
              <a:t>0	</a:t>
            </a:r>
            <a:r>
              <a:rPr dirty="0" sz="3350" spc="45" i="1">
                <a:solidFill>
                  <a:srgbClr val="0000FF"/>
                </a:solidFill>
                <a:latin typeface="Times New Roman"/>
                <a:cs typeface="Times New Roman"/>
              </a:rPr>
              <a:t>U</a:t>
            </a:r>
            <a:r>
              <a:rPr dirty="0" sz="3350" spc="375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3350" spc="35">
                <a:solidFill>
                  <a:srgbClr val="0000FF"/>
                </a:solidFill>
                <a:latin typeface="Symbol"/>
                <a:cs typeface="Symbol"/>
              </a:rPr>
              <a:t></a:t>
            </a:r>
            <a:r>
              <a:rPr dirty="0" sz="3350" spc="-10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3350" spc="30">
                <a:solidFill>
                  <a:srgbClr val="0000FF"/>
                </a:solidFill>
                <a:latin typeface="Times New Roman"/>
                <a:cs typeface="Times New Roman"/>
              </a:rPr>
              <a:t>0	</a:t>
            </a:r>
            <a:r>
              <a:rPr dirty="0" sz="3350" spc="20" i="1">
                <a:solidFill>
                  <a:srgbClr val="0000FF"/>
                </a:solidFill>
                <a:latin typeface="Times New Roman"/>
                <a:cs typeface="Times New Roman"/>
              </a:rPr>
              <a:t>I	</a:t>
            </a:r>
            <a:r>
              <a:rPr dirty="0" sz="3350" spc="35">
                <a:solidFill>
                  <a:srgbClr val="0000FF"/>
                </a:solidFill>
                <a:latin typeface="Symbol"/>
                <a:cs typeface="Symbol"/>
              </a:rPr>
              <a:t></a:t>
            </a:r>
            <a:r>
              <a:rPr dirty="0" sz="3350" spc="-17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3350" spc="30">
                <a:solidFill>
                  <a:srgbClr val="0000FF"/>
                </a:solidFill>
                <a:latin typeface="Times New Roman"/>
                <a:cs typeface="Times New Roman"/>
              </a:rPr>
              <a:t>0</a:t>
            </a:r>
            <a:endParaRPr sz="33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26766" y="3461854"/>
            <a:ext cx="498475" cy="0"/>
          </a:xfrm>
          <a:custGeom>
            <a:avLst/>
            <a:gdLst/>
            <a:ahLst/>
            <a:cxnLst/>
            <a:rect l="l" t="t" r="r" b="b"/>
            <a:pathLst>
              <a:path w="498475" h="0">
                <a:moveTo>
                  <a:pt x="0" y="0"/>
                </a:moveTo>
                <a:lnTo>
                  <a:pt x="498284" y="0"/>
                </a:lnTo>
              </a:path>
            </a:pathLst>
          </a:custGeom>
          <a:ln w="31788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592828" y="3806355"/>
            <a:ext cx="1082040" cy="0"/>
          </a:xfrm>
          <a:custGeom>
            <a:avLst/>
            <a:gdLst/>
            <a:ahLst/>
            <a:cxnLst/>
            <a:rect l="l" t="t" r="r" b="b"/>
            <a:pathLst>
              <a:path w="1082039" h="0">
                <a:moveTo>
                  <a:pt x="0" y="0"/>
                </a:moveTo>
                <a:lnTo>
                  <a:pt x="1081659" y="0"/>
                </a:lnTo>
              </a:path>
            </a:pathLst>
          </a:custGeom>
          <a:ln w="31788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628743" y="3068663"/>
            <a:ext cx="972185" cy="666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-5">
                <a:solidFill>
                  <a:srgbClr val="FF0000"/>
                </a:solidFill>
                <a:latin typeface="Symbol"/>
                <a:cs typeface="Symbol"/>
              </a:rPr>
              <a:t></a:t>
            </a:r>
            <a:r>
              <a:rPr dirty="0" sz="4000" spc="-4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4200" spc="-125" i="1">
                <a:solidFill>
                  <a:srgbClr val="FF0000"/>
                </a:solidFill>
                <a:latin typeface="Symbol"/>
                <a:cs typeface="Symbol"/>
              </a:rPr>
              <a:t></a:t>
            </a:r>
            <a:endParaRPr sz="4200">
              <a:latin typeface="Symbol"/>
              <a:cs typeface="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26207" y="3414496"/>
            <a:ext cx="1701164" cy="6343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04850" algn="l"/>
                <a:tab pos="1349375" algn="l"/>
              </a:tabLst>
            </a:pPr>
            <a:r>
              <a:rPr dirty="0" sz="4000" spc="-5" i="1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dirty="0" sz="4000" spc="-5" i="1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dirty="0" sz="4000" spc="-5">
                <a:solidFill>
                  <a:srgbClr val="FF0000"/>
                </a:solidFill>
                <a:latin typeface="Symbol"/>
                <a:cs typeface="Symbol"/>
              </a:rPr>
              <a:t></a:t>
            </a:r>
            <a:r>
              <a:rPr dirty="0" sz="4000" spc="-5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dirty="0" sz="4000" spc="-5" i="1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62436" y="3810482"/>
            <a:ext cx="640715" cy="6343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000" spc="-5">
                <a:solidFill>
                  <a:srgbClr val="FF0000"/>
                </a:solidFill>
                <a:latin typeface="Symbol"/>
                <a:cs typeface="Symbol"/>
              </a:rPr>
              <a:t></a:t>
            </a:r>
            <a:r>
              <a:rPr dirty="0" sz="4000" spc="19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4000" spc="-5" i="1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1840" y="0"/>
            <a:ext cx="10447020" cy="28378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b="1" i="1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 b="1" i="1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  <a:p>
            <a:pPr marL="766445">
              <a:lnSpc>
                <a:spcPct val="100000"/>
              </a:lnSpc>
              <a:spcBef>
                <a:spcPts val="4545"/>
              </a:spcBef>
            </a:pPr>
            <a:r>
              <a:rPr dirty="0" sz="4000" b="1">
                <a:solidFill>
                  <a:srgbClr val="000099"/>
                </a:solidFill>
                <a:latin typeface="黑体"/>
                <a:cs typeface="黑体"/>
              </a:rPr>
              <a:t>注意</a:t>
            </a:r>
            <a:r>
              <a:rPr dirty="0" sz="4000" spc="-25" b="1">
                <a:solidFill>
                  <a:srgbClr val="000099"/>
                </a:solidFill>
                <a:latin typeface="黑体"/>
                <a:cs typeface="黑体"/>
              </a:rPr>
              <a:t>：</a:t>
            </a:r>
            <a:endParaRPr sz="4000">
              <a:latin typeface="黑体"/>
              <a:cs typeface="黑体"/>
            </a:endParaRPr>
          </a:p>
          <a:p>
            <a:pPr>
              <a:lnSpc>
                <a:spcPct val="100000"/>
              </a:lnSpc>
            </a:pPr>
            <a:endParaRPr sz="3200">
              <a:latin typeface="Times New Roman"/>
              <a:cs typeface="Times New Roman"/>
            </a:endParaRPr>
          </a:p>
          <a:p>
            <a:pPr marL="1253490">
              <a:lnSpc>
                <a:spcPct val="100000"/>
              </a:lnSpc>
            </a:pPr>
            <a:r>
              <a:rPr dirty="0" sz="3600" b="1">
                <a:latin typeface="黑体"/>
                <a:cs typeface="黑体"/>
              </a:rPr>
              <a:t>求通过某导体截面的</a:t>
            </a:r>
            <a:r>
              <a:rPr dirty="0" sz="3600" b="1">
                <a:solidFill>
                  <a:srgbClr val="FF0000"/>
                </a:solidFill>
                <a:latin typeface="黑体"/>
                <a:cs typeface="黑体"/>
              </a:rPr>
              <a:t>电荷量</a:t>
            </a:r>
            <a:r>
              <a:rPr dirty="0" sz="3600" b="1">
                <a:latin typeface="黑体"/>
                <a:cs typeface="黑体"/>
              </a:rPr>
              <a:t>一定要用平均值</a:t>
            </a:r>
            <a:r>
              <a:rPr dirty="0" sz="3600" spc="-15" b="1">
                <a:latin typeface="黑体"/>
                <a:cs typeface="黑体"/>
              </a:rPr>
              <a:t>。</a:t>
            </a:r>
            <a:endParaRPr sz="3600">
              <a:latin typeface="黑体"/>
              <a:cs typeface="黑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548755" y="3539997"/>
            <a:ext cx="321945" cy="0"/>
          </a:xfrm>
          <a:custGeom>
            <a:avLst/>
            <a:gdLst/>
            <a:ahLst/>
            <a:cxnLst/>
            <a:rect l="l" t="t" r="r" b="b"/>
            <a:pathLst>
              <a:path w="321945" h="0">
                <a:moveTo>
                  <a:pt x="0" y="0"/>
                </a:moveTo>
                <a:lnTo>
                  <a:pt x="321906" y="0"/>
                </a:lnTo>
              </a:path>
            </a:pathLst>
          </a:custGeom>
          <a:ln w="28448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022463" y="3220948"/>
            <a:ext cx="321945" cy="0"/>
          </a:xfrm>
          <a:custGeom>
            <a:avLst/>
            <a:gdLst/>
            <a:ahLst/>
            <a:cxnLst/>
            <a:rect l="l" t="t" r="r" b="b"/>
            <a:pathLst>
              <a:path w="321945" h="0">
                <a:moveTo>
                  <a:pt x="0" y="0"/>
                </a:moveTo>
                <a:lnTo>
                  <a:pt x="321906" y="0"/>
                </a:lnTo>
              </a:path>
            </a:pathLst>
          </a:custGeom>
          <a:ln w="28448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554709" y="3836631"/>
            <a:ext cx="1156970" cy="0"/>
          </a:xfrm>
          <a:custGeom>
            <a:avLst/>
            <a:gdLst/>
            <a:ahLst/>
            <a:cxnLst/>
            <a:rect l="l" t="t" r="r" b="b"/>
            <a:pathLst>
              <a:path w="1156970" h="0">
                <a:moveTo>
                  <a:pt x="0" y="0"/>
                </a:moveTo>
                <a:lnTo>
                  <a:pt x="1156830" y="0"/>
                </a:lnTo>
              </a:path>
            </a:pathLst>
          </a:custGeom>
          <a:ln w="28448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7919237" y="3125584"/>
            <a:ext cx="335280" cy="6343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000" spc="-5" i="1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602359" y="3840137"/>
            <a:ext cx="1007744" cy="6343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000" spc="-5" i="1">
                <a:solidFill>
                  <a:srgbClr val="FF0000"/>
                </a:solidFill>
                <a:latin typeface="Times New Roman"/>
                <a:cs typeface="Times New Roman"/>
              </a:rPr>
              <a:t>R </a:t>
            </a:r>
            <a:r>
              <a:rPr dirty="0" sz="4000" spc="-5">
                <a:solidFill>
                  <a:srgbClr val="FF0000"/>
                </a:solidFill>
                <a:latin typeface="Times New Roman"/>
                <a:cs typeface="Times New Roman"/>
              </a:rPr>
              <a:t>+</a:t>
            </a:r>
            <a:r>
              <a:rPr dirty="0" sz="4000" spc="-60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4000" spc="-5" i="1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969791" y="4980990"/>
            <a:ext cx="419734" cy="0"/>
          </a:xfrm>
          <a:custGeom>
            <a:avLst/>
            <a:gdLst/>
            <a:ahLst/>
            <a:cxnLst/>
            <a:rect l="l" t="t" r="r" b="b"/>
            <a:pathLst>
              <a:path w="419735" h="0">
                <a:moveTo>
                  <a:pt x="0" y="0"/>
                </a:moveTo>
                <a:lnTo>
                  <a:pt x="419290" y="0"/>
                </a:lnTo>
              </a:path>
            </a:pathLst>
          </a:custGeom>
          <a:ln w="33286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2620619" y="4886375"/>
            <a:ext cx="2458085" cy="6343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41350" algn="l"/>
                <a:tab pos="1322705" algn="l"/>
                <a:tab pos="1794510" algn="l"/>
                <a:tab pos="2305050" algn="l"/>
              </a:tabLst>
            </a:pPr>
            <a:r>
              <a:rPr dirty="0" sz="4000" spc="-25" i="1">
                <a:solidFill>
                  <a:srgbClr val="FF0000"/>
                </a:solidFill>
                <a:latin typeface="Times New Roman"/>
                <a:cs typeface="Times New Roman"/>
              </a:rPr>
              <a:t>q</a:t>
            </a:r>
            <a:r>
              <a:rPr dirty="0" sz="4000" spc="-25" i="1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dirty="0" sz="4000" spc="-25">
                <a:solidFill>
                  <a:srgbClr val="FF0000"/>
                </a:solidFill>
                <a:latin typeface="Symbol"/>
                <a:cs typeface="Symbol"/>
              </a:rPr>
              <a:t></a:t>
            </a:r>
            <a:r>
              <a:rPr dirty="0" sz="4000" spc="-25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dirty="0" sz="4000" spc="-15" i="1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dirty="0" sz="4000" spc="-15" i="1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dirty="0" sz="4000" spc="-30">
                <a:solidFill>
                  <a:srgbClr val="FF0000"/>
                </a:solidFill>
                <a:latin typeface="Symbol"/>
                <a:cs typeface="Symbol"/>
              </a:rPr>
              <a:t></a:t>
            </a:r>
            <a:r>
              <a:rPr dirty="0" sz="4000" spc="-3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dirty="0" sz="4000" spc="-15" i="1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620702" y="4922837"/>
            <a:ext cx="432434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10" b="1">
                <a:solidFill>
                  <a:srgbClr val="660066"/>
                </a:solidFill>
                <a:latin typeface="方正舒体"/>
                <a:cs typeface="方正舒体"/>
              </a:rPr>
              <a:t>得</a:t>
            </a:r>
            <a:endParaRPr sz="3200">
              <a:latin typeface="方正舒体"/>
              <a:cs typeface="方正舒体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277390" y="5232336"/>
            <a:ext cx="1572260" cy="0"/>
          </a:xfrm>
          <a:custGeom>
            <a:avLst/>
            <a:gdLst/>
            <a:ahLst/>
            <a:cxnLst/>
            <a:rect l="l" t="t" r="r" b="b"/>
            <a:pathLst>
              <a:path w="1572259" h="0">
                <a:moveTo>
                  <a:pt x="0" y="0"/>
                </a:moveTo>
                <a:lnTo>
                  <a:pt x="1571980" y="0"/>
                </a:lnTo>
              </a:path>
            </a:pathLst>
          </a:custGeom>
          <a:ln w="30467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8579091" y="4524004"/>
            <a:ext cx="927735" cy="6400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850" spc="-30">
                <a:solidFill>
                  <a:srgbClr val="FF0000"/>
                </a:solidFill>
                <a:latin typeface="Symbol"/>
                <a:cs typeface="Symbol"/>
              </a:rPr>
              <a:t></a:t>
            </a:r>
            <a:r>
              <a:rPr dirty="0" sz="3850" spc="-2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4000" spc="-120" i="1">
                <a:solidFill>
                  <a:srgbClr val="FF0000"/>
                </a:solidFill>
                <a:latin typeface="Symbol"/>
                <a:cs typeface="Symbol"/>
              </a:rPr>
              <a:t></a:t>
            </a:r>
            <a:endParaRPr sz="4000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01599" y="3444621"/>
            <a:ext cx="1524000" cy="20212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0">
              <a:lnSpc>
                <a:spcPct val="100000"/>
              </a:lnSpc>
              <a:spcBef>
                <a:spcPts val="90"/>
              </a:spcBef>
              <a:tabLst>
                <a:tab pos="639445" algn="l"/>
              </a:tabLst>
            </a:pPr>
            <a:r>
              <a:rPr dirty="0" sz="4000" spc="-5" i="1">
                <a:solidFill>
                  <a:srgbClr val="FF0000"/>
                </a:solidFill>
                <a:latin typeface="Times New Roman"/>
                <a:cs typeface="Times New Roman"/>
              </a:rPr>
              <a:t>I	</a:t>
            </a:r>
            <a:r>
              <a:rPr dirty="0" sz="4000" spc="-5">
                <a:solidFill>
                  <a:srgbClr val="FF0000"/>
                </a:solidFill>
                <a:latin typeface="Symbol"/>
                <a:cs typeface="Symbol"/>
              </a:rPr>
              <a:t></a:t>
            </a:r>
            <a:endParaRPr sz="4000">
              <a:latin typeface="Symbol"/>
              <a:cs typeface="Symbo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5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571500" algn="l"/>
                <a:tab pos="1188085" algn="l"/>
              </a:tabLst>
            </a:pPr>
            <a:r>
              <a:rPr dirty="0" sz="3850" spc="-25" i="1">
                <a:solidFill>
                  <a:srgbClr val="FF0000"/>
                </a:solidFill>
                <a:latin typeface="Times New Roman"/>
                <a:cs typeface="Times New Roman"/>
              </a:rPr>
              <a:t>q</a:t>
            </a:r>
            <a:r>
              <a:rPr dirty="0" sz="3850" spc="-25" i="1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dirty="0" sz="3850" spc="-30">
                <a:solidFill>
                  <a:srgbClr val="FF0000"/>
                </a:solidFill>
                <a:latin typeface="Symbol"/>
                <a:cs typeface="Symbol"/>
              </a:rPr>
              <a:t></a:t>
            </a:r>
            <a:r>
              <a:rPr dirty="0" sz="3850" spc="-3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dirty="0" sz="3850" spc="-35" i="1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endParaRPr sz="38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334552" y="5234622"/>
            <a:ext cx="1354455" cy="6108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06425" algn="l"/>
                <a:tab pos="1153160" algn="l"/>
              </a:tabLst>
            </a:pPr>
            <a:r>
              <a:rPr dirty="0" sz="3850" spc="-30" i="1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dirty="0" sz="3850" spc="-30" i="1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dirty="0" sz="3850" spc="-30">
                <a:solidFill>
                  <a:srgbClr val="FF0000"/>
                </a:solidFill>
                <a:latin typeface="Symbol"/>
                <a:cs typeface="Symbol"/>
              </a:rPr>
              <a:t></a:t>
            </a:r>
            <a:r>
              <a:rPr dirty="0" sz="3850" spc="-3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dirty="0" sz="3850" spc="-20" i="1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endParaRPr sz="3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58695" y="393065"/>
            <a:ext cx="7268209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b="1" i="1">
                <a:solidFill>
                  <a:srgbClr val="C00000"/>
                </a:solidFill>
                <a:latin typeface="微软雅黑"/>
                <a:cs typeface="微软雅黑"/>
              </a:rPr>
              <a:t>小</a:t>
            </a:r>
            <a:r>
              <a:rPr dirty="0" sz="4800" spc="-50" b="1" i="1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dirty="0" sz="4800" b="1" i="1">
                <a:solidFill>
                  <a:srgbClr val="C00000"/>
                </a:solidFill>
                <a:latin typeface="微软雅黑"/>
                <a:cs typeface="微软雅黑"/>
              </a:rPr>
              <a:t>结:</a:t>
            </a:r>
            <a:r>
              <a:rPr dirty="0" sz="4800" spc="-55" b="1" i="1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dirty="0" sz="4800" b="1" i="1">
                <a:solidFill>
                  <a:srgbClr val="C00000"/>
                </a:solidFill>
                <a:latin typeface="微软雅黑"/>
                <a:cs typeface="微软雅黑"/>
              </a:rPr>
              <a:t>交变电流的“四值”</a:t>
            </a:r>
            <a:endParaRPr sz="4800">
              <a:latin typeface="微软雅黑"/>
              <a:cs typeface="微软雅黑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74675" y="1481137"/>
          <a:ext cx="10215245" cy="45256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23670"/>
                <a:gridCol w="2877185"/>
                <a:gridCol w="2835275"/>
                <a:gridCol w="3060064"/>
              </a:tblGrid>
              <a:tr h="9810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9430">
                        <a:lnSpc>
                          <a:spcPct val="100000"/>
                        </a:lnSpc>
                        <a:spcBef>
                          <a:spcPts val="1495"/>
                        </a:spcBef>
                      </a:pPr>
                      <a:r>
                        <a:rPr dirty="0" sz="3600" b="1">
                          <a:solidFill>
                            <a:srgbClr val="FF0000"/>
                          </a:solidFill>
                          <a:latin typeface="宋体"/>
                          <a:cs typeface="宋体"/>
                        </a:rPr>
                        <a:t>物理含</a:t>
                      </a:r>
                      <a:r>
                        <a:rPr dirty="0" sz="3600" spc="-15" b="1">
                          <a:solidFill>
                            <a:srgbClr val="FF0000"/>
                          </a:solidFill>
                          <a:latin typeface="宋体"/>
                          <a:cs typeface="宋体"/>
                        </a:rPr>
                        <a:t>义</a:t>
                      </a:r>
                      <a:endParaRPr sz="3600">
                        <a:latin typeface="宋体"/>
                        <a:cs typeface="宋体"/>
                      </a:endParaRPr>
                    </a:p>
                  </a:txBody>
                  <a:tcPr marL="0" marR="0" marB="0" marT="1898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8475">
                        <a:lnSpc>
                          <a:spcPct val="100000"/>
                        </a:lnSpc>
                        <a:spcBef>
                          <a:spcPts val="1495"/>
                        </a:spcBef>
                      </a:pPr>
                      <a:r>
                        <a:rPr dirty="0" sz="3600" b="1">
                          <a:solidFill>
                            <a:srgbClr val="FF0000"/>
                          </a:solidFill>
                          <a:latin typeface="宋体"/>
                          <a:cs typeface="宋体"/>
                        </a:rPr>
                        <a:t>重要关</a:t>
                      </a:r>
                      <a:r>
                        <a:rPr dirty="0" sz="3600" spc="-15" b="1">
                          <a:solidFill>
                            <a:srgbClr val="FF0000"/>
                          </a:solidFill>
                          <a:latin typeface="宋体"/>
                          <a:cs typeface="宋体"/>
                        </a:rPr>
                        <a:t>系</a:t>
                      </a:r>
                      <a:endParaRPr sz="3600">
                        <a:latin typeface="宋体"/>
                        <a:cs typeface="宋体"/>
                      </a:endParaRPr>
                    </a:p>
                  </a:txBody>
                  <a:tcPr marL="0" marR="0" marB="0" marT="1898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0870">
                        <a:lnSpc>
                          <a:spcPct val="100000"/>
                        </a:lnSpc>
                        <a:spcBef>
                          <a:spcPts val="1495"/>
                        </a:spcBef>
                      </a:pPr>
                      <a:r>
                        <a:rPr dirty="0" sz="3600" b="1">
                          <a:solidFill>
                            <a:srgbClr val="FF0000"/>
                          </a:solidFill>
                          <a:latin typeface="宋体"/>
                          <a:cs typeface="宋体"/>
                        </a:rPr>
                        <a:t>适用情</a:t>
                      </a:r>
                      <a:r>
                        <a:rPr dirty="0" sz="3600" spc="-15" b="1">
                          <a:solidFill>
                            <a:srgbClr val="FF0000"/>
                          </a:solidFill>
                          <a:latin typeface="宋体"/>
                          <a:cs typeface="宋体"/>
                        </a:rPr>
                        <a:t>况</a:t>
                      </a:r>
                      <a:endParaRPr sz="3600">
                        <a:latin typeface="宋体"/>
                        <a:cs typeface="宋体"/>
                      </a:endParaRPr>
                    </a:p>
                  </a:txBody>
                  <a:tcPr marL="0" marR="0" marB="0" marT="1898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509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 marL="136525">
                        <a:lnSpc>
                          <a:spcPct val="100000"/>
                        </a:lnSpc>
                      </a:pPr>
                      <a:r>
                        <a:rPr dirty="0" sz="3000" b="1">
                          <a:solidFill>
                            <a:srgbClr val="CC0000"/>
                          </a:solidFill>
                          <a:latin typeface="宋体"/>
                          <a:cs typeface="宋体"/>
                        </a:rPr>
                        <a:t>瞬时</a:t>
                      </a:r>
                      <a:r>
                        <a:rPr dirty="0" sz="3000" spc="-15" b="1">
                          <a:solidFill>
                            <a:srgbClr val="CC0000"/>
                          </a:solidFill>
                          <a:latin typeface="宋体"/>
                          <a:cs typeface="宋体"/>
                        </a:rPr>
                        <a:t>值</a:t>
                      </a:r>
                      <a:endParaRPr sz="3000">
                        <a:latin typeface="宋体"/>
                        <a:cs typeface="宋体"/>
                      </a:endParaRPr>
                    </a:p>
                  </a:txBody>
                  <a:tcPr marL="0" marR="0" marB="0" marT="25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285" marR="453390">
                        <a:lnSpc>
                          <a:spcPct val="100000"/>
                        </a:lnSpc>
                        <a:spcBef>
                          <a:spcPts val="1155"/>
                        </a:spcBef>
                      </a:pPr>
                      <a:r>
                        <a:rPr dirty="0" sz="3000" spc="15" b="1">
                          <a:solidFill>
                            <a:srgbClr val="000099"/>
                          </a:solidFill>
                          <a:latin typeface="宋体"/>
                          <a:cs typeface="宋体"/>
                        </a:rPr>
                        <a:t>交变电流某</a:t>
                      </a:r>
                      <a:r>
                        <a:rPr dirty="0" sz="3000" b="1">
                          <a:solidFill>
                            <a:srgbClr val="000099"/>
                          </a:solidFill>
                          <a:latin typeface="宋体"/>
                          <a:cs typeface="宋体"/>
                        </a:rPr>
                        <a:t>一 </a:t>
                      </a:r>
                      <a:r>
                        <a:rPr dirty="0" sz="3000" b="1">
                          <a:solidFill>
                            <a:srgbClr val="000099"/>
                          </a:solidFill>
                          <a:latin typeface="宋体"/>
                          <a:cs typeface="宋体"/>
                        </a:rPr>
                        <a:t>时刻的</a:t>
                      </a:r>
                      <a:r>
                        <a:rPr dirty="0" sz="3000" spc="-15" b="1">
                          <a:solidFill>
                            <a:srgbClr val="000099"/>
                          </a:solidFill>
                          <a:latin typeface="宋体"/>
                          <a:cs typeface="宋体"/>
                        </a:rPr>
                        <a:t>值</a:t>
                      </a:r>
                      <a:endParaRPr sz="3000">
                        <a:latin typeface="宋体"/>
                        <a:cs typeface="宋体"/>
                      </a:endParaRPr>
                    </a:p>
                  </a:txBody>
                  <a:tcPr marL="0" marR="0" marB="0" marT="1466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285" marR="846455">
                        <a:lnSpc>
                          <a:spcPct val="120000"/>
                        </a:lnSpc>
                        <a:spcBef>
                          <a:spcPts val="65"/>
                        </a:spcBef>
                      </a:pPr>
                      <a:r>
                        <a:rPr dirty="0" sz="3000" spc="-5" b="1" i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3000" spc="15" b="1">
                          <a:solidFill>
                            <a:srgbClr val="000099"/>
                          </a:solidFill>
                          <a:latin typeface="宋体"/>
                          <a:cs typeface="宋体"/>
                        </a:rPr>
                        <a:t>＝</a:t>
                      </a:r>
                      <a:r>
                        <a:rPr dirty="0" sz="3000" spc="-5" b="1" i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baseline="-21367" sz="2925" spc="-7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dirty="0" sz="3000" spc="-5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sz="300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3000" b="1" i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ωt </a:t>
                      </a:r>
                      <a:r>
                        <a:rPr dirty="0" sz="3000" b="1" i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000" spc="-5" b="1" i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3000" spc="-5" b="1">
                          <a:solidFill>
                            <a:srgbClr val="000099"/>
                          </a:solidFill>
                          <a:latin typeface="宋体"/>
                          <a:cs typeface="宋体"/>
                        </a:rPr>
                        <a:t>＝</a:t>
                      </a:r>
                      <a:r>
                        <a:rPr dirty="0" sz="3000" spc="-5" b="1" i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baseline="-21367" sz="2925" spc="-7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dirty="0" sz="3000" spc="-5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sin</a:t>
                      </a:r>
                      <a:r>
                        <a:rPr dirty="0" sz="3000" spc="-5" b="1" i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ωt</a:t>
                      </a: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285" marR="253365">
                        <a:lnSpc>
                          <a:spcPct val="100000"/>
                        </a:lnSpc>
                        <a:spcBef>
                          <a:spcPts val="1155"/>
                        </a:spcBef>
                      </a:pPr>
                      <a:r>
                        <a:rPr dirty="0" sz="3000" spc="15" b="1">
                          <a:solidFill>
                            <a:srgbClr val="000099"/>
                          </a:solidFill>
                          <a:latin typeface="宋体"/>
                          <a:cs typeface="宋体"/>
                        </a:rPr>
                        <a:t>计算线圈某一</a:t>
                      </a:r>
                      <a:r>
                        <a:rPr dirty="0" sz="3000" b="1">
                          <a:solidFill>
                            <a:srgbClr val="000099"/>
                          </a:solidFill>
                          <a:latin typeface="宋体"/>
                          <a:cs typeface="宋体"/>
                        </a:rPr>
                        <a:t>时 </a:t>
                      </a:r>
                      <a:r>
                        <a:rPr dirty="0" sz="3000" b="1">
                          <a:solidFill>
                            <a:srgbClr val="000099"/>
                          </a:solidFill>
                          <a:latin typeface="宋体"/>
                          <a:cs typeface="宋体"/>
                        </a:rPr>
                        <a:t>刻的受力情</a:t>
                      </a:r>
                      <a:r>
                        <a:rPr dirty="0" sz="3000" spc="-15" b="1">
                          <a:solidFill>
                            <a:srgbClr val="000099"/>
                          </a:solidFill>
                          <a:latin typeface="宋体"/>
                          <a:cs typeface="宋体"/>
                        </a:rPr>
                        <a:t>况</a:t>
                      </a:r>
                      <a:endParaRPr sz="3000">
                        <a:latin typeface="宋体"/>
                        <a:cs typeface="宋体"/>
                      </a:endParaRPr>
                    </a:p>
                  </a:txBody>
                  <a:tcPr marL="0" marR="0" marB="0" marT="1466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809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90"/>
                        </a:spcBef>
                      </a:pPr>
                      <a:r>
                        <a:rPr dirty="0" sz="3000" b="1">
                          <a:solidFill>
                            <a:srgbClr val="CC0000"/>
                          </a:solidFill>
                          <a:latin typeface="宋体"/>
                          <a:cs typeface="宋体"/>
                        </a:rPr>
                        <a:t>峰</a:t>
                      </a:r>
                      <a:endParaRPr sz="3000">
                        <a:latin typeface="宋体"/>
                        <a:cs typeface="宋体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43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3000" b="1">
                          <a:solidFill>
                            <a:srgbClr val="CC0000"/>
                          </a:solidFill>
                          <a:latin typeface="宋体"/>
                          <a:cs typeface="宋体"/>
                        </a:rPr>
                        <a:t>值</a:t>
                      </a:r>
                      <a:endParaRPr sz="3000">
                        <a:latin typeface="宋体"/>
                        <a:cs typeface="宋体"/>
                      </a:endParaRPr>
                    </a:p>
                  </a:txBody>
                  <a:tcPr marL="0" marR="0" marB="0" marT="3416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  <a:p>
                      <a:pPr marL="121285" marR="453390">
                        <a:lnSpc>
                          <a:spcPct val="100000"/>
                        </a:lnSpc>
                        <a:spcBef>
                          <a:spcPts val="1760"/>
                        </a:spcBef>
                      </a:pPr>
                      <a:r>
                        <a:rPr dirty="0" sz="3000" spc="15" b="1">
                          <a:solidFill>
                            <a:srgbClr val="000099"/>
                          </a:solidFill>
                          <a:latin typeface="宋体"/>
                          <a:cs typeface="宋体"/>
                        </a:rPr>
                        <a:t>交变电流所</a:t>
                      </a:r>
                      <a:r>
                        <a:rPr dirty="0" sz="3000" b="1">
                          <a:solidFill>
                            <a:srgbClr val="000099"/>
                          </a:solidFill>
                          <a:latin typeface="宋体"/>
                          <a:cs typeface="宋体"/>
                        </a:rPr>
                        <a:t>能 </a:t>
                      </a:r>
                      <a:r>
                        <a:rPr dirty="0" sz="3000" spc="15" b="1">
                          <a:solidFill>
                            <a:srgbClr val="000099"/>
                          </a:solidFill>
                          <a:latin typeface="宋体"/>
                          <a:cs typeface="宋体"/>
                        </a:rPr>
                        <a:t>达到的最大</a:t>
                      </a:r>
                      <a:r>
                        <a:rPr dirty="0" sz="3000" b="1">
                          <a:solidFill>
                            <a:srgbClr val="000099"/>
                          </a:solidFill>
                          <a:latin typeface="宋体"/>
                          <a:cs typeface="宋体"/>
                        </a:rPr>
                        <a:t>值</a:t>
                      </a:r>
                      <a:endParaRPr sz="3000">
                        <a:latin typeface="宋体"/>
                        <a:cs typeface="宋体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7180">
                        <a:lnSpc>
                          <a:spcPct val="100000"/>
                        </a:lnSpc>
                        <a:spcBef>
                          <a:spcPts val="1950"/>
                        </a:spcBef>
                      </a:pPr>
                      <a:r>
                        <a:rPr dirty="0" sz="3200" b="1" i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baseline="-17615" sz="3075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dirty="0" sz="320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dirty="0" sz="3200" b="1" i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NBSω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 algn="ctr" marL="407670" marR="737870">
                        <a:lnSpc>
                          <a:spcPts val="3590"/>
                        </a:lnSpc>
                        <a:spcBef>
                          <a:spcPts val="2295"/>
                        </a:spcBef>
                        <a:tabLst>
                          <a:tab pos="894080" algn="l"/>
                          <a:tab pos="1099185" algn="l"/>
                          <a:tab pos="1424940" algn="l"/>
                          <a:tab pos="2089150" algn="l"/>
                        </a:tabLst>
                      </a:pPr>
                      <a:r>
                        <a:rPr dirty="0" baseline="-20609" sz="4650" i="1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I	</a:t>
                      </a:r>
                      <a:r>
                        <a:rPr dirty="0" baseline="-20609" sz="4650" spc="7">
                          <a:solidFill>
                            <a:srgbClr val="0000FF"/>
                          </a:solidFill>
                          <a:latin typeface="Symbol"/>
                          <a:cs typeface="Symbol"/>
                        </a:rPr>
                        <a:t></a:t>
                      </a:r>
                      <a:r>
                        <a:rPr dirty="0" u="heavy" sz="3100" spc="5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Symbol"/>
                          <a:cs typeface="Symbol"/>
                        </a:rPr>
                        <a:t></a:t>
                      </a:r>
                      <a:r>
                        <a:rPr dirty="0" baseline="14336" sz="4650" spc="52" i="1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u="heavy" sz="1800" spc="35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Times New Roman"/>
                          <a:cs typeface="Times New Roman"/>
                        </a:rPr>
                        <a:t>m 	</a:t>
                      </a:r>
                      <a:r>
                        <a:rPr dirty="0" baseline="50925" sz="270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50925" sz="2700" spc="-7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m		</a:t>
                      </a:r>
                      <a:r>
                        <a:rPr dirty="0" sz="3100" spc="5" i="1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R </a:t>
                      </a:r>
                      <a:r>
                        <a:rPr dirty="0" sz="3100" spc="5">
                          <a:solidFill>
                            <a:srgbClr val="0000FF"/>
                          </a:solidFill>
                          <a:latin typeface="Symbol"/>
                          <a:cs typeface="Symbol"/>
                        </a:rPr>
                        <a:t></a:t>
                      </a:r>
                      <a:r>
                        <a:rPr dirty="0" sz="3100" spc="-265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100" i="1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476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  <a:p>
                      <a:pPr marL="121285" marR="253365">
                        <a:lnSpc>
                          <a:spcPct val="100000"/>
                        </a:lnSpc>
                        <a:spcBef>
                          <a:spcPts val="1760"/>
                        </a:spcBef>
                      </a:pPr>
                      <a:r>
                        <a:rPr dirty="0" sz="3000" spc="15" b="1">
                          <a:solidFill>
                            <a:srgbClr val="000099"/>
                          </a:solidFill>
                          <a:latin typeface="宋体"/>
                          <a:cs typeface="宋体"/>
                        </a:rPr>
                        <a:t>确定用电器的</a:t>
                      </a:r>
                      <a:r>
                        <a:rPr dirty="0" sz="3000" b="1">
                          <a:solidFill>
                            <a:srgbClr val="000099"/>
                          </a:solidFill>
                          <a:latin typeface="宋体"/>
                          <a:cs typeface="宋体"/>
                        </a:rPr>
                        <a:t>耐 </a:t>
                      </a:r>
                      <a:r>
                        <a:rPr dirty="0" sz="3000" b="1">
                          <a:solidFill>
                            <a:srgbClr val="000099"/>
                          </a:solidFill>
                          <a:latin typeface="宋体"/>
                          <a:cs typeface="宋体"/>
                        </a:rPr>
                        <a:t>压</a:t>
                      </a:r>
                      <a:r>
                        <a:rPr dirty="0" sz="3000" spc="-15" b="1">
                          <a:solidFill>
                            <a:srgbClr val="000099"/>
                          </a:solidFill>
                          <a:latin typeface="宋体"/>
                          <a:cs typeface="宋体"/>
                        </a:rPr>
                        <a:t>值</a:t>
                      </a:r>
                      <a:endParaRPr sz="3000">
                        <a:latin typeface="宋体"/>
                        <a:cs typeface="宋体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5316728" y="2302687"/>
            <a:ext cx="40005" cy="20320"/>
          </a:xfrm>
          <a:custGeom>
            <a:avLst/>
            <a:gdLst/>
            <a:ahLst/>
            <a:cxnLst/>
            <a:rect l="l" t="t" r="r" b="b"/>
            <a:pathLst>
              <a:path w="40004" h="20319">
                <a:moveTo>
                  <a:pt x="0" y="19761"/>
                </a:moveTo>
                <a:lnTo>
                  <a:pt x="39585" y="0"/>
                </a:lnTo>
              </a:path>
            </a:pathLst>
          </a:custGeom>
          <a:ln w="31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356313" y="2302687"/>
            <a:ext cx="91440" cy="141605"/>
          </a:xfrm>
          <a:custGeom>
            <a:avLst/>
            <a:gdLst/>
            <a:ahLst/>
            <a:cxnLst/>
            <a:rect l="l" t="t" r="r" b="b"/>
            <a:pathLst>
              <a:path w="91439" h="141605">
                <a:moveTo>
                  <a:pt x="0" y="0"/>
                </a:moveTo>
                <a:lnTo>
                  <a:pt x="91033" y="141160"/>
                </a:lnTo>
              </a:path>
            </a:pathLst>
          </a:custGeom>
          <a:ln w="31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447347" y="2068360"/>
            <a:ext cx="100965" cy="375920"/>
          </a:xfrm>
          <a:custGeom>
            <a:avLst/>
            <a:gdLst/>
            <a:ahLst/>
            <a:cxnLst/>
            <a:rect l="l" t="t" r="r" b="b"/>
            <a:pathLst>
              <a:path w="100964" h="375919">
                <a:moveTo>
                  <a:pt x="0" y="375488"/>
                </a:moveTo>
                <a:lnTo>
                  <a:pt x="100939" y="0"/>
                </a:lnTo>
              </a:path>
            </a:pathLst>
          </a:custGeom>
          <a:ln w="31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313769" y="2059889"/>
            <a:ext cx="453390" cy="384175"/>
          </a:xfrm>
          <a:custGeom>
            <a:avLst/>
            <a:gdLst/>
            <a:ahLst/>
            <a:cxnLst/>
            <a:rect l="l" t="t" r="r" b="b"/>
            <a:pathLst>
              <a:path w="453389" h="384175">
                <a:moveTo>
                  <a:pt x="153557" y="346316"/>
                </a:moveTo>
                <a:lnTo>
                  <a:pt x="134569" y="346316"/>
                </a:lnTo>
                <a:lnTo>
                  <a:pt x="227596" y="0"/>
                </a:lnTo>
                <a:lnTo>
                  <a:pt x="453212" y="0"/>
                </a:lnTo>
                <a:lnTo>
                  <a:pt x="453212" y="17881"/>
                </a:lnTo>
                <a:lnTo>
                  <a:pt x="241439" y="17881"/>
                </a:lnTo>
                <a:lnTo>
                  <a:pt x="153557" y="346316"/>
                </a:lnTo>
                <a:close/>
              </a:path>
              <a:path w="453389" h="384175">
                <a:moveTo>
                  <a:pt x="5930" y="268211"/>
                </a:moveTo>
                <a:lnTo>
                  <a:pt x="0" y="257860"/>
                </a:lnTo>
                <a:lnTo>
                  <a:pt x="52438" y="230568"/>
                </a:lnTo>
                <a:lnTo>
                  <a:pt x="69794" y="255028"/>
                </a:lnTo>
                <a:lnTo>
                  <a:pt x="32651" y="255028"/>
                </a:lnTo>
                <a:lnTo>
                  <a:pt x="5930" y="268211"/>
                </a:lnTo>
                <a:close/>
              </a:path>
              <a:path w="453389" h="384175">
                <a:moveTo>
                  <a:pt x="143484" y="383959"/>
                </a:moveTo>
                <a:lnTo>
                  <a:pt x="124675" y="383959"/>
                </a:lnTo>
                <a:lnTo>
                  <a:pt x="32651" y="255028"/>
                </a:lnTo>
                <a:lnTo>
                  <a:pt x="69794" y="255028"/>
                </a:lnTo>
                <a:lnTo>
                  <a:pt x="134569" y="346316"/>
                </a:lnTo>
                <a:lnTo>
                  <a:pt x="153557" y="346316"/>
                </a:lnTo>
                <a:lnTo>
                  <a:pt x="143484" y="383959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284076" y="2014715"/>
            <a:ext cx="513080" cy="0"/>
          </a:xfrm>
          <a:custGeom>
            <a:avLst/>
            <a:gdLst/>
            <a:ahLst/>
            <a:cxnLst/>
            <a:rect l="l" t="t" r="r" b="b"/>
            <a:pathLst>
              <a:path w="513079" h="0">
                <a:moveTo>
                  <a:pt x="0" y="0"/>
                </a:moveTo>
                <a:lnTo>
                  <a:pt x="512584" y="0"/>
                </a:lnTo>
              </a:path>
            </a:pathLst>
          </a:custGeom>
          <a:ln w="18338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368163" y="3292144"/>
            <a:ext cx="40005" cy="19685"/>
          </a:xfrm>
          <a:custGeom>
            <a:avLst/>
            <a:gdLst/>
            <a:ahLst/>
            <a:cxnLst/>
            <a:rect l="l" t="t" r="r" b="b"/>
            <a:pathLst>
              <a:path w="40004" h="19685">
                <a:moveTo>
                  <a:pt x="0" y="19621"/>
                </a:moveTo>
                <a:lnTo>
                  <a:pt x="39471" y="0"/>
                </a:lnTo>
              </a:path>
            </a:pathLst>
          </a:custGeom>
          <a:ln w="31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407634" y="3292144"/>
            <a:ext cx="90805" cy="140335"/>
          </a:xfrm>
          <a:custGeom>
            <a:avLst/>
            <a:gdLst/>
            <a:ahLst/>
            <a:cxnLst/>
            <a:rect l="l" t="t" r="r" b="b"/>
            <a:pathLst>
              <a:path w="90804" h="140335">
                <a:moveTo>
                  <a:pt x="0" y="0"/>
                </a:moveTo>
                <a:lnTo>
                  <a:pt x="90766" y="140081"/>
                </a:lnTo>
              </a:path>
            </a:pathLst>
          </a:custGeom>
          <a:ln w="31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498401" y="3059620"/>
            <a:ext cx="100965" cy="372745"/>
          </a:xfrm>
          <a:custGeom>
            <a:avLst/>
            <a:gdLst/>
            <a:ahLst/>
            <a:cxnLst/>
            <a:rect l="l" t="t" r="r" b="b"/>
            <a:pathLst>
              <a:path w="100964" h="372745">
                <a:moveTo>
                  <a:pt x="0" y="372605"/>
                </a:moveTo>
                <a:lnTo>
                  <a:pt x="100622" y="0"/>
                </a:lnTo>
              </a:path>
            </a:pathLst>
          </a:custGeom>
          <a:ln w="31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365203" y="3051213"/>
            <a:ext cx="452120" cy="381635"/>
          </a:xfrm>
          <a:custGeom>
            <a:avLst/>
            <a:gdLst/>
            <a:ahLst/>
            <a:cxnLst/>
            <a:rect l="l" t="t" r="r" b="b"/>
            <a:pathLst>
              <a:path w="452120" h="381635">
                <a:moveTo>
                  <a:pt x="153095" y="343662"/>
                </a:moveTo>
                <a:lnTo>
                  <a:pt x="134175" y="343662"/>
                </a:lnTo>
                <a:lnTo>
                  <a:pt x="226923" y="0"/>
                </a:lnTo>
                <a:lnTo>
                  <a:pt x="451853" y="0"/>
                </a:lnTo>
                <a:lnTo>
                  <a:pt x="451853" y="17741"/>
                </a:lnTo>
                <a:lnTo>
                  <a:pt x="240728" y="17741"/>
                </a:lnTo>
                <a:lnTo>
                  <a:pt x="153095" y="343662"/>
                </a:lnTo>
                <a:close/>
              </a:path>
              <a:path w="452120" h="381635">
                <a:moveTo>
                  <a:pt x="5918" y="266153"/>
                </a:moveTo>
                <a:lnTo>
                  <a:pt x="0" y="255879"/>
                </a:lnTo>
                <a:lnTo>
                  <a:pt x="52298" y="228790"/>
                </a:lnTo>
                <a:lnTo>
                  <a:pt x="69606" y="253072"/>
                </a:lnTo>
                <a:lnTo>
                  <a:pt x="32562" y="253072"/>
                </a:lnTo>
                <a:lnTo>
                  <a:pt x="5918" y="266153"/>
                </a:lnTo>
                <a:close/>
              </a:path>
              <a:path w="452120" h="381635">
                <a:moveTo>
                  <a:pt x="143052" y="381012"/>
                </a:moveTo>
                <a:lnTo>
                  <a:pt x="124307" y="381012"/>
                </a:lnTo>
                <a:lnTo>
                  <a:pt x="32562" y="253072"/>
                </a:lnTo>
                <a:lnTo>
                  <a:pt x="69606" y="253072"/>
                </a:lnTo>
                <a:lnTo>
                  <a:pt x="134175" y="343662"/>
                </a:lnTo>
                <a:lnTo>
                  <a:pt x="153095" y="343662"/>
                </a:lnTo>
                <a:lnTo>
                  <a:pt x="143052" y="381012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331663" y="3006394"/>
            <a:ext cx="519430" cy="0"/>
          </a:xfrm>
          <a:custGeom>
            <a:avLst/>
            <a:gdLst/>
            <a:ahLst/>
            <a:cxnLst/>
            <a:rect l="l" t="t" r="r" b="b"/>
            <a:pathLst>
              <a:path w="519429" h="0">
                <a:moveTo>
                  <a:pt x="0" y="0"/>
                </a:moveTo>
                <a:lnTo>
                  <a:pt x="518947" y="0"/>
                </a:lnTo>
              </a:path>
            </a:pathLst>
          </a:custGeom>
          <a:ln w="18249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201564" y="4269320"/>
            <a:ext cx="38100" cy="19050"/>
          </a:xfrm>
          <a:custGeom>
            <a:avLst/>
            <a:gdLst/>
            <a:ahLst/>
            <a:cxnLst/>
            <a:rect l="l" t="t" r="r" b="b"/>
            <a:pathLst>
              <a:path w="38100" h="19050">
                <a:moveTo>
                  <a:pt x="0" y="18643"/>
                </a:moveTo>
                <a:lnTo>
                  <a:pt x="37566" y="0"/>
                </a:lnTo>
              </a:path>
            </a:pathLst>
          </a:custGeom>
          <a:ln w="31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239130" y="4269320"/>
            <a:ext cx="86995" cy="133350"/>
          </a:xfrm>
          <a:custGeom>
            <a:avLst/>
            <a:gdLst/>
            <a:ahLst/>
            <a:cxnLst/>
            <a:rect l="l" t="t" r="r" b="b"/>
            <a:pathLst>
              <a:path w="86995" h="133350">
                <a:moveTo>
                  <a:pt x="0" y="0"/>
                </a:moveTo>
                <a:lnTo>
                  <a:pt x="86398" y="133134"/>
                </a:lnTo>
              </a:path>
            </a:pathLst>
          </a:custGeom>
          <a:ln w="31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325529" y="4048315"/>
            <a:ext cx="95885" cy="354330"/>
          </a:xfrm>
          <a:custGeom>
            <a:avLst/>
            <a:gdLst/>
            <a:ahLst/>
            <a:cxnLst/>
            <a:rect l="l" t="t" r="r" b="b"/>
            <a:pathLst>
              <a:path w="95885" h="354329">
                <a:moveTo>
                  <a:pt x="0" y="354139"/>
                </a:moveTo>
                <a:lnTo>
                  <a:pt x="95796" y="0"/>
                </a:lnTo>
              </a:path>
            </a:pathLst>
          </a:custGeom>
          <a:ln w="31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421325" y="4048315"/>
            <a:ext cx="207645" cy="0"/>
          </a:xfrm>
          <a:custGeom>
            <a:avLst/>
            <a:gdLst/>
            <a:ahLst/>
            <a:cxnLst/>
            <a:rect l="l" t="t" r="r" b="b"/>
            <a:pathLst>
              <a:path w="207645" h="0">
                <a:moveTo>
                  <a:pt x="0" y="0"/>
                </a:moveTo>
                <a:lnTo>
                  <a:pt x="207543" y="0"/>
                </a:lnTo>
              </a:path>
            </a:pathLst>
          </a:custGeom>
          <a:ln w="31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198745" y="4040327"/>
            <a:ext cx="430530" cy="362585"/>
          </a:xfrm>
          <a:custGeom>
            <a:avLst/>
            <a:gdLst/>
            <a:ahLst/>
            <a:cxnLst/>
            <a:rect l="l" t="t" r="r" b="b"/>
            <a:pathLst>
              <a:path w="430529" h="362585">
                <a:moveTo>
                  <a:pt x="145728" y="326631"/>
                </a:moveTo>
                <a:lnTo>
                  <a:pt x="127723" y="326631"/>
                </a:lnTo>
                <a:lnTo>
                  <a:pt x="216001" y="0"/>
                </a:lnTo>
                <a:lnTo>
                  <a:pt x="430123" y="0"/>
                </a:lnTo>
                <a:lnTo>
                  <a:pt x="430123" y="16865"/>
                </a:lnTo>
                <a:lnTo>
                  <a:pt x="229146" y="16865"/>
                </a:lnTo>
                <a:lnTo>
                  <a:pt x="145728" y="326631"/>
                </a:lnTo>
                <a:close/>
              </a:path>
              <a:path w="430529" h="362585">
                <a:moveTo>
                  <a:pt x="5638" y="252958"/>
                </a:moveTo>
                <a:lnTo>
                  <a:pt x="0" y="243192"/>
                </a:lnTo>
                <a:lnTo>
                  <a:pt x="49771" y="217462"/>
                </a:lnTo>
                <a:lnTo>
                  <a:pt x="66248" y="240537"/>
                </a:lnTo>
                <a:lnTo>
                  <a:pt x="30987" y="240537"/>
                </a:lnTo>
                <a:lnTo>
                  <a:pt x="5638" y="252958"/>
                </a:lnTo>
                <a:close/>
              </a:path>
              <a:path w="430529" h="362585">
                <a:moveTo>
                  <a:pt x="136169" y="362127"/>
                </a:moveTo>
                <a:lnTo>
                  <a:pt x="118325" y="362127"/>
                </a:lnTo>
                <a:lnTo>
                  <a:pt x="30987" y="240537"/>
                </a:lnTo>
                <a:lnTo>
                  <a:pt x="66248" y="240537"/>
                </a:lnTo>
                <a:lnTo>
                  <a:pt x="127723" y="326631"/>
                </a:lnTo>
                <a:lnTo>
                  <a:pt x="145728" y="326631"/>
                </a:lnTo>
                <a:lnTo>
                  <a:pt x="136169" y="362127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619612" y="4783073"/>
            <a:ext cx="187325" cy="0"/>
          </a:xfrm>
          <a:custGeom>
            <a:avLst/>
            <a:gdLst/>
            <a:ahLst/>
            <a:cxnLst/>
            <a:rect l="l" t="t" r="r" b="b"/>
            <a:pathLst>
              <a:path w="187325" h="0">
                <a:moveTo>
                  <a:pt x="0" y="0"/>
                </a:moveTo>
                <a:lnTo>
                  <a:pt x="186791" y="0"/>
                </a:lnTo>
              </a:path>
            </a:pathLst>
          </a:custGeom>
          <a:ln w="18097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559425" y="4992852"/>
            <a:ext cx="560705" cy="0"/>
          </a:xfrm>
          <a:custGeom>
            <a:avLst/>
            <a:gdLst/>
            <a:ahLst/>
            <a:cxnLst/>
            <a:rect l="l" t="t" r="r" b="b"/>
            <a:pathLst>
              <a:path w="560704" h="0">
                <a:moveTo>
                  <a:pt x="0" y="0"/>
                </a:moveTo>
                <a:lnTo>
                  <a:pt x="560374" y="0"/>
                </a:lnTo>
              </a:path>
            </a:pathLst>
          </a:custGeom>
          <a:ln w="18097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569371" y="5677915"/>
            <a:ext cx="193675" cy="0"/>
          </a:xfrm>
          <a:custGeom>
            <a:avLst/>
            <a:gdLst/>
            <a:ahLst/>
            <a:cxnLst/>
            <a:rect l="l" t="t" r="r" b="b"/>
            <a:pathLst>
              <a:path w="193675" h="0">
                <a:moveTo>
                  <a:pt x="0" y="0"/>
                </a:moveTo>
                <a:lnTo>
                  <a:pt x="193078" y="0"/>
                </a:lnTo>
              </a:path>
            </a:pathLst>
          </a:custGeom>
          <a:ln w="18656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172735" y="5893612"/>
            <a:ext cx="694055" cy="0"/>
          </a:xfrm>
          <a:custGeom>
            <a:avLst/>
            <a:gdLst/>
            <a:ahLst/>
            <a:cxnLst/>
            <a:rect l="l" t="t" r="r" b="b"/>
            <a:pathLst>
              <a:path w="694054" h="0">
                <a:moveTo>
                  <a:pt x="0" y="0"/>
                </a:moveTo>
                <a:lnTo>
                  <a:pt x="693864" y="0"/>
                </a:lnTo>
              </a:path>
            </a:pathLst>
          </a:custGeom>
          <a:ln w="18656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334962" y="727075"/>
          <a:ext cx="10906125" cy="5631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5805"/>
                <a:gridCol w="2969260"/>
                <a:gridCol w="2223135"/>
                <a:gridCol w="4968875"/>
              </a:tblGrid>
              <a:tr h="6254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0">
                        <a:lnSpc>
                          <a:spcPct val="100000"/>
                        </a:lnSpc>
                        <a:spcBef>
                          <a:spcPts val="489"/>
                        </a:spcBef>
                      </a:pPr>
                      <a:r>
                        <a:rPr dirty="0" sz="3000" b="1">
                          <a:solidFill>
                            <a:srgbClr val="CC0000"/>
                          </a:solidFill>
                          <a:latin typeface="宋体"/>
                          <a:cs typeface="宋体"/>
                        </a:rPr>
                        <a:t>物理含</a:t>
                      </a:r>
                      <a:r>
                        <a:rPr dirty="0" sz="3000" spc="-15" b="1">
                          <a:solidFill>
                            <a:srgbClr val="CC0000"/>
                          </a:solidFill>
                          <a:latin typeface="宋体"/>
                          <a:cs typeface="宋体"/>
                        </a:rPr>
                        <a:t>义</a:t>
                      </a:r>
                      <a:endParaRPr sz="3000">
                        <a:latin typeface="宋体"/>
                        <a:cs typeface="宋体"/>
                      </a:endParaRPr>
                    </a:p>
                  </a:txBody>
                  <a:tcPr marL="0" marR="0" marB="0" marT="6222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4805">
                        <a:lnSpc>
                          <a:spcPct val="100000"/>
                        </a:lnSpc>
                        <a:spcBef>
                          <a:spcPts val="489"/>
                        </a:spcBef>
                      </a:pPr>
                      <a:r>
                        <a:rPr dirty="0" sz="3000" b="1">
                          <a:solidFill>
                            <a:srgbClr val="CC0000"/>
                          </a:solidFill>
                          <a:latin typeface="宋体"/>
                          <a:cs typeface="宋体"/>
                        </a:rPr>
                        <a:t>重要关</a:t>
                      </a:r>
                      <a:r>
                        <a:rPr dirty="0" sz="3000" spc="-15" b="1">
                          <a:solidFill>
                            <a:srgbClr val="CC0000"/>
                          </a:solidFill>
                          <a:latin typeface="宋体"/>
                          <a:cs typeface="宋体"/>
                        </a:rPr>
                        <a:t>系</a:t>
                      </a:r>
                      <a:endParaRPr sz="3000">
                        <a:latin typeface="宋体"/>
                        <a:cs typeface="宋体"/>
                      </a:endParaRPr>
                    </a:p>
                  </a:txBody>
                  <a:tcPr marL="0" marR="0" marB="0" marT="6222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9"/>
                        </a:spcBef>
                      </a:pPr>
                      <a:r>
                        <a:rPr dirty="0" sz="3000" b="1">
                          <a:solidFill>
                            <a:srgbClr val="CC0000"/>
                          </a:solidFill>
                          <a:latin typeface="宋体"/>
                          <a:cs typeface="宋体"/>
                        </a:rPr>
                        <a:t>适用情</a:t>
                      </a:r>
                      <a:r>
                        <a:rPr dirty="0" sz="3000" spc="-15" b="1">
                          <a:solidFill>
                            <a:srgbClr val="CC0000"/>
                          </a:solidFill>
                          <a:latin typeface="宋体"/>
                          <a:cs typeface="宋体"/>
                        </a:rPr>
                        <a:t>况</a:t>
                      </a:r>
                      <a:endParaRPr sz="3000">
                        <a:latin typeface="宋体"/>
                        <a:cs typeface="宋体"/>
                      </a:endParaRPr>
                    </a:p>
                  </a:txBody>
                  <a:tcPr marL="0" marR="0" marB="0" marT="6222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032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2750">
                        <a:latin typeface="Times New Roman"/>
                        <a:cs typeface="Times New Roman"/>
                      </a:endParaRPr>
                    </a:p>
                    <a:p>
                      <a:pPr algn="just" marL="170815" marR="167005">
                        <a:lnSpc>
                          <a:spcPct val="100000"/>
                        </a:lnSpc>
                      </a:pPr>
                      <a:r>
                        <a:rPr dirty="0" sz="3000" b="1">
                          <a:solidFill>
                            <a:srgbClr val="CC0000"/>
                          </a:solidFill>
                          <a:latin typeface="宋体"/>
                          <a:cs typeface="宋体"/>
                        </a:rPr>
                        <a:t>有 效 值</a:t>
                      </a:r>
                      <a:endParaRPr sz="3000">
                        <a:latin typeface="宋体"/>
                        <a:cs typeface="宋体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2750">
                        <a:latin typeface="Times New Roman"/>
                        <a:cs typeface="Times New Roman"/>
                      </a:endParaRPr>
                    </a:p>
                    <a:p>
                      <a:pPr algn="just" marL="120650" marR="162560">
                        <a:lnSpc>
                          <a:spcPct val="100000"/>
                        </a:lnSpc>
                      </a:pPr>
                      <a:r>
                        <a:rPr dirty="0" sz="3000" spc="15" b="1">
                          <a:solidFill>
                            <a:srgbClr val="000099"/>
                          </a:solidFill>
                          <a:latin typeface="宋体"/>
                          <a:cs typeface="宋体"/>
                        </a:rPr>
                        <a:t>跟交变电流的</a:t>
                      </a:r>
                      <a:r>
                        <a:rPr dirty="0" sz="3000" b="1">
                          <a:solidFill>
                            <a:srgbClr val="000099"/>
                          </a:solidFill>
                          <a:latin typeface="宋体"/>
                          <a:cs typeface="宋体"/>
                        </a:rPr>
                        <a:t>热 </a:t>
                      </a:r>
                      <a:r>
                        <a:rPr dirty="0" sz="3000" spc="15" b="1">
                          <a:solidFill>
                            <a:srgbClr val="000099"/>
                          </a:solidFill>
                          <a:latin typeface="宋体"/>
                          <a:cs typeface="宋体"/>
                        </a:rPr>
                        <a:t>效应等效的恒</a:t>
                      </a:r>
                      <a:r>
                        <a:rPr dirty="0" sz="3000" b="1">
                          <a:solidFill>
                            <a:srgbClr val="000099"/>
                          </a:solidFill>
                          <a:latin typeface="宋体"/>
                          <a:cs typeface="宋体"/>
                        </a:rPr>
                        <a:t>定 </a:t>
                      </a:r>
                      <a:r>
                        <a:rPr dirty="0" sz="3000" b="1">
                          <a:solidFill>
                            <a:srgbClr val="000099"/>
                          </a:solidFill>
                          <a:latin typeface="宋体"/>
                          <a:cs typeface="宋体"/>
                        </a:rPr>
                        <a:t>电流</a:t>
                      </a:r>
                      <a:r>
                        <a:rPr dirty="0" sz="3000" spc="-15" b="1">
                          <a:solidFill>
                            <a:srgbClr val="000099"/>
                          </a:solidFill>
                          <a:latin typeface="宋体"/>
                          <a:cs typeface="宋体"/>
                        </a:rPr>
                        <a:t>值</a:t>
                      </a:r>
                      <a:endParaRPr sz="3000">
                        <a:latin typeface="宋体"/>
                        <a:cs typeface="宋体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6425">
                        <a:lnSpc>
                          <a:spcPts val="2935"/>
                        </a:lnSpc>
                        <a:spcBef>
                          <a:spcPts val="3030"/>
                        </a:spcBef>
                        <a:tabLst>
                          <a:tab pos="1290955" algn="l"/>
                        </a:tabLst>
                      </a:pPr>
                      <a:r>
                        <a:rPr dirty="0" sz="2850" spc="-10" i="1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2850" spc="215" i="1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850" spc="-5">
                          <a:solidFill>
                            <a:srgbClr val="0000FF"/>
                          </a:solidFill>
                          <a:latin typeface="Symbol"/>
                          <a:cs typeface="Symbol"/>
                        </a:rPr>
                        <a:t></a:t>
                      </a:r>
                      <a:r>
                        <a:rPr dirty="0" sz="2850" spc="-5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baseline="35087" sz="4275" spc="52" i="1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u="sng" baseline="35353" sz="2475" spc="52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Times New Roman"/>
                          <a:cs typeface="Times New Roman"/>
                        </a:rPr>
                        <a:t>m</a:t>
                      </a:r>
                      <a:endParaRPr baseline="35353" sz="2475">
                        <a:latin typeface="Times New Roman"/>
                        <a:cs typeface="Times New Roman"/>
                      </a:endParaRPr>
                    </a:p>
                    <a:p>
                      <a:pPr algn="r" marR="506095">
                        <a:lnSpc>
                          <a:spcPts val="2935"/>
                        </a:lnSpc>
                      </a:pPr>
                      <a:r>
                        <a:rPr dirty="0" sz="285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50">
                        <a:latin typeface="Times New Roman"/>
                        <a:cs typeface="Times New Roman"/>
                      </a:endParaRPr>
                    </a:p>
                    <a:p>
                      <a:pPr algn="r" marR="467359">
                        <a:lnSpc>
                          <a:spcPts val="2925"/>
                        </a:lnSpc>
                        <a:spcBef>
                          <a:spcPts val="1939"/>
                        </a:spcBef>
                        <a:tabLst>
                          <a:tab pos="408305" algn="l"/>
                        </a:tabLst>
                      </a:pPr>
                      <a:r>
                        <a:rPr dirty="0" sz="2850" spc="-10" i="1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U	</a:t>
                      </a:r>
                      <a:r>
                        <a:rPr dirty="0" sz="2850" spc="-5">
                          <a:solidFill>
                            <a:srgbClr val="0000FF"/>
                          </a:solidFill>
                          <a:latin typeface="Symbol"/>
                          <a:cs typeface="Symbol"/>
                        </a:rPr>
                        <a:t></a:t>
                      </a:r>
                      <a:r>
                        <a:rPr dirty="0" sz="2850" spc="-5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35087" sz="4275" spc="-15" i="1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dirty="0" baseline="35087" sz="4275" spc="-705" i="1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u="sng" baseline="35353" sz="2475" spc="-15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Times New Roman"/>
                          <a:cs typeface="Times New Roman"/>
                        </a:rPr>
                        <a:t>m</a:t>
                      </a:r>
                      <a:endParaRPr baseline="35353" sz="2475">
                        <a:latin typeface="Times New Roman"/>
                        <a:cs typeface="Times New Roman"/>
                      </a:endParaRPr>
                    </a:p>
                    <a:p>
                      <a:pPr algn="r" marR="455295">
                        <a:lnSpc>
                          <a:spcPts val="2925"/>
                        </a:lnSpc>
                      </a:pPr>
                      <a:r>
                        <a:rPr dirty="0" sz="285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50">
                        <a:latin typeface="Times New Roman"/>
                        <a:cs typeface="Times New Roman"/>
                      </a:endParaRPr>
                    </a:p>
                    <a:p>
                      <a:pPr marL="604520">
                        <a:lnSpc>
                          <a:spcPct val="100000"/>
                        </a:lnSpc>
                        <a:spcBef>
                          <a:spcPts val="1115"/>
                        </a:spcBef>
                        <a:tabLst>
                          <a:tab pos="846455" algn="l"/>
                        </a:tabLst>
                      </a:pPr>
                      <a:r>
                        <a:rPr dirty="0" baseline="-20964" sz="3975" spc="15" i="1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I	</a:t>
                      </a:r>
                      <a:r>
                        <a:rPr dirty="0" baseline="-20964" sz="3975" spc="30">
                          <a:solidFill>
                            <a:srgbClr val="0000FF"/>
                          </a:solidFill>
                          <a:latin typeface="Symbol"/>
                          <a:cs typeface="Symbol"/>
                        </a:rPr>
                        <a:t></a:t>
                      </a:r>
                      <a:r>
                        <a:rPr dirty="0" sz="2650" spc="5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14675" sz="3975" spc="165" i="1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u="heavy" sz="1550" spc="11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dirty="0" u="heavy" sz="1550" spc="10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140081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265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48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5940" indent="-414655">
                        <a:lnSpc>
                          <a:spcPct val="100000"/>
                        </a:lnSpc>
                        <a:spcBef>
                          <a:spcPts val="960"/>
                        </a:spcBef>
                        <a:buSzPct val="96428"/>
                        <a:buFont typeface="Times New Roman"/>
                        <a:buAutoNum type="arabicParenBoth"/>
                        <a:tabLst>
                          <a:tab pos="536575" algn="l"/>
                        </a:tabLst>
                      </a:pPr>
                      <a:r>
                        <a:rPr dirty="0" sz="2800" b="1">
                          <a:solidFill>
                            <a:srgbClr val="000099"/>
                          </a:solidFill>
                          <a:latin typeface="宋体"/>
                          <a:cs typeface="宋体"/>
                        </a:rPr>
                        <a:t>计算与电流热效应相关的</a:t>
                      </a:r>
                      <a:r>
                        <a:rPr dirty="0" sz="2800" spc="-20" b="1">
                          <a:solidFill>
                            <a:srgbClr val="000099"/>
                          </a:solidFill>
                          <a:latin typeface="宋体"/>
                          <a:cs typeface="宋体"/>
                        </a:rPr>
                        <a:t>量</a:t>
                      </a:r>
                      <a:endParaRPr sz="2800">
                        <a:latin typeface="宋体"/>
                        <a:cs typeface="宋体"/>
                      </a:endParaRPr>
                    </a:p>
                    <a:p>
                      <a:pPr marL="121285">
                        <a:lnSpc>
                          <a:spcPct val="100000"/>
                        </a:lnSpc>
                      </a:pPr>
                      <a:r>
                        <a:rPr dirty="0" sz="2800" spc="-10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dirty="0" sz="2800" b="1">
                          <a:solidFill>
                            <a:srgbClr val="000099"/>
                          </a:solidFill>
                          <a:latin typeface="宋体"/>
                          <a:cs typeface="宋体"/>
                        </a:rPr>
                        <a:t>如功率、热量</a:t>
                      </a:r>
                      <a:r>
                        <a:rPr dirty="0" sz="2800" spc="-5" b="1">
                          <a:solidFill>
                            <a:srgbClr val="000099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535940" indent="-414655">
                        <a:lnSpc>
                          <a:spcPct val="100000"/>
                        </a:lnSpc>
                        <a:spcBef>
                          <a:spcPts val="670"/>
                        </a:spcBef>
                        <a:buSzPct val="96428"/>
                        <a:buFont typeface="Times New Roman"/>
                        <a:buAutoNum type="arabicParenBoth" startAt="2"/>
                        <a:tabLst>
                          <a:tab pos="536575" algn="l"/>
                        </a:tabLst>
                      </a:pPr>
                      <a:r>
                        <a:rPr dirty="0" sz="2800" b="1">
                          <a:solidFill>
                            <a:srgbClr val="000099"/>
                          </a:solidFill>
                          <a:latin typeface="宋体"/>
                          <a:cs typeface="宋体"/>
                        </a:rPr>
                        <a:t>交流电表的测量</a:t>
                      </a:r>
                      <a:r>
                        <a:rPr dirty="0" sz="2800" spc="-20" b="1">
                          <a:solidFill>
                            <a:srgbClr val="000099"/>
                          </a:solidFill>
                          <a:latin typeface="宋体"/>
                          <a:cs typeface="宋体"/>
                        </a:rPr>
                        <a:t>值</a:t>
                      </a:r>
                      <a:endParaRPr sz="2800">
                        <a:latin typeface="宋体"/>
                        <a:cs typeface="宋体"/>
                      </a:endParaRPr>
                    </a:p>
                    <a:p>
                      <a:pPr marL="121285" marR="139065">
                        <a:lnSpc>
                          <a:spcPct val="100299"/>
                        </a:lnSpc>
                        <a:spcBef>
                          <a:spcPts val="660"/>
                        </a:spcBef>
                        <a:buSzPct val="96428"/>
                        <a:buFont typeface="Times New Roman"/>
                        <a:buAutoNum type="arabicParenBoth" startAt="2"/>
                        <a:tabLst>
                          <a:tab pos="536575" algn="l"/>
                        </a:tabLst>
                      </a:pPr>
                      <a:r>
                        <a:rPr dirty="0" sz="2800" spc="20" b="1">
                          <a:solidFill>
                            <a:srgbClr val="000099"/>
                          </a:solidFill>
                          <a:latin typeface="宋体"/>
                          <a:cs typeface="宋体"/>
                        </a:rPr>
                        <a:t>电气设备标注的额定电压</a:t>
                      </a:r>
                      <a:r>
                        <a:rPr dirty="0" sz="2800" b="1">
                          <a:solidFill>
                            <a:srgbClr val="000099"/>
                          </a:solidFill>
                          <a:latin typeface="宋体"/>
                          <a:cs typeface="宋体"/>
                        </a:rPr>
                        <a:t>、 </a:t>
                      </a:r>
                      <a:r>
                        <a:rPr dirty="0" sz="2800" b="1">
                          <a:solidFill>
                            <a:srgbClr val="000099"/>
                          </a:solidFill>
                          <a:latin typeface="宋体"/>
                          <a:cs typeface="宋体"/>
                        </a:rPr>
                        <a:t>额定电</a:t>
                      </a:r>
                      <a:r>
                        <a:rPr dirty="0" sz="2800" spc="-20" b="1">
                          <a:solidFill>
                            <a:srgbClr val="000099"/>
                          </a:solidFill>
                          <a:latin typeface="宋体"/>
                          <a:cs typeface="宋体"/>
                        </a:rPr>
                        <a:t>流</a:t>
                      </a:r>
                      <a:endParaRPr sz="2800">
                        <a:latin typeface="宋体"/>
                        <a:cs typeface="宋体"/>
                      </a:endParaRPr>
                    </a:p>
                    <a:p>
                      <a:pPr marL="535940" indent="-414655">
                        <a:lnSpc>
                          <a:spcPct val="100000"/>
                        </a:lnSpc>
                        <a:spcBef>
                          <a:spcPts val="660"/>
                        </a:spcBef>
                        <a:buSzPct val="96428"/>
                        <a:buFont typeface="Times New Roman"/>
                        <a:buAutoNum type="arabicParenBoth" startAt="2"/>
                        <a:tabLst>
                          <a:tab pos="536575" algn="l"/>
                        </a:tabLst>
                      </a:pPr>
                      <a:r>
                        <a:rPr dirty="0" sz="2800" b="1">
                          <a:solidFill>
                            <a:srgbClr val="000099"/>
                          </a:solidFill>
                          <a:latin typeface="宋体"/>
                          <a:cs typeface="宋体"/>
                        </a:rPr>
                        <a:t>保险丝的熔断电</a:t>
                      </a:r>
                      <a:r>
                        <a:rPr dirty="0" sz="2800" spc="-20" b="1">
                          <a:solidFill>
                            <a:srgbClr val="000099"/>
                          </a:solidFill>
                          <a:latin typeface="宋体"/>
                          <a:cs typeface="宋体"/>
                        </a:rPr>
                        <a:t>流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B="0" marT="1219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89759">
                <a:tc>
                  <a:txBody>
                    <a:bodyPr/>
                    <a:lstStyle/>
                    <a:p>
                      <a:pPr algn="just" marL="170815" marR="167005">
                        <a:lnSpc>
                          <a:spcPct val="100000"/>
                        </a:lnSpc>
                        <a:spcBef>
                          <a:spcPts val="1870"/>
                        </a:spcBef>
                      </a:pPr>
                      <a:r>
                        <a:rPr dirty="0" sz="3000" b="1">
                          <a:solidFill>
                            <a:srgbClr val="CC0000"/>
                          </a:solidFill>
                          <a:latin typeface="宋体"/>
                          <a:cs typeface="宋体"/>
                        </a:rPr>
                        <a:t>平 均 值</a:t>
                      </a:r>
                      <a:endParaRPr sz="3000">
                        <a:latin typeface="宋体"/>
                        <a:cs typeface="宋体"/>
                      </a:endParaRPr>
                    </a:p>
                  </a:txBody>
                  <a:tcPr marL="0" marR="0" marB="0" marT="23749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120650" marR="162560">
                        <a:lnSpc>
                          <a:spcPct val="100000"/>
                        </a:lnSpc>
                        <a:spcBef>
                          <a:spcPts val="1870"/>
                        </a:spcBef>
                      </a:pPr>
                      <a:r>
                        <a:rPr dirty="0" sz="3000" spc="15" b="1">
                          <a:solidFill>
                            <a:srgbClr val="000099"/>
                          </a:solidFill>
                          <a:latin typeface="宋体"/>
                          <a:cs typeface="宋体"/>
                        </a:rPr>
                        <a:t>交变电流在某</a:t>
                      </a:r>
                      <a:r>
                        <a:rPr dirty="0" sz="3000" b="1">
                          <a:solidFill>
                            <a:srgbClr val="000099"/>
                          </a:solidFill>
                          <a:latin typeface="宋体"/>
                          <a:cs typeface="宋体"/>
                        </a:rPr>
                        <a:t>段 </a:t>
                      </a:r>
                      <a:r>
                        <a:rPr dirty="0" sz="3000" spc="15" b="1">
                          <a:solidFill>
                            <a:srgbClr val="000099"/>
                          </a:solidFill>
                          <a:latin typeface="宋体"/>
                          <a:cs typeface="宋体"/>
                        </a:rPr>
                        <a:t>时间内的平均</a:t>
                      </a:r>
                      <a:r>
                        <a:rPr dirty="0" sz="3000" b="1">
                          <a:solidFill>
                            <a:srgbClr val="000099"/>
                          </a:solidFill>
                          <a:latin typeface="宋体"/>
                          <a:cs typeface="宋体"/>
                        </a:rPr>
                        <a:t>大 </a:t>
                      </a:r>
                      <a:r>
                        <a:rPr dirty="0" sz="3000" spc="-15" b="1">
                          <a:solidFill>
                            <a:srgbClr val="000099"/>
                          </a:solidFill>
                          <a:latin typeface="宋体"/>
                          <a:cs typeface="宋体"/>
                        </a:rPr>
                        <a:t>小</a:t>
                      </a:r>
                      <a:endParaRPr sz="3000">
                        <a:latin typeface="宋体"/>
                        <a:cs typeface="宋体"/>
                      </a:endParaRPr>
                    </a:p>
                  </a:txBody>
                  <a:tcPr marL="0" marR="0" marB="0" marT="23749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0225">
                        <a:lnSpc>
                          <a:spcPts val="2780"/>
                        </a:lnSpc>
                        <a:spcBef>
                          <a:spcPts val="2090"/>
                        </a:spcBef>
                      </a:pPr>
                      <a:r>
                        <a:rPr dirty="0" sz="2800" spc="70" i="1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E </a:t>
                      </a:r>
                      <a:r>
                        <a:rPr dirty="0" sz="2800" spc="65">
                          <a:solidFill>
                            <a:srgbClr val="0000FF"/>
                          </a:solidFill>
                          <a:latin typeface="Symbol"/>
                          <a:cs typeface="Symbol"/>
                        </a:rPr>
                        <a:t></a:t>
                      </a:r>
                      <a:r>
                        <a:rPr dirty="0" sz="2800" spc="65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800" spc="75" i="1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dirty="0" sz="2800" spc="360" i="1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35714" sz="4200" spc="120">
                          <a:solidFill>
                            <a:srgbClr val="0000FF"/>
                          </a:solidFill>
                          <a:latin typeface="Symbol"/>
                          <a:cs typeface="Symbol"/>
                        </a:rPr>
                        <a:t></a:t>
                      </a:r>
                      <a:endParaRPr baseline="35714" sz="4200">
                        <a:latin typeface="Symbol"/>
                        <a:cs typeface="Symbol"/>
                      </a:endParaRPr>
                    </a:p>
                    <a:p>
                      <a:pPr marL="1416685">
                        <a:lnSpc>
                          <a:spcPts val="2780"/>
                        </a:lnSpc>
                      </a:pPr>
                      <a:r>
                        <a:rPr dirty="0" u="heavy" sz="280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u="heavy" sz="2800" spc="254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800" spc="55">
                          <a:solidFill>
                            <a:srgbClr val="0000FF"/>
                          </a:solidFill>
                          <a:latin typeface="Symbol"/>
                          <a:cs typeface="Symbol"/>
                        </a:rPr>
                        <a:t></a:t>
                      </a:r>
                      <a:r>
                        <a:rPr dirty="0" sz="2800" spc="55" i="1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1172210" marR="422909" indent="-652145">
                        <a:lnSpc>
                          <a:spcPct val="66200"/>
                        </a:lnSpc>
                        <a:spcBef>
                          <a:spcPts val="2655"/>
                        </a:spcBef>
                        <a:tabLst>
                          <a:tab pos="828040" algn="l"/>
                          <a:tab pos="1362075" algn="l"/>
                        </a:tabLst>
                      </a:pPr>
                      <a:r>
                        <a:rPr dirty="0" sz="2850" spc="60" i="1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I	</a:t>
                      </a:r>
                      <a:r>
                        <a:rPr dirty="0" sz="2850" spc="100">
                          <a:solidFill>
                            <a:srgbClr val="0000FF"/>
                          </a:solidFill>
                          <a:latin typeface="Symbol"/>
                          <a:cs typeface="Symbol"/>
                        </a:rPr>
                        <a:t></a:t>
                      </a:r>
                      <a:r>
                        <a:rPr dirty="0" sz="2850" spc="10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		</a:t>
                      </a:r>
                      <a:r>
                        <a:rPr dirty="0" baseline="36062" sz="4275" spc="165" i="1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E </a:t>
                      </a:r>
                      <a:r>
                        <a:rPr dirty="0" sz="2850" spc="110" i="1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850" spc="140" i="1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sz="2850" spc="-1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dirty="0" sz="2850" i="1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endParaRPr sz="28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654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  <a:p>
                      <a:pPr marL="121285">
                        <a:lnSpc>
                          <a:spcPct val="100000"/>
                        </a:lnSpc>
                        <a:spcBef>
                          <a:spcPts val="2020"/>
                        </a:spcBef>
                      </a:pPr>
                      <a:r>
                        <a:rPr dirty="0" sz="3000" b="1">
                          <a:solidFill>
                            <a:srgbClr val="000099"/>
                          </a:solidFill>
                          <a:latin typeface="宋体"/>
                          <a:cs typeface="宋体"/>
                        </a:rPr>
                        <a:t>计算通过电路截面的电</a:t>
                      </a:r>
                      <a:r>
                        <a:rPr dirty="0" sz="3000" spc="-15" b="1">
                          <a:solidFill>
                            <a:srgbClr val="000099"/>
                          </a:solidFill>
                          <a:latin typeface="宋体"/>
                          <a:cs typeface="宋体"/>
                        </a:rPr>
                        <a:t>量</a:t>
                      </a:r>
                      <a:endParaRPr sz="3000">
                        <a:latin typeface="宋体"/>
                        <a:cs typeface="宋体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83282" y="463633"/>
            <a:ext cx="4805680" cy="1125220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000" b="0" i="0">
                <a:solidFill>
                  <a:srgbClr val="387CB3"/>
                </a:solidFill>
                <a:latin typeface="宋体"/>
                <a:cs typeface="宋体"/>
              </a:rPr>
              <a:t>皋</a:t>
            </a:r>
            <a:r>
              <a:rPr dirty="0" sz="3000" spc="245" b="0" i="0">
                <a:solidFill>
                  <a:srgbClr val="387CB3"/>
                </a:solidFill>
                <a:latin typeface="宋体"/>
                <a:cs typeface="宋体"/>
              </a:rPr>
              <a:t> </a:t>
            </a:r>
            <a:r>
              <a:rPr dirty="0" sz="3000" spc="145" b="0" i="0">
                <a:solidFill>
                  <a:srgbClr val="387CB3"/>
                </a:solidFill>
                <a:latin typeface="宋体"/>
                <a:cs typeface="宋体"/>
              </a:rPr>
              <a:t>国</a:t>
            </a:r>
            <a:r>
              <a:rPr dirty="0" sz="3000" spc="-210" b="0" i="0">
                <a:solidFill>
                  <a:srgbClr val="387CB3"/>
                </a:solidFill>
                <a:latin typeface="宋体"/>
                <a:cs typeface="宋体"/>
              </a:rPr>
              <a:t>家中小学网络今</a:t>
            </a:r>
            <a:r>
              <a:rPr dirty="0" sz="3000" spc="-520" b="0" i="0">
                <a:solidFill>
                  <a:srgbClr val="387CB3"/>
                </a:solidFill>
                <a:latin typeface="宋体"/>
                <a:cs typeface="宋体"/>
              </a:rPr>
              <a:t> </a:t>
            </a:r>
            <a:r>
              <a:rPr dirty="0" sz="3000" spc="-355" b="0" i="0">
                <a:solidFill>
                  <a:srgbClr val="387CB3"/>
                </a:solidFill>
                <a:latin typeface="宋体"/>
                <a:cs typeface="宋体"/>
              </a:rPr>
              <a:t>廿</a:t>
            </a:r>
            <a:r>
              <a:rPr dirty="0" sz="5600" spc="-1605" b="0" i="0">
                <a:solidFill>
                  <a:srgbClr val="387CB3"/>
                </a:solidFill>
                <a:latin typeface="Arial"/>
                <a:cs typeface="Arial"/>
              </a:rPr>
              <a:t>P</a:t>
            </a:r>
            <a:r>
              <a:rPr dirty="0" sz="6200" spc="-2915" b="0" i="0">
                <a:solidFill>
                  <a:srgbClr val="387CB3"/>
                </a:solidFill>
                <a:latin typeface="宋体"/>
                <a:cs typeface="宋体"/>
              </a:rPr>
              <a:t>生</a:t>
            </a:r>
            <a:r>
              <a:rPr dirty="0" sz="7200" spc="-940" b="0" i="0">
                <a:solidFill>
                  <a:srgbClr val="387CB3"/>
                </a:solidFill>
                <a:latin typeface="Times New Roman"/>
                <a:cs typeface="Times New Roman"/>
              </a:rPr>
              <a:t>t</a:t>
            </a:r>
            <a:endParaRPr sz="7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2025-04-20T10:38:51Z</dcterms:created>
  <dcterms:modified xsi:type="dcterms:W3CDTF">2025-04-20T10:38:51Z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2023-10-17T00:00:00Z</vt:filetime>
  </property>
  <property fmtid="{D5CDD505-2E9C-101B-9397-08002B2CF9AE}" pid="3" name="Creator">
    <vt:lpwstr>WPS 演示</vt:lpwstr>
  </property>
  <property fmtid="{D5CDD505-2E9C-101B-9397-08002B2CF9AE}" pid="4" name="LastSaved">
    <vt:filetime>2025-04-20T00:00:00Z</vt:filetime>
  </property>
</Properties>
</file>