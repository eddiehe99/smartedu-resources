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4201667" y="3416808"/>
            <a:ext cx="3675888" cy="25481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5731776" y="3959352"/>
            <a:ext cx="944880" cy="154381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570149" y="1840839"/>
            <a:ext cx="7051700" cy="1513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26774" y="1497469"/>
            <a:ext cx="2338451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98140" y="2661894"/>
            <a:ext cx="6929755" cy="23831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89039" y="6180632"/>
            <a:ext cx="1042035" cy="361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7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14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image" Target="../media/image35.png"/><Relationship Id="rId10" Type="http://schemas.openxmlformats.org/officeDocument/2006/relationships/image" Target="../media/image36.png"/><Relationship Id="rId11" Type="http://schemas.openxmlformats.org/officeDocument/2006/relationships/image" Target="../media/image37.png"/><Relationship Id="rId12" Type="http://schemas.openxmlformats.org/officeDocument/2006/relationships/image" Target="../media/image38.png"/><Relationship Id="rId13" Type="http://schemas.openxmlformats.org/officeDocument/2006/relationships/image" Target="../media/image39.png"/><Relationship Id="rId14" Type="http://schemas.openxmlformats.org/officeDocument/2006/relationships/image" Target="../media/image40.png"/><Relationship Id="rId15" Type="http://schemas.openxmlformats.org/officeDocument/2006/relationships/image" Target="../media/image41.png"/><Relationship Id="rId16" Type="http://schemas.openxmlformats.org/officeDocument/2006/relationships/image" Target="../media/image42.png"/><Relationship Id="rId17" Type="http://schemas.openxmlformats.org/officeDocument/2006/relationships/image" Target="../media/image43.png"/><Relationship Id="rId18" Type="http://schemas.openxmlformats.org/officeDocument/2006/relationships/image" Target="../media/image44.png"/><Relationship Id="rId19" Type="http://schemas.openxmlformats.org/officeDocument/2006/relationships/image" Target="../media/image45.png"/><Relationship Id="rId20" Type="http://schemas.openxmlformats.org/officeDocument/2006/relationships/image" Target="../media/image46.png"/><Relationship Id="rId21" Type="http://schemas.openxmlformats.org/officeDocument/2006/relationships/image" Target="../media/image47.png"/><Relationship Id="rId22" Type="http://schemas.openxmlformats.org/officeDocument/2006/relationships/image" Target="../media/image48.png"/><Relationship Id="rId23" Type="http://schemas.openxmlformats.org/officeDocument/2006/relationships/image" Target="../media/image49.png"/><Relationship Id="rId24" Type="http://schemas.openxmlformats.org/officeDocument/2006/relationships/image" Target="../media/image14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44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Relationship Id="rId9" Type="http://schemas.openxmlformats.org/officeDocument/2006/relationships/image" Target="../media/image56.png"/><Relationship Id="rId10" Type="http://schemas.openxmlformats.org/officeDocument/2006/relationships/image" Target="../media/image38.png"/><Relationship Id="rId11" Type="http://schemas.openxmlformats.org/officeDocument/2006/relationships/image" Target="../media/image57.png"/><Relationship Id="rId12" Type="http://schemas.openxmlformats.org/officeDocument/2006/relationships/image" Target="../media/image58.png"/><Relationship Id="rId13" Type="http://schemas.openxmlformats.org/officeDocument/2006/relationships/image" Target="../media/image59.png"/><Relationship Id="rId14" Type="http://schemas.openxmlformats.org/officeDocument/2006/relationships/image" Target="../media/image60.png"/><Relationship Id="rId15" Type="http://schemas.openxmlformats.org/officeDocument/2006/relationships/image" Target="../media/image61.png"/><Relationship Id="rId16" Type="http://schemas.openxmlformats.org/officeDocument/2006/relationships/image" Target="../media/image62.png"/><Relationship Id="rId17" Type="http://schemas.openxmlformats.org/officeDocument/2006/relationships/image" Target="../media/image63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Relationship Id="rId7" Type="http://schemas.openxmlformats.org/officeDocument/2006/relationships/image" Target="../media/image45.png"/><Relationship Id="rId8" Type="http://schemas.openxmlformats.org/officeDocument/2006/relationships/image" Target="../media/image69.png"/><Relationship Id="rId9" Type="http://schemas.openxmlformats.org/officeDocument/2006/relationships/image" Target="../media/image70.png"/><Relationship Id="rId10" Type="http://schemas.openxmlformats.org/officeDocument/2006/relationships/image" Target="../media/image71.png"/><Relationship Id="rId11" Type="http://schemas.openxmlformats.org/officeDocument/2006/relationships/image" Target="../media/image72.png"/><Relationship Id="rId12" Type="http://schemas.openxmlformats.org/officeDocument/2006/relationships/image" Target="../media/image73.png"/><Relationship Id="rId13" Type="http://schemas.openxmlformats.org/officeDocument/2006/relationships/image" Target="../media/image74.png"/><Relationship Id="rId14" Type="http://schemas.openxmlformats.org/officeDocument/2006/relationships/image" Target="../media/image63.png"/><Relationship Id="rId15" Type="http://schemas.openxmlformats.org/officeDocument/2006/relationships/image" Target="../media/image75.png"/><Relationship Id="rId16" Type="http://schemas.openxmlformats.org/officeDocument/2006/relationships/image" Target="../media/image76.png"/><Relationship Id="rId17" Type="http://schemas.openxmlformats.org/officeDocument/2006/relationships/image" Target="../media/image77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8.png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77.png"/><Relationship Id="rId8" Type="http://schemas.openxmlformats.org/officeDocument/2006/relationships/image" Target="../media/image83.png"/><Relationship Id="rId9" Type="http://schemas.openxmlformats.org/officeDocument/2006/relationships/image" Target="../media/image84.png"/><Relationship Id="rId10" Type="http://schemas.openxmlformats.org/officeDocument/2006/relationships/image" Target="../media/image85.png"/><Relationship Id="rId11" Type="http://schemas.openxmlformats.org/officeDocument/2006/relationships/image" Target="../media/image45.png"/><Relationship Id="rId12" Type="http://schemas.openxmlformats.org/officeDocument/2006/relationships/image" Target="../media/image56.png"/><Relationship Id="rId13" Type="http://schemas.openxmlformats.org/officeDocument/2006/relationships/image" Target="../media/image76.png"/><Relationship Id="rId14" Type="http://schemas.openxmlformats.org/officeDocument/2006/relationships/image" Target="../media/image86.png"/><Relationship Id="rId15" Type="http://schemas.openxmlformats.org/officeDocument/2006/relationships/image" Target="../media/image87.png"/><Relationship Id="rId16" Type="http://schemas.openxmlformats.org/officeDocument/2006/relationships/image" Target="../media/image88.png"/><Relationship Id="rId17" Type="http://schemas.openxmlformats.org/officeDocument/2006/relationships/image" Target="../media/image89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0.png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83.png"/><Relationship Id="rId7" Type="http://schemas.openxmlformats.org/officeDocument/2006/relationships/image" Target="../media/image94.png"/><Relationship Id="rId8" Type="http://schemas.openxmlformats.org/officeDocument/2006/relationships/image" Target="../media/image95.png"/><Relationship Id="rId9" Type="http://schemas.openxmlformats.org/officeDocument/2006/relationships/image" Target="../media/image96.png"/><Relationship Id="rId10" Type="http://schemas.openxmlformats.org/officeDocument/2006/relationships/image" Target="../media/image97.png"/><Relationship Id="rId11" Type="http://schemas.openxmlformats.org/officeDocument/2006/relationships/image" Target="../media/image98.png"/><Relationship Id="rId12" Type="http://schemas.openxmlformats.org/officeDocument/2006/relationships/image" Target="../media/image45.png"/><Relationship Id="rId13" Type="http://schemas.openxmlformats.org/officeDocument/2006/relationships/image" Target="../media/image99.png"/><Relationship Id="rId14" Type="http://schemas.openxmlformats.org/officeDocument/2006/relationships/image" Target="../media/image100.png"/><Relationship Id="rId15" Type="http://schemas.openxmlformats.org/officeDocument/2006/relationships/image" Target="../media/image101.png"/><Relationship Id="rId16" Type="http://schemas.openxmlformats.org/officeDocument/2006/relationships/image" Target="../media/image102.png"/><Relationship Id="rId17" Type="http://schemas.openxmlformats.org/officeDocument/2006/relationships/image" Target="../media/image103.png"/><Relationship Id="rId18" Type="http://schemas.openxmlformats.org/officeDocument/2006/relationships/image" Target="../media/image104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5.png"/><Relationship Id="rId3" Type="http://schemas.openxmlformats.org/officeDocument/2006/relationships/image" Target="../media/image106.png"/><Relationship Id="rId4" Type="http://schemas.openxmlformats.org/officeDocument/2006/relationships/image" Target="../media/image107.png"/><Relationship Id="rId5" Type="http://schemas.openxmlformats.org/officeDocument/2006/relationships/image" Target="../media/image108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9.png"/><Relationship Id="rId3" Type="http://schemas.openxmlformats.org/officeDocument/2006/relationships/image" Target="../media/image110.png"/><Relationship Id="rId4" Type="http://schemas.openxmlformats.org/officeDocument/2006/relationships/image" Target="../media/image111.png"/><Relationship Id="rId5" Type="http://schemas.openxmlformats.org/officeDocument/2006/relationships/image" Target="../media/image112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3.png"/><Relationship Id="rId3" Type="http://schemas.openxmlformats.org/officeDocument/2006/relationships/image" Target="../media/image3.png"/><Relationship Id="rId4" Type="http://schemas.openxmlformats.org/officeDocument/2006/relationships/image" Target="../media/image114.jp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5.png"/><Relationship Id="rId3" Type="http://schemas.openxmlformats.org/officeDocument/2006/relationships/image" Target="../media/image116.png"/><Relationship Id="rId4" Type="http://schemas.openxmlformats.org/officeDocument/2006/relationships/image" Target="../media/image117.png"/><Relationship Id="rId5" Type="http://schemas.openxmlformats.org/officeDocument/2006/relationships/image" Target="../media/image118.png"/><Relationship Id="rId6" Type="http://schemas.openxmlformats.org/officeDocument/2006/relationships/image" Target="../media/image119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0.png"/><Relationship Id="rId3" Type="http://schemas.openxmlformats.org/officeDocument/2006/relationships/image" Target="../media/image121.png"/><Relationship Id="rId4" Type="http://schemas.openxmlformats.org/officeDocument/2006/relationships/image" Target="../media/image117.png"/><Relationship Id="rId5" Type="http://schemas.openxmlformats.org/officeDocument/2006/relationships/image" Target="../media/image122.png"/><Relationship Id="rId6" Type="http://schemas.openxmlformats.org/officeDocument/2006/relationships/image" Target="../media/image123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4.png"/><Relationship Id="rId3" Type="http://schemas.openxmlformats.org/officeDocument/2006/relationships/image" Target="../media/image125.png"/><Relationship Id="rId4" Type="http://schemas.openxmlformats.org/officeDocument/2006/relationships/image" Target="../media/image126.png"/><Relationship Id="rId5" Type="http://schemas.openxmlformats.org/officeDocument/2006/relationships/image" Target="../media/image127.png"/><Relationship Id="rId6" Type="http://schemas.openxmlformats.org/officeDocument/2006/relationships/image" Target="../media/image128.png"/><Relationship Id="rId7" Type="http://schemas.openxmlformats.org/officeDocument/2006/relationships/image" Target="../media/image129.png"/><Relationship Id="rId8" Type="http://schemas.openxmlformats.org/officeDocument/2006/relationships/image" Target="../media/image102.png"/><Relationship Id="rId9" Type="http://schemas.openxmlformats.org/officeDocument/2006/relationships/image" Target="../media/image130.png"/><Relationship Id="rId10" Type="http://schemas.openxmlformats.org/officeDocument/2006/relationships/image" Target="../media/image131.png"/><Relationship Id="rId11" Type="http://schemas.openxmlformats.org/officeDocument/2006/relationships/image" Target="../media/image132.png"/><Relationship Id="rId12" Type="http://schemas.openxmlformats.org/officeDocument/2006/relationships/image" Target="../media/image38.png"/><Relationship Id="rId13" Type="http://schemas.openxmlformats.org/officeDocument/2006/relationships/image" Target="../media/image133.png"/><Relationship Id="rId14" Type="http://schemas.openxmlformats.org/officeDocument/2006/relationships/image" Target="../media/image89.png"/><Relationship Id="rId15" Type="http://schemas.openxmlformats.org/officeDocument/2006/relationships/image" Target="../media/image134.png"/><Relationship Id="rId16" Type="http://schemas.openxmlformats.org/officeDocument/2006/relationships/image" Target="../media/image135.png"/><Relationship Id="rId17" Type="http://schemas.openxmlformats.org/officeDocument/2006/relationships/image" Target="../media/image136.png"/><Relationship Id="rId18" Type="http://schemas.openxmlformats.org/officeDocument/2006/relationships/image" Target="../media/image95.png"/><Relationship Id="rId19" Type="http://schemas.openxmlformats.org/officeDocument/2006/relationships/image" Target="../media/image137.png"/><Relationship Id="rId20" Type="http://schemas.openxmlformats.org/officeDocument/2006/relationships/image" Target="../media/image86.png"/><Relationship Id="rId21" Type="http://schemas.openxmlformats.org/officeDocument/2006/relationships/image" Target="../media/image117.png"/><Relationship Id="rId22" Type="http://schemas.openxmlformats.org/officeDocument/2006/relationships/image" Target="../media/image138.png"/><Relationship Id="rId23" Type="http://schemas.openxmlformats.org/officeDocument/2006/relationships/image" Target="../media/image3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9.png"/><Relationship Id="rId3" Type="http://schemas.openxmlformats.org/officeDocument/2006/relationships/image" Target="../media/image140.png"/><Relationship Id="rId4" Type="http://schemas.openxmlformats.org/officeDocument/2006/relationships/image" Target="../media/image141.png"/><Relationship Id="rId5" Type="http://schemas.openxmlformats.org/officeDocument/2006/relationships/image" Target="../media/image142.png"/><Relationship Id="rId6" Type="http://schemas.openxmlformats.org/officeDocument/2006/relationships/image" Target="../media/image143.png"/><Relationship Id="rId7" Type="http://schemas.openxmlformats.org/officeDocument/2006/relationships/image" Target="../media/image144.png"/><Relationship Id="rId8" Type="http://schemas.openxmlformats.org/officeDocument/2006/relationships/image" Target="../media/image45.png"/><Relationship Id="rId9" Type="http://schemas.openxmlformats.org/officeDocument/2006/relationships/image" Target="../media/image89.png"/><Relationship Id="rId10" Type="http://schemas.openxmlformats.org/officeDocument/2006/relationships/image" Target="../media/image145.png"/><Relationship Id="rId11" Type="http://schemas.openxmlformats.org/officeDocument/2006/relationships/image" Target="../media/image128.png"/><Relationship Id="rId12" Type="http://schemas.openxmlformats.org/officeDocument/2006/relationships/image" Target="../media/image146.png"/><Relationship Id="rId13" Type="http://schemas.openxmlformats.org/officeDocument/2006/relationships/image" Target="../media/image127.png"/><Relationship Id="rId14" Type="http://schemas.openxmlformats.org/officeDocument/2006/relationships/image" Target="../media/image38.png"/><Relationship Id="rId15" Type="http://schemas.openxmlformats.org/officeDocument/2006/relationships/image" Target="../media/image147.png"/><Relationship Id="rId16" Type="http://schemas.openxmlformats.org/officeDocument/2006/relationships/image" Target="../media/image148.png"/><Relationship Id="rId17" Type="http://schemas.openxmlformats.org/officeDocument/2006/relationships/image" Target="../media/image149.png"/><Relationship Id="rId18" Type="http://schemas.openxmlformats.org/officeDocument/2006/relationships/image" Target="../media/image150.png"/><Relationship Id="rId19" Type="http://schemas.openxmlformats.org/officeDocument/2006/relationships/image" Target="../media/image151.png"/><Relationship Id="rId20" Type="http://schemas.openxmlformats.org/officeDocument/2006/relationships/image" Target="../media/image117.png"/><Relationship Id="rId21" Type="http://schemas.openxmlformats.org/officeDocument/2006/relationships/image" Target="../media/image152.png"/><Relationship Id="rId22" Type="http://schemas.openxmlformats.org/officeDocument/2006/relationships/image" Target="../media/image153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4.jp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5.jp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5.jp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6.png"/><Relationship Id="rId3" Type="http://schemas.openxmlformats.org/officeDocument/2006/relationships/image" Target="../media/image11.png"/><Relationship Id="rId4" Type="http://schemas.openxmlformats.org/officeDocument/2006/relationships/image" Target="../media/image157.png"/><Relationship Id="rId5" Type="http://schemas.openxmlformats.org/officeDocument/2006/relationships/image" Target="../media/image158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9.jpg"/><Relationship Id="rId3" Type="http://schemas.openxmlformats.org/officeDocument/2006/relationships/image" Target="../media/image160.png"/><Relationship Id="rId4" Type="http://schemas.openxmlformats.org/officeDocument/2006/relationships/image" Target="../media/image161.pn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9.jpg"/><Relationship Id="rId3" Type="http://schemas.openxmlformats.org/officeDocument/2006/relationships/image" Target="../media/image162.pn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163.pn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14.jpg"/><Relationship Id="rId4" Type="http://schemas.openxmlformats.org/officeDocument/2006/relationships/image" Target="../media/image113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41398" y="805497"/>
            <a:ext cx="41402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FFFFFF"/>
                </a:solidFill>
                <a:latin typeface="微软雅黑"/>
                <a:cs typeface="微软雅黑"/>
              </a:rPr>
              <a:t>国家中小学课程资源</a:t>
            </a:r>
            <a:endParaRPr sz="36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53311" y="2830067"/>
            <a:ext cx="409956" cy="4663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034982" y="2073452"/>
            <a:ext cx="612140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b="1">
                <a:solidFill>
                  <a:srgbClr val="FFFFFF"/>
                </a:solidFill>
                <a:latin typeface="微软雅黑"/>
                <a:cs typeface="微软雅黑"/>
              </a:rPr>
              <a:t>楞次定律（第二课时）</a:t>
            </a:r>
            <a:endParaRPr sz="4800">
              <a:latin typeface="微软雅黑"/>
              <a:cs typeface="微软雅黑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834705" y="3569668"/>
          <a:ext cx="8091805" cy="9728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0575"/>
                <a:gridCol w="1343025"/>
                <a:gridCol w="3418204"/>
              </a:tblGrid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ts val="3315"/>
                        </a:lnSpc>
                        <a:tabLst>
                          <a:tab pos="745490" algn="l"/>
                        </a:tabLst>
                      </a:pP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年	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级：高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二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0815">
                        <a:lnSpc>
                          <a:spcPts val="331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3315"/>
                        </a:lnSpc>
                      </a:pPr>
                      <a:r>
                        <a:rPr dirty="0" sz="2800" spc="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科：物理（人教版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）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</a:tr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主讲人：曾亚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梅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17462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2857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spc="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校：北京市第八中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4265" y="2143963"/>
            <a:ext cx="561403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b="1">
                <a:solidFill>
                  <a:srgbClr val="01611F"/>
                </a:solidFill>
                <a:latin typeface="微软雅黑"/>
                <a:cs typeface="微软雅黑"/>
              </a:rPr>
              <a:t>楞次定律（第二课时</a:t>
            </a:r>
            <a:r>
              <a:rPr dirty="0" sz="4400" spc="5" b="1">
                <a:solidFill>
                  <a:srgbClr val="01611F"/>
                </a:solidFill>
                <a:latin typeface="微软雅黑"/>
                <a:cs typeface="微软雅黑"/>
              </a:rPr>
              <a:t>）</a:t>
            </a:r>
            <a:endParaRPr sz="44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90647" y="3778097"/>
            <a:ext cx="2162810" cy="1066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4840" algn="l"/>
              </a:tabLst>
            </a:pPr>
            <a:r>
              <a:rPr dirty="0" sz="2400" spc="-5" b="1">
                <a:solidFill>
                  <a:srgbClr val="01611F"/>
                </a:solidFill>
                <a:latin typeface="华文楷体"/>
                <a:cs typeface="华文楷体"/>
              </a:rPr>
              <a:t>年	</a:t>
            </a:r>
            <a:r>
              <a:rPr dirty="0" sz="2400" b="1">
                <a:solidFill>
                  <a:srgbClr val="01611F"/>
                </a:solidFill>
                <a:latin typeface="华文楷体"/>
                <a:cs typeface="华文楷体"/>
              </a:rPr>
              <a:t>级：高</a:t>
            </a:r>
            <a:r>
              <a:rPr dirty="0" sz="2400" spc="-5" b="1">
                <a:solidFill>
                  <a:srgbClr val="01611F"/>
                </a:solidFill>
                <a:latin typeface="华文楷体"/>
                <a:cs typeface="华文楷体"/>
              </a:rPr>
              <a:t>二</a:t>
            </a:r>
            <a:endParaRPr sz="24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2440"/>
              </a:spcBef>
            </a:pPr>
            <a:r>
              <a:rPr dirty="0" sz="2400" b="1">
                <a:solidFill>
                  <a:srgbClr val="01611F"/>
                </a:solidFill>
                <a:latin typeface="华文楷体"/>
                <a:cs typeface="华文楷体"/>
              </a:rPr>
              <a:t>主讲人：曾亚</a:t>
            </a:r>
            <a:r>
              <a:rPr dirty="0" sz="2400" spc="-5" b="1">
                <a:solidFill>
                  <a:srgbClr val="01611F"/>
                </a:solidFill>
                <a:latin typeface="华文楷体"/>
                <a:cs typeface="华文楷体"/>
              </a:rPr>
              <a:t>梅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73877" y="3778097"/>
            <a:ext cx="3390265" cy="1066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  <a:tabLst>
                <a:tab pos="628650" algn="l"/>
              </a:tabLst>
            </a:pPr>
            <a:r>
              <a:rPr dirty="0" sz="2400" spc="-5" b="1">
                <a:solidFill>
                  <a:srgbClr val="01611F"/>
                </a:solidFill>
                <a:latin typeface="华文楷体"/>
                <a:cs typeface="华文楷体"/>
              </a:rPr>
              <a:t>学</a:t>
            </a:r>
            <a:r>
              <a:rPr dirty="0" sz="2400" spc="-5" b="1">
                <a:solidFill>
                  <a:srgbClr val="01611F"/>
                </a:solidFill>
                <a:latin typeface="华文楷体"/>
                <a:cs typeface="华文楷体"/>
              </a:rPr>
              <a:t>	</a:t>
            </a:r>
            <a:r>
              <a:rPr dirty="0" sz="2400" b="1">
                <a:solidFill>
                  <a:srgbClr val="01611F"/>
                </a:solidFill>
                <a:latin typeface="华文楷体"/>
                <a:cs typeface="华文楷体"/>
              </a:rPr>
              <a:t>科：物理（人教版</a:t>
            </a:r>
            <a:r>
              <a:rPr dirty="0" sz="2400" spc="-5" b="1">
                <a:solidFill>
                  <a:srgbClr val="01611F"/>
                </a:solidFill>
                <a:latin typeface="华文楷体"/>
                <a:cs typeface="华文楷体"/>
              </a:rPr>
              <a:t>）</a:t>
            </a:r>
            <a:endParaRPr sz="24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2440"/>
              </a:spcBef>
              <a:tabLst>
                <a:tab pos="624840" algn="l"/>
              </a:tabLst>
            </a:pPr>
            <a:r>
              <a:rPr dirty="0" sz="2400" spc="-5" b="1">
                <a:solidFill>
                  <a:srgbClr val="01611F"/>
                </a:solidFill>
                <a:latin typeface="华文楷体"/>
                <a:cs typeface="华文楷体"/>
              </a:rPr>
              <a:t>学</a:t>
            </a:r>
            <a:r>
              <a:rPr dirty="0" sz="2400" spc="-5" b="1">
                <a:solidFill>
                  <a:srgbClr val="01611F"/>
                </a:solidFill>
                <a:latin typeface="华文楷体"/>
                <a:cs typeface="华文楷体"/>
              </a:rPr>
              <a:t>	</a:t>
            </a:r>
            <a:r>
              <a:rPr dirty="0" sz="2400" b="1">
                <a:solidFill>
                  <a:srgbClr val="01611F"/>
                </a:solidFill>
                <a:latin typeface="华文楷体"/>
                <a:cs typeface="华文楷体"/>
              </a:rPr>
              <a:t>校：北京市第八中</a:t>
            </a:r>
            <a:r>
              <a:rPr dirty="0" sz="2400" spc="-5" b="1">
                <a:solidFill>
                  <a:srgbClr val="01611F"/>
                </a:solidFill>
                <a:latin typeface="华文楷体"/>
                <a:cs typeface="华文楷体"/>
              </a:rPr>
              <a:t>学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03091" y="3022092"/>
            <a:ext cx="4038600" cy="498475"/>
          </a:xfrm>
          <a:custGeom>
            <a:avLst/>
            <a:gdLst/>
            <a:ahLst/>
            <a:cxnLst/>
            <a:rect l="l" t="t" r="r" b="b"/>
            <a:pathLst>
              <a:path w="4038600" h="498475">
                <a:moveTo>
                  <a:pt x="3954780" y="498347"/>
                </a:moveTo>
                <a:lnTo>
                  <a:pt x="82296" y="498347"/>
                </a:lnTo>
                <a:lnTo>
                  <a:pt x="50068" y="492023"/>
                </a:lnTo>
                <a:lnTo>
                  <a:pt x="23779" y="474368"/>
                </a:lnTo>
                <a:lnTo>
                  <a:pt x="6173" y="448129"/>
                </a:lnTo>
                <a:lnTo>
                  <a:pt x="0" y="416051"/>
                </a:lnTo>
                <a:lnTo>
                  <a:pt x="0" y="83819"/>
                </a:lnTo>
                <a:lnTo>
                  <a:pt x="6173" y="51133"/>
                </a:lnTo>
                <a:lnTo>
                  <a:pt x="23779" y="24531"/>
                </a:lnTo>
                <a:lnTo>
                  <a:pt x="50068" y="6619"/>
                </a:lnTo>
                <a:lnTo>
                  <a:pt x="82296" y="0"/>
                </a:lnTo>
                <a:lnTo>
                  <a:pt x="3954780" y="0"/>
                </a:lnTo>
                <a:lnTo>
                  <a:pt x="3987297" y="6619"/>
                </a:lnTo>
                <a:lnTo>
                  <a:pt x="4013844" y="24531"/>
                </a:lnTo>
                <a:lnTo>
                  <a:pt x="4031814" y="51133"/>
                </a:lnTo>
                <a:lnTo>
                  <a:pt x="4038600" y="83819"/>
                </a:lnTo>
                <a:lnTo>
                  <a:pt x="4038600" y="416051"/>
                </a:lnTo>
                <a:lnTo>
                  <a:pt x="4031814" y="448129"/>
                </a:lnTo>
                <a:lnTo>
                  <a:pt x="4013844" y="474368"/>
                </a:lnTo>
                <a:lnTo>
                  <a:pt x="3987297" y="492023"/>
                </a:lnTo>
                <a:lnTo>
                  <a:pt x="3954780" y="498347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98292" y="2872739"/>
            <a:ext cx="760730" cy="760730"/>
          </a:xfrm>
          <a:custGeom>
            <a:avLst/>
            <a:gdLst/>
            <a:ahLst/>
            <a:cxnLst/>
            <a:rect l="l" t="t" r="r" b="b"/>
            <a:pathLst>
              <a:path w="760729" h="760729">
                <a:moveTo>
                  <a:pt x="411480" y="760476"/>
                </a:moveTo>
                <a:lnTo>
                  <a:pt x="0" y="411480"/>
                </a:lnTo>
                <a:lnTo>
                  <a:pt x="348995" y="0"/>
                </a:lnTo>
                <a:lnTo>
                  <a:pt x="760475" y="348996"/>
                </a:lnTo>
                <a:lnTo>
                  <a:pt x="411480" y="760476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370550" y="1737969"/>
            <a:ext cx="1549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课程内容</a:t>
            </a:r>
          </a:p>
        </p:txBody>
      </p:sp>
      <p:sp>
        <p:nvSpPr>
          <p:cNvPr id="5" name="object 5"/>
          <p:cNvSpPr/>
          <p:nvPr/>
        </p:nvSpPr>
        <p:spPr>
          <a:xfrm>
            <a:off x="3422903" y="3954779"/>
            <a:ext cx="4018915" cy="497205"/>
          </a:xfrm>
          <a:custGeom>
            <a:avLst/>
            <a:gdLst/>
            <a:ahLst/>
            <a:cxnLst/>
            <a:rect l="l" t="t" r="r" b="b"/>
            <a:pathLst>
              <a:path w="4018915" h="497204">
                <a:moveTo>
                  <a:pt x="3934968" y="496824"/>
                </a:moveTo>
                <a:lnTo>
                  <a:pt x="83820" y="496824"/>
                </a:lnTo>
                <a:lnTo>
                  <a:pt x="51168" y="490578"/>
                </a:lnTo>
                <a:lnTo>
                  <a:pt x="24598" y="472968"/>
                </a:lnTo>
                <a:lnTo>
                  <a:pt x="6683" y="446712"/>
                </a:lnTo>
                <a:lnTo>
                  <a:pt x="0" y="414528"/>
                </a:lnTo>
                <a:lnTo>
                  <a:pt x="0" y="83820"/>
                </a:lnTo>
                <a:lnTo>
                  <a:pt x="6683" y="51142"/>
                </a:lnTo>
                <a:lnTo>
                  <a:pt x="24598" y="24564"/>
                </a:lnTo>
                <a:lnTo>
                  <a:pt x="51168" y="6660"/>
                </a:lnTo>
                <a:lnTo>
                  <a:pt x="83820" y="0"/>
                </a:lnTo>
                <a:lnTo>
                  <a:pt x="3934968" y="0"/>
                </a:lnTo>
                <a:lnTo>
                  <a:pt x="3967533" y="6660"/>
                </a:lnTo>
                <a:lnTo>
                  <a:pt x="3994075" y="24564"/>
                </a:lnTo>
                <a:lnTo>
                  <a:pt x="4012018" y="51142"/>
                </a:lnTo>
                <a:lnTo>
                  <a:pt x="4018788" y="83820"/>
                </a:lnTo>
                <a:lnTo>
                  <a:pt x="4018788" y="414528"/>
                </a:lnTo>
                <a:lnTo>
                  <a:pt x="4012018" y="446712"/>
                </a:lnTo>
                <a:lnTo>
                  <a:pt x="3994075" y="472968"/>
                </a:lnTo>
                <a:lnTo>
                  <a:pt x="3967533" y="490578"/>
                </a:lnTo>
                <a:lnTo>
                  <a:pt x="3934968" y="496824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118104" y="3820667"/>
            <a:ext cx="762000" cy="760730"/>
          </a:xfrm>
          <a:custGeom>
            <a:avLst/>
            <a:gdLst/>
            <a:ahLst/>
            <a:cxnLst/>
            <a:rect l="l" t="t" r="r" b="b"/>
            <a:pathLst>
              <a:path w="762000" h="760729">
                <a:moveTo>
                  <a:pt x="413004" y="760476"/>
                </a:moveTo>
                <a:lnTo>
                  <a:pt x="0" y="411480"/>
                </a:lnTo>
                <a:lnTo>
                  <a:pt x="348995" y="0"/>
                </a:lnTo>
                <a:lnTo>
                  <a:pt x="761999" y="348996"/>
                </a:lnTo>
                <a:lnTo>
                  <a:pt x="413004" y="760476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382098" y="3045333"/>
            <a:ext cx="2606675" cy="1316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0375" indent="-447675">
              <a:lnSpc>
                <a:spcPct val="100000"/>
              </a:lnSpc>
              <a:spcBef>
                <a:spcPts val="100"/>
              </a:spcBef>
              <a:buAutoNum type="arabicPlain"/>
              <a:tabLst>
                <a:tab pos="459740" algn="l"/>
                <a:tab pos="460375" algn="l"/>
              </a:tabLst>
            </a:pPr>
            <a:r>
              <a:rPr dirty="0" sz="2400" i="1">
                <a:solidFill>
                  <a:srgbClr val="FFFFFF"/>
                </a:solidFill>
                <a:latin typeface="华文楷体"/>
                <a:cs typeface="华文楷体"/>
              </a:rPr>
              <a:t>楞次定律的应用</a:t>
            </a:r>
            <a:endParaRPr sz="24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FFFFFF"/>
              </a:buClr>
              <a:buFont typeface=""/>
              <a:buAutoNum type="arabicPlain"/>
            </a:pPr>
            <a:endParaRPr sz="3800">
              <a:latin typeface="Times New Roman"/>
              <a:cs typeface="Times New Roman"/>
            </a:endParaRPr>
          </a:p>
          <a:p>
            <a:pPr marL="474345" indent="-447675">
              <a:lnSpc>
                <a:spcPct val="100000"/>
              </a:lnSpc>
              <a:buAutoNum type="arabicPlain"/>
              <a:tabLst>
                <a:tab pos="474345" algn="l"/>
                <a:tab pos="474980" algn="l"/>
              </a:tabLst>
            </a:pPr>
            <a:r>
              <a:rPr dirty="0" sz="2400" i="1">
                <a:solidFill>
                  <a:srgbClr val="FFFFFF"/>
                </a:solidFill>
                <a:latin typeface="华文楷体"/>
                <a:cs typeface="华文楷体"/>
              </a:rPr>
              <a:t>右手定则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0939" y="758980"/>
            <a:ext cx="9812020" cy="2386965"/>
          </a:xfrm>
          <a:prstGeom prst="rect">
            <a:avLst/>
          </a:prstGeom>
        </p:spPr>
        <p:txBody>
          <a:bodyPr wrap="square" lIns="0" tIns="262255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2065"/>
              </a:spcBef>
              <a:buFont typeface="Wingdings"/>
              <a:buChar char=""/>
              <a:tabLst>
                <a:tab pos="469900" algn="l"/>
              </a:tabLst>
            </a:pPr>
            <a:r>
              <a:rPr dirty="0" sz="3200">
                <a:latin typeface="黑体"/>
                <a:cs typeface="黑体"/>
              </a:rPr>
              <a:t>回顾：楞次定</a:t>
            </a:r>
            <a:r>
              <a:rPr dirty="0" sz="3200" spc="5">
                <a:latin typeface="黑体"/>
                <a:cs typeface="黑体"/>
              </a:rPr>
              <a:t>律</a:t>
            </a:r>
            <a:endParaRPr sz="3200">
              <a:latin typeface="黑体"/>
              <a:cs typeface="黑体"/>
            </a:endParaRPr>
          </a:p>
          <a:p>
            <a:pPr lvl="1" marL="779145" indent="-228600">
              <a:lnSpc>
                <a:spcPct val="100000"/>
              </a:lnSpc>
              <a:spcBef>
                <a:spcPts val="1705"/>
              </a:spcBef>
              <a:buFont typeface="Arial"/>
              <a:buChar char="•"/>
              <a:tabLst>
                <a:tab pos="779780" algn="l"/>
              </a:tabLst>
            </a:pPr>
            <a:r>
              <a:rPr dirty="0" sz="2800" i="1">
                <a:latin typeface="华文楷体"/>
                <a:cs typeface="华文楷体"/>
              </a:rPr>
              <a:t>描述感应电流方向的规律</a:t>
            </a:r>
            <a:r>
              <a:rPr dirty="0" sz="2800" spc="-5" i="1">
                <a:latin typeface="华文楷体"/>
                <a:cs typeface="华文楷体"/>
              </a:rPr>
              <a:t>：</a:t>
            </a:r>
            <a:endParaRPr sz="2800">
              <a:latin typeface="华文楷体"/>
              <a:cs typeface="华文楷体"/>
            </a:endParaRPr>
          </a:p>
          <a:p>
            <a:pPr marL="550545" marR="5080">
              <a:lnSpc>
                <a:spcPct val="100000"/>
              </a:lnSpc>
              <a:spcBef>
                <a:spcPts val="1000"/>
              </a:spcBef>
            </a:pPr>
            <a:r>
              <a:rPr dirty="0" sz="2800" b="1">
                <a:latin typeface="华文楷体"/>
                <a:cs typeface="华文楷体"/>
              </a:rPr>
              <a:t>楞次定律：</a:t>
            </a:r>
            <a:r>
              <a:rPr dirty="0" sz="2800" i="1">
                <a:latin typeface="华文楷体"/>
                <a:cs typeface="华文楷体"/>
              </a:rPr>
              <a:t>感应电流具有这样的方向，即感应电流的磁场</a:t>
            </a:r>
            <a:r>
              <a:rPr dirty="0" sz="2800" spc="-5" i="1">
                <a:latin typeface="华文楷体"/>
                <a:cs typeface="华文楷体"/>
              </a:rPr>
              <a:t>总 </a:t>
            </a:r>
            <a:r>
              <a:rPr dirty="0" sz="2800" i="1">
                <a:latin typeface="华文楷体"/>
                <a:cs typeface="华文楷体"/>
              </a:rPr>
              <a:t>是要阻碍引起感应电流的磁通量的变化</a:t>
            </a:r>
            <a:r>
              <a:rPr dirty="0" sz="2800" spc="-5" i="1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612248" y="3758971"/>
            <a:ext cx="1822450" cy="581025"/>
          </a:xfrm>
          <a:custGeom>
            <a:avLst/>
            <a:gdLst/>
            <a:ahLst/>
            <a:cxnLst/>
            <a:rect l="l" t="t" r="r" b="b"/>
            <a:pathLst>
              <a:path w="1822450" h="581025">
                <a:moveTo>
                  <a:pt x="1821992" y="581025"/>
                </a:moveTo>
                <a:lnTo>
                  <a:pt x="0" y="581025"/>
                </a:lnTo>
                <a:lnTo>
                  <a:pt x="0" y="0"/>
                </a:lnTo>
                <a:lnTo>
                  <a:pt x="1821992" y="0"/>
                </a:lnTo>
                <a:lnTo>
                  <a:pt x="1821992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71500"/>
                </a:lnTo>
                <a:lnTo>
                  <a:pt x="4762" y="571500"/>
                </a:lnTo>
                <a:lnTo>
                  <a:pt x="9525" y="576262"/>
                </a:lnTo>
                <a:lnTo>
                  <a:pt x="1821992" y="576262"/>
                </a:lnTo>
                <a:lnTo>
                  <a:pt x="1821992" y="581025"/>
                </a:lnTo>
                <a:close/>
              </a:path>
              <a:path w="1822450" h="5810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822450" h="581025">
                <a:moveTo>
                  <a:pt x="181246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812467" y="4762"/>
                </a:lnTo>
                <a:lnTo>
                  <a:pt x="1812467" y="9525"/>
                </a:lnTo>
                <a:close/>
              </a:path>
              <a:path w="1822450" h="581025">
                <a:moveTo>
                  <a:pt x="1812467" y="576262"/>
                </a:moveTo>
                <a:lnTo>
                  <a:pt x="1812467" y="4762"/>
                </a:lnTo>
                <a:lnTo>
                  <a:pt x="1817230" y="9525"/>
                </a:lnTo>
                <a:lnTo>
                  <a:pt x="1821992" y="9525"/>
                </a:lnTo>
                <a:lnTo>
                  <a:pt x="1821992" y="571500"/>
                </a:lnTo>
                <a:lnTo>
                  <a:pt x="1817230" y="571500"/>
                </a:lnTo>
                <a:lnTo>
                  <a:pt x="1812467" y="576262"/>
                </a:lnTo>
                <a:close/>
              </a:path>
              <a:path w="1822450" h="581025">
                <a:moveTo>
                  <a:pt x="1821992" y="9525"/>
                </a:moveTo>
                <a:lnTo>
                  <a:pt x="1817230" y="9525"/>
                </a:lnTo>
                <a:lnTo>
                  <a:pt x="1812467" y="4762"/>
                </a:lnTo>
                <a:lnTo>
                  <a:pt x="1821992" y="4762"/>
                </a:lnTo>
                <a:lnTo>
                  <a:pt x="1821992" y="9525"/>
                </a:lnTo>
                <a:close/>
              </a:path>
              <a:path w="1822450" h="581025">
                <a:moveTo>
                  <a:pt x="9525" y="576262"/>
                </a:moveTo>
                <a:lnTo>
                  <a:pt x="4762" y="571500"/>
                </a:lnTo>
                <a:lnTo>
                  <a:pt x="9525" y="571500"/>
                </a:lnTo>
                <a:lnTo>
                  <a:pt x="9525" y="576262"/>
                </a:lnTo>
                <a:close/>
              </a:path>
              <a:path w="1822450" h="581025">
                <a:moveTo>
                  <a:pt x="1812467" y="576262"/>
                </a:moveTo>
                <a:lnTo>
                  <a:pt x="9525" y="576262"/>
                </a:lnTo>
                <a:lnTo>
                  <a:pt x="9525" y="571500"/>
                </a:lnTo>
                <a:lnTo>
                  <a:pt x="1812467" y="571500"/>
                </a:lnTo>
                <a:lnTo>
                  <a:pt x="1812467" y="576262"/>
                </a:lnTo>
                <a:close/>
              </a:path>
              <a:path w="1822450" h="581025">
                <a:moveTo>
                  <a:pt x="1821992" y="576262"/>
                </a:moveTo>
                <a:lnTo>
                  <a:pt x="1812467" y="576262"/>
                </a:lnTo>
                <a:lnTo>
                  <a:pt x="1817230" y="571500"/>
                </a:lnTo>
                <a:lnTo>
                  <a:pt x="1821992" y="571500"/>
                </a:lnTo>
                <a:lnTo>
                  <a:pt x="1821992" y="5762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165073" y="3758971"/>
            <a:ext cx="1208405" cy="581025"/>
          </a:xfrm>
          <a:custGeom>
            <a:avLst/>
            <a:gdLst/>
            <a:ahLst/>
            <a:cxnLst/>
            <a:rect l="l" t="t" r="r" b="b"/>
            <a:pathLst>
              <a:path w="1208404" h="581025">
                <a:moveTo>
                  <a:pt x="1208316" y="581025"/>
                </a:moveTo>
                <a:lnTo>
                  <a:pt x="0" y="581025"/>
                </a:lnTo>
                <a:lnTo>
                  <a:pt x="0" y="0"/>
                </a:lnTo>
                <a:lnTo>
                  <a:pt x="1208316" y="0"/>
                </a:lnTo>
                <a:lnTo>
                  <a:pt x="1208316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71500"/>
                </a:lnTo>
                <a:lnTo>
                  <a:pt x="4762" y="571500"/>
                </a:lnTo>
                <a:lnTo>
                  <a:pt x="9525" y="576262"/>
                </a:lnTo>
                <a:lnTo>
                  <a:pt x="1208316" y="576262"/>
                </a:lnTo>
                <a:lnTo>
                  <a:pt x="1208316" y="581025"/>
                </a:lnTo>
                <a:close/>
              </a:path>
              <a:path w="1208404" h="5810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08404" h="581025">
                <a:moveTo>
                  <a:pt x="1198791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198791" y="4762"/>
                </a:lnTo>
                <a:lnTo>
                  <a:pt x="1198791" y="9525"/>
                </a:lnTo>
                <a:close/>
              </a:path>
              <a:path w="1208404" h="581025">
                <a:moveTo>
                  <a:pt x="1198791" y="576262"/>
                </a:moveTo>
                <a:lnTo>
                  <a:pt x="1198791" y="4762"/>
                </a:lnTo>
                <a:lnTo>
                  <a:pt x="1203553" y="9525"/>
                </a:lnTo>
                <a:lnTo>
                  <a:pt x="1208316" y="9525"/>
                </a:lnTo>
                <a:lnTo>
                  <a:pt x="1208316" y="571500"/>
                </a:lnTo>
                <a:lnTo>
                  <a:pt x="1203553" y="571500"/>
                </a:lnTo>
                <a:lnTo>
                  <a:pt x="1198791" y="576262"/>
                </a:lnTo>
                <a:close/>
              </a:path>
              <a:path w="1208404" h="581025">
                <a:moveTo>
                  <a:pt x="1208316" y="9525"/>
                </a:moveTo>
                <a:lnTo>
                  <a:pt x="1203553" y="9525"/>
                </a:lnTo>
                <a:lnTo>
                  <a:pt x="1198791" y="4762"/>
                </a:lnTo>
                <a:lnTo>
                  <a:pt x="1208316" y="4762"/>
                </a:lnTo>
                <a:lnTo>
                  <a:pt x="1208316" y="9525"/>
                </a:lnTo>
                <a:close/>
              </a:path>
              <a:path w="1208404" h="581025">
                <a:moveTo>
                  <a:pt x="9525" y="576262"/>
                </a:moveTo>
                <a:lnTo>
                  <a:pt x="4762" y="571500"/>
                </a:lnTo>
                <a:lnTo>
                  <a:pt x="9525" y="571500"/>
                </a:lnTo>
                <a:lnTo>
                  <a:pt x="9525" y="576262"/>
                </a:lnTo>
                <a:close/>
              </a:path>
              <a:path w="1208404" h="581025">
                <a:moveTo>
                  <a:pt x="1198791" y="576262"/>
                </a:moveTo>
                <a:lnTo>
                  <a:pt x="9525" y="576262"/>
                </a:lnTo>
                <a:lnTo>
                  <a:pt x="9525" y="571500"/>
                </a:lnTo>
                <a:lnTo>
                  <a:pt x="1198791" y="571500"/>
                </a:lnTo>
                <a:lnTo>
                  <a:pt x="1198791" y="576262"/>
                </a:lnTo>
                <a:close/>
              </a:path>
              <a:path w="1208404" h="581025">
                <a:moveTo>
                  <a:pt x="1208316" y="576262"/>
                </a:moveTo>
                <a:lnTo>
                  <a:pt x="1198791" y="576262"/>
                </a:lnTo>
                <a:lnTo>
                  <a:pt x="1203553" y="571500"/>
                </a:lnTo>
                <a:lnTo>
                  <a:pt x="1208316" y="571500"/>
                </a:lnTo>
                <a:lnTo>
                  <a:pt x="1208316" y="5762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298740" y="3872953"/>
            <a:ext cx="9398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华文楷体"/>
                <a:cs typeface="华文楷体"/>
              </a:rPr>
              <a:t>感应电流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429478" y="3998721"/>
            <a:ext cx="1740535" cy="101600"/>
          </a:xfrm>
          <a:custGeom>
            <a:avLst/>
            <a:gdLst/>
            <a:ahLst/>
            <a:cxnLst/>
            <a:rect l="l" t="t" r="r" b="b"/>
            <a:pathLst>
              <a:path w="1740534" h="101600">
                <a:moveTo>
                  <a:pt x="1715153" y="50761"/>
                </a:moveTo>
                <a:lnTo>
                  <a:pt x="1648358" y="11798"/>
                </a:lnTo>
                <a:lnTo>
                  <a:pt x="1646821" y="10540"/>
                </a:lnTo>
                <a:lnTo>
                  <a:pt x="1645742" y="8877"/>
                </a:lnTo>
                <a:lnTo>
                  <a:pt x="1645234" y="6946"/>
                </a:lnTo>
                <a:lnTo>
                  <a:pt x="1645348" y="4965"/>
                </a:lnTo>
                <a:lnTo>
                  <a:pt x="1646072" y="3111"/>
                </a:lnTo>
                <a:lnTo>
                  <a:pt x="1647329" y="1574"/>
                </a:lnTo>
                <a:lnTo>
                  <a:pt x="1649006" y="507"/>
                </a:lnTo>
                <a:lnTo>
                  <a:pt x="1650923" y="0"/>
                </a:lnTo>
                <a:lnTo>
                  <a:pt x="1652905" y="114"/>
                </a:lnTo>
                <a:lnTo>
                  <a:pt x="1654759" y="825"/>
                </a:lnTo>
                <a:lnTo>
                  <a:pt x="1729472" y="44411"/>
                </a:lnTo>
                <a:lnTo>
                  <a:pt x="1727758" y="44411"/>
                </a:lnTo>
                <a:lnTo>
                  <a:pt x="1727758" y="45275"/>
                </a:lnTo>
                <a:lnTo>
                  <a:pt x="1724558" y="45275"/>
                </a:lnTo>
                <a:lnTo>
                  <a:pt x="1715153" y="50761"/>
                </a:lnTo>
                <a:close/>
              </a:path>
              <a:path w="1740534" h="101600">
                <a:moveTo>
                  <a:pt x="1704267" y="57111"/>
                </a:moveTo>
                <a:lnTo>
                  <a:pt x="0" y="57111"/>
                </a:lnTo>
                <a:lnTo>
                  <a:pt x="0" y="44411"/>
                </a:lnTo>
                <a:lnTo>
                  <a:pt x="1704267" y="44411"/>
                </a:lnTo>
                <a:lnTo>
                  <a:pt x="1715153" y="50761"/>
                </a:lnTo>
                <a:lnTo>
                  <a:pt x="1704267" y="57111"/>
                </a:lnTo>
                <a:close/>
              </a:path>
              <a:path w="1740534" h="101600">
                <a:moveTo>
                  <a:pt x="1729472" y="57111"/>
                </a:moveTo>
                <a:lnTo>
                  <a:pt x="1727758" y="57111"/>
                </a:lnTo>
                <a:lnTo>
                  <a:pt x="1727758" y="44411"/>
                </a:lnTo>
                <a:lnTo>
                  <a:pt x="1729472" y="44411"/>
                </a:lnTo>
                <a:lnTo>
                  <a:pt x="1740357" y="50761"/>
                </a:lnTo>
                <a:lnTo>
                  <a:pt x="1729472" y="57111"/>
                </a:lnTo>
                <a:close/>
              </a:path>
              <a:path w="1740534" h="101600">
                <a:moveTo>
                  <a:pt x="1724558" y="56248"/>
                </a:moveTo>
                <a:lnTo>
                  <a:pt x="1715153" y="50761"/>
                </a:lnTo>
                <a:lnTo>
                  <a:pt x="1724558" y="45275"/>
                </a:lnTo>
                <a:lnTo>
                  <a:pt x="1724558" y="56248"/>
                </a:lnTo>
                <a:close/>
              </a:path>
              <a:path w="1740534" h="101600">
                <a:moveTo>
                  <a:pt x="1727758" y="56248"/>
                </a:moveTo>
                <a:lnTo>
                  <a:pt x="1724558" y="56248"/>
                </a:lnTo>
                <a:lnTo>
                  <a:pt x="1724558" y="45275"/>
                </a:lnTo>
                <a:lnTo>
                  <a:pt x="1727758" y="45275"/>
                </a:lnTo>
                <a:lnTo>
                  <a:pt x="1727758" y="56248"/>
                </a:lnTo>
                <a:close/>
              </a:path>
              <a:path w="1740534" h="101600">
                <a:moveTo>
                  <a:pt x="1650923" y="101536"/>
                </a:moveTo>
                <a:lnTo>
                  <a:pt x="1645234" y="94576"/>
                </a:lnTo>
                <a:lnTo>
                  <a:pt x="1645742" y="92659"/>
                </a:lnTo>
                <a:lnTo>
                  <a:pt x="1646821" y="90982"/>
                </a:lnTo>
                <a:lnTo>
                  <a:pt x="1648358" y="89725"/>
                </a:lnTo>
                <a:lnTo>
                  <a:pt x="1715153" y="50761"/>
                </a:lnTo>
                <a:lnTo>
                  <a:pt x="1724558" y="56248"/>
                </a:lnTo>
                <a:lnTo>
                  <a:pt x="1727758" y="56248"/>
                </a:lnTo>
                <a:lnTo>
                  <a:pt x="1727758" y="57111"/>
                </a:lnTo>
                <a:lnTo>
                  <a:pt x="1729472" y="57111"/>
                </a:lnTo>
                <a:lnTo>
                  <a:pt x="1654759" y="100698"/>
                </a:lnTo>
                <a:lnTo>
                  <a:pt x="1652905" y="101422"/>
                </a:lnTo>
                <a:lnTo>
                  <a:pt x="1650923" y="1015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991275" y="3686505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华文楷体"/>
                <a:cs typeface="华文楷体"/>
              </a:rPr>
              <a:t>产生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472482" y="4327067"/>
            <a:ext cx="3307079" cy="749300"/>
          </a:xfrm>
          <a:custGeom>
            <a:avLst/>
            <a:gdLst/>
            <a:ahLst/>
            <a:cxnLst/>
            <a:rect l="l" t="t" r="r" b="b"/>
            <a:pathLst>
              <a:path w="3307079" h="749300">
                <a:moveTo>
                  <a:pt x="6959" y="95123"/>
                </a:moveTo>
                <a:lnTo>
                  <a:pt x="0" y="89433"/>
                </a:lnTo>
                <a:lnTo>
                  <a:pt x="114" y="87452"/>
                </a:lnTo>
                <a:lnTo>
                  <a:pt x="838" y="85598"/>
                </a:lnTo>
                <a:lnTo>
                  <a:pt x="50761" y="0"/>
                </a:lnTo>
                <a:lnTo>
                  <a:pt x="58111" y="12598"/>
                </a:lnTo>
                <a:lnTo>
                  <a:pt x="44411" y="12598"/>
                </a:lnTo>
                <a:lnTo>
                  <a:pt x="44411" y="36089"/>
                </a:lnTo>
                <a:lnTo>
                  <a:pt x="11798" y="91998"/>
                </a:lnTo>
                <a:lnTo>
                  <a:pt x="10541" y="93535"/>
                </a:lnTo>
                <a:lnTo>
                  <a:pt x="8877" y="94614"/>
                </a:lnTo>
                <a:lnTo>
                  <a:pt x="6959" y="95123"/>
                </a:lnTo>
                <a:close/>
              </a:path>
              <a:path w="3307079" h="749300">
                <a:moveTo>
                  <a:pt x="44411" y="36089"/>
                </a:moveTo>
                <a:lnTo>
                  <a:pt x="44411" y="12598"/>
                </a:lnTo>
                <a:lnTo>
                  <a:pt x="57111" y="12598"/>
                </a:lnTo>
                <a:lnTo>
                  <a:pt x="57111" y="15798"/>
                </a:lnTo>
                <a:lnTo>
                  <a:pt x="45288" y="15798"/>
                </a:lnTo>
                <a:lnTo>
                  <a:pt x="50768" y="25193"/>
                </a:lnTo>
                <a:lnTo>
                  <a:pt x="44411" y="36089"/>
                </a:lnTo>
                <a:close/>
              </a:path>
              <a:path w="3307079" h="749300">
                <a:moveTo>
                  <a:pt x="94576" y="95123"/>
                </a:moveTo>
                <a:lnTo>
                  <a:pt x="57124" y="36089"/>
                </a:lnTo>
                <a:lnTo>
                  <a:pt x="57111" y="12598"/>
                </a:lnTo>
                <a:lnTo>
                  <a:pt x="58111" y="12598"/>
                </a:lnTo>
                <a:lnTo>
                  <a:pt x="100698" y="85598"/>
                </a:lnTo>
                <a:lnTo>
                  <a:pt x="101422" y="87452"/>
                </a:lnTo>
                <a:lnTo>
                  <a:pt x="101536" y="89433"/>
                </a:lnTo>
                <a:lnTo>
                  <a:pt x="101028" y="91363"/>
                </a:lnTo>
                <a:lnTo>
                  <a:pt x="99961" y="93027"/>
                </a:lnTo>
                <a:lnTo>
                  <a:pt x="98412" y="94284"/>
                </a:lnTo>
                <a:lnTo>
                  <a:pt x="96570" y="95008"/>
                </a:lnTo>
                <a:lnTo>
                  <a:pt x="94576" y="95123"/>
                </a:lnTo>
                <a:close/>
              </a:path>
              <a:path w="3307079" h="749300">
                <a:moveTo>
                  <a:pt x="50768" y="25193"/>
                </a:moveTo>
                <a:lnTo>
                  <a:pt x="45288" y="15798"/>
                </a:lnTo>
                <a:lnTo>
                  <a:pt x="56248" y="15798"/>
                </a:lnTo>
                <a:lnTo>
                  <a:pt x="50768" y="25193"/>
                </a:lnTo>
                <a:close/>
              </a:path>
              <a:path w="3307079" h="749300">
                <a:moveTo>
                  <a:pt x="57111" y="36067"/>
                </a:moveTo>
                <a:lnTo>
                  <a:pt x="50768" y="25193"/>
                </a:lnTo>
                <a:lnTo>
                  <a:pt x="56248" y="15798"/>
                </a:lnTo>
                <a:lnTo>
                  <a:pt x="57111" y="15798"/>
                </a:lnTo>
                <a:lnTo>
                  <a:pt x="57111" y="36067"/>
                </a:lnTo>
                <a:close/>
              </a:path>
              <a:path w="3307079" h="749300">
                <a:moveTo>
                  <a:pt x="3293808" y="742950"/>
                </a:moveTo>
                <a:lnTo>
                  <a:pt x="3293808" y="16332"/>
                </a:lnTo>
                <a:lnTo>
                  <a:pt x="3306508" y="16332"/>
                </a:lnTo>
                <a:lnTo>
                  <a:pt x="3306508" y="736600"/>
                </a:lnTo>
                <a:lnTo>
                  <a:pt x="3300158" y="736600"/>
                </a:lnTo>
                <a:lnTo>
                  <a:pt x="3293808" y="742950"/>
                </a:lnTo>
                <a:close/>
              </a:path>
              <a:path w="3307079" h="749300">
                <a:moveTo>
                  <a:pt x="3306508" y="749300"/>
                </a:moveTo>
                <a:lnTo>
                  <a:pt x="44411" y="749300"/>
                </a:lnTo>
                <a:lnTo>
                  <a:pt x="44424" y="36067"/>
                </a:lnTo>
                <a:lnTo>
                  <a:pt x="50768" y="25193"/>
                </a:lnTo>
                <a:lnTo>
                  <a:pt x="57111" y="36067"/>
                </a:lnTo>
                <a:lnTo>
                  <a:pt x="57111" y="736600"/>
                </a:lnTo>
                <a:lnTo>
                  <a:pt x="50761" y="736600"/>
                </a:lnTo>
                <a:lnTo>
                  <a:pt x="57111" y="742950"/>
                </a:lnTo>
                <a:lnTo>
                  <a:pt x="3306508" y="742950"/>
                </a:lnTo>
                <a:lnTo>
                  <a:pt x="3306508" y="749300"/>
                </a:lnTo>
                <a:close/>
              </a:path>
              <a:path w="3307079" h="749300">
                <a:moveTo>
                  <a:pt x="57111" y="742950"/>
                </a:moveTo>
                <a:lnTo>
                  <a:pt x="50761" y="736600"/>
                </a:lnTo>
                <a:lnTo>
                  <a:pt x="57111" y="736600"/>
                </a:lnTo>
                <a:lnTo>
                  <a:pt x="57111" y="742950"/>
                </a:lnTo>
                <a:close/>
              </a:path>
              <a:path w="3307079" h="749300">
                <a:moveTo>
                  <a:pt x="3293808" y="742950"/>
                </a:moveTo>
                <a:lnTo>
                  <a:pt x="57111" y="742950"/>
                </a:lnTo>
                <a:lnTo>
                  <a:pt x="57111" y="736600"/>
                </a:lnTo>
                <a:lnTo>
                  <a:pt x="3293808" y="736600"/>
                </a:lnTo>
                <a:lnTo>
                  <a:pt x="3293808" y="742950"/>
                </a:lnTo>
                <a:close/>
              </a:path>
              <a:path w="3307079" h="749300">
                <a:moveTo>
                  <a:pt x="3306508" y="742950"/>
                </a:moveTo>
                <a:lnTo>
                  <a:pt x="3293808" y="742950"/>
                </a:lnTo>
                <a:lnTo>
                  <a:pt x="3300158" y="736600"/>
                </a:lnTo>
                <a:lnTo>
                  <a:pt x="3306508" y="736600"/>
                </a:lnTo>
                <a:lnTo>
                  <a:pt x="3306508" y="7429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7836407" y="4449889"/>
            <a:ext cx="2540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华文楷体"/>
                <a:cs typeface="华文楷体"/>
              </a:rPr>
              <a:t>产 生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10355" y="3736428"/>
            <a:ext cx="1625600" cy="1268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0" marR="5080" indent="-1143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华文楷体"/>
                <a:cs typeface="华文楷体"/>
              </a:rPr>
              <a:t>闭合导体回路原 磁通量的变化</a:t>
            </a:r>
            <a:endParaRPr sz="1800">
              <a:latin typeface="华文楷体"/>
              <a:cs typeface="华文楷体"/>
            </a:endParaRPr>
          </a:p>
          <a:p>
            <a:pPr marL="535305" marR="853440">
              <a:lnSpc>
                <a:spcPct val="100000"/>
              </a:lnSpc>
              <a:spcBef>
                <a:spcPts val="1140"/>
              </a:spcBef>
            </a:pPr>
            <a:r>
              <a:rPr dirty="0" sz="1800" i="1">
                <a:latin typeface="华文楷体"/>
                <a:cs typeface="华文楷体"/>
              </a:rPr>
              <a:t>阻 碍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373623" y="4745735"/>
            <a:ext cx="1813560" cy="571500"/>
          </a:xfrm>
          <a:custGeom>
            <a:avLst/>
            <a:gdLst/>
            <a:ahLst/>
            <a:cxnLst/>
            <a:rect l="l" t="t" r="r" b="b"/>
            <a:pathLst>
              <a:path w="1813559" h="571500">
                <a:moveTo>
                  <a:pt x="0" y="0"/>
                </a:moveTo>
                <a:lnTo>
                  <a:pt x="1813560" y="0"/>
                </a:lnTo>
                <a:lnTo>
                  <a:pt x="181356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369496" y="4740846"/>
            <a:ext cx="1822450" cy="581025"/>
          </a:xfrm>
          <a:custGeom>
            <a:avLst/>
            <a:gdLst/>
            <a:ahLst/>
            <a:cxnLst/>
            <a:rect l="l" t="t" r="r" b="b"/>
            <a:pathLst>
              <a:path w="1822450" h="581025">
                <a:moveTo>
                  <a:pt x="1821992" y="581025"/>
                </a:moveTo>
                <a:lnTo>
                  <a:pt x="0" y="581025"/>
                </a:lnTo>
                <a:lnTo>
                  <a:pt x="0" y="0"/>
                </a:lnTo>
                <a:lnTo>
                  <a:pt x="1821992" y="0"/>
                </a:lnTo>
                <a:lnTo>
                  <a:pt x="1821992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71500"/>
                </a:lnTo>
                <a:lnTo>
                  <a:pt x="4762" y="571500"/>
                </a:lnTo>
                <a:lnTo>
                  <a:pt x="9525" y="576262"/>
                </a:lnTo>
                <a:lnTo>
                  <a:pt x="1821992" y="576262"/>
                </a:lnTo>
                <a:lnTo>
                  <a:pt x="1821992" y="581025"/>
                </a:lnTo>
                <a:close/>
              </a:path>
              <a:path w="1822450" h="5810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822450" h="581025">
                <a:moveTo>
                  <a:pt x="181246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812467" y="4762"/>
                </a:lnTo>
                <a:lnTo>
                  <a:pt x="1812467" y="9525"/>
                </a:lnTo>
                <a:close/>
              </a:path>
              <a:path w="1822450" h="581025">
                <a:moveTo>
                  <a:pt x="1812467" y="576262"/>
                </a:moveTo>
                <a:lnTo>
                  <a:pt x="1812467" y="4762"/>
                </a:lnTo>
                <a:lnTo>
                  <a:pt x="1817230" y="9525"/>
                </a:lnTo>
                <a:lnTo>
                  <a:pt x="1821992" y="9525"/>
                </a:lnTo>
                <a:lnTo>
                  <a:pt x="1821992" y="571500"/>
                </a:lnTo>
                <a:lnTo>
                  <a:pt x="1817230" y="571500"/>
                </a:lnTo>
                <a:lnTo>
                  <a:pt x="1812467" y="576262"/>
                </a:lnTo>
                <a:close/>
              </a:path>
              <a:path w="1822450" h="581025">
                <a:moveTo>
                  <a:pt x="1821992" y="9525"/>
                </a:moveTo>
                <a:lnTo>
                  <a:pt x="1817230" y="9525"/>
                </a:lnTo>
                <a:lnTo>
                  <a:pt x="1812467" y="4762"/>
                </a:lnTo>
                <a:lnTo>
                  <a:pt x="1821992" y="4762"/>
                </a:lnTo>
                <a:lnTo>
                  <a:pt x="1821992" y="9525"/>
                </a:lnTo>
                <a:close/>
              </a:path>
              <a:path w="1822450" h="581025">
                <a:moveTo>
                  <a:pt x="9525" y="576262"/>
                </a:moveTo>
                <a:lnTo>
                  <a:pt x="4762" y="571500"/>
                </a:lnTo>
                <a:lnTo>
                  <a:pt x="9525" y="571500"/>
                </a:lnTo>
                <a:lnTo>
                  <a:pt x="9525" y="576262"/>
                </a:lnTo>
                <a:close/>
              </a:path>
              <a:path w="1822450" h="581025">
                <a:moveTo>
                  <a:pt x="1812467" y="576262"/>
                </a:moveTo>
                <a:lnTo>
                  <a:pt x="9525" y="576262"/>
                </a:lnTo>
                <a:lnTo>
                  <a:pt x="9525" y="571500"/>
                </a:lnTo>
                <a:lnTo>
                  <a:pt x="1812467" y="571500"/>
                </a:lnTo>
                <a:lnTo>
                  <a:pt x="1812467" y="576262"/>
                </a:lnTo>
                <a:close/>
              </a:path>
              <a:path w="1822450" h="581025">
                <a:moveTo>
                  <a:pt x="1821992" y="576262"/>
                </a:moveTo>
                <a:lnTo>
                  <a:pt x="1812467" y="576262"/>
                </a:lnTo>
                <a:lnTo>
                  <a:pt x="1817230" y="571500"/>
                </a:lnTo>
                <a:lnTo>
                  <a:pt x="1821992" y="571500"/>
                </a:lnTo>
                <a:lnTo>
                  <a:pt x="1821992" y="5762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373623" y="4718304"/>
            <a:ext cx="181356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华文楷体"/>
                <a:cs typeface="华文楷体"/>
              </a:rPr>
              <a:t>感应电流的磁场</a:t>
            </a:r>
            <a:endParaRPr sz="1800">
              <a:latin typeface="华文楷体"/>
              <a:cs typeface="华文楷体"/>
            </a:endParaRPr>
          </a:p>
          <a:p>
            <a:pPr algn="ctr">
              <a:lnSpc>
                <a:spcPct val="100000"/>
              </a:lnSpc>
            </a:pPr>
            <a:r>
              <a:rPr dirty="0" sz="1800" i="1">
                <a:latin typeface="华文楷体"/>
                <a:cs typeface="华文楷体"/>
              </a:rPr>
              <a:t>（中间量）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90398" y="3010992"/>
            <a:ext cx="2562775" cy="2349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344557" y="3620198"/>
            <a:ext cx="1343660" cy="1955800"/>
          </a:xfrm>
          <a:custGeom>
            <a:avLst/>
            <a:gdLst/>
            <a:ahLst/>
            <a:cxnLst/>
            <a:rect l="l" t="t" r="r" b="b"/>
            <a:pathLst>
              <a:path w="1343660" h="1955800">
                <a:moveTo>
                  <a:pt x="8597" y="1955584"/>
                </a:moveTo>
                <a:lnTo>
                  <a:pt x="0" y="5029"/>
                </a:lnTo>
                <a:lnTo>
                  <a:pt x="1299476" y="0"/>
                </a:lnTo>
                <a:lnTo>
                  <a:pt x="1299553" y="19189"/>
                </a:lnTo>
                <a:lnTo>
                  <a:pt x="28638" y="19189"/>
                </a:lnTo>
                <a:lnTo>
                  <a:pt x="14401" y="33540"/>
                </a:lnTo>
                <a:lnTo>
                  <a:pt x="28701" y="33540"/>
                </a:lnTo>
                <a:lnTo>
                  <a:pt x="37046" y="1926806"/>
                </a:lnTo>
                <a:lnTo>
                  <a:pt x="22720" y="1926907"/>
                </a:lnTo>
                <a:lnTo>
                  <a:pt x="37109" y="1941131"/>
                </a:lnTo>
                <a:lnTo>
                  <a:pt x="1239367" y="1941131"/>
                </a:lnTo>
                <a:lnTo>
                  <a:pt x="1239367" y="1946910"/>
                </a:lnTo>
                <a:lnTo>
                  <a:pt x="8597" y="1955584"/>
                </a:lnTo>
                <a:close/>
              </a:path>
              <a:path w="1343660" h="1955800">
                <a:moveTo>
                  <a:pt x="14401" y="33540"/>
                </a:moveTo>
                <a:lnTo>
                  <a:pt x="28638" y="19189"/>
                </a:lnTo>
                <a:lnTo>
                  <a:pt x="28701" y="33485"/>
                </a:lnTo>
                <a:lnTo>
                  <a:pt x="14401" y="33540"/>
                </a:lnTo>
                <a:close/>
              </a:path>
              <a:path w="1343660" h="1955800">
                <a:moveTo>
                  <a:pt x="28701" y="33485"/>
                </a:moveTo>
                <a:lnTo>
                  <a:pt x="28638" y="19189"/>
                </a:lnTo>
                <a:lnTo>
                  <a:pt x="1299553" y="19189"/>
                </a:lnTo>
                <a:lnTo>
                  <a:pt x="1299590" y="28575"/>
                </a:lnTo>
                <a:lnTo>
                  <a:pt x="28701" y="33485"/>
                </a:lnTo>
                <a:close/>
              </a:path>
              <a:path w="1343660" h="1955800">
                <a:moveTo>
                  <a:pt x="28701" y="33540"/>
                </a:moveTo>
                <a:lnTo>
                  <a:pt x="14401" y="33540"/>
                </a:lnTo>
                <a:lnTo>
                  <a:pt x="28701" y="33485"/>
                </a:lnTo>
                <a:close/>
              </a:path>
              <a:path w="1343660" h="1955800">
                <a:moveTo>
                  <a:pt x="1210792" y="1918536"/>
                </a:moveTo>
                <a:lnTo>
                  <a:pt x="1210792" y="978636"/>
                </a:lnTo>
                <a:lnTo>
                  <a:pt x="1343621" y="978636"/>
                </a:lnTo>
                <a:lnTo>
                  <a:pt x="1343621" y="992924"/>
                </a:lnTo>
                <a:lnTo>
                  <a:pt x="1239367" y="992924"/>
                </a:lnTo>
                <a:lnTo>
                  <a:pt x="1225080" y="1007211"/>
                </a:lnTo>
                <a:lnTo>
                  <a:pt x="1239367" y="1007211"/>
                </a:lnTo>
                <a:lnTo>
                  <a:pt x="1239367" y="1918436"/>
                </a:lnTo>
                <a:lnTo>
                  <a:pt x="1224978" y="1918436"/>
                </a:lnTo>
                <a:lnTo>
                  <a:pt x="1210792" y="1918536"/>
                </a:lnTo>
                <a:close/>
              </a:path>
              <a:path w="1343660" h="1955800">
                <a:moveTo>
                  <a:pt x="1239367" y="1007211"/>
                </a:moveTo>
                <a:lnTo>
                  <a:pt x="1225080" y="1007211"/>
                </a:lnTo>
                <a:lnTo>
                  <a:pt x="1239367" y="992924"/>
                </a:lnTo>
                <a:lnTo>
                  <a:pt x="1239367" y="1007211"/>
                </a:lnTo>
                <a:close/>
              </a:path>
              <a:path w="1343660" h="1955800">
                <a:moveTo>
                  <a:pt x="1343621" y="1007211"/>
                </a:moveTo>
                <a:lnTo>
                  <a:pt x="1239367" y="1007211"/>
                </a:lnTo>
                <a:lnTo>
                  <a:pt x="1239367" y="992924"/>
                </a:lnTo>
                <a:lnTo>
                  <a:pt x="1343621" y="992924"/>
                </a:lnTo>
                <a:lnTo>
                  <a:pt x="1343621" y="1007211"/>
                </a:lnTo>
                <a:close/>
              </a:path>
              <a:path w="1343660" h="1955800">
                <a:moveTo>
                  <a:pt x="1210792" y="1932724"/>
                </a:moveTo>
                <a:lnTo>
                  <a:pt x="1210792" y="1918536"/>
                </a:lnTo>
                <a:lnTo>
                  <a:pt x="1224978" y="1918436"/>
                </a:lnTo>
                <a:lnTo>
                  <a:pt x="1210792" y="1932724"/>
                </a:lnTo>
                <a:close/>
              </a:path>
              <a:path w="1343660" h="1955800">
                <a:moveTo>
                  <a:pt x="1239367" y="1932724"/>
                </a:moveTo>
                <a:lnTo>
                  <a:pt x="1210792" y="1932724"/>
                </a:lnTo>
                <a:lnTo>
                  <a:pt x="1224978" y="1918436"/>
                </a:lnTo>
                <a:lnTo>
                  <a:pt x="1239367" y="1918436"/>
                </a:lnTo>
                <a:lnTo>
                  <a:pt x="1239367" y="1932724"/>
                </a:lnTo>
                <a:close/>
              </a:path>
              <a:path w="1343660" h="1955800">
                <a:moveTo>
                  <a:pt x="1239367" y="1941131"/>
                </a:moveTo>
                <a:lnTo>
                  <a:pt x="37109" y="1941131"/>
                </a:lnTo>
                <a:lnTo>
                  <a:pt x="37046" y="1926806"/>
                </a:lnTo>
                <a:lnTo>
                  <a:pt x="1210792" y="1918536"/>
                </a:lnTo>
                <a:lnTo>
                  <a:pt x="1210792" y="1932724"/>
                </a:lnTo>
                <a:lnTo>
                  <a:pt x="1239367" y="1932724"/>
                </a:lnTo>
                <a:lnTo>
                  <a:pt x="1239367" y="1941131"/>
                </a:lnTo>
                <a:close/>
              </a:path>
              <a:path w="1343660" h="1955800">
                <a:moveTo>
                  <a:pt x="37109" y="1941131"/>
                </a:moveTo>
                <a:lnTo>
                  <a:pt x="22720" y="1926907"/>
                </a:lnTo>
                <a:lnTo>
                  <a:pt x="37046" y="1926806"/>
                </a:lnTo>
                <a:lnTo>
                  <a:pt x="37109" y="19411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845052" y="3640835"/>
            <a:ext cx="277495" cy="0"/>
          </a:xfrm>
          <a:custGeom>
            <a:avLst/>
            <a:gdLst/>
            <a:ahLst/>
            <a:cxnLst/>
            <a:rect l="l" t="t" r="r" b="b"/>
            <a:pathLst>
              <a:path w="277495" h="0">
                <a:moveTo>
                  <a:pt x="0" y="0"/>
                </a:moveTo>
                <a:lnTo>
                  <a:pt x="277367" y="0"/>
                </a:lnTo>
              </a:path>
            </a:pathLst>
          </a:custGeom>
          <a:ln w="45720">
            <a:solidFill>
              <a:srgbClr val="F1F1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844340" y="3584447"/>
            <a:ext cx="335915" cy="114300"/>
          </a:xfrm>
          <a:custGeom>
            <a:avLst/>
            <a:gdLst/>
            <a:ahLst/>
            <a:cxnLst/>
            <a:rect l="l" t="t" r="r" b="b"/>
            <a:pathLst>
              <a:path w="335914" h="114300">
                <a:moveTo>
                  <a:pt x="331892" y="76174"/>
                </a:moveTo>
                <a:lnTo>
                  <a:pt x="278295" y="76174"/>
                </a:lnTo>
                <a:lnTo>
                  <a:pt x="279260" y="38087"/>
                </a:lnTo>
                <a:lnTo>
                  <a:pt x="225981" y="36730"/>
                </a:lnTo>
                <a:lnTo>
                  <a:pt x="226706" y="33555"/>
                </a:lnTo>
                <a:lnTo>
                  <a:pt x="239410" y="15708"/>
                </a:lnTo>
                <a:lnTo>
                  <a:pt x="257882" y="3925"/>
                </a:lnTo>
                <a:lnTo>
                  <a:pt x="280238" y="0"/>
                </a:lnTo>
                <a:lnTo>
                  <a:pt x="302359" y="5055"/>
                </a:lnTo>
                <a:lnTo>
                  <a:pt x="320206" y="17762"/>
                </a:lnTo>
                <a:lnTo>
                  <a:pt x="331989" y="36234"/>
                </a:lnTo>
                <a:lnTo>
                  <a:pt x="335914" y="58585"/>
                </a:lnTo>
                <a:lnTo>
                  <a:pt x="331892" y="76174"/>
                </a:lnTo>
                <a:close/>
              </a:path>
              <a:path w="335914" h="114300">
                <a:moveTo>
                  <a:pt x="225008" y="74817"/>
                </a:moveTo>
                <a:lnTo>
                  <a:pt x="0" y="69087"/>
                </a:lnTo>
                <a:lnTo>
                  <a:pt x="965" y="31000"/>
                </a:lnTo>
                <a:lnTo>
                  <a:pt x="225981" y="36730"/>
                </a:lnTo>
                <a:lnTo>
                  <a:pt x="221653" y="55676"/>
                </a:lnTo>
                <a:lnTo>
                  <a:pt x="225008" y="74817"/>
                </a:lnTo>
                <a:close/>
              </a:path>
              <a:path w="335914" h="114300">
                <a:moveTo>
                  <a:pt x="278295" y="76174"/>
                </a:moveTo>
                <a:lnTo>
                  <a:pt x="225008" y="74817"/>
                </a:lnTo>
                <a:lnTo>
                  <a:pt x="221653" y="55676"/>
                </a:lnTo>
                <a:lnTo>
                  <a:pt x="225981" y="36730"/>
                </a:lnTo>
                <a:lnTo>
                  <a:pt x="279260" y="38087"/>
                </a:lnTo>
                <a:lnTo>
                  <a:pt x="278295" y="76174"/>
                </a:lnTo>
                <a:close/>
              </a:path>
              <a:path w="335914" h="114300">
                <a:moveTo>
                  <a:pt x="277329" y="114261"/>
                </a:moveTo>
                <a:lnTo>
                  <a:pt x="255201" y="109206"/>
                </a:lnTo>
                <a:lnTo>
                  <a:pt x="237351" y="96499"/>
                </a:lnTo>
                <a:lnTo>
                  <a:pt x="225571" y="78027"/>
                </a:lnTo>
                <a:lnTo>
                  <a:pt x="225008" y="74817"/>
                </a:lnTo>
                <a:lnTo>
                  <a:pt x="278295" y="76174"/>
                </a:lnTo>
                <a:lnTo>
                  <a:pt x="331892" y="76174"/>
                </a:lnTo>
                <a:lnTo>
                  <a:pt x="330854" y="80713"/>
                </a:lnTo>
                <a:lnTo>
                  <a:pt x="318147" y="98563"/>
                </a:lnTo>
                <a:lnTo>
                  <a:pt x="299678" y="110343"/>
                </a:lnTo>
                <a:lnTo>
                  <a:pt x="277329" y="1142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838473" y="5491670"/>
            <a:ext cx="114579" cy="127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844823" y="5321757"/>
            <a:ext cx="0" cy="474980"/>
          </a:xfrm>
          <a:custGeom>
            <a:avLst/>
            <a:gdLst/>
            <a:ahLst/>
            <a:cxnLst/>
            <a:rect l="l" t="t" r="r" b="b"/>
            <a:pathLst>
              <a:path w="0" h="474979">
                <a:moveTo>
                  <a:pt x="0" y="0"/>
                </a:moveTo>
                <a:lnTo>
                  <a:pt x="0" y="474357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946702" y="5462193"/>
            <a:ext cx="0" cy="184150"/>
          </a:xfrm>
          <a:custGeom>
            <a:avLst/>
            <a:gdLst/>
            <a:ahLst/>
            <a:cxnLst/>
            <a:rect l="l" t="t" r="r" b="b"/>
            <a:pathLst>
              <a:path w="0" h="184150">
                <a:moveTo>
                  <a:pt x="0" y="0"/>
                </a:moveTo>
                <a:lnTo>
                  <a:pt x="0" y="18412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816217" y="3534702"/>
            <a:ext cx="1912620" cy="2023745"/>
          </a:xfrm>
          <a:custGeom>
            <a:avLst/>
            <a:gdLst/>
            <a:ahLst/>
            <a:cxnLst/>
            <a:rect l="l" t="t" r="r" b="b"/>
            <a:pathLst>
              <a:path w="1912620" h="2023745">
                <a:moveTo>
                  <a:pt x="1883892" y="42314"/>
                </a:moveTo>
                <a:lnTo>
                  <a:pt x="0" y="28575"/>
                </a:lnTo>
                <a:lnTo>
                  <a:pt x="215" y="0"/>
                </a:lnTo>
                <a:lnTo>
                  <a:pt x="1912467" y="13957"/>
                </a:lnTo>
                <a:lnTo>
                  <a:pt x="1912467" y="28130"/>
                </a:lnTo>
                <a:lnTo>
                  <a:pt x="1883892" y="28130"/>
                </a:lnTo>
                <a:lnTo>
                  <a:pt x="1883892" y="42314"/>
                </a:lnTo>
                <a:close/>
              </a:path>
              <a:path w="1912620" h="2023745">
                <a:moveTo>
                  <a:pt x="1898078" y="42418"/>
                </a:moveTo>
                <a:lnTo>
                  <a:pt x="1883892" y="42314"/>
                </a:lnTo>
                <a:lnTo>
                  <a:pt x="1883892" y="28130"/>
                </a:lnTo>
                <a:lnTo>
                  <a:pt x="1898078" y="42418"/>
                </a:lnTo>
                <a:close/>
              </a:path>
              <a:path w="1912620" h="2023745">
                <a:moveTo>
                  <a:pt x="1912467" y="42418"/>
                </a:moveTo>
                <a:lnTo>
                  <a:pt x="1898078" y="42418"/>
                </a:lnTo>
                <a:lnTo>
                  <a:pt x="1883892" y="28130"/>
                </a:lnTo>
                <a:lnTo>
                  <a:pt x="1912467" y="28130"/>
                </a:lnTo>
                <a:lnTo>
                  <a:pt x="1912467" y="42418"/>
                </a:lnTo>
                <a:close/>
              </a:path>
              <a:path w="1912620" h="2023745">
                <a:moveTo>
                  <a:pt x="1883892" y="2009330"/>
                </a:moveTo>
                <a:lnTo>
                  <a:pt x="1883892" y="42314"/>
                </a:lnTo>
                <a:lnTo>
                  <a:pt x="1912467" y="42418"/>
                </a:lnTo>
                <a:lnTo>
                  <a:pt x="1912467" y="1995043"/>
                </a:lnTo>
                <a:lnTo>
                  <a:pt x="1898180" y="1995043"/>
                </a:lnTo>
                <a:lnTo>
                  <a:pt x="1883892" y="2009330"/>
                </a:lnTo>
                <a:close/>
              </a:path>
              <a:path w="1912620" h="2023745">
                <a:moveTo>
                  <a:pt x="1912467" y="2023618"/>
                </a:moveTo>
                <a:lnTo>
                  <a:pt x="151828" y="2023618"/>
                </a:lnTo>
                <a:lnTo>
                  <a:pt x="165925" y="1191679"/>
                </a:lnTo>
                <a:lnTo>
                  <a:pt x="194500" y="1192161"/>
                </a:lnTo>
                <a:lnTo>
                  <a:pt x="180891" y="1995043"/>
                </a:lnTo>
                <a:lnTo>
                  <a:pt x="166357" y="1995043"/>
                </a:lnTo>
                <a:lnTo>
                  <a:pt x="180644" y="2009571"/>
                </a:lnTo>
                <a:lnTo>
                  <a:pt x="1912467" y="2009571"/>
                </a:lnTo>
                <a:lnTo>
                  <a:pt x="1912467" y="2023618"/>
                </a:lnTo>
                <a:close/>
              </a:path>
              <a:path w="1912620" h="2023745">
                <a:moveTo>
                  <a:pt x="180644" y="2009571"/>
                </a:moveTo>
                <a:lnTo>
                  <a:pt x="166357" y="1995043"/>
                </a:lnTo>
                <a:lnTo>
                  <a:pt x="180891" y="1995043"/>
                </a:lnTo>
                <a:lnTo>
                  <a:pt x="180644" y="2009571"/>
                </a:lnTo>
                <a:close/>
              </a:path>
              <a:path w="1912620" h="2023745">
                <a:moveTo>
                  <a:pt x="1912467" y="2009571"/>
                </a:moveTo>
                <a:lnTo>
                  <a:pt x="180644" y="2009571"/>
                </a:lnTo>
                <a:lnTo>
                  <a:pt x="180891" y="1995043"/>
                </a:lnTo>
                <a:lnTo>
                  <a:pt x="1883892" y="1995043"/>
                </a:lnTo>
                <a:lnTo>
                  <a:pt x="1883892" y="2009330"/>
                </a:lnTo>
                <a:lnTo>
                  <a:pt x="1912467" y="2009330"/>
                </a:lnTo>
                <a:lnTo>
                  <a:pt x="1912467" y="2009571"/>
                </a:lnTo>
                <a:close/>
              </a:path>
              <a:path w="1912620" h="2023745">
                <a:moveTo>
                  <a:pt x="1912467" y="2009330"/>
                </a:moveTo>
                <a:lnTo>
                  <a:pt x="1883892" y="2009330"/>
                </a:lnTo>
                <a:lnTo>
                  <a:pt x="1898180" y="1995043"/>
                </a:lnTo>
                <a:lnTo>
                  <a:pt x="1912467" y="1995043"/>
                </a:lnTo>
                <a:lnTo>
                  <a:pt x="1912467" y="20093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309416" y="3590759"/>
            <a:ext cx="822374" cy="115764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306472" y="4105440"/>
            <a:ext cx="770458" cy="73152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122534" y="3974909"/>
            <a:ext cx="2965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231036" y="3951820"/>
            <a:ext cx="2457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70939" y="1442935"/>
            <a:ext cx="9892665" cy="209677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algn="just" marL="12700" marR="5080">
              <a:lnSpc>
                <a:spcPts val="3020"/>
              </a:lnSpc>
              <a:spcBef>
                <a:spcPts val="475"/>
              </a:spcBef>
            </a:pPr>
            <a:r>
              <a:rPr dirty="0" sz="2800" i="1">
                <a:latin typeface="华文楷体"/>
                <a:cs typeface="华文楷体"/>
              </a:rPr>
              <a:t>【例题</a:t>
            </a:r>
            <a:r>
              <a:rPr dirty="0" sz="2800" spc="-5">
                <a:latin typeface="Times New Roman"/>
                <a:cs typeface="Times New Roman"/>
              </a:rPr>
              <a:t>1</a:t>
            </a:r>
            <a:r>
              <a:rPr dirty="0" sz="2800" i="1">
                <a:latin typeface="华文楷体"/>
                <a:cs typeface="华文楷体"/>
              </a:rPr>
              <a:t>】法拉第最初发现电磁感应现象的实验如图所示。软</a:t>
            </a:r>
            <a:r>
              <a:rPr dirty="0" sz="2800" spc="-5" i="1">
                <a:latin typeface="华文楷体"/>
                <a:cs typeface="华文楷体"/>
              </a:rPr>
              <a:t>铁 </a:t>
            </a:r>
            <a:r>
              <a:rPr dirty="0" sz="2800" i="1">
                <a:latin typeface="华文楷体"/>
                <a:cs typeface="华文楷体"/>
              </a:rPr>
              <a:t>环上绕有</a:t>
            </a:r>
            <a:r>
              <a:rPr dirty="0" sz="2800" spc="-5">
                <a:latin typeface="Times New Roman"/>
                <a:cs typeface="Times New Roman"/>
              </a:rPr>
              <a:t>M</a:t>
            </a:r>
            <a:r>
              <a:rPr dirty="0" sz="2800" i="1">
                <a:latin typeface="华文楷体"/>
                <a:cs typeface="华文楷体"/>
              </a:rPr>
              <a:t>、</a:t>
            </a:r>
            <a:r>
              <a:rPr dirty="0" sz="2800" spc="-5">
                <a:latin typeface="Times New Roman"/>
                <a:cs typeface="Times New Roman"/>
              </a:rPr>
              <a:t>N</a:t>
            </a:r>
            <a:r>
              <a:rPr dirty="0" sz="2800" spc="-95">
                <a:latin typeface="Times New Roman"/>
                <a:cs typeface="Times New Roman"/>
              </a:rPr>
              <a:t> </a:t>
            </a:r>
            <a:r>
              <a:rPr dirty="0" sz="2800" i="1">
                <a:latin typeface="华文楷体"/>
                <a:cs typeface="华文楷体"/>
              </a:rPr>
              <a:t>两个线圈，当线圈</a:t>
            </a:r>
            <a:r>
              <a:rPr dirty="0" sz="2800" spc="-5">
                <a:latin typeface="Times New Roman"/>
                <a:cs typeface="Times New Roman"/>
              </a:rPr>
              <a:t>M</a:t>
            </a:r>
            <a:r>
              <a:rPr dirty="0" sz="2800" i="1">
                <a:latin typeface="华文楷体"/>
                <a:cs typeface="华文楷体"/>
              </a:rPr>
              <a:t>电路中的开关断开的瞬间</a:t>
            </a:r>
            <a:r>
              <a:rPr dirty="0" sz="2800" spc="-5" i="1">
                <a:latin typeface="华文楷体"/>
                <a:cs typeface="华文楷体"/>
              </a:rPr>
              <a:t>，  </a:t>
            </a:r>
            <a:r>
              <a:rPr dirty="0" sz="2800" i="1">
                <a:latin typeface="华文楷体"/>
                <a:cs typeface="华文楷体"/>
              </a:rPr>
              <a:t>线圈</a:t>
            </a:r>
            <a:r>
              <a:rPr dirty="0" sz="2800" spc="-5">
                <a:latin typeface="Times New Roman"/>
                <a:cs typeface="Times New Roman"/>
              </a:rPr>
              <a:t>N</a:t>
            </a:r>
            <a:r>
              <a:rPr dirty="0" sz="2800" i="1">
                <a:latin typeface="华文楷体"/>
                <a:cs typeface="华文楷体"/>
              </a:rPr>
              <a:t>中的感应电流沿什么方向</a:t>
            </a:r>
            <a:r>
              <a:rPr dirty="0" sz="2800" spc="-5" i="1">
                <a:latin typeface="华文楷体"/>
                <a:cs typeface="华文楷体"/>
              </a:rPr>
              <a:t>？</a:t>
            </a:r>
            <a:endParaRPr sz="28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450">
              <a:latin typeface="Times New Roman"/>
              <a:cs typeface="Times New Roman"/>
            </a:endParaRPr>
          </a:p>
          <a:p>
            <a:pPr marL="3024505">
              <a:lnSpc>
                <a:spcPct val="100000"/>
              </a:lnSpc>
            </a:pPr>
            <a:r>
              <a:rPr dirty="0" sz="2400">
                <a:latin typeface="Times New Roman"/>
                <a:cs typeface="Times New Roman"/>
              </a:rPr>
              <a:t>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178102" y="872731"/>
            <a:ext cx="3454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一、楞次定律的应用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3383" y="2984487"/>
            <a:ext cx="2569531" cy="2349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291547" y="3593693"/>
            <a:ext cx="1350645" cy="1955800"/>
          </a:xfrm>
          <a:custGeom>
            <a:avLst/>
            <a:gdLst/>
            <a:ahLst/>
            <a:cxnLst/>
            <a:rect l="l" t="t" r="r" b="b"/>
            <a:pathLst>
              <a:path w="1350645" h="1955800">
                <a:moveTo>
                  <a:pt x="8636" y="1955584"/>
                </a:moveTo>
                <a:lnTo>
                  <a:pt x="0" y="5029"/>
                </a:lnTo>
                <a:lnTo>
                  <a:pt x="1306194" y="0"/>
                </a:lnTo>
                <a:lnTo>
                  <a:pt x="1306271" y="19189"/>
                </a:lnTo>
                <a:lnTo>
                  <a:pt x="28638" y="19189"/>
                </a:lnTo>
                <a:lnTo>
                  <a:pt x="14401" y="33540"/>
                </a:lnTo>
                <a:lnTo>
                  <a:pt x="28702" y="33540"/>
                </a:lnTo>
                <a:lnTo>
                  <a:pt x="37084" y="1926807"/>
                </a:lnTo>
                <a:lnTo>
                  <a:pt x="22758" y="1926907"/>
                </a:lnTo>
                <a:lnTo>
                  <a:pt x="37147" y="1941131"/>
                </a:lnTo>
                <a:lnTo>
                  <a:pt x="1245704" y="1941131"/>
                </a:lnTo>
                <a:lnTo>
                  <a:pt x="1245704" y="1946909"/>
                </a:lnTo>
                <a:lnTo>
                  <a:pt x="8636" y="1955584"/>
                </a:lnTo>
                <a:close/>
              </a:path>
              <a:path w="1350645" h="1955800">
                <a:moveTo>
                  <a:pt x="14401" y="33540"/>
                </a:moveTo>
                <a:lnTo>
                  <a:pt x="28638" y="19189"/>
                </a:lnTo>
                <a:lnTo>
                  <a:pt x="28701" y="33485"/>
                </a:lnTo>
                <a:lnTo>
                  <a:pt x="14401" y="33540"/>
                </a:lnTo>
                <a:close/>
              </a:path>
              <a:path w="1350645" h="1955800">
                <a:moveTo>
                  <a:pt x="28701" y="33485"/>
                </a:moveTo>
                <a:lnTo>
                  <a:pt x="28638" y="19189"/>
                </a:lnTo>
                <a:lnTo>
                  <a:pt x="1306271" y="19189"/>
                </a:lnTo>
                <a:lnTo>
                  <a:pt x="1306309" y="28575"/>
                </a:lnTo>
                <a:lnTo>
                  <a:pt x="28701" y="33485"/>
                </a:lnTo>
                <a:close/>
              </a:path>
              <a:path w="1350645" h="1955800">
                <a:moveTo>
                  <a:pt x="28702" y="33540"/>
                </a:moveTo>
                <a:lnTo>
                  <a:pt x="14401" y="33540"/>
                </a:lnTo>
                <a:lnTo>
                  <a:pt x="28701" y="33485"/>
                </a:lnTo>
                <a:close/>
              </a:path>
              <a:path w="1350645" h="1955800">
                <a:moveTo>
                  <a:pt x="1217129" y="1918536"/>
                </a:moveTo>
                <a:lnTo>
                  <a:pt x="1217129" y="978636"/>
                </a:lnTo>
                <a:lnTo>
                  <a:pt x="1350568" y="978636"/>
                </a:lnTo>
                <a:lnTo>
                  <a:pt x="1350568" y="992924"/>
                </a:lnTo>
                <a:lnTo>
                  <a:pt x="1245704" y="992924"/>
                </a:lnTo>
                <a:lnTo>
                  <a:pt x="1231417" y="1007211"/>
                </a:lnTo>
                <a:lnTo>
                  <a:pt x="1245704" y="1007211"/>
                </a:lnTo>
                <a:lnTo>
                  <a:pt x="1245704" y="1918436"/>
                </a:lnTo>
                <a:lnTo>
                  <a:pt x="1231315" y="1918436"/>
                </a:lnTo>
                <a:lnTo>
                  <a:pt x="1217129" y="1918536"/>
                </a:lnTo>
                <a:close/>
              </a:path>
              <a:path w="1350645" h="1955800">
                <a:moveTo>
                  <a:pt x="1245704" y="1007211"/>
                </a:moveTo>
                <a:lnTo>
                  <a:pt x="1231417" y="1007211"/>
                </a:lnTo>
                <a:lnTo>
                  <a:pt x="1245704" y="992924"/>
                </a:lnTo>
                <a:lnTo>
                  <a:pt x="1245704" y="1007211"/>
                </a:lnTo>
                <a:close/>
              </a:path>
              <a:path w="1350645" h="1955800">
                <a:moveTo>
                  <a:pt x="1350568" y="1007211"/>
                </a:moveTo>
                <a:lnTo>
                  <a:pt x="1245704" y="1007211"/>
                </a:lnTo>
                <a:lnTo>
                  <a:pt x="1245704" y="992924"/>
                </a:lnTo>
                <a:lnTo>
                  <a:pt x="1350568" y="992924"/>
                </a:lnTo>
                <a:lnTo>
                  <a:pt x="1350568" y="1007211"/>
                </a:lnTo>
                <a:close/>
              </a:path>
              <a:path w="1350645" h="1955800">
                <a:moveTo>
                  <a:pt x="1217129" y="1932724"/>
                </a:moveTo>
                <a:lnTo>
                  <a:pt x="1217129" y="1918536"/>
                </a:lnTo>
                <a:lnTo>
                  <a:pt x="1231315" y="1918436"/>
                </a:lnTo>
                <a:lnTo>
                  <a:pt x="1217129" y="1932724"/>
                </a:lnTo>
                <a:close/>
              </a:path>
              <a:path w="1350645" h="1955800">
                <a:moveTo>
                  <a:pt x="1245704" y="1932724"/>
                </a:moveTo>
                <a:lnTo>
                  <a:pt x="1217129" y="1932724"/>
                </a:lnTo>
                <a:lnTo>
                  <a:pt x="1231315" y="1918436"/>
                </a:lnTo>
                <a:lnTo>
                  <a:pt x="1245704" y="1918436"/>
                </a:lnTo>
                <a:lnTo>
                  <a:pt x="1245704" y="1932724"/>
                </a:lnTo>
                <a:close/>
              </a:path>
              <a:path w="1350645" h="1955800">
                <a:moveTo>
                  <a:pt x="1245704" y="1941131"/>
                </a:moveTo>
                <a:lnTo>
                  <a:pt x="37147" y="1941131"/>
                </a:lnTo>
                <a:lnTo>
                  <a:pt x="37084" y="1926807"/>
                </a:lnTo>
                <a:lnTo>
                  <a:pt x="1217129" y="1918536"/>
                </a:lnTo>
                <a:lnTo>
                  <a:pt x="1217129" y="1932724"/>
                </a:lnTo>
                <a:lnTo>
                  <a:pt x="1245704" y="1932724"/>
                </a:lnTo>
                <a:lnTo>
                  <a:pt x="1245704" y="1941131"/>
                </a:lnTo>
                <a:close/>
              </a:path>
              <a:path w="1350645" h="1955800">
                <a:moveTo>
                  <a:pt x="37147" y="1941131"/>
                </a:moveTo>
                <a:lnTo>
                  <a:pt x="22758" y="1926907"/>
                </a:lnTo>
                <a:lnTo>
                  <a:pt x="37084" y="1926807"/>
                </a:lnTo>
                <a:lnTo>
                  <a:pt x="37147" y="19411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794759" y="3614928"/>
            <a:ext cx="279400" cy="0"/>
          </a:xfrm>
          <a:custGeom>
            <a:avLst/>
            <a:gdLst/>
            <a:ahLst/>
            <a:cxnLst/>
            <a:rect l="l" t="t" r="r" b="b"/>
            <a:pathLst>
              <a:path w="279400" h="0">
                <a:moveTo>
                  <a:pt x="0" y="0"/>
                </a:moveTo>
                <a:lnTo>
                  <a:pt x="278891" y="0"/>
                </a:lnTo>
              </a:path>
            </a:pathLst>
          </a:custGeom>
          <a:ln w="45720">
            <a:solidFill>
              <a:srgbClr val="F1F1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794353" y="3572218"/>
            <a:ext cx="323215" cy="85725"/>
          </a:xfrm>
          <a:custGeom>
            <a:avLst/>
            <a:gdLst/>
            <a:ahLst/>
            <a:cxnLst/>
            <a:rect l="l" t="t" r="r" b="b"/>
            <a:pathLst>
              <a:path w="323214" h="85725">
                <a:moveTo>
                  <a:pt x="279755" y="85725"/>
                </a:moveTo>
                <a:lnTo>
                  <a:pt x="263071" y="82356"/>
                </a:lnTo>
                <a:lnTo>
                  <a:pt x="249447" y="73171"/>
                </a:lnTo>
                <a:lnTo>
                  <a:pt x="240261" y="59546"/>
                </a:lnTo>
                <a:lnTo>
                  <a:pt x="236893" y="42862"/>
                </a:lnTo>
                <a:lnTo>
                  <a:pt x="240261" y="26178"/>
                </a:lnTo>
                <a:lnTo>
                  <a:pt x="249447" y="12553"/>
                </a:lnTo>
                <a:lnTo>
                  <a:pt x="263071" y="3368"/>
                </a:lnTo>
                <a:lnTo>
                  <a:pt x="279755" y="0"/>
                </a:lnTo>
                <a:lnTo>
                  <a:pt x="296439" y="3368"/>
                </a:lnTo>
                <a:lnTo>
                  <a:pt x="310064" y="12553"/>
                </a:lnTo>
                <a:lnTo>
                  <a:pt x="319249" y="26178"/>
                </a:lnTo>
                <a:lnTo>
                  <a:pt x="319733" y="28575"/>
                </a:lnTo>
                <a:lnTo>
                  <a:pt x="279755" y="28575"/>
                </a:lnTo>
                <a:lnTo>
                  <a:pt x="279755" y="57150"/>
                </a:lnTo>
                <a:lnTo>
                  <a:pt x="319733" y="57150"/>
                </a:lnTo>
                <a:lnTo>
                  <a:pt x="319249" y="59546"/>
                </a:lnTo>
                <a:lnTo>
                  <a:pt x="310064" y="73171"/>
                </a:lnTo>
                <a:lnTo>
                  <a:pt x="296439" y="82356"/>
                </a:lnTo>
                <a:lnTo>
                  <a:pt x="279755" y="85725"/>
                </a:lnTo>
                <a:close/>
              </a:path>
              <a:path w="323214" h="85725">
                <a:moveTo>
                  <a:pt x="239777" y="57150"/>
                </a:moveTo>
                <a:lnTo>
                  <a:pt x="0" y="57150"/>
                </a:lnTo>
                <a:lnTo>
                  <a:pt x="0" y="28575"/>
                </a:lnTo>
                <a:lnTo>
                  <a:pt x="239777" y="28575"/>
                </a:lnTo>
                <a:lnTo>
                  <a:pt x="236893" y="42862"/>
                </a:lnTo>
                <a:lnTo>
                  <a:pt x="239777" y="57150"/>
                </a:lnTo>
                <a:close/>
              </a:path>
              <a:path w="323214" h="85725">
                <a:moveTo>
                  <a:pt x="319733" y="57150"/>
                </a:moveTo>
                <a:lnTo>
                  <a:pt x="279755" y="57150"/>
                </a:lnTo>
                <a:lnTo>
                  <a:pt x="279755" y="28575"/>
                </a:lnTo>
                <a:lnTo>
                  <a:pt x="319733" y="28575"/>
                </a:lnTo>
                <a:lnTo>
                  <a:pt x="322618" y="42862"/>
                </a:lnTo>
                <a:lnTo>
                  <a:pt x="319733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788003" y="5465165"/>
            <a:ext cx="115112" cy="127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794353" y="5295239"/>
            <a:ext cx="0" cy="474980"/>
          </a:xfrm>
          <a:custGeom>
            <a:avLst/>
            <a:gdLst/>
            <a:ahLst/>
            <a:cxnLst/>
            <a:rect l="l" t="t" r="r" b="b"/>
            <a:pathLst>
              <a:path w="0" h="474979">
                <a:moveTo>
                  <a:pt x="0" y="0"/>
                </a:moveTo>
                <a:lnTo>
                  <a:pt x="0" y="47437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896766" y="5435688"/>
            <a:ext cx="0" cy="184150"/>
          </a:xfrm>
          <a:custGeom>
            <a:avLst/>
            <a:gdLst/>
            <a:ahLst/>
            <a:cxnLst/>
            <a:rect l="l" t="t" r="r" b="b"/>
            <a:pathLst>
              <a:path w="0" h="184150">
                <a:moveTo>
                  <a:pt x="0" y="0"/>
                </a:moveTo>
                <a:lnTo>
                  <a:pt x="0" y="18412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765785" y="3508197"/>
            <a:ext cx="1922780" cy="2023745"/>
          </a:xfrm>
          <a:custGeom>
            <a:avLst/>
            <a:gdLst/>
            <a:ahLst/>
            <a:cxnLst/>
            <a:rect l="l" t="t" r="r" b="b"/>
            <a:pathLst>
              <a:path w="1922779" h="2023745">
                <a:moveTo>
                  <a:pt x="1907997" y="42418"/>
                </a:moveTo>
                <a:lnTo>
                  <a:pt x="0" y="28575"/>
                </a:lnTo>
                <a:lnTo>
                  <a:pt x="215" y="0"/>
                </a:lnTo>
                <a:lnTo>
                  <a:pt x="1922386" y="13957"/>
                </a:lnTo>
                <a:lnTo>
                  <a:pt x="1922386" y="28130"/>
                </a:lnTo>
                <a:lnTo>
                  <a:pt x="1893811" y="28130"/>
                </a:lnTo>
                <a:lnTo>
                  <a:pt x="1893811" y="42315"/>
                </a:lnTo>
                <a:lnTo>
                  <a:pt x="1907895" y="42315"/>
                </a:lnTo>
                <a:close/>
              </a:path>
              <a:path w="1922779" h="2023745">
                <a:moveTo>
                  <a:pt x="1907895" y="42315"/>
                </a:moveTo>
                <a:lnTo>
                  <a:pt x="1893811" y="42315"/>
                </a:lnTo>
                <a:lnTo>
                  <a:pt x="1893811" y="28130"/>
                </a:lnTo>
                <a:lnTo>
                  <a:pt x="1907895" y="42315"/>
                </a:lnTo>
                <a:close/>
              </a:path>
              <a:path w="1922779" h="2023745">
                <a:moveTo>
                  <a:pt x="1922386" y="42418"/>
                </a:moveTo>
                <a:lnTo>
                  <a:pt x="1907997" y="42418"/>
                </a:lnTo>
                <a:lnTo>
                  <a:pt x="1893811" y="28130"/>
                </a:lnTo>
                <a:lnTo>
                  <a:pt x="1922386" y="28130"/>
                </a:lnTo>
                <a:lnTo>
                  <a:pt x="1922386" y="42418"/>
                </a:lnTo>
                <a:close/>
              </a:path>
              <a:path w="1922779" h="2023745">
                <a:moveTo>
                  <a:pt x="1893811" y="2009330"/>
                </a:moveTo>
                <a:lnTo>
                  <a:pt x="1893811" y="42315"/>
                </a:lnTo>
                <a:lnTo>
                  <a:pt x="1922386" y="42418"/>
                </a:lnTo>
                <a:lnTo>
                  <a:pt x="1922386" y="1995043"/>
                </a:lnTo>
                <a:lnTo>
                  <a:pt x="1908098" y="1995043"/>
                </a:lnTo>
                <a:lnTo>
                  <a:pt x="1893811" y="2009330"/>
                </a:lnTo>
                <a:close/>
              </a:path>
              <a:path w="1922779" h="2023745">
                <a:moveTo>
                  <a:pt x="1922386" y="2023618"/>
                </a:moveTo>
                <a:lnTo>
                  <a:pt x="152692" y="2023618"/>
                </a:lnTo>
                <a:lnTo>
                  <a:pt x="166877" y="1191679"/>
                </a:lnTo>
                <a:lnTo>
                  <a:pt x="195440" y="1192161"/>
                </a:lnTo>
                <a:lnTo>
                  <a:pt x="181768" y="1995043"/>
                </a:lnTo>
                <a:lnTo>
                  <a:pt x="167233" y="1995043"/>
                </a:lnTo>
                <a:lnTo>
                  <a:pt x="181521" y="2009584"/>
                </a:lnTo>
                <a:lnTo>
                  <a:pt x="1922386" y="2009584"/>
                </a:lnTo>
                <a:lnTo>
                  <a:pt x="1922386" y="2023618"/>
                </a:lnTo>
                <a:close/>
              </a:path>
              <a:path w="1922779" h="2023745">
                <a:moveTo>
                  <a:pt x="181521" y="2009584"/>
                </a:moveTo>
                <a:lnTo>
                  <a:pt x="167233" y="1995043"/>
                </a:lnTo>
                <a:lnTo>
                  <a:pt x="181768" y="1995043"/>
                </a:lnTo>
                <a:lnTo>
                  <a:pt x="181521" y="2009584"/>
                </a:lnTo>
                <a:close/>
              </a:path>
              <a:path w="1922779" h="2023745">
                <a:moveTo>
                  <a:pt x="1922386" y="2009584"/>
                </a:moveTo>
                <a:lnTo>
                  <a:pt x="181521" y="2009584"/>
                </a:lnTo>
                <a:lnTo>
                  <a:pt x="181768" y="1995043"/>
                </a:lnTo>
                <a:lnTo>
                  <a:pt x="1893811" y="1995043"/>
                </a:lnTo>
                <a:lnTo>
                  <a:pt x="1893811" y="2009330"/>
                </a:lnTo>
                <a:lnTo>
                  <a:pt x="1922386" y="2009330"/>
                </a:lnTo>
                <a:lnTo>
                  <a:pt x="1922386" y="2009584"/>
                </a:lnTo>
                <a:close/>
              </a:path>
              <a:path w="1922779" h="2023745">
                <a:moveTo>
                  <a:pt x="1922386" y="2009330"/>
                </a:moveTo>
                <a:lnTo>
                  <a:pt x="1893811" y="2009330"/>
                </a:lnTo>
                <a:lnTo>
                  <a:pt x="1908098" y="1995043"/>
                </a:lnTo>
                <a:lnTo>
                  <a:pt x="1922386" y="1995043"/>
                </a:lnTo>
                <a:lnTo>
                  <a:pt x="1922386" y="20093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676660" y="3151301"/>
            <a:ext cx="2406271" cy="20686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263902" y="4078935"/>
            <a:ext cx="774344" cy="73152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069524" y="3948404"/>
            <a:ext cx="2965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78026" y="3925316"/>
            <a:ext cx="2457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63472" y="1484172"/>
            <a:ext cx="9892665" cy="202882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algn="just" marL="12700" marR="5080">
              <a:lnSpc>
                <a:spcPts val="3020"/>
              </a:lnSpc>
              <a:spcBef>
                <a:spcPts val="475"/>
              </a:spcBef>
            </a:pPr>
            <a:r>
              <a:rPr dirty="0" sz="2800" i="1">
                <a:latin typeface="华文楷体"/>
                <a:cs typeface="华文楷体"/>
              </a:rPr>
              <a:t>【例题</a:t>
            </a:r>
            <a:r>
              <a:rPr dirty="0" sz="2800" spc="-5">
                <a:latin typeface="Times New Roman"/>
                <a:cs typeface="Times New Roman"/>
              </a:rPr>
              <a:t>1</a:t>
            </a:r>
            <a:r>
              <a:rPr dirty="0" sz="2800" i="1">
                <a:latin typeface="华文楷体"/>
                <a:cs typeface="华文楷体"/>
              </a:rPr>
              <a:t>】法拉第最初发现电磁感应现象的实验如图所示。软</a:t>
            </a:r>
            <a:r>
              <a:rPr dirty="0" sz="2800" spc="-5" i="1">
                <a:latin typeface="华文楷体"/>
                <a:cs typeface="华文楷体"/>
              </a:rPr>
              <a:t>铁 </a:t>
            </a:r>
            <a:r>
              <a:rPr dirty="0" sz="2800" i="1">
                <a:latin typeface="华文楷体"/>
                <a:cs typeface="华文楷体"/>
              </a:rPr>
              <a:t>环上绕有</a:t>
            </a:r>
            <a:r>
              <a:rPr dirty="0" sz="2800" spc="-5">
                <a:latin typeface="Times New Roman"/>
                <a:cs typeface="Times New Roman"/>
              </a:rPr>
              <a:t>M</a:t>
            </a:r>
            <a:r>
              <a:rPr dirty="0" sz="2800" i="1">
                <a:latin typeface="华文楷体"/>
                <a:cs typeface="华文楷体"/>
              </a:rPr>
              <a:t>、</a:t>
            </a:r>
            <a:r>
              <a:rPr dirty="0" sz="2800" spc="-5">
                <a:latin typeface="Times New Roman"/>
                <a:cs typeface="Times New Roman"/>
              </a:rPr>
              <a:t>N</a:t>
            </a:r>
            <a:r>
              <a:rPr dirty="0" sz="2800" spc="-95">
                <a:latin typeface="Times New Roman"/>
                <a:cs typeface="Times New Roman"/>
              </a:rPr>
              <a:t> </a:t>
            </a:r>
            <a:r>
              <a:rPr dirty="0" sz="2800" i="1">
                <a:latin typeface="华文楷体"/>
                <a:cs typeface="华文楷体"/>
              </a:rPr>
              <a:t>两个线圈，当线圈</a:t>
            </a:r>
            <a:r>
              <a:rPr dirty="0" sz="2800" spc="-5">
                <a:latin typeface="Times New Roman"/>
                <a:cs typeface="Times New Roman"/>
              </a:rPr>
              <a:t>M</a:t>
            </a:r>
            <a:r>
              <a:rPr dirty="0" sz="2800" i="1">
                <a:latin typeface="华文楷体"/>
                <a:cs typeface="华文楷体"/>
              </a:rPr>
              <a:t>电路中的开关断开的瞬间</a:t>
            </a:r>
            <a:r>
              <a:rPr dirty="0" sz="2800" spc="-5" i="1">
                <a:latin typeface="华文楷体"/>
                <a:cs typeface="华文楷体"/>
              </a:rPr>
              <a:t>，  </a:t>
            </a:r>
            <a:r>
              <a:rPr dirty="0" sz="2800" i="1">
                <a:latin typeface="华文楷体"/>
                <a:cs typeface="华文楷体"/>
              </a:rPr>
              <a:t>线圈</a:t>
            </a:r>
            <a:r>
              <a:rPr dirty="0" sz="2800" spc="-5">
                <a:latin typeface="Times New Roman"/>
                <a:cs typeface="Times New Roman"/>
              </a:rPr>
              <a:t>N</a:t>
            </a:r>
            <a:r>
              <a:rPr dirty="0" sz="2800" i="1">
                <a:latin typeface="华文楷体"/>
                <a:cs typeface="华文楷体"/>
              </a:rPr>
              <a:t>中的感应电流沿什么方向</a:t>
            </a:r>
            <a:r>
              <a:rPr dirty="0" sz="2800" spc="-5" i="1">
                <a:latin typeface="华文楷体"/>
                <a:cs typeface="华文楷体"/>
              </a:rPr>
              <a:t>？</a:t>
            </a:r>
            <a:endParaRPr sz="2800">
              <a:latin typeface="华文楷体"/>
              <a:cs typeface="华文楷体"/>
            </a:endParaRPr>
          </a:p>
          <a:p>
            <a:pPr algn="ctr" marR="589915">
              <a:lnSpc>
                <a:spcPct val="100000"/>
              </a:lnSpc>
              <a:spcBef>
                <a:spcPts val="565"/>
              </a:spcBef>
            </a:pPr>
            <a:r>
              <a:rPr dirty="0" sz="2400" b="1" i="1">
                <a:solidFill>
                  <a:srgbClr val="0000FF"/>
                </a:solidFill>
                <a:latin typeface="Times New Roman"/>
                <a:cs typeface="Times New Roman"/>
              </a:rPr>
              <a:t>B</a:t>
            </a:r>
            <a:r>
              <a:rPr dirty="0" baseline="-17921" sz="2325" b="1">
                <a:solidFill>
                  <a:srgbClr val="0000FF"/>
                </a:solidFill>
                <a:latin typeface="Times New Roman"/>
                <a:cs typeface="Times New Roman"/>
              </a:rPr>
              <a:t>0</a:t>
            </a:r>
            <a:endParaRPr baseline="-17921" sz="2325">
              <a:latin typeface="Times New Roman"/>
              <a:cs typeface="Times New Roman"/>
            </a:endParaRPr>
          </a:p>
          <a:p>
            <a:pPr marL="2979420">
              <a:lnSpc>
                <a:spcPct val="100000"/>
              </a:lnSpc>
              <a:spcBef>
                <a:spcPts val="10"/>
              </a:spcBef>
            </a:pPr>
            <a:r>
              <a:rPr dirty="0" sz="2400">
                <a:latin typeface="Times New Roman"/>
                <a:cs typeface="Times New Roman"/>
              </a:rPr>
              <a:t>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503420" y="3576828"/>
            <a:ext cx="652272" cy="92659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260394" y="4196562"/>
            <a:ext cx="114300" cy="707390"/>
          </a:xfrm>
          <a:custGeom>
            <a:avLst/>
            <a:gdLst/>
            <a:ahLst/>
            <a:cxnLst/>
            <a:rect l="l" t="t" r="r" b="b"/>
            <a:pathLst>
              <a:path w="114300" h="707389">
                <a:moveTo>
                  <a:pt x="0" y="114300"/>
                </a:moveTo>
                <a:lnTo>
                  <a:pt x="57150" y="0"/>
                </a:lnTo>
                <a:lnTo>
                  <a:pt x="78574" y="42849"/>
                </a:lnTo>
                <a:lnTo>
                  <a:pt x="38100" y="42849"/>
                </a:lnTo>
                <a:lnTo>
                  <a:pt x="38100" y="76200"/>
                </a:lnTo>
                <a:lnTo>
                  <a:pt x="0" y="114300"/>
                </a:lnTo>
                <a:close/>
              </a:path>
              <a:path w="114300" h="707389">
                <a:moveTo>
                  <a:pt x="38100" y="76200"/>
                </a:moveTo>
                <a:lnTo>
                  <a:pt x="38100" y="42849"/>
                </a:lnTo>
                <a:lnTo>
                  <a:pt x="76200" y="42849"/>
                </a:lnTo>
                <a:lnTo>
                  <a:pt x="76200" y="57150"/>
                </a:lnTo>
                <a:lnTo>
                  <a:pt x="57150" y="57150"/>
                </a:lnTo>
                <a:lnTo>
                  <a:pt x="38100" y="76200"/>
                </a:lnTo>
                <a:close/>
              </a:path>
              <a:path w="114300" h="707389">
                <a:moveTo>
                  <a:pt x="114300" y="114300"/>
                </a:moveTo>
                <a:lnTo>
                  <a:pt x="76200" y="76200"/>
                </a:lnTo>
                <a:lnTo>
                  <a:pt x="76200" y="42849"/>
                </a:lnTo>
                <a:lnTo>
                  <a:pt x="78574" y="42849"/>
                </a:lnTo>
                <a:lnTo>
                  <a:pt x="114300" y="114300"/>
                </a:lnTo>
                <a:close/>
              </a:path>
              <a:path w="114300" h="707389">
                <a:moveTo>
                  <a:pt x="76200" y="706920"/>
                </a:moveTo>
                <a:lnTo>
                  <a:pt x="38100" y="706920"/>
                </a:lnTo>
                <a:lnTo>
                  <a:pt x="38100" y="76200"/>
                </a:lnTo>
                <a:lnTo>
                  <a:pt x="57150" y="57150"/>
                </a:lnTo>
                <a:lnTo>
                  <a:pt x="76200" y="76200"/>
                </a:lnTo>
                <a:lnTo>
                  <a:pt x="76200" y="706920"/>
                </a:lnTo>
                <a:close/>
              </a:path>
              <a:path w="114300" h="707389">
                <a:moveTo>
                  <a:pt x="76200" y="76200"/>
                </a:moveTo>
                <a:lnTo>
                  <a:pt x="57150" y="57150"/>
                </a:lnTo>
                <a:lnTo>
                  <a:pt x="76200" y="57150"/>
                </a:lnTo>
                <a:lnTo>
                  <a:pt x="762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3046729" y="4361903"/>
            <a:ext cx="1441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786439" y="3556406"/>
            <a:ext cx="367030" cy="114300"/>
          </a:xfrm>
          <a:custGeom>
            <a:avLst/>
            <a:gdLst/>
            <a:ahLst/>
            <a:cxnLst/>
            <a:rect l="l" t="t" r="r" b="b"/>
            <a:pathLst>
              <a:path w="367029" h="114300">
                <a:moveTo>
                  <a:pt x="327880" y="81927"/>
                </a:moveTo>
                <a:lnTo>
                  <a:pt x="322148" y="81927"/>
                </a:lnTo>
                <a:lnTo>
                  <a:pt x="325348" y="43954"/>
                </a:lnTo>
                <a:lnTo>
                  <a:pt x="292118" y="41156"/>
                </a:lnTo>
                <a:lnTo>
                  <a:pt x="257352" y="0"/>
                </a:lnTo>
                <a:lnTo>
                  <a:pt x="366458" y="66535"/>
                </a:lnTo>
                <a:lnTo>
                  <a:pt x="327880" y="81927"/>
                </a:lnTo>
                <a:close/>
              </a:path>
              <a:path w="367029" h="114300">
                <a:moveTo>
                  <a:pt x="288929" y="79129"/>
                </a:moveTo>
                <a:lnTo>
                  <a:pt x="0" y="54787"/>
                </a:lnTo>
                <a:lnTo>
                  <a:pt x="3200" y="16827"/>
                </a:lnTo>
                <a:lnTo>
                  <a:pt x="292118" y="41156"/>
                </a:lnTo>
                <a:lnTo>
                  <a:pt x="309511" y="61747"/>
                </a:lnTo>
                <a:lnTo>
                  <a:pt x="288929" y="79129"/>
                </a:lnTo>
                <a:close/>
              </a:path>
              <a:path w="367029" h="114300">
                <a:moveTo>
                  <a:pt x="322148" y="81927"/>
                </a:moveTo>
                <a:lnTo>
                  <a:pt x="288929" y="79129"/>
                </a:lnTo>
                <a:lnTo>
                  <a:pt x="309511" y="61747"/>
                </a:lnTo>
                <a:lnTo>
                  <a:pt x="292118" y="41156"/>
                </a:lnTo>
                <a:lnTo>
                  <a:pt x="325348" y="43954"/>
                </a:lnTo>
                <a:lnTo>
                  <a:pt x="322148" y="81927"/>
                </a:lnTo>
                <a:close/>
              </a:path>
              <a:path w="367029" h="114300">
                <a:moveTo>
                  <a:pt x="247764" y="113893"/>
                </a:moveTo>
                <a:lnTo>
                  <a:pt x="288929" y="79129"/>
                </a:lnTo>
                <a:lnTo>
                  <a:pt x="322148" y="81927"/>
                </a:lnTo>
                <a:lnTo>
                  <a:pt x="327880" y="81927"/>
                </a:lnTo>
                <a:lnTo>
                  <a:pt x="247764" y="11389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589767" y="3993388"/>
            <a:ext cx="367030" cy="114300"/>
          </a:xfrm>
          <a:custGeom>
            <a:avLst/>
            <a:gdLst/>
            <a:ahLst/>
            <a:cxnLst/>
            <a:rect l="l" t="t" r="r" b="b"/>
            <a:pathLst>
              <a:path w="367029" h="114300">
                <a:moveTo>
                  <a:pt x="327880" y="81927"/>
                </a:moveTo>
                <a:lnTo>
                  <a:pt x="322148" y="81927"/>
                </a:lnTo>
                <a:lnTo>
                  <a:pt x="325348" y="43954"/>
                </a:lnTo>
                <a:lnTo>
                  <a:pt x="292118" y="41156"/>
                </a:lnTo>
                <a:lnTo>
                  <a:pt x="257352" y="0"/>
                </a:lnTo>
                <a:lnTo>
                  <a:pt x="366458" y="66535"/>
                </a:lnTo>
                <a:lnTo>
                  <a:pt x="327880" y="81927"/>
                </a:lnTo>
                <a:close/>
              </a:path>
              <a:path w="367029" h="114300">
                <a:moveTo>
                  <a:pt x="288929" y="79129"/>
                </a:moveTo>
                <a:lnTo>
                  <a:pt x="0" y="54787"/>
                </a:lnTo>
                <a:lnTo>
                  <a:pt x="3200" y="16827"/>
                </a:lnTo>
                <a:lnTo>
                  <a:pt x="292118" y="41156"/>
                </a:lnTo>
                <a:lnTo>
                  <a:pt x="309511" y="61747"/>
                </a:lnTo>
                <a:lnTo>
                  <a:pt x="288929" y="79129"/>
                </a:lnTo>
                <a:close/>
              </a:path>
              <a:path w="367029" h="114300">
                <a:moveTo>
                  <a:pt x="322148" y="81927"/>
                </a:moveTo>
                <a:lnTo>
                  <a:pt x="288929" y="79129"/>
                </a:lnTo>
                <a:lnTo>
                  <a:pt x="309511" y="61747"/>
                </a:lnTo>
                <a:lnTo>
                  <a:pt x="292118" y="41156"/>
                </a:lnTo>
                <a:lnTo>
                  <a:pt x="325348" y="43954"/>
                </a:lnTo>
                <a:lnTo>
                  <a:pt x="322148" y="81927"/>
                </a:lnTo>
                <a:close/>
              </a:path>
              <a:path w="367029" h="114300">
                <a:moveTo>
                  <a:pt x="247764" y="113893"/>
                </a:moveTo>
                <a:lnTo>
                  <a:pt x="288929" y="79129"/>
                </a:lnTo>
                <a:lnTo>
                  <a:pt x="322148" y="81927"/>
                </a:lnTo>
                <a:lnTo>
                  <a:pt x="327880" y="81927"/>
                </a:lnTo>
                <a:lnTo>
                  <a:pt x="247764" y="11389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589767" y="4347502"/>
            <a:ext cx="367030" cy="114300"/>
          </a:xfrm>
          <a:custGeom>
            <a:avLst/>
            <a:gdLst/>
            <a:ahLst/>
            <a:cxnLst/>
            <a:rect l="l" t="t" r="r" b="b"/>
            <a:pathLst>
              <a:path w="367029" h="114300">
                <a:moveTo>
                  <a:pt x="327880" y="81927"/>
                </a:moveTo>
                <a:lnTo>
                  <a:pt x="322148" y="81927"/>
                </a:lnTo>
                <a:lnTo>
                  <a:pt x="325348" y="43954"/>
                </a:lnTo>
                <a:lnTo>
                  <a:pt x="292125" y="41157"/>
                </a:lnTo>
                <a:lnTo>
                  <a:pt x="257352" y="0"/>
                </a:lnTo>
                <a:lnTo>
                  <a:pt x="366458" y="66535"/>
                </a:lnTo>
                <a:lnTo>
                  <a:pt x="327880" y="81927"/>
                </a:lnTo>
                <a:close/>
              </a:path>
              <a:path w="367029" h="114300">
                <a:moveTo>
                  <a:pt x="288920" y="79128"/>
                </a:moveTo>
                <a:lnTo>
                  <a:pt x="0" y="54787"/>
                </a:lnTo>
                <a:lnTo>
                  <a:pt x="3200" y="16827"/>
                </a:lnTo>
                <a:lnTo>
                  <a:pt x="292125" y="41157"/>
                </a:lnTo>
                <a:lnTo>
                  <a:pt x="309511" y="61734"/>
                </a:lnTo>
                <a:lnTo>
                  <a:pt x="288920" y="79128"/>
                </a:lnTo>
                <a:close/>
              </a:path>
              <a:path w="367029" h="114300">
                <a:moveTo>
                  <a:pt x="322148" y="81927"/>
                </a:moveTo>
                <a:lnTo>
                  <a:pt x="288920" y="79128"/>
                </a:lnTo>
                <a:lnTo>
                  <a:pt x="309511" y="61734"/>
                </a:lnTo>
                <a:lnTo>
                  <a:pt x="292125" y="41157"/>
                </a:lnTo>
                <a:lnTo>
                  <a:pt x="325348" y="43954"/>
                </a:lnTo>
                <a:lnTo>
                  <a:pt x="322148" y="81927"/>
                </a:lnTo>
                <a:close/>
              </a:path>
              <a:path w="367029" h="114300">
                <a:moveTo>
                  <a:pt x="247764" y="113893"/>
                </a:moveTo>
                <a:lnTo>
                  <a:pt x="288920" y="79128"/>
                </a:lnTo>
                <a:lnTo>
                  <a:pt x="322148" y="81927"/>
                </a:lnTo>
                <a:lnTo>
                  <a:pt x="327880" y="81927"/>
                </a:lnTo>
                <a:lnTo>
                  <a:pt x="247764" y="11389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1170939" y="887463"/>
            <a:ext cx="3454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一、楞次定律的应用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03644" y="2984487"/>
            <a:ext cx="2562775" cy="2349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357803" y="3593693"/>
            <a:ext cx="1343660" cy="1955800"/>
          </a:xfrm>
          <a:custGeom>
            <a:avLst/>
            <a:gdLst/>
            <a:ahLst/>
            <a:cxnLst/>
            <a:rect l="l" t="t" r="r" b="b"/>
            <a:pathLst>
              <a:path w="1343660" h="1955800">
                <a:moveTo>
                  <a:pt x="8597" y="1955584"/>
                </a:moveTo>
                <a:lnTo>
                  <a:pt x="0" y="5029"/>
                </a:lnTo>
                <a:lnTo>
                  <a:pt x="1299489" y="0"/>
                </a:lnTo>
                <a:lnTo>
                  <a:pt x="1299557" y="19202"/>
                </a:lnTo>
                <a:lnTo>
                  <a:pt x="28638" y="19202"/>
                </a:lnTo>
                <a:lnTo>
                  <a:pt x="14414" y="33540"/>
                </a:lnTo>
                <a:lnTo>
                  <a:pt x="28701" y="33540"/>
                </a:lnTo>
                <a:lnTo>
                  <a:pt x="37046" y="1926806"/>
                </a:lnTo>
                <a:lnTo>
                  <a:pt x="22720" y="1926907"/>
                </a:lnTo>
                <a:lnTo>
                  <a:pt x="37109" y="1941131"/>
                </a:lnTo>
                <a:lnTo>
                  <a:pt x="1239380" y="1941131"/>
                </a:lnTo>
                <a:lnTo>
                  <a:pt x="1239380" y="1946909"/>
                </a:lnTo>
                <a:lnTo>
                  <a:pt x="8597" y="1955584"/>
                </a:lnTo>
                <a:close/>
              </a:path>
              <a:path w="1343660" h="1955800">
                <a:moveTo>
                  <a:pt x="14414" y="33540"/>
                </a:moveTo>
                <a:lnTo>
                  <a:pt x="28638" y="19202"/>
                </a:lnTo>
                <a:lnTo>
                  <a:pt x="28701" y="33485"/>
                </a:lnTo>
                <a:lnTo>
                  <a:pt x="14414" y="33540"/>
                </a:lnTo>
                <a:close/>
              </a:path>
              <a:path w="1343660" h="1955800">
                <a:moveTo>
                  <a:pt x="28701" y="33485"/>
                </a:moveTo>
                <a:lnTo>
                  <a:pt x="28638" y="19202"/>
                </a:lnTo>
                <a:lnTo>
                  <a:pt x="1299557" y="19202"/>
                </a:lnTo>
                <a:lnTo>
                  <a:pt x="1299590" y="28575"/>
                </a:lnTo>
                <a:lnTo>
                  <a:pt x="28701" y="33485"/>
                </a:lnTo>
                <a:close/>
              </a:path>
              <a:path w="1343660" h="1955800">
                <a:moveTo>
                  <a:pt x="28701" y="33540"/>
                </a:moveTo>
                <a:lnTo>
                  <a:pt x="14414" y="33540"/>
                </a:lnTo>
                <a:lnTo>
                  <a:pt x="28701" y="33485"/>
                </a:lnTo>
                <a:close/>
              </a:path>
              <a:path w="1343660" h="1955800">
                <a:moveTo>
                  <a:pt x="1210805" y="1918536"/>
                </a:moveTo>
                <a:lnTo>
                  <a:pt x="1210805" y="978636"/>
                </a:lnTo>
                <a:lnTo>
                  <a:pt x="1343621" y="978636"/>
                </a:lnTo>
                <a:lnTo>
                  <a:pt x="1343621" y="992924"/>
                </a:lnTo>
                <a:lnTo>
                  <a:pt x="1239380" y="992924"/>
                </a:lnTo>
                <a:lnTo>
                  <a:pt x="1225092" y="1007211"/>
                </a:lnTo>
                <a:lnTo>
                  <a:pt x="1239380" y="1007211"/>
                </a:lnTo>
                <a:lnTo>
                  <a:pt x="1239380" y="1918436"/>
                </a:lnTo>
                <a:lnTo>
                  <a:pt x="1224991" y="1918436"/>
                </a:lnTo>
                <a:lnTo>
                  <a:pt x="1210805" y="1918536"/>
                </a:lnTo>
                <a:close/>
              </a:path>
              <a:path w="1343660" h="1955800">
                <a:moveTo>
                  <a:pt x="1239380" y="1007211"/>
                </a:moveTo>
                <a:lnTo>
                  <a:pt x="1225092" y="1007211"/>
                </a:lnTo>
                <a:lnTo>
                  <a:pt x="1239380" y="992924"/>
                </a:lnTo>
                <a:lnTo>
                  <a:pt x="1239380" y="1007211"/>
                </a:lnTo>
                <a:close/>
              </a:path>
              <a:path w="1343660" h="1955800">
                <a:moveTo>
                  <a:pt x="1343621" y="1007211"/>
                </a:moveTo>
                <a:lnTo>
                  <a:pt x="1239380" y="1007211"/>
                </a:lnTo>
                <a:lnTo>
                  <a:pt x="1239380" y="992924"/>
                </a:lnTo>
                <a:lnTo>
                  <a:pt x="1343621" y="992924"/>
                </a:lnTo>
                <a:lnTo>
                  <a:pt x="1343621" y="1007211"/>
                </a:lnTo>
                <a:close/>
              </a:path>
              <a:path w="1343660" h="1955800">
                <a:moveTo>
                  <a:pt x="1210805" y="1932724"/>
                </a:moveTo>
                <a:lnTo>
                  <a:pt x="1210805" y="1918536"/>
                </a:lnTo>
                <a:lnTo>
                  <a:pt x="1224991" y="1918436"/>
                </a:lnTo>
                <a:lnTo>
                  <a:pt x="1210805" y="1932724"/>
                </a:lnTo>
                <a:close/>
              </a:path>
              <a:path w="1343660" h="1955800">
                <a:moveTo>
                  <a:pt x="1239380" y="1932724"/>
                </a:moveTo>
                <a:lnTo>
                  <a:pt x="1210805" y="1932724"/>
                </a:lnTo>
                <a:lnTo>
                  <a:pt x="1224991" y="1918436"/>
                </a:lnTo>
                <a:lnTo>
                  <a:pt x="1239380" y="1918436"/>
                </a:lnTo>
                <a:lnTo>
                  <a:pt x="1239380" y="1932724"/>
                </a:lnTo>
                <a:close/>
              </a:path>
              <a:path w="1343660" h="1955800">
                <a:moveTo>
                  <a:pt x="1239380" y="1941131"/>
                </a:moveTo>
                <a:lnTo>
                  <a:pt x="37109" y="1941131"/>
                </a:lnTo>
                <a:lnTo>
                  <a:pt x="37046" y="1926806"/>
                </a:lnTo>
                <a:lnTo>
                  <a:pt x="1210805" y="1918536"/>
                </a:lnTo>
                <a:lnTo>
                  <a:pt x="1210805" y="1932724"/>
                </a:lnTo>
                <a:lnTo>
                  <a:pt x="1239380" y="1932724"/>
                </a:lnTo>
                <a:lnTo>
                  <a:pt x="1239380" y="1941131"/>
                </a:lnTo>
                <a:close/>
              </a:path>
              <a:path w="1343660" h="1955800">
                <a:moveTo>
                  <a:pt x="37109" y="1941131"/>
                </a:moveTo>
                <a:lnTo>
                  <a:pt x="22720" y="1926907"/>
                </a:lnTo>
                <a:lnTo>
                  <a:pt x="37046" y="1926806"/>
                </a:lnTo>
                <a:lnTo>
                  <a:pt x="37109" y="19411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858767" y="3614928"/>
            <a:ext cx="277495" cy="0"/>
          </a:xfrm>
          <a:custGeom>
            <a:avLst/>
            <a:gdLst/>
            <a:ahLst/>
            <a:cxnLst/>
            <a:rect l="l" t="t" r="r" b="b"/>
            <a:pathLst>
              <a:path w="277495" h="0">
                <a:moveTo>
                  <a:pt x="0" y="0"/>
                </a:moveTo>
                <a:lnTo>
                  <a:pt x="277367" y="0"/>
                </a:lnTo>
              </a:path>
            </a:pathLst>
          </a:custGeom>
          <a:ln w="45720">
            <a:solidFill>
              <a:srgbClr val="F1F1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852125" y="3474643"/>
            <a:ext cx="327660" cy="183515"/>
          </a:xfrm>
          <a:custGeom>
            <a:avLst/>
            <a:gdLst/>
            <a:ahLst/>
            <a:cxnLst/>
            <a:rect l="l" t="t" r="r" b="b"/>
            <a:pathLst>
              <a:path w="327660" h="183514">
                <a:moveTo>
                  <a:pt x="241948" y="136784"/>
                </a:moveTo>
                <a:lnTo>
                  <a:pt x="0" y="25984"/>
                </a:lnTo>
                <a:lnTo>
                  <a:pt x="11899" y="0"/>
                </a:lnTo>
                <a:lnTo>
                  <a:pt x="253847" y="110799"/>
                </a:lnTo>
                <a:lnTo>
                  <a:pt x="245275" y="122593"/>
                </a:lnTo>
                <a:lnTo>
                  <a:pt x="241948" y="136784"/>
                </a:lnTo>
                <a:close/>
              </a:path>
              <a:path w="327660" h="183514">
                <a:moveTo>
                  <a:pt x="324352" y="153428"/>
                </a:moveTo>
                <a:lnTo>
                  <a:pt x="278295" y="153428"/>
                </a:lnTo>
                <a:lnTo>
                  <a:pt x="290194" y="127444"/>
                </a:lnTo>
                <a:lnTo>
                  <a:pt x="253847" y="110799"/>
                </a:lnTo>
                <a:lnTo>
                  <a:pt x="255283" y="108823"/>
                </a:lnTo>
                <a:lnTo>
                  <a:pt x="269308" y="100258"/>
                </a:lnTo>
                <a:lnTo>
                  <a:pt x="285521" y="97577"/>
                </a:lnTo>
                <a:lnTo>
                  <a:pt x="302094" y="101460"/>
                </a:lnTo>
                <a:lnTo>
                  <a:pt x="315862" y="111468"/>
                </a:lnTo>
                <a:lnTo>
                  <a:pt x="324423" y="125493"/>
                </a:lnTo>
                <a:lnTo>
                  <a:pt x="327099" y="141706"/>
                </a:lnTo>
                <a:lnTo>
                  <a:pt x="324352" y="153428"/>
                </a:lnTo>
                <a:close/>
              </a:path>
              <a:path w="327660" h="183514">
                <a:moveTo>
                  <a:pt x="278295" y="153428"/>
                </a:moveTo>
                <a:lnTo>
                  <a:pt x="241948" y="136784"/>
                </a:lnTo>
                <a:lnTo>
                  <a:pt x="245275" y="122593"/>
                </a:lnTo>
                <a:lnTo>
                  <a:pt x="253847" y="110799"/>
                </a:lnTo>
                <a:lnTo>
                  <a:pt x="290194" y="127444"/>
                </a:lnTo>
                <a:lnTo>
                  <a:pt x="278295" y="153428"/>
                </a:lnTo>
                <a:close/>
              </a:path>
              <a:path w="327660" h="183514">
                <a:moveTo>
                  <a:pt x="282968" y="183285"/>
                </a:moveTo>
                <a:lnTo>
                  <a:pt x="266395" y="179400"/>
                </a:lnTo>
                <a:lnTo>
                  <a:pt x="252633" y="169391"/>
                </a:lnTo>
                <a:lnTo>
                  <a:pt x="244071" y="155368"/>
                </a:lnTo>
                <a:lnTo>
                  <a:pt x="241392" y="139159"/>
                </a:lnTo>
                <a:lnTo>
                  <a:pt x="241948" y="136784"/>
                </a:lnTo>
                <a:lnTo>
                  <a:pt x="278295" y="153428"/>
                </a:lnTo>
                <a:lnTo>
                  <a:pt x="324352" y="153428"/>
                </a:lnTo>
                <a:lnTo>
                  <a:pt x="323214" y="158280"/>
                </a:lnTo>
                <a:lnTo>
                  <a:pt x="313206" y="172047"/>
                </a:lnTo>
                <a:lnTo>
                  <a:pt x="299181" y="180608"/>
                </a:lnTo>
                <a:lnTo>
                  <a:pt x="282968" y="1832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851732" y="5465165"/>
            <a:ext cx="114566" cy="127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858082" y="5295252"/>
            <a:ext cx="0" cy="474980"/>
          </a:xfrm>
          <a:custGeom>
            <a:avLst/>
            <a:gdLst/>
            <a:ahLst/>
            <a:cxnLst/>
            <a:rect l="l" t="t" r="r" b="b"/>
            <a:pathLst>
              <a:path w="0" h="474979">
                <a:moveTo>
                  <a:pt x="0" y="0"/>
                </a:moveTo>
                <a:lnTo>
                  <a:pt x="0" y="474357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959948" y="5435688"/>
            <a:ext cx="0" cy="184150"/>
          </a:xfrm>
          <a:custGeom>
            <a:avLst/>
            <a:gdLst/>
            <a:ahLst/>
            <a:cxnLst/>
            <a:rect l="l" t="t" r="r" b="b"/>
            <a:pathLst>
              <a:path w="0" h="184150">
                <a:moveTo>
                  <a:pt x="0" y="0"/>
                </a:moveTo>
                <a:lnTo>
                  <a:pt x="0" y="18412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829476" y="3508197"/>
            <a:ext cx="1912620" cy="2023745"/>
          </a:xfrm>
          <a:custGeom>
            <a:avLst/>
            <a:gdLst/>
            <a:ahLst/>
            <a:cxnLst/>
            <a:rect l="l" t="t" r="r" b="b"/>
            <a:pathLst>
              <a:path w="1912620" h="2023745">
                <a:moveTo>
                  <a:pt x="1883879" y="42327"/>
                </a:moveTo>
                <a:lnTo>
                  <a:pt x="0" y="28575"/>
                </a:lnTo>
                <a:lnTo>
                  <a:pt x="203" y="0"/>
                </a:lnTo>
                <a:lnTo>
                  <a:pt x="1912454" y="13957"/>
                </a:lnTo>
                <a:lnTo>
                  <a:pt x="1912454" y="28143"/>
                </a:lnTo>
                <a:lnTo>
                  <a:pt x="1883879" y="28143"/>
                </a:lnTo>
                <a:lnTo>
                  <a:pt x="1883879" y="42327"/>
                </a:lnTo>
                <a:close/>
              </a:path>
              <a:path w="1912620" h="2023745">
                <a:moveTo>
                  <a:pt x="1898065" y="42430"/>
                </a:moveTo>
                <a:lnTo>
                  <a:pt x="1883879" y="42327"/>
                </a:lnTo>
                <a:lnTo>
                  <a:pt x="1883879" y="28143"/>
                </a:lnTo>
                <a:lnTo>
                  <a:pt x="1898065" y="42430"/>
                </a:lnTo>
                <a:close/>
              </a:path>
              <a:path w="1912620" h="2023745">
                <a:moveTo>
                  <a:pt x="1912454" y="42430"/>
                </a:moveTo>
                <a:lnTo>
                  <a:pt x="1898065" y="42430"/>
                </a:lnTo>
                <a:lnTo>
                  <a:pt x="1883879" y="28143"/>
                </a:lnTo>
                <a:lnTo>
                  <a:pt x="1912454" y="28143"/>
                </a:lnTo>
                <a:lnTo>
                  <a:pt x="1912454" y="42430"/>
                </a:lnTo>
                <a:close/>
              </a:path>
              <a:path w="1912620" h="2023745">
                <a:moveTo>
                  <a:pt x="1883879" y="2009343"/>
                </a:moveTo>
                <a:lnTo>
                  <a:pt x="1883879" y="42327"/>
                </a:lnTo>
                <a:lnTo>
                  <a:pt x="1912454" y="42430"/>
                </a:lnTo>
                <a:lnTo>
                  <a:pt x="1912454" y="1995055"/>
                </a:lnTo>
                <a:lnTo>
                  <a:pt x="1898167" y="1995055"/>
                </a:lnTo>
                <a:lnTo>
                  <a:pt x="1883879" y="2009343"/>
                </a:lnTo>
                <a:close/>
              </a:path>
              <a:path w="1912620" h="2023745">
                <a:moveTo>
                  <a:pt x="1912454" y="2023630"/>
                </a:moveTo>
                <a:lnTo>
                  <a:pt x="151828" y="2023630"/>
                </a:lnTo>
                <a:lnTo>
                  <a:pt x="165925" y="1191679"/>
                </a:lnTo>
                <a:lnTo>
                  <a:pt x="194500" y="1192161"/>
                </a:lnTo>
                <a:lnTo>
                  <a:pt x="180891" y="1995055"/>
                </a:lnTo>
                <a:lnTo>
                  <a:pt x="166357" y="1995055"/>
                </a:lnTo>
                <a:lnTo>
                  <a:pt x="180644" y="2009584"/>
                </a:lnTo>
                <a:lnTo>
                  <a:pt x="1912454" y="2009584"/>
                </a:lnTo>
                <a:lnTo>
                  <a:pt x="1912454" y="2023630"/>
                </a:lnTo>
                <a:close/>
              </a:path>
              <a:path w="1912620" h="2023745">
                <a:moveTo>
                  <a:pt x="180644" y="2009584"/>
                </a:moveTo>
                <a:lnTo>
                  <a:pt x="166357" y="1995055"/>
                </a:lnTo>
                <a:lnTo>
                  <a:pt x="180891" y="1995055"/>
                </a:lnTo>
                <a:lnTo>
                  <a:pt x="180644" y="2009584"/>
                </a:lnTo>
                <a:close/>
              </a:path>
              <a:path w="1912620" h="2023745">
                <a:moveTo>
                  <a:pt x="1912454" y="2009584"/>
                </a:moveTo>
                <a:lnTo>
                  <a:pt x="180644" y="2009584"/>
                </a:lnTo>
                <a:lnTo>
                  <a:pt x="180891" y="1995055"/>
                </a:lnTo>
                <a:lnTo>
                  <a:pt x="1883879" y="1995055"/>
                </a:lnTo>
                <a:lnTo>
                  <a:pt x="1883879" y="2009343"/>
                </a:lnTo>
                <a:lnTo>
                  <a:pt x="1912454" y="2009343"/>
                </a:lnTo>
                <a:lnTo>
                  <a:pt x="1912454" y="2009584"/>
                </a:lnTo>
                <a:close/>
              </a:path>
              <a:path w="1912620" h="2023745">
                <a:moveTo>
                  <a:pt x="1912454" y="2009343"/>
                </a:moveTo>
                <a:lnTo>
                  <a:pt x="1883879" y="2009343"/>
                </a:lnTo>
                <a:lnTo>
                  <a:pt x="1898167" y="1995055"/>
                </a:lnTo>
                <a:lnTo>
                  <a:pt x="1912454" y="1995055"/>
                </a:lnTo>
                <a:lnTo>
                  <a:pt x="1912454" y="20093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647577" y="3151162"/>
            <a:ext cx="2497461" cy="206913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319719" y="4078935"/>
            <a:ext cx="770585" cy="73152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311778" y="4196562"/>
            <a:ext cx="114300" cy="707390"/>
          </a:xfrm>
          <a:custGeom>
            <a:avLst/>
            <a:gdLst/>
            <a:ahLst/>
            <a:cxnLst/>
            <a:rect l="l" t="t" r="r" b="b"/>
            <a:pathLst>
              <a:path w="114300" h="707389">
                <a:moveTo>
                  <a:pt x="0" y="114300"/>
                </a:moveTo>
                <a:lnTo>
                  <a:pt x="57150" y="0"/>
                </a:lnTo>
                <a:lnTo>
                  <a:pt x="78581" y="42862"/>
                </a:lnTo>
                <a:lnTo>
                  <a:pt x="38100" y="42862"/>
                </a:lnTo>
                <a:lnTo>
                  <a:pt x="38100" y="76200"/>
                </a:lnTo>
                <a:lnTo>
                  <a:pt x="0" y="114300"/>
                </a:lnTo>
                <a:close/>
              </a:path>
              <a:path w="114300" h="707389">
                <a:moveTo>
                  <a:pt x="38100" y="76200"/>
                </a:moveTo>
                <a:lnTo>
                  <a:pt x="38100" y="42862"/>
                </a:lnTo>
                <a:lnTo>
                  <a:pt x="76200" y="42862"/>
                </a:lnTo>
                <a:lnTo>
                  <a:pt x="76200" y="57150"/>
                </a:lnTo>
                <a:lnTo>
                  <a:pt x="57150" y="57150"/>
                </a:lnTo>
                <a:lnTo>
                  <a:pt x="38100" y="76200"/>
                </a:lnTo>
                <a:close/>
              </a:path>
              <a:path w="114300" h="707389">
                <a:moveTo>
                  <a:pt x="114300" y="114300"/>
                </a:moveTo>
                <a:lnTo>
                  <a:pt x="76200" y="76200"/>
                </a:lnTo>
                <a:lnTo>
                  <a:pt x="76200" y="42862"/>
                </a:lnTo>
                <a:lnTo>
                  <a:pt x="78581" y="42862"/>
                </a:lnTo>
                <a:lnTo>
                  <a:pt x="114300" y="114300"/>
                </a:lnTo>
                <a:close/>
              </a:path>
              <a:path w="114300" h="707389">
                <a:moveTo>
                  <a:pt x="76200" y="706920"/>
                </a:moveTo>
                <a:lnTo>
                  <a:pt x="38100" y="706920"/>
                </a:lnTo>
                <a:lnTo>
                  <a:pt x="38100" y="76200"/>
                </a:lnTo>
                <a:lnTo>
                  <a:pt x="57150" y="57150"/>
                </a:lnTo>
                <a:lnTo>
                  <a:pt x="76200" y="76200"/>
                </a:lnTo>
                <a:lnTo>
                  <a:pt x="76200" y="706920"/>
                </a:lnTo>
                <a:close/>
              </a:path>
              <a:path w="114300" h="707389">
                <a:moveTo>
                  <a:pt x="76200" y="76200"/>
                </a:moveTo>
                <a:lnTo>
                  <a:pt x="57150" y="57150"/>
                </a:lnTo>
                <a:lnTo>
                  <a:pt x="76200" y="57150"/>
                </a:lnTo>
                <a:lnTo>
                  <a:pt x="762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3112998" y="4361903"/>
            <a:ext cx="1441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35780" y="3948404"/>
            <a:ext cx="2965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244295" y="3925316"/>
            <a:ext cx="2457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96460" y="3121431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52461" y="1509801"/>
            <a:ext cx="9892665" cy="169608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algn="just" marL="12700" marR="5080">
              <a:lnSpc>
                <a:spcPts val="3020"/>
              </a:lnSpc>
              <a:spcBef>
                <a:spcPts val="475"/>
              </a:spcBef>
            </a:pPr>
            <a:r>
              <a:rPr dirty="0" sz="2800" i="1">
                <a:latin typeface="华文楷体"/>
                <a:cs typeface="华文楷体"/>
              </a:rPr>
              <a:t>【例题</a:t>
            </a:r>
            <a:r>
              <a:rPr dirty="0" sz="2800" spc="-5">
                <a:latin typeface="Times New Roman"/>
                <a:cs typeface="Times New Roman"/>
              </a:rPr>
              <a:t>1</a:t>
            </a:r>
            <a:r>
              <a:rPr dirty="0" sz="2800" i="1">
                <a:latin typeface="华文楷体"/>
                <a:cs typeface="华文楷体"/>
              </a:rPr>
              <a:t>】法拉第最初发现电磁感应现象的实验如图所示。软</a:t>
            </a:r>
            <a:r>
              <a:rPr dirty="0" sz="2800" spc="-5" i="1">
                <a:latin typeface="华文楷体"/>
                <a:cs typeface="华文楷体"/>
              </a:rPr>
              <a:t>铁 </a:t>
            </a:r>
            <a:r>
              <a:rPr dirty="0" sz="2800" i="1">
                <a:latin typeface="华文楷体"/>
                <a:cs typeface="华文楷体"/>
              </a:rPr>
              <a:t>环上绕有</a:t>
            </a:r>
            <a:r>
              <a:rPr dirty="0" sz="2800" spc="-5">
                <a:latin typeface="Times New Roman"/>
                <a:cs typeface="Times New Roman"/>
              </a:rPr>
              <a:t>M</a:t>
            </a:r>
            <a:r>
              <a:rPr dirty="0" sz="2800" i="1">
                <a:latin typeface="华文楷体"/>
                <a:cs typeface="华文楷体"/>
              </a:rPr>
              <a:t>、</a:t>
            </a:r>
            <a:r>
              <a:rPr dirty="0" sz="2800" spc="-5">
                <a:latin typeface="Times New Roman"/>
                <a:cs typeface="Times New Roman"/>
              </a:rPr>
              <a:t>N</a:t>
            </a:r>
            <a:r>
              <a:rPr dirty="0" sz="2800" spc="-95">
                <a:latin typeface="Times New Roman"/>
                <a:cs typeface="Times New Roman"/>
              </a:rPr>
              <a:t> </a:t>
            </a:r>
            <a:r>
              <a:rPr dirty="0" sz="2800" i="1">
                <a:latin typeface="华文楷体"/>
                <a:cs typeface="华文楷体"/>
              </a:rPr>
              <a:t>两个线圈，当线圈</a:t>
            </a:r>
            <a:r>
              <a:rPr dirty="0" sz="2800" spc="-5">
                <a:latin typeface="Times New Roman"/>
                <a:cs typeface="Times New Roman"/>
              </a:rPr>
              <a:t>M</a:t>
            </a:r>
            <a:r>
              <a:rPr dirty="0" sz="2800" i="1">
                <a:latin typeface="华文楷体"/>
                <a:cs typeface="华文楷体"/>
              </a:rPr>
              <a:t>电路中的开关断开的瞬间</a:t>
            </a:r>
            <a:r>
              <a:rPr dirty="0" sz="2800" spc="-5" i="1">
                <a:latin typeface="华文楷体"/>
                <a:cs typeface="华文楷体"/>
              </a:rPr>
              <a:t>，  </a:t>
            </a:r>
            <a:r>
              <a:rPr dirty="0" sz="2800" i="1">
                <a:latin typeface="华文楷体"/>
                <a:cs typeface="华文楷体"/>
              </a:rPr>
              <a:t>线圈</a:t>
            </a:r>
            <a:r>
              <a:rPr dirty="0" sz="2800" spc="-5">
                <a:latin typeface="Times New Roman"/>
                <a:cs typeface="Times New Roman"/>
              </a:rPr>
              <a:t>N</a:t>
            </a:r>
            <a:r>
              <a:rPr dirty="0" sz="2800" i="1">
                <a:latin typeface="华文楷体"/>
                <a:cs typeface="华文楷体"/>
              </a:rPr>
              <a:t>中的感应电流沿什么方向</a:t>
            </a:r>
            <a:r>
              <a:rPr dirty="0" sz="2800" spc="-5" i="1">
                <a:latin typeface="华文楷体"/>
                <a:cs typeface="华文楷体"/>
              </a:rPr>
              <a:t>？</a:t>
            </a:r>
            <a:endParaRPr sz="2800">
              <a:latin typeface="华文楷体"/>
              <a:cs typeface="华文楷体"/>
            </a:endParaRPr>
          </a:p>
          <a:p>
            <a:pPr algn="ctr" marR="485775">
              <a:lnSpc>
                <a:spcPct val="100000"/>
              </a:lnSpc>
              <a:spcBef>
                <a:spcPts val="840"/>
              </a:spcBef>
            </a:pPr>
            <a:r>
              <a:rPr dirty="0" baseline="10416" sz="3600" spc="-390" b="1" i="1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r>
              <a:rPr dirty="0" sz="1550" spc="-260" b="1">
                <a:solidFill>
                  <a:srgbClr val="0000FF"/>
                </a:solidFill>
                <a:latin typeface="Times New Roman"/>
                <a:cs typeface="Times New Roman"/>
              </a:rPr>
              <a:t>0</a:t>
            </a:r>
            <a:r>
              <a:rPr dirty="0" sz="1550" spc="-260" b="1" i="1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579107" y="3848100"/>
            <a:ext cx="621792" cy="8808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493344" y="3643629"/>
            <a:ext cx="581025" cy="161290"/>
          </a:xfrm>
          <a:custGeom>
            <a:avLst/>
            <a:gdLst/>
            <a:ahLst/>
            <a:cxnLst/>
            <a:rect l="l" t="t" r="r" b="b"/>
            <a:pathLst>
              <a:path w="581025" h="161289">
                <a:moveTo>
                  <a:pt x="102362" y="126949"/>
                </a:moveTo>
                <a:lnTo>
                  <a:pt x="99415" y="126403"/>
                </a:lnTo>
                <a:lnTo>
                  <a:pt x="96659" y="125260"/>
                </a:lnTo>
                <a:lnTo>
                  <a:pt x="94195" y="123571"/>
                </a:lnTo>
                <a:lnTo>
                  <a:pt x="0" y="43345"/>
                </a:lnTo>
                <a:lnTo>
                  <a:pt x="116205" y="838"/>
                </a:lnTo>
                <a:lnTo>
                  <a:pt x="119100" y="114"/>
                </a:lnTo>
                <a:lnTo>
                  <a:pt x="122085" y="0"/>
                </a:lnTo>
                <a:lnTo>
                  <a:pt x="125031" y="520"/>
                </a:lnTo>
                <a:lnTo>
                  <a:pt x="135394" y="13741"/>
                </a:lnTo>
                <a:lnTo>
                  <a:pt x="135191" y="16713"/>
                </a:lnTo>
                <a:lnTo>
                  <a:pt x="30429" y="34277"/>
                </a:lnTo>
                <a:lnTo>
                  <a:pt x="25387" y="62407"/>
                </a:lnTo>
                <a:lnTo>
                  <a:pt x="77411" y="71737"/>
                </a:lnTo>
                <a:lnTo>
                  <a:pt x="112725" y="101815"/>
                </a:lnTo>
                <a:lnTo>
                  <a:pt x="117741" y="112306"/>
                </a:lnTo>
                <a:lnTo>
                  <a:pt x="117513" y="115277"/>
                </a:lnTo>
                <a:lnTo>
                  <a:pt x="105346" y="126860"/>
                </a:lnTo>
                <a:lnTo>
                  <a:pt x="102362" y="126949"/>
                </a:lnTo>
                <a:close/>
              </a:path>
              <a:path w="581025" h="161289">
                <a:moveTo>
                  <a:pt x="77411" y="71737"/>
                </a:moveTo>
                <a:lnTo>
                  <a:pt x="25387" y="62407"/>
                </a:lnTo>
                <a:lnTo>
                  <a:pt x="30429" y="34277"/>
                </a:lnTo>
                <a:lnTo>
                  <a:pt x="48202" y="37465"/>
                </a:lnTo>
                <a:lnTo>
                  <a:pt x="37172" y="37465"/>
                </a:lnTo>
                <a:lnTo>
                  <a:pt x="32816" y="61760"/>
                </a:lnTo>
                <a:lnTo>
                  <a:pt x="65696" y="61760"/>
                </a:lnTo>
                <a:lnTo>
                  <a:pt x="77411" y="71737"/>
                </a:lnTo>
                <a:close/>
              </a:path>
              <a:path w="581025" h="161289">
                <a:moveTo>
                  <a:pt x="82451" y="43607"/>
                </a:moveTo>
                <a:lnTo>
                  <a:pt x="30429" y="34277"/>
                </a:lnTo>
                <a:lnTo>
                  <a:pt x="107964" y="34277"/>
                </a:lnTo>
                <a:lnTo>
                  <a:pt x="82451" y="43607"/>
                </a:lnTo>
                <a:close/>
              </a:path>
              <a:path w="581025" h="161289">
                <a:moveTo>
                  <a:pt x="32816" y="61760"/>
                </a:moveTo>
                <a:lnTo>
                  <a:pt x="37172" y="37465"/>
                </a:lnTo>
                <a:lnTo>
                  <a:pt x="55819" y="53347"/>
                </a:lnTo>
                <a:lnTo>
                  <a:pt x="32816" y="61760"/>
                </a:lnTo>
                <a:close/>
              </a:path>
              <a:path w="581025" h="161289">
                <a:moveTo>
                  <a:pt x="55819" y="53347"/>
                </a:moveTo>
                <a:lnTo>
                  <a:pt x="37172" y="37465"/>
                </a:lnTo>
                <a:lnTo>
                  <a:pt x="48202" y="37465"/>
                </a:lnTo>
                <a:lnTo>
                  <a:pt x="82451" y="43607"/>
                </a:lnTo>
                <a:lnTo>
                  <a:pt x="55819" y="53347"/>
                </a:lnTo>
                <a:close/>
              </a:path>
              <a:path w="581025" h="161289">
                <a:moveTo>
                  <a:pt x="575640" y="161086"/>
                </a:moveTo>
                <a:lnTo>
                  <a:pt x="77411" y="71737"/>
                </a:lnTo>
                <a:lnTo>
                  <a:pt x="55819" y="53347"/>
                </a:lnTo>
                <a:lnTo>
                  <a:pt x="82451" y="43607"/>
                </a:lnTo>
                <a:lnTo>
                  <a:pt x="580682" y="132969"/>
                </a:lnTo>
                <a:lnTo>
                  <a:pt x="575640" y="161086"/>
                </a:lnTo>
                <a:close/>
              </a:path>
              <a:path w="581025" h="161289">
                <a:moveTo>
                  <a:pt x="65696" y="61760"/>
                </a:moveTo>
                <a:lnTo>
                  <a:pt x="32816" y="61760"/>
                </a:lnTo>
                <a:lnTo>
                  <a:pt x="55819" y="53347"/>
                </a:lnTo>
                <a:lnTo>
                  <a:pt x="65696" y="6176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618122" y="3966552"/>
            <a:ext cx="471805" cy="183515"/>
          </a:xfrm>
          <a:custGeom>
            <a:avLst/>
            <a:gdLst/>
            <a:ahLst/>
            <a:cxnLst/>
            <a:rect l="l" t="t" r="r" b="b"/>
            <a:pathLst>
              <a:path w="471804" h="183514">
                <a:moveTo>
                  <a:pt x="95161" y="124358"/>
                </a:moveTo>
                <a:lnTo>
                  <a:pt x="0" y="29387"/>
                </a:lnTo>
                <a:lnTo>
                  <a:pt x="120294" y="393"/>
                </a:lnTo>
                <a:lnTo>
                  <a:pt x="123253" y="0"/>
                </a:lnTo>
                <a:lnTo>
                  <a:pt x="126238" y="228"/>
                </a:lnTo>
                <a:lnTo>
                  <a:pt x="137883" y="15392"/>
                </a:lnTo>
                <a:lnTo>
                  <a:pt x="137350" y="18326"/>
                </a:lnTo>
                <a:lnTo>
                  <a:pt x="136207" y="21082"/>
                </a:lnTo>
                <a:lnTo>
                  <a:pt x="134518" y="23545"/>
                </a:lnTo>
                <a:lnTo>
                  <a:pt x="134196" y="23850"/>
                </a:lnTo>
                <a:lnTo>
                  <a:pt x="31267" y="23850"/>
                </a:lnTo>
                <a:lnTo>
                  <a:pt x="23050" y="51219"/>
                </a:lnTo>
                <a:lnTo>
                  <a:pt x="73678" y="66410"/>
                </a:lnTo>
                <a:lnTo>
                  <a:pt x="105346" y="100317"/>
                </a:lnTo>
                <a:lnTo>
                  <a:pt x="109131" y="111302"/>
                </a:lnTo>
                <a:lnTo>
                  <a:pt x="108559" y="114236"/>
                </a:lnTo>
                <a:lnTo>
                  <a:pt x="98120" y="123990"/>
                </a:lnTo>
                <a:lnTo>
                  <a:pt x="95161" y="124358"/>
                </a:lnTo>
                <a:close/>
              </a:path>
              <a:path w="471804" h="183514">
                <a:moveTo>
                  <a:pt x="73678" y="66410"/>
                </a:moveTo>
                <a:lnTo>
                  <a:pt x="23050" y="51219"/>
                </a:lnTo>
                <a:lnTo>
                  <a:pt x="31267" y="23850"/>
                </a:lnTo>
                <a:lnTo>
                  <a:pt x="44387" y="27787"/>
                </a:lnTo>
                <a:lnTo>
                  <a:pt x="37604" y="27787"/>
                </a:lnTo>
                <a:lnTo>
                  <a:pt x="30505" y="51435"/>
                </a:lnTo>
                <a:lnTo>
                  <a:pt x="59691" y="51435"/>
                </a:lnTo>
                <a:lnTo>
                  <a:pt x="73678" y="66410"/>
                </a:lnTo>
                <a:close/>
              </a:path>
              <a:path w="471804" h="183514">
                <a:moveTo>
                  <a:pt x="81895" y="39042"/>
                </a:moveTo>
                <a:lnTo>
                  <a:pt x="31267" y="23850"/>
                </a:lnTo>
                <a:lnTo>
                  <a:pt x="134196" y="23850"/>
                </a:lnTo>
                <a:lnTo>
                  <a:pt x="132346" y="25603"/>
                </a:lnTo>
                <a:lnTo>
                  <a:pt x="129806" y="27165"/>
                </a:lnTo>
                <a:lnTo>
                  <a:pt x="126987" y="28168"/>
                </a:lnTo>
                <a:lnTo>
                  <a:pt x="81895" y="39042"/>
                </a:lnTo>
                <a:close/>
              </a:path>
              <a:path w="471804" h="183514">
                <a:moveTo>
                  <a:pt x="30505" y="51435"/>
                </a:moveTo>
                <a:lnTo>
                  <a:pt x="37604" y="27787"/>
                </a:lnTo>
                <a:lnTo>
                  <a:pt x="54325" y="45690"/>
                </a:lnTo>
                <a:lnTo>
                  <a:pt x="30505" y="51435"/>
                </a:lnTo>
                <a:close/>
              </a:path>
              <a:path w="471804" h="183514">
                <a:moveTo>
                  <a:pt x="54325" y="45690"/>
                </a:moveTo>
                <a:lnTo>
                  <a:pt x="37604" y="27787"/>
                </a:lnTo>
                <a:lnTo>
                  <a:pt x="44387" y="27787"/>
                </a:lnTo>
                <a:lnTo>
                  <a:pt x="81895" y="39042"/>
                </a:lnTo>
                <a:lnTo>
                  <a:pt x="54325" y="45690"/>
                </a:lnTo>
                <a:close/>
              </a:path>
              <a:path w="471804" h="183514">
                <a:moveTo>
                  <a:pt x="463257" y="183311"/>
                </a:moveTo>
                <a:lnTo>
                  <a:pt x="73678" y="66410"/>
                </a:lnTo>
                <a:lnTo>
                  <a:pt x="54325" y="45690"/>
                </a:lnTo>
                <a:lnTo>
                  <a:pt x="81895" y="39042"/>
                </a:lnTo>
                <a:lnTo>
                  <a:pt x="471474" y="155943"/>
                </a:lnTo>
                <a:lnTo>
                  <a:pt x="463257" y="183311"/>
                </a:lnTo>
                <a:close/>
              </a:path>
              <a:path w="471804" h="183514">
                <a:moveTo>
                  <a:pt x="59691" y="51435"/>
                </a:moveTo>
                <a:lnTo>
                  <a:pt x="30505" y="51435"/>
                </a:lnTo>
                <a:lnTo>
                  <a:pt x="54325" y="45690"/>
                </a:lnTo>
                <a:lnTo>
                  <a:pt x="59691" y="51435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618122" y="4281601"/>
            <a:ext cx="441325" cy="189865"/>
          </a:xfrm>
          <a:custGeom>
            <a:avLst/>
            <a:gdLst/>
            <a:ahLst/>
            <a:cxnLst/>
            <a:rect l="l" t="t" r="r" b="b"/>
            <a:pathLst>
              <a:path w="441325" h="189864">
                <a:moveTo>
                  <a:pt x="90868" y="122999"/>
                </a:moveTo>
                <a:lnTo>
                  <a:pt x="0" y="23926"/>
                </a:lnTo>
                <a:lnTo>
                  <a:pt x="121462" y="266"/>
                </a:lnTo>
                <a:lnTo>
                  <a:pt x="124434" y="0"/>
                </a:lnTo>
                <a:lnTo>
                  <a:pt x="127393" y="368"/>
                </a:lnTo>
                <a:lnTo>
                  <a:pt x="138417" y="13030"/>
                </a:lnTo>
                <a:lnTo>
                  <a:pt x="138366" y="16027"/>
                </a:lnTo>
                <a:lnTo>
                  <a:pt x="137706" y="18935"/>
                </a:lnTo>
                <a:lnTo>
                  <a:pt x="137312" y="19773"/>
                </a:lnTo>
                <a:lnTo>
                  <a:pt x="31483" y="19773"/>
                </a:lnTo>
                <a:lnTo>
                  <a:pt x="22072" y="46748"/>
                </a:lnTo>
                <a:lnTo>
                  <a:pt x="71965" y="64155"/>
                </a:lnTo>
                <a:lnTo>
                  <a:pt x="102108" y="99440"/>
                </a:lnTo>
                <a:lnTo>
                  <a:pt x="105486" y="107594"/>
                </a:lnTo>
                <a:lnTo>
                  <a:pt x="105410" y="110578"/>
                </a:lnTo>
                <a:lnTo>
                  <a:pt x="93852" y="122758"/>
                </a:lnTo>
                <a:lnTo>
                  <a:pt x="90868" y="122999"/>
                </a:lnTo>
                <a:close/>
              </a:path>
              <a:path w="441325" h="189864">
                <a:moveTo>
                  <a:pt x="71965" y="64155"/>
                </a:moveTo>
                <a:lnTo>
                  <a:pt x="22072" y="46748"/>
                </a:lnTo>
                <a:lnTo>
                  <a:pt x="31483" y="19773"/>
                </a:lnTo>
                <a:lnTo>
                  <a:pt x="43532" y="23977"/>
                </a:lnTo>
                <a:lnTo>
                  <a:pt x="37642" y="23977"/>
                </a:lnTo>
                <a:lnTo>
                  <a:pt x="29514" y="47282"/>
                </a:lnTo>
                <a:lnTo>
                  <a:pt x="57550" y="47282"/>
                </a:lnTo>
                <a:lnTo>
                  <a:pt x="71965" y="64155"/>
                </a:lnTo>
                <a:close/>
              </a:path>
              <a:path w="441325" h="189864">
                <a:moveTo>
                  <a:pt x="81375" y="37180"/>
                </a:moveTo>
                <a:lnTo>
                  <a:pt x="31483" y="19773"/>
                </a:lnTo>
                <a:lnTo>
                  <a:pt x="137312" y="19773"/>
                </a:lnTo>
                <a:lnTo>
                  <a:pt x="81375" y="37180"/>
                </a:lnTo>
                <a:close/>
              </a:path>
              <a:path w="441325" h="189864">
                <a:moveTo>
                  <a:pt x="29514" y="47282"/>
                </a:moveTo>
                <a:lnTo>
                  <a:pt x="37642" y="23977"/>
                </a:lnTo>
                <a:lnTo>
                  <a:pt x="53551" y="42600"/>
                </a:lnTo>
                <a:lnTo>
                  <a:pt x="29514" y="47282"/>
                </a:lnTo>
                <a:close/>
              </a:path>
              <a:path w="441325" h="189864">
                <a:moveTo>
                  <a:pt x="53551" y="42600"/>
                </a:moveTo>
                <a:lnTo>
                  <a:pt x="37642" y="23977"/>
                </a:lnTo>
                <a:lnTo>
                  <a:pt x="43532" y="23977"/>
                </a:lnTo>
                <a:lnTo>
                  <a:pt x="81375" y="37180"/>
                </a:lnTo>
                <a:lnTo>
                  <a:pt x="53551" y="42600"/>
                </a:lnTo>
                <a:close/>
              </a:path>
              <a:path w="441325" h="189864">
                <a:moveTo>
                  <a:pt x="431406" y="189560"/>
                </a:moveTo>
                <a:lnTo>
                  <a:pt x="71965" y="64155"/>
                </a:lnTo>
                <a:lnTo>
                  <a:pt x="53551" y="42600"/>
                </a:lnTo>
                <a:lnTo>
                  <a:pt x="81375" y="37180"/>
                </a:lnTo>
                <a:lnTo>
                  <a:pt x="440817" y="162585"/>
                </a:lnTo>
                <a:lnTo>
                  <a:pt x="431406" y="189560"/>
                </a:lnTo>
                <a:close/>
              </a:path>
              <a:path w="441325" h="189864">
                <a:moveTo>
                  <a:pt x="57550" y="47282"/>
                </a:moveTo>
                <a:lnTo>
                  <a:pt x="29514" y="47282"/>
                </a:lnTo>
                <a:lnTo>
                  <a:pt x="53551" y="42600"/>
                </a:lnTo>
                <a:lnTo>
                  <a:pt x="57550" y="47282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528384" y="4595710"/>
            <a:ext cx="467995" cy="139700"/>
          </a:xfrm>
          <a:custGeom>
            <a:avLst/>
            <a:gdLst/>
            <a:ahLst/>
            <a:cxnLst/>
            <a:rect l="l" t="t" r="r" b="b"/>
            <a:pathLst>
              <a:path w="467995" h="139700">
                <a:moveTo>
                  <a:pt x="102730" y="127025"/>
                </a:moveTo>
                <a:lnTo>
                  <a:pt x="99783" y="126491"/>
                </a:lnTo>
                <a:lnTo>
                  <a:pt x="97015" y="125361"/>
                </a:lnTo>
                <a:lnTo>
                  <a:pt x="94551" y="123685"/>
                </a:lnTo>
                <a:lnTo>
                  <a:pt x="0" y="43865"/>
                </a:lnTo>
                <a:lnTo>
                  <a:pt x="116014" y="850"/>
                </a:lnTo>
                <a:lnTo>
                  <a:pt x="118910" y="114"/>
                </a:lnTo>
                <a:lnTo>
                  <a:pt x="121894" y="0"/>
                </a:lnTo>
                <a:lnTo>
                  <a:pt x="124840" y="495"/>
                </a:lnTo>
                <a:lnTo>
                  <a:pt x="135267" y="13665"/>
                </a:lnTo>
                <a:lnTo>
                  <a:pt x="135077" y="16649"/>
                </a:lnTo>
                <a:lnTo>
                  <a:pt x="30391" y="34670"/>
                </a:lnTo>
                <a:lnTo>
                  <a:pt x="25476" y="62826"/>
                </a:lnTo>
                <a:lnTo>
                  <a:pt x="77529" y="71925"/>
                </a:lnTo>
                <a:lnTo>
                  <a:pt x="112979" y="101853"/>
                </a:lnTo>
                <a:lnTo>
                  <a:pt x="118046" y="112318"/>
                </a:lnTo>
                <a:lnTo>
                  <a:pt x="117830" y="115290"/>
                </a:lnTo>
                <a:lnTo>
                  <a:pt x="105714" y="126923"/>
                </a:lnTo>
                <a:lnTo>
                  <a:pt x="102730" y="127025"/>
                </a:lnTo>
                <a:close/>
              </a:path>
              <a:path w="467995" h="139700">
                <a:moveTo>
                  <a:pt x="77529" y="71925"/>
                </a:moveTo>
                <a:lnTo>
                  <a:pt x="25476" y="62826"/>
                </a:lnTo>
                <a:lnTo>
                  <a:pt x="30391" y="34670"/>
                </a:lnTo>
                <a:lnTo>
                  <a:pt x="48479" y="37833"/>
                </a:lnTo>
                <a:lnTo>
                  <a:pt x="37147" y="37833"/>
                </a:lnTo>
                <a:lnTo>
                  <a:pt x="32892" y="62141"/>
                </a:lnTo>
                <a:lnTo>
                  <a:pt x="65939" y="62141"/>
                </a:lnTo>
                <a:lnTo>
                  <a:pt x="77529" y="71925"/>
                </a:lnTo>
                <a:close/>
              </a:path>
              <a:path w="467995" h="139700">
                <a:moveTo>
                  <a:pt x="82452" y="43772"/>
                </a:moveTo>
                <a:lnTo>
                  <a:pt x="30391" y="34670"/>
                </a:lnTo>
                <a:lnTo>
                  <a:pt x="107009" y="34670"/>
                </a:lnTo>
                <a:lnTo>
                  <a:pt x="82452" y="43772"/>
                </a:lnTo>
                <a:close/>
              </a:path>
              <a:path w="467995" h="139700">
                <a:moveTo>
                  <a:pt x="32892" y="62141"/>
                </a:moveTo>
                <a:lnTo>
                  <a:pt x="37147" y="37833"/>
                </a:lnTo>
                <a:lnTo>
                  <a:pt x="55857" y="53629"/>
                </a:lnTo>
                <a:lnTo>
                  <a:pt x="32892" y="62141"/>
                </a:lnTo>
                <a:close/>
              </a:path>
              <a:path w="467995" h="139700">
                <a:moveTo>
                  <a:pt x="55857" y="53629"/>
                </a:moveTo>
                <a:lnTo>
                  <a:pt x="37147" y="37833"/>
                </a:lnTo>
                <a:lnTo>
                  <a:pt x="48479" y="37833"/>
                </a:lnTo>
                <a:lnTo>
                  <a:pt x="82452" y="43772"/>
                </a:lnTo>
                <a:lnTo>
                  <a:pt x="55857" y="53629"/>
                </a:lnTo>
                <a:close/>
              </a:path>
              <a:path w="467995" h="139700">
                <a:moveTo>
                  <a:pt x="462711" y="139255"/>
                </a:moveTo>
                <a:lnTo>
                  <a:pt x="77529" y="71925"/>
                </a:lnTo>
                <a:lnTo>
                  <a:pt x="55857" y="53629"/>
                </a:lnTo>
                <a:lnTo>
                  <a:pt x="82452" y="43772"/>
                </a:lnTo>
                <a:lnTo>
                  <a:pt x="467626" y="111112"/>
                </a:lnTo>
                <a:lnTo>
                  <a:pt x="462711" y="139255"/>
                </a:lnTo>
                <a:close/>
              </a:path>
              <a:path w="467995" h="139700">
                <a:moveTo>
                  <a:pt x="65939" y="62141"/>
                </a:moveTo>
                <a:lnTo>
                  <a:pt x="32892" y="62141"/>
                </a:lnTo>
                <a:lnTo>
                  <a:pt x="55857" y="53629"/>
                </a:lnTo>
                <a:lnTo>
                  <a:pt x="65939" y="6214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408684" y="3475151"/>
            <a:ext cx="750570" cy="128905"/>
          </a:xfrm>
          <a:custGeom>
            <a:avLst/>
            <a:gdLst/>
            <a:ahLst/>
            <a:cxnLst/>
            <a:rect l="l" t="t" r="r" b="b"/>
            <a:pathLst>
              <a:path w="750570" h="128904">
                <a:moveTo>
                  <a:pt x="693660" y="64223"/>
                </a:moveTo>
                <a:lnTo>
                  <a:pt x="629094" y="26555"/>
                </a:lnTo>
                <a:lnTo>
                  <a:pt x="622007" y="14147"/>
                </a:lnTo>
                <a:lnTo>
                  <a:pt x="622325" y="11188"/>
                </a:lnTo>
                <a:lnTo>
                  <a:pt x="634860" y="0"/>
                </a:lnTo>
                <a:lnTo>
                  <a:pt x="637844" y="12"/>
                </a:lnTo>
                <a:lnTo>
                  <a:pt x="640765" y="647"/>
                </a:lnTo>
                <a:lnTo>
                  <a:pt x="643496" y="1879"/>
                </a:lnTo>
                <a:lnTo>
                  <a:pt x="725875" y="49936"/>
                </a:lnTo>
                <a:lnTo>
                  <a:pt x="722020" y="49936"/>
                </a:lnTo>
                <a:lnTo>
                  <a:pt x="722020" y="51879"/>
                </a:lnTo>
                <a:lnTo>
                  <a:pt x="714819" y="51879"/>
                </a:lnTo>
                <a:lnTo>
                  <a:pt x="693660" y="64223"/>
                </a:lnTo>
                <a:close/>
              </a:path>
              <a:path w="750570" h="128904">
                <a:moveTo>
                  <a:pt x="669170" y="78511"/>
                </a:moveTo>
                <a:lnTo>
                  <a:pt x="0" y="78511"/>
                </a:lnTo>
                <a:lnTo>
                  <a:pt x="0" y="49936"/>
                </a:lnTo>
                <a:lnTo>
                  <a:pt x="669170" y="49936"/>
                </a:lnTo>
                <a:lnTo>
                  <a:pt x="693660" y="64223"/>
                </a:lnTo>
                <a:lnTo>
                  <a:pt x="669170" y="78511"/>
                </a:lnTo>
                <a:close/>
              </a:path>
              <a:path w="750570" h="128904">
                <a:moveTo>
                  <a:pt x="725875" y="78511"/>
                </a:moveTo>
                <a:lnTo>
                  <a:pt x="722020" y="78511"/>
                </a:lnTo>
                <a:lnTo>
                  <a:pt x="722020" y="49936"/>
                </a:lnTo>
                <a:lnTo>
                  <a:pt x="725875" y="49936"/>
                </a:lnTo>
                <a:lnTo>
                  <a:pt x="750366" y="64223"/>
                </a:lnTo>
                <a:lnTo>
                  <a:pt x="725875" y="78511"/>
                </a:lnTo>
                <a:close/>
              </a:path>
              <a:path w="750570" h="128904">
                <a:moveTo>
                  <a:pt x="714819" y="76568"/>
                </a:moveTo>
                <a:lnTo>
                  <a:pt x="693660" y="64223"/>
                </a:lnTo>
                <a:lnTo>
                  <a:pt x="714819" y="51879"/>
                </a:lnTo>
                <a:lnTo>
                  <a:pt x="714819" y="76568"/>
                </a:lnTo>
                <a:close/>
              </a:path>
              <a:path w="750570" h="128904">
                <a:moveTo>
                  <a:pt x="722020" y="76568"/>
                </a:moveTo>
                <a:lnTo>
                  <a:pt x="714819" y="76568"/>
                </a:lnTo>
                <a:lnTo>
                  <a:pt x="714819" y="51879"/>
                </a:lnTo>
                <a:lnTo>
                  <a:pt x="722020" y="51879"/>
                </a:lnTo>
                <a:lnTo>
                  <a:pt x="722020" y="76568"/>
                </a:lnTo>
                <a:close/>
              </a:path>
              <a:path w="750570" h="128904">
                <a:moveTo>
                  <a:pt x="634860" y="128447"/>
                </a:moveTo>
                <a:lnTo>
                  <a:pt x="622007" y="114287"/>
                </a:lnTo>
                <a:lnTo>
                  <a:pt x="622300" y="111315"/>
                </a:lnTo>
                <a:lnTo>
                  <a:pt x="693660" y="64223"/>
                </a:lnTo>
                <a:lnTo>
                  <a:pt x="714819" y="76568"/>
                </a:lnTo>
                <a:lnTo>
                  <a:pt x="722020" y="76568"/>
                </a:lnTo>
                <a:lnTo>
                  <a:pt x="722020" y="78511"/>
                </a:lnTo>
                <a:lnTo>
                  <a:pt x="725875" y="78511"/>
                </a:lnTo>
                <a:lnTo>
                  <a:pt x="643496" y="126568"/>
                </a:lnTo>
                <a:lnTo>
                  <a:pt x="640765" y="127800"/>
                </a:lnTo>
                <a:lnTo>
                  <a:pt x="637844" y="128435"/>
                </a:lnTo>
                <a:lnTo>
                  <a:pt x="634860" y="128447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7670088" y="3070529"/>
            <a:ext cx="1993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dirty="0" baseline="-17921" sz="2325" b="1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endParaRPr baseline="-17921" sz="2325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1152461" y="873569"/>
            <a:ext cx="3454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一、楞次定律的应用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10883" y="2838704"/>
            <a:ext cx="2562775" cy="2349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265042" y="3447922"/>
            <a:ext cx="1343660" cy="1955800"/>
          </a:xfrm>
          <a:custGeom>
            <a:avLst/>
            <a:gdLst/>
            <a:ahLst/>
            <a:cxnLst/>
            <a:rect l="l" t="t" r="r" b="b"/>
            <a:pathLst>
              <a:path w="1343660" h="1955800">
                <a:moveTo>
                  <a:pt x="8597" y="1955571"/>
                </a:moveTo>
                <a:lnTo>
                  <a:pt x="0" y="5029"/>
                </a:lnTo>
                <a:lnTo>
                  <a:pt x="1299476" y="0"/>
                </a:lnTo>
                <a:lnTo>
                  <a:pt x="1299553" y="19189"/>
                </a:lnTo>
                <a:lnTo>
                  <a:pt x="28638" y="19189"/>
                </a:lnTo>
                <a:lnTo>
                  <a:pt x="14401" y="33540"/>
                </a:lnTo>
                <a:lnTo>
                  <a:pt x="28701" y="33540"/>
                </a:lnTo>
                <a:lnTo>
                  <a:pt x="37046" y="1926806"/>
                </a:lnTo>
                <a:lnTo>
                  <a:pt x="22720" y="1926907"/>
                </a:lnTo>
                <a:lnTo>
                  <a:pt x="37109" y="1941131"/>
                </a:lnTo>
                <a:lnTo>
                  <a:pt x="1239367" y="1941131"/>
                </a:lnTo>
                <a:lnTo>
                  <a:pt x="1239367" y="1946910"/>
                </a:lnTo>
                <a:lnTo>
                  <a:pt x="8597" y="1955571"/>
                </a:lnTo>
                <a:close/>
              </a:path>
              <a:path w="1343660" h="1955800">
                <a:moveTo>
                  <a:pt x="14401" y="33540"/>
                </a:moveTo>
                <a:lnTo>
                  <a:pt x="28638" y="19189"/>
                </a:lnTo>
                <a:lnTo>
                  <a:pt x="28701" y="33485"/>
                </a:lnTo>
                <a:lnTo>
                  <a:pt x="14401" y="33540"/>
                </a:lnTo>
                <a:close/>
              </a:path>
              <a:path w="1343660" h="1955800">
                <a:moveTo>
                  <a:pt x="28701" y="33485"/>
                </a:moveTo>
                <a:lnTo>
                  <a:pt x="28638" y="19189"/>
                </a:lnTo>
                <a:lnTo>
                  <a:pt x="1299553" y="19189"/>
                </a:lnTo>
                <a:lnTo>
                  <a:pt x="1299591" y="28575"/>
                </a:lnTo>
                <a:lnTo>
                  <a:pt x="28701" y="33485"/>
                </a:lnTo>
                <a:close/>
              </a:path>
              <a:path w="1343660" h="1955800">
                <a:moveTo>
                  <a:pt x="28701" y="33540"/>
                </a:moveTo>
                <a:lnTo>
                  <a:pt x="14401" y="33540"/>
                </a:lnTo>
                <a:lnTo>
                  <a:pt x="28701" y="33485"/>
                </a:lnTo>
                <a:close/>
              </a:path>
              <a:path w="1343660" h="1955800">
                <a:moveTo>
                  <a:pt x="1210792" y="1918536"/>
                </a:moveTo>
                <a:lnTo>
                  <a:pt x="1210792" y="978636"/>
                </a:lnTo>
                <a:lnTo>
                  <a:pt x="1343621" y="978636"/>
                </a:lnTo>
                <a:lnTo>
                  <a:pt x="1343621" y="992924"/>
                </a:lnTo>
                <a:lnTo>
                  <a:pt x="1239367" y="992924"/>
                </a:lnTo>
                <a:lnTo>
                  <a:pt x="1225080" y="1007211"/>
                </a:lnTo>
                <a:lnTo>
                  <a:pt x="1239367" y="1007211"/>
                </a:lnTo>
                <a:lnTo>
                  <a:pt x="1239367" y="1918436"/>
                </a:lnTo>
                <a:lnTo>
                  <a:pt x="1224978" y="1918436"/>
                </a:lnTo>
                <a:lnTo>
                  <a:pt x="1210792" y="1918536"/>
                </a:lnTo>
                <a:close/>
              </a:path>
              <a:path w="1343660" h="1955800">
                <a:moveTo>
                  <a:pt x="1239367" y="1007211"/>
                </a:moveTo>
                <a:lnTo>
                  <a:pt x="1225080" y="1007211"/>
                </a:lnTo>
                <a:lnTo>
                  <a:pt x="1239367" y="992924"/>
                </a:lnTo>
                <a:lnTo>
                  <a:pt x="1239367" y="1007211"/>
                </a:lnTo>
                <a:close/>
              </a:path>
              <a:path w="1343660" h="1955800">
                <a:moveTo>
                  <a:pt x="1343621" y="1007211"/>
                </a:moveTo>
                <a:lnTo>
                  <a:pt x="1239367" y="1007211"/>
                </a:lnTo>
                <a:lnTo>
                  <a:pt x="1239367" y="992924"/>
                </a:lnTo>
                <a:lnTo>
                  <a:pt x="1343621" y="992924"/>
                </a:lnTo>
                <a:lnTo>
                  <a:pt x="1343621" y="1007211"/>
                </a:lnTo>
                <a:close/>
              </a:path>
              <a:path w="1343660" h="1955800">
                <a:moveTo>
                  <a:pt x="1210792" y="1932724"/>
                </a:moveTo>
                <a:lnTo>
                  <a:pt x="1210792" y="1918536"/>
                </a:lnTo>
                <a:lnTo>
                  <a:pt x="1224978" y="1918436"/>
                </a:lnTo>
                <a:lnTo>
                  <a:pt x="1210792" y="1932724"/>
                </a:lnTo>
                <a:close/>
              </a:path>
              <a:path w="1343660" h="1955800">
                <a:moveTo>
                  <a:pt x="1239367" y="1932724"/>
                </a:moveTo>
                <a:lnTo>
                  <a:pt x="1210792" y="1932724"/>
                </a:lnTo>
                <a:lnTo>
                  <a:pt x="1224978" y="1918436"/>
                </a:lnTo>
                <a:lnTo>
                  <a:pt x="1239367" y="1918436"/>
                </a:lnTo>
                <a:lnTo>
                  <a:pt x="1239367" y="1932724"/>
                </a:lnTo>
                <a:close/>
              </a:path>
              <a:path w="1343660" h="1955800">
                <a:moveTo>
                  <a:pt x="1239367" y="1941131"/>
                </a:moveTo>
                <a:lnTo>
                  <a:pt x="37109" y="1941131"/>
                </a:lnTo>
                <a:lnTo>
                  <a:pt x="37046" y="1926806"/>
                </a:lnTo>
                <a:lnTo>
                  <a:pt x="1210792" y="1918536"/>
                </a:lnTo>
                <a:lnTo>
                  <a:pt x="1210792" y="1932724"/>
                </a:lnTo>
                <a:lnTo>
                  <a:pt x="1239367" y="1932724"/>
                </a:lnTo>
                <a:lnTo>
                  <a:pt x="1239367" y="1941131"/>
                </a:lnTo>
                <a:close/>
              </a:path>
              <a:path w="1343660" h="1955800">
                <a:moveTo>
                  <a:pt x="37109" y="1941131"/>
                </a:moveTo>
                <a:lnTo>
                  <a:pt x="22720" y="1926907"/>
                </a:lnTo>
                <a:lnTo>
                  <a:pt x="37046" y="1926806"/>
                </a:lnTo>
                <a:lnTo>
                  <a:pt x="37109" y="19411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765803" y="3468623"/>
            <a:ext cx="277495" cy="0"/>
          </a:xfrm>
          <a:custGeom>
            <a:avLst/>
            <a:gdLst/>
            <a:ahLst/>
            <a:cxnLst/>
            <a:rect l="l" t="t" r="r" b="b"/>
            <a:pathLst>
              <a:path w="277495" h="0">
                <a:moveTo>
                  <a:pt x="0" y="0"/>
                </a:moveTo>
                <a:lnTo>
                  <a:pt x="277367" y="0"/>
                </a:lnTo>
              </a:path>
            </a:pathLst>
          </a:custGeom>
          <a:ln w="45720">
            <a:solidFill>
              <a:srgbClr val="F1F1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759365" y="3328873"/>
            <a:ext cx="327660" cy="183515"/>
          </a:xfrm>
          <a:custGeom>
            <a:avLst/>
            <a:gdLst/>
            <a:ahLst/>
            <a:cxnLst/>
            <a:rect l="l" t="t" r="r" b="b"/>
            <a:pathLst>
              <a:path w="327660" h="183514">
                <a:moveTo>
                  <a:pt x="241948" y="136771"/>
                </a:moveTo>
                <a:lnTo>
                  <a:pt x="0" y="25971"/>
                </a:lnTo>
                <a:lnTo>
                  <a:pt x="11899" y="0"/>
                </a:lnTo>
                <a:lnTo>
                  <a:pt x="253844" y="110797"/>
                </a:lnTo>
                <a:lnTo>
                  <a:pt x="245275" y="122580"/>
                </a:lnTo>
                <a:lnTo>
                  <a:pt x="241948" y="136771"/>
                </a:lnTo>
                <a:close/>
              </a:path>
              <a:path w="327660" h="183514">
                <a:moveTo>
                  <a:pt x="324354" y="153416"/>
                </a:moveTo>
                <a:lnTo>
                  <a:pt x="278295" y="153416"/>
                </a:lnTo>
                <a:lnTo>
                  <a:pt x="290195" y="127444"/>
                </a:lnTo>
                <a:lnTo>
                  <a:pt x="253844" y="110797"/>
                </a:lnTo>
                <a:lnTo>
                  <a:pt x="255283" y="108818"/>
                </a:lnTo>
                <a:lnTo>
                  <a:pt x="269308" y="100256"/>
                </a:lnTo>
                <a:lnTo>
                  <a:pt x="285521" y="97577"/>
                </a:lnTo>
                <a:lnTo>
                  <a:pt x="302094" y="101460"/>
                </a:lnTo>
                <a:lnTo>
                  <a:pt x="315856" y="111468"/>
                </a:lnTo>
                <a:lnTo>
                  <a:pt x="324418" y="125493"/>
                </a:lnTo>
                <a:lnTo>
                  <a:pt x="327098" y="141706"/>
                </a:lnTo>
                <a:lnTo>
                  <a:pt x="324354" y="153416"/>
                </a:lnTo>
                <a:close/>
              </a:path>
              <a:path w="327660" h="183514">
                <a:moveTo>
                  <a:pt x="278295" y="153416"/>
                </a:moveTo>
                <a:lnTo>
                  <a:pt x="241948" y="136771"/>
                </a:lnTo>
                <a:lnTo>
                  <a:pt x="245275" y="122580"/>
                </a:lnTo>
                <a:lnTo>
                  <a:pt x="253844" y="110797"/>
                </a:lnTo>
                <a:lnTo>
                  <a:pt x="290195" y="127444"/>
                </a:lnTo>
                <a:lnTo>
                  <a:pt x="278295" y="153416"/>
                </a:lnTo>
                <a:close/>
              </a:path>
              <a:path w="327660" h="183514">
                <a:moveTo>
                  <a:pt x="282968" y="183283"/>
                </a:moveTo>
                <a:lnTo>
                  <a:pt x="266395" y="179400"/>
                </a:lnTo>
                <a:lnTo>
                  <a:pt x="252627" y="169391"/>
                </a:lnTo>
                <a:lnTo>
                  <a:pt x="244067" y="155367"/>
                </a:lnTo>
                <a:lnTo>
                  <a:pt x="241390" y="139154"/>
                </a:lnTo>
                <a:lnTo>
                  <a:pt x="241948" y="136771"/>
                </a:lnTo>
                <a:lnTo>
                  <a:pt x="278295" y="153416"/>
                </a:lnTo>
                <a:lnTo>
                  <a:pt x="324354" y="153416"/>
                </a:lnTo>
                <a:lnTo>
                  <a:pt x="323215" y="158280"/>
                </a:lnTo>
                <a:lnTo>
                  <a:pt x="313206" y="172042"/>
                </a:lnTo>
                <a:lnTo>
                  <a:pt x="299181" y="180603"/>
                </a:lnTo>
                <a:lnTo>
                  <a:pt x="282968" y="1832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758958" y="5319395"/>
            <a:ext cx="114579" cy="127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765308" y="5149469"/>
            <a:ext cx="0" cy="474980"/>
          </a:xfrm>
          <a:custGeom>
            <a:avLst/>
            <a:gdLst/>
            <a:ahLst/>
            <a:cxnLst/>
            <a:rect l="l" t="t" r="r" b="b"/>
            <a:pathLst>
              <a:path w="0" h="474979">
                <a:moveTo>
                  <a:pt x="0" y="0"/>
                </a:moveTo>
                <a:lnTo>
                  <a:pt x="0" y="47437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867187" y="5289905"/>
            <a:ext cx="0" cy="184150"/>
          </a:xfrm>
          <a:custGeom>
            <a:avLst/>
            <a:gdLst/>
            <a:ahLst/>
            <a:cxnLst/>
            <a:rect l="l" t="t" r="r" b="b"/>
            <a:pathLst>
              <a:path w="0" h="184150">
                <a:moveTo>
                  <a:pt x="0" y="0"/>
                </a:moveTo>
                <a:lnTo>
                  <a:pt x="0" y="184137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736701" y="3362413"/>
            <a:ext cx="1912620" cy="2023745"/>
          </a:xfrm>
          <a:custGeom>
            <a:avLst/>
            <a:gdLst/>
            <a:ahLst/>
            <a:cxnLst/>
            <a:rect l="l" t="t" r="r" b="b"/>
            <a:pathLst>
              <a:path w="1912620" h="2023745">
                <a:moveTo>
                  <a:pt x="1898078" y="42430"/>
                </a:moveTo>
                <a:lnTo>
                  <a:pt x="0" y="28575"/>
                </a:lnTo>
                <a:lnTo>
                  <a:pt x="215" y="0"/>
                </a:lnTo>
                <a:lnTo>
                  <a:pt x="1912467" y="13970"/>
                </a:lnTo>
                <a:lnTo>
                  <a:pt x="1912467" y="28143"/>
                </a:lnTo>
                <a:lnTo>
                  <a:pt x="1883892" y="28143"/>
                </a:lnTo>
                <a:lnTo>
                  <a:pt x="1883892" y="42327"/>
                </a:lnTo>
                <a:lnTo>
                  <a:pt x="1897975" y="42327"/>
                </a:lnTo>
                <a:close/>
              </a:path>
              <a:path w="1912620" h="2023745">
                <a:moveTo>
                  <a:pt x="1897975" y="42327"/>
                </a:moveTo>
                <a:lnTo>
                  <a:pt x="1883892" y="42327"/>
                </a:lnTo>
                <a:lnTo>
                  <a:pt x="1883892" y="28143"/>
                </a:lnTo>
                <a:lnTo>
                  <a:pt x="1897975" y="42327"/>
                </a:lnTo>
                <a:close/>
              </a:path>
              <a:path w="1912620" h="2023745">
                <a:moveTo>
                  <a:pt x="1912467" y="42430"/>
                </a:moveTo>
                <a:lnTo>
                  <a:pt x="1898078" y="42430"/>
                </a:lnTo>
                <a:lnTo>
                  <a:pt x="1883892" y="28143"/>
                </a:lnTo>
                <a:lnTo>
                  <a:pt x="1912467" y="28143"/>
                </a:lnTo>
                <a:lnTo>
                  <a:pt x="1912467" y="42430"/>
                </a:lnTo>
                <a:close/>
              </a:path>
              <a:path w="1912620" h="2023745">
                <a:moveTo>
                  <a:pt x="1883892" y="2009343"/>
                </a:moveTo>
                <a:lnTo>
                  <a:pt x="1883892" y="42327"/>
                </a:lnTo>
                <a:lnTo>
                  <a:pt x="1912467" y="42430"/>
                </a:lnTo>
                <a:lnTo>
                  <a:pt x="1912467" y="1995055"/>
                </a:lnTo>
                <a:lnTo>
                  <a:pt x="1898180" y="1995055"/>
                </a:lnTo>
                <a:lnTo>
                  <a:pt x="1883892" y="2009343"/>
                </a:lnTo>
                <a:close/>
              </a:path>
              <a:path w="1912620" h="2023745">
                <a:moveTo>
                  <a:pt x="1912467" y="2023630"/>
                </a:moveTo>
                <a:lnTo>
                  <a:pt x="151828" y="2023630"/>
                </a:lnTo>
                <a:lnTo>
                  <a:pt x="165925" y="1191691"/>
                </a:lnTo>
                <a:lnTo>
                  <a:pt x="194500" y="1192174"/>
                </a:lnTo>
                <a:lnTo>
                  <a:pt x="180891" y="1995055"/>
                </a:lnTo>
                <a:lnTo>
                  <a:pt x="166357" y="1995055"/>
                </a:lnTo>
                <a:lnTo>
                  <a:pt x="180644" y="2009584"/>
                </a:lnTo>
                <a:lnTo>
                  <a:pt x="1912467" y="2009584"/>
                </a:lnTo>
                <a:lnTo>
                  <a:pt x="1912467" y="2023630"/>
                </a:lnTo>
                <a:close/>
              </a:path>
              <a:path w="1912620" h="2023745">
                <a:moveTo>
                  <a:pt x="180644" y="2009584"/>
                </a:moveTo>
                <a:lnTo>
                  <a:pt x="166357" y="1995055"/>
                </a:lnTo>
                <a:lnTo>
                  <a:pt x="180891" y="1995055"/>
                </a:lnTo>
                <a:lnTo>
                  <a:pt x="180644" y="2009584"/>
                </a:lnTo>
                <a:close/>
              </a:path>
              <a:path w="1912620" h="2023745">
                <a:moveTo>
                  <a:pt x="1912467" y="2009584"/>
                </a:moveTo>
                <a:lnTo>
                  <a:pt x="180644" y="2009584"/>
                </a:lnTo>
                <a:lnTo>
                  <a:pt x="180891" y="1995055"/>
                </a:lnTo>
                <a:lnTo>
                  <a:pt x="1883892" y="1995055"/>
                </a:lnTo>
                <a:lnTo>
                  <a:pt x="1883892" y="2009343"/>
                </a:lnTo>
                <a:lnTo>
                  <a:pt x="1912467" y="2009343"/>
                </a:lnTo>
                <a:lnTo>
                  <a:pt x="1912467" y="2009584"/>
                </a:lnTo>
                <a:close/>
              </a:path>
              <a:path w="1912620" h="2023745">
                <a:moveTo>
                  <a:pt x="1912467" y="2009343"/>
                </a:moveTo>
                <a:lnTo>
                  <a:pt x="1883892" y="2009343"/>
                </a:lnTo>
                <a:lnTo>
                  <a:pt x="1898180" y="1995055"/>
                </a:lnTo>
                <a:lnTo>
                  <a:pt x="1912467" y="1995055"/>
                </a:lnTo>
                <a:lnTo>
                  <a:pt x="1912467" y="20093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229901" y="3418484"/>
            <a:ext cx="822410" cy="115764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226958" y="3933164"/>
            <a:ext cx="770458" cy="73152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043019" y="3802633"/>
            <a:ext cx="2965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151522" y="3779545"/>
            <a:ext cx="2457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70939" y="1532508"/>
            <a:ext cx="9665335" cy="1834514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marL="12700" marR="5080">
              <a:lnSpc>
                <a:spcPts val="2980"/>
              </a:lnSpc>
              <a:spcBef>
                <a:spcPts val="509"/>
              </a:spcBef>
            </a:pPr>
            <a:r>
              <a:rPr dirty="0" sz="2800" i="1">
                <a:latin typeface="华文楷体"/>
                <a:cs typeface="华文楷体"/>
              </a:rPr>
              <a:t>【例题</a:t>
            </a:r>
            <a:r>
              <a:rPr dirty="0" sz="2800" spc="-5">
                <a:latin typeface="Times New Roman"/>
                <a:cs typeface="Times New Roman"/>
              </a:rPr>
              <a:t>1</a:t>
            </a:r>
            <a:r>
              <a:rPr dirty="0" sz="2800" i="1">
                <a:latin typeface="华文楷体"/>
                <a:cs typeface="华文楷体"/>
              </a:rPr>
              <a:t>】思考：当线圈</a:t>
            </a:r>
            <a:r>
              <a:rPr dirty="0" sz="2800" spc="-5">
                <a:latin typeface="Times New Roman"/>
                <a:cs typeface="Times New Roman"/>
              </a:rPr>
              <a:t>M</a:t>
            </a:r>
            <a:r>
              <a:rPr dirty="0" sz="2800" i="1">
                <a:latin typeface="华文楷体"/>
                <a:cs typeface="华文楷体"/>
              </a:rPr>
              <a:t>电路开关闭合的瞬间，线圈</a:t>
            </a:r>
            <a:r>
              <a:rPr dirty="0" sz="2800" spc="-5">
                <a:latin typeface="Times New Roman"/>
                <a:cs typeface="Times New Roman"/>
              </a:rPr>
              <a:t>N</a:t>
            </a:r>
            <a:r>
              <a:rPr dirty="0" sz="2800" i="1">
                <a:latin typeface="华文楷体"/>
                <a:cs typeface="华文楷体"/>
              </a:rPr>
              <a:t>中的</a:t>
            </a:r>
            <a:r>
              <a:rPr dirty="0" sz="2800" spc="-5" i="1">
                <a:latin typeface="华文楷体"/>
                <a:cs typeface="华文楷体"/>
              </a:rPr>
              <a:t>感 </a:t>
            </a:r>
            <a:r>
              <a:rPr dirty="0" sz="2800" i="1">
                <a:latin typeface="华文楷体"/>
                <a:cs typeface="华文楷体"/>
              </a:rPr>
              <a:t>应电流沿什么方向</a:t>
            </a:r>
            <a:r>
              <a:rPr dirty="0" sz="2800" spc="-5" i="1">
                <a:latin typeface="华文楷体"/>
                <a:cs typeface="华文楷体"/>
              </a:rPr>
              <a:t>？</a:t>
            </a:r>
            <a:endParaRPr sz="28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4300">
              <a:latin typeface="Times New Roman"/>
              <a:cs typeface="Times New Roman"/>
            </a:endParaRPr>
          </a:p>
          <a:p>
            <a:pPr marL="2945130">
              <a:lnSpc>
                <a:spcPct val="100000"/>
              </a:lnSpc>
            </a:pPr>
            <a:r>
              <a:rPr dirty="0" sz="2400">
                <a:latin typeface="Times New Roman"/>
                <a:cs typeface="Times New Roman"/>
              </a:rPr>
              <a:t>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170939" y="864108"/>
            <a:ext cx="3454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一、楞次定律的应用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0939" y="1574533"/>
            <a:ext cx="9665335" cy="829944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marL="12700" marR="5080">
              <a:lnSpc>
                <a:spcPts val="2980"/>
              </a:lnSpc>
              <a:spcBef>
                <a:spcPts val="509"/>
              </a:spcBef>
            </a:pPr>
            <a:r>
              <a:rPr dirty="0" sz="2800" i="1">
                <a:latin typeface="华文楷体"/>
                <a:cs typeface="华文楷体"/>
              </a:rPr>
              <a:t>【例题</a:t>
            </a:r>
            <a:r>
              <a:rPr dirty="0" sz="2800" spc="-5">
                <a:latin typeface="Times New Roman"/>
                <a:cs typeface="Times New Roman"/>
              </a:rPr>
              <a:t>1</a:t>
            </a:r>
            <a:r>
              <a:rPr dirty="0" sz="2800" i="1">
                <a:latin typeface="华文楷体"/>
                <a:cs typeface="华文楷体"/>
              </a:rPr>
              <a:t>】思考：当线圈</a:t>
            </a:r>
            <a:r>
              <a:rPr dirty="0" sz="2800" spc="-5">
                <a:latin typeface="Times New Roman"/>
                <a:cs typeface="Times New Roman"/>
              </a:rPr>
              <a:t>M</a:t>
            </a:r>
            <a:r>
              <a:rPr dirty="0" sz="2800" i="1">
                <a:latin typeface="华文楷体"/>
                <a:cs typeface="华文楷体"/>
              </a:rPr>
              <a:t>电路中的开关闭合的瞬间，线圈</a:t>
            </a:r>
            <a:r>
              <a:rPr dirty="0" sz="2800" spc="-5">
                <a:latin typeface="Times New Roman"/>
                <a:cs typeface="Times New Roman"/>
              </a:rPr>
              <a:t>N</a:t>
            </a:r>
            <a:r>
              <a:rPr dirty="0" sz="2800" spc="-5" i="1">
                <a:latin typeface="华文楷体"/>
                <a:cs typeface="华文楷体"/>
              </a:rPr>
              <a:t>中 </a:t>
            </a:r>
            <a:r>
              <a:rPr dirty="0" sz="2800" i="1">
                <a:latin typeface="华文楷体"/>
                <a:cs typeface="华文楷体"/>
              </a:rPr>
              <a:t>的感应电流沿什么方向</a:t>
            </a:r>
            <a:r>
              <a:rPr dirty="0" sz="2800" spc="-5" i="1">
                <a:latin typeface="华文楷体"/>
                <a:cs typeface="华文楷体"/>
              </a:rPr>
              <a:t>？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490398" y="2904972"/>
            <a:ext cx="2562775" cy="2349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344557" y="3514178"/>
            <a:ext cx="1343660" cy="1955800"/>
          </a:xfrm>
          <a:custGeom>
            <a:avLst/>
            <a:gdLst/>
            <a:ahLst/>
            <a:cxnLst/>
            <a:rect l="l" t="t" r="r" b="b"/>
            <a:pathLst>
              <a:path w="1343660" h="1955800">
                <a:moveTo>
                  <a:pt x="8597" y="1955584"/>
                </a:moveTo>
                <a:lnTo>
                  <a:pt x="0" y="5029"/>
                </a:lnTo>
                <a:lnTo>
                  <a:pt x="1299476" y="0"/>
                </a:lnTo>
                <a:lnTo>
                  <a:pt x="1299553" y="19202"/>
                </a:lnTo>
                <a:lnTo>
                  <a:pt x="28638" y="19202"/>
                </a:lnTo>
                <a:lnTo>
                  <a:pt x="14401" y="33553"/>
                </a:lnTo>
                <a:lnTo>
                  <a:pt x="28701" y="33553"/>
                </a:lnTo>
                <a:lnTo>
                  <a:pt x="37046" y="1926806"/>
                </a:lnTo>
                <a:lnTo>
                  <a:pt x="22720" y="1926907"/>
                </a:lnTo>
                <a:lnTo>
                  <a:pt x="37109" y="1941131"/>
                </a:lnTo>
                <a:lnTo>
                  <a:pt x="1239367" y="1941131"/>
                </a:lnTo>
                <a:lnTo>
                  <a:pt x="1239367" y="1946910"/>
                </a:lnTo>
                <a:lnTo>
                  <a:pt x="8597" y="1955584"/>
                </a:lnTo>
                <a:close/>
              </a:path>
              <a:path w="1343660" h="1955800">
                <a:moveTo>
                  <a:pt x="14401" y="33553"/>
                </a:moveTo>
                <a:lnTo>
                  <a:pt x="28638" y="19202"/>
                </a:lnTo>
                <a:lnTo>
                  <a:pt x="28701" y="33498"/>
                </a:lnTo>
                <a:lnTo>
                  <a:pt x="14401" y="33553"/>
                </a:lnTo>
                <a:close/>
              </a:path>
              <a:path w="1343660" h="1955800">
                <a:moveTo>
                  <a:pt x="28701" y="33498"/>
                </a:moveTo>
                <a:lnTo>
                  <a:pt x="28638" y="19202"/>
                </a:lnTo>
                <a:lnTo>
                  <a:pt x="1299553" y="19202"/>
                </a:lnTo>
                <a:lnTo>
                  <a:pt x="1299590" y="28575"/>
                </a:lnTo>
                <a:lnTo>
                  <a:pt x="28701" y="33498"/>
                </a:lnTo>
                <a:close/>
              </a:path>
              <a:path w="1343660" h="1955800">
                <a:moveTo>
                  <a:pt x="28701" y="33553"/>
                </a:moveTo>
                <a:lnTo>
                  <a:pt x="14401" y="33553"/>
                </a:lnTo>
                <a:lnTo>
                  <a:pt x="28701" y="33498"/>
                </a:lnTo>
                <a:close/>
              </a:path>
              <a:path w="1343660" h="1955800">
                <a:moveTo>
                  <a:pt x="1210792" y="1918536"/>
                </a:moveTo>
                <a:lnTo>
                  <a:pt x="1210792" y="978636"/>
                </a:lnTo>
                <a:lnTo>
                  <a:pt x="1343621" y="978636"/>
                </a:lnTo>
                <a:lnTo>
                  <a:pt x="1343621" y="992924"/>
                </a:lnTo>
                <a:lnTo>
                  <a:pt x="1239367" y="992924"/>
                </a:lnTo>
                <a:lnTo>
                  <a:pt x="1225080" y="1007211"/>
                </a:lnTo>
                <a:lnTo>
                  <a:pt x="1239367" y="1007211"/>
                </a:lnTo>
                <a:lnTo>
                  <a:pt x="1239367" y="1918436"/>
                </a:lnTo>
                <a:lnTo>
                  <a:pt x="1224978" y="1918436"/>
                </a:lnTo>
                <a:lnTo>
                  <a:pt x="1210792" y="1918536"/>
                </a:lnTo>
                <a:close/>
              </a:path>
              <a:path w="1343660" h="1955800">
                <a:moveTo>
                  <a:pt x="1239367" y="1007211"/>
                </a:moveTo>
                <a:lnTo>
                  <a:pt x="1225080" y="1007211"/>
                </a:lnTo>
                <a:lnTo>
                  <a:pt x="1239367" y="992924"/>
                </a:lnTo>
                <a:lnTo>
                  <a:pt x="1239367" y="1007211"/>
                </a:lnTo>
                <a:close/>
              </a:path>
              <a:path w="1343660" h="1955800">
                <a:moveTo>
                  <a:pt x="1343621" y="1007211"/>
                </a:moveTo>
                <a:lnTo>
                  <a:pt x="1239367" y="1007211"/>
                </a:lnTo>
                <a:lnTo>
                  <a:pt x="1239367" y="992924"/>
                </a:lnTo>
                <a:lnTo>
                  <a:pt x="1343621" y="992924"/>
                </a:lnTo>
                <a:lnTo>
                  <a:pt x="1343621" y="1007211"/>
                </a:lnTo>
                <a:close/>
              </a:path>
              <a:path w="1343660" h="1955800">
                <a:moveTo>
                  <a:pt x="1210792" y="1932724"/>
                </a:moveTo>
                <a:lnTo>
                  <a:pt x="1210792" y="1918536"/>
                </a:lnTo>
                <a:lnTo>
                  <a:pt x="1224978" y="1918436"/>
                </a:lnTo>
                <a:lnTo>
                  <a:pt x="1210792" y="1932724"/>
                </a:lnTo>
                <a:close/>
              </a:path>
              <a:path w="1343660" h="1955800">
                <a:moveTo>
                  <a:pt x="1239367" y="1932724"/>
                </a:moveTo>
                <a:lnTo>
                  <a:pt x="1210792" y="1932724"/>
                </a:lnTo>
                <a:lnTo>
                  <a:pt x="1224978" y="1918436"/>
                </a:lnTo>
                <a:lnTo>
                  <a:pt x="1239367" y="1918436"/>
                </a:lnTo>
                <a:lnTo>
                  <a:pt x="1239367" y="1932724"/>
                </a:lnTo>
                <a:close/>
              </a:path>
              <a:path w="1343660" h="1955800">
                <a:moveTo>
                  <a:pt x="1239367" y="1941131"/>
                </a:moveTo>
                <a:lnTo>
                  <a:pt x="37109" y="1941131"/>
                </a:lnTo>
                <a:lnTo>
                  <a:pt x="37046" y="1926806"/>
                </a:lnTo>
                <a:lnTo>
                  <a:pt x="1210792" y="1918536"/>
                </a:lnTo>
                <a:lnTo>
                  <a:pt x="1210792" y="1932724"/>
                </a:lnTo>
                <a:lnTo>
                  <a:pt x="1239367" y="1932724"/>
                </a:lnTo>
                <a:lnTo>
                  <a:pt x="1239367" y="1941131"/>
                </a:lnTo>
                <a:close/>
              </a:path>
              <a:path w="1343660" h="1955800">
                <a:moveTo>
                  <a:pt x="37109" y="1941131"/>
                </a:moveTo>
                <a:lnTo>
                  <a:pt x="22720" y="1926907"/>
                </a:lnTo>
                <a:lnTo>
                  <a:pt x="37046" y="1926806"/>
                </a:lnTo>
                <a:lnTo>
                  <a:pt x="37109" y="19411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838879" y="3395129"/>
            <a:ext cx="327660" cy="183515"/>
          </a:xfrm>
          <a:custGeom>
            <a:avLst/>
            <a:gdLst/>
            <a:ahLst/>
            <a:cxnLst/>
            <a:rect l="l" t="t" r="r" b="b"/>
            <a:pathLst>
              <a:path w="327660" h="183514">
                <a:moveTo>
                  <a:pt x="241947" y="136783"/>
                </a:moveTo>
                <a:lnTo>
                  <a:pt x="0" y="25984"/>
                </a:lnTo>
                <a:lnTo>
                  <a:pt x="11899" y="0"/>
                </a:lnTo>
                <a:lnTo>
                  <a:pt x="253847" y="110799"/>
                </a:lnTo>
                <a:lnTo>
                  <a:pt x="245275" y="122593"/>
                </a:lnTo>
                <a:lnTo>
                  <a:pt x="241947" y="136783"/>
                </a:lnTo>
                <a:close/>
              </a:path>
              <a:path w="327660" h="183514">
                <a:moveTo>
                  <a:pt x="324351" y="153428"/>
                </a:moveTo>
                <a:lnTo>
                  <a:pt x="278295" y="153428"/>
                </a:lnTo>
                <a:lnTo>
                  <a:pt x="290195" y="127444"/>
                </a:lnTo>
                <a:lnTo>
                  <a:pt x="253847" y="110799"/>
                </a:lnTo>
                <a:lnTo>
                  <a:pt x="255283" y="108823"/>
                </a:lnTo>
                <a:lnTo>
                  <a:pt x="269306" y="100258"/>
                </a:lnTo>
                <a:lnTo>
                  <a:pt x="285515" y="97577"/>
                </a:lnTo>
                <a:lnTo>
                  <a:pt x="302082" y="101460"/>
                </a:lnTo>
                <a:lnTo>
                  <a:pt x="315851" y="111468"/>
                </a:lnTo>
                <a:lnTo>
                  <a:pt x="324416" y="125493"/>
                </a:lnTo>
                <a:lnTo>
                  <a:pt x="327097" y="141706"/>
                </a:lnTo>
                <a:lnTo>
                  <a:pt x="324351" y="153428"/>
                </a:lnTo>
                <a:close/>
              </a:path>
              <a:path w="327660" h="183514">
                <a:moveTo>
                  <a:pt x="278295" y="153428"/>
                </a:moveTo>
                <a:lnTo>
                  <a:pt x="241947" y="136783"/>
                </a:lnTo>
                <a:lnTo>
                  <a:pt x="245275" y="122593"/>
                </a:lnTo>
                <a:lnTo>
                  <a:pt x="253847" y="110799"/>
                </a:lnTo>
                <a:lnTo>
                  <a:pt x="290195" y="127444"/>
                </a:lnTo>
                <a:lnTo>
                  <a:pt x="278295" y="153428"/>
                </a:lnTo>
                <a:close/>
              </a:path>
              <a:path w="327660" h="183514">
                <a:moveTo>
                  <a:pt x="282968" y="183285"/>
                </a:moveTo>
                <a:lnTo>
                  <a:pt x="266395" y="179400"/>
                </a:lnTo>
                <a:lnTo>
                  <a:pt x="252627" y="169391"/>
                </a:lnTo>
                <a:lnTo>
                  <a:pt x="244067" y="155368"/>
                </a:lnTo>
                <a:lnTo>
                  <a:pt x="241390" y="139159"/>
                </a:lnTo>
                <a:lnTo>
                  <a:pt x="241947" y="136783"/>
                </a:lnTo>
                <a:lnTo>
                  <a:pt x="278295" y="153428"/>
                </a:lnTo>
                <a:lnTo>
                  <a:pt x="324351" y="153428"/>
                </a:lnTo>
                <a:lnTo>
                  <a:pt x="323214" y="158280"/>
                </a:lnTo>
                <a:lnTo>
                  <a:pt x="313206" y="172047"/>
                </a:lnTo>
                <a:lnTo>
                  <a:pt x="299181" y="180608"/>
                </a:lnTo>
                <a:lnTo>
                  <a:pt x="282968" y="1832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838473" y="5385650"/>
            <a:ext cx="114579" cy="127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844823" y="5215737"/>
            <a:ext cx="0" cy="474980"/>
          </a:xfrm>
          <a:custGeom>
            <a:avLst/>
            <a:gdLst/>
            <a:ahLst/>
            <a:cxnLst/>
            <a:rect l="l" t="t" r="r" b="b"/>
            <a:pathLst>
              <a:path w="0" h="474979">
                <a:moveTo>
                  <a:pt x="0" y="0"/>
                </a:moveTo>
                <a:lnTo>
                  <a:pt x="0" y="474357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946702" y="5356174"/>
            <a:ext cx="0" cy="184150"/>
          </a:xfrm>
          <a:custGeom>
            <a:avLst/>
            <a:gdLst/>
            <a:ahLst/>
            <a:cxnLst/>
            <a:rect l="l" t="t" r="r" b="b"/>
            <a:pathLst>
              <a:path w="0" h="184150">
                <a:moveTo>
                  <a:pt x="0" y="0"/>
                </a:moveTo>
                <a:lnTo>
                  <a:pt x="0" y="18412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816217" y="3428682"/>
            <a:ext cx="1912620" cy="2023745"/>
          </a:xfrm>
          <a:custGeom>
            <a:avLst/>
            <a:gdLst/>
            <a:ahLst/>
            <a:cxnLst/>
            <a:rect l="l" t="t" r="r" b="b"/>
            <a:pathLst>
              <a:path w="1912620" h="2023745">
                <a:moveTo>
                  <a:pt x="1898078" y="42430"/>
                </a:moveTo>
                <a:lnTo>
                  <a:pt x="0" y="28575"/>
                </a:lnTo>
                <a:lnTo>
                  <a:pt x="215" y="0"/>
                </a:lnTo>
                <a:lnTo>
                  <a:pt x="1912467" y="13957"/>
                </a:lnTo>
                <a:lnTo>
                  <a:pt x="1912467" y="28143"/>
                </a:lnTo>
                <a:lnTo>
                  <a:pt x="1883892" y="28143"/>
                </a:lnTo>
                <a:lnTo>
                  <a:pt x="1883892" y="42327"/>
                </a:lnTo>
                <a:lnTo>
                  <a:pt x="1897975" y="42327"/>
                </a:lnTo>
                <a:close/>
              </a:path>
              <a:path w="1912620" h="2023745">
                <a:moveTo>
                  <a:pt x="1897975" y="42327"/>
                </a:moveTo>
                <a:lnTo>
                  <a:pt x="1883892" y="42327"/>
                </a:lnTo>
                <a:lnTo>
                  <a:pt x="1883892" y="28143"/>
                </a:lnTo>
                <a:lnTo>
                  <a:pt x="1897975" y="42327"/>
                </a:lnTo>
                <a:close/>
              </a:path>
              <a:path w="1912620" h="2023745">
                <a:moveTo>
                  <a:pt x="1912467" y="42430"/>
                </a:moveTo>
                <a:lnTo>
                  <a:pt x="1898078" y="42430"/>
                </a:lnTo>
                <a:lnTo>
                  <a:pt x="1883892" y="28143"/>
                </a:lnTo>
                <a:lnTo>
                  <a:pt x="1912467" y="28143"/>
                </a:lnTo>
                <a:lnTo>
                  <a:pt x="1912467" y="42430"/>
                </a:lnTo>
                <a:close/>
              </a:path>
              <a:path w="1912620" h="2023745">
                <a:moveTo>
                  <a:pt x="1883892" y="2009343"/>
                </a:moveTo>
                <a:lnTo>
                  <a:pt x="1883892" y="42327"/>
                </a:lnTo>
                <a:lnTo>
                  <a:pt x="1912467" y="42430"/>
                </a:lnTo>
                <a:lnTo>
                  <a:pt x="1912467" y="1995055"/>
                </a:lnTo>
                <a:lnTo>
                  <a:pt x="1898180" y="1995055"/>
                </a:lnTo>
                <a:lnTo>
                  <a:pt x="1883892" y="2009343"/>
                </a:lnTo>
                <a:close/>
              </a:path>
              <a:path w="1912620" h="2023745">
                <a:moveTo>
                  <a:pt x="1912467" y="2023630"/>
                </a:moveTo>
                <a:lnTo>
                  <a:pt x="151828" y="2023630"/>
                </a:lnTo>
                <a:lnTo>
                  <a:pt x="165925" y="1191679"/>
                </a:lnTo>
                <a:lnTo>
                  <a:pt x="194500" y="1192161"/>
                </a:lnTo>
                <a:lnTo>
                  <a:pt x="180891" y="1995055"/>
                </a:lnTo>
                <a:lnTo>
                  <a:pt x="166357" y="1995055"/>
                </a:lnTo>
                <a:lnTo>
                  <a:pt x="180644" y="2009584"/>
                </a:lnTo>
                <a:lnTo>
                  <a:pt x="1912467" y="2009584"/>
                </a:lnTo>
                <a:lnTo>
                  <a:pt x="1912467" y="2023630"/>
                </a:lnTo>
                <a:close/>
              </a:path>
              <a:path w="1912620" h="2023745">
                <a:moveTo>
                  <a:pt x="180644" y="2009584"/>
                </a:moveTo>
                <a:lnTo>
                  <a:pt x="166357" y="1995055"/>
                </a:lnTo>
                <a:lnTo>
                  <a:pt x="180891" y="1995055"/>
                </a:lnTo>
                <a:lnTo>
                  <a:pt x="180644" y="2009584"/>
                </a:lnTo>
                <a:close/>
              </a:path>
              <a:path w="1912620" h="2023745">
                <a:moveTo>
                  <a:pt x="1912467" y="2009584"/>
                </a:moveTo>
                <a:lnTo>
                  <a:pt x="180644" y="2009584"/>
                </a:lnTo>
                <a:lnTo>
                  <a:pt x="180891" y="1995055"/>
                </a:lnTo>
                <a:lnTo>
                  <a:pt x="1883892" y="1995055"/>
                </a:lnTo>
                <a:lnTo>
                  <a:pt x="1883892" y="2009343"/>
                </a:lnTo>
                <a:lnTo>
                  <a:pt x="1912467" y="2009343"/>
                </a:lnTo>
                <a:lnTo>
                  <a:pt x="1912467" y="2009584"/>
                </a:lnTo>
                <a:close/>
              </a:path>
              <a:path w="1912620" h="2023745">
                <a:moveTo>
                  <a:pt x="1912467" y="2009343"/>
                </a:moveTo>
                <a:lnTo>
                  <a:pt x="1883892" y="2009343"/>
                </a:lnTo>
                <a:lnTo>
                  <a:pt x="1898180" y="1995055"/>
                </a:lnTo>
                <a:lnTo>
                  <a:pt x="1912467" y="1995055"/>
                </a:lnTo>
                <a:lnTo>
                  <a:pt x="1912467" y="20093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729670" y="3064510"/>
            <a:ext cx="2402120" cy="20762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306472" y="3999420"/>
            <a:ext cx="770458" cy="73152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696991" y="2735173"/>
            <a:ext cx="2838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0416" sz="3600" spc="-22" b="1" i="1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r>
              <a:rPr dirty="0" sz="1550" spc="-765" b="1">
                <a:solidFill>
                  <a:srgbClr val="0000FF"/>
                </a:solidFill>
                <a:latin typeface="Times New Roman"/>
                <a:cs typeface="Times New Roman"/>
              </a:rPr>
              <a:t>0</a:t>
            </a:r>
            <a:r>
              <a:rPr dirty="0" sz="1550" b="1" i="1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22534" y="3868889"/>
            <a:ext cx="2965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231036" y="3845814"/>
            <a:ext cx="2457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95914" y="3087805"/>
            <a:ext cx="169545" cy="3378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620"/>
              </a:lnSpc>
            </a:pPr>
            <a:r>
              <a:rPr dirty="0" sz="2400">
                <a:latin typeface="Times New Roman"/>
                <a:cs typeface="Times New Roman"/>
              </a:rPr>
              <a:t>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834384" y="2980944"/>
            <a:ext cx="515620" cy="830580"/>
          </a:xfrm>
          <a:custGeom>
            <a:avLst/>
            <a:gdLst/>
            <a:ahLst/>
            <a:cxnLst/>
            <a:rect l="l" t="t" r="r" b="b"/>
            <a:pathLst>
              <a:path w="515620" h="830579">
                <a:moveTo>
                  <a:pt x="0" y="0"/>
                </a:moveTo>
                <a:lnTo>
                  <a:pt x="515112" y="0"/>
                </a:lnTo>
                <a:lnTo>
                  <a:pt x="515112" y="830579"/>
                </a:lnTo>
                <a:lnTo>
                  <a:pt x="0" y="830579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3834384" y="2995155"/>
            <a:ext cx="5156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7005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826128" y="3485603"/>
            <a:ext cx="566420" cy="85725"/>
          </a:xfrm>
          <a:custGeom>
            <a:avLst/>
            <a:gdLst/>
            <a:ahLst/>
            <a:cxnLst/>
            <a:rect l="l" t="t" r="r" b="b"/>
            <a:pathLst>
              <a:path w="566420" h="85725">
                <a:moveTo>
                  <a:pt x="523240" y="85725"/>
                </a:moveTo>
                <a:lnTo>
                  <a:pt x="506555" y="82356"/>
                </a:lnTo>
                <a:lnTo>
                  <a:pt x="492931" y="73171"/>
                </a:lnTo>
                <a:lnTo>
                  <a:pt x="483745" y="59546"/>
                </a:lnTo>
                <a:lnTo>
                  <a:pt x="480377" y="42862"/>
                </a:lnTo>
                <a:lnTo>
                  <a:pt x="483745" y="26178"/>
                </a:lnTo>
                <a:lnTo>
                  <a:pt x="492931" y="12553"/>
                </a:lnTo>
                <a:lnTo>
                  <a:pt x="506555" y="3368"/>
                </a:lnTo>
                <a:lnTo>
                  <a:pt x="523240" y="0"/>
                </a:lnTo>
                <a:lnTo>
                  <a:pt x="539924" y="3368"/>
                </a:lnTo>
                <a:lnTo>
                  <a:pt x="553548" y="12553"/>
                </a:lnTo>
                <a:lnTo>
                  <a:pt x="562734" y="26178"/>
                </a:lnTo>
                <a:lnTo>
                  <a:pt x="563218" y="28575"/>
                </a:lnTo>
                <a:lnTo>
                  <a:pt x="523240" y="28575"/>
                </a:lnTo>
                <a:lnTo>
                  <a:pt x="523240" y="57150"/>
                </a:lnTo>
                <a:lnTo>
                  <a:pt x="563218" y="57150"/>
                </a:lnTo>
                <a:lnTo>
                  <a:pt x="562734" y="59546"/>
                </a:lnTo>
                <a:lnTo>
                  <a:pt x="553548" y="73171"/>
                </a:lnTo>
                <a:lnTo>
                  <a:pt x="539924" y="82356"/>
                </a:lnTo>
                <a:lnTo>
                  <a:pt x="523240" y="85725"/>
                </a:lnTo>
                <a:close/>
              </a:path>
              <a:path w="566420" h="85725">
                <a:moveTo>
                  <a:pt x="483261" y="57150"/>
                </a:moveTo>
                <a:lnTo>
                  <a:pt x="0" y="57150"/>
                </a:lnTo>
                <a:lnTo>
                  <a:pt x="0" y="28575"/>
                </a:lnTo>
                <a:lnTo>
                  <a:pt x="483261" y="28575"/>
                </a:lnTo>
                <a:lnTo>
                  <a:pt x="480377" y="42862"/>
                </a:lnTo>
                <a:lnTo>
                  <a:pt x="483261" y="57150"/>
                </a:lnTo>
                <a:close/>
              </a:path>
              <a:path w="566420" h="85725">
                <a:moveTo>
                  <a:pt x="563218" y="57150"/>
                </a:moveTo>
                <a:lnTo>
                  <a:pt x="523240" y="57150"/>
                </a:lnTo>
                <a:lnTo>
                  <a:pt x="523240" y="28575"/>
                </a:lnTo>
                <a:lnTo>
                  <a:pt x="563218" y="28575"/>
                </a:lnTo>
                <a:lnTo>
                  <a:pt x="566102" y="42862"/>
                </a:lnTo>
                <a:lnTo>
                  <a:pt x="563218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592823" y="3543300"/>
            <a:ext cx="652272" cy="92659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439547" y="3594404"/>
            <a:ext cx="581025" cy="161290"/>
          </a:xfrm>
          <a:custGeom>
            <a:avLst/>
            <a:gdLst/>
            <a:ahLst/>
            <a:cxnLst/>
            <a:rect l="l" t="t" r="r" b="b"/>
            <a:pathLst>
              <a:path w="581025" h="161289">
                <a:moveTo>
                  <a:pt x="498240" y="117479"/>
                </a:moveTo>
                <a:lnTo>
                  <a:pt x="0" y="28130"/>
                </a:lnTo>
                <a:lnTo>
                  <a:pt x="5054" y="0"/>
                </a:lnTo>
                <a:lnTo>
                  <a:pt x="503283" y="89349"/>
                </a:lnTo>
                <a:lnTo>
                  <a:pt x="524874" y="107739"/>
                </a:lnTo>
                <a:lnTo>
                  <a:pt x="498240" y="117479"/>
                </a:lnTo>
                <a:close/>
              </a:path>
              <a:path w="581025" h="161289">
                <a:moveTo>
                  <a:pt x="555932" y="126809"/>
                </a:moveTo>
                <a:lnTo>
                  <a:pt x="550265" y="126809"/>
                </a:lnTo>
                <a:lnTo>
                  <a:pt x="555307" y="98678"/>
                </a:lnTo>
                <a:lnTo>
                  <a:pt x="503283" y="89349"/>
                </a:lnTo>
                <a:lnTo>
                  <a:pt x="467969" y="59270"/>
                </a:lnTo>
                <a:lnTo>
                  <a:pt x="462953" y="48780"/>
                </a:lnTo>
                <a:lnTo>
                  <a:pt x="463181" y="45808"/>
                </a:lnTo>
                <a:lnTo>
                  <a:pt x="478332" y="34150"/>
                </a:lnTo>
                <a:lnTo>
                  <a:pt x="481266" y="34683"/>
                </a:lnTo>
                <a:lnTo>
                  <a:pt x="484035" y="35826"/>
                </a:lnTo>
                <a:lnTo>
                  <a:pt x="486498" y="37515"/>
                </a:lnTo>
                <a:lnTo>
                  <a:pt x="580694" y="117754"/>
                </a:lnTo>
                <a:lnTo>
                  <a:pt x="555932" y="126809"/>
                </a:lnTo>
                <a:close/>
              </a:path>
              <a:path w="581025" h="161289">
                <a:moveTo>
                  <a:pt x="524874" y="107739"/>
                </a:moveTo>
                <a:lnTo>
                  <a:pt x="503283" y="89349"/>
                </a:lnTo>
                <a:lnTo>
                  <a:pt x="555307" y="98678"/>
                </a:lnTo>
                <a:lnTo>
                  <a:pt x="555191" y="99326"/>
                </a:lnTo>
                <a:lnTo>
                  <a:pt x="547878" y="99326"/>
                </a:lnTo>
                <a:lnTo>
                  <a:pt x="524874" y="107739"/>
                </a:lnTo>
                <a:close/>
              </a:path>
              <a:path w="581025" h="161289">
                <a:moveTo>
                  <a:pt x="543521" y="123621"/>
                </a:moveTo>
                <a:lnTo>
                  <a:pt x="524874" y="107739"/>
                </a:lnTo>
                <a:lnTo>
                  <a:pt x="547878" y="99326"/>
                </a:lnTo>
                <a:lnTo>
                  <a:pt x="543521" y="123621"/>
                </a:lnTo>
                <a:close/>
              </a:path>
              <a:path w="581025" h="161289">
                <a:moveTo>
                  <a:pt x="550836" y="123621"/>
                </a:moveTo>
                <a:lnTo>
                  <a:pt x="543521" y="123621"/>
                </a:lnTo>
                <a:lnTo>
                  <a:pt x="547878" y="99326"/>
                </a:lnTo>
                <a:lnTo>
                  <a:pt x="555191" y="99326"/>
                </a:lnTo>
                <a:lnTo>
                  <a:pt x="550836" y="123621"/>
                </a:lnTo>
                <a:close/>
              </a:path>
              <a:path w="581025" h="161289">
                <a:moveTo>
                  <a:pt x="550265" y="126809"/>
                </a:moveTo>
                <a:lnTo>
                  <a:pt x="498240" y="117479"/>
                </a:lnTo>
                <a:lnTo>
                  <a:pt x="524874" y="107739"/>
                </a:lnTo>
                <a:lnTo>
                  <a:pt x="543521" y="123621"/>
                </a:lnTo>
                <a:lnTo>
                  <a:pt x="550836" y="123621"/>
                </a:lnTo>
                <a:lnTo>
                  <a:pt x="550265" y="126809"/>
                </a:lnTo>
                <a:close/>
              </a:path>
              <a:path w="581025" h="161289">
                <a:moveTo>
                  <a:pt x="458596" y="161086"/>
                </a:moveTo>
                <a:lnTo>
                  <a:pt x="445300" y="147358"/>
                </a:lnTo>
                <a:lnTo>
                  <a:pt x="445503" y="144373"/>
                </a:lnTo>
                <a:lnTo>
                  <a:pt x="498240" y="117479"/>
                </a:lnTo>
                <a:lnTo>
                  <a:pt x="550265" y="126809"/>
                </a:lnTo>
                <a:lnTo>
                  <a:pt x="555932" y="126809"/>
                </a:lnTo>
                <a:lnTo>
                  <a:pt x="464489" y="160248"/>
                </a:lnTo>
                <a:lnTo>
                  <a:pt x="461581" y="160985"/>
                </a:lnTo>
                <a:lnTo>
                  <a:pt x="458596" y="161086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562750" y="3903764"/>
            <a:ext cx="471805" cy="183515"/>
          </a:xfrm>
          <a:custGeom>
            <a:avLst/>
            <a:gdLst/>
            <a:ahLst/>
            <a:cxnLst/>
            <a:rect l="l" t="t" r="r" b="b"/>
            <a:pathLst>
              <a:path w="471804" h="183514">
                <a:moveTo>
                  <a:pt x="389587" y="144260"/>
                </a:moveTo>
                <a:lnTo>
                  <a:pt x="0" y="27368"/>
                </a:lnTo>
                <a:lnTo>
                  <a:pt x="8216" y="0"/>
                </a:lnTo>
                <a:lnTo>
                  <a:pt x="397790" y="116887"/>
                </a:lnTo>
                <a:lnTo>
                  <a:pt x="417148" y="137617"/>
                </a:lnTo>
                <a:lnTo>
                  <a:pt x="389587" y="144260"/>
                </a:lnTo>
                <a:close/>
              </a:path>
              <a:path w="471804" h="183514">
                <a:moveTo>
                  <a:pt x="448511" y="159448"/>
                </a:moveTo>
                <a:lnTo>
                  <a:pt x="440207" y="159448"/>
                </a:lnTo>
                <a:lnTo>
                  <a:pt x="448424" y="132080"/>
                </a:lnTo>
                <a:lnTo>
                  <a:pt x="397790" y="116887"/>
                </a:lnTo>
                <a:lnTo>
                  <a:pt x="366128" y="82981"/>
                </a:lnTo>
                <a:lnTo>
                  <a:pt x="362343" y="71996"/>
                </a:lnTo>
                <a:lnTo>
                  <a:pt x="362915" y="69062"/>
                </a:lnTo>
                <a:lnTo>
                  <a:pt x="376313" y="58953"/>
                </a:lnTo>
                <a:lnTo>
                  <a:pt x="379285" y="59207"/>
                </a:lnTo>
                <a:lnTo>
                  <a:pt x="382143" y="60071"/>
                </a:lnTo>
                <a:lnTo>
                  <a:pt x="384759" y="61518"/>
                </a:lnTo>
                <a:lnTo>
                  <a:pt x="387019" y="63487"/>
                </a:lnTo>
                <a:lnTo>
                  <a:pt x="471474" y="153911"/>
                </a:lnTo>
                <a:lnTo>
                  <a:pt x="448511" y="159448"/>
                </a:lnTo>
                <a:close/>
              </a:path>
              <a:path w="471804" h="183514">
                <a:moveTo>
                  <a:pt x="417148" y="137617"/>
                </a:moveTo>
                <a:lnTo>
                  <a:pt x="397790" y="116887"/>
                </a:lnTo>
                <a:lnTo>
                  <a:pt x="447747" y="131876"/>
                </a:lnTo>
                <a:lnTo>
                  <a:pt x="440969" y="131876"/>
                </a:lnTo>
                <a:lnTo>
                  <a:pt x="417148" y="137617"/>
                </a:lnTo>
                <a:close/>
              </a:path>
              <a:path w="471804" h="183514">
                <a:moveTo>
                  <a:pt x="433870" y="155524"/>
                </a:moveTo>
                <a:lnTo>
                  <a:pt x="417148" y="137617"/>
                </a:lnTo>
                <a:lnTo>
                  <a:pt x="440969" y="131876"/>
                </a:lnTo>
                <a:lnTo>
                  <a:pt x="433870" y="155524"/>
                </a:lnTo>
                <a:close/>
              </a:path>
              <a:path w="471804" h="183514">
                <a:moveTo>
                  <a:pt x="441385" y="155524"/>
                </a:moveTo>
                <a:lnTo>
                  <a:pt x="433870" y="155524"/>
                </a:lnTo>
                <a:lnTo>
                  <a:pt x="440969" y="131876"/>
                </a:lnTo>
                <a:lnTo>
                  <a:pt x="447747" y="131876"/>
                </a:lnTo>
                <a:lnTo>
                  <a:pt x="448424" y="132080"/>
                </a:lnTo>
                <a:lnTo>
                  <a:pt x="441385" y="155524"/>
                </a:lnTo>
                <a:close/>
              </a:path>
              <a:path w="471804" h="183514">
                <a:moveTo>
                  <a:pt x="440207" y="159448"/>
                </a:moveTo>
                <a:lnTo>
                  <a:pt x="389587" y="144260"/>
                </a:lnTo>
                <a:lnTo>
                  <a:pt x="417148" y="137617"/>
                </a:lnTo>
                <a:lnTo>
                  <a:pt x="433870" y="155524"/>
                </a:lnTo>
                <a:lnTo>
                  <a:pt x="441385" y="155524"/>
                </a:lnTo>
                <a:lnTo>
                  <a:pt x="440207" y="159448"/>
                </a:lnTo>
                <a:close/>
              </a:path>
              <a:path w="471804" h="183514">
                <a:moveTo>
                  <a:pt x="348221" y="183311"/>
                </a:moveTo>
                <a:lnTo>
                  <a:pt x="333590" y="167919"/>
                </a:lnTo>
                <a:lnTo>
                  <a:pt x="334124" y="164985"/>
                </a:lnTo>
                <a:lnTo>
                  <a:pt x="389587" y="144260"/>
                </a:lnTo>
                <a:lnTo>
                  <a:pt x="440207" y="159448"/>
                </a:lnTo>
                <a:lnTo>
                  <a:pt x="448511" y="159448"/>
                </a:lnTo>
                <a:lnTo>
                  <a:pt x="351180" y="182918"/>
                </a:lnTo>
                <a:lnTo>
                  <a:pt x="348221" y="18331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562153" y="4213529"/>
            <a:ext cx="441325" cy="189865"/>
          </a:xfrm>
          <a:custGeom>
            <a:avLst/>
            <a:gdLst/>
            <a:ahLst/>
            <a:cxnLst/>
            <a:rect l="l" t="t" r="r" b="b"/>
            <a:pathLst>
              <a:path w="441325" h="189864">
                <a:moveTo>
                  <a:pt x="359418" y="152384"/>
                </a:moveTo>
                <a:lnTo>
                  <a:pt x="0" y="26987"/>
                </a:lnTo>
                <a:lnTo>
                  <a:pt x="9410" y="0"/>
                </a:lnTo>
                <a:lnTo>
                  <a:pt x="368843" y="125401"/>
                </a:lnTo>
                <a:lnTo>
                  <a:pt x="387263" y="146960"/>
                </a:lnTo>
                <a:lnTo>
                  <a:pt x="359418" y="152384"/>
                </a:lnTo>
                <a:close/>
              </a:path>
              <a:path w="441325" h="189864">
                <a:moveTo>
                  <a:pt x="419497" y="169799"/>
                </a:moveTo>
                <a:lnTo>
                  <a:pt x="409333" y="169799"/>
                </a:lnTo>
                <a:lnTo>
                  <a:pt x="418744" y="142811"/>
                </a:lnTo>
                <a:lnTo>
                  <a:pt x="368843" y="125401"/>
                </a:lnTo>
                <a:lnTo>
                  <a:pt x="338708" y="90131"/>
                </a:lnTo>
                <a:lnTo>
                  <a:pt x="337019" y="87668"/>
                </a:lnTo>
                <a:lnTo>
                  <a:pt x="335876" y="84912"/>
                </a:lnTo>
                <a:lnTo>
                  <a:pt x="335330" y="81978"/>
                </a:lnTo>
                <a:lnTo>
                  <a:pt x="335406" y="78994"/>
                </a:lnTo>
                <a:lnTo>
                  <a:pt x="349948" y="66573"/>
                </a:lnTo>
                <a:lnTo>
                  <a:pt x="352907" y="66954"/>
                </a:lnTo>
                <a:lnTo>
                  <a:pt x="355714" y="67957"/>
                </a:lnTo>
                <a:lnTo>
                  <a:pt x="358266" y="69507"/>
                </a:lnTo>
                <a:lnTo>
                  <a:pt x="360438" y="71564"/>
                </a:lnTo>
                <a:lnTo>
                  <a:pt x="440816" y="165646"/>
                </a:lnTo>
                <a:lnTo>
                  <a:pt x="419497" y="169799"/>
                </a:lnTo>
                <a:close/>
              </a:path>
              <a:path w="441325" h="189864">
                <a:moveTo>
                  <a:pt x="387263" y="146960"/>
                </a:moveTo>
                <a:lnTo>
                  <a:pt x="368843" y="125401"/>
                </a:lnTo>
                <a:lnTo>
                  <a:pt x="417215" y="142278"/>
                </a:lnTo>
                <a:lnTo>
                  <a:pt x="411302" y="142278"/>
                </a:lnTo>
                <a:lnTo>
                  <a:pt x="387263" y="146960"/>
                </a:lnTo>
                <a:close/>
              </a:path>
              <a:path w="441325" h="189864">
                <a:moveTo>
                  <a:pt x="403174" y="165582"/>
                </a:moveTo>
                <a:lnTo>
                  <a:pt x="387263" y="146960"/>
                </a:lnTo>
                <a:lnTo>
                  <a:pt x="411302" y="142278"/>
                </a:lnTo>
                <a:lnTo>
                  <a:pt x="403174" y="165582"/>
                </a:lnTo>
                <a:close/>
              </a:path>
              <a:path w="441325" h="189864">
                <a:moveTo>
                  <a:pt x="410803" y="165582"/>
                </a:moveTo>
                <a:lnTo>
                  <a:pt x="403174" y="165582"/>
                </a:lnTo>
                <a:lnTo>
                  <a:pt x="411302" y="142278"/>
                </a:lnTo>
                <a:lnTo>
                  <a:pt x="417215" y="142278"/>
                </a:lnTo>
                <a:lnTo>
                  <a:pt x="418744" y="142811"/>
                </a:lnTo>
                <a:lnTo>
                  <a:pt x="410803" y="165582"/>
                </a:lnTo>
                <a:close/>
              </a:path>
              <a:path w="441325" h="189864">
                <a:moveTo>
                  <a:pt x="409333" y="169799"/>
                </a:moveTo>
                <a:lnTo>
                  <a:pt x="359418" y="152384"/>
                </a:lnTo>
                <a:lnTo>
                  <a:pt x="387263" y="146960"/>
                </a:lnTo>
                <a:lnTo>
                  <a:pt x="403174" y="165582"/>
                </a:lnTo>
                <a:lnTo>
                  <a:pt x="410803" y="165582"/>
                </a:lnTo>
                <a:lnTo>
                  <a:pt x="409333" y="169799"/>
                </a:lnTo>
                <a:close/>
              </a:path>
              <a:path w="441325" h="189864">
                <a:moveTo>
                  <a:pt x="316382" y="189560"/>
                </a:moveTo>
                <a:lnTo>
                  <a:pt x="302386" y="176529"/>
                </a:lnTo>
                <a:lnTo>
                  <a:pt x="302437" y="173545"/>
                </a:lnTo>
                <a:lnTo>
                  <a:pt x="359418" y="152384"/>
                </a:lnTo>
                <a:lnTo>
                  <a:pt x="409333" y="169799"/>
                </a:lnTo>
                <a:lnTo>
                  <a:pt x="419497" y="169799"/>
                </a:lnTo>
                <a:lnTo>
                  <a:pt x="319354" y="189306"/>
                </a:lnTo>
                <a:lnTo>
                  <a:pt x="316382" y="18956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474650" y="4547006"/>
            <a:ext cx="467995" cy="139700"/>
          </a:xfrm>
          <a:custGeom>
            <a:avLst/>
            <a:gdLst/>
            <a:ahLst/>
            <a:cxnLst/>
            <a:rect l="l" t="t" r="r" b="b"/>
            <a:pathLst>
              <a:path w="467995" h="139700">
                <a:moveTo>
                  <a:pt x="385186" y="95482"/>
                </a:moveTo>
                <a:lnTo>
                  <a:pt x="0" y="28143"/>
                </a:lnTo>
                <a:lnTo>
                  <a:pt x="4927" y="0"/>
                </a:lnTo>
                <a:lnTo>
                  <a:pt x="390109" y="67329"/>
                </a:lnTo>
                <a:lnTo>
                  <a:pt x="411781" y="85625"/>
                </a:lnTo>
                <a:lnTo>
                  <a:pt x="385186" y="95482"/>
                </a:lnTo>
                <a:close/>
              </a:path>
              <a:path w="467995" h="139700">
                <a:moveTo>
                  <a:pt x="442837" y="104584"/>
                </a:moveTo>
                <a:lnTo>
                  <a:pt x="437248" y="104584"/>
                </a:lnTo>
                <a:lnTo>
                  <a:pt x="442163" y="76428"/>
                </a:lnTo>
                <a:lnTo>
                  <a:pt x="390109" y="67329"/>
                </a:lnTo>
                <a:lnTo>
                  <a:pt x="354660" y="37401"/>
                </a:lnTo>
                <a:lnTo>
                  <a:pt x="349592" y="26936"/>
                </a:lnTo>
                <a:lnTo>
                  <a:pt x="349808" y="23964"/>
                </a:lnTo>
                <a:lnTo>
                  <a:pt x="364909" y="12230"/>
                </a:lnTo>
                <a:lnTo>
                  <a:pt x="367855" y="12763"/>
                </a:lnTo>
                <a:lnTo>
                  <a:pt x="370611" y="13893"/>
                </a:lnTo>
                <a:lnTo>
                  <a:pt x="373087" y="15570"/>
                </a:lnTo>
                <a:lnTo>
                  <a:pt x="467639" y="95389"/>
                </a:lnTo>
                <a:lnTo>
                  <a:pt x="442837" y="104584"/>
                </a:lnTo>
                <a:close/>
              </a:path>
              <a:path w="467995" h="139700">
                <a:moveTo>
                  <a:pt x="411781" y="85625"/>
                </a:moveTo>
                <a:lnTo>
                  <a:pt x="390109" y="67329"/>
                </a:lnTo>
                <a:lnTo>
                  <a:pt x="442163" y="76428"/>
                </a:lnTo>
                <a:lnTo>
                  <a:pt x="442043" y="77114"/>
                </a:lnTo>
                <a:lnTo>
                  <a:pt x="434746" y="77114"/>
                </a:lnTo>
                <a:lnTo>
                  <a:pt x="411781" y="85625"/>
                </a:lnTo>
                <a:close/>
              </a:path>
              <a:path w="467995" h="139700">
                <a:moveTo>
                  <a:pt x="430491" y="101422"/>
                </a:moveTo>
                <a:lnTo>
                  <a:pt x="411781" y="85625"/>
                </a:lnTo>
                <a:lnTo>
                  <a:pt x="434746" y="77114"/>
                </a:lnTo>
                <a:lnTo>
                  <a:pt x="430491" y="101422"/>
                </a:lnTo>
                <a:close/>
              </a:path>
              <a:path w="467995" h="139700">
                <a:moveTo>
                  <a:pt x="437800" y="101422"/>
                </a:moveTo>
                <a:lnTo>
                  <a:pt x="430491" y="101422"/>
                </a:lnTo>
                <a:lnTo>
                  <a:pt x="434746" y="77114"/>
                </a:lnTo>
                <a:lnTo>
                  <a:pt x="442043" y="77114"/>
                </a:lnTo>
                <a:lnTo>
                  <a:pt x="437800" y="101422"/>
                </a:lnTo>
                <a:close/>
              </a:path>
              <a:path w="467995" h="139700">
                <a:moveTo>
                  <a:pt x="437248" y="104584"/>
                </a:moveTo>
                <a:lnTo>
                  <a:pt x="385186" y="95482"/>
                </a:lnTo>
                <a:lnTo>
                  <a:pt x="411781" y="85625"/>
                </a:lnTo>
                <a:lnTo>
                  <a:pt x="430491" y="101422"/>
                </a:lnTo>
                <a:lnTo>
                  <a:pt x="437800" y="101422"/>
                </a:lnTo>
                <a:lnTo>
                  <a:pt x="437248" y="104584"/>
                </a:lnTo>
                <a:close/>
              </a:path>
              <a:path w="467995" h="139700">
                <a:moveTo>
                  <a:pt x="345744" y="139255"/>
                </a:moveTo>
                <a:lnTo>
                  <a:pt x="332371" y="125590"/>
                </a:lnTo>
                <a:lnTo>
                  <a:pt x="332562" y="122605"/>
                </a:lnTo>
                <a:lnTo>
                  <a:pt x="385186" y="95482"/>
                </a:lnTo>
                <a:lnTo>
                  <a:pt x="437248" y="104584"/>
                </a:lnTo>
                <a:lnTo>
                  <a:pt x="442837" y="104584"/>
                </a:lnTo>
                <a:lnTo>
                  <a:pt x="351612" y="138404"/>
                </a:lnTo>
                <a:lnTo>
                  <a:pt x="348729" y="139141"/>
                </a:lnTo>
                <a:lnTo>
                  <a:pt x="345744" y="139255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317663" y="3383419"/>
            <a:ext cx="750570" cy="128905"/>
          </a:xfrm>
          <a:custGeom>
            <a:avLst/>
            <a:gdLst/>
            <a:ahLst/>
            <a:cxnLst/>
            <a:rect l="l" t="t" r="r" b="b"/>
            <a:pathLst>
              <a:path w="750570" h="128904">
                <a:moveTo>
                  <a:pt x="115506" y="128422"/>
                </a:moveTo>
                <a:lnTo>
                  <a:pt x="112522" y="128409"/>
                </a:lnTo>
                <a:lnTo>
                  <a:pt x="109600" y="127774"/>
                </a:lnTo>
                <a:lnTo>
                  <a:pt x="106883" y="126555"/>
                </a:lnTo>
                <a:lnTo>
                  <a:pt x="0" y="64211"/>
                </a:lnTo>
                <a:lnTo>
                  <a:pt x="106883" y="1854"/>
                </a:lnTo>
                <a:lnTo>
                  <a:pt x="109600" y="635"/>
                </a:lnTo>
                <a:lnTo>
                  <a:pt x="112522" y="0"/>
                </a:lnTo>
                <a:lnTo>
                  <a:pt x="115567" y="0"/>
                </a:lnTo>
                <a:lnTo>
                  <a:pt x="128371" y="14135"/>
                </a:lnTo>
                <a:lnTo>
                  <a:pt x="128066" y="17106"/>
                </a:lnTo>
                <a:lnTo>
                  <a:pt x="81186" y="49923"/>
                </a:lnTo>
                <a:lnTo>
                  <a:pt x="28359" y="49923"/>
                </a:lnTo>
                <a:lnTo>
                  <a:pt x="28359" y="78498"/>
                </a:lnTo>
                <a:lnTo>
                  <a:pt x="81207" y="78498"/>
                </a:lnTo>
                <a:lnTo>
                  <a:pt x="121272" y="101866"/>
                </a:lnTo>
                <a:lnTo>
                  <a:pt x="128371" y="114274"/>
                </a:lnTo>
                <a:lnTo>
                  <a:pt x="128041" y="117246"/>
                </a:lnTo>
                <a:lnTo>
                  <a:pt x="118427" y="127812"/>
                </a:lnTo>
                <a:lnTo>
                  <a:pt x="115506" y="128422"/>
                </a:lnTo>
                <a:close/>
              </a:path>
              <a:path w="750570" h="128904">
                <a:moveTo>
                  <a:pt x="81207" y="78498"/>
                </a:moveTo>
                <a:lnTo>
                  <a:pt x="28359" y="78498"/>
                </a:lnTo>
                <a:lnTo>
                  <a:pt x="28359" y="49923"/>
                </a:lnTo>
                <a:lnTo>
                  <a:pt x="81186" y="49923"/>
                </a:lnTo>
                <a:lnTo>
                  <a:pt x="77854" y="51866"/>
                </a:lnTo>
                <a:lnTo>
                  <a:pt x="35547" y="51866"/>
                </a:lnTo>
                <a:lnTo>
                  <a:pt x="35547" y="76542"/>
                </a:lnTo>
                <a:lnTo>
                  <a:pt x="77854" y="76542"/>
                </a:lnTo>
                <a:lnTo>
                  <a:pt x="81207" y="78498"/>
                </a:lnTo>
                <a:close/>
              </a:path>
              <a:path w="750570" h="128904">
                <a:moveTo>
                  <a:pt x="750379" y="78498"/>
                </a:moveTo>
                <a:lnTo>
                  <a:pt x="81207" y="78498"/>
                </a:lnTo>
                <a:lnTo>
                  <a:pt x="56700" y="64204"/>
                </a:lnTo>
                <a:lnTo>
                  <a:pt x="81186" y="49923"/>
                </a:lnTo>
                <a:lnTo>
                  <a:pt x="750379" y="49923"/>
                </a:lnTo>
                <a:lnTo>
                  <a:pt x="750379" y="78498"/>
                </a:lnTo>
                <a:close/>
              </a:path>
              <a:path w="750570" h="128904">
                <a:moveTo>
                  <a:pt x="35547" y="76542"/>
                </a:moveTo>
                <a:lnTo>
                  <a:pt x="35547" y="51866"/>
                </a:lnTo>
                <a:lnTo>
                  <a:pt x="56700" y="64204"/>
                </a:lnTo>
                <a:lnTo>
                  <a:pt x="35547" y="76542"/>
                </a:lnTo>
                <a:close/>
              </a:path>
              <a:path w="750570" h="128904">
                <a:moveTo>
                  <a:pt x="56700" y="64204"/>
                </a:moveTo>
                <a:lnTo>
                  <a:pt x="35547" y="51866"/>
                </a:lnTo>
                <a:lnTo>
                  <a:pt x="77854" y="51866"/>
                </a:lnTo>
                <a:lnTo>
                  <a:pt x="56700" y="64204"/>
                </a:lnTo>
                <a:close/>
              </a:path>
              <a:path w="750570" h="128904">
                <a:moveTo>
                  <a:pt x="77854" y="76542"/>
                </a:moveTo>
                <a:lnTo>
                  <a:pt x="35547" y="76542"/>
                </a:lnTo>
                <a:lnTo>
                  <a:pt x="56711" y="64211"/>
                </a:lnTo>
                <a:lnTo>
                  <a:pt x="77854" y="76542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7560576" y="2979775"/>
            <a:ext cx="1993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dirty="0" baseline="-17921" sz="2325" b="1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endParaRPr baseline="-17921" sz="2325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311588" y="4117047"/>
            <a:ext cx="114300" cy="707390"/>
          </a:xfrm>
          <a:custGeom>
            <a:avLst/>
            <a:gdLst/>
            <a:ahLst/>
            <a:cxnLst/>
            <a:rect l="l" t="t" r="r" b="b"/>
            <a:pathLst>
              <a:path w="114300" h="707389">
                <a:moveTo>
                  <a:pt x="0" y="114300"/>
                </a:moveTo>
                <a:lnTo>
                  <a:pt x="57150" y="0"/>
                </a:lnTo>
                <a:lnTo>
                  <a:pt x="78581" y="42862"/>
                </a:lnTo>
                <a:lnTo>
                  <a:pt x="38100" y="42862"/>
                </a:lnTo>
                <a:lnTo>
                  <a:pt x="38100" y="76200"/>
                </a:lnTo>
                <a:lnTo>
                  <a:pt x="0" y="114300"/>
                </a:lnTo>
                <a:close/>
              </a:path>
              <a:path w="114300" h="707389">
                <a:moveTo>
                  <a:pt x="38100" y="76200"/>
                </a:moveTo>
                <a:lnTo>
                  <a:pt x="38100" y="42862"/>
                </a:lnTo>
                <a:lnTo>
                  <a:pt x="76200" y="42862"/>
                </a:lnTo>
                <a:lnTo>
                  <a:pt x="76200" y="57150"/>
                </a:lnTo>
                <a:lnTo>
                  <a:pt x="57150" y="57150"/>
                </a:lnTo>
                <a:lnTo>
                  <a:pt x="38100" y="76200"/>
                </a:lnTo>
                <a:close/>
              </a:path>
              <a:path w="114300" h="707389">
                <a:moveTo>
                  <a:pt x="114300" y="114300"/>
                </a:moveTo>
                <a:lnTo>
                  <a:pt x="76200" y="76200"/>
                </a:lnTo>
                <a:lnTo>
                  <a:pt x="76200" y="42862"/>
                </a:lnTo>
                <a:lnTo>
                  <a:pt x="78581" y="42862"/>
                </a:lnTo>
                <a:lnTo>
                  <a:pt x="114300" y="114300"/>
                </a:lnTo>
                <a:close/>
              </a:path>
              <a:path w="114300" h="707389">
                <a:moveTo>
                  <a:pt x="76200" y="706920"/>
                </a:moveTo>
                <a:lnTo>
                  <a:pt x="38100" y="706920"/>
                </a:lnTo>
                <a:lnTo>
                  <a:pt x="38100" y="76200"/>
                </a:lnTo>
                <a:lnTo>
                  <a:pt x="57150" y="57150"/>
                </a:lnTo>
                <a:lnTo>
                  <a:pt x="76200" y="76200"/>
                </a:lnTo>
                <a:lnTo>
                  <a:pt x="76200" y="706920"/>
                </a:lnTo>
                <a:close/>
              </a:path>
              <a:path w="114300" h="707389">
                <a:moveTo>
                  <a:pt x="76200" y="76200"/>
                </a:moveTo>
                <a:lnTo>
                  <a:pt x="57150" y="57150"/>
                </a:lnTo>
                <a:lnTo>
                  <a:pt x="76200" y="57150"/>
                </a:lnTo>
                <a:lnTo>
                  <a:pt x="762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3099739" y="4282388"/>
            <a:ext cx="1441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829974" y="3476840"/>
            <a:ext cx="365125" cy="114300"/>
          </a:xfrm>
          <a:custGeom>
            <a:avLst/>
            <a:gdLst/>
            <a:ahLst/>
            <a:cxnLst/>
            <a:rect l="l" t="t" r="r" b="b"/>
            <a:pathLst>
              <a:path w="365125" h="114300">
                <a:moveTo>
                  <a:pt x="325991" y="81965"/>
                </a:moveTo>
                <a:lnTo>
                  <a:pt x="320243" y="81965"/>
                </a:lnTo>
                <a:lnTo>
                  <a:pt x="323456" y="43992"/>
                </a:lnTo>
                <a:lnTo>
                  <a:pt x="290244" y="41180"/>
                </a:lnTo>
                <a:lnTo>
                  <a:pt x="255498" y="0"/>
                </a:lnTo>
                <a:lnTo>
                  <a:pt x="364566" y="66598"/>
                </a:lnTo>
                <a:lnTo>
                  <a:pt x="325991" y="81965"/>
                </a:lnTo>
                <a:close/>
              </a:path>
              <a:path w="365125" h="114300">
                <a:moveTo>
                  <a:pt x="287020" y="79152"/>
                </a:moveTo>
                <a:lnTo>
                  <a:pt x="0" y="54851"/>
                </a:lnTo>
                <a:lnTo>
                  <a:pt x="3213" y="16878"/>
                </a:lnTo>
                <a:lnTo>
                  <a:pt x="290244" y="41180"/>
                </a:lnTo>
                <a:lnTo>
                  <a:pt x="307619" y="61772"/>
                </a:lnTo>
                <a:lnTo>
                  <a:pt x="287020" y="79152"/>
                </a:lnTo>
                <a:close/>
              </a:path>
              <a:path w="365125" h="114300">
                <a:moveTo>
                  <a:pt x="320243" y="81965"/>
                </a:moveTo>
                <a:lnTo>
                  <a:pt x="287020" y="79152"/>
                </a:lnTo>
                <a:lnTo>
                  <a:pt x="307619" y="61772"/>
                </a:lnTo>
                <a:lnTo>
                  <a:pt x="290244" y="41180"/>
                </a:lnTo>
                <a:lnTo>
                  <a:pt x="323456" y="43992"/>
                </a:lnTo>
                <a:lnTo>
                  <a:pt x="320243" y="81965"/>
                </a:lnTo>
                <a:close/>
              </a:path>
              <a:path w="365125" h="114300">
                <a:moveTo>
                  <a:pt x="245846" y="113893"/>
                </a:moveTo>
                <a:lnTo>
                  <a:pt x="287020" y="79152"/>
                </a:lnTo>
                <a:lnTo>
                  <a:pt x="320243" y="81965"/>
                </a:lnTo>
                <a:lnTo>
                  <a:pt x="325991" y="81965"/>
                </a:lnTo>
                <a:lnTo>
                  <a:pt x="245846" y="11389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634331" y="3913822"/>
            <a:ext cx="365125" cy="114300"/>
          </a:xfrm>
          <a:custGeom>
            <a:avLst/>
            <a:gdLst/>
            <a:ahLst/>
            <a:cxnLst/>
            <a:rect l="l" t="t" r="r" b="b"/>
            <a:pathLst>
              <a:path w="365125" h="114300">
                <a:moveTo>
                  <a:pt x="325983" y="81965"/>
                </a:moveTo>
                <a:lnTo>
                  <a:pt x="320243" y="81965"/>
                </a:lnTo>
                <a:lnTo>
                  <a:pt x="323456" y="43992"/>
                </a:lnTo>
                <a:lnTo>
                  <a:pt x="290231" y="41179"/>
                </a:lnTo>
                <a:lnTo>
                  <a:pt x="255485" y="0"/>
                </a:lnTo>
                <a:lnTo>
                  <a:pt x="364553" y="66598"/>
                </a:lnTo>
                <a:lnTo>
                  <a:pt x="325983" y="81965"/>
                </a:lnTo>
                <a:close/>
              </a:path>
              <a:path w="365125" h="114300">
                <a:moveTo>
                  <a:pt x="287014" y="79151"/>
                </a:moveTo>
                <a:lnTo>
                  <a:pt x="0" y="54838"/>
                </a:lnTo>
                <a:lnTo>
                  <a:pt x="3213" y="16878"/>
                </a:lnTo>
                <a:lnTo>
                  <a:pt x="290231" y="41179"/>
                </a:lnTo>
                <a:lnTo>
                  <a:pt x="307606" y="61772"/>
                </a:lnTo>
                <a:lnTo>
                  <a:pt x="287014" y="79151"/>
                </a:lnTo>
                <a:close/>
              </a:path>
              <a:path w="365125" h="114300">
                <a:moveTo>
                  <a:pt x="320243" y="81965"/>
                </a:moveTo>
                <a:lnTo>
                  <a:pt x="287014" y="79151"/>
                </a:lnTo>
                <a:lnTo>
                  <a:pt x="307606" y="61772"/>
                </a:lnTo>
                <a:lnTo>
                  <a:pt x="290231" y="41179"/>
                </a:lnTo>
                <a:lnTo>
                  <a:pt x="323456" y="43992"/>
                </a:lnTo>
                <a:lnTo>
                  <a:pt x="320243" y="81965"/>
                </a:lnTo>
                <a:close/>
              </a:path>
              <a:path w="365125" h="114300">
                <a:moveTo>
                  <a:pt x="245846" y="113893"/>
                </a:moveTo>
                <a:lnTo>
                  <a:pt x="287014" y="79151"/>
                </a:lnTo>
                <a:lnTo>
                  <a:pt x="320243" y="81965"/>
                </a:lnTo>
                <a:lnTo>
                  <a:pt x="325983" y="81965"/>
                </a:lnTo>
                <a:lnTo>
                  <a:pt x="245846" y="11389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634331" y="4267936"/>
            <a:ext cx="365125" cy="114300"/>
          </a:xfrm>
          <a:custGeom>
            <a:avLst/>
            <a:gdLst/>
            <a:ahLst/>
            <a:cxnLst/>
            <a:rect l="l" t="t" r="r" b="b"/>
            <a:pathLst>
              <a:path w="365125" h="114300">
                <a:moveTo>
                  <a:pt x="325993" y="81953"/>
                </a:moveTo>
                <a:lnTo>
                  <a:pt x="320243" y="81953"/>
                </a:lnTo>
                <a:lnTo>
                  <a:pt x="323456" y="43992"/>
                </a:lnTo>
                <a:lnTo>
                  <a:pt x="290231" y="41179"/>
                </a:lnTo>
                <a:lnTo>
                  <a:pt x="255485" y="0"/>
                </a:lnTo>
                <a:lnTo>
                  <a:pt x="364553" y="66586"/>
                </a:lnTo>
                <a:lnTo>
                  <a:pt x="325993" y="81953"/>
                </a:lnTo>
                <a:close/>
              </a:path>
              <a:path w="365125" h="114300">
                <a:moveTo>
                  <a:pt x="287026" y="79140"/>
                </a:moveTo>
                <a:lnTo>
                  <a:pt x="0" y="54838"/>
                </a:lnTo>
                <a:lnTo>
                  <a:pt x="3213" y="16878"/>
                </a:lnTo>
                <a:lnTo>
                  <a:pt x="290231" y="41179"/>
                </a:lnTo>
                <a:lnTo>
                  <a:pt x="307606" y="61772"/>
                </a:lnTo>
                <a:lnTo>
                  <a:pt x="287026" y="79140"/>
                </a:lnTo>
                <a:close/>
              </a:path>
              <a:path w="365125" h="114300">
                <a:moveTo>
                  <a:pt x="320243" y="81953"/>
                </a:moveTo>
                <a:lnTo>
                  <a:pt x="287026" y="79140"/>
                </a:lnTo>
                <a:lnTo>
                  <a:pt x="307606" y="61772"/>
                </a:lnTo>
                <a:lnTo>
                  <a:pt x="290231" y="41179"/>
                </a:lnTo>
                <a:lnTo>
                  <a:pt x="323456" y="43992"/>
                </a:lnTo>
                <a:lnTo>
                  <a:pt x="320243" y="81953"/>
                </a:lnTo>
                <a:close/>
              </a:path>
              <a:path w="365125" h="114300">
                <a:moveTo>
                  <a:pt x="245846" y="113893"/>
                </a:moveTo>
                <a:lnTo>
                  <a:pt x="287026" y="79140"/>
                </a:lnTo>
                <a:lnTo>
                  <a:pt x="320243" y="81953"/>
                </a:lnTo>
                <a:lnTo>
                  <a:pt x="325993" y="81953"/>
                </a:lnTo>
                <a:lnTo>
                  <a:pt x="245846" y="11389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xfrm>
            <a:off x="1201229" y="886663"/>
            <a:ext cx="3454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一、楞次定律的应用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56891" y="1808441"/>
            <a:ext cx="62985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 i="1">
                <a:latin typeface="华文楷体"/>
                <a:cs typeface="华文楷体"/>
              </a:rPr>
              <a:t>总结应用楞次定律解决问题的一般思</a:t>
            </a:r>
            <a:r>
              <a:rPr dirty="0" sz="2800" spc="-5" i="1">
                <a:latin typeface="华文楷体"/>
                <a:cs typeface="华文楷体"/>
              </a:rPr>
              <a:t>路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64788" y="4361472"/>
            <a:ext cx="866775" cy="1011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34290">
              <a:lnSpc>
                <a:spcPct val="100000"/>
              </a:lnSpc>
              <a:spcBef>
                <a:spcPts val="100"/>
              </a:spcBef>
            </a:pPr>
            <a:r>
              <a:rPr dirty="0" sz="2400" spc="-5" i="1">
                <a:latin typeface="Times New Roman"/>
                <a:cs typeface="Times New Roman"/>
              </a:rPr>
              <a:t>B</a:t>
            </a:r>
            <a:r>
              <a:rPr dirty="0" baseline="-17921" sz="2325" spc="15" i="1">
                <a:latin typeface="华文楷体"/>
                <a:cs typeface="华文楷体"/>
              </a:rPr>
              <a:t>原</a:t>
            </a:r>
            <a:endParaRPr baseline="-17921" sz="2325">
              <a:latin typeface="华文楷体"/>
              <a:cs typeface="华文楷体"/>
            </a:endParaRPr>
          </a:p>
          <a:p>
            <a:pPr algn="ctr">
              <a:lnSpc>
                <a:spcPct val="100000"/>
              </a:lnSpc>
              <a:spcBef>
                <a:spcPts val="2000"/>
              </a:spcBef>
            </a:pPr>
            <a:r>
              <a:rPr dirty="0" sz="2400" spc="-5" i="1">
                <a:latin typeface="Times New Roman"/>
                <a:cs typeface="Times New Roman"/>
              </a:rPr>
              <a:t>Φ</a:t>
            </a:r>
            <a:r>
              <a:rPr dirty="0" sz="2400" i="1">
                <a:latin typeface="华文楷体"/>
                <a:cs typeface="华文楷体"/>
              </a:rPr>
              <a:t>变化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20968" y="4615192"/>
            <a:ext cx="4095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i="1">
                <a:latin typeface="Times New Roman"/>
                <a:cs typeface="Times New Roman"/>
              </a:rPr>
              <a:t>B</a:t>
            </a:r>
            <a:r>
              <a:rPr dirty="0" baseline="-17921" sz="2325" spc="15" i="1">
                <a:latin typeface="华文楷体"/>
                <a:cs typeface="华文楷体"/>
              </a:rPr>
              <a:t>感</a:t>
            </a:r>
            <a:endParaRPr baseline="-17921" sz="2325">
              <a:latin typeface="华文楷体"/>
              <a:cs typeface="华文楷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9554" y="4592307"/>
            <a:ext cx="3251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Times New Roman"/>
                <a:cs typeface="Times New Roman"/>
              </a:rPr>
              <a:t>I</a:t>
            </a:r>
            <a:r>
              <a:rPr dirty="0" baseline="-17921" sz="2325" spc="15" i="1">
                <a:latin typeface="华文楷体"/>
                <a:cs typeface="华文楷体"/>
              </a:rPr>
              <a:t>感</a:t>
            </a:r>
            <a:endParaRPr baseline="-17921" sz="2325">
              <a:latin typeface="华文楷体"/>
              <a:cs typeface="华文楷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570386" y="4775276"/>
            <a:ext cx="1299845" cy="128905"/>
          </a:xfrm>
          <a:custGeom>
            <a:avLst/>
            <a:gdLst/>
            <a:ahLst/>
            <a:cxnLst/>
            <a:rect l="l" t="t" r="r" b="b"/>
            <a:pathLst>
              <a:path w="1299845" h="128904">
                <a:moveTo>
                  <a:pt x="1242585" y="64217"/>
                </a:moveTo>
                <a:lnTo>
                  <a:pt x="1178013" y="26555"/>
                </a:lnTo>
                <a:lnTo>
                  <a:pt x="1170927" y="14147"/>
                </a:lnTo>
                <a:lnTo>
                  <a:pt x="1171257" y="11176"/>
                </a:lnTo>
                <a:lnTo>
                  <a:pt x="1183792" y="0"/>
                </a:lnTo>
                <a:lnTo>
                  <a:pt x="1186776" y="12"/>
                </a:lnTo>
                <a:lnTo>
                  <a:pt x="1189697" y="647"/>
                </a:lnTo>
                <a:lnTo>
                  <a:pt x="1192415" y="1866"/>
                </a:lnTo>
                <a:lnTo>
                  <a:pt x="1274804" y="49923"/>
                </a:lnTo>
                <a:lnTo>
                  <a:pt x="1270939" y="49923"/>
                </a:lnTo>
                <a:lnTo>
                  <a:pt x="1270939" y="51879"/>
                </a:lnTo>
                <a:lnTo>
                  <a:pt x="1263738" y="51879"/>
                </a:lnTo>
                <a:lnTo>
                  <a:pt x="1242585" y="64217"/>
                </a:lnTo>
                <a:close/>
              </a:path>
              <a:path w="1299845" h="128904">
                <a:moveTo>
                  <a:pt x="1218100" y="78498"/>
                </a:moveTo>
                <a:lnTo>
                  <a:pt x="0" y="78498"/>
                </a:lnTo>
                <a:lnTo>
                  <a:pt x="0" y="49923"/>
                </a:lnTo>
                <a:lnTo>
                  <a:pt x="1218078" y="49923"/>
                </a:lnTo>
                <a:lnTo>
                  <a:pt x="1242585" y="64217"/>
                </a:lnTo>
                <a:lnTo>
                  <a:pt x="1218100" y="78498"/>
                </a:lnTo>
                <a:close/>
              </a:path>
              <a:path w="1299845" h="128904">
                <a:moveTo>
                  <a:pt x="1274809" y="78498"/>
                </a:moveTo>
                <a:lnTo>
                  <a:pt x="1270939" y="78498"/>
                </a:lnTo>
                <a:lnTo>
                  <a:pt x="1270939" y="49923"/>
                </a:lnTo>
                <a:lnTo>
                  <a:pt x="1274804" y="49923"/>
                </a:lnTo>
                <a:lnTo>
                  <a:pt x="1299298" y="64211"/>
                </a:lnTo>
                <a:lnTo>
                  <a:pt x="1274809" y="78498"/>
                </a:lnTo>
                <a:close/>
              </a:path>
              <a:path w="1299845" h="128904">
                <a:moveTo>
                  <a:pt x="1263738" y="76555"/>
                </a:moveTo>
                <a:lnTo>
                  <a:pt x="1242585" y="64217"/>
                </a:lnTo>
                <a:lnTo>
                  <a:pt x="1263738" y="51879"/>
                </a:lnTo>
                <a:lnTo>
                  <a:pt x="1263738" y="76555"/>
                </a:lnTo>
                <a:close/>
              </a:path>
              <a:path w="1299845" h="128904">
                <a:moveTo>
                  <a:pt x="1270939" y="76555"/>
                </a:moveTo>
                <a:lnTo>
                  <a:pt x="1263738" y="76555"/>
                </a:lnTo>
                <a:lnTo>
                  <a:pt x="1263738" y="51879"/>
                </a:lnTo>
                <a:lnTo>
                  <a:pt x="1270939" y="51879"/>
                </a:lnTo>
                <a:lnTo>
                  <a:pt x="1270939" y="76555"/>
                </a:lnTo>
                <a:close/>
              </a:path>
              <a:path w="1299845" h="128904">
                <a:moveTo>
                  <a:pt x="1183792" y="128435"/>
                </a:moveTo>
                <a:lnTo>
                  <a:pt x="1170927" y="114287"/>
                </a:lnTo>
                <a:lnTo>
                  <a:pt x="1171232" y="111315"/>
                </a:lnTo>
                <a:lnTo>
                  <a:pt x="1242585" y="64217"/>
                </a:lnTo>
                <a:lnTo>
                  <a:pt x="1263738" y="76555"/>
                </a:lnTo>
                <a:lnTo>
                  <a:pt x="1270939" y="76555"/>
                </a:lnTo>
                <a:lnTo>
                  <a:pt x="1270939" y="78498"/>
                </a:lnTo>
                <a:lnTo>
                  <a:pt x="1274809" y="78498"/>
                </a:lnTo>
                <a:lnTo>
                  <a:pt x="1192415" y="126568"/>
                </a:lnTo>
                <a:lnTo>
                  <a:pt x="1189697" y="127787"/>
                </a:lnTo>
                <a:lnTo>
                  <a:pt x="1186776" y="128422"/>
                </a:lnTo>
                <a:lnTo>
                  <a:pt x="1183792" y="128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668278" y="4480014"/>
            <a:ext cx="1042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i="1">
                <a:latin typeface="华文楷体"/>
                <a:cs typeface="华文楷体"/>
              </a:rPr>
              <a:t>楞次定</a:t>
            </a:r>
            <a:r>
              <a:rPr dirty="0" sz="2000" spc="5" i="1">
                <a:latin typeface="华文楷体"/>
                <a:cs typeface="华文楷体"/>
              </a:rPr>
              <a:t>律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502006" y="4759934"/>
            <a:ext cx="1299845" cy="128905"/>
          </a:xfrm>
          <a:custGeom>
            <a:avLst/>
            <a:gdLst/>
            <a:ahLst/>
            <a:cxnLst/>
            <a:rect l="l" t="t" r="r" b="b"/>
            <a:pathLst>
              <a:path w="1299845" h="128904">
                <a:moveTo>
                  <a:pt x="1274804" y="78511"/>
                </a:moveTo>
                <a:lnTo>
                  <a:pt x="1270939" y="78511"/>
                </a:lnTo>
                <a:lnTo>
                  <a:pt x="1270939" y="49936"/>
                </a:lnTo>
                <a:lnTo>
                  <a:pt x="1218078" y="49923"/>
                </a:lnTo>
                <a:lnTo>
                  <a:pt x="1178013" y="26555"/>
                </a:lnTo>
                <a:lnTo>
                  <a:pt x="1170927" y="14147"/>
                </a:lnTo>
                <a:lnTo>
                  <a:pt x="1171257" y="11175"/>
                </a:lnTo>
                <a:lnTo>
                  <a:pt x="1183779" y="0"/>
                </a:lnTo>
                <a:lnTo>
                  <a:pt x="1186776" y="12"/>
                </a:lnTo>
                <a:lnTo>
                  <a:pt x="1189697" y="647"/>
                </a:lnTo>
                <a:lnTo>
                  <a:pt x="1192415" y="1866"/>
                </a:lnTo>
                <a:lnTo>
                  <a:pt x="1299298" y="64223"/>
                </a:lnTo>
                <a:lnTo>
                  <a:pt x="1274804" y="78511"/>
                </a:lnTo>
                <a:close/>
              </a:path>
              <a:path w="1299845" h="128904">
                <a:moveTo>
                  <a:pt x="1218079" y="78510"/>
                </a:moveTo>
                <a:lnTo>
                  <a:pt x="0" y="78498"/>
                </a:lnTo>
                <a:lnTo>
                  <a:pt x="0" y="49923"/>
                </a:lnTo>
                <a:lnTo>
                  <a:pt x="1218100" y="49936"/>
                </a:lnTo>
                <a:lnTo>
                  <a:pt x="1242585" y="64217"/>
                </a:lnTo>
                <a:lnTo>
                  <a:pt x="1218079" y="78510"/>
                </a:lnTo>
                <a:close/>
              </a:path>
              <a:path w="1299845" h="128904">
                <a:moveTo>
                  <a:pt x="1242585" y="64217"/>
                </a:moveTo>
                <a:lnTo>
                  <a:pt x="1218099" y="49935"/>
                </a:lnTo>
                <a:lnTo>
                  <a:pt x="1270939" y="49936"/>
                </a:lnTo>
                <a:lnTo>
                  <a:pt x="1270939" y="51879"/>
                </a:lnTo>
                <a:lnTo>
                  <a:pt x="1263738" y="51879"/>
                </a:lnTo>
                <a:lnTo>
                  <a:pt x="1242585" y="64217"/>
                </a:lnTo>
                <a:close/>
              </a:path>
              <a:path w="1299845" h="128904">
                <a:moveTo>
                  <a:pt x="1263738" y="76555"/>
                </a:moveTo>
                <a:lnTo>
                  <a:pt x="1242585" y="64217"/>
                </a:lnTo>
                <a:lnTo>
                  <a:pt x="1263738" y="51879"/>
                </a:lnTo>
                <a:lnTo>
                  <a:pt x="1263738" y="76555"/>
                </a:lnTo>
                <a:close/>
              </a:path>
              <a:path w="1299845" h="128904">
                <a:moveTo>
                  <a:pt x="1270939" y="76555"/>
                </a:moveTo>
                <a:lnTo>
                  <a:pt x="1263738" y="76555"/>
                </a:lnTo>
                <a:lnTo>
                  <a:pt x="1263738" y="51879"/>
                </a:lnTo>
                <a:lnTo>
                  <a:pt x="1270939" y="51879"/>
                </a:lnTo>
                <a:lnTo>
                  <a:pt x="1270939" y="76555"/>
                </a:lnTo>
                <a:close/>
              </a:path>
              <a:path w="1299845" h="128904">
                <a:moveTo>
                  <a:pt x="1270939" y="78511"/>
                </a:moveTo>
                <a:lnTo>
                  <a:pt x="1218079" y="78510"/>
                </a:lnTo>
                <a:lnTo>
                  <a:pt x="1242596" y="64223"/>
                </a:lnTo>
                <a:lnTo>
                  <a:pt x="1263738" y="76555"/>
                </a:lnTo>
                <a:lnTo>
                  <a:pt x="1270939" y="76555"/>
                </a:lnTo>
                <a:lnTo>
                  <a:pt x="1270939" y="78511"/>
                </a:lnTo>
                <a:close/>
              </a:path>
              <a:path w="1299845" h="128904">
                <a:moveTo>
                  <a:pt x="1183779" y="128435"/>
                </a:moveTo>
                <a:lnTo>
                  <a:pt x="1170927" y="114287"/>
                </a:lnTo>
                <a:lnTo>
                  <a:pt x="1171232" y="111315"/>
                </a:lnTo>
                <a:lnTo>
                  <a:pt x="1218079" y="78510"/>
                </a:lnTo>
                <a:lnTo>
                  <a:pt x="1274804" y="78511"/>
                </a:lnTo>
                <a:lnTo>
                  <a:pt x="1192415" y="126568"/>
                </a:lnTo>
                <a:lnTo>
                  <a:pt x="1189697" y="127787"/>
                </a:lnTo>
                <a:lnTo>
                  <a:pt x="1186776" y="128422"/>
                </a:lnTo>
                <a:lnTo>
                  <a:pt x="1183779" y="128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615391" y="4463580"/>
            <a:ext cx="1042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i="1">
                <a:latin typeface="华文楷体"/>
                <a:cs typeface="华文楷体"/>
              </a:rPr>
              <a:t>安培定</a:t>
            </a:r>
            <a:r>
              <a:rPr dirty="0" sz="2000" spc="5" i="1">
                <a:latin typeface="华文楷体"/>
                <a:cs typeface="华文楷体"/>
              </a:rPr>
              <a:t>则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92628" y="3552816"/>
            <a:ext cx="4274820" cy="1024255"/>
          </a:xfrm>
          <a:prstGeom prst="rect">
            <a:avLst/>
          </a:prstGeom>
        </p:spPr>
        <p:txBody>
          <a:bodyPr wrap="square" lIns="0" tIns="2178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15"/>
              </a:spcBef>
            </a:pPr>
            <a:r>
              <a:rPr dirty="0" sz="2400" i="1">
                <a:latin typeface="华文楷体"/>
                <a:cs typeface="华文楷体"/>
              </a:rPr>
              <a:t>研究对象</a:t>
            </a:r>
            <a:r>
              <a:rPr dirty="0" sz="2400" spc="-5" i="1">
                <a:latin typeface="华文楷体"/>
                <a:cs typeface="华文楷体"/>
              </a:rPr>
              <a:t>:</a:t>
            </a:r>
            <a:r>
              <a:rPr dirty="0" sz="2400" i="1">
                <a:latin typeface="华文楷体"/>
                <a:cs typeface="华文楷体"/>
              </a:rPr>
              <a:t>线圈</a:t>
            </a:r>
            <a:r>
              <a:rPr dirty="0" sz="2400">
                <a:latin typeface="Times New Roman"/>
                <a:cs typeface="Times New Roman"/>
              </a:rPr>
              <a:t>N</a:t>
            </a:r>
            <a:r>
              <a:rPr dirty="0" sz="2400" i="1">
                <a:latin typeface="华文楷体"/>
                <a:cs typeface="华文楷体"/>
              </a:rPr>
              <a:t>所在的闭合回路</a:t>
            </a:r>
            <a:endParaRPr sz="2400">
              <a:latin typeface="华文楷体"/>
              <a:cs typeface="华文楷体"/>
            </a:endParaRPr>
          </a:p>
          <a:p>
            <a:pPr marL="210185">
              <a:lnSpc>
                <a:spcPct val="100000"/>
              </a:lnSpc>
              <a:spcBef>
                <a:spcPts val="1210"/>
              </a:spcBef>
            </a:pPr>
            <a:r>
              <a:rPr dirty="0" sz="1800" i="1">
                <a:latin typeface="华文楷体"/>
                <a:cs typeface="华文楷体"/>
              </a:rPr>
              <a:t>磁体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90456" y="4551667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华文楷体"/>
                <a:cs typeface="华文楷体"/>
              </a:rPr>
              <a:t>电流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633114" y="4451603"/>
            <a:ext cx="229730" cy="2833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232147" y="2174748"/>
            <a:ext cx="3218688" cy="16184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531808" y="1232115"/>
            <a:ext cx="3454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一、楞次定律的应用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70149" y="1935911"/>
            <a:ext cx="4647565" cy="351536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12700" marR="5080">
              <a:lnSpc>
                <a:spcPct val="79800"/>
              </a:lnSpc>
              <a:spcBef>
                <a:spcPts val="770"/>
              </a:spcBef>
            </a:pPr>
            <a:r>
              <a:rPr dirty="0" sz="2800" i="1">
                <a:latin typeface="华文楷体"/>
                <a:cs typeface="华文楷体"/>
              </a:rPr>
              <a:t>【例题</a:t>
            </a:r>
            <a:r>
              <a:rPr dirty="0" sz="2800" spc="-5">
                <a:latin typeface="Times New Roman"/>
                <a:cs typeface="Times New Roman"/>
              </a:rPr>
              <a:t>2</a:t>
            </a:r>
            <a:r>
              <a:rPr dirty="0" sz="2800" i="1">
                <a:latin typeface="华文楷体"/>
                <a:cs typeface="华文楷体"/>
              </a:rPr>
              <a:t>】如图所示，在通</a:t>
            </a:r>
            <a:r>
              <a:rPr dirty="0" sz="2800" spc="-5" i="1">
                <a:latin typeface="华文楷体"/>
                <a:cs typeface="华文楷体"/>
              </a:rPr>
              <a:t>有 </a:t>
            </a:r>
            <a:r>
              <a:rPr dirty="0" sz="2800" i="1">
                <a:latin typeface="华文楷体"/>
                <a:cs typeface="华文楷体"/>
              </a:rPr>
              <a:t>电</a:t>
            </a:r>
            <a:r>
              <a:rPr dirty="0" sz="2800" spc="-5" i="1">
                <a:latin typeface="华文楷体"/>
                <a:cs typeface="华文楷体"/>
              </a:rPr>
              <a:t>流</a:t>
            </a:r>
            <a:r>
              <a:rPr dirty="0" sz="2800" spc="-10" i="1">
                <a:latin typeface="华文楷体"/>
                <a:cs typeface="华文楷体"/>
              </a:rPr>
              <a:t> </a:t>
            </a:r>
            <a:r>
              <a:rPr dirty="0" sz="2800" spc="-5" i="1">
                <a:latin typeface="Times New Roman"/>
                <a:cs typeface="Times New Roman"/>
              </a:rPr>
              <a:t>I</a:t>
            </a:r>
            <a:r>
              <a:rPr dirty="0" sz="2800" spc="-20" i="1">
                <a:latin typeface="Times New Roman"/>
                <a:cs typeface="Times New Roman"/>
              </a:rPr>
              <a:t> </a:t>
            </a:r>
            <a:r>
              <a:rPr dirty="0" sz="2800" i="1">
                <a:latin typeface="华文楷体"/>
                <a:cs typeface="华文楷体"/>
              </a:rPr>
              <a:t>的长直导线附近有</a:t>
            </a:r>
            <a:r>
              <a:rPr dirty="0" sz="2800" spc="-5" i="1">
                <a:latin typeface="华文楷体"/>
                <a:cs typeface="华文楷体"/>
              </a:rPr>
              <a:t>一 </a:t>
            </a:r>
            <a:r>
              <a:rPr dirty="0" sz="2800" i="1">
                <a:latin typeface="华文楷体"/>
                <a:cs typeface="华文楷体"/>
              </a:rPr>
              <a:t>个矩形线</a:t>
            </a:r>
            <a:r>
              <a:rPr dirty="0" sz="2800" spc="-5" i="1">
                <a:latin typeface="华文楷体"/>
                <a:cs typeface="华文楷体"/>
              </a:rPr>
              <a:t>圈</a:t>
            </a:r>
            <a:r>
              <a:rPr dirty="0" sz="2800" spc="-10" i="1">
                <a:latin typeface="华文楷体"/>
                <a:cs typeface="华文楷体"/>
              </a:rPr>
              <a:t> </a:t>
            </a:r>
            <a:r>
              <a:rPr dirty="0" sz="2800" spc="-5" i="1">
                <a:latin typeface="Times New Roman"/>
                <a:cs typeface="Times New Roman"/>
              </a:rPr>
              <a:t>ABCD</a:t>
            </a:r>
            <a:r>
              <a:rPr dirty="0" sz="2800" spc="-5" i="1">
                <a:latin typeface="华文楷体"/>
                <a:cs typeface="华文楷体"/>
              </a:rPr>
              <a:t>，</a:t>
            </a:r>
            <a:r>
              <a:rPr dirty="0" sz="2800" i="1">
                <a:latin typeface="华文楷体"/>
                <a:cs typeface="华文楷体"/>
              </a:rPr>
              <a:t>线圈</a:t>
            </a:r>
            <a:r>
              <a:rPr dirty="0" sz="2800" spc="-5" i="1">
                <a:latin typeface="华文楷体"/>
                <a:cs typeface="华文楷体"/>
              </a:rPr>
              <a:t>与 </a:t>
            </a:r>
            <a:r>
              <a:rPr dirty="0" sz="2800" i="1">
                <a:latin typeface="华文楷体"/>
                <a:cs typeface="华文楷体"/>
              </a:rPr>
              <a:t>导线始终在同一个平面内</a:t>
            </a:r>
            <a:r>
              <a:rPr dirty="0" sz="2800" spc="-5" i="1">
                <a:latin typeface="华文楷体"/>
                <a:cs typeface="华文楷体"/>
              </a:rPr>
              <a:t>。 </a:t>
            </a:r>
            <a:r>
              <a:rPr dirty="0" sz="2800" i="1">
                <a:latin typeface="华文楷体"/>
                <a:cs typeface="华文楷体"/>
              </a:rPr>
              <a:t>线圈在导线的一侧，垂直</a:t>
            </a:r>
            <a:r>
              <a:rPr dirty="0" sz="2800" spc="-5" i="1">
                <a:latin typeface="华文楷体"/>
                <a:cs typeface="华文楷体"/>
              </a:rPr>
              <a:t>于 </a:t>
            </a:r>
            <a:r>
              <a:rPr dirty="0" sz="2800" i="1">
                <a:latin typeface="华文楷体"/>
                <a:cs typeface="华文楷体"/>
              </a:rPr>
              <a:t>导线左右平移时，其中产</a:t>
            </a:r>
            <a:r>
              <a:rPr dirty="0" sz="2800" spc="-5" i="1">
                <a:latin typeface="华文楷体"/>
                <a:cs typeface="华文楷体"/>
              </a:rPr>
              <a:t>生 </a:t>
            </a:r>
            <a:r>
              <a:rPr dirty="0" sz="2800" i="1">
                <a:latin typeface="华文楷体"/>
                <a:cs typeface="华文楷体"/>
              </a:rPr>
              <a:t>了</a:t>
            </a:r>
            <a:r>
              <a:rPr dirty="0" sz="2800" spc="-5" i="1">
                <a:latin typeface="Times New Roman"/>
                <a:cs typeface="Times New Roman"/>
              </a:rPr>
              <a:t>A</a:t>
            </a:r>
            <a:r>
              <a:rPr dirty="0" sz="2800" spc="-5">
                <a:latin typeface="Times New Roman"/>
                <a:cs typeface="Times New Roman"/>
              </a:rPr>
              <a:t>→</a:t>
            </a:r>
            <a:r>
              <a:rPr dirty="0" sz="2800" spc="-5" i="1">
                <a:latin typeface="Times New Roman"/>
                <a:cs typeface="Times New Roman"/>
              </a:rPr>
              <a:t>B</a:t>
            </a:r>
            <a:r>
              <a:rPr dirty="0" sz="2800" spc="-5">
                <a:latin typeface="Times New Roman"/>
                <a:cs typeface="Times New Roman"/>
              </a:rPr>
              <a:t>→</a:t>
            </a:r>
            <a:r>
              <a:rPr dirty="0" sz="2800" spc="-5" i="1">
                <a:latin typeface="Times New Roman"/>
                <a:cs typeface="Times New Roman"/>
              </a:rPr>
              <a:t>C</a:t>
            </a:r>
            <a:r>
              <a:rPr dirty="0" sz="2800" spc="-5">
                <a:latin typeface="Times New Roman"/>
                <a:cs typeface="Times New Roman"/>
              </a:rPr>
              <a:t>→</a:t>
            </a:r>
            <a:r>
              <a:rPr dirty="0" sz="2800" spc="-5" i="1">
                <a:latin typeface="Times New Roman"/>
                <a:cs typeface="Times New Roman"/>
              </a:rPr>
              <a:t>D</a:t>
            </a:r>
            <a:r>
              <a:rPr dirty="0" sz="2800" spc="-5">
                <a:latin typeface="Times New Roman"/>
                <a:cs typeface="Times New Roman"/>
              </a:rPr>
              <a:t>→</a:t>
            </a:r>
            <a:r>
              <a:rPr dirty="0" sz="2800" spc="-5" i="1">
                <a:latin typeface="Times New Roman"/>
                <a:cs typeface="Times New Roman"/>
              </a:rPr>
              <a:t>A</a:t>
            </a:r>
            <a:r>
              <a:rPr dirty="0" sz="2800" i="1">
                <a:latin typeface="华文楷体"/>
                <a:cs typeface="华文楷体"/>
              </a:rPr>
              <a:t>方向的</a:t>
            </a:r>
            <a:r>
              <a:rPr dirty="0" sz="2800" spc="-5" i="1">
                <a:latin typeface="华文楷体"/>
                <a:cs typeface="华文楷体"/>
              </a:rPr>
              <a:t>电 </a:t>
            </a:r>
            <a:r>
              <a:rPr dirty="0" sz="2800" i="1">
                <a:latin typeface="华文楷体"/>
                <a:cs typeface="华文楷体"/>
              </a:rPr>
              <a:t>流。已知距离载流直导线</a:t>
            </a:r>
            <a:r>
              <a:rPr dirty="0" sz="2800" spc="-5" i="1">
                <a:latin typeface="华文楷体"/>
                <a:cs typeface="华文楷体"/>
              </a:rPr>
              <a:t>较 </a:t>
            </a:r>
            <a:r>
              <a:rPr dirty="0" sz="2800" i="1">
                <a:latin typeface="华文楷体"/>
                <a:cs typeface="华文楷体"/>
              </a:rPr>
              <a:t>近的位置磁场较强。请判断</a:t>
            </a:r>
            <a:r>
              <a:rPr dirty="0" sz="2800" spc="-5" i="1">
                <a:latin typeface="华文楷体"/>
                <a:cs typeface="华文楷体"/>
              </a:rPr>
              <a:t>： </a:t>
            </a:r>
            <a:r>
              <a:rPr dirty="0" sz="2800" i="1">
                <a:latin typeface="华文楷体"/>
                <a:cs typeface="华文楷体"/>
              </a:rPr>
              <a:t>线圈在向哪个方向移动</a:t>
            </a:r>
            <a:r>
              <a:rPr dirty="0" sz="2800" spc="-5" i="1">
                <a:latin typeface="华文楷体"/>
                <a:cs typeface="华文楷体"/>
              </a:rPr>
              <a:t>？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176516" y="2057400"/>
            <a:ext cx="2289048" cy="26410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531808" y="1232115"/>
            <a:ext cx="3454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一、楞次定律的应用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2443" y="2057400"/>
            <a:ext cx="2289048" cy="26410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739875" y="2117902"/>
            <a:ext cx="152565" cy="1792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039748" y="2113000"/>
            <a:ext cx="152577" cy="1792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511705" y="2113000"/>
            <a:ext cx="152565" cy="1792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126219" y="2117915"/>
            <a:ext cx="152577" cy="17926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744790" y="2575115"/>
            <a:ext cx="152565" cy="1792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044675" y="2570200"/>
            <a:ext cx="152565" cy="1792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516619" y="2570200"/>
            <a:ext cx="152577" cy="17926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131147" y="2575115"/>
            <a:ext cx="152565" cy="1792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744790" y="3037230"/>
            <a:ext cx="152565" cy="1792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044675" y="3032315"/>
            <a:ext cx="152565" cy="17926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516619" y="3032315"/>
            <a:ext cx="152577" cy="17926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9131147" y="3037243"/>
            <a:ext cx="152565" cy="17924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749705" y="3514090"/>
            <a:ext cx="152577" cy="17926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8049590" y="3509187"/>
            <a:ext cx="152577" cy="17924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8521547" y="3425253"/>
            <a:ext cx="256731" cy="263182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9136062" y="3514102"/>
            <a:ext cx="152565" cy="17926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749705" y="3986047"/>
            <a:ext cx="152565" cy="17924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8049590" y="3981132"/>
            <a:ext cx="152565" cy="179260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521534" y="3981132"/>
            <a:ext cx="152577" cy="179260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9136062" y="3986047"/>
            <a:ext cx="152565" cy="17926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754619" y="4423574"/>
            <a:ext cx="152577" cy="179260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8054505" y="4418672"/>
            <a:ext cx="152577" cy="179260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8526462" y="4418672"/>
            <a:ext cx="152565" cy="179260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9140977" y="4423587"/>
            <a:ext cx="152565" cy="17926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2543644" y="1965756"/>
            <a:ext cx="3456940" cy="10445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 i="1">
                <a:latin typeface="华文楷体"/>
                <a:cs typeface="华文楷体"/>
              </a:rPr>
              <a:t>思考总</a:t>
            </a:r>
            <a:r>
              <a:rPr dirty="0" sz="2800" spc="-5" i="1">
                <a:latin typeface="华文楷体"/>
                <a:cs typeface="华文楷体"/>
              </a:rPr>
              <a:t>结</a:t>
            </a:r>
            <a:endParaRPr sz="2800">
              <a:latin typeface="华文楷体"/>
              <a:cs typeface="华文楷体"/>
            </a:endParaRPr>
          </a:p>
          <a:p>
            <a:pPr marL="125095">
              <a:lnSpc>
                <a:spcPct val="100000"/>
              </a:lnSpc>
              <a:spcBef>
                <a:spcPts val="1790"/>
              </a:spcBef>
            </a:pPr>
            <a:r>
              <a:rPr dirty="0" sz="2400" i="1">
                <a:latin typeface="华文楷体"/>
                <a:cs typeface="华文楷体"/>
              </a:rPr>
              <a:t>研究对象</a:t>
            </a:r>
            <a:r>
              <a:rPr dirty="0" sz="2400" spc="-5">
                <a:latin typeface="Times New Roman"/>
                <a:cs typeface="Times New Roman"/>
              </a:rPr>
              <a:t>:</a:t>
            </a:r>
            <a:r>
              <a:rPr dirty="0" sz="2400" i="1">
                <a:latin typeface="华文楷体"/>
                <a:cs typeface="华文楷体"/>
              </a:rPr>
              <a:t>矩形线圈</a:t>
            </a:r>
            <a:r>
              <a:rPr dirty="0" sz="2400" spc="-5" i="1">
                <a:latin typeface="Times New Roman"/>
                <a:cs typeface="Times New Roman"/>
              </a:rPr>
              <a:t>ABC</a:t>
            </a:r>
            <a:r>
              <a:rPr dirty="0" sz="2400" i="1"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803647" y="3451402"/>
            <a:ext cx="2120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989703" y="3618407"/>
            <a:ext cx="223520" cy="263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50" spc="10" i="1">
                <a:latin typeface="华文楷体"/>
                <a:cs typeface="华文楷体"/>
              </a:rPr>
              <a:t>感</a:t>
            </a:r>
            <a:endParaRPr sz="1550">
              <a:latin typeface="华文楷体"/>
              <a:cs typeface="华文楷体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680555" y="3429114"/>
            <a:ext cx="127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782155" y="3596119"/>
            <a:ext cx="223520" cy="263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50" spc="10" i="1">
                <a:latin typeface="华文楷体"/>
                <a:cs typeface="华文楷体"/>
              </a:rPr>
              <a:t>感</a:t>
            </a:r>
            <a:endParaRPr sz="1550">
              <a:latin typeface="华文楷体"/>
              <a:cs typeface="华文楷体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437140" y="3595039"/>
            <a:ext cx="1308100" cy="128905"/>
          </a:xfrm>
          <a:custGeom>
            <a:avLst/>
            <a:gdLst/>
            <a:ahLst/>
            <a:cxnLst/>
            <a:rect l="l" t="t" r="r" b="b"/>
            <a:pathLst>
              <a:path w="1308100" h="128904">
                <a:moveTo>
                  <a:pt x="1251170" y="64217"/>
                </a:moveTo>
                <a:lnTo>
                  <a:pt x="1186599" y="26555"/>
                </a:lnTo>
                <a:lnTo>
                  <a:pt x="1179499" y="14147"/>
                </a:lnTo>
                <a:lnTo>
                  <a:pt x="1179829" y="11175"/>
                </a:lnTo>
                <a:lnTo>
                  <a:pt x="1192364" y="0"/>
                </a:lnTo>
                <a:lnTo>
                  <a:pt x="1195349" y="12"/>
                </a:lnTo>
                <a:lnTo>
                  <a:pt x="1198270" y="647"/>
                </a:lnTo>
                <a:lnTo>
                  <a:pt x="1200988" y="1866"/>
                </a:lnTo>
                <a:lnTo>
                  <a:pt x="1283381" y="49936"/>
                </a:lnTo>
                <a:lnTo>
                  <a:pt x="1279512" y="49936"/>
                </a:lnTo>
                <a:lnTo>
                  <a:pt x="1279512" y="51879"/>
                </a:lnTo>
                <a:lnTo>
                  <a:pt x="1272324" y="51879"/>
                </a:lnTo>
                <a:lnTo>
                  <a:pt x="1251170" y="64217"/>
                </a:lnTo>
                <a:close/>
              </a:path>
              <a:path w="1308100" h="128904">
                <a:moveTo>
                  <a:pt x="1226663" y="78511"/>
                </a:moveTo>
                <a:lnTo>
                  <a:pt x="0" y="78511"/>
                </a:lnTo>
                <a:lnTo>
                  <a:pt x="0" y="49936"/>
                </a:lnTo>
                <a:lnTo>
                  <a:pt x="1226685" y="49936"/>
                </a:lnTo>
                <a:lnTo>
                  <a:pt x="1251170" y="64217"/>
                </a:lnTo>
                <a:lnTo>
                  <a:pt x="1226663" y="78511"/>
                </a:lnTo>
                <a:close/>
              </a:path>
              <a:path w="1308100" h="128904">
                <a:moveTo>
                  <a:pt x="1283376" y="78511"/>
                </a:moveTo>
                <a:lnTo>
                  <a:pt x="1279512" y="78511"/>
                </a:lnTo>
                <a:lnTo>
                  <a:pt x="1279512" y="49936"/>
                </a:lnTo>
                <a:lnTo>
                  <a:pt x="1283381" y="49936"/>
                </a:lnTo>
                <a:lnTo>
                  <a:pt x="1307871" y="64223"/>
                </a:lnTo>
                <a:lnTo>
                  <a:pt x="1283376" y="78511"/>
                </a:lnTo>
                <a:close/>
              </a:path>
              <a:path w="1308100" h="128904">
                <a:moveTo>
                  <a:pt x="1272324" y="76555"/>
                </a:moveTo>
                <a:lnTo>
                  <a:pt x="1251170" y="64217"/>
                </a:lnTo>
                <a:lnTo>
                  <a:pt x="1272324" y="51879"/>
                </a:lnTo>
                <a:lnTo>
                  <a:pt x="1272324" y="76555"/>
                </a:lnTo>
                <a:close/>
              </a:path>
              <a:path w="1308100" h="128904">
                <a:moveTo>
                  <a:pt x="1279512" y="76555"/>
                </a:moveTo>
                <a:lnTo>
                  <a:pt x="1272324" y="76555"/>
                </a:lnTo>
                <a:lnTo>
                  <a:pt x="1272324" y="51879"/>
                </a:lnTo>
                <a:lnTo>
                  <a:pt x="1279512" y="51879"/>
                </a:lnTo>
                <a:lnTo>
                  <a:pt x="1279512" y="76555"/>
                </a:lnTo>
                <a:close/>
              </a:path>
              <a:path w="1308100" h="128904">
                <a:moveTo>
                  <a:pt x="1192364" y="128447"/>
                </a:moveTo>
                <a:lnTo>
                  <a:pt x="1179499" y="114287"/>
                </a:lnTo>
                <a:lnTo>
                  <a:pt x="1179804" y="111315"/>
                </a:lnTo>
                <a:lnTo>
                  <a:pt x="1251181" y="64223"/>
                </a:lnTo>
                <a:lnTo>
                  <a:pt x="1272324" y="76555"/>
                </a:lnTo>
                <a:lnTo>
                  <a:pt x="1279512" y="76555"/>
                </a:lnTo>
                <a:lnTo>
                  <a:pt x="1279512" y="78511"/>
                </a:lnTo>
                <a:lnTo>
                  <a:pt x="1283376" y="78511"/>
                </a:lnTo>
                <a:lnTo>
                  <a:pt x="1200988" y="126568"/>
                </a:lnTo>
                <a:lnTo>
                  <a:pt x="1198270" y="127800"/>
                </a:lnTo>
                <a:lnTo>
                  <a:pt x="1195349" y="128422"/>
                </a:lnTo>
                <a:lnTo>
                  <a:pt x="1192364" y="1284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2555697" y="3098482"/>
            <a:ext cx="2034539" cy="1001394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87325">
              <a:lnSpc>
                <a:spcPct val="100000"/>
              </a:lnSpc>
              <a:spcBef>
                <a:spcPts val="1060"/>
              </a:spcBef>
              <a:tabLst>
                <a:tab pos="1004569" algn="l"/>
              </a:tabLst>
            </a:pPr>
            <a:r>
              <a:rPr dirty="0" sz="2400" spc="-5" i="1">
                <a:latin typeface="Times New Roman"/>
                <a:cs typeface="Times New Roman"/>
              </a:rPr>
              <a:t>B</a:t>
            </a:r>
            <a:r>
              <a:rPr dirty="0" baseline="-17921" sz="2325" spc="15" i="1">
                <a:latin typeface="华文楷体"/>
                <a:cs typeface="华文楷体"/>
              </a:rPr>
              <a:t>原</a:t>
            </a:r>
            <a:r>
              <a:rPr dirty="0" baseline="-17921" sz="2325" i="1">
                <a:latin typeface="华文楷体"/>
                <a:cs typeface="华文楷体"/>
              </a:rPr>
              <a:t>	</a:t>
            </a:r>
            <a:r>
              <a:rPr dirty="0" baseline="1388" sz="3000" i="1">
                <a:latin typeface="华文楷体"/>
                <a:cs typeface="华文楷体"/>
              </a:rPr>
              <a:t>楞次定</a:t>
            </a:r>
            <a:r>
              <a:rPr dirty="0" baseline="1388" sz="3000" spc="7" i="1">
                <a:latin typeface="华文楷体"/>
                <a:cs typeface="华文楷体"/>
              </a:rPr>
              <a:t>律</a:t>
            </a:r>
            <a:endParaRPr baseline="1388" sz="30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2400" spc="-5" i="1">
                <a:latin typeface="Times New Roman"/>
                <a:cs typeface="Times New Roman"/>
              </a:rPr>
              <a:t>Φ</a:t>
            </a:r>
            <a:r>
              <a:rPr dirty="0" sz="2400" i="1">
                <a:latin typeface="华文楷体"/>
                <a:cs typeface="华文楷体"/>
              </a:rPr>
              <a:t>变化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322087" y="3596500"/>
            <a:ext cx="1267460" cy="128905"/>
          </a:xfrm>
          <a:custGeom>
            <a:avLst/>
            <a:gdLst/>
            <a:ahLst/>
            <a:cxnLst/>
            <a:rect l="l" t="t" r="r" b="b"/>
            <a:pathLst>
              <a:path w="1267459" h="128904">
                <a:moveTo>
                  <a:pt x="1242382" y="78625"/>
                </a:moveTo>
                <a:lnTo>
                  <a:pt x="1238529" y="78625"/>
                </a:lnTo>
                <a:lnTo>
                  <a:pt x="1238567" y="50050"/>
                </a:lnTo>
                <a:lnTo>
                  <a:pt x="1185725" y="49983"/>
                </a:lnTo>
                <a:lnTo>
                  <a:pt x="1145679" y="26555"/>
                </a:lnTo>
                <a:lnTo>
                  <a:pt x="1138605" y="14135"/>
                </a:lnTo>
                <a:lnTo>
                  <a:pt x="1138936" y="11163"/>
                </a:lnTo>
                <a:lnTo>
                  <a:pt x="1151483" y="0"/>
                </a:lnTo>
                <a:lnTo>
                  <a:pt x="1154468" y="12"/>
                </a:lnTo>
                <a:lnTo>
                  <a:pt x="1157376" y="660"/>
                </a:lnTo>
                <a:lnTo>
                  <a:pt x="1160106" y="1879"/>
                </a:lnTo>
                <a:lnTo>
                  <a:pt x="1266901" y="64363"/>
                </a:lnTo>
                <a:lnTo>
                  <a:pt x="1242382" y="78625"/>
                </a:lnTo>
                <a:close/>
              </a:path>
              <a:path w="1267459" h="128904">
                <a:moveTo>
                  <a:pt x="1185672" y="78558"/>
                </a:moveTo>
                <a:lnTo>
                  <a:pt x="0" y="77050"/>
                </a:lnTo>
                <a:lnTo>
                  <a:pt x="25" y="48475"/>
                </a:lnTo>
                <a:lnTo>
                  <a:pt x="1185725" y="49983"/>
                </a:lnTo>
                <a:lnTo>
                  <a:pt x="1210192" y="64297"/>
                </a:lnTo>
                <a:lnTo>
                  <a:pt x="1185672" y="78558"/>
                </a:lnTo>
                <a:close/>
              </a:path>
              <a:path w="1267459" h="128904">
                <a:moveTo>
                  <a:pt x="1210192" y="64297"/>
                </a:moveTo>
                <a:lnTo>
                  <a:pt x="1185725" y="49983"/>
                </a:lnTo>
                <a:lnTo>
                  <a:pt x="1238567" y="50050"/>
                </a:lnTo>
                <a:lnTo>
                  <a:pt x="1238564" y="51981"/>
                </a:lnTo>
                <a:lnTo>
                  <a:pt x="1231366" y="51981"/>
                </a:lnTo>
                <a:lnTo>
                  <a:pt x="1210192" y="64297"/>
                </a:lnTo>
                <a:close/>
              </a:path>
              <a:path w="1267459" h="128904">
                <a:moveTo>
                  <a:pt x="1231341" y="76669"/>
                </a:moveTo>
                <a:lnTo>
                  <a:pt x="1210192" y="64297"/>
                </a:lnTo>
                <a:lnTo>
                  <a:pt x="1231366" y="51981"/>
                </a:lnTo>
                <a:lnTo>
                  <a:pt x="1231341" y="76669"/>
                </a:lnTo>
                <a:close/>
              </a:path>
              <a:path w="1267459" h="128904">
                <a:moveTo>
                  <a:pt x="1238532" y="76669"/>
                </a:moveTo>
                <a:lnTo>
                  <a:pt x="1231341" y="76669"/>
                </a:lnTo>
                <a:lnTo>
                  <a:pt x="1231366" y="51981"/>
                </a:lnTo>
                <a:lnTo>
                  <a:pt x="1238564" y="51981"/>
                </a:lnTo>
                <a:lnTo>
                  <a:pt x="1238532" y="76669"/>
                </a:lnTo>
                <a:close/>
              </a:path>
              <a:path w="1267459" h="128904">
                <a:moveTo>
                  <a:pt x="1238529" y="78625"/>
                </a:moveTo>
                <a:lnTo>
                  <a:pt x="1185672" y="78558"/>
                </a:lnTo>
                <a:lnTo>
                  <a:pt x="1210192" y="64297"/>
                </a:lnTo>
                <a:lnTo>
                  <a:pt x="1231341" y="76669"/>
                </a:lnTo>
                <a:lnTo>
                  <a:pt x="1238532" y="76669"/>
                </a:lnTo>
                <a:lnTo>
                  <a:pt x="1238529" y="78625"/>
                </a:lnTo>
                <a:close/>
              </a:path>
              <a:path w="1267459" h="128904">
                <a:moveTo>
                  <a:pt x="1151318" y="128447"/>
                </a:moveTo>
                <a:lnTo>
                  <a:pt x="1138478" y="114274"/>
                </a:lnTo>
                <a:lnTo>
                  <a:pt x="1138783" y="111302"/>
                </a:lnTo>
                <a:lnTo>
                  <a:pt x="1185672" y="78558"/>
                </a:lnTo>
                <a:lnTo>
                  <a:pt x="1242382" y="78625"/>
                </a:lnTo>
                <a:lnTo>
                  <a:pt x="1159941" y="126580"/>
                </a:lnTo>
                <a:lnTo>
                  <a:pt x="1157224" y="127800"/>
                </a:lnTo>
                <a:lnTo>
                  <a:pt x="1154302" y="128435"/>
                </a:lnTo>
                <a:lnTo>
                  <a:pt x="1151318" y="1284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5407672" y="3277311"/>
            <a:ext cx="1042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i="1">
                <a:latin typeface="华文楷体"/>
                <a:cs typeface="华文楷体"/>
              </a:rPr>
              <a:t>安培定</a:t>
            </a:r>
            <a:r>
              <a:rPr dirty="0" sz="2000" spc="5" i="1">
                <a:latin typeface="华文楷体"/>
                <a:cs typeface="华文楷体"/>
              </a:rPr>
              <a:t>则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574701" y="3311550"/>
            <a:ext cx="561975" cy="699135"/>
          </a:xfrm>
          <a:custGeom>
            <a:avLst/>
            <a:gdLst/>
            <a:ahLst/>
            <a:cxnLst/>
            <a:rect l="l" t="t" r="r" b="b"/>
            <a:pathLst>
              <a:path w="561975" h="699135">
                <a:moveTo>
                  <a:pt x="14287" y="684352"/>
                </a:moveTo>
                <a:lnTo>
                  <a:pt x="0" y="684352"/>
                </a:lnTo>
                <a:lnTo>
                  <a:pt x="0" y="598627"/>
                </a:lnTo>
                <a:lnTo>
                  <a:pt x="28575" y="598627"/>
                </a:lnTo>
                <a:lnTo>
                  <a:pt x="28575" y="670064"/>
                </a:lnTo>
                <a:lnTo>
                  <a:pt x="14287" y="670064"/>
                </a:lnTo>
                <a:lnTo>
                  <a:pt x="14287" y="684352"/>
                </a:lnTo>
                <a:close/>
              </a:path>
              <a:path w="561975" h="699135">
                <a:moveTo>
                  <a:pt x="20269" y="698639"/>
                </a:moveTo>
                <a:lnTo>
                  <a:pt x="14287" y="698639"/>
                </a:lnTo>
                <a:lnTo>
                  <a:pt x="14287" y="670064"/>
                </a:lnTo>
                <a:lnTo>
                  <a:pt x="20269" y="670064"/>
                </a:lnTo>
                <a:lnTo>
                  <a:pt x="20269" y="698639"/>
                </a:lnTo>
                <a:close/>
              </a:path>
              <a:path w="561975" h="699135">
                <a:moveTo>
                  <a:pt x="28575" y="684352"/>
                </a:moveTo>
                <a:lnTo>
                  <a:pt x="20269" y="684352"/>
                </a:lnTo>
                <a:lnTo>
                  <a:pt x="20269" y="670064"/>
                </a:lnTo>
                <a:lnTo>
                  <a:pt x="28575" y="670064"/>
                </a:lnTo>
                <a:lnTo>
                  <a:pt x="28575" y="684352"/>
                </a:lnTo>
                <a:close/>
              </a:path>
              <a:path w="561975" h="699135">
                <a:moveTo>
                  <a:pt x="28575" y="570052"/>
                </a:moveTo>
                <a:lnTo>
                  <a:pt x="0" y="570052"/>
                </a:lnTo>
                <a:lnTo>
                  <a:pt x="0" y="484327"/>
                </a:lnTo>
                <a:lnTo>
                  <a:pt x="28575" y="484327"/>
                </a:lnTo>
                <a:lnTo>
                  <a:pt x="28575" y="570052"/>
                </a:lnTo>
                <a:close/>
              </a:path>
              <a:path w="561975" h="699135">
                <a:moveTo>
                  <a:pt x="28575" y="455752"/>
                </a:moveTo>
                <a:lnTo>
                  <a:pt x="0" y="455752"/>
                </a:lnTo>
                <a:lnTo>
                  <a:pt x="0" y="370027"/>
                </a:lnTo>
                <a:lnTo>
                  <a:pt x="28575" y="370027"/>
                </a:lnTo>
                <a:lnTo>
                  <a:pt x="28575" y="455752"/>
                </a:lnTo>
                <a:close/>
              </a:path>
              <a:path w="561975" h="699135">
                <a:moveTo>
                  <a:pt x="28575" y="341452"/>
                </a:moveTo>
                <a:lnTo>
                  <a:pt x="0" y="341452"/>
                </a:lnTo>
                <a:lnTo>
                  <a:pt x="0" y="255727"/>
                </a:lnTo>
                <a:lnTo>
                  <a:pt x="28575" y="255727"/>
                </a:lnTo>
                <a:lnTo>
                  <a:pt x="28575" y="341452"/>
                </a:lnTo>
                <a:close/>
              </a:path>
              <a:path w="561975" h="699135">
                <a:moveTo>
                  <a:pt x="28575" y="227152"/>
                </a:moveTo>
                <a:lnTo>
                  <a:pt x="0" y="227152"/>
                </a:lnTo>
                <a:lnTo>
                  <a:pt x="0" y="141427"/>
                </a:lnTo>
                <a:lnTo>
                  <a:pt x="28575" y="141427"/>
                </a:lnTo>
                <a:lnTo>
                  <a:pt x="28575" y="227152"/>
                </a:lnTo>
                <a:close/>
              </a:path>
              <a:path w="561975" h="699135">
                <a:moveTo>
                  <a:pt x="28575" y="112852"/>
                </a:moveTo>
                <a:lnTo>
                  <a:pt x="0" y="112852"/>
                </a:lnTo>
                <a:lnTo>
                  <a:pt x="0" y="27127"/>
                </a:lnTo>
                <a:lnTo>
                  <a:pt x="28575" y="27127"/>
                </a:lnTo>
                <a:lnTo>
                  <a:pt x="28575" y="112852"/>
                </a:lnTo>
                <a:close/>
              </a:path>
              <a:path w="561975" h="699135">
                <a:moveTo>
                  <a:pt x="115760" y="28575"/>
                </a:moveTo>
                <a:lnTo>
                  <a:pt x="30035" y="28575"/>
                </a:lnTo>
                <a:lnTo>
                  <a:pt x="30035" y="0"/>
                </a:lnTo>
                <a:lnTo>
                  <a:pt x="115760" y="0"/>
                </a:lnTo>
                <a:lnTo>
                  <a:pt x="115760" y="28575"/>
                </a:lnTo>
                <a:close/>
              </a:path>
              <a:path w="561975" h="699135">
                <a:moveTo>
                  <a:pt x="230060" y="28575"/>
                </a:moveTo>
                <a:lnTo>
                  <a:pt x="144335" y="28575"/>
                </a:lnTo>
                <a:lnTo>
                  <a:pt x="144335" y="0"/>
                </a:lnTo>
                <a:lnTo>
                  <a:pt x="230060" y="0"/>
                </a:lnTo>
                <a:lnTo>
                  <a:pt x="230060" y="28575"/>
                </a:lnTo>
                <a:close/>
              </a:path>
              <a:path w="561975" h="699135">
                <a:moveTo>
                  <a:pt x="344360" y="28575"/>
                </a:moveTo>
                <a:lnTo>
                  <a:pt x="258635" y="28575"/>
                </a:lnTo>
                <a:lnTo>
                  <a:pt x="258635" y="0"/>
                </a:lnTo>
                <a:lnTo>
                  <a:pt x="344360" y="0"/>
                </a:lnTo>
                <a:lnTo>
                  <a:pt x="344360" y="28575"/>
                </a:lnTo>
                <a:close/>
              </a:path>
              <a:path w="561975" h="699135">
                <a:moveTo>
                  <a:pt x="458660" y="28575"/>
                </a:moveTo>
                <a:lnTo>
                  <a:pt x="372935" y="28575"/>
                </a:lnTo>
                <a:lnTo>
                  <a:pt x="372935" y="0"/>
                </a:lnTo>
                <a:lnTo>
                  <a:pt x="458660" y="0"/>
                </a:lnTo>
                <a:lnTo>
                  <a:pt x="458660" y="28575"/>
                </a:lnTo>
                <a:close/>
              </a:path>
              <a:path w="561975" h="699135">
                <a:moveTo>
                  <a:pt x="533082" y="28575"/>
                </a:moveTo>
                <a:lnTo>
                  <a:pt x="487235" y="28575"/>
                </a:lnTo>
                <a:lnTo>
                  <a:pt x="487235" y="0"/>
                </a:lnTo>
                <a:lnTo>
                  <a:pt x="561657" y="0"/>
                </a:lnTo>
                <a:lnTo>
                  <a:pt x="561657" y="14287"/>
                </a:lnTo>
                <a:lnTo>
                  <a:pt x="533082" y="14287"/>
                </a:lnTo>
                <a:lnTo>
                  <a:pt x="533082" y="28575"/>
                </a:lnTo>
                <a:close/>
              </a:path>
              <a:path w="561975" h="699135">
                <a:moveTo>
                  <a:pt x="561657" y="39877"/>
                </a:moveTo>
                <a:lnTo>
                  <a:pt x="533082" y="39877"/>
                </a:lnTo>
                <a:lnTo>
                  <a:pt x="533082" y="14287"/>
                </a:lnTo>
                <a:lnTo>
                  <a:pt x="547370" y="28575"/>
                </a:lnTo>
                <a:lnTo>
                  <a:pt x="561657" y="28575"/>
                </a:lnTo>
                <a:lnTo>
                  <a:pt x="561657" y="39877"/>
                </a:lnTo>
                <a:close/>
              </a:path>
              <a:path w="561975" h="699135">
                <a:moveTo>
                  <a:pt x="561657" y="28575"/>
                </a:moveTo>
                <a:lnTo>
                  <a:pt x="547370" y="28575"/>
                </a:lnTo>
                <a:lnTo>
                  <a:pt x="533082" y="14287"/>
                </a:lnTo>
                <a:lnTo>
                  <a:pt x="561657" y="14287"/>
                </a:lnTo>
                <a:lnTo>
                  <a:pt x="561657" y="28575"/>
                </a:lnTo>
                <a:close/>
              </a:path>
              <a:path w="561975" h="699135">
                <a:moveTo>
                  <a:pt x="561657" y="154177"/>
                </a:moveTo>
                <a:lnTo>
                  <a:pt x="533082" y="154177"/>
                </a:lnTo>
                <a:lnTo>
                  <a:pt x="533082" y="68452"/>
                </a:lnTo>
                <a:lnTo>
                  <a:pt x="561657" y="68452"/>
                </a:lnTo>
                <a:lnTo>
                  <a:pt x="561657" y="154177"/>
                </a:lnTo>
                <a:close/>
              </a:path>
              <a:path w="561975" h="699135">
                <a:moveTo>
                  <a:pt x="561657" y="268477"/>
                </a:moveTo>
                <a:lnTo>
                  <a:pt x="533082" y="268477"/>
                </a:lnTo>
                <a:lnTo>
                  <a:pt x="533082" y="182752"/>
                </a:lnTo>
                <a:lnTo>
                  <a:pt x="561657" y="182752"/>
                </a:lnTo>
                <a:lnTo>
                  <a:pt x="561657" y="268477"/>
                </a:lnTo>
                <a:close/>
              </a:path>
              <a:path w="561975" h="699135">
                <a:moveTo>
                  <a:pt x="561657" y="382777"/>
                </a:moveTo>
                <a:lnTo>
                  <a:pt x="533082" y="382777"/>
                </a:lnTo>
                <a:lnTo>
                  <a:pt x="533082" y="297052"/>
                </a:lnTo>
                <a:lnTo>
                  <a:pt x="561657" y="297052"/>
                </a:lnTo>
                <a:lnTo>
                  <a:pt x="561657" y="382777"/>
                </a:lnTo>
                <a:close/>
              </a:path>
              <a:path w="561975" h="699135">
                <a:moveTo>
                  <a:pt x="561657" y="497077"/>
                </a:moveTo>
                <a:lnTo>
                  <a:pt x="533082" y="497077"/>
                </a:lnTo>
                <a:lnTo>
                  <a:pt x="533082" y="411352"/>
                </a:lnTo>
                <a:lnTo>
                  <a:pt x="561657" y="411352"/>
                </a:lnTo>
                <a:lnTo>
                  <a:pt x="561657" y="497077"/>
                </a:lnTo>
                <a:close/>
              </a:path>
              <a:path w="561975" h="699135">
                <a:moveTo>
                  <a:pt x="561657" y="611377"/>
                </a:moveTo>
                <a:lnTo>
                  <a:pt x="533082" y="611377"/>
                </a:lnTo>
                <a:lnTo>
                  <a:pt x="533082" y="525652"/>
                </a:lnTo>
                <a:lnTo>
                  <a:pt x="561657" y="525652"/>
                </a:lnTo>
                <a:lnTo>
                  <a:pt x="561657" y="611377"/>
                </a:lnTo>
                <a:close/>
              </a:path>
              <a:path w="561975" h="699135">
                <a:moveTo>
                  <a:pt x="533082" y="684352"/>
                </a:moveTo>
                <a:lnTo>
                  <a:pt x="533082" y="639952"/>
                </a:lnTo>
                <a:lnTo>
                  <a:pt x="561657" y="639952"/>
                </a:lnTo>
                <a:lnTo>
                  <a:pt x="561657" y="670064"/>
                </a:lnTo>
                <a:lnTo>
                  <a:pt x="547370" y="670064"/>
                </a:lnTo>
                <a:lnTo>
                  <a:pt x="533082" y="684352"/>
                </a:lnTo>
                <a:close/>
              </a:path>
              <a:path w="561975" h="699135">
                <a:moveTo>
                  <a:pt x="561657" y="698639"/>
                </a:moveTo>
                <a:lnTo>
                  <a:pt x="506044" y="698639"/>
                </a:lnTo>
                <a:lnTo>
                  <a:pt x="506044" y="670064"/>
                </a:lnTo>
                <a:lnTo>
                  <a:pt x="533082" y="670064"/>
                </a:lnTo>
                <a:lnTo>
                  <a:pt x="533082" y="684352"/>
                </a:lnTo>
                <a:lnTo>
                  <a:pt x="561657" y="684352"/>
                </a:lnTo>
                <a:lnTo>
                  <a:pt x="561657" y="698639"/>
                </a:lnTo>
                <a:close/>
              </a:path>
              <a:path w="561975" h="699135">
                <a:moveTo>
                  <a:pt x="561657" y="684352"/>
                </a:moveTo>
                <a:lnTo>
                  <a:pt x="533082" y="684352"/>
                </a:lnTo>
                <a:lnTo>
                  <a:pt x="547370" y="670064"/>
                </a:lnTo>
                <a:lnTo>
                  <a:pt x="561657" y="670064"/>
                </a:lnTo>
                <a:lnTo>
                  <a:pt x="561657" y="684352"/>
                </a:lnTo>
                <a:close/>
              </a:path>
              <a:path w="561975" h="699135">
                <a:moveTo>
                  <a:pt x="477469" y="698639"/>
                </a:moveTo>
                <a:lnTo>
                  <a:pt x="391744" y="698639"/>
                </a:lnTo>
                <a:lnTo>
                  <a:pt x="391744" y="670064"/>
                </a:lnTo>
                <a:lnTo>
                  <a:pt x="477469" y="670064"/>
                </a:lnTo>
                <a:lnTo>
                  <a:pt x="477469" y="698639"/>
                </a:lnTo>
                <a:close/>
              </a:path>
              <a:path w="561975" h="699135">
                <a:moveTo>
                  <a:pt x="363169" y="698639"/>
                </a:moveTo>
                <a:lnTo>
                  <a:pt x="277444" y="698639"/>
                </a:lnTo>
                <a:lnTo>
                  <a:pt x="277444" y="670064"/>
                </a:lnTo>
                <a:lnTo>
                  <a:pt x="363169" y="670064"/>
                </a:lnTo>
                <a:lnTo>
                  <a:pt x="363169" y="698639"/>
                </a:lnTo>
                <a:close/>
              </a:path>
              <a:path w="561975" h="699135">
                <a:moveTo>
                  <a:pt x="248869" y="698639"/>
                </a:moveTo>
                <a:lnTo>
                  <a:pt x="163144" y="698639"/>
                </a:lnTo>
                <a:lnTo>
                  <a:pt x="163144" y="670064"/>
                </a:lnTo>
                <a:lnTo>
                  <a:pt x="248869" y="670064"/>
                </a:lnTo>
                <a:lnTo>
                  <a:pt x="248869" y="698639"/>
                </a:lnTo>
                <a:close/>
              </a:path>
              <a:path w="561975" h="699135">
                <a:moveTo>
                  <a:pt x="134569" y="698639"/>
                </a:moveTo>
                <a:lnTo>
                  <a:pt x="48844" y="698639"/>
                </a:lnTo>
                <a:lnTo>
                  <a:pt x="48844" y="670064"/>
                </a:lnTo>
                <a:lnTo>
                  <a:pt x="134569" y="670064"/>
                </a:lnTo>
                <a:lnTo>
                  <a:pt x="134569" y="6986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014810" y="3995534"/>
            <a:ext cx="1663700" cy="414020"/>
          </a:xfrm>
          <a:custGeom>
            <a:avLst/>
            <a:gdLst/>
            <a:ahLst/>
            <a:cxnLst/>
            <a:rect l="l" t="t" r="r" b="b"/>
            <a:pathLst>
              <a:path w="1663700" h="414020">
                <a:moveTo>
                  <a:pt x="14147" y="128371"/>
                </a:moveTo>
                <a:lnTo>
                  <a:pt x="0" y="115506"/>
                </a:lnTo>
                <a:lnTo>
                  <a:pt x="12" y="112522"/>
                </a:lnTo>
                <a:lnTo>
                  <a:pt x="647" y="109600"/>
                </a:lnTo>
                <a:lnTo>
                  <a:pt x="1866" y="106883"/>
                </a:lnTo>
                <a:lnTo>
                  <a:pt x="64223" y="0"/>
                </a:lnTo>
                <a:lnTo>
                  <a:pt x="84958" y="35547"/>
                </a:lnTo>
                <a:lnTo>
                  <a:pt x="51879" y="35547"/>
                </a:lnTo>
                <a:lnTo>
                  <a:pt x="64217" y="56700"/>
                </a:lnTo>
                <a:lnTo>
                  <a:pt x="63451" y="58013"/>
                </a:lnTo>
                <a:lnTo>
                  <a:pt x="49936" y="58013"/>
                </a:lnTo>
                <a:lnTo>
                  <a:pt x="49923" y="81207"/>
                </a:lnTo>
                <a:lnTo>
                  <a:pt x="26555" y="121272"/>
                </a:lnTo>
                <a:lnTo>
                  <a:pt x="17119" y="128066"/>
                </a:lnTo>
                <a:lnTo>
                  <a:pt x="14147" y="128371"/>
                </a:lnTo>
                <a:close/>
              </a:path>
              <a:path w="1663700" h="414020">
                <a:moveTo>
                  <a:pt x="64217" y="56700"/>
                </a:moveTo>
                <a:lnTo>
                  <a:pt x="51879" y="35547"/>
                </a:lnTo>
                <a:lnTo>
                  <a:pt x="76555" y="35547"/>
                </a:lnTo>
                <a:lnTo>
                  <a:pt x="64217" y="56700"/>
                </a:lnTo>
                <a:close/>
              </a:path>
              <a:path w="1663700" h="414020">
                <a:moveTo>
                  <a:pt x="78511" y="81207"/>
                </a:moveTo>
                <a:lnTo>
                  <a:pt x="64217" y="56700"/>
                </a:lnTo>
                <a:lnTo>
                  <a:pt x="76555" y="35547"/>
                </a:lnTo>
                <a:lnTo>
                  <a:pt x="84958" y="35547"/>
                </a:lnTo>
                <a:lnTo>
                  <a:pt x="98062" y="58013"/>
                </a:lnTo>
                <a:lnTo>
                  <a:pt x="78511" y="58013"/>
                </a:lnTo>
                <a:lnTo>
                  <a:pt x="78511" y="81207"/>
                </a:lnTo>
                <a:close/>
              </a:path>
              <a:path w="1663700" h="414020">
                <a:moveTo>
                  <a:pt x="49936" y="81186"/>
                </a:moveTo>
                <a:lnTo>
                  <a:pt x="49936" y="58013"/>
                </a:lnTo>
                <a:lnTo>
                  <a:pt x="63451" y="58013"/>
                </a:lnTo>
                <a:lnTo>
                  <a:pt x="49936" y="81186"/>
                </a:lnTo>
                <a:close/>
              </a:path>
              <a:path w="1663700" h="414020">
                <a:moveTo>
                  <a:pt x="78511" y="172313"/>
                </a:moveTo>
                <a:lnTo>
                  <a:pt x="49936" y="172313"/>
                </a:lnTo>
                <a:lnTo>
                  <a:pt x="49936" y="81186"/>
                </a:lnTo>
                <a:lnTo>
                  <a:pt x="63451" y="58013"/>
                </a:lnTo>
                <a:lnTo>
                  <a:pt x="64983" y="58013"/>
                </a:lnTo>
                <a:lnTo>
                  <a:pt x="78498" y="81186"/>
                </a:lnTo>
                <a:lnTo>
                  <a:pt x="78511" y="172313"/>
                </a:lnTo>
                <a:close/>
              </a:path>
              <a:path w="1663700" h="414020">
                <a:moveTo>
                  <a:pt x="114287" y="128371"/>
                </a:moveTo>
                <a:lnTo>
                  <a:pt x="78511" y="81207"/>
                </a:lnTo>
                <a:lnTo>
                  <a:pt x="78511" y="58013"/>
                </a:lnTo>
                <a:lnTo>
                  <a:pt x="98062" y="58013"/>
                </a:lnTo>
                <a:lnTo>
                  <a:pt x="126568" y="106883"/>
                </a:lnTo>
                <a:lnTo>
                  <a:pt x="127787" y="109600"/>
                </a:lnTo>
                <a:lnTo>
                  <a:pt x="128422" y="112522"/>
                </a:lnTo>
                <a:lnTo>
                  <a:pt x="128435" y="115506"/>
                </a:lnTo>
                <a:lnTo>
                  <a:pt x="127838" y="118427"/>
                </a:lnTo>
                <a:lnTo>
                  <a:pt x="114287" y="128371"/>
                </a:lnTo>
                <a:close/>
              </a:path>
              <a:path w="1663700" h="414020">
                <a:moveTo>
                  <a:pt x="1663407" y="125717"/>
                </a:moveTo>
                <a:lnTo>
                  <a:pt x="1634832" y="125717"/>
                </a:lnTo>
                <a:lnTo>
                  <a:pt x="1634832" y="11417"/>
                </a:lnTo>
                <a:lnTo>
                  <a:pt x="1663407" y="11417"/>
                </a:lnTo>
                <a:lnTo>
                  <a:pt x="1663407" y="125717"/>
                </a:lnTo>
                <a:close/>
              </a:path>
              <a:path w="1663700" h="414020">
                <a:moveTo>
                  <a:pt x="1663407" y="325742"/>
                </a:moveTo>
                <a:lnTo>
                  <a:pt x="1634832" y="325742"/>
                </a:lnTo>
                <a:lnTo>
                  <a:pt x="1634832" y="211442"/>
                </a:lnTo>
                <a:lnTo>
                  <a:pt x="1663407" y="211442"/>
                </a:lnTo>
                <a:lnTo>
                  <a:pt x="1663407" y="325742"/>
                </a:lnTo>
                <a:close/>
              </a:path>
              <a:path w="1663700" h="414020">
                <a:moveTo>
                  <a:pt x="1637207" y="413842"/>
                </a:moveTo>
                <a:lnTo>
                  <a:pt x="1522907" y="413842"/>
                </a:lnTo>
                <a:lnTo>
                  <a:pt x="1522907" y="385267"/>
                </a:lnTo>
                <a:lnTo>
                  <a:pt x="1637207" y="385267"/>
                </a:lnTo>
                <a:lnTo>
                  <a:pt x="1637207" y="413842"/>
                </a:lnTo>
                <a:close/>
              </a:path>
              <a:path w="1663700" h="414020">
                <a:moveTo>
                  <a:pt x="1437182" y="413842"/>
                </a:moveTo>
                <a:lnTo>
                  <a:pt x="1322882" y="413842"/>
                </a:lnTo>
                <a:lnTo>
                  <a:pt x="1322882" y="385267"/>
                </a:lnTo>
                <a:lnTo>
                  <a:pt x="1437182" y="385267"/>
                </a:lnTo>
                <a:lnTo>
                  <a:pt x="1437182" y="413842"/>
                </a:lnTo>
                <a:close/>
              </a:path>
              <a:path w="1663700" h="414020">
                <a:moveTo>
                  <a:pt x="1237157" y="413842"/>
                </a:moveTo>
                <a:lnTo>
                  <a:pt x="1122857" y="413842"/>
                </a:lnTo>
                <a:lnTo>
                  <a:pt x="1122857" y="385267"/>
                </a:lnTo>
                <a:lnTo>
                  <a:pt x="1237157" y="385267"/>
                </a:lnTo>
                <a:lnTo>
                  <a:pt x="1237157" y="413842"/>
                </a:lnTo>
                <a:close/>
              </a:path>
              <a:path w="1663700" h="414020">
                <a:moveTo>
                  <a:pt x="1037132" y="413842"/>
                </a:moveTo>
                <a:lnTo>
                  <a:pt x="922832" y="413842"/>
                </a:lnTo>
                <a:lnTo>
                  <a:pt x="922832" y="385267"/>
                </a:lnTo>
                <a:lnTo>
                  <a:pt x="1037132" y="385267"/>
                </a:lnTo>
                <a:lnTo>
                  <a:pt x="1037132" y="413842"/>
                </a:lnTo>
                <a:close/>
              </a:path>
              <a:path w="1663700" h="414020">
                <a:moveTo>
                  <a:pt x="837107" y="413842"/>
                </a:moveTo>
                <a:lnTo>
                  <a:pt x="722807" y="413842"/>
                </a:lnTo>
                <a:lnTo>
                  <a:pt x="722807" y="385267"/>
                </a:lnTo>
                <a:lnTo>
                  <a:pt x="837107" y="385267"/>
                </a:lnTo>
                <a:lnTo>
                  <a:pt x="837107" y="413842"/>
                </a:lnTo>
                <a:close/>
              </a:path>
              <a:path w="1663700" h="414020">
                <a:moveTo>
                  <a:pt x="637082" y="413842"/>
                </a:moveTo>
                <a:lnTo>
                  <a:pt x="522782" y="413842"/>
                </a:lnTo>
                <a:lnTo>
                  <a:pt x="522782" y="385267"/>
                </a:lnTo>
                <a:lnTo>
                  <a:pt x="637082" y="385267"/>
                </a:lnTo>
                <a:lnTo>
                  <a:pt x="637082" y="413842"/>
                </a:lnTo>
                <a:close/>
              </a:path>
              <a:path w="1663700" h="414020">
                <a:moveTo>
                  <a:pt x="437057" y="413842"/>
                </a:moveTo>
                <a:lnTo>
                  <a:pt x="322757" y="413842"/>
                </a:lnTo>
                <a:lnTo>
                  <a:pt x="322757" y="385267"/>
                </a:lnTo>
                <a:lnTo>
                  <a:pt x="437057" y="385267"/>
                </a:lnTo>
                <a:lnTo>
                  <a:pt x="437057" y="413842"/>
                </a:lnTo>
                <a:close/>
              </a:path>
              <a:path w="1663700" h="414020">
                <a:moveTo>
                  <a:pt x="237032" y="413842"/>
                </a:moveTo>
                <a:lnTo>
                  <a:pt x="122732" y="413842"/>
                </a:lnTo>
                <a:lnTo>
                  <a:pt x="122732" y="385267"/>
                </a:lnTo>
                <a:lnTo>
                  <a:pt x="237032" y="385267"/>
                </a:lnTo>
                <a:lnTo>
                  <a:pt x="237032" y="413842"/>
                </a:lnTo>
                <a:close/>
              </a:path>
              <a:path w="1663700" h="414020">
                <a:moveTo>
                  <a:pt x="78511" y="372338"/>
                </a:moveTo>
                <a:lnTo>
                  <a:pt x="49936" y="372338"/>
                </a:lnTo>
                <a:lnTo>
                  <a:pt x="49936" y="258038"/>
                </a:lnTo>
                <a:lnTo>
                  <a:pt x="78511" y="258038"/>
                </a:lnTo>
                <a:lnTo>
                  <a:pt x="78511" y="37233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730724" y="3309937"/>
            <a:ext cx="605790" cy="699135"/>
          </a:xfrm>
          <a:custGeom>
            <a:avLst/>
            <a:gdLst/>
            <a:ahLst/>
            <a:cxnLst/>
            <a:rect l="l" t="t" r="r" b="b"/>
            <a:pathLst>
              <a:path w="605789" h="699135">
                <a:moveTo>
                  <a:pt x="22555" y="684352"/>
                </a:moveTo>
                <a:lnTo>
                  <a:pt x="0" y="684352"/>
                </a:lnTo>
                <a:lnTo>
                  <a:pt x="0" y="598627"/>
                </a:lnTo>
                <a:lnTo>
                  <a:pt x="28575" y="598627"/>
                </a:lnTo>
                <a:lnTo>
                  <a:pt x="28575" y="670064"/>
                </a:lnTo>
                <a:lnTo>
                  <a:pt x="22555" y="670064"/>
                </a:lnTo>
                <a:lnTo>
                  <a:pt x="22555" y="684352"/>
                </a:lnTo>
                <a:close/>
              </a:path>
              <a:path w="605789" h="699135">
                <a:moveTo>
                  <a:pt x="108280" y="698639"/>
                </a:moveTo>
                <a:lnTo>
                  <a:pt x="22555" y="698639"/>
                </a:lnTo>
                <a:lnTo>
                  <a:pt x="22555" y="670064"/>
                </a:lnTo>
                <a:lnTo>
                  <a:pt x="28575" y="670064"/>
                </a:lnTo>
                <a:lnTo>
                  <a:pt x="28575" y="684352"/>
                </a:lnTo>
                <a:lnTo>
                  <a:pt x="108280" y="684352"/>
                </a:lnTo>
                <a:lnTo>
                  <a:pt x="108280" y="698639"/>
                </a:lnTo>
                <a:close/>
              </a:path>
              <a:path w="605789" h="699135">
                <a:moveTo>
                  <a:pt x="108280" y="684352"/>
                </a:moveTo>
                <a:lnTo>
                  <a:pt x="28575" y="684352"/>
                </a:lnTo>
                <a:lnTo>
                  <a:pt x="28575" y="670064"/>
                </a:lnTo>
                <a:lnTo>
                  <a:pt x="108280" y="670064"/>
                </a:lnTo>
                <a:lnTo>
                  <a:pt x="108280" y="684352"/>
                </a:lnTo>
                <a:close/>
              </a:path>
              <a:path w="605789" h="699135">
                <a:moveTo>
                  <a:pt x="28575" y="570052"/>
                </a:moveTo>
                <a:lnTo>
                  <a:pt x="0" y="570052"/>
                </a:lnTo>
                <a:lnTo>
                  <a:pt x="0" y="484327"/>
                </a:lnTo>
                <a:lnTo>
                  <a:pt x="28575" y="484327"/>
                </a:lnTo>
                <a:lnTo>
                  <a:pt x="28575" y="570052"/>
                </a:lnTo>
                <a:close/>
              </a:path>
              <a:path w="605789" h="699135">
                <a:moveTo>
                  <a:pt x="28575" y="455752"/>
                </a:moveTo>
                <a:lnTo>
                  <a:pt x="0" y="455752"/>
                </a:lnTo>
                <a:lnTo>
                  <a:pt x="0" y="370027"/>
                </a:lnTo>
                <a:lnTo>
                  <a:pt x="28575" y="370027"/>
                </a:lnTo>
                <a:lnTo>
                  <a:pt x="28575" y="455752"/>
                </a:lnTo>
                <a:close/>
              </a:path>
              <a:path w="605789" h="699135">
                <a:moveTo>
                  <a:pt x="28575" y="341452"/>
                </a:moveTo>
                <a:lnTo>
                  <a:pt x="0" y="341452"/>
                </a:lnTo>
                <a:lnTo>
                  <a:pt x="0" y="255727"/>
                </a:lnTo>
                <a:lnTo>
                  <a:pt x="28575" y="255727"/>
                </a:lnTo>
                <a:lnTo>
                  <a:pt x="28575" y="341452"/>
                </a:lnTo>
                <a:close/>
              </a:path>
              <a:path w="605789" h="699135">
                <a:moveTo>
                  <a:pt x="28575" y="227152"/>
                </a:moveTo>
                <a:lnTo>
                  <a:pt x="0" y="227152"/>
                </a:lnTo>
                <a:lnTo>
                  <a:pt x="0" y="141427"/>
                </a:lnTo>
                <a:lnTo>
                  <a:pt x="28575" y="141427"/>
                </a:lnTo>
                <a:lnTo>
                  <a:pt x="28575" y="227152"/>
                </a:lnTo>
                <a:close/>
              </a:path>
              <a:path w="605789" h="699135">
                <a:moveTo>
                  <a:pt x="28575" y="112852"/>
                </a:moveTo>
                <a:lnTo>
                  <a:pt x="0" y="112852"/>
                </a:lnTo>
                <a:lnTo>
                  <a:pt x="0" y="27127"/>
                </a:lnTo>
                <a:lnTo>
                  <a:pt x="28575" y="27127"/>
                </a:lnTo>
                <a:lnTo>
                  <a:pt x="28575" y="112852"/>
                </a:lnTo>
                <a:close/>
              </a:path>
              <a:path w="605789" h="699135">
                <a:moveTo>
                  <a:pt x="115760" y="28575"/>
                </a:moveTo>
                <a:lnTo>
                  <a:pt x="30035" y="28575"/>
                </a:lnTo>
                <a:lnTo>
                  <a:pt x="30035" y="0"/>
                </a:lnTo>
                <a:lnTo>
                  <a:pt x="115760" y="0"/>
                </a:lnTo>
                <a:lnTo>
                  <a:pt x="115760" y="28575"/>
                </a:lnTo>
                <a:close/>
              </a:path>
              <a:path w="605789" h="699135">
                <a:moveTo>
                  <a:pt x="230060" y="28575"/>
                </a:moveTo>
                <a:lnTo>
                  <a:pt x="144335" y="28575"/>
                </a:lnTo>
                <a:lnTo>
                  <a:pt x="144335" y="0"/>
                </a:lnTo>
                <a:lnTo>
                  <a:pt x="230060" y="0"/>
                </a:lnTo>
                <a:lnTo>
                  <a:pt x="230060" y="28575"/>
                </a:lnTo>
                <a:close/>
              </a:path>
              <a:path w="605789" h="699135">
                <a:moveTo>
                  <a:pt x="344360" y="28575"/>
                </a:moveTo>
                <a:lnTo>
                  <a:pt x="258635" y="28575"/>
                </a:lnTo>
                <a:lnTo>
                  <a:pt x="258635" y="0"/>
                </a:lnTo>
                <a:lnTo>
                  <a:pt x="344360" y="0"/>
                </a:lnTo>
                <a:lnTo>
                  <a:pt x="344360" y="28575"/>
                </a:lnTo>
                <a:close/>
              </a:path>
              <a:path w="605789" h="699135">
                <a:moveTo>
                  <a:pt x="458660" y="28575"/>
                </a:moveTo>
                <a:lnTo>
                  <a:pt x="372935" y="28575"/>
                </a:lnTo>
                <a:lnTo>
                  <a:pt x="372935" y="0"/>
                </a:lnTo>
                <a:lnTo>
                  <a:pt x="458660" y="0"/>
                </a:lnTo>
                <a:lnTo>
                  <a:pt x="458660" y="28575"/>
                </a:lnTo>
                <a:close/>
              </a:path>
              <a:path w="605789" h="699135">
                <a:moveTo>
                  <a:pt x="572960" y="28575"/>
                </a:moveTo>
                <a:lnTo>
                  <a:pt x="487235" y="28575"/>
                </a:lnTo>
                <a:lnTo>
                  <a:pt x="487235" y="0"/>
                </a:lnTo>
                <a:lnTo>
                  <a:pt x="572960" y="0"/>
                </a:lnTo>
                <a:lnTo>
                  <a:pt x="572960" y="28575"/>
                </a:lnTo>
                <a:close/>
              </a:path>
              <a:path w="605789" h="699135">
                <a:moveTo>
                  <a:pt x="605663" y="110172"/>
                </a:moveTo>
                <a:lnTo>
                  <a:pt x="577088" y="110172"/>
                </a:lnTo>
                <a:lnTo>
                  <a:pt x="577088" y="24447"/>
                </a:lnTo>
                <a:lnTo>
                  <a:pt x="605663" y="24447"/>
                </a:lnTo>
                <a:lnTo>
                  <a:pt x="605663" y="110172"/>
                </a:lnTo>
                <a:close/>
              </a:path>
              <a:path w="605789" h="699135">
                <a:moveTo>
                  <a:pt x="605663" y="224472"/>
                </a:moveTo>
                <a:lnTo>
                  <a:pt x="577088" y="224472"/>
                </a:lnTo>
                <a:lnTo>
                  <a:pt x="577088" y="138747"/>
                </a:lnTo>
                <a:lnTo>
                  <a:pt x="605663" y="138747"/>
                </a:lnTo>
                <a:lnTo>
                  <a:pt x="605663" y="224472"/>
                </a:lnTo>
                <a:close/>
              </a:path>
              <a:path w="605789" h="699135">
                <a:moveTo>
                  <a:pt x="605663" y="338772"/>
                </a:moveTo>
                <a:lnTo>
                  <a:pt x="577088" y="338772"/>
                </a:lnTo>
                <a:lnTo>
                  <a:pt x="577088" y="253047"/>
                </a:lnTo>
                <a:lnTo>
                  <a:pt x="605663" y="253047"/>
                </a:lnTo>
                <a:lnTo>
                  <a:pt x="605663" y="338772"/>
                </a:lnTo>
                <a:close/>
              </a:path>
              <a:path w="605789" h="699135">
                <a:moveTo>
                  <a:pt x="605663" y="453072"/>
                </a:moveTo>
                <a:lnTo>
                  <a:pt x="577088" y="453072"/>
                </a:lnTo>
                <a:lnTo>
                  <a:pt x="577088" y="367347"/>
                </a:lnTo>
                <a:lnTo>
                  <a:pt x="605663" y="367347"/>
                </a:lnTo>
                <a:lnTo>
                  <a:pt x="605663" y="453072"/>
                </a:lnTo>
                <a:close/>
              </a:path>
              <a:path w="605789" h="699135">
                <a:moveTo>
                  <a:pt x="605663" y="567372"/>
                </a:moveTo>
                <a:lnTo>
                  <a:pt x="577088" y="567372"/>
                </a:lnTo>
                <a:lnTo>
                  <a:pt x="577088" y="481647"/>
                </a:lnTo>
                <a:lnTo>
                  <a:pt x="605663" y="481647"/>
                </a:lnTo>
                <a:lnTo>
                  <a:pt x="605663" y="567372"/>
                </a:lnTo>
                <a:close/>
              </a:path>
              <a:path w="605789" h="699135">
                <a:moveTo>
                  <a:pt x="605663" y="681672"/>
                </a:moveTo>
                <a:lnTo>
                  <a:pt x="577088" y="681672"/>
                </a:lnTo>
                <a:lnTo>
                  <a:pt x="577088" y="595947"/>
                </a:lnTo>
                <a:lnTo>
                  <a:pt x="605663" y="595947"/>
                </a:lnTo>
                <a:lnTo>
                  <a:pt x="605663" y="681672"/>
                </a:lnTo>
                <a:close/>
              </a:path>
              <a:path w="605789" h="699135">
                <a:moveTo>
                  <a:pt x="565480" y="698639"/>
                </a:moveTo>
                <a:lnTo>
                  <a:pt x="479755" y="698639"/>
                </a:lnTo>
                <a:lnTo>
                  <a:pt x="479755" y="670064"/>
                </a:lnTo>
                <a:lnTo>
                  <a:pt x="565480" y="670064"/>
                </a:lnTo>
                <a:lnTo>
                  <a:pt x="565480" y="698639"/>
                </a:lnTo>
                <a:close/>
              </a:path>
              <a:path w="605789" h="699135">
                <a:moveTo>
                  <a:pt x="451180" y="698639"/>
                </a:moveTo>
                <a:lnTo>
                  <a:pt x="365455" y="698639"/>
                </a:lnTo>
                <a:lnTo>
                  <a:pt x="365455" y="670064"/>
                </a:lnTo>
                <a:lnTo>
                  <a:pt x="451180" y="670064"/>
                </a:lnTo>
                <a:lnTo>
                  <a:pt x="451180" y="698639"/>
                </a:lnTo>
                <a:close/>
              </a:path>
              <a:path w="605789" h="699135">
                <a:moveTo>
                  <a:pt x="336880" y="698639"/>
                </a:moveTo>
                <a:lnTo>
                  <a:pt x="251155" y="698639"/>
                </a:lnTo>
                <a:lnTo>
                  <a:pt x="251155" y="670064"/>
                </a:lnTo>
                <a:lnTo>
                  <a:pt x="336880" y="670064"/>
                </a:lnTo>
                <a:lnTo>
                  <a:pt x="336880" y="698639"/>
                </a:lnTo>
                <a:close/>
              </a:path>
              <a:path w="605789" h="699135">
                <a:moveTo>
                  <a:pt x="222580" y="698639"/>
                </a:moveTo>
                <a:lnTo>
                  <a:pt x="136855" y="698639"/>
                </a:lnTo>
                <a:lnTo>
                  <a:pt x="136855" y="670064"/>
                </a:lnTo>
                <a:lnTo>
                  <a:pt x="222580" y="670064"/>
                </a:lnTo>
                <a:lnTo>
                  <a:pt x="222580" y="6986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450617" y="3191230"/>
            <a:ext cx="1001394" cy="950594"/>
          </a:xfrm>
          <a:custGeom>
            <a:avLst/>
            <a:gdLst/>
            <a:ahLst/>
            <a:cxnLst/>
            <a:rect l="l" t="t" r="r" b="b"/>
            <a:pathLst>
              <a:path w="1001395" h="950595">
                <a:moveTo>
                  <a:pt x="14287" y="936028"/>
                </a:moveTo>
                <a:lnTo>
                  <a:pt x="0" y="936028"/>
                </a:lnTo>
                <a:lnTo>
                  <a:pt x="0" y="850303"/>
                </a:lnTo>
                <a:lnTo>
                  <a:pt x="28575" y="850303"/>
                </a:lnTo>
                <a:lnTo>
                  <a:pt x="28575" y="921740"/>
                </a:lnTo>
                <a:lnTo>
                  <a:pt x="14287" y="921740"/>
                </a:lnTo>
                <a:lnTo>
                  <a:pt x="14287" y="936028"/>
                </a:lnTo>
                <a:close/>
              </a:path>
              <a:path w="1001395" h="950595">
                <a:moveTo>
                  <a:pt x="30340" y="950315"/>
                </a:moveTo>
                <a:lnTo>
                  <a:pt x="14287" y="950315"/>
                </a:lnTo>
                <a:lnTo>
                  <a:pt x="14287" y="921740"/>
                </a:lnTo>
                <a:lnTo>
                  <a:pt x="28575" y="921740"/>
                </a:lnTo>
                <a:lnTo>
                  <a:pt x="28575" y="936028"/>
                </a:lnTo>
                <a:lnTo>
                  <a:pt x="30340" y="936028"/>
                </a:lnTo>
                <a:lnTo>
                  <a:pt x="30340" y="950315"/>
                </a:lnTo>
                <a:close/>
              </a:path>
              <a:path w="1001395" h="950595">
                <a:moveTo>
                  <a:pt x="30340" y="936028"/>
                </a:moveTo>
                <a:lnTo>
                  <a:pt x="28575" y="936028"/>
                </a:lnTo>
                <a:lnTo>
                  <a:pt x="28575" y="921740"/>
                </a:lnTo>
                <a:lnTo>
                  <a:pt x="30340" y="921740"/>
                </a:lnTo>
                <a:lnTo>
                  <a:pt x="30340" y="936028"/>
                </a:lnTo>
                <a:close/>
              </a:path>
              <a:path w="1001395" h="950595">
                <a:moveTo>
                  <a:pt x="28575" y="821728"/>
                </a:moveTo>
                <a:lnTo>
                  <a:pt x="0" y="821728"/>
                </a:lnTo>
                <a:lnTo>
                  <a:pt x="0" y="736003"/>
                </a:lnTo>
                <a:lnTo>
                  <a:pt x="28575" y="736003"/>
                </a:lnTo>
                <a:lnTo>
                  <a:pt x="28575" y="821728"/>
                </a:lnTo>
                <a:close/>
              </a:path>
              <a:path w="1001395" h="950595">
                <a:moveTo>
                  <a:pt x="28575" y="707428"/>
                </a:moveTo>
                <a:lnTo>
                  <a:pt x="0" y="707428"/>
                </a:lnTo>
                <a:lnTo>
                  <a:pt x="0" y="621703"/>
                </a:lnTo>
                <a:lnTo>
                  <a:pt x="28575" y="621703"/>
                </a:lnTo>
                <a:lnTo>
                  <a:pt x="28575" y="707428"/>
                </a:lnTo>
                <a:close/>
              </a:path>
              <a:path w="1001395" h="950595">
                <a:moveTo>
                  <a:pt x="28575" y="593128"/>
                </a:moveTo>
                <a:lnTo>
                  <a:pt x="0" y="593128"/>
                </a:lnTo>
                <a:lnTo>
                  <a:pt x="0" y="507403"/>
                </a:lnTo>
                <a:lnTo>
                  <a:pt x="28575" y="507403"/>
                </a:lnTo>
                <a:lnTo>
                  <a:pt x="28575" y="593128"/>
                </a:lnTo>
                <a:close/>
              </a:path>
              <a:path w="1001395" h="950595">
                <a:moveTo>
                  <a:pt x="28575" y="478828"/>
                </a:moveTo>
                <a:lnTo>
                  <a:pt x="0" y="478828"/>
                </a:lnTo>
                <a:lnTo>
                  <a:pt x="0" y="393103"/>
                </a:lnTo>
                <a:lnTo>
                  <a:pt x="28575" y="393103"/>
                </a:lnTo>
                <a:lnTo>
                  <a:pt x="28575" y="478828"/>
                </a:lnTo>
                <a:close/>
              </a:path>
              <a:path w="1001395" h="950595">
                <a:moveTo>
                  <a:pt x="28575" y="364528"/>
                </a:moveTo>
                <a:lnTo>
                  <a:pt x="0" y="364528"/>
                </a:lnTo>
                <a:lnTo>
                  <a:pt x="0" y="278803"/>
                </a:lnTo>
                <a:lnTo>
                  <a:pt x="28575" y="278803"/>
                </a:lnTo>
                <a:lnTo>
                  <a:pt x="28575" y="364528"/>
                </a:lnTo>
                <a:close/>
              </a:path>
              <a:path w="1001395" h="950595">
                <a:moveTo>
                  <a:pt x="28575" y="250228"/>
                </a:moveTo>
                <a:lnTo>
                  <a:pt x="0" y="250228"/>
                </a:lnTo>
                <a:lnTo>
                  <a:pt x="0" y="164503"/>
                </a:lnTo>
                <a:lnTo>
                  <a:pt x="28575" y="164503"/>
                </a:lnTo>
                <a:lnTo>
                  <a:pt x="28575" y="250228"/>
                </a:lnTo>
                <a:close/>
              </a:path>
              <a:path w="1001395" h="950595">
                <a:moveTo>
                  <a:pt x="28575" y="135928"/>
                </a:moveTo>
                <a:lnTo>
                  <a:pt x="0" y="135928"/>
                </a:lnTo>
                <a:lnTo>
                  <a:pt x="0" y="50203"/>
                </a:lnTo>
                <a:lnTo>
                  <a:pt x="28575" y="50203"/>
                </a:lnTo>
                <a:lnTo>
                  <a:pt x="28575" y="135928"/>
                </a:lnTo>
                <a:close/>
              </a:path>
              <a:path w="1001395" h="950595">
                <a:moveTo>
                  <a:pt x="21234" y="21628"/>
                </a:moveTo>
                <a:lnTo>
                  <a:pt x="0" y="21628"/>
                </a:lnTo>
                <a:lnTo>
                  <a:pt x="0" y="0"/>
                </a:lnTo>
                <a:lnTo>
                  <a:pt x="92671" y="0"/>
                </a:lnTo>
                <a:lnTo>
                  <a:pt x="92671" y="14287"/>
                </a:lnTo>
                <a:lnTo>
                  <a:pt x="28575" y="14287"/>
                </a:lnTo>
                <a:lnTo>
                  <a:pt x="21234" y="21628"/>
                </a:lnTo>
                <a:close/>
              </a:path>
              <a:path w="1001395" h="950595">
                <a:moveTo>
                  <a:pt x="28575" y="28574"/>
                </a:moveTo>
                <a:lnTo>
                  <a:pt x="14287" y="28574"/>
                </a:lnTo>
                <a:lnTo>
                  <a:pt x="28575" y="14287"/>
                </a:lnTo>
                <a:lnTo>
                  <a:pt x="28575" y="28574"/>
                </a:lnTo>
                <a:close/>
              </a:path>
              <a:path w="1001395" h="950595">
                <a:moveTo>
                  <a:pt x="92671" y="28574"/>
                </a:moveTo>
                <a:lnTo>
                  <a:pt x="28575" y="28574"/>
                </a:lnTo>
                <a:lnTo>
                  <a:pt x="28575" y="14287"/>
                </a:lnTo>
                <a:lnTo>
                  <a:pt x="92671" y="14287"/>
                </a:lnTo>
                <a:lnTo>
                  <a:pt x="92671" y="28574"/>
                </a:lnTo>
                <a:close/>
              </a:path>
              <a:path w="1001395" h="950595">
                <a:moveTo>
                  <a:pt x="206971" y="28574"/>
                </a:moveTo>
                <a:lnTo>
                  <a:pt x="121246" y="28574"/>
                </a:lnTo>
                <a:lnTo>
                  <a:pt x="121246" y="0"/>
                </a:lnTo>
                <a:lnTo>
                  <a:pt x="206971" y="0"/>
                </a:lnTo>
                <a:lnTo>
                  <a:pt x="206971" y="28574"/>
                </a:lnTo>
                <a:close/>
              </a:path>
              <a:path w="1001395" h="950595">
                <a:moveTo>
                  <a:pt x="321271" y="28574"/>
                </a:moveTo>
                <a:lnTo>
                  <a:pt x="235546" y="28574"/>
                </a:lnTo>
                <a:lnTo>
                  <a:pt x="235546" y="0"/>
                </a:lnTo>
                <a:lnTo>
                  <a:pt x="321271" y="0"/>
                </a:lnTo>
                <a:lnTo>
                  <a:pt x="321271" y="28574"/>
                </a:lnTo>
                <a:close/>
              </a:path>
              <a:path w="1001395" h="950595">
                <a:moveTo>
                  <a:pt x="435571" y="28574"/>
                </a:moveTo>
                <a:lnTo>
                  <a:pt x="349846" y="28574"/>
                </a:lnTo>
                <a:lnTo>
                  <a:pt x="349846" y="0"/>
                </a:lnTo>
                <a:lnTo>
                  <a:pt x="435571" y="0"/>
                </a:lnTo>
                <a:lnTo>
                  <a:pt x="435571" y="28574"/>
                </a:lnTo>
                <a:close/>
              </a:path>
              <a:path w="1001395" h="950595">
                <a:moveTo>
                  <a:pt x="549871" y="28574"/>
                </a:moveTo>
                <a:lnTo>
                  <a:pt x="464146" y="28574"/>
                </a:lnTo>
                <a:lnTo>
                  <a:pt x="464146" y="0"/>
                </a:lnTo>
                <a:lnTo>
                  <a:pt x="549871" y="0"/>
                </a:lnTo>
                <a:lnTo>
                  <a:pt x="549871" y="28574"/>
                </a:lnTo>
                <a:close/>
              </a:path>
              <a:path w="1001395" h="950595">
                <a:moveTo>
                  <a:pt x="664171" y="28574"/>
                </a:moveTo>
                <a:lnTo>
                  <a:pt x="578446" y="28574"/>
                </a:lnTo>
                <a:lnTo>
                  <a:pt x="578446" y="0"/>
                </a:lnTo>
                <a:lnTo>
                  <a:pt x="664171" y="0"/>
                </a:lnTo>
                <a:lnTo>
                  <a:pt x="664171" y="28574"/>
                </a:lnTo>
                <a:close/>
              </a:path>
              <a:path w="1001395" h="950595">
                <a:moveTo>
                  <a:pt x="778471" y="28574"/>
                </a:moveTo>
                <a:lnTo>
                  <a:pt x="692746" y="28574"/>
                </a:lnTo>
                <a:lnTo>
                  <a:pt x="692746" y="0"/>
                </a:lnTo>
                <a:lnTo>
                  <a:pt x="778471" y="0"/>
                </a:lnTo>
                <a:lnTo>
                  <a:pt x="778471" y="28574"/>
                </a:lnTo>
                <a:close/>
              </a:path>
              <a:path w="1001395" h="950595">
                <a:moveTo>
                  <a:pt x="892771" y="28574"/>
                </a:moveTo>
                <a:lnTo>
                  <a:pt x="807046" y="28574"/>
                </a:lnTo>
                <a:lnTo>
                  <a:pt x="807046" y="0"/>
                </a:lnTo>
                <a:lnTo>
                  <a:pt x="892771" y="0"/>
                </a:lnTo>
                <a:lnTo>
                  <a:pt x="892771" y="28574"/>
                </a:lnTo>
                <a:close/>
              </a:path>
              <a:path w="1001395" h="950595">
                <a:moveTo>
                  <a:pt x="972235" y="28574"/>
                </a:moveTo>
                <a:lnTo>
                  <a:pt x="921346" y="28574"/>
                </a:lnTo>
                <a:lnTo>
                  <a:pt x="921346" y="0"/>
                </a:lnTo>
                <a:lnTo>
                  <a:pt x="1000810" y="0"/>
                </a:lnTo>
                <a:lnTo>
                  <a:pt x="1000810" y="14287"/>
                </a:lnTo>
                <a:lnTo>
                  <a:pt x="972235" y="14287"/>
                </a:lnTo>
                <a:lnTo>
                  <a:pt x="972235" y="28574"/>
                </a:lnTo>
                <a:close/>
              </a:path>
              <a:path w="1001395" h="950595">
                <a:moveTo>
                  <a:pt x="1000810" y="34836"/>
                </a:moveTo>
                <a:lnTo>
                  <a:pt x="972235" y="34836"/>
                </a:lnTo>
                <a:lnTo>
                  <a:pt x="972235" y="14287"/>
                </a:lnTo>
                <a:lnTo>
                  <a:pt x="986523" y="28574"/>
                </a:lnTo>
                <a:lnTo>
                  <a:pt x="1000810" y="28574"/>
                </a:lnTo>
                <a:lnTo>
                  <a:pt x="1000810" y="34836"/>
                </a:lnTo>
                <a:close/>
              </a:path>
              <a:path w="1001395" h="950595">
                <a:moveTo>
                  <a:pt x="1000810" y="28574"/>
                </a:moveTo>
                <a:lnTo>
                  <a:pt x="986523" y="28574"/>
                </a:lnTo>
                <a:lnTo>
                  <a:pt x="972235" y="14287"/>
                </a:lnTo>
                <a:lnTo>
                  <a:pt x="1000810" y="14287"/>
                </a:lnTo>
                <a:lnTo>
                  <a:pt x="1000810" y="28574"/>
                </a:lnTo>
                <a:close/>
              </a:path>
              <a:path w="1001395" h="950595">
                <a:moveTo>
                  <a:pt x="1000810" y="149136"/>
                </a:moveTo>
                <a:lnTo>
                  <a:pt x="972235" y="149136"/>
                </a:lnTo>
                <a:lnTo>
                  <a:pt x="972235" y="63411"/>
                </a:lnTo>
                <a:lnTo>
                  <a:pt x="1000810" y="63411"/>
                </a:lnTo>
                <a:lnTo>
                  <a:pt x="1000810" y="149136"/>
                </a:lnTo>
                <a:close/>
              </a:path>
              <a:path w="1001395" h="950595">
                <a:moveTo>
                  <a:pt x="1000810" y="263436"/>
                </a:moveTo>
                <a:lnTo>
                  <a:pt x="972235" y="263436"/>
                </a:lnTo>
                <a:lnTo>
                  <a:pt x="972235" y="177711"/>
                </a:lnTo>
                <a:lnTo>
                  <a:pt x="1000810" y="177711"/>
                </a:lnTo>
                <a:lnTo>
                  <a:pt x="1000810" y="263436"/>
                </a:lnTo>
                <a:close/>
              </a:path>
              <a:path w="1001395" h="950595">
                <a:moveTo>
                  <a:pt x="1000810" y="377736"/>
                </a:moveTo>
                <a:lnTo>
                  <a:pt x="972235" y="377736"/>
                </a:lnTo>
                <a:lnTo>
                  <a:pt x="972235" y="292011"/>
                </a:lnTo>
                <a:lnTo>
                  <a:pt x="1000810" y="292011"/>
                </a:lnTo>
                <a:lnTo>
                  <a:pt x="1000810" y="377736"/>
                </a:lnTo>
                <a:close/>
              </a:path>
              <a:path w="1001395" h="950595">
                <a:moveTo>
                  <a:pt x="1000810" y="492036"/>
                </a:moveTo>
                <a:lnTo>
                  <a:pt x="972235" y="492036"/>
                </a:lnTo>
                <a:lnTo>
                  <a:pt x="972235" y="406311"/>
                </a:lnTo>
                <a:lnTo>
                  <a:pt x="1000810" y="406311"/>
                </a:lnTo>
                <a:lnTo>
                  <a:pt x="1000810" y="492036"/>
                </a:lnTo>
                <a:close/>
              </a:path>
              <a:path w="1001395" h="950595">
                <a:moveTo>
                  <a:pt x="1000810" y="606336"/>
                </a:moveTo>
                <a:lnTo>
                  <a:pt x="972235" y="606336"/>
                </a:lnTo>
                <a:lnTo>
                  <a:pt x="972235" y="520611"/>
                </a:lnTo>
                <a:lnTo>
                  <a:pt x="1000810" y="520611"/>
                </a:lnTo>
                <a:lnTo>
                  <a:pt x="1000810" y="606336"/>
                </a:lnTo>
                <a:close/>
              </a:path>
              <a:path w="1001395" h="950595">
                <a:moveTo>
                  <a:pt x="1000810" y="720636"/>
                </a:moveTo>
                <a:lnTo>
                  <a:pt x="972235" y="720636"/>
                </a:lnTo>
                <a:lnTo>
                  <a:pt x="972235" y="634911"/>
                </a:lnTo>
                <a:lnTo>
                  <a:pt x="1000810" y="634911"/>
                </a:lnTo>
                <a:lnTo>
                  <a:pt x="1000810" y="720636"/>
                </a:lnTo>
                <a:close/>
              </a:path>
              <a:path w="1001395" h="950595">
                <a:moveTo>
                  <a:pt x="1000810" y="834936"/>
                </a:moveTo>
                <a:lnTo>
                  <a:pt x="972235" y="834936"/>
                </a:lnTo>
                <a:lnTo>
                  <a:pt x="972235" y="749211"/>
                </a:lnTo>
                <a:lnTo>
                  <a:pt x="1000810" y="749211"/>
                </a:lnTo>
                <a:lnTo>
                  <a:pt x="1000810" y="834936"/>
                </a:lnTo>
                <a:close/>
              </a:path>
              <a:path w="1001395" h="950595">
                <a:moveTo>
                  <a:pt x="972235" y="936028"/>
                </a:moveTo>
                <a:lnTo>
                  <a:pt x="972235" y="863511"/>
                </a:lnTo>
                <a:lnTo>
                  <a:pt x="1000810" y="863511"/>
                </a:lnTo>
                <a:lnTo>
                  <a:pt x="1000810" y="921740"/>
                </a:lnTo>
                <a:lnTo>
                  <a:pt x="973315" y="921740"/>
                </a:lnTo>
                <a:lnTo>
                  <a:pt x="973315" y="934948"/>
                </a:lnTo>
                <a:lnTo>
                  <a:pt x="972235" y="936028"/>
                </a:lnTo>
                <a:close/>
              </a:path>
              <a:path w="1001395" h="950595">
                <a:moveTo>
                  <a:pt x="973315" y="934948"/>
                </a:moveTo>
                <a:lnTo>
                  <a:pt x="973315" y="921740"/>
                </a:lnTo>
                <a:lnTo>
                  <a:pt x="986523" y="921740"/>
                </a:lnTo>
                <a:lnTo>
                  <a:pt x="973315" y="934948"/>
                </a:lnTo>
                <a:close/>
              </a:path>
              <a:path w="1001395" h="950595">
                <a:moveTo>
                  <a:pt x="1000810" y="950315"/>
                </a:moveTo>
                <a:lnTo>
                  <a:pt x="973315" y="950315"/>
                </a:lnTo>
                <a:lnTo>
                  <a:pt x="973315" y="934948"/>
                </a:lnTo>
                <a:lnTo>
                  <a:pt x="986523" y="921740"/>
                </a:lnTo>
                <a:lnTo>
                  <a:pt x="1000810" y="921740"/>
                </a:lnTo>
                <a:lnTo>
                  <a:pt x="1000810" y="950315"/>
                </a:lnTo>
                <a:close/>
              </a:path>
              <a:path w="1001395" h="950595">
                <a:moveTo>
                  <a:pt x="944740" y="950315"/>
                </a:moveTo>
                <a:lnTo>
                  <a:pt x="859015" y="950315"/>
                </a:lnTo>
                <a:lnTo>
                  <a:pt x="859015" y="921740"/>
                </a:lnTo>
                <a:lnTo>
                  <a:pt x="944740" y="921740"/>
                </a:lnTo>
                <a:lnTo>
                  <a:pt x="944740" y="950315"/>
                </a:lnTo>
                <a:close/>
              </a:path>
              <a:path w="1001395" h="950595">
                <a:moveTo>
                  <a:pt x="830440" y="950315"/>
                </a:moveTo>
                <a:lnTo>
                  <a:pt x="744715" y="950315"/>
                </a:lnTo>
                <a:lnTo>
                  <a:pt x="744715" y="921740"/>
                </a:lnTo>
                <a:lnTo>
                  <a:pt x="830440" y="921740"/>
                </a:lnTo>
                <a:lnTo>
                  <a:pt x="830440" y="950315"/>
                </a:lnTo>
                <a:close/>
              </a:path>
              <a:path w="1001395" h="950595">
                <a:moveTo>
                  <a:pt x="716140" y="950315"/>
                </a:moveTo>
                <a:lnTo>
                  <a:pt x="630415" y="950315"/>
                </a:lnTo>
                <a:lnTo>
                  <a:pt x="630415" y="921740"/>
                </a:lnTo>
                <a:lnTo>
                  <a:pt x="716140" y="921740"/>
                </a:lnTo>
                <a:lnTo>
                  <a:pt x="716140" y="950315"/>
                </a:lnTo>
                <a:close/>
              </a:path>
              <a:path w="1001395" h="950595">
                <a:moveTo>
                  <a:pt x="601840" y="950315"/>
                </a:moveTo>
                <a:lnTo>
                  <a:pt x="516115" y="950315"/>
                </a:lnTo>
                <a:lnTo>
                  <a:pt x="516115" y="921740"/>
                </a:lnTo>
                <a:lnTo>
                  <a:pt x="601840" y="921740"/>
                </a:lnTo>
                <a:lnTo>
                  <a:pt x="601840" y="950315"/>
                </a:lnTo>
                <a:close/>
              </a:path>
              <a:path w="1001395" h="950595">
                <a:moveTo>
                  <a:pt x="487540" y="950315"/>
                </a:moveTo>
                <a:lnTo>
                  <a:pt x="401815" y="950315"/>
                </a:lnTo>
                <a:lnTo>
                  <a:pt x="401815" y="921740"/>
                </a:lnTo>
                <a:lnTo>
                  <a:pt x="487540" y="921740"/>
                </a:lnTo>
                <a:lnTo>
                  <a:pt x="487540" y="950315"/>
                </a:lnTo>
                <a:close/>
              </a:path>
              <a:path w="1001395" h="950595">
                <a:moveTo>
                  <a:pt x="373240" y="950315"/>
                </a:moveTo>
                <a:lnTo>
                  <a:pt x="287515" y="950315"/>
                </a:lnTo>
                <a:lnTo>
                  <a:pt x="287515" y="921740"/>
                </a:lnTo>
                <a:lnTo>
                  <a:pt x="373240" y="921740"/>
                </a:lnTo>
                <a:lnTo>
                  <a:pt x="373240" y="950315"/>
                </a:lnTo>
                <a:close/>
              </a:path>
              <a:path w="1001395" h="950595">
                <a:moveTo>
                  <a:pt x="258940" y="950315"/>
                </a:moveTo>
                <a:lnTo>
                  <a:pt x="173215" y="950315"/>
                </a:lnTo>
                <a:lnTo>
                  <a:pt x="173215" y="921740"/>
                </a:lnTo>
                <a:lnTo>
                  <a:pt x="258940" y="921740"/>
                </a:lnTo>
                <a:lnTo>
                  <a:pt x="258940" y="950315"/>
                </a:lnTo>
                <a:close/>
              </a:path>
              <a:path w="1001395" h="950595">
                <a:moveTo>
                  <a:pt x="144640" y="950315"/>
                </a:moveTo>
                <a:lnTo>
                  <a:pt x="58915" y="950315"/>
                </a:lnTo>
                <a:lnTo>
                  <a:pt x="58915" y="921740"/>
                </a:lnTo>
                <a:lnTo>
                  <a:pt x="144640" y="921740"/>
                </a:lnTo>
                <a:lnTo>
                  <a:pt x="144640" y="95031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944111" y="3901440"/>
            <a:ext cx="265430" cy="405765"/>
          </a:xfrm>
          <a:custGeom>
            <a:avLst/>
            <a:gdLst/>
            <a:ahLst/>
            <a:cxnLst/>
            <a:rect l="l" t="t" r="r" b="b"/>
            <a:pathLst>
              <a:path w="265429" h="405764">
                <a:moveTo>
                  <a:pt x="199643" y="272796"/>
                </a:moveTo>
                <a:lnTo>
                  <a:pt x="67055" y="272796"/>
                </a:lnTo>
                <a:lnTo>
                  <a:pt x="67055" y="0"/>
                </a:lnTo>
                <a:lnTo>
                  <a:pt x="199643" y="0"/>
                </a:lnTo>
                <a:lnTo>
                  <a:pt x="199643" y="272796"/>
                </a:lnTo>
                <a:close/>
              </a:path>
              <a:path w="265429" h="405764">
                <a:moveTo>
                  <a:pt x="132587" y="405384"/>
                </a:moveTo>
                <a:lnTo>
                  <a:pt x="0" y="272796"/>
                </a:lnTo>
                <a:lnTo>
                  <a:pt x="265175" y="272796"/>
                </a:lnTo>
                <a:lnTo>
                  <a:pt x="132587" y="405384"/>
                </a:lnTo>
                <a:close/>
              </a:path>
            </a:pathLst>
          </a:custGeom>
          <a:solidFill>
            <a:srgbClr val="9DC3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929456" y="3894429"/>
            <a:ext cx="295910" cy="422275"/>
          </a:xfrm>
          <a:custGeom>
            <a:avLst/>
            <a:gdLst/>
            <a:ahLst/>
            <a:cxnLst/>
            <a:rect l="l" t="t" r="r" b="b"/>
            <a:pathLst>
              <a:path w="295910" h="422275">
                <a:moveTo>
                  <a:pt x="75158" y="280377"/>
                </a:moveTo>
                <a:lnTo>
                  <a:pt x="75158" y="0"/>
                </a:lnTo>
                <a:lnTo>
                  <a:pt x="220205" y="0"/>
                </a:lnTo>
                <a:lnTo>
                  <a:pt x="220205" y="6350"/>
                </a:lnTo>
                <a:lnTo>
                  <a:pt x="87858" y="6350"/>
                </a:lnTo>
                <a:lnTo>
                  <a:pt x="81508" y="12700"/>
                </a:lnTo>
                <a:lnTo>
                  <a:pt x="87858" y="12700"/>
                </a:lnTo>
                <a:lnTo>
                  <a:pt x="87858" y="274027"/>
                </a:lnTo>
                <a:lnTo>
                  <a:pt x="81508" y="274027"/>
                </a:lnTo>
                <a:lnTo>
                  <a:pt x="75158" y="280377"/>
                </a:lnTo>
                <a:close/>
              </a:path>
              <a:path w="295910" h="422275">
                <a:moveTo>
                  <a:pt x="87858" y="12700"/>
                </a:moveTo>
                <a:lnTo>
                  <a:pt x="81508" y="12700"/>
                </a:lnTo>
                <a:lnTo>
                  <a:pt x="87858" y="6350"/>
                </a:lnTo>
                <a:lnTo>
                  <a:pt x="87858" y="12700"/>
                </a:lnTo>
                <a:close/>
              </a:path>
              <a:path w="295910" h="422275">
                <a:moveTo>
                  <a:pt x="207505" y="12700"/>
                </a:moveTo>
                <a:lnTo>
                  <a:pt x="87858" y="12700"/>
                </a:lnTo>
                <a:lnTo>
                  <a:pt x="87858" y="6350"/>
                </a:lnTo>
                <a:lnTo>
                  <a:pt x="207505" y="6350"/>
                </a:lnTo>
                <a:lnTo>
                  <a:pt x="207505" y="12700"/>
                </a:lnTo>
                <a:close/>
              </a:path>
              <a:path w="295910" h="422275">
                <a:moveTo>
                  <a:pt x="264706" y="286727"/>
                </a:moveTo>
                <a:lnTo>
                  <a:pt x="207505" y="286727"/>
                </a:lnTo>
                <a:lnTo>
                  <a:pt x="207505" y="6350"/>
                </a:lnTo>
                <a:lnTo>
                  <a:pt x="213855" y="12700"/>
                </a:lnTo>
                <a:lnTo>
                  <a:pt x="220205" y="12700"/>
                </a:lnTo>
                <a:lnTo>
                  <a:pt x="220205" y="274027"/>
                </a:lnTo>
                <a:lnTo>
                  <a:pt x="213855" y="274027"/>
                </a:lnTo>
                <a:lnTo>
                  <a:pt x="220205" y="280377"/>
                </a:lnTo>
                <a:lnTo>
                  <a:pt x="271056" y="280377"/>
                </a:lnTo>
                <a:lnTo>
                  <a:pt x="264706" y="286727"/>
                </a:lnTo>
                <a:close/>
              </a:path>
              <a:path w="295910" h="422275">
                <a:moveTo>
                  <a:pt x="220205" y="12700"/>
                </a:moveTo>
                <a:lnTo>
                  <a:pt x="213855" y="12700"/>
                </a:lnTo>
                <a:lnTo>
                  <a:pt x="207505" y="6350"/>
                </a:lnTo>
                <a:lnTo>
                  <a:pt x="220205" y="6350"/>
                </a:lnTo>
                <a:lnTo>
                  <a:pt x="220205" y="12700"/>
                </a:lnTo>
                <a:close/>
              </a:path>
              <a:path w="295910" h="422275">
                <a:moveTo>
                  <a:pt x="147675" y="421703"/>
                </a:moveTo>
                <a:lnTo>
                  <a:pt x="0" y="274027"/>
                </a:lnTo>
                <a:lnTo>
                  <a:pt x="75158" y="274027"/>
                </a:lnTo>
                <a:lnTo>
                  <a:pt x="75158" y="275894"/>
                </a:lnTo>
                <a:lnTo>
                  <a:pt x="19824" y="275894"/>
                </a:lnTo>
                <a:lnTo>
                  <a:pt x="15328" y="286727"/>
                </a:lnTo>
                <a:lnTo>
                  <a:pt x="30657" y="286727"/>
                </a:lnTo>
                <a:lnTo>
                  <a:pt x="147681" y="403752"/>
                </a:lnTo>
                <a:lnTo>
                  <a:pt x="143192" y="408241"/>
                </a:lnTo>
                <a:lnTo>
                  <a:pt x="161138" y="408241"/>
                </a:lnTo>
                <a:lnTo>
                  <a:pt x="147675" y="421703"/>
                </a:lnTo>
                <a:close/>
              </a:path>
              <a:path w="295910" h="422275">
                <a:moveTo>
                  <a:pt x="87858" y="280377"/>
                </a:moveTo>
                <a:lnTo>
                  <a:pt x="75158" y="280377"/>
                </a:lnTo>
                <a:lnTo>
                  <a:pt x="81508" y="274027"/>
                </a:lnTo>
                <a:lnTo>
                  <a:pt x="87858" y="274027"/>
                </a:lnTo>
                <a:lnTo>
                  <a:pt x="87858" y="280377"/>
                </a:lnTo>
                <a:close/>
              </a:path>
              <a:path w="295910" h="422275">
                <a:moveTo>
                  <a:pt x="220205" y="280377"/>
                </a:moveTo>
                <a:lnTo>
                  <a:pt x="213855" y="274027"/>
                </a:lnTo>
                <a:lnTo>
                  <a:pt x="220205" y="274027"/>
                </a:lnTo>
                <a:lnTo>
                  <a:pt x="220205" y="280377"/>
                </a:lnTo>
                <a:close/>
              </a:path>
              <a:path w="295910" h="422275">
                <a:moveTo>
                  <a:pt x="271056" y="280377"/>
                </a:moveTo>
                <a:lnTo>
                  <a:pt x="220205" y="280377"/>
                </a:lnTo>
                <a:lnTo>
                  <a:pt x="220205" y="274027"/>
                </a:lnTo>
                <a:lnTo>
                  <a:pt x="295363" y="274027"/>
                </a:lnTo>
                <a:lnTo>
                  <a:pt x="293496" y="275894"/>
                </a:lnTo>
                <a:lnTo>
                  <a:pt x="275539" y="275894"/>
                </a:lnTo>
                <a:lnTo>
                  <a:pt x="271056" y="280377"/>
                </a:lnTo>
                <a:close/>
              </a:path>
              <a:path w="295910" h="422275">
                <a:moveTo>
                  <a:pt x="30657" y="286727"/>
                </a:moveTo>
                <a:lnTo>
                  <a:pt x="15328" y="286727"/>
                </a:lnTo>
                <a:lnTo>
                  <a:pt x="19824" y="275894"/>
                </a:lnTo>
                <a:lnTo>
                  <a:pt x="30657" y="286727"/>
                </a:lnTo>
                <a:close/>
              </a:path>
              <a:path w="295910" h="422275">
                <a:moveTo>
                  <a:pt x="87858" y="286727"/>
                </a:moveTo>
                <a:lnTo>
                  <a:pt x="30657" y="286727"/>
                </a:lnTo>
                <a:lnTo>
                  <a:pt x="19824" y="275894"/>
                </a:lnTo>
                <a:lnTo>
                  <a:pt x="75158" y="275894"/>
                </a:lnTo>
                <a:lnTo>
                  <a:pt x="75158" y="280377"/>
                </a:lnTo>
                <a:lnTo>
                  <a:pt x="87858" y="280377"/>
                </a:lnTo>
                <a:lnTo>
                  <a:pt x="87858" y="286727"/>
                </a:lnTo>
                <a:close/>
              </a:path>
              <a:path w="295910" h="422275">
                <a:moveTo>
                  <a:pt x="161138" y="408241"/>
                </a:moveTo>
                <a:lnTo>
                  <a:pt x="152171" y="408241"/>
                </a:lnTo>
                <a:lnTo>
                  <a:pt x="147681" y="403752"/>
                </a:lnTo>
                <a:lnTo>
                  <a:pt x="275539" y="275894"/>
                </a:lnTo>
                <a:lnTo>
                  <a:pt x="280022" y="286727"/>
                </a:lnTo>
                <a:lnTo>
                  <a:pt x="282662" y="286727"/>
                </a:lnTo>
                <a:lnTo>
                  <a:pt x="161138" y="408241"/>
                </a:lnTo>
                <a:close/>
              </a:path>
              <a:path w="295910" h="422275">
                <a:moveTo>
                  <a:pt x="282662" y="286727"/>
                </a:moveTo>
                <a:lnTo>
                  <a:pt x="280022" y="286727"/>
                </a:lnTo>
                <a:lnTo>
                  <a:pt x="275539" y="275894"/>
                </a:lnTo>
                <a:lnTo>
                  <a:pt x="293496" y="275894"/>
                </a:lnTo>
                <a:lnTo>
                  <a:pt x="282662" y="286727"/>
                </a:lnTo>
                <a:close/>
              </a:path>
              <a:path w="295910" h="422275">
                <a:moveTo>
                  <a:pt x="152171" y="408241"/>
                </a:moveTo>
                <a:lnTo>
                  <a:pt x="143192" y="408241"/>
                </a:lnTo>
                <a:lnTo>
                  <a:pt x="147681" y="403752"/>
                </a:lnTo>
                <a:lnTo>
                  <a:pt x="152171" y="40824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944111" y="4817364"/>
            <a:ext cx="265430" cy="407034"/>
          </a:xfrm>
          <a:custGeom>
            <a:avLst/>
            <a:gdLst/>
            <a:ahLst/>
            <a:cxnLst/>
            <a:rect l="l" t="t" r="r" b="b"/>
            <a:pathLst>
              <a:path w="265429" h="407035">
                <a:moveTo>
                  <a:pt x="199643" y="274320"/>
                </a:moveTo>
                <a:lnTo>
                  <a:pt x="67055" y="274320"/>
                </a:lnTo>
                <a:lnTo>
                  <a:pt x="67055" y="0"/>
                </a:lnTo>
                <a:lnTo>
                  <a:pt x="199643" y="0"/>
                </a:lnTo>
                <a:lnTo>
                  <a:pt x="199643" y="274320"/>
                </a:lnTo>
                <a:close/>
              </a:path>
              <a:path w="265429" h="407035">
                <a:moveTo>
                  <a:pt x="132587" y="406908"/>
                </a:moveTo>
                <a:lnTo>
                  <a:pt x="0" y="274320"/>
                </a:lnTo>
                <a:lnTo>
                  <a:pt x="265175" y="274320"/>
                </a:lnTo>
                <a:lnTo>
                  <a:pt x="132587" y="406908"/>
                </a:lnTo>
                <a:close/>
              </a:path>
            </a:pathLst>
          </a:custGeom>
          <a:solidFill>
            <a:srgbClr val="9DC3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929456" y="4811369"/>
            <a:ext cx="295910" cy="422275"/>
          </a:xfrm>
          <a:custGeom>
            <a:avLst/>
            <a:gdLst/>
            <a:ahLst/>
            <a:cxnLst/>
            <a:rect l="l" t="t" r="r" b="b"/>
            <a:pathLst>
              <a:path w="295910" h="422275">
                <a:moveTo>
                  <a:pt x="75158" y="280377"/>
                </a:moveTo>
                <a:lnTo>
                  <a:pt x="75158" y="0"/>
                </a:lnTo>
                <a:lnTo>
                  <a:pt x="220205" y="0"/>
                </a:lnTo>
                <a:lnTo>
                  <a:pt x="220205" y="6350"/>
                </a:lnTo>
                <a:lnTo>
                  <a:pt x="87858" y="6350"/>
                </a:lnTo>
                <a:lnTo>
                  <a:pt x="81508" y="12700"/>
                </a:lnTo>
                <a:lnTo>
                  <a:pt x="87858" y="12700"/>
                </a:lnTo>
                <a:lnTo>
                  <a:pt x="87858" y="274027"/>
                </a:lnTo>
                <a:lnTo>
                  <a:pt x="81508" y="274027"/>
                </a:lnTo>
                <a:lnTo>
                  <a:pt x="75158" y="280377"/>
                </a:lnTo>
                <a:close/>
              </a:path>
              <a:path w="295910" h="422275">
                <a:moveTo>
                  <a:pt x="87858" y="12700"/>
                </a:moveTo>
                <a:lnTo>
                  <a:pt x="81508" y="12700"/>
                </a:lnTo>
                <a:lnTo>
                  <a:pt x="87858" y="6350"/>
                </a:lnTo>
                <a:lnTo>
                  <a:pt x="87858" y="12700"/>
                </a:lnTo>
                <a:close/>
              </a:path>
              <a:path w="295910" h="422275">
                <a:moveTo>
                  <a:pt x="207505" y="12700"/>
                </a:moveTo>
                <a:lnTo>
                  <a:pt x="87858" y="12700"/>
                </a:lnTo>
                <a:lnTo>
                  <a:pt x="87858" y="6350"/>
                </a:lnTo>
                <a:lnTo>
                  <a:pt x="207505" y="6350"/>
                </a:lnTo>
                <a:lnTo>
                  <a:pt x="207505" y="12700"/>
                </a:lnTo>
                <a:close/>
              </a:path>
              <a:path w="295910" h="422275">
                <a:moveTo>
                  <a:pt x="264693" y="286727"/>
                </a:moveTo>
                <a:lnTo>
                  <a:pt x="207505" y="286727"/>
                </a:lnTo>
                <a:lnTo>
                  <a:pt x="207505" y="6350"/>
                </a:lnTo>
                <a:lnTo>
                  <a:pt x="213855" y="12700"/>
                </a:lnTo>
                <a:lnTo>
                  <a:pt x="220205" y="12700"/>
                </a:lnTo>
                <a:lnTo>
                  <a:pt x="220205" y="274027"/>
                </a:lnTo>
                <a:lnTo>
                  <a:pt x="213855" y="274027"/>
                </a:lnTo>
                <a:lnTo>
                  <a:pt x="220205" y="280377"/>
                </a:lnTo>
                <a:lnTo>
                  <a:pt x="271043" y="280377"/>
                </a:lnTo>
                <a:lnTo>
                  <a:pt x="264693" y="286727"/>
                </a:lnTo>
                <a:close/>
              </a:path>
              <a:path w="295910" h="422275">
                <a:moveTo>
                  <a:pt x="220205" y="12700"/>
                </a:moveTo>
                <a:lnTo>
                  <a:pt x="213855" y="12700"/>
                </a:lnTo>
                <a:lnTo>
                  <a:pt x="207505" y="6350"/>
                </a:lnTo>
                <a:lnTo>
                  <a:pt x="220205" y="6350"/>
                </a:lnTo>
                <a:lnTo>
                  <a:pt x="220205" y="12700"/>
                </a:lnTo>
                <a:close/>
              </a:path>
              <a:path w="295910" h="422275">
                <a:moveTo>
                  <a:pt x="147675" y="421703"/>
                </a:moveTo>
                <a:lnTo>
                  <a:pt x="0" y="274027"/>
                </a:lnTo>
                <a:lnTo>
                  <a:pt x="75158" y="274027"/>
                </a:lnTo>
                <a:lnTo>
                  <a:pt x="75158" y="275882"/>
                </a:lnTo>
                <a:lnTo>
                  <a:pt x="19824" y="275882"/>
                </a:lnTo>
                <a:lnTo>
                  <a:pt x="15328" y="286727"/>
                </a:lnTo>
                <a:lnTo>
                  <a:pt x="30670" y="286727"/>
                </a:lnTo>
                <a:lnTo>
                  <a:pt x="147681" y="403739"/>
                </a:lnTo>
                <a:lnTo>
                  <a:pt x="143192" y="408228"/>
                </a:lnTo>
                <a:lnTo>
                  <a:pt x="161151" y="408228"/>
                </a:lnTo>
                <a:lnTo>
                  <a:pt x="147675" y="421703"/>
                </a:lnTo>
                <a:close/>
              </a:path>
              <a:path w="295910" h="422275">
                <a:moveTo>
                  <a:pt x="87858" y="280377"/>
                </a:moveTo>
                <a:lnTo>
                  <a:pt x="75158" y="280377"/>
                </a:lnTo>
                <a:lnTo>
                  <a:pt x="81508" y="274027"/>
                </a:lnTo>
                <a:lnTo>
                  <a:pt x="87858" y="274027"/>
                </a:lnTo>
                <a:lnTo>
                  <a:pt x="87858" y="280377"/>
                </a:lnTo>
                <a:close/>
              </a:path>
              <a:path w="295910" h="422275">
                <a:moveTo>
                  <a:pt x="220205" y="280377"/>
                </a:moveTo>
                <a:lnTo>
                  <a:pt x="213855" y="274027"/>
                </a:lnTo>
                <a:lnTo>
                  <a:pt x="220205" y="274027"/>
                </a:lnTo>
                <a:lnTo>
                  <a:pt x="220205" y="280377"/>
                </a:lnTo>
                <a:close/>
              </a:path>
              <a:path w="295910" h="422275">
                <a:moveTo>
                  <a:pt x="271043" y="280377"/>
                </a:moveTo>
                <a:lnTo>
                  <a:pt x="220205" y="280377"/>
                </a:lnTo>
                <a:lnTo>
                  <a:pt x="220205" y="274027"/>
                </a:lnTo>
                <a:lnTo>
                  <a:pt x="295363" y="274027"/>
                </a:lnTo>
                <a:lnTo>
                  <a:pt x="293509" y="275882"/>
                </a:lnTo>
                <a:lnTo>
                  <a:pt x="275539" y="275882"/>
                </a:lnTo>
                <a:lnTo>
                  <a:pt x="271043" y="280377"/>
                </a:lnTo>
                <a:close/>
              </a:path>
              <a:path w="295910" h="422275">
                <a:moveTo>
                  <a:pt x="30670" y="286727"/>
                </a:moveTo>
                <a:lnTo>
                  <a:pt x="15328" y="286727"/>
                </a:lnTo>
                <a:lnTo>
                  <a:pt x="19824" y="275882"/>
                </a:lnTo>
                <a:lnTo>
                  <a:pt x="30670" y="286727"/>
                </a:lnTo>
                <a:close/>
              </a:path>
              <a:path w="295910" h="422275">
                <a:moveTo>
                  <a:pt x="87858" y="286727"/>
                </a:moveTo>
                <a:lnTo>
                  <a:pt x="30670" y="286727"/>
                </a:lnTo>
                <a:lnTo>
                  <a:pt x="19824" y="275882"/>
                </a:lnTo>
                <a:lnTo>
                  <a:pt x="75158" y="275882"/>
                </a:lnTo>
                <a:lnTo>
                  <a:pt x="75158" y="280377"/>
                </a:lnTo>
                <a:lnTo>
                  <a:pt x="87858" y="280377"/>
                </a:lnTo>
                <a:lnTo>
                  <a:pt x="87858" y="286727"/>
                </a:lnTo>
                <a:close/>
              </a:path>
              <a:path w="295910" h="422275">
                <a:moveTo>
                  <a:pt x="161151" y="408228"/>
                </a:moveTo>
                <a:lnTo>
                  <a:pt x="152171" y="408228"/>
                </a:lnTo>
                <a:lnTo>
                  <a:pt x="147681" y="403739"/>
                </a:lnTo>
                <a:lnTo>
                  <a:pt x="275539" y="275882"/>
                </a:lnTo>
                <a:lnTo>
                  <a:pt x="280022" y="286727"/>
                </a:lnTo>
                <a:lnTo>
                  <a:pt x="282662" y="286727"/>
                </a:lnTo>
                <a:lnTo>
                  <a:pt x="161151" y="408228"/>
                </a:lnTo>
                <a:close/>
              </a:path>
              <a:path w="295910" h="422275">
                <a:moveTo>
                  <a:pt x="282662" y="286727"/>
                </a:moveTo>
                <a:lnTo>
                  <a:pt x="280022" y="286727"/>
                </a:lnTo>
                <a:lnTo>
                  <a:pt x="275539" y="275882"/>
                </a:lnTo>
                <a:lnTo>
                  <a:pt x="293509" y="275882"/>
                </a:lnTo>
                <a:lnTo>
                  <a:pt x="282662" y="286727"/>
                </a:lnTo>
                <a:close/>
              </a:path>
              <a:path w="295910" h="422275">
                <a:moveTo>
                  <a:pt x="152171" y="408228"/>
                </a:moveTo>
                <a:lnTo>
                  <a:pt x="143192" y="408228"/>
                </a:lnTo>
                <a:lnTo>
                  <a:pt x="147681" y="403739"/>
                </a:lnTo>
                <a:lnTo>
                  <a:pt x="152171" y="408228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3502659" y="4341444"/>
            <a:ext cx="1244600" cy="1292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60960">
              <a:lnSpc>
                <a:spcPct val="100000"/>
              </a:lnSpc>
              <a:spcBef>
                <a:spcPts val="100"/>
              </a:spcBef>
            </a:pPr>
            <a:r>
              <a:rPr dirty="0" sz="2400" spc="-5" i="1">
                <a:latin typeface="Times New Roman"/>
                <a:cs typeface="Times New Roman"/>
              </a:rPr>
              <a:t>Φ</a:t>
            </a:r>
            <a:r>
              <a:rPr dirty="0" sz="2400" i="1">
                <a:latin typeface="华文楷体"/>
                <a:cs typeface="华文楷体"/>
              </a:rPr>
              <a:t>增大</a:t>
            </a:r>
            <a:endParaRPr sz="24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6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2400" i="1">
                <a:latin typeface="华文楷体"/>
                <a:cs typeface="华文楷体"/>
              </a:rPr>
              <a:t>向左移动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8310371" y="3212592"/>
            <a:ext cx="1123187" cy="547115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287768" y="2871216"/>
            <a:ext cx="652272" cy="926591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7596720" y="2576258"/>
            <a:ext cx="128905" cy="1410970"/>
          </a:xfrm>
          <a:custGeom>
            <a:avLst/>
            <a:gdLst/>
            <a:ahLst/>
            <a:cxnLst/>
            <a:rect l="l" t="t" r="r" b="b"/>
            <a:pathLst>
              <a:path w="128904" h="1410970">
                <a:moveTo>
                  <a:pt x="14160" y="128358"/>
                </a:moveTo>
                <a:lnTo>
                  <a:pt x="0" y="115506"/>
                </a:lnTo>
                <a:lnTo>
                  <a:pt x="12" y="112521"/>
                </a:lnTo>
                <a:lnTo>
                  <a:pt x="647" y="109600"/>
                </a:lnTo>
                <a:lnTo>
                  <a:pt x="1879" y="106883"/>
                </a:lnTo>
                <a:lnTo>
                  <a:pt x="64223" y="0"/>
                </a:lnTo>
                <a:lnTo>
                  <a:pt x="80758" y="28346"/>
                </a:lnTo>
                <a:lnTo>
                  <a:pt x="49936" y="28346"/>
                </a:lnTo>
                <a:lnTo>
                  <a:pt x="49936" y="81196"/>
                </a:lnTo>
                <a:lnTo>
                  <a:pt x="26555" y="121272"/>
                </a:lnTo>
                <a:lnTo>
                  <a:pt x="17132" y="128066"/>
                </a:lnTo>
                <a:lnTo>
                  <a:pt x="14160" y="128358"/>
                </a:lnTo>
                <a:close/>
              </a:path>
              <a:path w="128904" h="1410970">
                <a:moveTo>
                  <a:pt x="49936" y="81196"/>
                </a:moveTo>
                <a:lnTo>
                  <a:pt x="49936" y="28346"/>
                </a:lnTo>
                <a:lnTo>
                  <a:pt x="78511" y="28346"/>
                </a:lnTo>
                <a:lnTo>
                  <a:pt x="78511" y="35547"/>
                </a:lnTo>
                <a:lnTo>
                  <a:pt x="51879" y="35547"/>
                </a:lnTo>
                <a:lnTo>
                  <a:pt x="64223" y="56706"/>
                </a:lnTo>
                <a:lnTo>
                  <a:pt x="49936" y="81196"/>
                </a:lnTo>
                <a:close/>
              </a:path>
              <a:path w="128904" h="1410970">
                <a:moveTo>
                  <a:pt x="114300" y="128358"/>
                </a:moveTo>
                <a:lnTo>
                  <a:pt x="78511" y="81196"/>
                </a:lnTo>
                <a:lnTo>
                  <a:pt x="78511" y="28346"/>
                </a:lnTo>
                <a:lnTo>
                  <a:pt x="80758" y="28346"/>
                </a:lnTo>
                <a:lnTo>
                  <a:pt x="126568" y="106883"/>
                </a:lnTo>
                <a:lnTo>
                  <a:pt x="127800" y="109600"/>
                </a:lnTo>
                <a:lnTo>
                  <a:pt x="128435" y="112521"/>
                </a:lnTo>
                <a:lnTo>
                  <a:pt x="128447" y="115506"/>
                </a:lnTo>
                <a:lnTo>
                  <a:pt x="127838" y="118427"/>
                </a:lnTo>
                <a:lnTo>
                  <a:pt x="114300" y="128358"/>
                </a:lnTo>
                <a:close/>
              </a:path>
              <a:path w="128904" h="1410970">
                <a:moveTo>
                  <a:pt x="64223" y="56706"/>
                </a:moveTo>
                <a:lnTo>
                  <a:pt x="51879" y="35547"/>
                </a:lnTo>
                <a:lnTo>
                  <a:pt x="76568" y="35547"/>
                </a:lnTo>
                <a:lnTo>
                  <a:pt x="64223" y="56706"/>
                </a:lnTo>
                <a:close/>
              </a:path>
              <a:path w="128904" h="1410970">
                <a:moveTo>
                  <a:pt x="78511" y="81196"/>
                </a:moveTo>
                <a:lnTo>
                  <a:pt x="64223" y="56706"/>
                </a:lnTo>
                <a:lnTo>
                  <a:pt x="76568" y="35547"/>
                </a:lnTo>
                <a:lnTo>
                  <a:pt x="78511" y="35547"/>
                </a:lnTo>
                <a:lnTo>
                  <a:pt x="78511" y="81196"/>
                </a:lnTo>
                <a:close/>
              </a:path>
              <a:path w="128904" h="1410970">
                <a:moveTo>
                  <a:pt x="78511" y="1410931"/>
                </a:moveTo>
                <a:lnTo>
                  <a:pt x="49936" y="1410931"/>
                </a:lnTo>
                <a:lnTo>
                  <a:pt x="49936" y="81196"/>
                </a:lnTo>
                <a:lnTo>
                  <a:pt x="64223" y="56706"/>
                </a:lnTo>
                <a:lnTo>
                  <a:pt x="78511" y="81196"/>
                </a:lnTo>
                <a:lnTo>
                  <a:pt x="78511" y="141093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>
            <a:spLocks noGrp="1"/>
          </p:cNvSpPr>
          <p:nvPr>
            <p:ph type="title"/>
          </p:nvPr>
        </p:nvSpPr>
        <p:spPr>
          <a:xfrm>
            <a:off x="2531808" y="1232115"/>
            <a:ext cx="3454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一、楞次定律的应用</a:t>
            </a:r>
          </a:p>
        </p:txBody>
      </p:sp>
      <p:sp>
        <p:nvSpPr>
          <p:cNvPr id="49" name="object 4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15984" y="1825790"/>
            <a:ext cx="7863205" cy="1132840"/>
          </a:xfrm>
          <a:prstGeom prst="rect">
            <a:avLst/>
          </a:prstGeom>
        </p:spPr>
        <p:txBody>
          <a:bodyPr wrap="square" lIns="0" tIns="139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0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 b="1">
                <a:latin typeface="华文楷体"/>
                <a:cs typeface="华文楷体"/>
              </a:rPr>
              <a:t>思考与讨论：</a:t>
            </a:r>
            <a:r>
              <a:rPr dirty="0" sz="2800" i="1">
                <a:latin typeface="华文楷体"/>
                <a:cs typeface="华文楷体"/>
              </a:rPr>
              <a:t>在图中，假定导体棒</a:t>
            </a:r>
            <a:r>
              <a:rPr dirty="0" sz="2800" i="1">
                <a:latin typeface="Times New Roman"/>
                <a:cs typeface="Times New Roman"/>
              </a:rPr>
              <a:t>C</a:t>
            </a:r>
            <a:r>
              <a:rPr dirty="0" sz="2800" spc="-5" i="1">
                <a:latin typeface="Times New Roman"/>
                <a:cs typeface="Times New Roman"/>
              </a:rPr>
              <a:t>D</a:t>
            </a:r>
            <a:r>
              <a:rPr dirty="0" sz="2800" i="1">
                <a:latin typeface="华文楷体"/>
                <a:cs typeface="华文楷体"/>
              </a:rPr>
              <a:t>向右运动</a:t>
            </a:r>
            <a:r>
              <a:rPr dirty="0" sz="2800" spc="-5" i="1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dirty="0" sz="2800" spc="-5">
                <a:latin typeface="Times New Roman"/>
                <a:cs typeface="Times New Roman"/>
              </a:rPr>
              <a:t>1. </a:t>
            </a:r>
            <a:r>
              <a:rPr dirty="0" sz="2800" i="1">
                <a:latin typeface="华文楷体"/>
                <a:cs typeface="华文楷体"/>
              </a:rPr>
              <a:t>我们研究的是哪个闭合导体回路</a:t>
            </a:r>
            <a:r>
              <a:rPr dirty="0" sz="2800" spc="-5" i="1">
                <a:latin typeface="华文楷体"/>
                <a:cs typeface="华文楷体"/>
              </a:rPr>
              <a:t>？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713849" y="3802240"/>
            <a:ext cx="2449633" cy="986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720196" y="5073396"/>
            <a:ext cx="2427363" cy="853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135368" y="5070347"/>
            <a:ext cx="24383" cy="914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496765" y="3802405"/>
            <a:ext cx="2849143" cy="136304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763541" y="3434029"/>
            <a:ext cx="152577" cy="17926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237289" y="3435553"/>
            <a:ext cx="152565" cy="1792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764023" y="5384368"/>
            <a:ext cx="152565" cy="17926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247119" y="5380609"/>
            <a:ext cx="152565" cy="17926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724525" y="3439845"/>
            <a:ext cx="152577" cy="17926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734367" y="5384901"/>
            <a:ext cx="152565" cy="17926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207493" y="3439845"/>
            <a:ext cx="152577" cy="17926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217335" y="5384901"/>
            <a:ext cx="152565" cy="17926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694741" y="3437699"/>
            <a:ext cx="152565" cy="17926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704571" y="5382755"/>
            <a:ext cx="152577" cy="17926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181977" y="3435565"/>
            <a:ext cx="152577" cy="17926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191819" y="5380621"/>
            <a:ext cx="152565" cy="179247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6400736" y="5148630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C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400736" y="3496602"/>
            <a:ext cx="190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D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45977" y="3503041"/>
            <a:ext cx="165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05845" y="5148630"/>
            <a:ext cx="165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F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647040" y="4116552"/>
            <a:ext cx="1397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Book Antiqua"/>
                <a:cs typeface="Book Antiqua"/>
              </a:rPr>
              <a:t>v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992598" y="4044886"/>
            <a:ext cx="165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solidFill>
                  <a:srgbClr val="5B9BD4"/>
                </a:solidFill>
                <a:latin typeface="Times New Roman"/>
                <a:cs typeface="Times New Roman"/>
              </a:rPr>
              <a:t>B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2531808" y="1232115"/>
            <a:ext cx="3454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一、楞次定律的应用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43644" y="1325194"/>
            <a:ext cx="3454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一、楞次定律的应用</a:t>
            </a:r>
          </a:p>
        </p:txBody>
      </p:sp>
      <p:sp>
        <p:nvSpPr>
          <p:cNvPr id="3" name="object 3"/>
          <p:cNvSpPr/>
          <p:nvPr/>
        </p:nvSpPr>
        <p:spPr>
          <a:xfrm>
            <a:off x="4713849" y="3868508"/>
            <a:ext cx="2449633" cy="986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720196" y="5138928"/>
            <a:ext cx="2427363" cy="868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135368" y="5135879"/>
            <a:ext cx="24383" cy="9296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496765" y="3868673"/>
            <a:ext cx="2849143" cy="136304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763541" y="3500285"/>
            <a:ext cx="152577" cy="17926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237289" y="3501809"/>
            <a:ext cx="152565" cy="1792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764023" y="5450624"/>
            <a:ext cx="152565" cy="17926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247119" y="5446864"/>
            <a:ext cx="152565" cy="17926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724525" y="3506114"/>
            <a:ext cx="152577" cy="17924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734367" y="5451157"/>
            <a:ext cx="152565" cy="17926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207493" y="3506101"/>
            <a:ext cx="152577" cy="17926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217323" y="5451157"/>
            <a:ext cx="152577" cy="17926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694741" y="3503968"/>
            <a:ext cx="152565" cy="17924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704571" y="5449023"/>
            <a:ext cx="152565" cy="179247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181977" y="3501821"/>
            <a:ext cx="152577" cy="17926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191819" y="5446877"/>
            <a:ext cx="152565" cy="179260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6400736" y="5214899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C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515984" y="1772792"/>
            <a:ext cx="7863205" cy="2096770"/>
          </a:xfrm>
          <a:prstGeom prst="rect">
            <a:avLst/>
          </a:prstGeom>
        </p:spPr>
        <p:txBody>
          <a:bodyPr wrap="square" lIns="0" tIns="139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0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 b="1">
                <a:latin typeface="华文楷体"/>
                <a:cs typeface="华文楷体"/>
              </a:rPr>
              <a:t>思考与讨论：</a:t>
            </a:r>
            <a:r>
              <a:rPr dirty="0" sz="2800" i="1">
                <a:latin typeface="华文楷体"/>
                <a:cs typeface="华文楷体"/>
              </a:rPr>
              <a:t>在图中，假定导体棒</a:t>
            </a:r>
            <a:r>
              <a:rPr dirty="0" sz="2800" i="1">
                <a:latin typeface="Times New Roman"/>
                <a:cs typeface="Times New Roman"/>
              </a:rPr>
              <a:t>C</a:t>
            </a:r>
            <a:r>
              <a:rPr dirty="0" sz="2800" spc="-5" i="1">
                <a:latin typeface="Times New Roman"/>
                <a:cs typeface="Times New Roman"/>
              </a:rPr>
              <a:t>D</a:t>
            </a:r>
            <a:r>
              <a:rPr dirty="0" sz="2800" i="1">
                <a:latin typeface="华文楷体"/>
                <a:cs typeface="华文楷体"/>
              </a:rPr>
              <a:t>向右运动</a:t>
            </a:r>
            <a:r>
              <a:rPr dirty="0" sz="2800" spc="-5" i="1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  <a:p>
            <a:pPr marL="12700" marR="593725">
              <a:lnSpc>
                <a:spcPts val="3320"/>
              </a:lnSpc>
              <a:spcBef>
                <a:spcPts val="1145"/>
              </a:spcBef>
            </a:pPr>
            <a:r>
              <a:rPr dirty="0" sz="2800" spc="-5">
                <a:latin typeface="Times New Roman"/>
                <a:cs typeface="Times New Roman"/>
              </a:rPr>
              <a:t>2.</a:t>
            </a:r>
            <a:r>
              <a:rPr dirty="0" sz="2800" spc="-85">
                <a:latin typeface="Times New Roman"/>
                <a:cs typeface="Times New Roman"/>
              </a:rPr>
              <a:t> </a:t>
            </a:r>
            <a:r>
              <a:rPr dirty="0" sz="2800" i="1">
                <a:latin typeface="华文楷体"/>
                <a:cs typeface="华文楷体"/>
              </a:rPr>
              <a:t>当导体棒</a:t>
            </a:r>
            <a:r>
              <a:rPr dirty="0" sz="2800" spc="-5" i="1">
                <a:latin typeface="Times New Roman"/>
                <a:cs typeface="Times New Roman"/>
              </a:rPr>
              <a:t>CD</a:t>
            </a:r>
            <a:r>
              <a:rPr dirty="0" sz="2800" i="1">
                <a:latin typeface="华文楷体"/>
                <a:cs typeface="华文楷体"/>
              </a:rPr>
              <a:t>向右运动时，穿过这个闭合导</a:t>
            </a:r>
            <a:r>
              <a:rPr dirty="0" sz="2800" spc="-5" i="1">
                <a:latin typeface="华文楷体"/>
                <a:cs typeface="华文楷体"/>
              </a:rPr>
              <a:t>体 </a:t>
            </a:r>
            <a:r>
              <a:rPr dirty="0" sz="2800" i="1">
                <a:latin typeface="华文楷体"/>
                <a:cs typeface="华文楷体"/>
              </a:rPr>
              <a:t>回路的磁通量是增大还是减小</a:t>
            </a:r>
            <a:r>
              <a:rPr dirty="0" sz="2800" spc="-5" i="1">
                <a:latin typeface="华文楷体"/>
                <a:cs typeface="华文楷体"/>
              </a:rPr>
              <a:t>？</a:t>
            </a:r>
            <a:endParaRPr sz="2800">
              <a:latin typeface="华文楷体"/>
              <a:cs typeface="华文楷体"/>
            </a:endParaRPr>
          </a:p>
          <a:p>
            <a:pPr marL="2142490">
              <a:lnSpc>
                <a:spcPct val="100000"/>
              </a:lnSpc>
              <a:spcBef>
                <a:spcPts val="2000"/>
              </a:spcBef>
              <a:tabLst>
                <a:tab pos="3896995" algn="l"/>
              </a:tabLst>
            </a:pPr>
            <a:r>
              <a:rPr dirty="0" sz="1800" i="1">
                <a:latin typeface="Times New Roman"/>
                <a:cs typeface="Times New Roman"/>
              </a:rPr>
              <a:t>E	</a:t>
            </a:r>
            <a:r>
              <a:rPr dirty="0" baseline="1543" sz="2700" i="1">
                <a:latin typeface="Times New Roman"/>
                <a:cs typeface="Times New Roman"/>
              </a:rPr>
              <a:t>D</a:t>
            </a:r>
            <a:endParaRPr baseline="1543" sz="27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05845" y="5214899"/>
            <a:ext cx="165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F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647040" y="4182821"/>
            <a:ext cx="1397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Book Antiqua"/>
                <a:cs typeface="Book Antiqua"/>
              </a:rPr>
              <a:t>v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992598" y="4111142"/>
            <a:ext cx="165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solidFill>
                  <a:srgbClr val="5B9BD4"/>
                </a:solidFill>
                <a:latin typeface="Times New Roman"/>
                <a:cs typeface="Times New Roman"/>
              </a:rPr>
              <a:t>B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68994" y="1799285"/>
            <a:ext cx="7863205" cy="1132840"/>
          </a:xfrm>
          <a:prstGeom prst="rect">
            <a:avLst/>
          </a:prstGeom>
        </p:spPr>
        <p:txBody>
          <a:bodyPr wrap="square" lIns="0" tIns="139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0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 b="1">
                <a:latin typeface="华文楷体"/>
                <a:cs typeface="华文楷体"/>
              </a:rPr>
              <a:t>思考与讨论：</a:t>
            </a:r>
            <a:r>
              <a:rPr dirty="0" sz="2800" i="1">
                <a:latin typeface="华文楷体"/>
                <a:cs typeface="华文楷体"/>
              </a:rPr>
              <a:t>在图中，假定导体棒</a:t>
            </a:r>
            <a:r>
              <a:rPr dirty="0" sz="2800" i="1">
                <a:latin typeface="Times New Roman"/>
                <a:cs typeface="Times New Roman"/>
              </a:rPr>
              <a:t>C</a:t>
            </a:r>
            <a:r>
              <a:rPr dirty="0" sz="2800" spc="-5" i="1">
                <a:latin typeface="Times New Roman"/>
                <a:cs typeface="Times New Roman"/>
              </a:rPr>
              <a:t>D</a:t>
            </a:r>
            <a:r>
              <a:rPr dirty="0" sz="2800" i="1">
                <a:latin typeface="华文楷体"/>
                <a:cs typeface="华文楷体"/>
              </a:rPr>
              <a:t>向右运动</a:t>
            </a:r>
            <a:r>
              <a:rPr dirty="0" sz="2800" spc="-5" i="1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dirty="0" sz="2800" spc="-5">
                <a:latin typeface="Times New Roman"/>
                <a:cs typeface="Times New Roman"/>
              </a:rPr>
              <a:t>3.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i="1">
                <a:latin typeface="华文楷体"/>
                <a:cs typeface="华文楷体"/>
              </a:rPr>
              <a:t>感应电流的磁场应该是沿哪个方向的</a:t>
            </a:r>
            <a:r>
              <a:rPr dirty="0" sz="2800" spc="-5" i="1">
                <a:latin typeface="华文楷体"/>
                <a:cs typeface="华文楷体"/>
              </a:rPr>
              <a:t>？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766859" y="3775735"/>
            <a:ext cx="2449633" cy="986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773205" y="5047488"/>
            <a:ext cx="2427693" cy="853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188707" y="5044440"/>
            <a:ext cx="24383" cy="914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49762" y="3775900"/>
            <a:ext cx="2849156" cy="136304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816551" y="3407524"/>
            <a:ext cx="152577" cy="17926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290299" y="3409048"/>
            <a:ext cx="152565" cy="1792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817033" y="5357863"/>
            <a:ext cx="152565" cy="17926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300129" y="5354104"/>
            <a:ext cx="152565" cy="17926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777534" y="3413340"/>
            <a:ext cx="152577" cy="17926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787377" y="5358396"/>
            <a:ext cx="152565" cy="17926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260503" y="3413340"/>
            <a:ext cx="152565" cy="17926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270332" y="5358396"/>
            <a:ext cx="152577" cy="17926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747750" y="3411194"/>
            <a:ext cx="152565" cy="17926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757581" y="5356250"/>
            <a:ext cx="152577" cy="17926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234987" y="3409060"/>
            <a:ext cx="152577" cy="17926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244829" y="5354116"/>
            <a:ext cx="152565" cy="179247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5045608" y="4018381"/>
            <a:ext cx="165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solidFill>
                  <a:srgbClr val="5B9BD4"/>
                </a:solidFill>
                <a:latin typeface="Times New Roman"/>
                <a:cs typeface="Times New Roman"/>
              </a:rPr>
              <a:t>B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453746" y="5122126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C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453746" y="3470097"/>
            <a:ext cx="190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D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98987" y="3476535"/>
            <a:ext cx="165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58855" y="5122126"/>
            <a:ext cx="165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F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700049" y="4090047"/>
            <a:ext cx="1397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Book Antiqua"/>
                <a:cs typeface="Book Antiqua"/>
              </a:rPr>
              <a:t>v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531865" y="4461674"/>
            <a:ext cx="2070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B</a:t>
            </a:r>
            <a:r>
              <a:rPr dirty="0" baseline="-16908" sz="1725" spc="7">
                <a:latin typeface="Times New Roman"/>
                <a:cs typeface="Times New Roman"/>
              </a:rPr>
              <a:t>i</a:t>
            </a:r>
            <a:endParaRPr baseline="-16908" sz="1725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2531808" y="1232115"/>
            <a:ext cx="3454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一、楞次定律的应用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29243" y="1772792"/>
            <a:ext cx="7863205" cy="1132840"/>
          </a:xfrm>
          <a:prstGeom prst="rect">
            <a:avLst/>
          </a:prstGeom>
        </p:spPr>
        <p:txBody>
          <a:bodyPr wrap="square" lIns="0" tIns="139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0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 b="1">
                <a:latin typeface="华文楷体"/>
                <a:cs typeface="华文楷体"/>
              </a:rPr>
              <a:t>思考与讨论：</a:t>
            </a:r>
            <a:r>
              <a:rPr dirty="0" sz="2800" i="1">
                <a:latin typeface="华文楷体"/>
                <a:cs typeface="华文楷体"/>
              </a:rPr>
              <a:t>在图中，假定导体棒</a:t>
            </a:r>
            <a:r>
              <a:rPr dirty="0" sz="2800" i="1">
                <a:latin typeface="Times New Roman"/>
                <a:cs typeface="Times New Roman"/>
              </a:rPr>
              <a:t>C</a:t>
            </a:r>
            <a:r>
              <a:rPr dirty="0" sz="2800" spc="-5" i="1">
                <a:latin typeface="Times New Roman"/>
                <a:cs typeface="Times New Roman"/>
              </a:rPr>
              <a:t>D</a:t>
            </a:r>
            <a:r>
              <a:rPr dirty="0" sz="2800" i="1">
                <a:latin typeface="华文楷体"/>
                <a:cs typeface="华文楷体"/>
              </a:rPr>
              <a:t>向右运动</a:t>
            </a:r>
            <a:r>
              <a:rPr dirty="0" sz="2800" spc="-5" i="1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dirty="0" sz="2800" spc="-5">
                <a:latin typeface="Times New Roman"/>
                <a:cs typeface="Times New Roman"/>
              </a:rPr>
              <a:t>4.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i="1">
                <a:latin typeface="华文楷体"/>
                <a:cs typeface="华文楷体"/>
              </a:rPr>
              <a:t>导体棒</a:t>
            </a:r>
            <a:r>
              <a:rPr dirty="0" sz="2800" spc="-5" i="1">
                <a:latin typeface="Times New Roman"/>
                <a:cs typeface="Times New Roman"/>
              </a:rPr>
              <a:t>CD</a:t>
            </a:r>
            <a:r>
              <a:rPr dirty="0" sz="2800" i="1">
                <a:latin typeface="华文楷体"/>
                <a:cs typeface="华文楷体"/>
              </a:rPr>
              <a:t>中的感应电流是沿哪个方向的</a:t>
            </a:r>
            <a:r>
              <a:rPr dirty="0" sz="2800" spc="-5" i="1">
                <a:latin typeface="华文楷体"/>
                <a:cs typeface="华文楷体"/>
              </a:rPr>
              <a:t>？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727107" y="3749230"/>
            <a:ext cx="2449633" cy="986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733455" y="5020055"/>
            <a:ext cx="2427820" cy="853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149083" y="5017008"/>
            <a:ext cx="24383" cy="914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10011" y="3749395"/>
            <a:ext cx="2849156" cy="136304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776800" y="3381019"/>
            <a:ext cx="152565" cy="17926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250535" y="3382543"/>
            <a:ext cx="152577" cy="1792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777270" y="5331358"/>
            <a:ext cx="152577" cy="17926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260365" y="5327599"/>
            <a:ext cx="152577" cy="17926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737783" y="3386835"/>
            <a:ext cx="152565" cy="17926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747613" y="5331891"/>
            <a:ext cx="152577" cy="17926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220752" y="3386835"/>
            <a:ext cx="152565" cy="17926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230581" y="5331891"/>
            <a:ext cx="152565" cy="17926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707987" y="3384702"/>
            <a:ext cx="152577" cy="17924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717830" y="5329745"/>
            <a:ext cx="152565" cy="17926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195236" y="3382555"/>
            <a:ext cx="152565" cy="17926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205065" y="5327612"/>
            <a:ext cx="152577" cy="179247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6413995" y="5095621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C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13995" y="3443592"/>
            <a:ext cx="190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D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59236" y="3450031"/>
            <a:ext cx="165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19104" y="5095621"/>
            <a:ext cx="165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F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660286" y="4063555"/>
            <a:ext cx="1397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Book Antiqua"/>
                <a:cs typeface="Book Antiqua"/>
              </a:rPr>
              <a:t>v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82804" y="3997630"/>
            <a:ext cx="110489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i="1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005844" y="3991876"/>
            <a:ext cx="165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solidFill>
                  <a:srgbClr val="5B9BD4"/>
                </a:solidFill>
                <a:latin typeface="Times New Roman"/>
                <a:cs typeface="Times New Roman"/>
              </a:rPr>
              <a:t>B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492115" y="4435170"/>
            <a:ext cx="2070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B</a:t>
            </a:r>
            <a:r>
              <a:rPr dirty="0" baseline="-16908" sz="1725" spc="7">
                <a:latin typeface="Times New Roman"/>
                <a:cs typeface="Times New Roman"/>
              </a:rPr>
              <a:t>i</a:t>
            </a:r>
            <a:endParaRPr baseline="-16908" sz="1725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039867" y="4056888"/>
            <a:ext cx="963167" cy="640981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xfrm>
            <a:off x="2531808" y="1232115"/>
            <a:ext cx="3454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一、楞次定律的应用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68359" y="1601533"/>
            <a:ext cx="6657975" cy="13049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241300" marR="508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 b="1">
                <a:latin typeface="华文楷体"/>
                <a:cs typeface="华文楷体"/>
              </a:rPr>
              <a:t>思考与讨论：</a:t>
            </a:r>
            <a:r>
              <a:rPr dirty="0" sz="2800" i="1">
                <a:latin typeface="华文楷体"/>
                <a:cs typeface="华文楷体"/>
              </a:rPr>
              <a:t>当闭合导体回路的一部分</a:t>
            </a:r>
            <a:r>
              <a:rPr dirty="0" sz="2800" spc="-5" i="1">
                <a:latin typeface="华文楷体"/>
                <a:cs typeface="华文楷体"/>
              </a:rPr>
              <a:t>做 </a:t>
            </a:r>
            <a:r>
              <a:rPr dirty="0" sz="2800" i="1">
                <a:latin typeface="华文楷体"/>
                <a:cs typeface="华文楷体"/>
              </a:rPr>
              <a:t>切割磁感线的运动时，同学们判断下面</a:t>
            </a:r>
            <a:r>
              <a:rPr dirty="0" sz="2800" spc="-5" i="1">
                <a:latin typeface="华文楷体"/>
                <a:cs typeface="华文楷体"/>
              </a:rPr>
              <a:t>各 </a:t>
            </a:r>
            <a:r>
              <a:rPr dirty="0" sz="2800" i="1">
                <a:latin typeface="华文楷体"/>
                <a:cs typeface="华文楷体"/>
              </a:rPr>
              <a:t>种情况导体棒中的感应电流方向</a:t>
            </a:r>
            <a:r>
              <a:rPr dirty="0" sz="2800" spc="-5" i="1">
                <a:latin typeface="华文楷体"/>
                <a:cs typeface="华文楷体"/>
              </a:rPr>
              <a:t>？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55620" y="955256"/>
            <a:ext cx="3454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一、楞次定律的应用</a:t>
            </a:r>
          </a:p>
        </p:txBody>
      </p:sp>
      <p:sp>
        <p:nvSpPr>
          <p:cNvPr id="4" name="object 4"/>
          <p:cNvSpPr/>
          <p:nvPr/>
        </p:nvSpPr>
        <p:spPr>
          <a:xfrm>
            <a:off x="5035296" y="3089148"/>
            <a:ext cx="2167128" cy="17343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319771" y="3089148"/>
            <a:ext cx="2167128" cy="17343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622804" y="3089148"/>
            <a:ext cx="2295144" cy="17221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867330" y="3510457"/>
            <a:ext cx="142875" cy="803275"/>
          </a:xfrm>
          <a:custGeom>
            <a:avLst/>
            <a:gdLst/>
            <a:ahLst/>
            <a:cxnLst/>
            <a:rect l="l" t="t" r="r" b="b"/>
            <a:pathLst>
              <a:path w="142875" h="803275">
                <a:moveTo>
                  <a:pt x="0" y="142875"/>
                </a:moveTo>
                <a:lnTo>
                  <a:pt x="71437" y="0"/>
                </a:lnTo>
                <a:lnTo>
                  <a:pt x="98228" y="53581"/>
                </a:lnTo>
                <a:lnTo>
                  <a:pt x="57150" y="53581"/>
                </a:lnTo>
                <a:lnTo>
                  <a:pt x="57150" y="85725"/>
                </a:lnTo>
                <a:lnTo>
                  <a:pt x="0" y="142875"/>
                </a:lnTo>
                <a:close/>
              </a:path>
              <a:path w="142875" h="803275">
                <a:moveTo>
                  <a:pt x="57150" y="85725"/>
                </a:moveTo>
                <a:lnTo>
                  <a:pt x="57150" y="53581"/>
                </a:lnTo>
                <a:lnTo>
                  <a:pt x="85725" y="53581"/>
                </a:lnTo>
                <a:lnTo>
                  <a:pt x="85725" y="71437"/>
                </a:lnTo>
                <a:lnTo>
                  <a:pt x="71437" y="71437"/>
                </a:lnTo>
                <a:lnTo>
                  <a:pt x="57150" y="85725"/>
                </a:lnTo>
                <a:close/>
              </a:path>
              <a:path w="142875" h="803275">
                <a:moveTo>
                  <a:pt x="142875" y="142875"/>
                </a:moveTo>
                <a:lnTo>
                  <a:pt x="85725" y="85725"/>
                </a:lnTo>
                <a:lnTo>
                  <a:pt x="85725" y="53581"/>
                </a:lnTo>
                <a:lnTo>
                  <a:pt x="98228" y="53581"/>
                </a:lnTo>
                <a:lnTo>
                  <a:pt x="142875" y="142875"/>
                </a:lnTo>
                <a:close/>
              </a:path>
              <a:path w="142875" h="803275">
                <a:moveTo>
                  <a:pt x="85725" y="803211"/>
                </a:moveTo>
                <a:lnTo>
                  <a:pt x="57150" y="803211"/>
                </a:lnTo>
                <a:lnTo>
                  <a:pt x="57150" y="85725"/>
                </a:lnTo>
                <a:lnTo>
                  <a:pt x="71437" y="71437"/>
                </a:lnTo>
                <a:lnTo>
                  <a:pt x="85725" y="85725"/>
                </a:lnTo>
                <a:lnTo>
                  <a:pt x="85725" y="803211"/>
                </a:lnTo>
                <a:close/>
              </a:path>
              <a:path w="142875" h="803275">
                <a:moveTo>
                  <a:pt x="85725" y="85725"/>
                </a:moveTo>
                <a:lnTo>
                  <a:pt x="71437" y="71437"/>
                </a:lnTo>
                <a:lnTo>
                  <a:pt x="85725" y="71437"/>
                </a:lnTo>
                <a:lnTo>
                  <a:pt x="85725" y="8572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017507" y="3478301"/>
            <a:ext cx="110489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i="1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140885" y="3510457"/>
            <a:ext cx="142875" cy="803275"/>
          </a:xfrm>
          <a:custGeom>
            <a:avLst/>
            <a:gdLst/>
            <a:ahLst/>
            <a:cxnLst/>
            <a:rect l="l" t="t" r="r" b="b"/>
            <a:pathLst>
              <a:path w="142875" h="803275">
                <a:moveTo>
                  <a:pt x="71437" y="731774"/>
                </a:moveTo>
                <a:lnTo>
                  <a:pt x="57150" y="717486"/>
                </a:lnTo>
                <a:lnTo>
                  <a:pt x="57150" y="0"/>
                </a:lnTo>
                <a:lnTo>
                  <a:pt x="85725" y="0"/>
                </a:lnTo>
                <a:lnTo>
                  <a:pt x="85725" y="717486"/>
                </a:lnTo>
                <a:lnTo>
                  <a:pt x="71437" y="731774"/>
                </a:lnTo>
                <a:close/>
              </a:path>
              <a:path w="142875" h="803275">
                <a:moveTo>
                  <a:pt x="71437" y="803211"/>
                </a:moveTo>
                <a:lnTo>
                  <a:pt x="0" y="660336"/>
                </a:lnTo>
                <a:lnTo>
                  <a:pt x="57150" y="717486"/>
                </a:lnTo>
                <a:lnTo>
                  <a:pt x="57150" y="749630"/>
                </a:lnTo>
                <a:lnTo>
                  <a:pt x="98228" y="749630"/>
                </a:lnTo>
                <a:lnTo>
                  <a:pt x="71437" y="803211"/>
                </a:lnTo>
                <a:close/>
              </a:path>
              <a:path w="142875" h="803275">
                <a:moveTo>
                  <a:pt x="98228" y="749630"/>
                </a:moveTo>
                <a:lnTo>
                  <a:pt x="85725" y="749630"/>
                </a:lnTo>
                <a:lnTo>
                  <a:pt x="85725" y="717486"/>
                </a:lnTo>
                <a:lnTo>
                  <a:pt x="142875" y="660336"/>
                </a:lnTo>
                <a:lnTo>
                  <a:pt x="98228" y="749630"/>
                </a:lnTo>
                <a:close/>
              </a:path>
              <a:path w="142875" h="803275">
                <a:moveTo>
                  <a:pt x="85725" y="749630"/>
                </a:moveTo>
                <a:lnTo>
                  <a:pt x="57150" y="749630"/>
                </a:lnTo>
                <a:lnTo>
                  <a:pt x="57150" y="717486"/>
                </a:lnTo>
                <a:lnTo>
                  <a:pt x="71437" y="731774"/>
                </a:lnTo>
                <a:lnTo>
                  <a:pt x="85725" y="731774"/>
                </a:lnTo>
                <a:lnTo>
                  <a:pt x="85725" y="749630"/>
                </a:lnTo>
                <a:close/>
              </a:path>
              <a:path w="142875" h="803275">
                <a:moveTo>
                  <a:pt x="85725" y="731774"/>
                </a:moveTo>
                <a:lnTo>
                  <a:pt x="71437" y="731774"/>
                </a:lnTo>
                <a:lnTo>
                  <a:pt x="85725" y="717486"/>
                </a:lnTo>
                <a:lnTo>
                  <a:pt x="85725" y="73177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291063" y="3478301"/>
            <a:ext cx="110489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i="1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581088" y="3535108"/>
            <a:ext cx="142875" cy="803275"/>
          </a:xfrm>
          <a:custGeom>
            <a:avLst/>
            <a:gdLst/>
            <a:ahLst/>
            <a:cxnLst/>
            <a:rect l="l" t="t" r="r" b="b"/>
            <a:pathLst>
              <a:path w="142875" h="803275">
                <a:moveTo>
                  <a:pt x="71437" y="731774"/>
                </a:moveTo>
                <a:lnTo>
                  <a:pt x="57150" y="717486"/>
                </a:lnTo>
                <a:lnTo>
                  <a:pt x="57150" y="0"/>
                </a:lnTo>
                <a:lnTo>
                  <a:pt x="85725" y="0"/>
                </a:lnTo>
                <a:lnTo>
                  <a:pt x="85725" y="717486"/>
                </a:lnTo>
                <a:lnTo>
                  <a:pt x="71437" y="731774"/>
                </a:lnTo>
                <a:close/>
              </a:path>
              <a:path w="142875" h="803275">
                <a:moveTo>
                  <a:pt x="71437" y="803211"/>
                </a:moveTo>
                <a:lnTo>
                  <a:pt x="0" y="660336"/>
                </a:lnTo>
                <a:lnTo>
                  <a:pt x="57150" y="717486"/>
                </a:lnTo>
                <a:lnTo>
                  <a:pt x="57150" y="749642"/>
                </a:lnTo>
                <a:lnTo>
                  <a:pt x="98221" y="749642"/>
                </a:lnTo>
                <a:lnTo>
                  <a:pt x="71437" y="803211"/>
                </a:lnTo>
                <a:close/>
              </a:path>
              <a:path w="142875" h="803275">
                <a:moveTo>
                  <a:pt x="98221" y="749642"/>
                </a:moveTo>
                <a:lnTo>
                  <a:pt x="85725" y="749642"/>
                </a:lnTo>
                <a:lnTo>
                  <a:pt x="85725" y="717486"/>
                </a:lnTo>
                <a:lnTo>
                  <a:pt x="142875" y="660336"/>
                </a:lnTo>
                <a:lnTo>
                  <a:pt x="98221" y="749642"/>
                </a:lnTo>
                <a:close/>
              </a:path>
              <a:path w="142875" h="803275">
                <a:moveTo>
                  <a:pt x="85725" y="749642"/>
                </a:moveTo>
                <a:lnTo>
                  <a:pt x="57150" y="749642"/>
                </a:lnTo>
                <a:lnTo>
                  <a:pt x="57150" y="717486"/>
                </a:lnTo>
                <a:lnTo>
                  <a:pt x="71437" y="731774"/>
                </a:lnTo>
                <a:lnTo>
                  <a:pt x="85725" y="731774"/>
                </a:lnTo>
                <a:lnTo>
                  <a:pt x="85725" y="749642"/>
                </a:lnTo>
                <a:close/>
              </a:path>
              <a:path w="142875" h="803275">
                <a:moveTo>
                  <a:pt x="85725" y="731774"/>
                </a:moveTo>
                <a:lnTo>
                  <a:pt x="71437" y="731774"/>
                </a:lnTo>
                <a:lnTo>
                  <a:pt x="85725" y="717486"/>
                </a:lnTo>
                <a:lnTo>
                  <a:pt x="85725" y="73177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429603" y="4011472"/>
            <a:ext cx="110489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i="1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875532" y="4846320"/>
            <a:ext cx="4076700" cy="95859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85715" y="3849623"/>
            <a:ext cx="2374391" cy="19004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663440" y="1956816"/>
            <a:ext cx="2302764" cy="17266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328916" y="1944623"/>
            <a:ext cx="2333244" cy="174955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556891" y="1860499"/>
            <a:ext cx="2031364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 i="1">
                <a:latin typeface="华文楷体"/>
                <a:cs typeface="华文楷体"/>
              </a:rPr>
              <a:t>思考与总</a:t>
            </a:r>
            <a:r>
              <a:rPr dirty="0" sz="2800" spc="-5" i="1">
                <a:latin typeface="华文楷体"/>
                <a:cs typeface="华文楷体"/>
              </a:rPr>
              <a:t>结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556891" y="1245679"/>
            <a:ext cx="2311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二、右手定则</a:t>
            </a:r>
          </a:p>
        </p:txBody>
      </p:sp>
      <p:sp>
        <p:nvSpPr>
          <p:cNvPr id="7" name="object 7"/>
          <p:cNvSpPr/>
          <p:nvPr/>
        </p:nvSpPr>
        <p:spPr>
          <a:xfrm>
            <a:off x="7292340" y="3854196"/>
            <a:ext cx="2369820" cy="189738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880538" y="2379776"/>
            <a:ext cx="142875" cy="803275"/>
          </a:xfrm>
          <a:custGeom>
            <a:avLst/>
            <a:gdLst/>
            <a:ahLst/>
            <a:cxnLst/>
            <a:rect l="l" t="t" r="r" b="b"/>
            <a:pathLst>
              <a:path w="142875" h="803275">
                <a:moveTo>
                  <a:pt x="71437" y="731773"/>
                </a:moveTo>
                <a:lnTo>
                  <a:pt x="57150" y="717486"/>
                </a:lnTo>
                <a:lnTo>
                  <a:pt x="57150" y="0"/>
                </a:lnTo>
                <a:lnTo>
                  <a:pt x="85725" y="0"/>
                </a:lnTo>
                <a:lnTo>
                  <a:pt x="85725" y="717486"/>
                </a:lnTo>
                <a:lnTo>
                  <a:pt x="71437" y="731773"/>
                </a:lnTo>
                <a:close/>
              </a:path>
              <a:path w="142875" h="803275">
                <a:moveTo>
                  <a:pt x="71437" y="803211"/>
                </a:moveTo>
                <a:lnTo>
                  <a:pt x="0" y="660336"/>
                </a:lnTo>
                <a:lnTo>
                  <a:pt x="57150" y="717486"/>
                </a:lnTo>
                <a:lnTo>
                  <a:pt x="57150" y="749630"/>
                </a:lnTo>
                <a:lnTo>
                  <a:pt x="98228" y="749630"/>
                </a:lnTo>
                <a:lnTo>
                  <a:pt x="71437" y="803211"/>
                </a:lnTo>
                <a:close/>
              </a:path>
              <a:path w="142875" h="803275">
                <a:moveTo>
                  <a:pt x="98228" y="749630"/>
                </a:moveTo>
                <a:lnTo>
                  <a:pt x="85725" y="749630"/>
                </a:lnTo>
                <a:lnTo>
                  <a:pt x="85725" y="717486"/>
                </a:lnTo>
                <a:lnTo>
                  <a:pt x="142875" y="660336"/>
                </a:lnTo>
                <a:lnTo>
                  <a:pt x="98228" y="749630"/>
                </a:lnTo>
                <a:close/>
              </a:path>
              <a:path w="142875" h="803275">
                <a:moveTo>
                  <a:pt x="85725" y="749630"/>
                </a:moveTo>
                <a:lnTo>
                  <a:pt x="57150" y="749630"/>
                </a:lnTo>
                <a:lnTo>
                  <a:pt x="57150" y="717486"/>
                </a:lnTo>
                <a:lnTo>
                  <a:pt x="71437" y="731773"/>
                </a:lnTo>
                <a:lnTo>
                  <a:pt x="85725" y="731773"/>
                </a:lnTo>
                <a:lnTo>
                  <a:pt x="85725" y="749630"/>
                </a:lnTo>
                <a:close/>
              </a:path>
              <a:path w="142875" h="803275">
                <a:moveTo>
                  <a:pt x="85725" y="731773"/>
                </a:moveTo>
                <a:lnTo>
                  <a:pt x="71437" y="731773"/>
                </a:lnTo>
                <a:lnTo>
                  <a:pt x="85725" y="717486"/>
                </a:lnTo>
                <a:lnTo>
                  <a:pt x="85725" y="73177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9047962" y="2347607"/>
            <a:ext cx="110489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i="1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198717" y="2388133"/>
            <a:ext cx="142875" cy="803275"/>
          </a:xfrm>
          <a:custGeom>
            <a:avLst/>
            <a:gdLst/>
            <a:ahLst/>
            <a:cxnLst/>
            <a:rect l="l" t="t" r="r" b="b"/>
            <a:pathLst>
              <a:path w="142875" h="803275">
                <a:moveTo>
                  <a:pt x="0" y="142874"/>
                </a:moveTo>
                <a:lnTo>
                  <a:pt x="71437" y="0"/>
                </a:lnTo>
                <a:lnTo>
                  <a:pt x="98221" y="53568"/>
                </a:lnTo>
                <a:lnTo>
                  <a:pt x="57150" y="53568"/>
                </a:lnTo>
                <a:lnTo>
                  <a:pt x="57150" y="85724"/>
                </a:lnTo>
                <a:lnTo>
                  <a:pt x="0" y="142874"/>
                </a:lnTo>
                <a:close/>
              </a:path>
              <a:path w="142875" h="803275">
                <a:moveTo>
                  <a:pt x="57150" y="85724"/>
                </a:moveTo>
                <a:lnTo>
                  <a:pt x="57150" y="53568"/>
                </a:lnTo>
                <a:lnTo>
                  <a:pt x="85725" y="53568"/>
                </a:lnTo>
                <a:lnTo>
                  <a:pt x="85725" y="71437"/>
                </a:lnTo>
                <a:lnTo>
                  <a:pt x="71437" y="71437"/>
                </a:lnTo>
                <a:lnTo>
                  <a:pt x="57150" y="85724"/>
                </a:lnTo>
                <a:close/>
              </a:path>
              <a:path w="142875" h="803275">
                <a:moveTo>
                  <a:pt x="142875" y="142874"/>
                </a:moveTo>
                <a:lnTo>
                  <a:pt x="85725" y="85724"/>
                </a:lnTo>
                <a:lnTo>
                  <a:pt x="85725" y="53568"/>
                </a:lnTo>
                <a:lnTo>
                  <a:pt x="98221" y="53568"/>
                </a:lnTo>
                <a:lnTo>
                  <a:pt x="142875" y="142874"/>
                </a:lnTo>
                <a:close/>
              </a:path>
              <a:path w="142875" h="803275">
                <a:moveTo>
                  <a:pt x="85725" y="803211"/>
                </a:moveTo>
                <a:lnTo>
                  <a:pt x="57150" y="803211"/>
                </a:lnTo>
                <a:lnTo>
                  <a:pt x="57150" y="85724"/>
                </a:lnTo>
                <a:lnTo>
                  <a:pt x="71437" y="71437"/>
                </a:lnTo>
                <a:lnTo>
                  <a:pt x="85725" y="85724"/>
                </a:lnTo>
                <a:lnTo>
                  <a:pt x="85725" y="803211"/>
                </a:lnTo>
                <a:close/>
              </a:path>
              <a:path w="142875" h="803275">
                <a:moveTo>
                  <a:pt x="85725" y="85724"/>
                </a:moveTo>
                <a:lnTo>
                  <a:pt x="71437" y="71437"/>
                </a:lnTo>
                <a:lnTo>
                  <a:pt x="85725" y="71437"/>
                </a:lnTo>
                <a:lnTo>
                  <a:pt x="85725" y="8572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030505" y="2328964"/>
            <a:ext cx="110489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i="1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988158" y="4376928"/>
            <a:ext cx="142875" cy="803275"/>
          </a:xfrm>
          <a:custGeom>
            <a:avLst/>
            <a:gdLst/>
            <a:ahLst/>
            <a:cxnLst/>
            <a:rect l="l" t="t" r="r" b="b"/>
            <a:pathLst>
              <a:path w="142875" h="803275">
                <a:moveTo>
                  <a:pt x="0" y="142875"/>
                </a:moveTo>
                <a:lnTo>
                  <a:pt x="71437" y="0"/>
                </a:lnTo>
                <a:lnTo>
                  <a:pt x="98228" y="53581"/>
                </a:lnTo>
                <a:lnTo>
                  <a:pt x="57150" y="53581"/>
                </a:lnTo>
                <a:lnTo>
                  <a:pt x="57150" y="85725"/>
                </a:lnTo>
                <a:lnTo>
                  <a:pt x="0" y="142875"/>
                </a:lnTo>
                <a:close/>
              </a:path>
              <a:path w="142875" h="803275">
                <a:moveTo>
                  <a:pt x="57150" y="85725"/>
                </a:moveTo>
                <a:lnTo>
                  <a:pt x="57150" y="53581"/>
                </a:lnTo>
                <a:lnTo>
                  <a:pt x="85725" y="53581"/>
                </a:lnTo>
                <a:lnTo>
                  <a:pt x="85725" y="71437"/>
                </a:lnTo>
                <a:lnTo>
                  <a:pt x="71437" y="71437"/>
                </a:lnTo>
                <a:lnTo>
                  <a:pt x="57150" y="85725"/>
                </a:lnTo>
                <a:close/>
              </a:path>
              <a:path w="142875" h="803275">
                <a:moveTo>
                  <a:pt x="142875" y="142875"/>
                </a:moveTo>
                <a:lnTo>
                  <a:pt x="85725" y="85725"/>
                </a:lnTo>
                <a:lnTo>
                  <a:pt x="85725" y="53581"/>
                </a:lnTo>
                <a:lnTo>
                  <a:pt x="98228" y="53581"/>
                </a:lnTo>
                <a:lnTo>
                  <a:pt x="142875" y="142875"/>
                </a:lnTo>
                <a:close/>
              </a:path>
              <a:path w="142875" h="803275">
                <a:moveTo>
                  <a:pt x="85725" y="803211"/>
                </a:moveTo>
                <a:lnTo>
                  <a:pt x="57150" y="803211"/>
                </a:lnTo>
                <a:lnTo>
                  <a:pt x="57150" y="85725"/>
                </a:lnTo>
                <a:lnTo>
                  <a:pt x="71437" y="71437"/>
                </a:lnTo>
                <a:lnTo>
                  <a:pt x="85725" y="85725"/>
                </a:lnTo>
                <a:lnTo>
                  <a:pt x="85725" y="803211"/>
                </a:lnTo>
                <a:close/>
              </a:path>
              <a:path w="142875" h="803275">
                <a:moveTo>
                  <a:pt x="85725" y="85725"/>
                </a:moveTo>
                <a:lnTo>
                  <a:pt x="71437" y="71437"/>
                </a:lnTo>
                <a:lnTo>
                  <a:pt x="85725" y="71437"/>
                </a:lnTo>
                <a:lnTo>
                  <a:pt x="85725" y="8572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9164218" y="4335551"/>
            <a:ext cx="110489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i="1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272593" y="4376928"/>
            <a:ext cx="142875" cy="803275"/>
          </a:xfrm>
          <a:custGeom>
            <a:avLst/>
            <a:gdLst/>
            <a:ahLst/>
            <a:cxnLst/>
            <a:rect l="l" t="t" r="r" b="b"/>
            <a:pathLst>
              <a:path w="142875" h="803275">
                <a:moveTo>
                  <a:pt x="71437" y="731774"/>
                </a:moveTo>
                <a:lnTo>
                  <a:pt x="57150" y="717486"/>
                </a:lnTo>
                <a:lnTo>
                  <a:pt x="57150" y="0"/>
                </a:lnTo>
                <a:lnTo>
                  <a:pt x="85725" y="0"/>
                </a:lnTo>
                <a:lnTo>
                  <a:pt x="85725" y="717486"/>
                </a:lnTo>
                <a:lnTo>
                  <a:pt x="71437" y="731774"/>
                </a:lnTo>
                <a:close/>
              </a:path>
              <a:path w="142875" h="803275">
                <a:moveTo>
                  <a:pt x="71437" y="803211"/>
                </a:moveTo>
                <a:lnTo>
                  <a:pt x="0" y="660336"/>
                </a:lnTo>
                <a:lnTo>
                  <a:pt x="57150" y="717486"/>
                </a:lnTo>
                <a:lnTo>
                  <a:pt x="57150" y="749642"/>
                </a:lnTo>
                <a:lnTo>
                  <a:pt x="98221" y="749642"/>
                </a:lnTo>
                <a:lnTo>
                  <a:pt x="71437" y="803211"/>
                </a:lnTo>
                <a:close/>
              </a:path>
              <a:path w="142875" h="803275">
                <a:moveTo>
                  <a:pt x="98221" y="749642"/>
                </a:moveTo>
                <a:lnTo>
                  <a:pt x="85725" y="749642"/>
                </a:lnTo>
                <a:lnTo>
                  <a:pt x="85725" y="717486"/>
                </a:lnTo>
                <a:lnTo>
                  <a:pt x="142875" y="660336"/>
                </a:lnTo>
                <a:lnTo>
                  <a:pt x="98221" y="749642"/>
                </a:lnTo>
                <a:close/>
              </a:path>
              <a:path w="142875" h="803275">
                <a:moveTo>
                  <a:pt x="85725" y="749642"/>
                </a:moveTo>
                <a:lnTo>
                  <a:pt x="57150" y="749642"/>
                </a:lnTo>
                <a:lnTo>
                  <a:pt x="57150" y="717486"/>
                </a:lnTo>
                <a:lnTo>
                  <a:pt x="71437" y="731774"/>
                </a:lnTo>
                <a:lnTo>
                  <a:pt x="85725" y="731774"/>
                </a:lnTo>
                <a:lnTo>
                  <a:pt x="85725" y="749642"/>
                </a:lnTo>
                <a:close/>
              </a:path>
              <a:path w="142875" h="803275">
                <a:moveTo>
                  <a:pt x="85725" y="731774"/>
                </a:moveTo>
                <a:lnTo>
                  <a:pt x="71437" y="731774"/>
                </a:lnTo>
                <a:lnTo>
                  <a:pt x="85725" y="717486"/>
                </a:lnTo>
                <a:lnTo>
                  <a:pt x="85725" y="73177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138125" y="4335551"/>
            <a:ext cx="110489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i="1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450835" y="2019300"/>
            <a:ext cx="1860803" cy="1356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586940" y="2336292"/>
            <a:ext cx="399288" cy="6537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676843" y="2358491"/>
            <a:ext cx="142875" cy="631190"/>
          </a:xfrm>
          <a:custGeom>
            <a:avLst/>
            <a:gdLst/>
            <a:ahLst/>
            <a:cxnLst/>
            <a:rect l="l" t="t" r="r" b="b"/>
            <a:pathLst>
              <a:path w="142875" h="631189">
                <a:moveTo>
                  <a:pt x="0" y="142875"/>
                </a:moveTo>
                <a:lnTo>
                  <a:pt x="71437" y="0"/>
                </a:lnTo>
                <a:lnTo>
                  <a:pt x="98221" y="53568"/>
                </a:lnTo>
                <a:lnTo>
                  <a:pt x="57150" y="53568"/>
                </a:lnTo>
                <a:lnTo>
                  <a:pt x="57150" y="85725"/>
                </a:lnTo>
                <a:lnTo>
                  <a:pt x="0" y="142875"/>
                </a:lnTo>
                <a:close/>
              </a:path>
              <a:path w="142875" h="631189">
                <a:moveTo>
                  <a:pt x="57150" y="85725"/>
                </a:moveTo>
                <a:lnTo>
                  <a:pt x="57150" y="53568"/>
                </a:lnTo>
                <a:lnTo>
                  <a:pt x="85725" y="53568"/>
                </a:lnTo>
                <a:lnTo>
                  <a:pt x="85725" y="71437"/>
                </a:lnTo>
                <a:lnTo>
                  <a:pt x="71437" y="71437"/>
                </a:lnTo>
                <a:lnTo>
                  <a:pt x="57150" y="85725"/>
                </a:lnTo>
                <a:close/>
              </a:path>
              <a:path w="142875" h="631189">
                <a:moveTo>
                  <a:pt x="142875" y="142875"/>
                </a:moveTo>
                <a:lnTo>
                  <a:pt x="85725" y="85725"/>
                </a:lnTo>
                <a:lnTo>
                  <a:pt x="85725" y="53568"/>
                </a:lnTo>
                <a:lnTo>
                  <a:pt x="98221" y="53568"/>
                </a:lnTo>
                <a:lnTo>
                  <a:pt x="142875" y="142875"/>
                </a:lnTo>
                <a:close/>
              </a:path>
              <a:path w="142875" h="631189">
                <a:moveTo>
                  <a:pt x="85725" y="630936"/>
                </a:moveTo>
                <a:lnTo>
                  <a:pt x="57150" y="630936"/>
                </a:lnTo>
                <a:lnTo>
                  <a:pt x="57150" y="85725"/>
                </a:lnTo>
                <a:lnTo>
                  <a:pt x="71437" y="71437"/>
                </a:lnTo>
                <a:lnTo>
                  <a:pt x="85725" y="85725"/>
                </a:lnTo>
                <a:lnTo>
                  <a:pt x="85725" y="630936"/>
                </a:lnTo>
                <a:close/>
              </a:path>
              <a:path w="142875" h="631189">
                <a:moveTo>
                  <a:pt x="85725" y="85725"/>
                </a:moveTo>
                <a:lnTo>
                  <a:pt x="71437" y="71437"/>
                </a:lnTo>
                <a:lnTo>
                  <a:pt x="85725" y="71437"/>
                </a:lnTo>
                <a:lnTo>
                  <a:pt x="85725" y="8572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552459" y="2315692"/>
            <a:ext cx="110489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i="1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83395" y="1801812"/>
            <a:ext cx="4318635" cy="3479800"/>
          </a:xfrm>
          <a:prstGeom prst="rect">
            <a:avLst/>
          </a:prstGeom>
        </p:spPr>
        <p:txBody>
          <a:bodyPr wrap="square" lIns="0" tIns="20066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58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600" i="1">
                <a:latin typeface="华文楷体"/>
                <a:cs typeface="华文楷体"/>
              </a:rPr>
              <a:t>右手定则</a:t>
            </a:r>
            <a:r>
              <a:rPr dirty="0" sz="2600" spc="5" i="1">
                <a:latin typeface="华文楷体"/>
                <a:cs typeface="华文楷体"/>
              </a:rPr>
              <a:t>：</a:t>
            </a:r>
            <a:endParaRPr sz="2600">
              <a:latin typeface="华文楷体"/>
              <a:cs typeface="华文楷体"/>
            </a:endParaRPr>
          </a:p>
          <a:p>
            <a:pPr algn="just" marL="12700" marR="5080" indent="660400">
              <a:lnSpc>
                <a:spcPct val="115399"/>
              </a:lnSpc>
              <a:spcBef>
                <a:spcPts val="994"/>
              </a:spcBef>
            </a:pPr>
            <a:r>
              <a:rPr dirty="0" sz="2600" i="1">
                <a:latin typeface="华文楷体"/>
                <a:cs typeface="华文楷体"/>
              </a:rPr>
              <a:t>伸开右手，使拇指与其</a:t>
            </a:r>
            <a:r>
              <a:rPr dirty="0" sz="2600" i="1">
                <a:latin typeface="华文楷体"/>
                <a:cs typeface="华文楷体"/>
              </a:rPr>
              <a:t>余 </a:t>
            </a:r>
            <a:r>
              <a:rPr dirty="0" sz="2600" i="1">
                <a:latin typeface="华文楷体"/>
                <a:cs typeface="华文楷体"/>
              </a:rPr>
              <a:t>四个手指垂直，并且都与手</a:t>
            </a:r>
            <a:r>
              <a:rPr dirty="0" sz="2600" i="1">
                <a:latin typeface="华文楷体"/>
                <a:cs typeface="华文楷体"/>
              </a:rPr>
              <a:t>掌 </a:t>
            </a:r>
            <a:r>
              <a:rPr dirty="0" sz="2600" i="1">
                <a:latin typeface="华文楷体"/>
                <a:cs typeface="华文楷体"/>
              </a:rPr>
              <a:t>在同一个平面内；让磁感线</a:t>
            </a:r>
            <a:r>
              <a:rPr dirty="0" sz="2600" i="1">
                <a:latin typeface="华文楷体"/>
                <a:cs typeface="华文楷体"/>
              </a:rPr>
              <a:t>从 </a:t>
            </a:r>
            <a:r>
              <a:rPr dirty="0" sz="2600" i="1">
                <a:latin typeface="华文楷体"/>
                <a:cs typeface="华文楷体"/>
              </a:rPr>
              <a:t>掌心进入，并使拇指指向导</a:t>
            </a:r>
            <a:r>
              <a:rPr dirty="0" sz="2600" i="1">
                <a:latin typeface="华文楷体"/>
                <a:cs typeface="华文楷体"/>
              </a:rPr>
              <a:t>线 </a:t>
            </a:r>
            <a:r>
              <a:rPr dirty="0" sz="2600" i="1">
                <a:latin typeface="华文楷体"/>
                <a:cs typeface="华文楷体"/>
              </a:rPr>
              <a:t>运动的方向，这时四指所指</a:t>
            </a:r>
            <a:r>
              <a:rPr dirty="0" sz="2600" i="1">
                <a:latin typeface="华文楷体"/>
                <a:cs typeface="华文楷体"/>
              </a:rPr>
              <a:t>的 </a:t>
            </a:r>
            <a:r>
              <a:rPr dirty="0" sz="2600" i="1">
                <a:latin typeface="华文楷体"/>
                <a:cs typeface="华文楷体"/>
              </a:rPr>
              <a:t>方向就是感应电流的方向</a:t>
            </a:r>
            <a:r>
              <a:rPr dirty="0" sz="2600" spc="5" i="1">
                <a:latin typeface="华文楷体"/>
                <a:cs typeface="华文楷体"/>
              </a:rPr>
              <a:t>。</a:t>
            </a:r>
            <a:endParaRPr sz="26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583395" y="1360500"/>
            <a:ext cx="246443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/>
              <a:t>二、右手定</a:t>
            </a:r>
            <a:r>
              <a:rPr dirty="0" sz="3200" spc="5"/>
              <a:t>则</a:t>
            </a:r>
            <a:endParaRPr sz="3200"/>
          </a:p>
        </p:txBody>
      </p:sp>
      <p:sp>
        <p:nvSpPr>
          <p:cNvPr id="8" name="object 8"/>
          <p:cNvSpPr/>
          <p:nvPr/>
        </p:nvSpPr>
        <p:spPr>
          <a:xfrm>
            <a:off x="7522464" y="3407664"/>
            <a:ext cx="1789176" cy="22128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212079" y="4076319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>
                <a:moveTo>
                  <a:pt x="22720" y="45719"/>
                </a:moveTo>
                <a:lnTo>
                  <a:pt x="13810" y="43923"/>
                </a:lnTo>
                <a:lnTo>
                  <a:pt x="6569" y="39071"/>
                </a:lnTo>
                <a:lnTo>
                  <a:pt x="1714" y="31918"/>
                </a:lnTo>
                <a:lnTo>
                  <a:pt x="0" y="23240"/>
                </a:lnTo>
                <a:lnTo>
                  <a:pt x="1714" y="14123"/>
                </a:lnTo>
                <a:lnTo>
                  <a:pt x="6569" y="6743"/>
                </a:lnTo>
                <a:lnTo>
                  <a:pt x="13848" y="1796"/>
                </a:lnTo>
                <a:lnTo>
                  <a:pt x="22720" y="0"/>
                </a:lnTo>
                <a:lnTo>
                  <a:pt x="31624" y="1802"/>
                </a:lnTo>
                <a:lnTo>
                  <a:pt x="38877" y="6696"/>
                </a:lnTo>
                <a:lnTo>
                  <a:pt x="43772" y="13962"/>
                </a:lnTo>
                <a:lnTo>
                  <a:pt x="45567" y="22859"/>
                </a:lnTo>
                <a:lnTo>
                  <a:pt x="43772" y="31757"/>
                </a:lnTo>
                <a:lnTo>
                  <a:pt x="38877" y="39023"/>
                </a:lnTo>
                <a:lnTo>
                  <a:pt x="31586" y="43929"/>
                </a:lnTo>
                <a:lnTo>
                  <a:pt x="22720" y="4571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212079" y="3599256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>
                <a:moveTo>
                  <a:pt x="22720" y="45719"/>
                </a:moveTo>
                <a:lnTo>
                  <a:pt x="13809" y="43923"/>
                </a:lnTo>
                <a:lnTo>
                  <a:pt x="6569" y="39077"/>
                </a:lnTo>
                <a:lnTo>
                  <a:pt x="1714" y="31939"/>
                </a:lnTo>
                <a:lnTo>
                  <a:pt x="0" y="23291"/>
                </a:lnTo>
                <a:lnTo>
                  <a:pt x="1714" y="14144"/>
                </a:lnTo>
                <a:lnTo>
                  <a:pt x="6569" y="6750"/>
                </a:lnTo>
                <a:lnTo>
                  <a:pt x="13819" y="1803"/>
                </a:lnTo>
                <a:lnTo>
                  <a:pt x="22720" y="0"/>
                </a:lnTo>
                <a:lnTo>
                  <a:pt x="31625" y="1803"/>
                </a:lnTo>
                <a:lnTo>
                  <a:pt x="38877" y="6696"/>
                </a:lnTo>
                <a:lnTo>
                  <a:pt x="43772" y="13962"/>
                </a:lnTo>
                <a:lnTo>
                  <a:pt x="45567" y="22860"/>
                </a:lnTo>
                <a:lnTo>
                  <a:pt x="43772" y="31757"/>
                </a:lnTo>
                <a:lnTo>
                  <a:pt x="38877" y="39023"/>
                </a:lnTo>
                <a:lnTo>
                  <a:pt x="31615" y="43923"/>
                </a:lnTo>
                <a:lnTo>
                  <a:pt x="22720" y="4571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209032" y="4561154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>
                <a:moveTo>
                  <a:pt x="22618" y="45719"/>
                </a:moveTo>
                <a:lnTo>
                  <a:pt x="13720" y="43923"/>
                </a:lnTo>
                <a:lnTo>
                  <a:pt x="6470" y="39023"/>
                </a:lnTo>
                <a:lnTo>
                  <a:pt x="1657" y="31832"/>
                </a:lnTo>
                <a:lnTo>
                  <a:pt x="0" y="23037"/>
                </a:lnTo>
                <a:lnTo>
                  <a:pt x="1657" y="14037"/>
                </a:lnTo>
                <a:lnTo>
                  <a:pt x="6484" y="6718"/>
                </a:lnTo>
                <a:lnTo>
                  <a:pt x="13738" y="1796"/>
                </a:lnTo>
                <a:lnTo>
                  <a:pt x="22618" y="0"/>
                </a:lnTo>
                <a:lnTo>
                  <a:pt x="31520" y="1799"/>
                </a:lnTo>
                <a:lnTo>
                  <a:pt x="38797" y="6718"/>
                </a:lnTo>
                <a:lnTo>
                  <a:pt x="43682" y="13962"/>
                </a:lnTo>
                <a:lnTo>
                  <a:pt x="45478" y="22860"/>
                </a:lnTo>
                <a:lnTo>
                  <a:pt x="43682" y="31757"/>
                </a:lnTo>
                <a:lnTo>
                  <a:pt x="38782" y="39023"/>
                </a:lnTo>
                <a:lnTo>
                  <a:pt x="31502" y="43926"/>
                </a:lnTo>
                <a:lnTo>
                  <a:pt x="22618" y="4571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212079" y="5057482"/>
            <a:ext cx="46355" cy="45720"/>
          </a:xfrm>
          <a:custGeom>
            <a:avLst/>
            <a:gdLst/>
            <a:ahLst/>
            <a:cxnLst/>
            <a:rect l="l" t="t" r="r" b="b"/>
            <a:pathLst>
              <a:path w="46354" h="45720">
                <a:moveTo>
                  <a:pt x="23114" y="45720"/>
                </a:moveTo>
                <a:lnTo>
                  <a:pt x="14196" y="43923"/>
                </a:lnTo>
                <a:lnTo>
                  <a:pt x="6918" y="39108"/>
                </a:lnTo>
                <a:lnTo>
                  <a:pt x="1943" y="32041"/>
                </a:lnTo>
                <a:lnTo>
                  <a:pt x="0" y="23533"/>
                </a:lnTo>
                <a:lnTo>
                  <a:pt x="1943" y="14246"/>
                </a:lnTo>
                <a:lnTo>
                  <a:pt x="6918" y="6780"/>
                </a:lnTo>
                <a:lnTo>
                  <a:pt x="14212" y="1807"/>
                </a:lnTo>
                <a:lnTo>
                  <a:pt x="23114" y="0"/>
                </a:lnTo>
                <a:lnTo>
                  <a:pt x="32027" y="1807"/>
                </a:lnTo>
                <a:lnTo>
                  <a:pt x="39277" y="6696"/>
                </a:lnTo>
                <a:lnTo>
                  <a:pt x="44177" y="13962"/>
                </a:lnTo>
                <a:lnTo>
                  <a:pt x="45974" y="22860"/>
                </a:lnTo>
                <a:lnTo>
                  <a:pt x="44177" y="31757"/>
                </a:lnTo>
                <a:lnTo>
                  <a:pt x="39277" y="39023"/>
                </a:lnTo>
                <a:lnTo>
                  <a:pt x="32011" y="43923"/>
                </a:lnTo>
                <a:lnTo>
                  <a:pt x="23114" y="4572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213603" y="3099904"/>
            <a:ext cx="46355" cy="45720"/>
          </a:xfrm>
          <a:custGeom>
            <a:avLst/>
            <a:gdLst/>
            <a:ahLst/>
            <a:cxnLst/>
            <a:rect l="l" t="t" r="r" b="b"/>
            <a:pathLst>
              <a:path w="46354" h="45719">
                <a:moveTo>
                  <a:pt x="23317" y="45720"/>
                </a:moveTo>
                <a:lnTo>
                  <a:pt x="14412" y="43923"/>
                </a:lnTo>
                <a:lnTo>
                  <a:pt x="7096" y="39017"/>
                </a:lnTo>
                <a:lnTo>
                  <a:pt x="2060" y="31725"/>
                </a:lnTo>
                <a:lnTo>
                  <a:pt x="0" y="22771"/>
                </a:lnTo>
                <a:lnTo>
                  <a:pt x="2060" y="13924"/>
                </a:lnTo>
                <a:lnTo>
                  <a:pt x="7096" y="6684"/>
                </a:lnTo>
                <a:lnTo>
                  <a:pt x="14412" y="1795"/>
                </a:lnTo>
                <a:lnTo>
                  <a:pt x="23317" y="0"/>
                </a:lnTo>
                <a:lnTo>
                  <a:pt x="32214" y="1796"/>
                </a:lnTo>
                <a:lnTo>
                  <a:pt x="39481" y="6696"/>
                </a:lnTo>
                <a:lnTo>
                  <a:pt x="44380" y="13962"/>
                </a:lnTo>
                <a:lnTo>
                  <a:pt x="46177" y="22860"/>
                </a:lnTo>
                <a:lnTo>
                  <a:pt x="44380" y="31762"/>
                </a:lnTo>
                <a:lnTo>
                  <a:pt x="39481" y="39028"/>
                </a:lnTo>
                <a:lnTo>
                  <a:pt x="32214" y="43925"/>
                </a:lnTo>
                <a:lnTo>
                  <a:pt x="23317" y="4572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583935" y="4072216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>
                <a:moveTo>
                  <a:pt x="22237" y="45720"/>
                </a:moveTo>
                <a:lnTo>
                  <a:pt x="13344" y="43921"/>
                </a:lnTo>
                <a:lnTo>
                  <a:pt x="6146" y="39012"/>
                </a:lnTo>
                <a:lnTo>
                  <a:pt x="1435" y="31720"/>
                </a:lnTo>
                <a:lnTo>
                  <a:pt x="0" y="22771"/>
                </a:lnTo>
                <a:lnTo>
                  <a:pt x="1435" y="13924"/>
                </a:lnTo>
                <a:lnTo>
                  <a:pt x="6146" y="6684"/>
                </a:lnTo>
                <a:lnTo>
                  <a:pt x="13344" y="1795"/>
                </a:lnTo>
                <a:lnTo>
                  <a:pt x="22237" y="0"/>
                </a:lnTo>
                <a:lnTo>
                  <a:pt x="31135" y="1796"/>
                </a:lnTo>
                <a:lnTo>
                  <a:pt x="38401" y="6696"/>
                </a:lnTo>
                <a:lnTo>
                  <a:pt x="43301" y="13962"/>
                </a:lnTo>
                <a:lnTo>
                  <a:pt x="45097" y="22860"/>
                </a:lnTo>
                <a:lnTo>
                  <a:pt x="43301" y="31757"/>
                </a:lnTo>
                <a:lnTo>
                  <a:pt x="38401" y="39023"/>
                </a:lnTo>
                <a:lnTo>
                  <a:pt x="31135" y="43923"/>
                </a:lnTo>
                <a:lnTo>
                  <a:pt x="22237" y="4572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583935" y="3595154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>
                <a:moveTo>
                  <a:pt x="22237" y="45719"/>
                </a:moveTo>
                <a:lnTo>
                  <a:pt x="13344" y="43922"/>
                </a:lnTo>
                <a:lnTo>
                  <a:pt x="6146" y="39019"/>
                </a:lnTo>
                <a:lnTo>
                  <a:pt x="1435" y="31741"/>
                </a:lnTo>
                <a:lnTo>
                  <a:pt x="0" y="22821"/>
                </a:lnTo>
                <a:lnTo>
                  <a:pt x="1435" y="13946"/>
                </a:lnTo>
                <a:lnTo>
                  <a:pt x="6146" y="6691"/>
                </a:lnTo>
                <a:lnTo>
                  <a:pt x="13344" y="1796"/>
                </a:lnTo>
                <a:lnTo>
                  <a:pt x="22237" y="0"/>
                </a:lnTo>
                <a:lnTo>
                  <a:pt x="31135" y="1796"/>
                </a:lnTo>
                <a:lnTo>
                  <a:pt x="38401" y="6696"/>
                </a:lnTo>
                <a:lnTo>
                  <a:pt x="43301" y="13962"/>
                </a:lnTo>
                <a:lnTo>
                  <a:pt x="45097" y="22859"/>
                </a:lnTo>
                <a:lnTo>
                  <a:pt x="43301" y="31757"/>
                </a:lnTo>
                <a:lnTo>
                  <a:pt x="38401" y="39023"/>
                </a:lnTo>
                <a:lnTo>
                  <a:pt x="31135" y="43923"/>
                </a:lnTo>
                <a:lnTo>
                  <a:pt x="22237" y="4571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580888" y="4557064"/>
            <a:ext cx="45085" cy="45720"/>
          </a:xfrm>
          <a:custGeom>
            <a:avLst/>
            <a:gdLst/>
            <a:ahLst/>
            <a:cxnLst/>
            <a:rect l="l" t="t" r="r" b="b"/>
            <a:pathLst>
              <a:path w="45085" h="45720">
                <a:moveTo>
                  <a:pt x="22136" y="45707"/>
                </a:moveTo>
                <a:lnTo>
                  <a:pt x="13249" y="43907"/>
                </a:lnTo>
                <a:lnTo>
                  <a:pt x="6062" y="38979"/>
                </a:lnTo>
                <a:lnTo>
                  <a:pt x="1378" y="31626"/>
                </a:lnTo>
                <a:lnTo>
                  <a:pt x="0" y="22555"/>
                </a:lnTo>
                <a:lnTo>
                  <a:pt x="1378" y="13828"/>
                </a:lnTo>
                <a:lnTo>
                  <a:pt x="6062" y="6653"/>
                </a:lnTo>
                <a:lnTo>
                  <a:pt x="13249" y="1790"/>
                </a:lnTo>
                <a:lnTo>
                  <a:pt x="22136" y="0"/>
                </a:lnTo>
                <a:lnTo>
                  <a:pt x="31033" y="1794"/>
                </a:lnTo>
                <a:lnTo>
                  <a:pt x="38300" y="6691"/>
                </a:lnTo>
                <a:lnTo>
                  <a:pt x="43199" y="13957"/>
                </a:lnTo>
                <a:lnTo>
                  <a:pt x="44996" y="22860"/>
                </a:lnTo>
                <a:lnTo>
                  <a:pt x="43199" y="31755"/>
                </a:lnTo>
                <a:lnTo>
                  <a:pt x="38300" y="39017"/>
                </a:lnTo>
                <a:lnTo>
                  <a:pt x="31033" y="43912"/>
                </a:lnTo>
                <a:lnTo>
                  <a:pt x="22136" y="45707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583935" y="5053393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>
                <a:moveTo>
                  <a:pt x="22631" y="45720"/>
                </a:moveTo>
                <a:lnTo>
                  <a:pt x="13733" y="43923"/>
                </a:lnTo>
                <a:lnTo>
                  <a:pt x="6480" y="39023"/>
                </a:lnTo>
                <a:lnTo>
                  <a:pt x="1664" y="31837"/>
                </a:lnTo>
                <a:lnTo>
                  <a:pt x="0" y="23050"/>
                </a:lnTo>
                <a:lnTo>
                  <a:pt x="1664" y="14042"/>
                </a:lnTo>
                <a:lnTo>
                  <a:pt x="6496" y="6719"/>
                </a:lnTo>
                <a:lnTo>
                  <a:pt x="13752" y="1796"/>
                </a:lnTo>
                <a:lnTo>
                  <a:pt x="22631" y="0"/>
                </a:lnTo>
                <a:lnTo>
                  <a:pt x="31533" y="1799"/>
                </a:lnTo>
                <a:lnTo>
                  <a:pt x="38811" y="6719"/>
                </a:lnTo>
                <a:lnTo>
                  <a:pt x="43694" y="13962"/>
                </a:lnTo>
                <a:lnTo>
                  <a:pt x="45491" y="22860"/>
                </a:lnTo>
                <a:lnTo>
                  <a:pt x="43694" y="31757"/>
                </a:lnTo>
                <a:lnTo>
                  <a:pt x="38795" y="39023"/>
                </a:lnTo>
                <a:lnTo>
                  <a:pt x="31514" y="43926"/>
                </a:lnTo>
                <a:lnTo>
                  <a:pt x="22631" y="4572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585459" y="3095815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19">
                <a:moveTo>
                  <a:pt x="22834" y="45720"/>
                </a:moveTo>
                <a:lnTo>
                  <a:pt x="13937" y="43914"/>
                </a:lnTo>
                <a:lnTo>
                  <a:pt x="6673" y="38952"/>
                </a:lnTo>
                <a:lnTo>
                  <a:pt x="1781" y="31516"/>
                </a:lnTo>
                <a:lnTo>
                  <a:pt x="0" y="22288"/>
                </a:lnTo>
                <a:lnTo>
                  <a:pt x="1781" y="13721"/>
                </a:lnTo>
                <a:lnTo>
                  <a:pt x="6673" y="6624"/>
                </a:lnTo>
                <a:lnTo>
                  <a:pt x="13937" y="1787"/>
                </a:lnTo>
                <a:lnTo>
                  <a:pt x="22834" y="0"/>
                </a:lnTo>
                <a:lnTo>
                  <a:pt x="31732" y="1796"/>
                </a:lnTo>
                <a:lnTo>
                  <a:pt x="38998" y="6696"/>
                </a:lnTo>
                <a:lnTo>
                  <a:pt x="43897" y="13962"/>
                </a:lnTo>
                <a:lnTo>
                  <a:pt x="45694" y="22860"/>
                </a:lnTo>
                <a:lnTo>
                  <a:pt x="43897" y="31757"/>
                </a:lnTo>
                <a:lnTo>
                  <a:pt x="38998" y="39023"/>
                </a:lnTo>
                <a:lnTo>
                  <a:pt x="31732" y="43923"/>
                </a:lnTo>
                <a:lnTo>
                  <a:pt x="22834" y="4572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966459" y="4078706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>
                <a:moveTo>
                  <a:pt x="22758" y="45719"/>
                </a:moveTo>
                <a:lnTo>
                  <a:pt x="13862" y="43915"/>
                </a:lnTo>
                <a:lnTo>
                  <a:pt x="6607" y="38963"/>
                </a:lnTo>
                <a:lnTo>
                  <a:pt x="1737" y="31553"/>
                </a:lnTo>
                <a:lnTo>
                  <a:pt x="0" y="22377"/>
                </a:lnTo>
                <a:lnTo>
                  <a:pt x="1737" y="13758"/>
                </a:lnTo>
                <a:lnTo>
                  <a:pt x="6607" y="6635"/>
                </a:lnTo>
                <a:lnTo>
                  <a:pt x="13862" y="1789"/>
                </a:lnTo>
                <a:lnTo>
                  <a:pt x="22758" y="0"/>
                </a:lnTo>
                <a:lnTo>
                  <a:pt x="31655" y="1796"/>
                </a:lnTo>
                <a:lnTo>
                  <a:pt x="38922" y="6696"/>
                </a:lnTo>
                <a:lnTo>
                  <a:pt x="43821" y="13962"/>
                </a:lnTo>
                <a:lnTo>
                  <a:pt x="45618" y="22860"/>
                </a:lnTo>
                <a:lnTo>
                  <a:pt x="43821" y="31757"/>
                </a:lnTo>
                <a:lnTo>
                  <a:pt x="38922" y="39023"/>
                </a:lnTo>
                <a:lnTo>
                  <a:pt x="31655" y="43923"/>
                </a:lnTo>
                <a:lnTo>
                  <a:pt x="22758" y="4571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966459" y="3601656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>
                <a:moveTo>
                  <a:pt x="22758" y="45719"/>
                </a:moveTo>
                <a:lnTo>
                  <a:pt x="13862" y="43916"/>
                </a:lnTo>
                <a:lnTo>
                  <a:pt x="6607" y="38968"/>
                </a:lnTo>
                <a:lnTo>
                  <a:pt x="1737" y="31570"/>
                </a:lnTo>
                <a:lnTo>
                  <a:pt x="0" y="22415"/>
                </a:lnTo>
                <a:lnTo>
                  <a:pt x="1737" y="13774"/>
                </a:lnTo>
                <a:lnTo>
                  <a:pt x="6607" y="6640"/>
                </a:lnTo>
                <a:lnTo>
                  <a:pt x="13862" y="1789"/>
                </a:lnTo>
                <a:lnTo>
                  <a:pt x="22758" y="0"/>
                </a:lnTo>
                <a:lnTo>
                  <a:pt x="31655" y="1796"/>
                </a:lnTo>
                <a:lnTo>
                  <a:pt x="38922" y="6696"/>
                </a:lnTo>
                <a:lnTo>
                  <a:pt x="43821" y="13962"/>
                </a:lnTo>
                <a:lnTo>
                  <a:pt x="45618" y="22859"/>
                </a:lnTo>
                <a:lnTo>
                  <a:pt x="43821" y="31757"/>
                </a:lnTo>
                <a:lnTo>
                  <a:pt x="38922" y="39023"/>
                </a:lnTo>
                <a:lnTo>
                  <a:pt x="31655" y="43923"/>
                </a:lnTo>
                <a:lnTo>
                  <a:pt x="22758" y="4571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963411" y="4563554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>
                <a:moveTo>
                  <a:pt x="22669" y="45720"/>
                </a:moveTo>
                <a:lnTo>
                  <a:pt x="13774" y="43912"/>
                </a:lnTo>
                <a:lnTo>
                  <a:pt x="6529" y="38936"/>
                </a:lnTo>
                <a:lnTo>
                  <a:pt x="1686" y="31462"/>
                </a:lnTo>
                <a:lnTo>
                  <a:pt x="0" y="22161"/>
                </a:lnTo>
                <a:lnTo>
                  <a:pt x="1686" y="13667"/>
                </a:lnTo>
                <a:lnTo>
                  <a:pt x="6529" y="6608"/>
                </a:lnTo>
                <a:lnTo>
                  <a:pt x="13774" y="1785"/>
                </a:lnTo>
                <a:lnTo>
                  <a:pt x="22669" y="0"/>
                </a:lnTo>
                <a:lnTo>
                  <a:pt x="31567" y="1796"/>
                </a:lnTo>
                <a:lnTo>
                  <a:pt x="38833" y="6696"/>
                </a:lnTo>
                <a:lnTo>
                  <a:pt x="43732" y="13962"/>
                </a:lnTo>
                <a:lnTo>
                  <a:pt x="45529" y="22860"/>
                </a:lnTo>
                <a:lnTo>
                  <a:pt x="43732" y="31757"/>
                </a:lnTo>
                <a:lnTo>
                  <a:pt x="38833" y="39023"/>
                </a:lnTo>
                <a:lnTo>
                  <a:pt x="31567" y="43923"/>
                </a:lnTo>
                <a:lnTo>
                  <a:pt x="22669" y="4572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966459" y="5059883"/>
            <a:ext cx="46355" cy="45720"/>
          </a:xfrm>
          <a:custGeom>
            <a:avLst/>
            <a:gdLst/>
            <a:ahLst/>
            <a:cxnLst/>
            <a:rect l="l" t="t" r="r" b="b"/>
            <a:pathLst>
              <a:path w="46354" h="45720">
                <a:moveTo>
                  <a:pt x="23164" y="45720"/>
                </a:moveTo>
                <a:lnTo>
                  <a:pt x="14262" y="43920"/>
                </a:lnTo>
                <a:lnTo>
                  <a:pt x="6962" y="38998"/>
                </a:lnTo>
                <a:lnTo>
                  <a:pt x="1972" y="31671"/>
                </a:lnTo>
                <a:lnTo>
                  <a:pt x="0" y="22656"/>
                </a:lnTo>
                <a:lnTo>
                  <a:pt x="1972" y="13876"/>
                </a:lnTo>
                <a:lnTo>
                  <a:pt x="6962" y="6670"/>
                </a:lnTo>
                <a:lnTo>
                  <a:pt x="14262" y="1793"/>
                </a:lnTo>
                <a:lnTo>
                  <a:pt x="23164" y="0"/>
                </a:lnTo>
                <a:lnTo>
                  <a:pt x="32062" y="1796"/>
                </a:lnTo>
                <a:lnTo>
                  <a:pt x="39328" y="6696"/>
                </a:lnTo>
                <a:lnTo>
                  <a:pt x="44228" y="13962"/>
                </a:lnTo>
                <a:lnTo>
                  <a:pt x="46024" y="22860"/>
                </a:lnTo>
                <a:lnTo>
                  <a:pt x="44228" y="31757"/>
                </a:lnTo>
                <a:lnTo>
                  <a:pt x="39328" y="39023"/>
                </a:lnTo>
                <a:lnTo>
                  <a:pt x="32062" y="43923"/>
                </a:lnTo>
                <a:lnTo>
                  <a:pt x="23164" y="4572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967984" y="3102305"/>
            <a:ext cx="46355" cy="45720"/>
          </a:xfrm>
          <a:custGeom>
            <a:avLst/>
            <a:gdLst/>
            <a:ahLst/>
            <a:cxnLst/>
            <a:rect l="l" t="t" r="r" b="b"/>
            <a:pathLst>
              <a:path w="46354" h="45719">
                <a:moveTo>
                  <a:pt x="23355" y="45719"/>
                </a:moveTo>
                <a:lnTo>
                  <a:pt x="14436" y="43923"/>
                </a:lnTo>
                <a:lnTo>
                  <a:pt x="7129" y="39093"/>
                </a:lnTo>
                <a:lnTo>
                  <a:pt x="2082" y="31993"/>
                </a:lnTo>
                <a:lnTo>
                  <a:pt x="0" y="23418"/>
                </a:lnTo>
                <a:lnTo>
                  <a:pt x="2082" y="14198"/>
                </a:lnTo>
                <a:lnTo>
                  <a:pt x="7129" y="6765"/>
                </a:lnTo>
                <a:lnTo>
                  <a:pt x="14450" y="1805"/>
                </a:lnTo>
                <a:lnTo>
                  <a:pt x="23355" y="0"/>
                </a:lnTo>
                <a:lnTo>
                  <a:pt x="32265" y="1805"/>
                </a:lnTo>
                <a:lnTo>
                  <a:pt x="39519" y="6696"/>
                </a:lnTo>
                <a:lnTo>
                  <a:pt x="44418" y="13962"/>
                </a:lnTo>
                <a:lnTo>
                  <a:pt x="46215" y="22859"/>
                </a:lnTo>
                <a:lnTo>
                  <a:pt x="44418" y="31757"/>
                </a:lnTo>
                <a:lnTo>
                  <a:pt x="39519" y="39023"/>
                </a:lnTo>
                <a:lnTo>
                  <a:pt x="32252" y="43923"/>
                </a:lnTo>
                <a:lnTo>
                  <a:pt x="23355" y="4571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338315" y="4074617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>
                <a:moveTo>
                  <a:pt x="22275" y="45719"/>
                </a:moveTo>
                <a:lnTo>
                  <a:pt x="13374" y="43923"/>
                </a:lnTo>
                <a:lnTo>
                  <a:pt x="6184" y="39093"/>
                </a:lnTo>
                <a:lnTo>
                  <a:pt x="1458" y="31993"/>
                </a:lnTo>
                <a:lnTo>
                  <a:pt x="0" y="23418"/>
                </a:lnTo>
                <a:lnTo>
                  <a:pt x="1458" y="14198"/>
                </a:lnTo>
                <a:lnTo>
                  <a:pt x="6184" y="6765"/>
                </a:lnTo>
                <a:lnTo>
                  <a:pt x="13387" y="1805"/>
                </a:lnTo>
                <a:lnTo>
                  <a:pt x="22275" y="0"/>
                </a:lnTo>
                <a:lnTo>
                  <a:pt x="31186" y="1805"/>
                </a:lnTo>
                <a:lnTo>
                  <a:pt x="38439" y="6696"/>
                </a:lnTo>
                <a:lnTo>
                  <a:pt x="43339" y="13962"/>
                </a:lnTo>
                <a:lnTo>
                  <a:pt x="45135" y="22860"/>
                </a:lnTo>
                <a:lnTo>
                  <a:pt x="43339" y="31757"/>
                </a:lnTo>
                <a:lnTo>
                  <a:pt x="38439" y="39023"/>
                </a:lnTo>
                <a:lnTo>
                  <a:pt x="31173" y="43923"/>
                </a:lnTo>
                <a:lnTo>
                  <a:pt x="22275" y="4571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338315" y="3597554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>
                <a:moveTo>
                  <a:pt x="22275" y="45720"/>
                </a:moveTo>
                <a:lnTo>
                  <a:pt x="13373" y="43923"/>
                </a:lnTo>
                <a:lnTo>
                  <a:pt x="6184" y="39100"/>
                </a:lnTo>
                <a:lnTo>
                  <a:pt x="1458" y="32014"/>
                </a:lnTo>
                <a:lnTo>
                  <a:pt x="0" y="23469"/>
                </a:lnTo>
                <a:lnTo>
                  <a:pt x="1458" y="14219"/>
                </a:lnTo>
                <a:lnTo>
                  <a:pt x="6184" y="6772"/>
                </a:lnTo>
                <a:lnTo>
                  <a:pt x="13387" y="1806"/>
                </a:lnTo>
                <a:lnTo>
                  <a:pt x="22275" y="0"/>
                </a:lnTo>
                <a:lnTo>
                  <a:pt x="31187" y="1806"/>
                </a:lnTo>
                <a:lnTo>
                  <a:pt x="38439" y="6696"/>
                </a:lnTo>
                <a:lnTo>
                  <a:pt x="43339" y="13962"/>
                </a:lnTo>
                <a:lnTo>
                  <a:pt x="45135" y="22860"/>
                </a:lnTo>
                <a:lnTo>
                  <a:pt x="43339" y="31757"/>
                </a:lnTo>
                <a:lnTo>
                  <a:pt x="38439" y="39023"/>
                </a:lnTo>
                <a:lnTo>
                  <a:pt x="31173" y="43923"/>
                </a:lnTo>
                <a:lnTo>
                  <a:pt x="22275" y="4572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335267" y="4559452"/>
            <a:ext cx="45085" cy="45720"/>
          </a:xfrm>
          <a:custGeom>
            <a:avLst/>
            <a:gdLst/>
            <a:ahLst/>
            <a:cxnLst/>
            <a:rect l="l" t="t" r="r" b="b"/>
            <a:pathLst>
              <a:path w="45085" h="45720">
                <a:moveTo>
                  <a:pt x="22186" y="45720"/>
                </a:moveTo>
                <a:lnTo>
                  <a:pt x="13291" y="43923"/>
                </a:lnTo>
                <a:lnTo>
                  <a:pt x="6107" y="39068"/>
                </a:lnTo>
                <a:lnTo>
                  <a:pt x="1407" y="31907"/>
                </a:lnTo>
                <a:lnTo>
                  <a:pt x="0" y="23215"/>
                </a:lnTo>
                <a:lnTo>
                  <a:pt x="1407" y="14112"/>
                </a:lnTo>
                <a:lnTo>
                  <a:pt x="6107" y="6740"/>
                </a:lnTo>
                <a:lnTo>
                  <a:pt x="13327" y="1796"/>
                </a:lnTo>
                <a:lnTo>
                  <a:pt x="22186" y="0"/>
                </a:lnTo>
                <a:lnTo>
                  <a:pt x="31092" y="1802"/>
                </a:lnTo>
                <a:lnTo>
                  <a:pt x="38350" y="6696"/>
                </a:lnTo>
                <a:lnTo>
                  <a:pt x="43250" y="13962"/>
                </a:lnTo>
                <a:lnTo>
                  <a:pt x="45046" y="22860"/>
                </a:lnTo>
                <a:lnTo>
                  <a:pt x="43250" y="31757"/>
                </a:lnTo>
                <a:lnTo>
                  <a:pt x="38350" y="39023"/>
                </a:lnTo>
                <a:lnTo>
                  <a:pt x="31056" y="43928"/>
                </a:lnTo>
                <a:lnTo>
                  <a:pt x="22186" y="4572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338315" y="5055780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>
                <a:moveTo>
                  <a:pt x="22682" y="45719"/>
                </a:moveTo>
                <a:lnTo>
                  <a:pt x="13787" y="43912"/>
                </a:lnTo>
                <a:lnTo>
                  <a:pt x="6540" y="38939"/>
                </a:lnTo>
                <a:lnTo>
                  <a:pt x="1693" y="31473"/>
                </a:lnTo>
                <a:lnTo>
                  <a:pt x="0" y="22186"/>
                </a:lnTo>
                <a:lnTo>
                  <a:pt x="1693" y="13678"/>
                </a:lnTo>
                <a:lnTo>
                  <a:pt x="6540" y="6611"/>
                </a:lnTo>
                <a:lnTo>
                  <a:pt x="13787" y="1786"/>
                </a:lnTo>
                <a:lnTo>
                  <a:pt x="22682" y="0"/>
                </a:lnTo>
                <a:lnTo>
                  <a:pt x="31579" y="1796"/>
                </a:lnTo>
                <a:lnTo>
                  <a:pt x="38846" y="6696"/>
                </a:lnTo>
                <a:lnTo>
                  <a:pt x="43745" y="13962"/>
                </a:lnTo>
                <a:lnTo>
                  <a:pt x="45542" y="22859"/>
                </a:lnTo>
                <a:lnTo>
                  <a:pt x="43745" y="31757"/>
                </a:lnTo>
                <a:lnTo>
                  <a:pt x="38846" y="39023"/>
                </a:lnTo>
                <a:lnTo>
                  <a:pt x="31579" y="43923"/>
                </a:lnTo>
                <a:lnTo>
                  <a:pt x="22682" y="4571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339840" y="3098203"/>
            <a:ext cx="46355" cy="45720"/>
          </a:xfrm>
          <a:custGeom>
            <a:avLst/>
            <a:gdLst/>
            <a:ahLst/>
            <a:cxnLst/>
            <a:rect l="l" t="t" r="r" b="b"/>
            <a:pathLst>
              <a:path w="46354" h="45719">
                <a:moveTo>
                  <a:pt x="22872" y="45720"/>
                </a:moveTo>
                <a:lnTo>
                  <a:pt x="13974" y="43925"/>
                </a:lnTo>
                <a:lnTo>
                  <a:pt x="6704" y="39028"/>
                </a:lnTo>
                <a:lnTo>
                  <a:pt x="1809" y="31800"/>
                </a:lnTo>
                <a:lnTo>
                  <a:pt x="0" y="22948"/>
                </a:lnTo>
                <a:lnTo>
                  <a:pt x="1809" y="13999"/>
                </a:lnTo>
                <a:lnTo>
                  <a:pt x="6728" y="6696"/>
                </a:lnTo>
                <a:lnTo>
                  <a:pt x="13983" y="1796"/>
                </a:lnTo>
                <a:lnTo>
                  <a:pt x="22872" y="0"/>
                </a:lnTo>
                <a:lnTo>
                  <a:pt x="31777" y="1798"/>
                </a:lnTo>
                <a:lnTo>
                  <a:pt x="39048" y="6707"/>
                </a:lnTo>
                <a:lnTo>
                  <a:pt x="43937" y="13962"/>
                </a:lnTo>
                <a:lnTo>
                  <a:pt x="45732" y="22860"/>
                </a:lnTo>
                <a:lnTo>
                  <a:pt x="43937" y="31762"/>
                </a:lnTo>
                <a:lnTo>
                  <a:pt x="39024" y="39039"/>
                </a:lnTo>
                <a:lnTo>
                  <a:pt x="31768" y="43926"/>
                </a:lnTo>
                <a:lnTo>
                  <a:pt x="22872" y="4572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702552" y="4074198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>
                <a:moveTo>
                  <a:pt x="22377" y="45707"/>
                </a:moveTo>
                <a:lnTo>
                  <a:pt x="13487" y="43904"/>
                </a:lnTo>
                <a:lnTo>
                  <a:pt x="6273" y="38949"/>
                </a:lnTo>
                <a:lnTo>
                  <a:pt x="1517" y="31525"/>
                </a:lnTo>
                <a:lnTo>
                  <a:pt x="0" y="22313"/>
                </a:lnTo>
                <a:lnTo>
                  <a:pt x="1517" y="13726"/>
                </a:lnTo>
                <a:lnTo>
                  <a:pt x="6273" y="6623"/>
                </a:lnTo>
                <a:lnTo>
                  <a:pt x="13487" y="1786"/>
                </a:lnTo>
                <a:lnTo>
                  <a:pt x="22377" y="0"/>
                </a:lnTo>
                <a:lnTo>
                  <a:pt x="31274" y="1794"/>
                </a:lnTo>
                <a:lnTo>
                  <a:pt x="38541" y="6691"/>
                </a:lnTo>
                <a:lnTo>
                  <a:pt x="43440" y="13957"/>
                </a:lnTo>
                <a:lnTo>
                  <a:pt x="45237" y="22860"/>
                </a:lnTo>
                <a:lnTo>
                  <a:pt x="43440" y="31755"/>
                </a:lnTo>
                <a:lnTo>
                  <a:pt x="38541" y="39017"/>
                </a:lnTo>
                <a:lnTo>
                  <a:pt x="31274" y="43912"/>
                </a:lnTo>
                <a:lnTo>
                  <a:pt x="22377" y="45707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702552" y="3597135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>
                <a:moveTo>
                  <a:pt x="22377" y="45720"/>
                </a:moveTo>
                <a:lnTo>
                  <a:pt x="13487" y="43915"/>
                </a:lnTo>
                <a:lnTo>
                  <a:pt x="6273" y="38962"/>
                </a:lnTo>
                <a:lnTo>
                  <a:pt x="1517" y="31548"/>
                </a:lnTo>
                <a:lnTo>
                  <a:pt x="0" y="22364"/>
                </a:lnTo>
                <a:lnTo>
                  <a:pt x="1517" y="13753"/>
                </a:lnTo>
                <a:lnTo>
                  <a:pt x="6273" y="6634"/>
                </a:lnTo>
                <a:lnTo>
                  <a:pt x="13487" y="1788"/>
                </a:lnTo>
                <a:lnTo>
                  <a:pt x="22377" y="0"/>
                </a:lnTo>
                <a:lnTo>
                  <a:pt x="31274" y="1796"/>
                </a:lnTo>
                <a:lnTo>
                  <a:pt x="38541" y="6696"/>
                </a:lnTo>
                <a:lnTo>
                  <a:pt x="43440" y="13962"/>
                </a:lnTo>
                <a:lnTo>
                  <a:pt x="45237" y="22860"/>
                </a:lnTo>
                <a:lnTo>
                  <a:pt x="43440" y="31757"/>
                </a:lnTo>
                <a:lnTo>
                  <a:pt x="38541" y="39023"/>
                </a:lnTo>
                <a:lnTo>
                  <a:pt x="31274" y="43923"/>
                </a:lnTo>
                <a:lnTo>
                  <a:pt x="22377" y="4572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699504" y="4559033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>
                <a:moveTo>
                  <a:pt x="22275" y="45720"/>
                </a:moveTo>
                <a:lnTo>
                  <a:pt x="13387" y="43911"/>
                </a:lnTo>
                <a:lnTo>
                  <a:pt x="6184" y="38930"/>
                </a:lnTo>
                <a:lnTo>
                  <a:pt x="1458" y="31441"/>
                </a:lnTo>
                <a:lnTo>
                  <a:pt x="0" y="22110"/>
                </a:lnTo>
                <a:lnTo>
                  <a:pt x="1458" y="13646"/>
                </a:lnTo>
                <a:lnTo>
                  <a:pt x="6184" y="6602"/>
                </a:lnTo>
                <a:lnTo>
                  <a:pt x="13387" y="1784"/>
                </a:lnTo>
                <a:lnTo>
                  <a:pt x="22275" y="0"/>
                </a:lnTo>
                <a:lnTo>
                  <a:pt x="31173" y="1796"/>
                </a:lnTo>
                <a:lnTo>
                  <a:pt x="38439" y="6696"/>
                </a:lnTo>
                <a:lnTo>
                  <a:pt x="43339" y="13962"/>
                </a:lnTo>
                <a:lnTo>
                  <a:pt x="45135" y="22860"/>
                </a:lnTo>
                <a:lnTo>
                  <a:pt x="43339" y="31757"/>
                </a:lnTo>
                <a:lnTo>
                  <a:pt x="38439" y="39023"/>
                </a:lnTo>
                <a:lnTo>
                  <a:pt x="31173" y="43923"/>
                </a:lnTo>
                <a:lnTo>
                  <a:pt x="22275" y="4572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702552" y="5055361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>
                <a:moveTo>
                  <a:pt x="22771" y="45720"/>
                </a:moveTo>
                <a:lnTo>
                  <a:pt x="13874" y="43919"/>
                </a:lnTo>
                <a:lnTo>
                  <a:pt x="6618" y="38992"/>
                </a:lnTo>
                <a:lnTo>
                  <a:pt x="1745" y="31650"/>
                </a:lnTo>
                <a:lnTo>
                  <a:pt x="0" y="22605"/>
                </a:lnTo>
                <a:lnTo>
                  <a:pt x="1745" y="13855"/>
                </a:lnTo>
                <a:lnTo>
                  <a:pt x="6618" y="6664"/>
                </a:lnTo>
                <a:lnTo>
                  <a:pt x="13874" y="1792"/>
                </a:lnTo>
                <a:lnTo>
                  <a:pt x="22771" y="0"/>
                </a:lnTo>
                <a:lnTo>
                  <a:pt x="31668" y="1796"/>
                </a:lnTo>
                <a:lnTo>
                  <a:pt x="38935" y="6696"/>
                </a:lnTo>
                <a:lnTo>
                  <a:pt x="43834" y="13962"/>
                </a:lnTo>
                <a:lnTo>
                  <a:pt x="45631" y="22860"/>
                </a:lnTo>
                <a:lnTo>
                  <a:pt x="43834" y="31757"/>
                </a:lnTo>
                <a:lnTo>
                  <a:pt x="38935" y="39023"/>
                </a:lnTo>
                <a:lnTo>
                  <a:pt x="31668" y="43923"/>
                </a:lnTo>
                <a:lnTo>
                  <a:pt x="22771" y="4572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704076" y="3097783"/>
            <a:ext cx="46355" cy="45720"/>
          </a:xfrm>
          <a:custGeom>
            <a:avLst/>
            <a:gdLst/>
            <a:ahLst/>
            <a:cxnLst/>
            <a:rect l="l" t="t" r="r" b="b"/>
            <a:pathLst>
              <a:path w="46354" h="45719">
                <a:moveTo>
                  <a:pt x="22974" y="45720"/>
                </a:moveTo>
                <a:lnTo>
                  <a:pt x="14063" y="43923"/>
                </a:lnTo>
                <a:lnTo>
                  <a:pt x="6796" y="39087"/>
                </a:lnTo>
                <a:lnTo>
                  <a:pt x="1862" y="31971"/>
                </a:lnTo>
                <a:lnTo>
                  <a:pt x="0" y="23368"/>
                </a:lnTo>
                <a:lnTo>
                  <a:pt x="1862" y="14176"/>
                </a:lnTo>
                <a:lnTo>
                  <a:pt x="6796" y="6759"/>
                </a:lnTo>
                <a:lnTo>
                  <a:pt x="14074" y="1804"/>
                </a:lnTo>
                <a:lnTo>
                  <a:pt x="22974" y="0"/>
                </a:lnTo>
                <a:lnTo>
                  <a:pt x="31883" y="1804"/>
                </a:lnTo>
                <a:lnTo>
                  <a:pt x="39138" y="6696"/>
                </a:lnTo>
                <a:lnTo>
                  <a:pt x="44037" y="13962"/>
                </a:lnTo>
                <a:lnTo>
                  <a:pt x="45834" y="22860"/>
                </a:lnTo>
                <a:lnTo>
                  <a:pt x="44037" y="31757"/>
                </a:lnTo>
                <a:lnTo>
                  <a:pt x="39138" y="39023"/>
                </a:lnTo>
                <a:lnTo>
                  <a:pt x="31871" y="43923"/>
                </a:lnTo>
                <a:lnTo>
                  <a:pt x="22974" y="4572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2689415" y="2154504"/>
            <a:ext cx="1675764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 i="1">
                <a:latin typeface="华文楷体"/>
                <a:cs typeface="华文楷体"/>
              </a:rPr>
              <a:t>实验验</a:t>
            </a:r>
            <a:r>
              <a:rPr dirty="0" sz="2800" spc="-5" i="1">
                <a:latin typeface="华文楷体"/>
                <a:cs typeface="华文楷体"/>
              </a:rPr>
              <a:t>证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xfrm>
            <a:off x="4953825" y="1404708"/>
            <a:ext cx="2311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二、右手定则</a:t>
            </a:r>
          </a:p>
        </p:txBody>
      </p:sp>
      <p:sp>
        <p:nvSpPr>
          <p:cNvPr id="29" name="object 29"/>
          <p:cNvSpPr/>
          <p:nvPr/>
        </p:nvSpPr>
        <p:spPr>
          <a:xfrm>
            <a:off x="4431452" y="3419690"/>
            <a:ext cx="3512318" cy="986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431452" y="4684217"/>
            <a:ext cx="3512318" cy="945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5011165" y="4023563"/>
            <a:ext cx="476884" cy="142875"/>
          </a:xfrm>
          <a:custGeom>
            <a:avLst/>
            <a:gdLst/>
            <a:ahLst/>
            <a:cxnLst/>
            <a:rect l="l" t="t" r="r" b="b"/>
            <a:pathLst>
              <a:path w="476885" h="142875">
                <a:moveTo>
                  <a:pt x="333641" y="142875"/>
                </a:moveTo>
                <a:lnTo>
                  <a:pt x="405079" y="71437"/>
                </a:lnTo>
                <a:lnTo>
                  <a:pt x="333641" y="0"/>
                </a:lnTo>
                <a:lnTo>
                  <a:pt x="447941" y="57150"/>
                </a:lnTo>
                <a:lnTo>
                  <a:pt x="422935" y="57150"/>
                </a:lnTo>
                <a:lnTo>
                  <a:pt x="422935" y="85725"/>
                </a:lnTo>
                <a:lnTo>
                  <a:pt x="447941" y="85725"/>
                </a:lnTo>
                <a:lnTo>
                  <a:pt x="333641" y="142875"/>
                </a:lnTo>
                <a:close/>
              </a:path>
              <a:path w="476885" h="142875">
                <a:moveTo>
                  <a:pt x="390791" y="85725"/>
                </a:moveTo>
                <a:lnTo>
                  <a:pt x="0" y="85725"/>
                </a:lnTo>
                <a:lnTo>
                  <a:pt x="0" y="57150"/>
                </a:lnTo>
                <a:lnTo>
                  <a:pt x="390791" y="57150"/>
                </a:lnTo>
                <a:lnTo>
                  <a:pt x="405079" y="71437"/>
                </a:lnTo>
                <a:lnTo>
                  <a:pt x="390791" y="85725"/>
                </a:lnTo>
                <a:close/>
              </a:path>
              <a:path w="476885" h="142875">
                <a:moveTo>
                  <a:pt x="447941" y="85725"/>
                </a:moveTo>
                <a:lnTo>
                  <a:pt x="422935" y="85725"/>
                </a:lnTo>
                <a:lnTo>
                  <a:pt x="422935" y="57150"/>
                </a:lnTo>
                <a:lnTo>
                  <a:pt x="447941" y="57150"/>
                </a:lnTo>
                <a:lnTo>
                  <a:pt x="476516" y="71437"/>
                </a:lnTo>
                <a:lnTo>
                  <a:pt x="447941" y="85725"/>
                </a:lnTo>
                <a:close/>
              </a:path>
            </a:pathLst>
          </a:custGeom>
          <a:solidFill>
            <a:srgbClr val="EF58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5777014" y="3923423"/>
            <a:ext cx="165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solidFill>
                  <a:srgbClr val="5B9BD4"/>
                </a:solidFill>
                <a:latin typeface="Times New Roman"/>
                <a:cs typeface="Times New Roman"/>
              </a:rPr>
              <a:t>B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890004" y="3201923"/>
            <a:ext cx="1719072" cy="17632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706748" y="2828582"/>
            <a:ext cx="5355869" cy="278963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4652759" y="4755388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C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651857" y="3126536"/>
            <a:ext cx="190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D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227684" y="2327871"/>
            <a:ext cx="1244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solidFill>
                  <a:srgbClr val="0000FF"/>
                </a:solidFill>
                <a:latin typeface="华文楷体"/>
                <a:cs typeface="华文楷体"/>
              </a:rPr>
              <a:t>指针左偏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4427220" y="3476891"/>
            <a:ext cx="950975" cy="135026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943868" y="3607180"/>
            <a:ext cx="142875" cy="1029335"/>
          </a:xfrm>
          <a:custGeom>
            <a:avLst/>
            <a:gdLst/>
            <a:ahLst/>
            <a:cxnLst/>
            <a:rect l="l" t="t" r="r" b="b"/>
            <a:pathLst>
              <a:path w="142875" h="1029335">
                <a:moveTo>
                  <a:pt x="71272" y="957414"/>
                </a:moveTo>
                <a:lnTo>
                  <a:pt x="57018" y="943095"/>
                </a:lnTo>
                <a:lnTo>
                  <a:pt x="59131" y="0"/>
                </a:lnTo>
                <a:lnTo>
                  <a:pt x="87706" y="63"/>
                </a:lnTo>
                <a:lnTo>
                  <a:pt x="85593" y="943159"/>
                </a:lnTo>
                <a:lnTo>
                  <a:pt x="71272" y="957414"/>
                </a:lnTo>
                <a:close/>
              </a:path>
              <a:path w="142875" h="1029335">
                <a:moveTo>
                  <a:pt x="71119" y="1028852"/>
                </a:moveTo>
                <a:lnTo>
                  <a:pt x="0" y="885812"/>
                </a:lnTo>
                <a:lnTo>
                  <a:pt x="57018" y="943095"/>
                </a:lnTo>
                <a:lnTo>
                  <a:pt x="56946" y="975245"/>
                </a:lnTo>
                <a:lnTo>
                  <a:pt x="98041" y="975309"/>
                </a:lnTo>
                <a:lnTo>
                  <a:pt x="71119" y="1028852"/>
                </a:lnTo>
                <a:close/>
              </a:path>
              <a:path w="142875" h="1029335">
                <a:moveTo>
                  <a:pt x="98041" y="975309"/>
                </a:moveTo>
                <a:lnTo>
                  <a:pt x="85521" y="975309"/>
                </a:lnTo>
                <a:lnTo>
                  <a:pt x="85561" y="957414"/>
                </a:lnTo>
                <a:lnTo>
                  <a:pt x="85658" y="943095"/>
                </a:lnTo>
                <a:lnTo>
                  <a:pt x="142875" y="886142"/>
                </a:lnTo>
                <a:lnTo>
                  <a:pt x="98041" y="975309"/>
                </a:lnTo>
                <a:close/>
              </a:path>
              <a:path w="142875" h="1029335">
                <a:moveTo>
                  <a:pt x="85521" y="975309"/>
                </a:moveTo>
                <a:lnTo>
                  <a:pt x="56946" y="975245"/>
                </a:lnTo>
                <a:lnTo>
                  <a:pt x="57018" y="943095"/>
                </a:lnTo>
                <a:lnTo>
                  <a:pt x="71272" y="957414"/>
                </a:lnTo>
                <a:lnTo>
                  <a:pt x="85561" y="957414"/>
                </a:lnTo>
                <a:lnTo>
                  <a:pt x="85521" y="975309"/>
                </a:lnTo>
                <a:close/>
              </a:path>
              <a:path w="142875" h="1029335">
                <a:moveTo>
                  <a:pt x="85561" y="957414"/>
                </a:moveTo>
                <a:lnTo>
                  <a:pt x="71272" y="957414"/>
                </a:lnTo>
                <a:lnTo>
                  <a:pt x="85593" y="943159"/>
                </a:lnTo>
                <a:lnTo>
                  <a:pt x="85561" y="95741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5137099" y="3488182"/>
            <a:ext cx="200660" cy="6178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2090"/>
              </a:lnSpc>
              <a:spcBef>
                <a:spcPts val="105"/>
              </a:spcBef>
            </a:pPr>
            <a:r>
              <a:rPr dirty="0" sz="2000" i="1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endParaRPr sz="2000">
              <a:latin typeface="Times New Roman"/>
              <a:cs typeface="Times New Roman"/>
            </a:endParaRPr>
          </a:p>
          <a:p>
            <a:pPr marL="34925">
              <a:lnSpc>
                <a:spcPts val="2570"/>
              </a:lnSpc>
            </a:pPr>
            <a:r>
              <a:rPr dirty="0" sz="2400" i="1">
                <a:latin typeface="Book Antiqua"/>
                <a:cs typeface="Book Antiqua"/>
              </a:rPr>
              <a:t>v</a:t>
            </a:r>
            <a:endParaRPr sz="2400">
              <a:latin typeface="Book Antiqua"/>
              <a:cs typeface="Book Antiqua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5032806" y="2961055"/>
            <a:ext cx="1866264" cy="2281555"/>
          </a:xfrm>
          <a:custGeom>
            <a:avLst/>
            <a:gdLst/>
            <a:ahLst/>
            <a:cxnLst/>
            <a:rect l="l" t="t" r="r" b="b"/>
            <a:pathLst>
              <a:path w="1866265" h="2281554">
                <a:moveTo>
                  <a:pt x="16840" y="2271458"/>
                </a:moveTo>
                <a:lnTo>
                  <a:pt x="0" y="2271458"/>
                </a:lnTo>
                <a:lnTo>
                  <a:pt x="0" y="2195258"/>
                </a:lnTo>
                <a:lnTo>
                  <a:pt x="19050" y="2195258"/>
                </a:lnTo>
                <a:lnTo>
                  <a:pt x="19050" y="2261933"/>
                </a:lnTo>
                <a:lnTo>
                  <a:pt x="16840" y="2261933"/>
                </a:lnTo>
                <a:lnTo>
                  <a:pt x="16840" y="2271458"/>
                </a:lnTo>
                <a:close/>
              </a:path>
              <a:path w="1866265" h="2281554">
                <a:moveTo>
                  <a:pt x="93040" y="2280983"/>
                </a:moveTo>
                <a:lnTo>
                  <a:pt x="16840" y="2280983"/>
                </a:lnTo>
                <a:lnTo>
                  <a:pt x="16840" y="2261933"/>
                </a:lnTo>
                <a:lnTo>
                  <a:pt x="19050" y="2261933"/>
                </a:lnTo>
                <a:lnTo>
                  <a:pt x="19050" y="2271458"/>
                </a:lnTo>
                <a:lnTo>
                  <a:pt x="93040" y="2271458"/>
                </a:lnTo>
                <a:lnTo>
                  <a:pt x="93040" y="2280983"/>
                </a:lnTo>
                <a:close/>
              </a:path>
              <a:path w="1866265" h="2281554">
                <a:moveTo>
                  <a:pt x="93040" y="2271458"/>
                </a:moveTo>
                <a:lnTo>
                  <a:pt x="19050" y="2271458"/>
                </a:lnTo>
                <a:lnTo>
                  <a:pt x="19050" y="2261933"/>
                </a:lnTo>
                <a:lnTo>
                  <a:pt x="93040" y="2261933"/>
                </a:lnTo>
                <a:lnTo>
                  <a:pt x="93040" y="2271458"/>
                </a:lnTo>
                <a:close/>
              </a:path>
              <a:path w="1866265" h="2281554">
                <a:moveTo>
                  <a:pt x="19050" y="2138108"/>
                </a:moveTo>
                <a:lnTo>
                  <a:pt x="0" y="2138108"/>
                </a:lnTo>
                <a:lnTo>
                  <a:pt x="0" y="2061908"/>
                </a:lnTo>
                <a:lnTo>
                  <a:pt x="19050" y="2061908"/>
                </a:lnTo>
                <a:lnTo>
                  <a:pt x="19050" y="2138108"/>
                </a:lnTo>
                <a:close/>
              </a:path>
              <a:path w="1866265" h="2281554">
                <a:moveTo>
                  <a:pt x="19050" y="2004758"/>
                </a:moveTo>
                <a:lnTo>
                  <a:pt x="0" y="2004758"/>
                </a:lnTo>
                <a:lnTo>
                  <a:pt x="0" y="1928558"/>
                </a:lnTo>
                <a:lnTo>
                  <a:pt x="19050" y="1928558"/>
                </a:lnTo>
                <a:lnTo>
                  <a:pt x="19050" y="2004758"/>
                </a:lnTo>
                <a:close/>
              </a:path>
              <a:path w="1866265" h="2281554">
                <a:moveTo>
                  <a:pt x="19050" y="1871408"/>
                </a:moveTo>
                <a:lnTo>
                  <a:pt x="0" y="1871408"/>
                </a:lnTo>
                <a:lnTo>
                  <a:pt x="0" y="1795208"/>
                </a:lnTo>
                <a:lnTo>
                  <a:pt x="19050" y="1795208"/>
                </a:lnTo>
                <a:lnTo>
                  <a:pt x="19050" y="1871408"/>
                </a:lnTo>
                <a:close/>
              </a:path>
              <a:path w="1866265" h="2281554">
                <a:moveTo>
                  <a:pt x="19050" y="1738058"/>
                </a:moveTo>
                <a:lnTo>
                  <a:pt x="0" y="1738058"/>
                </a:lnTo>
                <a:lnTo>
                  <a:pt x="0" y="1661858"/>
                </a:lnTo>
                <a:lnTo>
                  <a:pt x="19050" y="1661858"/>
                </a:lnTo>
                <a:lnTo>
                  <a:pt x="19050" y="1738058"/>
                </a:lnTo>
                <a:close/>
              </a:path>
              <a:path w="1866265" h="2281554">
                <a:moveTo>
                  <a:pt x="19050" y="1604708"/>
                </a:moveTo>
                <a:lnTo>
                  <a:pt x="0" y="1604708"/>
                </a:lnTo>
                <a:lnTo>
                  <a:pt x="0" y="1528508"/>
                </a:lnTo>
                <a:lnTo>
                  <a:pt x="19050" y="1528508"/>
                </a:lnTo>
                <a:lnTo>
                  <a:pt x="19050" y="1604708"/>
                </a:lnTo>
                <a:close/>
              </a:path>
              <a:path w="1866265" h="2281554">
                <a:moveTo>
                  <a:pt x="19050" y="1471358"/>
                </a:moveTo>
                <a:lnTo>
                  <a:pt x="0" y="1471358"/>
                </a:lnTo>
                <a:lnTo>
                  <a:pt x="0" y="1395158"/>
                </a:lnTo>
                <a:lnTo>
                  <a:pt x="19050" y="1395158"/>
                </a:lnTo>
                <a:lnTo>
                  <a:pt x="19050" y="1471358"/>
                </a:lnTo>
                <a:close/>
              </a:path>
              <a:path w="1866265" h="2281554">
                <a:moveTo>
                  <a:pt x="19050" y="1338008"/>
                </a:moveTo>
                <a:lnTo>
                  <a:pt x="0" y="1338008"/>
                </a:lnTo>
                <a:lnTo>
                  <a:pt x="0" y="1261808"/>
                </a:lnTo>
                <a:lnTo>
                  <a:pt x="19050" y="1261808"/>
                </a:lnTo>
                <a:lnTo>
                  <a:pt x="19050" y="1338008"/>
                </a:lnTo>
                <a:close/>
              </a:path>
              <a:path w="1866265" h="2281554">
                <a:moveTo>
                  <a:pt x="19050" y="1204658"/>
                </a:moveTo>
                <a:lnTo>
                  <a:pt x="0" y="1204658"/>
                </a:lnTo>
                <a:lnTo>
                  <a:pt x="0" y="1128458"/>
                </a:lnTo>
                <a:lnTo>
                  <a:pt x="19050" y="1128458"/>
                </a:lnTo>
                <a:lnTo>
                  <a:pt x="19050" y="1204658"/>
                </a:lnTo>
                <a:close/>
              </a:path>
              <a:path w="1866265" h="2281554">
                <a:moveTo>
                  <a:pt x="19050" y="1071308"/>
                </a:moveTo>
                <a:lnTo>
                  <a:pt x="0" y="1071308"/>
                </a:lnTo>
                <a:lnTo>
                  <a:pt x="0" y="995108"/>
                </a:lnTo>
                <a:lnTo>
                  <a:pt x="19050" y="995108"/>
                </a:lnTo>
                <a:lnTo>
                  <a:pt x="19050" y="1071308"/>
                </a:lnTo>
                <a:close/>
              </a:path>
              <a:path w="1866265" h="2281554">
                <a:moveTo>
                  <a:pt x="19050" y="937958"/>
                </a:moveTo>
                <a:lnTo>
                  <a:pt x="0" y="937958"/>
                </a:lnTo>
                <a:lnTo>
                  <a:pt x="0" y="861758"/>
                </a:lnTo>
                <a:lnTo>
                  <a:pt x="19050" y="861758"/>
                </a:lnTo>
                <a:lnTo>
                  <a:pt x="19050" y="937958"/>
                </a:lnTo>
                <a:close/>
              </a:path>
              <a:path w="1866265" h="2281554">
                <a:moveTo>
                  <a:pt x="19050" y="804608"/>
                </a:moveTo>
                <a:lnTo>
                  <a:pt x="0" y="804608"/>
                </a:lnTo>
                <a:lnTo>
                  <a:pt x="0" y="728408"/>
                </a:lnTo>
                <a:lnTo>
                  <a:pt x="19050" y="728408"/>
                </a:lnTo>
                <a:lnTo>
                  <a:pt x="19050" y="804608"/>
                </a:lnTo>
                <a:close/>
              </a:path>
              <a:path w="1866265" h="2281554">
                <a:moveTo>
                  <a:pt x="19050" y="671258"/>
                </a:moveTo>
                <a:lnTo>
                  <a:pt x="0" y="671258"/>
                </a:lnTo>
                <a:lnTo>
                  <a:pt x="0" y="595058"/>
                </a:lnTo>
                <a:lnTo>
                  <a:pt x="19050" y="595058"/>
                </a:lnTo>
                <a:lnTo>
                  <a:pt x="19050" y="671258"/>
                </a:lnTo>
                <a:close/>
              </a:path>
              <a:path w="1866265" h="2281554">
                <a:moveTo>
                  <a:pt x="19050" y="537908"/>
                </a:moveTo>
                <a:lnTo>
                  <a:pt x="0" y="537908"/>
                </a:lnTo>
                <a:lnTo>
                  <a:pt x="0" y="461708"/>
                </a:lnTo>
                <a:lnTo>
                  <a:pt x="19050" y="461708"/>
                </a:lnTo>
                <a:lnTo>
                  <a:pt x="19050" y="537908"/>
                </a:lnTo>
                <a:close/>
              </a:path>
              <a:path w="1866265" h="2281554">
                <a:moveTo>
                  <a:pt x="19050" y="404558"/>
                </a:moveTo>
                <a:lnTo>
                  <a:pt x="0" y="404558"/>
                </a:lnTo>
                <a:lnTo>
                  <a:pt x="0" y="328358"/>
                </a:lnTo>
                <a:lnTo>
                  <a:pt x="19050" y="328358"/>
                </a:lnTo>
                <a:lnTo>
                  <a:pt x="19050" y="404558"/>
                </a:lnTo>
                <a:close/>
              </a:path>
              <a:path w="1866265" h="2281554">
                <a:moveTo>
                  <a:pt x="19050" y="271208"/>
                </a:moveTo>
                <a:lnTo>
                  <a:pt x="0" y="271208"/>
                </a:lnTo>
                <a:lnTo>
                  <a:pt x="0" y="195008"/>
                </a:lnTo>
                <a:lnTo>
                  <a:pt x="19050" y="195008"/>
                </a:lnTo>
                <a:lnTo>
                  <a:pt x="19050" y="271208"/>
                </a:lnTo>
                <a:close/>
              </a:path>
              <a:path w="1866265" h="2281554">
                <a:moveTo>
                  <a:pt x="19050" y="137858"/>
                </a:moveTo>
                <a:lnTo>
                  <a:pt x="0" y="137858"/>
                </a:lnTo>
                <a:lnTo>
                  <a:pt x="0" y="61658"/>
                </a:lnTo>
                <a:lnTo>
                  <a:pt x="19050" y="61658"/>
                </a:lnTo>
                <a:lnTo>
                  <a:pt x="19050" y="137858"/>
                </a:lnTo>
                <a:close/>
              </a:path>
              <a:path w="1866265" h="2281554">
                <a:moveTo>
                  <a:pt x="90741" y="19050"/>
                </a:moveTo>
                <a:lnTo>
                  <a:pt x="14541" y="19050"/>
                </a:lnTo>
                <a:lnTo>
                  <a:pt x="14541" y="0"/>
                </a:lnTo>
                <a:lnTo>
                  <a:pt x="90741" y="0"/>
                </a:lnTo>
                <a:lnTo>
                  <a:pt x="90741" y="19050"/>
                </a:lnTo>
                <a:close/>
              </a:path>
              <a:path w="1866265" h="2281554">
                <a:moveTo>
                  <a:pt x="224091" y="19050"/>
                </a:moveTo>
                <a:lnTo>
                  <a:pt x="147891" y="19050"/>
                </a:lnTo>
                <a:lnTo>
                  <a:pt x="147891" y="0"/>
                </a:lnTo>
                <a:lnTo>
                  <a:pt x="224091" y="0"/>
                </a:lnTo>
                <a:lnTo>
                  <a:pt x="224091" y="19050"/>
                </a:lnTo>
                <a:close/>
              </a:path>
              <a:path w="1866265" h="2281554">
                <a:moveTo>
                  <a:pt x="357441" y="19050"/>
                </a:moveTo>
                <a:lnTo>
                  <a:pt x="281241" y="19050"/>
                </a:lnTo>
                <a:lnTo>
                  <a:pt x="281241" y="0"/>
                </a:lnTo>
                <a:lnTo>
                  <a:pt x="357441" y="0"/>
                </a:lnTo>
                <a:lnTo>
                  <a:pt x="357441" y="19050"/>
                </a:lnTo>
                <a:close/>
              </a:path>
              <a:path w="1866265" h="2281554">
                <a:moveTo>
                  <a:pt x="490791" y="19050"/>
                </a:moveTo>
                <a:lnTo>
                  <a:pt x="414591" y="19050"/>
                </a:lnTo>
                <a:lnTo>
                  <a:pt x="414591" y="0"/>
                </a:lnTo>
                <a:lnTo>
                  <a:pt x="490791" y="0"/>
                </a:lnTo>
                <a:lnTo>
                  <a:pt x="490791" y="19050"/>
                </a:lnTo>
                <a:close/>
              </a:path>
              <a:path w="1866265" h="2281554">
                <a:moveTo>
                  <a:pt x="624141" y="19050"/>
                </a:moveTo>
                <a:lnTo>
                  <a:pt x="547941" y="19050"/>
                </a:lnTo>
                <a:lnTo>
                  <a:pt x="547941" y="0"/>
                </a:lnTo>
                <a:lnTo>
                  <a:pt x="624141" y="0"/>
                </a:lnTo>
                <a:lnTo>
                  <a:pt x="624141" y="19050"/>
                </a:lnTo>
                <a:close/>
              </a:path>
              <a:path w="1866265" h="2281554">
                <a:moveTo>
                  <a:pt x="757491" y="19050"/>
                </a:moveTo>
                <a:lnTo>
                  <a:pt x="681291" y="19050"/>
                </a:lnTo>
                <a:lnTo>
                  <a:pt x="681291" y="0"/>
                </a:lnTo>
                <a:lnTo>
                  <a:pt x="757491" y="0"/>
                </a:lnTo>
                <a:lnTo>
                  <a:pt x="757491" y="19050"/>
                </a:lnTo>
                <a:close/>
              </a:path>
              <a:path w="1866265" h="2281554">
                <a:moveTo>
                  <a:pt x="890841" y="19050"/>
                </a:moveTo>
                <a:lnTo>
                  <a:pt x="814641" y="19050"/>
                </a:lnTo>
                <a:lnTo>
                  <a:pt x="814641" y="0"/>
                </a:lnTo>
                <a:lnTo>
                  <a:pt x="890841" y="0"/>
                </a:lnTo>
                <a:lnTo>
                  <a:pt x="890841" y="19050"/>
                </a:lnTo>
                <a:close/>
              </a:path>
              <a:path w="1866265" h="2281554">
                <a:moveTo>
                  <a:pt x="1024191" y="19050"/>
                </a:moveTo>
                <a:lnTo>
                  <a:pt x="947991" y="19050"/>
                </a:lnTo>
                <a:lnTo>
                  <a:pt x="947991" y="0"/>
                </a:lnTo>
                <a:lnTo>
                  <a:pt x="1024191" y="0"/>
                </a:lnTo>
                <a:lnTo>
                  <a:pt x="1024191" y="19050"/>
                </a:lnTo>
                <a:close/>
              </a:path>
              <a:path w="1866265" h="2281554">
                <a:moveTo>
                  <a:pt x="1157541" y="19050"/>
                </a:moveTo>
                <a:lnTo>
                  <a:pt x="1081341" y="19050"/>
                </a:lnTo>
                <a:lnTo>
                  <a:pt x="1081341" y="0"/>
                </a:lnTo>
                <a:lnTo>
                  <a:pt x="1157541" y="0"/>
                </a:lnTo>
                <a:lnTo>
                  <a:pt x="1157541" y="19050"/>
                </a:lnTo>
                <a:close/>
              </a:path>
              <a:path w="1866265" h="2281554">
                <a:moveTo>
                  <a:pt x="1290891" y="19050"/>
                </a:moveTo>
                <a:lnTo>
                  <a:pt x="1214691" y="19050"/>
                </a:lnTo>
                <a:lnTo>
                  <a:pt x="1214691" y="0"/>
                </a:lnTo>
                <a:lnTo>
                  <a:pt x="1290891" y="0"/>
                </a:lnTo>
                <a:lnTo>
                  <a:pt x="1290891" y="19050"/>
                </a:lnTo>
                <a:close/>
              </a:path>
              <a:path w="1866265" h="2281554">
                <a:moveTo>
                  <a:pt x="1424241" y="19050"/>
                </a:moveTo>
                <a:lnTo>
                  <a:pt x="1348041" y="19050"/>
                </a:lnTo>
                <a:lnTo>
                  <a:pt x="1348041" y="0"/>
                </a:lnTo>
                <a:lnTo>
                  <a:pt x="1424241" y="0"/>
                </a:lnTo>
                <a:lnTo>
                  <a:pt x="1424241" y="19050"/>
                </a:lnTo>
                <a:close/>
              </a:path>
              <a:path w="1866265" h="2281554">
                <a:moveTo>
                  <a:pt x="1557591" y="19050"/>
                </a:moveTo>
                <a:lnTo>
                  <a:pt x="1481391" y="19050"/>
                </a:lnTo>
                <a:lnTo>
                  <a:pt x="1481391" y="0"/>
                </a:lnTo>
                <a:lnTo>
                  <a:pt x="1557591" y="0"/>
                </a:lnTo>
                <a:lnTo>
                  <a:pt x="1557591" y="19050"/>
                </a:lnTo>
                <a:close/>
              </a:path>
              <a:path w="1866265" h="2281554">
                <a:moveTo>
                  <a:pt x="1690941" y="19050"/>
                </a:moveTo>
                <a:lnTo>
                  <a:pt x="1614741" y="19050"/>
                </a:lnTo>
                <a:lnTo>
                  <a:pt x="1614741" y="0"/>
                </a:lnTo>
                <a:lnTo>
                  <a:pt x="1690941" y="0"/>
                </a:lnTo>
                <a:lnTo>
                  <a:pt x="1690941" y="19050"/>
                </a:lnTo>
                <a:close/>
              </a:path>
              <a:path w="1866265" h="2281554">
                <a:moveTo>
                  <a:pt x="1824291" y="19050"/>
                </a:moveTo>
                <a:lnTo>
                  <a:pt x="1748091" y="19050"/>
                </a:lnTo>
                <a:lnTo>
                  <a:pt x="1748091" y="0"/>
                </a:lnTo>
                <a:lnTo>
                  <a:pt x="1824291" y="0"/>
                </a:lnTo>
                <a:lnTo>
                  <a:pt x="1824291" y="19050"/>
                </a:lnTo>
                <a:close/>
              </a:path>
              <a:path w="1866265" h="2281554">
                <a:moveTo>
                  <a:pt x="1866049" y="110642"/>
                </a:moveTo>
                <a:lnTo>
                  <a:pt x="1846999" y="110642"/>
                </a:lnTo>
                <a:lnTo>
                  <a:pt x="1846999" y="34442"/>
                </a:lnTo>
                <a:lnTo>
                  <a:pt x="1866049" y="34442"/>
                </a:lnTo>
                <a:lnTo>
                  <a:pt x="1866049" y="110642"/>
                </a:lnTo>
                <a:close/>
              </a:path>
              <a:path w="1866265" h="2281554">
                <a:moveTo>
                  <a:pt x="1866049" y="243992"/>
                </a:moveTo>
                <a:lnTo>
                  <a:pt x="1846999" y="243992"/>
                </a:lnTo>
                <a:lnTo>
                  <a:pt x="1846999" y="167792"/>
                </a:lnTo>
                <a:lnTo>
                  <a:pt x="1866049" y="167792"/>
                </a:lnTo>
                <a:lnTo>
                  <a:pt x="1866049" y="243992"/>
                </a:lnTo>
                <a:close/>
              </a:path>
              <a:path w="1866265" h="2281554">
                <a:moveTo>
                  <a:pt x="1866049" y="377342"/>
                </a:moveTo>
                <a:lnTo>
                  <a:pt x="1846999" y="377342"/>
                </a:lnTo>
                <a:lnTo>
                  <a:pt x="1846999" y="301142"/>
                </a:lnTo>
                <a:lnTo>
                  <a:pt x="1866049" y="301142"/>
                </a:lnTo>
                <a:lnTo>
                  <a:pt x="1866049" y="377342"/>
                </a:lnTo>
                <a:close/>
              </a:path>
              <a:path w="1866265" h="2281554">
                <a:moveTo>
                  <a:pt x="1866049" y="510692"/>
                </a:moveTo>
                <a:lnTo>
                  <a:pt x="1846999" y="510692"/>
                </a:lnTo>
                <a:lnTo>
                  <a:pt x="1846999" y="434492"/>
                </a:lnTo>
                <a:lnTo>
                  <a:pt x="1866049" y="434492"/>
                </a:lnTo>
                <a:lnTo>
                  <a:pt x="1866049" y="510692"/>
                </a:lnTo>
                <a:close/>
              </a:path>
              <a:path w="1866265" h="2281554">
                <a:moveTo>
                  <a:pt x="1866049" y="644042"/>
                </a:moveTo>
                <a:lnTo>
                  <a:pt x="1846999" y="644042"/>
                </a:lnTo>
                <a:lnTo>
                  <a:pt x="1846999" y="567842"/>
                </a:lnTo>
                <a:lnTo>
                  <a:pt x="1866049" y="567842"/>
                </a:lnTo>
                <a:lnTo>
                  <a:pt x="1866049" y="644042"/>
                </a:lnTo>
                <a:close/>
              </a:path>
              <a:path w="1866265" h="2281554">
                <a:moveTo>
                  <a:pt x="1866049" y="777392"/>
                </a:moveTo>
                <a:lnTo>
                  <a:pt x="1846999" y="777392"/>
                </a:lnTo>
                <a:lnTo>
                  <a:pt x="1846999" y="701192"/>
                </a:lnTo>
                <a:lnTo>
                  <a:pt x="1866049" y="701192"/>
                </a:lnTo>
                <a:lnTo>
                  <a:pt x="1866049" y="777392"/>
                </a:lnTo>
                <a:close/>
              </a:path>
              <a:path w="1866265" h="2281554">
                <a:moveTo>
                  <a:pt x="1866049" y="910742"/>
                </a:moveTo>
                <a:lnTo>
                  <a:pt x="1846999" y="910742"/>
                </a:lnTo>
                <a:lnTo>
                  <a:pt x="1846999" y="834542"/>
                </a:lnTo>
                <a:lnTo>
                  <a:pt x="1866049" y="834542"/>
                </a:lnTo>
                <a:lnTo>
                  <a:pt x="1866049" y="910742"/>
                </a:lnTo>
                <a:close/>
              </a:path>
              <a:path w="1866265" h="2281554">
                <a:moveTo>
                  <a:pt x="1866049" y="1044092"/>
                </a:moveTo>
                <a:lnTo>
                  <a:pt x="1846999" y="1044092"/>
                </a:lnTo>
                <a:lnTo>
                  <a:pt x="1846999" y="967892"/>
                </a:lnTo>
                <a:lnTo>
                  <a:pt x="1866049" y="967892"/>
                </a:lnTo>
                <a:lnTo>
                  <a:pt x="1866049" y="1044092"/>
                </a:lnTo>
                <a:close/>
              </a:path>
              <a:path w="1866265" h="2281554">
                <a:moveTo>
                  <a:pt x="1866049" y="1177442"/>
                </a:moveTo>
                <a:lnTo>
                  <a:pt x="1846999" y="1177442"/>
                </a:lnTo>
                <a:lnTo>
                  <a:pt x="1846999" y="1101242"/>
                </a:lnTo>
                <a:lnTo>
                  <a:pt x="1866049" y="1101242"/>
                </a:lnTo>
                <a:lnTo>
                  <a:pt x="1866049" y="1177442"/>
                </a:lnTo>
                <a:close/>
              </a:path>
              <a:path w="1866265" h="2281554">
                <a:moveTo>
                  <a:pt x="1866049" y="1310792"/>
                </a:moveTo>
                <a:lnTo>
                  <a:pt x="1846999" y="1310792"/>
                </a:lnTo>
                <a:lnTo>
                  <a:pt x="1846999" y="1234592"/>
                </a:lnTo>
                <a:lnTo>
                  <a:pt x="1866049" y="1234592"/>
                </a:lnTo>
                <a:lnTo>
                  <a:pt x="1866049" y="1310792"/>
                </a:lnTo>
                <a:close/>
              </a:path>
              <a:path w="1866265" h="2281554">
                <a:moveTo>
                  <a:pt x="1866049" y="1444142"/>
                </a:moveTo>
                <a:lnTo>
                  <a:pt x="1846999" y="1444142"/>
                </a:lnTo>
                <a:lnTo>
                  <a:pt x="1846999" y="1367942"/>
                </a:lnTo>
                <a:lnTo>
                  <a:pt x="1866049" y="1367942"/>
                </a:lnTo>
                <a:lnTo>
                  <a:pt x="1866049" y="1444142"/>
                </a:lnTo>
                <a:close/>
              </a:path>
              <a:path w="1866265" h="2281554">
                <a:moveTo>
                  <a:pt x="1866049" y="1577492"/>
                </a:moveTo>
                <a:lnTo>
                  <a:pt x="1846999" y="1577492"/>
                </a:lnTo>
                <a:lnTo>
                  <a:pt x="1846999" y="1501292"/>
                </a:lnTo>
                <a:lnTo>
                  <a:pt x="1866049" y="1501292"/>
                </a:lnTo>
                <a:lnTo>
                  <a:pt x="1866049" y="1577492"/>
                </a:lnTo>
                <a:close/>
              </a:path>
              <a:path w="1866265" h="2281554">
                <a:moveTo>
                  <a:pt x="1866049" y="1710842"/>
                </a:moveTo>
                <a:lnTo>
                  <a:pt x="1846999" y="1710842"/>
                </a:lnTo>
                <a:lnTo>
                  <a:pt x="1846999" y="1634642"/>
                </a:lnTo>
                <a:lnTo>
                  <a:pt x="1866049" y="1634642"/>
                </a:lnTo>
                <a:lnTo>
                  <a:pt x="1866049" y="1710842"/>
                </a:lnTo>
                <a:close/>
              </a:path>
              <a:path w="1866265" h="2281554">
                <a:moveTo>
                  <a:pt x="1866049" y="1844192"/>
                </a:moveTo>
                <a:lnTo>
                  <a:pt x="1846999" y="1844192"/>
                </a:lnTo>
                <a:lnTo>
                  <a:pt x="1846999" y="1767992"/>
                </a:lnTo>
                <a:lnTo>
                  <a:pt x="1866049" y="1767992"/>
                </a:lnTo>
                <a:lnTo>
                  <a:pt x="1866049" y="1844192"/>
                </a:lnTo>
                <a:close/>
              </a:path>
              <a:path w="1866265" h="2281554">
                <a:moveTo>
                  <a:pt x="1866049" y="1977542"/>
                </a:moveTo>
                <a:lnTo>
                  <a:pt x="1846999" y="1977542"/>
                </a:lnTo>
                <a:lnTo>
                  <a:pt x="1846999" y="1901342"/>
                </a:lnTo>
                <a:lnTo>
                  <a:pt x="1866049" y="1901342"/>
                </a:lnTo>
                <a:lnTo>
                  <a:pt x="1866049" y="1977542"/>
                </a:lnTo>
                <a:close/>
              </a:path>
              <a:path w="1866265" h="2281554">
                <a:moveTo>
                  <a:pt x="1866049" y="2110892"/>
                </a:moveTo>
                <a:lnTo>
                  <a:pt x="1846999" y="2110892"/>
                </a:lnTo>
                <a:lnTo>
                  <a:pt x="1846999" y="2034692"/>
                </a:lnTo>
                <a:lnTo>
                  <a:pt x="1866049" y="2034692"/>
                </a:lnTo>
                <a:lnTo>
                  <a:pt x="1866049" y="2110892"/>
                </a:lnTo>
                <a:close/>
              </a:path>
              <a:path w="1866265" h="2281554">
                <a:moveTo>
                  <a:pt x="1866049" y="2244242"/>
                </a:moveTo>
                <a:lnTo>
                  <a:pt x="1846999" y="2244242"/>
                </a:lnTo>
                <a:lnTo>
                  <a:pt x="1846999" y="2168042"/>
                </a:lnTo>
                <a:lnTo>
                  <a:pt x="1866049" y="2168042"/>
                </a:lnTo>
                <a:lnTo>
                  <a:pt x="1866049" y="2244242"/>
                </a:lnTo>
                <a:close/>
              </a:path>
              <a:path w="1866265" h="2281554">
                <a:moveTo>
                  <a:pt x="1826590" y="2280983"/>
                </a:moveTo>
                <a:lnTo>
                  <a:pt x="1750390" y="2280983"/>
                </a:lnTo>
                <a:lnTo>
                  <a:pt x="1750390" y="2261933"/>
                </a:lnTo>
                <a:lnTo>
                  <a:pt x="1826590" y="2261933"/>
                </a:lnTo>
                <a:lnTo>
                  <a:pt x="1826590" y="2280983"/>
                </a:lnTo>
                <a:close/>
              </a:path>
              <a:path w="1866265" h="2281554">
                <a:moveTo>
                  <a:pt x="1693240" y="2280983"/>
                </a:moveTo>
                <a:lnTo>
                  <a:pt x="1617040" y="2280983"/>
                </a:lnTo>
                <a:lnTo>
                  <a:pt x="1617040" y="2261933"/>
                </a:lnTo>
                <a:lnTo>
                  <a:pt x="1693240" y="2261933"/>
                </a:lnTo>
                <a:lnTo>
                  <a:pt x="1693240" y="2280983"/>
                </a:lnTo>
                <a:close/>
              </a:path>
              <a:path w="1866265" h="2281554">
                <a:moveTo>
                  <a:pt x="1559890" y="2280983"/>
                </a:moveTo>
                <a:lnTo>
                  <a:pt x="1483690" y="2280983"/>
                </a:lnTo>
                <a:lnTo>
                  <a:pt x="1483690" y="2261933"/>
                </a:lnTo>
                <a:lnTo>
                  <a:pt x="1559890" y="2261933"/>
                </a:lnTo>
                <a:lnTo>
                  <a:pt x="1559890" y="2280983"/>
                </a:lnTo>
                <a:close/>
              </a:path>
              <a:path w="1866265" h="2281554">
                <a:moveTo>
                  <a:pt x="1426540" y="2280983"/>
                </a:moveTo>
                <a:lnTo>
                  <a:pt x="1350340" y="2280983"/>
                </a:lnTo>
                <a:lnTo>
                  <a:pt x="1350340" y="2261933"/>
                </a:lnTo>
                <a:lnTo>
                  <a:pt x="1426540" y="2261933"/>
                </a:lnTo>
                <a:lnTo>
                  <a:pt x="1426540" y="2280983"/>
                </a:lnTo>
                <a:close/>
              </a:path>
              <a:path w="1866265" h="2281554">
                <a:moveTo>
                  <a:pt x="1293190" y="2280983"/>
                </a:moveTo>
                <a:lnTo>
                  <a:pt x="1216990" y="2280983"/>
                </a:lnTo>
                <a:lnTo>
                  <a:pt x="1216990" y="2261933"/>
                </a:lnTo>
                <a:lnTo>
                  <a:pt x="1293190" y="2261933"/>
                </a:lnTo>
                <a:lnTo>
                  <a:pt x="1293190" y="2280983"/>
                </a:lnTo>
                <a:close/>
              </a:path>
              <a:path w="1866265" h="2281554">
                <a:moveTo>
                  <a:pt x="1159840" y="2280983"/>
                </a:moveTo>
                <a:lnTo>
                  <a:pt x="1083640" y="2280983"/>
                </a:lnTo>
                <a:lnTo>
                  <a:pt x="1083640" y="2261933"/>
                </a:lnTo>
                <a:lnTo>
                  <a:pt x="1159840" y="2261933"/>
                </a:lnTo>
                <a:lnTo>
                  <a:pt x="1159840" y="2280983"/>
                </a:lnTo>
                <a:close/>
              </a:path>
              <a:path w="1866265" h="2281554">
                <a:moveTo>
                  <a:pt x="1026490" y="2280983"/>
                </a:moveTo>
                <a:lnTo>
                  <a:pt x="950290" y="2280983"/>
                </a:lnTo>
                <a:lnTo>
                  <a:pt x="950290" y="2261933"/>
                </a:lnTo>
                <a:lnTo>
                  <a:pt x="1026490" y="2261933"/>
                </a:lnTo>
                <a:lnTo>
                  <a:pt x="1026490" y="2280983"/>
                </a:lnTo>
                <a:close/>
              </a:path>
              <a:path w="1866265" h="2281554">
                <a:moveTo>
                  <a:pt x="893140" y="2280983"/>
                </a:moveTo>
                <a:lnTo>
                  <a:pt x="816940" y="2280983"/>
                </a:lnTo>
                <a:lnTo>
                  <a:pt x="816940" y="2261933"/>
                </a:lnTo>
                <a:lnTo>
                  <a:pt x="893140" y="2261933"/>
                </a:lnTo>
                <a:lnTo>
                  <a:pt x="893140" y="2280983"/>
                </a:lnTo>
                <a:close/>
              </a:path>
              <a:path w="1866265" h="2281554">
                <a:moveTo>
                  <a:pt x="759790" y="2280983"/>
                </a:moveTo>
                <a:lnTo>
                  <a:pt x="683590" y="2280983"/>
                </a:lnTo>
                <a:lnTo>
                  <a:pt x="683590" y="2261933"/>
                </a:lnTo>
                <a:lnTo>
                  <a:pt x="759790" y="2261933"/>
                </a:lnTo>
                <a:lnTo>
                  <a:pt x="759790" y="2280983"/>
                </a:lnTo>
                <a:close/>
              </a:path>
              <a:path w="1866265" h="2281554">
                <a:moveTo>
                  <a:pt x="626440" y="2280983"/>
                </a:moveTo>
                <a:lnTo>
                  <a:pt x="550240" y="2280983"/>
                </a:lnTo>
                <a:lnTo>
                  <a:pt x="550240" y="2261933"/>
                </a:lnTo>
                <a:lnTo>
                  <a:pt x="626440" y="2261933"/>
                </a:lnTo>
                <a:lnTo>
                  <a:pt x="626440" y="2280983"/>
                </a:lnTo>
                <a:close/>
              </a:path>
              <a:path w="1866265" h="2281554">
                <a:moveTo>
                  <a:pt x="493090" y="2280983"/>
                </a:moveTo>
                <a:lnTo>
                  <a:pt x="416890" y="2280983"/>
                </a:lnTo>
                <a:lnTo>
                  <a:pt x="416890" y="2261933"/>
                </a:lnTo>
                <a:lnTo>
                  <a:pt x="493090" y="2261933"/>
                </a:lnTo>
                <a:lnTo>
                  <a:pt x="493090" y="2280983"/>
                </a:lnTo>
                <a:close/>
              </a:path>
              <a:path w="1866265" h="2281554">
                <a:moveTo>
                  <a:pt x="359740" y="2280983"/>
                </a:moveTo>
                <a:lnTo>
                  <a:pt x="283540" y="2280983"/>
                </a:lnTo>
                <a:lnTo>
                  <a:pt x="283540" y="2261933"/>
                </a:lnTo>
                <a:lnTo>
                  <a:pt x="359740" y="2261933"/>
                </a:lnTo>
                <a:lnTo>
                  <a:pt x="359740" y="2280983"/>
                </a:lnTo>
                <a:close/>
              </a:path>
              <a:path w="1866265" h="2281554">
                <a:moveTo>
                  <a:pt x="226390" y="2280983"/>
                </a:moveTo>
                <a:lnTo>
                  <a:pt x="150190" y="2280983"/>
                </a:lnTo>
                <a:lnTo>
                  <a:pt x="150190" y="2261933"/>
                </a:lnTo>
                <a:lnTo>
                  <a:pt x="226390" y="2261933"/>
                </a:lnTo>
                <a:lnTo>
                  <a:pt x="226390" y="2280983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36405" y="2194255"/>
            <a:ext cx="1675764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 i="1">
                <a:latin typeface="华文楷体"/>
                <a:cs typeface="华文楷体"/>
              </a:rPr>
              <a:t>实验验</a:t>
            </a:r>
            <a:r>
              <a:rPr dirty="0" sz="2800" spc="-5" i="1">
                <a:latin typeface="华文楷体"/>
                <a:cs typeface="华文楷体"/>
              </a:rPr>
              <a:t>证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00815" y="1444459"/>
            <a:ext cx="2311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二、右手定则</a:t>
            </a:r>
          </a:p>
        </p:txBody>
      </p:sp>
      <p:sp>
        <p:nvSpPr>
          <p:cNvPr id="4" name="object 4"/>
          <p:cNvSpPr/>
          <p:nvPr/>
        </p:nvSpPr>
        <p:spPr>
          <a:xfrm>
            <a:off x="4378442" y="3459441"/>
            <a:ext cx="3512318" cy="986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378442" y="4723968"/>
            <a:ext cx="3512318" cy="945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393855" y="4070730"/>
            <a:ext cx="520065" cy="142875"/>
          </a:xfrm>
          <a:custGeom>
            <a:avLst/>
            <a:gdLst/>
            <a:ahLst/>
            <a:cxnLst/>
            <a:rect l="l" t="t" r="r" b="b"/>
            <a:pathLst>
              <a:path w="520064" h="142875">
                <a:moveTo>
                  <a:pt x="143078" y="142875"/>
                </a:moveTo>
                <a:lnTo>
                  <a:pt x="0" y="71843"/>
                </a:lnTo>
                <a:lnTo>
                  <a:pt x="142671" y="0"/>
                </a:lnTo>
                <a:lnTo>
                  <a:pt x="85683" y="57313"/>
                </a:lnTo>
                <a:lnTo>
                  <a:pt x="53543" y="57404"/>
                </a:lnTo>
                <a:lnTo>
                  <a:pt x="53619" y="85979"/>
                </a:lnTo>
                <a:lnTo>
                  <a:pt x="85857" y="85979"/>
                </a:lnTo>
                <a:lnTo>
                  <a:pt x="143078" y="142875"/>
                </a:lnTo>
                <a:close/>
              </a:path>
              <a:path w="520064" h="142875">
                <a:moveTo>
                  <a:pt x="85766" y="85888"/>
                </a:moveTo>
                <a:lnTo>
                  <a:pt x="71437" y="71640"/>
                </a:lnTo>
                <a:lnTo>
                  <a:pt x="85683" y="57313"/>
                </a:lnTo>
                <a:lnTo>
                  <a:pt x="519455" y="56095"/>
                </a:lnTo>
                <a:lnTo>
                  <a:pt x="519544" y="84670"/>
                </a:lnTo>
                <a:lnTo>
                  <a:pt x="85766" y="85888"/>
                </a:lnTo>
                <a:close/>
              </a:path>
              <a:path w="520064" h="142875">
                <a:moveTo>
                  <a:pt x="53619" y="85979"/>
                </a:moveTo>
                <a:lnTo>
                  <a:pt x="53543" y="57404"/>
                </a:lnTo>
                <a:lnTo>
                  <a:pt x="85683" y="57313"/>
                </a:lnTo>
                <a:lnTo>
                  <a:pt x="71437" y="71640"/>
                </a:lnTo>
                <a:lnTo>
                  <a:pt x="85766" y="85888"/>
                </a:lnTo>
                <a:lnTo>
                  <a:pt x="53619" y="85979"/>
                </a:lnTo>
                <a:close/>
              </a:path>
              <a:path w="520064" h="142875">
                <a:moveTo>
                  <a:pt x="85857" y="85979"/>
                </a:moveTo>
                <a:lnTo>
                  <a:pt x="53619" y="85979"/>
                </a:lnTo>
                <a:lnTo>
                  <a:pt x="85766" y="85888"/>
                </a:lnTo>
                <a:close/>
              </a:path>
            </a:pathLst>
          </a:custGeom>
          <a:solidFill>
            <a:srgbClr val="EF58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039802" y="3955465"/>
            <a:ext cx="165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solidFill>
                  <a:srgbClr val="5B9BD4"/>
                </a:solidFill>
                <a:latin typeface="Times New Roman"/>
                <a:cs typeface="Times New Roman"/>
              </a:rPr>
              <a:t>B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21045" y="3756571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Book Antiqua"/>
                <a:cs typeface="Book Antiqua"/>
              </a:rPr>
              <a:t>v</a:t>
            </a:r>
            <a:endParaRPr sz="2400">
              <a:latin typeface="Book Antiqua"/>
              <a:cs typeface="Book Antiqu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836664" y="3241548"/>
            <a:ext cx="1719072" cy="17632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634636" y="2871152"/>
            <a:ext cx="4412627" cy="253953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602351" y="4784585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C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12129" y="3147428"/>
            <a:ext cx="190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D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74674" y="2367635"/>
            <a:ext cx="1244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solidFill>
                  <a:srgbClr val="0000FF"/>
                </a:solidFill>
                <a:latin typeface="华文楷体"/>
                <a:cs typeface="华文楷体"/>
              </a:rPr>
              <a:t>指针右偏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604167" y="3418332"/>
            <a:ext cx="950975" cy="135026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864745" y="3635031"/>
            <a:ext cx="142875" cy="1045844"/>
          </a:xfrm>
          <a:custGeom>
            <a:avLst/>
            <a:gdLst/>
            <a:ahLst/>
            <a:cxnLst/>
            <a:rect l="l" t="t" r="r" b="b"/>
            <a:pathLst>
              <a:path w="142875" h="1045845">
                <a:moveTo>
                  <a:pt x="0" y="142062"/>
                </a:moveTo>
                <a:lnTo>
                  <a:pt x="73037" y="0"/>
                </a:lnTo>
                <a:lnTo>
                  <a:pt x="98998" y="53403"/>
                </a:lnTo>
                <a:lnTo>
                  <a:pt x="58153" y="53403"/>
                </a:lnTo>
                <a:lnTo>
                  <a:pt x="57794" y="85548"/>
                </a:lnTo>
                <a:lnTo>
                  <a:pt x="0" y="142062"/>
                </a:lnTo>
                <a:close/>
              </a:path>
              <a:path w="142875" h="1045845">
                <a:moveTo>
                  <a:pt x="57794" y="85548"/>
                </a:moveTo>
                <a:lnTo>
                  <a:pt x="58153" y="53403"/>
                </a:lnTo>
                <a:lnTo>
                  <a:pt x="86728" y="53733"/>
                </a:lnTo>
                <a:lnTo>
                  <a:pt x="86530" y="71424"/>
                </a:lnTo>
                <a:lnTo>
                  <a:pt x="72237" y="71424"/>
                </a:lnTo>
                <a:lnTo>
                  <a:pt x="57794" y="85548"/>
                </a:lnTo>
                <a:close/>
              </a:path>
              <a:path w="142875" h="1045845">
                <a:moveTo>
                  <a:pt x="142875" y="143662"/>
                </a:moveTo>
                <a:lnTo>
                  <a:pt x="86369" y="85876"/>
                </a:lnTo>
                <a:lnTo>
                  <a:pt x="86728" y="53733"/>
                </a:lnTo>
                <a:lnTo>
                  <a:pt x="58153" y="53403"/>
                </a:lnTo>
                <a:lnTo>
                  <a:pt x="98998" y="53403"/>
                </a:lnTo>
                <a:lnTo>
                  <a:pt x="142875" y="143662"/>
                </a:lnTo>
                <a:close/>
              </a:path>
              <a:path w="142875" h="1045845">
                <a:moveTo>
                  <a:pt x="75653" y="1045489"/>
                </a:moveTo>
                <a:lnTo>
                  <a:pt x="47078" y="1045171"/>
                </a:lnTo>
                <a:lnTo>
                  <a:pt x="57794" y="85548"/>
                </a:lnTo>
                <a:lnTo>
                  <a:pt x="72237" y="71424"/>
                </a:lnTo>
                <a:lnTo>
                  <a:pt x="86369" y="85876"/>
                </a:lnTo>
                <a:lnTo>
                  <a:pt x="75653" y="1045489"/>
                </a:lnTo>
                <a:close/>
              </a:path>
              <a:path w="142875" h="1045845">
                <a:moveTo>
                  <a:pt x="86369" y="85876"/>
                </a:moveTo>
                <a:lnTo>
                  <a:pt x="72237" y="71424"/>
                </a:lnTo>
                <a:lnTo>
                  <a:pt x="86530" y="71424"/>
                </a:lnTo>
                <a:lnTo>
                  <a:pt x="86369" y="8587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5696508" y="3564293"/>
            <a:ext cx="110489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i="1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979796" y="3000806"/>
            <a:ext cx="1866264" cy="2281555"/>
          </a:xfrm>
          <a:custGeom>
            <a:avLst/>
            <a:gdLst/>
            <a:ahLst/>
            <a:cxnLst/>
            <a:rect l="l" t="t" r="r" b="b"/>
            <a:pathLst>
              <a:path w="1866265" h="2281554">
                <a:moveTo>
                  <a:pt x="16840" y="2271471"/>
                </a:moveTo>
                <a:lnTo>
                  <a:pt x="0" y="2271471"/>
                </a:lnTo>
                <a:lnTo>
                  <a:pt x="0" y="2195271"/>
                </a:lnTo>
                <a:lnTo>
                  <a:pt x="19050" y="2195271"/>
                </a:lnTo>
                <a:lnTo>
                  <a:pt x="19050" y="2261946"/>
                </a:lnTo>
                <a:lnTo>
                  <a:pt x="16840" y="2261946"/>
                </a:lnTo>
                <a:lnTo>
                  <a:pt x="16840" y="2271471"/>
                </a:lnTo>
                <a:close/>
              </a:path>
              <a:path w="1866265" h="2281554">
                <a:moveTo>
                  <a:pt x="93040" y="2280996"/>
                </a:moveTo>
                <a:lnTo>
                  <a:pt x="16840" y="2280996"/>
                </a:lnTo>
                <a:lnTo>
                  <a:pt x="16840" y="2261946"/>
                </a:lnTo>
                <a:lnTo>
                  <a:pt x="19050" y="2261946"/>
                </a:lnTo>
                <a:lnTo>
                  <a:pt x="19050" y="2271471"/>
                </a:lnTo>
                <a:lnTo>
                  <a:pt x="93040" y="2271471"/>
                </a:lnTo>
                <a:lnTo>
                  <a:pt x="93040" y="2280996"/>
                </a:lnTo>
                <a:close/>
              </a:path>
              <a:path w="1866265" h="2281554">
                <a:moveTo>
                  <a:pt x="93040" y="2271471"/>
                </a:moveTo>
                <a:lnTo>
                  <a:pt x="19050" y="2271471"/>
                </a:lnTo>
                <a:lnTo>
                  <a:pt x="19050" y="2261946"/>
                </a:lnTo>
                <a:lnTo>
                  <a:pt x="93040" y="2261946"/>
                </a:lnTo>
                <a:lnTo>
                  <a:pt x="93040" y="2271471"/>
                </a:lnTo>
                <a:close/>
              </a:path>
              <a:path w="1866265" h="2281554">
                <a:moveTo>
                  <a:pt x="19050" y="2138121"/>
                </a:moveTo>
                <a:lnTo>
                  <a:pt x="0" y="2138121"/>
                </a:lnTo>
                <a:lnTo>
                  <a:pt x="0" y="2061921"/>
                </a:lnTo>
                <a:lnTo>
                  <a:pt x="19050" y="2061921"/>
                </a:lnTo>
                <a:lnTo>
                  <a:pt x="19050" y="2138121"/>
                </a:lnTo>
                <a:close/>
              </a:path>
              <a:path w="1866265" h="2281554">
                <a:moveTo>
                  <a:pt x="19050" y="2004771"/>
                </a:moveTo>
                <a:lnTo>
                  <a:pt x="0" y="2004771"/>
                </a:lnTo>
                <a:lnTo>
                  <a:pt x="0" y="1928571"/>
                </a:lnTo>
                <a:lnTo>
                  <a:pt x="19050" y="1928571"/>
                </a:lnTo>
                <a:lnTo>
                  <a:pt x="19050" y="2004771"/>
                </a:lnTo>
                <a:close/>
              </a:path>
              <a:path w="1866265" h="2281554">
                <a:moveTo>
                  <a:pt x="19050" y="1871421"/>
                </a:moveTo>
                <a:lnTo>
                  <a:pt x="0" y="1871421"/>
                </a:lnTo>
                <a:lnTo>
                  <a:pt x="0" y="1795221"/>
                </a:lnTo>
                <a:lnTo>
                  <a:pt x="19050" y="1795221"/>
                </a:lnTo>
                <a:lnTo>
                  <a:pt x="19050" y="1871421"/>
                </a:lnTo>
                <a:close/>
              </a:path>
              <a:path w="1866265" h="2281554">
                <a:moveTo>
                  <a:pt x="19050" y="1738071"/>
                </a:moveTo>
                <a:lnTo>
                  <a:pt x="0" y="1738071"/>
                </a:lnTo>
                <a:lnTo>
                  <a:pt x="0" y="1661871"/>
                </a:lnTo>
                <a:lnTo>
                  <a:pt x="19050" y="1661871"/>
                </a:lnTo>
                <a:lnTo>
                  <a:pt x="19050" y="1738071"/>
                </a:lnTo>
                <a:close/>
              </a:path>
              <a:path w="1866265" h="2281554">
                <a:moveTo>
                  <a:pt x="19050" y="1604721"/>
                </a:moveTo>
                <a:lnTo>
                  <a:pt x="0" y="1604721"/>
                </a:lnTo>
                <a:lnTo>
                  <a:pt x="0" y="1528521"/>
                </a:lnTo>
                <a:lnTo>
                  <a:pt x="19050" y="1528521"/>
                </a:lnTo>
                <a:lnTo>
                  <a:pt x="19050" y="1604721"/>
                </a:lnTo>
                <a:close/>
              </a:path>
              <a:path w="1866265" h="2281554">
                <a:moveTo>
                  <a:pt x="19050" y="1471371"/>
                </a:moveTo>
                <a:lnTo>
                  <a:pt x="0" y="1471371"/>
                </a:lnTo>
                <a:lnTo>
                  <a:pt x="0" y="1395171"/>
                </a:lnTo>
                <a:lnTo>
                  <a:pt x="19050" y="1395171"/>
                </a:lnTo>
                <a:lnTo>
                  <a:pt x="19050" y="1471371"/>
                </a:lnTo>
                <a:close/>
              </a:path>
              <a:path w="1866265" h="2281554">
                <a:moveTo>
                  <a:pt x="19050" y="1338021"/>
                </a:moveTo>
                <a:lnTo>
                  <a:pt x="0" y="1338021"/>
                </a:lnTo>
                <a:lnTo>
                  <a:pt x="0" y="1261821"/>
                </a:lnTo>
                <a:lnTo>
                  <a:pt x="19050" y="1261821"/>
                </a:lnTo>
                <a:lnTo>
                  <a:pt x="19050" y="1338021"/>
                </a:lnTo>
                <a:close/>
              </a:path>
              <a:path w="1866265" h="2281554">
                <a:moveTo>
                  <a:pt x="19050" y="1204671"/>
                </a:moveTo>
                <a:lnTo>
                  <a:pt x="0" y="1204671"/>
                </a:lnTo>
                <a:lnTo>
                  <a:pt x="0" y="1128471"/>
                </a:lnTo>
                <a:lnTo>
                  <a:pt x="19050" y="1128471"/>
                </a:lnTo>
                <a:lnTo>
                  <a:pt x="19050" y="1204671"/>
                </a:lnTo>
                <a:close/>
              </a:path>
              <a:path w="1866265" h="2281554">
                <a:moveTo>
                  <a:pt x="19050" y="1071321"/>
                </a:moveTo>
                <a:lnTo>
                  <a:pt x="0" y="1071321"/>
                </a:lnTo>
                <a:lnTo>
                  <a:pt x="0" y="995121"/>
                </a:lnTo>
                <a:lnTo>
                  <a:pt x="19050" y="995121"/>
                </a:lnTo>
                <a:lnTo>
                  <a:pt x="19050" y="1071321"/>
                </a:lnTo>
                <a:close/>
              </a:path>
              <a:path w="1866265" h="2281554">
                <a:moveTo>
                  <a:pt x="19050" y="937971"/>
                </a:moveTo>
                <a:lnTo>
                  <a:pt x="0" y="937971"/>
                </a:lnTo>
                <a:lnTo>
                  <a:pt x="0" y="861771"/>
                </a:lnTo>
                <a:lnTo>
                  <a:pt x="19050" y="861771"/>
                </a:lnTo>
                <a:lnTo>
                  <a:pt x="19050" y="937971"/>
                </a:lnTo>
                <a:close/>
              </a:path>
              <a:path w="1866265" h="2281554">
                <a:moveTo>
                  <a:pt x="19050" y="804621"/>
                </a:moveTo>
                <a:lnTo>
                  <a:pt x="0" y="804621"/>
                </a:lnTo>
                <a:lnTo>
                  <a:pt x="0" y="728421"/>
                </a:lnTo>
                <a:lnTo>
                  <a:pt x="19050" y="728421"/>
                </a:lnTo>
                <a:lnTo>
                  <a:pt x="19050" y="804621"/>
                </a:lnTo>
                <a:close/>
              </a:path>
              <a:path w="1866265" h="2281554">
                <a:moveTo>
                  <a:pt x="19050" y="671271"/>
                </a:moveTo>
                <a:lnTo>
                  <a:pt x="0" y="671271"/>
                </a:lnTo>
                <a:lnTo>
                  <a:pt x="0" y="595071"/>
                </a:lnTo>
                <a:lnTo>
                  <a:pt x="19050" y="595071"/>
                </a:lnTo>
                <a:lnTo>
                  <a:pt x="19050" y="671271"/>
                </a:lnTo>
                <a:close/>
              </a:path>
              <a:path w="1866265" h="2281554">
                <a:moveTo>
                  <a:pt x="19050" y="537921"/>
                </a:moveTo>
                <a:lnTo>
                  <a:pt x="0" y="537921"/>
                </a:lnTo>
                <a:lnTo>
                  <a:pt x="0" y="461721"/>
                </a:lnTo>
                <a:lnTo>
                  <a:pt x="19050" y="461721"/>
                </a:lnTo>
                <a:lnTo>
                  <a:pt x="19050" y="537921"/>
                </a:lnTo>
                <a:close/>
              </a:path>
              <a:path w="1866265" h="2281554">
                <a:moveTo>
                  <a:pt x="19050" y="404571"/>
                </a:moveTo>
                <a:lnTo>
                  <a:pt x="0" y="404571"/>
                </a:lnTo>
                <a:lnTo>
                  <a:pt x="0" y="328371"/>
                </a:lnTo>
                <a:lnTo>
                  <a:pt x="19050" y="328371"/>
                </a:lnTo>
                <a:lnTo>
                  <a:pt x="19050" y="404571"/>
                </a:lnTo>
                <a:close/>
              </a:path>
              <a:path w="1866265" h="2281554">
                <a:moveTo>
                  <a:pt x="19050" y="271221"/>
                </a:moveTo>
                <a:lnTo>
                  <a:pt x="0" y="271221"/>
                </a:lnTo>
                <a:lnTo>
                  <a:pt x="0" y="195021"/>
                </a:lnTo>
                <a:lnTo>
                  <a:pt x="19050" y="195021"/>
                </a:lnTo>
                <a:lnTo>
                  <a:pt x="19050" y="271221"/>
                </a:lnTo>
                <a:close/>
              </a:path>
              <a:path w="1866265" h="2281554">
                <a:moveTo>
                  <a:pt x="19050" y="137871"/>
                </a:moveTo>
                <a:lnTo>
                  <a:pt x="0" y="137871"/>
                </a:lnTo>
                <a:lnTo>
                  <a:pt x="0" y="61671"/>
                </a:lnTo>
                <a:lnTo>
                  <a:pt x="19050" y="61671"/>
                </a:lnTo>
                <a:lnTo>
                  <a:pt x="19050" y="137871"/>
                </a:lnTo>
                <a:close/>
              </a:path>
              <a:path w="1866265" h="2281554">
                <a:moveTo>
                  <a:pt x="90741" y="19050"/>
                </a:moveTo>
                <a:lnTo>
                  <a:pt x="14541" y="19050"/>
                </a:lnTo>
                <a:lnTo>
                  <a:pt x="14541" y="0"/>
                </a:lnTo>
                <a:lnTo>
                  <a:pt x="90741" y="0"/>
                </a:lnTo>
                <a:lnTo>
                  <a:pt x="90741" y="19050"/>
                </a:lnTo>
                <a:close/>
              </a:path>
              <a:path w="1866265" h="2281554">
                <a:moveTo>
                  <a:pt x="224091" y="19050"/>
                </a:moveTo>
                <a:lnTo>
                  <a:pt x="147891" y="19050"/>
                </a:lnTo>
                <a:lnTo>
                  <a:pt x="147891" y="0"/>
                </a:lnTo>
                <a:lnTo>
                  <a:pt x="224091" y="0"/>
                </a:lnTo>
                <a:lnTo>
                  <a:pt x="224091" y="19050"/>
                </a:lnTo>
                <a:close/>
              </a:path>
              <a:path w="1866265" h="2281554">
                <a:moveTo>
                  <a:pt x="357441" y="19050"/>
                </a:moveTo>
                <a:lnTo>
                  <a:pt x="281241" y="19050"/>
                </a:lnTo>
                <a:lnTo>
                  <a:pt x="281241" y="0"/>
                </a:lnTo>
                <a:lnTo>
                  <a:pt x="357441" y="0"/>
                </a:lnTo>
                <a:lnTo>
                  <a:pt x="357441" y="19050"/>
                </a:lnTo>
                <a:close/>
              </a:path>
              <a:path w="1866265" h="2281554">
                <a:moveTo>
                  <a:pt x="490791" y="19050"/>
                </a:moveTo>
                <a:lnTo>
                  <a:pt x="414591" y="19050"/>
                </a:lnTo>
                <a:lnTo>
                  <a:pt x="414591" y="0"/>
                </a:lnTo>
                <a:lnTo>
                  <a:pt x="490791" y="0"/>
                </a:lnTo>
                <a:lnTo>
                  <a:pt x="490791" y="19050"/>
                </a:lnTo>
                <a:close/>
              </a:path>
              <a:path w="1866265" h="2281554">
                <a:moveTo>
                  <a:pt x="624141" y="19050"/>
                </a:moveTo>
                <a:lnTo>
                  <a:pt x="547941" y="19050"/>
                </a:lnTo>
                <a:lnTo>
                  <a:pt x="547941" y="0"/>
                </a:lnTo>
                <a:lnTo>
                  <a:pt x="624141" y="0"/>
                </a:lnTo>
                <a:lnTo>
                  <a:pt x="624141" y="19050"/>
                </a:lnTo>
                <a:close/>
              </a:path>
              <a:path w="1866265" h="2281554">
                <a:moveTo>
                  <a:pt x="757491" y="19050"/>
                </a:moveTo>
                <a:lnTo>
                  <a:pt x="681291" y="19050"/>
                </a:lnTo>
                <a:lnTo>
                  <a:pt x="681291" y="0"/>
                </a:lnTo>
                <a:lnTo>
                  <a:pt x="757491" y="0"/>
                </a:lnTo>
                <a:lnTo>
                  <a:pt x="757491" y="19050"/>
                </a:lnTo>
                <a:close/>
              </a:path>
              <a:path w="1866265" h="2281554">
                <a:moveTo>
                  <a:pt x="890841" y="19050"/>
                </a:moveTo>
                <a:lnTo>
                  <a:pt x="814641" y="19050"/>
                </a:lnTo>
                <a:lnTo>
                  <a:pt x="814641" y="0"/>
                </a:lnTo>
                <a:lnTo>
                  <a:pt x="890841" y="0"/>
                </a:lnTo>
                <a:lnTo>
                  <a:pt x="890841" y="19050"/>
                </a:lnTo>
                <a:close/>
              </a:path>
              <a:path w="1866265" h="2281554">
                <a:moveTo>
                  <a:pt x="1024191" y="19050"/>
                </a:moveTo>
                <a:lnTo>
                  <a:pt x="947991" y="19050"/>
                </a:lnTo>
                <a:lnTo>
                  <a:pt x="947991" y="0"/>
                </a:lnTo>
                <a:lnTo>
                  <a:pt x="1024191" y="0"/>
                </a:lnTo>
                <a:lnTo>
                  <a:pt x="1024191" y="19050"/>
                </a:lnTo>
                <a:close/>
              </a:path>
              <a:path w="1866265" h="2281554">
                <a:moveTo>
                  <a:pt x="1157541" y="19050"/>
                </a:moveTo>
                <a:lnTo>
                  <a:pt x="1081341" y="19050"/>
                </a:lnTo>
                <a:lnTo>
                  <a:pt x="1081341" y="0"/>
                </a:lnTo>
                <a:lnTo>
                  <a:pt x="1157541" y="0"/>
                </a:lnTo>
                <a:lnTo>
                  <a:pt x="1157541" y="19050"/>
                </a:lnTo>
                <a:close/>
              </a:path>
              <a:path w="1866265" h="2281554">
                <a:moveTo>
                  <a:pt x="1290891" y="19050"/>
                </a:moveTo>
                <a:lnTo>
                  <a:pt x="1214691" y="19050"/>
                </a:lnTo>
                <a:lnTo>
                  <a:pt x="1214691" y="0"/>
                </a:lnTo>
                <a:lnTo>
                  <a:pt x="1290891" y="0"/>
                </a:lnTo>
                <a:lnTo>
                  <a:pt x="1290891" y="19050"/>
                </a:lnTo>
                <a:close/>
              </a:path>
              <a:path w="1866265" h="2281554">
                <a:moveTo>
                  <a:pt x="1424241" y="19050"/>
                </a:moveTo>
                <a:lnTo>
                  <a:pt x="1348041" y="19050"/>
                </a:lnTo>
                <a:lnTo>
                  <a:pt x="1348041" y="0"/>
                </a:lnTo>
                <a:lnTo>
                  <a:pt x="1424241" y="0"/>
                </a:lnTo>
                <a:lnTo>
                  <a:pt x="1424241" y="19050"/>
                </a:lnTo>
                <a:close/>
              </a:path>
              <a:path w="1866265" h="2281554">
                <a:moveTo>
                  <a:pt x="1557591" y="19050"/>
                </a:moveTo>
                <a:lnTo>
                  <a:pt x="1481391" y="19050"/>
                </a:lnTo>
                <a:lnTo>
                  <a:pt x="1481391" y="0"/>
                </a:lnTo>
                <a:lnTo>
                  <a:pt x="1557591" y="0"/>
                </a:lnTo>
                <a:lnTo>
                  <a:pt x="1557591" y="19050"/>
                </a:lnTo>
                <a:close/>
              </a:path>
              <a:path w="1866265" h="2281554">
                <a:moveTo>
                  <a:pt x="1690941" y="19050"/>
                </a:moveTo>
                <a:lnTo>
                  <a:pt x="1614741" y="19050"/>
                </a:lnTo>
                <a:lnTo>
                  <a:pt x="1614741" y="0"/>
                </a:lnTo>
                <a:lnTo>
                  <a:pt x="1690941" y="0"/>
                </a:lnTo>
                <a:lnTo>
                  <a:pt x="1690941" y="19050"/>
                </a:lnTo>
                <a:close/>
              </a:path>
              <a:path w="1866265" h="2281554">
                <a:moveTo>
                  <a:pt x="1824291" y="19050"/>
                </a:moveTo>
                <a:lnTo>
                  <a:pt x="1748091" y="19050"/>
                </a:lnTo>
                <a:lnTo>
                  <a:pt x="1748091" y="0"/>
                </a:lnTo>
                <a:lnTo>
                  <a:pt x="1824291" y="0"/>
                </a:lnTo>
                <a:lnTo>
                  <a:pt x="1824291" y="19050"/>
                </a:lnTo>
                <a:close/>
              </a:path>
              <a:path w="1866265" h="2281554">
                <a:moveTo>
                  <a:pt x="1866049" y="110642"/>
                </a:moveTo>
                <a:lnTo>
                  <a:pt x="1846999" y="110642"/>
                </a:lnTo>
                <a:lnTo>
                  <a:pt x="1846999" y="34442"/>
                </a:lnTo>
                <a:lnTo>
                  <a:pt x="1866049" y="34442"/>
                </a:lnTo>
                <a:lnTo>
                  <a:pt x="1866049" y="110642"/>
                </a:lnTo>
                <a:close/>
              </a:path>
              <a:path w="1866265" h="2281554">
                <a:moveTo>
                  <a:pt x="1866049" y="243992"/>
                </a:moveTo>
                <a:lnTo>
                  <a:pt x="1846999" y="243992"/>
                </a:lnTo>
                <a:lnTo>
                  <a:pt x="1846999" y="167792"/>
                </a:lnTo>
                <a:lnTo>
                  <a:pt x="1866049" y="167792"/>
                </a:lnTo>
                <a:lnTo>
                  <a:pt x="1866049" y="243992"/>
                </a:lnTo>
                <a:close/>
              </a:path>
              <a:path w="1866265" h="2281554">
                <a:moveTo>
                  <a:pt x="1866049" y="377342"/>
                </a:moveTo>
                <a:lnTo>
                  <a:pt x="1846999" y="377342"/>
                </a:lnTo>
                <a:lnTo>
                  <a:pt x="1846999" y="301142"/>
                </a:lnTo>
                <a:lnTo>
                  <a:pt x="1866049" y="301142"/>
                </a:lnTo>
                <a:lnTo>
                  <a:pt x="1866049" y="377342"/>
                </a:lnTo>
                <a:close/>
              </a:path>
              <a:path w="1866265" h="2281554">
                <a:moveTo>
                  <a:pt x="1866049" y="510692"/>
                </a:moveTo>
                <a:lnTo>
                  <a:pt x="1846999" y="510692"/>
                </a:lnTo>
                <a:lnTo>
                  <a:pt x="1846999" y="434492"/>
                </a:lnTo>
                <a:lnTo>
                  <a:pt x="1866049" y="434492"/>
                </a:lnTo>
                <a:lnTo>
                  <a:pt x="1866049" y="510692"/>
                </a:lnTo>
                <a:close/>
              </a:path>
              <a:path w="1866265" h="2281554">
                <a:moveTo>
                  <a:pt x="1866049" y="644042"/>
                </a:moveTo>
                <a:lnTo>
                  <a:pt x="1846999" y="644042"/>
                </a:lnTo>
                <a:lnTo>
                  <a:pt x="1846999" y="567842"/>
                </a:lnTo>
                <a:lnTo>
                  <a:pt x="1866049" y="567842"/>
                </a:lnTo>
                <a:lnTo>
                  <a:pt x="1866049" y="644042"/>
                </a:lnTo>
                <a:close/>
              </a:path>
              <a:path w="1866265" h="2281554">
                <a:moveTo>
                  <a:pt x="1866049" y="777392"/>
                </a:moveTo>
                <a:lnTo>
                  <a:pt x="1846999" y="777392"/>
                </a:lnTo>
                <a:lnTo>
                  <a:pt x="1846999" y="701192"/>
                </a:lnTo>
                <a:lnTo>
                  <a:pt x="1866049" y="701192"/>
                </a:lnTo>
                <a:lnTo>
                  <a:pt x="1866049" y="777392"/>
                </a:lnTo>
                <a:close/>
              </a:path>
              <a:path w="1866265" h="2281554">
                <a:moveTo>
                  <a:pt x="1866049" y="910742"/>
                </a:moveTo>
                <a:lnTo>
                  <a:pt x="1846999" y="910742"/>
                </a:lnTo>
                <a:lnTo>
                  <a:pt x="1846999" y="834542"/>
                </a:lnTo>
                <a:lnTo>
                  <a:pt x="1866049" y="834542"/>
                </a:lnTo>
                <a:lnTo>
                  <a:pt x="1866049" y="910742"/>
                </a:lnTo>
                <a:close/>
              </a:path>
              <a:path w="1866265" h="2281554">
                <a:moveTo>
                  <a:pt x="1866049" y="1044092"/>
                </a:moveTo>
                <a:lnTo>
                  <a:pt x="1846999" y="1044092"/>
                </a:lnTo>
                <a:lnTo>
                  <a:pt x="1846999" y="967892"/>
                </a:lnTo>
                <a:lnTo>
                  <a:pt x="1866049" y="967892"/>
                </a:lnTo>
                <a:lnTo>
                  <a:pt x="1866049" y="1044092"/>
                </a:lnTo>
                <a:close/>
              </a:path>
              <a:path w="1866265" h="2281554">
                <a:moveTo>
                  <a:pt x="1866049" y="1177442"/>
                </a:moveTo>
                <a:lnTo>
                  <a:pt x="1846999" y="1177442"/>
                </a:lnTo>
                <a:lnTo>
                  <a:pt x="1846999" y="1101242"/>
                </a:lnTo>
                <a:lnTo>
                  <a:pt x="1866049" y="1101242"/>
                </a:lnTo>
                <a:lnTo>
                  <a:pt x="1866049" y="1177442"/>
                </a:lnTo>
                <a:close/>
              </a:path>
              <a:path w="1866265" h="2281554">
                <a:moveTo>
                  <a:pt x="1866049" y="1310792"/>
                </a:moveTo>
                <a:lnTo>
                  <a:pt x="1846999" y="1310792"/>
                </a:lnTo>
                <a:lnTo>
                  <a:pt x="1846999" y="1234592"/>
                </a:lnTo>
                <a:lnTo>
                  <a:pt x="1866049" y="1234592"/>
                </a:lnTo>
                <a:lnTo>
                  <a:pt x="1866049" y="1310792"/>
                </a:lnTo>
                <a:close/>
              </a:path>
              <a:path w="1866265" h="2281554">
                <a:moveTo>
                  <a:pt x="1866049" y="1444142"/>
                </a:moveTo>
                <a:lnTo>
                  <a:pt x="1846999" y="1444142"/>
                </a:lnTo>
                <a:lnTo>
                  <a:pt x="1846999" y="1367942"/>
                </a:lnTo>
                <a:lnTo>
                  <a:pt x="1866049" y="1367942"/>
                </a:lnTo>
                <a:lnTo>
                  <a:pt x="1866049" y="1444142"/>
                </a:lnTo>
                <a:close/>
              </a:path>
              <a:path w="1866265" h="2281554">
                <a:moveTo>
                  <a:pt x="1866049" y="1577492"/>
                </a:moveTo>
                <a:lnTo>
                  <a:pt x="1846999" y="1577492"/>
                </a:lnTo>
                <a:lnTo>
                  <a:pt x="1846999" y="1501292"/>
                </a:lnTo>
                <a:lnTo>
                  <a:pt x="1866049" y="1501292"/>
                </a:lnTo>
                <a:lnTo>
                  <a:pt x="1866049" y="1577492"/>
                </a:lnTo>
                <a:close/>
              </a:path>
              <a:path w="1866265" h="2281554">
                <a:moveTo>
                  <a:pt x="1866049" y="1710842"/>
                </a:moveTo>
                <a:lnTo>
                  <a:pt x="1846999" y="1710842"/>
                </a:lnTo>
                <a:lnTo>
                  <a:pt x="1846999" y="1634642"/>
                </a:lnTo>
                <a:lnTo>
                  <a:pt x="1866049" y="1634642"/>
                </a:lnTo>
                <a:lnTo>
                  <a:pt x="1866049" y="1710842"/>
                </a:lnTo>
                <a:close/>
              </a:path>
              <a:path w="1866265" h="2281554">
                <a:moveTo>
                  <a:pt x="1866049" y="1844192"/>
                </a:moveTo>
                <a:lnTo>
                  <a:pt x="1846999" y="1844192"/>
                </a:lnTo>
                <a:lnTo>
                  <a:pt x="1846999" y="1767992"/>
                </a:lnTo>
                <a:lnTo>
                  <a:pt x="1866049" y="1767992"/>
                </a:lnTo>
                <a:lnTo>
                  <a:pt x="1866049" y="1844192"/>
                </a:lnTo>
                <a:close/>
              </a:path>
              <a:path w="1866265" h="2281554">
                <a:moveTo>
                  <a:pt x="1866049" y="1977542"/>
                </a:moveTo>
                <a:lnTo>
                  <a:pt x="1846999" y="1977542"/>
                </a:lnTo>
                <a:lnTo>
                  <a:pt x="1846999" y="1901342"/>
                </a:lnTo>
                <a:lnTo>
                  <a:pt x="1866049" y="1901342"/>
                </a:lnTo>
                <a:lnTo>
                  <a:pt x="1866049" y="1977542"/>
                </a:lnTo>
                <a:close/>
              </a:path>
              <a:path w="1866265" h="2281554">
                <a:moveTo>
                  <a:pt x="1866049" y="2110892"/>
                </a:moveTo>
                <a:lnTo>
                  <a:pt x="1846999" y="2110892"/>
                </a:lnTo>
                <a:lnTo>
                  <a:pt x="1846999" y="2034692"/>
                </a:lnTo>
                <a:lnTo>
                  <a:pt x="1866049" y="2034692"/>
                </a:lnTo>
                <a:lnTo>
                  <a:pt x="1866049" y="2110892"/>
                </a:lnTo>
                <a:close/>
              </a:path>
              <a:path w="1866265" h="2281554">
                <a:moveTo>
                  <a:pt x="1866049" y="2244242"/>
                </a:moveTo>
                <a:lnTo>
                  <a:pt x="1846999" y="2244242"/>
                </a:lnTo>
                <a:lnTo>
                  <a:pt x="1846999" y="2168042"/>
                </a:lnTo>
                <a:lnTo>
                  <a:pt x="1866049" y="2168042"/>
                </a:lnTo>
                <a:lnTo>
                  <a:pt x="1866049" y="2244242"/>
                </a:lnTo>
                <a:close/>
              </a:path>
              <a:path w="1866265" h="2281554">
                <a:moveTo>
                  <a:pt x="1826590" y="2280996"/>
                </a:moveTo>
                <a:lnTo>
                  <a:pt x="1750390" y="2280996"/>
                </a:lnTo>
                <a:lnTo>
                  <a:pt x="1750390" y="2261946"/>
                </a:lnTo>
                <a:lnTo>
                  <a:pt x="1826590" y="2261946"/>
                </a:lnTo>
                <a:lnTo>
                  <a:pt x="1826590" y="2280996"/>
                </a:lnTo>
                <a:close/>
              </a:path>
              <a:path w="1866265" h="2281554">
                <a:moveTo>
                  <a:pt x="1693240" y="2280996"/>
                </a:moveTo>
                <a:lnTo>
                  <a:pt x="1617040" y="2280996"/>
                </a:lnTo>
                <a:lnTo>
                  <a:pt x="1617040" y="2261946"/>
                </a:lnTo>
                <a:lnTo>
                  <a:pt x="1693240" y="2261946"/>
                </a:lnTo>
                <a:lnTo>
                  <a:pt x="1693240" y="2280996"/>
                </a:lnTo>
                <a:close/>
              </a:path>
              <a:path w="1866265" h="2281554">
                <a:moveTo>
                  <a:pt x="1559890" y="2280996"/>
                </a:moveTo>
                <a:lnTo>
                  <a:pt x="1483690" y="2280996"/>
                </a:lnTo>
                <a:lnTo>
                  <a:pt x="1483690" y="2261946"/>
                </a:lnTo>
                <a:lnTo>
                  <a:pt x="1559890" y="2261946"/>
                </a:lnTo>
                <a:lnTo>
                  <a:pt x="1559890" y="2280996"/>
                </a:lnTo>
                <a:close/>
              </a:path>
              <a:path w="1866265" h="2281554">
                <a:moveTo>
                  <a:pt x="1426540" y="2280996"/>
                </a:moveTo>
                <a:lnTo>
                  <a:pt x="1350340" y="2280996"/>
                </a:lnTo>
                <a:lnTo>
                  <a:pt x="1350340" y="2261946"/>
                </a:lnTo>
                <a:lnTo>
                  <a:pt x="1426540" y="2261946"/>
                </a:lnTo>
                <a:lnTo>
                  <a:pt x="1426540" y="2280996"/>
                </a:lnTo>
                <a:close/>
              </a:path>
              <a:path w="1866265" h="2281554">
                <a:moveTo>
                  <a:pt x="1293190" y="2280996"/>
                </a:moveTo>
                <a:lnTo>
                  <a:pt x="1216990" y="2280996"/>
                </a:lnTo>
                <a:lnTo>
                  <a:pt x="1216990" y="2261946"/>
                </a:lnTo>
                <a:lnTo>
                  <a:pt x="1293190" y="2261946"/>
                </a:lnTo>
                <a:lnTo>
                  <a:pt x="1293190" y="2280996"/>
                </a:lnTo>
                <a:close/>
              </a:path>
              <a:path w="1866265" h="2281554">
                <a:moveTo>
                  <a:pt x="1159840" y="2280996"/>
                </a:moveTo>
                <a:lnTo>
                  <a:pt x="1083640" y="2280996"/>
                </a:lnTo>
                <a:lnTo>
                  <a:pt x="1083640" y="2261946"/>
                </a:lnTo>
                <a:lnTo>
                  <a:pt x="1159840" y="2261946"/>
                </a:lnTo>
                <a:lnTo>
                  <a:pt x="1159840" y="2280996"/>
                </a:lnTo>
                <a:close/>
              </a:path>
              <a:path w="1866265" h="2281554">
                <a:moveTo>
                  <a:pt x="1026490" y="2280996"/>
                </a:moveTo>
                <a:lnTo>
                  <a:pt x="950290" y="2280996"/>
                </a:lnTo>
                <a:lnTo>
                  <a:pt x="950290" y="2261946"/>
                </a:lnTo>
                <a:lnTo>
                  <a:pt x="1026490" y="2261946"/>
                </a:lnTo>
                <a:lnTo>
                  <a:pt x="1026490" y="2280996"/>
                </a:lnTo>
                <a:close/>
              </a:path>
              <a:path w="1866265" h="2281554">
                <a:moveTo>
                  <a:pt x="893140" y="2280996"/>
                </a:moveTo>
                <a:lnTo>
                  <a:pt x="816940" y="2280996"/>
                </a:lnTo>
                <a:lnTo>
                  <a:pt x="816940" y="2261946"/>
                </a:lnTo>
                <a:lnTo>
                  <a:pt x="893140" y="2261946"/>
                </a:lnTo>
                <a:lnTo>
                  <a:pt x="893140" y="2280996"/>
                </a:lnTo>
                <a:close/>
              </a:path>
              <a:path w="1866265" h="2281554">
                <a:moveTo>
                  <a:pt x="759790" y="2280996"/>
                </a:moveTo>
                <a:lnTo>
                  <a:pt x="683590" y="2280996"/>
                </a:lnTo>
                <a:lnTo>
                  <a:pt x="683590" y="2261946"/>
                </a:lnTo>
                <a:lnTo>
                  <a:pt x="759790" y="2261946"/>
                </a:lnTo>
                <a:lnTo>
                  <a:pt x="759790" y="2280996"/>
                </a:lnTo>
                <a:close/>
              </a:path>
              <a:path w="1866265" h="2281554">
                <a:moveTo>
                  <a:pt x="626440" y="2280996"/>
                </a:moveTo>
                <a:lnTo>
                  <a:pt x="550240" y="2280996"/>
                </a:lnTo>
                <a:lnTo>
                  <a:pt x="550240" y="2261946"/>
                </a:lnTo>
                <a:lnTo>
                  <a:pt x="626440" y="2261946"/>
                </a:lnTo>
                <a:lnTo>
                  <a:pt x="626440" y="2280996"/>
                </a:lnTo>
                <a:close/>
              </a:path>
              <a:path w="1866265" h="2281554">
                <a:moveTo>
                  <a:pt x="493090" y="2280996"/>
                </a:moveTo>
                <a:lnTo>
                  <a:pt x="416890" y="2280996"/>
                </a:lnTo>
                <a:lnTo>
                  <a:pt x="416890" y="2261946"/>
                </a:lnTo>
                <a:lnTo>
                  <a:pt x="493090" y="2261946"/>
                </a:lnTo>
                <a:lnTo>
                  <a:pt x="493090" y="2280996"/>
                </a:lnTo>
                <a:close/>
              </a:path>
              <a:path w="1866265" h="2281554">
                <a:moveTo>
                  <a:pt x="359740" y="2280996"/>
                </a:moveTo>
                <a:lnTo>
                  <a:pt x="283540" y="2280996"/>
                </a:lnTo>
                <a:lnTo>
                  <a:pt x="283540" y="2261946"/>
                </a:lnTo>
                <a:lnTo>
                  <a:pt x="359740" y="2261946"/>
                </a:lnTo>
                <a:lnTo>
                  <a:pt x="359740" y="2280996"/>
                </a:lnTo>
                <a:close/>
              </a:path>
              <a:path w="1866265" h="2281554">
                <a:moveTo>
                  <a:pt x="226390" y="2280996"/>
                </a:moveTo>
                <a:lnTo>
                  <a:pt x="150190" y="2280996"/>
                </a:lnTo>
                <a:lnTo>
                  <a:pt x="150190" y="2261946"/>
                </a:lnTo>
                <a:lnTo>
                  <a:pt x="226390" y="2261946"/>
                </a:lnTo>
                <a:lnTo>
                  <a:pt x="226390" y="2280996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35186" y="2181009"/>
            <a:ext cx="1675764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 i="1">
                <a:latin typeface="华文楷体"/>
                <a:cs typeface="华文楷体"/>
              </a:rPr>
              <a:t>实验验</a:t>
            </a:r>
            <a:r>
              <a:rPr dirty="0" sz="2800" spc="-5" i="1">
                <a:latin typeface="华文楷体"/>
                <a:cs typeface="华文楷体"/>
              </a:rPr>
              <a:t>证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099608" y="1431201"/>
            <a:ext cx="2311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二、右手定则</a:t>
            </a:r>
          </a:p>
        </p:txBody>
      </p:sp>
      <p:sp>
        <p:nvSpPr>
          <p:cNvPr id="4" name="object 4"/>
          <p:cNvSpPr/>
          <p:nvPr/>
        </p:nvSpPr>
        <p:spPr>
          <a:xfrm>
            <a:off x="4577222" y="3446195"/>
            <a:ext cx="3512318" cy="986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583582" y="4716779"/>
            <a:ext cx="3490595" cy="82550"/>
          </a:xfrm>
          <a:custGeom>
            <a:avLst/>
            <a:gdLst/>
            <a:ahLst/>
            <a:cxnLst/>
            <a:rect l="l" t="t" r="r" b="b"/>
            <a:pathLst>
              <a:path w="3490595" h="82550">
                <a:moveTo>
                  <a:pt x="3490569" y="82296"/>
                </a:moveTo>
                <a:lnTo>
                  <a:pt x="9753" y="82296"/>
                </a:lnTo>
                <a:lnTo>
                  <a:pt x="5813" y="78992"/>
                </a:lnTo>
                <a:lnTo>
                  <a:pt x="2728" y="70192"/>
                </a:lnTo>
                <a:lnTo>
                  <a:pt x="718" y="57192"/>
                </a:lnTo>
                <a:lnTo>
                  <a:pt x="0" y="41287"/>
                </a:lnTo>
                <a:lnTo>
                  <a:pt x="718" y="25385"/>
                </a:lnTo>
                <a:lnTo>
                  <a:pt x="2728" y="12357"/>
                </a:lnTo>
                <a:lnTo>
                  <a:pt x="5813" y="3472"/>
                </a:lnTo>
                <a:lnTo>
                  <a:pt x="9753" y="0"/>
                </a:lnTo>
                <a:lnTo>
                  <a:pt x="3490569" y="0"/>
                </a:lnTo>
                <a:lnTo>
                  <a:pt x="3487082" y="3472"/>
                </a:lnTo>
                <a:lnTo>
                  <a:pt x="3484227" y="12357"/>
                </a:lnTo>
                <a:lnTo>
                  <a:pt x="3482298" y="25385"/>
                </a:lnTo>
                <a:lnTo>
                  <a:pt x="3481590" y="41287"/>
                </a:lnTo>
                <a:lnTo>
                  <a:pt x="3482298" y="57192"/>
                </a:lnTo>
                <a:lnTo>
                  <a:pt x="3484227" y="70192"/>
                </a:lnTo>
                <a:lnTo>
                  <a:pt x="3487082" y="78992"/>
                </a:lnTo>
                <a:lnTo>
                  <a:pt x="3490569" y="82296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061959" y="4713732"/>
            <a:ext cx="24383" cy="883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577222" y="4507763"/>
            <a:ext cx="3512318" cy="29749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225084" y="3049523"/>
            <a:ext cx="152577" cy="1792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698832" y="3051060"/>
            <a:ext cx="152565" cy="17924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218645" y="3537394"/>
            <a:ext cx="152577" cy="1792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705271" y="3538931"/>
            <a:ext cx="152565" cy="17926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217134" y="4020705"/>
            <a:ext cx="152565" cy="17926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710186" y="4022229"/>
            <a:ext cx="152577" cy="17926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225567" y="4999863"/>
            <a:ext cx="152577" cy="17926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708662" y="4996103"/>
            <a:ext cx="152577" cy="17926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186080" y="3055353"/>
            <a:ext cx="152565" cy="17926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192520" y="3543223"/>
            <a:ext cx="152565" cy="17926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197434" y="4026534"/>
            <a:ext cx="152565" cy="179247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195910" y="5000409"/>
            <a:ext cx="152565" cy="17926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669036" y="3055353"/>
            <a:ext cx="152577" cy="179247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675475" y="3543223"/>
            <a:ext cx="152577" cy="179260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680403" y="4026522"/>
            <a:ext cx="152565" cy="17926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678879" y="5000396"/>
            <a:ext cx="152565" cy="179260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156936" y="4050068"/>
            <a:ext cx="476884" cy="142875"/>
          </a:xfrm>
          <a:custGeom>
            <a:avLst/>
            <a:gdLst/>
            <a:ahLst/>
            <a:cxnLst/>
            <a:rect l="l" t="t" r="r" b="b"/>
            <a:pathLst>
              <a:path w="476885" h="142875">
                <a:moveTo>
                  <a:pt x="333641" y="142875"/>
                </a:moveTo>
                <a:lnTo>
                  <a:pt x="405079" y="71437"/>
                </a:lnTo>
                <a:lnTo>
                  <a:pt x="333641" y="0"/>
                </a:lnTo>
                <a:lnTo>
                  <a:pt x="447941" y="57150"/>
                </a:lnTo>
                <a:lnTo>
                  <a:pt x="422948" y="57150"/>
                </a:lnTo>
                <a:lnTo>
                  <a:pt x="422948" y="85725"/>
                </a:lnTo>
                <a:lnTo>
                  <a:pt x="447941" y="85725"/>
                </a:lnTo>
                <a:lnTo>
                  <a:pt x="333641" y="142875"/>
                </a:lnTo>
                <a:close/>
              </a:path>
              <a:path w="476885" h="142875">
                <a:moveTo>
                  <a:pt x="390791" y="85725"/>
                </a:moveTo>
                <a:lnTo>
                  <a:pt x="0" y="85725"/>
                </a:lnTo>
                <a:lnTo>
                  <a:pt x="0" y="57150"/>
                </a:lnTo>
                <a:lnTo>
                  <a:pt x="390791" y="57150"/>
                </a:lnTo>
                <a:lnTo>
                  <a:pt x="405079" y="71437"/>
                </a:lnTo>
                <a:lnTo>
                  <a:pt x="390791" y="85725"/>
                </a:lnTo>
                <a:close/>
              </a:path>
              <a:path w="476885" h="142875">
                <a:moveTo>
                  <a:pt x="447941" y="85725"/>
                </a:moveTo>
                <a:lnTo>
                  <a:pt x="422948" y="85725"/>
                </a:lnTo>
                <a:lnTo>
                  <a:pt x="422948" y="57150"/>
                </a:lnTo>
                <a:lnTo>
                  <a:pt x="447941" y="57150"/>
                </a:lnTo>
                <a:lnTo>
                  <a:pt x="476516" y="71437"/>
                </a:lnTo>
                <a:lnTo>
                  <a:pt x="447941" y="85725"/>
                </a:lnTo>
                <a:close/>
              </a:path>
            </a:pathLst>
          </a:custGeom>
          <a:solidFill>
            <a:srgbClr val="EF58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5922784" y="3949928"/>
            <a:ext cx="165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solidFill>
                  <a:srgbClr val="5B9BD4"/>
                </a:solidFill>
                <a:latin typeface="Times New Roman"/>
                <a:cs typeface="Times New Roman"/>
              </a:rPr>
              <a:t>B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034783" y="3229355"/>
            <a:ext cx="1719072" cy="1763268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852519" y="2855086"/>
            <a:ext cx="5355882" cy="2789669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4798529" y="4768824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C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797628" y="3153041"/>
            <a:ext cx="190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D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373454" y="2354376"/>
            <a:ext cx="1244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solidFill>
                  <a:srgbClr val="0000FF"/>
                </a:solidFill>
                <a:latin typeface="华文楷体"/>
                <a:cs typeface="华文楷体"/>
              </a:rPr>
              <a:t>指针右偏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626876" y="3555491"/>
            <a:ext cx="944880" cy="1543811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090756" y="3612286"/>
            <a:ext cx="142875" cy="993775"/>
          </a:xfrm>
          <a:custGeom>
            <a:avLst/>
            <a:gdLst/>
            <a:ahLst/>
            <a:cxnLst/>
            <a:rect l="l" t="t" r="r" b="b"/>
            <a:pathLst>
              <a:path w="142875" h="993775">
                <a:moveTo>
                  <a:pt x="0" y="142875"/>
                </a:moveTo>
                <a:lnTo>
                  <a:pt x="71437" y="0"/>
                </a:lnTo>
                <a:lnTo>
                  <a:pt x="98228" y="53581"/>
                </a:lnTo>
                <a:lnTo>
                  <a:pt x="57150" y="53581"/>
                </a:lnTo>
                <a:lnTo>
                  <a:pt x="57150" y="85725"/>
                </a:lnTo>
                <a:lnTo>
                  <a:pt x="0" y="142875"/>
                </a:lnTo>
                <a:close/>
              </a:path>
              <a:path w="142875" h="993775">
                <a:moveTo>
                  <a:pt x="57150" y="85725"/>
                </a:moveTo>
                <a:lnTo>
                  <a:pt x="57150" y="53581"/>
                </a:lnTo>
                <a:lnTo>
                  <a:pt x="85725" y="53581"/>
                </a:lnTo>
                <a:lnTo>
                  <a:pt x="85725" y="71437"/>
                </a:lnTo>
                <a:lnTo>
                  <a:pt x="71437" y="71437"/>
                </a:lnTo>
                <a:lnTo>
                  <a:pt x="57150" y="85725"/>
                </a:lnTo>
                <a:close/>
              </a:path>
              <a:path w="142875" h="993775">
                <a:moveTo>
                  <a:pt x="142875" y="142875"/>
                </a:moveTo>
                <a:lnTo>
                  <a:pt x="85725" y="85725"/>
                </a:lnTo>
                <a:lnTo>
                  <a:pt x="85725" y="53581"/>
                </a:lnTo>
                <a:lnTo>
                  <a:pt x="98228" y="53581"/>
                </a:lnTo>
                <a:lnTo>
                  <a:pt x="142875" y="142875"/>
                </a:lnTo>
                <a:close/>
              </a:path>
              <a:path w="142875" h="993775">
                <a:moveTo>
                  <a:pt x="85725" y="993508"/>
                </a:moveTo>
                <a:lnTo>
                  <a:pt x="57150" y="993508"/>
                </a:lnTo>
                <a:lnTo>
                  <a:pt x="57150" y="85725"/>
                </a:lnTo>
                <a:lnTo>
                  <a:pt x="71437" y="71437"/>
                </a:lnTo>
                <a:lnTo>
                  <a:pt x="85725" y="85725"/>
                </a:lnTo>
                <a:lnTo>
                  <a:pt x="85725" y="993508"/>
                </a:lnTo>
                <a:close/>
              </a:path>
              <a:path w="142875" h="993775">
                <a:moveTo>
                  <a:pt x="85725" y="85725"/>
                </a:moveTo>
                <a:lnTo>
                  <a:pt x="71437" y="71437"/>
                </a:lnTo>
                <a:lnTo>
                  <a:pt x="85725" y="71437"/>
                </a:lnTo>
                <a:lnTo>
                  <a:pt x="85725" y="8572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5287454" y="3535286"/>
            <a:ext cx="188595" cy="6070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2045"/>
              </a:lnSpc>
              <a:spcBef>
                <a:spcPts val="105"/>
              </a:spcBef>
            </a:pPr>
            <a:r>
              <a:rPr dirty="0" sz="2000" i="1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endParaRPr sz="2000">
              <a:latin typeface="Times New Roman"/>
              <a:cs typeface="Times New Roman"/>
            </a:endParaRPr>
          </a:p>
          <a:p>
            <a:pPr marL="22860">
              <a:lnSpc>
                <a:spcPts val="2525"/>
              </a:lnSpc>
            </a:pPr>
            <a:r>
              <a:rPr dirty="0" sz="2400" i="1">
                <a:latin typeface="Book Antiqua"/>
                <a:cs typeface="Book Antiqua"/>
              </a:rPr>
              <a:t>v</a:t>
            </a:r>
            <a:endParaRPr sz="2400">
              <a:latin typeface="Book Antiqua"/>
              <a:cs typeface="Book Antiqua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178577" y="2987560"/>
            <a:ext cx="1866264" cy="2281555"/>
          </a:xfrm>
          <a:custGeom>
            <a:avLst/>
            <a:gdLst/>
            <a:ahLst/>
            <a:cxnLst/>
            <a:rect l="l" t="t" r="r" b="b"/>
            <a:pathLst>
              <a:path w="1866265" h="2281554">
                <a:moveTo>
                  <a:pt x="16852" y="2271458"/>
                </a:moveTo>
                <a:lnTo>
                  <a:pt x="0" y="2271458"/>
                </a:lnTo>
                <a:lnTo>
                  <a:pt x="0" y="2195258"/>
                </a:lnTo>
                <a:lnTo>
                  <a:pt x="19050" y="2195258"/>
                </a:lnTo>
                <a:lnTo>
                  <a:pt x="19050" y="2261933"/>
                </a:lnTo>
                <a:lnTo>
                  <a:pt x="16852" y="2261933"/>
                </a:lnTo>
                <a:lnTo>
                  <a:pt x="16852" y="2271458"/>
                </a:lnTo>
                <a:close/>
              </a:path>
              <a:path w="1866265" h="2281554">
                <a:moveTo>
                  <a:pt x="93052" y="2280983"/>
                </a:moveTo>
                <a:lnTo>
                  <a:pt x="16852" y="2280983"/>
                </a:lnTo>
                <a:lnTo>
                  <a:pt x="16852" y="2261933"/>
                </a:lnTo>
                <a:lnTo>
                  <a:pt x="19050" y="2261933"/>
                </a:lnTo>
                <a:lnTo>
                  <a:pt x="19050" y="2271458"/>
                </a:lnTo>
                <a:lnTo>
                  <a:pt x="93052" y="2271458"/>
                </a:lnTo>
                <a:lnTo>
                  <a:pt x="93052" y="2280983"/>
                </a:lnTo>
                <a:close/>
              </a:path>
              <a:path w="1866265" h="2281554">
                <a:moveTo>
                  <a:pt x="93052" y="2271458"/>
                </a:moveTo>
                <a:lnTo>
                  <a:pt x="19050" y="2271458"/>
                </a:lnTo>
                <a:lnTo>
                  <a:pt x="19050" y="2261933"/>
                </a:lnTo>
                <a:lnTo>
                  <a:pt x="93052" y="2261933"/>
                </a:lnTo>
                <a:lnTo>
                  <a:pt x="93052" y="2271458"/>
                </a:lnTo>
                <a:close/>
              </a:path>
              <a:path w="1866265" h="2281554">
                <a:moveTo>
                  <a:pt x="19050" y="2138108"/>
                </a:moveTo>
                <a:lnTo>
                  <a:pt x="0" y="2138108"/>
                </a:lnTo>
                <a:lnTo>
                  <a:pt x="0" y="2061908"/>
                </a:lnTo>
                <a:lnTo>
                  <a:pt x="19050" y="2061908"/>
                </a:lnTo>
                <a:lnTo>
                  <a:pt x="19050" y="2138108"/>
                </a:lnTo>
                <a:close/>
              </a:path>
              <a:path w="1866265" h="2281554">
                <a:moveTo>
                  <a:pt x="19050" y="2004758"/>
                </a:moveTo>
                <a:lnTo>
                  <a:pt x="0" y="2004758"/>
                </a:lnTo>
                <a:lnTo>
                  <a:pt x="0" y="1928558"/>
                </a:lnTo>
                <a:lnTo>
                  <a:pt x="19050" y="1928558"/>
                </a:lnTo>
                <a:lnTo>
                  <a:pt x="19050" y="2004758"/>
                </a:lnTo>
                <a:close/>
              </a:path>
              <a:path w="1866265" h="2281554">
                <a:moveTo>
                  <a:pt x="19050" y="1871408"/>
                </a:moveTo>
                <a:lnTo>
                  <a:pt x="0" y="1871408"/>
                </a:lnTo>
                <a:lnTo>
                  <a:pt x="0" y="1795208"/>
                </a:lnTo>
                <a:lnTo>
                  <a:pt x="19050" y="1795208"/>
                </a:lnTo>
                <a:lnTo>
                  <a:pt x="19050" y="1871408"/>
                </a:lnTo>
                <a:close/>
              </a:path>
              <a:path w="1866265" h="2281554">
                <a:moveTo>
                  <a:pt x="19050" y="1738058"/>
                </a:moveTo>
                <a:lnTo>
                  <a:pt x="0" y="1738058"/>
                </a:lnTo>
                <a:lnTo>
                  <a:pt x="0" y="1661858"/>
                </a:lnTo>
                <a:lnTo>
                  <a:pt x="19050" y="1661858"/>
                </a:lnTo>
                <a:lnTo>
                  <a:pt x="19050" y="1738058"/>
                </a:lnTo>
                <a:close/>
              </a:path>
              <a:path w="1866265" h="2281554">
                <a:moveTo>
                  <a:pt x="19050" y="1604708"/>
                </a:moveTo>
                <a:lnTo>
                  <a:pt x="0" y="1604708"/>
                </a:lnTo>
                <a:lnTo>
                  <a:pt x="0" y="1528508"/>
                </a:lnTo>
                <a:lnTo>
                  <a:pt x="19050" y="1528508"/>
                </a:lnTo>
                <a:lnTo>
                  <a:pt x="19050" y="1604708"/>
                </a:lnTo>
                <a:close/>
              </a:path>
              <a:path w="1866265" h="2281554">
                <a:moveTo>
                  <a:pt x="19050" y="1471358"/>
                </a:moveTo>
                <a:lnTo>
                  <a:pt x="0" y="1471358"/>
                </a:lnTo>
                <a:lnTo>
                  <a:pt x="0" y="1395158"/>
                </a:lnTo>
                <a:lnTo>
                  <a:pt x="19050" y="1395158"/>
                </a:lnTo>
                <a:lnTo>
                  <a:pt x="19050" y="1471358"/>
                </a:lnTo>
                <a:close/>
              </a:path>
              <a:path w="1866265" h="2281554">
                <a:moveTo>
                  <a:pt x="19050" y="1338008"/>
                </a:moveTo>
                <a:lnTo>
                  <a:pt x="0" y="1338008"/>
                </a:lnTo>
                <a:lnTo>
                  <a:pt x="0" y="1261808"/>
                </a:lnTo>
                <a:lnTo>
                  <a:pt x="19050" y="1261808"/>
                </a:lnTo>
                <a:lnTo>
                  <a:pt x="19050" y="1338008"/>
                </a:lnTo>
                <a:close/>
              </a:path>
              <a:path w="1866265" h="2281554">
                <a:moveTo>
                  <a:pt x="19050" y="1204658"/>
                </a:moveTo>
                <a:lnTo>
                  <a:pt x="0" y="1204658"/>
                </a:lnTo>
                <a:lnTo>
                  <a:pt x="0" y="1128458"/>
                </a:lnTo>
                <a:lnTo>
                  <a:pt x="19050" y="1128458"/>
                </a:lnTo>
                <a:lnTo>
                  <a:pt x="19050" y="1204658"/>
                </a:lnTo>
                <a:close/>
              </a:path>
              <a:path w="1866265" h="2281554">
                <a:moveTo>
                  <a:pt x="19050" y="1071308"/>
                </a:moveTo>
                <a:lnTo>
                  <a:pt x="0" y="1071308"/>
                </a:lnTo>
                <a:lnTo>
                  <a:pt x="0" y="995108"/>
                </a:lnTo>
                <a:lnTo>
                  <a:pt x="19050" y="995108"/>
                </a:lnTo>
                <a:lnTo>
                  <a:pt x="19050" y="1071308"/>
                </a:lnTo>
                <a:close/>
              </a:path>
              <a:path w="1866265" h="2281554">
                <a:moveTo>
                  <a:pt x="19050" y="937958"/>
                </a:moveTo>
                <a:lnTo>
                  <a:pt x="0" y="937958"/>
                </a:lnTo>
                <a:lnTo>
                  <a:pt x="0" y="861758"/>
                </a:lnTo>
                <a:lnTo>
                  <a:pt x="19050" y="861758"/>
                </a:lnTo>
                <a:lnTo>
                  <a:pt x="19050" y="937958"/>
                </a:lnTo>
                <a:close/>
              </a:path>
              <a:path w="1866265" h="2281554">
                <a:moveTo>
                  <a:pt x="19050" y="804608"/>
                </a:moveTo>
                <a:lnTo>
                  <a:pt x="0" y="804608"/>
                </a:lnTo>
                <a:lnTo>
                  <a:pt x="0" y="728408"/>
                </a:lnTo>
                <a:lnTo>
                  <a:pt x="19050" y="728408"/>
                </a:lnTo>
                <a:lnTo>
                  <a:pt x="19050" y="804608"/>
                </a:lnTo>
                <a:close/>
              </a:path>
              <a:path w="1866265" h="2281554">
                <a:moveTo>
                  <a:pt x="19050" y="671258"/>
                </a:moveTo>
                <a:lnTo>
                  <a:pt x="0" y="671258"/>
                </a:lnTo>
                <a:lnTo>
                  <a:pt x="0" y="595058"/>
                </a:lnTo>
                <a:lnTo>
                  <a:pt x="19050" y="595058"/>
                </a:lnTo>
                <a:lnTo>
                  <a:pt x="19050" y="671258"/>
                </a:lnTo>
                <a:close/>
              </a:path>
              <a:path w="1866265" h="2281554">
                <a:moveTo>
                  <a:pt x="19050" y="537908"/>
                </a:moveTo>
                <a:lnTo>
                  <a:pt x="0" y="537908"/>
                </a:lnTo>
                <a:lnTo>
                  <a:pt x="0" y="461708"/>
                </a:lnTo>
                <a:lnTo>
                  <a:pt x="19050" y="461708"/>
                </a:lnTo>
                <a:lnTo>
                  <a:pt x="19050" y="537908"/>
                </a:lnTo>
                <a:close/>
              </a:path>
              <a:path w="1866265" h="2281554">
                <a:moveTo>
                  <a:pt x="19050" y="404558"/>
                </a:moveTo>
                <a:lnTo>
                  <a:pt x="0" y="404558"/>
                </a:lnTo>
                <a:lnTo>
                  <a:pt x="0" y="328358"/>
                </a:lnTo>
                <a:lnTo>
                  <a:pt x="19050" y="328358"/>
                </a:lnTo>
                <a:lnTo>
                  <a:pt x="19050" y="404558"/>
                </a:lnTo>
                <a:close/>
              </a:path>
              <a:path w="1866265" h="2281554">
                <a:moveTo>
                  <a:pt x="19050" y="271208"/>
                </a:moveTo>
                <a:lnTo>
                  <a:pt x="0" y="271208"/>
                </a:lnTo>
                <a:lnTo>
                  <a:pt x="0" y="195008"/>
                </a:lnTo>
                <a:lnTo>
                  <a:pt x="19050" y="195008"/>
                </a:lnTo>
                <a:lnTo>
                  <a:pt x="19050" y="271208"/>
                </a:lnTo>
                <a:close/>
              </a:path>
              <a:path w="1866265" h="2281554">
                <a:moveTo>
                  <a:pt x="19050" y="137858"/>
                </a:moveTo>
                <a:lnTo>
                  <a:pt x="0" y="137858"/>
                </a:lnTo>
                <a:lnTo>
                  <a:pt x="0" y="61658"/>
                </a:lnTo>
                <a:lnTo>
                  <a:pt x="19050" y="61658"/>
                </a:lnTo>
                <a:lnTo>
                  <a:pt x="19050" y="137858"/>
                </a:lnTo>
                <a:close/>
              </a:path>
              <a:path w="1866265" h="2281554">
                <a:moveTo>
                  <a:pt x="90741" y="19050"/>
                </a:moveTo>
                <a:lnTo>
                  <a:pt x="14541" y="19050"/>
                </a:lnTo>
                <a:lnTo>
                  <a:pt x="14541" y="0"/>
                </a:lnTo>
                <a:lnTo>
                  <a:pt x="90741" y="0"/>
                </a:lnTo>
                <a:lnTo>
                  <a:pt x="90741" y="19050"/>
                </a:lnTo>
                <a:close/>
              </a:path>
              <a:path w="1866265" h="2281554">
                <a:moveTo>
                  <a:pt x="224091" y="19050"/>
                </a:moveTo>
                <a:lnTo>
                  <a:pt x="147891" y="19050"/>
                </a:lnTo>
                <a:lnTo>
                  <a:pt x="147891" y="0"/>
                </a:lnTo>
                <a:lnTo>
                  <a:pt x="224091" y="0"/>
                </a:lnTo>
                <a:lnTo>
                  <a:pt x="224091" y="19050"/>
                </a:lnTo>
                <a:close/>
              </a:path>
              <a:path w="1866265" h="2281554">
                <a:moveTo>
                  <a:pt x="357441" y="19050"/>
                </a:moveTo>
                <a:lnTo>
                  <a:pt x="281241" y="19050"/>
                </a:lnTo>
                <a:lnTo>
                  <a:pt x="281241" y="0"/>
                </a:lnTo>
                <a:lnTo>
                  <a:pt x="357441" y="0"/>
                </a:lnTo>
                <a:lnTo>
                  <a:pt x="357441" y="19050"/>
                </a:lnTo>
                <a:close/>
              </a:path>
              <a:path w="1866265" h="2281554">
                <a:moveTo>
                  <a:pt x="490791" y="19050"/>
                </a:moveTo>
                <a:lnTo>
                  <a:pt x="414591" y="19050"/>
                </a:lnTo>
                <a:lnTo>
                  <a:pt x="414591" y="0"/>
                </a:lnTo>
                <a:lnTo>
                  <a:pt x="490791" y="0"/>
                </a:lnTo>
                <a:lnTo>
                  <a:pt x="490791" y="19050"/>
                </a:lnTo>
                <a:close/>
              </a:path>
              <a:path w="1866265" h="2281554">
                <a:moveTo>
                  <a:pt x="624141" y="19050"/>
                </a:moveTo>
                <a:lnTo>
                  <a:pt x="547941" y="19050"/>
                </a:lnTo>
                <a:lnTo>
                  <a:pt x="547941" y="0"/>
                </a:lnTo>
                <a:lnTo>
                  <a:pt x="624141" y="0"/>
                </a:lnTo>
                <a:lnTo>
                  <a:pt x="624141" y="19050"/>
                </a:lnTo>
                <a:close/>
              </a:path>
              <a:path w="1866265" h="2281554">
                <a:moveTo>
                  <a:pt x="757491" y="19050"/>
                </a:moveTo>
                <a:lnTo>
                  <a:pt x="681291" y="19050"/>
                </a:lnTo>
                <a:lnTo>
                  <a:pt x="681291" y="0"/>
                </a:lnTo>
                <a:lnTo>
                  <a:pt x="757491" y="0"/>
                </a:lnTo>
                <a:lnTo>
                  <a:pt x="757491" y="19050"/>
                </a:lnTo>
                <a:close/>
              </a:path>
              <a:path w="1866265" h="2281554">
                <a:moveTo>
                  <a:pt x="890841" y="19050"/>
                </a:moveTo>
                <a:lnTo>
                  <a:pt x="814641" y="19050"/>
                </a:lnTo>
                <a:lnTo>
                  <a:pt x="814641" y="0"/>
                </a:lnTo>
                <a:lnTo>
                  <a:pt x="890841" y="0"/>
                </a:lnTo>
                <a:lnTo>
                  <a:pt x="890841" y="19050"/>
                </a:lnTo>
                <a:close/>
              </a:path>
              <a:path w="1866265" h="2281554">
                <a:moveTo>
                  <a:pt x="1024191" y="19050"/>
                </a:moveTo>
                <a:lnTo>
                  <a:pt x="947991" y="19050"/>
                </a:lnTo>
                <a:lnTo>
                  <a:pt x="947991" y="0"/>
                </a:lnTo>
                <a:lnTo>
                  <a:pt x="1024191" y="0"/>
                </a:lnTo>
                <a:lnTo>
                  <a:pt x="1024191" y="19050"/>
                </a:lnTo>
                <a:close/>
              </a:path>
              <a:path w="1866265" h="2281554">
                <a:moveTo>
                  <a:pt x="1157541" y="19050"/>
                </a:moveTo>
                <a:lnTo>
                  <a:pt x="1081341" y="19050"/>
                </a:lnTo>
                <a:lnTo>
                  <a:pt x="1081341" y="0"/>
                </a:lnTo>
                <a:lnTo>
                  <a:pt x="1157541" y="0"/>
                </a:lnTo>
                <a:lnTo>
                  <a:pt x="1157541" y="19050"/>
                </a:lnTo>
                <a:close/>
              </a:path>
              <a:path w="1866265" h="2281554">
                <a:moveTo>
                  <a:pt x="1290891" y="19050"/>
                </a:moveTo>
                <a:lnTo>
                  <a:pt x="1214691" y="19050"/>
                </a:lnTo>
                <a:lnTo>
                  <a:pt x="1214691" y="0"/>
                </a:lnTo>
                <a:lnTo>
                  <a:pt x="1290891" y="0"/>
                </a:lnTo>
                <a:lnTo>
                  <a:pt x="1290891" y="19050"/>
                </a:lnTo>
                <a:close/>
              </a:path>
              <a:path w="1866265" h="2281554">
                <a:moveTo>
                  <a:pt x="1424241" y="19050"/>
                </a:moveTo>
                <a:lnTo>
                  <a:pt x="1348041" y="19050"/>
                </a:lnTo>
                <a:lnTo>
                  <a:pt x="1348041" y="0"/>
                </a:lnTo>
                <a:lnTo>
                  <a:pt x="1424241" y="0"/>
                </a:lnTo>
                <a:lnTo>
                  <a:pt x="1424241" y="19050"/>
                </a:lnTo>
                <a:close/>
              </a:path>
              <a:path w="1866265" h="2281554">
                <a:moveTo>
                  <a:pt x="1557591" y="19050"/>
                </a:moveTo>
                <a:lnTo>
                  <a:pt x="1481391" y="19050"/>
                </a:lnTo>
                <a:lnTo>
                  <a:pt x="1481391" y="0"/>
                </a:lnTo>
                <a:lnTo>
                  <a:pt x="1557591" y="0"/>
                </a:lnTo>
                <a:lnTo>
                  <a:pt x="1557591" y="19050"/>
                </a:lnTo>
                <a:close/>
              </a:path>
              <a:path w="1866265" h="2281554">
                <a:moveTo>
                  <a:pt x="1690941" y="19050"/>
                </a:moveTo>
                <a:lnTo>
                  <a:pt x="1614741" y="19050"/>
                </a:lnTo>
                <a:lnTo>
                  <a:pt x="1614741" y="0"/>
                </a:lnTo>
                <a:lnTo>
                  <a:pt x="1690941" y="0"/>
                </a:lnTo>
                <a:lnTo>
                  <a:pt x="1690941" y="19050"/>
                </a:lnTo>
                <a:close/>
              </a:path>
              <a:path w="1866265" h="2281554">
                <a:moveTo>
                  <a:pt x="1824291" y="19050"/>
                </a:moveTo>
                <a:lnTo>
                  <a:pt x="1748091" y="19050"/>
                </a:lnTo>
                <a:lnTo>
                  <a:pt x="1748091" y="0"/>
                </a:lnTo>
                <a:lnTo>
                  <a:pt x="1824291" y="0"/>
                </a:lnTo>
                <a:lnTo>
                  <a:pt x="1824291" y="19050"/>
                </a:lnTo>
                <a:close/>
              </a:path>
              <a:path w="1866265" h="2281554">
                <a:moveTo>
                  <a:pt x="1866049" y="110642"/>
                </a:moveTo>
                <a:lnTo>
                  <a:pt x="1846999" y="110642"/>
                </a:lnTo>
                <a:lnTo>
                  <a:pt x="1846999" y="34442"/>
                </a:lnTo>
                <a:lnTo>
                  <a:pt x="1866049" y="34442"/>
                </a:lnTo>
                <a:lnTo>
                  <a:pt x="1866049" y="110642"/>
                </a:lnTo>
                <a:close/>
              </a:path>
              <a:path w="1866265" h="2281554">
                <a:moveTo>
                  <a:pt x="1866049" y="243992"/>
                </a:moveTo>
                <a:lnTo>
                  <a:pt x="1846999" y="243992"/>
                </a:lnTo>
                <a:lnTo>
                  <a:pt x="1846999" y="167792"/>
                </a:lnTo>
                <a:lnTo>
                  <a:pt x="1866049" y="167792"/>
                </a:lnTo>
                <a:lnTo>
                  <a:pt x="1866049" y="243992"/>
                </a:lnTo>
                <a:close/>
              </a:path>
              <a:path w="1866265" h="2281554">
                <a:moveTo>
                  <a:pt x="1866049" y="377342"/>
                </a:moveTo>
                <a:lnTo>
                  <a:pt x="1846999" y="377342"/>
                </a:lnTo>
                <a:lnTo>
                  <a:pt x="1846999" y="301142"/>
                </a:lnTo>
                <a:lnTo>
                  <a:pt x="1866049" y="301142"/>
                </a:lnTo>
                <a:lnTo>
                  <a:pt x="1866049" y="377342"/>
                </a:lnTo>
                <a:close/>
              </a:path>
              <a:path w="1866265" h="2281554">
                <a:moveTo>
                  <a:pt x="1866049" y="510692"/>
                </a:moveTo>
                <a:lnTo>
                  <a:pt x="1846999" y="510692"/>
                </a:lnTo>
                <a:lnTo>
                  <a:pt x="1846999" y="434492"/>
                </a:lnTo>
                <a:lnTo>
                  <a:pt x="1866049" y="434492"/>
                </a:lnTo>
                <a:lnTo>
                  <a:pt x="1866049" y="510692"/>
                </a:lnTo>
                <a:close/>
              </a:path>
              <a:path w="1866265" h="2281554">
                <a:moveTo>
                  <a:pt x="1866049" y="644042"/>
                </a:moveTo>
                <a:lnTo>
                  <a:pt x="1846999" y="644042"/>
                </a:lnTo>
                <a:lnTo>
                  <a:pt x="1846999" y="567842"/>
                </a:lnTo>
                <a:lnTo>
                  <a:pt x="1866049" y="567842"/>
                </a:lnTo>
                <a:lnTo>
                  <a:pt x="1866049" y="644042"/>
                </a:lnTo>
                <a:close/>
              </a:path>
              <a:path w="1866265" h="2281554">
                <a:moveTo>
                  <a:pt x="1866049" y="777392"/>
                </a:moveTo>
                <a:lnTo>
                  <a:pt x="1846999" y="777392"/>
                </a:lnTo>
                <a:lnTo>
                  <a:pt x="1846999" y="701192"/>
                </a:lnTo>
                <a:lnTo>
                  <a:pt x="1866049" y="701192"/>
                </a:lnTo>
                <a:lnTo>
                  <a:pt x="1866049" y="777392"/>
                </a:lnTo>
                <a:close/>
              </a:path>
              <a:path w="1866265" h="2281554">
                <a:moveTo>
                  <a:pt x="1866049" y="910742"/>
                </a:moveTo>
                <a:lnTo>
                  <a:pt x="1846999" y="910742"/>
                </a:lnTo>
                <a:lnTo>
                  <a:pt x="1846999" y="834542"/>
                </a:lnTo>
                <a:lnTo>
                  <a:pt x="1866049" y="834542"/>
                </a:lnTo>
                <a:lnTo>
                  <a:pt x="1866049" y="910742"/>
                </a:lnTo>
                <a:close/>
              </a:path>
              <a:path w="1866265" h="2281554">
                <a:moveTo>
                  <a:pt x="1866049" y="1044092"/>
                </a:moveTo>
                <a:lnTo>
                  <a:pt x="1846999" y="1044092"/>
                </a:lnTo>
                <a:lnTo>
                  <a:pt x="1846999" y="967892"/>
                </a:lnTo>
                <a:lnTo>
                  <a:pt x="1866049" y="967892"/>
                </a:lnTo>
                <a:lnTo>
                  <a:pt x="1866049" y="1044092"/>
                </a:lnTo>
                <a:close/>
              </a:path>
              <a:path w="1866265" h="2281554">
                <a:moveTo>
                  <a:pt x="1866049" y="1177442"/>
                </a:moveTo>
                <a:lnTo>
                  <a:pt x="1846999" y="1177442"/>
                </a:lnTo>
                <a:lnTo>
                  <a:pt x="1846999" y="1101242"/>
                </a:lnTo>
                <a:lnTo>
                  <a:pt x="1866049" y="1101242"/>
                </a:lnTo>
                <a:lnTo>
                  <a:pt x="1866049" y="1177442"/>
                </a:lnTo>
                <a:close/>
              </a:path>
              <a:path w="1866265" h="2281554">
                <a:moveTo>
                  <a:pt x="1866049" y="1310792"/>
                </a:moveTo>
                <a:lnTo>
                  <a:pt x="1846999" y="1310792"/>
                </a:lnTo>
                <a:lnTo>
                  <a:pt x="1846999" y="1234592"/>
                </a:lnTo>
                <a:lnTo>
                  <a:pt x="1866049" y="1234592"/>
                </a:lnTo>
                <a:lnTo>
                  <a:pt x="1866049" y="1310792"/>
                </a:lnTo>
                <a:close/>
              </a:path>
              <a:path w="1866265" h="2281554">
                <a:moveTo>
                  <a:pt x="1866049" y="1444142"/>
                </a:moveTo>
                <a:lnTo>
                  <a:pt x="1846999" y="1444142"/>
                </a:lnTo>
                <a:lnTo>
                  <a:pt x="1846999" y="1367942"/>
                </a:lnTo>
                <a:lnTo>
                  <a:pt x="1866049" y="1367942"/>
                </a:lnTo>
                <a:lnTo>
                  <a:pt x="1866049" y="1444142"/>
                </a:lnTo>
                <a:close/>
              </a:path>
              <a:path w="1866265" h="2281554">
                <a:moveTo>
                  <a:pt x="1866049" y="1577492"/>
                </a:moveTo>
                <a:lnTo>
                  <a:pt x="1846999" y="1577492"/>
                </a:lnTo>
                <a:lnTo>
                  <a:pt x="1846999" y="1501292"/>
                </a:lnTo>
                <a:lnTo>
                  <a:pt x="1866049" y="1501292"/>
                </a:lnTo>
                <a:lnTo>
                  <a:pt x="1866049" y="1577492"/>
                </a:lnTo>
                <a:close/>
              </a:path>
              <a:path w="1866265" h="2281554">
                <a:moveTo>
                  <a:pt x="1866049" y="1710842"/>
                </a:moveTo>
                <a:lnTo>
                  <a:pt x="1846999" y="1710842"/>
                </a:lnTo>
                <a:lnTo>
                  <a:pt x="1846999" y="1634642"/>
                </a:lnTo>
                <a:lnTo>
                  <a:pt x="1866049" y="1634642"/>
                </a:lnTo>
                <a:lnTo>
                  <a:pt x="1866049" y="1710842"/>
                </a:lnTo>
                <a:close/>
              </a:path>
              <a:path w="1866265" h="2281554">
                <a:moveTo>
                  <a:pt x="1866049" y="1844192"/>
                </a:moveTo>
                <a:lnTo>
                  <a:pt x="1846999" y="1844192"/>
                </a:lnTo>
                <a:lnTo>
                  <a:pt x="1846999" y="1767992"/>
                </a:lnTo>
                <a:lnTo>
                  <a:pt x="1866049" y="1767992"/>
                </a:lnTo>
                <a:lnTo>
                  <a:pt x="1866049" y="1844192"/>
                </a:lnTo>
                <a:close/>
              </a:path>
              <a:path w="1866265" h="2281554">
                <a:moveTo>
                  <a:pt x="1866049" y="1977542"/>
                </a:moveTo>
                <a:lnTo>
                  <a:pt x="1846999" y="1977542"/>
                </a:lnTo>
                <a:lnTo>
                  <a:pt x="1846999" y="1901342"/>
                </a:lnTo>
                <a:lnTo>
                  <a:pt x="1866049" y="1901342"/>
                </a:lnTo>
                <a:lnTo>
                  <a:pt x="1866049" y="1977542"/>
                </a:lnTo>
                <a:close/>
              </a:path>
              <a:path w="1866265" h="2281554">
                <a:moveTo>
                  <a:pt x="1866049" y="2110892"/>
                </a:moveTo>
                <a:lnTo>
                  <a:pt x="1846999" y="2110892"/>
                </a:lnTo>
                <a:lnTo>
                  <a:pt x="1846999" y="2034692"/>
                </a:lnTo>
                <a:lnTo>
                  <a:pt x="1866049" y="2034692"/>
                </a:lnTo>
                <a:lnTo>
                  <a:pt x="1866049" y="2110892"/>
                </a:lnTo>
                <a:close/>
              </a:path>
              <a:path w="1866265" h="2281554">
                <a:moveTo>
                  <a:pt x="1866049" y="2244242"/>
                </a:moveTo>
                <a:lnTo>
                  <a:pt x="1846999" y="2244242"/>
                </a:lnTo>
                <a:lnTo>
                  <a:pt x="1846999" y="2168042"/>
                </a:lnTo>
                <a:lnTo>
                  <a:pt x="1866049" y="2168042"/>
                </a:lnTo>
                <a:lnTo>
                  <a:pt x="1866049" y="2244242"/>
                </a:lnTo>
                <a:close/>
              </a:path>
              <a:path w="1866265" h="2281554">
                <a:moveTo>
                  <a:pt x="1826602" y="2280983"/>
                </a:moveTo>
                <a:lnTo>
                  <a:pt x="1750402" y="2280983"/>
                </a:lnTo>
                <a:lnTo>
                  <a:pt x="1750402" y="2261933"/>
                </a:lnTo>
                <a:lnTo>
                  <a:pt x="1826602" y="2261933"/>
                </a:lnTo>
                <a:lnTo>
                  <a:pt x="1826602" y="2280983"/>
                </a:lnTo>
                <a:close/>
              </a:path>
              <a:path w="1866265" h="2281554">
                <a:moveTo>
                  <a:pt x="1693252" y="2280983"/>
                </a:moveTo>
                <a:lnTo>
                  <a:pt x="1617052" y="2280983"/>
                </a:lnTo>
                <a:lnTo>
                  <a:pt x="1617052" y="2261933"/>
                </a:lnTo>
                <a:lnTo>
                  <a:pt x="1693252" y="2261933"/>
                </a:lnTo>
                <a:lnTo>
                  <a:pt x="1693252" y="2280983"/>
                </a:lnTo>
                <a:close/>
              </a:path>
              <a:path w="1866265" h="2281554">
                <a:moveTo>
                  <a:pt x="1559902" y="2280983"/>
                </a:moveTo>
                <a:lnTo>
                  <a:pt x="1483702" y="2280983"/>
                </a:lnTo>
                <a:lnTo>
                  <a:pt x="1483702" y="2261933"/>
                </a:lnTo>
                <a:lnTo>
                  <a:pt x="1559902" y="2261933"/>
                </a:lnTo>
                <a:lnTo>
                  <a:pt x="1559902" y="2280983"/>
                </a:lnTo>
                <a:close/>
              </a:path>
              <a:path w="1866265" h="2281554">
                <a:moveTo>
                  <a:pt x="1426552" y="2280983"/>
                </a:moveTo>
                <a:lnTo>
                  <a:pt x="1350352" y="2280983"/>
                </a:lnTo>
                <a:lnTo>
                  <a:pt x="1350352" y="2261933"/>
                </a:lnTo>
                <a:lnTo>
                  <a:pt x="1426552" y="2261933"/>
                </a:lnTo>
                <a:lnTo>
                  <a:pt x="1426552" y="2280983"/>
                </a:lnTo>
                <a:close/>
              </a:path>
              <a:path w="1866265" h="2281554">
                <a:moveTo>
                  <a:pt x="1293202" y="2280983"/>
                </a:moveTo>
                <a:lnTo>
                  <a:pt x="1217002" y="2280983"/>
                </a:lnTo>
                <a:lnTo>
                  <a:pt x="1217002" y="2261933"/>
                </a:lnTo>
                <a:lnTo>
                  <a:pt x="1293202" y="2261933"/>
                </a:lnTo>
                <a:lnTo>
                  <a:pt x="1293202" y="2280983"/>
                </a:lnTo>
                <a:close/>
              </a:path>
              <a:path w="1866265" h="2281554">
                <a:moveTo>
                  <a:pt x="1159852" y="2280983"/>
                </a:moveTo>
                <a:lnTo>
                  <a:pt x="1083652" y="2280983"/>
                </a:lnTo>
                <a:lnTo>
                  <a:pt x="1083652" y="2261933"/>
                </a:lnTo>
                <a:lnTo>
                  <a:pt x="1159852" y="2261933"/>
                </a:lnTo>
                <a:lnTo>
                  <a:pt x="1159852" y="2280983"/>
                </a:lnTo>
                <a:close/>
              </a:path>
              <a:path w="1866265" h="2281554">
                <a:moveTo>
                  <a:pt x="1026502" y="2280983"/>
                </a:moveTo>
                <a:lnTo>
                  <a:pt x="950302" y="2280983"/>
                </a:lnTo>
                <a:lnTo>
                  <a:pt x="950302" y="2261933"/>
                </a:lnTo>
                <a:lnTo>
                  <a:pt x="1026502" y="2261933"/>
                </a:lnTo>
                <a:lnTo>
                  <a:pt x="1026502" y="2280983"/>
                </a:lnTo>
                <a:close/>
              </a:path>
              <a:path w="1866265" h="2281554">
                <a:moveTo>
                  <a:pt x="893152" y="2280983"/>
                </a:moveTo>
                <a:lnTo>
                  <a:pt x="816952" y="2280983"/>
                </a:lnTo>
                <a:lnTo>
                  <a:pt x="816952" y="2261933"/>
                </a:lnTo>
                <a:lnTo>
                  <a:pt x="893152" y="2261933"/>
                </a:lnTo>
                <a:lnTo>
                  <a:pt x="893152" y="2280983"/>
                </a:lnTo>
                <a:close/>
              </a:path>
              <a:path w="1866265" h="2281554">
                <a:moveTo>
                  <a:pt x="759802" y="2280983"/>
                </a:moveTo>
                <a:lnTo>
                  <a:pt x="683602" y="2280983"/>
                </a:lnTo>
                <a:lnTo>
                  <a:pt x="683602" y="2261933"/>
                </a:lnTo>
                <a:lnTo>
                  <a:pt x="759802" y="2261933"/>
                </a:lnTo>
                <a:lnTo>
                  <a:pt x="759802" y="2280983"/>
                </a:lnTo>
                <a:close/>
              </a:path>
              <a:path w="1866265" h="2281554">
                <a:moveTo>
                  <a:pt x="626452" y="2280983"/>
                </a:moveTo>
                <a:lnTo>
                  <a:pt x="550252" y="2280983"/>
                </a:lnTo>
                <a:lnTo>
                  <a:pt x="550252" y="2261933"/>
                </a:lnTo>
                <a:lnTo>
                  <a:pt x="626452" y="2261933"/>
                </a:lnTo>
                <a:lnTo>
                  <a:pt x="626452" y="2280983"/>
                </a:lnTo>
                <a:close/>
              </a:path>
              <a:path w="1866265" h="2281554">
                <a:moveTo>
                  <a:pt x="493102" y="2280983"/>
                </a:moveTo>
                <a:lnTo>
                  <a:pt x="416902" y="2280983"/>
                </a:lnTo>
                <a:lnTo>
                  <a:pt x="416902" y="2261933"/>
                </a:lnTo>
                <a:lnTo>
                  <a:pt x="493102" y="2261933"/>
                </a:lnTo>
                <a:lnTo>
                  <a:pt x="493102" y="2280983"/>
                </a:lnTo>
                <a:close/>
              </a:path>
              <a:path w="1866265" h="2281554">
                <a:moveTo>
                  <a:pt x="359752" y="2280983"/>
                </a:moveTo>
                <a:lnTo>
                  <a:pt x="283552" y="2280983"/>
                </a:lnTo>
                <a:lnTo>
                  <a:pt x="283552" y="2261933"/>
                </a:lnTo>
                <a:lnTo>
                  <a:pt x="359752" y="2261933"/>
                </a:lnTo>
                <a:lnTo>
                  <a:pt x="359752" y="2280983"/>
                </a:lnTo>
                <a:close/>
              </a:path>
              <a:path w="1866265" h="2281554">
                <a:moveTo>
                  <a:pt x="226402" y="2280983"/>
                </a:moveTo>
                <a:lnTo>
                  <a:pt x="150202" y="2280983"/>
                </a:lnTo>
                <a:lnTo>
                  <a:pt x="150202" y="2261933"/>
                </a:lnTo>
                <a:lnTo>
                  <a:pt x="226402" y="2261933"/>
                </a:lnTo>
                <a:lnTo>
                  <a:pt x="226402" y="2280983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89415" y="2247264"/>
            <a:ext cx="1675764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 i="1">
                <a:latin typeface="华文楷体"/>
                <a:cs typeface="华文楷体"/>
              </a:rPr>
              <a:t>实验验</a:t>
            </a:r>
            <a:r>
              <a:rPr dirty="0" sz="2800" spc="-5" i="1">
                <a:latin typeface="华文楷体"/>
                <a:cs typeface="华文楷体"/>
              </a:rPr>
              <a:t>证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9370">
              <a:lnSpc>
                <a:spcPct val="100000"/>
              </a:lnSpc>
              <a:spcBef>
                <a:spcPts val="100"/>
              </a:spcBef>
            </a:pPr>
            <a:r>
              <a:rPr dirty="0"/>
              <a:t>二、右手定则</a:t>
            </a:r>
          </a:p>
        </p:txBody>
      </p:sp>
      <p:sp>
        <p:nvSpPr>
          <p:cNvPr id="4" name="object 4"/>
          <p:cNvSpPr/>
          <p:nvPr/>
        </p:nvSpPr>
        <p:spPr>
          <a:xfrm>
            <a:off x="4431452" y="3512451"/>
            <a:ext cx="3512318" cy="986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437799" y="4783835"/>
            <a:ext cx="3490595" cy="81280"/>
          </a:xfrm>
          <a:custGeom>
            <a:avLst/>
            <a:gdLst/>
            <a:ahLst/>
            <a:cxnLst/>
            <a:rect l="l" t="t" r="r" b="b"/>
            <a:pathLst>
              <a:path w="3490595" h="81279">
                <a:moveTo>
                  <a:pt x="3490048" y="80772"/>
                </a:moveTo>
                <a:lnTo>
                  <a:pt x="9232" y="80772"/>
                </a:lnTo>
                <a:lnTo>
                  <a:pt x="5598" y="77892"/>
                </a:lnTo>
                <a:lnTo>
                  <a:pt x="2668" y="69308"/>
                </a:lnTo>
                <a:lnTo>
                  <a:pt x="712" y="56388"/>
                </a:lnTo>
                <a:lnTo>
                  <a:pt x="0" y="40500"/>
                </a:lnTo>
                <a:lnTo>
                  <a:pt x="712" y="24608"/>
                </a:lnTo>
                <a:lnTo>
                  <a:pt x="2668" y="11663"/>
                </a:lnTo>
                <a:lnTo>
                  <a:pt x="5598" y="3011"/>
                </a:lnTo>
                <a:lnTo>
                  <a:pt x="9232" y="0"/>
                </a:lnTo>
                <a:lnTo>
                  <a:pt x="3490048" y="0"/>
                </a:lnTo>
                <a:lnTo>
                  <a:pt x="3486864" y="3011"/>
                </a:lnTo>
                <a:lnTo>
                  <a:pt x="3484168" y="11663"/>
                </a:lnTo>
                <a:lnTo>
                  <a:pt x="3482301" y="24608"/>
                </a:lnTo>
                <a:lnTo>
                  <a:pt x="3481603" y="40500"/>
                </a:lnTo>
                <a:lnTo>
                  <a:pt x="3482301" y="56388"/>
                </a:lnTo>
                <a:lnTo>
                  <a:pt x="3484168" y="69308"/>
                </a:lnTo>
                <a:lnTo>
                  <a:pt x="3486864" y="77892"/>
                </a:lnTo>
                <a:lnTo>
                  <a:pt x="3490048" y="80772"/>
                </a:lnTo>
                <a:close/>
              </a:path>
            </a:pathLst>
          </a:custGeom>
          <a:solidFill>
            <a:srgbClr val="76707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915656" y="4780788"/>
            <a:ext cx="24383" cy="868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431452" y="4574019"/>
            <a:ext cx="3512318" cy="2975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079314" y="3115792"/>
            <a:ext cx="152577" cy="1792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553062" y="3117316"/>
            <a:ext cx="152565" cy="17926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072875" y="3603662"/>
            <a:ext cx="152577" cy="1792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559501" y="3605186"/>
            <a:ext cx="152565" cy="17926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071364" y="4086974"/>
            <a:ext cx="152565" cy="17924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564416" y="4088498"/>
            <a:ext cx="152565" cy="17926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079796" y="5066131"/>
            <a:ext cx="152565" cy="17924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562892" y="5062372"/>
            <a:ext cx="152565" cy="17926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040297" y="3121609"/>
            <a:ext cx="152577" cy="17926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046736" y="3609479"/>
            <a:ext cx="152577" cy="17926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051664" y="4092790"/>
            <a:ext cx="152565" cy="17926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050140" y="5066665"/>
            <a:ext cx="152565" cy="17926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523266" y="3121609"/>
            <a:ext cx="152577" cy="17926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529705" y="3609479"/>
            <a:ext cx="152577" cy="179260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534632" y="4092790"/>
            <a:ext cx="152565" cy="179260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533095" y="5066665"/>
            <a:ext cx="152577" cy="17926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421147" y="4117047"/>
            <a:ext cx="487680" cy="142875"/>
          </a:xfrm>
          <a:custGeom>
            <a:avLst/>
            <a:gdLst/>
            <a:ahLst/>
            <a:cxnLst/>
            <a:rect l="l" t="t" r="r" b="b"/>
            <a:pathLst>
              <a:path w="487679" h="142875">
                <a:moveTo>
                  <a:pt x="141681" y="142849"/>
                </a:moveTo>
                <a:lnTo>
                  <a:pt x="0" y="69075"/>
                </a:lnTo>
                <a:lnTo>
                  <a:pt x="144030" y="0"/>
                </a:lnTo>
                <a:lnTo>
                  <a:pt x="86491" y="55676"/>
                </a:lnTo>
                <a:lnTo>
                  <a:pt x="53809" y="55676"/>
                </a:lnTo>
                <a:lnTo>
                  <a:pt x="53339" y="84239"/>
                </a:lnTo>
                <a:lnTo>
                  <a:pt x="85488" y="84767"/>
                </a:lnTo>
                <a:lnTo>
                  <a:pt x="141681" y="142849"/>
                </a:lnTo>
                <a:close/>
              </a:path>
              <a:path w="487679" h="142875">
                <a:moveTo>
                  <a:pt x="85488" y="84767"/>
                </a:moveTo>
                <a:lnTo>
                  <a:pt x="53339" y="84239"/>
                </a:lnTo>
                <a:lnTo>
                  <a:pt x="53809" y="55676"/>
                </a:lnTo>
                <a:lnTo>
                  <a:pt x="85946" y="56204"/>
                </a:lnTo>
                <a:lnTo>
                  <a:pt x="71437" y="70243"/>
                </a:lnTo>
                <a:lnTo>
                  <a:pt x="85488" y="84767"/>
                </a:lnTo>
                <a:close/>
              </a:path>
              <a:path w="487679" h="142875">
                <a:moveTo>
                  <a:pt x="85946" y="56204"/>
                </a:moveTo>
                <a:lnTo>
                  <a:pt x="53809" y="55676"/>
                </a:lnTo>
                <a:lnTo>
                  <a:pt x="86491" y="55676"/>
                </a:lnTo>
                <a:lnTo>
                  <a:pt x="85946" y="56204"/>
                </a:lnTo>
                <a:close/>
              </a:path>
              <a:path w="487679" h="142875">
                <a:moveTo>
                  <a:pt x="486790" y="91363"/>
                </a:moveTo>
                <a:lnTo>
                  <a:pt x="85488" y="84767"/>
                </a:lnTo>
                <a:lnTo>
                  <a:pt x="71437" y="70243"/>
                </a:lnTo>
                <a:lnTo>
                  <a:pt x="85946" y="56204"/>
                </a:lnTo>
                <a:lnTo>
                  <a:pt x="487260" y="62788"/>
                </a:lnTo>
                <a:lnTo>
                  <a:pt x="486790" y="91363"/>
                </a:lnTo>
                <a:close/>
              </a:path>
            </a:pathLst>
          </a:custGeom>
          <a:solidFill>
            <a:srgbClr val="EF58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6267005" y="3989323"/>
            <a:ext cx="165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solidFill>
                  <a:srgbClr val="5B9BD4"/>
                </a:solidFill>
                <a:latin typeface="Times New Roman"/>
                <a:cs typeface="Times New Roman"/>
              </a:rPr>
              <a:t>B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890004" y="3294888"/>
            <a:ext cx="1719072" cy="1763268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629454" y="2921342"/>
            <a:ext cx="4433176" cy="2520696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4626635" y="4848149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C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651857" y="3219310"/>
            <a:ext cx="190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D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227684" y="2420632"/>
            <a:ext cx="1244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solidFill>
                  <a:srgbClr val="0000FF"/>
                </a:solidFill>
                <a:latin typeface="华文楷体"/>
                <a:cs typeface="华文楷体"/>
              </a:rPr>
              <a:t>指针左偏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567171" y="3556101"/>
            <a:ext cx="822960" cy="1344167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857570" y="3639210"/>
            <a:ext cx="142875" cy="1055370"/>
          </a:xfrm>
          <a:custGeom>
            <a:avLst/>
            <a:gdLst/>
            <a:ahLst/>
            <a:cxnLst/>
            <a:rect l="l" t="t" r="r" b="b"/>
            <a:pathLst>
              <a:path w="142875" h="1055370">
                <a:moveTo>
                  <a:pt x="71107" y="983640"/>
                </a:moveTo>
                <a:lnTo>
                  <a:pt x="56892" y="969293"/>
                </a:lnTo>
                <a:lnTo>
                  <a:pt x="61391" y="0"/>
                </a:lnTo>
                <a:lnTo>
                  <a:pt x="89966" y="126"/>
                </a:lnTo>
                <a:lnTo>
                  <a:pt x="85455" y="969424"/>
                </a:lnTo>
                <a:lnTo>
                  <a:pt x="71107" y="983640"/>
                </a:lnTo>
                <a:close/>
              </a:path>
              <a:path w="142875" h="1055370">
                <a:moveTo>
                  <a:pt x="70777" y="1055077"/>
                </a:moveTo>
                <a:lnTo>
                  <a:pt x="0" y="911872"/>
                </a:lnTo>
                <a:lnTo>
                  <a:pt x="56892" y="969293"/>
                </a:lnTo>
                <a:lnTo>
                  <a:pt x="56743" y="1001433"/>
                </a:lnTo>
                <a:lnTo>
                  <a:pt x="97845" y="1001560"/>
                </a:lnTo>
                <a:lnTo>
                  <a:pt x="70777" y="1055077"/>
                </a:lnTo>
                <a:close/>
              </a:path>
              <a:path w="142875" h="1055370">
                <a:moveTo>
                  <a:pt x="97845" y="1001560"/>
                </a:moveTo>
                <a:lnTo>
                  <a:pt x="85305" y="1001560"/>
                </a:lnTo>
                <a:lnTo>
                  <a:pt x="85455" y="969424"/>
                </a:lnTo>
                <a:lnTo>
                  <a:pt x="142875" y="912533"/>
                </a:lnTo>
                <a:lnTo>
                  <a:pt x="97845" y="1001560"/>
                </a:lnTo>
                <a:close/>
              </a:path>
              <a:path w="142875" h="1055370">
                <a:moveTo>
                  <a:pt x="85305" y="1001560"/>
                </a:moveTo>
                <a:lnTo>
                  <a:pt x="56743" y="1001433"/>
                </a:lnTo>
                <a:lnTo>
                  <a:pt x="56892" y="969293"/>
                </a:lnTo>
                <a:lnTo>
                  <a:pt x="71107" y="983640"/>
                </a:lnTo>
                <a:lnTo>
                  <a:pt x="85389" y="983640"/>
                </a:lnTo>
                <a:lnTo>
                  <a:pt x="85305" y="1001560"/>
                </a:lnTo>
                <a:close/>
              </a:path>
              <a:path w="142875" h="1055370">
                <a:moveTo>
                  <a:pt x="85389" y="983640"/>
                </a:moveTo>
                <a:lnTo>
                  <a:pt x="71107" y="983640"/>
                </a:lnTo>
                <a:lnTo>
                  <a:pt x="85455" y="969424"/>
                </a:lnTo>
                <a:lnTo>
                  <a:pt x="85389" y="98364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5653506" y="3821836"/>
            <a:ext cx="177800" cy="9436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Book Antiqua"/>
                <a:cs typeface="Book Antiqua"/>
              </a:rPr>
              <a:t>v</a:t>
            </a:r>
            <a:endParaRPr sz="2400">
              <a:latin typeface="Book Antiqua"/>
              <a:cs typeface="Book Antiqua"/>
            </a:endParaRPr>
          </a:p>
          <a:p>
            <a:pPr marL="73660">
              <a:lnSpc>
                <a:spcPct val="100000"/>
              </a:lnSpc>
              <a:spcBef>
                <a:spcPts val="1945"/>
              </a:spcBef>
            </a:pPr>
            <a:r>
              <a:rPr dirty="0" sz="2000" i="1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032806" y="3053816"/>
            <a:ext cx="1866264" cy="2281555"/>
          </a:xfrm>
          <a:custGeom>
            <a:avLst/>
            <a:gdLst/>
            <a:ahLst/>
            <a:cxnLst/>
            <a:rect l="l" t="t" r="r" b="b"/>
            <a:pathLst>
              <a:path w="1866265" h="2281554">
                <a:moveTo>
                  <a:pt x="16840" y="2271458"/>
                </a:moveTo>
                <a:lnTo>
                  <a:pt x="0" y="2271458"/>
                </a:lnTo>
                <a:lnTo>
                  <a:pt x="0" y="2195258"/>
                </a:lnTo>
                <a:lnTo>
                  <a:pt x="19050" y="2195258"/>
                </a:lnTo>
                <a:lnTo>
                  <a:pt x="19050" y="2261933"/>
                </a:lnTo>
                <a:lnTo>
                  <a:pt x="16840" y="2261933"/>
                </a:lnTo>
                <a:lnTo>
                  <a:pt x="16840" y="2271458"/>
                </a:lnTo>
                <a:close/>
              </a:path>
              <a:path w="1866265" h="2281554">
                <a:moveTo>
                  <a:pt x="93040" y="2280983"/>
                </a:moveTo>
                <a:lnTo>
                  <a:pt x="16840" y="2280983"/>
                </a:lnTo>
                <a:lnTo>
                  <a:pt x="16840" y="2261933"/>
                </a:lnTo>
                <a:lnTo>
                  <a:pt x="19050" y="2261933"/>
                </a:lnTo>
                <a:lnTo>
                  <a:pt x="19050" y="2271458"/>
                </a:lnTo>
                <a:lnTo>
                  <a:pt x="93040" y="2271458"/>
                </a:lnTo>
                <a:lnTo>
                  <a:pt x="93040" y="2280983"/>
                </a:lnTo>
                <a:close/>
              </a:path>
              <a:path w="1866265" h="2281554">
                <a:moveTo>
                  <a:pt x="93040" y="2271458"/>
                </a:moveTo>
                <a:lnTo>
                  <a:pt x="19050" y="2271458"/>
                </a:lnTo>
                <a:lnTo>
                  <a:pt x="19050" y="2261933"/>
                </a:lnTo>
                <a:lnTo>
                  <a:pt x="93040" y="2261933"/>
                </a:lnTo>
                <a:lnTo>
                  <a:pt x="93040" y="2271458"/>
                </a:lnTo>
                <a:close/>
              </a:path>
              <a:path w="1866265" h="2281554">
                <a:moveTo>
                  <a:pt x="19050" y="2138108"/>
                </a:moveTo>
                <a:lnTo>
                  <a:pt x="0" y="2138108"/>
                </a:lnTo>
                <a:lnTo>
                  <a:pt x="0" y="2061908"/>
                </a:lnTo>
                <a:lnTo>
                  <a:pt x="19050" y="2061908"/>
                </a:lnTo>
                <a:lnTo>
                  <a:pt x="19050" y="2138108"/>
                </a:lnTo>
                <a:close/>
              </a:path>
              <a:path w="1866265" h="2281554">
                <a:moveTo>
                  <a:pt x="19050" y="2004758"/>
                </a:moveTo>
                <a:lnTo>
                  <a:pt x="0" y="2004758"/>
                </a:lnTo>
                <a:lnTo>
                  <a:pt x="0" y="1928558"/>
                </a:lnTo>
                <a:lnTo>
                  <a:pt x="19050" y="1928558"/>
                </a:lnTo>
                <a:lnTo>
                  <a:pt x="19050" y="2004758"/>
                </a:lnTo>
                <a:close/>
              </a:path>
              <a:path w="1866265" h="2281554">
                <a:moveTo>
                  <a:pt x="19050" y="1871408"/>
                </a:moveTo>
                <a:lnTo>
                  <a:pt x="0" y="1871408"/>
                </a:lnTo>
                <a:lnTo>
                  <a:pt x="0" y="1795208"/>
                </a:lnTo>
                <a:lnTo>
                  <a:pt x="19050" y="1795208"/>
                </a:lnTo>
                <a:lnTo>
                  <a:pt x="19050" y="1871408"/>
                </a:lnTo>
                <a:close/>
              </a:path>
              <a:path w="1866265" h="2281554">
                <a:moveTo>
                  <a:pt x="19050" y="1738058"/>
                </a:moveTo>
                <a:lnTo>
                  <a:pt x="0" y="1738058"/>
                </a:lnTo>
                <a:lnTo>
                  <a:pt x="0" y="1661858"/>
                </a:lnTo>
                <a:lnTo>
                  <a:pt x="19050" y="1661858"/>
                </a:lnTo>
                <a:lnTo>
                  <a:pt x="19050" y="1738058"/>
                </a:lnTo>
                <a:close/>
              </a:path>
              <a:path w="1866265" h="2281554">
                <a:moveTo>
                  <a:pt x="19050" y="1604708"/>
                </a:moveTo>
                <a:lnTo>
                  <a:pt x="0" y="1604708"/>
                </a:lnTo>
                <a:lnTo>
                  <a:pt x="0" y="1528508"/>
                </a:lnTo>
                <a:lnTo>
                  <a:pt x="19050" y="1528508"/>
                </a:lnTo>
                <a:lnTo>
                  <a:pt x="19050" y="1604708"/>
                </a:lnTo>
                <a:close/>
              </a:path>
              <a:path w="1866265" h="2281554">
                <a:moveTo>
                  <a:pt x="19050" y="1471358"/>
                </a:moveTo>
                <a:lnTo>
                  <a:pt x="0" y="1471358"/>
                </a:lnTo>
                <a:lnTo>
                  <a:pt x="0" y="1395158"/>
                </a:lnTo>
                <a:lnTo>
                  <a:pt x="19050" y="1395158"/>
                </a:lnTo>
                <a:lnTo>
                  <a:pt x="19050" y="1471358"/>
                </a:lnTo>
                <a:close/>
              </a:path>
              <a:path w="1866265" h="2281554">
                <a:moveTo>
                  <a:pt x="19050" y="1338008"/>
                </a:moveTo>
                <a:lnTo>
                  <a:pt x="0" y="1338008"/>
                </a:lnTo>
                <a:lnTo>
                  <a:pt x="0" y="1261808"/>
                </a:lnTo>
                <a:lnTo>
                  <a:pt x="19050" y="1261808"/>
                </a:lnTo>
                <a:lnTo>
                  <a:pt x="19050" y="1338008"/>
                </a:lnTo>
                <a:close/>
              </a:path>
              <a:path w="1866265" h="2281554">
                <a:moveTo>
                  <a:pt x="19050" y="1204658"/>
                </a:moveTo>
                <a:lnTo>
                  <a:pt x="0" y="1204658"/>
                </a:lnTo>
                <a:lnTo>
                  <a:pt x="0" y="1128458"/>
                </a:lnTo>
                <a:lnTo>
                  <a:pt x="19050" y="1128458"/>
                </a:lnTo>
                <a:lnTo>
                  <a:pt x="19050" y="1204658"/>
                </a:lnTo>
                <a:close/>
              </a:path>
              <a:path w="1866265" h="2281554">
                <a:moveTo>
                  <a:pt x="19050" y="1071308"/>
                </a:moveTo>
                <a:lnTo>
                  <a:pt x="0" y="1071308"/>
                </a:lnTo>
                <a:lnTo>
                  <a:pt x="0" y="995108"/>
                </a:lnTo>
                <a:lnTo>
                  <a:pt x="19050" y="995108"/>
                </a:lnTo>
                <a:lnTo>
                  <a:pt x="19050" y="1071308"/>
                </a:lnTo>
                <a:close/>
              </a:path>
              <a:path w="1866265" h="2281554">
                <a:moveTo>
                  <a:pt x="19050" y="937958"/>
                </a:moveTo>
                <a:lnTo>
                  <a:pt x="0" y="937958"/>
                </a:lnTo>
                <a:lnTo>
                  <a:pt x="0" y="861758"/>
                </a:lnTo>
                <a:lnTo>
                  <a:pt x="19050" y="861758"/>
                </a:lnTo>
                <a:lnTo>
                  <a:pt x="19050" y="937958"/>
                </a:lnTo>
                <a:close/>
              </a:path>
              <a:path w="1866265" h="2281554">
                <a:moveTo>
                  <a:pt x="19050" y="804608"/>
                </a:moveTo>
                <a:lnTo>
                  <a:pt x="0" y="804608"/>
                </a:lnTo>
                <a:lnTo>
                  <a:pt x="0" y="728408"/>
                </a:lnTo>
                <a:lnTo>
                  <a:pt x="19050" y="728408"/>
                </a:lnTo>
                <a:lnTo>
                  <a:pt x="19050" y="804608"/>
                </a:lnTo>
                <a:close/>
              </a:path>
              <a:path w="1866265" h="2281554">
                <a:moveTo>
                  <a:pt x="19050" y="671258"/>
                </a:moveTo>
                <a:lnTo>
                  <a:pt x="0" y="671258"/>
                </a:lnTo>
                <a:lnTo>
                  <a:pt x="0" y="595058"/>
                </a:lnTo>
                <a:lnTo>
                  <a:pt x="19050" y="595058"/>
                </a:lnTo>
                <a:lnTo>
                  <a:pt x="19050" y="671258"/>
                </a:lnTo>
                <a:close/>
              </a:path>
              <a:path w="1866265" h="2281554">
                <a:moveTo>
                  <a:pt x="19050" y="537908"/>
                </a:moveTo>
                <a:lnTo>
                  <a:pt x="0" y="537908"/>
                </a:lnTo>
                <a:lnTo>
                  <a:pt x="0" y="461708"/>
                </a:lnTo>
                <a:lnTo>
                  <a:pt x="19050" y="461708"/>
                </a:lnTo>
                <a:lnTo>
                  <a:pt x="19050" y="537908"/>
                </a:lnTo>
                <a:close/>
              </a:path>
              <a:path w="1866265" h="2281554">
                <a:moveTo>
                  <a:pt x="19050" y="404558"/>
                </a:moveTo>
                <a:lnTo>
                  <a:pt x="0" y="404558"/>
                </a:lnTo>
                <a:lnTo>
                  <a:pt x="0" y="328358"/>
                </a:lnTo>
                <a:lnTo>
                  <a:pt x="19050" y="328358"/>
                </a:lnTo>
                <a:lnTo>
                  <a:pt x="19050" y="404558"/>
                </a:lnTo>
                <a:close/>
              </a:path>
              <a:path w="1866265" h="2281554">
                <a:moveTo>
                  <a:pt x="19050" y="271208"/>
                </a:moveTo>
                <a:lnTo>
                  <a:pt x="0" y="271208"/>
                </a:lnTo>
                <a:lnTo>
                  <a:pt x="0" y="195008"/>
                </a:lnTo>
                <a:lnTo>
                  <a:pt x="19050" y="195008"/>
                </a:lnTo>
                <a:lnTo>
                  <a:pt x="19050" y="271208"/>
                </a:lnTo>
                <a:close/>
              </a:path>
              <a:path w="1866265" h="2281554">
                <a:moveTo>
                  <a:pt x="19050" y="137858"/>
                </a:moveTo>
                <a:lnTo>
                  <a:pt x="0" y="137858"/>
                </a:lnTo>
                <a:lnTo>
                  <a:pt x="0" y="61658"/>
                </a:lnTo>
                <a:lnTo>
                  <a:pt x="19050" y="61658"/>
                </a:lnTo>
                <a:lnTo>
                  <a:pt x="19050" y="137858"/>
                </a:lnTo>
                <a:close/>
              </a:path>
              <a:path w="1866265" h="2281554">
                <a:moveTo>
                  <a:pt x="90741" y="19050"/>
                </a:moveTo>
                <a:lnTo>
                  <a:pt x="14541" y="19050"/>
                </a:lnTo>
                <a:lnTo>
                  <a:pt x="14541" y="0"/>
                </a:lnTo>
                <a:lnTo>
                  <a:pt x="90741" y="0"/>
                </a:lnTo>
                <a:lnTo>
                  <a:pt x="90741" y="19050"/>
                </a:lnTo>
                <a:close/>
              </a:path>
              <a:path w="1866265" h="2281554">
                <a:moveTo>
                  <a:pt x="224091" y="19050"/>
                </a:moveTo>
                <a:lnTo>
                  <a:pt x="147891" y="19050"/>
                </a:lnTo>
                <a:lnTo>
                  <a:pt x="147891" y="0"/>
                </a:lnTo>
                <a:lnTo>
                  <a:pt x="224091" y="0"/>
                </a:lnTo>
                <a:lnTo>
                  <a:pt x="224091" y="19050"/>
                </a:lnTo>
                <a:close/>
              </a:path>
              <a:path w="1866265" h="2281554">
                <a:moveTo>
                  <a:pt x="357441" y="19050"/>
                </a:moveTo>
                <a:lnTo>
                  <a:pt x="281241" y="19050"/>
                </a:lnTo>
                <a:lnTo>
                  <a:pt x="281241" y="0"/>
                </a:lnTo>
                <a:lnTo>
                  <a:pt x="357441" y="0"/>
                </a:lnTo>
                <a:lnTo>
                  <a:pt x="357441" y="19050"/>
                </a:lnTo>
                <a:close/>
              </a:path>
              <a:path w="1866265" h="2281554">
                <a:moveTo>
                  <a:pt x="490791" y="19050"/>
                </a:moveTo>
                <a:lnTo>
                  <a:pt x="414591" y="19050"/>
                </a:lnTo>
                <a:lnTo>
                  <a:pt x="414591" y="0"/>
                </a:lnTo>
                <a:lnTo>
                  <a:pt x="490791" y="0"/>
                </a:lnTo>
                <a:lnTo>
                  <a:pt x="490791" y="19050"/>
                </a:lnTo>
                <a:close/>
              </a:path>
              <a:path w="1866265" h="2281554">
                <a:moveTo>
                  <a:pt x="624141" y="19050"/>
                </a:moveTo>
                <a:lnTo>
                  <a:pt x="547941" y="19050"/>
                </a:lnTo>
                <a:lnTo>
                  <a:pt x="547941" y="0"/>
                </a:lnTo>
                <a:lnTo>
                  <a:pt x="624141" y="0"/>
                </a:lnTo>
                <a:lnTo>
                  <a:pt x="624141" y="19050"/>
                </a:lnTo>
                <a:close/>
              </a:path>
              <a:path w="1866265" h="2281554">
                <a:moveTo>
                  <a:pt x="757491" y="19050"/>
                </a:moveTo>
                <a:lnTo>
                  <a:pt x="681291" y="19050"/>
                </a:lnTo>
                <a:lnTo>
                  <a:pt x="681291" y="0"/>
                </a:lnTo>
                <a:lnTo>
                  <a:pt x="757491" y="0"/>
                </a:lnTo>
                <a:lnTo>
                  <a:pt x="757491" y="19050"/>
                </a:lnTo>
                <a:close/>
              </a:path>
              <a:path w="1866265" h="2281554">
                <a:moveTo>
                  <a:pt x="890841" y="19050"/>
                </a:moveTo>
                <a:lnTo>
                  <a:pt x="814641" y="19050"/>
                </a:lnTo>
                <a:lnTo>
                  <a:pt x="814641" y="0"/>
                </a:lnTo>
                <a:lnTo>
                  <a:pt x="890841" y="0"/>
                </a:lnTo>
                <a:lnTo>
                  <a:pt x="890841" y="19050"/>
                </a:lnTo>
                <a:close/>
              </a:path>
              <a:path w="1866265" h="2281554">
                <a:moveTo>
                  <a:pt x="1024191" y="19050"/>
                </a:moveTo>
                <a:lnTo>
                  <a:pt x="947991" y="19050"/>
                </a:lnTo>
                <a:lnTo>
                  <a:pt x="947991" y="0"/>
                </a:lnTo>
                <a:lnTo>
                  <a:pt x="1024191" y="0"/>
                </a:lnTo>
                <a:lnTo>
                  <a:pt x="1024191" y="19050"/>
                </a:lnTo>
                <a:close/>
              </a:path>
              <a:path w="1866265" h="2281554">
                <a:moveTo>
                  <a:pt x="1157541" y="19050"/>
                </a:moveTo>
                <a:lnTo>
                  <a:pt x="1081341" y="19050"/>
                </a:lnTo>
                <a:lnTo>
                  <a:pt x="1081341" y="0"/>
                </a:lnTo>
                <a:lnTo>
                  <a:pt x="1157541" y="0"/>
                </a:lnTo>
                <a:lnTo>
                  <a:pt x="1157541" y="19050"/>
                </a:lnTo>
                <a:close/>
              </a:path>
              <a:path w="1866265" h="2281554">
                <a:moveTo>
                  <a:pt x="1290891" y="19050"/>
                </a:moveTo>
                <a:lnTo>
                  <a:pt x="1214691" y="19050"/>
                </a:lnTo>
                <a:lnTo>
                  <a:pt x="1214691" y="0"/>
                </a:lnTo>
                <a:lnTo>
                  <a:pt x="1290891" y="0"/>
                </a:lnTo>
                <a:lnTo>
                  <a:pt x="1290891" y="19050"/>
                </a:lnTo>
                <a:close/>
              </a:path>
              <a:path w="1866265" h="2281554">
                <a:moveTo>
                  <a:pt x="1424241" y="19050"/>
                </a:moveTo>
                <a:lnTo>
                  <a:pt x="1348041" y="19050"/>
                </a:lnTo>
                <a:lnTo>
                  <a:pt x="1348041" y="0"/>
                </a:lnTo>
                <a:lnTo>
                  <a:pt x="1424241" y="0"/>
                </a:lnTo>
                <a:lnTo>
                  <a:pt x="1424241" y="19050"/>
                </a:lnTo>
                <a:close/>
              </a:path>
              <a:path w="1866265" h="2281554">
                <a:moveTo>
                  <a:pt x="1557591" y="19050"/>
                </a:moveTo>
                <a:lnTo>
                  <a:pt x="1481391" y="19050"/>
                </a:lnTo>
                <a:lnTo>
                  <a:pt x="1481391" y="0"/>
                </a:lnTo>
                <a:lnTo>
                  <a:pt x="1557591" y="0"/>
                </a:lnTo>
                <a:lnTo>
                  <a:pt x="1557591" y="19050"/>
                </a:lnTo>
                <a:close/>
              </a:path>
              <a:path w="1866265" h="2281554">
                <a:moveTo>
                  <a:pt x="1690941" y="19050"/>
                </a:moveTo>
                <a:lnTo>
                  <a:pt x="1614741" y="19050"/>
                </a:lnTo>
                <a:lnTo>
                  <a:pt x="1614741" y="0"/>
                </a:lnTo>
                <a:lnTo>
                  <a:pt x="1690941" y="0"/>
                </a:lnTo>
                <a:lnTo>
                  <a:pt x="1690941" y="19050"/>
                </a:lnTo>
                <a:close/>
              </a:path>
              <a:path w="1866265" h="2281554">
                <a:moveTo>
                  <a:pt x="1824291" y="19050"/>
                </a:moveTo>
                <a:lnTo>
                  <a:pt x="1748091" y="19050"/>
                </a:lnTo>
                <a:lnTo>
                  <a:pt x="1748091" y="0"/>
                </a:lnTo>
                <a:lnTo>
                  <a:pt x="1824291" y="0"/>
                </a:lnTo>
                <a:lnTo>
                  <a:pt x="1824291" y="19050"/>
                </a:lnTo>
                <a:close/>
              </a:path>
              <a:path w="1866265" h="2281554">
                <a:moveTo>
                  <a:pt x="1866049" y="110642"/>
                </a:moveTo>
                <a:lnTo>
                  <a:pt x="1846999" y="110642"/>
                </a:lnTo>
                <a:lnTo>
                  <a:pt x="1846999" y="34442"/>
                </a:lnTo>
                <a:lnTo>
                  <a:pt x="1866049" y="34442"/>
                </a:lnTo>
                <a:lnTo>
                  <a:pt x="1866049" y="110642"/>
                </a:lnTo>
                <a:close/>
              </a:path>
              <a:path w="1866265" h="2281554">
                <a:moveTo>
                  <a:pt x="1866049" y="243992"/>
                </a:moveTo>
                <a:lnTo>
                  <a:pt x="1846999" y="243992"/>
                </a:lnTo>
                <a:lnTo>
                  <a:pt x="1846999" y="167792"/>
                </a:lnTo>
                <a:lnTo>
                  <a:pt x="1866049" y="167792"/>
                </a:lnTo>
                <a:lnTo>
                  <a:pt x="1866049" y="243992"/>
                </a:lnTo>
                <a:close/>
              </a:path>
              <a:path w="1866265" h="2281554">
                <a:moveTo>
                  <a:pt x="1866049" y="377342"/>
                </a:moveTo>
                <a:lnTo>
                  <a:pt x="1846999" y="377342"/>
                </a:lnTo>
                <a:lnTo>
                  <a:pt x="1846999" y="301142"/>
                </a:lnTo>
                <a:lnTo>
                  <a:pt x="1866049" y="301142"/>
                </a:lnTo>
                <a:lnTo>
                  <a:pt x="1866049" y="377342"/>
                </a:lnTo>
                <a:close/>
              </a:path>
              <a:path w="1866265" h="2281554">
                <a:moveTo>
                  <a:pt x="1866049" y="510692"/>
                </a:moveTo>
                <a:lnTo>
                  <a:pt x="1846999" y="510692"/>
                </a:lnTo>
                <a:lnTo>
                  <a:pt x="1846999" y="434492"/>
                </a:lnTo>
                <a:lnTo>
                  <a:pt x="1866049" y="434492"/>
                </a:lnTo>
                <a:lnTo>
                  <a:pt x="1866049" y="510692"/>
                </a:lnTo>
                <a:close/>
              </a:path>
              <a:path w="1866265" h="2281554">
                <a:moveTo>
                  <a:pt x="1866049" y="644042"/>
                </a:moveTo>
                <a:lnTo>
                  <a:pt x="1846999" y="644042"/>
                </a:lnTo>
                <a:lnTo>
                  <a:pt x="1846999" y="567842"/>
                </a:lnTo>
                <a:lnTo>
                  <a:pt x="1866049" y="567842"/>
                </a:lnTo>
                <a:lnTo>
                  <a:pt x="1866049" y="644042"/>
                </a:lnTo>
                <a:close/>
              </a:path>
              <a:path w="1866265" h="2281554">
                <a:moveTo>
                  <a:pt x="1866049" y="777392"/>
                </a:moveTo>
                <a:lnTo>
                  <a:pt x="1846999" y="777392"/>
                </a:lnTo>
                <a:lnTo>
                  <a:pt x="1846999" y="701192"/>
                </a:lnTo>
                <a:lnTo>
                  <a:pt x="1866049" y="701192"/>
                </a:lnTo>
                <a:lnTo>
                  <a:pt x="1866049" y="777392"/>
                </a:lnTo>
                <a:close/>
              </a:path>
              <a:path w="1866265" h="2281554">
                <a:moveTo>
                  <a:pt x="1866049" y="910742"/>
                </a:moveTo>
                <a:lnTo>
                  <a:pt x="1846999" y="910742"/>
                </a:lnTo>
                <a:lnTo>
                  <a:pt x="1846999" y="834542"/>
                </a:lnTo>
                <a:lnTo>
                  <a:pt x="1866049" y="834542"/>
                </a:lnTo>
                <a:lnTo>
                  <a:pt x="1866049" y="910742"/>
                </a:lnTo>
                <a:close/>
              </a:path>
              <a:path w="1866265" h="2281554">
                <a:moveTo>
                  <a:pt x="1866049" y="1044092"/>
                </a:moveTo>
                <a:lnTo>
                  <a:pt x="1846999" y="1044092"/>
                </a:lnTo>
                <a:lnTo>
                  <a:pt x="1846999" y="967892"/>
                </a:lnTo>
                <a:lnTo>
                  <a:pt x="1866049" y="967892"/>
                </a:lnTo>
                <a:lnTo>
                  <a:pt x="1866049" y="1044092"/>
                </a:lnTo>
                <a:close/>
              </a:path>
              <a:path w="1866265" h="2281554">
                <a:moveTo>
                  <a:pt x="1866049" y="1177442"/>
                </a:moveTo>
                <a:lnTo>
                  <a:pt x="1846999" y="1177442"/>
                </a:lnTo>
                <a:lnTo>
                  <a:pt x="1846999" y="1101242"/>
                </a:lnTo>
                <a:lnTo>
                  <a:pt x="1866049" y="1101242"/>
                </a:lnTo>
                <a:lnTo>
                  <a:pt x="1866049" y="1177442"/>
                </a:lnTo>
                <a:close/>
              </a:path>
              <a:path w="1866265" h="2281554">
                <a:moveTo>
                  <a:pt x="1866049" y="1310792"/>
                </a:moveTo>
                <a:lnTo>
                  <a:pt x="1846999" y="1310792"/>
                </a:lnTo>
                <a:lnTo>
                  <a:pt x="1846999" y="1234592"/>
                </a:lnTo>
                <a:lnTo>
                  <a:pt x="1866049" y="1234592"/>
                </a:lnTo>
                <a:lnTo>
                  <a:pt x="1866049" y="1310792"/>
                </a:lnTo>
                <a:close/>
              </a:path>
              <a:path w="1866265" h="2281554">
                <a:moveTo>
                  <a:pt x="1866049" y="1444142"/>
                </a:moveTo>
                <a:lnTo>
                  <a:pt x="1846999" y="1444142"/>
                </a:lnTo>
                <a:lnTo>
                  <a:pt x="1846999" y="1367942"/>
                </a:lnTo>
                <a:lnTo>
                  <a:pt x="1866049" y="1367942"/>
                </a:lnTo>
                <a:lnTo>
                  <a:pt x="1866049" y="1444142"/>
                </a:lnTo>
                <a:close/>
              </a:path>
              <a:path w="1866265" h="2281554">
                <a:moveTo>
                  <a:pt x="1866049" y="1577492"/>
                </a:moveTo>
                <a:lnTo>
                  <a:pt x="1846999" y="1577492"/>
                </a:lnTo>
                <a:lnTo>
                  <a:pt x="1846999" y="1501292"/>
                </a:lnTo>
                <a:lnTo>
                  <a:pt x="1866049" y="1501292"/>
                </a:lnTo>
                <a:lnTo>
                  <a:pt x="1866049" y="1577492"/>
                </a:lnTo>
                <a:close/>
              </a:path>
              <a:path w="1866265" h="2281554">
                <a:moveTo>
                  <a:pt x="1866049" y="1710842"/>
                </a:moveTo>
                <a:lnTo>
                  <a:pt x="1846999" y="1710842"/>
                </a:lnTo>
                <a:lnTo>
                  <a:pt x="1846999" y="1634642"/>
                </a:lnTo>
                <a:lnTo>
                  <a:pt x="1866049" y="1634642"/>
                </a:lnTo>
                <a:lnTo>
                  <a:pt x="1866049" y="1710842"/>
                </a:lnTo>
                <a:close/>
              </a:path>
              <a:path w="1866265" h="2281554">
                <a:moveTo>
                  <a:pt x="1866049" y="1844192"/>
                </a:moveTo>
                <a:lnTo>
                  <a:pt x="1846999" y="1844192"/>
                </a:lnTo>
                <a:lnTo>
                  <a:pt x="1846999" y="1767992"/>
                </a:lnTo>
                <a:lnTo>
                  <a:pt x="1866049" y="1767992"/>
                </a:lnTo>
                <a:lnTo>
                  <a:pt x="1866049" y="1844192"/>
                </a:lnTo>
                <a:close/>
              </a:path>
              <a:path w="1866265" h="2281554">
                <a:moveTo>
                  <a:pt x="1866049" y="1977542"/>
                </a:moveTo>
                <a:lnTo>
                  <a:pt x="1846999" y="1977542"/>
                </a:lnTo>
                <a:lnTo>
                  <a:pt x="1846999" y="1901342"/>
                </a:lnTo>
                <a:lnTo>
                  <a:pt x="1866049" y="1901342"/>
                </a:lnTo>
                <a:lnTo>
                  <a:pt x="1866049" y="1977542"/>
                </a:lnTo>
                <a:close/>
              </a:path>
              <a:path w="1866265" h="2281554">
                <a:moveTo>
                  <a:pt x="1866049" y="2110892"/>
                </a:moveTo>
                <a:lnTo>
                  <a:pt x="1846999" y="2110892"/>
                </a:lnTo>
                <a:lnTo>
                  <a:pt x="1846999" y="2034692"/>
                </a:lnTo>
                <a:lnTo>
                  <a:pt x="1866049" y="2034692"/>
                </a:lnTo>
                <a:lnTo>
                  <a:pt x="1866049" y="2110892"/>
                </a:lnTo>
                <a:close/>
              </a:path>
              <a:path w="1866265" h="2281554">
                <a:moveTo>
                  <a:pt x="1866049" y="2244242"/>
                </a:moveTo>
                <a:lnTo>
                  <a:pt x="1846999" y="2244242"/>
                </a:lnTo>
                <a:lnTo>
                  <a:pt x="1846999" y="2168042"/>
                </a:lnTo>
                <a:lnTo>
                  <a:pt x="1866049" y="2168042"/>
                </a:lnTo>
                <a:lnTo>
                  <a:pt x="1866049" y="2244242"/>
                </a:lnTo>
                <a:close/>
              </a:path>
              <a:path w="1866265" h="2281554">
                <a:moveTo>
                  <a:pt x="1826590" y="2280983"/>
                </a:moveTo>
                <a:lnTo>
                  <a:pt x="1750390" y="2280983"/>
                </a:lnTo>
                <a:lnTo>
                  <a:pt x="1750390" y="2261933"/>
                </a:lnTo>
                <a:lnTo>
                  <a:pt x="1826590" y="2261933"/>
                </a:lnTo>
                <a:lnTo>
                  <a:pt x="1826590" y="2280983"/>
                </a:lnTo>
                <a:close/>
              </a:path>
              <a:path w="1866265" h="2281554">
                <a:moveTo>
                  <a:pt x="1693240" y="2280983"/>
                </a:moveTo>
                <a:lnTo>
                  <a:pt x="1617040" y="2280983"/>
                </a:lnTo>
                <a:lnTo>
                  <a:pt x="1617040" y="2261933"/>
                </a:lnTo>
                <a:lnTo>
                  <a:pt x="1693240" y="2261933"/>
                </a:lnTo>
                <a:lnTo>
                  <a:pt x="1693240" y="2280983"/>
                </a:lnTo>
                <a:close/>
              </a:path>
              <a:path w="1866265" h="2281554">
                <a:moveTo>
                  <a:pt x="1559890" y="2280983"/>
                </a:moveTo>
                <a:lnTo>
                  <a:pt x="1483690" y="2280983"/>
                </a:lnTo>
                <a:lnTo>
                  <a:pt x="1483690" y="2261933"/>
                </a:lnTo>
                <a:lnTo>
                  <a:pt x="1559890" y="2261933"/>
                </a:lnTo>
                <a:lnTo>
                  <a:pt x="1559890" y="2280983"/>
                </a:lnTo>
                <a:close/>
              </a:path>
              <a:path w="1866265" h="2281554">
                <a:moveTo>
                  <a:pt x="1426540" y="2280983"/>
                </a:moveTo>
                <a:lnTo>
                  <a:pt x="1350340" y="2280983"/>
                </a:lnTo>
                <a:lnTo>
                  <a:pt x="1350340" y="2261933"/>
                </a:lnTo>
                <a:lnTo>
                  <a:pt x="1426540" y="2261933"/>
                </a:lnTo>
                <a:lnTo>
                  <a:pt x="1426540" y="2280983"/>
                </a:lnTo>
                <a:close/>
              </a:path>
              <a:path w="1866265" h="2281554">
                <a:moveTo>
                  <a:pt x="1293190" y="2280983"/>
                </a:moveTo>
                <a:lnTo>
                  <a:pt x="1216990" y="2280983"/>
                </a:lnTo>
                <a:lnTo>
                  <a:pt x="1216990" y="2261933"/>
                </a:lnTo>
                <a:lnTo>
                  <a:pt x="1293190" y="2261933"/>
                </a:lnTo>
                <a:lnTo>
                  <a:pt x="1293190" y="2280983"/>
                </a:lnTo>
                <a:close/>
              </a:path>
              <a:path w="1866265" h="2281554">
                <a:moveTo>
                  <a:pt x="1159840" y="2280983"/>
                </a:moveTo>
                <a:lnTo>
                  <a:pt x="1083640" y="2280983"/>
                </a:lnTo>
                <a:lnTo>
                  <a:pt x="1083640" y="2261933"/>
                </a:lnTo>
                <a:lnTo>
                  <a:pt x="1159840" y="2261933"/>
                </a:lnTo>
                <a:lnTo>
                  <a:pt x="1159840" y="2280983"/>
                </a:lnTo>
                <a:close/>
              </a:path>
              <a:path w="1866265" h="2281554">
                <a:moveTo>
                  <a:pt x="1026490" y="2280983"/>
                </a:moveTo>
                <a:lnTo>
                  <a:pt x="950290" y="2280983"/>
                </a:lnTo>
                <a:lnTo>
                  <a:pt x="950290" y="2261933"/>
                </a:lnTo>
                <a:lnTo>
                  <a:pt x="1026490" y="2261933"/>
                </a:lnTo>
                <a:lnTo>
                  <a:pt x="1026490" y="2280983"/>
                </a:lnTo>
                <a:close/>
              </a:path>
              <a:path w="1866265" h="2281554">
                <a:moveTo>
                  <a:pt x="893140" y="2280983"/>
                </a:moveTo>
                <a:lnTo>
                  <a:pt x="816940" y="2280983"/>
                </a:lnTo>
                <a:lnTo>
                  <a:pt x="816940" y="2261933"/>
                </a:lnTo>
                <a:lnTo>
                  <a:pt x="893140" y="2261933"/>
                </a:lnTo>
                <a:lnTo>
                  <a:pt x="893140" y="2280983"/>
                </a:lnTo>
                <a:close/>
              </a:path>
              <a:path w="1866265" h="2281554">
                <a:moveTo>
                  <a:pt x="759790" y="2280983"/>
                </a:moveTo>
                <a:lnTo>
                  <a:pt x="683590" y="2280983"/>
                </a:lnTo>
                <a:lnTo>
                  <a:pt x="683590" y="2261933"/>
                </a:lnTo>
                <a:lnTo>
                  <a:pt x="759790" y="2261933"/>
                </a:lnTo>
                <a:lnTo>
                  <a:pt x="759790" y="2280983"/>
                </a:lnTo>
                <a:close/>
              </a:path>
              <a:path w="1866265" h="2281554">
                <a:moveTo>
                  <a:pt x="626440" y="2280983"/>
                </a:moveTo>
                <a:lnTo>
                  <a:pt x="550240" y="2280983"/>
                </a:lnTo>
                <a:lnTo>
                  <a:pt x="550240" y="2261933"/>
                </a:lnTo>
                <a:lnTo>
                  <a:pt x="626440" y="2261933"/>
                </a:lnTo>
                <a:lnTo>
                  <a:pt x="626440" y="2280983"/>
                </a:lnTo>
                <a:close/>
              </a:path>
              <a:path w="1866265" h="2281554">
                <a:moveTo>
                  <a:pt x="493090" y="2280983"/>
                </a:moveTo>
                <a:lnTo>
                  <a:pt x="416890" y="2280983"/>
                </a:lnTo>
                <a:lnTo>
                  <a:pt x="416890" y="2261933"/>
                </a:lnTo>
                <a:lnTo>
                  <a:pt x="493090" y="2261933"/>
                </a:lnTo>
                <a:lnTo>
                  <a:pt x="493090" y="2280983"/>
                </a:lnTo>
                <a:close/>
              </a:path>
              <a:path w="1866265" h="2281554">
                <a:moveTo>
                  <a:pt x="359740" y="2280983"/>
                </a:moveTo>
                <a:lnTo>
                  <a:pt x="283540" y="2280983"/>
                </a:lnTo>
                <a:lnTo>
                  <a:pt x="283540" y="2261933"/>
                </a:lnTo>
                <a:lnTo>
                  <a:pt x="359740" y="2261933"/>
                </a:lnTo>
                <a:lnTo>
                  <a:pt x="359740" y="2280983"/>
                </a:lnTo>
                <a:close/>
              </a:path>
              <a:path w="1866265" h="2281554">
                <a:moveTo>
                  <a:pt x="226390" y="2280983"/>
                </a:moveTo>
                <a:lnTo>
                  <a:pt x="150190" y="2280983"/>
                </a:lnTo>
                <a:lnTo>
                  <a:pt x="150190" y="2261933"/>
                </a:lnTo>
                <a:lnTo>
                  <a:pt x="226390" y="2261933"/>
                </a:lnTo>
                <a:lnTo>
                  <a:pt x="226390" y="2280983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23159" y="1980476"/>
            <a:ext cx="1675764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 i="1">
                <a:latin typeface="华文楷体"/>
                <a:cs typeface="华文楷体"/>
              </a:rPr>
              <a:t>进行实</a:t>
            </a:r>
            <a:r>
              <a:rPr dirty="0" sz="2800" spc="-5" i="1">
                <a:latin typeface="华文楷体"/>
                <a:cs typeface="华文楷体"/>
              </a:rPr>
              <a:t>验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87569" y="1364945"/>
            <a:ext cx="2311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二、右手定则</a:t>
            </a:r>
          </a:p>
        </p:txBody>
      </p:sp>
      <p:sp>
        <p:nvSpPr>
          <p:cNvPr id="4" name="object 4"/>
          <p:cNvSpPr/>
          <p:nvPr/>
        </p:nvSpPr>
        <p:spPr>
          <a:xfrm>
            <a:off x="2956560" y="2441448"/>
            <a:ext cx="6208776" cy="32141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05455" y="1687067"/>
            <a:ext cx="7057644" cy="39700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05455" y="1691639"/>
            <a:ext cx="7057644" cy="39700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87959" y="3037674"/>
            <a:ext cx="2562775" cy="2349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742118" y="3646894"/>
            <a:ext cx="1343660" cy="1955800"/>
          </a:xfrm>
          <a:custGeom>
            <a:avLst/>
            <a:gdLst/>
            <a:ahLst/>
            <a:cxnLst/>
            <a:rect l="l" t="t" r="r" b="b"/>
            <a:pathLst>
              <a:path w="1343660" h="1955800">
                <a:moveTo>
                  <a:pt x="8597" y="1955571"/>
                </a:moveTo>
                <a:lnTo>
                  <a:pt x="0" y="5029"/>
                </a:lnTo>
                <a:lnTo>
                  <a:pt x="1299489" y="0"/>
                </a:lnTo>
                <a:lnTo>
                  <a:pt x="1299557" y="19189"/>
                </a:lnTo>
                <a:lnTo>
                  <a:pt x="28638" y="19189"/>
                </a:lnTo>
                <a:lnTo>
                  <a:pt x="14414" y="33540"/>
                </a:lnTo>
                <a:lnTo>
                  <a:pt x="28701" y="33540"/>
                </a:lnTo>
                <a:lnTo>
                  <a:pt x="37046" y="1926806"/>
                </a:lnTo>
                <a:lnTo>
                  <a:pt x="22720" y="1926907"/>
                </a:lnTo>
                <a:lnTo>
                  <a:pt x="37109" y="1941131"/>
                </a:lnTo>
                <a:lnTo>
                  <a:pt x="1239380" y="1941131"/>
                </a:lnTo>
                <a:lnTo>
                  <a:pt x="1239380" y="1946910"/>
                </a:lnTo>
                <a:lnTo>
                  <a:pt x="8597" y="1955571"/>
                </a:lnTo>
                <a:close/>
              </a:path>
              <a:path w="1343660" h="1955800">
                <a:moveTo>
                  <a:pt x="14414" y="33540"/>
                </a:moveTo>
                <a:lnTo>
                  <a:pt x="28638" y="19189"/>
                </a:lnTo>
                <a:lnTo>
                  <a:pt x="28701" y="33485"/>
                </a:lnTo>
                <a:lnTo>
                  <a:pt x="14414" y="33540"/>
                </a:lnTo>
                <a:close/>
              </a:path>
              <a:path w="1343660" h="1955800">
                <a:moveTo>
                  <a:pt x="28701" y="33485"/>
                </a:moveTo>
                <a:lnTo>
                  <a:pt x="28638" y="19189"/>
                </a:lnTo>
                <a:lnTo>
                  <a:pt x="1299557" y="19189"/>
                </a:lnTo>
                <a:lnTo>
                  <a:pt x="1299591" y="28575"/>
                </a:lnTo>
                <a:lnTo>
                  <a:pt x="28701" y="33485"/>
                </a:lnTo>
                <a:close/>
              </a:path>
              <a:path w="1343660" h="1955800">
                <a:moveTo>
                  <a:pt x="28701" y="33540"/>
                </a:moveTo>
                <a:lnTo>
                  <a:pt x="14414" y="33540"/>
                </a:lnTo>
                <a:lnTo>
                  <a:pt x="28701" y="33485"/>
                </a:lnTo>
                <a:close/>
              </a:path>
              <a:path w="1343660" h="1955800">
                <a:moveTo>
                  <a:pt x="1210805" y="1918536"/>
                </a:moveTo>
                <a:lnTo>
                  <a:pt x="1210805" y="978636"/>
                </a:lnTo>
                <a:lnTo>
                  <a:pt x="1343621" y="978636"/>
                </a:lnTo>
                <a:lnTo>
                  <a:pt x="1343621" y="992924"/>
                </a:lnTo>
                <a:lnTo>
                  <a:pt x="1239380" y="992924"/>
                </a:lnTo>
                <a:lnTo>
                  <a:pt x="1225092" y="1007211"/>
                </a:lnTo>
                <a:lnTo>
                  <a:pt x="1239380" y="1007211"/>
                </a:lnTo>
                <a:lnTo>
                  <a:pt x="1239380" y="1918436"/>
                </a:lnTo>
                <a:lnTo>
                  <a:pt x="1224991" y="1918436"/>
                </a:lnTo>
                <a:lnTo>
                  <a:pt x="1210805" y="1918536"/>
                </a:lnTo>
                <a:close/>
              </a:path>
              <a:path w="1343660" h="1955800">
                <a:moveTo>
                  <a:pt x="1239380" y="1007211"/>
                </a:moveTo>
                <a:lnTo>
                  <a:pt x="1225092" y="1007211"/>
                </a:lnTo>
                <a:lnTo>
                  <a:pt x="1239380" y="992924"/>
                </a:lnTo>
                <a:lnTo>
                  <a:pt x="1239380" y="1007211"/>
                </a:lnTo>
                <a:close/>
              </a:path>
              <a:path w="1343660" h="1955800">
                <a:moveTo>
                  <a:pt x="1343621" y="1007211"/>
                </a:moveTo>
                <a:lnTo>
                  <a:pt x="1239380" y="1007211"/>
                </a:lnTo>
                <a:lnTo>
                  <a:pt x="1239380" y="992924"/>
                </a:lnTo>
                <a:lnTo>
                  <a:pt x="1343621" y="992924"/>
                </a:lnTo>
                <a:lnTo>
                  <a:pt x="1343621" y="1007211"/>
                </a:lnTo>
                <a:close/>
              </a:path>
              <a:path w="1343660" h="1955800">
                <a:moveTo>
                  <a:pt x="1210805" y="1932724"/>
                </a:moveTo>
                <a:lnTo>
                  <a:pt x="1210805" y="1918536"/>
                </a:lnTo>
                <a:lnTo>
                  <a:pt x="1224991" y="1918436"/>
                </a:lnTo>
                <a:lnTo>
                  <a:pt x="1210805" y="1932724"/>
                </a:lnTo>
                <a:close/>
              </a:path>
              <a:path w="1343660" h="1955800">
                <a:moveTo>
                  <a:pt x="1239380" y="1932724"/>
                </a:moveTo>
                <a:lnTo>
                  <a:pt x="1210805" y="1932724"/>
                </a:lnTo>
                <a:lnTo>
                  <a:pt x="1224991" y="1918436"/>
                </a:lnTo>
                <a:lnTo>
                  <a:pt x="1239380" y="1918436"/>
                </a:lnTo>
                <a:lnTo>
                  <a:pt x="1239380" y="1932724"/>
                </a:lnTo>
                <a:close/>
              </a:path>
              <a:path w="1343660" h="1955800">
                <a:moveTo>
                  <a:pt x="1239380" y="1941131"/>
                </a:moveTo>
                <a:lnTo>
                  <a:pt x="37109" y="1941131"/>
                </a:lnTo>
                <a:lnTo>
                  <a:pt x="37046" y="1926806"/>
                </a:lnTo>
                <a:lnTo>
                  <a:pt x="1210805" y="1918536"/>
                </a:lnTo>
                <a:lnTo>
                  <a:pt x="1210805" y="1932724"/>
                </a:lnTo>
                <a:lnTo>
                  <a:pt x="1239380" y="1932724"/>
                </a:lnTo>
                <a:lnTo>
                  <a:pt x="1239380" y="1941131"/>
                </a:lnTo>
                <a:close/>
              </a:path>
              <a:path w="1343660" h="1955800">
                <a:moveTo>
                  <a:pt x="37109" y="1941131"/>
                </a:moveTo>
                <a:lnTo>
                  <a:pt x="22720" y="1926907"/>
                </a:lnTo>
                <a:lnTo>
                  <a:pt x="37046" y="1926806"/>
                </a:lnTo>
                <a:lnTo>
                  <a:pt x="37109" y="19411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242815" y="3668267"/>
            <a:ext cx="277495" cy="0"/>
          </a:xfrm>
          <a:custGeom>
            <a:avLst/>
            <a:gdLst/>
            <a:ahLst/>
            <a:cxnLst/>
            <a:rect l="l" t="t" r="r" b="b"/>
            <a:pathLst>
              <a:path w="277495" h="0">
                <a:moveTo>
                  <a:pt x="0" y="0"/>
                </a:moveTo>
                <a:lnTo>
                  <a:pt x="277367" y="0"/>
                </a:lnTo>
              </a:path>
            </a:pathLst>
          </a:custGeom>
          <a:ln w="45720">
            <a:solidFill>
              <a:srgbClr val="F1F1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167949" y="3448672"/>
            <a:ext cx="395605" cy="262255"/>
          </a:xfrm>
          <a:custGeom>
            <a:avLst/>
            <a:gdLst/>
            <a:ahLst/>
            <a:cxnLst/>
            <a:rect l="l" t="t" r="r" b="b"/>
            <a:pathLst>
              <a:path w="395604" h="262254">
                <a:moveTo>
                  <a:pt x="311106" y="211276"/>
                </a:moveTo>
                <a:lnTo>
                  <a:pt x="0" y="24498"/>
                </a:lnTo>
                <a:lnTo>
                  <a:pt x="14706" y="0"/>
                </a:lnTo>
                <a:lnTo>
                  <a:pt x="325813" y="186771"/>
                </a:lnTo>
                <a:lnTo>
                  <a:pt x="315988" y="197535"/>
                </a:lnTo>
                <a:lnTo>
                  <a:pt x="311106" y="211276"/>
                </a:lnTo>
                <a:close/>
              </a:path>
              <a:path w="395604" h="262254">
                <a:moveTo>
                  <a:pt x="392971" y="231851"/>
                </a:moveTo>
                <a:lnTo>
                  <a:pt x="345376" y="231851"/>
                </a:lnTo>
                <a:lnTo>
                  <a:pt x="360095" y="207352"/>
                </a:lnTo>
                <a:lnTo>
                  <a:pt x="325813" y="186771"/>
                </a:lnTo>
                <a:lnTo>
                  <a:pt x="327462" y="184965"/>
                </a:lnTo>
                <a:lnTo>
                  <a:pt x="342352" y="178012"/>
                </a:lnTo>
                <a:lnTo>
                  <a:pt x="358763" y="177151"/>
                </a:lnTo>
                <a:lnTo>
                  <a:pt x="374802" y="182854"/>
                </a:lnTo>
                <a:lnTo>
                  <a:pt x="387370" y="194328"/>
                </a:lnTo>
                <a:lnTo>
                  <a:pt x="394320" y="209218"/>
                </a:lnTo>
                <a:lnTo>
                  <a:pt x="395181" y="225629"/>
                </a:lnTo>
                <a:lnTo>
                  <a:pt x="392971" y="231851"/>
                </a:lnTo>
                <a:close/>
              </a:path>
              <a:path w="395604" h="262254">
                <a:moveTo>
                  <a:pt x="345376" y="231851"/>
                </a:moveTo>
                <a:lnTo>
                  <a:pt x="311106" y="211276"/>
                </a:lnTo>
                <a:lnTo>
                  <a:pt x="315988" y="197535"/>
                </a:lnTo>
                <a:lnTo>
                  <a:pt x="325813" y="186771"/>
                </a:lnTo>
                <a:lnTo>
                  <a:pt x="360095" y="207352"/>
                </a:lnTo>
                <a:lnTo>
                  <a:pt x="345376" y="231851"/>
                </a:lnTo>
                <a:close/>
              </a:path>
              <a:path w="395604" h="262254">
                <a:moveTo>
                  <a:pt x="346708" y="262047"/>
                </a:moveTo>
                <a:lnTo>
                  <a:pt x="330669" y="256349"/>
                </a:lnTo>
                <a:lnTo>
                  <a:pt x="318101" y="244875"/>
                </a:lnTo>
                <a:lnTo>
                  <a:pt x="311151" y="229985"/>
                </a:lnTo>
                <a:lnTo>
                  <a:pt x="310290" y="213574"/>
                </a:lnTo>
                <a:lnTo>
                  <a:pt x="311106" y="211276"/>
                </a:lnTo>
                <a:lnTo>
                  <a:pt x="345376" y="231851"/>
                </a:lnTo>
                <a:lnTo>
                  <a:pt x="392971" y="231851"/>
                </a:lnTo>
                <a:lnTo>
                  <a:pt x="389483" y="241668"/>
                </a:lnTo>
                <a:lnTo>
                  <a:pt x="378009" y="254236"/>
                </a:lnTo>
                <a:lnTo>
                  <a:pt x="363119" y="261186"/>
                </a:lnTo>
                <a:lnTo>
                  <a:pt x="346708" y="2620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236034" y="5518365"/>
            <a:ext cx="114579" cy="127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242384" y="5348439"/>
            <a:ext cx="0" cy="474980"/>
          </a:xfrm>
          <a:custGeom>
            <a:avLst/>
            <a:gdLst/>
            <a:ahLst/>
            <a:cxnLst/>
            <a:rect l="l" t="t" r="r" b="b"/>
            <a:pathLst>
              <a:path w="0" h="474979">
                <a:moveTo>
                  <a:pt x="0" y="0"/>
                </a:moveTo>
                <a:lnTo>
                  <a:pt x="0" y="47437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344263" y="5488876"/>
            <a:ext cx="0" cy="184150"/>
          </a:xfrm>
          <a:custGeom>
            <a:avLst/>
            <a:gdLst/>
            <a:ahLst/>
            <a:cxnLst/>
            <a:rect l="l" t="t" r="r" b="b"/>
            <a:pathLst>
              <a:path w="0" h="184150">
                <a:moveTo>
                  <a:pt x="0" y="0"/>
                </a:moveTo>
                <a:lnTo>
                  <a:pt x="0" y="184137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213790" y="3561384"/>
            <a:ext cx="1912620" cy="2023745"/>
          </a:xfrm>
          <a:custGeom>
            <a:avLst/>
            <a:gdLst/>
            <a:ahLst/>
            <a:cxnLst/>
            <a:rect l="l" t="t" r="r" b="b"/>
            <a:pathLst>
              <a:path w="1912620" h="2023745">
                <a:moveTo>
                  <a:pt x="1883879" y="42327"/>
                </a:moveTo>
                <a:lnTo>
                  <a:pt x="0" y="28575"/>
                </a:lnTo>
                <a:lnTo>
                  <a:pt x="203" y="0"/>
                </a:lnTo>
                <a:lnTo>
                  <a:pt x="1912454" y="13957"/>
                </a:lnTo>
                <a:lnTo>
                  <a:pt x="1912454" y="28143"/>
                </a:lnTo>
                <a:lnTo>
                  <a:pt x="1883879" y="28143"/>
                </a:lnTo>
                <a:lnTo>
                  <a:pt x="1883879" y="42327"/>
                </a:lnTo>
                <a:close/>
              </a:path>
              <a:path w="1912620" h="2023745">
                <a:moveTo>
                  <a:pt x="1898065" y="42430"/>
                </a:moveTo>
                <a:lnTo>
                  <a:pt x="1883879" y="42327"/>
                </a:lnTo>
                <a:lnTo>
                  <a:pt x="1883879" y="28143"/>
                </a:lnTo>
                <a:lnTo>
                  <a:pt x="1898065" y="42430"/>
                </a:lnTo>
                <a:close/>
              </a:path>
              <a:path w="1912620" h="2023745">
                <a:moveTo>
                  <a:pt x="1912454" y="42430"/>
                </a:moveTo>
                <a:lnTo>
                  <a:pt x="1898065" y="42430"/>
                </a:lnTo>
                <a:lnTo>
                  <a:pt x="1883879" y="28143"/>
                </a:lnTo>
                <a:lnTo>
                  <a:pt x="1912454" y="28143"/>
                </a:lnTo>
                <a:lnTo>
                  <a:pt x="1912454" y="42430"/>
                </a:lnTo>
                <a:close/>
              </a:path>
              <a:path w="1912620" h="2023745">
                <a:moveTo>
                  <a:pt x="1883879" y="2009343"/>
                </a:moveTo>
                <a:lnTo>
                  <a:pt x="1883879" y="42327"/>
                </a:lnTo>
                <a:lnTo>
                  <a:pt x="1912454" y="42430"/>
                </a:lnTo>
                <a:lnTo>
                  <a:pt x="1912454" y="1995055"/>
                </a:lnTo>
                <a:lnTo>
                  <a:pt x="1898167" y="1995055"/>
                </a:lnTo>
                <a:lnTo>
                  <a:pt x="1883879" y="2009343"/>
                </a:lnTo>
                <a:close/>
              </a:path>
              <a:path w="1912620" h="2023745">
                <a:moveTo>
                  <a:pt x="1912454" y="2023630"/>
                </a:moveTo>
                <a:lnTo>
                  <a:pt x="151815" y="2023630"/>
                </a:lnTo>
                <a:lnTo>
                  <a:pt x="165925" y="1191691"/>
                </a:lnTo>
                <a:lnTo>
                  <a:pt x="194487" y="1192174"/>
                </a:lnTo>
                <a:lnTo>
                  <a:pt x="180878" y="1995055"/>
                </a:lnTo>
                <a:lnTo>
                  <a:pt x="166357" y="1995055"/>
                </a:lnTo>
                <a:lnTo>
                  <a:pt x="180632" y="2009584"/>
                </a:lnTo>
                <a:lnTo>
                  <a:pt x="1912454" y="2009584"/>
                </a:lnTo>
                <a:lnTo>
                  <a:pt x="1912454" y="2023630"/>
                </a:lnTo>
                <a:close/>
              </a:path>
              <a:path w="1912620" h="2023745">
                <a:moveTo>
                  <a:pt x="180632" y="2009584"/>
                </a:moveTo>
                <a:lnTo>
                  <a:pt x="166357" y="1995055"/>
                </a:lnTo>
                <a:lnTo>
                  <a:pt x="180878" y="1995055"/>
                </a:lnTo>
                <a:lnTo>
                  <a:pt x="180632" y="2009584"/>
                </a:lnTo>
                <a:close/>
              </a:path>
              <a:path w="1912620" h="2023745">
                <a:moveTo>
                  <a:pt x="1912454" y="2009584"/>
                </a:moveTo>
                <a:lnTo>
                  <a:pt x="180632" y="2009584"/>
                </a:lnTo>
                <a:lnTo>
                  <a:pt x="180878" y="1995055"/>
                </a:lnTo>
                <a:lnTo>
                  <a:pt x="1883879" y="1995055"/>
                </a:lnTo>
                <a:lnTo>
                  <a:pt x="1883879" y="2009343"/>
                </a:lnTo>
                <a:lnTo>
                  <a:pt x="1912454" y="2009343"/>
                </a:lnTo>
                <a:lnTo>
                  <a:pt x="1912454" y="2009584"/>
                </a:lnTo>
                <a:close/>
              </a:path>
              <a:path w="1912620" h="2023745">
                <a:moveTo>
                  <a:pt x="1912454" y="2009343"/>
                </a:moveTo>
                <a:lnTo>
                  <a:pt x="1883879" y="2009343"/>
                </a:lnTo>
                <a:lnTo>
                  <a:pt x="1898167" y="1995055"/>
                </a:lnTo>
                <a:lnTo>
                  <a:pt x="1912454" y="1995055"/>
                </a:lnTo>
                <a:lnTo>
                  <a:pt x="1912454" y="20093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706977" y="3617455"/>
            <a:ext cx="822376" cy="115764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704033" y="4132135"/>
            <a:ext cx="770458" cy="73152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520095" y="4001604"/>
            <a:ext cx="2965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628610" y="3978516"/>
            <a:ext cx="2457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80969" y="1416507"/>
            <a:ext cx="6781165" cy="2149475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algn="just" marL="12700" marR="5080">
              <a:lnSpc>
                <a:spcPct val="89500"/>
              </a:lnSpc>
              <a:spcBef>
                <a:spcPts val="445"/>
              </a:spcBef>
            </a:pPr>
            <a:r>
              <a:rPr dirty="0" sz="2800" i="1">
                <a:latin typeface="华文楷体"/>
                <a:cs typeface="华文楷体"/>
              </a:rPr>
              <a:t>【例题】软铁环上绕有</a:t>
            </a:r>
            <a:r>
              <a:rPr dirty="0" sz="2800" spc="-5">
                <a:latin typeface="Times New Roman"/>
                <a:cs typeface="Times New Roman"/>
              </a:rPr>
              <a:t>M</a:t>
            </a:r>
            <a:r>
              <a:rPr dirty="0" sz="2800" i="1">
                <a:latin typeface="华文楷体"/>
                <a:cs typeface="华文楷体"/>
              </a:rPr>
              <a:t>、</a:t>
            </a:r>
            <a:r>
              <a:rPr dirty="0" sz="2800" spc="-5">
                <a:latin typeface="Times New Roman"/>
                <a:cs typeface="Times New Roman"/>
              </a:rPr>
              <a:t>N</a:t>
            </a:r>
            <a:r>
              <a:rPr dirty="0" sz="2800" spc="-65">
                <a:latin typeface="Times New Roman"/>
                <a:cs typeface="Times New Roman"/>
              </a:rPr>
              <a:t> </a:t>
            </a:r>
            <a:r>
              <a:rPr dirty="0" sz="2800" i="1">
                <a:latin typeface="华文楷体"/>
                <a:cs typeface="华文楷体"/>
              </a:rPr>
              <a:t>两个线圈，</a:t>
            </a:r>
            <a:r>
              <a:rPr dirty="0" sz="2800" spc="-5" i="1">
                <a:latin typeface="华文楷体"/>
                <a:cs typeface="华文楷体"/>
              </a:rPr>
              <a:t>当 </a:t>
            </a:r>
            <a:r>
              <a:rPr dirty="0" sz="2800" i="1">
                <a:latin typeface="华文楷体"/>
                <a:cs typeface="华文楷体"/>
              </a:rPr>
              <a:t>线圈</a:t>
            </a:r>
            <a:r>
              <a:rPr dirty="0" sz="2800" spc="-5">
                <a:latin typeface="Times New Roman"/>
                <a:cs typeface="Times New Roman"/>
              </a:rPr>
              <a:t>M</a:t>
            </a:r>
            <a:r>
              <a:rPr dirty="0" sz="2800" i="1">
                <a:latin typeface="华文楷体"/>
                <a:cs typeface="华文楷体"/>
              </a:rPr>
              <a:t>电路中的开关断开的瞬间，线圈</a:t>
            </a:r>
            <a:r>
              <a:rPr dirty="0" sz="2800" spc="-5">
                <a:latin typeface="Times New Roman"/>
                <a:cs typeface="Times New Roman"/>
              </a:rPr>
              <a:t>N</a:t>
            </a:r>
            <a:r>
              <a:rPr dirty="0" sz="2800" spc="-5" i="1">
                <a:latin typeface="华文楷体"/>
                <a:cs typeface="华文楷体"/>
              </a:rPr>
              <a:t>中 </a:t>
            </a:r>
            <a:r>
              <a:rPr dirty="0" sz="2800" i="1">
                <a:latin typeface="华文楷体"/>
                <a:cs typeface="华文楷体"/>
              </a:rPr>
              <a:t>的感应电流沿什么方向？这个问题方便用</a:t>
            </a:r>
            <a:r>
              <a:rPr dirty="0" sz="2800" spc="-5" i="1">
                <a:latin typeface="华文楷体"/>
                <a:cs typeface="华文楷体"/>
              </a:rPr>
              <a:t>右 </a:t>
            </a:r>
            <a:r>
              <a:rPr dirty="0" sz="2800" i="1">
                <a:latin typeface="华文楷体"/>
                <a:cs typeface="华文楷体"/>
              </a:rPr>
              <a:t>手定则解决吗</a:t>
            </a:r>
            <a:r>
              <a:rPr dirty="0" sz="2800" spc="-5" i="1">
                <a:latin typeface="华文楷体"/>
                <a:cs typeface="华文楷体"/>
              </a:rPr>
              <a:t>？</a:t>
            </a:r>
            <a:endParaRPr sz="2800">
              <a:latin typeface="华文楷体"/>
              <a:cs typeface="华文楷体"/>
            </a:endParaRPr>
          </a:p>
          <a:p>
            <a:pPr marL="1612265">
              <a:lnSpc>
                <a:spcPct val="100000"/>
              </a:lnSpc>
              <a:spcBef>
                <a:spcPts val="1470"/>
              </a:spcBef>
            </a:pPr>
            <a:r>
              <a:rPr dirty="0" sz="2400">
                <a:latin typeface="Times New Roman"/>
                <a:cs typeface="Times New Roman"/>
              </a:rPr>
              <a:t>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5245379" y="901115"/>
            <a:ext cx="2311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二、右手定则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95435" y="2098281"/>
            <a:ext cx="45205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 i="1">
                <a:latin typeface="华文楷体"/>
                <a:cs typeface="华文楷体"/>
              </a:rPr>
              <a:t>楞次定律与右手定则比较</a:t>
            </a:r>
            <a:r>
              <a:rPr dirty="0" sz="2800" spc="-5" i="1">
                <a:latin typeface="华文楷体"/>
                <a:cs typeface="华文楷体"/>
              </a:rPr>
              <a:t>：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059845" y="1431201"/>
            <a:ext cx="2311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二、右手定则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039565" y="3432539"/>
            <a:ext cx="2032635" cy="331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375"/>
              </a:lnSpc>
            </a:pPr>
            <a:r>
              <a:rPr dirty="0" sz="2000" i="1">
                <a:latin typeface="华文楷体"/>
                <a:cs typeface="华文楷体"/>
              </a:rPr>
              <a:t>整个闭合导体回</a:t>
            </a:r>
            <a:r>
              <a:rPr dirty="0" sz="2000" spc="5" i="1">
                <a:latin typeface="华文楷体"/>
                <a:cs typeface="华文楷体"/>
              </a:rPr>
              <a:t>路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41440" y="3280139"/>
            <a:ext cx="3048635" cy="63627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indent="508000">
              <a:lnSpc>
                <a:spcPts val="2400"/>
              </a:lnSpc>
              <a:spcBef>
                <a:spcPts val="55"/>
              </a:spcBef>
            </a:pPr>
            <a:r>
              <a:rPr dirty="0" sz="2000" i="1">
                <a:latin typeface="华文楷体"/>
                <a:cs typeface="华文楷体"/>
              </a:rPr>
              <a:t>闭合导体回路的一部</a:t>
            </a:r>
            <a:r>
              <a:rPr dirty="0" sz="2000" i="1">
                <a:latin typeface="华文楷体"/>
                <a:cs typeface="华文楷体"/>
              </a:rPr>
              <a:t>分 </a:t>
            </a:r>
            <a:r>
              <a:rPr dirty="0" sz="2000" i="1">
                <a:latin typeface="华文楷体"/>
                <a:cs typeface="华文楷体"/>
              </a:rPr>
              <a:t>做切割磁感线运</a:t>
            </a:r>
            <a:r>
              <a:rPr dirty="0" sz="2000" spc="5" i="1">
                <a:latin typeface="华文楷体"/>
                <a:cs typeface="华文楷体"/>
              </a:rPr>
              <a:t>动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53205" y="4042139"/>
            <a:ext cx="2032635" cy="941069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algn="just" indent="508000">
              <a:lnSpc>
                <a:spcPts val="2400"/>
              </a:lnSpc>
              <a:spcBef>
                <a:spcPts val="55"/>
              </a:spcBef>
            </a:pPr>
            <a:r>
              <a:rPr dirty="0" sz="2000" i="1">
                <a:latin typeface="华文楷体"/>
                <a:cs typeface="华文楷体"/>
              </a:rPr>
              <a:t>适用于由磁</a:t>
            </a:r>
            <a:r>
              <a:rPr dirty="0" sz="2000" i="1">
                <a:latin typeface="华文楷体"/>
                <a:cs typeface="华文楷体"/>
              </a:rPr>
              <a:t>通 </a:t>
            </a:r>
            <a:r>
              <a:rPr dirty="0" sz="2000" i="1">
                <a:latin typeface="华文楷体"/>
                <a:cs typeface="华文楷体"/>
              </a:rPr>
              <a:t>量变化引起感应</a:t>
            </a:r>
            <a:r>
              <a:rPr dirty="0" sz="2000" i="1">
                <a:latin typeface="华文楷体"/>
                <a:cs typeface="华文楷体"/>
              </a:rPr>
              <a:t>电 </a:t>
            </a:r>
            <a:r>
              <a:rPr dirty="0" sz="2000" i="1">
                <a:latin typeface="华文楷体"/>
                <a:cs typeface="华文楷体"/>
              </a:rPr>
              <a:t>流的各种情</a:t>
            </a:r>
            <a:r>
              <a:rPr dirty="0" sz="2000" spc="5" i="1">
                <a:latin typeface="华文楷体"/>
                <a:cs typeface="华文楷体"/>
              </a:rPr>
              <a:t>况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41440" y="4042139"/>
            <a:ext cx="3302635" cy="941069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indent="508000">
              <a:lnSpc>
                <a:spcPts val="2400"/>
              </a:lnSpc>
              <a:spcBef>
                <a:spcPts val="55"/>
              </a:spcBef>
            </a:pPr>
            <a:r>
              <a:rPr dirty="0" sz="2000" i="1">
                <a:latin typeface="华文楷体"/>
                <a:cs typeface="华文楷体"/>
              </a:rPr>
              <a:t>只用于一段导线在磁</a:t>
            </a:r>
            <a:r>
              <a:rPr dirty="0" sz="2000" spc="5" i="1">
                <a:latin typeface="华文楷体"/>
                <a:cs typeface="华文楷体"/>
              </a:rPr>
              <a:t>场 </a:t>
            </a:r>
            <a:r>
              <a:rPr dirty="0" sz="2000" i="1">
                <a:latin typeface="华文楷体"/>
                <a:cs typeface="华文楷体"/>
              </a:rPr>
              <a:t>中做切割磁感线运动的情况</a:t>
            </a:r>
            <a:r>
              <a:rPr dirty="0" sz="2000" i="1">
                <a:latin typeface="华文楷体"/>
                <a:cs typeface="华文楷体"/>
              </a:rPr>
              <a:t>， </a:t>
            </a:r>
            <a:r>
              <a:rPr dirty="0" sz="2000" i="1">
                <a:latin typeface="华文楷体"/>
                <a:cs typeface="华文楷体"/>
              </a:rPr>
              <a:t>导线不动时不能应</a:t>
            </a:r>
            <a:r>
              <a:rPr dirty="0" sz="2000" spc="5" i="1">
                <a:latin typeface="华文楷体"/>
                <a:cs typeface="华文楷体"/>
              </a:rPr>
              <a:t>用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35461" y="5192623"/>
            <a:ext cx="4597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solidFill>
                  <a:srgbClr val="0000FF"/>
                </a:solidFill>
                <a:latin typeface="华文楷体"/>
                <a:cs typeface="华文楷体"/>
              </a:rPr>
              <a:t>右手定则是楞次定律的特殊应用。</a:t>
            </a:r>
            <a:endParaRPr sz="2400">
              <a:latin typeface="华文楷体"/>
              <a:cs typeface="华文楷体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2798140" y="2661894"/>
          <a:ext cx="6929755" cy="23831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7275"/>
                <a:gridCol w="2388235"/>
                <a:gridCol w="3464560"/>
              </a:tblGrid>
              <a:tr h="5348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42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2400" i="1">
                          <a:latin typeface="华文楷体"/>
                          <a:cs typeface="华文楷体"/>
                        </a:rPr>
                        <a:t>楞次定律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469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2204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2400" i="1">
                          <a:latin typeface="华文楷体"/>
                          <a:cs typeface="华文楷体"/>
                        </a:rPr>
                        <a:t>右手定则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469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22718">
                <a:tc>
                  <a:txBody>
                    <a:bodyPr/>
                    <a:lstStyle/>
                    <a:p>
                      <a:pPr marL="222885" marR="21717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2400" i="1">
                          <a:latin typeface="华文楷体"/>
                          <a:cs typeface="华文楷体"/>
                        </a:rPr>
                        <a:t>研究 对象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635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1012367">
                <a:tc>
                  <a:txBody>
                    <a:bodyPr/>
                    <a:lstStyle/>
                    <a:p>
                      <a:pPr marL="222885" marR="21717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dirty="0" sz="2400" i="1">
                          <a:latin typeface="华文楷体"/>
                          <a:cs typeface="华文楷体"/>
                        </a:rPr>
                        <a:t>适用 范围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98425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48825" y="1700339"/>
            <a:ext cx="6939280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i="1">
                <a:latin typeface="华文楷体"/>
                <a:cs typeface="华文楷体"/>
              </a:rPr>
              <a:t>下图中，线圈</a:t>
            </a:r>
            <a:r>
              <a:rPr dirty="0" sz="2800" spc="-5">
                <a:latin typeface="Times New Roman"/>
                <a:cs typeface="Times New Roman"/>
              </a:rPr>
              <a:t>M</a:t>
            </a:r>
            <a:r>
              <a:rPr dirty="0" sz="2800" i="1">
                <a:latin typeface="华文楷体"/>
                <a:cs typeface="华文楷体"/>
              </a:rPr>
              <a:t>和线圈</a:t>
            </a:r>
            <a:r>
              <a:rPr dirty="0" sz="2800" spc="-5">
                <a:latin typeface="Times New Roman"/>
                <a:cs typeface="Times New Roman"/>
              </a:rPr>
              <a:t>P</a:t>
            </a:r>
            <a:r>
              <a:rPr dirty="0" sz="2800" i="1">
                <a:latin typeface="华文楷体"/>
                <a:cs typeface="华文楷体"/>
              </a:rPr>
              <a:t>绕在同一个铁芯上</a:t>
            </a:r>
            <a:r>
              <a:rPr dirty="0" sz="2800" spc="-5" i="1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76702" y="1111847"/>
            <a:ext cx="11931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Font typeface="Wingdings"/>
              <a:buChar char=""/>
              <a:tabLst>
                <a:tab pos="469265" algn="l"/>
                <a:tab pos="469900" algn="l"/>
              </a:tabLst>
            </a:pPr>
            <a:r>
              <a:rPr dirty="0" sz="2800" i="1">
                <a:latin typeface="华文楷体"/>
                <a:cs typeface="华文楷体"/>
              </a:rPr>
              <a:t>练</a:t>
            </a:r>
            <a:r>
              <a:rPr dirty="0" sz="2800" spc="-5" i="1">
                <a:latin typeface="华文楷体"/>
                <a:cs typeface="华文楷体"/>
              </a:rPr>
              <a:t>习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344923" y="3846576"/>
            <a:ext cx="3220212" cy="2039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345368" y="4248289"/>
            <a:ext cx="3303270" cy="142875"/>
          </a:xfrm>
          <a:custGeom>
            <a:avLst/>
            <a:gdLst/>
            <a:ahLst/>
            <a:cxnLst/>
            <a:rect l="l" t="t" r="r" b="b"/>
            <a:pathLst>
              <a:path w="3303270" h="142875">
                <a:moveTo>
                  <a:pt x="3217028" y="56854"/>
                </a:moveTo>
                <a:lnTo>
                  <a:pt x="3159594" y="0"/>
                </a:lnTo>
                <a:lnTo>
                  <a:pt x="3274426" y="56692"/>
                </a:lnTo>
                <a:lnTo>
                  <a:pt x="3249180" y="56692"/>
                </a:lnTo>
                <a:lnTo>
                  <a:pt x="3217028" y="56854"/>
                </a:lnTo>
                <a:close/>
              </a:path>
              <a:path w="3303270" h="142875">
                <a:moveTo>
                  <a:pt x="3217172" y="85429"/>
                </a:moveTo>
                <a:lnTo>
                  <a:pt x="3231388" y="71069"/>
                </a:lnTo>
                <a:lnTo>
                  <a:pt x="3217028" y="56854"/>
                </a:lnTo>
                <a:lnTo>
                  <a:pt x="3249180" y="56692"/>
                </a:lnTo>
                <a:lnTo>
                  <a:pt x="3249320" y="85267"/>
                </a:lnTo>
                <a:lnTo>
                  <a:pt x="3217172" y="85429"/>
                </a:lnTo>
                <a:close/>
              </a:path>
              <a:path w="3303270" h="142875">
                <a:moveTo>
                  <a:pt x="3160306" y="142875"/>
                </a:moveTo>
                <a:lnTo>
                  <a:pt x="3217172" y="85429"/>
                </a:lnTo>
                <a:lnTo>
                  <a:pt x="3249320" y="85267"/>
                </a:lnTo>
                <a:lnTo>
                  <a:pt x="3249180" y="56692"/>
                </a:lnTo>
                <a:lnTo>
                  <a:pt x="3274426" y="56692"/>
                </a:lnTo>
                <a:lnTo>
                  <a:pt x="3302825" y="70713"/>
                </a:lnTo>
                <a:lnTo>
                  <a:pt x="3160306" y="142875"/>
                </a:lnTo>
                <a:close/>
              </a:path>
              <a:path w="3303270" h="142875">
                <a:moveTo>
                  <a:pt x="139" y="101625"/>
                </a:moveTo>
                <a:lnTo>
                  <a:pt x="0" y="73050"/>
                </a:lnTo>
                <a:lnTo>
                  <a:pt x="3217028" y="56854"/>
                </a:lnTo>
                <a:lnTo>
                  <a:pt x="3231388" y="71069"/>
                </a:lnTo>
                <a:lnTo>
                  <a:pt x="3217172" y="85429"/>
                </a:lnTo>
                <a:lnTo>
                  <a:pt x="139" y="10162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253264" y="4207078"/>
            <a:ext cx="1062990" cy="142875"/>
          </a:xfrm>
          <a:custGeom>
            <a:avLst/>
            <a:gdLst/>
            <a:ahLst/>
            <a:cxnLst/>
            <a:rect l="l" t="t" r="r" b="b"/>
            <a:pathLst>
              <a:path w="1062990" h="142875">
                <a:moveTo>
                  <a:pt x="142900" y="142875"/>
                </a:moveTo>
                <a:lnTo>
                  <a:pt x="0" y="71488"/>
                </a:lnTo>
                <a:lnTo>
                  <a:pt x="142862" y="0"/>
                </a:lnTo>
                <a:lnTo>
                  <a:pt x="85726" y="57166"/>
                </a:lnTo>
                <a:lnTo>
                  <a:pt x="53581" y="57175"/>
                </a:lnTo>
                <a:lnTo>
                  <a:pt x="53581" y="85750"/>
                </a:lnTo>
                <a:lnTo>
                  <a:pt x="85735" y="85750"/>
                </a:lnTo>
                <a:lnTo>
                  <a:pt x="142900" y="142875"/>
                </a:lnTo>
                <a:close/>
              </a:path>
              <a:path w="1062990" h="142875">
                <a:moveTo>
                  <a:pt x="85725" y="85741"/>
                </a:moveTo>
                <a:lnTo>
                  <a:pt x="71437" y="71462"/>
                </a:lnTo>
                <a:lnTo>
                  <a:pt x="85726" y="57166"/>
                </a:lnTo>
                <a:lnTo>
                  <a:pt x="1062418" y="56883"/>
                </a:lnTo>
                <a:lnTo>
                  <a:pt x="1062418" y="85458"/>
                </a:lnTo>
                <a:lnTo>
                  <a:pt x="85725" y="85741"/>
                </a:lnTo>
                <a:close/>
              </a:path>
              <a:path w="1062990" h="142875">
                <a:moveTo>
                  <a:pt x="53581" y="85750"/>
                </a:moveTo>
                <a:lnTo>
                  <a:pt x="53581" y="57175"/>
                </a:lnTo>
                <a:lnTo>
                  <a:pt x="85726" y="57166"/>
                </a:lnTo>
                <a:lnTo>
                  <a:pt x="71437" y="71462"/>
                </a:lnTo>
                <a:lnTo>
                  <a:pt x="85725" y="85741"/>
                </a:lnTo>
                <a:lnTo>
                  <a:pt x="53581" y="8575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154773" y="4710163"/>
            <a:ext cx="142875" cy="607060"/>
          </a:xfrm>
          <a:custGeom>
            <a:avLst/>
            <a:gdLst/>
            <a:ahLst/>
            <a:cxnLst/>
            <a:rect l="l" t="t" r="r" b="b"/>
            <a:pathLst>
              <a:path w="142875" h="607060">
                <a:moveTo>
                  <a:pt x="0" y="143840"/>
                </a:moveTo>
                <a:lnTo>
                  <a:pt x="69468" y="0"/>
                </a:lnTo>
                <a:lnTo>
                  <a:pt x="97076" y="53365"/>
                </a:lnTo>
                <a:lnTo>
                  <a:pt x="84493" y="53365"/>
                </a:lnTo>
                <a:lnTo>
                  <a:pt x="55918" y="53759"/>
                </a:lnTo>
                <a:lnTo>
                  <a:pt x="56359" y="85906"/>
                </a:lnTo>
                <a:lnTo>
                  <a:pt x="0" y="143840"/>
                </a:lnTo>
                <a:close/>
              </a:path>
              <a:path w="142875" h="607060">
                <a:moveTo>
                  <a:pt x="56359" y="85906"/>
                </a:moveTo>
                <a:lnTo>
                  <a:pt x="55918" y="53759"/>
                </a:lnTo>
                <a:lnTo>
                  <a:pt x="84493" y="53365"/>
                </a:lnTo>
                <a:lnTo>
                  <a:pt x="84740" y="71424"/>
                </a:lnTo>
                <a:lnTo>
                  <a:pt x="70446" y="71424"/>
                </a:lnTo>
                <a:lnTo>
                  <a:pt x="56359" y="85906"/>
                </a:lnTo>
                <a:close/>
              </a:path>
              <a:path w="142875" h="607060">
                <a:moveTo>
                  <a:pt x="142862" y="141871"/>
                </a:moveTo>
                <a:lnTo>
                  <a:pt x="84933" y="85517"/>
                </a:lnTo>
                <a:lnTo>
                  <a:pt x="84493" y="53365"/>
                </a:lnTo>
                <a:lnTo>
                  <a:pt x="97076" y="53365"/>
                </a:lnTo>
                <a:lnTo>
                  <a:pt x="142862" y="141871"/>
                </a:lnTo>
                <a:close/>
              </a:path>
              <a:path w="142875" h="607060">
                <a:moveTo>
                  <a:pt x="63500" y="606564"/>
                </a:moveTo>
                <a:lnTo>
                  <a:pt x="56359" y="85906"/>
                </a:lnTo>
                <a:lnTo>
                  <a:pt x="70446" y="71424"/>
                </a:lnTo>
                <a:lnTo>
                  <a:pt x="84933" y="85517"/>
                </a:lnTo>
                <a:lnTo>
                  <a:pt x="92062" y="606170"/>
                </a:lnTo>
                <a:lnTo>
                  <a:pt x="63500" y="606564"/>
                </a:lnTo>
                <a:close/>
              </a:path>
              <a:path w="142875" h="607060">
                <a:moveTo>
                  <a:pt x="84933" y="85517"/>
                </a:moveTo>
                <a:lnTo>
                  <a:pt x="70446" y="71424"/>
                </a:lnTo>
                <a:lnTo>
                  <a:pt x="84740" y="71424"/>
                </a:lnTo>
                <a:lnTo>
                  <a:pt x="84933" y="85517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407145" y="2157539"/>
            <a:ext cx="7353934" cy="3039745"/>
          </a:xfrm>
          <a:prstGeom prst="rect">
            <a:avLst/>
          </a:prstGeom>
        </p:spPr>
        <p:txBody>
          <a:bodyPr wrap="square" lIns="0" tIns="113665" rIns="0" bIns="0" rtlCol="0" vert="horz">
            <a:spAutoFit/>
          </a:bodyPr>
          <a:lstStyle/>
          <a:p>
            <a:pPr marL="12700" marR="5080">
              <a:lnSpc>
                <a:spcPct val="76200"/>
              </a:lnSpc>
              <a:spcBef>
                <a:spcPts val="895"/>
              </a:spcBef>
              <a:buSzPct val="96428"/>
              <a:buAutoNum type="arabicPlain"/>
              <a:tabLst>
                <a:tab pos="901700" algn="l"/>
              </a:tabLst>
            </a:pPr>
            <a:r>
              <a:rPr dirty="0" sz="2800" i="1">
                <a:latin typeface="华文楷体"/>
                <a:cs typeface="华文楷体"/>
              </a:rPr>
              <a:t>当闭合开关</a:t>
            </a:r>
            <a:r>
              <a:rPr dirty="0" sz="2800" spc="-5">
                <a:latin typeface="Times New Roman"/>
                <a:cs typeface="Times New Roman"/>
              </a:rPr>
              <a:t>S</a:t>
            </a:r>
            <a:r>
              <a:rPr dirty="0" sz="2800" i="1">
                <a:latin typeface="华文楷体"/>
                <a:cs typeface="华文楷体"/>
              </a:rPr>
              <a:t>的一瞬间，线圈</a:t>
            </a:r>
            <a:r>
              <a:rPr dirty="0" sz="2800" spc="-5">
                <a:latin typeface="Times New Roman"/>
                <a:cs typeface="Times New Roman"/>
              </a:rPr>
              <a:t>P</a:t>
            </a:r>
            <a:r>
              <a:rPr dirty="0" sz="2800" i="1">
                <a:latin typeface="华文楷体"/>
                <a:cs typeface="华文楷体"/>
              </a:rPr>
              <a:t>中感应电</a:t>
            </a:r>
            <a:r>
              <a:rPr dirty="0" sz="2800" spc="-5" i="1">
                <a:latin typeface="华文楷体"/>
                <a:cs typeface="华文楷体"/>
              </a:rPr>
              <a:t>流 </a:t>
            </a:r>
            <a:r>
              <a:rPr dirty="0" sz="2800" i="1">
                <a:latin typeface="华文楷体"/>
                <a:cs typeface="华文楷体"/>
              </a:rPr>
              <a:t>的方向如何</a:t>
            </a:r>
            <a:r>
              <a:rPr dirty="0" sz="2800" spc="-5" i="1">
                <a:latin typeface="华文楷体"/>
                <a:cs typeface="华文楷体"/>
              </a:rPr>
              <a:t>？</a:t>
            </a:r>
            <a:endParaRPr sz="2800">
              <a:latin typeface="华文楷体"/>
              <a:cs typeface="华文楷体"/>
            </a:endParaRPr>
          </a:p>
          <a:p>
            <a:pPr marL="12700" marR="5080">
              <a:lnSpc>
                <a:spcPct val="76200"/>
              </a:lnSpc>
              <a:spcBef>
                <a:spcPts val="1080"/>
              </a:spcBef>
              <a:buSzPct val="96428"/>
              <a:buAutoNum type="arabicPlain"/>
              <a:tabLst>
                <a:tab pos="901700" algn="l"/>
              </a:tabLst>
            </a:pPr>
            <a:r>
              <a:rPr dirty="0" sz="2800" i="1">
                <a:latin typeface="华文楷体"/>
                <a:cs typeface="华文楷体"/>
              </a:rPr>
              <a:t>当断开开关</a:t>
            </a:r>
            <a:r>
              <a:rPr dirty="0" sz="2800" spc="-5">
                <a:latin typeface="Times New Roman"/>
                <a:cs typeface="Times New Roman"/>
              </a:rPr>
              <a:t>S</a:t>
            </a:r>
            <a:r>
              <a:rPr dirty="0" sz="2800" i="1">
                <a:latin typeface="华文楷体"/>
                <a:cs typeface="华文楷体"/>
              </a:rPr>
              <a:t>的一瞬间，线圈</a:t>
            </a:r>
            <a:r>
              <a:rPr dirty="0" sz="2800" spc="-5">
                <a:latin typeface="Times New Roman"/>
                <a:cs typeface="Times New Roman"/>
              </a:rPr>
              <a:t>P</a:t>
            </a:r>
            <a:r>
              <a:rPr dirty="0" sz="2800" i="1">
                <a:latin typeface="华文楷体"/>
                <a:cs typeface="华文楷体"/>
              </a:rPr>
              <a:t>中感应电</a:t>
            </a:r>
            <a:r>
              <a:rPr dirty="0" sz="2800" spc="-5" i="1">
                <a:latin typeface="华文楷体"/>
                <a:cs typeface="华文楷体"/>
              </a:rPr>
              <a:t>流 </a:t>
            </a:r>
            <a:r>
              <a:rPr dirty="0" sz="2800" i="1">
                <a:latin typeface="华文楷体"/>
                <a:cs typeface="华文楷体"/>
              </a:rPr>
              <a:t>的方向如何</a:t>
            </a:r>
            <a:r>
              <a:rPr dirty="0" sz="2800" spc="-5" i="1">
                <a:latin typeface="华文楷体"/>
                <a:cs typeface="华文楷体"/>
              </a:rPr>
              <a:t>？</a:t>
            </a:r>
            <a:endParaRPr sz="2800">
              <a:latin typeface="华文楷体"/>
              <a:cs typeface="华文楷体"/>
            </a:endParaRPr>
          </a:p>
          <a:p>
            <a:pPr algn="ctr" marL="568960">
              <a:lnSpc>
                <a:spcPts val="2455"/>
              </a:lnSpc>
              <a:spcBef>
                <a:spcPts val="1175"/>
              </a:spcBef>
            </a:pPr>
            <a:r>
              <a:rPr dirty="0" sz="2400" spc="-5" i="1">
                <a:solidFill>
                  <a:srgbClr val="0000FF"/>
                </a:solidFill>
                <a:latin typeface="Times New Roman"/>
                <a:cs typeface="Times New Roman"/>
              </a:rPr>
              <a:t>B</a:t>
            </a:r>
            <a:r>
              <a:rPr dirty="0" baseline="-16908" sz="1725" spc="37" i="1">
                <a:solidFill>
                  <a:srgbClr val="0000FF"/>
                </a:solidFill>
                <a:latin typeface="华文楷体"/>
                <a:cs typeface="华文楷体"/>
              </a:rPr>
              <a:t>感</a:t>
            </a:r>
            <a:endParaRPr baseline="-16908" sz="1725">
              <a:latin typeface="华文楷体"/>
              <a:cs typeface="华文楷体"/>
            </a:endParaRPr>
          </a:p>
          <a:p>
            <a:pPr algn="r" marR="1727835">
              <a:lnSpc>
                <a:spcPts val="2455"/>
              </a:lnSpc>
            </a:pPr>
            <a:r>
              <a:rPr dirty="0" sz="2400" spc="-5" i="1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r>
              <a:rPr dirty="0" baseline="-16908" sz="1725" spc="37" i="1">
                <a:solidFill>
                  <a:srgbClr val="FF0000"/>
                </a:solidFill>
                <a:latin typeface="华文楷体"/>
                <a:cs typeface="华文楷体"/>
              </a:rPr>
              <a:t>原</a:t>
            </a:r>
            <a:endParaRPr baseline="-16908" sz="1725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Times New Roman"/>
              <a:cs typeface="Times New Roman"/>
            </a:endParaRPr>
          </a:p>
          <a:p>
            <a:pPr algn="r" marR="2138045">
              <a:lnSpc>
                <a:spcPct val="100000"/>
              </a:lnSpc>
            </a:pPr>
            <a:r>
              <a:rPr dirty="0" sz="2400" i="1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dirty="0" baseline="-17921" sz="2325" spc="15" i="1">
                <a:solidFill>
                  <a:srgbClr val="0000FF"/>
                </a:solidFill>
                <a:latin typeface="华文楷体"/>
                <a:cs typeface="华文楷体"/>
              </a:rPr>
              <a:t>感</a:t>
            </a:r>
            <a:endParaRPr baseline="-17921" sz="2325">
              <a:latin typeface="华文楷体"/>
              <a:cs typeface="华文楷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303875" y="5603322"/>
            <a:ext cx="640715" cy="0"/>
          </a:xfrm>
          <a:custGeom>
            <a:avLst/>
            <a:gdLst/>
            <a:ahLst/>
            <a:cxnLst/>
            <a:rect l="l" t="t" r="r" b="b"/>
            <a:pathLst>
              <a:path w="640714" h="0">
                <a:moveTo>
                  <a:pt x="0" y="0"/>
                </a:moveTo>
                <a:lnTo>
                  <a:pt x="640334" y="0"/>
                </a:lnTo>
              </a:path>
            </a:pathLst>
          </a:custGeom>
          <a:ln w="273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262280" y="4059935"/>
            <a:ext cx="881811" cy="10088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919192" y="3980688"/>
            <a:ext cx="1001814" cy="104731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34246" y="1898700"/>
            <a:ext cx="6939280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i="1">
                <a:latin typeface="华文楷体"/>
                <a:cs typeface="华文楷体"/>
              </a:rPr>
              <a:t>下图中，线圈</a:t>
            </a:r>
            <a:r>
              <a:rPr dirty="0" sz="2800" spc="-5">
                <a:latin typeface="Times New Roman"/>
                <a:cs typeface="Times New Roman"/>
              </a:rPr>
              <a:t>M</a:t>
            </a:r>
            <a:r>
              <a:rPr dirty="0" sz="2800" i="1">
                <a:latin typeface="华文楷体"/>
                <a:cs typeface="华文楷体"/>
              </a:rPr>
              <a:t>和线圈</a:t>
            </a:r>
            <a:r>
              <a:rPr dirty="0" sz="2800" spc="-5">
                <a:latin typeface="Times New Roman"/>
                <a:cs typeface="Times New Roman"/>
              </a:rPr>
              <a:t>P</a:t>
            </a:r>
            <a:r>
              <a:rPr dirty="0" sz="2800" i="1">
                <a:latin typeface="华文楷体"/>
                <a:cs typeface="华文楷体"/>
              </a:rPr>
              <a:t>绕在同一个铁芯上</a:t>
            </a:r>
            <a:r>
              <a:rPr dirty="0" sz="2800" spc="-5" i="1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30386" y="1121384"/>
            <a:ext cx="11931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Font typeface="Wingdings"/>
              <a:buChar char=""/>
              <a:tabLst>
                <a:tab pos="469265" algn="l"/>
                <a:tab pos="469900" algn="l"/>
              </a:tabLst>
            </a:pPr>
            <a:r>
              <a:rPr dirty="0" sz="2800" i="1">
                <a:latin typeface="华文楷体"/>
                <a:cs typeface="华文楷体"/>
              </a:rPr>
              <a:t>练</a:t>
            </a:r>
            <a:r>
              <a:rPr dirty="0" sz="2800" spc="-5" i="1">
                <a:latin typeface="华文楷体"/>
                <a:cs typeface="华文楷体"/>
              </a:rPr>
              <a:t>习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279391" y="3660647"/>
            <a:ext cx="3220212" cy="2039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279112" y="4062755"/>
            <a:ext cx="3303270" cy="142875"/>
          </a:xfrm>
          <a:custGeom>
            <a:avLst/>
            <a:gdLst/>
            <a:ahLst/>
            <a:cxnLst/>
            <a:rect l="l" t="t" r="r" b="b"/>
            <a:pathLst>
              <a:path w="3303270" h="142875">
                <a:moveTo>
                  <a:pt x="3217028" y="56867"/>
                </a:moveTo>
                <a:lnTo>
                  <a:pt x="3159582" y="0"/>
                </a:lnTo>
                <a:lnTo>
                  <a:pt x="3274449" y="56705"/>
                </a:lnTo>
                <a:lnTo>
                  <a:pt x="3249168" y="56705"/>
                </a:lnTo>
                <a:lnTo>
                  <a:pt x="3217028" y="56867"/>
                </a:lnTo>
                <a:close/>
              </a:path>
              <a:path w="3303270" h="142875">
                <a:moveTo>
                  <a:pt x="3217169" y="85442"/>
                </a:moveTo>
                <a:lnTo>
                  <a:pt x="3231388" y="71081"/>
                </a:lnTo>
                <a:lnTo>
                  <a:pt x="3217028" y="56867"/>
                </a:lnTo>
                <a:lnTo>
                  <a:pt x="3249168" y="56705"/>
                </a:lnTo>
                <a:lnTo>
                  <a:pt x="3249320" y="85280"/>
                </a:lnTo>
                <a:lnTo>
                  <a:pt x="3217169" y="85442"/>
                </a:lnTo>
                <a:close/>
              </a:path>
              <a:path w="3303270" h="142875">
                <a:moveTo>
                  <a:pt x="3160306" y="142875"/>
                </a:moveTo>
                <a:lnTo>
                  <a:pt x="3217169" y="85442"/>
                </a:lnTo>
                <a:lnTo>
                  <a:pt x="3249320" y="85280"/>
                </a:lnTo>
                <a:lnTo>
                  <a:pt x="3249168" y="56705"/>
                </a:lnTo>
                <a:lnTo>
                  <a:pt x="3274449" y="56705"/>
                </a:lnTo>
                <a:lnTo>
                  <a:pt x="3302825" y="70713"/>
                </a:lnTo>
                <a:lnTo>
                  <a:pt x="3160306" y="142875"/>
                </a:lnTo>
                <a:close/>
              </a:path>
              <a:path w="3303270" h="142875">
                <a:moveTo>
                  <a:pt x="139" y="101625"/>
                </a:moveTo>
                <a:lnTo>
                  <a:pt x="0" y="73050"/>
                </a:lnTo>
                <a:lnTo>
                  <a:pt x="3217028" y="56867"/>
                </a:lnTo>
                <a:lnTo>
                  <a:pt x="3231388" y="71081"/>
                </a:lnTo>
                <a:lnTo>
                  <a:pt x="3217169" y="85442"/>
                </a:lnTo>
                <a:lnTo>
                  <a:pt x="139" y="10162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187008" y="4008259"/>
            <a:ext cx="1062990" cy="142875"/>
          </a:xfrm>
          <a:custGeom>
            <a:avLst/>
            <a:gdLst/>
            <a:ahLst/>
            <a:cxnLst/>
            <a:rect l="l" t="t" r="r" b="b"/>
            <a:pathLst>
              <a:path w="1062990" h="142875">
                <a:moveTo>
                  <a:pt x="919556" y="142875"/>
                </a:moveTo>
                <a:lnTo>
                  <a:pt x="976691" y="85708"/>
                </a:lnTo>
                <a:lnTo>
                  <a:pt x="1008837" y="85699"/>
                </a:lnTo>
                <a:lnTo>
                  <a:pt x="1008837" y="57124"/>
                </a:lnTo>
                <a:lnTo>
                  <a:pt x="976683" y="57124"/>
                </a:lnTo>
                <a:lnTo>
                  <a:pt x="919518" y="0"/>
                </a:lnTo>
                <a:lnTo>
                  <a:pt x="1033848" y="57124"/>
                </a:lnTo>
                <a:lnTo>
                  <a:pt x="1008837" y="57124"/>
                </a:lnTo>
                <a:lnTo>
                  <a:pt x="1033867" y="57133"/>
                </a:lnTo>
                <a:lnTo>
                  <a:pt x="1062418" y="71399"/>
                </a:lnTo>
                <a:lnTo>
                  <a:pt x="919556" y="142875"/>
                </a:lnTo>
                <a:close/>
              </a:path>
              <a:path w="1062990" h="142875">
                <a:moveTo>
                  <a:pt x="976691" y="85708"/>
                </a:moveTo>
                <a:lnTo>
                  <a:pt x="990981" y="71412"/>
                </a:lnTo>
                <a:lnTo>
                  <a:pt x="976692" y="57133"/>
                </a:lnTo>
                <a:lnTo>
                  <a:pt x="1008837" y="57124"/>
                </a:lnTo>
                <a:lnTo>
                  <a:pt x="1008837" y="85699"/>
                </a:lnTo>
                <a:lnTo>
                  <a:pt x="976691" y="85708"/>
                </a:lnTo>
                <a:close/>
              </a:path>
              <a:path w="1062990" h="142875">
                <a:moveTo>
                  <a:pt x="0" y="85991"/>
                </a:moveTo>
                <a:lnTo>
                  <a:pt x="0" y="57416"/>
                </a:lnTo>
                <a:lnTo>
                  <a:pt x="976692" y="57133"/>
                </a:lnTo>
                <a:lnTo>
                  <a:pt x="990981" y="71412"/>
                </a:lnTo>
                <a:lnTo>
                  <a:pt x="976691" y="85708"/>
                </a:lnTo>
                <a:lnTo>
                  <a:pt x="0" y="8599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086548" y="4562411"/>
            <a:ext cx="142875" cy="601980"/>
          </a:xfrm>
          <a:custGeom>
            <a:avLst/>
            <a:gdLst/>
            <a:ahLst/>
            <a:cxnLst/>
            <a:rect l="l" t="t" r="r" b="b"/>
            <a:pathLst>
              <a:path w="142875" h="601979">
                <a:moveTo>
                  <a:pt x="71437" y="530402"/>
                </a:moveTo>
                <a:lnTo>
                  <a:pt x="57150" y="516116"/>
                </a:lnTo>
                <a:lnTo>
                  <a:pt x="57137" y="0"/>
                </a:lnTo>
                <a:lnTo>
                  <a:pt x="85712" y="0"/>
                </a:lnTo>
                <a:lnTo>
                  <a:pt x="85724" y="516116"/>
                </a:lnTo>
                <a:lnTo>
                  <a:pt x="71437" y="530402"/>
                </a:lnTo>
                <a:close/>
              </a:path>
              <a:path w="142875" h="601979">
                <a:moveTo>
                  <a:pt x="71437" y="601840"/>
                </a:moveTo>
                <a:lnTo>
                  <a:pt x="0" y="458965"/>
                </a:lnTo>
                <a:lnTo>
                  <a:pt x="57149" y="516114"/>
                </a:lnTo>
                <a:lnTo>
                  <a:pt x="57150" y="548259"/>
                </a:lnTo>
                <a:lnTo>
                  <a:pt x="98228" y="548259"/>
                </a:lnTo>
                <a:lnTo>
                  <a:pt x="71437" y="601840"/>
                </a:lnTo>
                <a:close/>
              </a:path>
              <a:path w="142875" h="601979">
                <a:moveTo>
                  <a:pt x="98228" y="548259"/>
                </a:moveTo>
                <a:lnTo>
                  <a:pt x="85725" y="548259"/>
                </a:lnTo>
                <a:lnTo>
                  <a:pt x="85725" y="516114"/>
                </a:lnTo>
                <a:lnTo>
                  <a:pt x="142875" y="458965"/>
                </a:lnTo>
                <a:lnTo>
                  <a:pt x="98228" y="548259"/>
                </a:lnTo>
                <a:close/>
              </a:path>
              <a:path w="142875" h="601979">
                <a:moveTo>
                  <a:pt x="85725" y="548259"/>
                </a:moveTo>
                <a:lnTo>
                  <a:pt x="57150" y="548259"/>
                </a:lnTo>
                <a:lnTo>
                  <a:pt x="57149" y="516114"/>
                </a:lnTo>
                <a:lnTo>
                  <a:pt x="71437" y="530402"/>
                </a:lnTo>
                <a:lnTo>
                  <a:pt x="85724" y="530402"/>
                </a:lnTo>
                <a:lnTo>
                  <a:pt x="85725" y="548259"/>
                </a:lnTo>
                <a:close/>
              </a:path>
              <a:path w="142875" h="601979">
                <a:moveTo>
                  <a:pt x="85724" y="530402"/>
                </a:moveTo>
                <a:lnTo>
                  <a:pt x="71437" y="530402"/>
                </a:lnTo>
                <a:lnTo>
                  <a:pt x="85724" y="516116"/>
                </a:lnTo>
                <a:lnTo>
                  <a:pt x="85724" y="53040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530386" y="2440355"/>
            <a:ext cx="7353934" cy="257175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 marR="5080">
              <a:lnSpc>
                <a:spcPts val="3320"/>
              </a:lnSpc>
              <a:spcBef>
                <a:spcPts val="235"/>
              </a:spcBef>
            </a:pPr>
            <a:r>
              <a:rPr dirty="0" sz="2800" i="1">
                <a:latin typeface="华文楷体"/>
                <a:cs typeface="华文楷体"/>
              </a:rPr>
              <a:t>（</a:t>
            </a:r>
            <a:r>
              <a:rPr dirty="0" sz="2800" spc="-5">
                <a:latin typeface="Times New Roman"/>
                <a:cs typeface="Times New Roman"/>
              </a:rPr>
              <a:t>2</a:t>
            </a:r>
            <a:r>
              <a:rPr dirty="0" sz="2800" i="1">
                <a:latin typeface="华文楷体"/>
                <a:cs typeface="华文楷体"/>
              </a:rPr>
              <a:t>）当断开开关</a:t>
            </a:r>
            <a:r>
              <a:rPr dirty="0" sz="2800" spc="-5">
                <a:latin typeface="Times New Roman"/>
                <a:cs typeface="Times New Roman"/>
              </a:rPr>
              <a:t>S</a:t>
            </a:r>
            <a:r>
              <a:rPr dirty="0" sz="2800" i="1">
                <a:latin typeface="华文楷体"/>
                <a:cs typeface="华文楷体"/>
              </a:rPr>
              <a:t>的一瞬间，线圈</a:t>
            </a:r>
            <a:r>
              <a:rPr dirty="0" sz="2800" spc="-5">
                <a:latin typeface="Times New Roman"/>
                <a:cs typeface="Times New Roman"/>
              </a:rPr>
              <a:t>P</a:t>
            </a:r>
            <a:r>
              <a:rPr dirty="0" sz="2800" i="1">
                <a:latin typeface="华文楷体"/>
                <a:cs typeface="华文楷体"/>
              </a:rPr>
              <a:t>中感应电</a:t>
            </a:r>
            <a:r>
              <a:rPr dirty="0" sz="2800" spc="-5" i="1">
                <a:latin typeface="华文楷体"/>
                <a:cs typeface="华文楷体"/>
              </a:rPr>
              <a:t>流 </a:t>
            </a:r>
            <a:r>
              <a:rPr dirty="0" sz="2800" i="1">
                <a:latin typeface="华文楷体"/>
                <a:cs typeface="华文楷体"/>
              </a:rPr>
              <a:t>的方向如何</a:t>
            </a:r>
            <a:r>
              <a:rPr dirty="0" sz="2800" spc="-5" i="1">
                <a:latin typeface="华文楷体"/>
                <a:cs typeface="华文楷体"/>
              </a:rPr>
              <a:t>？</a:t>
            </a:r>
            <a:endParaRPr sz="2800">
              <a:latin typeface="华文楷体"/>
              <a:cs typeface="华文楷体"/>
            </a:endParaRPr>
          </a:p>
          <a:p>
            <a:pPr marL="4585335">
              <a:lnSpc>
                <a:spcPts val="2520"/>
              </a:lnSpc>
              <a:spcBef>
                <a:spcPts val="2695"/>
              </a:spcBef>
            </a:pPr>
            <a:r>
              <a:rPr dirty="0" sz="2400" spc="-5" i="1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r>
              <a:rPr dirty="0" baseline="-16908" sz="1725" spc="37" i="1">
                <a:solidFill>
                  <a:srgbClr val="FF0000"/>
                </a:solidFill>
                <a:latin typeface="华文楷体"/>
                <a:cs typeface="华文楷体"/>
              </a:rPr>
              <a:t>感</a:t>
            </a:r>
            <a:endParaRPr baseline="-16908" sz="1725">
              <a:latin typeface="华文楷体"/>
              <a:cs typeface="华文楷体"/>
            </a:endParaRPr>
          </a:p>
          <a:p>
            <a:pPr algn="r" marR="1917700">
              <a:lnSpc>
                <a:spcPts val="2520"/>
              </a:lnSpc>
            </a:pPr>
            <a:r>
              <a:rPr dirty="0" sz="2400" spc="-5" i="1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r>
              <a:rPr dirty="0" baseline="-16908" sz="1725" spc="37" i="1">
                <a:solidFill>
                  <a:srgbClr val="FF0000"/>
                </a:solidFill>
                <a:latin typeface="华文楷体"/>
                <a:cs typeface="华文楷体"/>
              </a:rPr>
              <a:t>原</a:t>
            </a:r>
            <a:endParaRPr baseline="-16908" sz="1725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Times New Roman"/>
              <a:cs typeface="Times New Roman"/>
            </a:endParaRPr>
          </a:p>
          <a:p>
            <a:pPr marL="4718685">
              <a:lnSpc>
                <a:spcPct val="100000"/>
              </a:lnSpc>
            </a:pPr>
            <a:r>
              <a:rPr dirty="0" sz="2400" i="1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dirty="0" baseline="-17921" sz="2325" spc="15" i="1">
                <a:solidFill>
                  <a:srgbClr val="FF0000"/>
                </a:solidFill>
                <a:latin typeface="华文楷体"/>
                <a:cs typeface="华文楷体"/>
              </a:rPr>
              <a:t>感</a:t>
            </a:r>
            <a:endParaRPr baseline="-17921" sz="2325">
              <a:latin typeface="华文楷体"/>
              <a:cs typeface="华文楷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237619" y="5417788"/>
            <a:ext cx="640715" cy="0"/>
          </a:xfrm>
          <a:custGeom>
            <a:avLst/>
            <a:gdLst/>
            <a:ahLst/>
            <a:cxnLst/>
            <a:rect l="l" t="t" r="r" b="b"/>
            <a:pathLst>
              <a:path w="640714" h="0">
                <a:moveTo>
                  <a:pt x="0" y="0"/>
                </a:moveTo>
                <a:lnTo>
                  <a:pt x="640321" y="0"/>
                </a:lnTo>
              </a:path>
            </a:pathLst>
          </a:custGeom>
          <a:ln w="273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160820" y="3297592"/>
            <a:ext cx="983437" cy="10963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6654" y="1628800"/>
            <a:ext cx="6958965" cy="1513205"/>
          </a:xfrm>
          <a:prstGeom prst="rect"/>
        </p:spPr>
        <p:txBody>
          <a:bodyPr wrap="square" lIns="0" tIns="85090" rIns="0" bIns="0" rtlCol="0" vert="horz">
            <a:spAutoFit/>
          </a:bodyPr>
          <a:lstStyle/>
          <a:p>
            <a:pPr marL="12700" marR="5080" indent="711200">
              <a:lnSpc>
                <a:spcPct val="82900"/>
              </a:lnSpc>
              <a:spcBef>
                <a:spcPts val="670"/>
              </a:spcBef>
            </a:pPr>
            <a:r>
              <a:rPr dirty="0" sz="2800" i="1">
                <a:latin typeface="华文楷体"/>
                <a:cs typeface="华文楷体"/>
              </a:rPr>
              <a:t>下图中</a:t>
            </a:r>
            <a:r>
              <a:rPr dirty="0" sz="2800" spc="-5" i="1">
                <a:latin typeface="Times New Roman"/>
                <a:cs typeface="Times New Roman"/>
              </a:rPr>
              <a:t>CDEF</a:t>
            </a:r>
            <a:r>
              <a:rPr dirty="0" sz="2800" i="1">
                <a:latin typeface="华文楷体"/>
                <a:cs typeface="华文楷体"/>
              </a:rPr>
              <a:t>是金属框，框内存在着</a:t>
            </a:r>
            <a:r>
              <a:rPr dirty="0" sz="2800" spc="-5" i="1">
                <a:latin typeface="华文楷体"/>
                <a:cs typeface="华文楷体"/>
              </a:rPr>
              <a:t>如 </a:t>
            </a:r>
            <a:r>
              <a:rPr dirty="0" sz="2800" i="1">
                <a:latin typeface="华文楷体"/>
                <a:cs typeface="华文楷体"/>
              </a:rPr>
              <a:t>图所示的匀强磁场。当导体</a:t>
            </a:r>
            <a:r>
              <a:rPr dirty="0" sz="2800" spc="-5" i="1">
                <a:latin typeface="Times New Roman"/>
                <a:cs typeface="Times New Roman"/>
              </a:rPr>
              <a:t>M</a:t>
            </a:r>
            <a:r>
              <a:rPr dirty="0" sz="2800" i="1">
                <a:latin typeface="Times New Roman"/>
                <a:cs typeface="Times New Roman"/>
              </a:rPr>
              <a:t>N</a:t>
            </a:r>
            <a:r>
              <a:rPr dirty="0" sz="2800" i="1">
                <a:latin typeface="华文楷体"/>
                <a:cs typeface="华文楷体"/>
              </a:rPr>
              <a:t>向右移动时</a:t>
            </a:r>
            <a:r>
              <a:rPr dirty="0" sz="2800" spc="-5" i="1">
                <a:latin typeface="华文楷体"/>
                <a:cs typeface="华文楷体"/>
              </a:rPr>
              <a:t>， </a:t>
            </a:r>
            <a:r>
              <a:rPr dirty="0" sz="2800" i="1">
                <a:latin typeface="华文楷体"/>
                <a:cs typeface="华文楷体"/>
              </a:rPr>
              <a:t>请用楞次定律判断</a:t>
            </a:r>
            <a:r>
              <a:rPr dirty="0" sz="2800" spc="-5" i="1">
                <a:latin typeface="Times New Roman"/>
                <a:cs typeface="Times New Roman"/>
              </a:rPr>
              <a:t>MNCD</a:t>
            </a:r>
            <a:r>
              <a:rPr dirty="0" sz="2800" i="1">
                <a:latin typeface="华文楷体"/>
                <a:cs typeface="华文楷体"/>
              </a:rPr>
              <a:t>和</a:t>
            </a:r>
            <a:r>
              <a:rPr dirty="0" sz="2800" spc="-5" i="1">
                <a:latin typeface="Times New Roman"/>
                <a:cs typeface="Times New Roman"/>
              </a:rPr>
              <a:t>MNFE</a:t>
            </a:r>
            <a:r>
              <a:rPr dirty="0" sz="2800" i="1">
                <a:latin typeface="华文楷体"/>
                <a:cs typeface="华文楷体"/>
              </a:rPr>
              <a:t>两个电</a:t>
            </a:r>
            <a:r>
              <a:rPr dirty="0" sz="2800" spc="-5" i="1">
                <a:latin typeface="华文楷体"/>
                <a:cs typeface="华文楷体"/>
              </a:rPr>
              <a:t>路 </a:t>
            </a:r>
            <a:r>
              <a:rPr dirty="0" sz="2800" i="1">
                <a:latin typeface="华文楷体"/>
                <a:cs typeface="华文楷体"/>
              </a:rPr>
              <a:t>中感应电流的方向</a:t>
            </a:r>
            <a:r>
              <a:rPr dirty="0" sz="2800" spc="-5" i="1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96654" y="1096010"/>
            <a:ext cx="11931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Font typeface="Wingdings"/>
              <a:buChar char=""/>
              <a:tabLst>
                <a:tab pos="469265" algn="l"/>
                <a:tab pos="469900" algn="l"/>
              </a:tabLst>
            </a:pPr>
            <a:r>
              <a:rPr dirty="0" sz="2800" i="1">
                <a:latin typeface="华文楷体"/>
                <a:cs typeface="华文楷体"/>
              </a:rPr>
              <a:t>练</a:t>
            </a:r>
            <a:r>
              <a:rPr dirty="0" sz="2800" spc="-5" i="1">
                <a:latin typeface="华文楷体"/>
                <a:cs typeface="华文楷体"/>
              </a:rPr>
              <a:t>习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094988" y="3244595"/>
            <a:ext cx="3675888" cy="25481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392949" y="3592233"/>
            <a:ext cx="142875" cy="434975"/>
          </a:xfrm>
          <a:custGeom>
            <a:avLst/>
            <a:gdLst/>
            <a:ahLst/>
            <a:cxnLst/>
            <a:rect l="l" t="t" r="r" b="b"/>
            <a:pathLst>
              <a:path w="142875" h="434975">
                <a:moveTo>
                  <a:pt x="71437" y="363067"/>
                </a:moveTo>
                <a:lnTo>
                  <a:pt x="57150" y="348780"/>
                </a:lnTo>
                <a:lnTo>
                  <a:pt x="57150" y="0"/>
                </a:lnTo>
                <a:lnTo>
                  <a:pt x="85725" y="0"/>
                </a:lnTo>
                <a:lnTo>
                  <a:pt x="85725" y="348780"/>
                </a:lnTo>
                <a:lnTo>
                  <a:pt x="71437" y="363067"/>
                </a:lnTo>
                <a:close/>
              </a:path>
              <a:path w="142875" h="434975">
                <a:moveTo>
                  <a:pt x="71437" y="434505"/>
                </a:moveTo>
                <a:lnTo>
                  <a:pt x="0" y="291630"/>
                </a:lnTo>
                <a:lnTo>
                  <a:pt x="57150" y="348780"/>
                </a:lnTo>
                <a:lnTo>
                  <a:pt x="57150" y="380923"/>
                </a:lnTo>
                <a:lnTo>
                  <a:pt x="98228" y="380923"/>
                </a:lnTo>
                <a:lnTo>
                  <a:pt x="71437" y="434505"/>
                </a:lnTo>
                <a:close/>
              </a:path>
              <a:path w="142875" h="434975">
                <a:moveTo>
                  <a:pt x="98228" y="380923"/>
                </a:moveTo>
                <a:lnTo>
                  <a:pt x="85725" y="380923"/>
                </a:lnTo>
                <a:lnTo>
                  <a:pt x="85725" y="348780"/>
                </a:lnTo>
                <a:lnTo>
                  <a:pt x="142875" y="291630"/>
                </a:lnTo>
                <a:lnTo>
                  <a:pt x="98228" y="380923"/>
                </a:lnTo>
                <a:close/>
              </a:path>
              <a:path w="142875" h="434975">
                <a:moveTo>
                  <a:pt x="85725" y="380923"/>
                </a:moveTo>
                <a:lnTo>
                  <a:pt x="57150" y="380923"/>
                </a:lnTo>
                <a:lnTo>
                  <a:pt x="57150" y="348780"/>
                </a:lnTo>
                <a:lnTo>
                  <a:pt x="71437" y="363067"/>
                </a:lnTo>
                <a:lnTo>
                  <a:pt x="85725" y="363067"/>
                </a:lnTo>
                <a:lnTo>
                  <a:pt x="85725" y="380923"/>
                </a:lnTo>
                <a:close/>
              </a:path>
              <a:path w="142875" h="434975">
                <a:moveTo>
                  <a:pt x="85725" y="363067"/>
                </a:moveTo>
                <a:lnTo>
                  <a:pt x="71437" y="363067"/>
                </a:lnTo>
                <a:lnTo>
                  <a:pt x="85725" y="348780"/>
                </a:lnTo>
                <a:lnTo>
                  <a:pt x="85725" y="363067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574523" y="5387073"/>
            <a:ext cx="515620" cy="142875"/>
          </a:xfrm>
          <a:custGeom>
            <a:avLst/>
            <a:gdLst/>
            <a:ahLst/>
            <a:cxnLst/>
            <a:rect l="l" t="t" r="r" b="b"/>
            <a:pathLst>
              <a:path w="515620" h="142875">
                <a:moveTo>
                  <a:pt x="143255" y="142875"/>
                </a:moveTo>
                <a:lnTo>
                  <a:pt x="0" y="72186"/>
                </a:lnTo>
                <a:lnTo>
                  <a:pt x="142494" y="0"/>
                </a:lnTo>
                <a:lnTo>
                  <a:pt x="85654" y="57449"/>
                </a:lnTo>
                <a:lnTo>
                  <a:pt x="53505" y="57619"/>
                </a:lnTo>
                <a:lnTo>
                  <a:pt x="53657" y="86194"/>
                </a:lnTo>
                <a:lnTo>
                  <a:pt x="85968" y="86194"/>
                </a:lnTo>
                <a:lnTo>
                  <a:pt x="143255" y="142875"/>
                </a:lnTo>
                <a:close/>
              </a:path>
              <a:path w="515620" h="142875">
                <a:moveTo>
                  <a:pt x="85794" y="86023"/>
                </a:moveTo>
                <a:lnTo>
                  <a:pt x="71437" y="71818"/>
                </a:lnTo>
                <a:lnTo>
                  <a:pt x="85654" y="57449"/>
                </a:lnTo>
                <a:lnTo>
                  <a:pt x="515315" y="55168"/>
                </a:lnTo>
                <a:lnTo>
                  <a:pt x="515467" y="83731"/>
                </a:lnTo>
                <a:lnTo>
                  <a:pt x="85794" y="86023"/>
                </a:lnTo>
                <a:close/>
              </a:path>
              <a:path w="515620" h="142875">
                <a:moveTo>
                  <a:pt x="53657" y="86194"/>
                </a:moveTo>
                <a:lnTo>
                  <a:pt x="53505" y="57619"/>
                </a:lnTo>
                <a:lnTo>
                  <a:pt x="85654" y="57449"/>
                </a:lnTo>
                <a:lnTo>
                  <a:pt x="71437" y="71818"/>
                </a:lnTo>
                <a:lnTo>
                  <a:pt x="85794" y="86023"/>
                </a:lnTo>
                <a:lnTo>
                  <a:pt x="53657" y="86194"/>
                </a:lnTo>
                <a:close/>
              </a:path>
              <a:path w="515620" h="142875">
                <a:moveTo>
                  <a:pt x="85968" y="86194"/>
                </a:moveTo>
                <a:lnTo>
                  <a:pt x="53657" y="86194"/>
                </a:lnTo>
                <a:lnTo>
                  <a:pt x="85794" y="86023"/>
                </a:lnTo>
                <a:lnTo>
                  <a:pt x="85968" y="86194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574294" y="3445929"/>
            <a:ext cx="515620" cy="142875"/>
          </a:xfrm>
          <a:custGeom>
            <a:avLst/>
            <a:gdLst/>
            <a:ahLst/>
            <a:cxnLst/>
            <a:rect l="l" t="t" r="r" b="b"/>
            <a:pathLst>
              <a:path w="515620" h="142875">
                <a:moveTo>
                  <a:pt x="487654" y="87147"/>
                </a:moveTo>
                <a:lnTo>
                  <a:pt x="461822" y="87147"/>
                </a:lnTo>
                <a:lnTo>
                  <a:pt x="462280" y="58572"/>
                </a:lnTo>
                <a:lnTo>
                  <a:pt x="430129" y="58054"/>
                </a:lnTo>
                <a:lnTo>
                  <a:pt x="373913" y="0"/>
                </a:lnTo>
                <a:lnTo>
                  <a:pt x="515620" y="73723"/>
                </a:lnTo>
                <a:lnTo>
                  <a:pt x="487654" y="87147"/>
                </a:lnTo>
                <a:close/>
              </a:path>
              <a:path w="515620" h="142875">
                <a:moveTo>
                  <a:pt x="429684" y="86629"/>
                </a:moveTo>
                <a:lnTo>
                  <a:pt x="0" y="79705"/>
                </a:lnTo>
                <a:lnTo>
                  <a:pt x="457" y="51130"/>
                </a:lnTo>
                <a:lnTo>
                  <a:pt x="430129" y="58054"/>
                </a:lnTo>
                <a:lnTo>
                  <a:pt x="444195" y="72580"/>
                </a:lnTo>
                <a:lnTo>
                  <a:pt x="429684" y="86629"/>
                </a:lnTo>
                <a:close/>
              </a:path>
              <a:path w="515620" h="142875">
                <a:moveTo>
                  <a:pt x="461822" y="87147"/>
                </a:moveTo>
                <a:lnTo>
                  <a:pt x="429684" y="86629"/>
                </a:lnTo>
                <a:lnTo>
                  <a:pt x="444195" y="72580"/>
                </a:lnTo>
                <a:lnTo>
                  <a:pt x="430129" y="58054"/>
                </a:lnTo>
                <a:lnTo>
                  <a:pt x="462280" y="58572"/>
                </a:lnTo>
                <a:lnTo>
                  <a:pt x="461822" y="87147"/>
                </a:lnTo>
                <a:close/>
              </a:path>
              <a:path w="515620" h="142875">
                <a:moveTo>
                  <a:pt x="371614" y="142849"/>
                </a:moveTo>
                <a:lnTo>
                  <a:pt x="429684" y="86629"/>
                </a:lnTo>
                <a:lnTo>
                  <a:pt x="461822" y="87147"/>
                </a:lnTo>
                <a:lnTo>
                  <a:pt x="487654" y="87147"/>
                </a:lnTo>
                <a:lnTo>
                  <a:pt x="371614" y="142849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591083" y="4319676"/>
            <a:ext cx="248920" cy="337185"/>
          </a:xfrm>
          <a:custGeom>
            <a:avLst/>
            <a:gdLst/>
            <a:ahLst/>
            <a:cxnLst/>
            <a:rect l="l" t="t" r="r" b="b"/>
            <a:pathLst>
              <a:path w="248920" h="337185">
                <a:moveTo>
                  <a:pt x="233387" y="336829"/>
                </a:moveTo>
                <a:lnTo>
                  <a:pt x="0" y="11099"/>
                </a:lnTo>
                <a:lnTo>
                  <a:pt x="15494" y="0"/>
                </a:lnTo>
                <a:lnTo>
                  <a:pt x="248881" y="325729"/>
                </a:lnTo>
                <a:lnTo>
                  <a:pt x="233387" y="336829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590906" y="4319943"/>
            <a:ext cx="233045" cy="336550"/>
          </a:xfrm>
          <a:custGeom>
            <a:avLst/>
            <a:gdLst/>
            <a:ahLst/>
            <a:cxnLst/>
            <a:rect l="l" t="t" r="r" b="b"/>
            <a:pathLst>
              <a:path w="233045" h="336550">
                <a:moveTo>
                  <a:pt x="15849" y="336295"/>
                </a:moveTo>
                <a:lnTo>
                  <a:pt x="0" y="325742"/>
                </a:lnTo>
                <a:lnTo>
                  <a:pt x="216712" y="0"/>
                </a:lnTo>
                <a:lnTo>
                  <a:pt x="232575" y="10553"/>
                </a:lnTo>
                <a:lnTo>
                  <a:pt x="15849" y="336295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595033" y="4606683"/>
            <a:ext cx="4095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i="1">
                <a:solidFill>
                  <a:srgbClr val="0000FF"/>
                </a:solidFill>
                <a:latin typeface="Times New Roman"/>
                <a:cs typeface="Times New Roman"/>
              </a:rPr>
              <a:t>B</a:t>
            </a:r>
            <a:r>
              <a:rPr dirty="0" baseline="-17921" sz="2325" spc="15" i="1">
                <a:solidFill>
                  <a:srgbClr val="0000FF"/>
                </a:solidFill>
                <a:latin typeface="华文楷体"/>
                <a:cs typeface="华文楷体"/>
              </a:rPr>
              <a:t>感</a:t>
            </a:r>
            <a:endParaRPr baseline="-17921" sz="2325">
              <a:latin typeface="华文楷体"/>
              <a:cs typeface="华文楷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170144" y="4111206"/>
            <a:ext cx="71032" cy="846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097792" y="3670515"/>
            <a:ext cx="4095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i="1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r>
              <a:rPr dirty="0" baseline="-17921" sz="2325" spc="15" i="1">
                <a:solidFill>
                  <a:srgbClr val="FF0000"/>
                </a:solidFill>
                <a:latin typeface="华文楷体"/>
                <a:cs typeface="华文楷体"/>
              </a:rPr>
              <a:t>感</a:t>
            </a:r>
            <a:endParaRPr baseline="-17921" sz="2325">
              <a:latin typeface="华文楷体"/>
              <a:cs typeface="华文楷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310418" y="3659606"/>
            <a:ext cx="142875" cy="434975"/>
          </a:xfrm>
          <a:custGeom>
            <a:avLst/>
            <a:gdLst/>
            <a:ahLst/>
            <a:cxnLst/>
            <a:rect l="l" t="t" r="r" b="b"/>
            <a:pathLst>
              <a:path w="142875" h="434975">
                <a:moveTo>
                  <a:pt x="71437" y="363080"/>
                </a:moveTo>
                <a:lnTo>
                  <a:pt x="57150" y="348792"/>
                </a:lnTo>
                <a:lnTo>
                  <a:pt x="57150" y="0"/>
                </a:lnTo>
                <a:lnTo>
                  <a:pt x="85725" y="0"/>
                </a:lnTo>
                <a:lnTo>
                  <a:pt x="85725" y="348792"/>
                </a:lnTo>
                <a:lnTo>
                  <a:pt x="71437" y="363080"/>
                </a:lnTo>
                <a:close/>
              </a:path>
              <a:path w="142875" h="434975">
                <a:moveTo>
                  <a:pt x="71437" y="434517"/>
                </a:moveTo>
                <a:lnTo>
                  <a:pt x="0" y="291642"/>
                </a:lnTo>
                <a:lnTo>
                  <a:pt x="57150" y="348792"/>
                </a:lnTo>
                <a:lnTo>
                  <a:pt x="57150" y="380936"/>
                </a:lnTo>
                <a:lnTo>
                  <a:pt x="98228" y="380936"/>
                </a:lnTo>
                <a:lnTo>
                  <a:pt x="71437" y="434517"/>
                </a:lnTo>
                <a:close/>
              </a:path>
              <a:path w="142875" h="434975">
                <a:moveTo>
                  <a:pt x="98228" y="380936"/>
                </a:moveTo>
                <a:lnTo>
                  <a:pt x="85725" y="380936"/>
                </a:lnTo>
                <a:lnTo>
                  <a:pt x="85725" y="348792"/>
                </a:lnTo>
                <a:lnTo>
                  <a:pt x="142875" y="291642"/>
                </a:lnTo>
                <a:lnTo>
                  <a:pt x="98228" y="380936"/>
                </a:lnTo>
                <a:close/>
              </a:path>
              <a:path w="142875" h="434975">
                <a:moveTo>
                  <a:pt x="85725" y="380936"/>
                </a:moveTo>
                <a:lnTo>
                  <a:pt x="57150" y="380936"/>
                </a:lnTo>
                <a:lnTo>
                  <a:pt x="57150" y="348792"/>
                </a:lnTo>
                <a:lnTo>
                  <a:pt x="71437" y="363080"/>
                </a:lnTo>
                <a:lnTo>
                  <a:pt x="85725" y="363080"/>
                </a:lnTo>
                <a:lnTo>
                  <a:pt x="85725" y="380936"/>
                </a:lnTo>
                <a:close/>
              </a:path>
              <a:path w="142875" h="434975">
                <a:moveTo>
                  <a:pt x="85725" y="363080"/>
                </a:moveTo>
                <a:lnTo>
                  <a:pt x="71437" y="363080"/>
                </a:lnTo>
                <a:lnTo>
                  <a:pt x="85725" y="348792"/>
                </a:lnTo>
                <a:lnTo>
                  <a:pt x="85725" y="36308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998201" y="3630282"/>
            <a:ext cx="387857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65525" algn="l"/>
              </a:tabLst>
            </a:pPr>
            <a:r>
              <a:rPr dirty="0" sz="2400" i="1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dirty="0" baseline="-17921" sz="2325" spc="15" i="1">
                <a:solidFill>
                  <a:srgbClr val="FF0000"/>
                </a:solidFill>
                <a:latin typeface="华文楷体"/>
                <a:cs typeface="华文楷体"/>
              </a:rPr>
              <a:t>感</a:t>
            </a:r>
            <a:r>
              <a:rPr dirty="0" baseline="-17921" sz="2325" spc="15" i="1">
                <a:solidFill>
                  <a:srgbClr val="FF0000"/>
                </a:solidFill>
                <a:latin typeface="华文楷体"/>
                <a:cs typeface="华文楷体"/>
              </a:rPr>
              <a:t>	</a:t>
            </a:r>
            <a:r>
              <a:rPr dirty="0" sz="2400" spc="10" i="1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dirty="0" baseline="-17921" sz="2325" spc="15" i="1">
                <a:solidFill>
                  <a:srgbClr val="0000FF"/>
                </a:solidFill>
                <a:latin typeface="华文楷体"/>
                <a:cs typeface="华文楷体"/>
              </a:rPr>
              <a:t>感</a:t>
            </a:r>
            <a:endParaRPr baseline="-17921" sz="2325">
              <a:latin typeface="华文楷体"/>
              <a:cs typeface="华文楷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022291" y="5397182"/>
            <a:ext cx="504825" cy="142875"/>
          </a:xfrm>
          <a:custGeom>
            <a:avLst/>
            <a:gdLst/>
            <a:ahLst/>
            <a:cxnLst/>
            <a:rect l="l" t="t" r="r" b="b"/>
            <a:pathLst>
              <a:path w="504825" h="142875">
                <a:moveTo>
                  <a:pt x="476404" y="87198"/>
                </a:moveTo>
                <a:lnTo>
                  <a:pt x="450545" y="87198"/>
                </a:lnTo>
                <a:lnTo>
                  <a:pt x="451015" y="58623"/>
                </a:lnTo>
                <a:lnTo>
                  <a:pt x="418886" y="58089"/>
                </a:lnTo>
                <a:lnTo>
                  <a:pt x="362686" y="0"/>
                </a:lnTo>
                <a:lnTo>
                  <a:pt x="504355" y="73799"/>
                </a:lnTo>
                <a:lnTo>
                  <a:pt x="476404" y="87198"/>
                </a:lnTo>
                <a:close/>
              </a:path>
              <a:path w="504825" h="142875">
                <a:moveTo>
                  <a:pt x="418396" y="86664"/>
                </a:moveTo>
                <a:lnTo>
                  <a:pt x="0" y="79717"/>
                </a:lnTo>
                <a:lnTo>
                  <a:pt x="469" y="51142"/>
                </a:lnTo>
                <a:lnTo>
                  <a:pt x="418886" y="58089"/>
                </a:lnTo>
                <a:lnTo>
                  <a:pt x="432930" y="72605"/>
                </a:lnTo>
                <a:lnTo>
                  <a:pt x="418396" y="86664"/>
                </a:lnTo>
                <a:close/>
              </a:path>
              <a:path w="504825" h="142875">
                <a:moveTo>
                  <a:pt x="450545" y="87198"/>
                </a:moveTo>
                <a:lnTo>
                  <a:pt x="418396" y="86664"/>
                </a:lnTo>
                <a:lnTo>
                  <a:pt x="432930" y="72605"/>
                </a:lnTo>
                <a:lnTo>
                  <a:pt x="418886" y="58089"/>
                </a:lnTo>
                <a:lnTo>
                  <a:pt x="451015" y="58623"/>
                </a:lnTo>
                <a:lnTo>
                  <a:pt x="450545" y="87198"/>
                </a:lnTo>
                <a:close/>
              </a:path>
              <a:path w="504825" h="142875">
                <a:moveTo>
                  <a:pt x="360311" y="142849"/>
                </a:moveTo>
                <a:lnTo>
                  <a:pt x="418396" y="86664"/>
                </a:lnTo>
                <a:lnTo>
                  <a:pt x="450545" y="87198"/>
                </a:lnTo>
                <a:lnTo>
                  <a:pt x="476404" y="87198"/>
                </a:lnTo>
                <a:lnTo>
                  <a:pt x="360311" y="1428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912398" y="3439896"/>
            <a:ext cx="529590" cy="142875"/>
          </a:xfrm>
          <a:custGeom>
            <a:avLst/>
            <a:gdLst/>
            <a:ahLst/>
            <a:cxnLst/>
            <a:rect l="l" t="t" r="r" b="b"/>
            <a:pathLst>
              <a:path w="529589" h="142875">
                <a:moveTo>
                  <a:pt x="142887" y="142875"/>
                </a:moveTo>
                <a:lnTo>
                  <a:pt x="0" y="71450"/>
                </a:lnTo>
                <a:lnTo>
                  <a:pt x="142875" y="0"/>
                </a:lnTo>
                <a:lnTo>
                  <a:pt x="85727" y="57147"/>
                </a:lnTo>
                <a:lnTo>
                  <a:pt x="53581" y="57150"/>
                </a:lnTo>
                <a:lnTo>
                  <a:pt x="53581" y="85725"/>
                </a:lnTo>
                <a:lnTo>
                  <a:pt x="85727" y="85725"/>
                </a:lnTo>
                <a:lnTo>
                  <a:pt x="142887" y="142875"/>
                </a:lnTo>
                <a:close/>
              </a:path>
              <a:path w="529589" h="142875">
                <a:moveTo>
                  <a:pt x="85724" y="85722"/>
                </a:moveTo>
                <a:lnTo>
                  <a:pt x="71437" y="71437"/>
                </a:lnTo>
                <a:lnTo>
                  <a:pt x="85727" y="57147"/>
                </a:lnTo>
                <a:lnTo>
                  <a:pt x="529145" y="57111"/>
                </a:lnTo>
                <a:lnTo>
                  <a:pt x="529145" y="85686"/>
                </a:lnTo>
                <a:lnTo>
                  <a:pt x="85724" y="85722"/>
                </a:lnTo>
                <a:close/>
              </a:path>
              <a:path w="529589" h="142875">
                <a:moveTo>
                  <a:pt x="53581" y="85725"/>
                </a:moveTo>
                <a:lnTo>
                  <a:pt x="53581" y="57150"/>
                </a:lnTo>
                <a:lnTo>
                  <a:pt x="85727" y="57147"/>
                </a:lnTo>
                <a:lnTo>
                  <a:pt x="71437" y="71437"/>
                </a:lnTo>
                <a:lnTo>
                  <a:pt x="85724" y="85722"/>
                </a:lnTo>
                <a:lnTo>
                  <a:pt x="53581" y="8572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70149" y="1840839"/>
            <a:ext cx="6958965" cy="1513205"/>
          </a:xfrm>
          <a:prstGeom prst="rect">
            <a:avLst/>
          </a:prstGeom>
        </p:spPr>
        <p:txBody>
          <a:bodyPr wrap="square" lIns="0" tIns="85090" rIns="0" bIns="0" rtlCol="0" vert="horz">
            <a:spAutoFit/>
          </a:bodyPr>
          <a:lstStyle/>
          <a:p>
            <a:pPr marL="12700" marR="5080" indent="711200">
              <a:lnSpc>
                <a:spcPct val="82900"/>
              </a:lnSpc>
              <a:spcBef>
                <a:spcPts val="670"/>
              </a:spcBef>
            </a:pPr>
            <a:r>
              <a:rPr dirty="0" sz="2800" i="1">
                <a:latin typeface="华文楷体"/>
                <a:cs typeface="华文楷体"/>
              </a:rPr>
              <a:t>下图中</a:t>
            </a:r>
            <a:r>
              <a:rPr dirty="0" sz="2800" spc="-5" i="1">
                <a:latin typeface="Times New Roman"/>
                <a:cs typeface="Times New Roman"/>
              </a:rPr>
              <a:t>CDEF</a:t>
            </a:r>
            <a:r>
              <a:rPr dirty="0" sz="2800" i="1">
                <a:latin typeface="华文楷体"/>
                <a:cs typeface="华文楷体"/>
              </a:rPr>
              <a:t>是金属框，框内存在着</a:t>
            </a:r>
            <a:r>
              <a:rPr dirty="0" sz="2800" spc="-5" i="1">
                <a:latin typeface="华文楷体"/>
                <a:cs typeface="华文楷体"/>
              </a:rPr>
              <a:t>如 </a:t>
            </a:r>
            <a:r>
              <a:rPr dirty="0" sz="2800" i="1">
                <a:latin typeface="华文楷体"/>
                <a:cs typeface="华文楷体"/>
              </a:rPr>
              <a:t>图所示的匀强磁场。当导体</a:t>
            </a:r>
            <a:r>
              <a:rPr dirty="0" sz="2800" spc="-5" i="1">
                <a:latin typeface="Times New Roman"/>
                <a:cs typeface="Times New Roman"/>
              </a:rPr>
              <a:t>M</a:t>
            </a:r>
            <a:r>
              <a:rPr dirty="0" sz="2800" i="1">
                <a:latin typeface="Times New Roman"/>
                <a:cs typeface="Times New Roman"/>
              </a:rPr>
              <a:t>N</a:t>
            </a:r>
            <a:r>
              <a:rPr dirty="0" sz="2800" i="1">
                <a:latin typeface="华文楷体"/>
                <a:cs typeface="华文楷体"/>
              </a:rPr>
              <a:t>向右移动时</a:t>
            </a:r>
            <a:r>
              <a:rPr dirty="0" sz="2800" spc="-5" i="1">
                <a:latin typeface="华文楷体"/>
                <a:cs typeface="华文楷体"/>
              </a:rPr>
              <a:t>， </a:t>
            </a:r>
            <a:r>
              <a:rPr dirty="0" sz="2800" i="1">
                <a:latin typeface="华文楷体"/>
                <a:cs typeface="华文楷体"/>
              </a:rPr>
              <a:t>请用楞次定律判断</a:t>
            </a:r>
            <a:r>
              <a:rPr dirty="0" sz="2800" spc="-5" i="1">
                <a:latin typeface="Times New Roman"/>
                <a:cs typeface="Times New Roman"/>
              </a:rPr>
              <a:t>MNCD</a:t>
            </a:r>
            <a:r>
              <a:rPr dirty="0" sz="2800" i="1">
                <a:latin typeface="华文楷体"/>
                <a:cs typeface="华文楷体"/>
              </a:rPr>
              <a:t>和</a:t>
            </a:r>
            <a:r>
              <a:rPr dirty="0" sz="2800" spc="-5" i="1">
                <a:latin typeface="Times New Roman"/>
                <a:cs typeface="Times New Roman"/>
              </a:rPr>
              <a:t>MNFE</a:t>
            </a:r>
            <a:r>
              <a:rPr dirty="0" sz="2800" i="1">
                <a:latin typeface="华文楷体"/>
                <a:cs typeface="华文楷体"/>
              </a:rPr>
              <a:t>两个电</a:t>
            </a:r>
            <a:r>
              <a:rPr dirty="0" sz="2800" spc="-5" i="1">
                <a:latin typeface="华文楷体"/>
                <a:cs typeface="华文楷体"/>
              </a:rPr>
              <a:t>路 </a:t>
            </a:r>
            <a:r>
              <a:rPr dirty="0" sz="2800" i="1">
                <a:latin typeface="华文楷体"/>
                <a:cs typeface="华文楷体"/>
              </a:rPr>
              <a:t>中感应电流的方向</a:t>
            </a:r>
            <a:r>
              <a:rPr dirty="0" sz="2800" spc="-5" i="1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70149" y="1308049"/>
            <a:ext cx="11931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Font typeface="Wingdings"/>
              <a:buChar char=""/>
              <a:tabLst>
                <a:tab pos="469265" algn="l"/>
                <a:tab pos="469900" algn="l"/>
              </a:tabLst>
            </a:pPr>
            <a:r>
              <a:rPr dirty="0" sz="2800" i="1">
                <a:latin typeface="华文楷体"/>
                <a:cs typeface="华文楷体"/>
              </a:rPr>
              <a:t>练</a:t>
            </a:r>
            <a:r>
              <a:rPr dirty="0" sz="2800" spc="-5" i="1">
                <a:latin typeface="华文楷体"/>
                <a:cs typeface="华文楷体"/>
              </a:rPr>
              <a:t>习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498956" y="3764508"/>
            <a:ext cx="142875" cy="434975"/>
          </a:xfrm>
          <a:custGeom>
            <a:avLst/>
            <a:gdLst/>
            <a:ahLst/>
            <a:cxnLst/>
            <a:rect l="l" t="t" r="r" b="b"/>
            <a:pathLst>
              <a:path w="142875" h="434975">
                <a:moveTo>
                  <a:pt x="71437" y="363067"/>
                </a:moveTo>
                <a:lnTo>
                  <a:pt x="57150" y="348780"/>
                </a:lnTo>
                <a:lnTo>
                  <a:pt x="57150" y="0"/>
                </a:lnTo>
                <a:lnTo>
                  <a:pt x="85725" y="0"/>
                </a:lnTo>
                <a:lnTo>
                  <a:pt x="85725" y="348780"/>
                </a:lnTo>
                <a:lnTo>
                  <a:pt x="71437" y="363067"/>
                </a:lnTo>
                <a:close/>
              </a:path>
              <a:path w="142875" h="434975">
                <a:moveTo>
                  <a:pt x="71437" y="434505"/>
                </a:moveTo>
                <a:lnTo>
                  <a:pt x="0" y="291630"/>
                </a:lnTo>
                <a:lnTo>
                  <a:pt x="57150" y="348780"/>
                </a:lnTo>
                <a:lnTo>
                  <a:pt x="57150" y="380923"/>
                </a:lnTo>
                <a:lnTo>
                  <a:pt x="98228" y="380923"/>
                </a:lnTo>
                <a:lnTo>
                  <a:pt x="71437" y="434505"/>
                </a:lnTo>
                <a:close/>
              </a:path>
              <a:path w="142875" h="434975">
                <a:moveTo>
                  <a:pt x="98228" y="380923"/>
                </a:moveTo>
                <a:lnTo>
                  <a:pt x="85725" y="380923"/>
                </a:lnTo>
                <a:lnTo>
                  <a:pt x="85725" y="348780"/>
                </a:lnTo>
                <a:lnTo>
                  <a:pt x="142875" y="291630"/>
                </a:lnTo>
                <a:lnTo>
                  <a:pt x="98228" y="380923"/>
                </a:lnTo>
                <a:close/>
              </a:path>
              <a:path w="142875" h="434975">
                <a:moveTo>
                  <a:pt x="85725" y="380923"/>
                </a:moveTo>
                <a:lnTo>
                  <a:pt x="57150" y="380923"/>
                </a:lnTo>
                <a:lnTo>
                  <a:pt x="57150" y="348780"/>
                </a:lnTo>
                <a:lnTo>
                  <a:pt x="71437" y="363067"/>
                </a:lnTo>
                <a:lnTo>
                  <a:pt x="85725" y="363067"/>
                </a:lnTo>
                <a:lnTo>
                  <a:pt x="85725" y="380923"/>
                </a:lnTo>
                <a:close/>
              </a:path>
              <a:path w="142875" h="434975">
                <a:moveTo>
                  <a:pt x="85725" y="363067"/>
                </a:moveTo>
                <a:lnTo>
                  <a:pt x="71437" y="363067"/>
                </a:lnTo>
                <a:lnTo>
                  <a:pt x="85725" y="348780"/>
                </a:lnTo>
                <a:lnTo>
                  <a:pt x="85725" y="363067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680542" y="5559348"/>
            <a:ext cx="515620" cy="142875"/>
          </a:xfrm>
          <a:custGeom>
            <a:avLst/>
            <a:gdLst/>
            <a:ahLst/>
            <a:cxnLst/>
            <a:rect l="l" t="t" r="r" b="b"/>
            <a:pathLst>
              <a:path w="515620" h="142875">
                <a:moveTo>
                  <a:pt x="143255" y="142875"/>
                </a:moveTo>
                <a:lnTo>
                  <a:pt x="0" y="72199"/>
                </a:lnTo>
                <a:lnTo>
                  <a:pt x="142493" y="0"/>
                </a:lnTo>
                <a:lnTo>
                  <a:pt x="85654" y="57449"/>
                </a:lnTo>
                <a:lnTo>
                  <a:pt x="53505" y="57619"/>
                </a:lnTo>
                <a:lnTo>
                  <a:pt x="53657" y="86194"/>
                </a:lnTo>
                <a:lnTo>
                  <a:pt x="85968" y="86194"/>
                </a:lnTo>
                <a:lnTo>
                  <a:pt x="143255" y="142875"/>
                </a:lnTo>
                <a:close/>
              </a:path>
              <a:path w="515620" h="142875">
                <a:moveTo>
                  <a:pt x="85795" y="86024"/>
                </a:moveTo>
                <a:lnTo>
                  <a:pt x="71437" y="71818"/>
                </a:lnTo>
                <a:lnTo>
                  <a:pt x="85654" y="57449"/>
                </a:lnTo>
                <a:lnTo>
                  <a:pt x="515315" y="55168"/>
                </a:lnTo>
                <a:lnTo>
                  <a:pt x="515467" y="83743"/>
                </a:lnTo>
                <a:lnTo>
                  <a:pt x="85795" y="86024"/>
                </a:lnTo>
                <a:close/>
              </a:path>
              <a:path w="515620" h="142875">
                <a:moveTo>
                  <a:pt x="53657" y="86194"/>
                </a:moveTo>
                <a:lnTo>
                  <a:pt x="53505" y="57619"/>
                </a:lnTo>
                <a:lnTo>
                  <a:pt x="85654" y="57449"/>
                </a:lnTo>
                <a:lnTo>
                  <a:pt x="71437" y="71818"/>
                </a:lnTo>
                <a:lnTo>
                  <a:pt x="85795" y="86024"/>
                </a:lnTo>
                <a:lnTo>
                  <a:pt x="53657" y="86194"/>
                </a:lnTo>
                <a:close/>
              </a:path>
              <a:path w="515620" h="142875">
                <a:moveTo>
                  <a:pt x="85968" y="86194"/>
                </a:moveTo>
                <a:lnTo>
                  <a:pt x="53657" y="86194"/>
                </a:lnTo>
                <a:lnTo>
                  <a:pt x="85795" y="86024"/>
                </a:lnTo>
                <a:lnTo>
                  <a:pt x="85968" y="86194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680313" y="3618204"/>
            <a:ext cx="515620" cy="142875"/>
          </a:xfrm>
          <a:custGeom>
            <a:avLst/>
            <a:gdLst/>
            <a:ahLst/>
            <a:cxnLst/>
            <a:rect l="l" t="t" r="r" b="b"/>
            <a:pathLst>
              <a:path w="515620" h="142875">
                <a:moveTo>
                  <a:pt x="487673" y="87147"/>
                </a:moveTo>
                <a:lnTo>
                  <a:pt x="461810" y="87147"/>
                </a:lnTo>
                <a:lnTo>
                  <a:pt x="462279" y="58585"/>
                </a:lnTo>
                <a:lnTo>
                  <a:pt x="430130" y="58066"/>
                </a:lnTo>
                <a:lnTo>
                  <a:pt x="373913" y="0"/>
                </a:lnTo>
                <a:lnTo>
                  <a:pt x="515620" y="73736"/>
                </a:lnTo>
                <a:lnTo>
                  <a:pt x="487673" y="87147"/>
                </a:lnTo>
                <a:close/>
              </a:path>
              <a:path w="515620" h="142875">
                <a:moveTo>
                  <a:pt x="429671" y="86629"/>
                </a:moveTo>
                <a:lnTo>
                  <a:pt x="0" y="79705"/>
                </a:lnTo>
                <a:lnTo>
                  <a:pt x="457" y="51130"/>
                </a:lnTo>
                <a:lnTo>
                  <a:pt x="430130" y="58066"/>
                </a:lnTo>
                <a:lnTo>
                  <a:pt x="444182" y="72580"/>
                </a:lnTo>
                <a:lnTo>
                  <a:pt x="429671" y="86629"/>
                </a:lnTo>
                <a:close/>
              </a:path>
              <a:path w="515620" h="142875">
                <a:moveTo>
                  <a:pt x="461810" y="87147"/>
                </a:moveTo>
                <a:lnTo>
                  <a:pt x="429671" y="86629"/>
                </a:lnTo>
                <a:lnTo>
                  <a:pt x="444182" y="72580"/>
                </a:lnTo>
                <a:lnTo>
                  <a:pt x="430130" y="58066"/>
                </a:lnTo>
                <a:lnTo>
                  <a:pt x="462279" y="58585"/>
                </a:lnTo>
                <a:lnTo>
                  <a:pt x="461810" y="87147"/>
                </a:lnTo>
                <a:close/>
              </a:path>
              <a:path w="515620" h="142875">
                <a:moveTo>
                  <a:pt x="371601" y="142849"/>
                </a:moveTo>
                <a:lnTo>
                  <a:pt x="429671" y="86629"/>
                </a:lnTo>
                <a:lnTo>
                  <a:pt x="461810" y="87147"/>
                </a:lnTo>
                <a:lnTo>
                  <a:pt x="487673" y="87147"/>
                </a:lnTo>
                <a:lnTo>
                  <a:pt x="371601" y="142849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416437" y="3831894"/>
            <a:ext cx="142875" cy="434975"/>
          </a:xfrm>
          <a:custGeom>
            <a:avLst/>
            <a:gdLst/>
            <a:ahLst/>
            <a:cxnLst/>
            <a:rect l="l" t="t" r="r" b="b"/>
            <a:pathLst>
              <a:path w="142875" h="434975">
                <a:moveTo>
                  <a:pt x="71437" y="363067"/>
                </a:moveTo>
                <a:lnTo>
                  <a:pt x="57150" y="348780"/>
                </a:lnTo>
                <a:lnTo>
                  <a:pt x="57150" y="0"/>
                </a:lnTo>
                <a:lnTo>
                  <a:pt x="85725" y="0"/>
                </a:lnTo>
                <a:lnTo>
                  <a:pt x="85725" y="348780"/>
                </a:lnTo>
                <a:lnTo>
                  <a:pt x="71437" y="363067"/>
                </a:lnTo>
                <a:close/>
              </a:path>
              <a:path w="142875" h="434975">
                <a:moveTo>
                  <a:pt x="71437" y="434505"/>
                </a:moveTo>
                <a:lnTo>
                  <a:pt x="0" y="291630"/>
                </a:lnTo>
                <a:lnTo>
                  <a:pt x="57150" y="348780"/>
                </a:lnTo>
                <a:lnTo>
                  <a:pt x="57150" y="380923"/>
                </a:lnTo>
                <a:lnTo>
                  <a:pt x="98228" y="380923"/>
                </a:lnTo>
                <a:lnTo>
                  <a:pt x="71437" y="434505"/>
                </a:lnTo>
                <a:close/>
              </a:path>
              <a:path w="142875" h="434975">
                <a:moveTo>
                  <a:pt x="98228" y="380923"/>
                </a:moveTo>
                <a:lnTo>
                  <a:pt x="85725" y="380923"/>
                </a:lnTo>
                <a:lnTo>
                  <a:pt x="85725" y="348780"/>
                </a:lnTo>
                <a:lnTo>
                  <a:pt x="142875" y="291630"/>
                </a:lnTo>
                <a:lnTo>
                  <a:pt x="98228" y="380923"/>
                </a:lnTo>
                <a:close/>
              </a:path>
              <a:path w="142875" h="434975">
                <a:moveTo>
                  <a:pt x="85725" y="380923"/>
                </a:moveTo>
                <a:lnTo>
                  <a:pt x="57150" y="380923"/>
                </a:lnTo>
                <a:lnTo>
                  <a:pt x="57150" y="348780"/>
                </a:lnTo>
                <a:lnTo>
                  <a:pt x="71437" y="363067"/>
                </a:lnTo>
                <a:lnTo>
                  <a:pt x="85725" y="363067"/>
                </a:lnTo>
                <a:lnTo>
                  <a:pt x="85725" y="380923"/>
                </a:lnTo>
                <a:close/>
              </a:path>
              <a:path w="142875" h="434975">
                <a:moveTo>
                  <a:pt x="85725" y="363067"/>
                </a:moveTo>
                <a:lnTo>
                  <a:pt x="71437" y="363067"/>
                </a:lnTo>
                <a:lnTo>
                  <a:pt x="85725" y="348780"/>
                </a:lnTo>
                <a:lnTo>
                  <a:pt x="85725" y="36306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128298" y="5569458"/>
            <a:ext cx="504825" cy="142875"/>
          </a:xfrm>
          <a:custGeom>
            <a:avLst/>
            <a:gdLst/>
            <a:ahLst/>
            <a:cxnLst/>
            <a:rect l="l" t="t" r="r" b="b"/>
            <a:pathLst>
              <a:path w="504825" h="142875">
                <a:moveTo>
                  <a:pt x="476422" y="87198"/>
                </a:moveTo>
                <a:lnTo>
                  <a:pt x="450557" y="87198"/>
                </a:lnTo>
                <a:lnTo>
                  <a:pt x="451027" y="58623"/>
                </a:lnTo>
                <a:lnTo>
                  <a:pt x="418878" y="58089"/>
                </a:lnTo>
                <a:lnTo>
                  <a:pt x="362699" y="0"/>
                </a:lnTo>
                <a:lnTo>
                  <a:pt x="504367" y="73799"/>
                </a:lnTo>
                <a:lnTo>
                  <a:pt x="476422" y="87198"/>
                </a:lnTo>
                <a:close/>
              </a:path>
              <a:path w="504825" h="142875">
                <a:moveTo>
                  <a:pt x="418412" y="86664"/>
                </a:moveTo>
                <a:lnTo>
                  <a:pt x="0" y="79717"/>
                </a:lnTo>
                <a:lnTo>
                  <a:pt x="482" y="51142"/>
                </a:lnTo>
                <a:lnTo>
                  <a:pt x="418878" y="58089"/>
                </a:lnTo>
                <a:lnTo>
                  <a:pt x="432930" y="72618"/>
                </a:lnTo>
                <a:lnTo>
                  <a:pt x="418412" y="86664"/>
                </a:lnTo>
                <a:close/>
              </a:path>
              <a:path w="504825" h="142875">
                <a:moveTo>
                  <a:pt x="450557" y="87198"/>
                </a:moveTo>
                <a:lnTo>
                  <a:pt x="418412" y="86664"/>
                </a:lnTo>
                <a:lnTo>
                  <a:pt x="432930" y="72618"/>
                </a:lnTo>
                <a:lnTo>
                  <a:pt x="418878" y="58089"/>
                </a:lnTo>
                <a:lnTo>
                  <a:pt x="451027" y="58623"/>
                </a:lnTo>
                <a:lnTo>
                  <a:pt x="450557" y="87198"/>
                </a:lnTo>
                <a:close/>
              </a:path>
              <a:path w="504825" h="142875">
                <a:moveTo>
                  <a:pt x="360324" y="142862"/>
                </a:moveTo>
                <a:lnTo>
                  <a:pt x="418412" y="86664"/>
                </a:lnTo>
                <a:lnTo>
                  <a:pt x="450557" y="87198"/>
                </a:lnTo>
                <a:lnTo>
                  <a:pt x="476422" y="87198"/>
                </a:lnTo>
                <a:lnTo>
                  <a:pt x="360324" y="14286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018417" y="3612172"/>
            <a:ext cx="529590" cy="142875"/>
          </a:xfrm>
          <a:custGeom>
            <a:avLst/>
            <a:gdLst/>
            <a:ahLst/>
            <a:cxnLst/>
            <a:rect l="l" t="t" r="r" b="b"/>
            <a:pathLst>
              <a:path w="529589" h="142875">
                <a:moveTo>
                  <a:pt x="142887" y="142875"/>
                </a:moveTo>
                <a:lnTo>
                  <a:pt x="0" y="71450"/>
                </a:lnTo>
                <a:lnTo>
                  <a:pt x="142862" y="0"/>
                </a:lnTo>
                <a:lnTo>
                  <a:pt x="85713" y="57159"/>
                </a:lnTo>
                <a:lnTo>
                  <a:pt x="53581" y="57162"/>
                </a:lnTo>
                <a:lnTo>
                  <a:pt x="53581" y="85737"/>
                </a:lnTo>
                <a:lnTo>
                  <a:pt x="85740" y="85737"/>
                </a:lnTo>
                <a:lnTo>
                  <a:pt x="142887" y="142875"/>
                </a:lnTo>
                <a:close/>
              </a:path>
              <a:path w="529589" h="142875">
                <a:moveTo>
                  <a:pt x="85736" y="85734"/>
                </a:moveTo>
                <a:lnTo>
                  <a:pt x="71437" y="71437"/>
                </a:lnTo>
                <a:lnTo>
                  <a:pt x="85713" y="57159"/>
                </a:lnTo>
                <a:lnTo>
                  <a:pt x="529132" y="57111"/>
                </a:lnTo>
                <a:lnTo>
                  <a:pt x="529145" y="85686"/>
                </a:lnTo>
                <a:lnTo>
                  <a:pt x="85736" y="85734"/>
                </a:lnTo>
                <a:close/>
              </a:path>
              <a:path w="529589" h="142875">
                <a:moveTo>
                  <a:pt x="53581" y="85737"/>
                </a:moveTo>
                <a:lnTo>
                  <a:pt x="53581" y="57162"/>
                </a:lnTo>
                <a:lnTo>
                  <a:pt x="85713" y="57159"/>
                </a:lnTo>
                <a:lnTo>
                  <a:pt x="71437" y="71437"/>
                </a:lnTo>
                <a:lnTo>
                  <a:pt x="85736" y="85734"/>
                </a:lnTo>
                <a:lnTo>
                  <a:pt x="53581" y="8573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969304" y="4064596"/>
            <a:ext cx="190500" cy="1116330"/>
          </a:xfrm>
          <a:custGeom>
            <a:avLst/>
            <a:gdLst/>
            <a:ahLst/>
            <a:cxnLst/>
            <a:rect l="l" t="t" r="r" b="b"/>
            <a:pathLst>
              <a:path w="190500" h="1116329">
                <a:moveTo>
                  <a:pt x="0" y="190500"/>
                </a:moveTo>
                <a:lnTo>
                  <a:pt x="95250" y="0"/>
                </a:lnTo>
                <a:lnTo>
                  <a:pt x="130968" y="71437"/>
                </a:lnTo>
                <a:lnTo>
                  <a:pt x="76200" y="71437"/>
                </a:lnTo>
                <a:lnTo>
                  <a:pt x="76200" y="114300"/>
                </a:lnTo>
                <a:lnTo>
                  <a:pt x="0" y="190500"/>
                </a:lnTo>
                <a:close/>
              </a:path>
              <a:path w="190500" h="1116329">
                <a:moveTo>
                  <a:pt x="76200" y="114300"/>
                </a:moveTo>
                <a:lnTo>
                  <a:pt x="76200" y="71437"/>
                </a:lnTo>
                <a:lnTo>
                  <a:pt x="114300" y="71437"/>
                </a:lnTo>
                <a:lnTo>
                  <a:pt x="114300" y="95250"/>
                </a:lnTo>
                <a:lnTo>
                  <a:pt x="95250" y="95250"/>
                </a:lnTo>
                <a:lnTo>
                  <a:pt x="76200" y="114300"/>
                </a:lnTo>
                <a:close/>
              </a:path>
              <a:path w="190500" h="1116329">
                <a:moveTo>
                  <a:pt x="190500" y="190500"/>
                </a:moveTo>
                <a:lnTo>
                  <a:pt x="114300" y="114300"/>
                </a:lnTo>
                <a:lnTo>
                  <a:pt x="114300" y="71437"/>
                </a:lnTo>
                <a:lnTo>
                  <a:pt x="130968" y="71437"/>
                </a:lnTo>
                <a:lnTo>
                  <a:pt x="190500" y="190500"/>
                </a:lnTo>
                <a:close/>
              </a:path>
              <a:path w="190500" h="1116329">
                <a:moveTo>
                  <a:pt x="114300" y="1115885"/>
                </a:moveTo>
                <a:lnTo>
                  <a:pt x="76200" y="1115885"/>
                </a:lnTo>
                <a:lnTo>
                  <a:pt x="76200" y="114300"/>
                </a:lnTo>
                <a:lnTo>
                  <a:pt x="95250" y="95250"/>
                </a:lnTo>
                <a:lnTo>
                  <a:pt x="114300" y="114300"/>
                </a:lnTo>
                <a:lnTo>
                  <a:pt x="114300" y="1115885"/>
                </a:lnTo>
                <a:close/>
              </a:path>
              <a:path w="190500" h="1116329">
                <a:moveTo>
                  <a:pt x="114300" y="114300"/>
                </a:moveTo>
                <a:lnTo>
                  <a:pt x="95250" y="95250"/>
                </a:lnTo>
                <a:lnTo>
                  <a:pt x="114300" y="95250"/>
                </a:lnTo>
                <a:lnTo>
                  <a:pt x="114300" y="1143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169494" y="4073779"/>
            <a:ext cx="3251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dirty="0" baseline="-17921" sz="2325" spc="15" i="1">
                <a:solidFill>
                  <a:srgbClr val="FF0000"/>
                </a:solidFill>
                <a:latin typeface="华文楷体"/>
                <a:cs typeface="华文楷体"/>
              </a:rPr>
              <a:t>感</a:t>
            </a:r>
            <a:endParaRPr baseline="-17921" sz="2325">
              <a:latin typeface="华文楷体"/>
              <a:cs typeface="华文楷体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20113" y="4404359"/>
            <a:ext cx="583691" cy="954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70149" y="2018766"/>
            <a:ext cx="5881370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i="1">
                <a:latin typeface="华文楷体"/>
                <a:cs typeface="华文楷体"/>
              </a:rPr>
              <a:t>1</a:t>
            </a:r>
            <a:r>
              <a:rPr dirty="0" sz="2800" i="1">
                <a:latin typeface="华文楷体"/>
                <a:cs typeface="华文楷体"/>
              </a:rPr>
              <a:t>、应用楞次定律解决问题的一般思</a:t>
            </a:r>
            <a:r>
              <a:rPr dirty="0" sz="2800" spc="-5" i="1">
                <a:latin typeface="华文楷体"/>
                <a:cs typeface="华文楷体"/>
              </a:rPr>
              <a:t>路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70149" y="4060926"/>
            <a:ext cx="196977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i="1">
                <a:latin typeface="华文楷体"/>
                <a:cs typeface="华文楷体"/>
              </a:rPr>
              <a:t>2</a:t>
            </a:r>
            <a:r>
              <a:rPr dirty="0" sz="2800" i="1">
                <a:latin typeface="华文楷体"/>
                <a:cs typeface="华文楷体"/>
              </a:rPr>
              <a:t>、右手定</a:t>
            </a:r>
            <a:r>
              <a:rPr dirty="0" sz="2800" spc="-5" i="1">
                <a:latin typeface="华文楷体"/>
                <a:cs typeface="华文楷体"/>
              </a:rPr>
              <a:t>则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70149" y="1334554"/>
            <a:ext cx="11931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Font typeface="Wingdings"/>
              <a:buChar char=""/>
              <a:tabLst>
                <a:tab pos="469265" algn="l"/>
                <a:tab pos="469900" algn="l"/>
              </a:tabLst>
            </a:pPr>
            <a:r>
              <a:rPr dirty="0" sz="2800" i="1">
                <a:latin typeface="华文楷体"/>
                <a:cs typeface="华文楷体"/>
              </a:rPr>
              <a:t>总</a:t>
            </a:r>
            <a:r>
              <a:rPr dirty="0" sz="2800" spc="-5" i="1">
                <a:latin typeface="华文楷体"/>
                <a:cs typeface="华文楷体"/>
              </a:rPr>
              <a:t>结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25369" y="2642031"/>
            <a:ext cx="788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i="1">
                <a:latin typeface="华文楷体"/>
                <a:cs typeface="华文楷体"/>
              </a:rPr>
              <a:t>确定</a:t>
            </a:r>
            <a:r>
              <a:rPr dirty="0" sz="2000" spc="5" i="1">
                <a:latin typeface="华文楷体"/>
                <a:cs typeface="华文楷体"/>
              </a:rPr>
              <a:t>研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25369" y="2946831"/>
            <a:ext cx="788035" cy="636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000" i="1">
                <a:latin typeface="华文楷体"/>
                <a:cs typeface="华文楷体"/>
              </a:rPr>
              <a:t>究的</a:t>
            </a:r>
            <a:r>
              <a:rPr dirty="0" sz="2000" i="1">
                <a:latin typeface="华文楷体"/>
                <a:cs typeface="华文楷体"/>
              </a:rPr>
              <a:t>闭 </a:t>
            </a:r>
            <a:r>
              <a:rPr dirty="0" sz="2000" i="1">
                <a:latin typeface="华文楷体"/>
                <a:cs typeface="华文楷体"/>
              </a:rPr>
              <a:t>合回</a:t>
            </a:r>
            <a:r>
              <a:rPr dirty="0" sz="2000" spc="5" i="1">
                <a:latin typeface="华文楷体"/>
                <a:cs typeface="华文楷体"/>
              </a:rPr>
              <a:t>路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86270" y="2908668"/>
            <a:ext cx="4095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i="1">
                <a:latin typeface="Times New Roman"/>
                <a:cs typeface="Times New Roman"/>
              </a:rPr>
              <a:t>B</a:t>
            </a:r>
            <a:r>
              <a:rPr dirty="0" baseline="-17921" sz="2325" spc="15" i="1">
                <a:latin typeface="华文楷体"/>
                <a:cs typeface="华文楷体"/>
              </a:rPr>
              <a:t>感</a:t>
            </a:r>
            <a:endParaRPr baseline="-17921" sz="2325">
              <a:latin typeface="华文楷体"/>
              <a:cs typeface="华文楷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834869" y="2885782"/>
            <a:ext cx="127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936469" y="3052787"/>
            <a:ext cx="223520" cy="263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50" spc="10" i="1">
                <a:latin typeface="华文楷体"/>
                <a:cs typeface="华文楷体"/>
              </a:rPr>
              <a:t>感</a:t>
            </a:r>
            <a:endParaRPr sz="1550">
              <a:latin typeface="华文楷体"/>
              <a:cs typeface="华文楷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408244" y="3060674"/>
            <a:ext cx="1299845" cy="128905"/>
          </a:xfrm>
          <a:custGeom>
            <a:avLst/>
            <a:gdLst/>
            <a:ahLst/>
            <a:cxnLst/>
            <a:rect l="l" t="t" r="r" b="b"/>
            <a:pathLst>
              <a:path w="1299845" h="128905">
                <a:moveTo>
                  <a:pt x="1242567" y="64223"/>
                </a:moveTo>
                <a:lnTo>
                  <a:pt x="1178001" y="26555"/>
                </a:lnTo>
                <a:lnTo>
                  <a:pt x="1170914" y="14160"/>
                </a:lnTo>
                <a:lnTo>
                  <a:pt x="1171244" y="11188"/>
                </a:lnTo>
                <a:lnTo>
                  <a:pt x="1183779" y="0"/>
                </a:lnTo>
                <a:lnTo>
                  <a:pt x="1186764" y="12"/>
                </a:lnTo>
                <a:lnTo>
                  <a:pt x="1189685" y="647"/>
                </a:lnTo>
                <a:lnTo>
                  <a:pt x="1192402" y="1879"/>
                </a:lnTo>
                <a:lnTo>
                  <a:pt x="1274791" y="49936"/>
                </a:lnTo>
                <a:lnTo>
                  <a:pt x="1270927" y="49936"/>
                </a:lnTo>
                <a:lnTo>
                  <a:pt x="1270927" y="51879"/>
                </a:lnTo>
                <a:lnTo>
                  <a:pt x="1263726" y="51879"/>
                </a:lnTo>
                <a:lnTo>
                  <a:pt x="1242567" y="64223"/>
                </a:lnTo>
                <a:close/>
              </a:path>
              <a:path w="1299845" h="128905">
                <a:moveTo>
                  <a:pt x="1218077" y="78511"/>
                </a:moveTo>
                <a:lnTo>
                  <a:pt x="0" y="78511"/>
                </a:lnTo>
                <a:lnTo>
                  <a:pt x="0" y="49936"/>
                </a:lnTo>
                <a:lnTo>
                  <a:pt x="1218077" y="49936"/>
                </a:lnTo>
                <a:lnTo>
                  <a:pt x="1242567" y="64223"/>
                </a:lnTo>
                <a:lnTo>
                  <a:pt x="1218077" y="78511"/>
                </a:lnTo>
                <a:close/>
              </a:path>
              <a:path w="1299845" h="128905">
                <a:moveTo>
                  <a:pt x="1274791" y="78511"/>
                </a:moveTo>
                <a:lnTo>
                  <a:pt x="1270927" y="78511"/>
                </a:lnTo>
                <a:lnTo>
                  <a:pt x="1270927" y="49936"/>
                </a:lnTo>
                <a:lnTo>
                  <a:pt x="1274791" y="49936"/>
                </a:lnTo>
                <a:lnTo>
                  <a:pt x="1299286" y="64223"/>
                </a:lnTo>
                <a:lnTo>
                  <a:pt x="1274791" y="78511"/>
                </a:lnTo>
                <a:close/>
              </a:path>
              <a:path w="1299845" h="128905">
                <a:moveTo>
                  <a:pt x="1263726" y="76568"/>
                </a:moveTo>
                <a:lnTo>
                  <a:pt x="1242567" y="64223"/>
                </a:lnTo>
                <a:lnTo>
                  <a:pt x="1263726" y="51879"/>
                </a:lnTo>
                <a:lnTo>
                  <a:pt x="1263726" y="76568"/>
                </a:lnTo>
                <a:close/>
              </a:path>
              <a:path w="1299845" h="128905">
                <a:moveTo>
                  <a:pt x="1270927" y="76568"/>
                </a:moveTo>
                <a:lnTo>
                  <a:pt x="1263726" y="76568"/>
                </a:lnTo>
                <a:lnTo>
                  <a:pt x="1263726" y="51879"/>
                </a:lnTo>
                <a:lnTo>
                  <a:pt x="1270927" y="51879"/>
                </a:lnTo>
                <a:lnTo>
                  <a:pt x="1270927" y="76568"/>
                </a:lnTo>
                <a:close/>
              </a:path>
              <a:path w="1299845" h="128905">
                <a:moveTo>
                  <a:pt x="1183779" y="128447"/>
                </a:moveTo>
                <a:lnTo>
                  <a:pt x="1170914" y="114300"/>
                </a:lnTo>
                <a:lnTo>
                  <a:pt x="1171219" y="111328"/>
                </a:lnTo>
                <a:lnTo>
                  <a:pt x="1242567" y="64223"/>
                </a:lnTo>
                <a:lnTo>
                  <a:pt x="1263726" y="76568"/>
                </a:lnTo>
                <a:lnTo>
                  <a:pt x="1270927" y="76568"/>
                </a:lnTo>
                <a:lnTo>
                  <a:pt x="1270927" y="78511"/>
                </a:lnTo>
                <a:lnTo>
                  <a:pt x="1274791" y="78511"/>
                </a:lnTo>
                <a:lnTo>
                  <a:pt x="1192402" y="126568"/>
                </a:lnTo>
                <a:lnTo>
                  <a:pt x="1189685" y="127800"/>
                </a:lnTo>
                <a:lnTo>
                  <a:pt x="1186764" y="128435"/>
                </a:lnTo>
                <a:lnTo>
                  <a:pt x="1183779" y="1284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533580" y="2721241"/>
            <a:ext cx="1042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i="1">
                <a:latin typeface="华文楷体"/>
                <a:cs typeface="华文楷体"/>
              </a:rPr>
              <a:t>楞次定</a:t>
            </a:r>
            <a:r>
              <a:rPr dirty="0" sz="2000" spc="5" i="1">
                <a:latin typeface="华文楷体"/>
                <a:cs typeface="华文楷体"/>
              </a:rPr>
              <a:t>律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367320" y="3053410"/>
            <a:ext cx="1299845" cy="128905"/>
          </a:xfrm>
          <a:custGeom>
            <a:avLst/>
            <a:gdLst/>
            <a:ahLst/>
            <a:cxnLst/>
            <a:rect l="l" t="t" r="r" b="b"/>
            <a:pathLst>
              <a:path w="1299845" h="128905">
                <a:moveTo>
                  <a:pt x="1242579" y="64223"/>
                </a:moveTo>
                <a:lnTo>
                  <a:pt x="1178013" y="26555"/>
                </a:lnTo>
                <a:lnTo>
                  <a:pt x="1170914" y="14160"/>
                </a:lnTo>
                <a:lnTo>
                  <a:pt x="1171244" y="11188"/>
                </a:lnTo>
                <a:lnTo>
                  <a:pt x="1183779" y="0"/>
                </a:lnTo>
                <a:lnTo>
                  <a:pt x="1186764" y="12"/>
                </a:lnTo>
                <a:lnTo>
                  <a:pt x="1189685" y="647"/>
                </a:lnTo>
                <a:lnTo>
                  <a:pt x="1192402" y="1879"/>
                </a:lnTo>
                <a:lnTo>
                  <a:pt x="1274791" y="49936"/>
                </a:lnTo>
                <a:lnTo>
                  <a:pt x="1270927" y="49936"/>
                </a:lnTo>
                <a:lnTo>
                  <a:pt x="1270927" y="51879"/>
                </a:lnTo>
                <a:lnTo>
                  <a:pt x="1263738" y="51879"/>
                </a:lnTo>
                <a:lnTo>
                  <a:pt x="1242579" y="64223"/>
                </a:lnTo>
                <a:close/>
              </a:path>
              <a:path w="1299845" h="128905">
                <a:moveTo>
                  <a:pt x="1218090" y="78511"/>
                </a:moveTo>
                <a:lnTo>
                  <a:pt x="0" y="78511"/>
                </a:lnTo>
                <a:lnTo>
                  <a:pt x="0" y="49936"/>
                </a:lnTo>
                <a:lnTo>
                  <a:pt x="1218090" y="49936"/>
                </a:lnTo>
                <a:lnTo>
                  <a:pt x="1242579" y="64223"/>
                </a:lnTo>
                <a:lnTo>
                  <a:pt x="1218090" y="78511"/>
                </a:lnTo>
                <a:close/>
              </a:path>
              <a:path w="1299845" h="128905">
                <a:moveTo>
                  <a:pt x="1274791" y="78511"/>
                </a:moveTo>
                <a:lnTo>
                  <a:pt x="1270927" y="78511"/>
                </a:lnTo>
                <a:lnTo>
                  <a:pt x="1270927" y="49936"/>
                </a:lnTo>
                <a:lnTo>
                  <a:pt x="1274791" y="49936"/>
                </a:lnTo>
                <a:lnTo>
                  <a:pt x="1299286" y="64223"/>
                </a:lnTo>
                <a:lnTo>
                  <a:pt x="1274791" y="78511"/>
                </a:lnTo>
                <a:close/>
              </a:path>
              <a:path w="1299845" h="128905">
                <a:moveTo>
                  <a:pt x="1263738" y="76568"/>
                </a:moveTo>
                <a:lnTo>
                  <a:pt x="1242579" y="64223"/>
                </a:lnTo>
                <a:lnTo>
                  <a:pt x="1263738" y="51879"/>
                </a:lnTo>
                <a:lnTo>
                  <a:pt x="1263738" y="76568"/>
                </a:lnTo>
                <a:close/>
              </a:path>
              <a:path w="1299845" h="128905">
                <a:moveTo>
                  <a:pt x="1270927" y="76568"/>
                </a:moveTo>
                <a:lnTo>
                  <a:pt x="1263738" y="76568"/>
                </a:lnTo>
                <a:lnTo>
                  <a:pt x="1263738" y="51879"/>
                </a:lnTo>
                <a:lnTo>
                  <a:pt x="1270927" y="51879"/>
                </a:lnTo>
                <a:lnTo>
                  <a:pt x="1270927" y="76568"/>
                </a:lnTo>
                <a:close/>
              </a:path>
              <a:path w="1299845" h="128905">
                <a:moveTo>
                  <a:pt x="1183779" y="128447"/>
                </a:moveTo>
                <a:lnTo>
                  <a:pt x="1170914" y="114300"/>
                </a:lnTo>
                <a:lnTo>
                  <a:pt x="1171219" y="111328"/>
                </a:lnTo>
                <a:lnTo>
                  <a:pt x="1242579" y="64223"/>
                </a:lnTo>
                <a:lnTo>
                  <a:pt x="1263738" y="76568"/>
                </a:lnTo>
                <a:lnTo>
                  <a:pt x="1270927" y="76568"/>
                </a:lnTo>
                <a:lnTo>
                  <a:pt x="1270927" y="78511"/>
                </a:lnTo>
                <a:lnTo>
                  <a:pt x="1274791" y="78511"/>
                </a:lnTo>
                <a:lnTo>
                  <a:pt x="1192402" y="126568"/>
                </a:lnTo>
                <a:lnTo>
                  <a:pt x="1189685" y="127800"/>
                </a:lnTo>
                <a:lnTo>
                  <a:pt x="1186764" y="128435"/>
                </a:lnTo>
                <a:lnTo>
                  <a:pt x="1183779" y="1284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7395870" y="2704439"/>
            <a:ext cx="1042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i="1">
                <a:latin typeface="华文楷体"/>
                <a:cs typeface="华文楷体"/>
              </a:rPr>
              <a:t>安培定</a:t>
            </a:r>
            <a:r>
              <a:rPr dirty="0" sz="2000" spc="5" i="1">
                <a:latin typeface="华文楷体"/>
                <a:cs typeface="华文楷体"/>
              </a:rPr>
              <a:t>则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671214" y="3059709"/>
            <a:ext cx="869315" cy="128905"/>
          </a:xfrm>
          <a:custGeom>
            <a:avLst/>
            <a:gdLst/>
            <a:ahLst/>
            <a:cxnLst/>
            <a:rect l="l" t="t" r="r" b="b"/>
            <a:pathLst>
              <a:path w="869314" h="128905">
                <a:moveTo>
                  <a:pt x="844500" y="79235"/>
                </a:moveTo>
                <a:lnTo>
                  <a:pt x="840574" y="79235"/>
                </a:lnTo>
                <a:lnTo>
                  <a:pt x="840816" y="50660"/>
                </a:lnTo>
                <a:lnTo>
                  <a:pt x="787950" y="50218"/>
                </a:lnTo>
                <a:lnTo>
                  <a:pt x="748080" y="26517"/>
                </a:lnTo>
                <a:lnTo>
                  <a:pt x="745693" y="24726"/>
                </a:lnTo>
                <a:lnTo>
                  <a:pt x="743724" y="22478"/>
                </a:lnTo>
                <a:lnTo>
                  <a:pt x="742264" y="19875"/>
                </a:lnTo>
                <a:lnTo>
                  <a:pt x="741375" y="17017"/>
                </a:lnTo>
                <a:lnTo>
                  <a:pt x="741108" y="14046"/>
                </a:lnTo>
                <a:lnTo>
                  <a:pt x="741451" y="11087"/>
                </a:lnTo>
                <a:lnTo>
                  <a:pt x="754075" y="0"/>
                </a:lnTo>
                <a:lnTo>
                  <a:pt x="757059" y="38"/>
                </a:lnTo>
                <a:lnTo>
                  <a:pt x="759980" y="698"/>
                </a:lnTo>
                <a:lnTo>
                  <a:pt x="762685" y="1955"/>
                </a:lnTo>
                <a:lnTo>
                  <a:pt x="869048" y="65189"/>
                </a:lnTo>
                <a:lnTo>
                  <a:pt x="844500" y="79235"/>
                </a:lnTo>
                <a:close/>
              </a:path>
              <a:path w="869314" h="128905">
                <a:moveTo>
                  <a:pt x="787739" y="78793"/>
                </a:moveTo>
                <a:lnTo>
                  <a:pt x="0" y="72212"/>
                </a:lnTo>
                <a:lnTo>
                  <a:pt x="241" y="43637"/>
                </a:lnTo>
                <a:lnTo>
                  <a:pt x="787950" y="50218"/>
                </a:lnTo>
                <a:lnTo>
                  <a:pt x="812340" y="64717"/>
                </a:lnTo>
                <a:lnTo>
                  <a:pt x="787739" y="78793"/>
                </a:lnTo>
                <a:close/>
              </a:path>
              <a:path w="869314" h="128905">
                <a:moveTo>
                  <a:pt x="812340" y="64717"/>
                </a:moveTo>
                <a:lnTo>
                  <a:pt x="787950" y="50218"/>
                </a:lnTo>
                <a:lnTo>
                  <a:pt x="840816" y="50660"/>
                </a:lnTo>
                <a:lnTo>
                  <a:pt x="840800" y="52552"/>
                </a:lnTo>
                <a:lnTo>
                  <a:pt x="833602" y="52552"/>
                </a:lnTo>
                <a:lnTo>
                  <a:pt x="812340" y="64717"/>
                </a:lnTo>
                <a:close/>
              </a:path>
              <a:path w="869314" h="128905">
                <a:moveTo>
                  <a:pt x="833386" y="77228"/>
                </a:moveTo>
                <a:lnTo>
                  <a:pt x="812340" y="64717"/>
                </a:lnTo>
                <a:lnTo>
                  <a:pt x="833602" y="52552"/>
                </a:lnTo>
                <a:lnTo>
                  <a:pt x="833386" y="77228"/>
                </a:lnTo>
                <a:close/>
              </a:path>
              <a:path w="869314" h="128905">
                <a:moveTo>
                  <a:pt x="840591" y="77228"/>
                </a:moveTo>
                <a:lnTo>
                  <a:pt x="833386" y="77228"/>
                </a:lnTo>
                <a:lnTo>
                  <a:pt x="833602" y="52552"/>
                </a:lnTo>
                <a:lnTo>
                  <a:pt x="840800" y="52552"/>
                </a:lnTo>
                <a:lnTo>
                  <a:pt x="840591" y="77228"/>
                </a:lnTo>
                <a:close/>
              </a:path>
              <a:path w="869314" h="128905">
                <a:moveTo>
                  <a:pt x="840574" y="79235"/>
                </a:moveTo>
                <a:lnTo>
                  <a:pt x="787739" y="78793"/>
                </a:lnTo>
                <a:lnTo>
                  <a:pt x="812340" y="64717"/>
                </a:lnTo>
                <a:lnTo>
                  <a:pt x="833386" y="77228"/>
                </a:lnTo>
                <a:lnTo>
                  <a:pt x="840591" y="77228"/>
                </a:lnTo>
                <a:lnTo>
                  <a:pt x="840574" y="79235"/>
                </a:lnTo>
                <a:close/>
              </a:path>
              <a:path w="869314" h="128905">
                <a:moveTo>
                  <a:pt x="755992" y="128460"/>
                </a:moveTo>
                <a:lnTo>
                  <a:pt x="740270" y="114185"/>
                </a:lnTo>
                <a:lnTo>
                  <a:pt x="740587" y="111213"/>
                </a:lnTo>
                <a:lnTo>
                  <a:pt x="787739" y="78793"/>
                </a:lnTo>
                <a:lnTo>
                  <a:pt x="844500" y="79235"/>
                </a:lnTo>
                <a:lnTo>
                  <a:pt x="761644" y="126644"/>
                </a:lnTo>
                <a:lnTo>
                  <a:pt x="758913" y="127850"/>
                </a:lnTo>
                <a:lnTo>
                  <a:pt x="755992" y="1284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823601" y="2658021"/>
            <a:ext cx="1573530" cy="1008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r>
              <a:rPr dirty="0" sz="2000" i="1">
                <a:latin typeface="华文楷体"/>
                <a:cs typeface="华文楷体"/>
              </a:rPr>
              <a:t>判</a:t>
            </a:r>
            <a:r>
              <a:rPr dirty="0" sz="2000" spc="5" i="1">
                <a:latin typeface="华文楷体"/>
                <a:cs typeface="华文楷体"/>
              </a:rPr>
              <a:t>断	</a:t>
            </a:r>
            <a:r>
              <a:rPr dirty="0" sz="2400" spc="-5" i="1">
                <a:latin typeface="Times New Roman"/>
                <a:cs typeface="Times New Roman"/>
              </a:rPr>
              <a:t>B</a:t>
            </a:r>
            <a:r>
              <a:rPr dirty="0" baseline="-16129" sz="2325" spc="15" i="1">
                <a:latin typeface="华文楷体"/>
                <a:cs typeface="华文楷体"/>
              </a:rPr>
              <a:t>原</a:t>
            </a:r>
            <a:endParaRPr baseline="-16129" sz="2325">
              <a:latin typeface="华文楷体"/>
              <a:cs typeface="华文楷体"/>
            </a:endParaRPr>
          </a:p>
          <a:p>
            <a:pPr marL="718820">
              <a:lnSpc>
                <a:spcPct val="100000"/>
              </a:lnSpc>
              <a:spcBef>
                <a:spcPts val="1975"/>
              </a:spcBef>
            </a:pPr>
            <a:r>
              <a:rPr dirty="0" sz="2400" spc="-5" i="1">
                <a:latin typeface="Times New Roman"/>
                <a:cs typeface="Times New Roman"/>
              </a:rPr>
              <a:t>Φ</a:t>
            </a:r>
            <a:r>
              <a:rPr dirty="0" sz="2400" i="1">
                <a:latin typeface="华文楷体"/>
                <a:cs typeface="华文楷体"/>
              </a:rPr>
              <a:t>变化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831079" y="3902964"/>
            <a:ext cx="1591055" cy="17967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675119" y="3992879"/>
            <a:ext cx="2080260" cy="16154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055571" y="4396460"/>
            <a:ext cx="142875" cy="751840"/>
          </a:xfrm>
          <a:custGeom>
            <a:avLst/>
            <a:gdLst/>
            <a:ahLst/>
            <a:cxnLst/>
            <a:rect l="l" t="t" r="r" b="b"/>
            <a:pathLst>
              <a:path w="142875" h="751839">
                <a:moveTo>
                  <a:pt x="0" y="142875"/>
                </a:moveTo>
                <a:lnTo>
                  <a:pt x="71437" y="0"/>
                </a:lnTo>
                <a:lnTo>
                  <a:pt x="98221" y="53568"/>
                </a:lnTo>
                <a:lnTo>
                  <a:pt x="57150" y="53568"/>
                </a:lnTo>
                <a:lnTo>
                  <a:pt x="57150" y="85725"/>
                </a:lnTo>
                <a:lnTo>
                  <a:pt x="0" y="142875"/>
                </a:lnTo>
                <a:close/>
              </a:path>
              <a:path w="142875" h="751839">
                <a:moveTo>
                  <a:pt x="57150" y="85725"/>
                </a:moveTo>
                <a:lnTo>
                  <a:pt x="57150" y="53568"/>
                </a:lnTo>
                <a:lnTo>
                  <a:pt x="85725" y="53568"/>
                </a:lnTo>
                <a:lnTo>
                  <a:pt x="85725" y="71437"/>
                </a:lnTo>
                <a:lnTo>
                  <a:pt x="71437" y="71437"/>
                </a:lnTo>
                <a:lnTo>
                  <a:pt x="57150" y="85725"/>
                </a:lnTo>
                <a:close/>
              </a:path>
              <a:path w="142875" h="751839">
                <a:moveTo>
                  <a:pt x="142875" y="142875"/>
                </a:moveTo>
                <a:lnTo>
                  <a:pt x="85725" y="85725"/>
                </a:lnTo>
                <a:lnTo>
                  <a:pt x="85725" y="53568"/>
                </a:lnTo>
                <a:lnTo>
                  <a:pt x="98221" y="53568"/>
                </a:lnTo>
                <a:lnTo>
                  <a:pt x="142875" y="142875"/>
                </a:lnTo>
                <a:close/>
              </a:path>
              <a:path w="142875" h="751839">
                <a:moveTo>
                  <a:pt x="85725" y="751433"/>
                </a:moveTo>
                <a:lnTo>
                  <a:pt x="57150" y="751433"/>
                </a:lnTo>
                <a:lnTo>
                  <a:pt x="57150" y="85725"/>
                </a:lnTo>
                <a:lnTo>
                  <a:pt x="71437" y="71437"/>
                </a:lnTo>
                <a:lnTo>
                  <a:pt x="85725" y="85725"/>
                </a:lnTo>
                <a:lnTo>
                  <a:pt x="85725" y="751433"/>
                </a:lnTo>
                <a:close/>
              </a:path>
              <a:path w="142875" h="751839">
                <a:moveTo>
                  <a:pt x="85725" y="85725"/>
                </a:moveTo>
                <a:lnTo>
                  <a:pt x="71437" y="71437"/>
                </a:lnTo>
                <a:lnTo>
                  <a:pt x="85725" y="71437"/>
                </a:lnTo>
                <a:lnTo>
                  <a:pt x="85725" y="8572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7898713" y="4342206"/>
            <a:ext cx="110489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i="1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2025-04-20T10:18:49Z</dcterms:created>
  <dcterms:modified xsi:type="dcterms:W3CDTF">2025-04-20T10:18:49Z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2023-10-17T00:00:00Z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2025-04-20T00:00:00Z</vt:filetime>
  </property>
</Properties>
</file>