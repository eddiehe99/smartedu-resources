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jpg" ContentType="image/jp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073109" y="2073050"/>
            <a:ext cx="8045780" cy="1959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73109" y="4054792"/>
            <a:ext cx="8045780" cy="975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hlink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hlink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hlink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11400" y="1154595"/>
            <a:ext cx="3508375" cy="4229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hlink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55836" y="2227046"/>
            <a:ext cx="6680326" cy="2701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89039" y="6180632"/>
            <a:ext cx="1042035" cy="361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Relationship Id="rId3" Type="http://schemas.openxmlformats.org/officeDocument/2006/relationships/image" Target="../media/image20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Relationship Id="rId3" Type="http://schemas.openxmlformats.org/officeDocument/2006/relationships/image" Target="../media/image20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png"/><Relationship Id="rId3" Type="http://schemas.openxmlformats.org/officeDocument/2006/relationships/image" Target="../media/image20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Relationship Id="rId3" Type="http://schemas.openxmlformats.org/officeDocument/2006/relationships/image" Target="../media/image20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png"/><Relationship Id="rId3" Type="http://schemas.openxmlformats.org/officeDocument/2006/relationships/image" Target="../media/image33.jp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41398" y="805497"/>
            <a:ext cx="4140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FFFFFF"/>
                </a:solidFill>
                <a:latin typeface="微软雅黑"/>
                <a:cs typeface="微软雅黑"/>
              </a:rPr>
              <a:t>国家中小学课程资源</a:t>
            </a:r>
            <a:endParaRPr sz="36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53311" y="2830067"/>
            <a:ext cx="409956" cy="4663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510982" y="2073452"/>
            <a:ext cx="917003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solidFill>
                  <a:srgbClr val="FFFFFF"/>
                </a:solidFill>
                <a:latin typeface="微软雅黑"/>
                <a:cs typeface="微软雅黑"/>
              </a:rPr>
              <a:t>磁场对通电导线的作用力</a:t>
            </a:r>
            <a:r>
              <a:rPr dirty="0" sz="3200" b="1">
                <a:solidFill>
                  <a:srgbClr val="FFFFFF"/>
                </a:solidFill>
                <a:latin typeface="微软雅黑"/>
                <a:cs typeface="微软雅黑"/>
              </a:rPr>
              <a:t>（第二课时</a:t>
            </a:r>
            <a:r>
              <a:rPr dirty="0" sz="3200" spc="5" b="1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3200">
              <a:latin typeface="微软雅黑"/>
              <a:cs typeface="微软雅黑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834705" y="3569668"/>
          <a:ext cx="8091805" cy="9728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0575"/>
                <a:gridCol w="1343025"/>
                <a:gridCol w="3418204"/>
              </a:tblGrid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ts val="3315"/>
                        </a:lnSpc>
                        <a:tabLst>
                          <a:tab pos="745490" algn="l"/>
                        </a:tabLst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年	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级：高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二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0815">
                        <a:lnSpc>
                          <a:spcPts val="331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3315"/>
                        </a:lnSpc>
                      </a:pPr>
                      <a:r>
                        <a:rPr dirty="0" sz="2800" spc="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科：物理（人教版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）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</a:tr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主讲人：李德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胜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7462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2857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spc="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校：北京市第四中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04845" y="1447063"/>
            <a:ext cx="4106545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000000"/>
                </a:solidFill>
                <a:latin typeface="黑体"/>
                <a:cs typeface="黑体"/>
              </a:rPr>
              <a:t>三、安培力的大</a:t>
            </a:r>
            <a:r>
              <a:rPr dirty="0" sz="4000" spc="-25">
                <a:solidFill>
                  <a:srgbClr val="000000"/>
                </a:solidFill>
                <a:latin typeface="黑体"/>
                <a:cs typeface="黑体"/>
              </a:rPr>
              <a:t>小</a:t>
            </a:r>
            <a:endParaRPr sz="4000">
              <a:latin typeface="黑体"/>
              <a:cs typeface="黑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66370" marR="5080">
              <a:lnSpc>
                <a:spcPct val="129900"/>
              </a:lnSpc>
              <a:spcBef>
                <a:spcPts val="105"/>
              </a:spcBef>
              <a:buFont typeface="Times New Roman"/>
              <a:buAutoNum type="arabicPeriod"/>
              <a:tabLst>
                <a:tab pos="546735" algn="l"/>
                <a:tab pos="547370" algn="l"/>
              </a:tabLst>
            </a:pPr>
            <a:r>
              <a:rPr dirty="0"/>
              <a:t>大小：当导线方向与磁场方向垂直时，通电</a:t>
            </a:r>
            <a:r>
              <a:rPr dirty="0" spc="-10"/>
              <a:t>导 </a:t>
            </a:r>
            <a:r>
              <a:rPr dirty="0"/>
              <a:t>线在磁场中受到的安培力的大小，既与导线的</a:t>
            </a:r>
            <a:r>
              <a:rPr dirty="0" spc="-10"/>
              <a:t>长 </a:t>
            </a:r>
            <a:r>
              <a:rPr dirty="0"/>
              <a:t>度成正比，又与导线中的电</a:t>
            </a:r>
            <a:r>
              <a:rPr dirty="0" spc="-10"/>
              <a:t>流</a:t>
            </a:r>
            <a:r>
              <a:rPr dirty="0" spc="-620"/>
              <a:t> </a:t>
            </a:r>
            <a:r>
              <a:rPr dirty="0" i="1">
                <a:latin typeface="Times New Roman"/>
                <a:cs typeface="Times New Roman"/>
              </a:rPr>
              <a:t>I</a:t>
            </a:r>
            <a:r>
              <a:rPr dirty="0" spc="-10" i="1">
                <a:latin typeface="Times New Roman"/>
                <a:cs typeface="Times New Roman"/>
              </a:rPr>
              <a:t> </a:t>
            </a:r>
            <a:r>
              <a:rPr dirty="0"/>
              <a:t>成正比，即</a:t>
            </a:r>
            <a:r>
              <a:rPr dirty="0" spc="-10"/>
              <a:t>与</a:t>
            </a:r>
            <a:r>
              <a:rPr dirty="0" spc="-615"/>
              <a:t> </a:t>
            </a:r>
            <a:r>
              <a:rPr dirty="0" i="1">
                <a:latin typeface="Times New Roman"/>
                <a:cs typeface="Times New Roman"/>
              </a:rPr>
              <a:t>I  </a:t>
            </a:r>
            <a:r>
              <a:rPr dirty="0" spc="-10"/>
              <a:t>和</a:t>
            </a:r>
            <a:r>
              <a:rPr dirty="0" spc="-605"/>
              <a:t> </a:t>
            </a:r>
            <a:r>
              <a:rPr dirty="0" i="1">
                <a:latin typeface="Times New Roman"/>
                <a:cs typeface="Times New Roman"/>
              </a:rPr>
              <a:t>l</a:t>
            </a:r>
            <a:r>
              <a:rPr dirty="0" spc="-5" i="1">
                <a:latin typeface="Times New Roman"/>
                <a:cs typeface="Times New Roman"/>
              </a:rPr>
              <a:t> </a:t>
            </a:r>
            <a:r>
              <a:rPr dirty="0"/>
              <a:t>的乘积成正比</a:t>
            </a:r>
            <a:r>
              <a:rPr dirty="0" spc="-10"/>
              <a:t>。</a:t>
            </a:r>
          </a:p>
          <a:p>
            <a:pPr marL="153670">
              <a:lnSpc>
                <a:spcPct val="100000"/>
              </a:lnSpc>
              <a:spcBef>
                <a:spcPts val="5"/>
              </a:spcBef>
              <a:buFont typeface="Times New Roman"/>
              <a:buAutoNum type="arabicPeriod"/>
            </a:pPr>
            <a:endParaRPr sz="2800">
              <a:latin typeface="Times New Roman"/>
              <a:cs typeface="Times New Roman"/>
            </a:endParaRPr>
          </a:p>
          <a:p>
            <a:pPr marL="547370" indent="-381000">
              <a:lnSpc>
                <a:spcPct val="100000"/>
              </a:lnSpc>
              <a:buFont typeface="Times New Roman"/>
              <a:buAutoNum type="arabicPeriod"/>
              <a:tabLst>
                <a:tab pos="546735" algn="l"/>
                <a:tab pos="547370" algn="l"/>
              </a:tabLst>
            </a:pPr>
            <a:r>
              <a:rPr dirty="0"/>
              <a:t>公式：</a:t>
            </a:r>
            <a:r>
              <a:rPr dirty="0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dirty="0" spc="-10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0000"/>
                </a:solidFill>
                <a:latin typeface="Times New Roman"/>
                <a:cs typeface="Times New Roman"/>
              </a:rPr>
              <a:t>= </a:t>
            </a:r>
            <a:r>
              <a:rPr dirty="0" spc="-5" i="1">
                <a:solidFill>
                  <a:srgbClr val="FF0000"/>
                </a:solidFill>
                <a:latin typeface="Times New Roman"/>
                <a:cs typeface="Times New Roman"/>
              </a:rPr>
              <a:t>IlB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73109" y="2073050"/>
            <a:ext cx="7197725" cy="195961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2700" marR="5080">
              <a:lnSpc>
                <a:spcPct val="128299"/>
              </a:lnSpc>
              <a:spcBef>
                <a:spcPts val="160"/>
              </a:spcBef>
              <a:buSzPct val="95833"/>
              <a:buAutoNum type="arabicPlain"/>
              <a:tabLst>
                <a:tab pos="777240" algn="l"/>
              </a:tabLst>
            </a:pPr>
            <a:r>
              <a:rPr dirty="0" sz="2400" b="1">
                <a:latin typeface="宋体"/>
                <a:cs typeface="宋体"/>
              </a:rPr>
              <a:t>导线方向与磁场方向垂直时（当</a:t>
            </a:r>
            <a:r>
              <a:rPr dirty="0" sz="2400" spc="-175" b="1" i="1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dirty="0" sz="2400" spc="-175" b="1">
                <a:solidFill>
                  <a:srgbClr val="FF0000"/>
                </a:solidFill>
                <a:latin typeface="宋体"/>
                <a:cs typeface="宋体"/>
              </a:rPr>
              <a:t>⊥</a:t>
            </a:r>
            <a:r>
              <a:rPr dirty="0" sz="2400" spc="-175" b="1" i="1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dirty="0" sz="2500" spc="-175" b="1" i="1">
                <a:solidFill>
                  <a:srgbClr val="FF0000"/>
                </a:solidFill>
                <a:latin typeface="宋体"/>
                <a:cs typeface="宋体"/>
              </a:rPr>
              <a:t>）</a:t>
            </a:r>
            <a:r>
              <a:rPr dirty="0" sz="2400" spc="-175" b="1">
                <a:latin typeface="宋体"/>
                <a:cs typeface="宋体"/>
              </a:rPr>
              <a:t>，</a:t>
            </a:r>
            <a:r>
              <a:rPr dirty="0" sz="2400" b="1">
                <a:latin typeface="宋体"/>
                <a:cs typeface="宋体"/>
              </a:rPr>
              <a:t>此时</a:t>
            </a:r>
            <a:r>
              <a:rPr dirty="0" sz="2400" spc="-10" b="1">
                <a:latin typeface="宋体"/>
                <a:cs typeface="宋体"/>
              </a:rPr>
              <a:t>电 </a:t>
            </a:r>
            <a:r>
              <a:rPr dirty="0" sz="2400" b="1">
                <a:latin typeface="宋体"/>
                <a:cs typeface="宋体"/>
              </a:rPr>
              <a:t>流所受的</a:t>
            </a:r>
            <a:r>
              <a:rPr dirty="0" sz="2400" b="1">
                <a:solidFill>
                  <a:srgbClr val="FF0000"/>
                </a:solidFill>
                <a:latin typeface="宋体"/>
                <a:cs typeface="宋体"/>
              </a:rPr>
              <a:t>安培力最大</a:t>
            </a:r>
            <a:r>
              <a:rPr dirty="0" sz="2400" spc="-10" b="1">
                <a:solidFill>
                  <a:srgbClr val="FF0000"/>
                </a:solidFill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marL="12700" marR="261620">
              <a:lnSpc>
                <a:spcPct val="128299"/>
              </a:lnSpc>
              <a:spcBef>
                <a:spcPts val="5"/>
              </a:spcBef>
              <a:buSzPct val="95833"/>
              <a:buAutoNum type="arabicPlain"/>
              <a:tabLst>
                <a:tab pos="777240" algn="l"/>
              </a:tabLst>
            </a:pPr>
            <a:r>
              <a:rPr dirty="0" sz="2400" b="1">
                <a:latin typeface="宋体"/>
                <a:cs typeface="宋体"/>
              </a:rPr>
              <a:t>当导线方向与磁场方向平行时</a:t>
            </a:r>
            <a:r>
              <a:rPr dirty="0" sz="2400" b="1">
                <a:latin typeface="Times New Roman"/>
                <a:cs typeface="Times New Roman"/>
              </a:rPr>
              <a:t>(</a:t>
            </a:r>
            <a:r>
              <a:rPr dirty="0" sz="2400" spc="-10" b="1">
                <a:latin typeface="宋体"/>
                <a:cs typeface="宋体"/>
              </a:rPr>
              <a:t>即</a:t>
            </a:r>
            <a:r>
              <a:rPr dirty="0" sz="2400" spc="-630" b="1">
                <a:latin typeface="宋体"/>
                <a:cs typeface="宋体"/>
              </a:rPr>
              <a:t> </a:t>
            </a:r>
            <a:r>
              <a:rPr dirty="0" sz="2400" spc="-290" b="1" i="1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dirty="0" sz="2500" spc="-290" b="1" i="1">
                <a:solidFill>
                  <a:srgbClr val="FF0000"/>
                </a:solidFill>
                <a:latin typeface="宋体"/>
                <a:cs typeface="宋体"/>
              </a:rPr>
              <a:t>∥</a:t>
            </a:r>
            <a:r>
              <a:rPr dirty="0" sz="2400" spc="-290" b="1" i="1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dirty="0" sz="2400" spc="-30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)</a:t>
            </a:r>
            <a:r>
              <a:rPr dirty="0" sz="2400" b="1">
                <a:latin typeface="宋体"/>
                <a:cs typeface="宋体"/>
              </a:rPr>
              <a:t>，电</a:t>
            </a:r>
            <a:r>
              <a:rPr dirty="0" sz="2400" spc="-10" b="1">
                <a:latin typeface="宋体"/>
                <a:cs typeface="宋体"/>
              </a:rPr>
              <a:t>流 </a:t>
            </a:r>
            <a:r>
              <a:rPr dirty="0" sz="2400" b="1">
                <a:latin typeface="宋体"/>
                <a:cs typeface="宋体"/>
              </a:rPr>
              <a:t>所受的</a:t>
            </a:r>
            <a:r>
              <a:rPr dirty="0" sz="2400" b="1">
                <a:solidFill>
                  <a:srgbClr val="FF0000"/>
                </a:solidFill>
                <a:latin typeface="宋体"/>
                <a:cs typeface="宋体"/>
              </a:rPr>
              <a:t>安培力等于零</a:t>
            </a:r>
            <a:r>
              <a:rPr dirty="0" sz="2400" spc="-10" b="1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73109" y="4054792"/>
            <a:ext cx="7296784" cy="975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9900"/>
              </a:lnSpc>
              <a:spcBef>
                <a:spcPts val="95"/>
              </a:spcBef>
            </a:pPr>
            <a:r>
              <a:rPr dirty="0" sz="2400" b="1">
                <a:latin typeface="宋体"/>
                <a:cs typeface="宋体"/>
              </a:rPr>
              <a:t>（</a:t>
            </a:r>
            <a:r>
              <a:rPr dirty="0" sz="2400" b="1">
                <a:latin typeface="Times New Roman"/>
                <a:cs typeface="Times New Roman"/>
              </a:rPr>
              <a:t>3</a:t>
            </a:r>
            <a:r>
              <a:rPr dirty="0" sz="2400" b="1">
                <a:latin typeface="宋体"/>
                <a:cs typeface="宋体"/>
              </a:rPr>
              <a:t>）当导线方向与磁场方</a:t>
            </a:r>
            <a:r>
              <a:rPr dirty="0" sz="2400" spc="-10" b="1">
                <a:latin typeface="宋体"/>
                <a:cs typeface="宋体"/>
              </a:rPr>
              <a:t>向</a:t>
            </a:r>
            <a:r>
              <a:rPr dirty="0" sz="2400" spc="-630" b="1">
                <a:latin typeface="宋体"/>
                <a:cs typeface="宋体"/>
              </a:rPr>
              <a:t> </a:t>
            </a:r>
            <a:r>
              <a:rPr dirty="0" sz="2400" spc="-10" b="1">
                <a:solidFill>
                  <a:srgbClr val="FF0000"/>
                </a:solidFill>
                <a:latin typeface="宋体"/>
                <a:cs typeface="宋体"/>
              </a:rPr>
              <a:t>成</a:t>
            </a:r>
            <a:r>
              <a:rPr dirty="0" sz="2400" spc="-630" b="1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θ</a:t>
            </a:r>
            <a:r>
              <a:rPr dirty="0" sz="2400" spc="-35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0000"/>
                </a:solidFill>
                <a:latin typeface="宋体"/>
                <a:cs typeface="宋体"/>
              </a:rPr>
              <a:t>角</a:t>
            </a:r>
            <a:r>
              <a:rPr dirty="0" sz="2400" b="1">
                <a:latin typeface="宋体"/>
                <a:cs typeface="宋体"/>
              </a:rPr>
              <a:t>时，所受安培力</a:t>
            </a:r>
            <a:r>
              <a:rPr dirty="0" sz="2400" spc="-10" b="1">
                <a:latin typeface="宋体"/>
                <a:cs typeface="宋体"/>
              </a:rPr>
              <a:t>介 </a:t>
            </a:r>
            <a:r>
              <a:rPr dirty="0" sz="2400" b="1">
                <a:latin typeface="宋体"/>
                <a:cs typeface="宋体"/>
              </a:rPr>
              <a:t>于最大值和零之间</a:t>
            </a:r>
            <a:r>
              <a:rPr dirty="0" sz="2400" spc="-10" b="1">
                <a:latin typeface="宋体"/>
                <a:cs typeface="宋体"/>
              </a:rPr>
              <a:t>：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12758" y="2773997"/>
            <a:ext cx="3386454" cy="114300"/>
          </a:xfrm>
          <a:custGeom>
            <a:avLst/>
            <a:gdLst/>
            <a:ahLst/>
            <a:cxnLst/>
            <a:rect l="l" t="t" r="r" b="b"/>
            <a:pathLst>
              <a:path w="3386454" h="114300">
                <a:moveTo>
                  <a:pt x="3348088" y="76238"/>
                </a:moveTo>
                <a:lnTo>
                  <a:pt x="3300323" y="76238"/>
                </a:lnTo>
                <a:lnTo>
                  <a:pt x="3300374" y="38138"/>
                </a:lnTo>
                <a:lnTo>
                  <a:pt x="3271795" y="38097"/>
                </a:lnTo>
                <a:lnTo>
                  <a:pt x="3271850" y="0"/>
                </a:lnTo>
                <a:lnTo>
                  <a:pt x="3386074" y="57315"/>
                </a:lnTo>
                <a:lnTo>
                  <a:pt x="3348088" y="76238"/>
                </a:lnTo>
                <a:close/>
              </a:path>
              <a:path w="3386454" h="114300">
                <a:moveTo>
                  <a:pt x="3271740" y="76197"/>
                </a:moveTo>
                <a:lnTo>
                  <a:pt x="0" y="71526"/>
                </a:lnTo>
                <a:lnTo>
                  <a:pt x="50" y="33426"/>
                </a:lnTo>
                <a:lnTo>
                  <a:pt x="3271795" y="38097"/>
                </a:lnTo>
                <a:lnTo>
                  <a:pt x="3271740" y="76197"/>
                </a:lnTo>
                <a:close/>
              </a:path>
              <a:path w="3386454" h="114300">
                <a:moveTo>
                  <a:pt x="3300323" y="76238"/>
                </a:moveTo>
                <a:lnTo>
                  <a:pt x="3271740" y="76197"/>
                </a:lnTo>
                <a:lnTo>
                  <a:pt x="3271795" y="38097"/>
                </a:lnTo>
                <a:lnTo>
                  <a:pt x="3300374" y="38138"/>
                </a:lnTo>
                <a:lnTo>
                  <a:pt x="3300323" y="76238"/>
                </a:lnTo>
                <a:close/>
              </a:path>
              <a:path w="3386454" h="114300">
                <a:moveTo>
                  <a:pt x="3271685" y="114300"/>
                </a:moveTo>
                <a:lnTo>
                  <a:pt x="3271740" y="76197"/>
                </a:lnTo>
                <a:lnTo>
                  <a:pt x="3348088" y="76238"/>
                </a:lnTo>
                <a:lnTo>
                  <a:pt x="3271685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712758" y="3465639"/>
            <a:ext cx="3386454" cy="114300"/>
          </a:xfrm>
          <a:custGeom>
            <a:avLst/>
            <a:gdLst/>
            <a:ahLst/>
            <a:cxnLst/>
            <a:rect l="l" t="t" r="r" b="b"/>
            <a:pathLst>
              <a:path w="3386454" h="114300">
                <a:moveTo>
                  <a:pt x="3348063" y="76250"/>
                </a:moveTo>
                <a:lnTo>
                  <a:pt x="3300323" y="76250"/>
                </a:lnTo>
                <a:lnTo>
                  <a:pt x="3300374" y="38150"/>
                </a:lnTo>
                <a:lnTo>
                  <a:pt x="3271795" y="38109"/>
                </a:lnTo>
                <a:lnTo>
                  <a:pt x="3271850" y="0"/>
                </a:lnTo>
                <a:lnTo>
                  <a:pt x="3386074" y="57315"/>
                </a:lnTo>
                <a:lnTo>
                  <a:pt x="3348063" y="76250"/>
                </a:lnTo>
                <a:close/>
              </a:path>
              <a:path w="3386454" h="114300">
                <a:moveTo>
                  <a:pt x="3271740" y="76209"/>
                </a:moveTo>
                <a:lnTo>
                  <a:pt x="0" y="71526"/>
                </a:lnTo>
                <a:lnTo>
                  <a:pt x="50" y="33426"/>
                </a:lnTo>
                <a:lnTo>
                  <a:pt x="3271795" y="38109"/>
                </a:lnTo>
                <a:lnTo>
                  <a:pt x="3271740" y="76209"/>
                </a:lnTo>
                <a:close/>
              </a:path>
              <a:path w="3386454" h="114300">
                <a:moveTo>
                  <a:pt x="3300323" y="76250"/>
                </a:moveTo>
                <a:lnTo>
                  <a:pt x="3271740" y="76209"/>
                </a:lnTo>
                <a:lnTo>
                  <a:pt x="3271795" y="38109"/>
                </a:lnTo>
                <a:lnTo>
                  <a:pt x="3300374" y="38150"/>
                </a:lnTo>
                <a:lnTo>
                  <a:pt x="3300323" y="76250"/>
                </a:lnTo>
                <a:close/>
              </a:path>
              <a:path w="3386454" h="114300">
                <a:moveTo>
                  <a:pt x="3271685" y="114300"/>
                </a:moveTo>
                <a:lnTo>
                  <a:pt x="3271740" y="76209"/>
                </a:lnTo>
                <a:lnTo>
                  <a:pt x="3348063" y="76250"/>
                </a:lnTo>
                <a:lnTo>
                  <a:pt x="3271685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12758" y="4157294"/>
            <a:ext cx="3386454" cy="114300"/>
          </a:xfrm>
          <a:custGeom>
            <a:avLst/>
            <a:gdLst/>
            <a:ahLst/>
            <a:cxnLst/>
            <a:rect l="l" t="t" r="r" b="b"/>
            <a:pathLst>
              <a:path w="3386454" h="114300">
                <a:moveTo>
                  <a:pt x="3348088" y="76238"/>
                </a:moveTo>
                <a:lnTo>
                  <a:pt x="3300323" y="76238"/>
                </a:lnTo>
                <a:lnTo>
                  <a:pt x="3300374" y="38138"/>
                </a:lnTo>
                <a:lnTo>
                  <a:pt x="3271795" y="38097"/>
                </a:lnTo>
                <a:lnTo>
                  <a:pt x="3271850" y="0"/>
                </a:lnTo>
                <a:lnTo>
                  <a:pt x="3386074" y="57315"/>
                </a:lnTo>
                <a:lnTo>
                  <a:pt x="3348088" y="76238"/>
                </a:lnTo>
                <a:close/>
              </a:path>
              <a:path w="3386454" h="114300">
                <a:moveTo>
                  <a:pt x="3271740" y="76197"/>
                </a:moveTo>
                <a:lnTo>
                  <a:pt x="0" y="71526"/>
                </a:lnTo>
                <a:lnTo>
                  <a:pt x="50" y="33426"/>
                </a:lnTo>
                <a:lnTo>
                  <a:pt x="3271795" y="38097"/>
                </a:lnTo>
                <a:lnTo>
                  <a:pt x="3271740" y="76197"/>
                </a:lnTo>
                <a:close/>
              </a:path>
              <a:path w="3386454" h="114300">
                <a:moveTo>
                  <a:pt x="3300323" y="76238"/>
                </a:moveTo>
                <a:lnTo>
                  <a:pt x="3271740" y="76197"/>
                </a:lnTo>
                <a:lnTo>
                  <a:pt x="3271795" y="38097"/>
                </a:lnTo>
                <a:lnTo>
                  <a:pt x="3300374" y="38138"/>
                </a:lnTo>
                <a:lnTo>
                  <a:pt x="3300323" y="76238"/>
                </a:lnTo>
                <a:close/>
              </a:path>
              <a:path w="3386454" h="114300">
                <a:moveTo>
                  <a:pt x="3271685" y="114300"/>
                </a:moveTo>
                <a:lnTo>
                  <a:pt x="3271740" y="76197"/>
                </a:lnTo>
                <a:lnTo>
                  <a:pt x="3348088" y="76238"/>
                </a:lnTo>
                <a:lnTo>
                  <a:pt x="3271685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12758" y="4853787"/>
            <a:ext cx="3386454" cy="114300"/>
          </a:xfrm>
          <a:custGeom>
            <a:avLst/>
            <a:gdLst/>
            <a:ahLst/>
            <a:cxnLst/>
            <a:rect l="l" t="t" r="r" b="b"/>
            <a:pathLst>
              <a:path w="3386454" h="114300">
                <a:moveTo>
                  <a:pt x="3348071" y="76238"/>
                </a:moveTo>
                <a:lnTo>
                  <a:pt x="3300323" y="76238"/>
                </a:lnTo>
                <a:lnTo>
                  <a:pt x="3300374" y="38138"/>
                </a:lnTo>
                <a:lnTo>
                  <a:pt x="3271795" y="38097"/>
                </a:lnTo>
                <a:lnTo>
                  <a:pt x="3271850" y="0"/>
                </a:lnTo>
                <a:lnTo>
                  <a:pt x="3386074" y="57302"/>
                </a:lnTo>
                <a:lnTo>
                  <a:pt x="3348071" y="76238"/>
                </a:lnTo>
                <a:close/>
              </a:path>
              <a:path w="3386454" h="114300">
                <a:moveTo>
                  <a:pt x="3271740" y="76197"/>
                </a:moveTo>
                <a:lnTo>
                  <a:pt x="0" y="71526"/>
                </a:lnTo>
                <a:lnTo>
                  <a:pt x="50" y="33426"/>
                </a:lnTo>
                <a:lnTo>
                  <a:pt x="3271795" y="38097"/>
                </a:lnTo>
                <a:lnTo>
                  <a:pt x="3271740" y="76197"/>
                </a:lnTo>
                <a:close/>
              </a:path>
              <a:path w="3386454" h="114300">
                <a:moveTo>
                  <a:pt x="3300323" y="76238"/>
                </a:moveTo>
                <a:lnTo>
                  <a:pt x="3271740" y="76197"/>
                </a:lnTo>
                <a:lnTo>
                  <a:pt x="3271795" y="38097"/>
                </a:lnTo>
                <a:lnTo>
                  <a:pt x="3300374" y="38138"/>
                </a:lnTo>
                <a:lnTo>
                  <a:pt x="3300323" y="76238"/>
                </a:lnTo>
                <a:close/>
              </a:path>
              <a:path w="3386454" h="114300">
                <a:moveTo>
                  <a:pt x="3271685" y="114300"/>
                </a:moveTo>
                <a:lnTo>
                  <a:pt x="3271740" y="76197"/>
                </a:lnTo>
                <a:lnTo>
                  <a:pt x="3348071" y="76238"/>
                </a:lnTo>
                <a:lnTo>
                  <a:pt x="3271685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465576" y="2572511"/>
            <a:ext cx="1430020" cy="2516505"/>
          </a:xfrm>
          <a:custGeom>
            <a:avLst/>
            <a:gdLst/>
            <a:ahLst/>
            <a:cxnLst/>
            <a:rect l="l" t="t" r="r" b="b"/>
            <a:pathLst>
              <a:path w="1430020" h="2516504">
                <a:moveTo>
                  <a:pt x="201168" y="2516124"/>
                </a:moveTo>
                <a:lnTo>
                  <a:pt x="0" y="2414016"/>
                </a:lnTo>
                <a:lnTo>
                  <a:pt x="1228344" y="0"/>
                </a:lnTo>
                <a:lnTo>
                  <a:pt x="1429512" y="103631"/>
                </a:lnTo>
                <a:lnTo>
                  <a:pt x="201168" y="25161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458616" y="2566542"/>
            <a:ext cx="1443355" cy="2528570"/>
          </a:xfrm>
          <a:custGeom>
            <a:avLst/>
            <a:gdLst/>
            <a:ahLst/>
            <a:cxnLst/>
            <a:rect l="l" t="t" r="r" b="b"/>
            <a:pathLst>
              <a:path w="1443354" h="2528570">
                <a:moveTo>
                  <a:pt x="209638" y="2528189"/>
                </a:moveTo>
                <a:lnTo>
                  <a:pt x="0" y="2421420"/>
                </a:lnTo>
                <a:lnTo>
                  <a:pt x="1233271" y="0"/>
                </a:lnTo>
                <a:lnTo>
                  <a:pt x="1250077" y="8559"/>
                </a:lnTo>
                <a:lnTo>
                  <a:pt x="1239596" y="8559"/>
                </a:lnTo>
                <a:lnTo>
                  <a:pt x="1233182" y="10642"/>
                </a:lnTo>
                <a:lnTo>
                  <a:pt x="1237432" y="12807"/>
                </a:lnTo>
                <a:lnTo>
                  <a:pt x="13915" y="2415095"/>
                </a:lnTo>
                <a:lnTo>
                  <a:pt x="8572" y="2415095"/>
                </a:lnTo>
                <a:lnTo>
                  <a:pt x="10655" y="2421496"/>
                </a:lnTo>
                <a:lnTo>
                  <a:pt x="21140" y="2421496"/>
                </a:lnTo>
                <a:lnTo>
                  <a:pt x="205474" y="2515374"/>
                </a:lnTo>
                <a:lnTo>
                  <a:pt x="203314" y="2519616"/>
                </a:lnTo>
                <a:lnTo>
                  <a:pt x="214004" y="2519616"/>
                </a:lnTo>
                <a:lnTo>
                  <a:pt x="209638" y="2528189"/>
                </a:lnTo>
                <a:close/>
              </a:path>
              <a:path w="1443354" h="2528570">
                <a:moveTo>
                  <a:pt x="1237432" y="12807"/>
                </a:moveTo>
                <a:lnTo>
                  <a:pt x="1233182" y="10642"/>
                </a:lnTo>
                <a:lnTo>
                  <a:pt x="1239596" y="8559"/>
                </a:lnTo>
                <a:lnTo>
                  <a:pt x="1237432" y="12807"/>
                </a:lnTo>
                <a:close/>
              </a:path>
              <a:path w="1443354" h="2528570">
                <a:moveTo>
                  <a:pt x="1430095" y="110932"/>
                </a:moveTo>
                <a:lnTo>
                  <a:pt x="1237432" y="12807"/>
                </a:lnTo>
                <a:lnTo>
                  <a:pt x="1239596" y="8559"/>
                </a:lnTo>
                <a:lnTo>
                  <a:pt x="1250077" y="8559"/>
                </a:lnTo>
                <a:lnTo>
                  <a:pt x="1442748" y="106692"/>
                </a:lnTo>
                <a:lnTo>
                  <a:pt x="1432255" y="106692"/>
                </a:lnTo>
                <a:lnTo>
                  <a:pt x="1430095" y="110932"/>
                </a:lnTo>
                <a:close/>
              </a:path>
              <a:path w="1443354" h="2528570">
                <a:moveTo>
                  <a:pt x="1434338" y="113093"/>
                </a:moveTo>
                <a:lnTo>
                  <a:pt x="1430095" y="110932"/>
                </a:lnTo>
                <a:lnTo>
                  <a:pt x="1432255" y="106692"/>
                </a:lnTo>
                <a:lnTo>
                  <a:pt x="1434338" y="113093"/>
                </a:lnTo>
                <a:close/>
              </a:path>
              <a:path w="1443354" h="2528570">
                <a:moveTo>
                  <a:pt x="1439676" y="113093"/>
                </a:moveTo>
                <a:lnTo>
                  <a:pt x="1434338" y="113093"/>
                </a:lnTo>
                <a:lnTo>
                  <a:pt x="1432255" y="106692"/>
                </a:lnTo>
                <a:lnTo>
                  <a:pt x="1442748" y="106692"/>
                </a:lnTo>
                <a:lnTo>
                  <a:pt x="1442897" y="106768"/>
                </a:lnTo>
                <a:lnTo>
                  <a:pt x="1439676" y="113093"/>
                </a:lnTo>
                <a:close/>
              </a:path>
              <a:path w="1443354" h="2528570">
                <a:moveTo>
                  <a:pt x="214004" y="2519616"/>
                </a:moveTo>
                <a:lnTo>
                  <a:pt x="203314" y="2519616"/>
                </a:lnTo>
                <a:lnTo>
                  <a:pt x="209715" y="2517533"/>
                </a:lnTo>
                <a:lnTo>
                  <a:pt x="205474" y="2515374"/>
                </a:lnTo>
                <a:lnTo>
                  <a:pt x="1430095" y="110932"/>
                </a:lnTo>
                <a:lnTo>
                  <a:pt x="1434338" y="113093"/>
                </a:lnTo>
                <a:lnTo>
                  <a:pt x="1439676" y="113093"/>
                </a:lnTo>
                <a:lnTo>
                  <a:pt x="214004" y="2519616"/>
                </a:lnTo>
                <a:close/>
              </a:path>
              <a:path w="1443354" h="2528570">
                <a:moveTo>
                  <a:pt x="10655" y="2421496"/>
                </a:moveTo>
                <a:lnTo>
                  <a:pt x="8572" y="2415095"/>
                </a:lnTo>
                <a:lnTo>
                  <a:pt x="12814" y="2417256"/>
                </a:lnTo>
                <a:lnTo>
                  <a:pt x="10655" y="2421496"/>
                </a:lnTo>
                <a:close/>
              </a:path>
              <a:path w="1443354" h="2528570">
                <a:moveTo>
                  <a:pt x="12814" y="2417256"/>
                </a:moveTo>
                <a:lnTo>
                  <a:pt x="8572" y="2415095"/>
                </a:lnTo>
                <a:lnTo>
                  <a:pt x="13915" y="2415095"/>
                </a:lnTo>
                <a:lnTo>
                  <a:pt x="12814" y="2417256"/>
                </a:lnTo>
                <a:close/>
              </a:path>
              <a:path w="1443354" h="2528570">
                <a:moveTo>
                  <a:pt x="21140" y="2421496"/>
                </a:moveTo>
                <a:lnTo>
                  <a:pt x="10655" y="2421496"/>
                </a:lnTo>
                <a:lnTo>
                  <a:pt x="12814" y="2417256"/>
                </a:lnTo>
                <a:lnTo>
                  <a:pt x="21140" y="2421496"/>
                </a:lnTo>
                <a:close/>
              </a:path>
              <a:path w="1443354" h="2528570">
                <a:moveTo>
                  <a:pt x="203314" y="2519616"/>
                </a:moveTo>
                <a:lnTo>
                  <a:pt x="205474" y="2515374"/>
                </a:lnTo>
                <a:lnTo>
                  <a:pt x="209715" y="2517533"/>
                </a:lnTo>
                <a:lnTo>
                  <a:pt x="203314" y="25196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191533" y="2826473"/>
            <a:ext cx="511175" cy="923290"/>
          </a:xfrm>
          <a:custGeom>
            <a:avLst/>
            <a:gdLst/>
            <a:ahLst/>
            <a:cxnLst/>
            <a:rect l="l" t="t" r="r" b="b"/>
            <a:pathLst>
              <a:path w="511175" h="923289">
                <a:moveTo>
                  <a:pt x="439460" y="91502"/>
                </a:moveTo>
                <a:lnTo>
                  <a:pt x="405942" y="73393"/>
                </a:lnTo>
                <a:lnTo>
                  <a:pt x="510552" y="0"/>
                </a:lnTo>
                <a:lnTo>
                  <a:pt x="508447" y="66357"/>
                </a:lnTo>
                <a:lnTo>
                  <a:pt x="453047" y="66357"/>
                </a:lnTo>
                <a:lnTo>
                  <a:pt x="439460" y="91502"/>
                </a:lnTo>
                <a:close/>
              </a:path>
              <a:path w="511175" h="923289">
                <a:moveTo>
                  <a:pt x="472977" y="109611"/>
                </a:moveTo>
                <a:lnTo>
                  <a:pt x="439460" y="91502"/>
                </a:lnTo>
                <a:lnTo>
                  <a:pt x="453047" y="66357"/>
                </a:lnTo>
                <a:lnTo>
                  <a:pt x="486562" y="84467"/>
                </a:lnTo>
                <a:lnTo>
                  <a:pt x="472977" y="109611"/>
                </a:lnTo>
                <a:close/>
              </a:path>
              <a:path w="511175" h="923289">
                <a:moveTo>
                  <a:pt x="506501" y="127723"/>
                </a:moveTo>
                <a:lnTo>
                  <a:pt x="472977" y="109611"/>
                </a:lnTo>
                <a:lnTo>
                  <a:pt x="486562" y="84467"/>
                </a:lnTo>
                <a:lnTo>
                  <a:pt x="453047" y="66357"/>
                </a:lnTo>
                <a:lnTo>
                  <a:pt x="508447" y="66357"/>
                </a:lnTo>
                <a:lnTo>
                  <a:pt x="506501" y="127723"/>
                </a:lnTo>
                <a:close/>
              </a:path>
              <a:path w="511175" h="923289">
                <a:moveTo>
                  <a:pt x="33515" y="922959"/>
                </a:moveTo>
                <a:lnTo>
                  <a:pt x="0" y="904849"/>
                </a:lnTo>
                <a:lnTo>
                  <a:pt x="439460" y="91502"/>
                </a:lnTo>
                <a:lnTo>
                  <a:pt x="472977" y="109611"/>
                </a:lnTo>
                <a:lnTo>
                  <a:pt x="33515" y="92295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472138" y="2853575"/>
            <a:ext cx="26225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03611" y="4331614"/>
            <a:ext cx="21018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0000FF"/>
                </a:solidFill>
                <a:latin typeface="Times New Roman"/>
                <a:cs typeface="Times New Roman"/>
              </a:rPr>
              <a:t>θ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900106" y="4677003"/>
            <a:ext cx="249554" cy="210820"/>
          </a:xfrm>
          <a:custGeom>
            <a:avLst/>
            <a:gdLst/>
            <a:ahLst/>
            <a:cxnLst/>
            <a:rect l="l" t="t" r="r" b="b"/>
            <a:pathLst>
              <a:path w="249554" h="210820">
                <a:moveTo>
                  <a:pt x="225742" y="210286"/>
                </a:moveTo>
                <a:lnTo>
                  <a:pt x="0" y="29756"/>
                </a:lnTo>
                <a:lnTo>
                  <a:pt x="23799" y="0"/>
                </a:lnTo>
                <a:lnTo>
                  <a:pt x="249529" y="180530"/>
                </a:lnTo>
                <a:lnTo>
                  <a:pt x="225742" y="2102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129354" y="3677615"/>
            <a:ext cx="1249680" cy="626745"/>
          </a:xfrm>
          <a:custGeom>
            <a:avLst/>
            <a:gdLst/>
            <a:ahLst/>
            <a:cxnLst/>
            <a:rect l="l" t="t" r="r" b="b"/>
            <a:pathLst>
              <a:path w="1249679" h="626745">
                <a:moveTo>
                  <a:pt x="1138100" y="592508"/>
                </a:moveTo>
                <a:lnTo>
                  <a:pt x="0" y="34201"/>
                </a:lnTo>
                <a:lnTo>
                  <a:pt x="16776" y="0"/>
                </a:lnTo>
                <a:lnTo>
                  <a:pt x="1154875" y="558306"/>
                </a:lnTo>
                <a:lnTo>
                  <a:pt x="1138100" y="592508"/>
                </a:lnTo>
                <a:close/>
              </a:path>
              <a:path w="1249679" h="626745">
                <a:moveTo>
                  <a:pt x="1233363" y="605091"/>
                </a:moveTo>
                <a:lnTo>
                  <a:pt x="1163751" y="605091"/>
                </a:lnTo>
                <a:lnTo>
                  <a:pt x="1180528" y="570890"/>
                </a:lnTo>
                <a:lnTo>
                  <a:pt x="1154875" y="558306"/>
                </a:lnTo>
                <a:lnTo>
                  <a:pt x="1171651" y="524103"/>
                </a:lnTo>
                <a:lnTo>
                  <a:pt x="1233363" y="605091"/>
                </a:lnTo>
                <a:close/>
              </a:path>
              <a:path w="1249679" h="626745">
                <a:moveTo>
                  <a:pt x="1163751" y="605091"/>
                </a:moveTo>
                <a:lnTo>
                  <a:pt x="1138100" y="592508"/>
                </a:lnTo>
                <a:lnTo>
                  <a:pt x="1154875" y="558306"/>
                </a:lnTo>
                <a:lnTo>
                  <a:pt x="1180528" y="570890"/>
                </a:lnTo>
                <a:lnTo>
                  <a:pt x="1163751" y="605091"/>
                </a:lnTo>
                <a:close/>
              </a:path>
              <a:path w="1249679" h="626745">
                <a:moveTo>
                  <a:pt x="1121321" y="626719"/>
                </a:moveTo>
                <a:lnTo>
                  <a:pt x="1138100" y="592508"/>
                </a:lnTo>
                <a:lnTo>
                  <a:pt x="1163751" y="605091"/>
                </a:lnTo>
                <a:lnTo>
                  <a:pt x="1233363" y="605091"/>
                </a:lnTo>
                <a:lnTo>
                  <a:pt x="1249108" y="625754"/>
                </a:lnTo>
                <a:lnTo>
                  <a:pt x="1121321" y="62671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144111" y="3109467"/>
            <a:ext cx="298450" cy="570865"/>
          </a:xfrm>
          <a:custGeom>
            <a:avLst/>
            <a:gdLst/>
            <a:ahLst/>
            <a:cxnLst/>
            <a:rect l="l" t="t" r="r" b="b"/>
            <a:pathLst>
              <a:path w="298450" h="570864">
                <a:moveTo>
                  <a:pt x="229802" y="93719"/>
                </a:moveTo>
                <a:lnTo>
                  <a:pt x="195719" y="76682"/>
                </a:lnTo>
                <a:lnTo>
                  <a:pt x="297954" y="0"/>
                </a:lnTo>
                <a:lnTo>
                  <a:pt x="297954" y="68160"/>
                </a:lnTo>
                <a:lnTo>
                  <a:pt x="242582" y="68160"/>
                </a:lnTo>
                <a:lnTo>
                  <a:pt x="229802" y="93719"/>
                </a:lnTo>
                <a:close/>
              </a:path>
              <a:path w="298450" h="570864">
                <a:moveTo>
                  <a:pt x="263876" y="110752"/>
                </a:moveTo>
                <a:lnTo>
                  <a:pt x="229802" y="93719"/>
                </a:lnTo>
                <a:lnTo>
                  <a:pt x="242582" y="68160"/>
                </a:lnTo>
                <a:lnTo>
                  <a:pt x="276656" y="85191"/>
                </a:lnTo>
                <a:lnTo>
                  <a:pt x="263876" y="110752"/>
                </a:lnTo>
                <a:close/>
              </a:path>
              <a:path w="298450" h="570864">
                <a:moveTo>
                  <a:pt x="297954" y="127787"/>
                </a:moveTo>
                <a:lnTo>
                  <a:pt x="263876" y="110752"/>
                </a:lnTo>
                <a:lnTo>
                  <a:pt x="276656" y="85191"/>
                </a:lnTo>
                <a:lnTo>
                  <a:pt x="242582" y="68160"/>
                </a:lnTo>
                <a:lnTo>
                  <a:pt x="297954" y="68160"/>
                </a:lnTo>
                <a:lnTo>
                  <a:pt x="297954" y="127787"/>
                </a:lnTo>
                <a:close/>
              </a:path>
              <a:path w="298450" h="570864">
                <a:moveTo>
                  <a:pt x="34086" y="570356"/>
                </a:moveTo>
                <a:lnTo>
                  <a:pt x="0" y="553313"/>
                </a:lnTo>
                <a:lnTo>
                  <a:pt x="229802" y="93719"/>
                </a:lnTo>
                <a:lnTo>
                  <a:pt x="263876" y="110752"/>
                </a:lnTo>
                <a:lnTo>
                  <a:pt x="34086" y="57035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410265" y="3045548"/>
            <a:ext cx="1257935" cy="643255"/>
          </a:xfrm>
          <a:custGeom>
            <a:avLst/>
            <a:gdLst/>
            <a:ahLst/>
            <a:cxnLst/>
            <a:rect l="l" t="t" r="r" b="b"/>
            <a:pathLst>
              <a:path w="1257935" h="643254">
                <a:moveTo>
                  <a:pt x="34213" y="50990"/>
                </a:moveTo>
                <a:lnTo>
                  <a:pt x="0" y="34201"/>
                </a:lnTo>
                <a:lnTo>
                  <a:pt x="16789" y="0"/>
                </a:lnTo>
                <a:lnTo>
                  <a:pt x="50990" y="16776"/>
                </a:lnTo>
                <a:lnTo>
                  <a:pt x="34213" y="50990"/>
                </a:lnTo>
                <a:close/>
              </a:path>
              <a:path w="1257935" h="643254">
                <a:moveTo>
                  <a:pt x="102616" y="84543"/>
                </a:moveTo>
                <a:lnTo>
                  <a:pt x="68414" y="67767"/>
                </a:lnTo>
                <a:lnTo>
                  <a:pt x="85191" y="33553"/>
                </a:lnTo>
                <a:lnTo>
                  <a:pt x="119405" y="50342"/>
                </a:lnTo>
                <a:lnTo>
                  <a:pt x="102616" y="84543"/>
                </a:lnTo>
                <a:close/>
              </a:path>
              <a:path w="1257935" h="643254">
                <a:moveTo>
                  <a:pt x="171030" y="118109"/>
                </a:moveTo>
                <a:lnTo>
                  <a:pt x="136829" y="101320"/>
                </a:lnTo>
                <a:lnTo>
                  <a:pt x="153606" y="67119"/>
                </a:lnTo>
                <a:lnTo>
                  <a:pt x="187807" y="83896"/>
                </a:lnTo>
                <a:lnTo>
                  <a:pt x="171030" y="118109"/>
                </a:lnTo>
                <a:close/>
              </a:path>
              <a:path w="1257935" h="643254">
                <a:moveTo>
                  <a:pt x="239445" y="151663"/>
                </a:moveTo>
                <a:lnTo>
                  <a:pt x="205244" y="134886"/>
                </a:lnTo>
                <a:lnTo>
                  <a:pt x="222021" y="100685"/>
                </a:lnTo>
                <a:lnTo>
                  <a:pt x="256222" y="117462"/>
                </a:lnTo>
                <a:lnTo>
                  <a:pt x="239445" y="151663"/>
                </a:lnTo>
                <a:close/>
              </a:path>
              <a:path w="1257935" h="643254">
                <a:moveTo>
                  <a:pt x="307860" y="185229"/>
                </a:moveTo>
                <a:lnTo>
                  <a:pt x="273646" y="168440"/>
                </a:lnTo>
                <a:lnTo>
                  <a:pt x="290436" y="134238"/>
                </a:lnTo>
                <a:lnTo>
                  <a:pt x="324637" y="151015"/>
                </a:lnTo>
                <a:lnTo>
                  <a:pt x="307860" y="185229"/>
                </a:lnTo>
                <a:close/>
              </a:path>
              <a:path w="1257935" h="643254">
                <a:moveTo>
                  <a:pt x="376262" y="218782"/>
                </a:moveTo>
                <a:lnTo>
                  <a:pt x="342061" y="202006"/>
                </a:lnTo>
                <a:lnTo>
                  <a:pt x="358838" y="167805"/>
                </a:lnTo>
                <a:lnTo>
                  <a:pt x="393052" y="184581"/>
                </a:lnTo>
                <a:lnTo>
                  <a:pt x="376262" y="218782"/>
                </a:lnTo>
                <a:close/>
              </a:path>
              <a:path w="1257935" h="643254">
                <a:moveTo>
                  <a:pt x="444677" y="252349"/>
                </a:moveTo>
                <a:lnTo>
                  <a:pt x="410476" y="235572"/>
                </a:lnTo>
                <a:lnTo>
                  <a:pt x="427253" y="201358"/>
                </a:lnTo>
                <a:lnTo>
                  <a:pt x="461454" y="218135"/>
                </a:lnTo>
                <a:lnTo>
                  <a:pt x="444677" y="252349"/>
                </a:lnTo>
                <a:close/>
              </a:path>
              <a:path w="1257935" h="643254">
                <a:moveTo>
                  <a:pt x="513092" y="285902"/>
                </a:moveTo>
                <a:lnTo>
                  <a:pt x="478891" y="269125"/>
                </a:lnTo>
                <a:lnTo>
                  <a:pt x="495668" y="234924"/>
                </a:lnTo>
                <a:lnTo>
                  <a:pt x="529869" y="251701"/>
                </a:lnTo>
                <a:lnTo>
                  <a:pt x="513092" y="285902"/>
                </a:lnTo>
                <a:close/>
              </a:path>
              <a:path w="1257935" h="643254">
                <a:moveTo>
                  <a:pt x="581507" y="319468"/>
                </a:moveTo>
                <a:lnTo>
                  <a:pt x="547293" y="302691"/>
                </a:lnTo>
                <a:lnTo>
                  <a:pt x="564083" y="268477"/>
                </a:lnTo>
                <a:lnTo>
                  <a:pt x="598284" y="285267"/>
                </a:lnTo>
                <a:lnTo>
                  <a:pt x="581507" y="319468"/>
                </a:lnTo>
                <a:close/>
              </a:path>
              <a:path w="1257935" h="643254">
                <a:moveTo>
                  <a:pt x="649909" y="353021"/>
                </a:moveTo>
                <a:lnTo>
                  <a:pt x="615708" y="336245"/>
                </a:lnTo>
                <a:lnTo>
                  <a:pt x="632485" y="302044"/>
                </a:lnTo>
                <a:lnTo>
                  <a:pt x="666699" y="318820"/>
                </a:lnTo>
                <a:lnTo>
                  <a:pt x="649909" y="353021"/>
                </a:lnTo>
                <a:close/>
              </a:path>
              <a:path w="1257935" h="643254">
                <a:moveTo>
                  <a:pt x="718324" y="386588"/>
                </a:moveTo>
                <a:lnTo>
                  <a:pt x="684123" y="369811"/>
                </a:lnTo>
                <a:lnTo>
                  <a:pt x="700900" y="335597"/>
                </a:lnTo>
                <a:lnTo>
                  <a:pt x="735101" y="352386"/>
                </a:lnTo>
                <a:lnTo>
                  <a:pt x="718324" y="386588"/>
                </a:lnTo>
                <a:close/>
              </a:path>
              <a:path w="1257935" h="643254">
                <a:moveTo>
                  <a:pt x="786739" y="420154"/>
                </a:moveTo>
                <a:lnTo>
                  <a:pt x="752525" y="403364"/>
                </a:lnTo>
                <a:lnTo>
                  <a:pt x="769315" y="369163"/>
                </a:lnTo>
                <a:lnTo>
                  <a:pt x="803516" y="385940"/>
                </a:lnTo>
                <a:lnTo>
                  <a:pt x="786739" y="420154"/>
                </a:lnTo>
                <a:close/>
              </a:path>
              <a:path w="1257935" h="643254">
                <a:moveTo>
                  <a:pt x="855154" y="453707"/>
                </a:moveTo>
                <a:lnTo>
                  <a:pt x="820940" y="436930"/>
                </a:lnTo>
                <a:lnTo>
                  <a:pt x="837717" y="402716"/>
                </a:lnTo>
                <a:lnTo>
                  <a:pt x="871931" y="419506"/>
                </a:lnTo>
                <a:lnTo>
                  <a:pt x="855154" y="453707"/>
                </a:lnTo>
                <a:close/>
              </a:path>
              <a:path w="1257935" h="643254">
                <a:moveTo>
                  <a:pt x="923556" y="487273"/>
                </a:moveTo>
                <a:lnTo>
                  <a:pt x="889355" y="470484"/>
                </a:lnTo>
                <a:lnTo>
                  <a:pt x="906132" y="436283"/>
                </a:lnTo>
                <a:lnTo>
                  <a:pt x="940346" y="453059"/>
                </a:lnTo>
                <a:lnTo>
                  <a:pt x="923556" y="487273"/>
                </a:lnTo>
                <a:close/>
              </a:path>
              <a:path w="1257935" h="643254">
                <a:moveTo>
                  <a:pt x="991971" y="520826"/>
                </a:moveTo>
                <a:lnTo>
                  <a:pt x="957770" y="504050"/>
                </a:lnTo>
                <a:lnTo>
                  <a:pt x="974547" y="469849"/>
                </a:lnTo>
                <a:lnTo>
                  <a:pt x="1008748" y="486625"/>
                </a:lnTo>
                <a:lnTo>
                  <a:pt x="991971" y="520826"/>
                </a:lnTo>
                <a:close/>
              </a:path>
              <a:path w="1257935" h="643254">
                <a:moveTo>
                  <a:pt x="1060386" y="554393"/>
                </a:moveTo>
                <a:lnTo>
                  <a:pt x="1026172" y="537603"/>
                </a:lnTo>
                <a:lnTo>
                  <a:pt x="1042962" y="503402"/>
                </a:lnTo>
                <a:lnTo>
                  <a:pt x="1077163" y="520179"/>
                </a:lnTo>
                <a:lnTo>
                  <a:pt x="1060386" y="554393"/>
                </a:lnTo>
                <a:close/>
              </a:path>
              <a:path w="1257935" h="643254">
                <a:moveTo>
                  <a:pt x="1128788" y="587946"/>
                </a:moveTo>
                <a:lnTo>
                  <a:pt x="1094587" y="571169"/>
                </a:lnTo>
                <a:lnTo>
                  <a:pt x="1111364" y="536968"/>
                </a:lnTo>
                <a:lnTo>
                  <a:pt x="1145578" y="553745"/>
                </a:lnTo>
                <a:lnTo>
                  <a:pt x="1128788" y="587946"/>
                </a:lnTo>
                <a:close/>
              </a:path>
              <a:path w="1257935" h="643254">
                <a:moveTo>
                  <a:pt x="1197203" y="621512"/>
                </a:moveTo>
                <a:lnTo>
                  <a:pt x="1163002" y="604735"/>
                </a:lnTo>
                <a:lnTo>
                  <a:pt x="1179779" y="570522"/>
                </a:lnTo>
                <a:lnTo>
                  <a:pt x="1213980" y="587298"/>
                </a:lnTo>
                <a:lnTo>
                  <a:pt x="1197203" y="621512"/>
                </a:lnTo>
                <a:close/>
              </a:path>
              <a:path w="1257935" h="643254">
                <a:moveTo>
                  <a:pt x="1240713" y="642861"/>
                </a:moveTo>
                <a:lnTo>
                  <a:pt x="1231417" y="638289"/>
                </a:lnTo>
                <a:lnTo>
                  <a:pt x="1248194" y="604088"/>
                </a:lnTo>
                <a:lnTo>
                  <a:pt x="1257503" y="608647"/>
                </a:lnTo>
                <a:lnTo>
                  <a:pt x="1240713" y="64286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361419" y="3662781"/>
            <a:ext cx="315595" cy="579120"/>
          </a:xfrm>
          <a:custGeom>
            <a:avLst/>
            <a:gdLst/>
            <a:ahLst/>
            <a:cxnLst/>
            <a:rect l="l" t="t" r="r" b="b"/>
            <a:pathLst>
              <a:path w="315595" h="579120">
                <a:moveTo>
                  <a:pt x="34074" y="578865"/>
                </a:moveTo>
                <a:lnTo>
                  <a:pt x="0" y="561835"/>
                </a:lnTo>
                <a:lnTo>
                  <a:pt x="17043" y="527761"/>
                </a:lnTo>
                <a:lnTo>
                  <a:pt x="51117" y="544791"/>
                </a:lnTo>
                <a:lnTo>
                  <a:pt x="34074" y="578865"/>
                </a:lnTo>
                <a:close/>
              </a:path>
              <a:path w="315595" h="579120">
                <a:moveTo>
                  <a:pt x="68160" y="510717"/>
                </a:moveTo>
                <a:lnTo>
                  <a:pt x="34074" y="493674"/>
                </a:lnTo>
                <a:lnTo>
                  <a:pt x="51117" y="459600"/>
                </a:lnTo>
                <a:lnTo>
                  <a:pt x="85191" y="476643"/>
                </a:lnTo>
                <a:lnTo>
                  <a:pt x="68160" y="510717"/>
                </a:lnTo>
                <a:close/>
              </a:path>
              <a:path w="315595" h="579120">
                <a:moveTo>
                  <a:pt x="102235" y="442556"/>
                </a:moveTo>
                <a:lnTo>
                  <a:pt x="68160" y="425526"/>
                </a:lnTo>
                <a:lnTo>
                  <a:pt x="85191" y="391439"/>
                </a:lnTo>
                <a:lnTo>
                  <a:pt x="119265" y="408482"/>
                </a:lnTo>
                <a:lnTo>
                  <a:pt x="102235" y="442556"/>
                </a:lnTo>
                <a:close/>
              </a:path>
              <a:path w="315595" h="579120">
                <a:moveTo>
                  <a:pt x="136309" y="374408"/>
                </a:moveTo>
                <a:lnTo>
                  <a:pt x="102235" y="357365"/>
                </a:lnTo>
                <a:lnTo>
                  <a:pt x="119265" y="323291"/>
                </a:lnTo>
                <a:lnTo>
                  <a:pt x="153352" y="340334"/>
                </a:lnTo>
                <a:lnTo>
                  <a:pt x="136309" y="374408"/>
                </a:lnTo>
                <a:close/>
              </a:path>
              <a:path w="315595" h="579120">
                <a:moveTo>
                  <a:pt x="170383" y="306247"/>
                </a:moveTo>
                <a:lnTo>
                  <a:pt x="136309" y="289217"/>
                </a:lnTo>
                <a:lnTo>
                  <a:pt x="153352" y="255130"/>
                </a:lnTo>
                <a:lnTo>
                  <a:pt x="187426" y="272173"/>
                </a:lnTo>
                <a:lnTo>
                  <a:pt x="170383" y="306247"/>
                </a:lnTo>
                <a:close/>
              </a:path>
              <a:path w="315595" h="579120">
                <a:moveTo>
                  <a:pt x="204470" y="238099"/>
                </a:moveTo>
                <a:lnTo>
                  <a:pt x="170383" y="221056"/>
                </a:lnTo>
                <a:lnTo>
                  <a:pt x="187426" y="186982"/>
                </a:lnTo>
                <a:lnTo>
                  <a:pt x="221500" y="204012"/>
                </a:lnTo>
                <a:lnTo>
                  <a:pt x="204470" y="238099"/>
                </a:lnTo>
                <a:close/>
              </a:path>
              <a:path w="315595" h="579120">
                <a:moveTo>
                  <a:pt x="238544" y="169938"/>
                </a:moveTo>
                <a:lnTo>
                  <a:pt x="204470" y="152895"/>
                </a:lnTo>
                <a:lnTo>
                  <a:pt x="221500" y="118821"/>
                </a:lnTo>
                <a:lnTo>
                  <a:pt x="255587" y="135864"/>
                </a:lnTo>
                <a:lnTo>
                  <a:pt x="238544" y="169938"/>
                </a:lnTo>
                <a:close/>
              </a:path>
              <a:path w="315595" h="579120">
                <a:moveTo>
                  <a:pt x="272618" y="101790"/>
                </a:moveTo>
                <a:lnTo>
                  <a:pt x="238544" y="84747"/>
                </a:lnTo>
                <a:lnTo>
                  <a:pt x="255587" y="50673"/>
                </a:lnTo>
                <a:lnTo>
                  <a:pt x="289661" y="67703"/>
                </a:lnTo>
                <a:lnTo>
                  <a:pt x="272618" y="101790"/>
                </a:lnTo>
                <a:close/>
              </a:path>
              <a:path w="315595" h="579120">
                <a:moveTo>
                  <a:pt x="306692" y="33629"/>
                </a:moveTo>
                <a:lnTo>
                  <a:pt x="272618" y="16586"/>
                </a:lnTo>
                <a:lnTo>
                  <a:pt x="280911" y="0"/>
                </a:lnTo>
                <a:lnTo>
                  <a:pt x="314998" y="17043"/>
                </a:lnTo>
                <a:lnTo>
                  <a:pt x="306692" y="3362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418556" y="4180725"/>
            <a:ext cx="4946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 i="1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r>
              <a:rPr dirty="0" baseline="-16975" sz="2700" spc="22" b="1">
                <a:solidFill>
                  <a:srgbClr val="0000FF"/>
                </a:solidFill>
                <a:latin typeface="黑体"/>
                <a:cs typeface="黑体"/>
              </a:rPr>
              <a:t>⊥</a:t>
            </a:r>
            <a:endParaRPr baseline="-16975" sz="2700">
              <a:latin typeface="黑体"/>
              <a:cs typeface="黑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589909" y="2740748"/>
            <a:ext cx="494665" cy="7505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3840">
              <a:lnSpc>
                <a:spcPts val="286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2860"/>
              </a:lnSpc>
            </a:pPr>
            <a:r>
              <a:rPr dirty="0" sz="2800" b="1" i="1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r>
              <a:rPr dirty="0" baseline="-16975" sz="2700" spc="22" b="1">
                <a:solidFill>
                  <a:srgbClr val="0000FF"/>
                </a:solidFill>
                <a:latin typeface="黑体"/>
                <a:cs typeface="黑体"/>
              </a:rPr>
              <a:t>∥</a:t>
            </a:r>
            <a:endParaRPr baseline="-16975" sz="2700">
              <a:latin typeface="黑体"/>
              <a:cs typeface="黑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156570" y="3661790"/>
            <a:ext cx="1503045" cy="104775"/>
          </a:xfrm>
          <a:custGeom>
            <a:avLst/>
            <a:gdLst/>
            <a:ahLst/>
            <a:cxnLst/>
            <a:rect l="l" t="t" r="r" b="b"/>
            <a:pathLst>
              <a:path w="1503045" h="104775">
                <a:moveTo>
                  <a:pt x="1469119" y="70281"/>
                </a:moveTo>
                <a:lnTo>
                  <a:pt x="1423936" y="70281"/>
                </a:lnTo>
                <a:lnTo>
                  <a:pt x="1424520" y="35369"/>
                </a:lnTo>
                <a:lnTo>
                  <a:pt x="1398333" y="34931"/>
                </a:lnTo>
                <a:lnTo>
                  <a:pt x="1398917" y="0"/>
                </a:lnTo>
                <a:lnTo>
                  <a:pt x="1502803" y="54140"/>
                </a:lnTo>
                <a:lnTo>
                  <a:pt x="1469119" y="70281"/>
                </a:lnTo>
                <a:close/>
              </a:path>
              <a:path w="1503045" h="104775">
                <a:moveTo>
                  <a:pt x="1397749" y="69844"/>
                </a:moveTo>
                <a:lnTo>
                  <a:pt x="0" y="46482"/>
                </a:lnTo>
                <a:lnTo>
                  <a:pt x="584" y="11557"/>
                </a:lnTo>
                <a:lnTo>
                  <a:pt x="1398333" y="34931"/>
                </a:lnTo>
                <a:lnTo>
                  <a:pt x="1397749" y="69844"/>
                </a:lnTo>
                <a:close/>
              </a:path>
              <a:path w="1503045" h="104775">
                <a:moveTo>
                  <a:pt x="1423936" y="70281"/>
                </a:moveTo>
                <a:lnTo>
                  <a:pt x="1397749" y="69844"/>
                </a:lnTo>
                <a:lnTo>
                  <a:pt x="1398333" y="34931"/>
                </a:lnTo>
                <a:lnTo>
                  <a:pt x="1424520" y="35369"/>
                </a:lnTo>
                <a:lnTo>
                  <a:pt x="1423936" y="70281"/>
                </a:lnTo>
                <a:close/>
              </a:path>
              <a:path w="1503045" h="104775">
                <a:moveTo>
                  <a:pt x="1397165" y="104762"/>
                </a:moveTo>
                <a:lnTo>
                  <a:pt x="1397749" y="69844"/>
                </a:lnTo>
                <a:lnTo>
                  <a:pt x="1423936" y="70281"/>
                </a:lnTo>
                <a:lnTo>
                  <a:pt x="1469119" y="70281"/>
                </a:lnTo>
                <a:lnTo>
                  <a:pt x="1397165" y="1047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6558305" y="4785855"/>
            <a:ext cx="221234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dirty="0" baseline="-17615" sz="3075" spc="22" b="1">
                <a:solidFill>
                  <a:srgbClr val="FF0000"/>
                </a:solidFill>
                <a:latin typeface="宋体"/>
                <a:cs typeface="宋体"/>
              </a:rPr>
              <a:t>安</a:t>
            </a:r>
            <a:r>
              <a:rPr dirty="0" baseline="-17615" sz="3075" spc="-794" b="1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dirty="0" sz="3200" spc="-4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 i="1">
                <a:solidFill>
                  <a:srgbClr val="FF0000"/>
                </a:solidFill>
                <a:latin typeface="Times New Roman"/>
                <a:cs typeface="Times New Roman"/>
              </a:rPr>
              <a:t>IlB</a:t>
            </a:r>
            <a:r>
              <a:rPr dirty="0" sz="3200" spc="-5" b="1">
                <a:solidFill>
                  <a:srgbClr val="FF0000"/>
                </a:solidFill>
                <a:latin typeface="Times New Roman"/>
                <a:cs typeface="Times New Roman"/>
              </a:rPr>
              <a:t>sin</a:t>
            </a:r>
            <a:r>
              <a:rPr dirty="0" sz="3200" spc="-5" b="1" i="1">
                <a:solidFill>
                  <a:srgbClr val="FF0000"/>
                </a:solidFill>
                <a:latin typeface="Times New Roman"/>
                <a:cs typeface="Times New Roman"/>
              </a:rPr>
              <a:t>θ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162213" y="1828927"/>
            <a:ext cx="51542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宋体"/>
                <a:cs typeface="宋体"/>
              </a:rPr>
              <a:t>（</a:t>
            </a:r>
            <a:r>
              <a:rPr dirty="0" sz="2400" b="1">
                <a:latin typeface="Times New Roman"/>
                <a:cs typeface="Times New Roman"/>
              </a:rPr>
              <a:t>3</a:t>
            </a:r>
            <a:r>
              <a:rPr dirty="0" sz="2400" b="1">
                <a:latin typeface="宋体"/>
                <a:cs typeface="宋体"/>
              </a:rPr>
              <a:t>）当导线方向与磁场方</a:t>
            </a:r>
            <a:r>
              <a:rPr dirty="0" sz="2400" spc="-10" b="1">
                <a:latin typeface="宋体"/>
                <a:cs typeface="宋体"/>
              </a:rPr>
              <a:t>向</a:t>
            </a:r>
            <a:r>
              <a:rPr dirty="0" sz="2400" spc="-630" b="1">
                <a:latin typeface="宋体"/>
                <a:cs typeface="宋体"/>
              </a:rPr>
              <a:t> </a:t>
            </a:r>
            <a:r>
              <a:rPr dirty="0" sz="2400" spc="-10" b="1">
                <a:solidFill>
                  <a:srgbClr val="FF0000"/>
                </a:solidFill>
                <a:latin typeface="宋体"/>
                <a:cs typeface="宋体"/>
              </a:rPr>
              <a:t>成</a:t>
            </a:r>
            <a:r>
              <a:rPr dirty="0" sz="2400" spc="-630" b="1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θ</a:t>
            </a:r>
            <a:r>
              <a:rPr dirty="0" sz="2400" spc="-35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0000"/>
                </a:solidFill>
                <a:latin typeface="宋体"/>
                <a:cs typeface="宋体"/>
              </a:rPr>
              <a:t>角</a:t>
            </a:r>
            <a:r>
              <a:rPr dirty="0" sz="2400" spc="-10" b="1">
                <a:latin typeface="宋体"/>
                <a:cs typeface="宋体"/>
              </a:rPr>
              <a:t>时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58305" y="3011271"/>
            <a:ext cx="1875155" cy="13347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10" b="1" i="1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dirty="0" baseline="-17615" sz="3075" spc="15" b="1">
                <a:solidFill>
                  <a:srgbClr val="FF0000"/>
                </a:solidFill>
                <a:latin typeface="黑体"/>
                <a:cs typeface="黑体"/>
              </a:rPr>
              <a:t>⊥</a:t>
            </a:r>
            <a:r>
              <a:rPr dirty="0" sz="3200" spc="10" b="1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dirty="0" sz="3200" spc="-7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 i="1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dirty="0" sz="3200" spc="-5" b="1">
                <a:solidFill>
                  <a:srgbClr val="FF0000"/>
                </a:solidFill>
                <a:latin typeface="Times New Roman"/>
                <a:cs typeface="Times New Roman"/>
              </a:rPr>
              <a:t>sin</a:t>
            </a:r>
            <a:r>
              <a:rPr dirty="0" sz="3200" spc="-5" b="1" i="1">
                <a:solidFill>
                  <a:srgbClr val="FF0000"/>
                </a:solidFill>
                <a:latin typeface="Times New Roman"/>
                <a:cs typeface="Times New Roman"/>
              </a:rPr>
              <a:t>θ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20"/>
              </a:spcBef>
            </a:pPr>
            <a:r>
              <a:rPr dirty="0" sz="3200" spc="-5" b="1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dirty="0" baseline="-17615" sz="3075" spc="22" b="1">
                <a:solidFill>
                  <a:srgbClr val="FF0000"/>
                </a:solidFill>
                <a:latin typeface="宋体"/>
                <a:cs typeface="宋体"/>
              </a:rPr>
              <a:t>安</a:t>
            </a:r>
            <a:r>
              <a:rPr dirty="0" baseline="-17615" sz="3075" spc="-780" b="1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dirty="0" sz="3200" b="1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dirty="0" sz="3200" spc="-3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0000"/>
                </a:solidFill>
                <a:latin typeface="Times New Roman"/>
                <a:cs typeface="Times New Roman"/>
              </a:rPr>
              <a:t>IlB</a:t>
            </a:r>
            <a:r>
              <a:rPr dirty="0" baseline="-17615" sz="3075" b="1">
                <a:solidFill>
                  <a:srgbClr val="FF0000"/>
                </a:solidFill>
                <a:latin typeface="黑体"/>
                <a:cs typeface="黑体"/>
              </a:rPr>
              <a:t>⊥</a:t>
            </a:r>
            <a:endParaRPr baseline="-17615" sz="3075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57463" y="1477644"/>
            <a:ext cx="760031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000000"/>
                </a:solidFill>
                <a:latin typeface="华文楷体"/>
                <a:cs typeface="华文楷体"/>
              </a:rPr>
              <a:t>当导线方向与磁场方</a:t>
            </a:r>
            <a:r>
              <a:rPr dirty="0" sz="2800" spc="-10">
                <a:solidFill>
                  <a:srgbClr val="000000"/>
                </a:solidFill>
                <a:latin typeface="华文楷体"/>
                <a:cs typeface="华文楷体"/>
              </a:rPr>
              <a:t>向</a:t>
            </a:r>
            <a:r>
              <a:rPr dirty="0" sz="2800" spc="-15">
                <a:solidFill>
                  <a:srgbClr val="000000"/>
                </a:solidFill>
                <a:latin typeface="华文楷体"/>
                <a:cs typeface="华文楷体"/>
              </a:rPr>
              <a:t> </a:t>
            </a:r>
            <a:r>
              <a:rPr dirty="0" sz="2800" spc="-10">
                <a:solidFill>
                  <a:srgbClr val="FF0000"/>
                </a:solidFill>
                <a:latin typeface="华文楷体"/>
                <a:cs typeface="华文楷体"/>
              </a:rPr>
              <a:t>成 </a:t>
            </a:r>
            <a:r>
              <a:rPr dirty="0" sz="2800" spc="-5" i="1">
                <a:solidFill>
                  <a:srgbClr val="FF0000"/>
                </a:solidFill>
                <a:latin typeface="Times New Roman"/>
                <a:cs typeface="Times New Roman"/>
              </a:rPr>
              <a:t>θ</a:t>
            </a:r>
            <a:r>
              <a:rPr dirty="0" sz="2800" spc="-20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FF0000"/>
                </a:solidFill>
                <a:latin typeface="华文楷体"/>
                <a:cs typeface="华文楷体"/>
              </a:rPr>
              <a:t>角</a:t>
            </a:r>
            <a:r>
              <a:rPr dirty="0" sz="2800">
                <a:solidFill>
                  <a:srgbClr val="000000"/>
                </a:solidFill>
                <a:latin typeface="华文楷体"/>
                <a:cs typeface="华文楷体"/>
              </a:rPr>
              <a:t>时，安培力的方</a:t>
            </a:r>
            <a:r>
              <a:rPr dirty="0" sz="2800" spc="-10">
                <a:solidFill>
                  <a:srgbClr val="000000"/>
                </a:solidFill>
                <a:latin typeface="华文楷体"/>
                <a:cs typeface="华文楷体"/>
              </a:rPr>
              <a:t>向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705707" y="2011679"/>
            <a:ext cx="3826764" cy="3861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7277" y="1131328"/>
            <a:ext cx="8130540" cy="208788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30100"/>
              </a:lnSpc>
              <a:spcBef>
                <a:spcPts val="105"/>
              </a:spcBef>
              <a:tabLst>
                <a:tab pos="674370" algn="l"/>
              </a:tabLst>
            </a:pPr>
            <a:r>
              <a:rPr dirty="0">
                <a:solidFill>
                  <a:srgbClr val="000000"/>
                </a:solidFill>
              </a:rPr>
              <a:t>例</a:t>
            </a:r>
            <a:r>
              <a:rPr dirty="0">
                <a:solidFill>
                  <a:srgbClr val="000000"/>
                </a:solidFill>
                <a:latin typeface="Times New Roman"/>
                <a:cs typeface="Times New Roman"/>
              </a:rPr>
              <a:t>.	</a:t>
            </a:r>
            <a:r>
              <a:rPr dirty="0">
                <a:solidFill>
                  <a:srgbClr val="000000"/>
                </a:solidFill>
              </a:rPr>
              <a:t>将长度</a:t>
            </a:r>
            <a:r>
              <a:rPr dirty="0" spc="-10">
                <a:solidFill>
                  <a:srgbClr val="000000"/>
                </a:solidFill>
              </a:rPr>
              <a:t>为</a:t>
            </a:r>
            <a:r>
              <a:rPr dirty="0" spc="-65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  <a:latin typeface="Times New Roman"/>
                <a:cs typeface="Times New Roman"/>
              </a:rPr>
              <a:t>20</a:t>
            </a:r>
            <a:r>
              <a:rPr dirty="0" spc="-5">
                <a:solidFill>
                  <a:srgbClr val="000000"/>
                </a:solidFill>
                <a:latin typeface="Times New Roman"/>
                <a:cs typeface="Times New Roman"/>
              </a:rPr>
              <a:t> cm</a:t>
            </a:r>
            <a:r>
              <a:rPr dirty="0">
                <a:solidFill>
                  <a:srgbClr val="000000"/>
                </a:solidFill>
              </a:rPr>
              <a:t>、通</a:t>
            </a:r>
            <a:r>
              <a:rPr dirty="0" spc="-10">
                <a:solidFill>
                  <a:srgbClr val="000000"/>
                </a:solidFill>
              </a:rPr>
              <a:t>有</a:t>
            </a:r>
            <a:r>
              <a:rPr dirty="0" spc="-655">
                <a:solidFill>
                  <a:srgbClr val="000000"/>
                </a:solidFill>
              </a:rPr>
              <a:t> </a:t>
            </a:r>
            <a:r>
              <a:rPr dirty="0" spc="-5">
                <a:solidFill>
                  <a:srgbClr val="000000"/>
                </a:solidFill>
                <a:latin typeface="Times New Roman"/>
                <a:cs typeface="Times New Roman"/>
              </a:rPr>
              <a:t>0.1</a:t>
            </a:r>
            <a:r>
              <a:rPr dirty="0" spc="-15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dirty="0" spc="-15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0000"/>
                </a:solidFill>
              </a:rPr>
              <a:t>电流的直导线放入一</a:t>
            </a:r>
            <a:r>
              <a:rPr dirty="0" spc="-10">
                <a:solidFill>
                  <a:srgbClr val="000000"/>
                </a:solidFill>
              </a:rPr>
              <a:t>匀 </a:t>
            </a:r>
            <a:r>
              <a:rPr dirty="0">
                <a:solidFill>
                  <a:srgbClr val="000000"/>
                </a:solidFill>
              </a:rPr>
              <a:t>强磁场中，电流与磁场的方向如图所示，已知磁感应</a:t>
            </a:r>
            <a:r>
              <a:rPr dirty="0" spc="-10">
                <a:solidFill>
                  <a:srgbClr val="000000"/>
                </a:solidFill>
              </a:rPr>
              <a:t>强 </a:t>
            </a:r>
            <a:r>
              <a:rPr dirty="0">
                <a:solidFill>
                  <a:srgbClr val="000000"/>
                </a:solidFill>
              </a:rPr>
              <a:t>度</a:t>
            </a:r>
            <a:r>
              <a:rPr dirty="0" spc="-10">
                <a:solidFill>
                  <a:srgbClr val="000000"/>
                </a:solidFill>
              </a:rPr>
              <a:t>为</a:t>
            </a:r>
            <a:r>
              <a:rPr dirty="0" spc="-640">
                <a:solidFill>
                  <a:srgbClr val="000000"/>
                </a:solidFill>
              </a:rPr>
              <a:t> </a:t>
            </a:r>
            <a:r>
              <a:rPr dirty="0" spc="-5">
                <a:solidFill>
                  <a:srgbClr val="000000"/>
                </a:solidFill>
                <a:latin typeface="Times New Roman"/>
                <a:cs typeface="Times New Roman"/>
              </a:rPr>
              <a:t>1T</a:t>
            </a:r>
            <a:r>
              <a:rPr dirty="0">
                <a:solidFill>
                  <a:srgbClr val="000000"/>
                </a:solidFill>
              </a:rPr>
              <a:t>。试求出下列各图中导线所受安培力的大小和</a:t>
            </a:r>
            <a:r>
              <a:rPr dirty="0" spc="-10">
                <a:solidFill>
                  <a:srgbClr val="000000"/>
                </a:solidFill>
              </a:rPr>
              <a:t>方 </a:t>
            </a:r>
            <a:r>
              <a:rPr dirty="0">
                <a:solidFill>
                  <a:srgbClr val="000000"/>
                </a:solidFill>
              </a:rPr>
              <a:t>向</a:t>
            </a:r>
            <a:r>
              <a:rPr dirty="0" spc="-1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3" name="object 3"/>
          <p:cNvSpPr/>
          <p:nvPr/>
        </p:nvSpPr>
        <p:spPr>
          <a:xfrm>
            <a:off x="6916877" y="3324593"/>
            <a:ext cx="170459" cy="1714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916877" y="3778453"/>
            <a:ext cx="170459" cy="1714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916877" y="4232325"/>
            <a:ext cx="170459" cy="1714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916877" y="4686185"/>
            <a:ext cx="170459" cy="1714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367409" y="3324593"/>
            <a:ext cx="170459" cy="1714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367409" y="3778453"/>
            <a:ext cx="170459" cy="1714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367409" y="4232325"/>
            <a:ext cx="170459" cy="1714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367409" y="4686185"/>
            <a:ext cx="170459" cy="1714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817942" y="3324593"/>
            <a:ext cx="170459" cy="1714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817942" y="3778453"/>
            <a:ext cx="170459" cy="1714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817942" y="4232325"/>
            <a:ext cx="170459" cy="1714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817942" y="4686185"/>
            <a:ext cx="170459" cy="1714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268474" y="3324593"/>
            <a:ext cx="170459" cy="1714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268474" y="3778453"/>
            <a:ext cx="170459" cy="1714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268474" y="4232325"/>
            <a:ext cx="170459" cy="1714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268474" y="4686185"/>
            <a:ext cx="170459" cy="1714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645219" y="5259019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90834" y="5201869"/>
            <a:ext cx="1248410" cy="83185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95"/>
              </a:spcBef>
            </a:pP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0.02</a:t>
            </a:r>
            <a:r>
              <a:rPr dirty="0" sz="2400" spc="-3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95"/>
              </a:spcBef>
            </a:pPr>
            <a:r>
              <a:rPr dirty="0" sz="2400" b="1">
                <a:solidFill>
                  <a:srgbClr val="FF0000"/>
                </a:solidFill>
                <a:latin typeface="宋体"/>
                <a:cs typeface="宋体"/>
              </a:rPr>
              <a:t>水平向</a:t>
            </a:r>
            <a:r>
              <a:rPr dirty="0" sz="2400" spc="-10" b="1">
                <a:solidFill>
                  <a:srgbClr val="FF0000"/>
                </a:solidFill>
                <a:latin typeface="宋体"/>
                <a:cs typeface="宋体"/>
              </a:rPr>
              <a:t>右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635242" y="5100269"/>
            <a:ext cx="2778760" cy="83185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974725">
              <a:lnSpc>
                <a:spcPct val="100000"/>
              </a:lnSpc>
              <a:spcBef>
                <a:spcPts val="395"/>
              </a:spcBef>
            </a:pP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0.02</a:t>
            </a:r>
            <a:r>
              <a:rPr dirty="0" sz="2400" spc="-1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2400" b="1">
                <a:solidFill>
                  <a:srgbClr val="FF0000"/>
                </a:solidFill>
                <a:latin typeface="宋体"/>
                <a:cs typeface="宋体"/>
              </a:rPr>
              <a:t>垂直导线斜向左上</a:t>
            </a:r>
            <a:r>
              <a:rPr dirty="0" sz="2400" spc="-10" b="1">
                <a:solidFill>
                  <a:srgbClr val="FF0000"/>
                </a:solidFill>
                <a:latin typeface="宋体"/>
                <a:cs typeface="宋体"/>
              </a:rPr>
              <a:t>方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001977" y="3222993"/>
            <a:ext cx="170459" cy="1714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001977" y="3676853"/>
            <a:ext cx="170459" cy="1714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001977" y="4130725"/>
            <a:ext cx="170459" cy="1714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001977" y="4584585"/>
            <a:ext cx="170459" cy="1714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452509" y="3222993"/>
            <a:ext cx="170459" cy="1714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452509" y="3676853"/>
            <a:ext cx="620991" cy="62528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452509" y="4584585"/>
            <a:ext cx="170459" cy="1714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903042" y="3222993"/>
            <a:ext cx="170459" cy="1714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903042" y="4584585"/>
            <a:ext cx="170459" cy="1714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353574" y="3222993"/>
            <a:ext cx="170459" cy="1714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353574" y="3676853"/>
            <a:ext cx="170459" cy="1714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353574" y="4130725"/>
            <a:ext cx="170459" cy="1714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353574" y="4584585"/>
            <a:ext cx="170459" cy="1714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2875038" y="3738333"/>
            <a:ext cx="1441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053584" y="3439667"/>
            <a:ext cx="117475" cy="1224280"/>
          </a:xfrm>
          <a:custGeom>
            <a:avLst/>
            <a:gdLst/>
            <a:ahLst/>
            <a:cxnLst/>
            <a:rect l="l" t="t" r="r" b="b"/>
            <a:pathLst>
              <a:path w="117475" h="1224279">
                <a:moveTo>
                  <a:pt x="0" y="0"/>
                </a:moveTo>
                <a:lnTo>
                  <a:pt x="117348" y="0"/>
                </a:lnTo>
                <a:lnTo>
                  <a:pt x="117348" y="1223772"/>
                </a:lnTo>
                <a:lnTo>
                  <a:pt x="0" y="122377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039486" y="3425139"/>
            <a:ext cx="146050" cy="1252855"/>
          </a:xfrm>
          <a:custGeom>
            <a:avLst/>
            <a:gdLst/>
            <a:ahLst/>
            <a:cxnLst/>
            <a:rect l="l" t="t" r="r" b="b"/>
            <a:pathLst>
              <a:path w="146050" h="1252854">
                <a:moveTo>
                  <a:pt x="146050" y="1252537"/>
                </a:moveTo>
                <a:lnTo>
                  <a:pt x="0" y="1252537"/>
                </a:lnTo>
                <a:lnTo>
                  <a:pt x="0" y="0"/>
                </a:lnTo>
                <a:lnTo>
                  <a:pt x="146050" y="0"/>
                </a:lnTo>
                <a:lnTo>
                  <a:pt x="146050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1223962"/>
                </a:lnTo>
                <a:lnTo>
                  <a:pt x="14287" y="1223962"/>
                </a:lnTo>
                <a:lnTo>
                  <a:pt x="28575" y="1238250"/>
                </a:lnTo>
                <a:lnTo>
                  <a:pt x="146050" y="1238250"/>
                </a:lnTo>
                <a:lnTo>
                  <a:pt x="146050" y="1252537"/>
                </a:lnTo>
                <a:close/>
              </a:path>
              <a:path w="146050" h="1252854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46050" h="1252854">
                <a:moveTo>
                  <a:pt x="117475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17475" y="14287"/>
                </a:lnTo>
                <a:lnTo>
                  <a:pt x="117475" y="28575"/>
                </a:lnTo>
                <a:close/>
              </a:path>
              <a:path w="146050" h="1252854">
                <a:moveTo>
                  <a:pt x="117475" y="1238250"/>
                </a:moveTo>
                <a:lnTo>
                  <a:pt x="117475" y="14287"/>
                </a:lnTo>
                <a:lnTo>
                  <a:pt x="131762" y="28575"/>
                </a:lnTo>
                <a:lnTo>
                  <a:pt x="146050" y="28575"/>
                </a:lnTo>
                <a:lnTo>
                  <a:pt x="146050" y="1223962"/>
                </a:lnTo>
                <a:lnTo>
                  <a:pt x="131762" y="1223962"/>
                </a:lnTo>
                <a:lnTo>
                  <a:pt x="117475" y="1238250"/>
                </a:lnTo>
                <a:close/>
              </a:path>
              <a:path w="146050" h="1252854">
                <a:moveTo>
                  <a:pt x="146050" y="28575"/>
                </a:moveTo>
                <a:lnTo>
                  <a:pt x="131762" y="28575"/>
                </a:lnTo>
                <a:lnTo>
                  <a:pt x="117475" y="14287"/>
                </a:lnTo>
                <a:lnTo>
                  <a:pt x="146050" y="14287"/>
                </a:lnTo>
                <a:lnTo>
                  <a:pt x="146050" y="28575"/>
                </a:lnTo>
                <a:close/>
              </a:path>
              <a:path w="146050" h="1252854">
                <a:moveTo>
                  <a:pt x="28575" y="1238250"/>
                </a:moveTo>
                <a:lnTo>
                  <a:pt x="14287" y="1223962"/>
                </a:lnTo>
                <a:lnTo>
                  <a:pt x="28575" y="1223962"/>
                </a:lnTo>
                <a:lnTo>
                  <a:pt x="28575" y="1238250"/>
                </a:lnTo>
                <a:close/>
              </a:path>
              <a:path w="146050" h="1252854">
                <a:moveTo>
                  <a:pt x="117475" y="1238250"/>
                </a:moveTo>
                <a:lnTo>
                  <a:pt x="28575" y="1238250"/>
                </a:lnTo>
                <a:lnTo>
                  <a:pt x="28575" y="1223962"/>
                </a:lnTo>
                <a:lnTo>
                  <a:pt x="117475" y="1223962"/>
                </a:lnTo>
                <a:lnTo>
                  <a:pt x="117475" y="1238250"/>
                </a:lnTo>
                <a:close/>
              </a:path>
              <a:path w="146050" h="1252854">
                <a:moveTo>
                  <a:pt x="146050" y="1238250"/>
                </a:moveTo>
                <a:lnTo>
                  <a:pt x="117475" y="1238250"/>
                </a:lnTo>
                <a:lnTo>
                  <a:pt x="131762" y="1223962"/>
                </a:lnTo>
                <a:lnTo>
                  <a:pt x="146050" y="1223962"/>
                </a:lnTo>
                <a:lnTo>
                  <a:pt x="146050" y="1238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067566" y="3585476"/>
            <a:ext cx="76200" cy="827405"/>
          </a:xfrm>
          <a:custGeom>
            <a:avLst/>
            <a:gdLst/>
            <a:ahLst/>
            <a:cxnLst/>
            <a:rect l="l" t="t" r="r" b="b"/>
            <a:pathLst>
              <a:path w="76200" h="827404">
                <a:moveTo>
                  <a:pt x="0" y="126860"/>
                </a:moveTo>
                <a:lnTo>
                  <a:pt x="38595" y="0"/>
                </a:lnTo>
                <a:lnTo>
                  <a:pt x="52668" y="47586"/>
                </a:lnTo>
                <a:lnTo>
                  <a:pt x="25704" y="47586"/>
                </a:lnTo>
                <a:lnTo>
                  <a:pt x="25563" y="84616"/>
                </a:lnTo>
                <a:lnTo>
                  <a:pt x="0" y="126860"/>
                </a:lnTo>
                <a:close/>
              </a:path>
              <a:path w="76200" h="827404">
                <a:moveTo>
                  <a:pt x="50962" y="84720"/>
                </a:moveTo>
                <a:lnTo>
                  <a:pt x="38341" y="63500"/>
                </a:lnTo>
                <a:lnTo>
                  <a:pt x="25643" y="63500"/>
                </a:lnTo>
                <a:lnTo>
                  <a:pt x="25704" y="47586"/>
                </a:lnTo>
                <a:lnTo>
                  <a:pt x="51104" y="47675"/>
                </a:lnTo>
                <a:lnTo>
                  <a:pt x="51044" y="63500"/>
                </a:lnTo>
                <a:lnTo>
                  <a:pt x="38341" y="63500"/>
                </a:lnTo>
                <a:lnTo>
                  <a:pt x="25563" y="84616"/>
                </a:lnTo>
                <a:lnTo>
                  <a:pt x="50963" y="84616"/>
                </a:lnTo>
                <a:close/>
              </a:path>
              <a:path w="76200" h="827404">
                <a:moveTo>
                  <a:pt x="76200" y="127152"/>
                </a:moveTo>
                <a:lnTo>
                  <a:pt x="50962" y="84720"/>
                </a:lnTo>
                <a:lnTo>
                  <a:pt x="51104" y="47675"/>
                </a:lnTo>
                <a:lnTo>
                  <a:pt x="25704" y="47586"/>
                </a:lnTo>
                <a:lnTo>
                  <a:pt x="52668" y="47586"/>
                </a:lnTo>
                <a:lnTo>
                  <a:pt x="76200" y="127152"/>
                </a:lnTo>
                <a:close/>
              </a:path>
              <a:path w="76200" h="827404">
                <a:moveTo>
                  <a:pt x="48120" y="827138"/>
                </a:moveTo>
                <a:lnTo>
                  <a:pt x="22720" y="827049"/>
                </a:lnTo>
                <a:lnTo>
                  <a:pt x="25563" y="84616"/>
                </a:lnTo>
                <a:lnTo>
                  <a:pt x="38341" y="63500"/>
                </a:lnTo>
                <a:lnTo>
                  <a:pt x="50962" y="84720"/>
                </a:lnTo>
                <a:lnTo>
                  <a:pt x="48120" y="82713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5201094" y="3806456"/>
            <a:ext cx="1441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377563" y="3277514"/>
            <a:ext cx="138036" cy="1371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377563" y="3774401"/>
            <a:ext cx="138036" cy="13716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388675" y="4258589"/>
            <a:ext cx="138036" cy="13716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399788" y="4776114"/>
            <a:ext cx="138036" cy="1371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817300" y="3277514"/>
            <a:ext cx="138036" cy="13716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817300" y="3774401"/>
            <a:ext cx="138036" cy="13716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828413" y="4258589"/>
            <a:ext cx="138036" cy="1371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839525" y="4776114"/>
            <a:ext cx="138036" cy="1371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5258625" y="3277514"/>
            <a:ext cx="138036" cy="1371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258625" y="3774401"/>
            <a:ext cx="138036" cy="13716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269738" y="4258589"/>
            <a:ext cx="138036" cy="13716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280850" y="4776114"/>
            <a:ext cx="138036" cy="1371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5699950" y="3288626"/>
            <a:ext cx="138036" cy="13716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5699950" y="3785514"/>
            <a:ext cx="138036" cy="1371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5711063" y="4269701"/>
            <a:ext cx="138036" cy="13716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722175" y="4787226"/>
            <a:ext cx="138036" cy="13716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7237476" y="3538728"/>
            <a:ext cx="788035" cy="788035"/>
          </a:xfrm>
          <a:custGeom>
            <a:avLst/>
            <a:gdLst/>
            <a:ahLst/>
            <a:cxnLst/>
            <a:rect l="l" t="t" r="r" b="b"/>
            <a:pathLst>
              <a:path w="788034" h="788035">
                <a:moveTo>
                  <a:pt x="83820" y="787908"/>
                </a:moveTo>
                <a:lnTo>
                  <a:pt x="0" y="704088"/>
                </a:lnTo>
                <a:lnTo>
                  <a:pt x="704088" y="0"/>
                </a:lnTo>
                <a:lnTo>
                  <a:pt x="787907" y="83820"/>
                </a:lnTo>
                <a:lnTo>
                  <a:pt x="83820" y="7879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216864" y="3518141"/>
            <a:ext cx="828675" cy="828675"/>
          </a:xfrm>
          <a:custGeom>
            <a:avLst/>
            <a:gdLst/>
            <a:ahLst/>
            <a:cxnLst/>
            <a:rect l="l" t="t" r="r" b="b"/>
            <a:pathLst>
              <a:path w="828675" h="828675">
                <a:moveTo>
                  <a:pt x="104394" y="828421"/>
                </a:moveTo>
                <a:lnTo>
                  <a:pt x="0" y="724026"/>
                </a:lnTo>
                <a:lnTo>
                  <a:pt x="724027" y="0"/>
                </a:lnTo>
                <a:lnTo>
                  <a:pt x="754329" y="30302"/>
                </a:lnTo>
                <a:lnTo>
                  <a:pt x="713930" y="30302"/>
                </a:lnTo>
                <a:lnTo>
                  <a:pt x="724033" y="40405"/>
                </a:lnTo>
                <a:lnTo>
                  <a:pt x="50507" y="713930"/>
                </a:lnTo>
                <a:lnTo>
                  <a:pt x="30302" y="713930"/>
                </a:lnTo>
                <a:lnTo>
                  <a:pt x="30302" y="734136"/>
                </a:lnTo>
                <a:lnTo>
                  <a:pt x="50507" y="734136"/>
                </a:lnTo>
                <a:lnTo>
                  <a:pt x="104387" y="788015"/>
                </a:lnTo>
                <a:lnTo>
                  <a:pt x="94284" y="798118"/>
                </a:lnTo>
                <a:lnTo>
                  <a:pt x="134696" y="798118"/>
                </a:lnTo>
                <a:lnTo>
                  <a:pt x="104394" y="828421"/>
                </a:lnTo>
                <a:close/>
              </a:path>
              <a:path w="828675" h="828675">
                <a:moveTo>
                  <a:pt x="724033" y="40405"/>
                </a:moveTo>
                <a:lnTo>
                  <a:pt x="713930" y="30302"/>
                </a:lnTo>
                <a:lnTo>
                  <a:pt x="734136" y="30302"/>
                </a:lnTo>
                <a:lnTo>
                  <a:pt x="724033" y="40405"/>
                </a:lnTo>
                <a:close/>
              </a:path>
              <a:path w="828675" h="828675">
                <a:moveTo>
                  <a:pt x="788015" y="104387"/>
                </a:moveTo>
                <a:lnTo>
                  <a:pt x="724033" y="40405"/>
                </a:lnTo>
                <a:lnTo>
                  <a:pt x="734136" y="30302"/>
                </a:lnTo>
                <a:lnTo>
                  <a:pt x="754329" y="30302"/>
                </a:lnTo>
                <a:lnTo>
                  <a:pt x="818311" y="94284"/>
                </a:lnTo>
                <a:lnTo>
                  <a:pt x="798118" y="94284"/>
                </a:lnTo>
                <a:lnTo>
                  <a:pt x="788015" y="104387"/>
                </a:lnTo>
                <a:close/>
              </a:path>
              <a:path w="828675" h="828675">
                <a:moveTo>
                  <a:pt x="798118" y="114490"/>
                </a:moveTo>
                <a:lnTo>
                  <a:pt x="788015" y="104387"/>
                </a:lnTo>
                <a:lnTo>
                  <a:pt x="798118" y="94284"/>
                </a:lnTo>
                <a:lnTo>
                  <a:pt x="798118" y="114490"/>
                </a:lnTo>
                <a:close/>
              </a:path>
              <a:path w="828675" h="828675">
                <a:moveTo>
                  <a:pt x="818324" y="114490"/>
                </a:moveTo>
                <a:lnTo>
                  <a:pt x="798118" y="114490"/>
                </a:lnTo>
                <a:lnTo>
                  <a:pt x="798118" y="94284"/>
                </a:lnTo>
                <a:lnTo>
                  <a:pt x="818311" y="94284"/>
                </a:lnTo>
                <a:lnTo>
                  <a:pt x="828421" y="104393"/>
                </a:lnTo>
                <a:lnTo>
                  <a:pt x="818324" y="114490"/>
                </a:lnTo>
                <a:close/>
              </a:path>
              <a:path w="828675" h="828675">
                <a:moveTo>
                  <a:pt x="134696" y="798118"/>
                </a:moveTo>
                <a:lnTo>
                  <a:pt x="114490" y="798118"/>
                </a:lnTo>
                <a:lnTo>
                  <a:pt x="104387" y="788015"/>
                </a:lnTo>
                <a:lnTo>
                  <a:pt x="788022" y="104393"/>
                </a:lnTo>
                <a:lnTo>
                  <a:pt x="798118" y="114490"/>
                </a:lnTo>
                <a:lnTo>
                  <a:pt x="818324" y="114490"/>
                </a:lnTo>
                <a:lnTo>
                  <a:pt x="134696" y="798118"/>
                </a:lnTo>
                <a:close/>
              </a:path>
              <a:path w="828675" h="828675">
                <a:moveTo>
                  <a:pt x="30302" y="734136"/>
                </a:moveTo>
                <a:lnTo>
                  <a:pt x="30302" y="713930"/>
                </a:lnTo>
                <a:lnTo>
                  <a:pt x="40405" y="724033"/>
                </a:lnTo>
                <a:lnTo>
                  <a:pt x="30302" y="734136"/>
                </a:lnTo>
                <a:close/>
              </a:path>
              <a:path w="828675" h="828675">
                <a:moveTo>
                  <a:pt x="40405" y="724033"/>
                </a:moveTo>
                <a:lnTo>
                  <a:pt x="30302" y="713930"/>
                </a:lnTo>
                <a:lnTo>
                  <a:pt x="50507" y="713930"/>
                </a:lnTo>
                <a:lnTo>
                  <a:pt x="40405" y="724033"/>
                </a:lnTo>
                <a:close/>
              </a:path>
              <a:path w="828675" h="828675">
                <a:moveTo>
                  <a:pt x="50507" y="734136"/>
                </a:moveTo>
                <a:lnTo>
                  <a:pt x="30302" y="734136"/>
                </a:lnTo>
                <a:lnTo>
                  <a:pt x="40405" y="724033"/>
                </a:lnTo>
                <a:lnTo>
                  <a:pt x="50507" y="734136"/>
                </a:lnTo>
                <a:close/>
              </a:path>
              <a:path w="828675" h="828675">
                <a:moveTo>
                  <a:pt x="114490" y="798118"/>
                </a:moveTo>
                <a:lnTo>
                  <a:pt x="94284" y="798118"/>
                </a:lnTo>
                <a:lnTo>
                  <a:pt x="104387" y="788015"/>
                </a:lnTo>
                <a:lnTo>
                  <a:pt x="114490" y="7981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7340079" y="3653167"/>
            <a:ext cx="574675" cy="566420"/>
          </a:xfrm>
          <a:custGeom>
            <a:avLst/>
            <a:gdLst/>
            <a:ahLst/>
            <a:cxnLst/>
            <a:rect l="l" t="t" r="r" b="b"/>
            <a:pathLst>
              <a:path w="574675" h="566420">
                <a:moveTo>
                  <a:pt x="457428" y="61925"/>
                </a:moveTo>
                <a:lnTo>
                  <a:pt x="574662" y="0"/>
                </a:lnTo>
                <a:lnTo>
                  <a:pt x="561294" y="24358"/>
                </a:lnTo>
                <a:lnTo>
                  <a:pt x="531812" y="24358"/>
                </a:lnTo>
                <a:lnTo>
                  <a:pt x="505417" y="50334"/>
                </a:lnTo>
                <a:lnTo>
                  <a:pt x="457428" y="61925"/>
                </a:lnTo>
                <a:close/>
              </a:path>
              <a:path w="574675" h="566420">
                <a:moveTo>
                  <a:pt x="505417" y="50334"/>
                </a:moveTo>
                <a:lnTo>
                  <a:pt x="531812" y="24358"/>
                </a:lnTo>
                <a:lnTo>
                  <a:pt x="549630" y="42456"/>
                </a:lnTo>
                <a:lnTo>
                  <a:pt x="547514" y="44538"/>
                </a:lnTo>
                <a:lnTo>
                  <a:pt x="529412" y="44538"/>
                </a:lnTo>
                <a:lnTo>
                  <a:pt x="505417" y="50334"/>
                </a:lnTo>
                <a:close/>
              </a:path>
              <a:path w="574675" h="566420">
                <a:moveTo>
                  <a:pt x="510870" y="116243"/>
                </a:moveTo>
                <a:lnTo>
                  <a:pt x="523233" y="68434"/>
                </a:lnTo>
                <a:lnTo>
                  <a:pt x="549630" y="42456"/>
                </a:lnTo>
                <a:lnTo>
                  <a:pt x="531812" y="24358"/>
                </a:lnTo>
                <a:lnTo>
                  <a:pt x="561294" y="24358"/>
                </a:lnTo>
                <a:lnTo>
                  <a:pt x="510870" y="116243"/>
                </a:lnTo>
                <a:close/>
              </a:path>
              <a:path w="574675" h="566420">
                <a:moveTo>
                  <a:pt x="17818" y="565823"/>
                </a:moveTo>
                <a:lnTo>
                  <a:pt x="0" y="547725"/>
                </a:lnTo>
                <a:lnTo>
                  <a:pt x="505417" y="50334"/>
                </a:lnTo>
                <a:lnTo>
                  <a:pt x="529412" y="44538"/>
                </a:lnTo>
                <a:lnTo>
                  <a:pt x="523233" y="68434"/>
                </a:lnTo>
                <a:lnTo>
                  <a:pt x="17818" y="565823"/>
                </a:lnTo>
                <a:close/>
              </a:path>
              <a:path w="574675" h="566420">
                <a:moveTo>
                  <a:pt x="523233" y="68434"/>
                </a:moveTo>
                <a:lnTo>
                  <a:pt x="529412" y="44538"/>
                </a:lnTo>
                <a:lnTo>
                  <a:pt x="547514" y="44538"/>
                </a:lnTo>
                <a:lnTo>
                  <a:pt x="523233" y="6843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7328611" y="4322248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88" y="0"/>
                </a:lnTo>
              </a:path>
            </a:pathLst>
          </a:custGeom>
          <a:ln w="257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7506411" y="4322826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88" y="0"/>
                </a:lnTo>
              </a:path>
            </a:pathLst>
          </a:custGeom>
          <a:ln w="257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7684211" y="4323410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88" y="0"/>
                </a:lnTo>
              </a:path>
            </a:pathLst>
          </a:custGeom>
          <a:ln w="257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7862011" y="4323994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88" y="0"/>
                </a:lnTo>
              </a:path>
            </a:pathLst>
          </a:custGeom>
          <a:ln w="257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8039811" y="4324578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4" h="0">
                <a:moveTo>
                  <a:pt x="0" y="0"/>
                </a:moveTo>
                <a:lnTo>
                  <a:pt x="101676" y="0"/>
                </a:lnTo>
              </a:path>
            </a:pathLst>
          </a:custGeom>
          <a:ln w="257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8217611" y="4312297"/>
            <a:ext cx="81280" cy="26034"/>
          </a:xfrm>
          <a:custGeom>
            <a:avLst/>
            <a:gdLst/>
            <a:ahLst/>
            <a:cxnLst/>
            <a:rect l="l" t="t" r="r" b="b"/>
            <a:pathLst>
              <a:path w="81279" h="26035">
                <a:moveTo>
                  <a:pt x="80962" y="25654"/>
                </a:moveTo>
                <a:lnTo>
                  <a:pt x="0" y="25400"/>
                </a:lnTo>
                <a:lnTo>
                  <a:pt x="76" y="0"/>
                </a:lnTo>
                <a:lnTo>
                  <a:pt x="81051" y="254"/>
                </a:lnTo>
                <a:lnTo>
                  <a:pt x="80962" y="256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7580439" y="4008386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30</a:t>
            </a:r>
            <a:r>
              <a:rPr dirty="0" sz="1800" spc="-10" b="1">
                <a:latin typeface="宋体"/>
                <a:cs typeface="宋体"/>
              </a:rPr>
              <a:t>°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68" name="object 6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2204211" y="3323856"/>
            <a:ext cx="55778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44420" algn="l"/>
                <a:tab pos="5445760" algn="l"/>
              </a:tabLst>
            </a:pPr>
            <a:r>
              <a:rPr dirty="0" sz="2400" b="1" i="1">
                <a:latin typeface="Times New Roman"/>
                <a:cs typeface="Times New Roman"/>
              </a:rPr>
              <a:t>B	</a:t>
            </a:r>
            <a:r>
              <a:rPr dirty="0" baseline="2314" sz="3600" b="1" i="1">
                <a:latin typeface="Times New Roman"/>
                <a:cs typeface="Times New Roman"/>
              </a:rPr>
              <a:t>B	</a:t>
            </a: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139749" y="3381006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29255" y="1357883"/>
            <a:ext cx="4174236" cy="44302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971207" y="4376064"/>
            <a:ext cx="2107565" cy="0"/>
          </a:xfrm>
          <a:custGeom>
            <a:avLst/>
            <a:gdLst/>
            <a:ahLst/>
            <a:cxnLst/>
            <a:rect l="l" t="t" r="r" b="b"/>
            <a:pathLst>
              <a:path w="2107565" h="0">
                <a:moveTo>
                  <a:pt x="0" y="0"/>
                </a:moveTo>
                <a:lnTo>
                  <a:pt x="2107476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382547" y="3330359"/>
            <a:ext cx="1328204" cy="18831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209165" y="3211766"/>
            <a:ext cx="721995" cy="1086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Times New Roman"/>
                <a:cs typeface="Times New Roman"/>
              </a:rPr>
              <a:t>B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dirty="0" sz="1800" b="1" i="1">
                <a:latin typeface="Times New Roman"/>
                <a:cs typeface="Times New Roman"/>
              </a:rPr>
              <a:t>θ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48131" y="3411689"/>
            <a:ext cx="226435" cy="2260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731516" y="2428773"/>
            <a:ext cx="1510665" cy="2143125"/>
          </a:xfrm>
          <a:custGeom>
            <a:avLst/>
            <a:gdLst/>
            <a:ahLst/>
            <a:cxnLst/>
            <a:rect l="l" t="t" r="r" b="b"/>
            <a:pathLst>
              <a:path w="1510664" h="2143125">
                <a:moveTo>
                  <a:pt x="1456278" y="55049"/>
                </a:moveTo>
                <a:lnTo>
                  <a:pt x="1435493" y="40449"/>
                </a:lnTo>
                <a:lnTo>
                  <a:pt x="1510474" y="0"/>
                </a:lnTo>
                <a:lnTo>
                  <a:pt x="1504562" y="39458"/>
                </a:lnTo>
                <a:lnTo>
                  <a:pt x="1467231" y="39458"/>
                </a:lnTo>
                <a:lnTo>
                  <a:pt x="1456278" y="55049"/>
                </a:lnTo>
                <a:close/>
              </a:path>
              <a:path w="1510664" h="2143125">
                <a:moveTo>
                  <a:pt x="1477060" y="69647"/>
                </a:moveTo>
                <a:lnTo>
                  <a:pt x="1456278" y="55049"/>
                </a:lnTo>
                <a:lnTo>
                  <a:pt x="1467231" y="39458"/>
                </a:lnTo>
                <a:lnTo>
                  <a:pt x="1488008" y="54063"/>
                </a:lnTo>
                <a:lnTo>
                  <a:pt x="1477060" y="69647"/>
                </a:lnTo>
                <a:close/>
              </a:path>
              <a:path w="1510664" h="2143125">
                <a:moveTo>
                  <a:pt x="1497850" y="84251"/>
                </a:moveTo>
                <a:lnTo>
                  <a:pt x="1477060" y="69647"/>
                </a:lnTo>
                <a:lnTo>
                  <a:pt x="1488008" y="54063"/>
                </a:lnTo>
                <a:lnTo>
                  <a:pt x="1467231" y="39458"/>
                </a:lnTo>
                <a:lnTo>
                  <a:pt x="1504562" y="39458"/>
                </a:lnTo>
                <a:lnTo>
                  <a:pt x="1497850" y="84251"/>
                </a:lnTo>
                <a:close/>
              </a:path>
              <a:path w="1510664" h="2143125">
                <a:moveTo>
                  <a:pt x="20789" y="2142604"/>
                </a:moveTo>
                <a:lnTo>
                  <a:pt x="0" y="2127999"/>
                </a:lnTo>
                <a:lnTo>
                  <a:pt x="1456278" y="55049"/>
                </a:lnTo>
                <a:lnTo>
                  <a:pt x="1477060" y="69647"/>
                </a:lnTo>
                <a:lnTo>
                  <a:pt x="20789" y="2142604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660152" y="3186544"/>
            <a:ext cx="1441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Times New Roman"/>
                <a:cs typeface="Times New Roman"/>
              </a:rPr>
              <a:t>θ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79404" y="2291054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Times New Roman"/>
                <a:cs typeface="Times New Roman"/>
              </a:rPr>
              <a:t>B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425418" y="3516185"/>
            <a:ext cx="76200" cy="1175385"/>
          </a:xfrm>
          <a:custGeom>
            <a:avLst/>
            <a:gdLst/>
            <a:ahLst/>
            <a:cxnLst/>
            <a:rect l="l" t="t" r="r" b="b"/>
            <a:pathLst>
              <a:path w="76200" h="1175385">
                <a:moveTo>
                  <a:pt x="25392" y="1098723"/>
                </a:moveTo>
                <a:lnTo>
                  <a:pt x="24206" y="38"/>
                </a:lnTo>
                <a:lnTo>
                  <a:pt x="49606" y="0"/>
                </a:lnTo>
                <a:lnTo>
                  <a:pt x="50792" y="1098693"/>
                </a:lnTo>
                <a:lnTo>
                  <a:pt x="25392" y="1098723"/>
                </a:lnTo>
                <a:close/>
              </a:path>
              <a:path w="76200" h="1175385">
                <a:moveTo>
                  <a:pt x="66667" y="1117777"/>
                </a:moveTo>
                <a:lnTo>
                  <a:pt x="25412" y="1117777"/>
                </a:lnTo>
                <a:lnTo>
                  <a:pt x="50812" y="1117739"/>
                </a:lnTo>
                <a:lnTo>
                  <a:pt x="50792" y="1098693"/>
                </a:lnTo>
                <a:lnTo>
                  <a:pt x="76200" y="1098664"/>
                </a:lnTo>
                <a:lnTo>
                  <a:pt x="66667" y="1117777"/>
                </a:lnTo>
                <a:close/>
              </a:path>
              <a:path w="76200" h="1175385">
                <a:moveTo>
                  <a:pt x="25412" y="1117777"/>
                </a:moveTo>
                <a:lnTo>
                  <a:pt x="25392" y="1098723"/>
                </a:lnTo>
                <a:lnTo>
                  <a:pt x="50792" y="1098693"/>
                </a:lnTo>
                <a:lnTo>
                  <a:pt x="50812" y="1117739"/>
                </a:lnTo>
                <a:lnTo>
                  <a:pt x="25412" y="1117777"/>
                </a:lnTo>
                <a:close/>
              </a:path>
              <a:path w="76200" h="1175385">
                <a:moveTo>
                  <a:pt x="38176" y="1174902"/>
                </a:moveTo>
                <a:lnTo>
                  <a:pt x="0" y="1098753"/>
                </a:lnTo>
                <a:lnTo>
                  <a:pt x="25392" y="1098723"/>
                </a:lnTo>
                <a:lnTo>
                  <a:pt x="25412" y="1117777"/>
                </a:lnTo>
                <a:lnTo>
                  <a:pt x="66667" y="1117777"/>
                </a:lnTo>
                <a:lnTo>
                  <a:pt x="38176" y="117490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541699" y="4486986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Times New Roman"/>
                <a:cs typeface="Times New Roman"/>
              </a:rPr>
              <a:t>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37573" y="2982633"/>
            <a:ext cx="716915" cy="558800"/>
          </a:xfrm>
          <a:custGeom>
            <a:avLst/>
            <a:gdLst/>
            <a:ahLst/>
            <a:cxnLst/>
            <a:rect l="l" t="t" r="r" b="b"/>
            <a:pathLst>
              <a:path w="716914" h="558800">
                <a:moveTo>
                  <a:pt x="36957" y="76758"/>
                </a:moveTo>
                <a:lnTo>
                  <a:pt x="0" y="0"/>
                </a:lnTo>
                <a:lnTo>
                  <a:pt x="83578" y="16497"/>
                </a:lnTo>
                <a:lnTo>
                  <a:pt x="77054" y="24930"/>
                </a:lnTo>
                <a:lnTo>
                  <a:pt x="52971" y="24930"/>
                </a:lnTo>
                <a:lnTo>
                  <a:pt x="37426" y="45021"/>
                </a:lnTo>
                <a:lnTo>
                  <a:pt x="52492" y="56678"/>
                </a:lnTo>
                <a:lnTo>
                  <a:pt x="36957" y="76758"/>
                </a:lnTo>
                <a:close/>
              </a:path>
              <a:path w="716914" h="558800">
                <a:moveTo>
                  <a:pt x="52492" y="56678"/>
                </a:moveTo>
                <a:lnTo>
                  <a:pt x="37426" y="45021"/>
                </a:lnTo>
                <a:lnTo>
                  <a:pt x="52971" y="24930"/>
                </a:lnTo>
                <a:lnTo>
                  <a:pt x="68036" y="36586"/>
                </a:lnTo>
                <a:lnTo>
                  <a:pt x="52492" y="56678"/>
                </a:lnTo>
                <a:close/>
              </a:path>
              <a:path w="716914" h="558800">
                <a:moveTo>
                  <a:pt x="68036" y="36586"/>
                </a:moveTo>
                <a:lnTo>
                  <a:pt x="52971" y="24930"/>
                </a:lnTo>
                <a:lnTo>
                  <a:pt x="77054" y="24930"/>
                </a:lnTo>
                <a:lnTo>
                  <a:pt x="68036" y="36586"/>
                </a:lnTo>
                <a:close/>
              </a:path>
              <a:path w="716914" h="558800">
                <a:moveTo>
                  <a:pt x="701217" y="558622"/>
                </a:moveTo>
                <a:lnTo>
                  <a:pt x="52492" y="56678"/>
                </a:lnTo>
                <a:lnTo>
                  <a:pt x="68036" y="36586"/>
                </a:lnTo>
                <a:lnTo>
                  <a:pt x="716762" y="538530"/>
                </a:lnTo>
                <a:lnTo>
                  <a:pt x="701217" y="55862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516809" y="2738945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459746" y="3493109"/>
            <a:ext cx="729615" cy="76200"/>
          </a:xfrm>
          <a:custGeom>
            <a:avLst/>
            <a:gdLst/>
            <a:ahLst/>
            <a:cxnLst/>
            <a:rect l="l" t="t" r="r" b="b"/>
            <a:pathLst>
              <a:path w="729614" h="76200">
                <a:moveTo>
                  <a:pt x="653084" y="76200"/>
                </a:moveTo>
                <a:lnTo>
                  <a:pt x="653084" y="0"/>
                </a:lnTo>
                <a:lnTo>
                  <a:pt x="703884" y="25400"/>
                </a:lnTo>
                <a:lnTo>
                  <a:pt x="672134" y="25400"/>
                </a:lnTo>
                <a:lnTo>
                  <a:pt x="672134" y="50800"/>
                </a:lnTo>
                <a:lnTo>
                  <a:pt x="703884" y="50800"/>
                </a:lnTo>
                <a:lnTo>
                  <a:pt x="653084" y="76200"/>
                </a:lnTo>
                <a:close/>
              </a:path>
              <a:path w="729614" h="76200">
                <a:moveTo>
                  <a:pt x="653084" y="50800"/>
                </a:moveTo>
                <a:lnTo>
                  <a:pt x="0" y="50800"/>
                </a:lnTo>
                <a:lnTo>
                  <a:pt x="0" y="25400"/>
                </a:lnTo>
                <a:lnTo>
                  <a:pt x="653084" y="25400"/>
                </a:lnTo>
                <a:lnTo>
                  <a:pt x="653084" y="50800"/>
                </a:lnTo>
                <a:close/>
              </a:path>
              <a:path w="729614" h="76200">
                <a:moveTo>
                  <a:pt x="703884" y="50800"/>
                </a:moveTo>
                <a:lnTo>
                  <a:pt x="672134" y="50800"/>
                </a:lnTo>
                <a:lnTo>
                  <a:pt x="672134" y="25400"/>
                </a:lnTo>
                <a:lnTo>
                  <a:pt x="703884" y="25400"/>
                </a:lnTo>
                <a:lnTo>
                  <a:pt x="729284" y="38100"/>
                </a:lnTo>
                <a:lnTo>
                  <a:pt x="703884" y="508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249157" y="3331438"/>
            <a:ext cx="24244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96439" algn="l"/>
                <a:tab pos="2411095" algn="l"/>
              </a:tabLst>
            </a:pPr>
            <a:r>
              <a:rPr dirty="0" u="heavy" sz="1800">
                <a:uFill>
                  <a:solidFill>
                    <a:srgbClr val="5B9BD4"/>
                  </a:solidFill>
                </a:uFill>
                <a:latin typeface="Times New Roman"/>
                <a:cs typeface="Times New Roman"/>
              </a:rPr>
              <a:t> 	</a:t>
            </a:r>
            <a:r>
              <a:rPr dirty="0" u="heavy" sz="1800" b="1" i="1">
                <a:uFill>
                  <a:solidFill>
                    <a:srgbClr val="5B9BD4"/>
                  </a:solidFill>
                </a:uFill>
                <a:latin typeface="Times New Roman"/>
                <a:cs typeface="Times New Roman"/>
              </a:rPr>
              <a:t>f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431222" y="2801747"/>
            <a:ext cx="76200" cy="730250"/>
          </a:xfrm>
          <a:custGeom>
            <a:avLst/>
            <a:gdLst/>
            <a:ahLst/>
            <a:cxnLst/>
            <a:rect l="l" t="t" r="r" b="b"/>
            <a:pathLst>
              <a:path w="76200" h="730250">
                <a:moveTo>
                  <a:pt x="25400" y="76200"/>
                </a:moveTo>
                <a:lnTo>
                  <a:pt x="0" y="76200"/>
                </a:lnTo>
                <a:lnTo>
                  <a:pt x="38100" y="0"/>
                </a:lnTo>
                <a:lnTo>
                  <a:pt x="66675" y="57150"/>
                </a:lnTo>
                <a:lnTo>
                  <a:pt x="25400" y="57150"/>
                </a:lnTo>
                <a:lnTo>
                  <a:pt x="25400" y="76200"/>
                </a:lnTo>
                <a:close/>
              </a:path>
              <a:path w="76200" h="730250">
                <a:moveTo>
                  <a:pt x="50800" y="730237"/>
                </a:moveTo>
                <a:lnTo>
                  <a:pt x="25400" y="730237"/>
                </a:lnTo>
                <a:lnTo>
                  <a:pt x="25400" y="57150"/>
                </a:lnTo>
                <a:lnTo>
                  <a:pt x="50800" y="57150"/>
                </a:lnTo>
                <a:lnTo>
                  <a:pt x="50800" y="730237"/>
                </a:lnTo>
                <a:close/>
              </a:path>
              <a:path w="76200" h="730250">
                <a:moveTo>
                  <a:pt x="76200" y="76200"/>
                </a:moveTo>
                <a:lnTo>
                  <a:pt x="50800" y="76200"/>
                </a:lnTo>
                <a:lnTo>
                  <a:pt x="50800" y="57150"/>
                </a:lnTo>
                <a:lnTo>
                  <a:pt x="66675" y="57150"/>
                </a:lnTo>
                <a:lnTo>
                  <a:pt x="762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548062" y="2663545"/>
            <a:ext cx="190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245535" y="3107220"/>
            <a:ext cx="1441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Times New Roman"/>
                <a:cs typeface="Times New Roman"/>
              </a:rPr>
              <a:t>θ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5290197" y="1765795"/>
            <a:ext cx="255524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0" i="1">
                <a:solidFill>
                  <a:srgbClr val="000000"/>
                </a:solidFill>
                <a:latin typeface="Times New Roman"/>
                <a:cs typeface="Times New Roman"/>
              </a:rPr>
              <a:t>f </a:t>
            </a:r>
            <a:r>
              <a:rPr dirty="0" sz="2800" spc="-5" b="0">
                <a:solidFill>
                  <a:srgbClr val="000000"/>
                </a:solidFill>
                <a:latin typeface="Times New Roman"/>
                <a:cs typeface="Times New Roman"/>
              </a:rPr>
              <a:t>=</a:t>
            </a:r>
            <a:r>
              <a:rPr dirty="0" sz="2800" spc="-5" b="0" i="1">
                <a:solidFill>
                  <a:srgbClr val="000000"/>
                </a:solidFill>
                <a:latin typeface="Times New Roman"/>
                <a:cs typeface="Times New Roman"/>
              </a:rPr>
              <a:t>F</a:t>
            </a:r>
            <a:r>
              <a:rPr dirty="0" sz="2800" spc="-5" b="0">
                <a:solidFill>
                  <a:srgbClr val="000000"/>
                </a:solidFill>
                <a:latin typeface="Times New Roman"/>
                <a:cs typeface="Times New Roman"/>
              </a:rPr>
              <a:t>sin</a:t>
            </a:r>
            <a:r>
              <a:rPr dirty="0" sz="2800" spc="-5" i="1">
                <a:solidFill>
                  <a:srgbClr val="000000"/>
                </a:solidFill>
                <a:latin typeface="Times New Roman"/>
                <a:cs typeface="Times New Roman"/>
              </a:rPr>
              <a:t>θ</a:t>
            </a:r>
            <a:r>
              <a:rPr dirty="0" sz="2800" spc="-55" i="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0">
                <a:solidFill>
                  <a:srgbClr val="000000"/>
                </a:solidFill>
                <a:latin typeface="Times New Roman"/>
                <a:cs typeface="Times New Roman"/>
              </a:rPr>
              <a:t>=</a:t>
            </a:r>
            <a:r>
              <a:rPr dirty="0" sz="2800" spc="-5" b="0" i="1">
                <a:solidFill>
                  <a:srgbClr val="000000"/>
                </a:solidFill>
                <a:latin typeface="Times New Roman"/>
                <a:cs typeface="Times New Roman"/>
              </a:rPr>
              <a:t>IlB</a:t>
            </a:r>
            <a:r>
              <a:rPr dirty="0" sz="2800" spc="-5" b="0">
                <a:solidFill>
                  <a:srgbClr val="000000"/>
                </a:solidFill>
                <a:latin typeface="Times New Roman"/>
                <a:cs typeface="Times New Roman"/>
              </a:rPr>
              <a:t>sin</a:t>
            </a:r>
            <a:r>
              <a:rPr dirty="0" sz="2800" spc="-5" i="1">
                <a:solidFill>
                  <a:srgbClr val="000000"/>
                </a:solidFill>
                <a:latin typeface="Times New Roman"/>
                <a:cs typeface="Times New Roman"/>
              </a:rPr>
              <a:t>θ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07749" y="2473807"/>
            <a:ext cx="210312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i="1">
                <a:latin typeface="Times New Roman"/>
                <a:cs typeface="Times New Roman"/>
              </a:rPr>
              <a:t>N+F</a:t>
            </a:r>
            <a:r>
              <a:rPr dirty="0" sz="2800" spc="-5">
                <a:latin typeface="Times New Roman"/>
                <a:cs typeface="Times New Roman"/>
              </a:rPr>
              <a:t>cos</a:t>
            </a:r>
            <a:r>
              <a:rPr dirty="0" sz="2800" spc="-5" b="1" i="1">
                <a:latin typeface="Times New Roman"/>
                <a:cs typeface="Times New Roman"/>
              </a:rPr>
              <a:t>θ</a:t>
            </a:r>
            <a:r>
              <a:rPr dirty="0" sz="2800" spc="-65" b="1" i="1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=</a:t>
            </a:r>
            <a:r>
              <a:rPr dirty="0" sz="2800" spc="-5" i="1">
                <a:latin typeface="Times New Roman"/>
                <a:cs typeface="Times New Roman"/>
              </a:rPr>
              <a:t>mg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07749" y="4798695"/>
            <a:ext cx="297180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12545" algn="l"/>
              </a:tabLst>
            </a:pPr>
            <a:r>
              <a:rPr dirty="0" sz="2800" spc="-5" i="1">
                <a:latin typeface="Times New Roman"/>
                <a:cs typeface="Times New Roman"/>
              </a:rPr>
              <a:t>N’=N</a:t>
            </a:r>
            <a:r>
              <a:rPr dirty="0" sz="2800" spc="5" i="1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=	</a:t>
            </a:r>
            <a:r>
              <a:rPr dirty="0" sz="2800" spc="-5" i="1">
                <a:latin typeface="Times New Roman"/>
                <a:cs typeface="Times New Roman"/>
              </a:rPr>
              <a:t>mg-IlB</a:t>
            </a:r>
            <a:r>
              <a:rPr dirty="0" sz="2800" spc="-5">
                <a:latin typeface="Times New Roman"/>
                <a:cs typeface="Times New Roman"/>
              </a:rPr>
              <a:t>cos</a:t>
            </a:r>
            <a:r>
              <a:rPr dirty="0" sz="2800" spc="-5" b="1" i="1">
                <a:latin typeface="Times New Roman"/>
                <a:cs typeface="Times New Roman"/>
              </a:rPr>
              <a:t>θ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56441" y="3238550"/>
            <a:ext cx="4145279" cy="1173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95"/>
              </a:spcBef>
            </a:pPr>
            <a:r>
              <a:rPr dirty="0" sz="2800" spc="-5" i="1">
                <a:latin typeface="Times New Roman"/>
                <a:cs typeface="Times New Roman"/>
              </a:rPr>
              <a:t>N </a:t>
            </a:r>
            <a:r>
              <a:rPr dirty="0" sz="2800" spc="-5">
                <a:latin typeface="Times New Roman"/>
                <a:cs typeface="Times New Roman"/>
              </a:rPr>
              <a:t>= </a:t>
            </a:r>
            <a:r>
              <a:rPr dirty="0" sz="2800" spc="-5" i="1">
                <a:latin typeface="Times New Roman"/>
                <a:cs typeface="Times New Roman"/>
              </a:rPr>
              <a:t>mg-F</a:t>
            </a:r>
            <a:r>
              <a:rPr dirty="0" sz="2800" spc="-5">
                <a:latin typeface="Times New Roman"/>
                <a:cs typeface="Times New Roman"/>
              </a:rPr>
              <a:t>cos</a:t>
            </a:r>
            <a:r>
              <a:rPr dirty="0" sz="2800" spc="-5" b="1" i="1">
                <a:latin typeface="Times New Roman"/>
                <a:cs typeface="Times New Roman"/>
              </a:rPr>
              <a:t>θ </a:t>
            </a:r>
            <a:r>
              <a:rPr dirty="0" sz="2800" spc="-5">
                <a:latin typeface="Times New Roman"/>
                <a:cs typeface="Times New Roman"/>
              </a:rPr>
              <a:t>=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 spc="-5" i="1">
                <a:latin typeface="Times New Roman"/>
                <a:cs typeface="Times New Roman"/>
              </a:rPr>
              <a:t>mg-IlB</a:t>
            </a:r>
            <a:r>
              <a:rPr dirty="0" sz="2800" spc="-5">
                <a:latin typeface="Times New Roman"/>
                <a:cs typeface="Times New Roman"/>
              </a:rPr>
              <a:t>cos</a:t>
            </a:r>
            <a:r>
              <a:rPr dirty="0" sz="2800" spc="-5" b="1" i="1">
                <a:latin typeface="Times New Roman"/>
                <a:cs typeface="Times New Roman"/>
              </a:rPr>
              <a:t>θ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dirty="0" sz="2800">
                <a:latin typeface="华文楷体"/>
                <a:cs typeface="华文楷体"/>
              </a:rPr>
              <a:t>由牛顿第三定律</a:t>
            </a:r>
            <a:r>
              <a:rPr dirty="0" sz="2800" spc="-5">
                <a:latin typeface="华文楷体"/>
                <a:cs typeface="华文楷体"/>
              </a:rPr>
              <a:t>：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83079" y="1734311"/>
            <a:ext cx="4604004" cy="3390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387084" y="2479548"/>
            <a:ext cx="3352800" cy="19004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76668" y="1434376"/>
            <a:ext cx="831215" cy="2092325"/>
          </a:xfrm>
          <a:custGeom>
            <a:avLst/>
            <a:gdLst/>
            <a:ahLst/>
            <a:cxnLst/>
            <a:rect l="l" t="t" r="r" b="b"/>
            <a:pathLst>
              <a:path w="831215" h="2092325">
                <a:moveTo>
                  <a:pt x="0" y="116611"/>
                </a:moveTo>
                <a:lnTo>
                  <a:pt x="11214" y="0"/>
                </a:lnTo>
                <a:lnTo>
                  <a:pt x="84743" y="67056"/>
                </a:lnTo>
                <a:lnTo>
                  <a:pt x="55765" y="67056"/>
                </a:lnTo>
                <a:lnTo>
                  <a:pt x="23177" y="79603"/>
                </a:lnTo>
                <a:lnTo>
                  <a:pt x="32595" y="104048"/>
                </a:lnTo>
                <a:lnTo>
                  <a:pt x="0" y="116611"/>
                </a:lnTo>
                <a:close/>
              </a:path>
              <a:path w="831215" h="2092325">
                <a:moveTo>
                  <a:pt x="32595" y="104048"/>
                </a:moveTo>
                <a:lnTo>
                  <a:pt x="23177" y="79603"/>
                </a:lnTo>
                <a:lnTo>
                  <a:pt x="55765" y="67056"/>
                </a:lnTo>
                <a:lnTo>
                  <a:pt x="65179" y="91489"/>
                </a:lnTo>
                <a:lnTo>
                  <a:pt x="32595" y="104048"/>
                </a:lnTo>
                <a:close/>
              </a:path>
              <a:path w="831215" h="2092325">
                <a:moveTo>
                  <a:pt x="65179" y="91489"/>
                </a:moveTo>
                <a:lnTo>
                  <a:pt x="55765" y="67056"/>
                </a:lnTo>
                <a:lnTo>
                  <a:pt x="84743" y="67056"/>
                </a:lnTo>
                <a:lnTo>
                  <a:pt x="97764" y="78930"/>
                </a:lnTo>
                <a:lnTo>
                  <a:pt x="65179" y="91489"/>
                </a:lnTo>
                <a:close/>
              </a:path>
              <a:path w="831215" h="2092325">
                <a:moveTo>
                  <a:pt x="798601" y="2092134"/>
                </a:moveTo>
                <a:lnTo>
                  <a:pt x="32595" y="104048"/>
                </a:lnTo>
                <a:lnTo>
                  <a:pt x="65179" y="91489"/>
                </a:lnTo>
                <a:lnTo>
                  <a:pt x="831189" y="2079574"/>
                </a:lnTo>
                <a:lnTo>
                  <a:pt x="798601" y="209213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216368" y="3794493"/>
            <a:ext cx="152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Times New Roman"/>
                <a:cs typeface="Times New Roman"/>
              </a:rPr>
              <a:t>α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84327" y="3175114"/>
            <a:ext cx="2370455" cy="960755"/>
          </a:xfrm>
          <a:custGeom>
            <a:avLst/>
            <a:gdLst/>
            <a:ahLst/>
            <a:cxnLst/>
            <a:rect l="l" t="t" r="r" b="b"/>
            <a:pathLst>
              <a:path w="2370454" h="960754">
                <a:moveTo>
                  <a:pt x="9359" y="960348"/>
                </a:moveTo>
                <a:lnTo>
                  <a:pt x="0" y="936739"/>
                </a:lnTo>
                <a:lnTo>
                  <a:pt x="2360739" y="0"/>
                </a:lnTo>
                <a:lnTo>
                  <a:pt x="2370099" y="23609"/>
                </a:lnTo>
                <a:lnTo>
                  <a:pt x="9359" y="9603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499110" y="4123651"/>
            <a:ext cx="2340610" cy="0"/>
          </a:xfrm>
          <a:custGeom>
            <a:avLst/>
            <a:gdLst/>
            <a:ahLst/>
            <a:cxnLst/>
            <a:rect l="l" t="t" r="r" b="b"/>
            <a:pathLst>
              <a:path w="2340609" h="0">
                <a:moveTo>
                  <a:pt x="0" y="0"/>
                </a:moveTo>
                <a:lnTo>
                  <a:pt x="2340533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94323" y="2665895"/>
            <a:ext cx="773680" cy="9535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418588" y="2587751"/>
            <a:ext cx="3352800" cy="19004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702372" y="3517671"/>
            <a:ext cx="254000" cy="2076450"/>
          </a:xfrm>
          <a:custGeom>
            <a:avLst/>
            <a:gdLst/>
            <a:ahLst/>
            <a:cxnLst/>
            <a:rect l="l" t="t" r="r" b="b"/>
            <a:pathLst>
              <a:path w="254000" h="2076450">
                <a:moveTo>
                  <a:pt x="128955" y="1949183"/>
                </a:moveTo>
                <a:lnTo>
                  <a:pt x="103164" y="1924182"/>
                </a:lnTo>
                <a:lnTo>
                  <a:pt x="73329" y="787"/>
                </a:lnTo>
                <a:lnTo>
                  <a:pt x="124129" y="0"/>
                </a:lnTo>
                <a:lnTo>
                  <a:pt x="153964" y="1923386"/>
                </a:lnTo>
                <a:lnTo>
                  <a:pt x="128955" y="1949183"/>
                </a:lnTo>
                <a:close/>
              </a:path>
              <a:path w="254000" h="2076450">
                <a:moveTo>
                  <a:pt x="176522" y="1981327"/>
                </a:moveTo>
                <a:lnTo>
                  <a:pt x="104051" y="1981327"/>
                </a:lnTo>
                <a:lnTo>
                  <a:pt x="154851" y="1980539"/>
                </a:lnTo>
                <a:lnTo>
                  <a:pt x="153964" y="1923386"/>
                </a:lnTo>
                <a:lnTo>
                  <a:pt x="253974" y="1820227"/>
                </a:lnTo>
                <a:lnTo>
                  <a:pt x="176522" y="1981327"/>
                </a:lnTo>
                <a:close/>
              </a:path>
              <a:path w="254000" h="2076450">
                <a:moveTo>
                  <a:pt x="130924" y="2076170"/>
                </a:moveTo>
                <a:lnTo>
                  <a:pt x="0" y="1824177"/>
                </a:lnTo>
                <a:lnTo>
                  <a:pt x="103164" y="1924182"/>
                </a:lnTo>
                <a:lnTo>
                  <a:pt x="104051" y="1981327"/>
                </a:lnTo>
                <a:lnTo>
                  <a:pt x="176522" y="1981327"/>
                </a:lnTo>
                <a:lnTo>
                  <a:pt x="130924" y="2076170"/>
                </a:lnTo>
                <a:close/>
              </a:path>
              <a:path w="254000" h="2076450">
                <a:moveTo>
                  <a:pt x="154364" y="1949183"/>
                </a:moveTo>
                <a:lnTo>
                  <a:pt x="128955" y="1949183"/>
                </a:lnTo>
                <a:lnTo>
                  <a:pt x="153964" y="1923386"/>
                </a:lnTo>
                <a:lnTo>
                  <a:pt x="154364" y="1949183"/>
                </a:lnTo>
                <a:close/>
              </a:path>
              <a:path w="254000" h="2076450">
                <a:moveTo>
                  <a:pt x="104051" y="1981327"/>
                </a:moveTo>
                <a:lnTo>
                  <a:pt x="103164" y="1924182"/>
                </a:lnTo>
                <a:lnTo>
                  <a:pt x="128955" y="1949183"/>
                </a:lnTo>
                <a:lnTo>
                  <a:pt x="154364" y="1949183"/>
                </a:lnTo>
                <a:lnTo>
                  <a:pt x="154851" y="1980539"/>
                </a:lnTo>
                <a:lnTo>
                  <a:pt x="104051" y="198132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075536" y="5378106"/>
            <a:ext cx="245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192581" y="1428496"/>
            <a:ext cx="1650364" cy="1423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  <a:spcBef>
                <a:spcPts val="2255"/>
              </a:spcBef>
            </a:pP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7813" y="2607322"/>
            <a:ext cx="879475" cy="2259965"/>
          </a:xfrm>
          <a:custGeom>
            <a:avLst/>
            <a:gdLst/>
            <a:ahLst/>
            <a:cxnLst/>
            <a:rect l="l" t="t" r="r" b="b"/>
            <a:pathLst>
              <a:path w="879475" h="2259965">
                <a:moveTo>
                  <a:pt x="0" y="116522"/>
                </a:moveTo>
                <a:lnTo>
                  <a:pt x="12014" y="0"/>
                </a:lnTo>
                <a:lnTo>
                  <a:pt x="84869" y="67348"/>
                </a:lnTo>
                <a:lnTo>
                  <a:pt x="56108" y="67348"/>
                </a:lnTo>
                <a:lnTo>
                  <a:pt x="23431" y="79679"/>
                </a:lnTo>
                <a:lnTo>
                  <a:pt x="32682" y="104184"/>
                </a:lnTo>
                <a:lnTo>
                  <a:pt x="0" y="116522"/>
                </a:lnTo>
                <a:close/>
              </a:path>
              <a:path w="879475" h="2259965">
                <a:moveTo>
                  <a:pt x="32682" y="104184"/>
                </a:moveTo>
                <a:lnTo>
                  <a:pt x="23431" y="79679"/>
                </a:lnTo>
                <a:lnTo>
                  <a:pt x="56108" y="67348"/>
                </a:lnTo>
                <a:lnTo>
                  <a:pt x="65357" y="91849"/>
                </a:lnTo>
                <a:lnTo>
                  <a:pt x="32682" y="104184"/>
                </a:lnTo>
                <a:close/>
              </a:path>
              <a:path w="879475" h="2259965">
                <a:moveTo>
                  <a:pt x="65357" y="91849"/>
                </a:moveTo>
                <a:lnTo>
                  <a:pt x="56108" y="67348"/>
                </a:lnTo>
                <a:lnTo>
                  <a:pt x="84869" y="67348"/>
                </a:lnTo>
                <a:lnTo>
                  <a:pt x="98031" y="79514"/>
                </a:lnTo>
                <a:lnTo>
                  <a:pt x="65357" y="91849"/>
                </a:lnTo>
                <a:close/>
              </a:path>
              <a:path w="879475" h="2259965">
                <a:moveTo>
                  <a:pt x="846429" y="2259749"/>
                </a:moveTo>
                <a:lnTo>
                  <a:pt x="32682" y="104184"/>
                </a:lnTo>
                <a:lnTo>
                  <a:pt x="65357" y="91849"/>
                </a:lnTo>
                <a:lnTo>
                  <a:pt x="879094" y="2247417"/>
                </a:lnTo>
                <a:lnTo>
                  <a:pt x="846429" y="22597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20844" y="2564041"/>
            <a:ext cx="203473" cy="203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756944" y="3635425"/>
            <a:ext cx="424815" cy="1085215"/>
          </a:xfrm>
          <a:custGeom>
            <a:avLst/>
            <a:gdLst/>
            <a:ahLst/>
            <a:cxnLst/>
            <a:rect l="l" t="t" r="r" b="b"/>
            <a:pathLst>
              <a:path w="424815" h="1085214">
                <a:moveTo>
                  <a:pt x="183337" y="200596"/>
                </a:moveTo>
                <a:lnTo>
                  <a:pt x="384352" y="0"/>
                </a:lnTo>
                <a:lnTo>
                  <a:pt x="396017" y="82270"/>
                </a:lnTo>
                <a:lnTo>
                  <a:pt x="330047" y="82270"/>
                </a:lnTo>
                <a:lnTo>
                  <a:pt x="311913" y="136481"/>
                </a:lnTo>
                <a:lnTo>
                  <a:pt x="183337" y="200596"/>
                </a:lnTo>
                <a:close/>
              </a:path>
              <a:path w="424815" h="1085214">
                <a:moveTo>
                  <a:pt x="311913" y="136481"/>
                </a:moveTo>
                <a:lnTo>
                  <a:pt x="330047" y="82270"/>
                </a:lnTo>
                <a:lnTo>
                  <a:pt x="378231" y="98386"/>
                </a:lnTo>
                <a:lnTo>
                  <a:pt x="370852" y="120446"/>
                </a:lnTo>
                <a:lnTo>
                  <a:pt x="344068" y="120446"/>
                </a:lnTo>
                <a:lnTo>
                  <a:pt x="311913" y="136481"/>
                </a:lnTo>
                <a:close/>
              </a:path>
              <a:path w="424815" h="1085214">
                <a:moveTo>
                  <a:pt x="424218" y="281177"/>
                </a:moveTo>
                <a:lnTo>
                  <a:pt x="360098" y="152593"/>
                </a:lnTo>
                <a:lnTo>
                  <a:pt x="378231" y="98386"/>
                </a:lnTo>
                <a:lnTo>
                  <a:pt x="330047" y="82270"/>
                </a:lnTo>
                <a:lnTo>
                  <a:pt x="396017" y="82270"/>
                </a:lnTo>
                <a:lnTo>
                  <a:pt x="424218" y="281177"/>
                </a:lnTo>
                <a:close/>
              </a:path>
              <a:path w="424815" h="1085214">
                <a:moveTo>
                  <a:pt x="48183" y="1085037"/>
                </a:moveTo>
                <a:lnTo>
                  <a:pt x="0" y="1068920"/>
                </a:lnTo>
                <a:lnTo>
                  <a:pt x="311913" y="136481"/>
                </a:lnTo>
                <a:lnTo>
                  <a:pt x="344068" y="120446"/>
                </a:lnTo>
                <a:lnTo>
                  <a:pt x="360098" y="152593"/>
                </a:lnTo>
                <a:lnTo>
                  <a:pt x="48183" y="1085037"/>
                </a:lnTo>
                <a:close/>
              </a:path>
              <a:path w="424815" h="1085214">
                <a:moveTo>
                  <a:pt x="360098" y="152593"/>
                </a:moveTo>
                <a:lnTo>
                  <a:pt x="344068" y="120446"/>
                </a:lnTo>
                <a:lnTo>
                  <a:pt x="370852" y="120446"/>
                </a:lnTo>
                <a:lnTo>
                  <a:pt x="360098" y="15259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43200" y="2365248"/>
            <a:ext cx="3352800" cy="19004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28902" y="2665425"/>
            <a:ext cx="254000" cy="2076450"/>
          </a:xfrm>
          <a:custGeom>
            <a:avLst/>
            <a:gdLst/>
            <a:ahLst/>
            <a:cxnLst/>
            <a:rect l="l" t="t" r="r" b="b"/>
            <a:pathLst>
              <a:path w="254000" h="2076450">
                <a:moveTo>
                  <a:pt x="128955" y="1949183"/>
                </a:moveTo>
                <a:lnTo>
                  <a:pt x="103164" y="1924182"/>
                </a:lnTo>
                <a:lnTo>
                  <a:pt x="73329" y="787"/>
                </a:lnTo>
                <a:lnTo>
                  <a:pt x="124117" y="0"/>
                </a:lnTo>
                <a:lnTo>
                  <a:pt x="153952" y="1923399"/>
                </a:lnTo>
                <a:lnTo>
                  <a:pt x="128955" y="1949183"/>
                </a:lnTo>
                <a:close/>
              </a:path>
              <a:path w="254000" h="2076450">
                <a:moveTo>
                  <a:pt x="176522" y="1981327"/>
                </a:moveTo>
                <a:lnTo>
                  <a:pt x="104051" y="1981327"/>
                </a:lnTo>
                <a:lnTo>
                  <a:pt x="154838" y="1980539"/>
                </a:lnTo>
                <a:lnTo>
                  <a:pt x="153952" y="1923399"/>
                </a:lnTo>
                <a:lnTo>
                  <a:pt x="253974" y="1820227"/>
                </a:lnTo>
                <a:lnTo>
                  <a:pt x="176522" y="1981327"/>
                </a:lnTo>
                <a:close/>
              </a:path>
              <a:path w="254000" h="2076450">
                <a:moveTo>
                  <a:pt x="130924" y="2076170"/>
                </a:moveTo>
                <a:lnTo>
                  <a:pt x="0" y="1824177"/>
                </a:lnTo>
                <a:lnTo>
                  <a:pt x="103164" y="1924182"/>
                </a:lnTo>
                <a:lnTo>
                  <a:pt x="104051" y="1981327"/>
                </a:lnTo>
                <a:lnTo>
                  <a:pt x="176522" y="1981327"/>
                </a:lnTo>
                <a:lnTo>
                  <a:pt x="130924" y="2076170"/>
                </a:lnTo>
                <a:close/>
              </a:path>
              <a:path w="254000" h="2076450">
                <a:moveTo>
                  <a:pt x="154352" y="1949183"/>
                </a:moveTo>
                <a:lnTo>
                  <a:pt x="128955" y="1949183"/>
                </a:lnTo>
                <a:lnTo>
                  <a:pt x="153952" y="1923399"/>
                </a:lnTo>
                <a:lnTo>
                  <a:pt x="154352" y="1949183"/>
                </a:lnTo>
                <a:close/>
              </a:path>
              <a:path w="254000" h="2076450">
                <a:moveTo>
                  <a:pt x="104051" y="1981327"/>
                </a:moveTo>
                <a:lnTo>
                  <a:pt x="103164" y="1924182"/>
                </a:lnTo>
                <a:lnTo>
                  <a:pt x="128955" y="1949183"/>
                </a:lnTo>
                <a:lnTo>
                  <a:pt x="154352" y="1949183"/>
                </a:lnTo>
                <a:lnTo>
                  <a:pt x="154838" y="1980539"/>
                </a:lnTo>
                <a:lnTo>
                  <a:pt x="104051" y="198132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308621" y="4114393"/>
            <a:ext cx="1500505" cy="755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ts val="2875"/>
              </a:lnSpc>
              <a:spcBef>
                <a:spcPts val="100"/>
              </a:spcBef>
            </a:pP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75"/>
              </a:lnSpc>
            </a:pP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70266" y="4384179"/>
            <a:ext cx="698500" cy="351790"/>
          </a:xfrm>
          <a:custGeom>
            <a:avLst/>
            <a:gdLst/>
            <a:ahLst/>
            <a:cxnLst/>
            <a:rect l="l" t="t" r="r" b="b"/>
            <a:pathLst>
              <a:path w="698500" h="351789">
                <a:moveTo>
                  <a:pt x="549118" y="49151"/>
                </a:moveTo>
                <a:lnTo>
                  <a:pt x="414108" y="0"/>
                </a:lnTo>
                <a:lnTo>
                  <a:pt x="697979" y="7772"/>
                </a:lnTo>
                <a:lnTo>
                  <a:pt x="684312" y="24993"/>
                </a:lnTo>
                <a:lnTo>
                  <a:pt x="600925" y="24993"/>
                </a:lnTo>
                <a:lnTo>
                  <a:pt x="549118" y="49151"/>
                </a:lnTo>
                <a:close/>
              </a:path>
              <a:path w="698500" h="351789">
                <a:moveTo>
                  <a:pt x="570593" y="95194"/>
                </a:moveTo>
                <a:lnTo>
                  <a:pt x="582879" y="61442"/>
                </a:lnTo>
                <a:lnTo>
                  <a:pt x="549118" y="49151"/>
                </a:lnTo>
                <a:lnTo>
                  <a:pt x="600925" y="24993"/>
                </a:lnTo>
                <a:lnTo>
                  <a:pt x="622388" y="71043"/>
                </a:lnTo>
                <a:lnTo>
                  <a:pt x="570593" y="95194"/>
                </a:lnTo>
                <a:close/>
              </a:path>
              <a:path w="698500" h="351789">
                <a:moveTo>
                  <a:pt x="521449" y="230212"/>
                </a:moveTo>
                <a:lnTo>
                  <a:pt x="570593" y="95194"/>
                </a:lnTo>
                <a:lnTo>
                  <a:pt x="622388" y="71043"/>
                </a:lnTo>
                <a:lnTo>
                  <a:pt x="600925" y="24993"/>
                </a:lnTo>
                <a:lnTo>
                  <a:pt x="684312" y="24993"/>
                </a:lnTo>
                <a:lnTo>
                  <a:pt x="521449" y="230212"/>
                </a:lnTo>
                <a:close/>
              </a:path>
              <a:path w="698500" h="351789">
                <a:moveTo>
                  <a:pt x="21463" y="351243"/>
                </a:moveTo>
                <a:lnTo>
                  <a:pt x="0" y="305206"/>
                </a:lnTo>
                <a:lnTo>
                  <a:pt x="549118" y="49151"/>
                </a:lnTo>
                <a:lnTo>
                  <a:pt x="582879" y="61442"/>
                </a:lnTo>
                <a:lnTo>
                  <a:pt x="570593" y="95194"/>
                </a:lnTo>
                <a:lnTo>
                  <a:pt x="21463" y="35124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749247" y="4689373"/>
            <a:ext cx="861694" cy="254000"/>
          </a:xfrm>
          <a:custGeom>
            <a:avLst/>
            <a:gdLst/>
            <a:ahLst/>
            <a:cxnLst/>
            <a:rect l="l" t="t" r="r" b="b"/>
            <a:pathLst>
              <a:path w="861695" h="254000">
                <a:moveTo>
                  <a:pt x="706822" y="170889"/>
                </a:moveTo>
                <a:lnTo>
                  <a:pt x="0" y="50076"/>
                </a:lnTo>
                <a:lnTo>
                  <a:pt x="8547" y="0"/>
                </a:lnTo>
                <a:lnTo>
                  <a:pt x="715386" y="120813"/>
                </a:lnTo>
                <a:lnTo>
                  <a:pt x="736142" y="150126"/>
                </a:lnTo>
                <a:lnTo>
                  <a:pt x="706822" y="170889"/>
                </a:lnTo>
                <a:close/>
              </a:path>
              <a:path w="861695" h="254000">
                <a:moveTo>
                  <a:pt x="831670" y="180517"/>
                </a:moveTo>
                <a:lnTo>
                  <a:pt x="763155" y="180517"/>
                </a:lnTo>
                <a:lnTo>
                  <a:pt x="771715" y="130441"/>
                </a:lnTo>
                <a:lnTo>
                  <a:pt x="715386" y="120813"/>
                </a:lnTo>
                <a:lnTo>
                  <a:pt x="632358" y="3555"/>
                </a:lnTo>
                <a:lnTo>
                  <a:pt x="861326" y="171526"/>
                </a:lnTo>
                <a:lnTo>
                  <a:pt x="831670" y="180517"/>
                </a:lnTo>
                <a:close/>
              </a:path>
              <a:path w="861695" h="254000">
                <a:moveTo>
                  <a:pt x="763155" y="180517"/>
                </a:moveTo>
                <a:lnTo>
                  <a:pt x="706822" y="170889"/>
                </a:lnTo>
                <a:lnTo>
                  <a:pt x="736142" y="150126"/>
                </a:lnTo>
                <a:lnTo>
                  <a:pt x="715386" y="120813"/>
                </a:lnTo>
                <a:lnTo>
                  <a:pt x="771715" y="130441"/>
                </a:lnTo>
                <a:lnTo>
                  <a:pt x="763155" y="180517"/>
                </a:lnTo>
                <a:close/>
              </a:path>
              <a:path w="861695" h="254000">
                <a:moveTo>
                  <a:pt x="589559" y="253923"/>
                </a:moveTo>
                <a:lnTo>
                  <a:pt x="706822" y="170889"/>
                </a:lnTo>
                <a:lnTo>
                  <a:pt x="763155" y="180517"/>
                </a:lnTo>
                <a:lnTo>
                  <a:pt x="831670" y="180517"/>
                </a:lnTo>
                <a:lnTo>
                  <a:pt x="589559" y="25392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955571" y="2296058"/>
            <a:ext cx="245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46480" y="1460500"/>
            <a:ext cx="831215" cy="2092325"/>
          </a:xfrm>
          <a:custGeom>
            <a:avLst/>
            <a:gdLst/>
            <a:ahLst/>
            <a:cxnLst/>
            <a:rect l="l" t="t" r="r" b="b"/>
            <a:pathLst>
              <a:path w="831215" h="2092325">
                <a:moveTo>
                  <a:pt x="0" y="116611"/>
                </a:moveTo>
                <a:lnTo>
                  <a:pt x="11214" y="0"/>
                </a:lnTo>
                <a:lnTo>
                  <a:pt x="84742" y="67056"/>
                </a:lnTo>
                <a:lnTo>
                  <a:pt x="55765" y="67056"/>
                </a:lnTo>
                <a:lnTo>
                  <a:pt x="23177" y="79616"/>
                </a:lnTo>
                <a:lnTo>
                  <a:pt x="32593" y="104054"/>
                </a:lnTo>
                <a:lnTo>
                  <a:pt x="0" y="116611"/>
                </a:lnTo>
                <a:close/>
              </a:path>
              <a:path w="831215" h="2092325">
                <a:moveTo>
                  <a:pt x="32593" y="104054"/>
                </a:moveTo>
                <a:lnTo>
                  <a:pt x="23177" y="79616"/>
                </a:lnTo>
                <a:lnTo>
                  <a:pt x="55765" y="67056"/>
                </a:lnTo>
                <a:lnTo>
                  <a:pt x="65183" y="91499"/>
                </a:lnTo>
                <a:lnTo>
                  <a:pt x="32593" y="104054"/>
                </a:lnTo>
                <a:close/>
              </a:path>
              <a:path w="831215" h="2092325">
                <a:moveTo>
                  <a:pt x="65183" y="91499"/>
                </a:moveTo>
                <a:lnTo>
                  <a:pt x="55765" y="67056"/>
                </a:lnTo>
                <a:lnTo>
                  <a:pt x="84742" y="67056"/>
                </a:lnTo>
                <a:lnTo>
                  <a:pt x="97777" y="78943"/>
                </a:lnTo>
                <a:lnTo>
                  <a:pt x="65183" y="91499"/>
                </a:lnTo>
                <a:close/>
              </a:path>
              <a:path w="831215" h="2092325">
                <a:moveTo>
                  <a:pt x="798601" y="2092134"/>
                </a:moveTo>
                <a:lnTo>
                  <a:pt x="32593" y="104054"/>
                </a:lnTo>
                <a:lnTo>
                  <a:pt x="65183" y="91499"/>
                </a:lnTo>
                <a:lnTo>
                  <a:pt x="831202" y="2079586"/>
                </a:lnTo>
                <a:lnTo>
                  <a:pt x="798601" y="209213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386193" y="3820629"/>
            <a:ext cx="152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Times New Roman"/>
                <a:cs typeface="Times New Roman"/>
              </a:rPr>
              <a:t>α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54139" y="3201238"/>
            <a:ext cx="2370455" cy="960755"/>
          </a:xfrm>
          <a:custGeom>
            <a:avLst/>
            <a:gdLst/>
            <a:ahLst/>
            <a:cxnLst/>
            <a:rect l="l" t="t" r="r" b="b"/>
            <a:pathLst>
              <a:path w="2370454" h="960754">
                <a:moveTo>
                  <a:pt x="9372" y="960348"/>
                </a:moveTo>
                <a:lnTo>
                  <a:pt x="0" y="936739"/>
                </a:lnTo>
                <a:lnTo>
                  <a:pt x="2360739" y="0"/>
                </a:lnTo>
                <a:lnTo>
                  <a:pt x="2370112" y="23609"/>
                </a:lnTo>
                <a:lnTo>
                  <a:pt x="9372" y="9603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668922" y="4149775"/>
            <a:ext cx="2340610" cy="0"/>
          </a:xfrm>
          <a:custGeom>
            <a:avLst/>
            <a:gdLst/>
            <a:ahLst/>
            <a:cxnLst/>
            <a:rect l="l" t="t" r="r" b="b"/>
            <a:pathLst>
              <a:path w="2340609" h="0">
                <a:moveTo>
                  <a:pt x="0" y="0"/>
                </a:moveTo>
                <a:lnTo>
                  <a:pt x="2340546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864138" y="3097364"/>
            <a:ext cx="1145330" cy="5482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616518" y="2706623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589276" y="2613660"/>
            <a:ext cx="3352800" cy="19004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872196" y="3543795"/>
            <a:ext cx="254000" cy="2076450"/>
          </a:xfrm>
          <a:custGeom>
            <a:avLst/>
            <a:gdLst/>
            <a:ahLst/>
            <a:cxnLst/>
            <a:rect l="l" t="t" r="r" b="b"/>
            <a:pathLst>
              <a:path w="254000" h="2076450">
                <a:moveTo>
                  <a:pt x="128955" y="1949196"/>
                </a:moveTo>
                <a:lnTo>
                  <a:pt x="103164" y="1924192"/>
                </a:lnTo>
                <a:lnTo>
                  <a:pt x="73329" y="800"/>
                </a:lnTo>
                <a:lnTo>
                  <a:pt x="124117" y="0"/>
                </a:lnTo>
                <a:lnTo>
                  <a:pt x="153952" y="1923412"/>
                </a:lnTo>
                <a:lnTo>
                  <a:pt x="128955" y="1949196"/>
                </a:lnTo>
                <a:close/>
              </a:path>
              <a:path w="254000" h="2076450">
                <a:moveTo>
                  <a:pt x="176524" y="1981327"/>
                </a:moveTo>
                <a:lnTo>
                  <a:pt x="104051" y="1981327"/>
                </a:lnTo>
                <a:lnTo>
                  <a:pt x="154838" y="1980539"/>
                </a:lnTo>
                <a:lnTo>
                  <a:pt x="153952" y="1923412"/>
                </a:lnTo>
                <a:lnTo>
                  <a:pt x="253974" y="1820240"/>
                </a:lnTo>
                <a:lnTo>
                  <a:pt x="176524" y="1981327"/>
                </a:lnTo>
                <a:close/>
              </a:path>
              <a:path w="254000" h="2076450">
                <a:moveTo>
                  <a:pt x="130924" y="2076170"/>
                </a:moveTo>
                <a:lnTo>
                  <a:pt x="0" y="1824177"/>
                </a:lnTo>
                <a:lnTo>
                  <a:pt x="103164" y="1924192"/>
                </a:lnTo>
                <a:lnTo>
                  <a:pt x="104051" y="1981327"/>
                </a:lnTo>
                <a:lnTo>
                  <a:pt x="176524" y="1981327"/>
                </a:lnTo>
                <a:lnTo>
                  <a:pt x="130924" y="2076170"/>
                </a:lnTo>
                <a:close/>
              </a:path>
              <a:path w="254000" h="2076450">
                <a:moveTo>
                  <a:pt x="154352" y="1949196"/>
                </a:moveTo>
                <a:lnTo>
                  <a:pt x="128955" y="1949196"/>
                </a:lnTo>
                <a:lnTo>
                  <a:pt x="153952" y="1923412"/>
                </a:lnTo>
                <a:lnTo>
                  <a:pt x="154352" y="1949196"/>
                </a:lnTo>
                <a:close/>
              </a:path>
              <a:path w="254000" h="2076450">
                <a:moveTo>
                  <a:pt x="104051" y="1981327"/>
                </a:moveTo>
                <a:lnTo>
                  <a:pt x="103164" y="1924192"/>
                </a:lnTo>
                <a:lnTo>
                  <a:pt x="128955" y="1949196"/>
                </a:lnTo>
                <a:lnTo>
                  <a:pt x="154352" y="1949196"/>
                </a:lnTo>
                <a:lnTo>
                  <a:pt x="154838" y="1980539"/>
                </a:lnTo>
                <a:lnTo>
                  <a:pt x="104051" y="198132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245361" y="5404230"/>
            <a:ext cx="245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038809" y="1526400"/>
            <a:ext cx="1518920" cy="3876675"/>
          </a:xfrm>
          <a:custGeom>
            <a:avLst/>
            <a:gdLst/>
            <a:ahLst/>
            <a:cxnLst/>
            <a:rect l="l" t="t" r="r" b="b"/>
            <a:pathLst>
              <a:path w="1518920" h="3876675">
                <a:moveTo>
                  <a:pt x="0" y="116598"/>
                </a:moveTo>
                <a:lnTo>
                  <a:pt x="11214" y="0"/>
                </a:lnTo>
                <a:lnTo>
                  <a:pt x="84740" y="67043"/>
                </a:lnTo>
                <a:lnTo>
                  <a:pt x="55765" y="67043"/>
                </a:lnTo>
                <a:lnTo>
                  <a:pt x="23177" y="79603"/>
                </a:lnTo>
                <a:lnTo>
                  <a:pt x="32593" y="104042"/>
                </a:lnTo>
                <a:lnTo>
                  <a:pt x="0" y="116598"/>
                </a:lnTo>
                <a:close/>
              </a:path>
              <a:path w="1518920" h="3876675">
                <a:moveTo>
                  <a:pt x="32593" y="104042"/>
                </a:moveTo>
                <a:lnTo>
                  <a:pt x="23177" y="79603"/>
                </a:lnTo>
                <a:lnTo>
                  <a:pt x="55765" y="67043"/>
                </a:lnTo>
                <a:lnTo>
                  <a:pt x="65183" y="91486"/>
                </a:lnTo>
                <a:lnTo>
                  <a:pt x="32593" y="104042"/>
                </a:lnTo>
                <a:close/>
              </a:path>
              <a:path w="1518920" h="3876675">
                <a:moveTo>
                  <a:pt x="65183" y="91486"/>
                </a:moveTo>
                <a:lnTo>
                  <a:pt x="55765" y="67043"/>
                </a:lnTo>
                <a:lnTo>
                  <a:pt x="84740" y="67043"/>
                </a:lnTo>
                <a:lnTo>
                  <a:pt x="97777" y="78930"/>
                </a:lnTo>
                <a:lnTo>
                  <a:pt x="65183" y="91486"/>
                </a:lnTo>
                <a:close/>
              </a:path>
              <a:path w="1518920" h="3876675">
                <a:moveTo>
                  <a:pt x="1486090" y="3876408"/>
                </a:moveTo>
                <a:lnTo>
                  <a:pt x="32593" y="104042"/>
                </a:lnTo>
                <a:lnTo>
                  <a:pt x="65183" y="91486"/>
                </a:lnTo>
                <a:lnTo>
                  <a:pt x="1518678" y="3863860"/>
                </a:lnTo>
                <a:lnTo>
                  <a:pt x="1486090" y="3876408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627279" y="1492364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60538" y="1394536"/>
            <a:ext cx="245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62869" y="4539373"/>
            <a:ext cx="191135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i="1">
                <a:latin typeface="Times New Roman"/>
                <a:cs typeface="Times New Roman"/>
              </a:rPr>
              <a:t>mg</a:t>
            </a:r>
            <a:r>
              <a:rPr dirty="0" sz="2800" spc="-5">
                <a:latin typeface="Times New Roman"/>
                <a:cs typeface="Times New Roman"/>
              </a:rPr>
              <a:t>sin</a:t>
            </a:r>
            <a:r>
              <a:rPr dirty="0" sz="2800" spc="-5" b="1" i="1">
                <a:latin typeface="Times New Roman"/>
                <a:cs typeface="Times New Roman"/>
              </a:rPr>
              <a:t>α</a:t>
            </a:r>
            <a:r>
              <a:rPr dirty="0" sz="2800" spc="-60" b="1" i="1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=</a:t>
            </a:r>
            <a:r>
              <a:rPr dirty="0" sz="2800" spc="-5" i="1">
                <a:latin typeface="Times New Roman"/>
                <a:cs typeface="Times New Roman"/>
              </a:rPr>
              <a:t>I</a:t>
            </a:r>
            <a:r>
              <a:rPr dirty="0" baseline="-16975" sz="2700" spc="-7">
                <a:latin typeface="Times New Roman"/>
                <a:cs typeface="Times New Roman"/>
              </a:rPr>
              <a:t>1</a:t>
            </a:r>
            <a:r>
              <a:rPr dirty="0" sz="2800" spc="-5" i="1">
                <a:latin typeface="Times New Roman"/>
                <a:cs typeface="Times New Roman"/>
              </a:rPr>
              <a:t>lB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42638" y="5219649"/>
            <a:ext cx="48260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i="1">
                <a:latin typeface="Times New Roman"/>
                <a:cs typeface="Times New Roman"/>
              </a:rPr>
              <a:t>B=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60163" y="4951044"/>
            <a:ext cx="106108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i="1">
                <a:latin typeface="Times New Roman"/>
                <a:cs typeface="Times New Roman"/>
              </a:rPr>
              <a:t>mg</a:t>
            </a:r>
            <a:r>
              <a:rPr dirty="0" sz="2800" spc="-5">
                <a:latin typeface="Times New Roman"/>
                <a:cs typeface="Times New Roman"/>
              </a:rPr>
              <a:t>sinα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772863" y="5485491"/>
            <a:ext cx="1035685" cy="0"/>
          </a:xfrm>
          <a:custGeom>
            <a:avLst/>
            <a:gdLst/>
            <a:ahLst/>
            <a:cxnLst/>
            <a:rect l="l" t="t" r="r" b="b"/>
            <a:pathLst>
              <a:path w="1035685" h="0">
                <a:moveTo>
                  <a:pt x="0" y="0"/>
                </a:moveTo>
                <a:lnTo>
                  <a:pt x="1035685" y="0"/>
                </a:lnTo>
              </a:path>
            </a:pathLst>
          </a:custGeom>
          <a:ln w="23329">
            <a:solidFill>
              <a:srgbClr val="8369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229428" y="5650813"/>
            <a:ext cx="141605" cy="3035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00" spc="1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111318" y="5457139"/>
            <a:ext cx="35814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i="1">
                <a:latin typeface="Times New Roman"/>
                <a:cs typeface="Times New Roman"/>
              </a:rPr>
              <a:t>I</a:t>
            </a:r>
            <a:r>
              <a:rPr dirty="0" sz="2800" spc="120" i="1">
                <a:latin typeface="Times New Roman"/>
                <a:cs typeface="Times New Roman"/>
              </a:rPr>
              <a:t> </a:t>
            </a:r>
            <a:r>
              <a:rPr dirty="0" sz="2800" spc="-5" i="1">
                <a:latin typeface="Times New Roman"/>
                <a:cs typeface="Times New Roman"/>
              </a:rPr>
              <a:t>l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59549" y="1473568"/>
            <a:ext cx="831215" cy="2092325"/>
          </a:xfrm>
          <a:custGeom>
            <a:avLst/>
            <a:gdLst/>
            <a:ahLst/>
            <a:cxnLst/>
            <a:rect l="l" t="t" r="r" b="b"/>
            <a:pathLst>
              <a:path w="831215" h="2092325">
                <a:moveTo>
                  <a:pt x="0" y="116598"/>
                </a:moveTo>
                <a:lnTo>
                  <a:pt x="11214" y="0"/>
                </a:lnTo>
                <a:lnTo>
                  <a:pt x="84729" y="67043"/>
                </a:lnTo>
                <a:lnTo>
                  <a:pt x="55765" y="67043"/>
                </a:lnTo>
                <a:lnTo>
                  <a:pt x="23177" y="79603"/>
                </a:lnTo>
                <a:lnTo>
                  <a:pt x="32593" y="104040"/>
                </a:lnTo>
                <a:lnTo>
                  <a:pt x="0" y="116598"/>
                </a:lnTo>
                <a:close/>
              </a:path>
              <a:path w="831215" h="2092325">
                <a:moveTo>
                  <a:pt x="32593" y="104040"/>
                </a:moveTo>
                <a:lnTo>
                  <a:pt x="23177" y="79603"/>
                </a:lnTo>
                <a:lnTo>
                  <a:pt x="55765" y="67043"/>
                </a:lnTo>
                <a:lnTo>
                  <a:pt x="65182" y="91484"/>
                </a:lnTo>
                <a:lnTo>
                  <a:pt x="32593" y="104040"/>
                </a:lnTo>
                <a:close/>
              </a:path>
              <a:path w="831215" h="2092325">
                <a:moveTo>
                  <a:pt x="65182" y="91484"/>
                </a:moveTo>
                <a:lnTo>
                  <a:pt x="55765" y="67043"/>
                </a:lnTo>
                <a:lnTo>
                  <a:pt x="84729" y="67043"/>
                </a:lnTo>
                <a:lnTo>
                  <a:pt x="97764" y="78930"/>
                </a:lnTo>
                <a:lnTo>
                  <a:pt x="65182" y="91484"/>
                </a:lnTo>
                <a:close/>
              </a:path>
              <a:path w="831215" h="2092325">
                <a:moveTo>
                  <a:pt x="798601" y="2092134"/>
                </a:moveTo>
                <a:lnTo>
                  <a:pt x="32593" y="104040"/>
                </a:lnTo>
                <a:lnTo>
                  <a:pt x="65182" y="91484"/>
                </a:lnTo>
                <a:lnTo>
                  <a:pt x="831189" y="2079574"/>
                </a:lnTo>
                <a:lnTo>
                  <a:pt x="798601" y="209213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399248" y="3833685"/>
            <a:ext cx="152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Times New Roman"/>
                <a:cs typeface="Times New Roman"/>
              </a:rPr>
              <a:t>α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67207" y="3214306"/>
            <a:ext cx="2370455" cy="960755"/>
          </a:xfrm>
          <a:custGeom>
            <a:avLst/>
            <a:gdLst/>
            <a:ahLst/>
            <a:cxnLst/>
            <a:rect l="l" t="t" r="r" b="b"/>
            <a:pathLst>
              <a:path w="2370454" h="960754">
                <a:moveTo>
                  <a:pt x="9359" y="960335"/>
                </a:moveTo>
                <a:lnTo>
                  <a:pt x="0" y="936726"/>
                </a:lnTo>
                <a:lnTo>
                  <a:pt x="2360739" y="0"/>
                </a:lnTo>
                <a:lnTo>
                  <a:pt x="2370099" y="23609"/>
                </a:lnTo>
                <a:lnTo>
                  <a:pt x="9359" y="9603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681990" y="4162843"/>
            <a:ext cx="2340610" cy="0"/>
          </a:xfrm>
          <a:custGeom>
            <a:avLst/>
            <a:gdLst/>
            <a:ahLst/>
            <a:cxnLst/>
            <a:rect l="l" t="t" r="r" b="b"/>
            <a:pathLst>
              <a:path w="2340609" h="0">
                <a:moveTo>
                  <a:pt x="0" y="0"/>
                </a:moveTo>
                <a:lnTo>
                  <a:pt x="2340533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877203" y="3407028"/>
            <a:ext cx="1145320" cy="254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152458" y="3489134"/>
            <a:ext cx="3276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dirty="0" baseline="-17921" sz="2325" spc="7" b="1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baseline="-17921" sz="2325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01467" y="2627376"/>
            <a:ext cx="3352800" cy="19004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848600" y="3557142"/>
            <a:ext cx="254000" cy="2106930"/>
          </a:xfrm>
          <a:custGeom>
            <a:avLst/>
            <a:gdLst/>
            <a:ahLst/>
            <a:cxnLst/>
            <a:rect l="l" t="t" r="r" b="b"/>
            <a:pathLst>
              <a:path w="254000" h="2106929">
                <a:moveTo>
                  <a:pt x="126415" y="1979764"/>
                </a:moveTo>
                <a:lnTo>
                  <a:pt x="101134" y="1954252"/>
                </a:lnTo>
                <a:lnTo>
                  <a:pt x="109981" y="0"/>
                </a:lnTo>
                <a:lnTo>
                  <a:pt x="160781" y="228"/>
                </a:lnTo>
                <a:lnTo>
                  <a:pt x="151934" y="1954479"/>
                </a:lnTo>
                <a:lnTo>
                  <a:pt x="126415" y="1979764"/>
                </a:lnTo>
                <a:close/>
              </a:path>
              <a:path w="254000" h="2106929">
                <a:moveTo>
                  <a:pt x="125844" y="2106764"/>
                </a:moveTo>
                <a:lnTo>
                  <a:pt x="0" y="1852193"/>
                </a:lnTo>
                <a:lnTo>
                  <a:pt x="101134" y="1954252"/>
                </a:lnTo>
                <a:lnTo>
                  <a:pt x="100876" y="2011400"/>
                </a:lnTo>
                <a:lnTo>
                  <a:pt x="173955" y="2011629"/>
                </a:lnTo>
                <a:lnTo>
                  <a:pt x="125844" y="2106764"/>
                </a:lnTo>
                <a:close/>
              </a:path>
              <a:path w="254000" h="2106929">
                <a:moveTo>
                  <a:pt x="173955" y="2011629"/>
                </a:moveTo>
                <a:lnTo>
                  <a:pt x="151676" y="2011629"/>
                </a:lnTo>
                <a:lnTo>
                  <a:pt x="151934" y="1954479"/>
                </a:lnTo>
                <a:lnTo>
                  <a:pt x="254000" y="1853349"/>
                </a:lnTo>
                <a:lnTo>
                  <a:pt x="173955" y="2011629"/>
                </a:lnTo>
                <a:close/>
              </a:path>
              <a:path w="254000" h="2106929">
                <a:moveTo>
                  <a:pt x="151676" y="2011629"/>
                </a:moveTo>
                <a:lnTo>
                  <a:pt x="100876" y="2011400"/>
                </a:lnTo>
                <a:lnTo>
                  <a:pt x="101134" y="1954252"/>
                </a:lnTo>
                <a:lnTo>
                  <a:pt x="126415" y="1979764"/>
                </a:lnTo>
                <a:lnTo>
                  <a:pt x="151820" y="1979764"/>
                </a:lnTo>
                <a:lnTo>
                  <a:pt x="151676" y="2011629"/>
                </a:lnTo>
                <a:close/>
              </a:path>
              <a:path w="254000" h="2106929">
                <a:moveTo>
                  <a:pt x="151820" y="1979764"/>
                </a:moveTo>
                <a:lnTo>
                  <a:pt x="126415" y="1979764"/>
                </a:lnTo>
                <a:lnTo>
                  <a:pt x="151934" y="1954479"/>
                </a:lnTo>
                <a:lnTo>
                  <a:pt x="151820" y="19797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258416" y="5417299"/>
            <a:ext cx="245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75461" y="1467675"/>
            <a:ext cx="245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849844" y="1703971"/>
            <a:ext cx="104775" cy="3687445"/>
          </a:xfrm>
          <a:custGeom>
            <a:avLst/>
            <a:gdLst/>
            <a:ahLst/>
            <a:cxnLst/>
            <a:rect l="l" t="t" r="r" b="b"/>
            <a:pathLst>
              <a:path w="104775" h="3687445">
                <a:moveTo>
                  <a:pt x="34925" y="104775"/>
                </a:moveTo>
                <a:lnTo>
                  <a:pt x="0" y="104775"/>
                </a:lnTo>
                <a:lnTo>
                  <a:pt x="52387" y="0"/>
                </a:lnTo>
                <a:lnTo>
                  <a:pt x="91674" y="78574"/>
                </a:lnTo>
                <a:lnTo>
                  <a:pt x="34925" y="78574"/>
                </a:lnTo>
                <a:lnTo>
                  <a:pt x="34925" y="104775"/>
                </a:lnTo>
                <a:close/>
              </a:path>
              <a:path w="104775" h="3687445">
                <a:moveTo>
                  <a:pt x="69850" y="3687051"/>
                </a:moveTo>
                <a:lnTo>
                  <a:pt x="34925" y="3687051"/>
                </a:lnTo>
                <a:lnTo>
                  <a:pt x="34925" y="78574"/>
                </a:lnTo>
                <a:lnTo>
                  <a:pt x="69850" y="78574"/>
                </a:lnTo>
                <a:lnTo>
                  <a:pt x="69850" y="3687051"/>
                </a:lnTo>
                <a:close/>
              </a:path>
              <a:path w="104775" h="3687445">
                <a:moveTo>
                  <a:pt x="104775" y="104775"/>
                </a:moveTo>
                <a:lnTo>
                  <a:pt x="69850" y="104775"/>
                </a:lnTo>
                <a:lnTo>
                  <a:pt x="69850" y="78574"/>
                </a:lnTo>
                <a:lnTo>
                  <a:pt x="91674" y="78574"/>
                </a:lnTo>
                <a:lnTo>
                  <a:pt x="104775" y="104775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8093697" y="1487741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10418" y="2386076"/>
            <a:ext cx="831215" cy="2092325"/>
          </a:xfrm>
          <a:custGeom>
            <a:avLst/>
            <a:gdLst/>
            <a:ahLst/>
            <a:cxnLst/>
            <a:rect l="l" t="t" r="r" b="b"/>
            <a:pathLst>
              <a:path w="831214" h="2092325">
                <a:moveTo>
                  <a:pt x="0" y="116598"/>
                </a:moveTo>
                <a:lnTo>
                  <a:pt x="11214" y="0"/>
                </a:lnTo>
                <a:lnTo>
                  <a:pt x="84729" y="67043"/>
                </a:lnTo>
                <a:lnTo>
                  <a:pt x="55765" y="67043"/>
                </a:lnTo>
                <a:lnTo>
                  <a:pt x="23164" y="79603"/>
                </a:lnTo>
                <a:lnTo>
                  <a:pt x="32582" y="104044"/>
                </a:lnTo>
                <a:lnTo>
                  <a:pt x="0" y="116598"/>
                </a:lnTo>
                <a:close/>
              </a:path>
              <a:path w="831214" h="2092325">
                <a:moveTo>
                  <a:pt x="32582" y="104044"/>
                </a:moveTo>
                <a:lnTo>
                  <a:pt x="23164" y="79603"/>
                </a:lnTo>
                <a:lnTo>
                  <a:pt x="55765" y="67043"/>
                </a:lnTo>
                <a:lnTo>
                  <a:pt x="65182" y="91484"/>
                </a:lnTo>
                <a:lnTo>
                  <a:pt x="32582" y="104044"/>
                </a:lnTo>
                <a:close/>
              </a:path>
              <a:path w="831214" h="2092325">
                <a:moveTo>
                  <a:pt x="65182" y="91484"/>
                </a:moveTo>
                <a:lnTo>
                  <a:pt x="55765" y="67043"/>
                </a:lnTo>
                <a:lnTo>
                  <a:pt x="84729" y="67043"/>
                </a:lnTo>
                <a:lnTo>
                  <a:pt x="97764" y="78930"/>
                </a:lnTo>
                <a:lnTo>
                  <a:pt x="65182" y="91484"/>
                </a:lnTo>
                <a:close/>
              </a:path>
              <a:path w="831214" h="2092325">
                <a:moveTo>
                  <a:pt x="798601" y="2092134"/>
                </a:moveTo>
                <a:lnTo>
                  <a:pt x="32582" y="104044"/>
                </a:lnTo>
                <a:lnTo>
                  <a:pt x="65182" y="91484"/>
                </a:lnTo>
                <a:lnTo>
                  <a:pt x="831189" y="2079574"/>
                </a:lnTo>
                <a:lnTo>
                  <a:pt x="798601" y="209213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086758" y="4397476"/>
            <a:ext cx="838835" cy="190500"/>
          </a:xfrm>
          <a:custGeom>
            <a:avLst/>
            <a:gdLst/>
            <a:ahLst/>
            <a:cxnLst/>
            <a:rect l="l" t="t" r="r" b="b"/>
            <a:pathLst>
              <a:path w="838835" h="190500">
                <a:moveTo>
                  <a:pt x="648055" y="190500"/>
                </a:moveTo>
                <a:lnTo>
                  <a:pt x="743305" y="95250"/>
                </a:lnTo>
                <a:lnTo>
                  <a:pt x="648055" y="0"/>
                </a:lnTo>
                <a:lnTo>
                  <a:pt x="800455" y="76200"/>
                </a:lnTo>
                <a:lnTo>
                  <a:pt x="767118" y="76200"/>
                </a:lnTo>
                <a:lnTo>
                  <a:pt x="767118" y="114300"/>
                </a:lnTo>
                <a:lnTo>
                  <a:pt x="800455" y="114300"/>
                </a:lnTo>
                <a:lnTo>
                  <a:pt x="648055" y="190500"/>
                </a:lnTo>
                <a:close/>
              </a:path>
              <a:path w="838835" h="190500">
                <a:moveTo>
                  <a:pt x="724255" y="114300"/>
                </a:moveTo>
                <a:lnTo>
                  <a:pt x="0" y="114300"/>
                </a:lnTo>
                <a:lnTo>
                  <a:pt x="0" y="76200"/>
                </a:lnTo>
                <a:lnTo>
                  <a:pt x="724255" y="76200"/>
                </a:lnTo>
                <a:lnTo>
                  <a:pt x="743305" y="95250"/>
                </a:lnTo>
                <a:lnTo>
                  <a:pt x="724255" y="114300"/>
                </a:lnTo>
                <a:close/>
              </a:path>
              <a:path w="838835" h="190500">
                <a:moveTo>
                  <a:pt x="800455" y="114300"/>
                </a:moveTo>
                <a:lnTo>
                  <a:pt x="767118" y="114300"/>
                </a:lnTo>
                <a:lnTo>
                  <a:pt x="767118" y="76200"/>
                </a:lnTo>
                <a:lnTo>
                  <a:pt x="800455" y="76200"/>
                </a:lnTo>
                <a:lnTo>
                  <a:pt x="838555" y="95250"/>
                </a:lnTo>
                <a:lnTo>
                  <a:pt x="800455" y="1143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992371" y="2385987"/>
            <a:ext cx="190500" cy="2106930"/>
          </a:xfrm>
          <a:custGeom>
            <a:avLst/>
            <a:gdLst/>
            <a:ahLst/>
            <a:cxnLst/>
            <a:rect l="l" t="t" r="r" b="b"/>
            <a:pathLst>
              <a:path w="190500" h="2106929">
                <a:moveTo>
                  <a:pt x="94818" y="2011489"/>
                </a:moveTo>
                <a:lnTo>
                  <a:pt x="75848" y="1992346"/>
                </a:lnTo>
                <a:lnTo>
                  <a:pt x="84874" y="0"/>
                </a:lnTo>
                <a:lnTo>
                  <a:pt x="122961" y="165"/>
                </a:lnTo>
                <a:lnTo>
                  <a:pt x="113947" y="1992532"/>
                </a:lnTo>
                <a:lnTo>
                  <a:pt x="94818" y="2011489"/>
                </a:lnTo>
                <a:close/>
              </a:path>
              <a:path w="190500" h="2106929">
                <a:moveTo>
                  <a:pt x="94386" y="2106739"/>
                </a:moveTo>
                <a:lnTo>
                  <a:pt x="0" y="1915807"/>
                </a:lnTo>
                <a:lnTo>
                  <a:pt x="75848" y="1992346"/>
                </a:lnTo>
                <a:lnTo>
                  <a:pt x="75653" y="2035213"/>
                </a:lnTo>
                <a:lnTo>
                  <a:pt x="130465" y="2035390"/>
                </a:lnTo>
                <a:lnTo>
                  <a:pt x="94386" y="2106739"/>
                </a:lnTo>
                <a:close/>
              </a:path>
              <a:path w="190500" h="2106929">
                <a:moveTo>
                  <a:pt x="130465" y="2035390"/>
                </a:moveTo>
                <a:lnTo>
                  <a:pt x="113753" y="2035390"/>
                </a:lnTo>
                <a:lnTo>
                  <a:pt x="113947" y="1992532"/>
                </a:lnTo>
                <a:lnTo>
                  <a:pt x="190500" y="1916671"/>
                </a:lnTo>
                <a:lnTo>
                  <a:pt x="130465" y="2035390"/>
                </a:lnTo>
                <a:close/>
              </a:path>
              <a:path w="190500" h="2106929">
                <a:moveTo>
                  <a:pt x="113753" y="2035390"/>
                </a:moveTo>
                <a:lnTo>
                  <a:pt x="75653" y="2035213"/>
                </a:lnTo>
                <a:lnTo>
                  <a:pt x="75848" y="1992346"/>
                </a:lnTo>
                <a:lnTo>
                  <a:pt x="94818" y="2011489"/>
                </a:lnTo>
                <a:lnTo>
                  <a:pt x="113862" y="2011489"/>
                </a:lnTo>
                <a:lnTo>
                  <a:pt x="113753" y="2035390"/>
                </a:lnTo>
                <a:close/>
              </a:path>
              <a:path w="190500" h="2106929">
                <a:moveTo>
                  <a:pt x="113862" y="2011489"/>
                </a:moveTo>
                <a:lnTo>
                  <a:pt x="94818" y="2011489"/>
                </a:lnTo>
                <a:lnTo>
                  <a:pt x="113947" y="1992532"/>
                </a:lnTo>
                <a:lnTo>
                  <a:pt x="113862" y="201148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165498" y="2905087"/>
            <a:ext cx="152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Times New Roman"/>
                <a:cs typeface="Times New Roman"/>
              </a:rPr>
              <a:t>α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21874" y="4528121"/>
            <a:ext cx="245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04053" y="4404359"/>
            <a:ext cx="3276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dirty="0" baseline="-17921" sz="2325" spc="7" b="1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baseline="-17921" sz="2325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52912" y="2310472"/>
            <a:ext cx="3448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dirty="0" baseline="-17921" sz="2325" spc="7" b="1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baseline="-17921" sz="2325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139611" y="1989975"/>
            <a:ext cx="1967230" cy="120015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48260">
              <a:lnSpc>
                <a:spcPct val="100000"/>
              </a:lnSpc>
              <a:spcBef>
                <a:spcPts val="95"/>
              </a:spcBef>
            </a:pPr>
            <a:r>
              <a:rPr dirty="0" sz="2800" spc="-5" b="0" i="1">
                <a:solidFill>
                  <a:srgbClr val="000000"/>
                </a:solidFill>
                <a:latin typeface="Times New Roman"/>
                <a:cs typeface="Times New Roman"/>
              </a:rPr>
              <a:t>mg</a:t>
            </a:r>
            <a:r>
              <a:rPr dirty="0" sz="2800" spc="-5" b="0">
                <a:solidFill>
                  <a:srgbClr val="000000"/>
                </a:solidFill>
                <a:latin typeface="Times New Roman"/>
                <a:cs typeface="Times New Roman"/>
              </a:rPr>
              <a:t>tan</a:t>
            </a:r>
            <a:r>
              <a:rPr dirty="0" sz="2800" spc="-5" i="1">
                <a:solidFill>
                  <a:srgbClr val="000000"/>
                </a:solidFill>
                <a:latin typeface="Times New Roman"/>
                <a:cs typeface="Times New Roman"/>
              </a:rPr>
              <a:t>α</a:t>
            </a:r>
            <a:r>
              <a:rPr dirty="0" sz="2800" spc="-70" i="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0">
                <a:solidFill>
                  <a:srgbClr val="000000"/>
                </a:solidFill>
                <a:latin typeface="Times New Roman"/>
                <a:cs typeface="Times New Roman"/>
              </a:rPr>
              <a:t>=</a:t>
            </a:r>
            <a:r>
              <a:rPr dirty="0" sz="2800" spc="-5" b="0" i="1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dirty="0" baseline="-16975" sz="2700" spc="-7" b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0" i="1">
                <a:solidFill>
                  <a:srgbClr val="000000"/>
                </a:solidFill>
                <a:latin typeface="Times New Roman"/>
                <a:cs typeface="Times New Roman"/>
              </a:rPr>
              <a:t>lB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35"/>
              </a:spcBef>
            </a:pPr>
            <a:r>
              <a:rPr dirty="0" sz="2800" spc="-5" b="0" i="1">
                <a:solidFill>
                  <a:srgbClr val="000000"/>
                </a:solidFill>
                <a:latin typeface="Times New Roman"/>
                <a:cs typeface="Times New Roman"/>
              </a:rPr>
              <a:t>mg</a:t>
            </a:r>
            <a:r>
              <a:rPr dirty="0" sz="2800" spc="-5" b="0">
                <a:solidFill>
                  <a:srgbClr val="000000"/>
                </a:solidFill>
                <a:latin typeface="Times New Roman"/>
                <a:cs typeface="Times New Roman"/>
              </a:rPr>
              <a:t>sin</a:t>
            </a:r>
            <a:r>
              <a:rPr dirty="0" sz="2800" spc="-5" i="1">
                <a:solidFill>
                  <a:srgbClr val="000000"/>
                </a:solidFill>
                <a:latin typeface="Times New Roman"/>
                <a:cs typeface="Times New Roman"/>
              </a:rPr>
              <a:t>α</a:t>
            </a:r>
            <a:r>
              <a:rPr dirty="0" sz="2800" spc="-70" i="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0">
                <a:solidFill>
                  <a:srgbClr val="000000"/>
                </a:solidFill>
                <a:latin typeface="Times New Roman"/>
                <a:cs typeface="Times New Roman"/>
              </a:rPr>
              <a:t>=</a:t>
            </a:r>
            <a:r>
              <a:rPr dirty="0" sz="2800" spc="-5" b="0" i="1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dirty="0" baseline="-16975" sz="2700" spc="-7" b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0" i="1">
                <a:solidFill>
                  <a:srgbClr val="000000"/>
                </a:solidFill>
                <a:latin typeface="Times New Roman"/>
                <a:cs typeface="Times New Roman"/>
              </a:rPr>
              <a:t>lB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83629" y="3987533"/>
            <a:ext cx="141605" cy="3035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00" spc="1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65519" y="3793858"/>
            <a:ext cx="45974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i="1">
                <a:latin typeface="Times New Roman"/>
                <a:cs typeface="Times New Roman"/>
              </a:rPr>
              <a:t>I</a:t>
            </a:r>
            <a:r>
              <a:rPr dirty="0" sz="2800" spc="120" i="1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=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50684" y="3525253"/>
            <a:ext cx="2914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i="1">
                <a:latin typeface="Times New Roman"/>
                <a:cs typeface="Times New Roman"/>
              </a:rPr>
              <a:t>I</a:t>
            </a:r>
            <a:r>
              <a:rPr dirty="0" baseline="-15277" sz="3000" spc="75">
                <a:latin typeface="Cambria Math"/>
                <a:cs typeface="Cambria Math"/>
              </a:rPr>
              <a:t>1</a:t>
            </a:r>
            <a:endParaRPr baseline="-15277" sz="30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72884" y="4059701"/>
            <a:ext cx="660400" cy="0"/>
          </a:xfrm>
          <a:custGeom>
            <a:avLst/>
            <a:gdLst/>
            <a:ahLst/>
            <a:cxnLst/>
            <a:rect l="l" t="t" r="r" b="b"/>
            <a:pathLst>
              <a:path w="660400" h="0">
                <a:moveTo>
                  <a:pt x="0" y="0"/>
                </a:moveTo>
                <a:lnTo>
                  <a:pt x="660400" y="0"/>
                </a:lnTo>
              </a:path>
            </a:pathLst>
          </a:custGeom>
          <a:ln w="23329">
            <a:solidFill>
              <a:srgbClr val="8369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960184" y="4031348"/>
            <a:ext cx="68580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latin typeface="Times New Roman"/>
                <a:cs typeface="Times New Roman"/>
              </a:rPr>
              <a:t>cosα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63595" y="2075688"/>
            <a:ext cx="6111239" cy="34427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57816" y="1293063"/>
            <a:ext cx="506095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000000"/>
                </a:solidFill>
                <a:latin typeface="华文楷体"/>
                <a:cs typeface="华文楷体"/>
              </a:rPr>
              <a:t>磁场可以让通电线圈转</a:t>
            </a:r>
            <a:r>
              <a:rPr dirty="0" sz="3600" spc="-5">
                <a:solidFill>
                  <a:srgbClr val="000000"/>
                </a:solidFill>
                <a:latin typeface="华文楷体"/>
                <a:cs typeface="华文楷体"/>
              </a:rPr>
              <a:t>动</a:t>
            </a:r>
            <a:endParaRPr sz="36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27120" y="1589532"/>
            <a:ext cx="4937760" cy="42169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41930" y="2276652"/>
            <a:ext cx="4316730" cy="3225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800" b="1">
                <a:latin typeface="宋体"/>
                <a:cs typeface="宋体"/>
              </a:rPr>
              <a:t>    </a:t>
            </a:r>
            <a:r>
              <a:rPr dirty="0" sz="2800" b="1">
                <a:latin typeface="宋体"/>
                <a:cs typeface="宋体"/>
              </a:rPr>
              <a:t>在实验室中，常用到</a:t>
            </a:r>
            <a:r>
              <a:rPr dirty="0" sz="2800" spc="-15" b="1">
                <a:latin typeface="宋体"/>
                <a:cs typeface="宋体"/>
              </a:rPr>
              <a:t>一 </a:t>
            </a:r>
            <a:r>
              <a:rPr dirty="0" sz="2800" b="1">
                <a:latin typeface="宋体"/>
                <a:cs typeface="宋体"/>
              </a:rPr>
              <a:t>种测电流强弱和方向的电</a:t>
            </a:r>
            <a:r>
              <a:rPr dirty="0" sz="2800" spc="-15" b="1">
                <a:latin typeface="宋体"/>
                <a:cs typeface="宋体"/>
              </a:rPr>
              <a:t>学 </a:t>
            </a:r>
            <a:r>
              <a:rPr dirty="0" sz="2800" b="1">
                <a:latin typeface="宋体"/>
                <a:cs typeface="宋体"/>
              </a:rPr>
              <a:t>仪器——电流表，它就是</a:t>
            </a:r>
            <a:r>
              <a:rPr dirty="0" sz="2800" spc="-15" b="1">
                <a:latin typeface="宋体"/>
                <a:cs typeface="宋体"/>
              </a:rPr>
              <a:t>根 </a:t>
            </a:r>
            <a:r>
              <a:rPr dirty="0" sz="2800" b="1">
                <a:latin typeface="宋体"/>
                <a:cs typeface="宋体"/>
              </a:rPr>
              <a:t>据磁场对电流作用的安培</a:t>
            </a:r>
            <a:r>
              <a:rPr dirty="0" sz="2800" spc="-15" b="1">
                <a:latin typeface="宋体"/>
                <a:cs typeface="宋体"/>
              </a:rPr>
              <a:t>力 </a:t>
            </a:r>
            <a:r>
              <a:rPr dirty="0" sz="2800" b="1">
                <a:latin typeface="宋体"/>
                <a:cs typeface="宋体"/>
              </a:rPr>
              <a:t>制成的</a:t>
            </a:r>
            <a:r>
              <a:rPr dirty="0" sz="2800" spc="-20" b="1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315200" y="2308860"/>
            <a:ext cx="2350007" cy="34152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549893" y="1320266"/>
            <a:ext cx="4106545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000000"/>
                </a:solidFill>
                <a:latin typeface="黑体"/>
                <a:cs typeface="黑体"/>
              </a:rPr>
              <a:t>四、磁电式电流</a:t>
            </a:r>
            <a:r>
              <a:rPr dirty="0" sz="4000" spc="-25">
                <a:solidFill>
                  <a:srgbClr val="000000"/>
                </a:solidFill>
                <a:latin typeface="黑体"/>
                <a:cs typeface="黑体"/>
              </a:rPr>
              <a:t>表</a:t>
            </a:r>
            <a:endParaRPr sz="4000">
              <a:latin typeface="黑体"/>
              <a:cs typeface="黑体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91840" y="1502663"/>
            <a:ext cx="5801868" cy="43510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93947" y="3249167"/>
            <a:ext cx="1894331" cy="2095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861815" y="4860035"/>
            <a:ext cx="893063" cy="975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814397" y="4850600"/>
            <a:ext cx="986926" cy="1173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770490" y="4745825"/>
            <a:ext cx="6002020" cy="12484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634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600" spc="15" b="1">
                <a:solidFill>
                  <a:srgbClr val="FF0000"/>
                </a:solidFill>
                <a:latin typeface="思源黑体 CN"/>
                <a:cs typeface="思源黑体 CN"/>
              </a:rPr>
              <a:t>铁芯、线圈和指针是一个整体可以转动</a:t>
            </a:r>
            <a:r>
              <a:rPr dirty="0" sz="2600" spc="5" b="1">
                <a:solidFill>
                  <a:srgbClr val="FF0000"/>
                </a:solidFill>
                <a:latin typeface="思源黑体 CN"/>
                <a:cs typeface="思源黑体 CN"/>
              </a:rPr>
              <a:t>。</a:t>
            </a:r>
            <a:endParaRPr sz="2600">
              <a:latin typeface="思源黑体 CN"/>
              <a:cs typeface="思源黑体 C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25873" y="2828544"/>
            <a:ext cx="0" cy="2072639"/>
          </a:xfrm>
          <a:custGeom>
            <a:avLst/>
            <a:gdLst/>
            <a:ahLst/>
            <a:cxnLst/>
            <a:rect l="l" t="t" r="r" b="b"/>
            <a:pathLst>
              <a:path w="0" h="2072639">
                <a:moveTo>
                  <a:pt x="0" y="0"/>
                </a:moveTo>
                <a:lnTo>
                  <a:pt x="0" y="2072639"/>
                </a:lnTo>
              </a:path>
            </a:pathLst>
          </a:custGeom>
          <a:ln w="746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276255" y="2815970"/>
            <a:ext cx="99695" cy="2098040"/>
          </a:xfrm>
          <a:custGeom>
            <a:avLst/>
            <a:gdLst/>
            <a:ahLst/>
            <a:cxnLst/>
            <a:rect l="l" t="t" r="r" b="b"/>
            <a:pathLst>
              <a:path w="99695" h="2098040">
                <a:moveTo>
                  <a:pt x="99644" y="2097760"/>
                </a:moveTo>
                <a:lnTo>
                  <a:pt x="0" y="2097760"/>
                </a:lnTo>
                <a:lnTo>
                  <a:pt x="0" y="0"/>
                </a:lnTo>
                <a:lnTo>
                  <a:pt x="99644" y="0"/>
                </a:lnTo>
                <a:lnTo>
                  <a:pt x="99644" y="12699"/>
                </a:lnTo>
                <a:lnTo>
                  <a:pt x="25400" y="12699"/>
                </a:lnTo>
                <a:lnTo>
                  <a:pt x="12700" y="25399"/>
                </a:lnTo>
                <a:lnTo>
                  <a:pt x="25400" y="25399"/>
                </a:lnTo>
                <a:lnTo>
                  <a:pt x="25400" y="2072360"/>
                </a:lnTo>
                <a:lnTo>
                  <a:pt x="12700" y="2072360"/>
                </a:lnTo>
                <a:lnTo>
                  <a:pt x="25400" y="2085060"/>
                </a:lnTo>
                <a:lnTo>
                  <a:pt x="99644" y="2085060"/>
                </a:lnTo>
                <a:lnTo>
                  <a:pt x="99644" y="2097760"/>
                </a:lnTo>
                <a:close/>
              </a:path>
              <a:path w="99695" h="2098040">
                <a:moveTo>
                  <a:pt x="25400" y="25399"/>
                </a:moveTo>
                <a:lnTo>
                  <a:pt x="12700" y="25399"/>
                </a:lnTo>
                <a:lnTo>
                  <a:pt x="25400" y="12699"/>
                </a:lnTo>
                <a:lnTo>
                  <a:pt x="25400" y="25399"/>
                </a:lnTo>
                <a:close/>
              </a:path>
              <a:path w="99695" h="2098040">
                <a:moveTo>
                  <a:pt x="74244" y="25399"/>
                </a:moveTo>
                <a:lnTo>
                  <a:pt x="25400" y="25399"/>
                </a:lnTo>
                <a:lnTo>
                  <a:pt x="25400" y="12699"/>
                </a:lnTo>
                <a:lnTo>
                  <a:pt x="74244" y="12699"/>
                </a:lnTo>
                <a:lnTo>
                  <a:pt x="74244" y="25399"/>
                </a:lnTo>
                <a:close/>
              </a:path>
              <a:path w="99695" h="2098040">
                <a:moveTo>
                  <a:pt x="74244" y="2085060"/>
                </a:moveTo>
                <a:lnTo>
                  <a:pt x="74244" y="12699"/>
                </a:lnTo>
                <a:lnTo>
                  <a:pt x="86944" y="25399"/>
                </a:lnTo>
                <a:lnTo>
                  <a:pt x="99644" y="25399"/>
                </a:lnTo>
                <a:lnTo>
                  <a:pt x="99644" y="2072360"/>
                </a:lnTo>
                <a:lnTo>
                  <a:pt x="86944" y="2072360"/>
                </a:lnTo>
                <a:lnTo>
                  <a:pt x="74244" y="2085060"/>
                </a:lnTo>
                <a:close/>
              </a:path>
              <a:path w="99695" h="2098040">
                <a:moveTo>
                  <a:pt x="99644" y="25399"/>
                </a:moveTo>
                <a:lnTo>
                  <a:pt x="86944" y="25399"/>
                </a:lnTo>
                <a:lnTo>
                  <a:pt x="74244" y="12699"/>
                </a:lnTo>
                <a:lnTo>
                  <a:pt x="99644" y="12699"/>
                </a:lnTo>
                <a:lnTo>
                  <a:pt x="99644" y="25399"/>
                </a:lnTo>
                <a:close/>
              </a:path>
              <a:path w="99695" h="2098040">
                <a:moveTo>
                  <a:pt x="25400" y="2085060"/>
                </a:moveTo>
                <a:lnTo>
                  <a:pt x="12700" y="2072360"/>
                </a:lnTo>
                <a:lnTo>
                  <a:pt x="25400" y="2072360"/>
                </a:lnTo>
                <a:lnTo>
                  <a:pt x="25400" y="2085060"/>
                </a:lnTo>
                <a:close/>
              </a:path>
              <a:path w="99695" h="2098040">
                <a:moveTo>
                  <a:pt x="74244" y="2085060"/>
                </a:moveTo>
                <a:lnTo>
                  <a:pt x="25400" y="2085060"/>
                </a:lnTo>
                <a:lnTo>
                  <a:pt x="25400" y="2072360"/>
                </a:lnTo>
                <a:lnTo>
                  <a:pt x="74244" y="2072360"/>
                </a:lnTo>
                <a:lnTo>
                  <a:pt x="74244" y="2085060"/>
                </a:lnTo>
                <a:close/>
              </a:path>
              <a:path w="99695" h="2098040">
                <a:moveTo>
                  <a:pt x="99644" y="2085060"/>
                </a:moveTo>
                <a:lnTo>
                  <a:pt x="74244" y="2085060"/>
                </a:lnTo>
                <a:lnTo>
                  <a:pt x="86944" y="2072360"/>
                </a:lnTo>
                <a:lnTo>
                  <a:pt x="99644" y="2072360"/>
                </a:lnTo>
                <a:lnTo>
                  <a:pt x="99644" y="20850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277539" y="4851806"/>
            <a:ext cx="98346" cy="984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261103" y="2610611"/>
            <a:ext cx="139065" cy="213360"/>
          </a:xfrm>
          <a:custGeom>
            <a:avLst/>
            <a:gdLst/>
            <a:ahLst/>
            <a:cxnLst/>
            <a:rect l="l" t="t" r="r" b="b"/>
            <a:pathLst>
              <a:path w="139064" h="213360">
                <a:moveTo>
                  <a:pt x="138684" y="213360"/>
                </a:moveTo>
                <a:lnTo>
                  <a:pt x="0" y="213360"/>
                </a:lnTo>
                <a:lnTo>
                  <a:pt x="68580" y="0"/>
                </a:lnTo>
                <a:lnTo>
                  <a:pt x="138684" y="21336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243171" y="2569603"/>
            <a:ext cx="174625" cy="267335"/>
          </a:xfrm>
          <a:custGeom>
            <a:avLst/>
            <a:gdLst/>
            <a:ahLst/>
            <a:cxnLst/>
            <a:rect l="l" t="t" r="r" b="b"/>
            <a:pathLst>
              <a:path w="174625" h="267335">
                <a:moveTo>
                  <a:pt x="174053" y="267055"/>
                </a:moveTo>
                <a:lnTo>
                  <a:pt x="0" y="267055"/>
                </a:lnTo>
                <a:lnTo>
                  <a:pt x="87033" y="0"/>
                </a:lnTo>
                <a:lnTo>
                  <a:pt x="101670" y="44919"/>
                </a:lnTo>
                <a:lnTo>
                  <a:pt x="74955" y="44919"/>
                </a:lnTo>
                <a:lnTo>
                  <a:pt x="87026" y="81960"/>
                </a:lnTo>
                <a:lnTo>
                  <a:pt x="34983" y="241655"/>
                </a:lnTo>
                <a:lnTo>
                  <a:pt x="17500" y="241655"/>
                </a:lnTo>
                <a:lnTo>
                  <a:pt x="29565" y="258279"/>
                </a:lnTo>
                <a:lnTo>
                  <a:pt x="171193" y="258279"/>
                </a:lnTo>
                <a:lnTo>
                  <a:pt x="174053" y="267055"/>
                </a:lnTo>
                <a:close/>
              </a:path>
              <a:path w="174625" h="267335">
                <a:moveTo>
                  <a:pt x="87026" y="81960"/>
                </a:moveTo>
                <a:lnTo>
                  <a:pt x="74955" y="44919"/>
                </a:lnTo>
                <a:lnTo>
                  <a:pt x="99098" y="44919"/>
                </a:lnTo>
                <a:lnTo>
                  <a:pt x="87026" y="81960"/>
                </a:lnTo>
                <a:close/>
              </a:path>
              <a:path w="174625" h="267335">
                <a:moveTo>
                  <a:pt x="144487" y="258279"/>
                </a:moveTo>
                <a:lnTo>
                  <a:pt x="87026" y="81960"/>
                </a:lnTo>
                <a:lnTo>
                  <a:pt x="99098" y="44919"/>
                </a:lnTo>
                <a:lnTo>
                  <a:pt x="101670" y="44919"/>
                </a:lnTo>
                <a:lnTo>
                  <a:pt x="165776" y="241655"/>
                </a:lnTo>
                <a:lnTo>
                  <a:pt x="156565" y="241655"/>
                </a:lnTo>
                <a:lnTo>
                  <a:pt x="144487" y="258279"/>
                </a:lnTo>
                <a:close/>
              </a:path>
              <a:path w="174625" h="267335">
                <a:moveTo>
                  <a:pt x="29565" y="258279"/>
                </a:moveTo>
                <a:lnTo>
                  <a:pt x="17500" y="241655"/>
                </a:lnTo>
                <a:lnTo>
                  <a:pt x="34983" y="241655"/>
                </a:lnTo>
                <a:lnTo>
                  <a:pt x="29565" y="258279"/>
                </a:lnTo>
                <a:close/>
              </a:path>
              <a:path w="174625" h="267335">
                <a:moveTo>
                  <a:pt x="144487" y="258279"/>
                </a:moveTo>
                <a:lnTo>
                  <a:pt x="29565" y="258279"/>
                </a:lnTo>
                <a:lnTo>
                  <a:pt x="34983" y="241655"/>
                </a:lnTo>
                <a:lnTo>
                  <a:pt x="139070" y="241655"/>
                </a:lnTo>
                <a:lnTo>
                  <a:pt x="144487" y="258279"/>
                </a:lnTo>
                <a:close/>
              </a:path>
              <a:path w="174625" h="267335">
                <a:moveTo>
                  <a:pt x="171193" y="258279"/>
                </a:moveTo>
                <a:lnTo>
                  <a:pt x="144487" y="258279"/>
                </a:lnTo>
                <a:lnTo>
                  <a:pt x="156565" y="241655"/>
                </a:lnTo>
                <a:lnTo>
                  <a:pt x="165776" y="241655"/>
                </a:lnTo>
                <a:lnTo>
                  <a:pt x="171193" y="2582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004559" y="2552700"/>
            <a:ext cx="3502151" cy="301599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07365" algn="l"/>
              </a:tabLst>
            </a:pPr>
            <a:r>
              <a:rPr dirty="0" spc="-5">
                <a:latin typeface="Times New Roman"/>
                <a:cs typeface="Times New Roman"/>
              </a:rPr>
              <a:t>1.	</a:t>
            </a:r>
            <a:r>
              <a:rPr dirty="0"/>
              <a:t>磁电式电流表的构</a:t>
            </a:r>
            <a:r>
              <a:rPr dirty="0" spc="-10"/>
              <a:t>造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111400" y="1550327"/>
            <a:ext cx="7576184" cy="10579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495300">
              <a:lnSpc>
                <a:spcPct val="130300"/>
              </a:lnSpc>
              <a:spcBef>
                <a:spcPts val="95"/>
              </a:spcBef>
            </a:pPr>
            <a:r>
              <a:rPr dirty="0" sz="2600" b="1">
                <a:latin typeface="宋体"/>
                <a:cs typeface="宋体"/>
              </a:rPr>
              <a:t>刻度盘、指针、蹄形磁铁、极靴（软铁制成</a:t>
            </a:r>
            <a:r>
              <a:rPr dirty="0" sz="2600" spc="-10" b="1">
                <a:latin typeface="宋体"/>
                <a:cs typeface="宋体"/>
              </a:rPr>
              <a:t>）</a:t>
            </a:r>
            <a:r>
              <a:rPr dirty="0" sz="2600" spc="-655" b="1">
                <a:latin typeface="宋体"/>
                <a:cs typeface="宋体"/>
              </a:rPr>
              <a:t> </a:t>
            </a:r>
            <a:r>
              <a:rPr dirty="0" sz="2600" spc="-10" b="1">
                <a:latin typeface="宋体"/>
                <a:cs typeface="宋体"/>
              </a:rPr>
              <a:t>、 </a:t>
            </a:r>
            <a:r>
              <a:rPr dirty="0" sz="2600" b="1">
                <a:latin typeface="宋体"/>
                <a:cs typeface="宋体"/>
              </a:rPr>
              <a:t>螺旋弹簧、线圈、圆柱形铁芯（软铁制成）</a:t>
            </a:r>
            <a:r>
              <a:rPr dirty="0" sz="2600" spc="-10" b="1">
                <a:latin typeface="宋体"/>
                <a:cs typeface="宋体"/>
              </a:rPr>
              <a:t>。</a:t>
            </a:r>
            <a:endParaRPr sz="2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01125" y="2491790"/>
            <a:ext cx="359791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宋体"/>
                <a:cs typeface="宋体"/>
              </a:rPr>
              <a:t>该磁场是否匀强磁场</a:t>
            </a:r>
            <a:r>
              <a:rPr dirty="0" sz="2800" spc="-20" b="1">
                <a:latin typeface="宋体"/>
                <a:cs typeface="宋体"/>
              </a:rPr>
              <a:t>？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01125" y="1784756"/>
            <a:ext cx="502793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000000"/>
                </a:solidFill>
              </a:rPr>
              <a:t>电流表中磁场分布有何特点呢</a:t>
            </a:r>
            <a:r>
              <a:rPr dirty="0" sz="2800" spc="-20">
                <a:solidFill>
                  <a:srgbClr val="000000"/>
                </a:solidFill>
              </a:rPr>
              <a:t>？</a:t>
            </a:r>
            <a:endParaRPr sz="2800"/>
          </a:p>
        </p:txBody>
      </p:sp>
      <p:sp>
        <p:nvSpPr>
          <p:cNvPr id="4" name="object 4"/>
          <p:cNvSpPr/>
          <p:nvPr/>
        </p:nvSpPr>
        <p:spPr>
          <a:xfrm>
            <a:off x="5305044" y="2964179"/>
            <a:ext cx="3454907" cy="25069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29383" y="2346172"/>
            <a:ext cx="8211184" cy="2586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5"/>
              </a:spcBef>
            </a:pPr>
            <a:r>
              <a:rPr dirty="0" sz="2800" spc="-5" b="1">
                <a:latin typeface="Times New Roman"/>
                <a:cs typeface="Times New Roman"/>
              </a:rPr>
              <a:t>(</a:t>
            </a:r>
            <a:r>
              <a:rPr dirty="0" sz="2800" spc="-1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1</a:t>
            </a:r>
            <a:r>
              <a:rPr dirty="0" sz="280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)</a:t>
            </a:r>
            <a:r>
              <a:rPr dirty="0" sz="2800" spc="-1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宋体"/>
                <a:cs typeface="宋体"/>
              </a:rPr>
              <a:t>蹄形磁铁和铁芯间的磁场是均匀地辐射分布的</a:t>
            </a:r>
            <a:r>
              <a:rPr dirty="0" sz="2800" spc="-20" b="1">
                <a:latin typeface="宋体"/>
                <a:cs typeface="宋体"/>
              </a:rPr>
              <a:t>，  </a:t>
            </a:r>
            <a:r>
              <a:rPr dirty="0" sz="2800" b="1">
                <a:latin typeface="宋体"/>
                <a:cs typeface="宋体"/>
              </a:rPr>
              <a:t>不管通电线圈转到什么角度，它的平面都跟磁感</a:t>
            </a:r>
            <a:r>
              <a:rPr dirty="0" sz="2800" spc="-20" b="1">
                <a:latin typeface="宋体"/>
                <a:cs typeface="宋体"/>
              </a:rPr>
              <a:t>线 </a:t>
            </a:r>
            <a:r>
              <a:rPr dirty="0" sz="2800" b="1">
                <a:latin typeface="宋体"/>
                <a:cs typeface="宋体"/>
              </a:rPr>
              <a:t>平行，当电流通过线圈时线圈上跟转轴平行的两</a:t>
            </a:r>
            <a:r>
              <a:rPr dirty="0" sz="2800" spc="-20" b="1">
                <a:latin typeface="宋体"/>
                <a:cs typeface="宋体"/>
              </a:rPr>
              <a:t>边 </a:t>
            </a:r>
            <a:r>
              <a:rPr dirty="0" sz="2800" b="1">
                <a:latin typeface="宋体"/>
                <a:cs typeface="宋体"/>
              </a:rPr>
              <a:t>都要受到安培力，这两个力产生的效果使线圈发</a:t>
            </a:r>
            <a:r>
              <a:rPr dirty="0" sz="2800" spc="-20" b="1">
                <a:latin typeface="宋体"/>
                <a:cs typeface="宋体"/>
              </a:rPr>
              <a:t>生 </a:t>
            </a:r>
            <a:r>
              <a:rPr dirty="0" sz="2800" b="1">
                <a:latin typeface="宋体"/>
                <a:cs typeface="宋体"/>
              </a:rPr>
              <a:t>转动</a:t>
            </a:r>
            <a:r>
              <a:rPr dirty="0" sz="2800" spc="-20" b="1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82520" y="1685467"/>
            <a:ext cx="379857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0065" algn="l"/>
              </a:tabLst>
            </a:pPr>
            <a:r>
              <a:rPr dirty="0" sz="3200" spc="-5">
                <a:latin typeface="Times New Roman"/>
                <a:cs typeface="Times New Roman"/>
              </a:rPr>
              <a:t>2</a:t>
            </a:r>
            <a:r>
              <a:rPr dirty="0" sz="3200">
                <a:latin typeface="Times New Roman"/>
                <a:cs typeface="Times New Roman"/>
              </a:rPr>
              <a:t>.</a:t>
            </a:r>
            <a:r>
              <a:rPr dirty="0" sz="3200">
                <a:latin typeface="Times New Roman"/>
                <a:cs typeface="Times New Roman"/>
              </a:rPr>
              <a:t>	</a:t>
            </a:r>
            <a:r>
              <a:rPr dirty="0" sz="3200"/>
              <a:t>电流表的工作原</a:t>
            </a:r>
            <a:r>
              <a:rPr dirty="0" sz="3200" spc="-10"/>
              <a:t>理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06011" y="1612391"/>
            <a:ext cx="4379976" cy="31790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706418" y="4788166"/>
            <a:ext cx="460629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不管通电线圈转到什么角度，它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的 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平面都跟磁感线平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行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51939" y="4110329"/>
            <a:ext cx="8288020" cy="14503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9900"/>
              </a:lnSpc>
              <a:spcBef>
                <a:spcPts val="95"/>
              </a:spcBef>
            </a:pPr>
            <a:r>
              <a:rPr dirty="0" sz="2400" b="1">
                <a:latin typeface="宋体"/>
                <a:cs typeface="宋体"/>
              </a:rPr>
              <a:t>线圈转动使螺旋弹簧被扭动，产生一个阻碍线圈转动的效果</a:t>
            </a:r>
            <a:r>
              <a:rPr dirty="0" sz="2400" spc="-10" b="1">
                <a:latin typeface="宋体"/>
                <a:cs typeface="宋体"/>
              </a:rPr>
              <a:t>， </a:t>
            </a:r>
            <a:r>
              <a:rPr dirty="0" sz="2400" b="1">
                <a:latin typeface="宋体"/>
                <a:cs typeface="宋体"/>
              </a:rPr>
              <a:t>其大小随线圈转动的角度增大而增大，当这种阻碍转动效</a:t>
            </a:r>
            <a:r>
              <a:rPr dirty="0" sz="2400" spc="-10" b="1">
                <a:latin typeface="宋体"/>
                <a:cs typeface="宋体"/>
              </a:rPr>
              <a:t>果 </a:t>
            </a:r>
            <a:r>
              <a:rPr dirty="0" sz="2400" b="1">
                <a:latin typeface="宋体"/>
                <a:cs typeface="宋体"/>
              </a:rPr>
              <a:t>和安培力产生的使线圈转动的效果相平衡时，线圈停止转动</a:t>
            </a:r>
            <a:r>
              <a:rPr dirty="0" sz="2400" spc="-10" b="1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096000" y="1382267"/>
            <a:ext cx="3276600" cy="28224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915667" y="1499616"/>
            <a:ext cx="3564635" cy="25862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02192" y="1455813"/>
            <a:ext cx="7675880" cy="36150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11150">
              <a:lnSpc>
                <a:spcPct val="130200"/>
              </a:lnSpc>
              <a:spcBef>
                <a:spcPts val="100"/>
              </a:spcBef>
            </a:pPr>
            <a:r>
              <a:rPr dirty="0" sz="2400" b="1">
                <a:latin typeface="宋体"/>
                <a:cs typeface="宋体"/>
              </a:rPr>
              <a:t>（</a:t>
            </a:r>
            <a:r>
              <a:rPr dirty="0" sz="2400" b="1">
                <a:latin typeface="Times New Roman"/>
                <a:cs typeface="Times New Roman"/>
              </a:rPr>
              <a:t>2</a:t>
            </a:r>
            <a:r>
              <a:rPr dirty="0" sz="2400" b="1">
                <a:latin typeface="宋体"/>
                <a:cs typeface="宋体"/>
              </a:rPr>
              <a:t>）磁场对电流的作用力与电流成正比，因而线圈</a:t>
            </a:r>
            <a:r>
              <a:rPr dirty="0" sz="2400" spc="-10" b="1">
                <a:latin typeface="宋体"/>
                <a:cs typeface="宋体"/>
              </a:rPr>
              <a:t>中 </a:t>
            </a:r>
            <a:r>
              <a:rPr dirty="0" sz="2400" b="1">
                <a:latin typeface="宋体"/>
                <a:cs typeface="宋体"/>
              </a:rPr>
              <a:t>的电流越大，安培力产生的转动效果也越大，线圈和</a:t>
            </a:r>
            <a:r>
              <a:rPr dirty="0" sz="2400" spc="-10" b="1">
                <a:latin typeface="宋体"/>
                <a:cs typeface="宋体"/>
              </a:rPr>
              <a:t>指</a:t>
            </a:r>
            <a:endParaRPr sz="2400">
              <a:latin typeface="宋体"/>
              <a:cs typeface="宋体"/>
            </a:endParaRPr>
          </a:p>
          <a:p>
            <a:pPr marL="12700" marR="5080">
              <a:lnSpc>
                <a:spcPts val="3740"/>
              </a:lnSpc>
              <a:spcBef>
                <a:spcPts val="265"/>
              </a:spcBef>
            </a:pPr>
            <a:r>
              <a:rPr dirty="0" sz="2400" b="1">
                <a:latin typeface="宋体"/>
                <a:cs typeface="宋体"/>
              </a:rPr>
              <a:t>针偏转的角度也越大，因而根据指针的偏转角度的大小</a:t>
            </a:r>
            <a:r>
              <a:rPr dirty="0" sz="2400" spc="-10" b="1">
                <a:latin typeface="宋体"/>
                <a:cs typeface="宋体"/>
              </a:rPr>
              <a:t>， </a:t>
            </a:r>
            <a:r>
              <a:rPr dirty="0" sz="2400" b="1">
                <a:latin typeface="宋体"/>
                <a:cs typeface="宋体"/>
              </a:rPr>
              <a:t>可以知道被测电流的强弱</a:t>
            </a:r>
            <a:r>
              <a:rPr dirty="0" sz="2400" spc="-10" b="1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marL="1008380">
              <a:lnSpc>
                <a:spcPct val="100000"/>
              </a:lnSpc>
              <a:spcBef>
                <a:spcPts val="1440"/>
              </a:spcBef>
            </a:pPr>
            <a:r>
              <a:rPr dirty="0" sz="2400" b="1">
                <a:solidFill>
                  <a:srgbClr val="FF0000"/>
                </a:solidFill>
                <a:latin typeface="宋体"/>
                <a:cs typeface="宋体"/>
              </a:rPr>
              <a:t>安培力产生的转动效果</a:t>
            </a:r>
            <a:r>
              <a:rPr dirty="0" sz="2400" spc="-10" b="1">
                <a:solidFill>
                  <a:srgbClr val="FF0000"/>
                </a:solidFill>
                <a:latin typeface="宋体"/>
                <a:cs typeface="宋体"/>
              </a:rPr>
              <a:t>∝</a:t>
            </a:r>
            <a:r>
              <a:rPr dirty="0" sz="2400" spc="-605" b="1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  <a:p>
            <a:pPr marL="1008380" marR="1910080">
              <a:lnSpc>
                <a:spcPct val="150900"/>
              </a:lnSpc>
              <a:spcBef>
                <a:spcPts val="5"/>
              </a:spcBef>
            </a:pPr>
            <a:r>
              <a:rPr dirty="0" sz="2400" b="1">
                <a:solidFill>
                  <a:srgbClr val="FF0000"/>
                </a:solidFill>
                <a:latin typeface="宋体"/>
                <a:cs typeface="宋体"/>
              </a:rPr>
              <a:t>螺旋弹簧产生的阻碍转动的效果</a:t>
            </a:r>
            <a:r>
              <a:rPr dirty="0" sz="2400" spc="-5" b="1">
                <a:solidFill>
                  <a:srgbClr val="FF0000"/>
                </a:solidFill>
                <a:latin typeface="宋体"/>
                <a:cs typeface="宋体"/>
              </a:rPr>
              <a:t>∝</a:t>
            </a: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θ </a:t>
            </a:r>
            <a:r>
              <a:rPr dirty="0" sz="2400" b="1">
                <a:solidFill>
                  <a:srgbClr val="FF0000"/>
                </a:solidFill>
                <a:latin typeface="宋体"/>
                <a:cs typeface="宋体"/>
              </a:rPr>
              <a:t>表盘的刻度均匀，</a:t>
            </a: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θ</a:t>
            </a:r>
            <a:r>
              <a:rPr dirty="0" sz="2400" spc="-10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FF0000"/>
                </a:solidFill>
                <a:latin typeface="宋体"/>
                <a:cs typeface="宋体"/>
              </a:rPr>
              <a:t>∝</a:t>
            </a:r>
            <a:r>
              <a:rPr dirty="0" sz="2400" spc="-605" b="1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2370" y="2527274"/>
            <a:ext cx="6910070" cy="145288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5"/>
              </a:spcBef>
            </a:pPr>
            <a:r>
              <a:rPr dirty="0" sz="2400">
                <a:solidFill>
                  <a:srgbClr val="000000"/>
                </a:solidFill>
              </a:rPr>
              <a:t>（</a:t>
            </a:r>
            <a:r>
              <a:rPr dirty="0" sz="2400">
                <a:solidFill>
                  <a:srgbClr val="000000"/>
                </a:solidFill>
                <a:latin typeface="Times New Roman"/>
                <a:cs typeface="Times New Roman"/>
              </a:rPr>
              <a:t>3</a:t>
            </a:r>
            <a:r>
              <a:rPr dirty="0" sz="2400">
                <a:solidFill>
                  <a:srgbClr val="000000"/>
                </a:solidFill>
              </a:rPr>
              <a:t>）当线圈中的电流方向发生变化时，安培力的</a:t>
            </a:r>
            <a:r>
              <a:rPr dirty="0" sz="2400" spc="-10">
                <a:solidFill>
                  <a:srgbClr val="000000"/>
                </a:solidFill>
              </a:rPr>
              <a:t>方 </a:t>
            </a:r>
            <a:r>
              <a:rPr dirty="0" sz="2400">
                <a:solidFill>
                  <a:srgbClr val="000000"/>
                </a:solidFill>
              </a:rPr>
              <a:t>向也随之改变，指针的偏转方向也发生变化，所</a:t>
            </a:r>
            <a:r>
              <a:rPr dirty="0" sz="2400" spc="-10">
                <a:solidFill>
                  <a:srgbClr val="000000"/>
                </a:solidFill>
              </a:rPr>
              <a:t>以 </a:t>
            </a:r>
            <a:r>
              <a:rPr dirty="0" sz="2400">
                <a:solidFill>
                  <a:srgbClr val="000000"/>
                </a:solidFill>
              </a:rPr>
              <a:t>根据指针的偏转方向，可以知道被测电流的方向</a:t>
            </a:r>
            <a:r>
              <a:rPr dirty="0" sz="2400" spc="-10">
                <a:solidFill>
                  <a:srgbClr val="000000"/>
                </a:solidFill>
              </a:rPr>
              <a:t>。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4044" y="2174024"/>
            <a:ext cx="7369809" cy="19278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261620">
              <a:lnSpc>
                <a:spcPct val="130200"/>
              </a:lnSpc>
              <a:spcBef>
                <a:spcPts val="100"/>
              </a:spcBef>
            </a:pPr>
            <a:r>
              <a:rPr dirty="0" sz="2400">
                <a:solidFill>
                  <a:srgbClr val="000000"/>
                </a:solidFill>
                <a:latin typeface="Times New Roman"/>
                <a:cs typeface="Times New Roman"/>
              </a:rPr>
              <a:t>(4)</a:t>
            </a:r>
            <a:r>
              <a:rPr dirty="0" sz="2400">
                <a:solidFill>
                  <a:srgbClr val="000000"/>
                </a:solidFill>
              </a:rPr>
              <a:t>磁电式电流表的优点是灵敏度高，可以测出很弱</a:t>
            </a:r>
            <a:r>
              <a:rPr dirty="0" sz="2400" spc="-10">
                <a:solidFill>
                  <a:srgbClr val="000000"/>
                </a:solidFill>
              </a:rPr>
              <a:t>的 </a:t>
            </a:r>
            <a:r>
              <a:rPr dirty="0" sz="2400">
                <a:solidFill>
                  <a:srgbClr val="000000"/>
                </a:solidFill>
              </a:rPr>
              <a:t>电流；缺点是线圈的导线很细，允许通过的电流很</a:t>
            </a:r>
            <a:r>
              <a:rPr dirty="0" sz="2400" spc="-10">
                <a:solidFill>
                  <a:srgbClr val="000000"/>
                </a:solidFill>
              </a:rPr>
              <a:t>弱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ts val="3740"/>
              </a:lnSpc>
              <a:spcBef>
                <a:spcPts val="265"/>
              </a:spcBef>
            </a:pPr>
            <a:r>
              <a:rPr dirty="0" sz="2400">
                <a:solidFill>
                  <a:srgbClr val="000000"/>
                </a:solidFill>
              </a:rPr>
              <a:t>（几十微安到几毫安）。如果要用它测量较大的电流</a:t>
            </a:r>
            <a:r>
              <a:rPr dirty="0" sz="2400" spc="-10">
                <a:solidFill>
                  <a:srgbClr val="000000"/>
                </a:solidFill>
              </a:rPr>
              <a:t>， </a:t>
            </a:r>
            <a:r>
              <a:rPr dirty="0" sz="2400">
                <a:solidFill>
                  <a:srgbClr val="000000"/>
                </a:solidFill>
              </a:rPr>
              <a:t>就要给它并联一个很小的电阻来扩大其量程</a:t>
            </a:r>
            <a:r>
              <a:rPr dirty="0" sz="2400" spc="-10">
                <a:solidFill>
                  <a:srgbClr val="000000"/>
                </a:solidFill>
              </a:rPr>
              <a:t>。</a:t>
            </a:r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66100" y="207949"/>
            <a:ext cx="1751964" cy="5429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00" b="0">
                <a:solidFill>
                  <a:srgbClr val="FFFF00"/>
                </a:solidFill>
                <a:latin typeface="微软雅黑"/>
                <a:cs typeface="微软雅黑"/>
              </a:rPr>
              <a:t>课堂小</a:t>
            </a:r>
            <a:r>
              <a:rPr dirty="0" sz="3400" spc="-5" b="0">
                <a:solidFill>
                  <a:srgbClr val="FFFF00"/>
                </a:solidFill>
                <a:latin typeface="微软雅黑"/>
                <a:cs typeface="微软雅黑"/>
              </a:rPr>
              <a:t>结</a:t>
            </a:r>
            <a:endParaRPr sz="34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6050" y="3001772"/>
            <a:ext cx="865505" cy="360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b="1">
                <a:latin typeface="宋体"/>
                <a:cs typeface="宋体"/>
              </a:rPr>
              <a:t>安培</a:t>
            </a:r>
            <a:r>
              <a:rPr dirty="0" sz="2200" spc="-15" b="1">
                <a:latin typeface="宋体"/>
                <a:cs typeface="宋体"/>
              </a:rPr>
              <a:t>力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32215" y="1494713"/>
            <a:ext cx="584835" cy="360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b="1">
                <a:latin typeface="宋体"/>
                <a:cs typeface="宋体"/>
              </a:rPr>
              <a:t>方</a:t>
            </a:r>
            <a:r>
              <a:rPr dirty="0" sz="2200" spc="-15" b="1">
                <a:latin typeface="宋体"/>
                <a:cs typeface="宋体"/>
              </a:rPr>
              <a:t>向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65233" y="1099743"/>
            <a:ext cx="2983865" cy="10267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020" marR="5080" indent="-20955">
              <a:lnSpc>
                <a:spcPct val="149300"/>
              </a:lnSpc>
              <a:spcBef>
                <a:spcPts val="100"/>
              </a:spcBef>
            </a:pPr>
            <a:r>
              <a:rPr dirty="0" sz="2200" b="1">
                <a:latin typeface="宋体"/>
                <a:cs typeface="宋体"/>
              </a:rPr>
              <a:t>垂直</a:t>
            </a:r>
            <a:r>
              <a:rPr dirty="0" sz="2200" spc="-15" b="1">
                <a:latin typeface="宋体"/>
                <a:cs typeface="宋体"/>
              </a:rPr>
              <a:t>于</a:t>
            </a:r>
            <a:r>
              <a:rPr dirty="0" sz="2200" spc="-590" b="1">
                <a:latin typeface="宋体"/>
                <a:cs typeface="宋体"/>
              </a:rPr>
              <a:t> </a:t>
            </a:r>
            <a:r>
              <a:rPr dirty="0" sz="2200" spc="-5" b="1" i="1">
                <a:latin typeface="Times New Roman"/>
                <a:cs typeface="Times New Roman"/>
              </a:rPr>
              <a:t>B</a:t>
            </a:r>
            <a:r>
              <a:rPr dirty="0" sz="2200" b="1">
                <a:latin typeface="宋体"/>
                <a:cs typeface="宋体"/>
              </a:rPr>
              <a:t>、</a:t>
            </a:r>
            <a:r>
              <a:rPr dirty="0" sz="2200" spc="-5" b="1" i="1">
                <a:latin typeface="Times New Roman"/>
                <a:cs typeface="Times New Roman"/>
              </a:rPr>
              <a:t>I</a:t>
            </a:r>
            <a:r>
              <a:rPr dirty="0" sz="2200" spc="-40" b="1" i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宋体"/>
                <a:cs typeface="宋体"/>
              </a:rPr>
              <a:t>决定的平</a:t>
            </a:r>
            <a:r>
              <a:rPr dirty="0" sz="2200" spc="-15" b="1">
                <a:latin typeface="宋体"/>
                <a:cs typeface="宋体"/>
              </a:rPr>
              <a:t>面 </a:t>
            </a:r>
            <a:r>
              <a:rPr dirty="0" sz="2200" b="1">
                <a:latin typeface="宋体"/>
                <a:cs typeface="宋体"/>
              </a:rPr>
              <a:t>判断：左手定</a:t>
            </a:r>
            <a:r>
              <a:rPr dirty="0" sz="2200" spc="-15" b="1">
                <a:latin typeface="宋体"/>
                <a:cs typeface="宋体"/>
              </a:rPr>
              <a:t>则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42095" y="2501150"/>
            <a:ext cx="2065020" cy="360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b="1">
                <a:latin typeface="宋体"/>
                <a:cs typeface="宋体"/>
              </a:rPr>
              <a:t>大</a:t>
            </a:r>
            <a:r>
              <a:rPr dirty="0" sz="2200" spc="-15" b="1">
                <a:latin typeface="宋体"/>
                <a:cs typeface="宋体"/>
              </a:rPr>
              <a:t>小</a:t>
            </a:r>
            <a:r>
              <a:rPr dirty="0" sz="2200" spc="-565" b="1">
                <a:latin typeface="宋体"/>
                <a:cs typeface="宋体"/>
              </a:rPr>
              <a:t> </a:t>
            </a:r>
            <a:r>
              <a:rPr dirty="0" sz="2200" spc="-5" b="1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dirty="0" sz="2200" spc="-55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dirty="0" sz="2200" spc="-2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 i="1">
                <a:solidFill>
                  <a:srgbClr val="FF0000"/>
                </a:solidFill>
                <a:latin typeface="Times New Roman"/>
                <a:cs typeface="Times New Roman"/>
              </a:rPr>
              <a:t>IlB</a:t>
            </a:r>
            <a:r>
              <a:rPr dirty="0" sz="2200" spc="-5" b="1">
                <a:solidFill>
                  <a:srgbClr val="FF0000"/>
                </a:solidFill>
                <a:latin typeface="Times New Roman"/>
                <a:cs typeface="Times New Roman"/>
              </a:rPr>
              <a:t>sin</a:t>
            </a:r>
            <a:r>
              <a:rPr dirty="0" sz="2200" spc="-1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 i="1">
                <a:solidFill>
                  <a:srgbClr val="FF0000"/>
                </a:solidFill>
                <a:latin typeface="Times New Roman"/>
                <a:cs typeface="Times New Roman"/>
              </a:rPr>
              <a:t>θ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59782" y="2008022"/>
            <a:ext cx="2667635" cy="1084580"/>
          </a:xfrm>
          <a:prstGeom prst="rect">
            <a:avLst/>
          </a:prstGeom>
        </p:spPr>
        <p:txBody>
          <a:bodyPr wrap="square" lIns="0" tIns="2070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30"/>
              </a:spcBef>
            </a:pPr>
            <a:r>
              <a:rPr dirty="0" sz="2200" spc="-5" b="1" i="1">
                <a:latin typeface="Times New Roman"/>
                <a:cs typeface="Times New Roman"/>
              </a:rPr>
              <a:t>B</a:t>
            </a:r>
            <a:r>
              <a:rPr dirty="0" sz="2200" spc="-15" b="1" i="1">
                <a:latin typeface="Times New Roman"/>
                <a:cs typeface="Times New Roman"/>
              </a:rPr>
              <a:t> </a:t>
            </a:r>
            <a:r>
              <a:rPr dirty="0" sz="2200" spc="-15" b="1">
                <a:latin typeface="宋体"/>
                <a:cs typeface="宋体"/>
              </a:rPr>
              <a:t>与</a:t>
            </a:r>
            <a:r>
              <a:rPr dirty="0" sz="2200" spc="-560" b="1">
                <a:latin typeface="宋体"/>
                <a:cs typeface="宋体"/>
              </a:rPr>
              <a:t> </a:t>
            </a:r>
            <a:r>
              <a:rPr dirty="0" sz="2200" spc="-5" b="1" i="1">
                <a:latin typeface="Times New Roman"/>
                <a:cs typeface="Times New Roman"/>
              </a:rPr>
              <a:t>I</a:t>
            </a:r>
            <a:r>
              <a:rPr dirty="0" sz="2200" spc="-10" b="1" i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宋体"/>
                <a:cs typeface="宋体"/>
              </a:rPr>
              <a:t>垂直</a:t>
            </a:r>
            <a:r>
              <a:rPr dirty="0" sz="2200" spc="-15" b="1">
                <a:latin typeface="宋体"/>
                <a:cs typeface="宋体"/>
              </a:rPr>
              <a:t>：</a:t>
            </a:r>
            <a:r>
              <a:rPr dirty="0" sz="2200" spc="-560" b="1">
                <a:latin typeface="宋体"/>
                <a:cs typeface="宋体"/>
              </a:rPr>
              <a:t> </a:t>
            </a:r>
            <a:r>
              <a:rPr dirty="0" sz="2200" spc="-5" b="1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dirty="0" sz="2200" spc="-50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dirty="0" sz="2200" spc="-1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 i="1">
                <a:solidFill>
                  <a:srgbClr val="FF0000"/>
                </a:solidFill>
                <a:latin typeface="Times New Roman"/>
                <a:cs typeface="Times New Roman"/>
              </a:rPr>
              <a:t>ILB</a:t>
            </a:r>
            <a:endParaRPr sz="2200">
              <a:latin typeface="Times New Roman"/>
              <a:cs typeface="Times New Roman"/>
            </a:endParaRPr>
          </a:p>
          <a:p>
            <a:pPr marL="69850">
              <a:lnSpc>
                <a:spcPct val="100000"/>
              </a:lnSpc>
              <a:spcBef>
                <a:spcPts val="1525"/>
              </a:spcBef>
            </a:pPr>
            <a:r>
              <a:rPr dirty="0" sz="2200" spc="-5" b="1" i="1">
                <a:latin typeface="Times New Roman"/>
                <a:cs typeface="Times New Roman"/>
              </a:rPr>
              <a:t>B</a:t>
            </a:r>
            <a:r>
              <a:rPr dirty="0" sz="2200" spc="-10" b="1" i="1">
                <a:latin typeface="Times New Roman"/>
                <a:cs typeface="Times New Roman"/>
              </a:rPr>
              <a:t> </a:t>
            </a:r>
            <a:r>
              <a:rPr dirty="0" sz="2200" spc="-15" b="1">
                <a:latin typeface="宋体"/>
                <a:cs typeface="宋体"/>
              </a:rPr>
              <a:t>与</a:t>
            </a:r>
            <a:r>
              <a:rPr dirty="0" sz="2200" spc="-555" b="1">
                <a:latin typeface="宋体"/>
                <a:cs typeface="宋体"/>
              </a:rPr>
              <a:t> </a:t>
            </a:r>
            <a:r>
              <a:rPr dirty="0" sz="2200" spc="-5" b="1" i="1">
                <a:latin typeface="Times New Roman"/>
                <a:cs typeface="Times New Roman"/>
              </a:rPr>
              <a:t>I </a:t>
            </a:r>
            <a:r>
              <a:rPr dirty="0" sz="2200" b="1">
                <a:latin typeface="宋体"/>
                <a:cs typeface="宋体"/>
              </a:rPr>
              <a:t>平行</a:t>
            </a:r>
            <a:r>
              <a:rPr dirty="0" sz="2200" spc="-5" b="1">
                <a:latin typeface="宋体"/>
                <a:cs typeface="宋体"/>
              </a:rPr>
              <a:t>：</a:t>
            </a:r>
            <a:r>
              <a:rPr dirty="0" sz="2200" spc="-5" b="1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dirty="0" sz="2200" spc="-50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FF0000"/>
                </a:solidFill>
                <a:latin typeface="Times New Roman"/>
                <a:cs typeface="Times New Roman"/>
              </a:rPr>
              <a:t>= 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41141" y="3399967"/>
            <a:ext cx="1146175" cy="695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200" b="1">
                <a:latin typeface="宋体"/>
                <a:cs typeface="宋体"/>
              </a:rPr>
              <a:t>电流间</a:t>
            </a:r>
            <a:r>
              <a:rPr dirty="0" sz="2200" spc="-15" b="1">
                <a:latin typeface="宋体"/>
                <a:cs typeface="宋体"/>
              </a:rPr>
              <a:t>的 </a:t>
            </a:r>
            <a:r>
              <a:rPr dirty="0" sz="2200" b="1">
                <a:latin typeface="宋体"/>
                <a:cs typeface="宋体"/>
              </a:rPr>
              <a:t>相互作</a:t>
            </a:r>
            <a:r>
              <a:rPr dirty="0" sz="2200" spc="-15" b="1">
                <a:latin typeface="宋体"/>
                <a:cs typeface="宋体"/>
              </a:rPr>
              <a:t>用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56635" y="4464875"/>
            <a:ext cx="1426845" cy="695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200" b="1">
                <a:latin typeface="宋体"/>
                <a:cs typeface="宋体"/>
              </a:rPr>
              <a:t>安培力作</a:t>
            </a:r>
            <a:r>
              <a:rPr dirty="0" sz="2200" spc="-15" b="1">
                <a:latin typeface="宋体"/>
                <a:cs typeface="宋体"/>
              </a:rPr>
              <a:t>用 </a:t>
            </a:r>
            <a:r>
              <a:rPr dirty="0" sz="2200" b="1">
                <a:latin typeface="宋体"/>
                <a:cs typeface="宋体"/>
              </a:rPr>
              <a:t>的平衡问</a:t>
            </a:r>
            <a:r>
              <a:rPr dirty="0" sz="2200" spc="-15" b="1">
                <a:latin typeface="宋体"/>
                <a:cs typeface="宋体"/>
              </a:rPr>
              <a:t>题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66931" y="3154679"/>
            <a:ext cx="4352925" cy="2038350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dirty="0" sz="2200" b="1">
                <a:latin typeface="宋体"/>
                <a:cs typeface="宋体"/>
              </a:rPr>
              <a:t>先用安培定则判断磁场方</a:t>
            </a:r>
            <a:r>
              <a:rPr dirty="0" sz="2200" spc="-15" b="1">
                <a:latin typeface="宋体"/>
                <a:cs typeface="宋体"/>
              </a:rPr>
              <a:t>向</a:t>
            </a:r>
            <a:endParaRPr sz="2200">
              <a:latin typeface="宋体"/>
              <a:cs typeface="宋体"/>
            </a:endParaRPr>
          </a:p>
          <a:p>
            <a:pPr marL="131445" marR="5080" indent="-119380">
              <a:lnSpc>
                <a:spcPct val="149300"/>
              </a:lnSpc>
              <a:spcBef>
                <a:spcPts val="20"/>
              </a:spcBef>
            </a:pPr>
            <a:r>
              <a:rPr dirty="0" sz="2200" b="1">
                <a:latin typeface="宋体"/>
                <a:cs typeface="宋体"/>
              </a:rPr>
              <a:t>再用左手定则判断安培力的方</a:t>
            </a:r>
            <a:r>
              <a:rPr dirty="0" sz="2200" spc="-15" b="1">
                <a:latin typeface="宋体"/>
                <a:cs typeface="宋体"/>
              </a:rPr>
              <a:t>向 </a:t>
            </a:r>
            <a:r>
              <a:rPr dirty="0" sz="2200" b="1">
                <a:latin typeface="宋体"/>
                <a:cs typeface="宋体"/>
              </a:rPr>
              <a:t>把立体图化为平面图进行受力分</a:t>
            </a:r>
            <a:r>
              <a:rPr dirty="0" sz="2200" spc="-15" b="1">
                <a:latin typeface="宋体"/>
                <a:cs typeface="宋体"/>
              </a:rPr>
              <a:t>析</a:t>
            </a:r>
            <a:endParaRPr sz="2200">
              <a:latin typeface="宋体"/>
              <a:cs typeface="宋体"/>
            </a:endParaRPr>
          </a:p>
          <a:p>
            <a:pPr marL="125730">
              <a:lnSpc>
                <a:spcPct val="100000"/>
              </a:lnSpc>
              <a:spcBef>
                <a:spcPts val="1340"/>
              </a:spcBef>
            </a:pPr>
            <a:r>
              <a:rPr dirty="0" sz="2200" b="1">
                <a:latin typeface="宋体"/>
                <a:cs typeface="宋体"/>
              </a:rPr>
              <a:t>根据力的平衡条件解未知</a:t>
            </a:r>
            <a:r>
              <a:rPr dirty="0" sz="2200" spc="-15" b="1">
                <a:latin typeface="宋体"/>
                <a:cs typeface="宋体"/>
              </a:rPr>
              <a:t>量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00272" y="5608827"/>
            <a:ext cx="584835" cy="360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b="1">
                <a:latin typeface="宋体"/>
                <a:cs typeface="宋体"/>
              </a:rPr>
              <a:t>应</a:t>
            </a:r>
            <a:r>
              <a:rPr dirty="0" sz="2200" spc="-15" b="1">
                <a:latin typeface="宋体"/>
                <a:cs typeface="宋体"/>
              </a:rPr>
              <a:t>用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109859" y="5781763"/>
            <a:ext cx="2009775" cy="76200"/>
          </a:xfrm>
          <a:custGeom>
            <a:avLst/>
            <a:gdLst/>
            <a:ahLst/>
            <a:cxnLst/>
            <a:rect l="l" t="t" r="r" b="b"/>
            <a:pathLst>
              <a:path w="2009775" h="76200">
                <a:moveTo>
                  <a:pt x="1933397" y="76200"/>
                </a:moveTo>
                <a:lnTo>
                  <a:pt x="1933397" y="0"/>
                </a:lnTo>
                <a:lnTo>
                  <a:pt x="1990547" y="28575"/>
                </a:lnTo>
                <a:lnTo>
                  <a:pt x="1952447" y="28575"/>
                </a:lnTo>
                <a:lnTo>
                  <a:pt x="1952447" y="47625"/>
                </a:lnTo>
                <a:lnTo>
                  <a:pt x="1990547" y="47625"/>
                </a:lnTo>
                <a:lnTo>
                  <a:pt x="1933397" y="76200"/>
                </a:lnTo>
                <a:close/>
              </a:path>
              <a:path w="2009775" h="76200">
                <a:moveTo>
                  <a:pt x="1933397" y="47625"/>
                </a:moveTo>
                <a:lnTo>
                  <a:pt x="0" y="47625"/>
                </a:lnTo>
                <a:lnTo>
                  <a:pt x="0" y="28575"/>
                </a:lnTo>
                <a:lnTo>
                  <a:pt x="1933397" y="28575"/>
                </a:lnTo>
                <a:lnTo>
                  <a:pt x="1933397" y="47625"/>
                </a:lnTo>
                <a:close/>
              </a:path>
              <a:path w="2009775" h="76200">
                <a:moveTo>
                  <a:pt x="1990547" y="47625"/>
                </a:moveTo>
                <a:lnTo>
                  <a:pt x="1952447" y="47625"/>
                </a:lnTo>
                <a:lnTo>
                  <a:pt x="1952447" y="28575"/>
                </a:lnTo>
                <a:lnTo>
                  <a:pt x="1990547" y="28575"/>
                </a:lnTo>
                <a:lnTo>
                  <a:pt x="2009597" y="38100"/>
                </a:lnTo>
                <a:lnTo>
                  <a:pt x="1990547" y="476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253077" y="5502440"/>
            <a:ext cx="155638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宋体"/>
                <a:cs typeface="宋体"/>
              </a:rPr>
              <a:t>磁电式电流</a:t>
            </a:r>
            <a:r>
              <a:rPr dirty="0" sz="2000" spc="-5" b="1">
                <a:latin typeface="宋体"/>
                <a:cs typeface="宋体"/>
              </a:rPr>
              <a:t>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26619" y="5608827"/>
            <a:ext cx="1426845" cy="360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b="1">
                <a:latin typeface="宋体"/>
                <a:cs typeface="宋体"/>
              </a:rPr>
              <a:t>构造、原</a:t>
            </a:r>
            <a:r>
              <a:rPr dirty="0" sz="2200" spc="-15" b="1">
                <a:latin typeface="宋体"/>
                <a:cs typeface="宋体"/>
              </a:rPr>
              <a:t>理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022729" y="1464233"/>
            <a:ext cx="231775" cy="3479800"/>
          </a:xfrm>
          <a:custGeom>
            <a:avLst/>
            <a:gdLst/>
            <a:ahLst/>
            <a:cxnLst/>
            <a:rect l="l" t="t" r="r" b="b"/>
            <a:pathLst>
              <a:path w="231775" h="3479800">
                <a:moveTo>
                  <a:pt x="225247" y="25400"/>
                </a:moveTo>
                <a:lnTo>
                  <a:pt x="157759" y="25400"/>
                </a:lnTo>
                <a:lnTo>
                  <a:pt x="162915" y="12700"/>
                </a:lnTo>
                <a:lnTo>
                  <a:pt x="180149" y="12700"/>
                </a:lnTo>
                <a:lnTo>
                  <a:pt x="185381" y="0"/>
                </a:lnTo>
                <a:lnTo>
                  <a:pt x="230339" y="0"/>
                </a:lnTo>
                <a:lnTo>
                  <a:pt x="231165" y="12700"/>
                </a:lnTo>
                <a:lnTo>
                  <a:pt x="225247" y="25400"/>
                </a:lnTo>
                <a:close/>
              </a:path>
              <a:path w="231775" h="3479800">
                <a:moveTo>
                  <a:pt x="182879" y="38100"/>
                </a:moveTo>
                <a:lnTo>
                  <a:pt x="143446" y="38100"/>
                </a:lnTo>
                <a:lnTo>
                  <a:pt x="148437" y="25400"/>
                </a:lnTo>
                <a:lnTo>
                  <a:pt x="187845" y="25400"/>
                </a:lnTo>
                <a:lnTo>
                  <a:pt x="182879" y="38100"/>
                </a:lnTo>
                <a:close/>
              </a:path>
              <a:path w="231775" h="3479800">
                <a:moveTo>
                  <a:pt x="187236" y="38100"/>
                </a:moveTo>
                <a:lnTo>
                  <a:pt x="187845" y="25400"/>
                </a:lnTo>
                <a:lnTo>
                  <a:pt x="192341" y="25400"/>
                </a:lnTo>
                <a:lnTo>
                  <a:pt x="187236" y="38100"/>
                </a:lnTo>
                <a:close/>
              </a:path>
              <a:path w="231775" h="3479800">
                <a:moveTo>
                  <a:pt x="170446" y="50800"/>
                </a:moveTo>
                <a:lnTo>
                  <a:pt x="134950" y="50800"/>
                </a:lnTo>
                <a:lnTo>
                  <a:pt x="139445" y="38100"/>
                </a:lnTo>
                <a:lnTo>
                  <a:pt x="174967" y="38100"/>
                </a:lnTo>
                <a:lnTo>
                  <a:pt x="170446" y="50800"/>
                </a:lnTo>
                <a:close/>
              </a:path>
              <a:path w="231775" h="3479800">
                <a:moveTo>
                  <a:pt x="159181" y="63500"/>
                </a:moveTo>
                <a:lnTo>
                  <a:pt x="127330" y="63500"/>
                </a:lnTo>
                <a:lnTo>
                  <a:pt x="131025" y="50800"/>
                </a:lnTo>
                <a:lnTo>
                  <a:pt x="163182" y="50800"/>
                </a:lnTo>
                <a:lnTo>
                  <a:pt x="159181" y="63500"/>
                </a:lnTo>
                <a:close/>
              </a:path>
              <a:path w="231775" h="3479800">
                <a:moveTo>
                  <a:pt x="149326" y="76200"/>
                </a:moveTo>
                <a:lnTo>
                  <a:pt x="120878" y="76200"/>
                </a:lnTo>
                <a:lnTo>
                  <a:pt x="124117" y="63500"/>
                </a:lnTo>
                <a:lnTo>
                  <a:pt x="152742" y="63500"/>
                </a:lnTo>
                <a:lnTo>
                  <a:pt x="149326" y="76200"/>
                </a:lnTo>
                <a:close/>
              </a:path>
              <a:path w="231775" h="3479800">
                <a:moveTo>
                  <a:pt x="143637" y="88900"/>
                </a:moveTo>
                <a:lnTo>
                  <a:pt x="115125" y="88900"/>
                </a:lnTo>
                <a:lnTo>
                  <a:pt x="117881" y="76200"/>
                </a:lnTo>
                <a:lnTo>
                  <a:pt x="146634" y="76200"/>
                </a:lnTo>
                <a:lnTo>
                  <a:pt x="143637" y="88900"/>
                </a:lnTo>
                <a:close/>
              </a:path>
              <a:path w="231775" h="3479800">
                <a:moveTo>
                  <a:pt x="133045" y="114300"/>
                </a:moveTo>
                <a:lnTo>
                  <a:pt x="108470" y="114300"/>
                </a:lnTo>
                <a:lnTo>
                  <a:pt x="110426" y="101600"/>
                </a:lnTo>
                <a:lnTo>
                  <a:pt x="112483" y="88900"/>
                </a:lnTo>
                <a:lnTo>
                  <a:pt x="138937" y="88900"/>
                </a:lnTo>
                <a:lnTo>
                  <a:pt x="136626" y="101600"/>
                </a:lnTo>
                <a:lnTo>
                  <a:pt x="134861" y="101600"/>
                </a:lnTo>
                <a:lnTo>
                  <a:pt x="133045" y="114300"/>
                </a:lnTo>
                <a:close/>
              </a:path>
              <a:path w="231775" h="3479800">
                <a:moveTo>
                  <a:pt x="138747" y="101600"/>
                </a:moveTo>
                <a:lnTo>
                  <a:pt x="138937" y="88900"/>
                </a:lnTo>
                <a:lnTo>
                  <a:pt x="141300" y="88900"/>
                </a:lnTo>
                <a:lnTo>
                  <a:pt x="138747" y="101600"/>
                </a:lnTo>
                <a:close/>
              </a:path>
              <a:path w="231775" h="3479800">
                <a:moveTo>
                  <a:pt x="130428" y="127000"/>
                </a:moveTo>
                <a:lnTo>
                  <a:pt x="105422" y="127000"/>
                </a:lnTo>
                <a:lnTo>
                  <a:pt x="106806" y="114300"/>
                </a:lnTo>
                <a:lnTo>
                  <a:pt x="131711" y="114300"/>
                </a:lnTo>
                <a:lnTo>
                  <a:pt x="130428" y="127000"/>
                </a:lnTo>
                <a:close/>
              </a:path>
              <a:path w="231775" h="3479800">
                <a:moveTo>
                  <a:pt x="131622" y="127000"/>
                </a:moveTo>
                <a:lnTo>
                  <a:pt x="131711" y="114300"/>
                </a:lnTo>
                <a:lnTo>
                  <a:pt x="133172" y="114300"/>
                </a:lnTo>
                <a:lnTo>
                  <a:pt x="131622" y="127000"/>
                </a:lnTo>
                <a:close/>
              </a:path>
              <a:path w="231775" h="3479800">
                <a:moveTo>
                  <a:pt x="128409" y="152400"/>
                </a:moveTo>
                <a:lnTo>
                  <a:pt x="103035" y="152400"/>
                </a:lnTo>
                <a:lnTo>
                  <a:pt x="103543" y="139700"/>
                </a:lnTo>
                <a:lnTo>
                  <a:pt x="104266" y="127000"/>
                </a:lnTo>
                <a:lnTo>
                  <a:pt x="130505" y="127000"/>
                </a:lnTo>
                <a:lnTo>
                  <a:pt x="129489" y="139700"/>
                </a:lnTo>
                <a:lnTo>
                  <a:pt x="128854" y="139700"/>
                </a:lnTo>
                <a:lnTo>
                  <a:pt x="128409" y="152400"/>
                </a:lnTo>
                <a:close/>
              </a:path>
              <a:path w="231775" h="3479800">
                <a:moveTo>
                  <a:pt x="127634" y="1612900"/>
                </a:moveTo>
                <a:lnTo>
                  <a:pt x="101625" y="1612900"/>
                </a:lnTo>
                <a:lnTo>
                  <a:pt x="102349" y="1600200"/>
                </a:lnTo>
                <a:lnTo>
                  <a:pt x="102743" y="1600200"/>
                </a:lnTo>
                <a:lnTo>
                  <a:pt x="102882" y="1587500"/>
                </a:lnTo>
                <a:lnTo>
                  <a:pt x="102882" y="152400"/>
                </a:lnTo>
                <a:lnTo>
                  <a:pt x="128282" y="152400"/>
                </a:lnTo>
                <a:lnTo>
                  <a:pt x="128282" y="1587500"/>
                </a:lnTo>
                <a:lnTo>
                  <a:pt x="128117" y="1600200"/>
                </a:lnTo>
                <a:lnTo>
                  <a:pt x="127634" y="1612900"/>
                </a:lnTo>
                <a:close/>
              </a:path>
              <a:path w="231775" h="3479800">
                <a:moveTo>
                  <a:pt x="125831" y="1625600"/>
                </a:moveTo>
                <a:lnTo>
                  <a:pt x="99453" y="1625600"/>
                </a:lnTo>
                <a:lnTo>
                  <a:pt x="100736" y="1612900"/>
                </a:lnTo>
                <a:lnTo>
                  <a:pt x="126898" y="1612900"/>
                </a:lnTo>
                <a:lnTo>
                  <a:pt x="125831" y="1625600"/>
                </a:lnTo>
                <a:close/>
              </a:path>
              <a:path w="231775" h="3479800">
                <a:moveTo>
                  <a:pt x="98005" y="1638300"/>
                </a:moveTo>
                <a:lnTo>
                  <a:pt x="96304" y="1638300"/>
                </a:lnTo>
                <a:lnTo>
                  <a:pt x="98120" y="1625600"/>
                </a:lnTo>
                <a:lnTo>
                  <a:pt x="98005" y="1638300"/>
                </a:lnTo>
                <a:close/>
              </a:path>
              <a:path w="231775" h="3479800">
                <a:moveTo>
                  <a:pt x="120751" y="1651000"/>
                </a:moveTo>
                <a:lnTo>
                  <a:pt x="94386" y="1651000"/>
                </a:lnTo>
                <a:lnTo>
                  <a:pt x="96443" y="1638300"/>
                </a:lnTo>
                <a:lnTo>
                  <a:pt x="98005" y="1638300"/>
                </a:lnTo>
                <a:lnTo>
                  <a:pt x="99555" y="1625600"/>
                </a:lnTo>
                <a:lnTo>
                  <a:pt x="124371" y="1625600"/>
                </a:lnTo>
                <a:lnTo>
                  <a:pt x="122694" y="1638300"/>
                </a:lnTo>
                <a:lnTo>
                  <a:pt x="120751" y="1651000"/>
                </a:lnTo>
                <a:close/>
              </a:path>
              <a:path w="231775" h="3479800">
                <a:moveTo>
                  <a:pt x="94386" y="1651000"/>
                </a:moveTo>
                <a:lnTo>
                  <a:pt x="92240" y="1651000"/>
                </a:lnTo>
                <a:lnTo>
                  <a:pt x="94538" y="1638300"/>
                </a:lnTo>
                <a:lnTo>
                  <a:pt x="94386" y="1651000"/>
                </a:lnTo>
                <a:close/>
              </a:path>
              <a:path w="231775" h="3479800">
                <a:moveTo>
                  <a:pt x="116039" y="1663700"/>
                </a:moveTo>
                <a:lnTo>
                  <a:pt x="87299" y="1663700"/>
                </a:lnTo>
                <a:lnTo>
                  <a:pt x="90081" y="1651000"/>
                </a:lnTo>
                <a:lnTo>
                  <a:pt x="118529" y="1651000"/>
                </a:lnTo>
                <a:lnTo>
                  <a:pt x="116039" y="1663700"/>
                </a:lnTo>
                <a:close/>
              </a:path>
              <a:path w="231775" h="3479800">
                <a:moveTo>
                  <a:pt x="110299" y="1676400"/>
                </a:moveTo>
                <a:lnTo>
                  <a:pt x="81572" y="1676400"/>
                </a:lnTo>
                <a:lnTo>
                  <a:pt x="84785" y="1663700"/>
                </a:lnTo>
                <a:lnTo>
                  <a:pt x="113296" y="1663700"/>
                </a:lnTo>
                <a:lnTo>
                  <a:pt x="110299" y="1676400"/>
                </a:lnTo>
                <a:close/>
              </a:path>
              <a:path w="231775" h="3479800">
                <a:moveTo>
                  <a:pt x="103568" y="1689100"/>
                </a:moveTo>
                <a:lnTo>
                  <a:pt x="75107" y="1689100"/>
                </a:lnTo>
                <a:lnTo>
                  <a:pt x="78727" y="1676400"/>
                </a:lnTo>
                <a:lnTo>
                  <a:pt x="107048" y="1676400"/>
                </a:lnTo>
                <a:lnTo>
                  <a:pt x="103568" y="1689100"/>
                </a:lnTo>
                <a:close/>
              </a:path>
              <a:path w="231775" h="3479800">
                <a:moveTo>
                  <a:pt x="95897" y="1701800"/>
                </a:moveTo>
                <a:lnTo>
                  <a:pt x="64198" y="1701800"/>
                </a:lnTo>
                <a:lnTo>
                  <a:pt x="68376" y="1689100"/>
                </a:lnTo>
                <a:lnTo>
                  <a:pt x="99847" y="1689100"/>
                </a:lnTo>
                <a:lnTo>
                  <a:pt x="95897" y="1701800"/>
                </a:lnTo>
                <a:close/>
              </a:path>
              <a:path w="231775" h="3479800">
                <a:moveTo>
                  <a:pt x="52019" y="1714500"/>
                </a:moveTo>
                <a:lnTo>
                  <a:pt x="47726" y="1714500"/>
                </a:lnTo>
                <a:lnTo>
                  <a:pt x="52552" y="1701800"/>
                </a:lnTo>
                <a:lnTo>
                  <a:pt x="52019" y="1714500"/>
                </a:lnTo>
                <a:close/>
              </a:path>
              <a:path w="231775" h="3479800">
                <a:moveTo>
                  <a:pt x="87337" y="1714500"/>
                </a:moveTo>
                <a:lnTo>
                  <a:pt x="52019" y="1714500"/>
                </a:lnTo>
                <a:lnTo>
                  <a:pt x="56692" y="1701800"/>
                </a:lnTo>
                <a:lnTo>
                  <a:pt x="92087" y="1701800"/>
                </a:lnTo>
                <a:lnTo>
                  <a:pt x="87337" y="1714500"/>
                </a:lnTo>
                <a:close/>
              </a:path>
              <a:path w="231775" h="3479800">
                <a:moveTo>
                  <a:pt x="73418" y="1727200"/>
                </a:moveTo>
                <a:lnTo>
                  <a:pt x="29565" y="1727200"/>
                </a:lnTo>
                <a:lnTo>
                  <a:pt x="34925" y="1714500"/>
                </a:lnTo>
                <a:lnTo>
                  <a:pt x="77927" y="1714500"/>
                </a:lnTo>
                <a:lnTo>
                  <a:pt x="73418" y="1727200"/>
                </a:lnTo>
                <a:close/>
              </a:path>
              <a:path w="231775" h="3479800">
                <a:moveTo>
                  <a:pt x="838" y="1752600"/>
                </a:moveTo>
                <a:lnTo>
                  <a:pt x="0" y="1752600"/>
                </a:lnTo>
                <a:lnTo>
                  <a:pt x="0" y="1727200"/>
                </a:lnTo>
                <a:lnTo>
                  <a:pt x="838" y="1727200"/>
                </a:lnTo>
                <a:lnTo>
                  <a:pt x="838" y="1752600"/>
                </a:lnTo>
                <a:close/>
              </a:path>
              <a:path w="231775" h="3479800">
                <a:moveTo>
                  <a:pt x="33591" y="1752600"/>
                </a:moveTo>
                <a:lnTo>
                  <a:pt x="838" y="1752600"/>
                </a:lnTo>
                <a:lnTo>
                  <a:pt x="838" y="1727200"/>
                </a:lnTo>
                <a:lnTo>
                  <a:pt x="33591" y="1727200"/>
                </a:lnTo>
                <a:lnTo>
                  <a:pt x="39052" y="1739900"/>
                </a:lnTo>
                <a:lnTo>
                  <a:pt x="33591" y="1752600"/>
                </a:lnTo>
                <a:close/>
              </a:path>
              <a:path w="231775" h="3479800">
                <a:moveTo>
                  <a:pt x="62903" y="1752600"/>
                </a:moveTo>
                <a:lnTo>
                  <a:pt x="33591" y="1752600"/>
                </a:lnTo>
                <a:lnTo>
                  <a:pt x="39052" y="1739900"/>
                </a:lnTo>
                <a:lnTo>
                  <a:pt x="33591" y="1727200"/>
                </a:lnTo>
                <a:lnTo>
                  <a:pt x="62331" y="1727200"/>
                </a:lnTo>
                <a:lnTo>
                  <a:pt x="56768" y="1739900"/>
                </a:lnTo>
                <a:lnTo>
                  <a:pt x="57365" y="1739900"/>
                </a:lnTo>
                <a:lnTo>
                  <a:pt x="62903" y="1752600"/>
                </a:lnTo>
                <a:close/>
              </a:path>
              <a:path w="231775" h="3479800">
                <a:moveTo>
                  <a:pt x="78384" y="1765300"/>
                </a:moveTo>
                <a:lnTo>
                  <a:pt x="34925" y="1765300"/>
                </a:lnTo>
                <a:lnTo>
                  <a:pt x="29565" y="1752600"/>
                </a:lnTo>
                <a:lnTo>
                  <a:pt x="73418" y="1752600"/>
                </a:lnTo>
                <a:lnTo>
                  <a:pt x="78384" y="1765300"/>
                </a:lnTo>
                <a:close/>
              </a:path>
              <a:path w="231775" h="3479800">
                <a:moveTo>
                  <a:pt x="92087" y="1778000"/>
                </a:moveTo>
                <a:lnTo>
                  <a:pt x="56692" y="1778000"/>
                </a:lnTo>
                <a:lnTo>
                  <a:pt x="52019" y="1765300"/>
                </a:lnTo>
                <a:lnTo>
                  <a:pt x="87337" y="1765300"/>
                </a:lnTo>
                <a:lnTo>
                  <a:pt x="92087" y="1778000"/>
                </a:lnTo>
                <a:close/>
              </a:path>
              <a:path w="231775" h="3479800">
                <a:moveTo>
                  <a:pt x="99847" y="1790700"/>
                </a:moveTo>
                <a:lnTo>
                  <a:pt x="68376" y="1790700"/>
                </a:lnTo>
                <a:lnTo>
                  <a:pt x="64198" y="1778000"/>
                </a:lnTo>
                <a:lnTo>
                  <a:pt x="96227" y="1778000"/>
                </a:lnTo>
                <a:lnTo>
                  <a:pt x="99847" y="1790700"/>
                </a:lnTo>
                <a:close/>
              </a:path>
              <a:path w="231775" h="3479800">
                <a:moveTo>
                  <a:pt x="107302" y="1803400"/>
                </a:moveTo>
                <a:lnTo>
                  <a:pt x="78727" y="1803400"/>
                </a:lnTo>
                <a:lnTo>
                  <a:pt x="75107" y="1790700"/>
                </a:lnTo>
                <a:lnTo>
                  <a:pt x="103568" y="1790700"/>
                </a:lnTo>
                <a:lnTo>
                  <a:pt x="107302" y="1803400"/>
                </a:lnTo>
                <a:close/>
              </a:path>
              <a:path w="231775" h="3479800">
                <a:moveTo>
                  <a:pt x="113499" y="1816100"/>
                </a:moveTo>
                <a:lnTo>
                  <a:pt x="84785" y="1816100"/>
                </a:lnTo>
                <a:lnTo>
                  <a:pt x="81572" y="1803400"/>
                </a:lnTo>
                <a:lnTo>
                  <a:pt x="110299" y="1803400"/>
                </a:lnTo>
                <a:lnTo>
                  <a:pt x="113499" y="1816100"/>
                </a:lnTo>
                <a:close/>
              </a:path>
              <a:path w="231775" h="3479800">
                <a:moveTo>
                  <a:pt x="90081" y="1828800"/>
                </a:moveTo>
                <a:lnTo>
                  <a:pt x="87299" y="1816100"/>
                </a:lnTo>
                <a:lnTo>
                  <a:pt x="89877" y="1816100"/>
                </a:lnTo>
                <a:lnTo>
                  <a:pt x="90081" y="1828800"/>
                </a:lnTo>
                <a:close/>
              </a:path>
              <a:path w="231775" h="3479800">
                <a:moveTo>
                  <a:pt x="118529" y="1828800"/>
                </a:moveTo>
                <a:lnTo>
                  <a:pt x="92417" y="1828800"/>
                </a:lnTo>
                <a:lnTo>
                  <a:pt x="89877" y="1816100"/>
                </a:lnTo>
                <a:lnTo>
                  <a:pt x="116217" y="1816100"/>
                </a:lnTo>
                <a:lnTo>
                  <a:pt x="118529" y="1828800"/>
                </a:lnTo>
                <a:close/>
              </a:path>
              <a:path w="231775" h="3479800">
                <a:moveTo>
                  <a:pt x="124371" y="1854200"/>
                </a:moveTo>
                <a:lnTo>
                  <a:pt x="99555" y="1854200"/>
                </a:lnTo>
                <a:lnTo>
                  <a:pt x="98005" y="1841500"/>
                </a:lnTo>
                <a:lnTo>
                  <a:pt x="96443" y="1841500"/>
                </a:lnTo>
                <a:lnTo>
                  <a:pt x="94386" y="1828800"/>
                </a:lnTo>
                <a:lnTo>
                  <a:pt x="120751" y="1828800"/>
                </a:lnTo>
                <a:lnTo>
                  <a:pt x="122808" y="1841500"/>
                </a:lnTo>
                <a:lnTo>
                  <a:pt x="124371" y="1854200"/>
                </a:lnTo>
                <a:close/>
              </a:path>
              <a:path w="231775" h="3479800">
                <a:moveTo>
                  <a:pt x="100736" y="1866900"/>
                </a:moveTo>
                <a:lnTo>
                  <a:pt x="99453" y="1854200"/>
                </a:lnTo>
                <a:lnTo>
                  <a:pt x="100660" y="1854200"/>
                </a:lnTo>
                <a:lnTo>
                  <a:pt x="100736" y="1866900"/>
                </a:lnTo>
                <a:close/>
              </a:path>
              <a:path w="231775" h="3479800">
                <a:moveTo>
                  <a:pt x="126898" y="1866900"/>
                </a:moveTo>
                <a:lnTo>
                  <a:pt x="101676" y="1866900"/>
                </a:lnTo>
                <a:lnTo>
                  <a:pt x="100660" y="1854200"/>
                </a:lnTo>
                <a:lnTo>
                  <a:pt x="125831" y="1854200"/>
                </a:lnTo>
                <a:lnTo>
                  <a:pt x="126898" y="1866900"/>
                </a:lnTo>
                <a:close/>
              </a:path>
              <a:path w="231775" h="3479800">
                <a:moveTo>
                  <a:pt x="128282" y="3327400"/>
                </a:moveTo>
                <a:lnTo>
                  <a:pt x="102882" y="3327400"/>
                </a:lnTo>
                <a:lnTo>
                  <a:pt x="102882" y="1892300"/>
                </a:lnTo>
                <a:lnTo>
                  <a:pt x="102743" y="1879600"/>
                </a:lnTo>
                <a:lnTo>
                  <a:pt x="102349" y="1879600"/>
                </a:lnTo>
                <a:lnTo>
                  <a:pt x="101625" y="1866900"/>
                </a:lnTo>
                <a:lnTo>
                  <a:pt x="127673" y="1866900"/>
                </a:lnTo>
                <a:lnTo>
                  <a:pt x="128117" y="1879600"/>
                </a:lnTo>
                <a:lnTo>
                  <a:pt x="128282" y="1892300"/>
                </a:lnTo>
                <a:lnTo>
                  <a:pt x="128282" y="3327400"/>
                </a:lnTo>
                <a:close/>
              </a:path>
              <a:path w="231775" h="3479800">
                <a:moveTo>
                  <a:pt x="130505" y="3352800"/>
                </a:moveTo>
                <a:lnTo>
                  <a:pt x="104266" y="3352800"/>
                </a:lnTo>
                <a:lnTo>
                  <a:pt x="103504" y="3340100"/>
                </a:lnTo>
                <a:lnTo>
                  <a:pt x="103035" y="3327400"/>
                </a:lnTo>
                <a:lnTo>
                  <a:pt x="128409" y="3327400"/>
                </a:lnTo>
                <a:lnTo>
                  <a:pt x="128854" y="3340100"/>
                </a:lnTo>
                <a:lnTo>
                  <a:pt x="129489" y="3340100"/>
                </a:lnTo>
                <a:lnTo>
                  <a:pt x="130505" y="3352800"/>
                </a:lnTo>
                <a:close/>
              </a:path>
              <a:path w="231775" h="3479800">
                <a:moveTo>
                  <a:pt x="133172" y="3365500"/>
                </a:moveTo>
                <a:lnTo>
                  <a:pt x="106705" y="3365500"/>
                </a:lnTo>
                <a:lnTo>
                  <a:pt x="105346" y="3352800"/>
                </a:lnTo>
                <a:lnTo>
                  <a:pt x="131622" y="3352800"/>
                </a:lnTo>
                <a:lnTo>
                  <a:pt x="133172" y="3365500"/>
                </a:lnTo>
                <a:close/>
              </a:path>
              <a:path w="231775" h="3479800">
                <a:moveTo>
                  <a:pt x="141300" y="3390900"/>
                </a:moveTo>
                <a:lnTo>
                  <a:pt x="112483" y="3390900"/>
                </a:lnTo>
                <a:lnTo>
                  <a:pt x="110286" y="3378200"/>
                </a:lnTo>
                <a:lnTo>
                  <a:pt x="108356" y="3365500"/>
                </a:lnTo>
                <a:lnTo>
                  <a:pt x="134721" y="3365500"/>
                </a:lnTo>
                <a:lnTo>
                  <a:pt x="136791" y="3378200"/>
                </a:lnTo>
                <a:lnTo>
                  <a:pt x="138747" y="3378200"/>
                </a:lnTo>
                <a:lnTo>
                  <a:pt x="141300" y="3390900"/>
                </a:lnTo>
                <a:close/>
              </a:path>
              <a:path w="231775" h="3479800">
                <a:moveTo>
                  <a:pt x="146634" y="3403600"/>
                </a:moveTo>
                <a:lnTo>
                  <a:pt x="117678" y="3403600"/>
                </a:lnTo>
                <a:lnTo>
                  <a:pt x="114947" y="3390900"/>
                </a:lnTo>
                <a:lnTo>
                  <a:pt x="143637" y="3390900"/>
                </a:lnTo>
                <a:lnTo>
                  <a:pt x="146634" y="3403600"/>
                </a:lnTo>
                <a:close/>
              </a:path>
              <a:path w="231775" h="3479800">
                <a:moveTo>
                  <a:pt x="152742" y="3416300"/>
                </a:moveTo>
                <a:lnTo>
                  <a:pt x="124117" y="3416300"/>
                </a:lnTo>
                <a:lnTo>
                  <a:pt x="120650" y="3403600"/>
                </a:lnTo>
                <a:lnTo>
                  <a:pt x="149326" y="3403600"/>
                </a:lnTo>
                <a:lnTo>
                  <a:pt x="152742" y="3416300"/>
                </a:lnTo>
                <a:close/>
              </a:path>
              <a:path w="231775" h="3479800">
                <a:moveTo>
                  <a:pt x="163182" y="3429000"/>
                </a:moveTo>
                <a:lnTo>
                  <a:pt x="131330" y="3429000"/>
                </a:lnTo>
                <a:lnTo>
                  <a:pt x="127330" y="3416300"/>
                </a:lnTo>
                <a:lnTo>
                  <a:pt x="159181" y="3416300"/>
                </a:lnTo>
                <a:lnTo>
                  <a:pt x="163182" y="3429000"/>
                </a:lnTo>
                <a:close/>
              </a:path>
              <a:path w="231775" h="3479800">
                <a:moveTo>
                  <a:pt x="174967" y="3441700"/>
                </a:moveTo>
                <a:lnTo>
                  <a:pt x="139090" y="3441700"/>
                </a:lnTo>
                <a:lnTo>
                  <a:pt x="134950" y="3429000"/>
                </a:lnTo>
                <a:lnTo>
                  <a:pt x="170446" y="3429000"/>
                </a:lnTo>
                <a:lnTo>
                  <a:pt x="174967" y="3441700"/>
                </a:lnTo>
                <a:close/>
              </a:path>
              <a:path w="231775" h="3479800">
                <a:moveTo>
                  <a:pt x="192341" y="3454400"/>
                </a:moveTo>
                <a:lnTo>
                  <a:pt x="152781" y="3454400"/>
                </a:lnTo>
                <a:lnTo>
                  <a:pt x="148437" y="3441700"/>
                </a:lnTo>
                <a:lnTo>
                  <a:pt x="187236" y="3441700"/>
                </a:lnTo>
                <a:lnTo>
                  <a:pt x="192341" y="3454400"/>
                </a:lnTo>
                <a:close/>
              </a:path>
              <a:path w="231775" h="3479800">
                <a:moveTo>
                  <a:pt x="230339" y="3479800"/>
                </a:moveTo>
                <a:lnTo>
                  <a:pt x="186054" y="3479800"/>
                </a:lnTo>
                <a:lnTo>
                  <a:pt x="180149" y="3467100"/>
                </a:lnTo>
                <a:lnTo>
                  <a:pt x="162915" y="3467100"/>
                </a:lnTo>
                <a:lnTo>
                  <a:pt x="158241" y="3454400"/>
                </a:lnTo>
                <a:lnTo>
                  <a:pt x="231165" y="3454400"/>
                </a:lnTo>
                <a:lnTo>
                  <a:pt x="230339" y="3479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985884" y="3740035"/>
            <a:ext cx="163830" cy="2070100"/>
          </a:xfrm>
          <a:custGeom>
            <a:avLst/>
            <a:gdLst/>
            <a:ahLst/>
            <a:cxnLst/>
            <a:rect l="l" t="t" r="r" b="b"/>
            <a:pathLst>
              <a:path w="163830" h="2070100">
                <a:moveTo>
                  <a:pt x="159448" y="25400"/>
                </a:moveTo>
                <a:lnTo>
                  <a:pt x="101955" y="25400"/>
                </a:lnTo>
                <a:lnTo>
                  <a:pt x="105448" y="12700"/>
                </a:lnTo>
                <a:lnTo>
                  <a:pt x="116827" y="12700"/>
                </a:lnTo>
                <a:lnTo>
                  <a:pt x="121500" y="0"/>
                </a:lnTo>
                <a:lnTo>
                  <a:pt x="162801" y="0"/>
                </a:lnTo>
                <a:lnTo>
                  <a:pt x="163626" y="12700"/>
                </a:lnTo>
                <a:lnTo>
                  <a:pt x="159448" y="25400"/>
                </a:lnTo>
                <a:close/>
              </a:path>
              <a:path w="163830" h="2070100">
                <a:moveTo>
                  <a:pt x="125818" y="38100"/>
                </a:moveTo>
                <a:lnTo>
                  <a:pt x="92735" y="38100"/>
                </a:lnTo>
                <a:lnTo>
                  <a:pt x="95783" y="25400"/>
                </a:lnTo>
                <a:lnTo>
                  <a:pt x="129120" y="25400"/>
                </a:lnTo>
                <a:lnTo>
                  <a:pt x="125818" y="38100"/>
                </a:lnTo>
                <a:close/>
              </a:path>
              <a:path w="163830" h="2070100">
                <a:moveTo>
                  <a:pt x="128600" y="38100"/>
                </a:moveTo>
                <a:lnTo>
                  <a:pt x="129120" y="25400"/>
                </a:lnTo>
                <a:lnTo>
                  <a:pt x="132003" y="25400"/>
                </a:lnTo>
                <a:lnTo>
                  <a:pt x="128600" y="38100"/>
                </a:lnTo>
                <a:close/>
              </a:path>
              <a:path w="163830" h="2070100">
                <a:moveTo>
                  <a:pt x="115531" y="50800"/>
                </a:moveTo>
                <a:lnTo>
                  <a:pt x="84327" y="50800"/>
                </a:lnTo>
                <a:lnTo>
                  <a:pt x="87121" y="38100"/>
                </a:lnTo>
                <a:lnTo>
                  <a:pt x="118351" y="38100"/>
                </a:lnTo>
                <a:lnTo>
                  <a:pt x="115531" y="50800"/>
                </a:lnTo>
                <a:close/>
              </a:path>
              <a:path w="163830" h="2070100">
                <a:moveTo>
                  <a:pt x="106845" y="63500"/>
                </a:moveTo>
                <a:lnTo>
                  <a:pt x="78028" y="63500"/>
                </a:lnTo>
                <a:lnTo>
                  <a:pt x="80035" y="50800"/>
                </a:lnTo>
                <a:lnTo>
                  <a:pt x="109118" y="50800"/>
                </a:lnTo>
                <a:lnTo>
                  <a:pt x="106845" y="63500"/>
                </a:lnTo>
                <a:close/>
              </a:path>
              <a:path w="163830" h="2070100">
                <a:moveTo>
                  <a:pt x="101650" y="76200"/>
                </a:moveTo>
                <a:lnTo>
                  <a:pt x="74599" y="76200"/>
                </a:lnTo>
                <a:lnTo>
                  <a:pt x="76225" y="63500"/>
                </a:lnTo>
                <a:lnTo>
                  <a:pt x="103454" y="63500"/>
                </a:lnTo>
                <a:lnTo>
                  <a:pt x="101650" y="76200"/>
                </a:lnTo>
                <a:close/>
              </a:path>
              <a:path w="163830" h="2070100">
                <a:moveTo>
                  <a:pt x="97764" y="88900"/>
                </a:moveTo>
                <a:lnTo>
                  <a:pt x="71970" y="88900"/>
                </a:lnTo>
                <a:lnTo>
                  <a:pt x="73190" y="76200"/>
                </a:lnTo>
                <a:lnTo>
                  <a:pt x="99047" y="76200"/>
                </a:lnTo>
                <a:lnTo>
                  <a:pt x="97764" y="88900"/>
                </a:lnTo>
                <a:close/>
              </a:path>
              <a:path w="163830" h="2070100">
                <a:moveTo>
                  <a:pt x="95338" y="101600"/>
                </a:moveTo>
                <a:lnTo>
                  <a:pt x="69595" y="101600"/>
                </a:lnTo>
                <a:lnTo>
                  <a:pt x="70167" y="88900"/>
                </a:lnTo>
                <a:lnTo>
                  <a:pt x="96050" y="88900"/>
                </a:lnTo>
                <a:lnTo>
                  <a:pt x="95338" y="101600"/>
                </a:lnTo>
                <a:close/>
              </a:path>
              <a:path w="163830" h="2070100">
                <a:moveTo>
                  <a:pt x="94411" y="939800"/>
                </a:moveTo>
                <a:lnTo>
                  <a:pt x="69011" y="939800"/>
                </a:lnTo>
                <a:lnTo>
                  <a:pt x="69113" y="114300"/>
                </a:lnTo>
                <a:lnTo>
                  <a:pt x="69240" y="101600"/>
                </a:lnTo>
                <a:lnTo>
                  <a:pt x="94614" y="101600"/>
                </a:lnTo>
                <a:lnTo>
                  <a:pt x="94513" y="927100"/>
                </a:lnTo>
                <a:lnTo>
                  <a:pt x="94411" y="939800"/>
                </a:lnTo>
                <a:close/>
              </a:path>
              <a:path w="163830" h="2070100">
                <a:moveTo>
                  <a:pt x="93522" y="952500"/>
                </a:moveTo>
                <a:lnTo>
                  <a:pt x="67576" y="952500"/>
                </a:lnTo>
                <a:lnTo>
                  <a:pt x="68300" y="939800"/>
                </a:lnTo>
                <a:lnTo>
                  <a:pt x="94030" y="939800"/>
                </a:lnTo>
                <a:lnTo>
                  <a:pt x="93522" y="952500"/>
                </a:lnTo>
                <a:close/>
              </a:path>
              <a:path w="163830" h="2070100">
                <a:moveTo>
                  <a:pt x="90449" y="965200"/>
                </a:moveTo>
                <a:lnTo>
                  <a:pt x="64592" y="965200"/>
                </a:lnTo>
                <a:lnTo>
                  <a:pt x="65862" y="952500"/>
                </a:lnTo>
                <a:lnTo>
                  <a:pt x="91757" y="952500"/>
                </a:lnTo>
                <a:lnTo>
                  <a:pt x="90449" y="965200"/>
                </a:lnTo>
                <a:close/>
              </a:path>
              <a:path w="163830" h="2070100">
                <a:moveTo>
                  <a:pt x="87414" y="977900"/>
                </a:moveTo>
                <a:lnTo>
                  <a:pt x="60185" y="977900"/>
                </a:lnTo>
                <a:lnTo>
                  <a:pt x="61975" y="965200"/>
                </a:lnTo>
                <a:lnTo>
                  <a:pt x="89026" y="965200"/>
                </a:lnTo>
                <a:lnTo>
                  <a:pt x="87414" y="977900"/>
                </a:lnTo>
                <a:close/>
              </a:path>
              <a:path w="163830" h="2070100">
                <a:moveTo>
                  <a:pt x="83604" y="990600"/>
                </a:moveTo>
                <a:lnTo>
                  <a:pt x="54508" y="990600"/>
                </a:lnTo>
                <a:lnTo>
                  <a:pt x="56781" y="977900"/>
                </a:lnTo>
                <a:lnTo>
                  <a:pt x="85597" y="977900"/>
                </a:lnTo>
                <a:lnTo>
                  <a:pt x="83604" y="990600"/>
                </a:lnTo>
                <a:close/>
              </a:path>
              <a:path w="163830" h="2070100">
                <a:moveTo>
                  <a:pt x="76784" y="1003300"/>
                </a:moveTo>
                <a:lnTo>
                  <a:pt x="45275" y="1003300"/>
                </a:lnTo>
                <a:lnTo>
                  <a:pt x="48107" y="990600"/>
                </a:lnTo>
                <a:lnTo>
                  <a:pt x="79298" y="990600"/>
                </a:lnTo>
                <a:lnTo>
                  <a:pt x="76784" y="1003300"/>
                </a:lnTo>
                <a:close/>
              </a:path>
              <a:path w="163830" h="2070100">
                <a:moveTo>
                  <a:pt x="67843" y="1016000"/>
                </a:moveTo>
                <a:lnTo>
                  <a:pt x="31622" y="1016000"/>
                </a:lnTo>
                <a:lnTo>
                  <a:pt x="35039" y="1003300"/>
                </a:lnTo>
                <a:lnTo>
                  <a:pt x="70904" y="1003300"/>
                </a:lnTo>
                <a:lnTo>
                  <a:pt x="67843" y="1016000"/>
                </a:lnTo>
                <a:close/>
              </a:path>
              <a:path w="163830" h="2070100">
                <a:moveTo>
                  <a:pt x="825" y="1041400"/>
                </a:moveTo>
                <a:lnTo>
                  <a:pt x="0" y="1041400"/>
                </a:lnTo>
                <a:lnTo>
                  <a:pt x="0" y="1016000"/>
                </a:lnTo>
                <a:lnTo>
                  <a:pt x="825" y="1016000"/>
                </a:lnTo>
                <a:lnTo>
                  <a:pt x="825" y="1041400"/>
                </a:lnTo>
                <a:close/>
              </a:path>
              <a:path w="163830" h="2070100">
                <a:moveTo>
                  <a:pt x="42125" y="1041400"/>
                </a:moveTo>
                <a:lnTo>
                  <a:pt x="825" y="1041400"/>
                </a:lnTo>
                <a:lnTo>
                  <a:pt x="825" y="1016000"/>
                </a:lnTo>
                <a:lnTo>
                  <a:pt x="5854" y="1016000"/>
                </a:lnTo>
                <a:lnTo>
                  <a:pt x="9982" y="1028700"/>
                </a:lnTo>
                <a:lnTo>
                  <a:pt x="42722" y="1028700"/>
                </a:lnTo>
                <a:lnTo>
                  <a:pt x="42125" y="1041400"/>
                </a:lnTo>
                <a:close/>
              </a:path>
              <a:path w="163830" h="2070100">
                <a:moveTo>
                  <a:pt x="58178" y="1028700"/>
                </a:moveTo>
                <a:lnTo>
                  <a:pt x="9982" y="1028700"/>
                </a:lnTo>
                <a:lnTo>
                  <a:pt x="5854" y="1016000"/>
                </a:lnTo>
                <a:lnTo>
                  <a:pt x="61671" y="1016000"/>
                </a:lnTo>
                <a:lnTo>
                  <a:pt x="58178" y="1028700"/>
                </a:lnTo>
                <a:close/>
              </a:path>
              <a:path w="163830" h="2070100">
                <a:moveTo>
                  <a:pt x="46240" y="1041400"/>
                </a:moveTo>
                <a:lnTo>
                  <a:pt x="42125" y="1041400"/>
                </a:lnTo>
                <a:lnTo>
                  <a:pt x="42722" y="1028700"/>
                </a:lnTo>
                <a:lnTo>
                  <a:pt x="46240" y="1041400"/>
                </a:lnTo>
                <a:close/>
              </a:path>
              <a:path w="163830" h="2070100">
                <a:moveTo>
                  <a:pt x="61252" y="1054100"/>
                </a:moveTo>
                <a:lnTo>
                  <a:pt x="10744" y="1054100"/>
                </a:lnTo>
                <a:lnTo>
                  <a:pt x="6680" y="1041400"/>
                </a:lnTo>
                <a:lnTo>
                  <a:pt x="57721" y="1041400"/>
                </a:lnTo>
                <a:lnTo>
                  <a:pt x="61252" y="1054100"/>
                </a:lnTo>
                <a:close/>
              </a:path>
              <a:path w="163830" h="2070100">
                <a:moveTo>
                  <a:pt x="70904" y="1066800"/>
                </a:moveTo>
                <a:lnTo>
                  <a:pt x="37807" y="1066800"/>
                </a:lnTo>
                <a:lnTo>
                  <a:pt x="34505" y="1054100"/>
                </a:lnTo>
                <a:lnTo>
                  <a:pt x="68199" y="1054100"/>
                </a:lnTo>
                <a:lnTo>
                  <a:pt x="70904" y="1066800"/>
                </a:lnTo>
                <a:close/>
              </a:path>
              <a:path w="163830" h="2070100">
                <a:moveTo>
                  <a:pt x="48107" y="1079500"/>
                </a:moveTo>
                <a:lnTo>
                  <a:pt x="45275" y="1066800"/>
                </a:lnTo>
                <a:lnTo>
                  <a:pt x="47739" y="1066800"/>
                </a:lnTo>
                <a:lnTo>
                  <a:pt x="48107" y="1079500"/>
                </a:lnTo>
                <a:close/>
              </a:path>
              <a:path w="163830" h="2070100">
                <a:moveTo>
                  <a:pt x="79298" y="1079500"/>
                </a:moveTo>
                <a:lnTo>
                  <a:pt x="50444" y="1079500"/>
                </a:lnTo>
                <a:lnTo>
                  <a:pt x="47739" y="1066800"/>
                </a:lnTo>
                <a:lnTo>
                  <a:pt x="76784" y="1066800"/>
                </a:lnTo>
                <a:lnTo>
                  <a:pt x="79298" y="1079500"/>
                </a:lnTo>
                <a:close/>
              </a:path>
              <a:path w="163830" h="2070100">
                <a:moveTo>
                  <a:pt x="85775" y="1092200"/>
                </a:moveTo>
                <a:lnTo>
                  <a:pt x="56781" y="1092200"/>
                </a:lnTo>
                <a:lnTo>
                  <a:pt x="54508" y="1079500"/>
                </a:lnTo>
                <a:lnTo>
                  <a:pt x="83807" y="1079500"/>
                </a:lnTo>
                <a:lnTo>
                  <a:pt x="85775" y="1092200"/>
                </a:lnTo>
                <a:close/>
              </a:path>
              <a:path w="163830" h="2070100">
                <a:moveTo>
                  <a:pt x="61975" y="1104900"/>
                </a:moveTo>
                <a:lnTo>
                  <a:pt x="60185" y="1092200"/>
                </a:lnTo>
                <a:lnTo>
                  <a:pt x="61798" y="1092200"/>
                </a:lnTo>
                <a:lnTo>
                  <a:pt x="61975" y="1104900"/>
                </a:lnTo>
                <a:close/>
              </a:path>
              <a:path w="163830" h="2070100">
                <a:moveTo>
                  <a:pt x="89166" y="1104900"/>
                </a:moveTo>
                <a:lnTo>
                  <a:pt x="63423" y="1104900"/>
                </a:lnTo>
                <a:lnTo>
                  <a:pt x="61798" y="1092200"/>
                </a:lnTo>
                <a:lnTo>
                  <a:pt x="87414" y="1092200"/>
                </a:lnTo>
                <a:lnTo>
                  <a:pt x="89166" y="1104900"/>
                </a:lnTo>
                <a:close/>
              </a:path>
              <a:path w="163830" h="2070100">
                <a:moveTo>
                  <a:pt x="91757" y="1117600"/>
                </a:moveTo>
                <a:lnTo>
                  <a:pt x="65862" y="1117600"/>
                </a:lnTo>
                <a:lnTo>
                  <a:pt x="64592" y="1104900"/>
                </a:lnTo>
                <a:lnTo>
                  <a:pt x="90563" y="1104900"/>
                </a:lnTo>
                <a:lnTo>
                  <a:pt x="91757" y="1117600"/>
                </a:lnTo>
                <a:close/>
              </a:path>
              <a:path w="163830" h="2070100">
                <a:moveTo>
                  <a:pt x="94068" y="1130300"/>
                </a:moveTo>
                <a:lnTo>
                  <a:pt x="68300" y="1130300"/>
                </a:lnTo>
                <a:lnTo>
                  <a:pt x="67576" y="1117600"/>
                </a:lnTo>
                <a:lnTo>
                  <a:pt x="93522" y="1117600"/>
                </a:lnTo>
                <a:lnTo>
                  <a:pt x="94068" y="1130300"/>
                </a:lnTo>
                <a:close/>
              </a:path>
              <a:path w="163830" h="2070100">
                <a:moveTo>
                  <a:pt x="94614" y="1968500"/>
                </a:moveTo>
                <a:lnTo>
                  <a:pt x="69240" y="1968500"/>
                </a:lnTo>
                <a:lnTo>
                  <a:pt x="69113" y="1955800"/>
                </a:lnTo>
                <a:lnTo>
                  <a:pt x="69011" y="1130300"/>
                </a:lnTo>
                <a:lnTo>
                  <a:pt x="94411" y="1130300"/>
                </a:lnTo>
                <a:lnTo>
                  <a:pt x="94513" y="1955800"/>
                </a:lnTo>
                <a:lnTo>
                  <a:pt x="94614" y="1968500"/>
                </a:lnTo>
                <a:close/>
              </a:path>
              <a:path w="163830" h="2070100">
                <a:moveTo>
                  <a:pt x="94919" y="1968500"/>
                </a:moveTo>
                <a:lnTo>
                  <a:pt x="94614" y="1968500"/>
                </a:lnTo>
                <a:lnTo>
                  <a:pt x="94602" y="1955800"/>
                </a:lnTo>
                <a:lnTo>
                  <a:pt x="94919" y="1968500"/>
                </a:lnTo>
                <a:close/>
              </a:path>
              <a:path w="163830" h="2070100">
                <a:moveTo>
                  <a:pt x="96050" y="1981200"/>
                </a:moveTo>
                <a:lnTo>
                  <a:pt x="70167" y="1981200"/>
                </a:lnTo>
                <a:lnTo>
                  <a:pt x="69557" y="1968500"/>
                </a:lnTo>
                <a:lnTo>
                  <a:pt x="95338" y="1968500"/>
                </a:lnTo>
                <a:lnTo>
                  <a:pt x="96050" y="1981200"/>
                </a:lnTo>
                <a:close/>
              </a:path>
              <a:path w="163830" h="2070100">
                <a:moveTo>
                  <a:pt x="99047" y="1993900"/>
                </a:moveTo>
                <a:lnTo>
                  <a:pt x="73190" y="1993900"/>
                </a:lnTo>
                <a:lnTo>
                  <a:pt x="71869" y="1981200"/>
                </a:lnTo>
                <a:lnTo>
                  <a:pt x="97764" y="1981200"/>
                </a:lnTo>
                <a:lnTo>
                  <a:pt x="99047" y="1993900"/>
                </a:lnTo>
                <a:close/>
              </a:path>
              <a:path w="163830" h="2070100">
                <a:moveTo>
                  <a:pt x="103454" y="2006600"/>
                </a:moveTo>
                <a:lnTo>
                  <a:pt x="76060" y="2006600"/>
                </a:lnTo>
                <a:lnTo>
                  <a:pt x="74599" y="1993900"/>
                </a:lnTo>
                <a:lnTo>
                  <a:pt x="101650" y="1993900"/>
                </a:lnTo>
                <a:lnTo>
                  <a:pt x="103454" y="2006600"/>
                </a:lnTo>
                <a:close/>
              </a:path>
              <a:path w="163830" h="2070100">
                <a:moveTo>
                  <a:pt x="109118" y="2019300"/>
                </a:moveTo>
                <a:lnTo>
                  <a:pt x="81991" y="2019300"/>
                </a:lnTo>
                <a:lnTo>
                  <a:pt x="79832" y="2006600"/>
                </a:lnTo>
                <a:lnTo>
                  <a:pt x="106845" y="2006600"/>
                </a:lnTo>
                <a:lnTo>
                  <a:pt x="109118" y="2019300"/>
                </a:lnTo>
                <a:close/>
              </a:path>
              <a:path w="163830" h="2070100">
                <a:moveTo>
                  <a:pt x="118351" y="2032000"/>
                </a:moveTo>
                <a:lnTo>
                  <a:pt x="87121" y="2032000"/>
                </a:lnTo>
                <a:lnTo>
                  <a:pt x="84327" y="2019300"/>
                </a:lnTo>
                <a:lnTo>
                  <a:pt x="115531" y="2019300"/>
                </a:lnTo>
                <a:lnTo>
                  <a:pt x="118351" y="2032000"/>
                </a:lnTo>
                <a:close/>
              </a:path>
              <a:path w="163830" h="2070100">
                <a:moveTo>
                  <a:pt x="132003" y="2044700"/>
                </a:moveTo>
                <a:lnTo>
                  <a:pt x="95427" y="2044700"/>
                </a:lnTo>
                <a:lnTo>
                  <a:pt x="92405" y="2032000"/>
                </a:lnTo>
                <a:lnTo>
                  <a:pt x="128600" y="2032000"/>
                </a:lnTo>
                <a:lnTo>
                  <a:pt x="132003" y="2044700"/>
                </a:lnTo>
                <a:close/>
              </a:path>
              <a:path w="163830" h="2070100">
                <a:moveTo>
                  <a:pt x="162801" y="2070100"/>
                </a:moveTo>
                <a:lnTo>
                  <a:pt x="125107" y="2070100"/>
                </a:lnTo>
                <a:lnTo>
                  <a:pt x="121500" y="2057400"/>
                </a:lnTo>
                <a:lnTo>
                  <a:pt x="105905" y="2057400"/>
                </a:lnTo>
                <a:lnTo>
                  <a:pt x="102374" y="2044700"/>
                </a:lnTo>
                <a:lnTo>
                  <a:pt x="163626" y="2044700"/>
                </a:lnTo>
                <a:lnTo>
                  <a:pt x="162801" y="2070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932658" y="1253921"/>
            <a:ext cx="133413" cy="8801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415688" y="2210676"/>
            <a:ext cx="155892" cy="8877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499584" y="3221723"/>
            <a:ext cx="162902" cy="9321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743538" y="4323816"/>
            <a:ext cx="158699" cy="91313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313838" y="4548758"/>
            <a:ext cx="584835" cy="360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b="1">
                <a:latin typeface="宋体"/>
                <a:cs typeface="宋体"/>
              </a:rPr>
              <a:t>应</a:t>
            </a:r>
            <a:r>
              <a:rPr dirty="0" sz="2200" spc="-15" b="1">
                <a:latin typeface="宋体"/>
                <a:cs typeface="宋体"/>
              </a:rPr>
              <a:t>用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2025-04-19T16:23:10Z</dcterms:created>
  <dcterms:modified xsi:type="dcterms:W3CDTF">2025-04-19T16:23:10Z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2025-04-19T00:00:00Z</vt:filetime>
  </property>
</Properties>
</file>