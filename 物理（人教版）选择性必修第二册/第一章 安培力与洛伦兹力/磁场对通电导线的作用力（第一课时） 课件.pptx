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61539" y="1167333"/>
            <a:ext cx="7868920" cy="279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5560" y="1418793"/>
            <a:ext cx="2660878" cy="497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8777" y="1259344"/>
            <a:ext cx="7618095" cy="403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Relationship Id="rId22" Type="http://schemas.openxmlformats.org/officeDocument/2006/relationships/image" Target="../media/image51.png"/><Relationship Id="rId23" Type="http://schemas.openxmlformats.org/officeDocument/2006/relationships/image" Target="../media/image52.png"/><Relationship Id="rId24" Type="http://schemas.openxmlformats.org/officeDocument/2006/relationships/image" Target="../media/image53.png"/><Relationship Id="rId25" Type="http://schemas.openxmlformats.org/officeDocument/2006/relationships/image" Target="../media/image54.png"/><Relationship Id="rId26" Type="http://schemas.openxmlformats.org/officeDocument/2006/relationships/image" Target="../media/image55.png"/><Relationship Id="rId27" Type="http://schemas.openxmlformats.org/officeDocument/2006/relationships/image" Target="../media/image5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88.png"/><Relationship Id="rId22" Type="http://schemas.openxmlformats.org/officeDocument/2006/relationships/image" Target="../media/image89.png"/><Relationship Id="rId23" Type="http://schemas.openxmlformats.org/officeDocument/2006/relationships/image" Target="../media/image90.png"/><Relationship Id="rId24" Type="http://schemas.openxmlformats.org/officeDocument/2006/relationships/image" Target="../media/image91.png"/><Relationship Id="rId25" Type="http://schemas.openxmlformats.org/officeDocument/2006/relationships/image" Target="../media/image92.png"/><Relationship Id="rId26" Type="http://schemas.openxmlformats.org/officeDocument/2006/relationships/image" Target="../media/image93.png"/><Relationship Id="rId27" Type="http://schemas.openxmlformats.org/officeDocument/2006/relationships/image" Target="../media/image94.png"/><Relationship Id="rId28" Type="http://schemas.openxmlformats.org/officeDocument/2006/relationships/image" Target="../media/image95.png"/><Relationship Id="rId29" Type="http://schemas.openxmlformats.org/officeDocument/2006/relationships/image" Target="../media/image96.png"/><Relationship Id="rId30" Type="http://schemas.openxmlformats.org/officeDocument/2006/relationships/image" Target="../media/image97.png"/><Relationship Id="rId31" Type="http://schemas.openxmlformats.org/officeDocument/2006/relationships/image" Target="../media/image98.png"/><Relationship Id="rId32" Type="http://schemas.openxmlformats.org/officeDocument/2006/relationships/image" Target="../media/image99.png"/><Relationship Id="rId33" Type="http://schemas.openxmlformats.org/officeDocument/2006/relationships/image" Target="../media/image100.png"/><Relationship Id="rId34" Type="http://schemas.openxmlformats.org/officeDocument/2006/relationships/image" Target="../media/image101.png"/><Relationship Id="rId35" Type="http://schemas.openxmlformats.org/officeDocument/2006/relationships/image" Target="../media/image102.png"/><Relationship Id="rId36" Type="http://schemas.openxmlformats.org/officeDocument/2006/relationships/image" Target="../media/image103.png"/><Relationship Id="rId37" Type="http://schemas.openxmlformats.org/officeDocument/2006/relationships/image" Target="../media/image104.png"/><Relationship Id="rId38" Type="http://schemas.openxmlformats.org/officeDocument/2006/relationships/image" Target="../media/image105.png"/><Relationship Id="rId39" Type="http://schemas.openxmlformats.org/officeDocument/2006/relationships/image" Target="../media/image106.png"/><Relationship Id="rId40" Type="http://schemas.openxmlformats.org/officeDocument/2006/relationships/image" Target="../media/image107.png"/><Relationship Id="rId41" Type="http://schemas.openxmlformats.org/officeDocument/2006/relationships/image" Target="../media/image108.png"/><Relationship Id="rId42" Type="http://schemas.openxmlformats.org/officeDocument/2006/relationships/image" Target="../media/image109.png"/><Relationship Id="rId43" Type="http://schemas.openxmlformats.org/officeDocument/2006/relationships/image" Target="../media/image110.png"/><Relationship Id="rId44" Type="http://schemas.openxmlformats.org/officeDocument/2006/relationships/image" Target="../media/image111.png"/><Relationship Id="rId45" Type="http://schemas.openxmlformats.org/officeDocument/2006/relationships/image" Target="../media/image112.png"/><Relationship Id="rId46" Type="http://schemas.openxmlformats.org/officeDocument/2006/relationships/image" Target="../media/image113.png"/><Relationship Id="rId47" Type="http://schemas.openxmlformats.org/officeDocument/2006/relationships/image" Target="../media/image114.png"/><Relationship Id="rId48" Type="http://schemas.openxmlformats.org/officeDocument/2006/relationships/image" Target="../media/image115.png"/><Relationship Id="rId49" Type="http://schemas.openxmlformats.org/officeDocument/2006/relationships/image" Target="../media/image11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4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png"/><Relationship Id="rId11" Type="http://schemas.openxmlformats.org/officeDocument/2006/relationships/image" Target="../media/image134.png"/><Relationship Id="rId12" Type="http://schemas.openxmlformats.org/officeDocument/2006/relationships/image" Target="../media/image135.png"/><Relationship Id="rId13" Type="http://schemas.openxmlformats.org/officeDocument/2006/relationships/image" Target="../media/image136.png"/><Relationship Id="rId14" Type="http://schemas.openxmlformats.org/officeDocument/2006/relationships/image" Target="../media/image137.png"/><Relationship Id="rId15" Type="http://schemas.openxmlformats.org/officeDocument/2006/relationships/image" Target="../media/image138.png"/><Relationship Id="rId16" Type="http://schemas.openxmlformats.org/officeDocument/2006/relationships/image" Target="../media/image139.png"/><Relationship Id="rId17" Type="http://schemas.openxmlformats.org/officeDocument/2006/relationships/image" Target="../media/image140.png"/><Relationship Id="rId18" Type="http://schemas.openxmlformats.org/officeDocument/2006/relationships/image" Target="../media/image141.png"/><Relationship Id="rId19" Type="http://schemas.openxmlformats.org/officeDocument/2006/relationships/image" Target="../media/image142.png"/><Relationship Id="rId20" Type="http://schemas.openxmlformats.org/officeDocument/2006/relationships/image" Target="../media/image143.png"/><Relationship Id="rId21" Type="http://schemas.openxmlformats.org/officeDocument/2006/relationships/image" Target="../media/image144.png"/><Relationship Id="rId22" Type="http://schemas.openxmlformats.org/officeDocument/2006/relationships/image" Target="../media/image145.png"/><Relationship Id="rId23" Type="http://schemas.openxmlformats.org/officeDocument/2006/relationships/image" Target="../media/image146.png"/><Relationship Id="rId24" Type="http://schemas.openxmlformats.org/officeDocument/2006/relationships/image" Target="../media/image147.png"/><Relationship Id="rId25" Type="http://schemas.openxmlformats.org/officeDocument/2006/relationships/image" Target="../media/image148.png"/><Relationship Id="rId26" Type="http://schemas.openxmlformats.org/officeDocument/2006/relationships/image" Target="../media/image149.png"/><Relationship Id="rId27" Type="http://schemas.openxmlformats.org/officeDocument/2006/relationships/image" Target="../media/image150.png"/><Relationship Id="rId28" Type="http://schemas.openxmlformats.org/officeDocument/2006/relationships/image" Target="../media/image151.png"/><Relationship Id="rId29" Type="http://schemas.openxmlformats.org/officeDocument/2006/relationships/image" Target="../media/image152.png"/><Relationship Id="rId30" Type="http://schemas.openxmlformats.org/officeDocument/2006/relationships/image" Target="../media/image153.png"/><Relationship Id="rId31" Type="http://schemas.openxmlformats.org/officeDocument/2006/relationships/image" Target="../media/image154.png"/><Relationship Id="rId32" Type="http://schemas.openxmlformats.org/officeDocument/2006/relationships/image" Target="../media/image155.png"/><Relationship Id="rId33" Type="http://schemas.openxmlformats.org/officeDocument/2006/relationships/image" Target="../media/image156.png"/><Relationship Id="rId34" Type="http://schemas.openxmlformats.org/officeDocument/2006/relationships/image" Target="../media/image157.png"/><Relationship Id="rId35" Type="http://schemas.openxmlformats.org/officeDocument/2006/relationships/image" Target="../media/image158.png"/><Relationship Id="rId36" Type="http://schemas.openxmlformats.org/officeDocument/2006/relationships/image" Target="../media/image159.png"/><Relationship Id="rId37" Type="http://schemas.openxmlformats.org/officeDocument/2006/relationships/image" Target="../media/image160.png"/><Relationship Id="rId38" Type="http://schemas.openxmlformats.org/officeDocument/2006/relationships/image" Target="../media/image161.png"/><Relationship Id="rId39" Type="http://schemas.openxmlformats.org/officeDocument/2006/relationships/image" Target="../media/image162.png"/><Relationship Id="rId40" Type="http://schemas.openxmlformats.org/officeDocument/2006/relationships/image" Target="../media/image16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10982" y="2073452"/>
            <a:ext cx="91700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磁场对通电导线的作用力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（第一课时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主讲人：李德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胜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34570" y="2421635"/>
            <a:ext cx="3204972" cy="2403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15984" y="2421635"/>
            <a:ext cx="3604260" cy="2403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76500" y="1926335"/>
            <a:ext cx="6694932" cy="3794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2944" y="1425041"/>
            <a:ext cx="23190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黑体"/>
                <a:cs typeface="黑体"/>
              </a:rPr>
              <a:t>一、安培</a:t>
            </a:r>
            <a:r>
              <a:rPr dirty="0" sz="3600" spc="-15" b="1">
                <a:latin typeface="黑体"/>
                <a:cs typeface="黑体"/>
              </a:rPr>
              <a:t>力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95946" y="1882139"/>
            <a:ext cx="2093976" cy="253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02232" y="4335208"/>
            <a:ext cx="1368425" cy="81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17195">
              <a:lnSpc>
                <a:spcPct val="130000"/>
              </a:lnSpc>
              <a:spcBef>
                <a:spcPts val="95"/>
              </a:spcBef>
            </a:pPr>
            <a:r>
              <a:rPr dirty="0" sz="2000" b="1">
                <a:solidFill>
                  <a:srgbClr val="0000FF"/>
                </a:solidFill>
                <a:latin typeface="华文楷体"/>
                <a:cs typeface="华文楷体"/>
              </a:rPr>
              <a:t>安培 1775 ─</a:t>
            </a:r>
            <a:r>
              <a:rPr dirty="0" sz="2000" spc="-8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000" b="1">
                <a:solidFill>
                  <a:srgbClr val="0000FF"/>
                </a:solidFill>
                <a:latin typeface="华文楷体"/>
                <a:cs typeface="华文楷体"/>
              </a:rPr>
              <a:t>1836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81554" y="2020925"/>
            <a:ext cx="5011420" cy="346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14400">
              <a:lnSpc>
                <a:spcPct val="120500"/>
              </a:lnSpc>
              <a:spcBef>
                <a:spcPts val="100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通电导线在磁场中受到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的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作用力称为安培力</a:t>
            </a:r>
            <a:r>
              <a:rPr dirty="0" sz="2800" b="1">
                <a:latin typeface="华文楷体"/>
                <a:cs typeface="华文楷体"/>
              </a:rPr>
              <a:t>，是为了纪</a:t>
            </a:r>
            <a:r>
              <a:rPr dirty="0" sz="2800" spc="-10" b="1">
                <a:latin typeface="华文楷体"/>
                <a:cs typeface="华文楷体"/>
              </a:rPr>
              <a:t>念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800" b="1">
                <a:latin typeface="华文楷体"/>
                <a:cs typeface="华文楷体"/>
              </a:rPr>
              <a:t>安培而命名的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160020" indent="914400">
              <a:lnSpc>
                <a:spcPct val="120500"/>
              </a:lnSpc>
              <a:spcBef>
                <a:spcPts val="1225"/>
              </a:spcBef>
            </a:pPr>
            <a:r>
              <a:rPr dirty="0" sz="2800" b="1">
                <a:latin typeface="华文楷体"/>
                <a:cs typeface="华文楷体"/>
              </a:rPr>
              <a:t>麦克斯韦把安培誉为“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电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学中的牛顿</a:t>
            </a:r>
            <a:r>
              <a:rPr dirty="0" sz="2800" b="1">
                <a:latin typeface="华文楷体"/>
                <a:cs typeface="华文楷体"/>
              </a:rPr>
              <a:t>”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710565">
              <a:lnSpc>
                <a:spcPct val="100000"/>
              </a:lnSpc>
              <a:spcBef>
                <a:spcPts val="965"/>
              </a:spcBef>
            </a:pPr>
            <a:r>
              <a:rPr dirty="0" sz="1800" b="1">
                <a:solidFill>
                  <a:srgbClr val="1F3863"/>
                </a:solidFill>
                <a:latin typeface="黑体"/>
                <a:cs typeface="黑体"/>
              </a:rPr>
              <a:t>这个力的方向如何判断</a:t>
            </a:r>
            <a:r>
              <a:rPr dirty="0" sz="1800" spc="-10" b="1">
                <a:solidFill>
                  <a:srgbClr val="1F3863"/>
                </a:solidFill>
                <a:latin typeface="黑体"/>
                <a:cs typeface="黑体"/>
              </a:rPr>
              <a:t>，</a:t>
            </a:r>
            <a:endParaRPr sz="1800">
              <a:latin typeface="黑体"/>
              <a:cs typeface="黑体"/>
            </a:endParaRPr>
          </a:p>
          <a:p>
            <a:pPr marL="710565">
              <a:lnSpc>
                <a:spcPct val="100000"/>
              </a:lnSpc>
            </a:pPr>
            <a:r>
              <a:rPr dirty="0" sz="1800" b="1">
                <a:solidFill>
                  <a:srgbClr val="1F3863"/>
                </a:solidFill>
                <a:latin typeface="黑体"/>
                <a:cs typeface="黑体"/>
              </a:rPr>
              <a:t>这个力的大小又跟哪些因素有关呢</a:t>
            </a:r>
            <a:r>
              <a:rPr dirty="0" sz="1800" spc="-10" b="1">
                <a:solidFill>
                  <a:srgbClr val="1F3863"/>
                </a:solidFill>
                <a:latin typeface="黑体"/>
                <a:cs typeface="黑体"/>
              </a:rPr>
              <a:t>？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61404" y="2185416"/>
            <a:ext cx="2958083" cy="2889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76678" y="2290140"/>
            <a:ext cx="4585335" cy="33413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279400">
              <a:lnSpc>
                <a:spcPct val="129600"/>
              </a:lnSpc>
              <a:spcBef>
                <a:spcPts val="70"/>
              </a:spcBef>
            </a:pPr>
            <a:r>
              <a:rPr dirty="0" sz="2800" b="1">
                <a:latin typeface="华文楷体"/>
                <a:cs typeface="华文楷体"/>
              </a:rPr>
              <a:t>在前面的学习中，我们知</a:t>
            </a:r>
            <a:r>
              <a:rPr dirty="0" sz="2800" spc="-5" b="1">
                <a:latin typeface="华文楷体"/>
                <a:cs typeface="华文楷体"/>
              </a:rPr>
              <a:t>道 </a:t>
            </a:r>
            <a:r>
              <a:rPr dirty="0" sz="2800" b="1">
                <a:latin typeface="华文楷体"/>
                <a:cs typeface="华文楷体"/>
              </a:rPr>
              <a:t>通电导线在磁场中所受安</a:t>
            </a:r>
            <a:r>
              <a:rPr dirty="0" sz="2800" spc="-10" b="1">
                <a:latin typeface="华文楷体"/>
                <a:cs typeface="华文楷体"/>
              </a:rPr>
              <a:t>培 力</a:t>
            </a:r>
            <a:r>
              <a:rPr dirty="0" sz="2800" spc="-20" b="1">
                <a:latin typeface="华文楷体"/>
                <a:cs typeface="华文楷体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的方向，与电</a:t>
            </a:r>
            <a:r>
              <a:rPr dirty="0" sz="2800" spc="-10" b="1">
                <a:latin typeface="华文楷体"/>
                <a:cs typeface="华文楷体"/>
              </a:rPr>
              <a:t>流</a:t>
            </a:r>
            <a:r>
              <a:rPr dirty="0" sz="2800" spc="-20" b="1">
                <a:latin typeface="华文楷体"/>
                <a:cs typeface="华文楷体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</a:t>
            </a:r>
            <a:r>
              <a:rPr dirty="0" sz="2800" b="1">
                <a:latin typeface="华文楷体"/>
                <a:cs typeface="华文楷体"/>
              </a:rPr>
              <a:t>、磁</a:t>
            </a:r>
            <a:r>
              <a:rPr dirty="0" sz="2800" spc="-10" b="1">
                <a:latin typeface="华文楷体"/>
                <a:cs typeface="华文楷体"/>
              </a:rPr>
              <a:t>感 </a:t>
            </a:r>
            <a:r>
              <a:rPr dirty="0" sz="2800" b="1">
                <a:latin typeface="华文楷体"/>
                <a:cs typeface="华文楷体"/>
              </a:rPr>
              <a:t>应强</a:t>
            </a:r>
            <a:r>
              <a:rPr dirty="0" sz="2800" spc="-10" b="1">
                <a:latin typeface="华文楷体"/>
                <a:cs typeface="华文楷体"/>
              </a:rPr>
              <a:t>度</a:t>
            </a:r>
            <a:r>
              <a:rPr dirty="0" sz="2800" spc="-15" b="1">
                <a:latin typeface="华文楷体"/>
                <a:cs typeface="华文楷体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的方向都有关。</a:t>
            </a:r>
            <a:r>
              <a:rPr dirty="0" sz="2800" spc="-10" b="1">
                <a:latin typeface="华文楷体"/>
                <a:cs typeface="华文楷体"/>
              </a:rPr>
              <a:t>我 </a:t>
            </a:r>
            <a:r>
              <a:rPr dirty="0" sz="2800" b="1">
                <a:latin typeface="华文楷体"/>
                <a:cs typeface="华文楷体"/>
              </a:rPr>
              <a:t>们利用如图所示的装置探</a:t>
            </a:r>
            <a:r>
              <a:rPr dirty="0" sz="2800" spc="-10" b="1">
                <a:latin typeface="华文楷体"/>
                <a:cs typeface="华文楷体"/>
              </a:rPr>
              <a:t>究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64676" y="1545539"/>
            <a:ext cx="36963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黑体"/>
                <a:cs typeface="黑体"/>
              </a:rPr>
              <a:t>二、安培力的方</a:t>
            </a:r>
            <a:r>
              <a:rPr dirty="0" sz="3600" spc="-15" b="1">
                <a:latin typeface="黑体"/>
                <a:cs typeface="黑体"/>
              </a:rPr>
              <a:t>向</a:t>
            </a:r>
            <a:endParaRPr sz="3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06623" y="1409700"/>
            <a:ext cx="7178040" cy="403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70263" y="1298676"/>
            <a:ext cx="6397625" cy="3586479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latin typeface="华文楷体"/>
                <a:cs typeface="华文楷体"/>
              </a:rPr>
              <a:t>安培力的方</a:t>
            </a:r>
            <a:r>
              <a:rPr dirty="0" sz="2800" spc="-10" b="1">
                <a:latin typeface="华文楷体"/>
                <a:cs typeface="华文楷体"/>
              </a:rPr>
              <a:t>向</a:t>
            </a:r>
            <a:endParaRPr sz="2800">
              <a:latin typeface="华文楷体"/>
              <a:cs typeface="华文楷体"/>
            </a:endParaRPr>
          </a:p>
          <a:p>
            <a:pPr algn="just" lvl="1" marL="2877820" marR="5080" indent="-228600">
              <a:lnSpc>
                <a:spcPct val="114900"/>
              </a:lnSpc>
              <a:spcBef>
                <a:spcPts val="509"/>
              </a:spcBef>
              <a:buFont typeface="Arial"/>
              <a:buChar char="•"/>
              <a:tabLst>
                <a:tab pos="2877820" algn="l"/>
              </a:tabLst>
            </a:pPr>
            <a:r>
              <a:rPr dirty="0" sz="2800" spc="295" b="1">
                <a:latin typeface="华文楷体"/>
                <a:cs typeface="华文楷体"/>
              </a:rPr>
              <a:t>安培力的</a:t>
            </a:r>
            <a:r>
              <a:rPr dirty="0" sz="2800" spc="300" b="1">
                <a:latin typeface="华文楷体"/>
                <a:cs typeface="华文楷体"/>
              </a:rPr>
              <a:t>方向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r>
              <a:rPr dirty="0" sz="2800" spc="-475" b="1">
                <a:latin typeface="华文楷体"/>
                <a:cs typeface="华文楷体"/>
              </a:rPr>
              <a:t> </a:t>
            </a:r>
            <a:r>
              <a:rPr dirty="0" sz="2800" spc="300" b="1">
                <a:latin typeface="华文楷体"/>
                <a:cs typeface="华文楷体"/>
              </a:rPr>
              <a:t>既</a:t>
            </a:r>
            <a:r>
              <a:rPr dirty="0" sz="2800" spc="-10" b="1">
                <a:latin typeface="华文楷体"/>
                <a:cs typeface="华文楷体"/>
              </a:rPr>
              <a:t>跟 </a:t>
            </a:r>
            <a:r>
              <a:rPr dirty="0" sz="2800" spc="295" b="1">
                <a:latin typeface="华文楷体"/>
                <a:cs typeface="华文楷体"/>
              </a:rPr>
              <a:t>磁场方向</a:t>
            </a:r>
            <a:r>
              <a:rPr dirty="0" sz="2800" spc="300" b="1">
                <a:latin typeface="华文楷体"/>
                <a:cs typeface="华文楷体"/>
              </a:rPr>
              <a:t>垂直</a:t>
            </a:r>
            <a:r>
              <a:rPr dirty="0" sz="2800" spc="-10" b="1">
                <a:latin typeface="华文楷体"/>
                <a:cs typeface="华文楷体"/>
              </a:rPr>
              <a:t>，</a:t>
            </a:r>
            <a:r>
              <a:rPr dirty="0" sz="2800" spc="-475" b="1">
                <a:latin typeface="华文楷体"/>
                <a:cs typeface="华文楷体"/>
              </a:rPr>
              <a:t> </a:t>
            </a:r>
            <a:r>
              <a:rPr dirty="0" sz="2800" spc="300" b="1">
                <a:latin typeface="华文楷体"/>
                <a:cs typeface="华文楷体"/>
              </a:rPr>
              <a:t>又</a:t>
            </a:r>
            <a:r>
              <a:rPr dirty="0" sz="2800" spc="-10" b="1">
                <a:latin typeface="华文楷体"/>
                <a:cs typeface="华文楷体"/>
              </a:rPr>
              <a:t>跟 </a:t>
            </a:r>
            <a:r>
              <a:rPr dirty="0" sz="2800" spc="295" b="1">
                <a:latin typeface="华文楷体"/>
                <a:cs typeface="华文楷体"/>
              </a:rPr>
              <a:t>电流方向</a:t>
            </a:r>
            <a:r>
              <a:rPr dirty="0" sz="2800" spc="300" b="1">
                <a:latin typeface="华文楷体"/>
                <a:cs typeface="华文楷体"/>
              </a:rPr>
              <a:t>垂直</a:t>
            </a:r>
            <a:r>
              <a:rPr dirty="0" sz="2800" spc="-10" b="1">
                <a:latin typeface="华文楷体"/>
                <a:cs typeface="华文楷体"/>
              </a:rPr>
              <a:t>，</a:t>
            </a:r>
            <a:r>
              <a:rPr dirty="0" sz="2800" spc="-475" b="1">
                <a:latin typeface="华文楷体"/>
                <a:cs typeface="华文楷体"/>
              </a:rPr>
              <a:t> </a:t>
            </a:r>
            <a:r>
              <a:rPr dirty="0" sz="2800" spc="300" b="1">
                <a:latin typeface="华文楷体"/>
                <a:cs typeface="华文楷体"/>
              </a:rPr>
              <a:t>即</a:t>
            </a:r>
            <a:r>
              <a:rPr dirty="0" sz="2800" spc="-10" b="1">
                <a:latin typeface="华文楷体"/>
                <a:cs typeface="华文楷体"/>
              </a:rPr>
              <a:t>安 </a:t>
            </a:r>
            <a:r>
              <a:rPr dirty="0" sz="2800" spc="295" b="1">
                <a:latin typeface="华文楷体"/>
                <a:cs typeface="华文楷体"/>
              </a:rPr>
              <a:t>培力的方</a:t>
            </a:r>
            <a:r>
              <a:rPr dirty="0" sz="2800" spc="300" b="1">
                <a:latin typeface="华文楷体"/>
                <a:cs typeface="华文楷体"/>
              </a:rPr>
              <a:t>向垂直于</a:t>
            </a:r>
            <a:r>
              <a:rPr dirty="0" sz="2800" spc="-5" b="1">
                <a:latin typeface="华文楷体"/>
                <a:cs typeface="华文楷体"/>
              </a:rPr>
              <a:t>磁 </a:t>
            </a:r>
            <a:r>
              <a:rPr dirty="0" sz="2800" spc="295" b="1">
                <a:latin typeface="华文楷体"/>
                <a:cs typeface="华文楷体"/>
              </a:rPr>
              <a:t>感线和通</a:t>
            </a:r>
            <a:r>
              <a:rPr dirty="0" sz="2800" spc="300" b="1">
                <a:latin typeface="华文楷体"/>
                <a:cs typeface="华文楷体"/>
              </a:rPr>
              <a:t>电导线所</a:t>
            </a:r>
            <a:r>
              <a:rPr dirty="0" sz="2800" spc="-5" b="1">
                <a:latin typeface="华文楷体"/>
                <a:cs typeface="华文楷体"/>
              </a:rPr>
              <a:t>在 </a:t>
            </a:r>
            <a:r>
              <a:rPr dirty="0" sz="2800" b="1">
                <a:latin typeface="华文楷体"/>
                <a:cs typeface="华文楷体"/>
              </a:rPr>
              <a:t>的平面</a:t>
            </a:r>
            <a:r>
              <a:rPr dirty="0" sz="2800" spc="-10" b="1">
                <a:latin typeface="华文楷体"/>
                <a:cs typeface="华文楷体"/>
              </a:rPr>
              <a:t>．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13495" y="2103120"/>
            <a:ext cx="2996183" cy="3066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34684" y="3831335"/>
            <a:ext cx="1725167" cy="1202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4801" y="1351025"/>
            <a:ext cx="43427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latin typeface="华文楷体"/>
                <a:cs typeface="华文楷体"/>
              </a:rPr>
              <a:t>把立体图改画成平面</a:t>
            </a:r>
            <a:r>
              <a:rPr dirty="0" sz="3400" spc="-5">
                <a:latin typeface="华文楷体"/>
                <a:cs typeface="华文楷体"/>
              </a:rPr>
              <a:t>图</a:t>
            </a:r>
            <a:endParaRPr sz="3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80535" y="2025319"/>
            <a:ext cx="358762" cy="3581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80662" y="2636240"/>
            <a:ext cx="337997" cy="337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26889" y="1999576"/>
            <a:ext cx="3406775" cy="101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华文楷体"/>
                <a:cs typeface="华文楷体"/>
              </a:rPr>
              <a:t>表示电流方向垂直纸面向</a:t>
            </a:r>
            <a:r>
              <a:rPr dirty="0" sz="2200" spc="-10" b="1">
                <a:latin typeface="华文楷体"/>
                <a:cs typeface="华文楷体"/>
              </a:rPr>
              <a:t>外</a:t>
            </a:r>
            <a:endParaRPr sz="2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latin typeface="华文楷体"/>
                <a:cs typeface="华文楷体"/>
              </a:rPr>
              <a:t>表示电流方向垂直纸面向</a:t>
            </a:r>
            <a:r>
              <a:rPr dirty="0" sz="2200" spc="-10" b="1">
                <a:latin typeface="华文楷体"/>
                <a:cs typeface="华文楷体"/>
              </a:rPr>
              <a:t>里</a:t>
            </a:r>
            <a:endParaRPr sz="22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23315" y="4259821"/>
            <a:ext cx="1294155" cy="3454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 rot="21420000">
            <a:off x="8056957" y="3922649"/>
            <a:ext cx="337449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0"/>
              </a:lnSpc>
            </a:pPr>
            <a:r>
              <a:rPr dirty="0" sz="22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96387" y="3096767"/>
            <a:ext cx="2502407" cy="25603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9198" y="1379118"/>
            <a:ext cx="2390140" cy="4972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华文楷体"/>
                <a:cs typeface="华文楷体"/>
              </a:rPr>
              <a:t>改变磁场方</a:t>
            </a:r>
            <a:r>
              <a:rPr dirty="0" spc="-10" b="1">
                <a:latin typeface="华文楷体"/>
                <a:cs typeface="华文楷体"/>
              </a:rPr>
              <a:t>向</a:t>
            </a:r>
          </a:p>
        </p:txBody>
      </p:sp>
      <p:sp>
        <p:nvSpPr>
          <p:cNvPr id="3" name="object 3"/>
          <p:cNvSpPr/>
          <p:nvPr/>
        </p:nvSpPr>
        <p:spPr>
          <a:xfrm>
            <a:off x="2613660" y="1924811"/>
            <a:ext cx="6569964" cy="3723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342388"/>
            <a:ext cx="5957315" cy="337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81779" y="1447355"/>
            <a:ext cx="2390140" cy="4972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华文楷体"/>
                <a:cs typeface="华文楷体"/>
              </a:rPr>
              <a:t>改变电流方</a:t>
            </a:r>
            <a:r>
              <a:rPr dirty="0" spc="-10" b="1">
                <a:latin typeface="华文楷体"/>
                <a:cs typeface="华文楷体"/>
              </a:rPr>
              <a:t>向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8439" y="2380488"/>
            <a:ext cx="6024371" cy="3413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50487" y="1548955"/>
            <a:ext cx="3178810" cy="4972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华文楷体"/>
                <a:cs typeface="华文楷体"/>
              </a:rPr>
              <a:t>再次改变磁场方</a:t>
            </a:r>
            <a:r>
              <a:rPr dirty="0" spc="-10" b="1">
                <a:latin typeface="华文楷体"/>
                <a:cs typeface="华文楷体"/>
              </a:rPr>
              <a:t>向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48600" y="2910839"/>
            <a:ext cx="903731" cy="665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399325" y="3121304"/>
            <a:ext cx="1089380" cy="247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13547" y="2098548"/>
            <a:ext cx="903731" cy="665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220979" y="2304008"/>
            <a:ext cx="893137" cy="2527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62316" y="3744595"/>
            <a:ext cx="903731" cy="6659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99959" y="3953471"/>
            <a:ext cx="1124712" cy="2527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66888" y="4547742"/>
            <a:ext cx="903731" cy="6659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427790" y="4756962"/>
            <a:ext cx="833316" cy="2476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 rot="21420000">
            <a:off x="8906677" y="4502776"/>
            <a:ext cx="399948" cy="293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10"/>
              </a:lnSpc>
            </a:pPr>
            <a:r>
              <a:rPr dirty="0" sz="2300" spc="-60" b="1" i="1">
                <a:solidFill>
                  <a:srgbClr val="FF0000"/>
                </a:solidFill>
                <a:latin typeface="华文楷体"/>
                <a:cs typeface="华文楷体"/>
              </a:rPr>
              <a:t>F</a:t>
            </a:r>
            <a:endParaRPr sz="23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95461" y="5547842"/>
            <a:ext cx="67443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安培力方向既与磁场方向垂直，也与电流方向垂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直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095893" y="329857"/>
            <a:ext cx="1352550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黑体"/>
                <a:cs typeface="黑体"/>
              </a:rPr>
              <a:t>实验现</a:t>
            </a:r>
            <a:r>
              <a:rPr dirty="0" sz="2600" spc="-10" b="1">
                <a:solidFill>
                  <a:srgbClr val="FFFFFF"/>
                </a:solidFill>
                <a:latin typeface="黑体"/>
                <a:cs typeface="黑体"/>
              </a:rPr>
              <a:t>象</a:t>
            </a:r>
            <a:endParaRPr sz="2600">
              <a:latin typeface="黑体"/>
              <a:cs typeface="黑体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848777" y="1259344"/>
          <a:ext cx="7618095" cy="4034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/>
                <a:gridCol w="1108075"/>
                <a:gridCol w="1604644"/>
                <a:gridCol w="1444625"/>
                <a:gridCol w="2392045"/>
              </a:tblGrid>
              <a:tr h="796531"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2200" b="1">
                          <a:latin typeface="华文楷体"/>
                          <a:cs typeface="华文楷体"/>
                        </a:rPr>
                        <a:t>次</a:t>
                      </a:r>
                      <a:r>
                        <a:rPr dirty="0" sz="2200" spc="-10" b="1">
                          <a:latin typeface="华文楷体"/>
                          <a:cs typeface="华文楷体"/>
                        </a:rPr>
                        <a:t>数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24765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125" marR="30226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磁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场 </a:t>
                      </a:r>
                      <a:r>
                        <a:rPr dirty="0" sz="2200" spc="10" b="1">
                          <a:latin typeface="华文楷体"/>
                          <a:cs typeface="华文楷体"/>
                        </a:rPr>
                        <a:t>方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向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965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0" marR="4781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电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流 </a:t>
                      </a:r>
                      <a:r>
                        <a:rPr dirty="0" sz="2200" spc="10" b="1">
                          <a:latin typeface="华文楷体"/>
                          <a:cs typeface="华文楷体"/>
                        </a:rPr>
                        <a:t>方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向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965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0" marR="234950" indent="-13970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安培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力 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方</a:t>
                      </a:r>
                      <a:r>
                        <a:rPr dirty="0" sz="2200" spc="-10" b="1">
                          <a:latin typeface="华文楷体"/>
                          <a:cs typeface="华文楷体"/>
                        </a:rPr>
                        <a:t>向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965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0924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2200" b="1">
                          <a:latin typeface="华文楷体"/>
                          <a:cs typeface="华文楷体"/>
                        </a:rPr>
                        <a:t>图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18161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00392">
                <a:tc>
                  <a:txBody>
                    <a:bodyPr/>
                    <a:lstStyle/>
                    <a:p>
                      <a:pPr algn="ctr" marR="100330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dirty="0" sz="2200" b="1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21717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  <a:p>
                      <a:pPr marL="273050">
                        <a:lnSpc>
                          <a:spcPct val="100000"/>
                        </a:lnSpc>
                      </a:pPr>
                      <a:r>
                        <a:rPr dirty="0" sz="2200" b="1">
                          <a:latin typeface="华文楷体"/>
                          <a:cs typeface="华文楷体"/>
                        </a:rPr>
                        <a:t>向</a:t>
                      </a:r>
                      <a:r>
                        <a:rPr dirty="0" sz="2200" spc="-10" b="1">
                          <a:latin typeface="华文楷体"/>
                          <a:cs typeface="华文楷体"/>
                        </a:rPr>
                        <a:t>下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25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8460" marR="238760" indent="-13970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垂直于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纸 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面向</a:t>
                      </a:r>
                      <a:r>
                        <a:rPr dirty="0" sz="2200" spc="-10" b="1">
                          <a:latin typeface="华文楷体"/>
                          <a:cs typeface="华文楷体"/>
                        </a:rPr>
                        <a:t>外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781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 marR="451484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水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平 </a:t>
                      </a: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向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右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654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3215">
                        <a:lnSpc>
                          <a:spcPts val="2230"/>
                        </a:lnSpc>
                      </a:pPr>
                      <a:r>
                        <a:rPr dirty="0" sz="2300" b="1" i="1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F</a:t>
                      </a:r>
                      <a:endParaRPr sz="23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9203"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2200" b="1">
                          <a:latin typeface="华文楷体"/>
                          <a:cs typeface="华文楷体"/>
                        </a:rPr>
                        <a:t>2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2451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 marR="234950" indent="-1397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垂直于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纸 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面向</a:t>
                      </a:r>
                      <a:r>
                        <a:rPr dirty="0" sz="2200" spc="-10" b="1">
                          <a:latin typeface="华文楷体"/>
                          <a:cs typeface="华文楷体"/>
                        </a:rPr>
                        <a:t>里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230" marR="43370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水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平 </a:t>
                      </a: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向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左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590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ts val="2375"/>
                        </a:lnSpc>
                      </a:pPr>
                      <a:r>
                        <a:rPr dirty="0" sz="2300" b="1" i="1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F</a:t>
                      </a:r>
                      <a:endParaRPr sz="23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205"/>
                        </a:spcBef>
                      </a:pPr>
                      <a:r>
                        <a:rPr dirty="0" sz="2200" b="1">
                          <a:latin typeface="华文楷体"/>
                          <a:cs typeface="华文楷体"/>
                        </a:rPr>
                        <a:t>3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28003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050">
                        <a:latin typeface="Times New Roman"/>
                        <a:cs typeface="Times New Roman"/>
                      </a:endParaRPr>
                    </a:p>
                    <a:p>
                      <a:pPr marL="251460">
                        <a:lnSpc>
                          <a:spcPct val="100000"/>
                        </a:lnSpc>
                      </a:pPr>
                      <a:r>
                        <a:rPr dirty="0" sz="2200" b="1">
                          <a:latin typeface="华文楷体"/>
                          <a:cs typeface="华文楷体"/>
                        </a:rPr>
                        <a:t>向</a:t>
                      </a:r>
                      <a:r>
                        <a:rPr dirty="0" sz="2200" spc="-10" b="1">
                          <a:latin typeface="华文楷体"/>
                          <a:cs typeface="华文楷体"/>
                        </a:rPr>
                        <a:t>上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270" marR="234315" indent="-13970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垂直于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纸 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面向</a:t>
                      </a:r>
                      <a:r>
                        <a:rPr dirty="0" sz="2200" spc="-10" b="1">
                          <a:latin typeface="华文楷体"/>
                          <a:cs typeface="华文楷体"/>
                        </a:rPr>
                        <a:t>外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1104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0370" marR="45656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水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平 </a:t>
                      </a: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向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左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812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300" b="1" i="1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F</a:t>
                      </a:r>
                      <a:endParaRPr sz="2300">
                        <a:latin typeface="华文楷体"/>
                        <a:cs typeface="华文楷体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5220"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2165"/>
                        </a:spcBef>
                      </a:pPr>
                      <a:r>
                        <a:rPr dirty="0" sz="2200" b="1">
                          <a:latin typeface="华文楷体"/>
                          <a:cs typeface="华文楷体"/>
                        </a:rPr>
                        <a:t>4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27495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225" marR="214629" indent="-14033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垂直于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纸 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面向</a:t>
                      </a:r>
                      <a:r>
                        <a:rPr dirty="0" sz="2200" spc="-10" b="1">
                          <a:latin typeface="华文楷体"/>
                          <a:cs typeface="华文楷体"/>
                        </a:rPr>
                        <a:t>里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920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5290" marR="461009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200" spc="10" b="1">
                          <a:latin typeface="华文楷体"/>
                          <a:cs typeface="华文楷体"/>
                        </a:rPr>
                        <a:t>水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平 </a:t>
                      </a:r>
                      <a:r>
                        <a:rPr dirty="0" sz="2200" spc="10" b="1">
                          <a:latin typeface="华文楷体"/>
                          <a:cs typeface="华文楷体"/>
                        </a:rPr>
                        <a:t>向</a:t>
                      </a:r>
                      <a:r>
                        <a:rPr dirty="0" sz="2200" b="1">
                          <a:latin typeface="华文楷体"/>
                          <a:cs typeface="华文楷体"/>
                        </a:rPr>
                        <a:t>右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38204" y="1217815"/>
            <a:ext cx="4527550" cy="423608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latin typeface="黑体"/>
                <a:cs typeface="黑体"/>
              </a:rPr>
              <a:t>左手定则</a:t>
            </a:r>
            <a:r>
              <a:rPr dirty="0" sz="2800" spc="-20" b="1">
                <a:latin typeface="黑体"/>
                <a:cs typeface="黑体"/>
              </a:rPr>
              <a:t>：</a:t>
            </a:r>
            <a:endParaRPr sz="2800">
              <a:latin typeface="黑体"/>
              <a:cs typeface="黑体"/>
            </a:endParaRPr>
          </a:p>
          <a:p>
            <a:pPr marL="241300" marR="5080" indent="228600">
              <a:lnSpc>
                <a:spcPts val="3700"/>
              </a:lnSpc>
              <a:spcBef>
                <a:spcPts val="125"/>
              </a:spcBef>
            </a:pPr>
            <a:r>
              <a:rPr dirty="0" sz="2800" b="1">
                <a:latin typeface="华文中宋"/>
                <a:cs typeface="华文中宋"/>
              </a:rPr>
              <a:t>伸开左手，使拇指跟其</a:t>
            </a:r>
            <a:r>
              <a:rPr dirty="0" sz="2800" spc="-10" b="1">
                <a:latin typeface="华文中宋"/>
                <a:cs typeface="华文中宋"/>
              </a:rPr>
              <a:t>余 </a:t>
            </a:r>
            <a:r>
              <a:rPr dirty="0" sz="2800" b="1">
                <a:latin typeface="华文中宋"/>
                <a:cs typeface="华文中宋"/>
              </a:rPr>
              <a:t>四个手指垂直，并且都跟</a:t>
            </a:r>
            <a:r>
              <a:rPr dirty="0" sz="2800" spc="-10" b="1">
                <a:latin typeface="华文中宋"/>
                <a:cs typeface="华文中宋"/>
              </a:rPr>
              <a:t>手 </a:t>
            </a:r>
            <a:r>
              <a:rPr dirty="0" sz="2800" b="1">
                <a:latin typeface="华文中宋"/>
                <a:cs typeface="华文中宋"/>
              </a:rPr>
              <a:t>掌在一个平面内，把手放</a:t>
            </a:r>
            <a:r>
              <a:rPr dirty="0" sz="2800" spc="-10" b="1">
                <a:latin typeface="华文中宋"/>
                <a:cs typeface="华文中宋"/>
              </a:rPr>
              <a:t>入 </a:t>
            </a:r>
            <a:r>
              <a:rPr dirty="0" sz="2800" b="1">
                <a:latin typeface="华文中宋"/>
                <a:cs typeface="华文中宋"/>
              </a:rPr>
              <a:t>磁场中，让磁感线垂直穿</a:t>
            </a:r>
            <a:r>
              <a:rPr dirty="0" sz="2800" spc="-10" b="1">
                <a:latin typeface="华文中宋"/>
                <a:cs typeface="华文中宋"/>
              </a:rPr>
              <a:t>入 </a:t>
            </a:r>
            <a:r>
              <a:rPr dirty="0" sz="2800" b="1">
                <a:latin typeface="华文中宋"/>
                <a:cs typeface="华文中宋"/>
              </a:rPr>
              <a:t>手心，并使四指指向电流</a:t>
            </a:r>
            <a:r>
              <a:rPr dirty="0" sz="2800" spc="-10" b="1">
                <a:latin typeface="华文中宋"/>
                <a:cs typeface="华文中宋"/>
              </a:rPr>
              <a:t>的 </a:t>
            </a:r>
            <a:r>
              <a:rPr dirty="0" sz="2800" b="1">
                <a:latin typeface="华文中宋"/>
                <a:cs typeface="华文中宋"/>
              </a:rPr>
              <a:t>方向，这时，拇指所指的</a:t>
            </a:r>
            <a:r>
              <a:rPr dirty="0" sz="2800" spc="-10" b="1">
                <a:latin typeface="华文中宋"/>
                <a:cs typeface="华文中宋"/>
              </a:rPr>
              <a:t>方 </a:t>
            </a:r>
            <a:r>
              <a:rPr dirty="0" sz="2800" b="1">
                <a:latin typeface="华文中宋"/>
                <a:cs typeface="华文中宋"/>
              </a:rPr>
              <a:t>向就是通电导线在磁场中</a:t>
            </a:r>
            <a:r>
              <a:rPr dirty="0" sz="2800" spc="-10" b="1">
                <a:latin typeface="华文中宋"/>
                <a:cs typeface="华文中宋"/>
              </a:rPr>
              <a:t>所 </a:t>
            </a:r>
            <a:r>
              <a:rPr dirty="0" sz="2800" b="1">
                <a:latin typeface="华文中宋"/>
                <a:cs typeface="华文中宋"/>
              </a:rPr>
              <a:t>受安培力的方向</a:t>
            </a:r>
            <a:r>
              <a:rPr dirty="0" sz="2800" spc="-10" b="1">
                <a:latin typeface="华文中宋"/>
                <a:cs typeface="华文中宋"/>
              </a:rPr>
              <a:t>。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39086" y="1673351"/>
            <a:ext cx="2517648" cy="384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3804" y="1495044"/>
            <a:ext cx="5814060" cy="440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70553" y="4586338"/>
            <a:ext cx="114300" cy="1205230"/>
          </a:xfrm>
          <a:custGeom>
            <a:avLst/>
            <a:gdLst/>
            <a:ahLst/>
            <a:cxnLst/>
            <a:rect l="l" t="t" r="r" b="b"/>
            <a:pathLst>
              <a:path w="114300" h="1205229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1205229">
                <a:moveTo>
                  <a:pt x="76200" y="1204899"/>
                </a:moveTo>
                <a:lnTo>
                  <a:pt x="38100" y="1204899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1204899"/>
                </a:lnTo>
                <a:close/>
              </a:path>
              <a:path w="114300" h="1205229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05401" y="454610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62200" y="2209800"/>
            <a:ext cx="7121652" cy="2894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81234" y="3502901"/>
            <a:ext cx="254000" cy="1281430"/>
          </a:xfrm>
          <a:custGeom>
            <a:avLst/>
            <a:gdLst/>
            <a:ahLst/>
            <a:cxnLst/>
            <a:rect l="l" t="t" r="r" b="b"/>
            <a:pathLst>
              <a:path w="254000" h="1281429">
                <a:moveTo>
                  <a:pt x="127736" y="1154087"/>
                </a:moveTo>
                <a:lnTo>
                  <a:pt x="102181" y="1128827"/>
                </a:lnTo>
                <a:lnTo>
                  <a:pt x="95618" y="292"/>
                </a:lnTo>
                <a:lnTo>
                  <a:pt x="146418" y="0"/>
                </a:lnTo>
                <a:lnTo>
                  <a:pt x="152982" y="1128544"/>
                </a:lnTo>
                <a:lnTo>
                  <a:pt x="127736" y="1154087"/>
                </a:lnTo>
                <a:close/>
              </a:path>
              <a:path w="254000" h="1281429">
                <a:moveTo>
                  <a:pt x="175329" y="1185989"/>
                </a:moveTo>
                <a:lnTo>
                  <a:pt x="102514" y="1185989"/>
                </a:lnTo>
                <a:lnTo>
                  <a:pt x="153314" y="1185684"/>
                </a:lnTo>
                <a:lnTo>
                  <a:pt x="152982" y="1128544"/>
                </a:lnTo>
                <a:lnTo>
                  <a:pt x="253987" y="1026350"/>
                </a:lnTo>
                <a:lnTo>
                  <a:pt x="175329" y="1185989"/>
                </a:lnTo>
                <a:close/>
              </a:path>
              <a:path w="254000" h="1281429">
                <a:moveTo>
                  <a:pt x="128473" y="1281087"/>
                </a:moveTo>
                <a:lnTo>
                  <a:pt x="0" y="1027823"/>
                </a:lnTo>
                <a:lnTo>
                  <a:pt x="102181" y="1128827"/>
                </a:lnTo>
                <a:lnTo>
                  <a:pt x="102514" y="1185989"/>
                </a:lnTo>
                <a:lnTo>
                  <a:pt x="175329" y="1185989"/>
                </a:lnTo>
                <a:lnTo>
                  <a:pt x="128473" y="1281087"/>
                </a:lnTo>
                <a:close/>
              </a:path>
              <a:path w="254000" h="1281429">
                <a:moveTo>
                  <a:pt x="153130" y="1154087"/>
                </a:moveTo>
                <a:lnTo>
                  <a:pt x="127736" y="1154087"/>
                </a:lnTo>
                <a:lnTo>
                  <a:pt x="152982" y="1128544"/>
                </a:lnTo>
                <a:lnTo>
                  <a:pt x="153130" y="1154087"/>
                </a:lnTo>
                <a:close/>
              </a:path>
              <a:path w="254000" h="1281429">
                <a:moveTo>
                  <a:pt x="102514" y="1185989"/>
                </a:moveTo>
                <a:lnTo>
                  <a:pt x="102181" y="1128827"/>
                </a:lnTo>
                <a:lnTo>
                  <a:pt x="127736" y="1154087"/>
                </a:lnTo>
                <a:lnTo>
                  <a:pt x="153130" y="1154087"/>
                </a:lnTo>
                <a:lnTo>
                  <a:pt x="153314" y="1185684"/>
                </a:lnTo>
                <a:lnTo>
                  <a:pt x="102514" y="11859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21138" y="4383633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30391" y="3490328"/>
            <a:ext cx="71082" cy="711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625854" y="3306673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5164" y="1964435"/>
            <a:ext cx="6797040" cy="385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11662" y="1344244"/>
            <a:ext cx="26155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/>
              <a:t>请看演示实</a:t>
            </a:r>
            <a:r>
              <a:rPr dirty="0" sz="3400" spc="-5"/>
              <a:t>验</a:t>
            </a:r>
            <a:endParaRPr sz="34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6795" y="1290484"/>
            <a:ext cx="26155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/>
              <a:t>请看演示实</a:t>
            </a:r>
            <a:r>
              <a:rPr dirty="0" sz="3400" spc="-5"/>
              <a:t>验</a:t>
            </a:r>
            <a:endParaRPr sz="3400"/>
          </a:p>
        </p:txBody>
      </p:sp>
      <p:sp>
        <p:nvSpPr>
          <p:cNvPr id="3" name="object 3"/>
          <p:cNvSpPr/>
          <p:nvPr/>
        </p:nvSpPr>
        <p:spPr>
          <a:xfrm>
            <a:off x="2796539" y="1909572"/>
            <a:ext cx="6912863" cy="388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5139" y="2542032"/>
            <a:ext cx="2286000" cy="2156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23590" y="4888115"/>
            <a:ext cx="2472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黑体"/>
                <a:cs typeface="黑体"/>
              </a:rPr>
              <a:t>反向电流相互排</a:t>
            </a:r>
            <a:r>
              <a:rPr dirty="0" sz="2400" spc="-10" b="1">
                <a:solidFill>
                  <a:srgbClr val="0000FF"/>
                </a:solidFill>
                <a:latin typeface="黑体"/>
                <a:cs typeface="黑体"/>
              </a:rPr>
              <a:t>斥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69615" y="1954415"/>
            <a:ext cx="24726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黑体"/>
                <a:cs typeface="黑体"/>
              </a:rPr>
              <a:t>同向电流相互吸</a:t>
            </a:r>
            <a:r>
              <a:rPr dirty="0" sz="2400" spc="-10" b="1">
                <a:solidFill>
                  <a:srgbClr val="0000FF"/>
                </a:solidFill>
                <a:latin typeface="黑体"/>
                <a:cs typeface="黑体"/>
              </a:rPr>
              <a:t>引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90182" y="4632693"/>
            <a:ext cx="67928" cy="695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496617" y="4048963"/>
            <a:ext cx="67958" cy="722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503437" y="3469347"/>
            <a:ext cx="67945" cy="695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20901" y="4743678"/>
            <a:ext cx="67969" cy="722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026133" y="4339450"/>
            <a:ext cx="67944" cy="695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26133" y="3929926"/>
            <a:ext cx="67881" cy="695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490125" y="2978797"/>
            <a:ext cx="67985" cy="722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496595" y="2518968"/>
            <a:ext cx="67979" cy="722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26093" y="3510457"/>
            <a:ext cx="67984" cy="722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26679" y="3240798"/>
            <a:ext cx="67944" cy="695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026133" y="2836583"/>
            <a:ext cx="67944" cy="695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026150" y="2408770"/>
            <a:ext cx="67928" cy="6959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56589" y="4701463"/>
            <a:ext cx="152146" cy="1568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56589" y="4295876"/>
            <a:ext cx="152146" cy="15680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56691" y="3890174"/>
            <a:ext cx="151942" cy="15427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56691" y="3484575"/>
            <a:ext cx="151942" cy="15427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75246" y="4569815"/>
            <a:ext cx="151955" cy="15427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75246" y="3986085"/>
            <a:ext cx="151955" cy="15427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56589" y="3177743"/>
            <a:ext cx="152146" cy="1568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56589" y="2772155"/>
            <a:ext cx="152146" cy="15680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56691" y="2366454"/>
            <a:ext cx="151942" cy="15427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75246" y="3427031"/>
            <a:ext cx="151955" cy="15427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75246" y="2925508"/>
            <a:ext cx="151955" cy="15429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775246" y="2462364"/>
            <a:ext cx="151955" cy="15427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04165" y="4323384"/>
            <a:ext cx="149720" cy="1566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204165" y="3460115"/>
            <a:ext cx="149720" cy="15661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04267" y="2692679"/>
            <a:ext cx="149517" cy="15406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846969" y="4360011"/>
            <a:ext cx="67922" cy="6959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846969" y="3674884"/>
            <a:ext cx="67922" cy="6959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846969" y="2959607"/>
            <a:ext cx="67886" cy="6959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263115" y="2252776"/>
            <a:ext cx="220345" cy="2768600"/>
          </a:xfrm>
          <a:custGeom>
            <a:avLst/>
            <a:gdLst/>
            <a:ahLst/>
            <a:cxnLst/>
            <a:rect l="l" t="t" r="r" b="b"/>
            <a:pathLst>
              <a:path w="220345" h="2768600">
                <a:moveTo>
                  <a:pt x="206400" y="12699"/>
                </a:moveTo>
                <a:lnTo>
                  <a:pt x="13652" y="12699"/>
                </a:lnTo>
                <a:lnTo>
                  <a:pt x="15951" y="0"/>
                </a:lnTo>
                <a:lnTo>
                  <a:pt x="204101" y="0"/>
                </a:lnTo>
                <a:lnTo>
                  <a:pt x="206400" y="12699"/>
                </a:lnTo>
                <a:close/>
              </a:path>
              <a:path w="220345" h="2768600">
                <a:moveTo>
                  <a:pt x="42456" y="25399"/>
                </a:moveTo>
                <a:lnTo>
                  <a:pt x="3797" y="25399"/>
                </a:lnTo>
                <a:lnTo>
                  <a:pt x="5156" y="12699"/>
                </a:lnTo>
                <a:lnTo>
                  <a:pt x="45770" y="12699"/>
                </a:lnTo>
                <a:lnTo>
                  <a:pt x="42456" y="25399"/>
                </a:lnTo>
                <a:close/>
              </a:path>
              <a:path w="220345" h="2768600">
                <a:moveTo>
                  <a:pt x="216255" y="25399"/>
                </a:moveTo>
                <a:lnTo>
                  <a:pt x="177596" y="25399"/>
                </a:lnTo>
                <a:lnTo>
                  <a:pt x="174282" y="12699"/>
                </a:lnTo>
                <a:lnTo>
                  <a:pt x="214896" y="12699"/>
                </a:lnTo>
                <a:lnTo>
                  <a:pt x="216255" y="25399"/>
                </a:lnTo>
                <a:close/>
              </a:path>
              <a:path w="220345" h="2768600">
                <a:moveTo>
                  <a:pt x="26073" y="38099"/>
                </a:moveTo>
                <a:lnTo>
                  <a:pt x="304" y="38099"/>
                </a:lnTo>
                <a:lnTo>
                  <a:pt x="787" y="25399"/>
                </a:lnTo>
                <a:lnTo>
                  <a:pt x="27165" y="25399"/>
                </a:lnTo>
                <a:lnTo>
                  <a:pt x="26073" y="38099"/>
                </a:lnTo>
                <a:close/>
              </a:path>
              <a:path w="220345" h="2768600">
                <a:moveTo>
                  <a:pt x="219748" y="38099"/>
                </a:moveTo>
                <a:lnTo>
                  <a:pt x="193979" y="38099"/>
                </a:lnTo>
                <a:lnTo>
                  <a:pt x="192887" y="25399"/>
                </a:lnTo>
                <a:lnTo>
                  <a:pt x="219265" y="25399"/>
                </a:lnTo>
                <a:lnTo>
                  <a:pt x="219748" y="38099"/>
                </a:lnTo>
                <a:close/>
              </a:path>
              <a:path w="220345" h="2768600">
                <a:moveTo>
                  <a:pt x="25387" y="2717800"/>
                </a:moveTo>
                <a:lnTo>
                  <a:pt x="0" y="2717800"/>
                </a:lnTo>
                <a:lnTo>
                  <a:pt x="0" y="38099"/>
                </a:lnTo>
                <a:lnTo>
                  <a:pt x="25387" y="38099"/>
                </a:lnTo>
                <a:lnTo>
                  <a:pt x="25387" y="2717800"/>
                </a:lnTo>
                <a:close/>
              </a:path>
              <a:path w="220345" h="2768600">
                <a:moveTo>
                  <a:pt x="220052" y="2717800"/>
                </a:moveTo>
                <a:lnTo>
                  <a:pt x="194665" y="2717800"/>
                </a:lnTo>
                <a:lnTo>
                  <a:pt x="194665" y="38099"/>
                </a:lnTo>
                <a:lnTo>
                  <a:pt x="220052" y="38099"/>
                </a:lnTo>
                <a:lnTo>
                  <a:pt x="220052" y="2717800"/>
                </a:lnTo>
                <a:close/>
              </a:path>
              <a:path w="220345" h="2768600">
                <a:moveTo>
                  <a:pt x="27165" y="2730500"/>
                </a:moveTo>
                <a:lnTo>
                  <a:pt x="787" y="2730500"/>
                </a:lnTo>
                <a:lnTo>
                  <a:pt x="304" y="2717800"/>
                </a:lnTo>
                <a:lnTo>
                  <a:pt x="26073" y="2717800"/>
                </a:lnTo>
                <a:lnTo>
                  <a:pt x="27165" y="2730500"/>
                </a:lnTo>
                <a:close/>
              </a:path>
              <a:path w="220345" h="2768600">
                <a:moveTo>
                  <a:pt x="219265" y="2730500"/>
                </a:moveTo>
                <a:lnTo>
                  <a:pt x="192887" y="2730500"/>
                </a:lnTo>
                <a:lnTo>
                  <a:pt x="193979" y="2717800"/>
                </a:lnTo>
                <a:lnTo>
                  <a:pt x="219748" y="2717800"/>
                </a:lnTo>
                <a:lnTo>
                  <a:pt x="219265" y="2730500"/>
                </a:lnTo>
                <a:close/>
              </a:path>
              <a:path w="220345" h="2768600">
                <a:moveTo>
                  <a:pt x="43738" y="2743200"/>
                </a:moveTo>
                <a:lnTo>
                  <a:pt x="5156" y="2743200"/>
                </a:lnTo>
                <a:lnTo>
                  <a:pt x="3797" y="2730500"/>
                </a:lnTo>
                <a:lnTo>
                  <a:pt x="40512" y="2730500"/>
                </a:lnTo>
                <a:lnTo>
                  <a:pt x="43738" y="2743200"/>
                </a:lnTo>
                <a:close/>
              </a:path>
              <a:path w="220345" h="2768600">
                <a:moveTo>
                  <a:pt x="45770" y="2743200"/>
                </a:moveTo>
                <a:lnTo>
                  <a:pt x="43738" y="2743200"/>
                </a:lnTo>
                <a:lnTo>
                  <a:pt x="42456" y="2730500"/>
                </a:lnTo>
                <a:lnTo>
                  <a:pt x="45770" y="2743200"/>
                </a:lnTo>
                <a:close/>
              </a:path>
              <a:path w="220345" h="2768600">
                <a:moveTo>
                  <a:pt x="176326" y="2743200"/>
                </a:moveTo>
                <a:lnTo>
                  <a:pt x="174282" y="2743200"/>
                </a:lnTo>
                <a:lnTo>
                  <a:pt x="177596" y="2730500"/>
                </a:lnTo>
                <a:lnTo>
                  <a:pt x="176326" y="2743200"/>
                </a:lnTo>
                <a:close/>
              </a:path>
              <a:path w="220345" h="2768600">
                <a:moveTo>
                  <a:pt x="214896" y="2743200"/>
                </a:moveTo>
                <a:lnTo>
                  <a:pt x="176326" y="2743200"/>
                </a:lnTo>
                <a:lnTo>
                  <a:pt x="179539" y="2730500"/>
                </a:lnTo>
                <a:lnTo>
                  <a:pt x="216255" y="2730500"/>
                </a:lnTo>
                <a:lnTo>
                  <a:pt x="214896" y="2743200"/>
                </a:lnTo>
                <a:close/>
              </a:path>
              <a:path w="220345" h="2768600">
                <a:moveTo>
                  <a:pt x="204101" y="2755900"/>
                </a:moveTo>
                <a:lnTo>
                  <a:pt x="15951" y="2755900"/>
                </a:lnTo>
                <a:lnTo>
                  <a:pt x="13652" y="2743200"/>
                </a:lnTo>
                <a:lnTo>
                  <a:pt x="206400" y="2743200"/>
                </a:lnTo>
                <a:lnTo>
                  <a:pt x="204101" y="2755900"/>
                </a:lnTo>
                <a:close/>
              </a:path>
              <a:path w="220345" h="2768600">
                <a:moveTo>
                  <a:pt x="175564" y="2768600"/>
                </a:moveTo>
                <a:lnTo>
                  <a:pt x="44500" y="2768600"/>
                </a:lnTo>
                <a:lnTo>
                  <a:pt x="41173" y="2755900"/>
                </a:lnTo>
                <a:lnTo>
                  <a:pt x="178879" y="2755900"/>
                </a:lnTo>
                <a:lnTo>
                  <a:pt x="175564" y="276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313521" y="2569629"/>
            <a:ext cx="114300" cy="1932305"/>
          </a:xfrm>
          <a:custGeom>
            <a:avLst/>
            <a:gdLst/>
            <a:ahLst/>
            <a:cxnLst/>
            <a:rect l="l" t="t" r="r" b="b"/>
            <a:pathLst>
              <a:path w="114300" h="1932304">
                <a:moveTo>
                  <a:pt x="76200" y="1817801"/>
                </a:moveTo>
                <a:lnTo>
                  <a:pt x="38100" y="1817751"/>
                </a:lnTo>
                <a:lnTo>
                  <a:pt x="40576" y="0"/>
                </a:lnTo>
                <a:lnTo>
                  <a:pt x="78676" y="50"/>
                </a:lnTo>
                <a:lnTo>
                  <a:pt x="76200" y="1817801"/>
                </a:lnTo>
                <a:close/>
              </a:path>
              <a:path w="114300" h="1932304">
                <a:moveTo>
                  <a:pt x="56984" y="1932076"/>
                </a:moveTo>
                <a:lnTo>
                  <a:pt x="0" y="1817700"/>
                </a:lnTo>
                <a:lnTo>
                  <a:pt x="38100" y="1817751"/>
                </a:lnTo>
                <a:lnTo>
                  <a:pt x="38061" y="1846326"/>
                </a:lnTo>
                <a:lnTo>
                  <a:pt x="99987" y="1846376"/>
                </a:lnTo>
                <a:lnTo>
                  <a:pt x="56984" y="1932076"/>
                </a:lnTo>
                <a:close/>
              </a:path>
              <a:path w="114300" h="1932304">
                <a:moveTo>
                  <a:pt x="76161" y="1846376"/>
                </a:moveTo>
                <a:lnTo>
                  <a:pt x="38061" y="1846326"/>
                </a:lnTo>
                <a:lnTo>
                  <a:pt x="38100" y="1817751"/>
                </a:lnTo>
                <a:lnTo>
                  <a:pt x="76200" y="1817801"/>
                </a:lnTo>
                <a:lnTo>
                  <a:pt x="76161" y="1846376"/>
                </a:lnTo>
                <a:close/>
              </a:path>
              <a:path w="114300" h="1932304">
                <a:moveTo>
                  <a:pt x="99987" y="1846376"/>
                </a:moveTo>
                <a:lnTo>
                  <a:pt x="76161" y="1846376"/>
                </a:lnTo>
                <a:lnTo>
                  <a:pt x="76200" y="1817801"/>
                </a:lnTo>
                <a:lnTo>
                  <a:pt x="114300" y="1817852"/>
                </a:lnTo>
                <a:lnTo>
                  <a:pt x="99987" y="1846376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569187" y="2236317"/>
            <a:ext cx="220345" cy="2768600"/>
          </a:xfrm>
          <a:custGeom>
            <a:avLst/>
            <a:gdLst/>
            <a:ahLst/>
            <a:cxnLst/>
            <a:rect l="l" t="t" r="r" b="b"/>
            <a:pathLst>
              <a:path w="220345" h="2768600">
                <a:moveTo>
                  <a:pt x="206400" y="12700"/>
                </a:moveTo>
                <a:lnTo>
                  <a:pt x="13639" y="12700"/>
                </a:lnTo>
                <a:lnTo>
                  <a:pt x="15951" y="0"/>
                </a:lnTo>
                <a:lnTo>
                  <a:pt x="204088" y="0"/>
                </a:lnTo>
                <a:lnTo>
                  <a:pt x="206400" y="12700"/>
                </a:lnTo>
                <a:close/>
              </a:path>
              <a:path w="220345" h="2768600">
                <a:moveTo>
                  <a:pt x="42456" y="25400"/>
                </a:moveTo>
                <a:lnTo>
                  <a:pt x="3784" y="25400"/>
                </a:lnTo>
                <a:lnTo>
                  <a:pt x="5156" y="12700"/>
                </a:lnTo>
                <a:lnTo>
                  <a:pt x="45770" y="12700"/>
                </a:lnTo>
                <a:lnTo>
                  <a:pt x="42456" y="25400"/>
                </a:lnTo>
                <a:close/>
              </a:path>
              <a:path w="220345" h="2768600">
                <a:moveTo>
                  <a:pt x="174917" y="25400"/>
                </a:moveTo>
                <a:lnTo>
                  <a:pt x="45123" y="25400"/>
                </a:lnTo>
                <a:lnTo>
                  <a:pt x="45770" y="12700"/>
                </a:lnTo>
                <a:lnTo>
                  <a:pt x="174269" y="12700"/>
                </a:lnTo>
                <a:lnTo>
                  <a:pt x="174917" y="25400"/>
                </a:lnTo>
                <a:close/>
              </a:path>
              <a:path w="220345" h="2768600">
                <a:moveTo>
                  <a:pt x="216255" y="25400"/>
                </a:moveTo>
                <a:lnTo>
                  <a:pt x="177584" y="25400"/>
                </a:lnTo>
                <a:lnTo>
                  <a:pt x="174269" y="12700"/>
                </a:lnTo>
                <a:lnTo>
                  <a:pt x="214883" y="12700"/>
                </a:lnTo>
                <a:lnTo>
                  <a:pt x="216255" y="25400"/>
                </a:lnTo>
                <a:close/>
              </a:path>
              <a:path w="220345" h="2768600">
                <a:moveTo>
                  <a:pt x="26073" y="38100"/>
                </a:moveTo>
                <a:lnTo>
                  <a:pt x="292" y="38100"/>
                </a:lnTo>
                <a:lnTo>
                  <a:pt x="787" y="25400"/>
                </a:lnTo>
                <a:lnTo>
                  <a:pt x="27152" y="25400"/>
                </a:lnTo>
                <a:lnTo>
                  <a:pt x="26073" y="38100"/>
                </a:lnTo>
                <a:close/>
              </a:path>
              <a:path w="220345" h="2768600">
                <a:moveTo>
                  <a:pt x="219748" y="38100"/>
                </a:moveTo>
                <a:lnTo>
                  <a:pt x="193979" y="38100"/>
                </a:lnTo>
                <a:lnTo>
                  <a:pt x="192887" y="25400"/>
                </a:lnTo>
                <a:lnTo>
                  <a:pt x="219252" y="25400"/>
                </a:lnTo>
                <a:lnTo>
                  <a:pt x="219748" y="38100"/>
                </a:lnTo>
                <a:close/>
              </a:path>
              <a:path w="220345" h="2768600">
                <a:moveTo>
                  <a:pt x="25387" y="2717800"/>
                </a:moveTo>
                <a:lnTo>
                  <a:pt x="0" y="2717800"/>
                </a:lnTo>
                <a:lnTo>
                  <a:pt x="0" y="38100"/>
                </a:lnTo>
                <a:lnTo>
                  <a:pt x="25387" y="38100"/>
                </a:lnTo>
                <a:lnTo>
                  <a:pt x="25387" y="2717800"/>
                </a:lnTo>
                <a:close/>
              </a:path>
              <a:path w="220345" h="2768600">
                <a:moveTo>
                  <a:pt x="220065" y="2717800"/>
                </a:moveTo>
                <a:lnTo>
                  <a:pt x="194665" y="2717800"/>
                </a:lnTo>
                <a:lnTo>
                  <a:pt x="194665" y="38100"/>
                </a:lnTo>
                <a:lnTo>
                  <a:pt x="220065" y="38100"/>
                </a:lnTo>
                <a:lnTo>
                  <a:pt x="220065" y="2717800"/>
                </a:lnTo>
                <a:close/>
              </a:path>
              <a:path w="220345" h="2768600">
                <a:moveTo>
                  <a:pt x="27152" y="2730500"/>
                </a:moveTo>
                <a:lnTo>
                  <a:pt x="787" y="2730500"/>
                </a:lnTo>
                <a:lnTo>
                  <a:pt x="292" y="2717800"/>
                </a:lnTo>
                <a:lnTo>
                  <a:pt x="26073" y="2717800"/>
                </a:lnTo>
                <a:lnTo>
                  <a:pt x="27152" y="2730500"/>
                </a:lnTo>
                <a:close/>
              </a:path>
              <a:path w="220345" h="2768600">
                <a:moveTo>
                  <a:pt x="219252" y="2730500"/>
                </a:moveTo>
                <a:lnTo>
                  <a:pt x="192887" y="2730500"/>
                </a:lnTo>
                <a:lnTo>
                  <a:pt x="193979" y="2717800"/>
                </a:lnTo>
                <a:lnTo>
                  <a:pt x="219748" y="2717800"/>
                </a:lnTo>
                <a:lnTo>
                  <a:pt x="219252" y="2730500"/>
                </a:lnTo>
                <a:close/>
              </a:path>
              <a:path w="220345" h="2768600">
                <a:moveTo>
                  <a:pt x="43726" y="2743200"/>
                </a:moveTo>
                <a:lnTo>
                  <a:pt x="5156" y="2743200"/>
                </a:lnTo>
                <a:lnTo>
                  <a:pt x="3784" y="2730500"/>
                </a:lnTo>
                <a:lnTo>
                  <a:pt x="40500" y="2730500"/>
                </a:lnTo>
                <a:lnTo>
                  <a:pt x="43726" y="2743200"/>
                </a:lnTo>
                <a:close/>
              </a:path>
              <a:path w="220345" h="2768600">
                <a:moveTo>
                  <a:pt x="45770" y="2743200"/>
                </a:moveTo>
                <a:lnTo>
                  <a:pt x="43726" y="2743200"/>
                </a:lnTo>
                <a:lnTo>
                  <a:pt x="42456" y="2730500"/>
                </a:lnTo>
                <a:lnTo>
                  <a:pt x="45770" y="2743200"/>
                </a:lnTo>
                <a:close/>
              </a:path>
              <a:path w="220345" h="2768600">
                <a:moveTo>
                  <a:pt x="176314" y="2743200"/>
                </a:moveTo>
                <a:lnTo>
                  <a:pt x="174269" y="2743200"/>
                </a:lnTo>
                <a:lnTo>
                  <a:pt x="177584" y="2730500"/>
                </a:lnTo>
                <a:lnTo>
                  <a:pt x="176314" y="2743200"/>
                </a:lnTo>
                <a:close/>
              </a:path>
              <a:path w="220345" h="2768600">
                <a:moveTo>
                  <a:pt x="214883" y="2743200"/>
                </a:moveTo>
                <a:lnTo>
                  <a:pt x="176314" y="2743200"/>
                </a:lnTo>
                <a:lnTo>
                  <a:pt x="179539" y="2730500"/>
                </a:lnTo>
                <a:lnTo>
                  <a:pt x="216255" y="2730500"/>
                </a:lnTo>
                <a:lnTo>
                  <a:pt x="214883" y="2743200"/>
                </a:lnTo>
                <a:close/>
              </a:path>
              <a:path w="220345" h="2768600">
                <a:moveTo>
                  <a:pt x="204088" y="2755900"/>
                </a:moveTo>
                <a:lnTo>
                  <a:pt x="15951" y="2755900"/>
                </a:lnTo>
                <a:lnTo>
                  <a:pt x="13639" y="2743200"/>
                </a:lnTo>
                <a:lnTo>
                  <a:pt x="206400" y="2743200"/>
                </a:lnTo>
                <a:lnTo>
                  <a:pt x="204088" y="2755900"/>
                </a:lnTo>
                <a:close/>
              </a:path>
              <a:path w="220345" h="2768600">
                <a:moveTo>
                  <a:pt x="175552" y="2768600"/>
                </a:moveTo>
                <a:lnTo>
                  <a:pt x="44488" y="2768600"/>
                </a:lnTo>
                <a:lnTo>
                  <a:pt x="41173" y="2755900"/>
                </a:lnTo>
                <a:lnTo>
                  <a:pt x="178866" y="2755900"/>
                </a:lnTo>
                <a:lnTo>
                  <a:pt x="175552" y="276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632420" y="2569629"/>
            <a:ext cx="114300" cy="1932305"/>
          </a:xfrm>
          <a:custGeom>
            <a:avLst/>
            <a:gdLst/>
            <a:ahLst/>
            <a:cxnLst/>
            <a:rect l="l" t="t" r="r" b="b"/>
            <a:pathLst>
              <a:path w="114300" h="1932304">
                <a:moveTo>
                  <a:pt x="76200" y="1817810"/>
                </a:moveTo>
                <a:lnTo>
                  <a:pt x="38100" y="1817755"/>
                </a:lnTo>
                <a:lnTo>
                  <a:pt x="40576" y="0"/>
                </a:lnTo>
                <a:lnTo>
                  <a:pt x="78676" y="50"/>
                </a:lnTo>
                <a:lnTo>
                  <a:pt x="76200" y="1817810"/>
                </a:lnTo>
                <a:close/>
              </a:path>
              <a:path w="114300" h="1932304">
                <a:moveTo>
                  <a:pt x="56997" y="1932076"/>
                </a:moveTo>
                <a:lnTo>
                  <a:pt x="0" y="1817700"/>
                </a:lnTo>
                <a:lnTo>
                  <a:pt x="38100" y="1817755"/>
                </a:lnTo>
                <a:lnTo>
                  <a:pt x="38061" y="1846326"/>
                </a:lnTo>
                <a:lnTo>
                  <a:pt x="99995" y="1846376"/>
                </a:lnTo>
                <a:lnTo>
                  <a:pt x="56997" y="1932076"/>
                </a:lnTo>
                <a:close/>
              </a:path>
              <a:path w="114300" h="1932304">
                <a:moveTo>
                  <a:pt x="76161" y="1846376"/>
                </a:moveTo>
                <a:lnTo>
                  <a:pt x="38061" y="1846326"/>
                </a:lnTo>
                <a:lnTo>
                  <a:pt x="38100" y="1817755"/>
                </a:lnTo>
                <a:lnTo>
                  <a:pt x="76200" y="1817810"/>
                </a:lnTo>
                <a:lnTo>
                  <a:pt x="76161" y="1846376"/>
                </a:lnTo>
                <a:close/>
              </a:path>
              <a:path w="114300" h="1932304">
                <a:moveTo>
                  <a:pt x="99995" y="1846376"/>
                </a:moveTo>
                <a:lnTo>
                  <a:pt x="76161" y="1846376"/>
                </a:lnTo>
                <a:lnTo>
                  <a:pt x="76200" y="1817810"/>
                </a:lnTo>
                <a:lnTo>
                  <a:pt x="114300" y="1817865"/>
                </a:lnTo>
                <a:lnTo>
                  <a:pt x="99995" y="1846376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385939" y="3448481"/>
            <a:ext cx="1005205" cy="254000"/>
          </a:xfrm>
          <a:custGeom>
            <a:avLst/>
            <a:gdLst/>
            <a:ahLst/>
            <a:cxnLst/>
            <a:rect l="l" t="t" r="r" b="b"/>
            <a:pathLst>
              <a:path w="1005204" h="254000">
                <a:moveTo>
                  <a:pt x="254419" y="254000"/>
                </a:moveTo>
                <a:lnTo>
                  <a:pt x="0" y="127850"/>
                </a:lnTo>
                <a:lnTo>
                  <a:pt x="253568" y="0"/>
                </a:lnTo>
                <a:lnTo>
                  <a:pt x="152307" y="101941"/>
                </a:lnTo>
                <a:lnTo>
                  <a:pt x="95161" y="102133"/>
                </a:lnTo>
                <a:lnTo>
                  <a:pt x="95338" y="152933"/>
                </a:lnTo>
                <a:lnTo>
                  <a:pt x="152683" y="152933"/>
                </a:lnTo>
                <a:lnTo>
                  <a:pt x="254419" y="254000"/>
                </a:lnTo>
                <a:close/>
              </a:path>
              <a:path w="1005204" h="254000">
                <a:moveTo>
                  <a:pt x="152490" y="152741"/>
                </a:moveTo>
                <a:lnTo>
                  <a:pt x="127000" y="127419"/>
                </a:lnTo>
                <a:lnTo>
                  <a:pt x="152307" y="101941"/>
                </a:lnTo>
                <a:lnTo>
                  <a:pt x="1004608" y="99085"/>
                </a:lnTo>
                <a:lnTo>
                  <a:pt x="1004785" y="149885"/>
                </a:lnTo>
                <a:lnTo>
                  <a:pt x="152490" y="152741"/>
                </a:lnTo>
                <a:close/>
              </a:path>
              <a:path w="1005204" h="254000">
                <a:moveTo>
                  <a:pt x="95338" y="152933"/>
                </a:moveTo>
                <a:lnTo>
                  <a:pt x="95161" y="102133"/>
                </a:lnTo>
                <a:lnTo>
                  <a:pt x="152307" y="101941"/>
                </a:lnTo>
                <a:lnTo>
                  <a:pt x="127000" y="127419"/>
                </a:lnTo>
                <a:lnTo>
                  <a:pt x="152490" y="152741"/>
                </a:lnTo>
                <a:lnTo>
                  <a:pt x="95338" y="152933"/>
                </a:lnTo>
                <a:close/>
              </a:path>
              <a:path w="1005204" h="254000">
                <a:moveTo>
                  <a:pt x="152683" y="152933"/>
                </a:moveTo>
                <a:lnTo>
                  <a:pt x="95338" y="152933"/>
                </a:lnTo>
                <a:lnTo>
                  <a:pt x="152490" y="152741"/>
                </a:lnTo>
                <a:lnTo>
                  <a:pt x="152683" y="1529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7163599" y="2878975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75579" y="2523070"/>
            <a:ext cx="961682" cy="17748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24321" y="4117340"/>
            <a:ext cx="114592" cy="108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24321" y="3859403"/>
            <a:ext cx="114592" cy="1082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24423" y="3601364"/>
            <a:ext cx="114388" cy="1066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24321" y="3148317"/>
            <a:ext cx="114592" cy="1082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24321" y="2890367"/>
            <a:ext cx="114592" cy="1082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24423" y="2632329"/>
            <a:ext cx="114388" cy="1066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61712" y="3876928"/>
            <a:ext cx="112902" cy="10803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61712" y="3327920"/>
            <a:ext cx="112902" cy="1080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61826" y="2839821"/>
            <a:ext cx="112687" cy="1064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74969" y="3899243"/>
            <a:ext cx="57033" cy="5468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74967" y="3463531"/>
            <a:ext cx="57034" cy="5468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74969" y="3008642"/>
            <a:ext cx="57033" cy="5468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112776" y="2972282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6618" y="2910166"/>
            <a:ext cx="114300" cy="1229360"/>
          </a:xfrm>
          <a:custGeom>
            <a:avLst/>
            <a:gdLst/>
            <a:ahLst/>
            <a:cxnLst/>
            <a:rect l="l" t="t" r="r" b="b"/>
            <a:pathLst>
              <a:path w="114300" h="1229360">
                <a:moveTo>
                  <a:pt x="38106" y="114270"/>
                </a:moveTo>
                <a:lnTo>
                  <a:pt x="0" y="114211"/>
                </a:lnTo>
                <a:lnTo>
                  <a:pt x="57327" y="0"/>
                </a:lnTo>
                <a:lnTo>
                  <a:pt x="100011" y="85699"/>
                </a:lnTo>
                <a:lnTo>
                  <a:pt x="38150" y="85699"/>
                </a:lnTo>
                <a:lnTo>
                  <a:pt x="38106" y="114270"/>
                </a:lnTo>
                <a:close/>
              </a:path>
              <a:path w="114300" h="1229360">
                <a:moveTo>
                  <a:pt x="76206" y="114329"/>
                </a:moveTo>
                <a:lnTo>
                  <a:pt x="38106" y="114270"/>
                </a:lnTo>
                <a:lnTo>
                  <a:pt x="38150" y="85699"/>
                </a:lnTo>
                <a:lnTo>
                  <a:pt x="76250" y="85750"/>
                </a:lnTo>
                <a:lnTo>
                  <a:pt x="76206" y="114329"/>
                </a:lnTo>
                <a:close/>
              </a:path>
              <a:path w="114300" h="1229360">
                <a:moveTo>
                  <a:pt x="114300" y="114388"/>
                </a:moveTo>
                <a:lnTo>
                  <a:pt x="76206" y="114329"/>
                </a:lnTo>
                <a:lnTo>
                  <a:pt x="76250" y="85750"/>
                </a:lnTo>
                <a:lnTo>
                  <a:pt x="38150" y="85699"/>
                </a:lnTo>
                <a:lnTo>
                  <a:pt x="100011" y="85699"/>
                </a:lnTo>
                <a:lnTo>
                  <a:pt x="114300" y="114388"/>
                </a:lnTo>
                <a:close/>
              </a:path>
              <a:path w="114300" h="1229360">
                <a:moveTo>
                  <a:pt x="74472" y="1228978"/>
                </a:moveTo>
                <a:lnTo>
                  <a:pt x="36372" y="1228928"/>
                </a:lnTo>
                <a:lnTo>
                  <a:pt x="38106" y="114270"/>
                </a:lnTo>
                <a:lnTo>
                  <a:pt x="76206" y="114329"/>
                </a:lnTo>
                <a:lnTo>
                  <a:pt x="74472" y="1228978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00707" y="2735516"/>
            <a:ext cx="57045" cy="546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00691" y="3061500"/>
            <a:ext cx="57061" cy="564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00706" y="3349129"/>
            <a:ext cx="57045" cy="546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45725" y="2637904"/>
            <a:ext cx="57061" cy="564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45725" y="2831401"/>
            <a:ext cx="57061" cy="564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45740" y="3026638"/>
            <a:ext cx="57032" cy="546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45739" y="3220123"/>
            <a:ext cx="57033" cy="546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00691" y="3682072"/>
            <a:ext cx="57061" cy="5643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00691" y="3954017"/>
            <a:ext cx="57061" cy="5642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45725" y="3451974"/>
            <a:ext cx="57061" cy="564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45739" y="3647211"/>
            <a:ext cx="57033" cy="546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45740" y="3840708"/>
            <a:ext cx="57032" cy="5468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45740" y="4034205"/>
            <a:ext cx="57032" cy="5468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43996" y="2641625"/>
            <a:ext cx="114592" cy="10825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43996" y="2899625"/>
            <a:ext cx="114592" cy="10824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44098" y="3159264"/>
            <a:ext cx="114388" cy="1066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44098" y="3417252"/>
            <a:ext cx="114388" cy="1067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92941" y="2726944"/>
            <a:ext cx="114388" cy="1067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92941" y="3098253"/>
            <a:ext cx="114388" cy="10669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443996" y="3610851"/>
            <a:ext cx="114592" cy="10824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443996" y="3868839"/>
            <a:ext cx="114592" cy="10825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444098" y="4128477"/>
            <a:ext cx="114388" cy="1067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792941" y="3453866"/>
            <a:ext cx="114388" cy="10669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92941" y="3772865"/>
            <a:ext cx="114388" cy="1067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792941" y="4067467"/>
            <a:ext cx="114388" cy="10669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08295" y="2882290"/>
            <a:ext cx="112903" cy="1080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208396" y="3921137"/>
            <a:ext cx="112687" cy="10650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350998" y="2913329"/>
            <a:ext cx="57033" cy="5468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50998" y="3349129"/>
            <a:ext cx="57033" cy="5468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50997" y="3804094"/>
            <a:ext cx="57034" cy="5469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291146" y="2890761"/>
            <a:ext cx="114300" cy="1229360"/>
          </a:xfrm>
          <a:custGeom>
            <a:avLst/>
            <a:gdLst/>
            <a:ahLst/>
            <a:cxnLst/>
            <a:rect l="l" t="t" r="r" b="b"/>
            <a:pathLst>
              <a:path w="114300" h="1229360">
                <a:moveTo>
                  <a:pt x="76206" y="1114708"/>
                </a:moveTo>
                <a:lnTo>
                  <a:pt x="38106" y="1114649"/>
                </a:lnTo>
                <a:lnTo>
                  <a:pt x="39827" y="0"/>
                </a:lnTo>
                <a:lnTo>
                  <a:pt x="77927" y="50"/>
                </a:lnTo>
                <a:lnTo>
                  <a:pt x="76206" y="1114708"/>
                </a:lnTo>
                <a:close/>
              </a:path>
              <a:path w="114300" h="1229360">
                <a:moveTo>
                  <a:pt x="56972" y="1228978"/>
                </a:moveTo>
                <a:lnTo>
                  <a:pt x="0" y="1114590"/>
                </a:lnTo>
                <a:lnTo>
                  <a:pt x="38106" y="1114649"/>
                </a:lnTo>
                <a:lnTo>
                  <a:pt x="38061" y="1143228"/>
                </a:lnTo>
                <a:lnTo>
                  <a:pt x="99988" y="1143279"/>
                </a:lnTo>
                <a:lnTo>
                  <a:pt x="56972" y="1228978"/>
                </a:lnTo>
                <a:close/>
              </a:path>
              <a:path w="114300" h="1229360">
                <a:moveTo>
                  <a:pt x="76161" y="1143279"/>
                </a:moveTo>
                <a:lnTo>
                  <a:pt x="38061" y="1143228"/>
                </a:lnTo>
                <a:lnTo>
                  <a:pt x="38106" y="1114649"/>
                </a:lnTo>
                <a:lnTo>
                  <a:pt x="76206" y="1114708"/>
                </a:lnTo>
                <a:lnTo>
                  <a:pt x="76161" y="1143279"/>
                </a:lnTo>
                <a:close/>
              </a:path>
              <a:path w="114300" h="1229360">
                <a:moveTo>
                  <a:pt x="99988" y="1143279"/>
                </a:moveTo>
                <a:lnTo>
                  <a:pt x="76161" y="1143279"/>
                </a:lnTo>
                <a:lnTo>
                  <a:pt x="76206" y="1114708"/>
                </a:lnTo>
                <a:lnTo>
                  <a:pt x="114300" y="1114767"/>
                </a:lnTo>
                <a:lnTo>
                  <a:pt x="99988" y="114327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934415" y="2716136"/>
            <a:ext cx="57033" cy="5469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934400" y="3042119"/>
            <a:ext cx="57048" cy="5642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934415" y="3329749"/>
            <a:ext cx="57033" cy="5468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589367" y="2618524"/>
            <a:ext cx="57048" cy="5642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589367" y="2812021"/>
            <a:ext cx="57048" cy="5642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589383" y="3007258"/>
            <a:ext cx="57032" cy="5468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589381" y="3200742"/>
            <a:ext cx="57033" cy="5469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934400" y="3662705"/>
            <a:ext cx="57048" cy="5642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934400" y="3934637"/>
            <a:ext cx="57048" cy="5642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589367" y="3432593"/>
            <a:ext cx="57048" cy="5643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89381" y="3627831"/>
            <a:ext cx="57033" cy="5469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589381" y="3821328"/>
            <a:ext cx="57033" cy="5469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89383" y="4014825"/>
            <a:ext cx="57032" cy="5468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33488" y="2622245"/>
            <a:ext cx="114592" cy="10825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033488" y="2880245"/>
            <a:ext cx="114592" cy="108242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033590" y="3139884"/>
            <a:ext cx="114376" cy="106692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033590" y="3397872"/>
            <a:ext cx="114376" cy="10670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684746" y="2707563"/>
            <a:ext cx="114388" cy="106705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684746" y="3078873"/>
            <a:ext cx="114388" cy="1066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033488" y="3591471"/>
            <a:ext cx="114592" cy="108242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033488" y="3849458"/>
            <a:ext cx="114592" cy="10825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033590" y="4109097"/>
            <a:ext cx="114376" cy="106705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684746" y="3434486"/>
            <a:ext cx="114388" cy="1066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684746" y="3753484"/>
            <a:ext cx="114388" cy="106705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684746" y="4048087"/>
            <a:ext cx="114388" cy="106705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270878" y="2862910"/>
            <a:ext cx="112903" cy="1080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270980" y="3901757"/>
            <a:ext cx="112699" cy="10650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184136" y="2893948"/>
            <a:ext cx="57033" cy="5468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84136" y="3329749"/>
            <a:ext cx="57033" cy="5468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84134" y="3784727"/>
            <a:ext cx="57034" cy="5468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788315" y="2838488"/>
            <a:ext cx="114300" cy="1229360"/>
          </a:xfrm>
          <a:custGeom>
            <a:avLst/>
            <a:gdLst/>
            <a:ahLst/>
            <a:cxnLst/>
            <a:rect l="l" t="t" r="r" b="b"/>
            <a:pathLst>
              <a:path w="114300" h="1229360">
                <a:moveTo>
                  <a:pt x="0" y="114388"/>
                </a:moveTo>
                <a:lnTo>
                  <a:pt x="56972" y="0"/>
                </a:lnTo>
                <a:lnTo>
                  <a:pt x="99988" y="85699"/>
                </a:lnTo>
                <a:lnTo>
                  <a:pt x="76149" y="85699"/>
                </a:lnTo>
                <a:lnTo>
                  <a:pt x="38049" y="85763"/>
                </a:lnTo>
                <a:lnTo>
                  <a:pt x="38093" y="114329"/>
                </a:lnTo>
                <a:lnTo>
                  <a:pt x="0" y="114388"/>
                </a:lnTo>
                <a:close/>
              </a:path>
              <a:path w="114300" h="1229360">
                <a:moveTo>
                  <a:pt x="38093" y="114329"/>
                </a:moveTo>
                <a:lnTo>
                  <a:pt x="38049" y="85763"/>
                </a:lnTo>
                <a:lnTo>
                  <a:pt x="76149" y="85699"/>
                </a:lnTo>
                <a:lnTo>
                  <a:pt x="76193" y="114270"/>
                </a:lnTo>
                <a:lnTo>
                  <a:pt x="38093" y="114329"/>
                </a:lnTo>
                <a:close/>
              </a:path>
              <a:path w="114300" h="1229360">
                <a:moveTo>
                  <a:pt x="76193" y="114270"/>
                </a:moveTo>
                <a:lnTo>
                  <a:pt x="76149" y="85699"/>
                </a:lnTo>
                <a:lnTo>
                  <a:pt x="99988" y="85699"/>
                </a:lnTo>
                <a:lnTo>
                  <a:pt x="114300" y="114211"/>
                </a:lnTo>
                <a:lnTo>
                  <a:pt x="76193" y="114270"/>
                </a:lnTo>
                <a:close/>
              </a:path>
              <a:path w="114300" h="1229360">
                <a:moveTo>
                  <a:pt x="39827" y="1228991"/>
                </a:moveTo>
                <a:lnTo>
                  <a:pt x="38093" y="114329"/>
                </a:lnTo>
                <a:lnTo>
                  <a:pt x="76193" y="114270"/>
                </a:lnTo>
                <a:lnTo>
                  <a:pt x="77927" y="1228928"/>
                </a:lnTo>
                <a:lnTo>
                  <a:pt x="39827" y="1228991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1539" y="1167333"/>
            <a:ext cx="7530465" cy="2797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58800">
              <a:lnSpc>
                <a:spcPct val="129900"/>
              </a:lnSpc>
              <a:spcBef>
                <a:spcPts val="100"/>
              </a:spcBef>
            </a:pPr>
            <a:r>
              <a:rPr dirty="0" sz="2800" b="1">
                <a:latin typeface="楷体"/>
                <a:cs typeface="楷体"/>
              </a:rPr>
              <a:t>如图所示，在玻璃皿的中心放一个圆柱形</a:t>
            </a:r>
            <a:r>
              <a:rPr dirty="0" sz="2800" spc="-20" b="1">
                <a:latin typeface="楷体"/>
                <a:cs typeface="楷体"/>
              </a:rPr>
              <a:t>电 </a:t>
            </a:r>
            <a:r>
              <a:rPr dirty="0" sz="2800" b="1">
                <a:latin typeface="楷体"/>
                <a:cs typeface="楷体"/>
              </a:rPr>
              <a:t>极，沿边缘内壁放一个圆环形电极，将两电</a:t>
            </a:r>
            <a:r>
              <a:rPr dirty="0" sz="2800" spc="-20" b="1">
                <a:latin typeface="楷体"/>
                <a:cs typeface="楷体"/>
              </a:rPr>
              <a:t>极 </a:t>
            </a:r>
            <a:r>
              <a:rPr dirty="0" sz="2800" b="1">
                <a:latin typeface="楷体"/>
                <a:cs typeface="楷体"/>
              </a:rPr>
              <a:t>接在电池的两极上，然后在玻璃皿中放入盐水</a:t>
            </a:r>
            <a:r>
              <a:rPr dirty="0" sz="2800" spc="-15" b="1">
                <a:latin typeface="楷体"/>
                <a:cs typeface="楷体"/>
              </a:rPr>
              <a:t>， </a:t>
            </a:r>
            <a:r>
              <a:rPr dirty="0" sz="2800" b="1">
                <a:latin typeface="楷体"/>
                <a:cs typeface="楷体"/>
              </a:rPr>
              <a:t>把玻璃皿放入蹄形磁铁的磁场中，</a:t>
            </a:r>
            <a:r>
              <a:rPr dirty="0" sz="2800" b="1">
                <a:latin typeface="Times New Roman"/>
                <a:cs typeface="Times New Roman"/>
              </a:rPr>
              <a:t>N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楷体"/>
                <a:cs typeface="楷体"/>
              </a:rPr>
              <a:t>极在下，</a:t>
            </a:r>
            <a:r>
              <a:rPr dirty="0" sz="2800" b="1">
                <a:latin typeface="Times New Roman"/>
                <a:cs typeface="Times New Roman"/>
              </a:rPr>
              <a:t>S  </a:t>
            </a:r>
            <a:r>
              <a:rPr dirty="0" sz="2800" b="1">
                <a:latin typeface="楷体"/>
                <a:cs typeface="楷体"/>
              </a:rPr>
              <a:t>极在上，猜想一下你会看到什么现象</a:t>
            </a:r>
            <a:r>
              <a:rPr dirty="0" sz="2800" spc="-20" b="1">
                <a:latin typeface="楷体"/>
                <a:cs typeface="楷体"/>
              </a:rPr>
              <a:t>。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6583" y="3983735"/>
            <a:ext cx="4110228" cy="1830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30321" y="4847209"/>
            <a:ext cx="272669" cy="282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53411" y="4410455"/>
            <a:ext cx="463295" cy="4282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46972" y="4626292"/>
            <a:ext cx="295529" cy="89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53098" y="4011536"/>
            <a:ext cx="231508" cy="767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48919" y="4714709"/>
            <a:ext cx="272669" cy="2827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26770" y="3969930"/>
            <a:ext cx="2671559" cy="16472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959227" y="4174642"/>
            <a:ext cx="125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5560" y="1418793"/>
            <a:ext cx="1993264" cy="4972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旋转的液</a:t>
            </a:r>
            <a:r>
              <a:rPr dirty="0" spc="-5"/>
              <a:t>体</a:t>
            </a:r>
          </a:p>
        </p:txBody>
      </p:sp>
      <p:sp>
        <p:nvSpPr>
          <p:cNvPr id="3" name="object 3"/>
          <p:cNvSpPr/>
          <p:nvPr/>
        </p:nvSpPr>
        <p:spPr>
          <a:xfrm>
            <a:off x="2677667" y="1961388"/>
            <a:ext cx="6609588" cy="3718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1275" y="2307818"/>
            <a:ext cx="231508" cy="76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47097" y="3310293"/>
            <a:ext cx="272669" cy="282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91978" y="2346756"/>
            <a:ext cx="3896220" cy="2383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92878" y="2393581"/>
            <a:ext cx="2120265" cy="0"/>
          </a:xfrm>
          <a:custGeom>
            <a:avLst/>
            <a:gdLst/>
            <a:ahLst/>
            <a:cxnLst/>
            <a:rect l="l" t="t" r="r" b="b"/>
            <a:pathLst>
              <a:path w="2120265" h="0">
                <a:moveTo>
                  <a:pt x="0" y="0"/>
                </a:moveTo>
                <a:lnTo>
                  <a:pt x="2119998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91978" y="3388042"/>
            <a:ext cx="2830169" cy="6776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1939" y="3540531"/>
            <a:ext cx="957580" cy="95250"/>
          </a:xfrm>
          <a:custGeom>
            <a:avLst/>
            <a:gdLst/>
            <a:ahLst/>
            <a:cxnLst/>
            <a:rect l="l" t="t" r="r" b="b"/>
            <a:pathLst>
              <a:path w="957579" h="95250">
                <a:moveTo>
                  <a:pt x="904626" y="64135"/>
                </a:moveTo>
                <a:lnTo>
                  <a:pt x="897902" y="64135"/>
                </a:lnTo>
                <a:lnTo>
                  <a:pt x="898093" y="32385"/>
                </a:lnTo>
                <a:lnTo>
                  <a:pt x="851801" y="32091"/>
                </a:lnTo>
                <a:lnTo>
                  <a:pt x="799083" y="0"/>
                </a:lnTo>
                <a:lnTo>
                  <a:pt x="957529" y="48628"/>
                </a:lnTo>
                <a:lnTo>
                  <a:pt x="904626" y="64135"/>
                </a:lnTo>
                <a:close/>
              </a:path>
              <a:path w="957579" h="95250">
                <a:moveTo>
                  <a:pt x="851590" y="63840"/>
                </a:moveTo>
                <a:lnTo>
                  <a:pt x="0" y="58432"/>
                </a:lnTo>
                <a:lnTo>
                  <a:pt x="203" y="26682"/>
                </a:lnTo>
                <a:lnTo>
                  <a:pt x="851801" y="32091"/>
                </a:lnTo>
                <a:lnTo>
                  <a:pt x="878154" y="48133"/>
                </a:lnTo>
                <a:lnTo>
                  <a:pt x="851590" y="63840"/>
                </a:lnTo>
                <a:close/>
              </a:path>
              <a:path w="957579" h="95250">
                <a:moveTo>
                  <a:pt x="897902" y="64135"/>
                </a:moveTo>
                <a:lnTo>
                  <a:pt x="851590" y="63840"/>
                </a:lnTo>
                <a:lnTo>
                  <a:pt x="878154" y="48133"/>
                </a:lnTo>
                <a:lnTo>
                  <a:pt x="851801" y="32091"/>
                </a:lnTo>
                <a:lnTo>
                  <a:pt x="898093" y="32385"/>
                </a:lnTo>
                <a:lnTo>
                  <a:pt x="897902" y="64135"/>
                </a:lnTo>
                <a:close/>
              </a:path>
              <a:path w="957579" h="95250">
                <a:moveTo>
                  <a:pt x="798474" y="95250"/>
                </a:moveTo>
                <a:lnTo>
                  <a:pt x="851590" y="63840"/>
                </a:lnTo>
                <a:lnTo>
                  <a:pt x="904626" y="64135"/>
                </a:lnTo>
                <a:lnTo>
                  <a:pt x="798474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39179" y="4028185"/>
            <a:ext cx="588670" cy="6653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91476" y="3807510"/>
            <a:ext cx="67857" cy="695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91412" y="3388042"/>
            <a:ext cx="67996" cy="7226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92024" y="3022841"/>
            <a:ext cx="67918" cy="695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91470" y="2618625"/>
            <a:ext cx="67925" cy="6959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91468" y="2190813"/>
            <a:ext cx="67904" cy="695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38743" y="4621263"/>
            <a:ext cx="67998" cy="722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44003" y="4217034"/>
            <a:ext cx="67909" cy="695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44003" y="3807510"/>
            <a:ext cx="67881" cy="695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43952" y="3388042"/>
            <a:ext cx="67996" cy="7226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44554" y="3022841"/>
            <a:ext cx="67940" cy="6959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44003" y="2618625"/>
            <a:ext cx="67945" cy="6959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44026" y="2190813"/>
            <a:ext cx="67886" cy="6959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81113" y="4621263"/>
            <a:ext cx="67998" cy="7226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86379" y="4217034"/>
            <a:ext cx="67902" cy="6959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86934" y="3022841"/>
            <a:ext cx="67917" cy="6959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986373" y="2618625"/>
            <a:ext cx="67945" cy="6959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86373" y="2190813"/>
            <a:ext cx="67909" cy="6959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33658" y="4621263"/>
            <a:ext cx="67992" cy="722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438912" y="4217034"/>
            <a:ext cx="67909" cy="6959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439458" y="3022841"/>
            <a:ext cx="67944" cy="6959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38912" y="2618625"/>
            <a:ext cx="67944" cy="6959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438939" y="2190813"/>
            <a:ext cx="67882" cy="6959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28605" y="4621263"/>
            <a:ext cx="67954" cy="7226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33844" y="4217034"/>
            <a:ext cx="67886" cy="6959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34390" y="3022841"/>
            <a:ext cx="67922" cy="695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33838" y="2618625"/>
            <a:ext cx="67928" cy="6959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533848" y="2190813"/>
            <a:ext cx="67882" cy="6959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791288" y="4621263"/>
            <a:ext cx="67992" cy="7226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796571" y="4217034"/>
            <a:ext cx="67880" cy="6959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796565" y="3807510"/>
            <a:ext cx="67859" cy="6959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796502" y="3388042"/>
            <a:ext cx="67985" cy="72262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797088" y="3022841"/>
            <a:ext cx="67945" cy="6959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796565" y="2618625"/>
            <a:ext cx="67922" cy="6959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796566" y="2190813"/>
            <a:ext cx="67884" cy="6959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118631" y="2615920"/>
            <a:ext cx="1031240" cy="2119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10541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2025-04-19T16:25:10Z</dcterms:created>
  <dcterms:modified xsi:type="dcterms:W3CDTF">2025-04-19T16:25:10Z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2025-04-19T00:00:00Z</vt:filetime>
  </property>
</Properties>
</file>